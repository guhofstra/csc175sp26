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23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1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24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68"/>
    </p:embeddedFont>
    <p:embeddedFont>
      <p:font typeface="Roboto" panose="02000000000000000000" pitchFamily="2" charset="0"/>
      <p:regular r:id="rId69"/>
      <p:bold r:id="rId70"/>
      <p:italic r:id="rId71"/>
      <p:boldItalic r:id="rId72"/>
    </p:embeddedFont>
    <p:embeddedFont>
      <p:font typeface="Roboto Light" panose="02000000000000000000" pitchFamily="2" charset="0"/>
      <p:regular r:id="rId73"/>
      <p:bold r:id="rId74"/>
      <p:italic r:id="rId75"/>
      <p:boldItalic r:id="rId76"/>
    </p:embeddedFont>
    <p:embeddedFont>
      <p:font typeface="Roboto Medium" panose="02000000000000000000" pitchFamily="2" charset="0"/>
      <p:regular r:id="rId77"/>
      <p:bold r:id="rId78"/>
      <p:italic r:id="rId79"/>
      <p:boldItalic r:id="rId8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0C9321-A918-4D9F-8BA5-192B93D221DD}" v="5" dt="2026-04-23T20:04:35.947"/>
  </p1510:revLst>
</p1510:revInfo>
</file>

<file path=ppt/tableStyles.xml><?xml version="1.0" encoding="utf-8"?>
<a:tblStyleLst xmlns:a="http://schemas.openxmlformats.org/drawingml/2006/main" def="{F42FFB72-2E00-4C84-A838-785EF1CB27BB}">
  <a:tblStyle styleId="{F42FFB72-2E00-4C84-A838-785EF1CB27B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210" y="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1.fntdata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7.fntdata"/><Relationship Id="rId79" Type="http://schemas.openxmlformats.org/officeDocument/2006/relationships/font" Target="fonts/font12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fonts/font2.fntdata"/><Relationship Id="rId77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5.fntdata"/><Relationship Id="rId80" Type="http://schemas.openxmlformats.org/officeDocument/2006/relationships/font" Target="fonts/font13.fntdata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3.fntdata"/><Relationship Id="rId75" Type="http://schemas.openxmlformats.org/officeDocument/2006/relationships/font" Target="fonts/font8.fntdata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6.fntdata"/><Relationship Id="rId78" Type="http://schemas.openxmlformats.org/officeDocument/2006/relationships/font" Target="fonts/font11.fntdata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9.fntdata"/><Relationship Id="rId7" Type="http://schemas.openxmlformats.org/officeDocument/2006/relationships/slide" Target="slides/slide6.xml"/><Relationship Id="rId71" Type="http://schemas.openxmlformats.org/officeDocument/2006/relationships/font" Target="fonts/font4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modSld">
      <pc:chgData name="Zonghua Gu" userId="9a7e1853e1951ef5" providerId="LiveId" clId="{CF1FAA12-072C-4ED5-BA76-0FFFAEFDB88A}" dt="2026-04-23T20:04:44.763" v="54" actId="1076"/>
      <pc:docMkLst>
        <pc:docMk/>
      </pc:docMkLst>
      <pc:sldChg chg="addSp modSp mod">
        <pc:chgData name="Zonghua Gu" userId="9a7e1853e1951ef5" providerId="LiveId" clId="{CF1FAA12-072C-4ED5-BA76-0FFFAEFDB88A}" dt="2026-04-23T20:04:18.892" v="52" actId="1035"/>
        <pc:sldMkLst>
          <pc:docMk/>
          <pc:sldMk cId="0" sldId="270"/>
        </pc:sldMkLst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2" creationId="{C385316D-852C-4412-4404-7FEEB391DF88}"/>
          </ac:spMkLst>
        </pc:spChg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3" creationId="{79E2ACF9-5449-9AB5-A90F-8E8B2D8D23C2}"/>
          </ac:spMkLst>
        </pc:spChg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4" creationId="{FDB7A133-D54E-D248-AD05-027D66747C4F}"/>
          </ac:spMkLst>
        </pc:spChg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5" creationId="{ED012750-5910-837E-2E1B-B6340C5242F9}"/>
          </ac:spMkLst>
        </pc:spChg>
        <pc:spChg chg="mod">
          <ac:chgData name="Zonghua Gu" userId="9a7e1853e1951ef5" providerId="LiveId" clId="{CF1FAA12-072C-4ED5-BA76-0FFFAEFDB88A}" dt="2026-04-23T19:57:47.789" v="17" actId="20577"/>
          <ac:spMkLst>
            <pc:docMk/>
            <pc:sldMk cId="0" sldId="270"/>
            <ac:spMk id="1106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6-04-23T20:04:44.763" v="54" actId="1076"/>
        <pc:sldMkLst>
          <pc:docMk/>
          <pc:sldMk cId="0" sldId="271"/>
        </pc:sldMkLst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2" creationId="{2F3AFF85-A226-E9FC-C554-7A3B84AAEEE8}"/>
          </ac:spMkLst>
        </pc:spChg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3" creationId="{F6B4424A-EFE9-A1D1-33E1-1869C5958398}"/>
          </ac:spMkLst>
        </pc:spChg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4" creationId="{CEAD3E77-172E-7845-A4A7-045AD6CBB2F2}"/>
          </ac:spMkLst>
        </pc:spChg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5" creationId="{F4A77C83-7CC4-608B-DBFE-5F23FEE3ECD9}"/>
          </ac:spMkLst>
        </pc:spChg>
        <pc:spChg chg="mod">
          <ac:chgData name="Zonghua Gu" userId="9a7e1853e1951ef5" providerId="LiveId" clId="{CF1FAA12-072C-4ED5-BA76-0FFFAEFDB88A}" dt="2026-04-23T19:44:33.874" v="0" actId="20577"/>
          <ac:spMkLst>
            <pc:docMk/>
            <pc:sldMk cId="0" sldId="271"/>
            <ac:spMk id="1189" creationId="{00000000-0000-0000-0000-000000000000}"/>
          </ac:spMkLst>
        </pc:spChg>
      </pc:sldChg>
      <pc:sldChg chg="addSp delSp modSp new mod">
        <pc:chgData name="Zonghua Gu" userId="9a7e1853e1951ef5" providerId="LiveId" clId="{CF1FAA12-072C-4ED5-BA76-0FFFAEFDB88A}" dt="2026-04-23T19:57:43.566" v="14" actId="478"/>
        <pc:sldMkLst>
          <pc:docMk/>
          <pc:sldMk cId="2082021179" sldId="323"/>
        </pc:sldMkLst>
        <pc:picChg chg="add mod">
          <ac:chgData name="Zonghua Gu" userId="9a7e1853e1951ef5" providerId="LiveId" clId="{CF1FAA12-072C-4ED5-BA76-0FFFAEFDB88A}" dt="2026-04-23T19:52:46.136" v="4" actId="14100"/>
          <ac:picMkLst>
            <pc:docMk/>
            <pc:sldMk cId="2082021179" sldId="323"/>
            <ac:picMk id="4" creationId="{FB0CBB5F-E653-6DB2-C93D-0E3ECE24BDB4}"/>
          </ac:picMkLst>
        </pc:picChg>
        <pc:picChg chg="add del mod">
          <ac:chgData name="Zonghua Gu" userId="9a7e1853e1951ef5" providerId="LiveId" clId="{CF1FAA12-072C-4ED5-BA76-0FFFAEFDB88A}" dt="2026-04-23T19:57:43.566" v="14" actId="478"/>
          <ac:picMkLst>
            <pc:docMk/>
            <pc:sldMk cId="2082021179" sldId="323"/>
            <ac:picMk id="6" creationId="{A2256EDB-D587-A5E4-E8D0-F6F0266F427E}"/>
          </ac:picMkLst>
        </pc:picChg>
        <pc:picChg chg="add mod">
          <ac:chgData name="Zonghua Gu" userId="9a7e1853e1951ef5" providerId="LiveId" clId="{CF1FAA12-072C-4ED5-BA76-0FFFAEFDB88A}" dt="2026-04-23T19:53:38.569" v="13" actId="1076"/>
          <ac:picMkLst>
            <pc:docMk/>
            <pc:sldMk cId="2082021179" sldId="323"/>
            <ac:picMk id="8" creationId="{BB84840E-C445-005B-7E6D-D083EFB7F00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ce.com/en/article/xwepkw/googles-network-congestion-algorithm-isnt-fair-researchers-say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ed80941a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ed80941a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Slides template credit: Josh Hug, Lisa Yan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eaed80941a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2eaed80941a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altLang="zh-C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“Lecture 12: Why congestion control is needed, and why TCP uses slow start + AIMD.” [cite:106]</a:t>
            </a:r>
          </a:p>
          <a:p>
            <a:r>
              <a:rPr lang="en-US" altLang="zh-C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“Lecture 13: How TCP implements those ideas in practice, what performance model they imply, and where they break down.”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eb40535c36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eb40535c36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eb40535c36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2eb40535c36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Senario with only TCP and cumulative acks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eb40535c36_0_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eb40535c36_0_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does CWND respond in our CC algorithm so far.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2eb40535c36_0_9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2eb40535c36_0_9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 is this huge jump and stuck window. Wasted bandwidth.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2eb40535c36_0_7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2eb40535c36_0_7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zone - wasted!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2eb40535c36_0_1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2eb40535c36_0_1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Bursty behavior is also a secondary issue - project example  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eb40535c36_0_1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eb40535c36_0_1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restated again! 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g2eb40535c36_0_2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5" name="Google Shape;705;g2eb40535c36_0_2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Sender assumes that an ack means something made it through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2eb40535c36_0_2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2eb40535c36_0_2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2eb40535c36_0_2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7" name="Google Shape;717;g2eb40535c36_0_2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g2eb40535c36_0_26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8" name="Google Shape;838;g2eb40535c36_0_26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 duplicate ack extends the window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g2eb40535c36_0_29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2" name="Google Shape;962;g2eb40535c36_0_29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Just after isolated loss with 3 duplicated acks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g2eb40535c36_0_27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1" name="Google Shape;1101;g2eb40535c36_0_27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zone is no longer a waste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Google Shape;1182;g2eb40535c36_0_28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3" name="Google Shape;1183;g2eb40535c36_0_28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Google Shape;1251;g2eb40535c36_0_2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2" name="Google Shape;1252;g2eb40535c36_0_2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2eb40535c36_0_2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8" name="Google Shape;1258;g2eb40535c36_0_2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Google Shape;1264;g2eb40535c36_0_29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5" name="Google Shape;1265;g2eb40535c36_0_29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g2eb40535c36_0_30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1" name="Google Shape;1271;g2eb40535c36_0_30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eb40535c36_0_30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eb40535c36_0_30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2eb40535c36_0_3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2eb40535c36_0_3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g2eb40535c36_0_3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9" name="Google Shape;1289;g2eb40535c36_0_3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go to fast recovery from either slow start or congestion avoidance.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Google Shape;1320;g2eb40535c36_0_3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1" name="Google Shape;1321;g2eb40535c36_0_3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How can all these variants co-exist? Don't we need a single, uniform standard?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Congestion control is implemented at the sender.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The sender can run whatever code they want.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What happens if I use Reno, you use Tahoe, and we try to communicate?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This should work fine. The variants change the rate we send data, but the packet format is the same.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What happens if I use Tahoe, and you use SACK?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Problem: You're expecting selective acks, and I'm only providing cumulative acks.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Tahoe - more conservative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Reno - Almost what we learned but no fast recovery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New Reno - Us!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TCP-SACK - Selective acknowledgements with more information about which packets received  </a:t>
            </a: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g2eb40535c36_0_3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5" name="Google Shape;1335;g2eb40535c36_0_3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Google Shape;1341;g2eb40535c36_0_3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2" name="Google Shape;1342;g2eb40535c36_0_3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Google Shape;1347;g2eb40535c36_0_3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8" name="Google Shape;1348;g2eb40535c36_0_3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Google Shape;1353;g2eb40535c36_0_3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4" name="Google Shape;1354;g2eb40535c36_0_3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" name="Google Shape;1359;g2eb40535c36_0_3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0" name="Google Shape;1360;g2eb40535c36_0_3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Google Shape;1377;g2eb40535c36_0_3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8" name="Google Shape;1378;g2eb40535c36_0_3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2eb40535c36_0_3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2eb40535c36_0_3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2eb40535c36_0_3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2eb40535c36_0_3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Google Shape;1439;g2eb40535c36_0_3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0" name="Google Shape;1440;g2eb40535c36_0_3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" name="Google Shape;1479;g2eb40535c36_0_3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0" name="Google Shape;1480;g2eb40535c36_0_3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6" name="Google Shape;1516;g2eb40535c36_0_3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7" name="Google Shape;1517;g2eb40535c36_0_3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shifts in our algorithm can make a big difference at internet scale!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Google Shape;1526;g2eb40535c36_0_3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7" name="Google Shape;1527;g2eb40535c36_0_3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g2eb40535c36_0_3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4" name="Google Shape;1534;g2eb40535c36_0_3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g2eb40535c36_0_34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0" name="Google Shape;1540;g2eb40535c36_0_34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g2eb40535c36_0_34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6" name="Google Shape;1546;g2eb40535c36_0_34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Google Shape;1564;g2eb40535c36_0_34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5" name="Google Shape;1565;g2eb40535c36_0_34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Google Shape;1570;g2eb40535c36_0_34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1" name="Google Shape;1571;g2eb40535c36_0_34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g2eb40535c36_0_3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7" name="Google Shape;1597;g2eb40535c36_0_3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Google Shape;1602;g2eb40535c36_0_35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3" name="Google Shape;1603;g2eb40535c36_0_35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Google Shape;1629;g2eb40535c36_0_3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0" name="Google Shape;1630;g2eb40535c36_0_3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Yes, all the zig-zags were measured to go through the origin or be at 45 degrees, I don't know why I bothered to do this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Google Shape;1663;g2eb40535c36_0_35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4" name="Google Shape;1664;g2eb40535c36_0_35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https://www.vice.com/en/article/xwepkw/googles-network-congestion-algorithm-isnt-fair-researchers-say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Google Shape;1671;g2eb40535c36_0_38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2" name="Google Shape;1672;g2eb40535c36_0_38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7" name="Google Shape;1677;g2eb40535c36_0_38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8" name="Google Shape;1678;g2eb40535c36_0_38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4" name="Google Shape;1684;g2eb40535c36_0_39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5" name="Google Shape;1685;g2eb40535c36_0_39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0" name="Google Shape;1690;g2eb40535c36_0_39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1" name="Google Shape;1691;g2eb40535c36_0_39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276f03ed542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9" name="Google Shape;1699;g276f03ed542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6" name="Google Shape;1736;g276f03ed542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7" name="Google Shape;1737;g276f03ed542_1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Google Shape;1742;g276f03ed542_1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3" name="Google Shape;1743;g276f03ed542_1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Google Shape;1748;g276f03ed542_1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9" name="Google Shape;1749;g276f03ed542_1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Google Shape;1754;g276f03ed542_1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5" name="Google Shape;1755;g276f03ed542_1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0" name="Google Shape;1760;g276f03ed542_1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1" name="Google Shape;1761;g276f03ed542_1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7" name="Google Shape;1767;g276f03ed542_1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8" name="Google Shape;1768;g276f03ed542_1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g276f03ed542_1_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8" name="Google Shape;1868;g276f03ed542_1_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" name="Google Shape;1873;g276f03ed542_1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4" name="Google Shape;1874;g276f03ed542_1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Smaller networks like datacenters benefit from this, but full internet uses TCP and CC</a:t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Google Shape;1879;g276f03ed542_1_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0" name="Google Shape;1880;g276f03ed542_1_2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Talk through what R1 does (0.5 and 0.5) but congestion still due to 0.1</a:t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3" name="Google Shape;1903;g276f03ed542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4" name="Google Shape;1904;g276f03ed542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Google Shape;1909;g276f03ed542_1_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0" name="Google Shape;1910;g276f03ed542_1_3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5" name="Google Shape;1915;g276f03ed542_1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6" name="Google Shape;1916;g276f03ed542_1_3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1" name="Google Shape;1921;g276f03ed542_1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2" name="Google Shape;1922;g276f03ed542_1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do have something! 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ce.com/en/article/xwepkw/googles-network-congestion-algorithm-isnt-fair-researchers-say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spcBef>
                <a:spcPts val="600"/>
              </a:spcBef>
            </a:pPr>
            <a:r>
              <a:rPr lang="en-US" altLang="zh-CN" sz="1600" dirty="0"/>
              <a:t>Lecture 13, Spring 2026</a:t>
            </a: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Congestion Control, Part 2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13 (Transport 4)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 rot="5400000">
            <a:off x="5069325" y="18316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24"/>
          <p:cNvSpPr/>
          <p:nvPr/>
        </p:nvSpPr>
        <p:spPr>
          <a:xfrm rot="5400000">
            <a:off x="52442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 rot="5400000">
            <a:off x="54191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 rot="5400000">
            <a:off x="55940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4"/>
          <p:cNvSpPr/>
          <p:nvPr/>
        </p:nvSpPr>
        <p:spPr>
          <a:xfrm rot="5400000">
            <a:off x="57689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4"/>
          <p:cNvSpPr/>
          <p:nvPr/>
        </p:nvSpPr>
        <p:spPr>
          <a:xfrm rot="5400000">
            <a:off x="59438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4"/>
          <p:cNvSpPr/>
          <p:nvPr/>
        </p:nvSpPr>
        <p:spPr>
          <a:xfrm rot="5400000">
            <a:off x="61187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p24"/>
          <p:cNvSpPr/>
          <p:nvPr/>
        </p:nvSpPr>
        <p:spPr>
          <a:xfrm rot="5400000">
            <a:off x="62936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p24"/>
          <p:cNvSpPr/>
          <p:nvPr/>
        </p:nvSpPr>
        <p:spPr>
          <a:xfrm rot="5400000">
            <a:off x="64685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" name="Google Shape;155;p24"/>
          <p:cNvSpPr/>
          <p:nvPr/>
        </p:nvSpPr>
        <p:spPr>
          <a:xfrm rot="5400000">
            <a:off x="66434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24"/>
          <p:cNvSpPr/>
          <p:nvPr/>
        </p:nvSpPr>
        <p:spPr>
          <a:xfrm rot="5400000">
            <a:off x="68183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4"/>
          <p:cNvSpPr/>
          <p:nvPr/>
        </p:nvSpPr>
        <p:spPr>
          <a:xfrm rot="5400000">
            <a:off x="69932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24"/>
          <p:cNvSpPr/>
          <p:nvPr/>
        </p:nvSpPr>
        <p:spPr>
          <a:xfrm rot="5400000">
            <a:off x="71681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24"/>
          <p:cNvSpPr/>
          <p:nvPr/>
        </p:nvSpPr>
        <p:spPr>
          <a:xfrm rot="5400000">
            <a:off x="73430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" name="Google Shape;160;p24"/>
          <p:cNvSpPr/>
          <p:nvPr/>
        </p:nvSpPr>
        <p:spPr>
          <a:xfrm rot="5400000">
            <a:off x="75179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" name="Google Shape;161;p24"/>
          <p:cNvSpPr/>
          <p:nvPr/>
        </p:nvSpPr>
        <p:spPr>
          <a:xfrm rot="5400000">
            <a:off x="7692825" y="18316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" name="Google Shape;162;p24"/>
          <p:cNvSpPr/>
          <p:nvPr/>
        </p:nvSpPr>
        <p:spPr>
          <a:xfrm rot="5400000">
            <a:off x="7867725" y="18316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4"/>
          <p:cNvSpPr/>
          <p:nvPr/>
        </p:nvSpPr>
        <p:spPr>
          <a:xfrm rot="5400000">
            <a:off x="50693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24"/>
          <p:cNvSpPr/>
          <p:nvPr/>
        </p:nvSpPr>
        <p:spPr>
          <a:xfrm rot="5400000">
            <a:off x="52442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24"/>
          <p:cNvSpPr/>
          <p:nvPr/>
        </p:nvSpPr>
        <p:spPr>
          <a:xfrm rot="5400000">
            <a:off x="54191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24"/>
          <p:cNvSpPr/>
          <p:nvPr/>
        </p:nvSpPr>
        <p:spPr>
          <a:xfrm rot="5400000">
            <a:off x="55940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24"/>
          <p:cNvSpPr/>
          <p:nvPr/>
        </p:nvSpPr>
        <p:spPr>
          <a:xfrm rot="5400000">
            <a:off x="57689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" name="Google Shape;168;p24"/>
          <p:cNvSpPr/>
          <p:nvPr/>
        </p:nvSpPr>
        <p:spPr>
          <a:xfrm rot="5400000">
            <a:off x="59438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4"/>
          <p:cNvSpPr/>
          <p:nvPr/>
        </p:nvSpPr>
        <p:spPr>
          <a:xfrm rot="5400000">
            <a:off x="61187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" name="Google Shape;170;p24"/>
          <p:cNvSpPr/>
          <p:nvPr/>
        </p:nvSpPr>
        <p:spPr>
          <a:xfrm rot="5400000">
            <a:off x="62936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4"/>
          <p:cNvSpPr/>
          <p:nvPr/>
        </p:nvSpPr>
        <p:spPr>
          <a:xfrm rot="5400000">
            <a:off x="64685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4"/>
          <p:cNvSpPr/>
          <p:nvPr/>
        </p:nvSpPr>
        <p:spPr>
          <a:xfrm rot="5400000">
            <a:off x="66434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24"/>
          <p:cNvSpPr/>
          <p:nvPr/>
        </p:nvSpPr>
        <p:spPr>
          <a:xfrm rot="5400000">
            <a:off x="68183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24"/>
          <p:cNvSpPr/>
          <p:nvPr/>
        </p:nvSpPr>
        <p:spPr>
          <a:xfrm rot="5400000">
            <a:off x="69932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4"/>
          <p:cNvSpPr/>
          <p:nvPr/>
        </p:nvSpPr>
        <p:spPr>
          <a:xfrm rot="5400000">
            <a:off x="71681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4"/>
          <p:cNvSpPr/>
          <p:nvPr/>
        </p:nvSpPr>
        <p:spPr>
          <a:xfrm rot="5400000">
            <a:off x="73430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4"/>
          <p:cNvSpPr/>
          <p:nvPr/>
        </p:nvSpPr>
        <p:spPr>
          <a:xfrm rot="5400000">
            <a:off x="75179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" name="Google Shape;178;p24"/>
          <p:cNvSpPr/>
          <p:nvPr/>
        </p:nvSpPr>
        <p:spPr>
          <a:xfrm rot="5400000">
            <a:off x="76928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4"/>
          <p:cNvSpPr/>
          <p:nvPr/>
        </p:nvSpPr>
        <p:spPr>
          <a:xfrm rot="5400000">
            <a:off x="78677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4"/>
          <p:cNvSpPr/>
          <p:nvPr/>
        </p:nvSpPr>
        <p:spPr>
          <a:xfrm rot="5400000">
            <a:off x="50693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4"/>
          <p:cNvSpPr/>
          <p:nvPr/>
        </p:nvSpPr>
        <p:spPr>
          <a:xfrm rot="5400000">
            <a:off x="52442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4"/>
          <p:cNvSpPr/>
          <p:nvPr/>
        </p:nvSpPr>
        <p:spPr>
          <a:xfrm rot="5400000">
            <a:off x="54191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4"/>
          <p:cNvSpPr/>
          <p:nvPr/>
        </p:nvSpPr>
        <p:spPr>
          <a:xfrm rot="5400000">
            <a:off x="55940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4"/>
          <p:cNvSpPr/>
          <p:nvPr/>
        </p:nvSpPr>
        <p:spPr>
          <a:xfrm rot="5400000">
            <a:off x="57689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4"/>
          <p:cNvSpPr/>
          <p:nvPr/>
        </p:nvSpPr>
        <p:spPr>
          <a:xfrm rot="5400000">
            <a:off x="59438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4"/>
          <p:cNvSpPr/>
          <p:nvPr/>
        </p:nvSpPr>
        <p:spPr>
          <a:xfrm rot="5400000">
            <a:off x="61187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4"/>
          <p:cNvSpPr/>
          <p:nvPr/>
        </p:nvSpPr>
        <p:spPr>
          <a:xfrm rot="5400000">
            <a:off x="62936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4"/>
          <p:cNvSpPr/>
          <p:nvPr/>
        </p:nvSpPr>
        <p:spPr>
          <a:xfrm rot="5400000">
            <a:off x="64685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4"/>
          <p:cNvSpPr/>
          <p:nvPr/>
        </p:nvSpPr>
        <p:spPr>
          <a:xfrm rot="5400000">
            <a:off x="66434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4"/>
          <p:cNvSpPr/>
          <p:nvPr/>
        </p:nvSpPr>
        <p:spPr>
          <a:xfrm rot="5400000">
            <a:off x="68183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24"/>
          <p:cNvSpPr/>
          <p:nvPr/>
        </p:nvSpPr>
        <p:spPr>
          <a:xfrm rot="5400000">
            <a:off x="69932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4"/>
          <p:cNvSpPr/>
          <p:nvPr/>
        </p:nvSpPr>
        <p:spPr>
          <a:xfrm rot="5400000">
            <a:off x="71681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4"/>
          <p:cNvSpPr/>
          <p:nvPr/>
        </p:nvSpPr>
        <p:spPr>
          <a:xfrm rot="5400000">
            <a:off x="73430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4"/>
          <p:cNvSpPr/>
          <p:nvPr/>
        </p:nvSpPr>
        <p:spPr>
          <a:xfrm rot="5400000">
            <a:off x="75179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" name="Google Shape;195;p24"/>
          <p:cNvSpPr/>
          <p:nvPr/>
        </p:nvSpPr>
        <p:spPr>
          <a:xfrm rot="5400000">
            <a:off x="76928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" name="Google Shape;196;p24"/>
          <p:cNvSpPr/>
          <p:nvPr/>
        </p:nvSpPr>
        <p:spPr>
          <a:xfrm rot="5400000">
            <a:off x="78677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" name="Google Shape;197;p24"/>
          <p:cNvSpPr/>
          <p:nvPr/>
        </p:nvSpPr>
        <p:spPr>
          <a:xfrm rot="5400000">
            <a:off x="6642527" y="87625"/>
            <a:ext cx="435900" cy="12246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" name="Google Shape;198;p24"/>
          <p:cNvSpPr/>
          <p:nvPr/>
        </p:nvSpPr>
        <p:spPr>
          <a:xfrm rot="5400000">
            <a:off x="5594355" y="263875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24"/>
          <p:cNvSpPr/>
          <p:nvPr/>
        </p:nvSpPr>
        <p:spPr>
          <a:xfrm rot="5400000">
            <a:off x="6730050" y="609625"/>
            <a:ext cx="435900" cy="1399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24"/>
          <p:cNvSpPr/>
          <p:nvPr/>
        </p:nvSpPr>
        <p:spPr>
          <a:xfrm rot="5400000">
            <a:off x="5594355" y="873475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24"/>
          <p:cNvSpPr/>
          <p:nvPr/>
        </p:nvSpPr>
        <p:spPr>
          <a:xfrm rot="5400000">
            <a:off x="6817775" y="1131475"/>
            <a:ext cx="435900" cy="15753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" name="Google Shape;202;p24"/>
          <p:cNvSpPr/>
          <p:nvPr/>
        </p:nvSpPr>
        <p:spPr>
          <a:xfrm rot="5400000">
            <a:off x="5594355" y="1483075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Implementation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Fast Recovery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State Machine and Variants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TCP Throughput Model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Congestion Control Issues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Router-Assisted Congestion Control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208" name="Google Shape;208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</a:t>
            </a:r>
            <a:endParaRPr/>
          </a:p>
        </p:txBody>
      </p:sp>
      <p:sp>
        <p:nvSpPr>
          <p:cNvPr id="209" name="Google Shape;209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</a:t>
            </a:r>
            <a:endParaRPr/>
          </a:p>
        </p:txBody>
      </p:sp>
      <p:sp>
        <p:nvSpPr>
          <p:cNvPr id="215" name="Google Shape;215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Problem: Additive increases are too slow to recover from isolated loss.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last feature is an optimization to improve performance.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Bit of a hack, but it's effective.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0" name="Google Shape;220;p27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1" name="Google Shape;221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Recovery: Setting the Stage</a:t>
            </a:r>
            <a:endParaRPr/>
          </a:p>
        </p:txBody>
      </p:sp>
      <p:cxnSp>
        <p:nvCxnSpPr>
          <p:cNvPr id="222" name="Google Shape;222;p27"/>
          <p:cNvCxnSpPr/>
          <p:nvPr/>
        </p:nvCxnSpPr>
        <p:spPr>
          <a:xfrm>
            <a:off x="5955738" y="560851"/>
            <a:ext cx="1186200" cy="153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3" name="Google Shape;223;p27"/>
          <p:cNvCxnSpPr/>
          <p:nvPr/>
        </p:nvCxnSpPr>
        <p:spPr>
          <a:xfrm>
            <a:off x="5955738" y="72606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4" name="Google Shape;224;p27"/>
          <p:cNvSpPr txBox="1"/>
          <p:nvPr/>
        </p:nvSpPr>
        <p:spPr>
          <a:xfrm>
            <a:off x="7143925" y="610551"/>
            <a:ext cx="1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</a:rPr>
              <a:t>✗</a:t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25" name="Google Shape;225;p27"/>
          <p:cNvSpPr txBox="1"/>
          <p:nvPr/>
        </p:nvSpPr>
        <p:spPr>
          <a:xfrm>
            <a:off x="5625725" y="450640"/>
            <a:ext cx="2985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27"/>
          <p:cNvSpPr txBox="1"/>
          <p:nvPr/>
        </p:nvSpPr>
        <p:spPr>
          <a:xfrm>
            <a:off x="4618867" y="23570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27"/>
          <p:cNvCxnSpPr/>
          <p:nvPr/>
        </p:nvCxnSpPr>
        <p:spPr>
          <a:xfrm>
            <a:off x="5955738" y="90516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8" name="Google Shape;228;p27"/>
          <p:cNvCxnSpPr/>
          <p:nvPr/>
        </p:nvCxnSpPr>
        <p:spPr>
          <a:xfrm>
            <a:off x="5955738" y="108959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9" name="Google Shape;229;p27"/>
          <p:cNvCxnSpPr/>
          <p:nvPr/>
        </p:nvCxnSpPr>
        <p:spPr>
          <a:xfrm>
            <a:off x="5955738" y="126869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0" name="Google Shape;230;p27"/>
          <p:cNvCxnSpPr/>
          <p:nvPr/>
        </p:nvCxnSpPr>
        <p:spPr>
          <a:xfrm>
            <a:off x="5955738" y="145884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1" name="Google Shape;231;p27"/>
          <p:cNvCxnSpPr/>
          <p:nvPr/>
        </p:nvCxnSpPr>
        <p:spPr>
          <a:xfrm>
            <a:off x="5955738" y="16379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2" name="Google Shape;232;p27"/>
          <p:cNvCxnSpPr/>
          <p:nvPr/>
        </p:nvCxnSpPr>
        <p:spPr>
          <a:xfrm>
            <a:off x="5955738" y="20071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3" name="Google Shape;233;p27"/>
          <p:cNvCxnSpPr/>
          <p:nvPr/>
        </p:nvCxnSpPr>
        <p:spPr>
          <a:xfrm>
            <a:off x="5955738" y="218629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4" name="Google Shape;234;p27"/>
          <p:cNvCxnSpPr/>
          <p:nvPr/>
        </p:nvCxnSpPr>
        <p:spPr>
          <a:xfrm>
            <a:off x="5955738" y="182011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5" name="Google Shape;235;p27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27"/>
          <p:cNvCxnSpPr/>
          <p:nvPr/>
        </p:nvCxnSpPr>
        <p:spPr>
          <a:xfrm flipH="1">
            <a:off x="5963238" y="11544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27"/>
          <p:cNvCxnSpPr/>
          <p:nvPr/>
        </p:nvCxnSpPr>
        <p:spPr>
          <a:xfrm flipH="1">
            <a:off x="5963238" y="133886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8" name="Google Shape;238;p27"/>
          <p:cNvCxnSpPr/>
          <p:nvPr/>
        </p:nvCxnSpPr>
        <p:spPr>
          <a:xfrm flipH="1">
            <a:off x="5963238" y="151903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9" name="Google Shape;239;p27"/>
          <p:cNvCxnSpPr/>
          <p:nvPr/>
        </p:nvCxnSpPr>
        <p:spPr>
          <a:xfrm flipH="1">
            <a:off x="5963238" y="1707054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0" name="Google Shape;240;p27"/>
          <p:cNvCxnSpPr/>
          <p:nvPr/>
        </p:nvCxnSpPr>
        <p:spPr>
          <a:xfrm flipH="1">
            <a:off x="5963238" y="188439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1" name="Google Shape;241;p27"/>
          <p:cNvCxnSpPr/>
          <p:nvPr/>
        </p:nvCxnSpPr>
        <p:spPr>
          <a:xfrm flipH="1">
            <a:off x="5963238" y="20688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2" name="Google Shape;242;p27"/>
          <p:cNvCxnSpPr/>
          <p:nvPr/>
        </p:nvCxnSpPr>
        <p:spPr>
          <a:xfrm flipH="1">
            <a:off x="5963238" y="2248997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3" name="Google Shape;243;p27"/>
          <p:cNvCxnSpPr/>
          <p:nvPr/>
        </p:nvCxnSpPr>
        <p:spPr>
          <a:xfrm flipH="1">
            <a:off x="5963238" y="2437019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27"/>
          <p:cNvCxnSpPr/>
          <p:nvPr/>
        </p:nvCxnSpPr>
        <p:spPr>
          <a:xfrm flipH="1">
            <a:off x="5963238" y="261931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5" name="Google Shape;245;p27"/>
          <p:cNvCxnSpPr/>
          <p:nvPr/>
        </p:nvCxnSpPr>
        <p:spPr>
          <a:xfrm>
            <a:off x="5955738" y="28453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6" name="Google Shape;246;p27"/>
          <p:cNvCxnSpPr/>
          <p:nvPr/>
        </p:nvCxnSpPr>
        <p:spPr>
          <a:xfrm flipH="1">
            <a:off x="5963238" y="326315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7" name="Google Shape;247;p27"/>
          <p:cNvSpPr txBox="1"/>
          <p:nvPr/>
        </p:nvSpPr>
        <p:spPr>
          <a:xfrm>
            <a:off x="4618867" y="4451111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27"/>
          <p:cNvSpPr txBox="1"/>
          <p:nvPr/>
        </p:nvSpPr>
        <p:spPr>
          <a:xfrm>
            <a:off x="3781008" y="27209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8136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Consider sending 10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first one (101) is dropped.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Acks for 102–110 all say ack(101) because packet 101 is still missing.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After the third duplicate ack(101), </a:t>
            </a:r>
            <a:r>
              <a:rPr lang="en-US" dirty="0"/>
              <a:t>sender declares packet #101 is lost, and</a:t>
            </a:r>
            <a:r>
              <a:rPr lang="en" dirty="0"/>
              <a:t> resends it.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Eventually, ack for the re-sent 101 says ack(111) because packets 102–110 were all received earlier.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What does </a:t>
            </a:r>
            <a:r>
              <a:rPr lang="en" i="1" dirty="0"/>
              <a:t>CWND</a:t>
            </a:r>
            <a:r>
              <a:rPr lang="en" dirty="0"/>
              <a:t> look like during this process?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sp>
        <p:nvSpPr>
          <p:cNvPr id="255" name="Google Shape;255;p28"/>
          <p:cNvSpPr/>
          <p:nvPr/>
        </p:nvSpPr>
        <p:spPr>
          <a:xfrm rot="5400000">
            <a:off x="58740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28"/>
          <p:cNvSpPr/>
          <p:nvPr/>
        </p:nvSpPr>
        <p:spPr>
          <a:xfrm rot="5400000">
            <a:off x="60489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28"/>
          <p:cNvSpPr/>
          <p:nvPr/>
        </p:nvSpPr>
        <p:spPr>
          <a:xfrm rot="5400000">
            <a:off x="62238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28"/>
          <p:cNvSpPr/>
          <p:nvPr/>
        </p:nvSpPr>
        <p:spPr>
          <a:xfrm rot="5400000">
            <a:off x="63987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28"/>
          <p:cNvSpPr/>
          <p:nvPr/>
        </p:nvSpPr>
        <p:spPr>
          <a:xfrm rot="5400000">
            <a:off x="65736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28"/>
          <p:cNvSpPr/>
          <p:nvPr/>
        </p:nvSpPr>
        <p:spPr>
          <a:xfrm rot="5400000">
            <a:off x="67485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28"/>
          <p:cNvSpPr/>
          <p:nvPr/>
        </p:nvSpPr>
        <p:spPr>
          <a:xfrm rot="5400000">
            <a:off x="69234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8"/>
          <p:cNvSpPr/>
          <p:nvPr/>
        </p:nvSpPr>
        <p:spPr>
          <a:xfrm rot="5400000">
            <a:off x="70983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28"/>
          <p:cNvSpPr/>
          <p:nvPr/>
        </p:nvSpPr>
        <p:spPr>
          <a:xfrm rot="5400000">
            <a:off x="72732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28"/>
          <p:cNvSpPr/>
          <p:nvPr/>
        </p:nvSpPr>
        <p:spPr>
          <a:xfrm rot="5400000">
            <a:off x="74481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28"/>
          <p:cNvSpPr/>
          <p:nvPr/>
        </p:nvSpPr>
        <p:spPr>
          <a:xfrm rot="5400000">
            <a:off x="76230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28"/>
          <p:cNvSpPr/>
          <p:nvPr/>
        </p:nvSpPr>
        <p:spPr>
          <a:xfrm rot="5400000">
            <a:off x="77979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28"/>
          <p:cNvSpPr/>
          <p:nvPr/>
        </p:nvSpPr>
        <p:spPr>
          <a:xfrm rot="5400000">
            <a:off x="79728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28"/>
          <p:cNvSpPr/>
          <p:nvPr/>
        </p:nvSpPr>
        <p:spPr>
          <a:xfrm rot="5400000">
            <a:off x="81477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28"/>
          <p:cNvSpPr/>
          <p:nvPr/>
        </p:nvSpPr>
        <p:spPr>
          <a:xfrm rot="5400000">
            <a:off x="6836135" y="-1024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28"/>
          <p:cNvSpPr txBox="1"/>
          <p:nvPr/>
        </p:nvSpPr>
        <p:spPr>
          <a:xfrm>
            <a:off x="112225" y="622800"/>
            <a:ext cx="58281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sending 10 packets: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28"/>
          <p:cNvSpPr/>
          <p:nvPr/>
        </p:nvSpPr>
        <p:spPr>
          <a:xfrm rot="5400000">
            <a:off x="83226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28"/>
          <p:cNvSpPr/>
          <p:nvPr/>
        </p:nvSpPr>
        <p:spPr>
          <a:xfrm rot="5400000">
            <a:off x="84975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28"/>
          <p:cNvSpPr/>
          <p:nvPr/>
        </p:nvSpPr>
        <p:spPr>
          <a:xfrm rot="5400000">
            <a:off x="86724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28"/>
          <p:cNvSpPr/>
          <p:nvPr/>
        </p:nvSpPr>
        <p:spPr>
          <a:xfrm rot="5400000">
            <a:off x="58740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28"/>
          <p:cNvSpPr/>
          <p:nvPr/>
        </p:nvSpPr>
        <p:spPr>
          <a:xfrm rot="5400000">
            <a:off x="60489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p28"/>
          <p:cNvSpPr/>
          <p:nvPr/>
        </p:nvSpPr>
        <p:spPr>
          <a:xfrm rot="5400000">
            <a:off x="62238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7" name="Google Shape;277;p28"/>
          <p:cNvSpPr/>
          <p:nvPr/>
        </p:nvSpPr>
        <p:spPr>
          <a:xfrm rot="5400000">
            <a:off x="63987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8" name="Google Shape;278;p28"/>
          <p:cNvSpPr/>
          <p:nvPr/>
        </p:nvSpPr>
        <p:spPr>
          <a:xfrm rot="5400000">
            <a:off x="65736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9" name="Google Shape;279;p28"/>
          <p:cNvSpPr/>
          <p:nvPr/>
        </p:nvSpPr>
        <p:spPr>
          <a:xfrm rot="5400000">
            <a:off x="67485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p28"/>
          <p:cNvSpPr/>
          <p:nvPr/>
        </p:nvSpPr>
        <p:spPr>
          <a:xfrm rot="5400000">
            <a:off x="69234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1" name="Google Shape;281;p28"/>
          <p:cNvSpPr/>
          <p:nvPr/>
        </p:nvSpPr>
        <p:spPr>
          <a:xfrm rot="5400000">
            <a:off x="70983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2" name="Google Shape;282;p28"/>
          <p:cNvSpPr/>
          <p:nvPr/>
        </p:nvSpPr>
        <p:spPr>
          <a:xfrm rot="5400000">
            <a:off x="72732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3" name="Google Shape;283;p28"/>
          <p:cNvSpPr/>
          <p:nvPr/>
        </p:nvSpPr>
        <p:spPr>
          <a:xfrm rot="5400000">
            <a:off x="74481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28"/>
          <p:cNvSpPr/>
          <p:nvPr/>
        </p:nvSpPr>
        <p:spPr>
          <a:xfrm rot="5400000">
            <a:off x="76230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28"/>
          <p:cNvSpPr/>
          <p:nvPr/>
        </p:nvSpPr>
        <p:spPr>
          <a:xfrm rot="5400000">
            <a:off x="77979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6" name="Google Shape;286;p28"/>
          <p:cNvSpPr/>
          <p:nvPr/>
        </p:nvSpPr>
        <p:spPr>
          <a:xfrm rot="5400000">
            <a:off x="79728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28"/>
          <p:cNvSpPr/>
          <p:nvPr/>
        </p:nvSpPr>
        <p:spPr>
          <a:xfrm rot="5400000">
            <a:off x="81477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28"/>
          <p:cNvSpPr/>
          <p:nvPr/>
        </p:nvSpPr>
        <p:spPr>
          <a:xfrm rot="5400000">
            <a:off x="6836135" y="5071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9" name="Google Shape;289;p28"/>
          <p:cNvSpPr txBox="1"/>
          <p:nvPr/>
        </p:nvSpPr>
        <p:spPr>
          <a:xfrm>
            <a:off x="112225" y="12324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ack(101) from 102: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0" name="Google Shape;290;p28"/>
          <p:cNvSpPr/>
          <p:nvPr/>
        </p:nvSpPr>
        <p:spPr>
          <a:xfrm rot="5400000">
            <a:off x="83226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1" name="Google Shape;291;p28"/>
          <p:cNvSpPr/>
          <p:nvPr/>
        </p:nvSpPr>
        <p:spPr>
          <a:xfrm rot="5400000">
            <a:off x="84975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2" name="Google Shape;292;p28"/>
          <p:cNvSpPr/>
          <p:nvPr/>
        </p:nvSpPr>
        <p:spPr>
          <a:xfrm rot="5400000">
            <a:off x="86724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3" name="Google Shape;293;p28"/>
          <p:cNvSpPr/>
          <p:nvPr/>
        </p:nvSpPr>
        <p:spPr>
          <a:xfrm rot="5400000">
            <a:off x="58740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p28"/>
          <p:cNvSpPr/>
          <p:nvPr/>
        </p:nvSpPr>
        <p:spPr>
          <a:xfrm rot="5400000">
            <a:off x="60489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28"/>
          <p:cNvSpPr/>
          <p:nvPr/>
        </p:nvSpPr>
        <p:spPr>
          <a:xfrm rot="5400000">
            <a:off x="62238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28"/>
          <p:cNvSpPr/>
          <p:nvPr/>
        </p:nvSpPr>
        <p:spPr>
          <a:xfrm rot="5400000">
            <a:off x="63987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28"/>
          <p:cNvSpPr/>
          <p:nvPr/>
        </p:nvSpPr>
        <p:spPr>
          <a:xfrm rot="5400000">
            <a:off x="65736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28"/>
          <p:cNvSpPr/>
          <p:nvPr/>
        </p:nvSpPr>
        <p:spPr>
          <a:xfrm rot="5400000">
            <a:off x="67485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28"/>
          <p:cNvSpPr/>
          <p:nvPr/>
        </p:nvSpPr>
        <p:spPr>
          <a:xfrm rot="5400000">
            <a:off x="69234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8"/>
          <p:cNvSpPr/>
          <p:nvPr/>
        </p:nvSpPr>
        <p:spPr>
          <a:xfrm rot="5400000">
            <a:off x="70983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28"/>
          <p:cNvSpPr/>
          <p:nvPr/>
        </p:nvSpPr>
        <p:spPr>
          <a:xfrm rot="5400000">
            <a:off x="72732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28"/>
          <p:cNvSpPr/>
          <p:nvPr/>
        </p:nvSpPr>
        <p:spPr>
          <a:xfrm rot="5400000">
            <a:off x="74481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28"/>
          <p:cNvSpPr/>
          <p:nvPr/>
        </p:nvSpPr>
        <p:spPr>
          <a:xfrm rot="5400000">
            <a:off x="76230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28"/>
          <p:cNvSpPr/>
          <p:nvPr/>
        </p:nvSpPr>
        <p:spPr>
          <a:xfrm rot="5400000">
            <a:off x="77979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28"/>
          <p:cNvSpPr/>
          <p:nvPr/>
        </p:nvSpPr>
        <p:spPr>
          <a:xfrm rot="5400000">
            <a:off x="79728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28"/>
          <p:cNvSpPr/>
          <p:nvPr/>
        </p:nvSpPr>
        <p:spPr>
          <a:xfrm rot="5400000">
            <a:off x="81477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28"/>
          <p:cNvSpPr/>
          <p:nvPr/>
        </p:nvSpPr>
        <p:spPr>
          <a:xfrm rot="5400000">
            <a:off x="6836135" y="11167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Google Shape;308;p28"/>
          <p:cNvSpPr txBox="1"/>
          <p:nvPr/>
        </p:nvSpPr>
        <p:spPr>
          <a:xfrm>
            <a:off x="112225" y="18420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103: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9" name="Google Shape;309;p28"/>
          <p:cNvSpPr/>
          <p:nvPr/>
        </p:nvSpPr>
        <p:spPr>
          <a:xfrm rot="5400000">
            <a:off x="83226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0" name="Google Shape;310;p28"/>
          <p:cNvSpPr/>
          <p:nvPr/>
        </p:nvSpPr>
        <p:spPr>
          <a:xfrm rot="5400000">
            <a:off x="84975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1" name="Google Shape;311;p28"/>
          <p:cNvSpPr/>
          <p:nvPr/>
        </p:nvSpPr>
        <p:spPr>
          <a:xfrm rot="5400000">
            <a:off x="86724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2" name="Google Shape;312;p28"/>
          <p:cNvSpPr/>
          <p:nvPr/>
        </p:nvSpPr>
        <p:spPr>
          <a:xfrm rot="5400000">
            <a:off x="58740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28"/>
          <p:cNvSpPr/>
          <p:nvPr/>
        </p:nvSpPr>
        <p:spPr>
          <a:xfrm rot="5400000">
            <a:off x="60489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28"/>
          <p:cNvSpPr/>
          <p:nvPr/>
        </p:nvSpPr>
        <p:spPr>
          <a:xfrm rot="5400000">
            <a:off x="62238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28"/>
          <p:cNvSpPr/>
          <p:nvPr/>
        </p:nvSpPr>
        <p:spPr>
          <a:xfrm rot="5400000">
            <a:off x="63987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28"/>
          <p:cNvSpPr/>
          <p:nvPr/>
        </p:nvSpPr>
        <p:spPr>
          <a:xfrm rot="5400000">
            <a:off x="65736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28"/>
          <p:cNvSpPr/>
          <p:nvPr/>
        </p:nvSpPr>
        <p:spPr>
          <a:xfrm rot="5400000">
            <a:off x="67485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28"/>
          <p:cNvSpPr/>
          <p:nvPr/>
        </p:nvSpPr>
        <p:spPr>
          <a:xfrm rot="5400000">
            <a:off x="69234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28"/>
          <p:cNvSpPr/>
          <p:nvPr/>
        </p:nvSpPr>
        <p:spPr>
          <a:xfrm rot="5400000">
            <a:off x="70983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0" name="Google Shape;320;p28"/>
          <p:cNvSpPr/>
          <p:nvPr/>
        </p:nvSpPr>
        <p:spPr>
          <a:xfrm rot="5400000">
            <a:off x="72732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28"/>
          <p:cNvSpPr/>
          <p:nvPr/>
        </p:nvSpPr>
        <p:spPr>
          <a:xfrm rot="5400000">
            <a:off x="74481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28"/>
          <p:cNvSpPr/>
          <p:nvPr/>
        </p:nvSpPr>
        <p:spPr>
          <a:xfrm rot="5400000">
            <a:off x="76230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28"/>
          <p:cNvSpPr/>
          <p:nvPr/>
        </p:nvSpPr>
        <p:spPr>
          <a:xfrm rot="5400000">
            <a:off x="77979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28"/>
          <p:cNvSpPr/>
          <p:nvPr/>
        </p:nvSpPr>
        <p:spPr>
          <a:xfrm rot="5400000">
            <a:off x="79728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28"/>
          <p:cNvSpPr/>
          <p:nvPr/>
        </p:nvSpPr>
        <p:spPr>
          <a:xfrm rot="5400000">
            <a:off x="81477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6" name="Google Shape;326;p28"/>
          <p:cNvSpPr/>
          <p:nvPr/>
        </p:nvSpPr>
        <p:spPr>
          <a:xfrm rot="5400000">
            <a:off x="6836135" y="17263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7" name="Google Shape;327;p28"/>
          <p:cNvSpPr txBox="1"/>
          <p:nvPr/>
        </p:nvSpPr>
        <p:spPr>
          <a:xfrm>
            <a:off x="112225" y="24516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104: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8" name="Google Shape;328;p28"/>
          <p:cNvSpPr/>
          <p:nvPr/>
        </p:nvSpPr>
        <p:spPr>
          <a:xfrm rot="5400000">
            <a:off x="83226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9" name="Google Shape;329;p28"/>
          <p:cNvSpPr/>
          <p:nvPr/>
        </p:nvSpPr>
        <p:spPr>
          <a:xfrm rot="5400000">
            <a:off x="84975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28"/>
          <p:cNvSpPr/>
          <p:nvPr/>
        </p:nvSpPr>
        <p:spPr>
          <a:xfrm rot="5400000">
            <a:off x="86724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28"/>
          <p:cNvSpPr txBox="1"/>
          <p:nvPr/>
        </p:nvSpPr>
        <p:spPr>
          <a:xfrm>
            <a:off x="112225" y="30612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3 duplicate acks detected.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5.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28"/>
          <p:cNvSpPr/>
          <p:nvPr/>
        </p:nvSpPr>
        <p:spPr>
          <a:xfrm rot="5400000">
            <a:off x="58740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28"/>
          <p:cNvSpPr/>
          <p:nvPr/>
        </p:nvSpPr>
        <p:spPr>
          <a:xfrm rot="5400000">
            <a:off x="6048900" y="3121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4" name="Google Shape;334;p28"/>
          <p:cNvSpPr/>
          <p:nvPr/>
        </p:nvSpPr>
        <p:spPr>
          <a:xfrm rot="5400000">
            <a:off x="62238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5" name="Google Shape;335;p28"/>
          <p:cNvSpPr/>
          <p:nvPr/>
        </p:nvSpPr>
        <p:spPr>
          <a:xfrm rot="5400000">
            <a:off x="63987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p28"/>
          <p:cNvSpPr/>
          <p:nvPr/>
        </p:nvSpPr>
        <p:spPr>
          <a:xfrm rot="5400000">
            <a:off x="65736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7" name="Google Shape;337;p28"/>
          <p:cNvSpPr/>
          <p:nvPr/>
        </p:nvSpPr>
        <p:spPr>
          <a:xfrm rot="5400000">
            <a:off x="6748500" y="3121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8" name="Google Shape;338;p28"/>
          <p:cNvSpPr/>
          <p:nvPr/>
        </p:nvSpPr>
        <p:spPr>
          <a:xfrm rot="5400000">
            <a:off x="69234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9" name="Google Shape;339;p28"/>
          <p:cNvSpPr/>
          <p:nvPr/>
        </p:nvSpPr>
        <p:spPr>
          <a:xfrm rot="5400000">
            <a:off x="70983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0" name="Google Shape;340;p28"/>
          <p:cNvSpPr/>
          <p:nvPr/>
        </p:nvSpPr>
        <p:spPr>
          <a:xfrm rot="5400000">
            <a:off x="72732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1" name="Google Shape;341;p28"/>
          <p:cNvSpPr/>
          <p:nvPr/>
        </p:nvSpPr>
        <p:spPr>
          <a:xfrm rot="5400000">
            <a:off x="74481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2" name="Google Shape;342;p28"/>
          <p:cNvSpPr/>
          <p:nvPr/>
        </p:nvSpPr>
        <p:spPr>
          <a:xfrm rot="5400000">
            <a:off x="76230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3" name="Google Shape;343;p28"/>
          <p:cNvSpPr/>
          <p:nvPr/>
        </p:nvSpPr>
        <p:spPr>
          <a:xfrm rot="5400000">
            <a:off x="77979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4" name="Google Shape;344;p28"/>
          <p:cNvSpPr/>
          <p:nvPr/>
        </p:nvSpPr>
        <p:spPr>
          <a:xfrm rot="5400000">
            <a:off x="79728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5" name="Google Shape;345;p28"/>
          <p:cNvSpPr/>
          <p:nvPr/>
        </p:nvSpPr>
        <p:spPr>
          <a:xfrm rot="5400000">
            <a:off x="81477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6" name="Google Shape;346;p28"/>
          <p:cNvSpPr/>
          <p:nvPr/>
        </p:nvSpPr>
        <p:spPr>
          <a:xfrm rot="5400000">
            <a:off x="6399030" y="27730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7" name="Google Shape;347;p28"/>
          <p:cNvSpPr/>
          <p:nvPr/>
        </p:nvSpPr>
        <p:spPr>
          <a:xfrm rot="5400000">
            <a:off x="83226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8" name="Google Shape;348;p28"/>
          <p:cNvSpPr/>
          <p:nvPr/>
        </p:nvSpPr>
        <p:spPr>
          <a:xfrm rot="5400000">
            <a:off x="84975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p28"/>
          <p:cNvSpPr/>
          <p:nvPr/>
        </p:nvSpPr>
        <p:spPr>
          <a:xfrm rot="5400000">
            <a:off x="86724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0" name="Google Shape;350;p28"/>
          <p:cNvSpPr txBox="1"/>
          <p:nvPr/>
        </p:nvSpPr>
        <p:spPr>
          <a:xfrm>
            <a:off x="112225" y="36708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ack(101) from 105: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28"/>
          <p:cNvSpPr/>
          <p:nvPr/>
        </p:nvSpPr>
        <p:spPr>
          <a:xfrm rot="5400000">
            <a:off x="58740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28"/>
          <p:cNvSpPr/>
          <p:nvPr/>
        </p:nvSpPr>
        <p:spPr>
          <a:xfrm rot="5400000">
            <a:off x="6048900" y="3731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28"/>
          <p:cNvSpPr/>
          <p:nvPr/>
        </p:nvSpPr>
        <p:spPr>
          <a:xfrm rot="5400000">
            <a:off x="62238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28"/>
          <p:cNvSpPr/>
          <p:nvPr/>
        </p:nvSpPr>
        <p:spPr>
          <a:xfrm rot="5400000">
            <a:off x="63987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28"/>
          <p:cNvSpPr/>
          <p:nvPr/>
        </p:nvSpPr>
        <p:spPr>
          <a:xfrm rot="5400000">
            <a:off x="65736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28"/>
          <p:cNvSpPr/>
          <p:nvPr/>
        </p:nvSpPr>
        <p:spPr>
          <a:xfrm rot="5400000">
            <a:off x="67485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28"/>
          <p:cNvSpPr/>
          <p:nvPr/>
        </p:nvSpPr>
        <p:spPr>
          <a:xfrm rot="5400000">
            <a:off x="69234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28"/>
          <p:cNvSpPr/>
          <p:nvPr/>
        </p:nvSpPr>
        <p:spPr>
          <a:xfrm rot="5400000">
            <a:off x="70983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9" name="Google Shape;359;p28"/>
          <p:cNvSpPr/>
          <p:nvPr/>
        </p:nvSpPr>
        <p:spPr>
          <a:xfrm rot="5400000">
            <a:off x="72732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0" name="Google Shape;360;p28"/>
          <p:cNvSpPr/>
          <p:nvPr/>
        </p:nvSpPr>
        <p:spPr>
          <a:xfrm rot="5400000">
            <a:off x="74481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28"/>
          <p:cNvSpPr/>
          <p:nvPr/>
        </p:nvSpPr>
        <p:spPr>
          <a:xfrm rot="5400000">
            <a:off x="76230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2" name="Google Shape;362;p28"/>
          <p:cNvSpPr/>
          <p:nvPr/>
        </p:nvSpPr>
        <p:spPr>
          <a:xfrm rot="5400000">
            <a:off x="77979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28"/>
          <p:cNvSpPr/>
          <p:nvPr/>
        </p:nvSpPr>
        <p:spPr>
          <a:xfrm rot="5400000">
            <a:off x="79728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28"/>
          <p:cNvSpPr/>
          <p:nvPr/>
        </p:nvSpPr>
        <p:spPr>
          <a:xfrm rot="5400000">
            <a:off x="81477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28"/>
          <p:cNvSpPr/>
          <p:nvPr/>
        </p:nvSpPr>
        <p:spPr>
          <a:xfrm rot="5400000">
            <a:off x="6399030" y="33826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28"/>
          <p:cNvSpPr/>
          <p:nvPr/>
        </p:nvSpPr>
        <p:spPr>
          <a:xfrm rot="5400000">
            <a:off x="83226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28"/>
          <p:cNvSpPr/>
          <p:nvPr/>
        </p:nvSpPr>
        <p:spPr>
          <a:xfrm rot="5400000">
            <a:off x="84975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28"/>
          <p:cNvSpPr/>
          <p:nvPr/>
        </p:nvSpPr>
        <p:spPr>
          <a:xfrm rot="5400000">
            <a:off x="86724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28"/>
          <p:cNvSpPr txBox="1"/>
          <p:nvPr/>
        </p:nvSpPr>
        <p:spPr>
          <a:xfrm>
            <a:off x="155050" y="4426600"/>
            <a:ext cx="3705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We're marking acked packets in green for convenience, but the sender cannot deduce from duplicate acks that these exact packets were received.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sp>
        <p:nvSpPr>
          <p:cNvPr id="375" name="Google Shape;375;p29"/>
          <p:cNvSpPr txBox="1"/>
          <p:nvPr/>
        </p:nvSpPr>
        <p:spPr>
          <a:xfrm>
            <a:off x="86575" y="12324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107: Can't send anything new.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6" name="Google Shape;376;p29"/>
          <p:cNvSpPr txBox="1"/>
          <p:nvPr/>
        </p:nvSpPr>
        <p:spPr>
          <a:xfrm>
            <a:off x="86575" y="18420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108: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7" name="Google Shape;377;p29"/>
          <p:cNvSpPr txBox="1"/>
          <p:nvPr/>
        </p:nvSpPr>
        <p:spPr>
          <a:xfrm>
            <a:off x="86575" y="24516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109: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8" name="Google Shape;378;p29"/>
          <p:cNvSpPr txBox="1"/>
          <p:nvPr/>
        </p:nvSpPr>
        <p:spPr>
          <a:xfrm>
            <a:off x="86575" y="30612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110: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9" name="Google Shape;379;p29"/>
          <p:cNvSpPr txBox="1"/>
          <p:nvPr/>
        </p:nvSpPr>
        <p:spPr>
          <a:xfrm>
            <a:off x="86575" y="3670800"/>
            <a:ext cx="5777700" cy="8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ack(111) from resent 101:</a:t>
            </a:r>
            <a:br>
              <a:rPr lang="en" sz="1600">
                <a:latin typeface="Roboto"/>
                <a:ea typeface="Roboto"/>
                <a:cs typeface="Roboto"/>
                <a:sym typeface="Roboto"/>
              </a:rPr>
            </a:br>
            <a:r>
              <a:rPr lang="en" sz="1600">
                <a:latin typeface="Roboto"/>
                <a:ea typeface="Roboto"/>
                <a:cs typeface="Roboto"/>
                <a:sym typeface="Roboto"/>
              </a:rPr>
              <a:t>Window slides to first unacked packet (111).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Sender is now able to send 111–115.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0" name="Google Shape;380;p29"/>
          <p:cNvSpPr/>
          <p:nvPr/>
        </p:nvSpPr>
        <p:spPr>
          <a:xfrm rot="5400000">
            <a:off x="5874000" y="4030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29"/>
          <p:cNvSpPr/>
          <p:nvPr/>
        </p:nvSpPr>
        <p:spPr>
          <a:xfrm rot="5400000">
            <a:off x="60489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2" name="Google Shape;382;p29"/>
          <p:cNvSpPr/>
          <p:nvPr/>
        </p:nvSpPr>
        <p:spPr>
          <a:xfrm rot="5400000">
            <a:off x="62238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3" name="Google Shape;383;p29"/>
          <p:cNvSpPr/>
          <p:nvPr/>
        </p:nvSpPr>
        <p:spPr>
          <a:xfrm rot="5400000">
            <a:off x="63987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4" name="Google Shape;384;p29"/>
          <p:cNvSpPr/>
          <p:nvPr/>
        </p:nvSpPr>
        <p:spPr>
          <a:xfrm rot="5400000">
            <a:off x="65736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5" name="Google Shape;385;p29"/>
          <p:cNvSpPr/>
          <p:nvPr/>
        </p:nvSpPr>
        <p:spPr>
          <a:xfrm rot="5400000">
            <a:off x="67485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6" name="Google Shape;386;p29"/>
          <p:cNvSpPr/>
          <p:nvPr/>
        </p:nvSpPr>
        <p:spPr>
          <a:xfrm rot="5400000">
            <a:off x="69234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7" name="Google Shape;387;p29"/>
          <p:cNvSpPr/>
          <p:nvPr/>
        </p:nvSpPr>
        <p:spPr>
          <a:xfrm rot="5400000">
            <a:off x="70983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8" name="Google Shape;388;p29"/>
          <p:cNvSpPr/>
          <p:nvPr/>
        </p:nvSpPr>
        <p:spPr>
          <a:xfrm rot="5400000">
            <a:off x="72732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9" name="Google Shape;389;p29"/>
          <p:cNvSpPr/>
          <p:nvPr/>
        </p:nvSpPr>
        <p:spPr>
          <a:xfrm rot="5400000">
            <a:off x="74481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0" name="Google Shape;390;p29"/>
          <p:cNvSpPr/>
          <p:nvPr/>
        </p:nvSpPr>
        <p:spPr>
          <a:xfrm rot="5400000">
            <a:off x="76230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1" name="Google Shape;391;p29"/>
          <p:cNvSpPr/>
          <p:nvPr/>
        </p:nvSpPr>
        <p:spPr>
          <a:xfrm rot="5400000">
            <a:off x="77979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2" name="Google Shape;392;p29"/>
          <p:cNvSpPr/>
          <p:nvPr/>
        </p:nvSpPr>
        <p:spPr>
          <a:xfrm rot="5400000">
            <a:off x="79728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3" name="Google Shape;393;p29"/>
          <p:cNvSpPr/>
          <p:nvPr/>
        </p:nvSpPr>
        <p:spPr>
          <a:xfrm rot="5400000">
            <a:off x="81477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4" name="Google Shape;394;p29"/>
          <p:cNvSpPr/>
          <p:nvPr/>
        </p:nvSpPr>
        <p:spPr>
          <a:xfrm rot="5400000">
            <a:off x="83226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5" name="Google Shape;395;p29"/>
          <p:cNvSpPr/>
          <p:nvPr/>
        </p:nvSpPr>
        <p:spPr>
          <a:xfrm rot="5400000">
            <a:off x="84975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6" name="Google Shape;396;p29"/>
          <p:cNvSpPr/>
          <p:nvPr/>
        </p:nvSpPr>
        <p:spPr>
          <a:xfrm rot="5400000">
            <a:off x="8672400" y="4030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7" name="Google Shape;397;p29"/>
          <p:cNvSpPr/>
          <p:nvPr/>
        </p:nvSpPr>
        <p:spPr>
          <a:xfrm rot="5400000">
            <a:off x="58740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8" name="Google Shape;398;p29"/>
          <p:cNvSpPr/>
          <p:nvPr/>
        </p:nvSpPr>
        <p:spPr>
          <a:xfrm rot="5400000">
            <a:off x="6048900" y="3121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29"/>
          <p:cNvSpPr/>
          <p:nvPr/>
        </p:nvSpPr>
        <p:spPr>
          <a:xfrm rot="5400000">
            <a:off x="62238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29"/>
          <p:cNvSpPr/>
          <p:nvPr/>
        </p:nvSpPr>
        <p:spPr>
          <a:xfrm rot="5400000">
            <a:off x="63987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29"/>
          <p:cNvSpPr/>
          <p:nvPr/>
        </p:nvSpPr>
        <p:spPr>
          <a:xfrm rot="5400000">
            <a:off x="65736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29"/>
          <p:cNvSpPr/>
          <p:nvPr/>
        </p:nvSpPr>
        <p:spPr>
          <a:xfrm rot="5400000">
            <a:off x="67485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29"/>
          <p:cNvSpPr/>
          <p:nvPr/>
        </p:nvSpPr>
        <p:spPr>
          <a:xfrm rot="5400000">
            <a:off x="69234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29"/>
          <p:cNvSpPr/>
          <p:nvPr/>
        </p:nvSpPr>
        <p:spPr>
          <a:xfrm rot="5400000">
            <a:off x="70983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p29"/>
          <p:cNvSpPr/>
          <p:nvPr/>
        </p:nvSpPr>
        <p:spPr>
          <a:xfrm rot="5400000">
            <a:off x="72732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6" name="Google Shape;406;p29"/>
          <p:cNvSpPr/>
          <p:nvPr/>
        </p:nvSpPr>
        <p:spPr>
          <a:xfrm rot="5400000">
            <a:off x="74481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7" name="Google Shape;407;p29"/>
          <p:cNvSpPr/>
          <p:nvPr/>
        </p:nvSpPr>
        <p:spPr>
          <a:xfrm rot="5400000">
            <a:off x="76230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29"/>
          <p:cNvSpPr/>
          <p:nvPr/>
        </p:nvSpPr>
        <p:spPr>
          <a:xfrm rot="5400000">
            <a:off x="77979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29"/>
          <p:cNvSpPr/>
          <p:nvPr/>
        </p:nvSpPr>
        <p:spPr>
          <a:xfrm rot="5400000">
            <a:off x="79728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29"/>
          <p:cNvSpPr/>
          <p:nvPr/>
        </p:nvSpPr>
        <p:spPr>
          <a:xfrm rot="5400000">
            <a:off x="81477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1" name="Google Shape;411;p29"/>
          <p:cNvSpPr/>
          <p:nvPr/>
        </p:nvSpPr>
        <p:spPr>
          <a:xfrm rot="5400000">
            <a:off x="6399030" y="27730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2" name="Google Shape;412;p29"/>
          <p:cNvSpPr/>
          <p:nvPr/>
        </p:nvSpPr>
        <p:spPr>
          <a:xfrm rot="5400000">
            <a:off x="83226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3" name="Google Shape;413;p29"/>
          <p:cNvSpPr/>
          <p:nvPr/>
        </p:nvSpPr>
        <p:spPr>
          <a:xfrm rot="5400000">
            <a:off x="84975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4" name="Google Shape;414;p29"/>
          <p:cNvSpPr/>
          <p:nvPr/>
        </p:nvSpPr>
        <p:spPr>
          <a:xfrm rot="5400000">
            <a:off x="86724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5" name="Google Shape;415;p29"/>
          <p:cNvSpPr/>
          <p:nvPr/>
        </p:nvSpPr>
        <p:spPr>
          <a:xfrm rot="5400000">
            <a:off x="58740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6" name="Google Shape;416;p29"/>
          <p:cNvSpPr/>
          <p:nvPr/>
        </p:nvSpPr>
        <p:spPr>
          <a:xfrm rot="5400000">
            <a:off x="60489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7" name="Google Shape;417;p29"/>
          <p:cNvSpPr/>
          <p:nvPr/>
        </p:nvSpPr>
        <p:spPr>
          <a:xfrm rot="5400000">
            <a:off x="62238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8" name="Google Shape;418;p29"/>
          <p:cNvSpPr/>
          <p:nvPr/>
        </p:nvSpPr>
        <p:spPr>
          <a:xfrm rot="5400000">
            <a:off x="63987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9" name="Google Shape;419;p29"/>
          <p:cNvSpPr/>
          <p:nvPr/>
        </p:nvSpPr>
        <p:spPr>
          <a:xfrm rot="5400000">
            <a:off x="65736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0" name="Google Shape;420;p29"/>
          <p:cNvSpPr/>
          <p:nvPr/>
        </p:nvSpPr>
        <p:spPr>
          <a:xfrm rot="5400000">
            <a:off x="67485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1" name="Google Shape;421;p29"/>
          <p:cNvSpPr/>
          <p:nvPr/>
        </p:nvSpPr>
        <p:spPr>
          <a:xfrm rot="5400000">
            <a:off x="69234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2" name="Google Shape;422;p29"/>
          <p:cNvSpPr/>
          <p:nvPr/>
        </p:nvSpPr>
        <p:spPr>
          <a:xfrm rot="5400000">
            <a:off x="70983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3" name="Google Shape;423;p29"/>
          <p:cNvSpPr/>
          <p:nvPr/>
        </p:nvSpPr>
        <p:spPr>
          <a:xfrm rot="5400000">
            <a:off x="72732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4" name="Google Shape;424;p29"/>
          <p:cNvSpPr/>
          <p:nvPr/>
        </p:nvSpPr>
        <p:spPr>
          <a:xfrm rot="5400000">
            <a:off x="74481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5" name="Google Shape;425;p29"/>
          <p:cNvSpPr/>
          <p:nvPr/>
        </p:nvSpPr>
        <p:spPr>
          <a:xfrm rot="5400000">
            <a:off x="76230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29"/>
          <p:cNvSpPr/>
          <p:nvPr/>
        </p:nvSpPr>
        <p:spPr>
          <a:xfrm rot="5400000">
            <a:off x="77979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29"/>
          <p:cNvSpPr/>
          <p:nvPr/>
        </p:nvSpPr>
        <p:spPr>
          <a:xfrm rot="5400000">
            <a:off x="79728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8" name="Google Shape;428;p29"/>
          <p:cNvSpPr/>
          <p:nvPr/>
        </p:nvSpPr>
        <p:spPr>
          <a:xfrm rot="5400000">
            <a:off x="81477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9" name="Google Shape;429;p29"/>
          <p:cNvSpPr/>
          <p:nvPr/>
        </p:nvSpPr>
        <p:spPr>
          <a:xfrm rot="5400000">
            <a:off x="6399030" y="21634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0" name="Google Shape;430;p29"/>
          <p:cNvSpPr/>
          <p:nvPr/>
        </p:nvSpPr>
        <p:spPr>
          <a:xfrm rot="5400000">
            <a:off x="83226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1" name="Google Shape;431;p29"/>
          <p:cNvSpPr/>
          <p:nvPr/>
        </p:nvSpPr>
        <p:spPr>
          <a:xfrm rot="5400000">
            <a:off x="84975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2" name="Google Shape;432;p29"/>
          <p:cNvSpPr/>
          <p:nvPr/>
        </p:nvSpPr>
        <p:spPr>
          <a:xfrm rot="5400000">
            <a:off x="86724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3" name="Google Shape;433;p29"/>
          <p:cNvSpPr/>
          <p:nvPr/>
        </p:nvSpPr>
        <p:spPr>
          <a:xfrm rot="5400000">
            <a:off x="58740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4" name="Google Shape;434;p29"/>
          <p:cNvSpPr/>
          <p:nvPr/>
        </p:nvSpPr>
        <p:spPr>
          <a:xfrm rot="5400000">
            <a:off x="60489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5" name="Google Shape;435;p29"/>
          <p:cNvSpPr/>
          <p:nvPr/>
        </p:nvSpPr>
        <p:spPr>
          <a:xfrm rot="5400000">
            <a:off x="62238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6" name="Google Shape;436;p29"/>
          <p:cNvSpPr/>
          <p:nvPr/>
        </p:nvSpPr>
        <p:spPr>
          <a:xfrm rot="5400000">
            <a:off x="63987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7" name="Google Shape;437;p29"/>
          <p:cNvSpPr/>
          <p:nvPr/>
        </p:nvSpPr>
        <p:spPr>
          <a:xfrm rot="5400000">
            <a:off x="65736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8" name="Google Shape;438;p29"/>
          <p:cNvSpPr/>
          <p:nvPr/>
        </p:nvSpPr>
        <p:spPr>
          <a:xfrm rot="5400000">
            <a:off x="67485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9" name="Google Shape;439;p29"/>
          <p:cNvSpPr/>
          <p:nvPr/>
        </p:nvSpPr>
        <p:spPr>
          <a:xfrm rot="5400000">
            <a:off x="69234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0" name="Google Shape;440;p29"/>
          <p:cNvSpPr/>
          <p:nvPr/>
        </p:nvSpPr>
        <p:spPr>
          <a:xfrm rot="5400000">
            <a:off x="70983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1" name="Google Shape;441;p29"/>
          <p:cNvSpPr/>
          <p:nvPr/>
        </p:nvSpPr>
        <p:spPr>
          <a:xfrm rot="5400000">
            <a:off x="72732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2" name="Google Shape;442;p29"/>
          <p:cNvSpPr/>
          <p:nvPr/>
        </p:nvSpPr>
        <p:spPr>
          <a:xfrm rot="5400000">
            <a:off x="74481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3" name="Google Shape;443;p29"/>
          <p:cNvSpPr/>
          <p:nvPr/>
        </p:nvSpPr>
        <p:spPr>
          <a:xfrm rot="5400000">
            <a:off x="76230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4" name="Google Shape;444;p29"/>
          <p:cNvSpPr/>
          <p:nvPr/>
        </p:nvSpPr>
        <p:spPr>
          <a:xfrm rot="5400000">
            <a:off x="77979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29"/>
          <p:cNvSpPr/>
          <p:nvPr/>
        </p:nvSpPr>
        <p:spPr>
          <a:xfrm rot="5400000">
            <a:off x="79728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6" name="Google Shape;446;p29"/>
          <p:cNvSpPr/>
          <p:nvPr/>
        </p:nvSpPr>
        <p:spPr>
          <a:xfrm rot="5400000">
            <a:off x="81477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7" name="Google Shape;447;p29"/>
          <p:cNvSpPr/>
          <p:nvPr/>
        </p:nvSpPr>
        <p:spPr>
          <a:xfrm rot="5400000">
            <a:off x="6399030" y="1553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29"/>
          <p:cNvSpPr/>
          <p:nvPr/>
        </p:nvSpPr>
        <p:spPr>
          <a:xfrm rot="5400000">
            <a:off x="83226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29"/>
          <p:cNvSpPr/>
          <p:nvPr/>
        </p:nvSpPr>
        <p:spPr>
          <a:xfrm rot="5400000">
            <a:off x="84975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29"/>
          <p:cNvSpPr/>
          <p:nvPr/>
        </p:nvSpPr>
        <p:spPr>
          <a:xfrm rot="5400000">
            <a:off x="86724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29"/>
          <p:cNvSpPr/>
          <p:nvPr/>
        </p:nvSpPr>
        <p:spPr>
          <a:xfrm rot="5400000">
            <a:off x="58740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29"/>
          <p:cNvSpPr/>
          <p:nvPr/>
        </p:nvSpPr>
        <p:spPr>
          <a:xfrm rot="5400000">
            <a:off x="60489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29"/>
          <p:cNvSpPr/>
          <p:nvPr/>
        </p:nvSpPr>
        <p:spPr>
          <a:xfrm rot="5400000">
            <a:off x="62238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4" name="Google Shape;454;p29"/>
          <p:cNvSpPr/>
          <p:nvPr/>
        </p:nvSpPr>
        <p:spPr>
          <a:xfrm rot="5400000">
            <a:off x="63987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5" name="Google Shape;455;p29"/>
          <p:cNvSpPr/>
          <p:nvPr/>
        </p:nvSpPr>
        <p:spPr>
          <a:xfrm rot="5400000">
            <a:off x="65736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6" name="Google Shape;456;p29"/>
          <p:cNvSpPr/>
          <p:nvPr/>
        </p:nvSpPr>
        <p:spPr>
          <a:xfrm rot="5400000">
            <a:off x="67485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7" name="Google Shape;457;p29"/>
          <p:cNvSpPr/>
          <p:nvPr/>
        </p:nvSpPr>
        <p:spPr>
          <a:xfrm rot="5400000">
            <a:off x="69234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8" name="Google Shape;458;p29"/>
          <p:cNvSpPr/>
          <p:nvPr/>
        </p:nvSpPr>
        <p:spPr>
          <a:xfrm rot="5400000">
            <a:off x="70983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9" name="Google Shape;459;p29"/>
          <p:cNvSpPr/>
          <p:nvPr/>
        </p:nvSpPr>
        <p:spPr>
          <a:xfrm rot="5400000">
            <a:off x="72732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0" name="Google Shape;460;p29"/>
          <p:cNvSpPr/>
          <p:nvPr/>
        </p:nvSpPr>
        <p:spPr>
          <a:xfrm rot="5400000">
            <a:off x="74481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1" name="Google Shape;461;p29"/>
          <p:cNvSpPr/>
          <p:nvPr/>
        </p:nvSpPr>
        <p:spPr>
          <a:xfrm rot="5400000">
            <a:off x="76230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2" name="Google Shape;462;p29"/>
          <p:cNvSpPr/>
          <p:nvPr/>
        </p:nvSpPr>
        <p:spPr>
          <a:xfrm rot="5400000">
            <a:off x="77979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3" name="Google Shape;463;p29"/>
          <p:cNvSpPr/>
          <p:nvPr/>
        </p:nvSpPr>
        <p:spPr>
          <a:xfrm rot="5400000">
            <a:off x="79728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4" name="Google Shape;464;p29"/>
          <p:cNvSpPr/>
          <p:nvPr/>
        </p:nvSpPr>
        <p:spPr>
          <a:xfrm rot="5400000">
            <a:off x="81477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5" name="Google Shape;465;p29"/>
          <p:cNvSpPr/>
          <p:nvPr/>
        </p:nvSpPr>
        <p:spPr>
          <a:xfrm rot="5400000">
            <a:off x="6399030" y="9442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6" name="Google Shape;466;p29"/>
          <p:cNvSpPr/>
          <p:nvPr/>
        </p:nvSpPr>
        <p:spPr>
          <a:xfrm rot="5400000">
            <a:off x="83226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7" name="Google Shape;467;p29"/>
          <p:cNvSpPr/>
          <p:nvPr/>
        </p:nvSpPr>
        <p:spPr>
          <a:xfrm rot="5400000">
            <a:off x="84975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8" name="Google Shape;468;p29"/>
          <p:cNvSpPr/>
          <p:nvPr/>
        </p:nvSpPr>
        <p:spPr>
          <a:xfrm rot="5400000">
            <a:off x="86724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9" name="Google Shape;469;p29"/>
          <p:cNvSpPr/>
          <p:nvPr/>
        </p:nvSpPr>
        <p:spPr>
          <a:xfrm rot="5400000">
            <a:off x="8148643" y="3681300"/>
            <a:ext cx="435900" cy="8736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29"/>
          <p:cNvSpPr txBox="1">
            <a:spLocks noGrp="1"/>
          </p:cNvSpPr>
          <p:nvPr>
            <p:ph type="body" idx="1"/>
          </p:nvPr>
        </p:nvSpPr>
        <p:spPr>
          <a:xfrm>
            <a:off x="107050" y="4579000"/>
            <a:ext cx="88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Problem: After we decreased </a:t>
            </a:r>
            <a:r>
              <a:rPr lang="en" sz="1600" i="1"/>
              <a:t>CWND</a:t>
            </a:r>
            <a:r>
              <a:rPr lang="en" sz="1600"/>
              <a:t>, we had to wait a long time before sending again.</a:t>
            </a:r>
            <a:endParaRPr sz="1600"/>
          </a:p>
        </p:txBody>
      </p:sp>
      <p:sp>
        <p:nvSpPr>
          <p:cNvPr id="471" name="Google Shape;471;p29"/>
          <p:cNvSpPr txBox="1"/>
          <p:nvPr/>
        </p:nvSpPr>
        <p:spPr>
          <a:xfrm>
            <a:off x="86575" y="6228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106: Can't send anything new.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29"/>
          <p:cNvSpPr/>
          <p:nvPr/>
        </p:nvSpPr>
        <p:spPr>
          <a:xfrm rot="5400000">
            <a:off x="58740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29"/>
          <p:cNvSpPr/>
          <p:nvPr/>
        </p:nvSpPr>
        <p:spPr>
          <a:xfrm rot="5400000">
            <a:off x="60489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4" name="Google Shape;474;p29"/>
          <p:cNvSpPr/>
          <p:nvPr/>
        </p:nvSpPr>
        <p:spPr>
          <a:xfrm rot="5400000">
            <a:off x="62238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29"/>
          <p:cNvSpPr/>
          <p:nvPr/>
        </p:nvSpPr>
        <p:spPr>
          <a:xfrm rot="5400000">
            <a:off x="63987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6" name="Google Shape;476;p29"/>
          <p:cNvSpPr/>
          <p:nvPr/>
        </p:nvSpPr>
        <p:spPr>
          <a:xfrm rot="5400000">
            <a:off x="65736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7" name="Google Shape;477;p29"/>
          <p:cNvSpPr/>
          <p:nvPr/>
        </p:nvSpPr>
        <p:spPr>
          <a:xfrm rot="5400000">
            <a:off x="67485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29"/>
          <p:cNvSpPr/>
          <p:nvPr/>
        </p:nvSpPr>
        <p:spPr>
          <a:xfrm rot="5400000">
            <a:off x="69234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9" name="Google Shape;479;p29"/>
          <p:cNvSpPr/>
          <p:nvPr/>
        </p:nvSpPr>
        <p:spPr>
          <a:xfrm rot="5400000">
            <a:off x="70983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0" name="Google Shape;480;p29"/>
          <p:cNvSpPr/>
          <p:nvPr/>
        </p:nvSpPr>
        <p:spPr>
          <a:xfrm rot="5400000">
            <a:off x="72732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1" name="Google Shape;481;p29"/>
          <p:cNvSpPr/>
          <p:nvPr/>
        </p:nvSpPr>
        <p:spPr>
          <a:xfrm rot="5400000">
            <a:off x="74481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2" name="Google Shape;482;p29"/>
          <p:cNvSpPr/>
          <p:nvPr/>
        </p:nvSpPr>
        <p:spPr>
          <a:xfrm rot="5400000">
            <a:off x="76230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3" name="Google Shape;483;p29"/>
          <p:cNvSpPr/>
          <p:nvPr/>
        </p:nvSpPr>
        <p:spPr>
          <a:xfrm rot="5400000">
            <a:off x="77979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4" name="Google Shape;484;p29"/>
          <p:cNvSpPr/>
          <p:nvPr/>
        </p:nvSpPr>
        <p:spPr>
          <a:xfrm rot="5400000">
            <a:off x="79728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5" name="Google Shape;485;p29"/>
          <p:cNvSpPr/>
          <p:nvPr/>
        </p:nvSpPr>
        <p:spPr>
          <a:xfrm rot="5400000">
            <a:off x="81477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6" name="Google Shape;486;p29"/>
          <p:cNvSpPr/>
          <p:nvPr/>
        </p:nvSpPr>
        <p:spPr>
          <a:xfrm rot="5400000">
            <a:off x="6399030" y="3346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29"/>
          <p:cNvSpPr/>
          <p:nvPr/>
        </p:nvSpPr>
        <p:spPr>
          <a:xfrm rot="5400000">
            <a:off x="83226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29"/>
          <p:cNvSpPr/>
          <p:nvPr/>
        </p:nvSpPr>
        <p:spPr>
          <a:xfrm rot="5400000">
            <a:off x="84975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9" name="Google Shape;489;p29"/>
          <p:cNvSpPr/>
          <p:nvPr/>
        </p:nvSpPr>
        <p:spPr>
          <a:xfrm rot="5400000">
            <a:off x="86724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30"/>
          <p:cNvSpPr/>
          <p:nvPr/>
        </p:nvSpPr>
        <p:spPr>
          <a:xfrm>
            <a:off x="112250" y="461825"/>
            <a:ext cx="8862900" cy="2433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30"/>
          <p:cNvSpPr/>
          <p:nvPr/>
        </p:nvSpPr>
        <p:spPr>
          <a:xfrm>
            <a:off x="112250" y="2894825"/>
            <a:ext cx="8862900" cy="1556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6" name="Google Shape;496;p30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7" name="Google Shape;497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cxnSp>
        <p:nvCxnSpPr>
          <p:cNvPr id="498" name="Google Shape;498;p30"/>
          <p:cNvCxnSpPr/>
          <p:nvPr/>
        </p:nvCxnSpPr>
        <p:spPr>
          <a:xfrm>
            <a:off x="5955738" y="560851"/>
            <a:ext cx="1186200" cy="153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99" name="Google Shape;499;p30"/>
          <p:cNvCxnSpPr/>
          <p:nvPr/>
        </p:nvCxnSpPr>
        <p:spPr>
          <a:xfrm>
            <a:off x="5955738" y="72606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0" name="Google Shape;500;p30"/>
          <p:cNvSpPr txBox="1"/>
          <p:nvPr/>
        </p:nvSpPr>
        <p:spPr>
          <a:xfrm>
            <a:off x="7143925" y="610551"/>
            <a:ext cx="1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</a:rPr>
              <a:t>✗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501" name="Google Shape;501;p30"/>
          <p:cNvSpPr txBox="1"/>
          <p:nvPr/>
        </p:nvSpPr>
        <p:spPr>
          <a:xfrm>
            <a:off x="5625725" y="450640"/>
            <a:ext cx="2985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30"/>
          <p:cNvSpPr txBox="1"/>
          <p:nvPr/>
        </p:nvSpPr>
        <p:spPr>
          <a:xfrm>
            <a:off x="4618867" y="23570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3" name="Google Shape;503;p30"/>
          <p:cNvCxnSpPr/>
          <p:nvPr/>
        </p:nvCxnSpPr>
        <p:spPr>
          <a:xfrm>
            <a:off x="5955738" y="90516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4" name="Google Shape;504;p30"/>
          <p:cNvCxnSpPr/>
          <p:nvPr/>
        </p:nvCxnSpPr>
        <p:spPr>
          <a:xfrm>
            <a:off x="5955738" y="108959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5" name="Google Shape;505;p30"/>
          <p:cNvCxnSpPr/>
          <p:nvPr/>
        </p:nvCxnSpPr>
        <p:spPr>
          <a:xfrm>
            <a:off x="5955738" y="126869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6" name="Google Shape;506;p30"/>
          <p:cNvCxnSpPr/>
          <p:nvPr/>
        </p:nvCxnSpPr>
        <p:spPr>
          <a:xfrm>
            <a:off x="5955738" y="145884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7" name="Google Shape;507;p30"/>
          <p:cNvCxnSpPr/>
          <p:nvPr/>
        </p:nvCxnSpPr>
        <p:spPr>
          <a:xfrm>
            <a:off x="5955738" y="16379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8" name="Google Shape;508;p30"/>
          <p:cNvCxnSpPr/>
          <p:nvPr/>
        </p:nvCxnSpPr>
        <p:spPr>
          <a:xfrm>
            <a:off x="5955738" y="20071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9" name="Google Shape;509;p30"/>
          <p:cNvCxnSpPr/>
          <p:nvPr/>
        </p:nvCxnSpPr>
        <p:spPr>
          <a:xfrm>
            <a:off x="5955738" y="218629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0" name="Google Shape;510;p30"/>
          <p:cNvCxnSpPr/>
          <p:nvPr/>
        </p:nvCxnSpPr>
        <p:spPr>
          <a:xfrm>
            <a:off x="5955738" y="182011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1" name="Google Shape;511;p30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2" name="Google Shape;512;p30"/>
          <p:cNvCxnSpPr/>
          <p:nvPr/>
        </p:nvCxnSpPr>
        <p:spPr>
          <a:xfrm flipH="1">
            <a:off x="5963238" y="11544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3" name="Google Shape;513;p30"/>
          <p:cNvCxnSpPr/>
          <p:nvPr/>
        </p:nvCxnSpPr>
        <p:spPr>
          <a:xfrm flipH="1">
            <a:off x="5963238" y="133886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4" name="Google Shape;514;p30"/>
          <p:cNvCxnSpPr/>
          <p:nvPr/>
        </p:nvCxnSpPr>
        <p:spPr>
          <a:xfrm flipH="1">
            <a:off x="5963238" y="151903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5" name="Google Shape;515;p30"/>
          <p:cNvCxnSpPr/>
          <p:nvPr/>
        </p:nvCxnSpPr>
        <p:spPr>
          <a:xfrm flipH="1">
            <a:off x="5963238" y="1707054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6" name="Google Shape;516;p30"/>
          <p:cNvCxnSpPr/>
          <p:nvPr/>
        </p:nvCxnSpPr>
        <p:spPr>
          <a:xfrm flipH="1">
            <a:off x="5963238" y="188439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7" name="Google Shape;517;p30"/>
          <p:cNvCxnSpPr/>
          <p:nvPr/>
        </p:nvCxnSpPr>
        <p:spPr>
          <a:xfrm flipH="1">
            <a:off x="5963238" y="20688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8" name="Google Shape;518;p30"/>
          <p:cNvCxnSpPr/>
          <p:nvPr/>
        </p:nvCxnSpPr>
        <p:spPr>
          <a:xfrm flipH="1">
            <a:off x="5963238" y="2248997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9" name="Google Shape;519;p30"/>
          <p:cNvCxnSpPr/>
          <p:nvPr/>
        </p:nvCxnSpPr>
        <p:spPr>
          <a:xfrm flipH="1">
            <a:off x="5963238" y="2437019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" name="Google Shape;520;p30"/>
          <p:cNvCxnSpPr/>
          <p:nvPr/>
        </p:nvCxnSpPr>
        <p:spPr>
          <a:xfrm flipH="1">
            <a:off x="5963238" y="261931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1" name="Google Shape;521;p30"/>
          <p:cNvCxnSpPr/>
          <p:nvPr/>
        </p:nvCxnSpPr>
        <p:spPr>
          <a:xfrm>
            <a:off x="5955738" y="28453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2" name="Google Shape;522;p30"/>
          <p:cNvCxnSpPr/>
          <p:nvPr/>
        </p:nvCxnSpPr>
        <p:spPr>
          <a:xfrm flipH="1">
            <a:off x="5963238" y="326315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3" name="Google Shape;523;p30"/>
          <p:cNvSpPr txBox="1"/>
          <p:nvPr/>
        </p:nvSpPr>
        <p:spPr>
          <a:xfrm>
            <a:off x="4618867" y="4451111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4" name="Google Shape;524;p30"/>
          <p:cNvCxnSpPr/>
          <p:nvPr/>
        </p:nvCxnSpPr>
        <p:spPr>
          <a:xfrm>
            <a:off x="5955738" y="45979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5" name="Google Shape;525;p30"/>
          <p:cNvSpPr/>
          <p:nvPr/>
        </p:nvSpPr>
        <p:spPr>
          <a:xfrm rot="5400000">
            <a:off x="202725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6" name="Google Shape;526;p30"/>
          <p:cNvSpPr/>
          <p:nvPr/>
        </p:nvSpPr>
        <p:spPr>
          <a:xfrm rot="5400000">
            <a:off x="3791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30"/>
          <p:cNvSpPr/>
          <p:nvPr/>
        </p:nvSpPr>
        <p:spPr>
          <a:xfrm rot="5400000">
            <a:off x="5540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30"/>
          <p:cNvSpPr/>
          <p:nvPr/>
        </p:nvSpPr>
        <p:spPr>
          <a:xfrm rot="5400000">
            <a:off x="7289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30"/>
          <p:cNvSpPr/>
          <p:nvPr/>
        </p:nvSpPr>
        <p:spPr>
          <a:xfrm rot="5400000">
            <a:off x="9038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0" name="Google Shape;530;p30"/>
          <p:cNvSpPr/>
          <p:nvPr/>
        </p:nvSpPr>
        <p:spPr>
          <a:xfrm rot="5400000">
            <a:off x="10787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1" name="Google Shape;531;p30"/>
          <p:cNvSpPr/>
          <p:nvPr/>
        </p:nvSpPr>
        <p:spPr>
          <a:xfrm rot="5400000">
            <a:off x="12536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2" name="Google Shape;532;p30"/>
          <p:cNvSpPr/>
          <p:nvPr/>
        </p:nvSpPr>
        <p:spPr>
          <a:xfrm rot="5400000">
            <a:off x="14285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3" name="Google Shape;533;p30"/>
          <p:cNvSpPr/>
          <p:nvPr/>
        </p:nvSpPr>
        <p:spPr>
          <a:xfrm rot="5400000">
            <a:off x="16034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4" name="Google Shape;534;p30"/>
          <p:cNvSpPr/>
          <p:nvPr/>
        </p:nvSpPr>
        <p:spPr>
          <a:xfrm rot="5400000">
            <a:off x="17783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5" name="Google Shape;535;p30"/>
          <p:cNvSpPr/>
          <p:nvPr/>
        </p:nvSpPr>
        <p:spPr>
          <a:xfrm rot="5400000">
            <a:off x="19532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6" name="Google Shape;536;p30"/>
          <p:cNvSpPr/>
          <p:nvPr/>
        </p:nvSpPr>
        <p:spPr>
          <a:xfrm rot="5400000">
            <a:off x="21281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7" name="Google Shape;537;p30"/>
          <p:cNvSpPr/>
          <p:nvPr/>
        </p:nvSpPr>
        <p:spPr>
          <a:xfrm rot="5400000">
            <a:off x="23030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8" name="Google Shape;538;p30"/>
          <p:cNvSpPr/>
          <p:nvPr/>
        </p:nvSpPr>
        <p:spPr>
          <a:xfrm rot="5400000">
            <a:off x="24779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9" name="Google Shape;539;p30"/>
          <p:cNvSpPr/>
          <p:nvPr/>
        </p:nvSpPr>
        <p:spPr>
          <a:xfrm rot="5400000">
            <a:off x="26528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0" name="Google Shape;540;p30"/>
          <p:cNvSpPr/>
          <p:nvPr/>
        </p:nvSpPr>
        <p:spPr>
          <a:xfrm rot="5400000">
            <a:off x="1341285" y="657900"/>
            <a:ext cx="5580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1" name="Google Shape;541;p30"/>
          <p:cNvSpPr txBox="1"/>
          <p:nvPr/>
        </p:nvSpPr>
        <p:spPr>
          <a:xfrm>
            <a:off x="394275" y="10115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30"/>
          <p:cNvSpPr/>
          <p:nvPr/>
        </p:nvSpPr>
        <p:spPr>
          <a:xfrm rot="5400000">
            <a:off x="28277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30"/>
          <p:cNvSpPr/>
          <p:nvPr/>
        </p:nvSpPr>
        <p:spPr>
          <a:xfrm rot="5400000">
            <a:off x="30026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30"/>
          <p:cNvSpPr/>
          <p:nvPr/>
        </p:nvSpPr>
        <p:spPr>
          <a:xfrm rot="5400000">
            <a:off x="31775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30"/>
          <p:cNvSpPr/>
          <p:nvPr/>
        </p:nvSpPr>
        <p:spPr>
          <a:xfrm rot="5400000">
            <a:off x="202725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30"/>
          <p:cNvSpPr/>
          <p:nvPr/>
        </p:nvSpPr>
        <p:spPr>
          <a:xfrm rot="5400000">
            <a:off x="3791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30"/>
          <p:cNvSpPr/>
          <p:nvPr/>
        </p:nvSpPr>
        <p:spPr>
          <a:xfrm rot="5400000">
            <a:off x="5540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8" name="Google Shape;548;p30"/>
          <p:cNvSpPr/>
          <p:nvPr/>
        </p:nvSpPr>
        <p:spPr>
          <a:xfrm rot="5400000">
            <a:off x="7289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p30"/>
          <p:cNvSpPr/>
          <p:nvPr/>
        </p:nvSpPr>
        <p:spPr>
          <a:xfrm rot="5400000">
            <a:off x="9038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30"/>
          <p:cNvSpPr/>
          <p:nvPr/>
        </p:nvSpPr>
        <p:spPr>
          <a:xfrm rot="5400000">
            <a:off x="10787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30"/>
          <p:cNvSpPr/>
          <p:nvPr/>
        </p:nvSpPr>
        <p:spPr>
          <a:xfrm rot="5400000">
            <a:off x="12536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30"/>
          <p:cNvSpPr/>
          <p:nvPr/>
        </p:nvSpPr>
        <p:spPr>
          <a:xfrm rot="5400000">
            <a:off x="14285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3" name="Google Shape;553;p30"/>
          <p:cNvSpPr/>
          <p:nvPr/>
        </p:nvSpPr>
        <p:spPr>
          <a:xfrm rot="5400000">
            <a:off x="16034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4" name="Google Shape;554;p30"/>
          <p:cNvSpPr/>
          <p:nvPr/>
        </p:nvSpPr>
        <p:spPr>
          <a:xfrm rot="5400000">
            <a:off x="17783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5" name="Google Shape;555;p30"/>
          <p:cNvSpPr/>
          <p:nvPr/>
        </p:nvSpPr>
        <p:spPr>
          <a:xfrm rot="5400000">
            <a:off x="19532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30"/>
          <p:cNvSpPr/>
          <p:nvPr/>
        </p:nvSpPr>
        <p:spPr>
          <a:xfrm rot="5400000">
            <a:off x="21281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7" name="Google Shape;557;p30"/>
          <p:cNvSpPr/>
          <p:nvPr/>
        </p:nvSpPr>
        <p:spPr>
          <a:xfrm rot="5400000">
            <a:off x="23030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8" name="Google Shape;558;p30"/>
          <p:cNvSpPr/>
          <p:nvPr/>
        </p:nvSpPr>
        <p:spPr>
          <a:xfrm rot="5400000">
            <a:off x="24779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30"/>
          <p:cNvSpPr/>
          <p:nvPr/>
        </p:nvSpPr>
        <p:spPr>
          <a:xfrm rot="5400000">
            <a:off x="26528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0" name="Google Shape;560;p30"/>
          <p:cNvSpPr/>
          <p:nvPr/>
        </p:nvSpPr>
        <p:spPr>
          <a:xfrm rot="5400000">
            <a:off x="904280" y="34572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1" name="Google Shape;561;p30"/>
          <p:cNvSpPr/>
          <p:nvPr/>
        </p:nvSpPr>
        <p:spPr>
          <a:xfrm rot="5400000">
            <a:off x="28277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2" name="Google Shape;562;p30"/>
          <p:cNvSpPr/>
          <p:nvPr/>
        </p:nvSpPr>
        <p:spPr>
          <a:xfrm rot="5400000">
            <a:off x="30026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3" name="Google Shape;563;p30"/>
          <p:cNvSpPr/>
          <p:nvPr/>
        </p:nvSpPr>
        <p:spPr>
          <a:xfrm rot="5400000">
            <a:off x="31775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30"/>
          <p:cNvSpPr txBox="1"/>
          <p:nvPr/>
        </p:nvSpPr>
        <p:spPr>
          <a:xfrm>
            <a:off x="3781008" y="27209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30"/>
          <p:cNvSpPr txBox="1"/>
          <p:nvPr/>
        </p:nvSpPr>
        <p:spPr>
          <a:xfrm>
            <a:off x="394275" y="33737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6" name="Google Shape;566;p30"/>
          <p:cNvSpPr txBox="1">
            <a:spLocks noGrp="1"/>
          </p:cNvSpPr>
          <p:nvPr>
            <p:ph type="body" idx="4294967295"/>
          </p:nvPr>
        </p:nvSpPr>
        <p:spPr>
          <a:xfrm>
            <a:off x="107050" y="4374900"/>
            <a:ext cx="4378500" cy="6429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Problem: In the entire blue area, after </a:t>
            </a:r>
            <a:r>
              <a:rPr lang="en" sz="1600" i="1"/>
              <a:t>CWND</a:t>
            </a:r>
            <a:r>
              <a:rPr lang="en" sz="1600"/>
              <a:t> decreased, the sender isn't sending anything.</a:t>
            </a:r>
            <a:endParaRPr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31"/>
          <p:cNvSpPr/>
          <p:nvPr/>
        </p:nvSpPr>
        <p:spPr>
          <a:xfrm>
            <a:off x="112250" y="2825225"/>
            <a:ext cx="8862900" cy="22689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2" name="Google Shape;572;p31"/>
          <p:cNvSpPr/>
          <p:nvPr/>
        </p:nvSpPr>
        <p:spPr>
          <a:xfrm>
            <a:off x="112250" y="461825"/>
            <a:ext cx="8862900" cy="2363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73" name="Google Shape;573;p31"/>
          <p:cNvCxnSpPr/>
          <p:nvPr/>
        </p:nvCxnSpPr>
        <p:spPr>
          <a:xfrm>
            <a:off x="5962575" y="157263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4" name="Google Shape;574;p31"/>
          <p:cNvCxnSpPr/>
          <p:nvPr/>
        </p:nvCxnSpPr>
        <p:spPr>
          <a:xfrm flipH="1">
            <a:off x="5962575" y="49832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75" name="Google Shape;575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sp>
        <p:nvSpPr>
          <p:cNvPr id="576" name="Google Shape;576;p31"/>
          <p:cNvSpPr txBox="1"/>
          <p:nvPr/>
        </p:nvSpPr>
        <p:spPr>
          <a:xfrm>
            <a:off x="4618867" y="10616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7" name="Google Shape;577;p31"/>
          <p:cNvSpPr txBox="1"/>
          <p:nvPr/>
        </p:nvSpPr>
        <p:spPr>
          <a:xfrm>
            <a:off x="5562294" y="3003300"/>
            <a:ext cx="327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8" name="Google Shape;578;p31"/>
          <p:cNvSpPr/>
          <p:nvPr/>
        </p:nvSpPr>
        <p:spPr>
          <a:xfrm rot="5400000">
            <a:off x="202725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9" name="Google Shape;579;p31"/>
          <p:cNvSpPr/>
          <p:nvPr/>
        </p:nvSpPr>
        <p:spPr>
          <a:xfrm rot="5400000">
            <a:off x="379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0" name="Google Shape;580;p31"/>
          <p:cNvSpPr/>
          <p:nvPr/>
        </p:nvSpPr>
        <p:spPr>
          <a:xfrm rot="5400000">
            <a:off x="5540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1" name="Google Shape;581;p31"/>
          <p:cNvSpPr/>
          <p:nvPr/>
        </p:nvSpPr>
        <p:spPr>
          <a:xfrm rot="5400000">
            <a:off x="7289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2" name="Google Shape;582;p31"/>
          <p:cNvSpPr/>
          <p:nvPr/>
        </p:nvSpPr>
        <p:spPr>
          <a:xfrm rot="5400000">
            <a:off x="9038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3" name="Google Shape;583;p31"/>
          <p:cNvSpPr/>
          <p:nvPr/>
        </p:nvSpPr>
        <p:spPr>
          <a:xfrm rot="5400000">
            <a:off x="10787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4" name="Google Shape;584;p31"/>
          <p:cNvSpPr/>
          <p:nvPr/>
        </p:nvSpPr>
        <p:spPr>
          <a:xfrm rot="5400000">
            <a:off x="12536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5" name="Google Shape;585;p31"/>
          <p:cNvSpPr/>
          <p:nvPr/>
        </p:nvSpPr>
        <p:spPr>
          <a:xfrm rot="5400000">
            <a:off x="1428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6" name="Google Shape;586;p31"/>
          <p:cNvSpPr/>
          <p:nvPr/>
        </p:nvSpPr>
        <p:spPr>
          <a:xfrm rot="5400000">
            <a:off x="16034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7" name="Google Shape;587;p31"/>
          <p:cNvSpPr/>
          <p:nvPr/>
        </p:nvSpPr>
        <p:spPr>
          <a:xfrm rot="5400000">
            <a:off x="17783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8" name="Google Shape;588;p31"/>
          <p:cNvSpPr/>
          <p:nvPr/>
        </p:nvSpPr>
        <p:spPr>
          <a:xfrm rot="5400000">
            <a:off x="19532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p31"/>
          <p:cNvSpPr/>
          <p:nvPr/>
        </p:nvSpPr>
        <p:spPr>
          <a:xfrm rot="5400000">
            <a:off x="2128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0" name="Google Shape;590;p31"/>
          <p:cNvSpPr/>
          <p:nvPr/>
        </p:nvSpPr>
        <p:spPr>
          <a:xfrm rot="5400000">
            <a:off x="23030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1" name="Google Shape;591;p31"/>
          <p:cNvSpPr/>
          <p:nvPr/>
        </p:nvSpPr>
        <p:spPr>
          <a:xfrm rot="5400000">
            <a:off x="24779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2" name="Google Shape;592;p31"/>
          <p:cNvSpPr/>
          <p:nvPr/>
        </p:nvSpPr>
        <p:spPr>
          <a:xfrm rot="5400000">
            <a:off x="26528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p31"/>
          <p:cNvSpPr/>
          <p:nvPr/>
        </p:nvSpPr>
        <p:spPr>
          <a:xfrm rot="5400000">
            <a:off x="904280" y="13998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4" name="Google Shape;594;p31"/>
          <p:cNvSpPr/>
          <p:nvPr/>
        </p:nvSpPr>
        <p:spPr>
          <a:xfrm rot="5400000">
            <a:off x="28277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5" name="Google Shape;595;p31"/>
          <p:cNvSpPr/>
          <p:nvPr/>
        </p:nvSpPr>
        <p:spPr>
          <a:xfrm rot="5400000">
            <a:off x="30026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6" name="Google Shape;596;p31"/>
          <p:cNvSpPr/>
          <p:nvPr/>
        </p:nvSpPr>
        <p:spPr>
          <a:xfrm rot="5400000">
            <a:off x="3177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7" name="Google Shape;597;p31"/>
          <p:cNvSpPr txBox="1"/>
          <p:nvPr/>
        </p:nvSpPr>
        <p:spPr>
          <a:xfrm>
            <a:off x="3781008" y="14255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8" name="Google Shape;598;p31"/>
          <p:cNvSpPr txBox="1"/>
          <p:nvPr/>
        </p:nvSpPr>
        <p:spPr>
          <a:xfrm>
            <a:off x="394275" y="13163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9" name="Google Shape;599;p31"/>
          <p:cNvSpPr txBox="1">
            <a:spLocks noGrp="1"/>
          </p:cNvSpPr>
          <p:nvPr>
            <p:ph type="body" idx="4294967295"/>
          </p:nvPr>
        </p:nvSpPr>
        <p:spPr>
          <a:xfrm>
            <a:off x="107050" y="4374900"/>
            <a:ext cx="5455200" cy="6429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Secondary problem: Sender has to wait a full RTT for ack(112) to arrive before sending 116+.</a:t>
            </a:r>
            <a:endParaRPr sz="1600"/>
          </a:p>
        </p:txBody>
      </p:sp>
      <p:cxnSp>
        <p:nvCxnSpPr>
          <p:cNvPr id="600" name="Google Shape;600;p31"/>
          <p:cNvCxnSpPr/>
          <p:nvPr/>
        </p:nvCxnSpPr>
        <p:spPr>
          <a:xfrm flipH="1">
            <a:off x="5962575" y="682760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1" name="Google Shape;601;p31"/>
          <p:cNvCxnSpPr/>
          <p:nvPr/>
        </p:nvCxnSpPr>
        <p:spPr>
          <a:xfrm flipH="1">
            <a:off x="5962575" y="86971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2" name="Google Shape;602;p31"/>
          <p:cNvCxnSpPr/>
          <p:nvPr/>
        </p:nvCxnSpPr>
        <p:spPr>
          <a:xfrm flipH="1">
            <a:off x="5962575" y="1054149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3" name="Google Shape;603;p31"/>
          <p:cNvCxnSpPr/>
          <p:nvPr/>
        </p:nvCxnSpPr>
        <p:spPr>
          <a:xfrm flipH="1">
            <a:off x="5962575" y="12368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4" name="Google Shape;604;p31"/>
          <p:cNvCxnSpPr/>
          <p:nvPr/>
        </p:nvCxnSpPr>
        <p:spPr>
          <a:xfrm flipH="1">
            <a:off x="5962575" y="142126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5" name="Google Shape;605;p31"/>
          <p:cNvCxnSpPr/>
          <p:nvPr/>
        </p:nvCxnSpPr>
        <p:spPr>
          <a:xfrm flipH="1">
            <a:off x="5962575" y="159822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6" name="Google Shape;606;p31"/>
          <p:cNvCxnSpPr/>
          <p:nvPr/>
        </p:nvCxnSpPr>
        <p:spPr>
          <a:xfrm flipH="1">
            <a:off x="5962575" y="178091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7" name="Google Shape;607;p31"/>
          <p:cNvCxnSpPr/>
          <p:nvPr/>
        </p:nvCxnSpPr>
        <p:spPr>
          <a:xfrm flipH="1">
            <a:off x="5962575" y="19653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8" name="Google Shape;608;p31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9" name="Google Shape;609;p31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0" name="Google Shape;610;p31"/>
          <p:cNvCxnSpPr/>
          <p:nvPr/>
        </p:nvCxnSpPr>
        <p:spPr>
          <a:xfrm flipH="1">
            <a:off x="5962575" y="22701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1" name="Google Shape;611;p31"/>
          <p:cNvSpPr txBox="1"/>
          <p:nvPr/>
        </p:nvSpPr>
        <p:spPr>
          <a:xfrm>
            <a:off x="4618867" y="2825236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31"/>
          <p:cNvSpPr/>
          <p:nvPr/>
        </p:nvSpPr>
        <p:spPr>
          <a:xfrm rot="5400000">
            <a:off x="202725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31"/>
          <p:cNvSpPr/>
          <p:nvPr/>
        </p:nvSpPr>
        <p:spPr>
          <a:xfrm rot="5400000">
            <a:off x="379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31"/>
          <p:cNvSpPr/>
          <p:nvPr/>
        </p:nvSpPr>
        <p:spPr>
          <a:xfrm rot="5400000">
            <a:off x="5540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31"/>
          <p:cNvSpPr/>
          <p:nvPr/>
        </p:nvSpPr>
        <p:spPr>
          <a:xfrm rot="5400000">
            <a:off x="7289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31"/>
          <p:cNvSpPr/>
          <p:nvPr/>
        </p:nvSpPr>
        <p:spPr>
          <a:xfrm rot="5400000">
            <a:off x="9038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31"/>
          <p:cNvSpPr/>
          <p:nvPr/>
        </p:nvSpPr>
        <p:spPr>
          <a:xfrm rot="5400000">
            <a:off x="10787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31"/>
          <p:cNvSpPr/>
          <p:nvPr/>
        </p:nvSpPr>
        <p:spPr>
          <a:xfrm rot="5400000">
            <a:off x="12536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31"/>
          <p:cNvSpPr/>
          <p:nvPr/>
        </p:nvSpPr>
        <p:spPr>
          <a:xfrm rot="5400000">
            <a:off x="1428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31"/>
          <p:cNvSpPr/>
          <p:nvPr/>
        </p:nvSpPr>
        <p:spPr>
          <a:xfrm rot="5400000">
            <a:off x="16034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1" name="Google Shape;621;p31"/>
          <p:cNvSpPr/>
          <p:nvPr/>
        </p:nvSpPr>
        <p:spPr>
          <a:xfrm rot="5400000">
            <a:off x="17783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2" name="Google Shape;622;p31"/>
          <p:cNvSpPr/>
          <p:nvPr/>
        </p:nvSpPr>
        <p:spPr>
          <a:xfrm rot="5400000">
            <a:off x="19532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3" name="Google Shape;623;p31"/>
          <p:cNvSpPr/>
          <p:nvPr/>
        </p:nvSpPr>
        <p:spPr>
          <a:xfrm rot="5400000">
            <a:off x="2128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4" name="Google Shape;624;p31"/>
          <p:cNvSpPr/>
          <p:nvPr/>
        </p:nvSpPr>
        <p:spPr>
          <a:xfrm rot="5400000">
            <a:off x="23030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5" name="Google Shape;625;p31"/>
          <p:cNvSpPr/>
          <p:nvPr/>
        </p:nvSpPr>
        <p:spPr>
          <a:xfrm rot="5400000">
            <a:off x="24779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6" name="Google Shape;626;p31"/>
          <p:cNvSpPr/>
          <p:nvPr/>
        </p:nvSpPr>
        <p:spPr>
          <a:xfrm rot="5400000">
            <a:off x="26528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7" name="Google Shape;627;p31"/>
          <p:cNvSpPr/>
          <p:nvPr/>
        </p:nvSpPr>
        <p:spPr>
          <a:xfrm rot="5400000">
            <a:off x="28277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8" name="Google Shape;628;p31"/>
          <p:cNvSpPr/>
          <p:nvPr/>
        </p:nvSpPr>
        <p:spPr>
          <a:xfrm rot="5400000">
            <a:off x="30026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31"/>
          <p:cNvSpPr/>
          <p:nvPr/>
        </p:nvSpPr>
        <p:spPr>
          <a:xfrm rot="5400000">
            <a:off x="3177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0" name="Google Shape;630;p31"/>
          <p:cNvSpPr txBox="1"/>
          <p:nvPr/>
        </p:nvSpPr>
        <p:spPr>
          <a:xfrm>
            <a:off x="394275" y="30689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111–115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31"/>
          <p:cNvSpPr/>
          <p:nvPr/>
        </p:nvSpPr>
        <p:spPr>
          <a:xfrm rot="5400000">
            <a:off x="2653418" y="3151950"/>
            <a:ext cx="558000" cy="8730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2" name="Google Shape;632;p31"/>
          <p:cNvCxnSpPr/>
          <p:nvPr/>
        </p:nvCxnSpPr>
        <p:spPr>
          <a:xfrm>
            <a:off x="5962575" y="308912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3" name="Google Shape;633;p31"/>
          <p:cNvCxnSpPr/>
          <p:nvPr/>
        </p:nvCxnSpPr>
        <p:spPr>
          <a:xfrm>
            <a:off x="5962575" y="3273560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4" name="Google Shape;634;p31"/>
          <p:cNvCxnSpPr/>
          <p:nvPr/>
        </p:nvCxnSpPr>
        <p:spPr>
          <a:xfrm>
            <a:off x="5962575" y="346051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5" name="Google Shape;635;p31"/>
          <p:cNvCxnSpPr/>
          <p:nvPr/>
        </p:nvCxnSpPr>
        <p:spPr>
          <a:xfrm>
            <a:off x="5962575" y="3644949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6" name="Google Shape;636;p31"/>
          <p:cNvCxnSpPr/>
          <p:nvPr/>
        </p:nvCxnSpPr>
        <p:spPr>
          <a:xfrm>
            <a:off x="5962575" y="38276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The Fast Recovery Problem</a:t>
            </a:r>
            <a:endParaRPr/>
          </a:p>
        </p:txBody>
      </p:sp>
      <p:sp>
        <p:nvSpPr>
          <p:cNvPr id="642" name="Google Shape;642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986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problem, restated again: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</a:t>
            </a:r>
            <a:r>
              <a:rPr lang="en" i="1"/>
              <a:t>CWND</a:t>
            </a:r>
            <a:r>
              <a:rPr lang="en"/>
              <a:t> decreased, the window was too small for us to send packets after 110.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must wait (sending nothing) until the re-sent 101 is acked.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secondary problem, restated again: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101 is acked, the window jumps forward, and 111–115 are all sent at once.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must wait again (idling) until ack(111) before sending more.</a:t>
            </a:r>
            <a:endParaRPr/>
          </a:p>
        </p:txBody>
      </p:sp>
      <p:sp>
        <p:nvSpPr>
          <p:cNvPr id="643" name="Google Shape;643;p32"/>
          <p:cNvSpPr/>
          <p:nvPr/>
        </p:nvSpPr>
        <p:spPr>
          <a:xfrm rot="5400000">
            <a:off x="5312000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32"/>
          <p:cNvSpPr/>
          <p:nvPr/>
        </p:nvSpPr>
        <p:spPr>
          <a:xfrm rot="5400000">
            <a:off x="54884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5" name="Google Shape;645;p32"/>
          <p:cNvSpPr/>
          <p:nvPr/>
        </p:nvSpPr>
        <p:spPr>
          <a:xfrm rot="5400000">
            <a:off x="56633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6" name="Google Shape;646;p32"/>
          <p:cNvSpPr/>
          <p:nvPr/>
        </p:nvSpPr>
        <p:spPr>
          <a:xfrm rot="5400000">
            <a:off x="58382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7" name="Google Shape;647;p32"/>
          <p:cNvSpPr/>
          <p:nvPr/>
        </p:nvSpPr>
        <p:spPr>
          <a:xfrm rot="5400000">
            <a:off x="60131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8" name="Google Shape;648;p32"/>
          <p:cNvSpPr/>
          <p:nvPr/>
        </p:nvSpPr>
        <p:spPr>
          <a:xfrm rot="5400000">
            <a:off x="61880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p32"/>
          <p:cNvSpPr/>
          <p:nvPr/>
        </p:nvSpPr>
        <p:spPr>
          <a:xfrm rot="5400000">
            <a:off x="63629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0" name="Google Shape;650;p32"/>
          <p:cNvSpPr/>
          <p:nvPr/>
        </p:nvSpPr>
        <p:spPr>
          <a:xfrm rot="5400000">
            <a:off x="65378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1" name="Google Shape;651;p32"/>
          <p:cNvSpPr/>
          <p:nvPr/>
        </p:nvSpPr>
        <p:spPr>
          <a:xfrm rot="5400000">
            <a:off x="67127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32"/>
          <p:cNvSpPr/>
          <p:nvPr/>
        </p:nvSpPr>
        <p:spPr>
          <a:xfrm rot="5400000">
            <a:off x="68876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32"/>
          <p:cNvSpPr/>
          <p:nvPr/>
        </p:nvSpPr>
        <p:spPr>
          <a:xfrm rot="5400000">
            <a:off x="70625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32"/>
          <p:cNvSpPr/>
          <p:nvPr/>
        </p:nvSpPr>
        <p:spPr>
          <a:xfrm rot="5400000">
            <a:off x="72374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32"/>
          <p:cNvSpPr/>
          <p:nvPr/>
        </p:nvSpPr>
        <p:spPr>
          <a:xfrm rot="5400000">
            <a:off x="74123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32"/>
          <p:cNvSpPr/>
          <p:nvPr/>
        </p:nvSpPr>
        <p:spPr>
          <a:xfrm rot="5400000">
            <a:off x="75872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32"/>
          <p:cNvSpPr/>
          <p:nvPr/>
        </p:nvSpPr>
        <p:spPr>
          <a:xfrm rot="5400000">
            <a:off x="77621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8" name="Google Shape;658;p32"/>
          <p:cNvSpPr/>
          <p:nvPr/>
        </p:nvSpPr>
        <p:spPr>
          <a:xfrm rot="5400000">
            <a:off x="6450560" y="682113"/>
            <a:ext cx="5580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32"/>
          <p:cNvSpPr txBox="1"/>
          <p:nvPr/>
        </p:nvSpPr>
        <p:spPr>
          <a:xfrm>
            <a:off x="5503550" y="1035738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0" name="Google Shape;660;p32"/>
          <p:cNvSpPr/>
          <p:nvPr/>
        </p:nvSpPr>
        <p:spPr>
          <a:xfrm rot="5400000">
            <a:off x="79370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1" name="Google Shape;661;p32"/>
          <p:cNvSpPr/>
          <p:nvPr/>
        </p:nvSpPr>
        <p:spPr>
          <a:xfrm rot="5400000">
            <a:off x="81119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32"/>
          <p:cNvSpPr/>
          <p:nvPr/>
        </p:nvSpPr>
        <p:spPr>
          <a:xfrm rot="5400000">
            <a:off x="82868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3" name="Google Shape;663;p32"/>
          <p:cNvSpPr/>
          <p:nvPr/>
        </p:nvSpPr>
        <p:spPr>
          <a:xfrm rot="5400000">
            <a:off x="5311988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4" name="Google Shape;664;p32"/>
          <p:cNvSpPr/>
          <p:nvPr/>
        </p:nvSpPr>
        <p:spPr>
          <a:xfrm rot="5400000">
            <a:off x="54884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5" name="Google Shape;665;p32"/>
          <p:cNvSpPr/>
          <p:nvPr/>
        </p:nvSpPr>
        <p:spPr>
          <a:xfrm rot="5400000">
            <a:off x="5663313" y="27003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6" name="Google Shape;666;p32"/>
          <p:cNvSpPr/>
          <p:nvPr/>
        </p:nvSpPr>
        <p:spPr>
          <a:xfrm rot="5400000">
            <a:off x="58382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32"/>
          <p:cNvSpPr/>
          <p:nvPr/>
        </p:nvSpPr>
        <p:spPr>
          <a:xfrm rot="5400000">
            <a:off x="60131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8" name="Google Shape;668;p32"/>
          <p:cNvSpPr/>
          <p:nvPr/>
        </p:nvSpPr>
        <p:spPr>
          <a:xfrm rot="5400000">
            <a:off x="61880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9" name="Google Shape;669;p32"/>
          <p:cNvSpPr/>
          <p:nvPr/>
        </p:nvSpPr>
        <p:spPr>
          <a:xfrm rot="5400000">
            <a:off x="63629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32"/>
          <p:cNvSpPr/>
          <p:nvPr/>
        </p:nvSpPr>
        <p:spPr>
          <a:xfrm rot="5400000">
            <a:off x="65378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32"/>
          <p:cNvSpPr/>
          <p:nvPr/>
        </p:nvSpPr>
        <p:spPr>
          <a:xfrm rot="5400000">
            <a:off x="67127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32"/>
          <p:cNvSpPr/>
          <p:nvPr/>
        </p:nvSpPr>
        <p:spPr>
          <a:xfrm rot="5400000">
            <a:off x="68876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3" name="Google Shape;673;p32"/>
          <p:cNvSpPr/>
          <p:nvPr/>
        </p:nvSpPr>
        <p:spPr>
          <a:xfrm rot="5400000">
            <a:off x="70625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4" name="Google Shape;674;p32"/>
          <p:cNvSpPr/>
          <p:nvPr/>
        </p:nvSpPr>
        <p:spPr>
          <a:xfrm rot="5400000">
            <a:off x="72374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32"/>
          <p:cNvSpPr/>
          <p:nvPr/>
        </p:nvSpPr>
        <p:spPr>
          <a:xfrm rot="5400000">
            <a:off x="74123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32"/>
          <p:cNvSpPr/>
          <p:nvPr/>
        </p:nvSpPr>
        <p:spPr>
          <a:xfrm rot="5400000">
            <a:off x="75872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7" name="Google Shape;677;p32"/>
          <p:cNvSpPr/>
          <p:nvPr/>
        </p:nvSpPr>
        <p:spPr>
          <a:xfrm rot="5400000">
            <a:off x="77621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8" name="Google Shape;678;p32"/>
          <p:cNvSpPr/>
          <p:nvPr/>
        </p:nvSpPr>
        <p:spPr>
          <a:xfrm rot="5400000">
            <a:off x="6013543" y="2351713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9" name="Google Shape;679;p32"/>
          <p:cNvSpPr/>
          <p:nvPr/>
        </p:nvSpPr>
        <p:spPr>
          <a:xfrm rot="5400000">
            <a:off x="79370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0" name="Google Shape;680;p32"/>
          <p:cNvSpPr/>
          <p:nvPr/>
        </p:nvSpPr>
        <p:spPr>
          <a:xfrm rot="5400000">
            <a:off x="81119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1" name="Google Shape;681;p32"/>
          <p:cNvSpPr/>
          <p:nvPr/>
        </p:nvSpPr>
        <p:spPr>
          <a:xfrm rot="5400000">
            <a:off x="82868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2" name="Google Shape;682;p32"/>
          <p:cNvSpPr txBox="1"/>
          <p:nvPr/>
        </p:nvSpPr>
        <p:spPr>
          <a:xfrm>
            <a:off x="5503538" y="2268238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32"/>
          <p:cNvSpPr/>
          <p:nvPr/>
        </p:nvSpPr>
        <p:spPr>
          <a:xfrm rot="5400000">
            <a:off x="5311975" y="3932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4" name="Google Shape;684;p32"/>
          <p:cNvSpPr/>
          <p:nvPr/>
        </p:nvSpPr>
        <p:spPr>
          <a:xfrm rot="5400000">
            <a:off x="5488400" y="3932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5" name="Google Shape;685;p32"/>
          <p:cNvSpPr/>
          <p:nvPr/>
        </p:nvSpPr>
        <p:spPr>
          <a:xfrm rot="5400000">
            <a:off x="56633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6" name="Google Shape;686;p32"/>
          <p:cNvSpPr/>
          <p:nvPr/>
        </p:nvSpPr>
        <p:spPr>
          <a:xfrm rot="5400000">
            <a:off x="58382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7" name="Google Shape;687;p32"/>
          <p:cNvSpPr/>
          <p:nvPr/>
        </p:nvSpPr>
        <p:spPr>
          <a:xfrm rot="5400000">
            <a:off x="60131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8" name="Google Shape;688;p32"/>
          <p:cNvSpPr/>
          <p:nvPr/>
        </p:nvSpPr>
        <p:spPr>
          <a:xfrm rot="5400000">
            <a:off x="61880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9" name="Google Shape;689;p32"/>
          <p:cNvSpPr/>
          <p:nvPr/>
        </p:nvSpPr>
        <p:spPr>
          <a:xfrm rot="5400000">
            <a:off x="63629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32"/>
          <p:cNvSpPr/>
          <p:nvPr/>
        </p:nvSpPr>
        <p:spPr>
          <a:xfrm rot="5400000">
            <a:off x="65378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1" name="Google Shape;691;p32"/>
          <p:cNvSpPr/>
          <p:nvPr/>
        </p:nvSpPr>
        <p:spPr>
          <a:xfrm rot="5400000">
            <a:off x="67127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2" name="Google Shape;692;p32"/>
          <p:cNvSpPr/>
          <p:nvPr/>
        </p:nvSpPr>
        <p:spPr>
          <a:xfrm rot="5400000">
            <a:off x="68876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32"/>
          <p:cNvSpPr/>
          <p:nvPr/>
        </p:nvSpPr>
        <p:spPr>
          <a:xfrm rot="5400000">
            <a:off x="70625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4" name="Google Shape;694;p32"/>
          <p:cNvSpPr/>
          <p:nvPr/>
        </p:nvSpPr>
        <p:spPr>
          <a:xfrm rot="5400000">
            <a:off x="72374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5" name="Google Shape;695;p32"/>
          <p:cNvSpPr/>
          <p:nvPr/>
        </p:nvSpPr>
        <p:spPr>
          <a:xfrm rot="5400000">
            <a:off x="74123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6" name="Google Shape;696;p32"/>
          <p:cNvSpPr/>
          <p:nvPr/>
        </p:nvSpPr>
        <p:spPr>
          <a:xfrm rot="5400000">
            <a:off x="75872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7" name="Google Shape;697;p32"/>
          <p:cNvSpPr/>
          <p:nvPr/>
        </p:nvSpPr>
        <p:spPr>
          <a:xfrm rot="5400000">
            <a:off x="77621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8" name="Google Shape;698;p32"/>
          <p:cNvSpPr/>
          <p:nvPr/>
        </p:nvSpPr>
        <p:spPr>
          <a:xfrm rot="5400000">
            <a:off x="79370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9" name="Google Shape;699;p32"/>
          <p:cNvSpPr/>
          <p:nvPr/>
        </p:nvSpPr>
        <p:spPr>
          <a:xfrm rot="5400000">
            <a:off x="81119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0" name="Google Shape;700;p32"/>
          <p:cNvSpPr/>
          <p:nvPr/>
        </p:nvSpPr>
        <p:spPr>
          <a:xfrm rot="5400000">
            <a:off x="8286800" y="3932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32"/>
          <p:cNvSpPr txBox="1"/>
          <p:nvPr/>
        </p:nvSpPr>
        <p:spPr>
          <a:xfrm>
            <a:off x="5503525" y="3500738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111–115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32"/>
          <p:cNvSpPr/>
          <p:nvPr/>
        </p:nvSpPr>
        <p:spPr>
          <a:xfrm rot="5400000">
            <a:off x="7762668" y="3583763"/>
            <a:ext cx="558000" cy="8730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Fast Recovery Problem</a:t>
            </a:r>
            <a:endParaRPr/>
          </a:p>
        </p:txBody>
      </p:sp>
      <p:sp>
        <p:nvSpPr>
          <p:cNvPr id="708" name="Google Shape;708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can deduce from the duplicate acks that fewer packets are in flight: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Initially: 10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102: 9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103: 8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104: 7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105: 6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106: 5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107: 4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108: 3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109: 2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110: 1 packet in flight.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The packet still in flight is the re-sent 101.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Fast Recovery Problem</a:t>
            </a:r>
            <a:endParaRPr/>
          </a:p>
        </p:txBody>
      </p:sp>
      <p:sp>
        <p:nvSpPr>
          <p:cNvPr id="714" name="Google Shape;714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sender can deduce from the duplicate acks that fewer packets are in flight.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Even though there are eventually &lt;5 packets left in flight, the sliding window is stopping us from sending more.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Key idea: 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Grant the sender </a:t>
            </a:r>
            <a:r>
              <a:rPr lang="en" dirty="0">
                <a:solidFill>
                  <a:srgbClr val="C00000"/>
                </a:solidFill>
              </a:rPr>
              <a:t>a</a:t>
            </a:r>
            <a:r>
              <a:rPr lang="en" dirty="0"/>
              <a:t> </a:t>
            </a:r>
            <a:r>
              <a:rPr lang="en" dirty="0">
                <a:solidFill>
                  <a:srgbClr val="C00000"/>
                </a:solidFill>
              </a:rPr>
              <a:t>temporary "credit" for each duplicate ack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a duplicate ack arrives, we know that one fewer packet is in flight.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Artificially extend</a:t>
            </a:r>
            <a:r>
              <a:rPr lang="en" dirty="0"/>
              <a:t> the window to let the sender send one more packet.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 Fast Recovery</a:t>
            </a:r>
            <a:endParaRPr/>
          </a:p>
        </p:txBody>
      </p:sp>
      <p:sp>
        <p:nvSpPr>
          <p:cNvPr id="720" name="Google Shape;720;p35"/>
          <p:cNvSpPr/>
          <p:nvPr/>
        </p:nvSpPr>
        <p:spPr>
          <a:xfrm rot="5400000">
            <a:off x="58740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35"/>
          <p:cNvSpPr/>
          <p:nvPr/>
        </p:nvSpPr>
        <p:spPr>
          <a:xfrm rot="5400000">
            <a:off x="60489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2" name="Google Shape;722;p35"/>
          <p:cNvSpPr/>
          <p:nvPr/>
        </p:nvSpPr>
        <p:spPr>
          <a:xfrm rot="5400000">
            <a:off x="62238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3" name="Google Shape;723;p35"/>
          <p:cNvSpPr/>
          <p:nvPr/>
        </p:nvSpPr>
        <p:spPr>
          <a:xfrm rot="5400000">
            <a:off x="63987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4" name="Google Shape;724;p35"/>
          <p:cNvSpPr/>
          <p:nvPr/>
        </p:nvSpPr>
        <p:spPr>
          <a:xfrm rot="5400000">
            <a:off x="65736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p35"/>
          <p:cNvSpPr/>
          <p:nvPr/>
        </p:nvSpPr>
        <p:spPr>
          <a:xfrm rot="5400000">
            <a:off x="67485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35"/>
          <p:cNvSpPr/>
          <p:nvPr/>
        </p:nvSpPr>
        <p:spPr>
          <a:xfrm rot="5400000">
            <a:off x="69234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7" name="Google Shape;727;p35"/>
          <p:cNvSpPr/>
          <p:nvPr/>
        </p:nvSpPr>
        <p:spPr>
          <a:xfrm rot="5400000">
            <a:off x="70983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8" name="Google Shape;728;p35"/>
          <p:cNvSpPr/>
          <p:nvPr/>
        </p:nvSpPr>
        <p:spPr>
          <a:xfrm rot="5400000">
            <a:off x="72732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35"/>
          <p:cNvSpPr/>
          <p:nvPr/>
        </p:nvSpPr>
        <p:spPr>
          <a:xfrm rot="5400000">
            <a:off x="74481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0" name="Google Shape;730;p35"/>
          <p:cNvSpPr/>
          <p:nvPr/>
        </p:nvSpPr>
        <p:spPr>
          <a:xfrm rot="5400000">
            <a:off x="76230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1" name="Google Shape;731;p35"/>
          <p:cNvSpPr/>
          <p:nvPr/>
        </p:nvSpPr>
        <p:spPr>
          <a:xfrm rot="5400000">
            <a:off x="77979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2" name="Google Shape;732;p35"/>
          <p:cNvSpPr/>
          <p:nvPr/>
        </p:nvSpPr>
        <p:spPr>
          <a:xfrm rot="5400000">
            <a:off x="79728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3" name="Google Shape;733;p35"/>
          <p:cNvSpPr/>
          <p:nvPr/>
        </p:nvSpPr>
        <p:spPr>
          <a:xfrm rot="5400000">
            <a:off x="81477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p35"/>
          <p:cNvSpPr/>
          <p:nvPr/>
        </p:nvSpPr>
        <p:spPr>
          <a:xfrm rot="5400000">
            <a:off x="6836135" y="-262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5" name="Google Shape;735;p35"/>
          <p:cNvSpPr/>
          <p:nvPr/>
        </p:nvSpPr>
        <p:spPr>
          <a:xfrm rot="5400000">
            <a:off x="83226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6" name="Google Shape;736;p35"/>
          <p:cNvSpPr/>
          <p:nvPr/>
        </p:nvSpPr>
        <p:spPr>
          <a:xfrm rot="5400000">
            <a:off x="84975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7" name="Google Shape;737;p35"/>
          <p:cNvSpPr/>
          <p:nvPr/>
        </p:nvSpPr>
        <p:spPr>
          <a:xfrm rot="5400000">
            <a:off x="86724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8" name="Google Shape;738;p35"/>
          <p:cNvSpPr txBox="1"/>
          <p:nvPr/>
        </p:nvSpPr>
        <p:spPr>
          <a:xfrm>
            <a:off x="78350" y="3593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3 duplicate acks detected.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5.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Extend window to account for the 3 acks: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5 + 3 = 8.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9" name="Google Shape;739;p35"/>
          <p:cNvSpPr/>
          <p:nvPr/>
        </p:nvSpPr>
        <p:spPr>
          <a:xfrm rot="5400000">
            <a:off x="58740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0" name="Google Shape;740;p35"/>
          <p:cNvSpPr/>
          <p:nvPr/>
        </p:nvSpPr>
        <p:spPr>
          <a:xfrm rot="5400000">
            <a:off x="60489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1" name="Google Shape;741;p35"/>
          <p:cNvSpPr/>
          <p:nvPr/>
        </p:nvSpPr>
        <p:spPr>
          <a:xfrm rot="5400000">
            <a:off x="62238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35"/>
          <p:cNvSpPr/>
          <p:nvPr/>
        </p:nvSpPr>
        <p:spPr>
          <a:xfrm rot="5400000">
            <a:off x="63987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35"/>
          <p:cNvSpPr/>
          <p:nvPr/>
        </p:nvSpPr>
        <p:spPr>
          <a:xfrm rot="5400000">
            <a:off x="65736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35"/>
          <p:cNvSpPr/>
          <p:nvPr/>
        </p:nvSpPr>
        <p:spPr>
          <a:xfrm rot="5400000">
            <a:off x="67485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5" name="Google Shape;745;p35"/>
          <p:cNvSpPr/>
          <p:nvPr/>
        </p:nvSpPr>
        <p:spPr>
          <a:xfrm rot="5400000">
            <a:off x="69234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6" name="Google Shape;746;p35"/>
          <p:cNvSpPr/>
          <p:nvPr/>
        </p:nvSpPr>
        <p:spPr>
          <a:xfrm rot="5400000">
            <a:off x="70983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35"/>
          <p:cNvSpPr/>
          <p:nvPr/>
        </p:nvSpPr>
        <p:spPr>
          <a:xfrm rot="5400000">
            <a:off x="72732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8" name="Google Shape;748;p35"/>
          <p:cNvSpPr/>
          <p:nvPr/>
        </p:nvSpPr>
        <p:spPr>
          <a:xfrm rot="5400000">
            <a:off x="74481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9" name="Google Shape;749;p35"/>
          <p:cNvSpPr/>
          <p:nvPr/>
        </p:nvSpPr>
        <p:spPr>
          <a:xfrm rot="5400000">
            <a:off x="76230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0" name="Google Shape;750;p35"/>
          <p:cNvSpPr/>
          <p:nvPr/>
        </p:nvSpPr>
        <p:spPr>
          <a:xfrm rot="5400000">
            <a:off x="77979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1" name="Google Shape;751;p35"/>
          <p:cNvSpPr/>
          <p:nvPr/>
        </p:nvSpPr>
        <p:spPr>
          <a:xfrm rot="5400000">
            <a:off x="79728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2" name="Google Shape;752;p35"/>
          <p:cNvSpPr/>
          <p:nvPr/>
        </p:nvSpPr>
        <p:spPr>
          <a:xfrm rot="5400000">
            <a:off x="81477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3" name="Google Shape;753;p35"/>
          <p:cNvSpPr/>
          <p:nvPr/>
        </p:nvSpPr>
        <p:spPr>
          <a:xfrm rot="5400000">
            <a:off x="83226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4" name="Google Shape;754;p35"/>
          <p:cNvSpPr/>
          <p:nvPr/>
        </p:nvSpPr>
        <p:spPr>
          <a:xfrm rot="5400000">
            <a:off x="84975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5" name="Google Shape;755;p35"/>
          <p:cNvSpPr/>
          <p:nvPr/>
        </p:nvSpPr>
        <p:spPr>
          <a:xfrm rot="5400000">
            <a:off x="86724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35"/>
          <p:cNvSpPr/>
          <p:nvPr/>
        </p:nvSpPr>
        <p:spPr>
          <a:xfrm rot="5400000">
            <a:off x="58740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7" name="Google Shape;757;p35"/>
          <p:cNvSpPr/>
          <p:nvPr/>
        </p:nvSpPr>
        <p:spPr>
          <a:xfrm rot="5400000">
            <a:off x="60489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8" name="Google Shape;758;p35"/>
          <p:cNvSpPr/>
          <p:nvPr/>
        </p:nvSpPr>
        <p:spPr>
          <a:xfrm rot="5400000">
            <a:off x="62238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35"/>
          <p:cNvSpPr/>
          <p:nvPr/>
        </p:nvSpPr>
        <p:spPr>
          <a:xfrm rot="5400000">
            <a:off x="63987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0" name="Google Shape;760;p35"/>
          <p:cNvSpPr/>
          <p:nvPr/>
        </p:nvSpPr>
        <p:spPr>
          <a:xfrm rot="5400000">
            <a:off x="65736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1" name="Google Shape;761;p35"/>
          <p:cNvSpPr/>
          <p:nvPr/>
        </p:nvSpPr>
        <p:spPr>
          <a:xfrm rot="5400000">
            <a:off x="67485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2" name="Google Shape;762;p35"/>
          <p:cNvSpPr/>
          <p:nvPr/>
        </p:nvSpPr>
        <p:spPr>
          <a:xfrm rot="5400000">
            <a:off x="69234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3" name="Google Shape;763;p35"/>
          <p:cNvSpPr/>
          <p:nvPr/>
        </p:nvSpPr>
        <p:spPr>
          <a:xfrm rot="5400000">
            <a:off x="70983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4" name="Google Shape;764;p35"/>
          <p:cNvSpPr/>
          <p:nvPr/>
        </p:nvSpPr>
        <p:spPr>
          <a:xfrm rot="5400000">
            <a:off x="72732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5" name="Google Shape;765;p35"/>
          <p:cNvSpPr/>
          <p:nvPr/>
        </p:nvSpPr>
        <p:spPr>
          <a:xfrm rot="5400000">
            <a:off x="74481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6" name="Google Shape;766;p35"/>
          <p:cNvSpPr/>
          <p:nvPr/>
        </p:nvSpPr>
        <p:spPr>
          <a:xfrm rot="5400000">
            <a:off x="76230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7" name="Google Shape;767;p35"/>
          <p:cNvSpPr/>
          <p:nvPr/>
        </p:nvSpPr>
        <p:spPr>
          <a:xfrm rot="5400000">
            <a:off x="77979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8" name="Google Shape;768;p35"/>
          <p:cNvSpPr/>
          <p:nvPr/>
        </p:nvSpPr>
        <p:spPr>
          <a:xfrm rot="5400000">
            <a:off x="79728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9" name="Google Shape;769;p35"/>
          <p:cNvSpPr/>
          <p:nvPr/>
        </p:nvSpPr>
        <p:spPr>
          <a:xfrm rot="5400000">
            <a:off x="81477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0" name="Google Shape;770;p35"/>
          <p:cNvSpPr/>
          <p:nvPr/>
        </p:nvSpPr>
        <p:spPr>
          <a:xfrm rot="5400000">
            <a:off x="83226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1" name="Google Shape;771;p35"/>
          <p:cNvSpPr/>
          <p:nvPr/>
        </p:nvSpPr>
        <p:spPr>
          <a:xfrm rot="5400000">
            <a:off x="84975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2" name="Google Shape;772;p35"/>
          <p:cNvSpPr/>
          <p:nvPr/>
        </p:nvSpPr>
        <p:spPr>
          <a:xfrm rot="5400000">
            <a:off x="86724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3" name="Google Shape;773;p35"/>
          <p:cNvSpPr/>
          <p:nvPr/>
        </p:nvSpPr>
        <p:spPr>
          <a:xfrm rot="5400000">
            <a:off x="7098599" y="3631350"/>
            <a:ext cx="435900" cy="5271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4" name="Google Shape;774;p35"/>
          <p:cNvSpPr/>
          <p:nvPr/>
        </p:nvSpPr>
        <p:spPr>
          <a:xfrm rot="5400000">
            <a:off x="7185750" y="4306200"/>
            <a:ext cx="435900" cy="7014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5" name="Google Shape;775;p35"/>
          <p:cNvSpPr/>
          <p:nvPr/>
        </p:nvSpPr>
        <p:spPr>
          <a:xfrm rot="5400000">
            <a:off x="6399030" y="3458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6" name="Google Shape;776;p35"/>
          <p:cNvSpPr/>
          <p:nvPr/>
        </p:nvSpPr>
        <p:spPr>
          <a:xfrm rot="5400000">
            <a:off x="6399030" y="4220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7" name="Google Shape;777;p35"/>
          <p:cNvSpPr txBox="1"/>
          <p:nvPr/>
        </p:nvSpPr>
        <p:spPr>
          <a:xfrm>
            <a:off x="77700" y="435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105: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9.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8" name="Google Shape;778;p35"/>
          <p:cNvSpPr txBox="1"/>
          <p:nvPr/>
        </p:nvSpPr>
        <p:spPr>
          <a:xfrm>
            <a:off x="78350" y="2831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104: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9" name="Google Shape;779;p35"/>
          <p:cNvSpPr/>
          <p:nvPr/>
        </p:nvSpPr>
        <p:spPr>
          <a:xfrm rot="5400000">
            <a:off x="58740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0" name="Google Shape;780;p35"/>
          <p:cNvSpPr/>
          <p:nvPr/>
        </p:nvSpPr>
        <p:spPr>
          <a:xfrm rot="5400000">
            <a:off x="60489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1" name="Google Shape;781;p35"/>
          <p:cNvSpPr/>
          <p:nvPr/>
        </p:nvSpPr>
        <p:spPr>
          <a:xfrm rot="5400000">
            <a:off x="62238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2" name="Google Shape;782;p35"/>
          <p:cNvSpPr/>
          <p:nvPr/>
        </p:nvSpPr>
        <p:spPr>
          <a:xfrm rot="5400000">
            <a:off x="63987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3" name="Google Shape;783;p35"/>
          <p:cNvSpPr/>
          <p:nvPr/>
        </p:nvSpPr>
        <p:spPr>
          <a:xfrm rot="5400000">
            <a:off x="65736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4" name="Google Shape;784;p35"/>
          <p:cNvSpPr/>
          <p:nvPr/>
        </p:nvSpPr>
        <p:spPr>
          <a:xfrm rot="5400000">
            <a:off x="67485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5" name="Google Shape;785;p35"/>
          <p:cNvSpPr/>
          <p:nvPr/>
        </p:nvSpPr>
        <p:spPr>
          <a:xfrm rot="5400000">
            <a:off x="69234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35"/>
          <p:cNvSpPr/>
          <p:nvPr/>
        </p:nvSpPr>
        <p:spPr>
          <a:xfrm rot="5400000">
            <a:off x="70983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7" name="Google Shape;787;p35"/>
          <p:cNvSpPr/>
          <p:nvPr/>
        </p:nvSpPr>
        <p:spPr>
          <a:xfrm rot="5400000">
            <a:off x="72732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8" name="Google Shape;788;p35"/>
          <p:cNvSpPr/>
          <p:nvPr/>
        </p:nvSpPr>
        <p:spPr>
          <a:xfrm rot="5400000">
            <a:off x="74481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9" name="Google Shape;789;p35"/>
          <p:cNvSpPr/>
          <p:nvPr/>
        </p:nvSpPr>
        <p:spPr>
          <a:xfrm rot="5400000">
            <a:off x="76230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0" name="Google Shape;790;p35"/>
          <p:cNvSpPr/>
          <p:nvPr/>
        </p:nvSpPr>
        <p:spPr>
          <a:xfrm rot="5400000">
            <a:off x="77979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1" name="Google Shape;791;p35"/>
          <p:cNvSpPr/>
          <p:nvPr/>
        </p:nvSpPr>
        <p:spPr>
          <a:xfrm rot="5400000">
            <a:off x="79728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2" name="Google Shape;792;p35"/>
          <p:cNvSpPr/>
          <p:nvPr/>
        </p:nvSpPr>
        <p:spPr>
          <a:xfrm rot="5400000">
            <a:off x="81477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3" name="Google Shape;793;p35"/>
          <p:cNvSpPr/>
          <p:nvPr/>
        </p:nvSpPr>
        <p:spPr>
          <a:xfrm rot="5400000">
            <a:off x="83226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4" name="Google Shape;794;p35"/>
          <p:cNvSpPr/>
          <p:nvPr/>
        </p:nvSpPr>
        <p:spPr>
          <a:xfrm rot="5400000">
            <a:off x="84975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5" name="Google Shape;795;p35"/>
          <p:cNvSpPr/>
          <p:nvPr/>
        </p:nvSpPr>
        <p:spPr>
          <a:xfrm rot="5400000">
            <a:off x="86724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6" name="Google Shape;796;p35"/>
          <p:cNvSpPr/>
          <p:nvPr/>
        </p:nvSpPr>
        <p:spPr>
          <a:xfrm rot="5400000">
            <a:off x="6835325" y="2260350"/>
            <a:ext cx="435900" cy="1745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7" name="Google Shape;797;p35"/>
          <p:cNvSpPr txBox="1"/>
          <p:nvPr/>
        </p:nvSpPr>
        <p:spPr>
          <a:xfrm>
            <a:off x="78350" y="2069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103: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8" name="Google Shape;798;p35"/>
          <p:cNvSpPr/>
          <p:nvPr/>
        </p:nvSpPr>
        <p:spPr>
          <a:xfrm rot="5400000">
            <a:off x="58740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9" name="Google Shape;799;p35"/>
          <p:cNvSpPr/>
          <p:nvPr/>
        </p:nvSpPr>
        <p:spPr>
          <a:xfrm rot="5400000">
            <a:off x="60489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0" name="Google Shape;800;p35"/>
          <p:cNvSpPr/>
          <p:nvPr/>
        </p:nvSpPr>
        <p:spPr>
          <a:xfrm rot="5400000">
            <a:off x="62238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1" name="Google Shape;801;p35"/>
          <p:cNvSpPr/>
          <p:nvPr/>
        </p:nvSpPr>
        <p:spPr>
          <a:xfrm rot="5400000">
            <a:off x="63987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2" name="Google Shape;802;p35"/>
          <p:cNvSpPr/>
          <p:nvPr/>
        </p:nvSpPr>
        <p:spPr>
          <a:xfrm rot="5400000">
            <a:off x="65736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3" name="Google Shape;803;p35"/>
          <p:cNvSpPr/>
          <p:nvPr/>
        </p:nvSpPr>
        <p:spPr>
          <a:xfrm rot="5400000">
            <a:off x="67485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4" name="Google Shape;804;p35"/>
          <p:cNvSpPr/>
          <p:nvPr/>
        </p:nvSpPr>
        <p:spPr>
          <a:xfrm rot="5400000">
            <a:off x="69234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5" name="Google Shape;805;p35"/>
          <p:cNvSpPr/>
          <p:nvPr/>
        </p:nvSpPr>
        <p:spPr>
          <a:xfrm rot="5400000">
            <a:off x="70983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6" name="Google Shape;806;p35"/>
          <p:cNvSpPr/>
          <p:nvPr/>
        </p:nvSpPr>
        <p:spPr>
          <a:xfrm rot="5400000">
            <a:off x="72732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7" name="Google Shape;807;p35"/>
          <p:cNvSpPr/>
          <p:nvPr/>
        </p:nvSpPr>
        <p:spPr>
          <a:xfrm rot="5400000">
            <a:off x="74481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8" name="Google Shape;808;p35"/>
          <p:cNvSpPr/>
          <p:nvPr/>
        </p:nvSpPr>
        <p:spPr>
          <a:xfrm rot="5400000">
            <a:off x="76230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9" name="Google Shape;809;p35"/>
          <p:cNvSpPr/>
          <p:nvPr/>
        </p:nvSpPr>
        <p:spPr>
          <a:xfrm rot="5400000">
            <a:off x="77979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0" name="Google Shape;810;p35"/>
          <p:cNvSpPr/>
          <p:nvPr/>
        </p:nvSpPr>
        <p:spPr>
          <a:xfrm rot="5400000">
            <a:off x="79728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1" name="Google Shape;811;p35"/>
          <p:cNvSpPr/>
          <p:nvPr/>
        </p:nvSpPr>
        <p:spPr>
          <a:xfrm rot="5400000">
            <a:off x="81477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2" name="Google Shape;812;p35"/>
          <p:cNvSpPr/>
          <p:nvPr/>
        </p:nvSpPr>
        <p:spPr>
          <a:xfrm rot="5400000">
            <a:off x="83226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3" name="Google Shape;813;p35"/>
          <p:cNvSpPr/>
          <p:nvPr/>
        </p:nvSpPr>
        <p:spPr>
          <a:xfrm rot="5400000">
            <a:off x="84975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4" name="Google Shape;814;p35"/>
          <p:cNvSpPr/>
          <p:nvPr/>
        </p:nvSpPr>
        <p:spPr>
          <a:xfrm rot="5400000">
            <a:off x="86724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5" name="Google Shape;815;p35"/>
          <p:cNvSpPr/>
          <p:nvPr/>
        </p:nvSpPr>
        <p:spPr>
          <a:xfrm rot="5400000">
            <a:off x="6835325" y="1498350"/>
            <a:ext cx="435900" cy="1745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35"/>
          <p:cNvSpPr txBox="1"/>
          <p:nvPr/>
        </p:nvSpPr>
        <p:spPr>
          <a:xfrm>
            <a:off x="78350" y="1307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102: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7" name="Google Shape;817;p35"/>
          <p:cNvSpPr/>
          <p:nvPr/>
        </p:nvSpPr>
        <p:spPr>
          <a:xfrm rot="5400000">
            <a:off x="58740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8" name="Google Shape;818;p35"/>
          <p:cNvSpPr/>
          <p:nvPr/>
        </p:nvSpPr>
        <p:spPr>
          <a:xfrm rot="5400000">
            <a:off x="60489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9" name="Google Shape;819;p35"/>
          <p:cNvSpPr/>
          <p:nvPr/>
        </p:nvSpPr>
        <p:spPr>
          <a:xfrm rot="5400000">
            <a:off x="62238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0" name="Google Shape;820;p35"/>
          <p:cNvSpPr/>
          <p:nvPr/>
        </p:nvSpPr>
        <p:spPr>
          <a:xfrm rot="5400000">
            <a:off x="63987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1" name="Google Shape;821;p35"/>
          <p:cNvSpPr/>
          <p:nvPr/>
        </p:nvSpPr>
        <p:spPr>
          <a:xfrm rot="5400000">
            <a:off x="65736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35"/>
          <p:cNvSpPr/>
          <p:nvPr/>
        </p:nvSpPr>
        <p:spPr>
          <a:xfrm rot="5400000">
            <a:off x="67485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3" name="Google Shape;823;p35"/>
          <p:cNvSpPr/>
          <p:nvPr/>
        </p:nvSpPr>
        <p:spPr>
          <a:xfrm rot="5400000">
            <a:off x="69234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35"/>
          <p:cNvSpPr/>
          <p:nvPr/>
        </p:nvSpPr>
        <p:spPr>
          <a:xfrm rot="5400000">
            <a:off x="70983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5" name="Google Shape;825;p35"/>
          <p:cNvSpPr/>
          <p:nvPr/>
        </p:nvSpPr>
        <p:spPr>
          <a:xfrm rot="5400000">
            <a:off x="72732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6" name="Google Shape;826;p35"/>
          <p:cNvSpPr/>
          <p:nvPr/>
        </p:nvSpPr>
        <p:spPr>
          <a:xfrm rot="5400000">
            <a:off x="74481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7" name="Google Shape;827;p35"/>
          <p:cNvSpPr/>
          <p:nvPr/>
        </p:nvSpPr>
        <p:spPr>
          <a:xfrm rot="5400000">
            <a:off x="76230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8" name="Google Shape;828;p35"/>
          <p:cNvSpPr/>
          <p:nvPr/>
        </p:nvSpPr>
        <p:spPr>
          <a:xfrm rot="5400000">
            <a:off x="77979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9" name="Google Shape;829;p35"/>
          <p:cNvSpPr/>
          <p:nvPr/>
        </p:nvSpPr>
        <p:spPr>
          <a:xfrm rot="5400000">
            <a:off x="79728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0" name="Google Shape;830;p35"/>
          <p:cNvSpPr/>
          <p:nvPr/>
        </p:nvSpPr>
        <p:spPr>
          <a:xfrm rot="5400000">
            <a:off x="81477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35"/>
          <p:cNvSpPr/>
          <p:nvPr/>
        </p:nvSpPr>
        <p:spPr>
          <a:xfrm rot="5400000">
            <a:off x="83226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35"/>
          <p:cNvSpPr/>
          <p:nvPr/>
        </p:nvSpPr>
        <p:spPr>
          <a:xfrm rot="5400000">
            <a:off x="84975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35"/>
          <p:cNvSpPr/>
          <p:nvPr/>
        </p:nvSpPr>
        <p:spPr>
          <a:xfrm rot="5400000">
            <a:off x="86724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35"/>
          <p:cNvSpPr/>
          <p:nvPr/>
        </p:nvSpPr>
        <p:spPr>
          <a:xfrm rot="5400000">
            <a:off x="6835325" y="736350"/>
            <a:ext cx="435900" cy="1745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35"/>
          <p:cNvSpPr txBox="1"/>
          <p:nvPr/>
        </p:nvSpPr>
        <p:spPr>
          <a:xfrm>
            <a:off x="78350" y="54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sending 10 packets: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10.</a:t>
            </a:r>
            <a:b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101–110 can be in flight.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 Fast Recovery</a:t>
            </a:r>
            <a:endParaRPr/>
          </a:p>
        </p:txBody>
      </p:sp>
      <p:sp>
        <p:nvSpPr>
          <p:cNvPr id="841" name="Google Shape;841;p36"/>
          <p:cNvSpPr/>
          <p:nvPr/>
        </p:nvSpPr>
        <p:spPr>
          <a:xfrm rot="5400000">
            <a:off x="58740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2" name="Google Shape;842;p36"/>
          <p:cNvSpPr/>
          <p:nvPr/>
        </p:nvSpPr>
        <p:spPr>
          <a:xfrm rot="5400000">
            <a:off x="60489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3" name="Google Shape;843;p36"/>
          <p:cNvSpPr/>
          <p:nvPr/>
        </p:nvSpPr>
        <p:spPr>
          <a:xfrm rot="5400000">
            <a:off x="62238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4" name="Google Shape;844;p36"/>
          <p:cNvSpPr/>
          <p:nvPr/>
        </p:nvSpPr>
        <p:spPr>
          <a:xfrm rot="5400000">
            <a:off x="63987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36"/>
          <p:cNvSpPr/>
          <p:nvPr/>
        </p:nvSpPr>
        <p:spPr>
          <a:xfrm rot="5400000">
            <a:off x="65736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36"/>
          <p:cNvSpPr/>
          <p:nvPr/>
        </p:nvSpPr>
        <p:spPr>
          <a:xfrm rot="5400000">
            <a:off x="67485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7" name="Google Shape;847;p36"/>
          <p:cNvSpPr/>
          <p:nvPr/>
        </p:nvSpPr>
        <p:spPr>
          <a:xfrm rot="5400000">
            <a:off x="69234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8" name="Google Shape;848;p36"/>
          <p:cNvSpPr/>
          <p:nvPr/>
        </p:nvSpPr>
        <p:spPr>
          <a:xfrm rot="5400000">
            <a:off x="70983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9" name="Google Shape;849;p36"/>
          <p:cNvSpPr/>
          <p:nvPr/>
        </p:nvSpPr>
        <p:spPr>
          <a:xfrm rot="5400000">
            <a:off x="72732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0" name="Google Shape;850;p36"/>
          <p:cNvSpPr/>
          <p:nvPr/>
        </p:nvSpPr>
        <p:spPr>
          <a:xfrm rot="5400000">
            <a:off x="74481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1" name="Google Shape;851;p36"/>
          <p:cNvSpPr/>
          <p:nvPr/>
        </p:nvSpPr>
        <p:spPr>
          <a:xfrm rot="5400000">
            <a:off x="76230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2" name="Google Shape;852;p36"/>
          <p:cNvSpPr/>
          <p:nvPr/>
        </p:nvSpPr>
        <p:spPr>
          <a:xfrm rot="5400000">
            <a:off x="77979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3" name="Google Shape;853;p36"/>
          <p:cNvSpPr/>
          <p:nvPr/>
        </p:nvSpPr>
        <p:spPr>
          <a:xfrm rot="5400000">
            <a:off x="79728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4" name="Google Shape;854;p36"/>
          <p:cNvSpPr/>
          <p:nvPr/>
        </p:nvSpPr>
        <p:spPr>
          <a:xfrm rot="5400000">
            <a:off x="81477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5" name="Google Shape;855;p36"/>
          <p:cNvSpPr/>
          <p:nvPr/>
        </p:nvSpPr>
        <p:spPr>
          <a:xfrm rot="5400000">
            <a:off x="83226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36"/>
          <p:cNvSpPr/>
          <p:nvPr/>
        </p:nvSpPr>
        <p:spPr>
          <a:xfrm rot="5400000">
            <a:off x="84975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7" name="Google Shape;857;p36"/>
          <p:cNvSpPr/>
          <p:nvPr/>
        </p:nvSpPr>
        <p:spPr>
          <a:xfrm rot="5400000">
            <a:off x="86724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36"/>
          <p:cNvSpPr txBox="1"/>
          <p:nvPr/>
        </p:nvSpPr>
        <p:spPr>
          <a:xfrm>
            <a:off x="78350" y="3593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110: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14.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114!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36"/>
          <p:cNvSpPr/>
          <p:nvPr/>
        </p:nvSpPr>
        <p:spPr>
          <a:xfrm rot="5400000">
            <a:off x="58740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36"/>
          <p:cNvSpPr/>
          <p:nvPr/>
        </p:nvSpPr>
        <p:spPr>
          <a:xfrm rot="5400000">
            <a:off x="60489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36"/>
          <p:cNvSpPr/>
          <p:nvPr/>
        </p:nvSpPr>
        <p:spPr>
          <a:xfrm rot="5400000">
            <a:off x="62238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36"/>
          <p:cNvSpPr/>
          <p:nvPr/>
        </p:nvSpPr>
        <p:spPr>
          <a:xfrm rot="5400000">
            <a:off x="63987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36"/>
          <p:cNvSpPr/>
          <p:nvPr/>
        </p:nvSpPr>
        <p:spPr>
          <a:xfrm rot="5400000">
            <a:off x="65736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36"/>
          <p:cNvSpPr/>
          <p:nvPr/>
        </p:nvSpPr>
        <p:spPr>
          <a:xfrm rot="5400000">
            <a:off x="67485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36"/>
          <p:cNvSpPr/>
          <p:nvPr/>
        </p:nvSpPr>
        <p:spPr>
          <a:xfrm rot="5400000">
            <a:off x="69234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6" name="Google Shape;866;p36"/>
          <p:cNvSpPr/>
          <p:nvPr/>
        </p:nvSpPr>
        <p:spPr>
          <a:xfrm rot="5400000">
            <a:off x="70983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7" name="Google Shape;867;p36"/>
          <p:cNvSpPr/>
          <p:nvPr/>
        </p:nvSpPr>
        <p:spPr>
          <a:xfrm rot="5400000">
            <a:off x="72732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36"/>
          <p:cNvSpPr/>
          <p:nvPr/>
        </p:nvSpPr>
        <p:spPr>
          <a:xfrm rot="5400000">
            <a:off x="74481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36"/>
          <p:cNvSpPr/>
          <p:nvPr/>
        </p:nvSpPr>
        <p:spPr>
          <a:xfrm rot="5400000">
            <a:off x="76230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36"/>
          <p:cNvSpPr/>
          <p:nvPr/>
        </p:nvSpPr>
        <p:spPr>
          <a:xfrm rot="5400000">
            <a:off x="77979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36"/>
          <p:cNvSpPr/>
          <p:nvPr/>
        </p:nvSpPr>
        <p:spPr>
          <a:xfrm rot="5400000">
            <a:off x="79728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36"/>
          <p:cNvSpPr/>
          <p:nvPr/>
        </p:nvSpPr>
        <p:spPr>
          <a:xfrm rot="5400000">
            <a:off x="81477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36"/>
          <p:cNvSpPr/>
          <p:nvPr/>
        </p:nvSpPr>
        <p:spPr>
          <a:xfrm rot="5400000">
            <a:off x="83226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36"/>
          <p:cNvSpPr/>
          <p:nvPr/>
        </p:nvSpPr>
        <p:spPr>
          <a:xfrm rot="5400000">
            <a:off x="84975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36"/>
          <p:cNvSpPr/>
          <p:nvPr/>
        </p:nvSpPr>
        <p:spPr>
          <a:xfrm rot="5400000">
            <a:off x="86724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6" name="Google Shape;876;p36"/>
          <p:cNvSpPr/>
          <p:nvPr/>
        </p:nvSpPr>
        <p:spPr>
          <a:xfrm rot="5400000">
            <a:off x="58740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7" name="Google Shape;877;p36"/>
          <p:cNvSpPr/>
          <p:nvPr/>
        </p:nvSpPr>
        <p:spPr>
          <a:xfrm rot="5400000">
            <a:off x="60489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8" name="Google Shape;878;p36"/>
          <p:cNvSpPr/>
          <p:nvPr/>
        </p:nvSpPr>
        <p:spPr>
          <a:xfrm rot="5400000">
            <a:off x="62238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9" name="Google Shape;879;p36"/>
          <p:cNvSpPr/>
          <p:nvPr/>
        </p:nvSpPr>
        <p:spPr>
          <a:xfrm rot="5400000">
            <a:off x="63987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0" name="Google Shape;880;p36"/>
          <p:cNvSpPr/>
          <p:nvPr/>
        </p:nvSpPr>
        <p:spPr>
          <a:xfrm rot="5400000">
            <a:off x="65736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1" name="Google Shape;881;p36"/>
          <p:cNvSpPr/>
          <p:nvPr/>
        </p:nvSpPr>
        <p:spPr>
          <a:xfrm rot="5400000">
            <a:off x="67485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36"/>
          <p:cNvSpPr/>
          <p:nvPr/>
        </p:nvSpPr>
        <p:spPr>
          <a:xfrm rot="5400000">
            <a:off x="69234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3" name="Google Shape;883;p36"/>
          <p:cNvSpPr/>
          <p:nvPr/>
        </p:nvSpPr>
        <p:spPr>
          <a:xfrm rot="5400000">
            <a:off x="70983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36"/>
          <p:cNvSpPr/>
          <p:nvPr/>
        </p:nvSpPr>
        <p:spPr>
          <a:xfrm rot="5400000">
            <a:off x="72732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5" name="Google Shape;885;p36"/>
          <p:cNvSpPr/>
          <p:nvPr/>
        </p:nvSpPr>
        <p:spPr>
          <a:xfrm rot="5400000">
            <a:off x="74481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36"/>
          <p:cNvSpPr/>
          <p:nvPr/>
        </p:nvSpPr>
        <p:spPr>
          <a:xfrm rot="5400000">
            <a:off x="76230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36"/>
          <p:cNvSpPr/>
          <p:nvPr/>
        </p:nvSpPr>
        <p:spPr>
          <a:xfrm rot="5400000">
            <a:off x="77979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8" name="Google Shape;888;p36"/>
          <p:cNvSpPr/>
          <p:nvPr/>
        </p:nvSpPr>
        <p:spPr>
          <a:xfrm rot="5400000">
            <a:off x="79728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36"/>
          <p:cNvSpPr/>
          <p:nvPr/>
        </p:nvSpPr>
        <p:spPr>
          <a:xfrm rot="5400000">
            <a:off x="81477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36"/>
          <p:cNvSpPr/>
          <p:nvPr/>
        </p:nvSpPr>
        <p:spPr>
          <a:xfrm rot="5400000">
            <a:off x="83226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36"/>
          <p:cNvSpPr/>
          <p:nvPr/>
        </p:nvSpPr>
        <p:spPr>
          <a:xfrm rot="5400000">
            <a:off x="84975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2" name="Google Shape;892;p36"/>
          <p:cNvSpPr/>
          <p:nvPr/>
        </p:nvSpPr>
        <p:spPr>
          <a:xfrm rot="5400000">
            <a:off x="86724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36"/>
          <p:cNvSpPr/>
          <p:nvPr/>
        </p:nvSpPr>
        <p:spPr>
          <a:xfrm rot="5400000">
            <a:off x="8146993" y="4219050"/>
            <a:ext cx="435900" cy="8757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4" name="Google Shape;894;p36"/>
          <p:cNvSpPr txBox="1"/>
          <p:nvPr/>
        </p:nvSpPr>
        <p:spPr>
          <a:xfrm>
            <a:off x="77700" y="435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ack(111) from resent 101: Back to normal.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5.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115.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36"/>
          <p:cNvSpPr txBox="1"/>
          <p:nvPr/>
        </p:nvSpPr>
        <p:spPr>
          <a:xfrm>
            <a:off x="78350" y="2831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109: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13.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113!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36"/>
          <p:cNvSpPr/>
          <p:nvPr/>
        </p:nvSpPr>
        <p:spPr>
          <a:xfrm rot="5400000">
            <a:off x="58740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36"/>
          <p:cNvSpPr/>
          <p:nvPr/>
        </p:nvSpPr>
        <p:spPr>
          <a:xfrm rot="5400000">
            <a:off x="60489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36"/>
          <p:cNvSpPr/>
          <p:nvPr/>
        </p:nvSpPr>
        <p:spPr>
          <a:xfrm rot="5400000">
            <a:off x="62238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36"/>
          <p:cNvSpPr/>
          <p:nvPr/>
        </p:nvSpPr>
        <p:spPr>
          <a:xfrm rot="5400000">
            <a:off x="63987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36"/>
          <p:cNvSpPr/>
          <p:nvPr/>
        </p:nvSpPr>
        <p:spPr>
          <a:xfrm rot="5400000">
            <a:off x="65736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1" name="Google Shape;901;p36"/>
          <p:cNvSpPr/>
          <p:nvPr/>
        </p:nvSpPr>
        <p:spPr>
          <a:xfrm rot="5400000">
            <a:off x="67485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2" name="Google Shape;902;p36"/>
          <p:cNvSpPr/>
          <p:nvPr/>
        </p:nvSpPr>
        <p:spPr>
          <a:xfrm rot="5400000">
            <a:off x="69234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36"/>
          <p:cNvSpPr/>
          <p:nvPr/>
        </p:nvSpPr>
        <p:spPr>
          <a:xfrm rot="5400000">
            <a:off x="70983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4" name="Google Shape;904;p36"/>
          <p:cNvSpPr/>
          <p:nvPr/>
        </p:nvSpPr>
        <p:spPr>
          <a:xfrm rot="5400000">
            <a:off x="72732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5" name="Google Shape;905;p36"/>
          <p:cNvSpPr/>
          <p:nvPr/>
        </p:nvSpPr>
        <p:spPr>
          <a:xfrm rot="5400000">
            <a:off x="74481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36"/>
          <p:cNvSpPr/>
          <p:nvPr/>
        </p:nvSpPr>
        <p:spPr>
          <a:xfrm rot="5400000">
            <a:off x="76230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36"/>
          <p:cNvSpPr/>
          <p:nvPr/>
        </p:nvSpPr>
        <p:spPr>
          <a:xfrm rot="5400000">
            <a:off x="77979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8" name="Google Shape;908;p36"/>
          <p:cNvSpPr/>
          <p:nvPr/>
        </p:nvSpPr>
        <p:spPr>
          <a:xfrm rot="5400000">
            <a:off x="79728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9" name="Google Shape;909;p36"/>
          <p:cNvSpPr/>
          <p:nvPr/>
        </p:nvSpPr>
        <p:spPr>
          <a:xfrm rot="5400000">
            <a:off x="81477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0" name="Google Shape;910;p36"/>
          <p:cNvSpPr/>
          <p:nvPr/>
        </p:nvSpPr>
        <p:spPr>
          <a:xfrm rot="5400000">
            <a:off x="83226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36"/>
          <p:cNvSpPr/>
          <p:nvPr/>
        </p:nvSpPr>
        <p:spPr>
          <a:xfrm rot="5400000">
            <a:off x="84975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p36"/>
          <p:cNvSpPr/>
          <p:nvPr/>
        </p:nvSpPr>
        <p:spPr>
          <a:xfrm rot="5400000">
            <a:off x="86724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3" name="Google Shape;913;p36"/>
          <p:cNvSpPr txBox="1"/>
          <p:nvPr/>
        </p:nvSpPr>
        <p:spPr>
          <a:xfrm>
            <a:off x="78350" y="2069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108: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12.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112!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4" name="Google Shape;914;p36"/>
          <p:cNvSpPr/>
          <p:nvPr/>
        </p:nvSpPr>
        <p:spPr>
          <a:xfrm rot="5400000">
            <a:off x="58740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5" name="Google Shape;915;p36"/>
          <p:cNvSpPr/>
          <p:nvPr/>
        </p:nvSpPr>
        <p:spPr>
          <a:xfrm rot="5400000">
            <a:off x="60489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6" name="Google Shape;916;p36"/>
          <p:cNvSpPr/>
          <p:nvPr/>
        </p:nvSpPr>
        <p:spPr>
          <a:xfrm rot="5400000">
            <a:off x="62238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7" name="Google Shape;917;p36"/>
          <p:cNvSpPr/>
          <p:nvPr/>
        </p:nvSpPr>
        <p:spPr>
          <a:xfrm rot="5400000">
            <a:off x="63987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8" name="Google Shape;918;p36"/>
          <p:cNvSpPr/>
          <p:nvPr/>
        </p:nvSpPr>
        <p:spPr>
          <a:xfrm rot="5400000">
            <a:off x="65736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9" name="Google Shape;919;p36"/>
          <p:cNvSpPr/>
          <p:nvPr/>
        </p:nvSpPr>
        <p:spPr>
          <a:xfrm rot="5400000">
            <a:off x="67485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0" name="Google Shape;920;p36"/>
          <p:cNvSpPr/>
          <p:nvPr/>
        </p:nvSpPr>
        <p:spPr>
          <a:xfrm rot="5400000">
            <a:off x="69234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1" name="Google Shape;921;p36"/>
          <p:cNvSpPr/>
          <p:nvPr/>
        </p:nvSpPr>
        <p:spPr>
          <a:xfrm rot="5400000">
            <a:off x="70983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2" name="Google Shape;922;p36"/>
          <p:cNvSpPr/>
          <p:nvPr/>
        </p:nvSpPr>
        <p:spPr>
          <a:xfrm rot="5400000">
            <a:off x="72732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36"/>
          <p:cNvSpPr/>
          <p:nvPr/>
        </p:nvSpPr>
        <p:spPr>
          <a:xfrm rot="5400000">
            <a:off x="74481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36"/>
          <p:cNvSpPr/>
          <p:nvPr/>
        </p:nvSpPr>
        <p:spPr>
          <a:xfrm rot="5400000">
            <a:off x="76230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5" name="Google Shape;925;p36"/>
          <p:cNvSpPr/>
          <p:nvPr/>
        </p:nvSpPr>
        <p:spPr>
          <a:xfrm rot="5400000">
            <a:off x="77979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36"/>
          <p:cNvSpPr/>
          <p:nvPr/>
        </p:nvSpPr>
        <p:spPr>
          <a:xfrm rot="5400000">
            <a:off x="79728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7" name="Google Shape;927;p36"/>
          <p:cNvSpPr/>
          <p:nvPr/>
        </p:nvSpPr>
        <p:spPr>
          <a:xfrm rot="5400000">
            <a:off x="81477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8" name="Google Shape;928;p36"/>
          <p:cNvSpPr/>
          <p:nvPr/>
        </p:nvSpPr>
        <p:spPr>
          <a:xfrm rot="5400000">
            <a:off x="83226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9" name="Google Shape;929;p36"/>
          <p:cNvSpPr/>
          <p:nvPr/>
        </p:nvSpPr>
        <p:spPr>
          <a:xfrm rot="5400000">
            <a:off x="84975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36"/>
          <p:cNvSpPr/>
          <p:nvPr/>
        </p:nvSpPr>
        <p:spPr>
          <a:xfrm rot="5400000">
            <a:off x="86724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1" name="Google Shape;931;p36"/>
          <p:cNvSpPr txBox="1"/>
          <p:nvPr/>
        </p:nvSpPr>
        <p:spPr>
          <a:xfrm>
            <a:off x="78350" y="1307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107: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11.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111!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36"/>
          <p:cNvSpPr/>
          <p:nvPr/>
        </p:nvSpPr>
        <p:spPr>
          <a:xfrm rot="5400000">
            <a:off x="58740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36"/>
          <p:cNvSpPr/>
          <p:nvPr/>
        </p:nvSpPr>
        <p:spPr>
          <a:xfrm rot="5400000">
            <a:off x="60489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36"/>
          <p:cNvSpPr/>
          <p:nvPr/>
        </p:nvSpPr>
        <p:spPr>
          <a:xfrm rot="5400000">
            <a:off x="62238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36"/>
          <p:cNvSpPr/>
          <p:nvPr/>
        </p:nvSpPr>
        <p:spPr>
          <a:xfrm rot="5400000">
            <a:off x="63987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36"/>
          <p:cNvSpPr/>
          <p:nvPr/>
        </p:nvSpPr>
        <p:spPr>
          <a:xfrm rot="5400000">
            <a:off x="65736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7" name="Google Shape;937;p36"/>
          <p:cNvSpPr/>
          <p:nvPr/>
        </p:nvSpPr>
        <p:spPr>
          <a:xfrm rot="5400000">
            <a:off x="67485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36"/>
          <p:cNvSpPr/>
          <p:nvPr/>
        </p:nvSpPr>
        <p:spPr>
          <a:xfrm rot="5400000">
            <a:off x="69234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9" name="Google Shape;939;p36"/>
          <p:cNvSpPr/>
          <p:nvPr/>
        </p:nvSpPr>
        <p:spPr>
          <a:xfrm rot="5400000">
            <a:off x="70983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36"/>
          <p:cNvSpPr/>
          <p:nvPr/>
        </p:nvSpPr>
        <p:spPr>
          <a:xfrm rot="5400000">
            <a:off x="72732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36"/>
          <p:cNvSpPr/>
          <p:nvPr/>
        </p:nvSpPr>
        <p:spPr>
          <a:xfrm rot="5400000">
            <a:off x="74481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2" name="Google Shape;942;p36"/>
          <p:cNvSpPr/>
          <p:nvPr/>
        </p:nvSpPr>
        <p:spPr>
          <a:xfrm rot="5400000">
            <a:off x="76230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3" name="Google Shape;943;p36"/>
          <p:cNvSpPr/>
          <p:nvPr/>
        </p:nvSpPr>
        <p:spPr>
          <a:xfrm rot="5400000">
            <a:off x="77979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4" name="Google Shape;944;p36"/>
          <p:cNvSpPr/>
          <p:nvPr/>
        </p:nvSpPr>
        <p:spPr>
          <a:xfrm rot="5400000">
            <a:off x="79728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36"/>
          <p:cNvSpPr/>
          <p:nvPr/>
        </p:nvSpPr>
        <p:spPr>
          <a:xfrm rot="5400000">
            <a:off x="81477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6" name="Google Shape;946;p36"/>
          <p:cNvSpPr/>
          <p:nvPr/>
        </p:nvSpPr>
        <p:spPr>
          <a:xfrm rot="5400000">
            <a:off x="83226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7" name="Google Shape;947;p36"/>
          <p:cNvSpPr/>
          <p:nvPr/>
        </p:nvSpPr>
        <p:spPr>
          <a:xfrm rot="5400000">
            <a:off x="84975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8" name="Google Shape;948;p36"/>
          <p:cNvSpPr/>
          <p:nvPr/>
        </p:nvSpPr>
        <p:spPr>
          <a:xfrm rot="5400000">
            <a:off x="86724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36"/>
          <p:cNvSpPr txBox="1"/>
          <p:nvPr/>
        </p:nvSpPr>
        <p:spPr>
          <a:xfrm>
            <a:off x="78350" y="54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106: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10.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Can't send anything new.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36"/>
          <p:cNvSpPr/>
          <p:nvPr/>
        </p:nvSpPr>
        <p:spPr>
          <a:xfrm rot="5400000">
            <a:off x="7447202" y="1758600"/>
            <a:ext cx="435900" cy="12246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36"/>
          <p:cNvSpPr/>
          <p:nvPr/>
        </p:nvSpPr>
        <p:spPr>
          <a:xfrm rot="5400000">
            <a:off x="6399030" y="1934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36"/>
          <p:cNvSpPr/>
          <p:nvPr/>
        </p:nvSpPr>
        <p:spPr>
          <a:xfrm rot="5400000">
            <a:off x="7534725" y="2433000"/>
            <a:ext cx="435900" cy="1399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36"/>
          <p:cNvSpPr/>
          <p:nvPr/>
        </p:nvSpPr>
        <p:spPr>
          <a:xfrm rot="5400000">
            <a:off x="6399030" y="2696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36"/>
          <p:cNvSpPr/>
          <p:nvPr/>
        </p:nvSpPr>
        <p:spPr>
          <a:xfrm rot="5400000">
            <a:off x="7622450" y="3107250"/>
            <a:ext cx="435900" cy="15753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5" name="Google Shape;955;p36"/>
          <p:cNvSpPr/>
          <p:nvPr/>
        </p:nvSpPr>
        <p:spPr>
          <a:xfrm rot="5400000">
            <a:off x="6399030" y="3458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6" name="Google Shape;956;p36"/>
          <p:cNvSpPr/>
          <p:nvPr/>
        </p:nvSpPr>
        <p:spPr>
          <a:xfrm rot="5400000">
            <a:off x="7359075" y="1084800"/>
            <a:ext cx="435900" cy="10482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7" name="Google Shape;957;p36"/>
          <p:cNvSpPr/>
          <p:nvPr/>
        </p:nvSpPr>
        <p:spPr>
          <a:xfrm rot="5400000">
            <a:off x="6399030" y="1172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8" name="Google Shape;958;p36"/>
          <p:cNvSpPr/>
          <p:nvPr/>
        </p:nvSpPr>
        <p:spPr>
          <a:xfrm rot="5400000">
            <a:off x="7272300" y="409500"/>
            <a:ext cx="435900" cy="874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9" name="Google Shape;959;p36"/>
          <p:cNvSpPr/>
          <p:nvPr/>
        </p:nvSpPr>
        <p:spPr>
          <a:xfrm rot="5400000">
            <a:off x="6399030" y="410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 Fast Recovery</a:t>
            </a:r>
            <a:endParaRPr/>
          </a:p>
        </p:txBody>
      </p:sp>
      <p:sp>
        <p:nvSpPr>
          <p:cNvPr id="965" name="Google Shape;965;p37"/>
          <p:cNvSpPr/>
          <p:nvPr/>
        </p:nvSpPr>
        <p:spPr>
          <a:xfrm rot="5400000">
            <a:off x="58581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6" name="Google Shape;966;p37"/>
          <p:cNvSpPr/>
          <p:nvPr/>
        </p:nvSpPr>
        <p:spPr>
          <a:xfrm rot="5400000">
            <a:off x="60330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37"/>
          <p:cNvSpPr/>
          <p:nvPr/>
        </p:nvSpPr>
        <p:spPr>
          <a:xfrm rot="5400000">
            <a:off x="62079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37"/>
          <p:cNvSpPr/>
          <p:nvPr/>
        </p:nvSpPr>
        <p:spPr>
          <a:xfrm rot="5400000">
            <a:off x="63828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37"/>
          <p:cNvSpPr/>
          <p:nvPr/>
        </p:nvSpPr>
        <p:spPr>
          <a:xfrm rot="5400000">
            <a:off x="65577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37"/>
          <p:cNvSpPr/>
          <p:nvPr/>
        </p:nvSpPr>
        <p:spPr>
          <a:xfrm rot="5400000">
            <a:off x="67326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37"/>
          <p:cNvSpPr/>
          <p:nvPr/>
        </p:nvSpPr>
        <p:spPr>
          <a:xfrm rot="5400000">
            <a:off x="69075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37"/>
          <p:cNvSpPr/>
          <p:nvPr/>
        </p:nvSpPr>
        <p:spPr>
          <a:xfrm rot="5400000">
            <a:off x="70824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37"/>
          <p:cNvSpPr/>
          <p:nvPr/>
        </p:nvSpPr>
        <p:spPr>
          <a:xfrm rot="5400000">
            <a:off x="72573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37"/>
          <p:cNvSpPr/>
          <p:nvPr/>
        </p:nvSpPr>
        <p:spPr>
          <a:xfrm rot="5400000">
            <a:off x="74322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37"/>
          <p:cNvSpPr/>
          <p:nvPr/>
        </p:nvSpPr>
        <p:spPr>
          <a:xfrm rot="5400000">
            <a:off x="76071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6" name="Google Shape;976;p37"/>
          <p:cNvSpPr/>
          <p:nvPr/>
        </p:nvSpPr>
        <p:spPr>
          <a:xfrm rot="5400000">
            <a:off x="77820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37"/>
          <p:cNvSpPr/>
          <p:nvPr/>
        </p:nvSpPr>
        <p:spPr>
          <a:xfrm rot="5400000">
            <a:off x="79569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37"/>
          <p:cNvSpPr/>
          <p:nvPr/>
        </p:nvSpPr>
        <p:spPr>
          <a:xfrm rot="5400000">
            <a:off x="81318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9" name="Google Shape;979;p37"/>
          <p:cNvSpPr/>
          <p:nvPr/>
        </p:nvSpPr>
        <p:spPr>
          <a:xfrm rot="5400000">
            <a:off x="83067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0" name="Google Shape;980;p37"/>
          <p:cNvSpPr/>
          <p:nvPr/>
        </p:nvSpPr>
        <p:spPr>
          <a:xfrm rot="5400000">
            <a:off x="84816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37"/>
          <p:cNvSpPr/>
          <p:nvPr/>
        </p:nvSpPr>
        <p:spPr>
          <a:xfrm rot="5400000">
            <a:off x="86565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2" name="Google Shape;982;p37"/>
          <p:cNvSpPr/>
          <p:nvPr/>
        </p:nvSpPr>
        <p:spPr>
          <a:xfrm rot="5400000">
            <a:off x="5858150" y="4517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3" name="Google Shape;983;p37"/>
          <p:cNvSpPr/>
          <p:nvPr/>
        </p:nvSpPr>
        <p:spPr>
          <a:xfrm rot="5400000">
            <a:off x="60330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37"/>
          <p:cNvSpPr/>
          <p:nvPr/>
        </p:nvSpPr>
        <p:spPr>
          <a:xfrm rot="5400000">
            <a:off x="62079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5" name="Google Shape;985;p37"/>
          <p:cNvSpPr/>
          <p:nvPr/>
        </p:nvSpPr>
        <p:spPr>
          <a:xfrm rot="5400000">
            <a:off x="63828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6" name="Google Shape;986;p37"/>
          <p:cNvSpPr/>
          <p:nvPr/>
        </p:nvSpPr>
        <p:spPr>
          <a:xfrm rot="5400000">
            <a:off x="65577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37"/>
          <p:cNvSpPr/>
          <p:nvPr/>
        </p:nvSpPr>
        <p:spPr>
          <a:xfrm rot="5400000">
            <a:off x="67326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37"/>
          <p:cNvSpPr/>
          <p:nvPr/>
        </p:nvSpPr>
        <p:spPr>
          <a:xfrm rot="5400000">
            <a:off x="69075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37"/>
          <p:cNvSpPr/>
          <p:nvPr/>
        </p:nvSpPr>
        <p:spPr>
          <a:xfrm rot="5400000">
            <a:off x="70824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0" name="Google Shape;990;p37"/>
          <p:cNvSpPr/>
          <p:nvPr/>
        </p:nvSpPr>
        <p:spPr>
          <a:xfrm rot="5400000">
            <a:off x="72573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37"/>
          <p:cNvSpPr/>
          <p:nvPr/>
        </p:nvSpPr>
        <p:spPr>
          <a:xfrm rot="5400000">
            <a:off x="74322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37"/>
          <p:cNvSpPr/>
          <p:nvPr/>
        </p:nvSpPr>
        <p:spPr>
          <a:xfrm rot="5400000">
            <a:off x="76071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37"/>
          <p:cNvSpPr/>
          <p:nvPr/>
        </p:nvSpPr>
        <p:spPr>
          <a:xfrm rot="5400000">
            <a:off x="77820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37"/>
          <p:cNvSpPr/>
          <p:nvPr/>
        </p:nvSpPr>
        <p:spPr>
          <a:xfrm rot="5400000">
            <a:off x="79569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5" name="Google Shape;995;p37"/>
          <p:cNvSpPr/>
          <p:nvPr/>
        </p:nvSpPr>
        <p:spPr>
          <a:xfrm rot="5400000">
            <a:off x="81318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6" name="Google Shape;996;p37"/>
          <p:cNvSpPr/>
          <p:nvPr/>
        </p:nvSpPr>
        <p:spPr>
          <a:xfrm rot="5400000">
            <a:off x="83067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37"/>
          <p:cNvSpPr/>
          <p:nvPr/>
        </p:nvSpPr>
        <p:spPr>
          <a:xfrm rot="5400000">
            <a:off x="8481650" y="4517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8" name="Google Shape;998;p37"/>
          <p:cNvSpPr/>
          <p:nvPr/>
        </p:nvSpPr>
        <p:spPr>
          <a:xfrm rot="5400000">
            <a:off x="8656550" y="4517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9" name="Google Shape;999;p37"/>
          <p:cNvSpPr/>
          <p:nvPr/>
        </p:nvSpPr>
        <p:spPr>
          <a:xfrm rot="5400000">
            <a:off x="58581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0" name="Google Shape;1000;p37"/>
          <p:cNvSpPr/>
          <p:nvPr/>
        </p:nvSpPr>
        <p:spPr>
          <a:xfrm rot="5400000">
            <a:off x="60330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1" name="Google Shape;1001;p37"/>
          <p:cNvSpPr/>
          <p:nvPr/>
        </p:nvSpPr>
        <p:spPr>
          <a:xfrm rot="5400000">
            <a:off x="62079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2" name="Google Shape;1002;p37"/>
          <p:cNvSpPr/>
          <p:nvPr/>
        </p:nvSpPr>
        <p:spPr>
          <a:xfrm rot="5400000">
            <a:off x="63828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3" name="Google Shape;1003;p37"/>
          <p:cNvSpPr/>
          <p:nvPr/>
        </p:nvSpPr>
        <p:spPr>
          <a:xfrm rot="5400000">
            <a:off x="65577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4" name="Google Shape;1004;p37"/>
          <p:cNvSpPr/>
          <p:nvPr/>
        </p:nvSpPr>
        <p:spPr>
          <a:xfrm rot="5400000">
            <a:off x="67326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5" name="Google Shape;1005;p37"/>
          <p:cNvSpPr/>
          <p:nvPr/>
        </p:nvSpPr>
        <p:spPr>
          <a:xfrm rot="5400000">
            <a:off x="69075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6" name="Google Shape;1006;p37"/>
          <p:cNvSpPr/>
          <p:nvPr/>
        </p:nvSpPr>
        <p:spPr>
          <a:xfrm rot="5400000">
            <a:off x="70824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7" name="Google Shape;1007;p37"/>
          <p:cNvSpPr/>
          <p:nvPr/>
        </p:nvSpPr>
        <p:spPr>
          <a:xfrm rot="5400000">
            <a:off x="72573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37"/>
          <p:cNvSpPr/>
          <p:nvPr/>
        </p:nvSpPr>
        <p:spPr>
          <a:xfrm rot="5400000">
            <a:off x="74322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9" name="Google Shape;1009;p37"/>
          <p:cNvSpPr/>
          <p:nvPr/>
        </p:nvSpPr>
        <p:spPr>
          <a:xfrm rot="5400000">
            <a:off x="76071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0" name="Google Shape;1010;p37"/>
          <p:cNvSpPr/>
          <p:nvPr/>
        </p:nvSpPr>
        <p:spPr>
          <a:xfrm rot="5400000">
            <a:off x="77820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1" name="Google Shape;1011;p37"/>
          <p:cNvSpPr/>
          <p:nvPr/>
        </p:nvSpPr>
        <p:spPr>
          <a:xfrm rot="5400000">
            <a:off x="79569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37"/>
          <p:cNvSpPr/>
          <p:nvPr/>
        </p:nvSpPr>
        <p:spPr>
          <a:xfrm rot="5400000">
            <a:off x="81318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37"/>
          <p:cNvSpPr/>
          <p:nvPr/>
        </p:nvSpPr>
        <p:spPr>
          <a:xfrm rot="5400000">
            <a:off x="83067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4" name="Google Shape;1014;p37"/>
          <p:cNvSpPr/>
          <p:nvPr/>
        </p:nvSpPr>
        <p:spPr>
          <a:xfrm rot="5400000">
            <a:off x="84816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5" name="Google Shape;1015;p37"/>
          <p:cNvSpPr/>
          <p:nvPr/>
        </p:nvSpPr>
        <p:spPr>
          <a:xfrm rot="5400000">
            <a:off x="86565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37"/>
          <p:cNvSpPr/>
          <p:nvPr/>
        </p:nvSpPr>
        <p:spPr>
          <a:xfrm rot="5400000">
            <a:off x="58581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7" name="Google Shape;1017;p37"/>
          <p:cNvSpPr/>
          <p:nvPr/>
        </p:nvSpPr>
        <p:spPr>
          <a:xfrm rot="5400000">
            <a:off x="60330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8" name="Google Shape;1018;p37"/>
          <p:cNvSpPr/>
          <p:nvPr/>
        </p:nvSpPr>
        <p:spPr>
          <a:xfrm rot="5400000">
            <a:off x="62079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9" name="Google Shape;1019;p37"/>
          <p:cNvSpPr/>
          <p:nvPr/>
        </p:nvSpPr>
        <p:spPr>
          <a:xfrm rot="5400000">
            <a:off x="63828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37"/>
          <p:cNvSpPr/>
          <p:nvPr/>
        </p:nvSpPr>
        <p:spPr>
          <a:xfrm rot="5400000">
            <a:off x="65577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1" name="Google Shape;1021;p37"/>
          <p:cNvSpPr/>
          <p:nvPr/>
        </p:nvSpPr>
        <p:spPr>
          <a:xfrm rot="5400000">
            <a:off x="67326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2" name="Google Shape;1022;p37"/>
          <p:cNvSpPr/>
          <p:nvPr/>
        </p:nvSpPr>
        <p:spPr>
          <a:xfrm rot="5400000">
            <a:off x="69075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3" name="Google Shape;1023;p37"/>
          <p:cNvSpPr/>
          <p:nvPr/>
        </p:nvSpPr>
        <p:spPr>
          <a:xfrm rot="5400000">
            <a:off x="70824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37"/>
          <p:cNvSpPr/>
          <p:nvPr/>
        </p:nvSpPr>
        <p:spPr>
          <a:xfrm rot="5400000">
            <a:off x="72573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5" name="Google Shape;1025;p37"/>
          <p:cNvSpPr/>
          <p:nvPr/>
        </p:nvSpPr>
        <p:spPr>
          <a:xfrm rot="5400000">
            <a:off x="74322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6" name="Google Shape;1026;p37"/>
          <p:cNvSpPr/>
          <p:nvPr/>
        </p:nvSpPr>
        <p:spPr>
          <a:xfrm rot="5400000">
            <a:off x="76071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7" name="Google Shape;1027;p37"/>
          <p:cNvSpPr/>
          <p:nvPr/>
        </p:nvSpPr>
        <p:spPr>
          <a:xfrm rot="5400000">
            <a:off x="77820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8" name="Google Shape;1028;p37"/>
          <p:cNvSpPr/>
          <p:nvPr/>
        </p:nvSpPr>
        <p:spPr>
          <a:xfrm rot="5400000">
            <a:off x="79569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37"/>
          <p:cNvSpPr/>
          <p:nvPr/>
        </p:nvSpPr>
        <p:spPr>
          <a:xfrm rot="5400000">
            <a:off x="81318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0" name="Google Shape;1030;p37"/>
          <p:cNvSpPr/>
          <p:nvPr/>
        </p:nvSpPr>
        <p:spPr>
          <a:xfrm rot="5400000">
            <a:off x="83067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37"/>
          <p:cNvSpPr/>
          <p:nvPr/>
        </p:nvSpPr>
        <p:spPr>
          <a:xfrm rot="5400000">
            <a:off x="84816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2" name="Google Shape;1032;p37"/>
          <p:cNvSpPr/>
          <p:nvPr/>
        </p:nvSpPr>
        <p:spPr>
          <a:xfrm rot="5400000">
            <a:off x="86565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37"/>
          <p:cNvSpPr/>
          <p:nvPr/>
        </p:nvSpPr>
        <p:spPr>
          <a:xfrm rot="5400000">
            <a:off x="58581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37"/>
          <p:cNvSpPr/>
          <p:nvPr/>
        </p:nvSpPr>
        <p:spPr>
          <a:xfrm rot="5400000">
            <a:off x="60330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37"/>
          <p:cNvSpPr/>
          <p:nvPr/>
        </p:nvSpPr>
        <p:spPr>
          <a:xfrm rot="5400000">
            <a:off x="62079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37"/>
          <p:cNvSpPr/>
          <p:nvPr/>
        </p:nvSpPr>
        <p:spPr>
          <a:xfrm rot="5400000">
            <a:off x="63828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7" name="Google Shape;1037;p37"/>
          <p:cNvSpPr/>
          <p:nvPr/>
        </p:nvSpPr>
        <p:spPr>
          <a:xfrm rot="5400000">
            <a:off x="65577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8" name="Google Shape;1038;p37"/>
          <p:cNvSpPr/>
          <p:nvPr/>
        </p:nvSpPr>
        <p:spPr>
          <a:xfrm rot="5400000">
            <a:off x="67326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37"/>
          <p:cNvSpPr/>
          <p:nvPr/>
        </p:nvSpPr>
        <p:spPr>
          <a:xfrm rot="5400000">
            <a:off x="69075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37"/>
          <p:cNvSpPr/>
          <p:nvPr/>
        </p:nvSpPr>
        <p:spPr>
          <a:xfrm rot="5400000">
            <a:off x="70824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1" name="Google Shape;1041;p37"/>
          <p:cNvSpPr/>
          <p:nvPr/>
        </p:nvSpPr>
        <p:spPr>
          <a:xfrm rot="5400000">
            <a:off x="72573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37"/>
          <p:cNvSpPr/>
          <p:nvPr/>
        </p:nvSpPr>
        <p:spPr>
          <a:xfrm rot="5400000">
            <a:off x="74322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37"/>
          <p:cNvSpPr/>
          <p:nvPr/>
        </p:nvSpPr>
        <p:spPr>
          <a:xfrm rot="5400000">
            <a:off x="76071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4" name="Google Shape;1044;p37"/>
          <p:cNvSpPr/>
          <p:nvPr/>
        </p:nvSpPr>
        <p:spPr>
          <a:xfrm rot="5400000">
            <a:off x="77820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37"/>
          <p:cNvSpPr/>
          <p:nvPr/>
        </p:nvSpPr>
        <p:spPr>
          <a:xfrm rot="5400000">
            <a:off x="79569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37"/>
          <p:cNvSpPr/>
          <p:nvPr/>
        </p:nvSpPr>
        <p:spPr>
          <a:xfrm rot="5400000">
            <a:off x="81318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p37"/>
          <p:cNvSpPr/>
          <p:nvPr/>
        </p:nvSpPr>
        <p:spPr>
          <a:xfrm rot="5400000">
            <a:off x="83067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8" name="Google Shape;1048;p37"/>
          <p:cNvSpPr/>
          <p:nvPr/>
        </p:nvSpPr>
        <p:spPr>
          <a:xfrm rot="5400000">
            <a:off x="84816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37"/>
          <p:cNvSpPr/>
          <p:nvPr/>
        </p:nvSpPr>
        <p:spPr>
          <a:xfrm rot="5400000">
            <a:off x="86565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37"/>
          <p:cNvSpPr/>
          <p:nvPr/>
        </p:nvSpPr>
        <p:spPr>
          <a:xfrm rot="5400000">
            <a:off x="7431352" y="2772950"/>
            <a:ext cx="435900" cy="12246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37"/>
          <p:cNvSpPr/>
          <p:nvPr/>
        </p:nvSpPr>
        <p:spPr>
          <a:xfrm rot="5400000">
            <a:off x="6383180" y="29492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37"/>
          <p:cNvSpPr/>
          <p:nvPr/>
        </p:nvSpPr>
        <p:spPr>
          <a:xfrm rot="5400000">
            <a:off x="7518875" y="3294950"/>
            <a:ext cx="435900" cy="1399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37"/>
          <p:cNvSpPr/>
          <p:nvPr/>
        </p:nvSpPr>
        <p:spPr>
          <a:xfrm rot="5400000">
            <a:off x="6383180" y="35588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37"/>
          <p:cNvSpPr/>
          <p:nvPr/>
        </p:nvSpPr>
        <p:spPr>
          <a:xfrm rot="5400000">
            <a:off x="7606600" y="3816800"/>
            <a:ext cx="435900" cy="15753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37"/>
          <p:cNvSpPr/>
          <p:nvPr/>
        </p:nvSpPr>
        <p:spPr>
          <a:xfrm rot="5400000">
            <a:off x="6383180" y="41684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6" name="Google Shape;1056;p37"/>
          <p:cNvSpPr/>
          <p:nvPr/>
        </p:nvSpPr>
        <p:spPr>
          <a:xfrm rot="5400000">
            <a:off x="7343225" y="2251550"/>
            <a:ext cx="435900" cy="10482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37"/>
          <p:cNvSpPr/>
          <p:nvPr/>
        </p:nvSpPr>
        <p:spPr>
          <a:xfrm rot="5400000">
            <a:off x="6383180" y="23396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8" name="Google Shape;1058;p37"/>
          <p:cNvSpPr/>
          <p:nvPr/>
        </p:nvSpPr>
        <p:spPr>
          <a:xfrm rot="5400000">
            <a:off x="7256450" y="1728650"/>
            <a:ext cx="435900" cy="874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37"/>
          <p:cNvSpPr/>
          <p:nvPr/>
        </p:nvSpPr>
        <p:spPr>
          <a:xfrm rot="5400000">
            <a:off x="6383180" y="17300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37"/>
          <p:cNvSpPr/>
          <p:nvPr/>
        </p:nvSpPr>
        <p:spPr>
          <a:xfrm rot="5400000">
            <a:off x="58581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37"/>
          <p:cNvSpPr/>
          <p:nvPr/>
        </p:nvSpPr>
        <p:spPr>
          <a:xfrm rot="5400000">
            <a:off x="60330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37"/>
          <p:cNvSpPr/>
          <p:nvPr/>
        </p:nvSpPr>
        <p:spPr>
          <a:xfrm rot="5400000">
            <a:off x="6207950" y="859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3" name="Google Shape;1063;p37"/>
          <p:cNvSpPr/>
          <p:nvPr/>
        </p:nvSpPr>
        <p:spPr>
          <a:xfrm rot="5400000">
            <a:off x="6382850" y="859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4" name="Google Shape;1064;p37"/>
          <p:cNvSpPr/>
          <p:nvPr/>
        </p:nvSpPr>
        <p:spPr>
          <a:xfrm rot="5400000">
            <a:off x="6557750" y="859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5" name="Google Shape;1065;p37"/>
          <p:cNvSpPr/>
          <p:nvPr/>
        </p:nvSpPr>
        <p:spPr>
          <a:xfrm rot="5400000">
            <a:off x="67326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6" name="Google Shape;1066;p37"/>
          <p:cNvSpPr/>
          <p:nvPr/>
        </p:nvSpPr>
        <p:spPr>
          <a:xfrm rot="5400000">
            <a:off x="69075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7" name="Google Shape;1067;p37"/>
          <p:cNvSpPr/>
          <p:nvPr/>
        </p:nvSpPr>
        <p:spPr>
          <a:xfrm rot="5400000">
            <a:off x="70824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37"/>
          <p:cNvSpPr/>
          <p:nvPr/>
        </p:nvSpPr>
        <p:spPr>
          <a:xfrm rot="5400000">
            <a:off x="72573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9" name="Google Shape;1069;p37"/>
          <p:cNvSpPr/>
          <p:nvPr/>
        </p:nvSpPr>
        <p:spPr>
          <a:xfrm rot="5400000">
            <a:off x="74322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37"/>
          <p:cNvSpPr/>
          <p:nvPr/>
        </p:nvSpPr>
        <p:spPr>
          <a:xfrm rot="5400000">
            <a:off x="76071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1" name="Google Shape;1071;p37"/>
          <p:cNvSpPr/>
          <p:nvPr/>
        </p:nvSpPr>
        <p:spPr>
          <a:xfrm rot="5400000">
            <a:off x="77820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2" name="Google Shape;1072;p37"/>
          <p:cNvSpPr/>
          <p:nvPr/>
        </p:nvSpPr>
        <p:spPr>
          <a:xfrm rot="5400000">
            <a:off x="79569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3" name="Google Shape;1073;p37"/>
          <p:cNvSpPr/>
          <p:nvPr/>
        </p:nvSpPr>
        <p:spPr>
          <a:xfrm rot="5400000">
            <a:off x="81318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37"/>
          <p:cNvSpPr/>
          <p:nvPr/>
        </p:nvSpPr>
        <p:spPr>
          <a:xfrm rot="5400000">
            <a:off x="83067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37"/>
          <p:cNvSpPr/>
          <p:nvPr/>
        </p:nvSpPr>
        <p:spPr>
          <a:xfrm rot="5400000">
            <a:off x="84816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6" name="Google Shape;1076;p37"/>
          <p:cNvSpPr/>
          <p:nvPr/>
        </p:nvSpPr>
        <p:spPr>
          <a:xfrm rot="5400000">
            <a:off x="86565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7" name="Google Shape;1077;p37"/>
          <p:cNvSpPr/>
          <p:nvPr/>
        </p:nvSpPr>
        <p:spPr>
          <a:xfrm rot="5400000">
            <a:off x="58581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8" name="Google Shape;1078;p37"/>
          <p:cNvSpPr/>
          <p:nvPr/>
        </p:nvSpPr>
        <p:spPr>
          <a:xfrm rot="5400000">
            <a:off x="60330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9" name="Google Shape;1079;p37"/>
          <p:cNvSpPr/>
          <p:nvPr/>
        </p:nvSpPr>
        <p:spPr>
          <a:xfrm rot="5400000">
            <a:off x="62079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0" name="Google Shape;1080;p37"/>
          <p:cNvSpPr/>
          <p:nvPr/>
        </p:nvSpPr>
        <p:spPr>
          <a:xfrm rot="5400000">
            <a:off x="63828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1" name="Google Shape;1081;p37"/>
          <p:cNvSpPr/>
          <p:nvPr/>
        </p:nvSpPr>
        <p:spPr>
          <a:xfrm rot="5400000">
            <a:off x="65577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2" name="Google Shape;1082;p37"/>
          <p:cNvSpPr/>
          <p:nvPr/>
        </p:nvSpPr>
        <p:spPr>
          <a:xfrm rot="5400000">
            <a:off x="67326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3" name="Google Shape;1083;p37"/>
          <p:cNvSpPr/>
          <p:nvPr/>
        </p:nvSpPr>
        <p:spPr>
          <a:xfrm rot="5400000">
            <a:off x="69075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37"/>
          <p:cNvSpPr/>
          <p:nvPr/>
        </p:nvSpPr>
        <p:spPr>
          <a:xfrm rot="5400000">
            <a:off x="70824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37"/>
          <p:cNvSpPr/>
          <p:nvPr/>
        </p:nvSpPr>
        <p:spPr>
          <a:xfrm rot="5400000">
            <a:off x="72573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6" name="Google Shape;1086;p37"/>
          <p:cNvSpPr/>
          <p:nvPr/>
        </p:nvSpPr>
        <p:spPr>
          <a:xfrm rot="5400000">
            <a:off x="74322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7" name="Google Shape;1087;p37"/>
          <p:cNvSpPr/>
          <p:nvPr/>
        </p:nvSpPr>
        <p:spPr>
          <a:xfrm rot="5400000">
            <a:off x="76071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8" name="Google Shape;1088;p37"/>
          <p:cNvSpPr/>
          <p:nvPr/>
        </p:nvSpPr>
        <p:spPr>
          <a:xfrm rot="5400000">
            <a:off x="77820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9" name="Google Shape;1089;p37"/>
          <p:cNvSpPr/>
          <p:nvPr/>
        </p:nvSpPr>
        <p:spPr>
          <a:xfrm rot="5400000">
            <a:off x="79569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0" name="Google Shape;1090;p37"/>
          <p:cNvSpPr/>
          <p:nvPr/>
        </p:nvSpPr>
        <p:spPr>
          <a:xfrm rot="5400000">
            <a:off x="81318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1" name="Google Shape;1091;p37"/>
          <p:cNvSpPr/>
          <p:nvPr/>
        </p:nvSpPr>
        <p:spPr>
          <a:xfrm rot="5400000">
            <a:off x="83067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2" name="Google Shape;1092;p37"/>
          <p:cNvSpPr/>
          <p:nvPr/>
        </p:nvSpPr>
        <p:spPr>
          <a:xfrm rot="5400000">
            <a:off x="84816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3" name="Google Shape;1093;p37"/>
          <p:cNvSpPr/>
          <p:nvPr/>
        </p:nvSpPr>
        <p:spPr>
          <a:xfrm rot="5400000">
            <a:off x="86565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4" name="Google Shape;1094;p37"/>
          <p:cNvSpPr/>
          <p:nvPr/>
        </p:nvSpPr>
        <p:spPr>
          <a:xfrm rot="5400000">
            <a:off x="7082749" y="683300"/>
            <a:ext cx="435900" cy="5271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37"/>
          <p:cNvSpPr/>
          <p:nvPr/>
        </p:nvSpPr>
        <p:spPr>
          <a:xfrm rot="5400000">
            <a:off x="7169900" y="1205750"/>
            <a:ext cx="435900" cy="7014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37"/>
          <p:cNvSpPr/>
          <p:nvPr/>
        </p:nvSpPr>
        <p:spPr>
          <a:xfrm rot="5400000">
            <a:off x="6383180" y="5108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37"/>
          <p:cNvSpPr/>
          <p:nvPr/>
        </p:nvSpPr>
        <p:spPr>
          <a:xfrm rot="5400000">
            <a:off x="6383180" y="11204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729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Remember: The sender does </a:t>
            </a:r>
            <a:r>
              <a:rPr lang="en" i="1"/>
              <a:t>not</a:t>
            </a:r>
            <a:r>
              <a:rPr lang="en"/>
              <a:t> know exactly which packets were acked.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only sees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</a:t>
            </a:r>
            <a:r>
              <a:rPr lang="en" i="1"/>
              <a:t>does</a:t>
            </a:r>
            <a:r>
              <a:rPr lang="en"/>
              <a:t> know how many packets were acked.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can count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artificially extended window ensures that the total number of packets in flight is still 5 (the new </a:t>
            </a:r>
            <a:r>
              <a:rPr lang="en" i="1"/>
              <a:t>CWND</a:t>
            </a:r>
            <a:r>
              <a:rPr lang="en"/>
              <a:t>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    Size of extended window</a:t>
            </a:r>
            <a:br>
              <a:rPr lang="en"/>
            </a:br>
            <a:r>
              <a:rPr lang="en"/>
              <a:t>– number of duplicate acks</a:t>
            </a:r>
            <a:br>
              <a:rPr lang="en"/>
            </a:br>
            <a:r>
              <a:rPr lang="en"/>
              <a:t>= 5 (the new </a:t>
            </a:r>
            <a:r>
              <a:rPr lang="en" i="1"/>
              <a:t>CWND</a:t>
            </a:r>
            <a:r>
              <a:rPr lang="en"/>
              <a:t>).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p38"/>
          <p:cNvSpPr/>
          <p:nvPr/>
        </p:nvSpPr>
        <p:spPr>
          <a:xfrm>
            <a:off x="112250" y="461825"/>
            <a:ext cx="8862900" cy="2433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4" name="Google Shape;1104;p38"/>
          <p:cNvSpPr/>
          <p:nvPr/>
        </p:nvSpPr>
        <p:spPr>
          <a:xfrm>
            <a:off x="112250" y="2894825"/>
            <a:ext cx="8862900" cy="1556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5" name="Google Shape;1105;p38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6" name="Google Shape;1106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Fast Recovery: Windows With Fast Recovery</a:t>
            </a:r>
            <a:endParaRPr dirty="0"/>
          </a:p>
        </p:txBody>
      </p:sp>
      <p:cxnSp>
        <p:nvCxnSpPr>
          <p:cNvPr id="1107" name="Google Shape;1107;p38"/>
          <p:cNvCxnSpPr/>
          <p:nvPr/>
        </p:nvCxnSpPr>
        <p:spPr>
          <a:xfrm>
            <a:off x="5955738" y="560851"/>
            <a:ext cx="1186200" cy="153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08" name="Google Shape;1108;p38"/>
          <p:cNvCxnSpPr/>
          <p:nvPr/>
        </p:nvCxnSpPr>
        <p:spPr>
          <a:xfrm>
            <a:off x="5955738" y="72606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9" name="Google Shape;1109;p38"/>
          <p:cNvSpPr txBox="1"/>
          <p:nvPr/>
        </p:nvSpPr>
        <p:spPr>
          <a:xfrm>
            <a:off x="7143925" y="610551"/>
            <a:ext cx="1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</a:rPr>
              <a:t>✗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1110" name="Google Shape;1110;p38"/>
          <p:cNvSpPr txBox="1"/>
          <p:nvPr/>
        </p:nvSpPr>
        <p:spPr>
          <a:xfrm>
            <a:off x="5625725" y="450640"/>
            <a:ext cx="2985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1" name="Google Shape;1111;p38"/>
          <p:cNvSpPr txBox="1"/>
          <p:nvPr/>
        </p:nvSpPr>
        <p:spPr>
          <a:xfrm>
            <a:off x="4618867" y="23570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2" name="Google Shape;1112;p38"/>
          <p:cNvCxnSpPr/>
          <p:nvPr/>
        </p:nvCxnSpPr>
        <p:spPr>
          <a:xfrm>
            <a:off x="5955738" y="90516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3" name="Google Shape;1113;p38"/>
          <p:cNvCxnSpPr/>
          <p:nvPr/>
        </p:nvCxnSpPr>
        <p:spPr>
          <a:xfrm>
            <a:off x="5955738" y="108959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4" name="Google Shape;1114;p38"/>
          <p:cNvCxnSpPr/>
          <p:nvPr/>
        </p:nvCxnSpPr>
        <p:spPr>
          <a:xfrm>
            <a:off x="5955738" y="126869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5" name="Google Shape;1115;p38"/>
          <p:cNvCxnSpPr/>
          <p:nvPr/>
        </p:nvCxnSpPr>
        <p:spPr>
          <a:xfrm>
            <a:off x="5955738" y="145884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6" name="Google Shape;1116;p38"/>
          <p:cNvCxnSpPr/>
          <p:nvPr/>
        </p:nvCxnSpPr>
        <p:spPr>
          <a:xfrm>
            <a:off x="5955738" y="16379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7" name="Google Shape;1117;p38"/>
          <p:cNvCxnSpPr/>
          <p:nvPr/>
        </p:nvCxnSpPr>
        <p:spPr>
          <a:xfrm>
            <a:off x="5955738" y="20071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8" name="Google Shape;1118;p38"/>
          <p:cNvCxnSpPr/>
          <p:nvPr/>
        </p:nvCxnSpPr>
        <p:spPr>
          <a:xfrm>
            <a:off x="5955738" y="218629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9" name="Google Shape;1119;p38"/>
          <p:cNvCxnSpPr/>
          <p:nvPr/>
        </p:nvCxnSpPr>
        <p:spPr>
          <a:xfrm>
            <a:off x="5955738" y="182011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0" name="Google Shape;1120;p38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1" name="Google Shape;1121;p38"/>
          <p:cNvCxnSpPr/>
          <p:nvPr/>
        </p:nvCxnSpPr>
        <p:spPr>
          <a:xfrm flipH="1">
            <a:off x="5963238" y="11544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2" name="Google Shape;1122;p38"/>
          <p:cNvCxnSpPr/>
          <p:nvPr/>
        </p:nvCxnSpPr>
        <p:spPr>
          <a:xfrm flipH="1">
            <a:off x="5963238" y="133886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3" name="Google Shape;1123;p38"/>
          <p:cNvCxnSpPr/>
          <p:nvPr/>
        </p:nvCxnSpPr>
        <p:spPr>
          <a:xfrm flipH="1">
            <a:off x="5963238" y="151903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4" name="Google Shape;1124;p38"/>
          <p:cNvCxnSpPr/>
          <p:nvPr/>
        </p:nvCxnSpPr>
        <p:spPr>
          <a:xfrm flipH="1">
            <a:off x="5963238" y="1707054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5" name="Google Shape;1125;p38"/>
          <p:cNvCxnSpPr/>
          <p:nvPr/>
        </p:nvCxnSpPr>
        <p:spPr>
          <a:xfrm flipH="1">
            <a:off x="5963238" y="188439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6" name="Google Shape;1126;p38"/>
          <p:cNvCxnSpPr/>
          <p:nvPr/>
        </p:nvCxnSpPr>
        <p:spPr>
          <a:xfrm flipH="1">
            <a:off x="5963238" y="20688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7" name="Google Shape;1127;p38"/>
          <p:cNvCxnSpPr/>
          <p:nvPr/>
        </p:nvCxnSpPr>
        <p:spPr>
          <a:xfrm flipH="1">
            <a:off x="5963238" y="2248997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8" name="Google Shape;1128;p38"/>
          <p:cNvCxnSpPr/>
          <p:nvPr/>
        </p:nvCxnSpPr>
        <p:spPr>
          <a:xfrm flipH="1">
            <a:off x="5963238" y="2437019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9" name="Google Shape;1129;p38"/>
          <p:cNvCxnSpPr/>
          <p:nvPr/>
        </p:nvCxnSpPr>
        <p:spPr>
          <a:xfrm flipH="1">
            <a:off x="5963238" y="261931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0" name="Google Shape;1130;p38"/>
          <p:cNvCxnSpPr/>
          <p:nvPr/>
        </p:nvCxnSpPr>
        <p:spPr>
          <a:xfrm>
            <a:off x="5955738" y="28453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1" name="Google Shape;1131;p38"/>
          <p:cNvCxnSpPr/>
          <p:nvPr/>
        </p:nvCxnSpPr>
        <p:spPr>
          <a:xfrm flipH="1">
            <a:off x="5963238" y="326315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32" name="Google Shape;1132;p38"/>
          <p:cNvSpPr txBox="1"/>
          <p:nvPr/>
        </p:nvSpPr>
        <p:spPr>
          <a:xfrm>
            <a:off x="4618867" y="4451111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3" name="Google Shape;1133;p38"/>
          <p:cNvCxnSpPr/>
          <p:nvPr/>
        </p:nvCxnSpPr>
        <p:spPr>
          <a:xfrm>
            <a:off x="5955738" y="45979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34" name="Google Shape;1134;p38"/>
          <p:cNvSpPr/>
          <p:nvPr/>
        </p:nvSpPr>
        <p:spPr>
          <a:xfrm rot="5400000">
            <a:off x="202725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38"/>
          <p:cNvSpPr/>
          <p:nvPr/>
        </p:nvSpPr>
        <p:spPr>
          <a:xfrm rot="5400000">
            <a:off x="3791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38"/>
          <p:cNvSpPr/>
          <p:nvPr/>
        </p:nvSpPr>
        <p:spPr>
          <a:xfrm rot="5400000">
            <a:off x="5540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7" name="Google Shape;1137;p38"/>
          <p:cNvSpPr/>
          <p:nvPr/>
        </p:nvSpPr>
        <p:spPr>
          <a:xfrm rot="5400000">
            <a:off x="7289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38"/>
          <p:cNvSpPr/>
          <p:nvPr/>
        </p:nvSpPr>
        <p:spPr>
          <a:xfrm rot="5400000">
            <a:off x="9038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38"/>
          <p:cNvSpPr/>
          <p:nvPr/>
        </p:nvSpPr>
        <p:spPr>
          <a:xfrm rot="5400000">
            <a:off x="10787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38"/>
          <p:cNvSpPr/>
          <p:nvPr/>
        </p:nvSpPr>
        <p:spPr>
          <a:xfrm rot="5400000">
            <a:off x="12536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1" name="Google Shape;1141;p38"/>
          <p:cNvSpPr/>
          <p:nvPr/>
        </p:nvSpPr>
        <p:spPr>
          <a:xfrm rot="5400000">
            <a:off x="14285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2" name="Google Shape;1142;p38"/>
          <p:cNvSpPr/>
          <p:nvPr/>
        </p:nvSpPr>
        <p:spPr>
          <a:xfrm rot="5400000">
            <a:off x="16034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38"/>
          <p:cNvSpPr/>
          <p:nvPr/>
        </p:nvSpPr>
        <p:spPr>
          <a:xfrm rot="5400000">
            <a:off x="17783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38"/>
          <p:cNvSpPr/>
          <p:nvPr/>
        </p:nvSpPr>
        <p:spPr>
          <a:xfrm rot="5400000">
            <a:off x="19532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38"/>
          <p:cNvSpPr/>
          <p:nvPr/>
        </p:nvSpPr>
        <p:spPr>
          <a:xfrm rot="5400000">
            <a:off x="21281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38"/>
          <p:cNvSpPr/>
          <p:nvPr/>
        </p:nvSpPr>
        <p:spPr>
          <a:xfrm rot="5400000">
            <a:off x="23030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7" name="Google Shape;1147;p38"/>
          <p:cNvSpPr/>
          <p:nvPr/>
        </p:nvSpPr>
        <p:spPr>
          <a:xfrm rot="5400000">
            <a:off x="24779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8" name="Google Shape;1148;p38"/>
          <p:cNvSpPr/>
          <p:nvPr/>
        </p:nvSpPr>
        <p:spPr>
          <a:xfrm rot="5400000">
            <a:off x="26528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9" name="Google Shape;1149;p38"/>
          <p:cNvSpPr/>
          <p:nvPr/>
        </p:nvSpPr>
        <p:spPr>
          <a:xfrm rot="5400000">
            <a:off x="1341285" y="657900"/>
            <a:ext cx="5580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0" name="Google Shape;1150;p38"/>
          <p:cNvSpPr txBox="1"/>
          <p:nvPr/>
        </p:nvSpPr>
        <p:spPr>
          <a:xfrm>
            <a:off x="394275" y="10115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1" name="Google Shape;1151;p38"/>
          <p:cNvSpPr/>
          <p:nvPr/>
        </p:nvSpPr>
        <p:spPr>
          <a:xfrm rot="5400000">
            <a:off x="28277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2" name="Google Shape;1152;p38"/>
          <p:cNvSpPr/>
          <p:nvPr/>
        </p:nvSpPr>
        <p:spPr>
          <a:xfrm rot="5400000">
            <a:off x="30026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3" name="Google Shape;1153;p38"/>
          <p:cNvSpPr/>
          <p:nvPr/>
        </p:nvSpPr>
        <p:spPr>
          <a:xfrm rot="5400000">
            <a:off x="31775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4" name="Google Shape;1154;p38"/>
          <p:cNvSpPr/>
          <p:nvPr/>
        </p:nvSpPr>
        <p:spPr>
          <a:xfrm rot="5400000">
            <a:off x="202725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5" name="Google Shape;1155;p38"/>
          <p:cNvSpPr/>
          <p:nvPr/>
        </p:nvSpPr>
        <p:spPr>
          <a:xfrm rot="5400000">
            <a:off x="3791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38"/>
          <p:cNvSpPr/>
          <p:nvPr/>
        </p:nvSpPr>
        <p:spPr>
          <a:xfrm rot="5400000">
            <a:off x="5540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p38"/>
          <p:cNvSpPr/>
          <p:nvPr/>
        </p:nvSpPr>
        <p:spPr>
          <a:xfrm rot="5400000">
            <a:off x="7289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8" name="Google Shape;1158;p38"/>
          <p:cNvSpPr/>
          <p:nvPr/>
        </p:nvSpPr>
        <p:spPr>
          <a:xfrm rot="5400000">
            <a:off x="9038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38"/>
          <p:cNvSpPr/>
          <p:nvPr/>
        </p:nvSpPr>
        <p:spPr>
          <a:xfrm rot="5400000">
            <a:off x="10787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0" name="Google Shape;1160;p38"/>
          <p:cNvSpPr/>
          <p:nvPr/>
        </p:nvSpPr>
        <p:spPr>
          <a:xfrm rot="5400000">
            <a:off x="12536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1" name="Google Shape;1161;p38"/>
          <p:cNvSpPr/>
          <p:nvPr/>
        </p:nvSpPr>
        <p:spPr>
          <a:xfrm rot="5400000">
            <a:off x="14285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38"/>
          <p:cNvSpPr/>
          <p:nvPr/>
        </p:nvSpPr>
        <p:spPr>
          <a:xfrm rot="5400000">
            <a:off x="16034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3" name="Google Shape;1163;p38"/>
          <p:cNvSpPr/>
          <p:nvPr/>
        </p:nvSpPr>
        <p:spPr>
          <a:xfrm rot="5400000">
            <a:off x="17783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4" name="Google Shape;1164;p38"/>
          <p:cNvSpPr/>
          <p:nvPr/>
        </p:nvSpPr>
        <p:spPr>
          <a:xfrm rot="5400000">
            <a:off x="19532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5" name="Google Shape;1165;p38"/>
          <p:cNvSpPr/>
          <p:nvPr/>
        </p:nvSpPr>
        <p:spPr>
          <a:xfrm rot="5400000">
            <a:off x="21281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6" name="Google Shape;1166;p38"/>
          <p:cNvSpPr/>
          <p:nvPr/>
        </p:nvSpPr>
        <p:spPr>
          <a:xfrm rot="5400000">
            <a:off x="23030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7" name="Google Shape;1167;p38"/>
          <p:cNvSpPr/>
          <p:nvPr/>
        </p:nvSpPr>
        <p:spPr>
          <a:xfrm rot="5400000">
            <a:off x="24779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8" name="Google Shape;1168;p38"/>
          <p:cNvSpPr/>
          <p:nvPr/>
        </p:nvSpPr>
        <p:spPr>
          <a:xfrm rot="5400000">
            <a:off x="26528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9" name="Google Shape;1169;p38"/>
          <p:cNvSpPr/>
          <p:nvPr/>
        </p:nvSpPr>
        <p:spPr>
          <a:xfrm rot="5400000">
            <a:off x="28277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0" name="Google Shape;1170;p38"/>
          <p:cNvSpPr/>
          <p:nvPr/>
        </p:nvSpPr>
        <p:spPr>
          <a:xfrm rot="5400000">
            <a:off x="30026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1" name="Google Shape;1171;p38"/>
          <p:cNvSpPr/>
          <p:nvPr/>
        </p:nvSpPr>
        <p:spPr>
          <a:xfrm rot="5400000">
            <a:off x="31775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38"/>
          <p:cNvSpPr txBox="1"/>
          <p:nvPr/>
        </p:nvSpPr>
        <p:spPr>
          <a:xfrm>
            <a:off x="3781008" y="27209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38"/>
          <p:cNvSpPr txBox="1"/>
          <p:nvPr/>
        </p:nvSpPr>
        <p:spPr>
          <a:xfrm>
            <a:off x="394275" y="33737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14. 101–114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38"/>
          <p:cNvSpPr txBox="1">
            <a:spLocks noGrp="1"/>
          </p:cNvSpPr>
          <p:nvPr>
            <p:ph type="body" idx="4294967295"/>
          </p:nvPr>
        </p:nvSpPr>
        <p:spPr>
          <a:xfrm>
            <a:off x="107050" y="4374900"/>
            <a:ext cx="4378500" cy="6429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The sender is now still sending in the blue area!</a:t>
            </a:r>
            <a:endParaRPr sz="1600"/>
          </a:p>
        </p:txBody>
      </p:sp>
      <p:cxnSp>
        <p:nvCxnSpPr>
          <p:cNvPr id="1175" name="Google Shape;1175;p38"/>
          <p:cNvCxnSpPr/>
          <p:nvPr/>
        </p:nvCxnSpPr>
        <p:spPr>
          <a:xfrm>
            <a:off x="5955738" y="340053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6" name="Google Shape;1176;p38"/>
          <p:cNvCxnSpPr/>
          <p:nvPr/>
        </p:nvCxnSpPr>
        <p:spPr>
          <a:xfrm>
            <a:off x="5955738" y="357963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7" name="Google Shape;1177;p38"/>
          <p:cNvCxnSpPr/>
          <p:nvPr/>
        </p:nvCxnSpPr>
        <p:spPr>
          <a:xfrm>
            <a:off x="5955738" y="376979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8" name="Google Shape;1178;p38"/>
          <p:cNvCxnSpPr/>
          <p:nvPr/>
        </p:nvCxnSpPr>
        <p:spPr>
          <a:xfrm>
            <a:off x="5955738" y="394888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79" name="Google Shape;1179;p38"/>
          <p:cNvSpPr/>
          <p:nvPr/>
        </p:nvSpPr>
        <p:spPr>
          <a:xfrm rot="5400000">
            <a:off x="2126577" y="3107400"/>
            <a:ext cx="558000" cy="15717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38"/>
          <p:cNvSpPr/>
          <p:nvPr/>
        </p:nvSpPr>
        <p:spPr>
          <a:xfrm rot="5400000">
            <a:off x="904280" y="34572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172;p38">
            <a:extLst>
              <a:ext uri="{FF2B5EF4-FFF2-40B4-BE49-F238E27FC236}">
                <a16:creationId xmlns:a16="http://schemas.microsoft.com/office/drawing/2014/main" id="{C385316D-852C-4412-4404-7FEEB391DF88}"/>
              </a:ext>
            </a:extLst>
          </p:cNvPr>
          <p:cNvSpPr txBox="1"/>
          <p:nvPr/>
        </p:nvSpPr>
        <p:spPr>
          <a:xfrm>
            <a:off x="3914162" y="3274407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111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172;p38">
            <a:extLst>
              <a:ext uri="{FF2B5EF4-FFF2-40B4-BE49-F238E27FC236}">
                <a16:creationId xmlns:a16="http://schemas.microsoft.com/office/drawing/2014/main" id="{79E2ACF9-5449-9AB5-A90F-8E8B2D8D23C2}"/>
              </a:ext>
            </a:extLst>
          </p:cNvPr>
          <p:cNvSpPr txBox="1"/>
          <p:nvPr/>
        </p:nvSpPr>
        <p:spPr>
          <a:xfrm>
            <a:off x="3914162" y="3461753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112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172;p38">
            <a:extLst>
              <a:ext uri="{FF2B5EF4-FFF2-40B4-BE49-F238E27FC236}">
                <a16:creationId xmlns:a16="http://schemas.microsoft.com/office/drawing/2014/main" id="{FDB7A133-D54E-D248-AD05-027D66747C4F}"/>
              </a:ext>
            </a:extLst>
          </p:cNvPr>
          <p:cNvSpPr txBox="1"/>
          <p:nvPr/>
        </p:nvSpPr>
        <p:spPr>
          <a:xfrm>
            <a:off x="3914162" y="3649099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113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" name="Google Shape;1172;p38">
            <a:extLst>
              <a:ext uri="{FF2B5EF4-FFF2-40B4-BE49-F238E27FC236}">
                <a16:creationId xmlns:a16="http://schemas.microsoft.com/office/drawing/2014/main" id="{ED012750-5910-837E-2E1B-B6340C5242F9}"/>
              </a:ext>
            </a:extLst>
          </p:cNvPr>
          <p:cNvSpPr txBox="1"/>
          <p:nvPr/>
        </p:nvSpPr>
        <p:spPr>
          <a:xfrm>
            <a:off x="3914162" y="3836444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114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p39"/>
          <p:cNvSpPr/>
          <p:nvPr/>
        </p:nvSpPr>
        <p:spPr>
          <a:xfrm>
            <a:off x="112250" y="2825225"/>
            <a:ext cx="8862900" cy="22689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6" name="Google Shape;1186;p39"/>
          <p:cNvSpPr/>
          <p:nvPr/>
        </p:nvSpPr>
        <p:spPr>
          <a:xfrm>
            <a:off x="112250" y="461825"/>
            <a:ext cx="8862900" cy="2363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7" name="Google Shape;1187;p39"/>
          <p:cNvCxnSpPr/>
          <p:nvPr/>
        </p:nvCxnSpPr>
        <p:spPr>
          <a:xfrm>
            <a:off x="5962575" y="157263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88" name="Google Shape;1188;p39"/>
          <p:cNvCxnSpPr/>
          <p:nvPr/>
        </p:nvCxnSpPr>
        <p:spPr>
          <a:xfrm flipH="1">
            <a:off x="5962575" y="49832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9" name="Google Shape;1189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Fast Recovery: Windows With Fast Recovery</a:t>
            </a:r>
            <a:endParaRPr dirty="0"/>
          </a:p>
        </p:txBody>
      </p:sp>
      <p:sp>
        <p:nvSpPr>
          <p:cNvPr id="1190" name="Google Shape;1190;p39"/>
          <p:cNvSpPr txBox="1"/>
          <p:nvPr/>
        </p:nvSpPr>
        <p:spPr>
          <a:xfrm>
            <a:off x="4618867" y="10616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39"/>
          <p:cNvSpPr/>
          <p:nvPr/>
        </p:nvSpPr>
        <p:spPr>
          <a:xfrm rot="5400000">
            <a:off x="202725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39"/>
          <p:cNvSpPr/>
          <p:nvPr/>
        </p:nvSpPr>
        <p:spPr>
          <a:xfrm rot="5400000">
            <a:off x="379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3" name="Google Shape;1193;p39"/>
          <p:cNvSpPr/>
          <p:nvPr/>
        </p:nvSpPr>
        <p:spPr>
          <a:xfrm rot="5400000">
            <a:off x="5540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39"/>
          <p:cNvSpPr/>
          <p:nvPr/>
        </p:nvSpPr>
        <p:spPr>
          <a:xfrm rot="5400000">
            <a:off x="7289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39"/>
          <p:cNvSpPr/>
          <p:nvPr/>
        </p:nvSpPr>
        <p:spPr>
          <a:xfrm rot="5400000">
            <a:off x="9038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6" name="Google Shape;1196;p39"/>
          <p:cNvSpPr/>
          <p:nvPr/>
        </p:nvSpPr>
        <p:spPr>
          <a:xfrm rot="5400000">
            <a:off x="10787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7" name="Google Shape;1197;p39"/>
          <p:cNvSpPr/>
          <p:nvPr/>
        </p:nvSpPr>
        <p:spPr>
          <a:xfrm rot="5400000">
            <a:off x="12536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8" name="Google Shape;1198;p39"/>
          <p:cNvSpPr/>
          <p:nvPr/>
        </p:nvSpPr>
        <p:spPr>
          <a:xfrm rot="5400000">
            <a:off x="1428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9" name="Google Shape;1199;p39"/>
          <p:cNvSpPr/>
          <p:nvPr/>
        </p:nvSpPr>
        <p:spPr>
          <a:xfrm rot="5400000">
            <a:off x="16034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0" name="Google Shape;1200;p39"/>
          <p:cNvSpPr/>
          <p:nvPr/>
        </p:nvSpPr>
        <p:spPr>
          <a:xfrm rot="5400000">
            <a:off x="17783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1" name="Google Shape;1201;p39"/>
          <p:cNvSpPr/>
          <p:nvPr/>
        </p:nvSpPr>
        <p:spPr>
          <a:xfrm rot="5400000">
            <a:off x="19532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2" name="Google Shape;1202;p39"/>
          <p:cNvSpPr/>
          <p:nvPr/>
        </p:nvSpPr>
        <p:spPr>
          <a:xfrm rot="5400000">
            <a:off x="2128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3" name="Google Shape;1203;p39"/>
          <p:cNvSpPr/>
          <p:nvPr/>
        </p:nvSpPr>
        <p:spPr>
          <a:xfrm rot="5400000">
            <a:off x="23030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4" name="Google Shape;1204;p39"/>
          <p:cNvSpPr/>
          <p:nvPr/>
        </p:nvSpPr>
        <p:spPr>
          <a:xfrm rot="5400000">
            <a:off x="24779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5" name="Google Shape;1205;p39"/>
          <p:cNvSpPr/>
          <p:nvPr/>
        </p:nvSpPr>
        <p:spPr>
          <a:xfrm rot="5400000">
            <a:off x="26528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6" name="Google Shape;1206;p39"/>
          <p:cNvSpPr/>
          <p:nvPr/>
        </p:nvSpPr>
        <p:spPr>
          <a:xfrm rot="5400000">
            <a:off x="904280" y="13998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39"/>
          <p:cNvSpPr/>
          <p:nvPr/>
        </p:nvSpPr>
        <p:spPr>
          <a:xfrm rot="5400000">
            <a:off x="28277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8" name="Google Shape;1208;p39"/>
          <p:cNvSpPr/>
          <p:nvPr/>
        </p:nvSpPr>
        <p:spPr>
          <a:xfrm rot="5400000">
            <a:off x="30026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39"/>
          <p:cNvSpPr/>
          <p:nvPr/>
        </p:nvSpPr>
        <p:spPr>
          <a:xfrm rot="5400000">
            <a:off x="3177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0" name="Google Shape;1210;p39"/>
          <p:cNvSpPr txBox="1"/>
          <p:nvPr/>
        </p:nvSpPr>
        <p:spPr>
          <a:xfrm>
            <a:off x="3781008" y="14255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1" name="Google Shape;1211;p39"/>
          <p:cNvSpPr txBox="1"/>
          <p:nvPr/>
        </p:nvSpPr>
        <p:spPr>
          <a:xfrm>
            <a:off x="394275" y="13163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2" name="Google Shape;1212;p39"/>
          <p:cNvSpPr txBox="1">
            <a:spLocks noGrp="1"/>
          </p:cNvSpPr>
          <p:nvPr>
            <p:ph type="body" idx="4294967295"/>
          </p:nvPr>
        </p:nvSpPr>
        <p:spPr>
          <a:xfrm>
            <a:off x="107050" y="4109950"/>
            <a:ext cx="5730600" cy="9078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Because we sent 111–114 during the blue area, when the new ack(111) arrives, we only have to send 115.</a:t>
            </a:r>
            <a:br>
              <a:rPr lang="en" sz="1600"/>
            </a:br>
            <a:r>
              <a:rPr lang="en" sz="1600"/>
              <a:t>Also, ack(112) will arrive sooner so we can keep sending.</a:t>
            </a:r>
            <a:endParaRPr sz="1600"/>
          </a:p>
        </p:txBody>
      </p:sp>
      <p:cxnSp>
        <p:nvCxnSpPr>
          <p:cNvPr id="1213" name="Google Shape;1213;p39"/>
          <p:cNvCxnSpPr/>
          <p:nvPr/>
        </p:nvCxnSpPr>
        <p:spPr>
          <a:xfrm flipH="1">
            <a:off x="5962575" y="682760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4" name="Google Shape;1214;p39"/>
          <p:cNvCxnSpPr/>
          <p:nvPr/>
        </p:nvCxnSpPr>
        <p:spPr>
          <a:xfrm flipH="1">
            <a:off x="5962575" y="86971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5" name="Google Shape;1215;p39"/>
          <p:cNvCxnSpPr/>
          <p:nvPr/>
        </p:nvCxnSpPr>
        <p:spPr>
          <a:xfrm flipH="1">
            <a:off x="5962575" y="1054149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6" name="Google Shape;1216;p39"/>
          <p:cNvCxnSpPr/>
          <p:nvPr/>
        </p:nvCxnSpPr>
        <p:spPr>
          <a:xfrm flipH="1">
            <a:off x="5962575" y="12368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7" name="Google Shape;1217;p39"/>
          <p:cNvCxnSpPr/>
          <p:nvPr/>
        </p:nvCxnSpPr>
        <p:spPr>
          <a:xfrm flipH="1">
            <a:off x="5962575" y="142126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8" name="Google Shape;1218;p39"/>
          <p:cNvCxnSpPr/>
          <p:nvPr/>
        </p:nvCxnSpPr>
        <p:spPr>
          <a:xfrm flipH="1">
            <a:off x="5962575" y="159822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9" name="Google Shape;1219;p39"/>
          <p:cNvCxnSpPr/>
          <p:nvPr/>
        </p:nvCxnSpPr>
        <p:spPr>
          <a:xfrm flipH="1">
            <a:off x="5962575" y="178091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20" name="Google Shape;1220;p39"/>
          <p:cNvCxnSpPr/>
          <p:nvPr/>
        </p:nvCxnSpPr>
        <p:spPr>
          <a:xfrm flipH="1">
            <a:off x="5962575" y="19653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21" name="Google Shape;1221;p39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2" name="Google Shape;1222;p39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3" name="Google Shape;1223;p39"/>
          <p:cNvCxnSpPr/>
          <p:nvPr/>
        </p:nvCxnSpPr>
        <p:spPr>
          <a:xfrm flipH="1">
            <a:off x="5962575" y="22701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24" name="Google Shape;1224;p39"/>
          <p:cNvSpPr txBox="1"/>
          <p:nvPr/>
        </p:nvSpPr>
        <p:spPr>
          <a:xfrm>
            <a:off x="4618867" y="2825236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5" name="Google Shape;1225;p39"/>
          <p:cNvSpPr/>
          <p:nvPr/>
        </p:nvSpPr>
        <p:spPr>
          <a:xfrm rot="5400000">
            <a:off x="202725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6" name="Google Shape;1226;p39"/>
          <p:cNvSpPr/>
          <p:nvPr/>
        </p:nvSpPr>
        <p:spPr>
          <a:xfrm rot="5400000">
            <a:off x="379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7" name="Google Shape;1227;p39"/>
          <p:cNvSpPr/>
          <p:nvPr/>
        </p:nvSpPr>
        <p:spPr>
          <a:xfrm rot="5400000">
            <a:off x="5540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8" name="Google Shape;1228;p39"/>
          <p:cNvSpPr/>
          <p:nvPr/>
        </p:nvSpPr>
        <p:spPr>
          <a:xfrm rot="5400000">
            <a:off x="7289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9" name="Google Shape;1229;p39"/>
          <p:cNvSpPr/>
          <p:nvPr/>
        </p:nvSpPr>
        <p:spPr>
          <a:xfrm rot="5400000">
            <a:off x="9038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0" name="Google Shape;1230;p39"/>
          <p:cNvSpPr/>
          <p:nvPr/>
        </p:nvSpPr>
        <p:spPr>
          <a:xfrm rot="5400000">
            <a:off x="10787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1" name="Google Shape;1231;p39"/>
          <p:cNvSpPr/>
          <p:nvPr/>
        </p:nvSpPr>
        <p:spPr>
          <a:xfrm rot="5400000">
            <a:off x="12536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2" name="Google Shape;1232;p39"/>
          <p:cNvSpPr/>
          <p:nvPr/>
        </p:nvSpPr>
        <p:spPr>
          <a:xfrm rot="5400000">
            <a:off x="1428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3" name="Google Shape;1233;p39"/>
          <p:cNvSpPr/>
          <p:nvPr/>
        </p:nvSpPr>
        <p:spPr>
          <a:xfrm rot="5400000">
            <a:off x="16034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4" name="Google Shape;1234;p39"/>
          <p:cNvSpPr/>
          <p:nvPr/>
        </p:nvSpPr>
        <p:spPr>
          <a:xfrm rot="5400000">
            <a:off x="17783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5" name="Google Shape;1235;p39"/>
          <p:cNvSpPr/>
          <p:nvPr/>
        </p:nvSpPr>
        <p:spPr>
          <a:xfrm rot="5400000">
            <a:off x="19532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6" name="Google Shape;1236;p39"/>
          <p:cNvSpPr/>
          <p:nvPr/>
        </p:nvSpPr>
        <p:spPr>
          <a:xfrm rot="5400000">
            <a:off x="2128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7" name="Google Shape;1237;p39"/>
          <p:cNvSpPr/>
          <p:nvPr/>
        </p:nvSpPr>
        <p:spPr>
          <a:xfrm rot="5400000">
            <a:off x="23030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8" name="Google Shape;1238;p39"/>
          <p:cNvSpPr/>
          <p:nvPr/>
        </p:nvSpPr>
        <p:spPr>
          <a:xfrm rot="5400000">
            <a:off x="24779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9" name="Google Shape;1239;p39"/>
          <p:cNvSpPr/>
          <p:nvPr/>
        </p:nvSpPr>
        <p:spPr>
          <a:xfrm rot="5400000">
            <a:off x="26528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39"/>
          <p:cNvSpPr/>
          <p:nvPr/>
        </p:nvSpPr>
        <p:spPr>
          <a:xfrm rot="5400000">
            <a:off x="28277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39"/>
          <p:cNvSpPr/>
          <p:nvPr/>
        </p:nvSpPr>
        <p:spPr>
          <a:xfrm rot="5400000">
            <a:off x="30026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39"/>
          <p:cNvSpPr/>
          <p:nvPr/>
        </p:nvSpPr>
        <p:spPr>
          <a:xfrm rot="5400000">
            <a:off x="3177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3" name="Google Shape;1243;p39"/>
          <p:cNvSpPr txBox="1"/>
          <p:nvPr/>
        </p:nvSpPr>
        <p:spPr>
          <a:xfrm>
            <a:off x="394275" y="30689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111–115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4" name="Google Shape;1244;p39"/>
          <p:cNvSpPr/>
          <p:nvPr/>
        </p:nvSpPr>
        <p:spPr>
          <a:xfrm rot="5400000">
            <a:off x="2653418" y="3151950"/>
            <a:ext cx="558000" cy="8730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5" name="Google Shape;1245;p39"/>
          <p:cNvCxnSpPr/>
          <p:nvPr/>
        </p:nvCxnSpPr>
        <p:spPr>
          <a:xfrm>
            <a:off x="5962575" y="213275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6" name="Google Shape;1246;p39"/>
          <p:cNvCxnSpPr/>
          <p:nvPr/>
        </p:nvCxnSpPr>
        <p:spPr>
          <a:xfrm>
            <a:off x="5962575" y="231719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7" name="Google Shape;1247;p39"/>
          <p:cNvCxnSpPr/>
          <p:nvPr/>
        </p:nvCxnSpPr>
        <p:spPr>
          <a:xfrm>
            <a:off x="5962575" y="250414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8" name="Google Shape;1248;p39"/>
          <p:cNvCxnSpPr/>
          <p:nvPr/>
        </p:nvCxnSpPr>
        <p:spPr>
          <a:xfrm>
            <a:off x="5962575" y="2688582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9" name="Google Shape;1249;p39"/>
          <p:cNvCxnSpPr/>
          <p:nvPr/>
        </p:nvCxnSpPr>
        <p:spPr>
          <a:xfrm>
            <a:off x="5962575" y="29894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172;p38">
            <a:extLst>
              <a:ext uri="{FF2B5EF4-FFF2-40B4-BE49-F238E27FC236}">
                <a16:creationId xmlns:a16="http://schemas.microsoft.com/office/drawing/2014/main" id="{2F3AFF85-A226-E9FC-C554-7A3B84AAEEE8}"/>
              </a:ext>
            </a:extLst>
          </p:cNvPr>
          <p:cNvSpPr txBox="1"/>
          <p:nvPr/>
        </p:nvSpPr>
        <p:spPr>
          <a:xfrm>
            <a:off x="3921885" y="1972870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111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172;p38">
            <a:extLst>
              <a:ext uri="{FF2B5EF4-FFF2-40B4-BE49-F238E27FC236}">
                <a16:creationId xmlns:a16="http://schemas.microsoft.com/office/drawing/2014/main" id="{F6B4424A-EFE9-A1D1-33E1-1869C5958398}"/>
              </a:ext>
            </a:extLst>
          </p:cNvPr>
          <p:cNvSpPr txBox="1"/>
          <p:nvPr/>
        </p:nvSpPr>
        <p:spPr>
          <a:xfrm>
            <a:off x="3921885" y="2160216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112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172;p38">
            <a:extLst>
              <a:ext uri="{FF2B5EF4-FFF2-40B4-BE49-F238E27FC236}">
                <a16:creationId xmlns:a16="http://schemas.microsoft.com/office/drawing/2014/main" id="{CEAD3E77-172E-7845-A4A7-045AD6CBB2F2}"/>
              </a:ext>
            </a:extLst>
          </p:cNvPr>
          <p:cNvSpPr txBox="1"/>
          <p:nvPr/>
        </p:nvSpPr>
        <p:spPr>
          <a:xfrm>
            <a:off x="3921885" y="2347562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113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" name="Google Shape;1172;p38">
            <a:extLst>
              <a:ext uri="{FF2B5EF4-FFF2-40B4-BE49-F238E27FC236}">
                <a16:creationId xmlns:a16="http://schemas.microsoft.com/office/drawing/2014/main" id="{F4A77C83-7CC4-608B-DBFE-5F23FEE3ECD9}"/>
              </a:ext>
            </a:extLst>
          </p:cNvPr>
          <p:cNvSpPr txBox="1"/>
          <p:nvPr/>
        </p:nvSpPr>
        <p:spPr>
          <a:xfrm>
            <a:off x="3921885" y="2534907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114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8F8E-0568-C8E5-D853-2BCE5CF4A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0CBB5F-E653-6DB2-C93D-0E3ECE24B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939"/>
            <a:ext cx="4646341" cy="26034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84840E-C445-005B-7E6D-D083EFB7F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538326"/>
            <a:ext cx="4646342" cy="260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021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Recovery: Implementation</a:t>
            </a:r>
            <a:endParaRPr/>
          </a:p>
        </p:txBody>
      </p:sp>
      <p:sp>
        <p:nvSpPr>
          <p:cNvPr id="1255" name="Google Shape;1255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Conceptually: When a duplicate ack arrives, </a:t>
            </a:r>
            <a:r>
              <a:rPr lang="en" i="1"/>
              <a:t>artificially extend</a:t>
            </a:r>
            <a:r>
              <a:rPr lang="en"/>
              <a:t> the window to let the sender send one more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we receive 3 duplicate acks: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CWND</a:t>
            </a:r>
            <a:r>
              <a:rPr lang="en"/>
              <a:t>/2 </a:t>
            </a:r>
            <a:r>
              <a:rPr lang="en">
                <a:solidFill>
                  <a:schemeClr val="accent2"/>
                </a:solidFill>
              </a:rPr>
              <a:t>+ 3</a:t>
            </a:r>
            <a:r>
              <a:rPr lang="en"/>
              <a:t> 	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artificially extend for the 3 duplicate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While in fast recovery mode, when we receive a duplicate ack: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CWND</a:t>
            </a:r>
            <a:r>
              <a:rPr lang="en"/>
              <a:t> + 1	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artificially extend for each duplicate ack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Exit fast recovery when we receive a new, non-duplicate ack: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SSTHRESH</a:t>
            </a:r>
            <a:r>
              <a:rPr lang="en"/>
              <a:t>	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back to 0.5 × rate when the loss happened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4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Implementation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State Machine and Variants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TCP Throughput Model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Issues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Router-Assisted Congestion Control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61" name="Google Shape;1261;p4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Machine and Variants</a:t>
            </a:r>
            <a:endParaRPr/>
          </a:p>
        </p:txBody>
      </p:sp>
      <p:sp>
        <p:nvSpPr>
          <p:cNvPr id="1262" name="Google Shape;1262;p4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68" name="Google Shape;1268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sender maintains 5 values: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dupACKcount</a:t>
            </a:r>
            <a:r>
              <a:rPr lang="en" dirty="0"/>
              <a:t> for detecting loss. 		Initialized to 0.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Timer</a:t>
            </a:r>
            <a:r>
              <a:rPr lang="en" dirty="0"/>
              <a:t> for detecting loss.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RWND</a:t>
            </a:r>
            <a:r>
              <a:rPr lang="en" dirty="0"/>
              <a:t> for flow control.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CWND</a:t>
            </a:r>
            <a:r>
              <a:rPr lang="en" dirty="0"/>
              <a:t> for congestion control. 			Initialized to 1 packet.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SSTHRESH</a:t>
            </a:r>
            <a:r>
              <a:rPr lang="en" dirty="0"/>
              <a:t> to remember latest safe rate.		Initialized to ∞.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recipient maintains a buffer of out-of-order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sender responds to 3 events: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Ack for new data (not previously acked).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Duplicate ack.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Timeout.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recipient responds to receiving a packet: Reply with an ack and a </a:t>
            </a:r>
            <a:r>
              <a:rPr lang="en" i="1" dirty="0"/>
              <a:t>RWND</a:t>
            </a:r>
            <a:r>
              <a:rPr lang="en" dirty="0"/>
              <a:t> value.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74" name="Google Shape;1274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Events at sender: </a:t>
            </a:r>
            <a:r>
              <a:rPr lang="en" b="1">
                <a:solidFill>
                  <a:schemeClr val="accent3"/>
                </a:solidFill>
              </a:rPr>
              <a:t>new ack</a:t>
            </a:r>
            <a:r>
              <a:rPr lang="en">
                <a:solidFill>
                  <a:srgbClr val="B7B7B7"/>
                </a:solidFill>
              </a:rPr>
              <a:t>, duplicate ack, timeout.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receive an ack for new data (not previously acked):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in slow-start mode: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+ 1 packet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so CWND doubles per RTT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in fast recovery mode: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SSTHRESH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so we leave fast recovery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in congestion avoidance mode: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+ 1/</a:t>
            </a:r>
            <a:r>
              <a:rPr lang="en" i="1"/>
              <a:t>CWND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so CWND increases by 1 per RTT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Reset timer.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Reset duplicate ack count.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window allows, send new data.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Google Shape;1279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80" name="Google Shape;1280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Events at sender: </a:t>
            </a:r>
            <a:r>
              <a:rPr lang="en">
                <a:solidFill>
                  <a:srgbClr val="B7B7B7"/>
                </a:solidFill>
              </a:rPr>
              <a:t>new ack, </a:t>
            </a:r>
            <a:r>
              <a:rPr lang="en" b="1">
                <a:solidFill>
                  <a:schemeClr val="accent3"/>
                </a:solidFill>
              </a:rPr>
              <a:t>duplicate ack</a:t>
            </a:r>
            <a:r>
              <a:rPr lang="en">
                <a:solidFill>
                  <a:srgbClr val="B7B7B7"/>
                </a:solidFill>
              </a:rPr>
              <a:t>, timeout.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receive a duplicate ack: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Increment duplicate ack count.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</a:t>
            </a:r>
            <a:r>
              <a:rPr lang="en" i="1"/>
              <a:t>dupACKcount</a:t>
            </a:r>
            <a:r>
              <a:rPr lang="en"/>
              <a:t> = 3: Do fast retransmit.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← (</a:t>
            </a:r>
            <a:r>
              <a:rPr lang="en" i="1"/>
              <a:t>CWND</a:t>
            </a:r>
            <a:r>
              <a:rPr lang="en"/>
              <a:t> / 2) + 3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the +3 is for fast recovery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Resend leftmost packet in window.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If </a:t>
            </a:r>
            <a:r>
              <a:rPr lang="en" i="1">
                <a:solidFill>
                  <a:srgbClr val="000000"/>
                </a:solidFill>
              </a:rPr>
              <a:t>dupACKcount</a:t>
            </a:r>
            <a:r>
              <a:rPr lang="en">
                <a:solidFill>
                  <a:srgbClr val="000000"/>
                </a:solidFill>
              </a:rPr>
              <a:t> &gt; 3: Do fast recovery.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i="1">
                <a:solidFill>
                  <a:srgbClr val="000000"/>
                </a:solidFill>
              </a:rPr>
              <a:t>CWND</a:t>
            </a:r>
            <a:r>
              <a:rPr lang="en">
                <a:solidFill>
                  <a:srgbClr val="000000"/>
                </a:solidFill>
              </a:rPr>
              <a:t> ← </a:t>
            </a:r>
            <a:r>
              <a:rPr lang="en" i="1">
                <a:solidFill>
                  <a:srgbClr val="000000"/>
                </a:solidFill>
              </a:rPr>
              <a:t>CWND</a:t>
            </a:r>
            <a:r>
              <a:rPr lang="en">
                <a:solidFill>
                  <a:srgbClr val="000000"/>
                </a:solidFill>
              </a:rPr>
              <a:t> + 1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86" name="Google Shape;1286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Events at sender: </a:t>
            </a:r>
            <a:r>
              <a:rPr lang="en">
                <a:solidFill>
                  <a:srgbClr val="B7B7B7"/>
                </a:solidFill>
              </a:rPr>
              <a:t>new ack, duplicate ack, </a:t>
            </a:r>
            <a:r>
              <a:rPr lang="en" b="1">
                <a:solidFill>
                  <a:schemeClr val="accent3"/>
                </a:solidFill>
              </a:rPr>
              <a:t>timeout.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the timer expires: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← 1 packet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Switch to slow-start mode.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Resend leftmost packet in window.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Congestion Control State Machine</a:t>
            </a:r>
            <a:endParaRPr/>
          </a:p>
        </p:txBody>
      </p:sp>
      <p:sp>
        <p:nvSpPr>
          <p:cNvPr id="1292" name="Google Shape;1292;p46"/>
          <p:cNvSpPr/>
          <p:nvPr/>
        </p:nvSpPr>
        <p:spPr>
          <a:xfrm>
            <a:off x="6021550" y="940650"/>
            <a:ext cx="1563600" cy="15636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Congestion Avoidance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3" name="Google Shape;1293;p46"/>
          <p:cNvSpPr/>
          <p:nvPr/>
        </p:nvSpPr>
        <p:spPr>
          <a:xfrm>
            <a:off x="3790175" y="3196450"/>
            <a:ext cx="1563600" cy="15636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Fast Recovery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4" name="Google Shape;1294;p46"/>
          <p:cNvSpPr/>
          <p:nvPr/>
        </p:nvSpPr>
        <p:spPr>
          <a:xfrm>
            <a:off x="1323581" y="793458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5" name="Google Shape;1295;p46"/>
          <p:cNvSpPr/>
          <p:nvPr/>
        </p:nvSpPr>
        <p:spPr>
          <a:xfrm rot="-2700000">
            <a:off x="1059880" y="1446511"/>
            <a:ext cx="662744" cy="551870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6" name="Google Shape;1296;p46"/>
          <p:cNvSpPr/>
          <p:nvPr/>
        </p:nvSpPr>
        <p:spPr>
          <a:xfrm rot="10800000" flipH="1">
            <a:off x="1323581" y="2111245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7" name="Google Shape;1297;p46"/>
          <p:cNvSpPr/>
          <p:nvPr/>
        </p:nvSpPr>
        <p:spPr>
          <a:xfrm>
            <a:off x="1558825" y="940650"/>
            <a:ext cx="1563600" cy="15636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Slow Start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8" name="Google Shape;1298;p46"/>
          <p:cNvSpPr/>
          <p:nvPr/>
        </p:nvSpPr>
        <p:spPr>
          <a:xfrm flipH="1">
            <a:off x="7164074" y="793458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9" name="Google Shape;1299;p46"/>
          <p:cNvSpPr/>
          <p:nvPr/>
        </p:nvSpPr>
        <p:spPr>
          <a:xfrm rot="10800000">
            <a:off x="7164074" y="2111245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0" name="Google Shape;1300;p46"/>
          <p:cNvSpPr/>
          <p:nvPr/>
        </p:nvSpPr>
        <p:spPr>
          <a:xfrm rot="-2700000">
            <a:off x="3293418" y="3702311"/>
            <a:ext cx="662744" cy="551870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301" name="Google Shape;1301;p46"/>
          <p:cNvCxnSpPr/>
          <p:nvPr/>
        </p:nvCxnSpPr>
        <p:spPr>
          <a:xfrm rot="10800000">
            <a:off x="3016825" y="2118300"/>
            <a:ext cx="1179000" cy="117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2" name="Google Shape;1302;p46"/>
          <p:cNvCxnSpPr/>
          <p:nvPr/>
        </p:nvCxnSpPr>
        <p:spPr>
          <a:xfrm rot="10800000">
            <a:off x="2703625" y="2414700"/>
            <a:ext cx="1187400" cy="118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303" name="Google Shape;1303;p46"/>
          <p:cNvCxnSpPr/>
          <p:nvPr/>
        </p:nvCxnSpPr>
        <p:spPr>
          <a:xfrm rot="10800000" flipH="1">
            <a:off x="4957337" y="2127233"/>
            <a:ext cx="1179000" cy="117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4" name="Google Shape;1304;p46"/>
          <p:cNvCxnSpPr/>
          <p:nvPr/>
        </p:nvCxnSpPr>
        <p:spPr>
          <a:xfrm rot="10800000" flipH="1">
            <a:off x="5262137" y="2423633"/>
            <a:ext cx="1187400" cy="118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305" name="Google Shape;1305;p46"/>
          <p:cNvSpPr txBox="1"/>
          <p:nvPr/>
        </p:nvSpPr>
        <p:spPr>
          <a:xfrm>
            <a:off x="1635025" y="604725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6" name="Google Shape;1306;p46"/>
          <p:cNvSpPr txBox="1"/>
          <p:nvPr/>
        </p:nvSpPr>
        <p:spPr>
          <a:xfrm>
            <a:off x="530375" y="1345325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7" name="Google Shape;1307;p46"/>
          <p:cNvSpPr txBox="1"/>
          <p:nvPr/>
        </p:nvSpPr>
        <p:spPr>
          <a:xfrm>
            <a:off x="599875" y="226403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New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8" name="Google Shape;1308;p46"/>
          <p:cNvSpPr txBox="1"/>
          <p:nvPr/>
        </p:nvSpPr>
        <p:spPr>
          <a:xfrm>
            <a:off x="2126425" y="2885250"/>
            <a:ext cx="996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 x3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9" name="Google Shape;1309;p46"/>
          <p:cNvSpPr txBox="1"/>
          <p:nvPr/>
        </p:nvSpPr>
        <p:spPr>
          <a:xfrm>
            <a:off x="6021550" y="2885250"/>
            <a:ext cx="996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 x3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0" name="Google Shape;1310;p46"/>
          <p:cNvSpPr txBox="1"/>
          <p:nvPr/>
        </p:nvSpPr>
        <p:spPr>
          <a:xfrm>
            <a:off x="3643275" y="2504250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1" name="Google Shape;1311;p46"/>
          <p:cNvSpPr txBox="1"/>
          <p:nvPr/>
        </p:nvSpPr>
        <p:spPr>
          <a:xfrm>
            <a:off x="4733800" y="2504250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New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2" name="Google Shape;1312;p46"/>
          <p:cNvSpPr txBox="1"/>
          <p:nvPr/>
        </p:nvSpPr>
        <p:spPr>
          <a:xfrm>
            <a:off x="7820625" y="226403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3" name="Google Shape;1313;p46"/>
          <p:cNvSpPr txBox="1"/>
          <p:nvPr/>
        </p:nvSpPr>
        <p:spPr>
          <a:xfrm>
            <a:off x="7820625" y="94623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New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4" name="Google Shape;1314;p46"/>
          <p:cNvSpPr txBox="1"/>
          <p:nvPr/>
        </p:nvSpPr>
        <p:spPr>
          <a:xfrm>
            <a:off x="2428225" y="385508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5" name="Google Shape;1315;p46"/>
          <p:cNvSpPr txBox="1"/>
          <p:nvPr/>
        </p:nvSpPr>
        <p:spPr>
          <a:xfrm>
            <a:off x="3746775" y="1325775"/>
            <a:ext cx="18399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&gt;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 sz="16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6" name="Google Shape;1316;p46"/>
          <p:cNvSpPr txBox="1"/>
          <p:nvPr/>
        </p:nvSpPr>
        <p:spPr>
          <a:xfrm>
            <a:off x="4270125" y="187788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7" name="Google Shape;1317;p46"/>
          <p:cNvCxnSpPr/>
          <p:nvPr/>
        </p:nvCxnSpPr>
        <p:spPr>
          <a:xfrm>
            <a:off x="3102950" y="1570050"/>
            <a:ext cx="293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18" name="Google Shape;1318;p46"/>
          <p:cNvCxnSpPr/>
          <p:nvPr/>
        </p:nvCxnSpPr>
        <p:spPr>
          <a:xfrm>
            <a:off x="3102950" y="1874850"/>
            <a:ext cx="293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Congestion Control Variants</a:t>
            </a:r>
            <a:endParaRPr/>
          </a:p>
        </p:txBody>
      </p:sp>
      <p:sp>
        <p:nvSpPr>
          <p:cNvPr id="1324" name="Google Shape;132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Tahoe: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= 1 after triple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Reno: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= 1 on timeout.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CWND</a:t>
            </a:r>
            <a:r>
              <a:rPr lang="en"/>
              <a:t> / 2 after triple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New Reno: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Reno + improved fast recovery.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TCP-SACK: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Adds selective acknowledgements.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Acks describe byte ranges received.</a:t>
            </a:r>
            <a:endParaRPr/>
          </a:p>
        </p:txBody>
      </p:sp>
      <p:cxnSp>
        <p:nvCxnSpPr>
          <p:cNvPr id="1325" name="Google Shape;1325;p47"/>
          <p:cNvCxnSpPr/>
          <p:nvPr/>
        </p:nvCxnSpPr>
        <p:spPr>
          <a:xfrm rot="10800000">
            <a:off x="4419650" y="2978050"/>
            <a:ext cx="10653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26" name="Google Shape;1326;p47"/>
          <p:cNvSpPr txBox="1"/>
          <p:nvPr/>
        </p:nvSpPr>
        <p:spPr>
          <a:xfrm>
            <a:off x="5484950" y="2811850"/>
            <a:ext cx="28293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Unless otherwise specified, we're using this one.</a:t>
            </a:r>
            <a:endParaRPr sz="18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p4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Implementation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State Machine and Variants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TCP Throughput Model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Issues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Router-Assisted Congestion Control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338" name="Google Shape;1338;p4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Throughput Model</a:t>
            </a:r>
            <a:endParaRPr/>
          </a:p>
        </p:txBody>
      </p:sp>
      <p:sp>
        <p:nvSpPr>
          <p:cNvPr id="1339" name="Google Shape;1339;p4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Google Shape;1344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Goal: The TCP Throughput Equation</a:t>
            </a:r>
            <a:endParaRPr/>
          </a:p>
        </p:txBody>
      </p:sp>
      <p:sp>
        <p:nvSpPr>
          <p:cNvPr id="1345" name="Google Shape;1345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Given a path through the network, what TCP throughput can we expect?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congestion control algorithm told us </a:t>
            </a:r>
            <a:r>
              <a:rPr lang="en" i="1"/>
              <a:t>how</a:t>
            </a:r>
            <a:r>
              <a:rPr lang="en"/>
              <a:t> to adjust rates.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it didn't tell us </a:t>
            </a:r>
            <a:r>
              <a:rPr lang="en" i="1"/>
              <a:t>what</a:t>
            </a:r>
            <a:r>
              <a:rPr lang="en"/>
              <a:t> the actual rates are.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derive a simple model that expressed TCP throughput in terms of path properties: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p</a:t>
            </a:r>
            <a:r>
              <a:rPr lang="en"/>
              <a:t>, the packet loss rate.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Google Shape;1350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Throughput Equation: Simplifying Assumptions</a:t>
            </a:r>
            <a:endParaRPr dirty="0"/>
          </a:p>
        </p:txBody>
      </p:sp>
      <p:sp>
        <p:nvSpPr>
          <p:cNvPr id="1351" name="Google Shape;1351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Simplifying assumptions: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There is a single TCP connection.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Ignore the slow-start phase.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We'll assume a single, non-changing path through the network: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RTT is some fixed number.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Bottleneck bandwidth is some fixed number.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Therefore: RTT × bandwidth =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(a constant value).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the window size exceeds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, we lose exactly one packet.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Loss detected by duplicate acks. No timeouts.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Google Shape;1356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Throughput in Terms of Window Size</a:t>
            </a:r>
            <a:endParaRPr/>
          </a:p>
        </p:txBody>
      </p:sp>
      <p:sp>
        <p:nvSpPr>
          <p:cNvPr id="1357" name="Google Shape;1357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From our assumptions: We lose a packet when </a:t>
            </a:r>
            <a:r>
              <a:rPr lang="en" i="1" dirty="0"/>
              <a:t>CWND</a:t>
            </a:r>
            <a:r>
              <a:rPr lang="en" dirty="0"/>
              <a:t> reaches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Window size changing over time: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After detecting loss: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One RTT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+ 1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RTTs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+ 2</a:t>
            </a:r>
            <a:br>
              <a:rPr lang="en" dirty="0"/>
            </a:br>
            <a:r>
              <a:rPr lang="en" dirty="0"/>
              <a:t>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RTTs later:	</a:t>
            </a:r>
            <a:r>
              <a:rPr lang="en" i="1" dirty="0"/>
              <a:t>W</a:t>
            </a:r>
            <a:r>
              <a:rPr lang="en" sz="1200" dirty="0"/>
              <a:t>max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After detecting loss: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One RTT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+ 1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RTTs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+ 2</a:t>
            </a:r>
            <a:br>
              <a:rPr lang="en" dirty="0"/>
            </a:br>
            <a:r>
              <a:rPr lang="en" dirty="0"/>
              <a:t>...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TCP Throughput in Terms of Window Size</a:t>
            </a:r>
            <a:endParaRPr/>
          </a:p>
        </p:txBody>
      </p:sp>
      <p:sp>
        <p:nvSpPr>
          <p:cNvPr id="1363" name="Google Shape;1363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 size changing over time: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 linearly from 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 to (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Drop back down to 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Average window size is 3/4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.</a:t>
            </a:r>
            <a:endParaRPr/>
          </a:p>
        </p:txBody>
      </p:sp>
      <p:cxnSp>
        <p:nvCxnSpPr>
          <p:cNvPr id="1364" name="Google Shape;1364;p53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5" name="Google Shape;1365;p53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6" name="Google Shape;1366;p53"/>
          <p:cNvSpPr txBox="1">
            <a:spLocks noGrp="1"/>
          </p:cNvSpPr>
          <p:nvPr>
            <p:ph type="body" idx="1"/>
          </p:nvPr>
        </p:nvSpPr>
        <p:spPr>
          <a:xfrm>
            <a:off x="7994675" y="2299872"/>
            <a:ext cx="6036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sp>
        <p:nvSpPr>
          <p:cNvPr id="1367" name="Google Shape;1367;p53"/>
          <p:cNvSpPr txBox="1">
            <a:spLocks noGrp="1"/>
          </p:cNvSpPr>
          <p:nvPr>
            <p:ph type="body" idx="1"/>
          </p:nvPr>
        </p:nvSpPr>
        <p:spPr>
          <a:xfrm>
            <a:off x="7477838" y="3218828"/>
            <a:ext cx="11205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0.5 × </a:t>
            </a: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cxnSp>
        <p:nvCxnSpPr>
          <p:cNvPr id="1368" name="Google Shape;1368;p53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69" name="Google Shape;1369;p53"/>
          <p:cNvSpPr txBox="1">
            <a:spLocks noGrp="1"/>
          </p:cNvSpPr>
          <p:nvPr>
            <p:ph type="body" idx="1"/>
          </p:nvPr>
        </p:nvSpPr>
        <p:spPr>
          <a:xfrm>
            <a:off x="6433625" y="2761625"/>
            <a:ext cx="2164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</a:rPr>
              <a:t>Average: 3/4 × </a:t>
            </a:r>
            <a:r>
              <a:rPr lang="en" i="1">
                <a:solidFill>
                  <a:schemeClr val="accent2"/>
                </a:solidFill>
              </a:rPr>
              <a:t>W</a:t>
            </a:r>
            <a:r>
              <a:rPr lang="en" sz="1200">
                <a:solidFill>
                  <a:schemeClr val="accent2"/>
                </a:solidFill>
              </a:rPr>
              <a:t>max</a:t>
            </a:r>
            <a:endParaRPr sz="1600">
              <a:solidFill>
                <a:schemeClr val="accent2"/>
              </a:solidFill>
            </a:endParaRPr>
          </a:p>
        </p:txBody>
      </p:sp>
      <p:cxnSp>
        <p:nvCxnSpPr>
          <p:cNvPr id="1370" name="Google Shape;1370;p53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1" name="Google Shape;1371;p53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372" name="Google Shape;1372;p53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73" name="Google Shape;1373;p53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4" name="Google Shape;1374;p53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375" name="Google Shape;1375;p53"/>
          <p:cNvSpPr txBox="1">
            <a:spLocks noGrp="1"/>
          </p:cNvSpPr>
          <p:nvPr>
            <p:ph type="body" idx="1"/>
          </p:nvPr>
        </p:nvSpPr>
        <p:spPr>
          <a:xfrm rot="-5400000">
            <a:off x="-480375" y="3991225"/>
            <a:ext cx="13182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Window Size</a:t>
            </a:r>
            <a:endParaRPr sz="14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Google Shape;1380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TCP Throughput in Terms of Window Size</a:t>
            </a:r>
            <a:endParaRPr/>
          </a:p>
        </p:txBody>
      </p:sp>
      <p:sp>
        <p:nvSpPr>
          <p:cNvPr id="1381" name="Google Shape;1381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Unit conversion: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Average window size is 3/4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is measured in packets (since we were adding 1 packet per iteration).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packet is </a:t>
            </a:r>
            <a:r>
              <a:rPr lang="en" i="1" dirty="0"/>
              <a:t>MSS</a:t>
            </a:r>
            <a:r>
              <a:rPr lang="en" dirty="0"/>
              <a:t>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Average window size, in bytes, is 3/4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× </a:t>
            </a:r>
            <a:r>
              <a:rPr lang="en" i="1" dirty="0"/>
              <a:t>MSS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Computing throughput: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Window size tells us how much data we can send per RTT.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 compute rate, divide window size (data) by RTT (time):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Throughput =      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× 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Next step: Express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in terms of </a:t>
            </a:r>
            <a:r>
              <a:rPr lang="en" i="1" dirty="0"/>
              <a:t>p</a:t>
            </a:r>
            <a:r>
              <a:rPr lang="en" dirty="0"/>
              <a:t>, the loss rate.</a:t>
            </a:r>
            <a:endParaRPr dirty="0"/>
          </a:p>
        </p:txBody>
      </p:sp>
      <p:sp>
        <p:nvSpPr>
          <p:cNvPr id="1382" name="Google Shape;1382;p54"/>
          <p:cNvSpPr txBox="1"/>
          <p:nvPr/>
        </p:nvSpPr>
        <p:spPr>
          <a:xfrm>
            <a:off x="1646193" y="3642675"/>
            <a:ext cx="254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3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3" name="Google Shape;1383;p54"/>
          <p:cNvSpPr txBox="1"/>
          <p:nvPr/>
        </p:nvSpPr>
        <p:spPr>
          <a:xfrm>
            <a:off x="1646193" y="3923225"/>
            <a:ext cx="254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4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4" name="Google Shape;1384;p54"/>
          <p:cNvCxnSpPr/>
          <p:nvPr/>
        </p:nvCxnSpPr>
        <p:spPr>
          <a:xfrm>
            <a:off x="1646171" y="3917890"/>
            <a:ext cx="2547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5" name="Google Shape;1385;p54"/>
          <p:cNvSpPr txBox="1"/>
          <p:nvPr/>
        </p:nvSpPr>
        <p:spPr>
          <a:xfrm>
            <a:off x="2713026" y="3642675"/>
            <a:ext cx="588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MSS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6" name="Google Shape;1386;p54"/>
          <p:cNvSpPr txBox="1"/>
          <p:nvPr/>
        </p:nvSpPr>
        <p:spPr>
          <a:xfrm>
            <a:off x="2713026" y="3923225"/>
            <a:ext cx="588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RTT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7" name="Google Shape;1387;p54"/>
          <p:cNvCxnSpPr/>
          <p:nvPr/>
        </p:nvCxnSpPr>
        <p:spPr>
          <a:xfrm>
            <a:off x="2712975" y="3917890"/>
            <a:ext cx="5889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393" name="Google Shape;1393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0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Next step: Express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in terms of </a:t>
            </a:r>
            <a:r>
              <a:rPr lang="en" i="1" dirty="0"/>
              <a:t>p</a:t>
            </a:r>
            <a:r>
              <a:rPr lang="en" dirty="0"/>
              <a:t>, the loss rate.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know one packet is lost every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RTTs.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This is how long it takes to climb from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back up to (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Each RTT adds 1, and we have to climb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in total.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So, we need to figure out how many packets are sent in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RTTs.</a:t>
            </a:r>
            <a:endParaRPr dirty="0"/>
          </a:p>
        </p:txBody>
      </p:sp>
      <p:sp>
        <p:nvSpPr>
          <p:cNvPr id="1394" name="Google Shape;1394;p55"/>
          <p:cNvSpPr txBox="1">
            <a:spLocks noGrp="1"/>
          </p:cNvSpPr>
          <p:nvPr>
            <p:ph type="body" idx="1"/>
          </p:nvPr>
        </p:nvSpPr>
        <p:spPr>
          <a:xfrm>
            <a:off x="1889046" y="2324013"/>
            <a:ext cx="529800" cy="34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395" name="Google Shape;1395;p55"/>
          <p:cNvSpPr txBox="1">
            <a:spLocks noGrp="1"/>
          </p:cNvSpPr>
          <p:nvPr>
            <p:ph type="body" idx="1"/>
          </p:nvPr>
        </p:nvSpPr>
        <p:spPr>
          <a:xfrm>
            <a:off x="3413046" y="2324013"/>
            <a:ext cx="529800" cy="34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396" name="Google Shape;1396;p55"/>
          <p:cNvSpPr txBox="1">
            <a:spLocks noGrp="1"/>
          </p:cNvSpPr>
          <p:nvPr>
            <p:ph type="body" idx="1"/>
          </p:nvPr>
        </p:nvSpPr>
        <p:spPr>
          <a:xfrm>
            <a:off x="5013246" y="2324013"/>
            <a:ext cx="529800" cy="34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397" name="Google Shape;1397;p55"/>
          <p:cNvSpPr txBox="1">
            <a:spLocks noGrp="1"/>
          </p:cNvSpPr>
          <p:nvPr>
            <p:ph type="body" idx="1"/>
          </p:nvPr>
        </p:nvSpPr>
        <p:spPr>
          <a:xfrm>
            <a:off x="7994675" y="2299872"/>
            <a:ext cx="6036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cxnSp>
        <p:nvCxnSpPr>
          <p:cNvPr id="1398" name="Google Shape;1398;p55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9" name="Google Shape;1399;p55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0" name="Google Shape;1400;p55"/>
          <p:cNvSpPr txBox="1">
            <a:spLocks noGrp="1"/>
          </p:cNvSpPr>
          <p:nvPr>
            <p:ph type="body" idx="1"/>
          </p:nvPr>
        </p:nvSpPr>
        <p:spPr>
          <a:xfrm>
            <a:off x="7477838" y="3218828"/>
            <a:ext cx="11205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0.5 × </a:t>
            </a: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cxnSp>
        <p:nvCxnSpPr>
          <p:cNvPr id="1401" name="Google Shape;1401;p55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02" name="Google Shape;1402;p55"/>
          <p:cNvSpPr txBox="1">
            <a:spLocks noGrp="1"/>
          </p:cNvSpPr>
          <p:nvPr>
            <p:ph type="body" idx="1"/>
          </p:nvPr>
        </p:nvSpPr>
        <p:spPr>
          <a:xfrm>
            <a:off x="6433625" y="2761625"/>
            <a:ext cx="2164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Average: 3/4 × </a:t>
            </a: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 sz="1200">
                <a:solidFill>
                  <a:srgbClr val="000000"/>
                </a:solidFill>
              </a:rPr>
              <a:t>max</a:t>
            </a:r>
            <a:endParaRPr sz="1600">
              <a:solidFill>
                <a:srgbClr val="000000"/>
              </a:solidFill>
            </a:endParaRPr>
          </a:p>
        </p:txBody>
      </p:sp>
      <p:cxnSp>
        <p:nvCxnSpPr>
          <p:cNvPr id="1403" name="Google Shape;1403;p55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4" name="Google Shape;1404;p55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5" name="Google Shape;1405;p55"/>
          <p:cNvSpPr/>
          <p:nvPr/>
        </p:nvSpPr>
        <p:spPr>
          <a:xfrm rot="5400000">
            <a:off x="2847000" y="3026425"/>
            <a:ext cx="239700" cy="1600500"/>
          </a:xfrm>
          <a:prstGeom prst="righ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06" name="Google Shape;1406;p55"/>
          <p:cNvSpPr txBox="1">
            <a:spLocks noGrp="1"/>
          </p:cNvSpPr>
          <p:nvPr>
            <p:ph type="body" idx="1"/>
          </p:nvPr>
        </p:nvSpPr>
        <p:spPr>
          <a:xfrm>
            <a:off x="2078850" y="3917225"/>
            <a:ext cx="1776000" cy="4572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(0.5 × </a:t>
            </a:r>
            <a:r>
              <a:rPr lang="en" sz="1400" i="1">
                <a:solidFill>
                  <a:schemeClr val="accent3"/>
                </a:solidFill>
              </a:rPr>
              <a:t>W</a:t>
            </a:r>
            <a:r>
              <a:rPr lang="en" sz="800">
                <a:solidFill>
                  <a:schemeClr val="accent3"/>
                </a:solidFill>
              </a:rPr>
              <a:t>max</a:t>
            </a:r>
            <a:r>
              <a:rPr lang="en" sz="1400">
                <a:solidFill>
                  <a:schemeClr val="accent3"/>
                </a:solidFill>
              </a:rPr>
              <a:t>) RTTs</a:t>
            </a:r>
            <a:endParaRPr sz="1400">
              <a:solidFill>
                <a:schemeClr val="accent3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Time between losses</a:t>
            </a:r>
            <a:endParaRPr sz="1400">
              <a:solidFill>
                <a:schemeClr val="accent3"/>
              </a:solidFill>
            </a:endParaRPr>
          </a:p>
        </p:txBody>
      </p:sp>
      <p:cxnSp>
        <p:nvCxnSpPr>
          <p:cNvPr id="1407" name="Google Shape;1407;p55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08" name="Google Shape;1408;p55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09" name="Google Shape;1409;p55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410" name="Google Shape;1410;p55"/>
          <p:cNvSpPr txBox="1">
            <a:spLocks noGrp="1"/>
          </p:cNvSpPr>
          <p:nvPr>
            <p:ph type="body" idx="1"/>
          </p:nvPr>
        </p:nvSpPr>
        <p:spPr>
          <a:xfrm rot="-5400000">
            <a:off x="-480375" y="3991225"/>
            <a:ext cx="13182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Window Size</a:t>
            </a:r>
            <a:endParaRPr sz="14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56"/>
          <p:cNvSpPr/>
          <p:nvPr/>
        </p:nvSpPr>
        <p:spPr>
          <a:xfrm flipH="1">
            <a:off x="2168025" y="2720825"/>
            <a:ext cx="1599600" cy="8916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6" name="Google Shape;1416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417" name="Google Shape;1417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many packets are sent in </a:t>
            </a:r>
            <a:r>
              <a:rPr lang="en">
                <a:solidFill>
                  <a:schemeClr val="accent3"/>
                </a:solidFill>
              </a:rPr>
              <a:t>(0.5 × </a:t>
            </a:r>
            <a:r>
              <a:rPr lang="en" i="1">
                <a:solidFill>
                  <a:schemeClr val="accent3"/>
                </a:solidFill>
              </a:rPr>
              <a:t>W</a:t>
            </a:r>
            <a:r>
              <a:rPr lang="en" sz="1200">
                <a:solidFill>
                  <a:schemeClr val="accent3"/>
                </a:solidFill>
              </a:rPr>
              <a:t>max</a:t>
            </a:r>
            <a:r>
              <a:rPr lang="en">
                <a:solidFill>
                  <a:schemeClr val="accent3"/>
                </a:solidFill>
              </a:rPr>
              <a:t>)</a:t>
            </a:r>
            <a:r>
              <a:rPr lang="en"/>
              <a:t> RTTs?</a:t>
            </a:r>
            <a:endParaRPr/>
          </a:p>
          <a:p>
            <a:pPr marL="45720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Average window size is </a:t>
            </a:r>
            <a:r>
              <a:rPr lang="en">
                <a:solidFill>
                  <a:schemeClr val="accent2"/>
                </a:solidFill>
              </a:rPr>
              <a:t>3/4 × </a:t>
            </a:r>
            <a:r>
              <a:rPr lang="en" i="1">
                <a:solidFill>
                  <a:schemeClr val="accent2"/>
                </a:solidFill>
              </a:rPr>
              <a:t>W</a:t>
            </a:r>
            <a:r>
              <a:rPr lang="en" sz="1200">
                <a:solidFill>
                  <a:schemeClr val="accent2"/>
                </a:solidFill>
              </a:rPr>
              <a:t>max</a:t>
            </a:r>
            <a:r>
              <a:rPr lang="en"/>
              <a:t>. That's how many packets we send per RTT.</a:t>
            </a:r>
            <a:endParaRPr/>
          </a:p>
          <a:p>
            <a:pPr marL="45720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Answer: </a:t>
            </a:r>
            <a:r>
              <a:rPr lang="en">
                <a:solidFill>
                  <a:schemeClr val="accent2"/>
                </a:solidFill>
              </a:rPr>
              <a:t>(3/4 × </a:t>
            </a:r>
            <a:r>
              <a:rPr lang="en" i="1">
                <a:solidFill>
                  <a:schemeClr val="accent2"/>
                </a:solidFill>
              </a:rPr>
              <a:t>W</a:t>
            </a:r>
            <a:r>
              <a:rPr lang="en" sz="1200">
                <a:solidFill>
                  <a:schemeClr val="accent2"/>
                </a:solidFill>
              </a:rPr>
              <a:t>max</a:t>
            </a:r>
            <a:r>
              <a:rPr lang="en">
                <a:solidFill>
                  <a:schemeClr val="accent2"/>
                </a:solidFill>
              </a:rPr>
              <a:t>)</a:t>
            </a:r>
            <a:r>
              <a:rPr lang="en"/>
              <a:t> × </a:t>
            </a:r>
            <a:r>
              <a:rPr lang="en">
                <a:solidFill>
                  <a:schemeClr val="accent3"/>
                </a:solidFill>
              </a:rPr>
              <a:t>(0.5 × </a:t>
            </a:r>
            <a:r>
              <a:rPr lang="en" i="1">
                <a:solidFill>
                  <a:schemeClr val="accent3"/>
                </a:solidFill>
              </a:rPr>
              <a:t>W</a:t>
            </a:r>
            <a:r>
              <a:rPr lang="en" sz="1200">
                <a:solidFill>
                  <a:schemeClr val="accent3"/>
                </a:solidFill>
              </a:rPr>
              <a:t>max</a:t>
            </a:r>
            <a:r>
              <a:rPr lang="en">
                <a:solidFill>
                  <a:schemeClr val="accent3"/>
                </a:solidFill>
              </a:rPr>
              <a:t>)</a:t>
            </a:r>
            <a:r>
              <a:rPr lang="en"/>
              <a:t> = 3/8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 baseline="30000"/>
              <a:t>2</a:t>
            </a:r>
            <a:r>
              <a:rPr lang="en"/>
              <a:t> packets.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Can also be computed as the area of the shape (rate × time), or area under the curve (integral of rate).</a:t>
            </a:r>
            <a:endParaRPr/>
          </a:p>
        </p:txBody>
      </p:sp>
      <p:sp>
        <p:nvSpPr>
          <p:cNvPr id="1418" name="Google Shape;1418;p56"/>
          <p:cNvSpPr txBox="1">
            <a:spLocks noGrp="1"/>
          </p:cNvSpPr>
          <p:nvPr>
            <p:ph type="body" idx="1"/>
          </p:nvPr>
        </p:nvSpPr>
        <p:spPr>
          <a:xfrm>
            <a:off x="1889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19" name="Google Shape;1419;p56"/>
          <p:cNvSpPr txBox="1">
            <a:spLocks noGrp="1"/>
          </p:cNvSpPr>
          <p:nvPr>
            <p:ph type="body" idx="1"/>
          </p:nvPr>
        </p:nvSpPr>
        <p:spPr>
          <a:xfrm>
            <a:off x="3413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20" name="Google Shape;1420;p56"/>
          <p:cNvSpPr txBox="1">
            <a:spLocks noGrp="1"/>
          </p:cNvSpPr>
          <p:nvPr>
            <p:ph type="body" idx="1"/>
          </p:nvPr>
        </p:nvSpPr>
        <p:spPr>
          <a:xfrm>
            <a:off x="50132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21" name="Google Shape;1421;p56"/>
          <p:cNvSpPr txBox="1">
            <a:spLocks noGrp="1"/>
          </p:cNvSpPr>
          <p:nvPr>
            <p:ph type="body" idx="1"/>
          </p:nvPr>
        </p:nvSpPr>
        <p:spPr>
          <a:xfrm>
            <a:off x="7390375" y="2299875"/>
            <a:ext cx="1207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 </a:t>
            </a:r>
            <a:r>
              <a:rPr lang="en"/>
              <a:t>/ RTT</a:t>
            </a:r>
            <a:r>
              <a:rPr lang="en" sz="1200"/>
              <a:t> </a:t>
            </a:r>
            <a:endParaRPr sz="1600"/>
          </a:p>
        </p:txBody>
      </p:sp>
      <p:cxnSp>
        <p:nvCxnSpPr>
          <p:cNvPr id="1422" name="Google Shape;1422;p56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3" name="Google Shape;1423;p56"/>
          <p:cNvSpPr txBox="1">
            <a:spLocks noGrp="1"/>
          </p:cNvSpPr>
          <p:nvPr>
            <p:ph type="body" idx="1"/>
          </p:nvPr>
        </p:nvSpPr>
        <p:spPr>
          <a:xfrm>
            <a:off x="6276298" y="3218825"/>
            <a:ext cx="23223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 / RTT</a:t>
            </a:r>
            <a:endParaRPr/>
          </a:p>
        </p:txBody>
      </p:sp>
      <p:cxnSp>
        <p:nvCxnSpPr>
          <p:cNvPr id="1424" name="Google Shape;1424;p56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25" name="Google Shape;1425;p56"/>
          <p:cNvSpPr txBox="1">
            <a:spLocks noGrp="1"/>
          </p:cNvSpPr>
          <p:nvPr>
            <p:ph type="body" idx="1"/>
          </p:nvPr>
        </p:nvSpPr>
        <p:spPr>
          <a:xfrm>
            <a:off x="5749025" y="2761625"/>
            <a:ext cx="28494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Average: (3/4 × </a:t>
            </a: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 sz="1200">
                <a:solidFill>
                  <a:srgbClr val="000000"/>
                </a:solidFill>
              </a:rPr>
              <a:t>max</a:t>
            </a:r>
            <a:r>
              <a:rPr lang="en">
                <a:solidFill>
                  <a:srgbClr val="000000"/>
                </a:solidFill>
              </a:rPr>
              <a:t>)</a:t>
            </a:r>
            <a:r>
              <a:rPr lang="en" sz="1200">
                <a:solidFill>
                  <a:srgbClr val="000000"/>
                </a:solidFill>
              </a:rPr>
              <a:t> </a:t>
            </a:r>
            <a:r>
              <a:rPr lang="en"/>
              <a:t>/ RTT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1426" name="Google Shape;1426;p56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7" name="Google Shape;1427;p56"/>
          <p:cNvSpPr/>
          <p:nvPr/>
        </p:nvSpPr>
        <p:spPr>
          <a:xfrm>
            <a:off x="2167875" y="3614375"/>
            <a:ext cx="1590300" cy="912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8" name="Google Shape;1428;p56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9" name="Google Shape;1429;p56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0" name="Google Shape;1430;p56"/>
          <p:cNvSpPr txBox="1">
            <a:spLocks noGrp="1"/>
          </p:cNvSpPr>
          <p:nvPr>
            <p:ph type="body" idx="1"/>
          </p:nvPr>
        </p:nvSpPr>
        <p:spPr>
          <a:xfrm>
            <a:off x="3784700" y="3931925"/>
            <a:ext cx="21684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Width = (0.5 × </a:t>
            </a:r>
            <a:r>
              <a:rPr lang="en" sz="1400" i="1">
                <a:solidFill>
                  <a:schemeClr val="accent3"/>
                </a:solidFill>
              </a:rPr>
              <a:t>W</a:t>
            </a:r>
            <a:r>
              <a:rPr lang="en" sz="800">
                <a:solidFill>
                  <a:schemeClr val="accent3"/>
                </a:solidFill>
              </a:rPr>
              <a:t>max</a:t>
            </a:r>
            <a:r>
              <a:rPr lang="en" sz="1400">
                <a:solidFill>
                  <a:schemeClr val="accent3"/>
                </a:solidFill>
              </a:rPr>
              <a:t>) RTT</a:t>
            </a:r>
            <a:endParaRPr sz="1400">
              <a:solidFill>
                <a:schemeClr val="accent3"/>
              </a:solidFill>
            </a:endParaRPr>
          </a:p>
        </p:txBody>
      </p:sp>
      <p:cxnSp>
        <p:nvCxnSpPr>
          <p:cNvPr id="1431" name="Google Shape;1431;p56"/>
          <p:cNvCxnSpPr>
            <a:stCxn id="1427" idx="1"/>
            <a:endCxn id="1427" idx="3"/>
          </p:cNvCxnSpPr>
          <p:nvPr/>
        </p:nvCxnSpPr>
        <p:spPr>
          <a:xfrm>
            <a:off x="2167875" y="4070525"/>
            <a:ext cx="15903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432" name="Google Shape;1432;p56"/>
          <p:cNvCxnSpPr>
            <a:stCxn id="1427" idx="2"/>
            <a:endCxn id="1415" idx="5"/>
          </p:cNvCxnSpPr>
          <p:nvPr/>
        </p:nvCxnSpPr>
        <p:spPr>
          <a:xfrm rot="10800000" flipH="1">
            <a:off x="2963025" y="316677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433" name="Google Shape;1433;p56"/>
          <p:cNvSpPr txBox="1">
            <a:spLocks noGrp="1"/>
          </p:cNvSpPr>
          <p:nvPr>
            <p:ph type="body" idx="1"/>
          </p:nvPr>
        </p:nvSpPr>
        <p:spPr>
          <a:xfrm>
            <a:off x="2107875" y="4564250"/>
            <a:ext cx="2322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2"/>
                </a:solidFill>
              </a:rPr>
              <a:t>Height = (3/4 × </a:t>
            </a:r>
            <a:r>
              <a:rPr lang="en" sz="1400" i="1">
                <a:solidFill>
                  <a:schemeClr val="accent2"/>
                </a:solidFill>
              </a:rPr>
              <a:t>W</a:t>
            </a:r>
            <a:r>
              <a:rPr lang="en" sz="800">
                <a:solidFill>
                  <a:schemeClr val="accent2"/>
                </a:solidFill>
              </a:rPr>
              <a:t>max</a:t>
            </a:r>
            <a:r>
              <a:rPr lang="en" sz="1400">
                <a:solidFill>
                  <a:schemeClr val="accent2"/>
                </a:solidFill>
              </a:rPr>
              <a:t>) / RTT</a:t>
            </a:r>
            <a:endParaRPr sz="1400">
              <a:solidFill>
                <a:schemeClr val="accent2"/>
              </a:solidFill>
            </a:endParaRPr>
          </a:p>
        </p:txBody>
      </p:sp>
      <p:cxnSp>
        <p:nvCxnSpPr>
          <p:cNvPr id="1434" name="Google Shape;1434;p56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35" name="Google Shape;1435;p56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36" name="Google Shape;1436;p56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437" name="Google Shape;1437;p56"/>
          <p:cNvSpPr txBox="1">
            <a:spLocks noGrp="1"/>
          </p:cNvSpPr>
          <p:nvPr>
            <p:ph type="body" idx="1"/>
          </p:nvPr>
        </p:nvSpPr>
        <p:spPr>
          <a:xfrm rot="-5400000">
            <a:off x="-154425" y="39938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Rate</a:t>
            </a:r>
            <a:endParaRPr sz="14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Google Shape;1442;p57"/>
          <p:cNvSpPr/>
          <p:nvPr/>
        </p:nvSpPr>
        <p:spPr>
          <a:xfrm flipH="1">
            <a:off x="2168025" y="2720825"/>
            <a:ext cx="1599600" cy="8916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3" name="Google Shape;1443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444" name="Google Shape;1444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Next step: Express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 in terms of </a:t>
            </a:r>
            <a:r>
              <a:rPr lang="en" i="1"/>
              <a:t>p</a:t>
            </a:r>
            <a:r>
              <a:rPr lang="en"/>
              <a:t>, the loss rate.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now know: 3/8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 baseline="30000"/>
              <a:t>2</a:t>
            </a:r>
            <a:r>
              <a:rPr lang="en"/>
              <a:t> packets are sent between losses.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packet lost out of that many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 rate = </a:t>
            </a:r>
            <a:r>
              <a:rPr lang="en" i="1"/>
              <a:t>p</a:t>
            </a:r>
            <a:r>
              <a:rPr lang="en"/>
              <a:t> = </a:t>
            </a:r>
            <a:endParaRPr/>
          </a:p>
        </p:txBody>
      </p:sp>
      <p:sp>
        <p:nvSpPr>
          <p:cNvPr id="1445" name="Google Shape;1445;p57"/>
          <p:cNvSpPr txBox="1">
            <a:spLocks noGrp="1"/>
          </p:cNvSpPr>
          <p:nvPr>
            <p:ph type="body" idx="1"/>
          </p:nvPr>
        </p:nvSpPr>
        <p:spPr>
          <a:xfrm>
            <a:off x="1889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46" name="Google Shape;1446;p57"/>
          <p:cNvSpPr txBox="1">
            <a:spLocks noGrp="1"/>
          </p:cNvSpPr>
          <p:nvPr>
            <p:ph type="body" idx="1"/>
          </p:nvPr>
        </p:nvSpPr>
        <p:spPr>
          <a:xfrm>
            <a:off x="3413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47" name="Google Shape;1447;p57"/>
          <p:cNvSpPr txBox="1">
            <a:spLocks noGrp="1"/>
          </p:cNvSpPr>
          <p:nvPr>
            <p:ph type="body" idx="1"/>
          </p:nvPr>
        </p:nvSpPr>
        <p:spPr>
          <a:xfrm>
            <a:off x="50132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cxnSp>
        <p:nvCxnSpPr>
          <p:cNvPr id="1448" name="Google Shape;1448;p57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9" name="Google Shape;1449;p57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50" name="Google Shape;1450;p57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1" name="Google Shape;1451;p57"/>
          <p:cNvSpPr/>
          <p:nvPr/>
        </p:nvSpPr>
        <p:spPr>
          <a:xfrm>
            <a:off x="2167875" y="3614375"/>
            <a:ext cx="1590300" cy="912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2" name="Google Shape;1452;p57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3" name="Google Shape;1453;p57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4" name="Google Shape;1454;p57"/>
          <p:cNvCxnSpPr>
            <a:stCxn id="1451" idx="1"/>
            <a:endCxn id="1451" idx="3"/>
          </p:cNvCxnSpPr>
          <p:nvPr/>
        </p:nvCxnSpPr>
        <p:spPr>
          <a:xfrm>
            <a:off x="2167875" y="4070525"/>
            <a:ext cx="15903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455" name="Google Shape;1455;p57"/>
          <p:cNvCxnSpPr>
            <a:stCxn id="1451" idx="2"/>
            <a:endCxn id="1442" idx="5"/>
          </p:cNvCxnSpPr>
          <p:nvPr/>
        </p:nvCxnSpPr>
        <p:spPr>
          <a:xfrm rot="10800000" flipH="1">
            <a:off x="2963025" y="316677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456" name="Google Shape;1456;p57"/>
          <p:cNvSpPr txBox="1"/>
          <p:nvPr/>
        </p:nvSpPr>
        <p:spPr>
          <a:xfrm>
            <a:off x="1732344" y="1647181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8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7" name="Google Shape;1457;p57"/>
          <p:cNvSpPr txBox="1"/>
          <p:nvPr/>
        </p:nvSpPr>
        <p:spPr>
          <a:xfrm>
            <a:off x="1732344" y="1927731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max</a:t>
            </a:r>
            <a:r>
              <a:rPr lang="en" sz="1800" baseline="30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800">
                <a:latin typeface="Roboto"/>
                <a:ea typeface="Roboto"/>
                <a:cs typeface="Roboto"/>
                <a:sym typeface="Roboto"/>
              </a:rPr>
              <a:t> 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8" name="Google Shape;1458;p57"/>
          <p:cNvCxnSpPr/>
          <p:nvPr/>
        </p:nvCxnSpPr>
        <p:spPr>
          <a:xfrm>
            <a:off x="1732276" y="1922396"/>
            <a:ext cx="7956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9" name="Google Shape;1459;p57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60" name="Google Shape;1460;p57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61" name="Google Shape;1461;p57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462" name="Google Shape;1462;p57"/>
          <p:cNvSpPr txBox="1">
            <a:spLocks noGrp="1"/>
          </p:cNvSpPr>
          <p:nvPr>
            <p:ph type="body" idx="1"/>
          </p:nvPr>
        </p:nvSpPr>
        <p:spPr>
          <a:xfrm rot="-5400000">
            <a:off x="-154425" y="39938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Rate</a:t>
            </a:r>
            <a:endParaRPr sz="1400"/>
          </a:p>
        </p:txBody>
      </p:sp>
      <p:sp>
        <p:nvSpPr>
          <p:cNvPr id="1463" name="Google Shape;1463;p57"/>
          <p:cNvSpPr txBox="1">
            <a:spLocks noGrp="1"/>
          </p:cNvSpPr>
          <p:nvPr>
            <p:ph type="body" idx="1"/>
          </p:nvPr>
        </p:nvSpPr>
        <p:spPr>
          <a:xfrm>
            <a:off x="7390375" y="2299875"/>
            <a:ext cx="1207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 </a:t>
            </a:r>
            <a:r>
              <a:rPr lang="en"/>
              <a:t>/ RTT</a:t>
            </a:r>
            <a:r>
              <a:rPr lang="en" sz="1200"/>
              <a:t> </a:t>
            </a:r>
            <a:endParaRPr sz="1600"/>
          </a:p>
        </p:txBody>
      </p:sp>
      <p:sp>
        <p:nvSpPr>
          <p:cNvPr id="1464" name="Google Shape;1464;p57"/>
          <p:cNvSpPr txBox="1">
            <a:spLocks noGrp="1"/>
          </p:cNvSpPr>
          <p:nvPr>
            <p:ph type="body" idx="1"/>
          </p:nvPr>
        </p:nvSpPr>
        <p:spPr>
          <a:xfrm>
            <a:off x="6276298" y="3218825"/>
            <a:ext cx="23223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 / RTT</a:t>
            </a:r>
            <a:endParaRPr/>
          </a:p>
        </p:txBody>
      </p:sp>
      <p:sp>
        <p:nvSpPr>
          <p:cNvPr id="1465" name="Google Shape;1465;p57"/>
          <p:cNvSpPr txBox="1">
            <a:spLocks noGrp="1"/>
          </p:cNvSpPr>
          <p:nvPr>
            <p:ph type="body" idx="1"/>
          </p:nvPr>
        </p:nvSpPr>
        <p:spPr>
          <a:xfrm>
            <a:off x="5749025" y="2761625"/>
            <a:ext cx="28494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Average: (3/4 × </a:t>
            </a: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 sz="1200">
                <a:solidFill>
                  <a:srgbClr val="000000"/>
                </a:solidFill>
              </a:rPr>
              <a:t>max</a:t>
            </a:r>
            <a:r>
              <a:rPr lang="en">
                <a:solidFill>
                  <a:srgbClr val="000000"/>
                </a:solidFill>
              </a:rPr>
              <a:t>)</a:t>
            </a:r>
            <a:r>
              <a:rPr lang="en" sz="1200">
                <a:solidFill>
                  <a:srgbClr val="000000"/>
                </a:solidFill>
              </a:rPr>
              <a:t> </a:t>
            </a:r>
            <a:r>
              <a:rPr lang="en"/>
              <a:t>/ RTT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1466" name="Google Shape;1466;p57"/>
          <p:cNvSpPr txBox="1">
            <a:spLocks noGrp="1"/>
          </p:cNvSpPr>
          <p:nvPr>
            <p:ph type="body" idx="1"/>
          </p:nvPr>
        </p:nvSpPr>
        <p:spPr>
          <a:xfrm>
            <a:off x="3784700" y="3931925"/>
            <a:ext cx="21684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Width = (0.5 × </a:t>
            </a:r>
            <a:r>
              <a:rPr lang="en" sz="1400" i="1">
                <a:solidFill>
                  <a:schemeClr val="accent3"/>
                </a:solidFill>
              </a:rPr>
              <a:t>W</a:t>
            </a:r>
            <a:r>
              <a:rPr lang="en" sz="800">
                <a:solidFill>
                  <a:schemeClr val="accent3"/>
                </a:solidFill>
              </a:rPr>
              <a:t>max</a:t>
            </a:r>
            <a:r>
              <a:rPr lang="en" sz="1400">
                <a:solidFill>
                  <a:schemeClr val="accent3"/>
                </a:solidFill>
              </a:rPr>
              <a:t>) RTT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1467" name="Google Shape;1467;p57"/>
          <p:cNvSpPr txBox="1">
            <a:spLocks noGrp="1"/>
          </p:cNvSpPr>
          <p:nvPr>
            <p:ph type="body" idx="1"/>
          </p:nvPr>
        </p:nvSpPr>
        <p:spPr>
          <a:xfrm>
            <a:off x="2107875" y="4564250"/>
            <a:ext cx="2322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2"/>
                </a:solidFill>
              </a:rPr>
              <a:t>Height = (3/4 × </a:t>
            </a:r>
            <a:r>
              <a:rPr lang="en" sz="1400" i="1">
                <a:solidFill>
                  <a:schemeClr val="accent2"/>
                </a:solidFill>
              </a:rPr>
              <a:t>W</a:t>
            </a:r>
            <a:r>
              <a:rPr lang="en" sz="800">
                <a:solidFill>
                  <a:schemeClr val="accent2"/>
                </a:solidFill>
              </a:rPr>
              <a:t>max</a:t>
            </a:r>
            <a:r>
              <a:rPr lang="en" sz="1400">
                <a:solidFill>
                  <a:schemeClr val="accent2"/>
                </a:solidFill>
              </a:rPr>
              <a:t>) / RTT</a:t>
            </a:r>
            <a:endParaRPr sz="14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1482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483" name="Google Shape;1483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Plug this into our original throughput equation: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84" name="Google Shape;1484;p59"/>
          <p:cNvPicPr preferRelativeResize="0"/>
          <p:nvPr/>
        </p:nvPicPr>
        <p:blipFill rotWithShape="1">
          <a:blip r:embed="rId3">
            <a:alphaModFix/>
          </a:blip>
          <a:srcRect l="16426" t="69829" r="14349"/>
          <a:stretch/>
        </p:blipFill>
        <p:spPr>
          <a:xfrm>
            <a:off x="3302416" y="596164"/>
            <a:ext cx="1437990" cy="6987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5" name="Google Shape;1485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2523" y="1260764"/>
            <a:ext cx="3452110" cy="203703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473;p58">
            <a:extLst>
              <a:ext uri="{FF2B5EF4-FFF2-40B4-BE49-F238E27FC236}">
                <a16:creationId xmlns:a16="http://schemas.microsoft.com/office/drawing/2014/main" id="{3DE3D78B-71A8-EBED-ABFE-EBB6284A9797}"/>
              </a:ext>
            </a:extLst>
          </p:cNvPr>
          <p:cNvSpPr txBox="1">
            <a:spLocks/>
          </p:cNvSpPr>
          <p:nvPr/>
        </p:nvSpPr>
        <p:spPr>
          <a:xfrm>
            <a:off x="231741" y="596164"/>
            <a:ext cx="2511459" cy="66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US"/>
              <a:t>Loss rate = </a:t>
            </a:r>
            <a:r>
              <a:rPr lang="en-US" i="1"/>
              <a:t>p</a:t>
            </a:r>
            <a:r>
              <a:rPr lang="en-US"/>
              <a:t> = </a:t>
            </a:r>
            <a:endParaRPr lang="en-US" dirty="0"/>
          </a:p>
        </p:txBody>
      </p:sp>
      <p:sp>
        <p:nvSpPr>
          <p:cNvPr id="3" name="Google Shape;1474;p58">
            <a:extLst>
              <a:ext uri="{FF2B5EF4-FFF2-40B4-BE49-F238E27FC236}">
                <a16:creationId xmlns:a16="http://schemas.microsoft.com/office/drawing/2014/main" id="{C9456846-05A2-0B8A-1F6D-47FC8E1D200B}"/>
              </a:ext>
            </a:extLst>
          </p:cNvPr>
          <p:cNvSpPr txBox="1"/>
          <p:nvPr/>
        </p:nvSpPr>
        <p:spPr>
          <a:xfrm>
            <a:off x="1857035" y="621945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8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475;p58">
            <a:extLst>
              <a:ext uri="{FF2B5EF4-FFF2-40B4-BE49-F238E27FC236}">
                <a16:creationId xmlns:a16="http://schemas.microsoft.com/office/drawing/2014/main" id="{92CFDB32-66CB-793B-6346-A3CFA1A3CD21}"/>
              </a:ext>
            </a:extLst>
          </p:cNvPr>
          <p:cNvSpPr txBox="1"/>
          <p:nvPr/>
        </p:nvSpPr>
        <p:spPr>
          <a:xfrm>
            <a:off x="1857035" y="902495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max</a:t>
            </a:r>
            <a:r>
              <a:rPr lang="en" sz="1800" baseline="30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 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" name="Google Shape;1476;p58">
            <a:extLst>
              <a:ext uri="{FF2B5EF4-FFF2-40B4-BE49-F238E27FC236}">
                <a16:creationId xmlns:a16="http://schemas.microsoft.com/office/drawing/2014/main" id="{AF82C676-F7F5-C77B-22AB-63752250D6D7}"/>
              </a:ext>
            </a:extLst>
          </p:cNvPr>
          <p:cNvCxnSpPr/>
          <p:nvPr/>
        </p:nvCxnSpPr>
        <p:spPr>
          <a:xfrm>
            <a:off x="1856967" y="897160"/>
            <a:ext cx="7956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1491;p60">
            <a:extLst>
              <a:ext uri="{FF2B5EF4-FFF2-40B4-BE49-F238E27FC236}">
                <a16:creationId xmlns:a16="http://schemas.microsoft.com/office/drawing/2014/main" id="{C6214226-53ED-9EC3-BB7E-E24550745D61}"/>
              </a:ext>
            </a:extLst>
          </p:cNvPr>
          <p:cNvSpPr txBox="1">
            <a:spLocks/>
          </p:cNvSpPr>
          <p:nvPr/>
        </p:nvSpPr>
        <p:spPr>
          <a:xfrm>
            <a:off x="107050" y="1399674"/>
            <a:ext cx="4179934" cy="353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endParaRPr lang="en-US" sz="700" dirty="0"/>
          </a:p>
          <a:p>
            <a:pPr marL="0" indent="0">
              <a:buFont typeface="Roboto"/>
              <a:buNone/>
            </a:pPr>
            <a:r>
              <a:rPr lang="en-US" sz="1600" dirty="0"/>
              <a:t>This tells us that:</a:t>
            </a:r>
          </a:p>
          <a:p>
            <a:r>
              <a:rPr lang="en-US" sz="1600" dirty="0"/>
              <a:t>Throughput is inversely proportional to RTT.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Shorter RTT = higher throughput.</a:t>
            </a:r>
          </a:p>
          <a:p>
            <a:pPr lvl="1">
              <a:spcBef>
                <a:spcPts val="0"/>
              </a:spcBef>
            </a:pPr>
            <a:r>
              <a:rPr lang="en-US" altLang="zh-CN" sz="1600" dirty="0"/>
              <a:t>TCP is unfair when flows have different RTTs.</a:t>
            </a:r>
            <a:endParaRPr lang="en-US" sz="1600" dirty="0"/>
          </a:p>
          <a:p>
            <a:pPr>
              <a:spcBef>
                <a:spcPts val="0"/>
              </a:spcBef>
            </a:pPr>
            <a:r>
              <a:rPr lang="en-US" sz="1600" dirty="0"/>
              <a:t>Throughput is inversely proportional to square root of loss rate.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Lower loss rate = higher throughput.</a:t>
            </a:r>
          </a:p>
        </p:txBody>
      </p:sp>
      <p:sp>
        <p:nvSpPr>
          <p:cNvPr id="7" name="Google Shape;1500;p61">
            <a:extLst>
              <a:ext uri="{FF2B5EF4-FFF2-40B4-BE49-F238E27FC236}">
                <a16:creationId xmlns:a16="http://schemas.microsoft.com/office/drawing/2014/main" id="{2F747B44-49E3-7211-BF3F-6F6A886428D0}"/>
              </a:ext>
            </a:extLst>
          </p:cNvPr>
          <p:cNvSpPr/>
          <p:nvPr/>
        </p:nvSpPr>
        <p:spPr>
          <a:xfrm>
            <a:off x="4401625" y="3613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" name="Google Shape;1501;p61">
            <a:extLst>
              <a:ext uri="{FF2B5EF4-FFF2-40B4-BE49-F238E27FC236}">
                <a16:creationId xmlns:a16="http://schemas.microsoft.com/office/drawing/2014/main" id="{540A3F6B-4430-ECE9-B12F-869FE063BA90}"/>
              </a:ext>
            </a:extLst>
          </p:cNvPr>
          <p:cNvCxnSpPr>
            <a:stCxn id="7" idx="6"/>
            <a:endCxn id="20" idx="1"/>
          </p:cNvCxnSpPr>
          <p:nvPr/>
        </p:nvCxnSpPr>
        <p:spPr>
          <a:xfrm>
            <a:off x="4686625" y="3755700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1503;p61">
            <a:extLst>
              <a:ext uri="{FF2B5EF4-FFF2-40B4-BE49-F238E27FC236}">
                <a16:creationId xmlns:a16="http://schemas.microsoft.com/office/drawing/2014/main" id="{0D9093AE-897A-4217-8EF9-31ACD2F962DE}"/>
              </a:ext>
            </a:extLst>
          </p:cNvPr>
          <p:cNvSpPr/>
          <p:nvPr/>
        </p:nvSpPr>
        <p:spPr>
          <a:xfrm>
            <a:off x="3639625" y="4375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" name="Google Shape;1504;p61">
            <a:extLst>
              <a:ext uri="{FF2B5EF4-FFF2-40B4-BE49-F238E27FC236}">
                <a16:creationId xmlns:a16="http://schemas.microsoft.com/office/drawing/2014/main" id="{37928F8C-D164-58AE-29CB-2687BA04F7D9}"/>
              </a:ext>
            </a:extLst>
          </p:cNvPr>
          <p:cNvCxnSpPr>
            <a:stCxn id="9" idx="6"/>
            <a:endCxn id="20" idx="1"/>
          </p:cNvCxnSpPr>
          <p:nvPr/>
        </p:nvCxnSpPr>
        <p:spPr>
          <a:xfrm rot="10800000" flipH="1">
            <a:off x="3924625" y="4136700"/>
            <a:ext cx="1772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" name="Google Shape;1505;p61">
            <a:extLst>
              <a:ext uri="{FF2B5EF4-FFF2-40B4-BE49-F238E27FC236}">
                <a16:creationId xmlns:a16="http://schemas.microsoft.com/office/drawing/2014/main" id="{BB620947-61A4-6721-6FD2-A654F9280FED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5982028" y="4136700"/>
            <a:ext cx="712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1507;p61">
            <a:extLst>
              <a:ext uri="{FF2B5EF4-FFF2-40B4-BE49-F238E27FC236}">
                <a16:creationId xmlns:a16="http://schemas.microsoft.com/office/drawing/2014/main" id="{550840FF-5D63-8DB8-9183-A98B81FDA719}"/>
              </a:ext>
            </a:extLst>
          </p:cNvPr>
          <p:cNvSpPr/>
          <p:nvPr/>
        </p:nvSpPr>
        <p:spPr>
          <a:xfrm>
            <a:off x="7989950" y="3613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508;p61">
            <a:extLst>
              <a:ext uri="{FF2B5EF4-FFF2-40B4-BE49-F238E27FC236}">
                <a16:creationId xmlns:a16="http://schemas.microsoft.com/office/drawing/2014/main" id="{C58ADDF2-BA3E-43C1-BA28-154E79AF630D}"/>
              </a:ext>
            </a:extLst>
          </p:cNvPr>
          <p:cNvSpPr/>
          <p:nvPr/>
        </p:nvSpPr>
        <p:spPr>
          <a:xfrm>
            <a:off x="8751950" y="4375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" name="Google Shape;1509;p61">
            <a:extLst>
              <a:ext uri="{FF2B5EF4-FFF2-40B4-BE49-F238E27FC236}">
                <a16:creationId xmlns:a16="http://schemas.microsoft.com/office/drawing/2014/main" id="{311A4BBC-A8F7-E7F2-8EF2-3AA1E88E5835}"/>
              </a:ext>
            </a:extLst>
          </p:cNvPr>
          <p:cNvCxnSpPr>
            <a:stCxn id="21" idx="3"/>
            <a:endCxn id="12" idx="2"/>
          </p:cNvCxnSpPr>
          <p:nvPr/>
        </p:nvCxnSpPr>
        <p:spPr>
          <a:xfrm rot="10800000" flipH="1">
            <a:off x="6979553" y="3755700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" name="Google Shape;1510;p61">
            <a:extLst>
              <a:ext uri="{FF2B5EF4-FFF2-40B4-BE49-F238E27FC236}">
                <a16:creationId xmlns:a16="http://schemas.microsoft.com/office/drawing/2014/main" id="{24A4FD04-5DB6-C86C-F1F2-6B4DD78F10B5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>
            <a:off x="6979553" y="4136700"/>
            <a:ext cx="1772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Google Shape;1511;p61">
            <a:extLst>
              <a:ext uri="{FF2B5EF4-FFF2-40B4-BE49-F238E27FC236}">
                <a16:creationId xmlns:a16="http://schemas.microsoft.com/office/drawing/2014/main" id="{A3EBE27C-892B-D993-BBE8-69E10617D0CC}"/>
              </a:ext>
            </a:extLst>
          </p:cNvPr>
          <p:cNvSpPr/>
          <p:nvPr/>
        </p:nvSpPr>
        <p:spPr>
          <a:xfrm>
            <a:off x="4617025" y="3672311"/>
            <a:ext cx="3485525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Google Shape;1512;p61">
            <a:extLst>
              <a:ext uri="{FF2B5EF4-FFF2-40B4-BE49-F238E27FC236}">
                <a16:creationId xmlns:a16="http://schemas.microsoft.com/office/drawing/2014/main" id="{2E0AA8F7-ACA3-6442-0FC7-69E705C281FA}"/>
              </a:ext>
            </a:extLst>
          </p:cNvPr>
          <p:cNvSpPr/>
          <p:nvPr/>
        </p:nvSpPr>
        <p:spPr>
          <a:xfrm rot="10800000" flipH="1">
            <a:off x="3837250" y="4190011"/>
            <a:ext cx="5018807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Google Shape;1513;p61">
            <a:extLst>
              <a:ext uri="{FF2B5EF4-FFF2-40B4-BE49-F238E27FC236}">
                <a16:creationId xmlns:a16="http://schemas.microsoft.com/office/drawing/2014/main" id="{95E167D7-F21B-6A68-1EF2-F8592094677B}"/>
              </a:ext>
            </a:extLst>
          </p:cNvPr>
          <p:cNvSpPr txBox="1"/>
          <p:nvPr/>
        </p:nvSpPr>
        <p:spPr>
          <a:xfrm>
            <a:off x="5864589" y="3739536"/>
            <a:ext cx="1114961" cy="2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RTT = 100ms</a:t>
            </a:r>
            <a:endParaRPr dirty="0"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Google Shape;1514;p61">
            <a:extLst>
              <a:ext uri="{FF2B5EF4-FFF2-40B4-BE49-F238E27FC236}">
                <a16:creationId xmlns:a16="http://schemas.microsoft.com/office/drawing/2014/main" id="{DCD6E4F8-3525-5681-0ACB-A985067555E9}"/>
              </a:ext>
            </a:extLst>
          </p:cNvPr>
          <p:cNvSpPr txBox="1"/>
          <p:nvPr/>
        </p:nvSpPr>
        <p:spPr>
          <a:xfrm>
            <a:off x="5839528" y="4292348"/>
            <a:ext cx="1123448" cy="2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RTT = 200ms</a:t>
            </a:r>
            <a:endParaRPr dirty="0"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" name="Google Shape;1502;p61">
            <a:extLst>
              <a:ext uri="{FF2B5EF4-FFF2-40B4-BE49-F238E27FC236}">
                <a16:creationId xmlns:a16="http://schemas.microsoft.com/office/drawing/2014/main" id="{2BF90948-B8B1-9081-59A4-A57BC796D593}"/>
              </a:ext>
            </a:extLst>
          </p:cNvPr>
          <p:cNvSpPr/>
          <p:nvPr/>
        </p:nvSpPr>
        <p:spPr>
          <a:xfrm>
            <a:off x="5697028" y="3994200"/>
            <a:ext cx="285000" cy="285000"/>
          </a:xfrm>
          <a:prstGeom prst="rect">
            <a:avLst/>
          </a:prstGeom>
          <a:solidFill>
            <a:srgbClr val="FFFFFF">
              <a:alpha val="75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" name="Google Shape;1506;p61">
            <a:extLst>
              <a:ext uri="{FF2B5EF4-FFF2-40B4-BE49-F238E27FC236}">
                <a16:creationId xmlns:a16="http://schemas.microsoft.com/office/drawing/2014/main" id="{7E7EBF21-77E6-95B7-9E7C-74BA765FDC69}"/>
              </a:ext>
            </a:extLst>
          </p:cNvPr>
          <p:cNvSpPr/>
          <p:nvPr/>
        </p:nvSpPr>
        <p:spPr>
          <a:xfrm>
            <a:off x="6694553" y="3994200"/>
            <a:ext cx="285000" cy="285000"/>
          </a:xfrm>
          <a:prstGeom prst="rect">
            <a:avLst/>
          </a:prstGeom>
          <a:solidFill>
            <a:srgbClr val="FFFFFF">
              <a:alpha val="75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734F43-5476-12B2-00A4-4AEEBEE4F56E}"/>
              </a:ext>
            </a:extLst>
          </p:cNvPr>
          <p:cNvSpPr txBox="1"/>
          <p:nvPr/>
        </p:nvSpPr>
        <p:spPr>
          <a:xfrm>
            <a:off x="4785431" y="4562101"/>
            <a:ext cx="37109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rgbClr val="FF00FF"/>
                </a:solidFill>
              </a:rPr>
              <a:t>A–B</a:t>
            </a:r>
            <a:r>
              <a:rPr lang="en-US" altLang="zh-CN" dirty="0"/>
              <a:t> gets twice as much bandwidth as </a:t>
            </a:r>
            <a:r>
              <a:rPr lang="en-US" altLang="zh-CN" dirty="0">
                <a:solidFill>
                  <a:srgbClr val="F1C232"/>
                </a:solidFill>
              </a:rPr>
              <a:t>X–0Y</a:t>
            </a:r>
            <a:endParaRPr lang="en-US" altLang="zh-CN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AB23B7E-DCFD-9FBA-2279-AC6D19203648}"/>
              </a:ext>
            </a:extLst>
          </p:cNvPr>
          <p:cNvSpPr/>
          <p:nvPr/>
        </p:nvSpPr>
        <p:spPr>
          <a:xfrm>
            <a:off x="6629400" y="2571749"/>
            <a:ext cx="1524000" cy="719513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Consequences of Equation (2/2): Rate-Based Congestion Control</a:t>
            </a:r>
            <a:endParaRPr/>
          </a:p>
        </p:txBody>
      </p:sp>
      <p:sp>
        <p:nvSpPr>
          <p:cNvPr id="1520" name="Google Shape;1520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4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80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Throughput =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throughput is choppy: Rate oscillates between </a:t>
            </a:r>
            <a:r>
              <a:rPr lang="en" i="1"/>
              <a:t>W</a:t>
            </a:r>
            <a:r>
              <a:rPr lang="en"/>
              <a:t>/2 and </a:t>
            </a:r>
            <a:r>
              <a:rPr lang="en" i="1"/>
              <a:t>W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 applications (e.g. video streaming) would prefer sending at a steady rate.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Equation-based congestion control.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Abandon TCP's adjustment rules, and just follow the equation.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Measure RTT, measure </a:t>
            </a:r>
            <a:r>
              <a:rPr lang="en" i="1"/>
              <a:t>p</a:t>
            </a:r>
            <a:r>
              <a:rPr lang="en"/>
              <a:t>, and compute the rate accordingly.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Using the equation ensures fairness: We don't use more bandwidth than TCP would.</a:t>
            </a:r>
            <a:endParaRPr/>
          </a:p>
        </p:txBody>
      </p:sp>
      <p:pic>
        <p:nvPicPr>
          <p:cNvPr id="1521" name="Google Shape;1521;p62"/>
          <p:cNvPicPr preferRelativeResize="0"/>
          <p:nvPr/>
        </p:nvPicPr>
        <p:blipFill rotWithShape="1">
          <a:blip r:embed="rId3">
            <a:alphaModFix/>
          </a:blip>
          <a:srcRect l="42314" t="64343" r="12195"/>
          <a:stretch/>
        </p:blipFill>
        <p:spPr>
          <a:xfrm>
            <a:off x="1624925" y="505275"/>
            <a:ext cx="1822750" cy="843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2" name="Google Shape;1522;p62"/>
          <p:cNvSpPr/>
          <p:nvPr/>
        </p:nvSpPr>
        <p:spPr>
          <a:xfrm>
            <a:off x="2171600" y="40013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523" name="Google Shape;1523;p62"/>
          <p:cNvCxnSpPr>
            <a:stCxn id="1524" idx="0"/>
          </p:cNvCxnSpPr>
          <p:nvPr/>
        </p:nvCxnSpPr>
        <p:spPr>
          <a:xfrm rot="10800000">
            <a:off x="5332650" y="481313"/>
            <a:ext cx="219900" cy="32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24" name="Google Shape;1524;p62"/>
          <p:cNvSpPr txBox="1"/>
          <p:nvPr/>
        </p:nvSpPr>
        <p:spPr>
          <a:xfrm>
            <a:off x="4572000" y="806813"/>
            <a:ext cx="19611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Look up RFC 5348 for spec.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Google Shape;1529;p6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Implementation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State Machine and Variants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TCP Throughput Model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Issues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Router-Assisted Congestion Control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30" name="Google Shape;1530;p6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Issues</a:t>
            </a:r>
            <a:endParaRPr/>
          </a:p>
        </p:txBody>
      </p:sp>
      <p:sp>
        <p:nvSpPr>
          <p:cNvPr id="1531" name="Google Shape;1531;p6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Issues</a:t>
            </a:r>
            <a:endParaRPr/>
          </a:p>
        </p:txBody>
      </p:sp>
      <p:sp>
        <p:nvSpPr>
          <p:cNvPr id="1537" name="Google Shape;1537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We'll look at 5 issues (and potential solutions):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Confusing corruption and congestion.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Short connections complete before discovering available capacity.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Router queues get filled up, causing high delays.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Cheating.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Congestion control and reliability are intertwined.</a:t>
            </a:r>
            <a:endParaRPr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Google Shape;1542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Issues (1/5): Confusing Corruption and Congestion</a:t>
            </a:r>
            <a:endParaRPr dirty="0"/>
          </a:p>
        </p:txBody>
      </p:sp>
      <p:sp>
        <p:nvSpPr>
          <p:cNvPr id="1543" name="Google Shape;1543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detects congestion by checking for loss.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Loss could also occur due to corruption.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will confuse corruption with congestion.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From the equation: Higher loss = lower throughput.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true, even if the losses aren't due to congestion!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Equation could be used to analyze how TCP would perform on a lossy link (high corruption rate).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(2/5): Short Connections</a:t>
            </a:r>
            <a:endParaRPr/>
          </a:p>
        </p:txBody>
      </p:sp>
      <p:sp>
        <p:nvSpPr>
          <p:cNvPr id="1549" name="Google Shape;1549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8566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Most real-life TCP connections are really short.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50% of connections send fewer than 1.5 KB.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80% of connections send fewer than 100 KB.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Very few packets (maybe only one) are sent.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Many connections stay in slow-start the whole time.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Short connections likely to suffer from high latency.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 enough packets to trigger duplicate acks.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Isolated loss may lead to timeouts.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Timeouts can severely increase latency.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Partial fix: Start with a higher initial </a:t>
            </a:r>
            <a:r>
              <a:rPr lang="en" i="1"/>
              <a:t>CWND</a:t>
            </a:r>
            <a:r>
              <a:rPr lang="en"/>
              <a:t>.</a:t>
            </a:r>
            <a:endParaRPr/>
          </a:p>
        </p:txBody>
      </p:sp>
      <p:cxnSp>
        <p:nvCxnSpPr>
          <p:cNvPr id="1550" name="Google Shape;1550;p66"/>
          <p:cNvCxnSpPr>
            <a:stCxn id="1551" idx="0"/>
          </p:cNvCxnSpPr>
          <p:nvPr/>
        </p:nvCxnSpPr>
        <p:spPr>
          <a:xfrm rot="10800000">
            <a:off x="2873175" y="4167500"/>
            <a:ext cx="219900" cy="32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51" name="Google Shape;1551;p66"/>
          <p:cNvSpPr txBox="1"/>
          <p:nvPr/>
        </p:nvSpPr>
        <p:spPr>
          <a:xfrm>
            <a:off x="2257425" y="4493000"/>
            <a:ext cx="16713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Look up RFC 5348 for experiments on this.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2" name="Google Shape;1552;p66"/>
          <p:cNvSpPr txBox="1"/>
          <p:nvPr/>
        </p:nvSpPr>
        <p:spPr>
          <a:xfrm>
            <a:off x="5884163" y="3239775"/>
            <a:ext cx="748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3" name="Google Shape;1553;p66"/>
          <p:cNvSpPr txBox="1"/>
          <p:nvPr/>
        </p:nvSpPr>
        <p:spPr>
          <a:xfrm>
            <a:off x="8128113" y="3239775"/>
            <a:ext cx="932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4" name="Google Shape;1554;p66"/>
          <p:cNvCxnSpPr/>
          <p:nvPr/>
        </p:nvCxnSpPr>
        <p:spPr>
          <a:xfrm>
            <a:off x="6258575" y="538025"/>
            <a:ext cx="0" cy="26991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5" name="Google Shape;1555;p66"/>
          <p:cNvCxnSpPr/>
          <p:nvPr/>
        </p:nvCxnSpPr>
        <p:spPr>
          <a:xfrm>
            <a:off x="8594175" y="538025"/>
            <a:ext cx="0" cy="26991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6" name="Google Shape;1556;p66"/>
          <p:cNvCxnSpPr/>
          <p:nvPr/>
        </p:nvCxnSpPr>
        <p:spPr>
          <a:xfrm>
            <a:off x="6261575" y="8414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7" name="Google Shape;1557;p66"/>
          <p:cNvCxnSpPr/>
          <p:nvPr/>
        </p:nvCxnSpPr>
        <p:spPr>
          <a:xfrm flipH="1">
            <a:off x="6261575" y="13367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8" name="Google Shape;1558;p66"/>
          <p:cNvCxnSpPr/>
          <p:nvPr/>
        </p:nvCxnSpPr>
        <p:spPr>
          <a:xfrm>
            <a:off x="6261575" y="18320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9" name="Google Shape;1559;p66"/>
          <p:cNvCxnSpPr/>
          <p:nvPr/>
        </p:nvCxnSpPr>
        <p:spPr>
          <a:xfrm>
            <a:off x="6261575" y="19844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0" name="Google Shape;1560;p66"/>
          <p:cNvCxnSpPr/>
          <p:nvPr/>
        </p:nvCxnSpPr>
        <p:spPr>
          <a:xfrm flipH="1">
            <a:off x="6261575" y="23273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1" name="Google Shape;1561;p66"/>
          <p:cNvCxnSpPr/>
          <p:nvPr/>
        </p:nvCxnSpPr>
        <p:spPr>
          <a:xfrm flipH="1">
            <a:off x="6261575" y="24797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62" name="Google Shape;1562;p66"/>
          <p:cNvSpPr txBox="1"/>
          <p:nvPr/>
        </p:nvSpPr>
        <p:spPr>
          <a:xfrm>
            <a:off x="5823125" y="3730100"/>
            <a:ext cx="3200700" cy="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Recall slow start: Start with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= 1, double every RTT.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It took ≈2 RTTs to send 3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(3/5): Router Queues Get Filled Up</a:t>
            </a:r>
            <a:endParaRPr/>
          </a:p>
        </p:txBody>
      </p:sp>
      <p:sp>
        <p:nvSpPr>
          <p:cNvPr id="1568" name="Google Shape;1568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deliberately overshoots capacity until packets get dropped.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Recall: Loss occurs when the queue is full.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then, the queue is already full, and packets are delayed.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Result: Delays are large for everybody.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Someone is transferring a 10 GB file. Queues are filled with their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want to download a 100 byte file. You're stuck waiting in the queue.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problem is even worse if routers keep really long queues.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Bufferbloat</a:t>
            </a:r>
            <a:r>
              <a:rPr lang="en"/>
              <a:t>: Routers have excessive memory, and maintain long queues.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loss occurs, everybody is already waiting in a really long queue.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Google Shape;1573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(3/5): Router Queues Get Filled Up</a:t>
            </a:r>
            <a:endParaRPr/>
          </a:p>
        </p:txBody>
      </p:sp>
      <p:sp>
        <p:nvSpPr>
          <p:cNvPr id="1574" name="Google Shape;1574;p6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Possible solution: Google's BBR algorithm (2016).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Detects congestion using </a:t>
            </a:r>
            <a:r>
              <a:rPr lang="en" i="1"/>
              <a:t>delay</a:t>
            </a:r>
            <a:r>
              <a:rPr lang="en"/>
              <a:t> instead of </a:t>
            </a:r>
            <a:r>
              <a:rPr lang="en" i="1"/>
              <a:t>loss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learns its minimum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slows down if it observes RTTs exceeding the minimum.</a:t>
            </a:r>
            <a:endParaRPr/>
          </a:p>
        </p:txBody>
      </p:sp>
      <p:sp>
        <p:nvSpPr>
          <p:cNvPr id="1576" name="Google Shape;1576;p68"/>
          <p:cNvSpPr txBox="1"/>
          <p:nvPr/>
        </p:nvSpPr>
        <p:spPr>
          <a:xfrm>
            <a:off x="2636850" y="224737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7" name="Google Shape;1577;p68"/>
          <p:cNvSpPr txBox="1"/>
          <p:nvPr/>
        </p:nvSpPr>
        <p:spPr>
          <a:xfrm>
            <a:off x="3342300" y="30210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8" name="Google Shape;1578;p68"/>
          <p:cNvCxnSpPr>
            <a:stCxn id="1576" idx="2"/>
            <a:endCxn id="1577" idx="0"/>
          </p:cNvCxnSpPr>
          <p:nvPr/>
        </p:nvCxnSpPr>
        <p:spPr>
          <a:xfrm>
            <a:off x="3983400" y="2518275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9" name="Google Shape;1579;p68"/>
          <p:cNvSpPr txBox="1"/>
          <p:nvPr/>
        </p:nvSpPr>
        <p:spPr>
          <a:xfrm>
            <a:off x="2046900" y="30210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0" name="Google Shape;1580;p68"/>
          <p:cNvCxnSpPr>
            <a:stCxn id="1576" idx="2"/>
            <a:endCxn id="1579" idx="0"/>
          </p:cNvCxnSpPr>
          <p:nvPr/>
        </p:nvCxnSpPr>
        <p:spPr>
          <a:xfrm flipH="1">
            <a:off x="2688000" y="25182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1" name="Google Shape;1581;p68"/>
          <p:cNvSpPr txBox="1"/>
          <p:nvPr/>
        </p:nvSpPr>
        <p:spPr>
          <a:xfrm>
            <a:off x="4351800" y="3021075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2" name="Google Shape;1582;p68"/>
          <p:cNvCxnSpPr>
            <a:stCxn id="1576" idx="2"/>
            <a:endCxn id="1581" idx="0"/>
          </p:cNvCxnSpPr>
          <p:nvPr/>
        </p:nvCxnSpPr>
        <p:spPr>
          <a:xfrm>
            <a:off x="3983400" y="25182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3" name="Google Shape;1583;p68"/>
          <p:cNvSpPr txBox="1"/>
          <p:nvPr/>
        </p:nvSpPr>
        <p:spPr>
          <a:xfrm>
            <a:off x="5746500" y="3794775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4" name="Google Shape;1584;p68"/>
          <p:cNvSpPr txBox="1"/>
          <p:nvPr/>
        </p:nvSpPr>
        <p:spPr>
          <a:xfrm>
            <a:off x="3624925" y="37947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5" name="Google Shape;1585;p68"/>
          <p:cNvCxnSpPr>
            <a:stCxn id="1581" idx="2"/>
            <a:endCxn id="1584" idx="0"/>
          </p:cNvCxnSpPr>
          <p:nvPr/>
        </p:nvCxnSpPr>
        <p:spPr>
          <a:xfrm flipH="1">
            <a:off x="4150500" y="3291975"/>
            <a:ext cx="11283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6" name="Google Shape;1586;p68"/>
          <p:cNvCxnSpPr>
            <a:stCxn id="1581" idx="2"/>
            <a:endCxn id="1583" idx="0"/>
          </p:cNvCxnSpPr>
          <p:nvPr/>
        </p:nvCxnSpPr>
        <p:spPr>
          <a:xfrm>
            <a:off x="5278800" y="3291975"/>
            <a:ext cx="11430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7" name="Google Shape;1587;p68"/>
          <p:cNvSpPr txBox="1"/>
          <p:nvPr/>
        </p:nvSpPr>
        <p:spPr>
          <a:xfrm>
            <a:off x="3015325" y="45684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Loss-based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8" name="Google Shape;1588;p68"/>
          <p:cNvSpPr txBox="1"/>
          <p:nvPr/>
        </p:nvSpPr>
        <p:spPr>
          <a:xfrm>
            <a:off x="4234525" y="45684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Delay-based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9" name="Google Shape;1589;p68"/>
          <p:cNvCxnSpPr>
            <a:stCxn id="1584" idx="2"/>
            <a:endCxn id="1587" idx="0"/>
          </p:cNvCxnSpPr>
          <p:nvPr/>
        </p:nvCxnSpPr>
        <p:spPr>
          <a:xfrm flipH="1">
            <a:off x="3540925" y="40656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0" name="Google Shape;1590;p68"/>
          <p:cNvCxnSpPr>
            <a:stCxn id="1584" idx="2"/>
            <a:endCxn id="1588" idx="0"/>
          </p:cNvCxnSpPr>
          <p:nvPr/>
        </p:nvCxnSpPr>
        <p:spPr>
          <a:xfrm>
            <a:off x="4150525" y="40656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1" name="Google Shape;1591;p68"/>
          <p:cNvSpPr/>
          <p:nvPr/>
        </p:nvSpPr>
        <p:spPr>
          <a:xfrm>
            <a:off x="4234525" y="45684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2" name="Google Shape;1592;p68"/>
          <p:cNvSpPr txBox="1"/>
          <p:nvPr/>
        </p:nvSpPr>
        <p:spPr>
          <a:xfrm>
            <a:off x="5346900" y="4568475"/>
            <a:ext cx="495625" cy="303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BBR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3" name="Google Shape;1593;p68"/>
          <p:cNvSpPr txBox="1"/>
          <p:nvPr/>
        </p:nvSpPr>
        <p:spPr>
          <a:xfrm>
            <a:off x="2599512" y="4568475"/>
            <a:ext cx="495625" cy="303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68"/>
          <p:cNvSpPr/>
          <p:nvPr/>
        </p:nvSpPr>
        <p:spPr>
          <a:xfrm>
            <a:off x="3015325" y="45684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(4/5): Cheating</a:t>
            </a:r>
            <a:endParaRPr/>
          </a:p>
        </p:txBody>
      </p:sp>
      <p:sp>
        <p:nvSpPr>
          <p:cNvPr id="1600" name="Google Shape;1600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Nobody is enforcing that users follow the TCP congestion control algorithm.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Cheating strategy: Change the algorithm.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 the window faster (+2, instead of +1).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 with a large initial </a:t>
            </a:r>
            <a:r>
              <a:rPr lang="en" i="1"/>
              <a:t>CWND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Cheating strategy: Open lots of connections.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shares bandwidth between connections.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Alice opens 10 connections, and Bob opens 1, then Alice gets 10x more bandwidth.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Issues (4/5): Cheating</a:t>
            </a:r>
            <a:endParaRPr/>
          </a:p>
        </p:txBody>
      </p:sp>
      <p:sp>
        <p:nvSpPr>
          <p:cNvPr id="1606" name="Google Shape;1606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Applying graphical model to a cheating host: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X increases by 2 per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 increases by 1 per RTT.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additively: (</a:t>
            </a:r>
            <a:r>
              <a:rPr lang="en" i="1"/>
              <a:t>X </a:t>
            </a:r>
            <a:r>
              <a:rPr lang="en"/>
              <a:t>+ 2</a:t>
            </a:r>
            <a:r>
              <a:rPr lang="en" i="1"/>
              <a:t>a</a:t>
            </a:r>
            <a:r>
              <a:rPr lang="en"/>
              <a:t>, </a:t>
            </a:r>
            <a:r>
              <a:rPr lang="en" i="1"/>
              <a:t>Y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Slope of this line is now 1/2, not 1.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Fairness/efficiency lines now meet at (2/3, 1/3).</a:t>
            </a:r>
            <a:endParaRPr/>
          </a:p>
        </p:txBody>
      </p:sp>
      <p:grpSp>
        <p:nvGrpSpPr>
          <p:cNvPr id="1607" name="Google Shape;1607;p70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1608" name="Google Shape;1608;p70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09" name="Google Shape;1609;p70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10" name="Google Shape;1610;p70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11" name="Google Shape;1611;p70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1612" name="Google Shape;1612;p70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13" name="Google Shape;1613;p70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14" name="Google Shape;1614;p70"/>
            <p:cNvCxnSpPr>
              <a:stCxn id="1615" idx="1"/>
              <a:endCxn id="161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616" name="Google Shape;1616;p70"/>
          <p:cNvCxnSpPr>
            <a:stCxn id="1617" idx="1"/>
            <a:endCxn id="161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9" name="Google Shape;1619;p70"/>
          <p:cNvCxnSpPr>
            <a:endCxn id="1620" idx="3"/>
          </p:cNvCxnSpPr>
          <p:nvPr/>
        </p:nvCxnSpPr>
        <p:spPr>
          <a:xfrm rot="10800000" flipH="1">
            <a:off x="5306100" y="2835800"/>
            <a:ext cx="3303600" cy="1656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1" name="Google Shape;1621;p70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2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2" name="Google Shape;1622;p70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3" name="Google Shape;1623;p70"/>
          <p:cNvSpPr txBox="1"/>
          <p:nvPr/>
        </p:nvSpPr>
        <p:spPr>
          <a:xfrm>
            <a:off x="5843955" y="3195750"/>
            <a:ext cx="445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4" name="Google Shape;1624;p70"/>
          <p:cNvSpPr/>
          <p:nvPr/>
        </p:nvSpPr>
        <p:spPr>
          <a:xfrm>
            <a:off x="6317412" y="3233862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5" name="Google Shape;1625;p70"/>
          <p:cNvSpPr txBox="1"/>
          <p:nvPr/>
        </p:nvSpPr>
        <p:spPr>
          <a:xfrm>
            <a:off x="6970475" y="2286300"/>
            <a:ext cx="90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+2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6" name="Google Shape;1626;p70"/>
          <p:cNvSpPr/>
          <p:nvPr/>
        </p:nvSpPr>
        <p:spPr>
          <a:xfrm>
            <a:off x="7919571" y="243282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7" name="Google Shape;1627;p70"/>
          <p:cNvCxnSpPr/>
          <p:nvPr/>
        </p:nvCxnSpPr>
        <p:spPr>
          <a:xfrm rot="10800000" flipH="1">
            <a:off x="6409132" y="2501696"/>
            <a:ext cx="1584300" cy="79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32" name="Google Shape;1632;p71"/>
          <p:cNvCxnSpPr/>
          <p:nvPr/>
        </p:nvCxnSpPr>
        <p:spPr>
          <a:xfrm rot="10800000" flipH="1">
            <a:off x="5312529" y="3177383"/>
            <a:ext cx="2057700" cy="13149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33" name="Google Shape;1633;p71"/>
          <p:cNvCxnSpPr/>
          <p:nvPr/>
        </p:nvCxnSpPr>
        <p:spPr>
          <a:xfrm rot="10800000" flipH="1">
            <a:off x="5312529" y="2497883"/>
            <a:ext cx="1538100" cy="19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34" name="Google Shape;1634;p71"/>
          <p:cNvCxnSpPr/>
          <p:nvPr/>
        </p:nvCxnSpPr>
        <p:spPr>
          <a:xfrm rot="10800000" flipH="1">
            <a:off x="5312450" y="1610450"/>
            <a:ext cx="876600" cy="28818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35" name="Google Shape;1635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Adjustments on Graph</a:t>
            </a:r>
            <a:endParaRPr/>
          </a:p>
        </p:txBody>
      </p:sp>
      <p:sp>
        <p:nvSpPr>
          <p:cNvPr id="1636" name="Google Shape;1636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+2 (X), +1(Y)		Decrease: ÷2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Because X is cheating, AIMD converges toward a "fairness" line where X has twice as much bandwidth as Y.</a:t>
            </a:r>
            <a:endParaRPr/>
          </a:p>
        </p:txBody>
      </p:sp>
      <p:grpSp>
        <p:nvGrpSpPr>
          <p:cNvPr id="1637" name="Google Shape;1637;p7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1638" name="Google Shape;1638;p7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39" name="Google Shape;1639;p7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40" name="Google Shape;1640;p7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41" name="Google Shape;1641;p7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1642" name="Google Shape;1642;p7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43" name="Google Shape;1643;p7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44" name="Google Shape;1644;p71"/>
            <p:cNvCxnSpPr>
              <a:stCxn id="1645" idx="1"/>
              <a:endCxn id="164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646" name="Google Shape;1646;p71"/>
          <p:cNvCxnSpPr>
            <a:stCxn id="1647" idx="1"/>
            <a:endCxn id="164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49" name="Google Shape;1649;p7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0" name="Google Shape;1650;p71"/>
          <p:cNvCxnSpPr/>
          <p:nvPr/>
        </p:nvCxnSpPr>
        <p:spPr>
          <a:xfrm rot="10800000" flipH="1">
            <a:off x="5306100" y="2835800"/>
            <a:ext cx="3303600" cy="1656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1" name="Google Shape;1651;p7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2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2" name="Google Shape;1652;p71"/>
          <p:cNvSpPr/>
          <p:nvPr/>
        </p:nvSpPr>
        <p:spPr>
          <a:xfrm>
            <a:off x="5561521" y="1851425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3" name="Google Shape;1653;p71"/>
          <p:cNvCxnSpPr/>
          <p:nvPr/>
        </p:nvCxnSpPr>
        <p:spPr>
          <a:xfrm rot="10800000" flipH="1">
            <a:off x="5634475" y="1609992"/>
            <a:ext cx="557400" cy="279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4" name="Google Shape;1654;p71"/>
          <p:cNvCxnSpPr/>
          <p:nvPr/>
        </p:nvCxnSpPr>
        <p:spPr>
          <a:xfrm flipH="1">
            <a:off x="5755000" y="1610850"/>
            <a:ext cx="434100" cy="1424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55" name="Google Shape;1655;p71"/>
          <p:cNvCxnSpPr/>
          <p:nvPr/>
        </p:nvCxnSpPr>
        <p:spPr>
          <a:xfrm rot="10800000" flipH="1">
            <a:off x="5750537" y="2500974"/>
            <a:ext cx="1098600" cy="5499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6" name="Google Shape;1656;p71"/>
          <p:cNvCxnSpPr/>
          <p:nvPr/>
        </p:nvCxnSpPr>
        <p:spPr>
          <a:xfrm rot="10800000" flipH="1">
            <a:off x="6073850" y="2497825"/>
            <a:ext cx="776700" cy="10065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657" name="Google Shape;1657;p71"/>
          <p:cNvCxnSpPr/>
          <p:nvPr/>
        </p:nvCxnSpPr>
        <p:spPr>
          <a:xfrm rot="10800000" flipH="1">
            <a:off x="5312529" y="2964983"/>
            <a:ext cx="1858800" cy="1527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58" name="Google Shape;1658;p71"/>
          <p:cNvCxnSpPr/>
          <p:nvPr/>
        </p:nvCxnSpPr>
        <p:spPr>
          <a:xfrm rot="10800000" flipH="1">
            <a:off x="6070816" y="2959027"/>
            <a:ext cx="1108500" cy="555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9" name="Google Shape;1659;p71"/>
          <p:cNvCxnSpPr/>
          <p:nvPr/>
        </p:nvCxnSpPr>
        <p:spPr>
          <a:xfrm rot="10800000" flipH="1">
            <a:off x="6255700" y="2959575"/>
            <a:ext cx="921300" cy="7575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660" name="Google Shape;1660;p71"/>
          <p:cNvCxnSpPr/>
          <p:nvPr/>
        </p:nvCxnSpPr>
        <p:spPr>
          <a:xfrm rot="10800000" flipH="1">
            <a:off x="6268459" y="3175740"/>
            <a:ext cx="1105500" cy="552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1" name="Google Shape;1661;p71"/>
          <p:cNvCxnSpPr/>
          <p:nvPr/>
        </p:nvCxnSpPr>
        <p:spPr>
          <a:xfrm rot="10800000" flipH="1">
            <a:off x="6440727" y="3174552"/>
            <a:ext cx="932100" cy="598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Issues (4/5): Cheating</a:t>
            </a:r>
            <a:endParaRPr/>
          </a:p>
        </p:txBody>
      </p:sp>
      <p:sp>
        <p:nvSpPr>
          <p:cNvPr id="1667" name="Google Shape;1667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Why hasn't the Internet suffered congestion collapse? Some theories: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Cheaters might get an unfair share of bandwidth, but they still follow basic congestion control rules (e.g. slow down when loss occurs).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Contrast with the 1980s: Everybody sent at maximum rate, no adjusting.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 is implemented in the operating system.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Most users probably aren't changing their OS code.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much cheating occurs in practice?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don't really know. Measuring cheating is hard.</a:t>
            </a:r>
            <a:endParaRPr dirty="0"/>
          </a:p>
        </p:txBody>
      </p:sp>
      <p:graphicFrame>
        <p:nvGraphicFramePr>
          <p:cNvPr id="1668" name="Google Shape;1668;p72"/>
          <p:cNvGraphicFramePr/>
          <p:nvPr/>
        </p:nvGraphicFramePr>
        <p:xfrm>
          <a:off x="1199700" y="3512835"/>
          <a:ext cx="6744600" cy="1402030"/>
        </p:xfrm>
        <a:graphic>
          <a:graphicData uri="http://schemas.openxmlformats.org/drawingml/2006/table">
            <a:tbl>
              <a:tblPr>
                <a:noFill/>
                <a:tableStyleId>{F42FFB72-2E00-4C84-A838-785EF1CB27BB}</a:tableStyleId>
              </a:tblPr>
              <a:tblGrid>
                <a:gridCol w="3372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2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108585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u="sng">
                          <a:solidFill>
                            <a:schemeClr val="hlink"/>
                          </a:solidFill>
                          <a:hlinkClick r:id="rId3"/>
                        </a:rPr>
                        <a:t>Link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650">
                <a:tc grid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>
                          <a:solidFill>
                            <a:srgbClr val="595959"/>
                          </a:solidFill>
                        </a:rPr>
                        <a:t>Google’s Network Congestion Algorithm Isn’t Fair, Researchers Say</a:t>
                      </a:r>
                      <a:endParaRPr sz="1600" b="1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i="1">
                          <a:solidFill>
                            <a:srgbClr val="595959"/>
                          </a:solidFill>
                        </a:rPr>
                        <a:t>Karl Bode</a:t>
                      </a:r>
                      <a:endParaRPr i="1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i="1">
                          <a:solidFill>
                            <a:srgbClr val="595959"/>
                          </a:solidFill>
                        </a:rPr>
                        <a:t>October 31, 2019</a:t>
                      </a:r>
                      <a:endParaRPr i="1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669" name="Google Shape;1669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2750" y="3586550"/>
            <a:ext cx="154305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4" name="Google Shape;1674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(5/5): Congestion Control and Reliability are Intertwined</a:t>
            </a:r>
            <a:endParaRPr/>
          </a:p>
        </p:txBody>
      </p:sp>
      <p:sp>
        <p:nvSpPr>
          <p:cNvPr id="1675" name="Google Shape;1675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Mechanisms for congestion control and reliability are tightly coupled.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design choice from the 1980s. (TCP was patched to stop congestion collapse.)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CWND is adjusted based on acks and timeouts.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We detect loss/congestion with duplicate acks, because TCP uses cumulative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complicates evolution.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If we wanted to switch from cumulative to selective acks, we'd have to change the congestion control algorithm too.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a failure of modularity, not layering.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Sometimes we only want one, but not the other.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Congestion control, no reliability: Video streaming.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Reliability, no congestion control: Lightweight application (one packet per hour).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0" name="Google Shape;1680;p7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Implementation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State Machine and Variants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TCP Throughput Model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Issues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Router-Assisted Congestion Control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1" name="Google Shape;1681;p7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Router-Assisted Congestion Control</a:t>
            </a:r>
            <a:endParaRPr/>
          </a:p>
        </p:txBody>
      </p:sp>
      <p:sp>
        <p:nvSpPr>
          <p:cNvPr id="1682" name="Google Shape;1682;p7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Google Shape;1687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Router-Assisted Congestion Control</a:t>
            </a:r>
            <a:endParaRPr/>
          </a:p>
        </p:txBody>
      </p:sp>
      <p:sp>
        <p:nvSpPr>
          <p:cNvPr id="1688" name="Google Shape;1688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Many of our issues could be fixed with some help from routers!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Confusing corruption and congestion.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Short connections complete before discovering available capacity.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Router queues get filled up, causing high delays.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Cheating.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Congestion control and reliability are intertwined.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Two ways routers can help: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 b="1" dirty="0">
                <a:solidFill>
                  <a:schemeClr val="accent3"/>
                </a:solidFill>
              </a:rPr>
              <a:t>Enforce fairness. (Helps with 4.)</a:t>
            </a:r>
            <a:endParaRPr b="1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 information to hosts. (Helps with 1, 2, 3.)</a:t>
            </a:r>
            <a:endParaRPr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3" name="Google Shape;1693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Enforcing Fairness</a:t>
            </a:r>
            <a:endParaRPr/>
          </a:p>
        </p:txBody>
      </p:sp>
      <p:sp>
        <p:nvSpPr>
          <p:cNvPr id="1694" name="Google Shape;1694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can routers ensure each flow gets its fair share?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Consider a single router's actions.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Router classifies incoming packets into flows (TCP connections).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flow has its own separate FIFO queue in the router.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Router picks a queue (i.e. flow) in a fair order, and transmits packet from the front of that queue.</a:t>
            </a:r>
            <a:endParaRPr dirty="0"/>
          </a:p>
        </p:txBody>
      </p:sp>
      <p:cxnSp>
        <p:nvCxnSpPr>
          <p:cNvPr id="1695" name="Google Shape;1695;p76"/>
          <p:cNvCxnSpPr>
            <a:stCxn id="1696" idx="0"/>
          </p:cNvCxnSpPr>
          <p:nvPr/>
        </p:nvCxnSpPr>
        <p:spPr>
          <a:xfrm rot="10800000">
            <a:off x="4408725" y="2196600"/>
            <a:ext cx="219900" cy="32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96" name="Google Shape;1696;p76"/>
          <p:cNvSpPr txBox="1"/>
          <p:nvPr/>
        </p:nvSpPr>
        <p:spPr>
          <a:xfrm>
            <a:off x="3792975" y="2522100"/>
            <a:ext cx="16713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does fair mean exactly?</a:t>
            </a:r>
            <a:endParaRPr sz="18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Google Shape;1701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Round-Robin (</a:t>
            </a:r>
            <a:r>
              <a:rPr lang="en">
                <a:solidFill>
                  <a:schemeClr val="accent3"/>
                </a:solidFill>
              </a:rPr>
              <a:t>Equal Packet Size)</a:t>
            </a:r>
            <a:endParaRPr/>
          </a:p>
        </p:txBody>
      </p:sp>
      <p:sp>
        <p:nvSpPr>
          <p:cNvPr id="1702" name="Google Shape;1702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now, assume all packets are the same size.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have three connections: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has 8 packets to send: 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 has 6 packets to send: 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 has 2 packets to send: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Suppose we only have capacity to send 10 packets.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Round-robin service</a:t>
            </a:r>
            <a:r>
              <a:rPr lang="en"/>
              <a:t>: Take turns sending packets from each queue.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sent: </a:t>
            </a:r>
            <a:endParaRPr/>
          </a:p>
          <a:p>
            <a:pPr marL="914400" lvl="1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We sent: 4x A packets, 4x B packets, and 2x C packets.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not sent:</a:t>
            </a:r>
            <a:endParaRPr/>
          </a:p>
        </p:txBody>
      </p:sp>
      <p:sp>
        <p:nvSpPr>
          <p:cNvPr id="1703" name="Google Shape;1703;p77"/>
          <p:cNvSpPr/>
          <p:nvPr/>
        </p:nvSpPr>
        <p:spPr>
          <a:xfrm>
            <a:off x="32079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4" name="Google Shape;1704;p77"/>
          <p:cNvSpPr/>
          <p:nvPr/>
        </p:nvSpPr>
        <p:spPr>
          <a:xfrm>
            <a:off x="35187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5" name="Google Shape;1705;p77"/>
          <p:cNvSpPr/>
          <p:nvPr/>
        </p:nvSpPr>
        <p:spPr>
          <a:xfrm>
            <a:off x="38295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6" name="Google Shape;1706;p77"/>
          <p:cNvSpPr/>
          <p:nvPr/>
        </p:nvSpPr>
        <p:spPr>
          <a:xfrm>
            <a:off x="41403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7" name="Google Shape;1707;p77"/>
          <p:cNvSpPr/>
          <p:nvPr/>
        </p:nvSpPr>
        <p:spPr>
          <a:xfrm>
            <a:off x="44511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8" name="Google Shape;1708;p77"/>
          <p:cNvSpPr/>
          <p:nvPr/>
        </p:nvSpPr>
        <p:spPr>
          <a:xfrm>
            <a:off x="47619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9" name="Google Shape;1709;p77"/>
          <p:cNvSpPr/>
          <p:nvPr/>
        </p:nvSpPr>
        <p:spPr>
          <a:xfrm>
            <a:off x="50727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0" name="Google Shape;1710;p77"/>
          <p:cNvSpPr/>
          <p:nvPr/>
        </p:nvSpPr>
        <p:spPr>
          <a:xfrm>
            <a:off x="53835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1" name="Google Shape;1711;p77"/>
          <p:cNvSpPr/>
          <p:nvPr/>
        </p:nvSpPr>
        <p:spPr>
          <a:xfrm>
            <a:off x="32079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2" name="Google Shape;1712;p77"/>
          <p:cNvSpPr/>
          <p:nvPr/>
        </p:nvSpPr>
        <p:spPr>
          <a:xfrm>
            <a:off x="35187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3" name="Google Shape;1713;p77"/>
          <p:cNvSpPr/>
          <p:nvPr/>
        </p:nvSpPr>
        <p:spPr>
          <a:xfrm>
            <a:off x="38295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4" name="Google Shape;1714;p77"/>
          <p:cNvSpPr/>
          <p:nvPr/>
        </p:nvSpPr>
        <p:spPr>
          <a:xfrm>
            <a:off x="41403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5" name="Google Shape;1715;p77"/>
          <p:cNvSpPr/>
          <p:nvPr/>
        </p:nvSpPr>
        <p:spPr>
          <a:xfrm>
            <a:off x="44511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6" name="Google Shape;1716;p77"/>
          <p:cNvSpPr/>
          <p:nvPr/>
        </p:nvSpPr>
        <p:spPr>
          <a:xfrm>
            <a:off x="47619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7" name="Google Shape;1717;p77"/>
          <p:cNvSpPr/>
          <p:nvPr/>
        </p:nvSpPr>
        <p:spPr>
          <a:xfrm>
            <a:off x="3207975" y="2173396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8" name="Google Shape;1718;p77"/>
          <p:cNvSpPr/>
          <p:nvPr/>
        </p:nvSpPr>
        <p:spPr>
          <a:xfrm>
            <a:off x="3518775" y="2173396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9" name="Google Shape;1719;p77"/>
          <p:cNvSpPr/>
          <p:nvPr/>
        </p:nvSpPr>
        <p:spPr>
          <a:xfrm>
            <a:off x="25424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0" name="Google Shape;1720;p77"/>
          <p:cNvSpPr/>
          <p:nvPr/>
        </p:nvSpPr>
        <p:spPr>
          <a:xfrm>
            <a:off x="28532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1" name="Google Shape;1721;p77"/>
          <p:cNvSpPr/>
          <p:nvPr/>
        </p:nvSpPr>
        <p:spPr>
          <a:xfrm>
            <a:off x="31640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2" name="Google Shape;1722;p77"/>
          <p:cNvSpPr/>
          <p:nvPr/>
        </p:nvSpPr>
        <p:spPr>
          <a:xfrm>
            <a:off x="34748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3" name="Google Shape;1723;p77"/>
          <p:cNvSpPr/>
          <p:nvPr/>
        </p:nvSpPr>
        <p:spPr>
          <a:xfrm>
            <a:off x="4096425" y="42885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4" name="Google Shape;1724;p77"/>
          <p:cNvSpPr/>
          <p:nvPr/>
        </p:nvSpPr>
        <p:spPr>
          <a:xfrm>
            <a:off x="4407225" y="42885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5" name="Google Shape;1725;p77"/>
          <p:cNvSpPr/>
          <p:nvPr/>
        </p:nvSpPr>
        <p:spPr>
          <a:xfrm>
            <a:off x="22316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6" name="Google Shape;1726;p77"/>
          <p:cNvSpPr/>
          <p:nvPr/>
        </p:nvSpPr>
        <p:spPr>
          <a:xfrm>
            <a:off x="31640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7" name="Google Shape;1727;p77"/>
          <p:cNvSpPr/>
          <p:nvPr/>
        </p:nvSpPr>
        <p:spPr>
          <a:xfrm>
            <a:off x="40964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8" name="Google Shape;1728;p77"/>
          <p:cNvSpPr/>
          <p:nvPr/>
        </p:nvSpPr>
        <p:spPr>
          <a:xfrm>
            <a:off x="47180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77"/>
          <p:cNvSpPr/>
          <p:nvPr/>
        </p:nvSpPr>
        <p:spPr>
          <a:xfrm>
            <a:off x="25424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0" name="Google Shape;1730;p77"/>
          <p:cNvSpPr/>
          <p:nvPr/>
        </p:nvSpPr>
        <p:spPr>
          <a:xfrm>
            <a:off x="34748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1" name="Google Shape;1731;p77"/>
          <p:cNvSpPr/>
          <p:nvPr/>
        </p:nvSpPr>
        <p:spPr>
          <a:xfrm>
            <a:off x="44072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2" name="Google Shape;1732;p77"/>
          <p:cNvSpPr/>
          <p:nvPr/>
        </p:nvSpPr>
        <p:spPr>
          <a:xfrm>
            <a:off x="50288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3" name="Google Shape;1733;p77"/>
          <p:cNvSpPr/>
          <p:nvPr/>
        </p:nvSpPr>
        <p:spPr>
          <a:xfrm>
            <a:off x="2853225" y="3385821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4" name="Google Shape;1734;p77"/>
          <p:cNvSpPr/>
          <p:nvPr/>
        </p:nvSpPr>
        <p:spPr>
          <a:xfrm>
            <a:off x="3785625" y="3385821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" name="Google Shape;1739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Round-Robin (Equal Packet Size)</a:t>
            </a:r>
            <a:endParaRPr/>
          </a:p>
        </p:txBody>
      </p:sp>
      <p:sp>
        <p:nvSpPr>
          <p:cNvPr id="1740" name="Google Shape;1740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With round-robin service and capacity 10: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had 8 packets.		We sent 4.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 had 6 packets.		We sent 4.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 had 2 packets.		We sent 2.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Property: If you don't get your full demand, nobody gets more than you.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 got its full demand.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and B did not, but they each got an equal share of the remainder.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is called </a:t>
            </a:r>
            <a:r>
              <a:rPr lang="en" b="1" dirty="0"/>
              <a:t>max-min fairness</a:t>
            </a:r>
            <a:r>
              <a:rPr lang="e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Google Shape;1745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Instead of round-robin, we could mathematically solve max-min fairness.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Resource allocation problem: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Capacity is 10.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wants 8.	B wants 6.	C wants 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Intuitive solution: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split equally, everyone gets 10/3 = 3.33.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C only wants 2, so let's give C its full demand. </a:t>
            </a:r>
            <a:r>
              <a:rPr lang="en" b="1"/>
              <a:t>C = 2</a:t>
            </a:r>
            <a:r>
              <a:rPr lang="en"/>
              <a:t>. Now we have 8 left.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split equally, A and B each get 8/2 = 4.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can't meet A or B's demands, so they each get a fair share of the remainder.</a:t>
            </a:r>
            <a:br>
              <a:rPr lang="en"/>
            </a:br>
            <a:r>
              <a:rPr lang="en" b="1"/>
              <a:t>A = 4</a:t>
            </a:r>
            <a:r>
              <a:rPr lang="en"/>
              <a:t>, </a:t>
            </a:r>
            <a:r>
              <a:rPr lang="en" b="1"/>
              <a:t>B = 4</a:t>
            </a:r>
            <a:r>
              <a:rPr lang="en"/>
              <a:t>.</a:t>
            </a:r>
            <a:endParaRPr/>
          </a:p>
        </p:txBody>
      </p:sp>
      <p:sp>
        <p:nvSpPr>
          <p:cNvPr id="1746" name="Google Shape;1746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Max-Min Fairness (Equal Packet Size)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" name="Google Shape;1751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Max-Min Fairness (Equal Packet Size)</a:t>
            </a:r>
            <a:endParaRPr/>
          </a:p>
        </p:txBody>
      </p:sp>
      <p:sp>
        <p:nvSpPr>
          <p:cNvPr id="1752" name="Google Shape;1752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Formal definition: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Input: Total available bandwidth is </a:t>
            </a:r>
            <a:r>
              <a:rPr lang="en" i="1"/>
              <a:t>C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Input: Each flow </a:t>
            </a:r>
            <a:r>
              <a:rPr lang="en" i="1"/>
              <a:t>i</a:t>
            </a:r>
            <a:r>
              <a:rPr lang="en"/>
              <a:t> has a bandwidth demand, </a:t>
            </a:r>
            <a:r>
              <a:rPr lang="en" i="1"/>
              <a:t>r</a:t>
            </a:r>
            <a:r>
              <a:rPr lang="en" sz="1200" i="1"/>
              <a:t>i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Output: Find a fair allocation </a:t>
            </a: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to each flow </a:t>
            </a:r>
            <a:r>
              <a:rPr lang="en" i="1"/>
              <a:t>i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Max-min allocations are defined as: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min(</a:t>
            </a:r>
            <a:r>
              <a:rPr lang="en" i="1"/>
              <a:t>f</a:t>
            </a:r>
            <a:r>
              <a:rPr lang="en"/>
              <a:t>, </a:t>
            </a:r>
            <a:r>
              <a:rPr lang="en" i="1"/>
              <a:t>r</a:t>
            </a:r>
            <a:r>
              <a:rPr lang="en" sz="1200" i="1"/>
              <a:t>i</a:t>
            </a:r>
            <a:r>
              <a:rPr lang="en"/>
              <a:t>), where </a:t>
            </a:r>
            <a:r>
              <a:rPr lang="en" i="1"/>
              <a:t>f</a:t>
            </a:r>
            <a:r>
              <a:rPr lang="en"/>
              <a:t> is the unique value such that ∑</a:t>
            </a: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</a:t>
            </a:r>
            <a:r>
              <a:rPr lang="en" i="1"/>
              <a:t>C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Intuition: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f</a:t>
            </a:r>
            <a:r>
              <a:rPr lang="en"/>
              <a:t> is the fair share (same value for everybody) if you don't get full demand.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min term ensures that nobody gets more than they asked for.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sum ensures that all capacity is used.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Google Shape;1757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Max-Min Fairness (Equal Packet Size)</a:t>
            </a:r>
            <a:endParaRPr dirty="0"/>
          </a:p>
        </p:txBody>
      </p:sp>
      <p:sp>
        <p:nvSpPr>
          <p:cNvPr id="1758" name="Google Shape;1758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Max-min allocations are defined as: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min(</a:t>
            </a:r>
            <a:r>
              <a:rPr lang="en" i="1"/>
              <a:t>f</a:t>
            </a:r>
            <a:r>
              <a:rPr lang="en"/>
              <a:t>, </a:t>
            </a:r>
            <a:r>
              <a:rPr lang="en" i="1"/>
              <a:t>r</a:t>
            </a:r>
            <a:r>
              <a:rPr lang="en" sz="1200" i="1"/>
              <a:t>i</a:t>
            </a:r>
            <a:r>
              <a:rPr lang="en"/>
              <a:t>), where </a:t>
            </a:r>
            <a:r>
              <a:rPr lang="en" i="1"/>
              <a:t>f</a:t>
            </a:r>
            <a:r>
              <a:rPr lang="en"/>
              <a:t> is the unique value such that ∑</a:t>
            </a: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</a:t>
            </a:r>
            <a:r>
              <a:rPr lang="en" i="1"/>
              <a:t>C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Applied to the previous example: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</a:t>
            </a:r>
            <a:r>
              <a:rPr lang="en"/>
              <a:t> =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r</a:t>
            </a:r>
            <a:r>
              <a:rPr lang="en" sz="1200" i="1"/>
              <a:t>1</a:t>
            </a:r>
            <a:r>
              <a:rPr lang="en"/>
              <a:t> = 8	</a:t>
            </a:r>
            <a:r>
              <a:rPr lang="en" i="1"/>
              <a:t>r</a:t>
            </a:r>
            <a:r>
              <a:rPr lang="en" sz="1200" i="1"/>
              <a:t>2</a:t>
            </a:r>
            <a:r>
              <a:rPr lang="en"/>
              <a:t> = 6	</a:t>
            </a:r>
            <a:r>
              <a:rPr lang="en" i="1"/>
              <a:t>r</a:t>
            </a:r>
            <a:r>
              <a:rPr lang="en" sz="1200" i="1"/>
              <a:t>3</a:t>
            </a:r>
            <a:r>
              <a:rPr lang="en"/>
              <a:t> = 2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fair share is </a:t>
            </a:r>
            <a:r>
              <a:rPr lang="en" i="1"/>
              <a:t>f</a:t>
            </a:r>
            <a:r>
              <a:rPr lang="en"/>
              <a:t> = 4.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1</a:t>
            </a:r>
            <a:r>
              <a:rPr lang="en"/>
              <a:t> = min(4, 8) = 4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2</a:t>
            </a:r>
            <a:r>
              <a:rPr lang="en"/>
              <a:t> = min(4, 6) = 4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3</a:t>
            </a:r>
            <a:r>
              <a:rPr lang="en"/>
              <a:t> = min(4, 2) = 2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F6D68-DB5E-8BC0-BD7E-8A21FD060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CN" dirty="0">
                <a:solidFill>
                  <a:schemeClr val="accent3"/>
                </a:solidFill>
              </a:rPr>
              <a:t>Max-Min Fairness </a:t>
            </a:r>
            <a:r>
              <a:rPr lang="en-US" altLang="zh-CN">
                <a:solidFill>
                  <a:schemeClr val="accent3"/>
                </a:solidFill>
              </a:rPr>
              <a:t>Quiz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A20372-34F1-F964-79AF-1332B4F5DEC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Q1. </a:t>
                </a:r>
                <a:r>
                  <a:rPr lang="nl-NL" altLang="zh-CN" dirty="0"/>
                  <a:t>A link has capacity </a:t>
                </a:r>
                <a14:m>
                  <m:oMath xmlns:m="http://schemas.openxmlformats.org/officeDocument/2006/math">
                    <m:r>
                      <a:rPr lang="zh-CN" altLang="nl-NL" i="1"/>
                      <m:t>𝐶</m:t>
                    </m:r>
                    <m:r>
                      <a:rPr lang="nl-NL" altLang="zh-CN"/>
                      <m:t>=</m:t>
                    </m:r>
                    <m:r>
                      <a:rPr lang="nl-NL" altLang="zh-CN"/>
                      <m:t>15</m:t>
                    </m:r>
                  </m:oMath>
                </a14:m>
                <a:r>
                  <a:rPr lang="nl-NL" altLang="zh-CN" dirty="0"/>
                  <a:t>. Demands are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/>
                        </m:ctrlPr>
                      </m:sSubPr>
                      <m:e>
                        <m:r>
                          <a:rPr lang="zh-CN" altLang="ar-AE" i="1"/>
                          <m:t>𝑟</m:t>
                        </m:r>
                      </m:e>
                      <m:sub>
                        <m:r>
                          <a:rPr lang="ar-AE" altLang="zh-CN"/>
                          <m:t>1</m:t>
                        </m:r>
                      </m:sub>
                    </m:sSub>
                    <m:r>
                      <a:rPr lang="ar-AE" altLang="zh-CN"/>
                      <m:t>=</m:t>
                    </m:r>
                    <m:r>
                      <a:rPr lang="ar-AE" altLang="zh-CN"/>
                      <m:t>2</m:t>
                    </m:r>
                  </m:oMath>
                </a14:m>
                <a:r>
                  <a:rPr lang="ar-AE" altLang="zh-CN" dirty="0"/>
                  <a:t>,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/>
                        </m:ctrlPr>
                      </m:sSubPr>
                      <m:e>
                        <m:r>
                          <a:rPr lang="zh-CN" altLang="ar-AE" i="1"/>
                          <m:t>𝑟</m:t>
                        </m:r>
                      </m:e>
                      <m:sub>
                        <m:r>
                          <a:rPr lang="ar-AE" altLang="zh-CN"/>
                          <m:t>2</m:t>
                        </m:r>
                      </m:sub>
                    </m:sSub>
                    <m:r>
                      <a:rPr lang="ar-AE" altLang="zh-CN"/>
                      <m:t>=</m:t>
                    </m:r>
                    <m:r>
                      <a:rPr lang="ar-AE" altLang="zh-CN"/>
                      <m:t>4</m:t>
                    </m:r>
                  </m:oMath>
                </a14:m>
                <a:r>
                  <a:rPr lang="ar-AE" altLang="zh-CN" dirty="0"/>
                  <a:t>,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/>
                        </m:ctrlPr>
                      </m:sSubPr>
                      <m:e>
                        <m:r>
                          <a:rPr lang="zh-CN" altLang="ar-AE" i="1"/>
                          <m:t>𝑟</m:t>
                        </m:r>
                      </m:e>
                      <m:sub>
                        <m:r>
                          <a:rPr lang="ar-AE" altLang="zh-CN"/>
                          <m:t>3</m:t>
                        </m:r>
                      </m:sub>
                    </m:sSub>
                    <m:r>
                      <a:rPr lang="ar-AE" altLang="zh-CN"/>
                      <m:t>=</m:t>
                    </m:r>
                    <m:r>
                      <a:rPr lang="ar-AE" altLang="zh-CN"/>
                      <m:t>7</m:t>
                    </m:r>
                  </m:oMath>
                </a14:m>
                <a:r>
                  <a:rPr lang="ar-AE" altLang="zh-CN" dirty="0"/>
                  <a:t>,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altLang="zh-CN"/>
                        </m:ctrlPr>
                      </m:sSubPr>
                      <m:e>
                        <m:r>
                          <a:rPr lang="zh-CN" altLang="ar-AE" i="1"/>
                          <m:t>𝑟</m:t>
                        </m:r>
                      </m:e>
                      <m:sub>
                        <m:r>
                          <a:rPr lang="ar-AE" altLang="zh-CN"/>
                          <m:t>4</m:t>
                        </m:r>
                      </m:sub>
                    </m:sSub>
                    <m:r>
                      <a:rPr lang="ar-AE" altLang="zh-CN"/>
                      <m:t>=</m:t>
                    </m:r>
                    <m:r>
                      <a:rPr lang="ar-AE" altLang="zh-CN"/>
                      <m:t>20</m:t>
                    </m:r>
                  </m:oMath>
                </a14:m>
                <a:r>
                  <a:rPr lang="ar-AE" altLang="zh-CN" dirty="0"/>
                  <a:t>. </a:t>
                </a:r>
                <a:r>
                  <a:rPr lang="nl-NL" altLang="zh-CN" dirty="0"/>
                  <a:t>Find the max-min fair allocation.</a:t>
                </a:r>
              </a:p>
              <a:p>
                <a:r>
                  <a:rPr lang="nl-NL" altLang="zh-CN" b="1" dirty="0"/>
                  <a:t>ANS:</a:t>
                </a:r>
                <a:endParaRPr lang="nl-NL" altLang="zh-CN" dirty="0"/>
              </a:p>
              <a:p>
                <a:pPr lvl="1"/>
                <a:r>
                  <a:rPr lang="nl-NL" altLang="zh-CN" dirty="0"/>
                  <a:t>Give 2 to flow 1, remaining 13.</a:t>
                </a:r>
              </a:p>
              <a:p>
                <a:pPr lvl="1"/>
                <a:r>
                  <a:rPr lang="nl-NL" altLang="zh-CN" dirty="0"/>
                  <a:t>Give 4 to flow 2, remaining 9.</a:t>
                </a:r>
              </a:p>
              <a:p>
                <a:pPr lvl="1"/>
                <a:r>
                  <a:rPr lang="nl-NL" altLang="zh-CN" dirty="0"/>
                  <a:t>Split remaining 9 fairly between flows 3 and 4: 4.5 each.</a:t>
                </a:r>
              </a:p>
              <a:p>
                <a:pPr lvl="1"/>
                <a:r>
                  <a:rPr lang="nl-NL" altLang="zh-CN" dirty="0"/>
                  <a:t>Allocation is </a:t>
                </a:r>
                <a:r>
                  <a:rPr lang="ar-AE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altLang="zh-CN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dirty="0"/>
              </a:p>
              <a:p>
                <a:r>
                  <a:rPr lang="nl-NL" altLang="zh-CN" dirty="0"/>
                  <a:t>Q2. A link has capacity </a:t>
                </a:r>
                <a14:m>
                  <m:oMath xmlns:m="http://schemas.openxmlformats.org/officeDocument/2006/math">
                    <m:r>
                      <a:rPr lang="zh-CN" altLang="nl-NL" i="1"/>
                      <m:t>𝐶</m:t>
                    </m:r>
                    <m:r>
                      <a:rPr lang="nl-NL" altLang="zh-CN"/>
                      <m:t>=</m:t>
                    </m:r>
                    <m:r>
                      <a:rPr lang="nl-NL" altLang="zh-CN"/>
                      <m:t>10</m:t>
                    </m:r>
                  </m:oMath>
                </a14:m>
                <a:r>
                  <a:rPr lang="nl-NL" altLang="zh-CN" dirty="0"/>
                  <a:t> and demands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zh-CN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altLang="zh-CN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zh-CN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. </a:t>
                </a:r>
                <a:r>
                  <a:rPr lang="nl-NL" altLang="zh-CN" dirty="0"/>
                  <a:t>Is the allocation</a:t>
                </a:r>
                <a14:m>
                  <m:oMath xmlns:m="http://schemas.openxmlformats.org/officeDocument/2006/math">
                    <m:r>
                      <a:rPr lang="ar-AE" altLang="zh-CN" i="1" smtClean="0"/>
                      <m:t> </m:t>
                    </m:r>
                    <m:r>
                      <a:rPr lang="en-US" altLang="zh-CN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zh-CN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zh-CN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zh-CN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nl-NL" altLang="zh-CN" dirty="0"/>
                  <a:t> max-min fair? Justify your answer.</a:t>
                </a:r>
              </a:p>
              <a:p>
                <a:r>
                  <a:rPr lang="nl-NL" altLang="zh-CN" b="1" dirty="0"/>
                  <a:t>ANS:</a:t>
                </a:r>
                <a:r>
                  <a:rPr lang="nl-NL" altLang="zh-CN" dirty="0"/>
                  <a:t> No. The max-min fair allocation is 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altLang="zh-CN"/>
                        </m:ctrlPr>
                      </m:dPr>
                      <m:e>
                        <m:r>
                          <a:rPr lang="ar-AE" altLang="zh-CN"/>
                          <m:t>4</m:t>
                        </m:r>
                      </m:e>
                      <m:e>
                        <m:r>
                          <a:rPr lang="ar-AE" altLang="zh-CN"/>
                          <m:t>4</m:t>
                        </m:r>
                      </m:e>
                      <m:e>
                        <m:r>
                          <a:rPr lang="ar-AE" altLang="zh-CN"/>
                          <m:t>2</m:t>
                        </m:r>
                      </m:e>
                    </m:d>
                  </m:oMath>
                </a14:m>
                <a:r>
                  <a:rPr lang="ar-AE" altLang="zh-CN" dirty="0"/>
                  <a:t>, </a:t>
                </a:r>
                <a:r>
                  <a:rPr lang="nl-NL" altLang="zh-CN" dirty="0"/>
                  <a:t>because after fully satisfying the 2-unit demand, the remaining 8 units are shared equally by the two unsatisfied flows.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A20372-34F1-F964-79AF-1332B4F5DE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r="-274" b="-17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5073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763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Round-Robin (Unequal Packet Size)</a:t>
            </a:r>
            <a:endParaRPr/>
          </a:p>
        </p:txBody>
      </p:sp>
      <p:sp>
        <p:nvSpPr>
          <p:cNvPr id="1764" name="Google Shape;1764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deal with packets of different sizes?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Mental model: bit-by-bit round-robin ("fluid flow").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can't actually do this in practice!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we can approximate it. This is what </a:t>
            </a:r>
            <a:r>
              <a:rPr lang="en" b="1"/>
              <a:t>fair queuing</a:t>
            </a:r>
            <a:r>
              <a:rPr lang="en"/>
              <a:t> routers do.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Fair queuing: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each packet, compute the time when the last bit of the packet would have left the router, if flows were served bit-by-bit.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time is called the </a:t>
            </a:r>
            <a:r>
              <a:rPr lang="en" i="1"/>
              <a:t>deadline</a:t>
            </a:r>
            <a:r>
              <a:rPr lang="en"/>
              <a:t> for that packet.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serve packets in order of their deadlines.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0" name="Google Shape;1770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(Unequal Packet Size)</a:t>
            </a:r>
            <a:endParaRPr/>
          </a:p>
        </p:txBody>
      </p:sp>
      <p:cxnSp>
        <p:nvCxnSpPr>
          <p:cNvPr id="1771" name="Google Shape;1771;p83"/>
          <p:cNvCxnSpPr/>
          <p:nvPr/>
        </p:nvCxnSpPr>
        <p:spPr>
          <a:xfrm>
            <a:off x="2679150" y="14859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72" name="Google Shape;1772;p83"/>
          <p:cNvSpPr/>
          <p:nvPr/>
        </p:nvSpPr>
        <p:spPr>
          <a:xfrm>
            <a:off x="4210275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3" name="Google Shape;1773;p83"/>
          <p:cNvSpPr txBox="1"/>
          <p:nvPr/>
        </p:nvSpPr>
        <p:spPr>
          <a:xfrm>
            <a:off x="279450" y="1117525"/>
            <a:ext cx="239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Flow 1 (arrival traffic):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4" name="Google Shape;1774;p83"/>
          <p:cNvSpPr/>
          <p:nvPr/>
        </p:nvSpPr>
        <p:spPr>
          <a:xfrm>
            <a:off x="4287075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5" name="Google Shape;1775;p83"/>
          <p:cNvSpPr/>
          <p:nvPr/>
        </p:nvSpPr>
        <p:spPr>
          <a:xfrm>
            <a:off x="2945050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6" name="Google Shape;1776;p83"/>
          <p:cNvSpPr/>
          <p:nvPr/>
        </p:nvSpPr>
        <p:spPr>
          <a:xfrm>
            <a:off x="304387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7" name="Google Shape;1777;p83"/>
          <p:cNvSpPr/>
          <p:nvPr/>
        </p:nvSpPr>
        <p:spPr>
          <a:xfrm>
            <a:off x="331062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8" name="Google Shape;1778;p83"/>
          <p:cNvCxnSpPr/>
          <p:nvPr/>
        </p:nvCxnSpPr>
        <p:spPr>
          <a:xfrm>
            <a:off x="2679150" y="25527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79" name="Google Shape;1779;p83"/>
          <p:cNvSpPr txBox="1"/>
          <p:nvPr/>
        </p:nvSpPr>
        <p:spPr>
          <a:xfrm>
            <a:off x="279450" y="2184325"/>
            <a:ext cx="239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Flow 2 (arrival traffic):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0" name="Google Shape;1780;p83"/>
          <p:cNvSpPr/>
          <p:nvPr/>
        </p:nvSpPr>
        <p:spPr>
          <a:xfrm>
            <a:off x="3566638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1" name="Google Shape;1781;p83"/>
          <p:cNvSpPr/>
          <p:nvPr/>
        </p:nvSpPr>
        <p:spPr>
          <a:xfrm>
            <a:off x="366546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2" name="Google Shape;1782;p83"/>
          <p:cNvSpPr/>
          <p:nvPr/>
        </p:nvSpPr>
        <p:spPr>
          <a:xfrm>
            <a:off x="393221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3" name="Google Shape;1783;p83"/>
          <p:cNvSpPr/>
          <p:nvPr/>
        </p:nvSpPr>
        <p:spPr>
          <a:xfrm>
            <a:off x="4188250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4" name="Google Shape;1784;p83"/>
          <p:cNvSpPr/>
          <p:nvPr/>
        </p:nvSpPr>
        <p:spPr>
          <a:xfrm>
            <a:off x="428707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5" name="Google Shape;1785;p83"/>
          <p:cNvSpPr/>
          <p:nvPr/>
        </p:nvSpPr>
        <p:spPr>
          <a:xfrm>
            <a:off x="455382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6" name="Google Shape;1786;p83"/>
          <p:cNvSpPr/>
          <p:nvPr/>
        </p:nvSpPr>
        <p:spPr>
          <a:xfrm>
            <a:off x="4809838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7" name="Google Shape;1787;p83"/>
          <p:cNvSpPr/>
          <p:nvPr/>
        </p:nvSpPr>
        <p:spPr>
          <a:xfrm>
            <a:off x="490866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83"/>
          <p:cNvSpPr/>
          <p:nvPr/>
        </p:nvSpPr>
        <p:spPr>
          <a:xfrm>
            <a:off x="517541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83"/>
          <p:cNvSpPr/>
          <p:nvPr/>
        </p:nvSpPr>
        <p:spPr>
          <a:xfrm>
            <a:off x="5431438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0" name="Google Shape;1790;p83"/>
          <p:cNvSpPr/>
          <p:nvPr/>
        </p:nvSpPr>
        <p:spPr>
          <a:xfrm>
            <a:off x="553026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1" name="Google Shape;1791;p83"/>
          <p:cNvSpPr/>
          <p:nvPr/>
        </p:nvSpPr>
        <p:spPr>
          <a:xfrm>
            <a:off x="579701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2" name="Google Shape;1792;p83"/>
          <p:cNvSpPr/>
          <p:nvPr/>
        </p:nvSpPr>
        <p:spPr>
          <a:xfrm>
            <a:off x="48098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83"/>
          <p:cNvSpPr/>
          <p:nvPr/>
        </p:nvSpPr>
        <p:spPr>
          <a:xfrm>
            <a:off x="48866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4" name="Google Shape;1794;p83"/>
          <p:cNvSpPr/>
          <p:nvPr/>
        </p:nvSpPr>
        <p:spPr>
          <a:xfrm>
            <a:off x="54314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5" name="Google Shape;1795;p83"/>
          <p:cNvSpPr/>
          <p:nvPr/>
        </p:nvSpPr>
        <p:spPr>
          <a:xfrm>
            <a:off x="55082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6" name="Google Shape;1796;p83"/>
          <p:cNvCxnSpPr/>
          <p:nvPr/>
        </p:nvCxnSpPr>
        <p:spPr>
          <a:xfrm>
            <a:off x="2679150" y="36195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97" name="Google Shape;1797;p83"/>
          <p:cNvSpPr txBox="1"/>
          <p:nvPr/>
        </p:nvSpPr>
        <p:spPr>
          <a:xfrm>
            <a:off x="293694" y="3175240"/>
            <a:ext cx="23997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Fluid system: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altLang="zh-C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Too fine-grained switching, not feasible or too much overhead</a:t>
            </a: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8" name="Google Shape;1798;p83"/>
          <p:cNvSpPr/>
          <p:nvPr/>
        </p:nvSpPr>
        <p:spPr>
          <a:xfrm>
            <a:off x="29450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9" name="Google Shape;1799;p83"/>
          <p:cNvSpPr/>
          <p:nvPr/>
        </p:nvSpPr>
        <p:spPr>
          <a:xfrm>
            <a:off x="30218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0" name="Google Shape;1800;p83"/>
          <p:cNvSpPr/>
          <p:nvPr/>
        </p:nvSpPr>
        <p:spPr>
          <a:xfrm>
            <a:off x="32558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1" name="Google Shape;1801;p83"/>
          <p:cNvSpPr/>
          <p:nvPr/>
        </p:nvSpPr>
        <p:spPr>
          <a:xfrm>
            <a:off x="33326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2" name="Google Shape;1802;p83"/>
          <p:cNvSpPr/>
          <p:nvPr/>
        </p:nvSpPr>
        <p:spPr>
          <a:xfrm>
            <a:off x="35666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3" name="Google Shape;1803;p83"/>
          <p:cNvSpPr/>
          <p:nvPr/>
        </p:nvSpPr>
        <p:spPr>
          <a:xfrm>
            <a:off x="36434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4" name="Google Shape;1804;p83"/>
          <p:cNvSpPr/>
          <p:nvPr/>
        </p:nvSpPr>
        <p:spPr>
          <a:xfrm>
            <a:off x="38774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5" name="Google Shape;1805;p83"/>
          <p:cNvSpPr/>
          <p:nvPr/>
        </p:nvSpPr>
        <p:spPr>
          <a:xfrm>
            <a:off x="39542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6" name="Google Shape;1806;p83"/>
          <p:cNvSpPr/>
          <p:nvPr/>
        </p:nvSpPr>
        <p:spPr>
          <a:xfrm>
            <a:off x="44990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7" name="Google Shape;1807;p83"/>
          <p:cNvSpPr/>
          <p:nvPr/>
        </p:nvSpPr>
        <p:spPr>
          <a:xfrm>
            <a:off x="45758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8" name="Google Shape;1808;p83"/>
          <p:cNvSpPr/>
          <p:nvPr/>
        </p:nvSpPr>
        <p:spPr>
          <a:xfrm>
            <a:off x="41882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83"/>
          <p:cNvSpPr/>
          <p:nvPr/>
        </p:nvSpPr>
        <p:spPr>
          <a:xfrm>
            <a:off x="42650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0" name="Google Shape;1810;p83"/>
          <p:cNvSpPr/>
          <p:nvPr/>
        </p:nvSpPr>
        <p:spPr>
          <a:xfrm>
            <a:off x="51206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1" name="Google Shape;1811;p83"/>
          <p:cNvSpPr/>
          <p:nvPr/>
        </p:nvSpPr>
        <p:spPr>
          <a:xfrm>
            <a:off x="51974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2" name="Google Shape;1812;p83"/>
          <p:cNvSpPr/>
          <p:nvPr/>
        </p:nvSpPr>
        <p:spPr>
          <a:xfrm>
            <a:off x="48098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3" name="Google Shape;1813;p83"/>
          <p:cNvSpPr/>
          <p:nvPr/>
        </p:nvSpPr>
        <p:spPr>
          <a:xfrm>
            <a:off x="48866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4" name="Google Shape;1814;p83"/>
          <p:cNvSpPr/>
          <p:nvPr/>
        </p:nvSpPr>
        <p:spPr>
          <a:xfrm>
            <a:off x="60530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5" name="Google Shape;1815;p83"/>
          <p:cNvSpPr/>
          <p:nvPr/>
        </p:nvSpPr>
        <p:spPr>
          <a:xfrm>
            <a:off x="61298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6" name="Google Shape;1816;p83"/>
          <p:cNvSpPr/>
          <p:nvPr/>
        </p:nvSpPr>
        <p:spPr>
          <a:xfrm>
            <a:off x="66746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7" name="Google Shape;1817;p83"/>
          <p:cNvSpPr/>
          <p:nvPr/>
        </p:nvSpPr>
        <p:spPr>
          <a:xfrm>
            <a:off x="67514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8" name="Google Shape;1818;p83"/>
          <p:cNvSpPr/>
          <p:nvPr/>
        </p:nvSpPr>
        <p:spPr>
          <a:xfrm>
            <a:off x="57422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9" name="Google Shape;1819;p83"/>
          <p:cNvSpPr/>
          <p:nvPr/>
        </p:nvSpPr>
        <p:spPr>
          <a:xfrm>
            <a:off x="58190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0" name="Google Shape;1820;p83"/>
          <p:cNvSpPr/>
          <p:nvPr/>
        </p:nvSpPr>
        <p:spPr>
          <a:xfrm>
            <a:off x="54314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1" name="Google Shape;1821;p83"/>
          <p:cNvSpPr/>
          <p:nvPr/>
        </p:nvSpPr>
        <p:spPr>
          <a:xfrm>
            <a:off x="55082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2" name="Google Shape;1822;p83"/>
          <p:cNvSpPr/>
          <p:nvPr/>
        </p:nvSpPr>
        <p:spPr>
          <a:xfrm>
            <a:off x="63638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3" name="Google Shape;1823;p83"/>
          <p:cNvSpPr/>
          <p:nvPr/>
        </p:nvSpPr>
        <p:spPr>
          <a:xfrm>
            <a:off x="64406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4" name="Google Shape;1824;p83"/>
          <p:cNvSpPr/>
          <p:nvPr/>
        </p:nvSpPr>
        <p:spPr>
          <a:xfrm>
            <a:off x="60530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5" name="Google Shape;1825;p83"/>
          <p:cNvSpPr/>
          <p:nvPr/>
        </p:nvSpPr>
        <p:spPr>
          <a:xfrm>
            <a:off x="61298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6" name="Google Shape;1826;p83"/>
          <p:cNvSpPr/>
          <p:nvPr/>
        </p:nvSpPr>
        <p:spPr>
          <a:xfrm>
            <a:off x="69854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7" name="Google Shape;1827;p83"/>
          <p:cNvSpPr/>
          <p:nvPr/>
        </p:nvSpPr>
        <p:spPr>
          <a:xfrm>
            <a:off x="70622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8" name="Google Shape;1828;p83"/>
          <p:cNvSpPr/>
          <p:nvPr/>
        </p:nvSpPr>
        <p:spPr>
          <a:xfrm>
            <a:off x="66746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9" name="Google Shape;1829;p83"/>
          <p:cNvSpPr/>
          <p:nvPr/>
        </p:nvSpPr>
        <p:spPr>
          <a:xfrm>
            <a:off x="67514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0" name="Google Shape;1830;p83"/>
          <p:cNvSpPr/>
          <p:nvPr/>
        </p:nvSpPr>
        <p:spPr>
          <a:xfrm>
            <a:off x="76070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1" name="Google Shape;1831;p83"/>
          <p:cNvSpPr/>
          <p:nvPr/>
        </p:nvSpPr>
        <p:spPr>
          <a:xfrm>
            <a:off x="76838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2" name="Google Shape;1832;p83"/>
          <p:cNvSpPr/>
          <p:nvPr/>
        </p:nvSpPr>
        <p:spPr>
          <a:xfrm>
            <a:off x="72962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3" name="Google Shape;1833;p83"/>
          <p:cNvSpPr/>
          <p:nvPr/>
        </p:nvSpPr>
        <p:spPr>
          <a:xfrm>
            <a:off x="73730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4" name="Google Shape;1834;p83"/>
          <p:cNvSpPr/>
          <p:nvPr/>
        </p:nvSpPr>
        <p:spPr>
          <a:xfrm>
            <a:off x="72962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5" name="Google Shape;1835;p83"/>
          <p:cNvSpPr/>
          <p:nvPr/>
        </p:nvSpPr>
        <p:spPr>
          <a:xfrm>
            <a:off x="73730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6" name="Google Shape;1836;p83"/>
          <p:cNvCxnSpPr/>
          <p:nvPr/>
        </p:nvCxnSpPr>
        <p:spPr>
          <a:xfrm>
            <a:off x="2679150" y="46863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37" name="Google Shape;1837;p83"/>
          <p:cNvSpPr txBox="1"/>
          <p:nvPr/>
        </p:nvSpPr>
        <p:spPr>
          <a:xfrm>
            <a:off x="279450" y="4317925"/>
            <a:ext cx="239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Fair queuing system: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8" name="Google Shape;1838;p83"/>
          <p:cNvSpPr/>
          <p:nvPr/>
        </p:nvSpPr>
        <p:spPr>
          <a:xfrm>
            <a:off x="2945050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9" name="Google Shape;1839;p83"/>
          <p:cNvSpPr/>
          <p:nvPr/>
        </p:nvSpPr>
        <p:spPr>
          <a:xfrm>
            <a:off x="304387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0" name="Google Shape;1840;p83"/>
          <p:cNvSpPr/>
          <p:nvPr/>
        </p:nvSpPr>
        <p:spPr>
          <a:xfrm>
            <a:off x="331062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1" name="Google Shape;1841;p83"/>
          <p:cNvSpPr/>
          <p:nvPr/>
        </p:nvSpPr>
        <p:spPr>
          <a:xfrm>
            <a:off x="3566638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2" name="Google Shape;1842;p83"/>
          <p:cNvSpPr/>
          <p:nvPr/>
        </p:nvSpPr>
        <p:spPr>
          <a:xfrm>
            <a:off x="366546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3" name="Google Shape;1843;p83"/>
          <p:cNvSpPr/>
          <p:nvPr/>
        </p:nvSpPr>
        <p:spPr>
          <a:xfrm>
            <a:off x="393221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4" name="Google Shape;1844;p83"/>
          <p:cNvSpPr/>
          <p:nvPr/>
        </p:nvSpPr>
        <p:spPr>
          <a:xfrm>
            <a:off x="41772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5" name="Google Shape;1845;p83"/>
          <p:cNvSpPr/>
          <p:nvPr/>
        </p:nvSpPr>
        <p:spPr>
          <a:xfrm>
            <a:off x="42540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6" name="Google Shape;1846;p83"/>
          <p:cNvSpPr/>
          <p:nvPr/>
        </p:nvSpPr>
        <p:spPr>
          <a:xfrm>
            <a:off x="51073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7" name="Google Shape;1847;p83"/>
          <p:cNvSpPr/>
          <p:nvPr/>
        </p:nvSpPr>
        <p:spPr>
          <a:xfrm>
            <a:off x="51841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8" name="Google Shape;1848;p83"/>
          <p:cNvSpPr/>
          <p:nvPr/>
        </p:nvSpPr>
        <p:spPr>
          <a:xfrm>
            <a:off x="54181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9" name="Google Shape;1849;p83"/>
          <p:cNvSpPr/>
          <p:nvPr/>
        </p:nvSpPr>
        <p:spPr>
          <a:xfrm>
            <a:off x="54949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0" name="Google Shape;1850;p83"/>
          <p:cNvSpPr/>
          <p:nvPr/>
        </p:nvSpPr>
        <p:spPr>
          <a:xfrm>
            <a:off x="63505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1" name="Google Shape;1851;p83"/>
          <p:cNvSpPr/>
          <p:nvPr/>
        </p:nvSpPr>
        <p:spPr>
          <a:xfrm>
            <a:off x="64273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2" name="Google Shape;1852;p83"/>
          <p:cNvSpPr/>
          <p:nvPr/>
        </p:nvSpPr>
        <p:spPr>
          <a:xfrm>
            <a:off x="66613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3" name="Google Shape;1853;p83"/>
          <p:cNvSpPr/>
          <p:nvPr/>
        </p:nvSpPr>
        <p:spPr>
          <a:xfrm>
            <a:off x="67381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4" name="Google Shape;1854;p83"/>
          <p:cNvSpPr/>
          <p:nvPr/>
        </p:nvSpPr>
        <p:spPr>
          <a:xfrm>
            <a:off x="75937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5" name="Google Shape;1855;p83"/>
          <p:cNvSpPr/>
          <p:nvPr/>
        </p:nvSpPr>
        <p:spPr>
          <a:xfrm>
            <a:off x="76705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6" name="Google Shape;1856;p83"/>
          <p:cNvSpPr/>
          <p:nvPr/>
        </p:nvSpPr>
        <p:spPr>
          <a:xfrm>
            <a:off x="4485738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7" name="Google Shape;1857;p83"/>
          <p:cNvSpPr/>
          <p:nvPr/>
        </p:nvSpPr>
        <p:spPr>
          <a:xfrm>
            <a:off x="458456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8" name="Google Shape;1858;p83"/>
          <p:cNvSpPr/>
          <p:nvPr/>
        </p:nvSpPr>
        <p:spPr>
          <a:xfrm>
            <a:off x="485131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9" name="Google Shape;1859;p83"/>
          <p:cNvSpPr/>
          <p:nvPr/>
        </p:nvSpPr>
        <p:spPr>
          <a:xfrm>
            <a:off x="5728950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0" name="Google Shape;1860;p83"/>
          <p:cNvSpPr/>
          <p:nvPr/>
        </p:nvSpPr>
        <p:spPr>
          <a:xfrm>
            <a:off x="582777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1" name="Google Shape;1861;p83"/>
          <p:cNvSpPr/>
          <p:nvPr/>
        </p:nvSpPr>
        <p:spPr>
          <a:xfrm>
            <a:off x="609452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2" name="Google Shape;1862;p83"/>
          <p:cNvSpPr/>
          <p:nvPr/>
        </p:nvSpPr>
        <p:spPr>
          <a:xfrm>
            <a:off x="6972150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3" name="Google Shape;1863;p83"/>
          <p:cNvSpPr/>
          <p:nvPr/>
        </p:nvSpPr>
        <p:spPr>
          <a:xfrm>
            <a:off x="707097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4" name="Google Shape;1864;p83"/>
          <p:cNvSpPr/>
          <p:nvPr/>
        </p:nvSpPr>
        <p:spPr>
          <a:xfrm>
            <a:off x="733772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5" name="Google Shape;1865;p83"/>
          <p:cNvSpPr txBox="1"/>
          <p:nvPr/>
        </p:nvSpPr>
        <p:spPr>
          <a:xfrm>
            <a:off x="279450" y="2946325"/>
            <a:ext cx="239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(bold = packet deadline)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Google Shape;1870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in Practice</a:t>
            </a:r>
            <a:endParaRPr/>
          </a:p>
        </p:txBody>
      </p:sp>
      <p:sp>
        <p:nvSpPr>
          <p:cNvPr id="1871" name="Google Shape;1871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Perfect fair queuing is too complex to implement at high speeds.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 several approximations exist.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Deficit Round Robin (DRR)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Today: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typically implement approximate fair queuing (e.g. DRR).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only use a small number of queues.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This results in coarser-grained isolation.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Separate queues per customer (not per flow).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Google Shape;1876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vs. FIFO Queues</a:t>
            </a:r>
            <a:endParaRPr/>
          </a:p>
        </p:txBody>
      </p:sp>
      <p:sp>
        <p:nvSpPr>
          <p:cNvPr id="1877" name="Google Shape;1877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Fair queuing pros: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Isolation: Cheating flows don't benefit.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share doesn't depend on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Flows can pick any rate adjustment scheme they want.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Fair queuing cons: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complex than FIFO.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Separate queues per flow.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Additional bookkeeping per packet.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only be approximated in practice.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Does Not Solve Congestion</a:t>
            </a:r>
            <a:endParaRPr/>
          </a:p>
        </p:txBody>
      </p:sp>
      <p:sp>
        <p:nvSpPr>
          <p:cNvPr id="1883" name="Google Shape;1883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does not </a:t>
            </a:r>
            <a:r>
              <a:rPr lang="en" i="1" dirty="0"/>
              <a:t>eliminate</a:t>
            </a:r>
            <a:r>
              <a:rPr lang="en" dirty="0"/>
              <a:t> congestion.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FF00FF"/>
                </a:solidFill>
              </a:rPr>
              <a:t>A → B</a:t>
            </a:r>
            <a:r>
              <a:rPr lang="en" dirty="0"/>
              <a:t> wants to send at 5 Gbps. </a:t>
            </a:r>
            <a:r>
              <a:rPr lang="en" dirty="0">
                <a:solidFill>
                  <a:srgbClr val="F1C232"/>
                </a:solidFill>
              </a:rPr>
              <a:t>X → Y</a:t>
            </a:r>
            <a:r>
              <a:rPr lang="en" dirty="0"/>
              <a:t> wants to send at 1 Gbps.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implements fair queuing, and gives 0.5 Gbps to each flow.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</a:t>
            </a:r>
            <a:r>
              <a:rPr lang="en" dirty="0">
                <a:solidFill>
                  <a:srgbClr val="FF00FF"/>
                </a:solidFill>
              </a:rPr>
              <a:t>A → B</a:t>
            </a:r>
            <a:r>
              <a:rPr lang="en" dirty="0"/>
              <a:t> runs at 0.5 Gbps, then R2 ends up dropping 0.4 Gbps (sending only 0.1).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fairly allocating didn't help. A needs to slow down.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can </a:t>
            </a:r>
            <a:r>
              <a:rPr lang="en" i="1" dirty="0"/>
              <a:t>manage</a:t>
            </a:r>
            <a:r>
              <a:rPr lang="en" dirty="0"/>
              <a:t> congestion.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Resilient to cheating, RTT variations, etc.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Congestion and packet drops still occur.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still want end hosts to discover/adapt to their fair share.</a:t>
            </a:r>
            <a:endParaRPr dirty="0"/>
          </a:p>
        </p:txBody>
      </p:sp>
      <p:sp>
        <p:nvSpPr>
          <p:cNvPr id="1884" name="Google Shape;1884;p86"/>
          <p:cNvSpPr/>
          <p:nvPr/>
        </p:nvSpPr>
        <p:spPr>
          <a:xfrm>
            <a:off x="3930741" y="42525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5" name="Google Shape;1885;p86"/>
          <p:cNvSpPr/>
          <p:nvPr/>
        </p:nvSpPr>
        <p:spPr>
          <a:xfrm>
            <a:off x="2635338" y="3871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6" name="Google Shape;1886;p86"/>
          <p:cNvCxnSpPr>
            <a:stCxn id="1885" idx="6"/>
            <a:endCxn id="1884" idx="1"/>
          </p:cNvCxnSpPr>
          <p:nvPr/>
        </p:nvCxnSpPr>
        <p:spPr>
          <a:xfrm>
            <a:off x="2920338" y="4014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7" name="Google Shape;1887;p86"/>
          <p:cNvSpPr/>
          <p:nvPr/>
        </p:nvSpPr>
        <p:spPr>
          <a:xfrm>
            <a:off x="2635338" y="4633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8" name="Google Shape;1888;p86"/>
          <p:cNvCxnSpPr>
            <a:stCxn id="1887" idx="6"/>
            <a:endCxn id="1884" idx="1"/>
          </p:cNvCxnSpPr>
          <p:nvPr/>
        </p:nvCxnSpPr>
        <p:spPr>
          <a:xfrm rot="10800000" flipH="1">
            <a:off x="2920338" y="4395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9" name="Google Shape;1889;p86"/>
          <p:cNvSpPr/>
          <p:nvPr/>
        </p:nvSpPr>
        <p:spPr>
          <a:xfrm>
            <a:off x="4928266" y="42525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0" name="Google Shape;1890;p86"/>
          <p:cNvCxnSpPr>
            <a:stCxn id="1884" idx="3"/>
            <a:endCxn id="1889" idx="1"/>
          </p:cNvCxnSpPr>
          <p:nvPr/>
        </p:nvCxnSpPr>
        <p:spPr>
          <a:xfrm>
            <a:off x="4215741" y="4395089"/>
            <a:ext cx="712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1" name="Google Shape;1891;p86"/>
          <p:cNvSpPr/>
          <p:nvPr/>
        </p:nvSpPr>
        <p:spPr>
          <a:xfrm>
            <a:off x="6223663" y="3871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2" name="Google Shape;1892;p86"/>
          <p:cNvSpPr/>
          <p:nvPr/>
        </p:nvSpPr>
        <p:spPr>
          <a:xfrm>
            <a:off x="6223663" y="4633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3" name="Google Shape;1893;p86"/>
          <p:cNvCxnSpPr>
            <a:stCxn id="1889" idx="3"/>
            <a:endCxn id="1891" idx="2"/>
          </p:cNvCxnSpPr>
          <p:nvPr/>
        </p:nvCxnSpPr>
        <p:spPr>
          <a:xfrm rot="10800000" flipH="1">
            <a:off x="5213266" y="4014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4" name="Google Shape;1894;p86"/>
          <p:cNvCxnSpPr>
            <a:stCxn id="1889" idx="3"/>
            <a:endCxn id="1892" idx="2"/>
          </p:cNvCxnSpPr>
          <p:nvPr/>
        </p:nvCxnSpPr>
        <p:spPr>
          <a:xfrm>
            <a:off x="5213266" y="4395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5" name="Google Shape;1895;p86"/>
          <p:cNvSpPr/>
          <p:nvPr/>
        </p:nvSpPr>
        <p:spPr>
          <a:xfrm>
            <a:off x="2850738" y="3930700"/>
            <a:ext cx="3485525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6" name="Google Shape;1896;p86"/>
          <p:cNvSpPr txBox="1"/>
          <p:nvPr/>
        </p:nvSpPr>
        <p:spPr>
          <a:xfrm>
            <a:off x="3232200" y="3878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7" name="Google Shape;1897;p86"/>
          <p:cNvSpPr/>
          <p:nvPr/>
        </p:nvSpPr>
        <p:spPr>
          <a:xfrm rot="10800000" flipH="1">
            <a:off x="2850738" y="4464100"/>
            <a:ext cx="3485525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8" name="Google Shape;1898;p86"/>
          <p:cNvSpPr txBox="1"/>
          <p:nvPr/>
        </p:nvSpPr>
        <p:spPr>
          <a:xfrm>
            <a:off x="3300800" y="4640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9" name="Google Shape;1899;p86"/>
          <p:cNvSpPr txBox="1"/>
          <p:nvPr/>
        </p:nvSpPr>
        <p:spPr>
          <a:xfrm>
            <a:off x="4400163" y="405520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0" name="Google Shape;1900;p86"/>
          <p:cNvSpPr txBox="1"/>
          <p:nvPr/>
        </p:nvSpPr>
        <p:spPr>
          <a:xfrm>
            <a:off x="5525113" y="4640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1" name="Google Shape;1901;p86"/>
          <p:cNvSpPr txBox="1"/>
          <p:nvPr/>
        </p:nvSpPr>
        <p:spPr>
          <a:xfrm>
            <a:off x="5525113" y="3878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0.1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6" name="Google Shape;1906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Queuing: Philosophy of Fairness</a:t>
            </a:r>
            <a:endParaRPr/>
          </a:p>
        </p:txBody>
      </p:sp>
      <p:sp>
        <p:nvSpPr>
          <p:cNvPr id="1907" name="Google Shape;1907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gives us per-flow fairness. But is that really what we want?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What if you have 8 flows, and I have 4?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Why do you get twice the bandwidth?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What if your flow goes over 4 congested hops, and mine only goes over 1?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Shouldn't you be penalized for using more scarce bandwidth?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What granularity should we enforce fairness at?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Per TCP connection?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Per source-destination pair?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Per source?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is a great way to ensure </a:t>
            </a:r>
            <a:r>
              <a:rPr lang="en" i="1" dirty="0"/>
              <a:t>isolation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Ensures that no one connection hogs all the bandwidth, even in the worst cases.</a:t>
            </a:r>
            <a:endParaRPr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2" name="Google Shape;1912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Router-Assisted Congestion Control</a:t>
            </a:r>
            <a:endParaRPr/>
          </a:p>
        </p:txBody>
      </p:sp>
      <p:sp>
        <p:nvSpPr>
          <p:cNvPr id="1913" name="Google Shape;1913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ways routers can help: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Enforce fairness. (Helps with 4.)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Fair queuing (and approximations like DRR).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 b="1">
                <a:solidFill>
                  <a:schemeClr val="accent3"/>
                </a:solidFill>
              </a:rPr>
              <a:t>Send information to hosts. (Helps with 1, 2, 3.)</a:t>
            </a:r>
            <a:endParaRPr b="1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8" name="Google Shape;1918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Router-Assisted Rate Adaptation</a:t>
            </a:r>
            <a:endParaRPr/>
          </a:p>
        </p:txBody>
      </p:sp>
      <p:sp>
        <p:nvSpPr>
          <p:cNvPr id="1919" name="Google Shape;1919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not just let routers tell the end hosts what rate they should use?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Possible design: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carry an extra "rate" field in the header.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insert a flow's fair share in the header.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End hosts set rate according to the header value.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Now, the sender doesn't need to dynamically adjust to find a good rate.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4" name="Google Shape;1924;p9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Router-Assisted Congestion Detection</a:t>
            </a:r>
            <a:endParaRPr/>
          </a:p>
        </p:txBody>
      </p:sp>
      <p:sp>
        <p:nvSpPr>
          <p:cNvPr id="1925" name="Google Shape;1925;p9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Explicit Congestion Notification (ECN) bit</a:t>
            </a:r>
            <a:r>
              <a:rPr lang="en"/>
              <a:t>: Single bit in the IP packet header.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Congested routers can set this bit.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When recipient gets a packet with ECN on, the ack also has ECN 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Many options for </a:t>
            </a:r>
            <a:r>
              <a:rPr lang="en" i="1"/>
              <a:t>when</a:t>
            </a:r>
            <a:r>
              <a:rPr lang="en"/>
              <a:t> routers set the bit.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Trade-offs between high link utilization and packet delay.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could treat an ECN bit as a packet drop and adjust accordingly.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confuse corruption and congestion.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Allows routers to warn about congestion earlier (e.g. before queue is full).</a:t>
            </a:r>
            <a:br>
              <a:rPr lang="en"/>
            </a:br>
            <a:r>
              <a:rPr lang="en"/>
              <a:t>Reduces delays.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Lightweight to implement.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Used in some, but not all routers.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Most useful in local networks (e.g. datacenters) where all routers use the bit.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6899</Words>
  <Application>Microsoft Office PowerPoint</Application>
  <PresentationFormat>On-screen Show (16:9)</PresentationFormat>
  <Paragraphs>1632</Paragraphs>
  <Slides>65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1" baseType="lpstr">
      <vt:lpstr>Roboto Medium</vt:lpstr>
      <vt:lpstr>Cambria Math</vt:lpstr>
      <vt:lpstr>Roboto</vt:lpstr>
      <vt:lpstr>Roboto Light</vt:lpstr>
      <vt:lpstr>Arial</vt:lpstr>
      <vt:lpstr>Simple Lecture</vt:lpstr>
      <vt:lpstr>PowerPoint Presentation</vt:lpstr>
      <vt:lpstr>Fast Recovery</vt:lpstr>
      <vt:lpstr>Fast Recovery</vt:lpstr>
      <vt:lpstr>Fast Recovery: Setting the Stage</vt:lpstr>
      <vt:lpstr>Fast Recovery: Windows Without Fast Recovery</vt:lpstr>
      <vt:lpstr>Fast Recovery: Windows Without Fast Recovery</vt:lpstr>
      <vt:lpstr>Fast Recovery: Windows Without Fast Recovery</vt:lpstr>
      <vt:lpstr>Fast Recovery: Windows Without Fast Recovery</vt:lpstr>
      <vt:lpstr>The Fast Recovery Problem</vt:lpstr>
      <vt:lpstr>The Fast Recovery Problem</vt:lpstr>
      <vt:lpstr>The Fast Recovery Problem</vt:lpstr>
      <vt:lpstr>Fast Recovery: Windows with Fast Recovery</vt:lpstr>
      <vt:lpstr>Fast Recovery: Windows with Fast Recovery</vt:lpstr>
      <vt:lpstr>Fast Recovery: Windows with Fast Recovery</vt:lpstr>
      <vt:lpstr>Fast Recovery: Windows With Fast Recovery</vt:lpstr>
      <vt:lpstr>Fast Recovery: Windows With Fast Recovery</vt:lpstr>
      <vt:lpstr>PowerPoint Presentation</vt:lpstr>
      <vt:lpstr>Fast Recovery: Implementation</vt:lpstr>
      <vt:lpstr>State Machine and Variants</vt:lpstr>
      <vt:lpstr>Putting It All Together: TCP with Congestion Control</vt:lpstr>
      <vt:lpstr>Putting It All Together: TCP with Congestion Control</vt:lpstr>
      <vt:lpstr>Putting It All Together: TCP with Congestion Control</vt:lpstr>
      <vt:lpstr>Putting It All Together: TCP with Congestion Control</vt:lpstr>
      <vt:lpstr>TCP Congestion Control State Machine</vt:lpstr>
      <vt:lpstr>TCP Congestion Control Variants</vt:lpstr>
      <vt:lpstr>TCP Throughput Model</vt:lpstr>
      <vt:lpstr>Our Goal: The TCP Throughput Equation</vt:lpstr>
      <vt:lpstr>TCP Throughput Equation: Simplifying Assumptions</vt:lpstr>
      <vt:lpstr>TCP Throughput in Terms of Window Size</vt:lpstr>
      <vt:lpstr>TCP Throughput in Terms of Window Size</vt:lpstr>
      <vt:lpstr>TCP Throughput in Terms of Window Size</vt:lpstr>
      <vt:lpstr>Relating Window and Loss Rate</vt:lpstr>
      <vt:lpstr>Relating Window and Loss Rate</vt:lpstr>
      <vt:lpstr>Relating Window and Loss Rate</vt:lpstr>
      <vt:lpstr>Relating Window and Loss Rate</vt:lpstr>
      <vt:lpstr>Consequences of Equation (2/2): Rate-Based Congestion Control</vt:lpstr>
      <vt:lpstr>Congestion Control Issues</vt:lpstr>
      <vt:lpstr>Congestion Control Issues</vt:lpstr>
      <vt:lpstr>Issues (1/5): Confusing Corruption and Congestion</vt:lpstr>
      <vt:lpstr>Issues (2/5): Short Connections</vt:lpstr>
      <vt:lpstr>Issues (3/5): Router Queues Get Filled Up</vt:lpstr>
      <vt:lpstr>Issues (3/5): Router Queues Get Filled Up</vt:lpstr>
      <vt:lpstr>Issues (4/5): Cheating</vt:lpstr>
      <vt:lpstr>Issues (4/5): Cheating</vt:lpstr>
      <vt:lpstr>AIMD (Additive Increase, Multiplicative Decrease) Adjustments on Graph</vt:lpstr>
      <vt:lpstr>Issues (4/5): Cheating</vt:lpstr>
      <vt:lpstr>Issues (5/5): Congestion Control and Reliability are Intertwined</vt:lpstr>
      <vt:lpstr>Router-Assisted Congestion Control</vt:lpstr>
      <vt:lpstr>Router-Assisted Congestion Control</vt:lpstr>
      <vt:lpstr>Enforcing Fairness</vt:lpstr>
      <vt:lpstr>Round-Robin (Equal Packet Size)</vt:lpstr>
      <vt:lpstr>Round-Robin (Equal Packet Size)</vt:lpstr>
      <vt:lpstr>Max-Min Fairness (Equal Packet Size)</vt:lpstr>
      <vt:lpstr>Max-Min Fairness (Equal Packet Size)</vt:lpstr>
      <vt:lpstr>Max-Min Fairness (Equal Packet Size)</vt:lpstr>
      <vt:lpstr>Max-Min Fairness Quiz</vt:lpstr>
      <vt:lpstr>Round-Robin (Unequal Packet Size)</vt:lpstr>
      <vt:lpstr>Fair Queuing (Unequal Packet Size)</vt:lpstr>
      <vt:lpstr>Fair Queuing in Practice</vt:lpstr>
      <vt:lpstr>Fair Queuing vs. FIFO Queues</vt:lpstr>
      <vt:lpstr>Fair Queuing Does Not Solve Congestion</vt:lpstr>
      <vt:lpstr>Fair Queuing: Philosophy of Fairness</vt:lpstr>
      <vt:lpstr>Router-Assisted Congestion Control</vt:lpstr>
      <vt:lpstr>Router-Assisted Rate Adaptation</vt:lpstr>
      <vt:lpstr>Router-Assisted Congestion Detection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6</cp:revision>
  <dcterms:modified xsi:type="dcterms:W3CDTF">2026-04-30T18:34:17Z</dcterms:modified>
</cp:coreProperties>
</file>