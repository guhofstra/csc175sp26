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34"/>
      <p:bold r:id="rId35"/>
      <p:italic r:id="rId36"/>
      <p:boldItalic r:id="rId37"/>
    </p:embeddedFont>
    <p:embeddedFont>
      <p:font typeface="Roboto Light" panose="02000000000000000000" pitchFamily="2" charset="0"/>
      <p:regular r:id="rId38"/>
      <p:bold r:id="rId39"/>
      <p:italic r:id="rId40"/>
      <p:boldItalic r:id="rId41"/>
    </p:embeddedFont>
    <p:embeddedFont>
      <p:font typeface="Roboto Medium" panose="02000000000000000000" pitchFamily="2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79FAD5-EFAE-48B7-8A79-736B6F9C6A21}" v="2" dt="2026-01-27T19:35:03.0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8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delSld modSld">
      <pc:chgData name="Zonghua Gu" userId="9a7e1853e1951ef5" providerId="LiveId" clId="{CF1FAA12-072C-4ED5-BA76-0FFFAEFDB88A}" dt="2026-01-27T19:35:03.011" v="4"/>
      <pc:docMkLst>
        <pc:docMk/>
      </pc:docMkLst>
      <pc:sldChg chg="modSp mod">
        <pc:chgData name="Zonghua Gu" userId="9a7e1853e1951ef5" providerId="LiveId" clId="{CF1FAA12-072C-4ED5-BA76-0FFFAEFDB88A}" dt="2025-12-31T12:30:48.949" v="1" actId="6549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5-12-31T12:30:48.949" v="1" actId="6549"/>
          <ac:spMkLst>
            <pc:docMk/>
            <pc:sldMk cId="0" sldId="257"/>
            <ac:spMk id="169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27T19:35:03.011" v="4"/>
        <pc:sldMkLst>
          <pc:docMk/>
          <pc:sldMk cId="0" sldId="263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63"/>
            <ac:spMk id="286" creationId="{00000000-0000-0000-0000-000000000000}"/>
          </ac:spMkLst>
        </pc:spChg>
        <pc:graphicFrameChg chg="add del mod">
          <ac:chgData name="Zonghua Gu" userId="9a7e1853e1951ef5" providerId="LiveId" clId="{CF1FAA12-072C-4ED5-BA76-0FFFAEFDB88A}" dt="2026-01-27T19:34:52.094" v="3" actId="478"/>
          <ac:graphicFrameMkLst>
            <pc:docMk/>
            <pc:sldMk cId="0" sldId="263"/>
            <ac:graphicFrameMk id="2" creationId="{9A51F3E1-B48F-9CE8-438B-EFD638E6D5B5}"/>
          </ac:graphicFrameMkLst>
        </pc:graphicFrameChg>
      </pc:sldChg>
      <pc:sldChg chg="modSp">
        <pc:chgData name="Zonghua Gu" userId="9a7e1853e1951ef5" providerId="LiveId" clId="{CF1FAA12-072C-4ED5-BA76-0FFFAEFDB88A}" dt="2026-01-27T19:35:03.011" v="4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72"/>
            <ac:spMk id="1410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27T19:35:03.011" v="4"/>
        <pc:sldMkLst>
          <pc:docMk/>
          <pc:sldMk cId="0" sldId="283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83"/>
            <ac:spMk id="1810" creationId="{00000000-0000-0000-0000-000000000000}"/>
          </ac:spMkLst>
        </pc:spChg>
      </pc:sldChg>
      <pc:sldMasterChg chg="delSldLayout">
        <pc:chgData name="Zonghua Gu" userId="9a7e1853e1951ef5" providerId="LiveId" clId="{CF1FAA12-072C-4ED5-BA76-0FFFAEFDB88A}" dt="2025-12-31T12:30:46.288" v="0" actId="47"/>
        <pc:sldMasterMkLst>
          <pc:docMk/>
          <pc:sldMasterMk cId="0" sldId="2147483670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efe69fe1a6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efe69fe1a6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here's the outline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start by talking about links in a lot of detail think about how you measure the performance of links what makes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good what makes a link bad what are the trade-offs we'll talk about what happens if links get overloaded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very end now that we finished all of the introduction I can actually give you a preview of all the topics you're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see in a lot more detail so these three sets of lectures have really been about giving you a highlevel 10,000 foot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picture of what you're going to see this semester and then at the very end I'll show you the exact places where we'll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diving in and talking about things in lots more detail but before we get there let's not get ahead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ourselves let's start with talking about links and how to measure their performanc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fe69fe1a6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fe69fe1a6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we've been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like this we draw two circles and we draw a line between them and we say this is a link so what is a link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something that connects two devices and it has some properties so here are some three properties that we care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is bandwidth band with says how many bits can you send or receive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link per unit time so the way you measure it is data per unit time and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most common unit of measurement is bits per second BPS and derivations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thereof so for example Mbps is megabits per second kbps is kilobits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one thing I want to point out and it's very annoying and it trips me up all the time BPS is bits per second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not bytes per second those are different things and they're off by a factor of eight because there are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a bite so if I see that this link works at 8 bits per second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byte per second and sometimes in real life people use these two interchangeably which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annoying but just remember that to go from bits to btes there's a factor of eight because there are eight bits in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kind of annoying but something you have to deal with the second property is propagation delay and this property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seems like it's the same as bandwidth but if you squinted it they're very different things bandwidth says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can I receive per unit time propagation delay by contrast says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to travel across the link so if I just send a single bit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from the instant the bit is sent to the instant that the bit is received and this is just a unit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we're just measuring how much time it takes to send the bit across the link and if this still doesn't totally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sense I have an analogy for you so let's say that this link is like a pipe so you can think of a pipe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carrying water and we can say that the pipe has bandwidth and the bandwidth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would be how wide the pipe this so if this link has very small bandwidth that's equivalent to a pipe that's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and if it's very narrow that means that the amount of water you can send through the pipe per unit time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very slow you have a very narrow pipe and you pump water through it the amount of water that trickles out on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 it's not going to be a lot of water by contrast if you have a really big pipe it's really big you can like walk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it then if you try to shove water through this pipe the other side is going to be flooded really quick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it's going to be flooded with all the water that you're sending through the pipe so intuitively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of bandwidth as how wide your pipe is how much water can you shove through this pipe per unit Time by contrast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the length of the pipe so it's saying how long is the pipe if the pipe is connecting me to my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door neighbor not very long if the pipe is connecting San Francisco to New York that's a very long pipe and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tells us how long does it take for a single drop of water to travel from one end to the other so as I'm sending water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the pipe I can start a timer the instant a drop of water enters the pipe and stop the timer when that same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water exits the pipe and see how long that takes and notice that these two things they're not really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in any way you can increase one and not increase the other they basically change independently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independently of each other for example I can make the bandwidth much wider that is I can shove a lot more water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now but the propagation delay stays the same just because I can shove a lot of water through the pipe if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is still really long it's still going to take a lot of time for any individual drop to travel across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and likewise if I make the propagation delay long or short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doesn't affect the bandwidth it just means that the water takes less time to travel through but if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stays the same it's still the same amount of water showing up just takes less time for each individual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so all of this is to say bandwidth and obligation delay are two totally separate properties and they're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related to each other in any meaningful way and the third property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actually a combination of these two so it's called the bandwidth delay product and it's just taking these two terms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multiplying them together so notice that bandwidth is bits per unit time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time so if you think about multiplying 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you multiply it by seconds the output is just going to be bits just or rearranging the units a little bit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basically the bandwidth delay product if you multiply these two values together you'll get roughly the capacity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and in the water analogy I would think of this as if you freeze time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stop time for one second or however long and you measure the amount of water in the pipe at that instant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delay product that's how much water can fit in the link at any given instant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fe69fe1a6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fe69fe1a6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start doing performance calculations for how long it takes to send some amount of data through a link so 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example let's say we have a link with a bandwidth of one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and one megabit is 1 million bits so this means that this link can send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 bits per second again remember not to confuse this with bytes these are bits and the propagation delay is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 which is 0.1 seconds that is how long it takes for for a single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enter the pipe and then exit the pipe so you enter the pipe at any time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leaves one millisecond later okay so the question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try to answer is let's say we have a packet that is 100 bytes how long does it take to send this packet from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instant that the first bit is sent to the instant that the last bit is received so in total from the instant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the sender starts shoving data into the pipe to the instant that the final bite or bit exits the pipe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efe69fe1a6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efe69fe1a6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here's the picture there's our link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to B the bandwidth as mentioned earlier is 1 million bits per second and the delay is .1 seconds so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going to show us what happens over time so we're going to start with time zero and as you move down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will increase so at Time Zero a is going to send the very first bit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800 bits to send and a is going to take that very first bit and throw it into the pipe so in it goes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that each bit takes one over one million seconds to send because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one million bits in one second that means that each bit takes one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million bits or seconds sorry to send so I'm just taking this value inverting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or taking the reciprocal this tells me how long it takes to send each bit into the pipe so the bandwidth allows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realize that at Time Zero I throw one bit into the pipe and then one millionth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 second later I throw the next bit into the pipe and 1 millionth of a second later I throw the next bit into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this is the rate at which I can throw bits into the pipe so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the next bit shows up or rather the first bit I guess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so this is how long it takes to send each bit at time equals zero I start throwing in the first one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enters the pipe at Time 1 millionth of a second and once it enters the pipe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0.1 seconds to pop out of the other side so by the time the packet reaches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it is now 0.1 seconds later so if you squint at this this is 0.1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travel through the pipe plus 1 millionth which is the amount of time it took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or send this bit into the pipe in the first place so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bit arriving so this is the time at which the very first bit arrives then what happens next well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sender a sends the next bit into the pipe you throw it into the pipe and again 0.001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seconds later it shows up on this side and this is going to happen 800 times because there's 800 bits to send so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three millionth we throw another bit into the pipe 01 seconds later shows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on the other end so it's 0.1 plus 3 millionth of a second and so this keeps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over and over again and eventually we get to the 800th bit and that's going to be sent at 800 millionth of a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first one so the first one was sent at 1 millionth 2 millionth 3 millionth all the way up to 800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which happens to be this number it's okay if these numbers don't you don't have to compute these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just tles on the slide and 0.1 seconds later that packet arrives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as well and so this is our final answer this is when the final bit arrives at the recipient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0.008 that's when the bit enters the pipe and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0.180 0 that's when it exits the pipe so if you're really careful with these calculations and really do the math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you'll realize that this packet takes 1.8 milliseconds to arrive at the end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efe69fe1a6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efe69fe1a6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looking for the formula roughly speaking this is how we computed it so this is the math that we did so we took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packet size that was 800 bits and we divided it by the bandwidth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in red gave us 800 millionth of a second basically tells us when the last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shows up so maybe another way of thinking it of it is one over bandwidth is how long it takes to send one bit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packets size number of bits so in total if each one takes one over bandwidth to send and you have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number of bits the total amount of time it will take to just get everyone in the pipe is Packet size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that's this time right here this is the amount of time it takes to just get everyone into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regardless of what happens on the other side so the sender has to get until T equals 800 millionth of a second just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everyone into the pipe and this term actually also has a special term we call it transmission delay it's the amount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it takes just to shove everyone in the pipe regardless of what time they actually show up on the other side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this is the time it takes to just get everyone in the pipe by the time the last person enters the pipe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bit we also have to wait one more propagation delay for that last bit to exit so at the time the last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wait one more propagation delay the last bit exits the pipe and that gives us our final answer so in total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comes from two sources one is the transmission delay and it's affected by packet size and bandwidth the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you have the longer it takes to shove everyone in the pipe and the narrower the packet the pipe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it takes to shove everyone into the pipe that's the bandwidth and the second term is propagation delay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the pipe is the longer it takes for packets to show up and we have one term of propagation delay at the end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packet to show up all the other packets show up earlier so we don't have to add them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that is is to show up up here so if you really needed the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it's this but be ready to draw the timing diagrams to really apply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knowledge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efe69fe1a6_0_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efe69fe1a6_0_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 know how to calculate the performance of links and use these performance attributes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calculate how long it takes to send packets through the network we can now start comparing links if you go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store and try to buy some links you might think which of these is better and as always the answer is there's not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clear way there are tradeoffs so for example let's say you go to the store and you have these two choices of links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has high bandwidth but low Pro but High propagation delay as well so the link is high bandwidth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shove lots of water through it but it's very long takes a lot of time for the packets to show up by contrast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has smaller bandwidth it's very narrow can't send a lot of water through it at any given time but the propagation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quite short so each packet that you send in shows up pretty quickly and so immed imately you think which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is better and the answer is it kind of depends on what data you're trying to send so for example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sending a pretty small packet 10 bytes that's a pretty small packet well if you think about sending a 10 byte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you can do the calculations that we just did and in fact if all of this is seeming like just some wizard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maybe you do want to sit down and actually crunch out these calculations you'll get roughly 10 milliseconds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one 1 millisecond for link two so you can actually run some calculations to prove Pro to yourself that link to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winner here but intuitively here's how I think about it this packet is very small so regardless of what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is the amount of time it takes to shove this packet into the pipe is pretty quick there's only 10 bytes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to shove into the pipe so regardless of if my bandwidth is 10 megabits per second or 1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I'm basically going to be done shoving this packet into the bite into the pipe instantly cuz it's so small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means that most of the delay is going to come from the propagation delay it's going to come from the time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for this tiny little packet to travel all the way across the pipe so if I just have a little burst of water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have to send in both cases getting the water in the pipe is not the problem it's the amount of time it takes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travel across the pipe that's really going to dominate in that case I want the shorter pipe because I want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to get there as fast as possible and we know propagation delay is the main problem here so pick the one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lower propagation delay here's the other case what if the packet is 10,000 bytes very big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in this case again you can crunch the numbers you'll get roughly 18 milliseconds for link one 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milliseconds for link two unless I messed up my math and if I did let me know but intuitively now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transmission delay is the one that dominates this is a lot of data to shove into the pipe so now we really want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pipe we want the one where you can shove all the stuff into the pipe as fast as possible and Link one has the wi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it's going to let us get all of these packets into the pipe and yes the propagation delay is worse but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case because there's so much to shove into the pipe the transmission delay dominates and compared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shove the packets into the pipe the propagation delay is very small doesn't really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noticeable difference the transmission delay is what you really feel as the limiting factor the one that makes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transmission slow so it really depends in this case for packets that are small the propagation delay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that dominates and you really care about optimizing for that but if you're sending large packets maybe the transmission delay dominates and in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you want the one with wider bandwidth and if you're sending mediumsized packets who knows you have to do the calculations yourself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think about what link is best for your purposes so those are some trade-offs and you can see sometimes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requires back at the envelope calculations in addition to just thinking about things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intuitively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efee6535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efee6535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Questions!!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fe69fe1a6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fe69fe1a6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we've just seen one way to draw out links we saw the timing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diagrams and we can use those to measure the performance of a link but there's actually an alternate way of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links and this one honestly kind of threw me off at first so I tried a couple of animations to make it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let me know what you think they might be kind of weird but we'll try it so as a reminder we drew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timing diagrams I think they're great the way you read them is relatively simple time starts at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works its way down and the way that we drew it is we basically said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each line represents some amount of bytes being sent from A to B and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 the place or the time where that set of bytes is sent and the time at which that set of bytes is received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use this to help us calculate how long it takes for packets to be sent so for example here's another example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slightly more easy to stare at numbers so we have a link with bandwidth that sends five bits per second and a delay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7 seconds is this realistic no is it easier to draw on the slides yes so we'll go with this so here's a case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 can send five bits at every second so maybe another way of drawing the timing diagram from before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drawing each bit individually I can draw well at 1 second five packets enter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the dots 1 2 3 4 5 those are the five bits that entered and each arrives 7s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efe69fe1a6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efe69fe1a6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am showing to you is a frozen moment in time so I am causing the movie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you where the bits are at any given time if the bits are on this side outside of the blue pipe they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 waiting to be sent if the bits are on this side outside of the blue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have been received by B and crucially if they are inside the Blue Zone they are wait or they're currently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being sent through the pipe that's how I drew this and in general when people draw this they mainly draw the thing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and that's going to show you a Frozen in Time picture of the pipe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pausing the movie to see what's going on inside of the pipe so at time equals z none of the bits have been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all waiting at a to be sent and what happens in time equals 1 well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five bits so look what happened five of the bits entered the pipe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are and have they reached B yet no because there's a delay so they're still in the pipe and they're not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reach B until 7 seconds later so they're going to enter the pipe now and 7 seconds later they're going to show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B so what happens at time two well you guessed it five more bits enter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check it out five more bits enter the pipe and also the five bits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entered at time equals 1 that would be these bits right here they took a step they started to approach B so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we're watching the bits move from A to B we're just doing so with taking snapshots every second so we're pausing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movie okay so one more second elapses another set of five bits marches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this set right here marches into the pipe and again the bits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already in the pipe take a step forward so what happens next I'm equals four they March again I'm equals 5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March again and notice nothing has arrived at B yet because we said the delay is 7 seconds so and we're still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equals 5 Seconds nothing has shown up yet okay time 6 something marches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seven bite marches in so at this point the pipe is full by the way so before it wasn't now it's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something you can only really observe with these pipe diagrams another reason for drawing these but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earlier so I'm going to rewind a little bit remember how this one entered at time equals 1 and we said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seven so if these bits enter at time equals 1 and the delay is seven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when when's it going to show up on the other side 1 + 7 is8 so we fast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back here let check it out at 10 equals 8 those bits show up at B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exit the pipe B receives them and these bits they entered at time equals 2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behind the ones at time equals 1 so if these enter at time equals 2 and they have a delay of 7 Seconds they're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at 2 + 7 = 9 and there they are they show up at time equals 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kind of get the idea the next family arrives at time equals 10 and then 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12 and so on and what we're seeing here is that for any given set of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March into the pipe and 7 seconds later they March out on the other end so we basically just watch the bits travel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across the pipe from A to B and by using this picture we got the same answer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 seconds it was still 17 seconds from the start to the end you could have also gotten this by plugging it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or drawing the equivalent timing diagram like we did earlier this is the pipe diagram you draw a rectangle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rectangle has bits marching through it it's a little bit weird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stare at it for a little bit and play with the animation a little bit to really get the hang of it but that's what it looks like and I've made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 for you to look at you can rewind you can fast forward whatever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and yes please watch this with animation if you watch this without animation it looks like complete trash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makes no sense but if you play with animation it looks great so do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see it's so nice okay enough enough playing with this so uh that's how you view this diagram view with animations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fe69fe1a6_0_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fe69fe1a6_0_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 life what they really care about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itself they want to draw this rectangle as a visual representation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pipe so that they can analyze what fits in the pipe at any given time and the way that they draw this pipe is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sorry this pipe yeah H the way that they draw this pipe is based on the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rectangle is based on the two properties that we already talked about so they're going to draw this pipe using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bandwidth to determine the height and remember we talked about this earlier the bandwidth tells us how many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we can fit in the pipe so the reason why I added this crazy animation is because I wanted to show you that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increase bandwidth what happens the rectangle gets taller and if the rectangle gets taller what happens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means more of these bits can line up to enter the pipe at any given unit of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why bandwidth represents the height of this rectangle so the thing that always confuses people is they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why is bandwidth the height well one intuitive way of saying it is we talked about the water pipe the bandwidth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wide the pipe is another way of seeing it is if you look at this diagram it tells us that if the bandwidth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increased it means that you can stack more of these dots which represent bits and more of the bits can enter at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given time that is exactly what it means to have higher bandwidth that's why the height is determined by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bandwidth and the width tells us the propagation delay again it's kind of like the water example the 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long the pipe is and how long it takes for a single drop of water to travel through the pipe but we can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through our little animation as well that if you make this rectangle longer these bits are going to have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for more time steps before they can exit on the other side and just like we saw earlier bandwidth times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if you multiply these two terms together you get the area of this rectangle which is the capacity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and again the animation shows us that this is indeed the capacity of the pipe the area of this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 bigger this rectangle is whether you make it taller or wider the bigger this rectangle is the more dots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or bits you can fit into this pipe so hopefully with these dots I've convinced you that the pipe diagram is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rectangle where the bandwidth is the height and the propagation delay is the width and the dots are really just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clarity but the rectangle is what people really care about when they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these and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2efe69fe1a6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2efe69fe1a6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just to convince yourself one more time here's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example where the pipe length is shorter and so what you'll notice is that the bandwidth is the same still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height so what that means is that we can still only March in five bits at any given second that's why it says five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per second only five bits can March in but now that the delay is 3 seconds instead of seven the rectangle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shorter or rather Slimmer less wide so what that means is that when this sequence of five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the stack we'll notice that at time one it enters and then one two 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later it shows up on the other side and for any one of these stacks of five let's pick one okay so let's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this one right here right now it's here right now it's about to enter the pipe it enters at six 7 8 and at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equals 9 it exits the pipe let's look at this very last one it enters at time 10 11 12 13 is when it shows up and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timing diagram would have given you the same answer took 13 seconds for this stack of bits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packet to travel across the pipe so this pipe represents uh link with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same bandwidth but lower propagation DeLay So less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please view with animation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efe69fe1a6_0_1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efe69fe1a6_0_1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here's another example now I'm going to keep the propagation delay the same it's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three so the width of this rectangle is the same but it is now taller because the band width is wider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again if you think about the water example I've increased the width of the pipe you can now shove in more dots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so by making this taller it is now the case that I cannot I can March in not five but 10 dots per second so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are lined up in stacks of 10 and at any second 10 of them enter and that's allowed because this pipe is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so at time equals 1 the stack of 10 enters but the delay is still three so you still have to count one two three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that stack of 10 exits and same thing with this last set right here one two three before it exits I think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count it wrong okay so it enters right there and then one two three it exits and I get a total propagation time of 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so that's another example of a pipe diagram again people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the rectangle but I really like Imagining the dots inside of the rectangle to remind myself why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looks like this do with animations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2efe69fe1a6_0_2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7" name="Google Shape;1057;g2efe69fe1a6_0_2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and so one thing that people always get confused on on the pipe diagram you might be wondering okay what's with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dots why are you showing me dots this is the part that I think really trips people up because when you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pipe diagrams you can also draw packets inside of the pipe so instead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just drawing a rectangle and calling it a day what most people will do when they draw these pipe diagrams is they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 draw the packets sitting inside of the pipe that's what these diagrams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really good at they're really good at giving you a frozen moment in time where you can say there's a packet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and there's a packet right here and they're currently being sent and there's a packet right here that's what's so great about these diagrams they're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let us watch packets as they go through this pipe at Frozen moments in time and we're actually going to 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when we get to later when we talk about the reliability protocol TCP we're going to draw these diagrams so useful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think about them I won't draw them with dots that's just for today but we will draw these diagrams so when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talked about transmission delay remember that that was how long it takes to send the packet into the pipe well then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transmission delay means how long does it take for all of the bits to March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into the pipe so remember transmission delay was how long does it take from the first bit being shoved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into the pipe to the last bit being shoved being shoved into the pipe with no regard for the output we just care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about a shoving all the bits into the pipe so the way that we measure that then is we start at time zero and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particular Link at five bits per second a stack of five enters at every given time step and at time equals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is when all the bits have been shoved into the pipe so the transmission delay is 4 seconds seconds this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part that I think is confusing if the bandwidth increases the pipe gets taller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you agree when there's more bandwidth it gets wider the pipe gets taller you can March more bits in per unit time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more bits can be marched in per unit time the packet itself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that's kind of weird the packet gets taller but it's the same amount of data it's just we're stacking them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Stacks per unit time so the packet itself gets narrower this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 that I think always strips people up okay I guess we have to wait for this packet to travel good it's made it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end so this is the same packet as before here was a packet that was 20 bytes but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stacked them in fives because the bandwidth was five bits per second so the transmission delay was four 20 divid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 and so in this case the bandwidth is now 10 which means I can stack them in 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stacking them in fives and what you'll notice is that when I stack them in 10 tens the packet itself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so right here when I draw the packet it's pretty wide it's four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which corresponds to the transmission delay of four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2efe69fe1a6_0_29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6" name="Google Shape;1186;g2efe69fe1a6_0_29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here where I stack the packets 10 high the packet width is only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because it takes only two seconds for this entire packet to enter the pipe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all of this is to say that when the bandwidth increases the packets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and narrower and that represents the that you can shove in more bits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given unit of time so when you change the link itself the packets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themselves you can almost think of them as like they're they're shifting in shape to match the height of the B uh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link so this is the same packet it's just rearranged itself to a different shape maybe that's another way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putting it but just like before they travel through the link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2efe69fe1a6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2efe69fe1a6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this is the picture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care about at the very end so ultimately when people draw these again they don't draw the dots but they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things like this they'll draw a blue rectangle to represent the link and then they will draw these orange squares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represent the packets themselves and so these are actually the same packets these are three packets each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20 dots these are also three packets each packet is also 20 dots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20 bits but notice that because the link itself changed in particular the link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itself received more bandwidth so we're switching to will link with more bandwidth the packets got taller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they shifted their shape to fit in the new pipe and so something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is really confusing to people when they see these diagrams is that wait a minute when I change the link that I'm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packets themselves also change shape and yes that's true they change shapes because they fit in the pipe in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way in particular more dots can be stacked and so they get taller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they get narrower because it takes less time to send them through the pipe the other thing that I think is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totally intuitive is the transmission delay is the width of the packet so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width of this packet tells me the transmission delay that is how long does it take to shove this packet into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pipe and what this picture is showing you is that if you increase the bandwidth now that they can March in 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stacks of five the transmission delay got shorter and that's represented by the fact that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got less wide I know I just said a lot of words at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will probably take a little bit of playing around with the demos and watching the animations to make sense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don't make sense I really just care about the shape of these rectangles but maybe they helped maybe they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complain at me in the comments if you didn't like this but you can't say I didn't try I drew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diagrams any questions on this by the way it is kind of a funky topic when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saw this I had for the first time I had no idea what the pipes look like when I drew the dots in they made a little bit more sense to me but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but the key idea I think is really confusing is really just the fact that transmission delay is actually the 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the packet not immediately obvious and the fact that it gets uh shorter as the packet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okay an attempt was made but let me know on ad or elsewhere if you find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confusing we can talk about it somewhere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2efee65359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2efee65359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for the final topic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today I want to briefly mention what happened when links themselves get overloaded so sometimes there's a lot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to send and the link just can't keep up because its bandwidth isn't enough or his propagation delay isn't enough sometimes the link just cannot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keep up that's something we have to deal with on the internet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fee65359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fee65359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let's talk about that so ultimately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roughly and we're going to talk about them a lot more in this class but at a very high level routers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and then pick a link to forward them closer to their destination the router says I can't reach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but if I send it to my buddy over here they're going to get this packet closer to the destination for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routers ultimately receive packets from links and send them out of links so here's an example where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incoming links so for Simplicity we'll just assume these two links are being used to send traffic inwards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reality links might be bidirectional here we're assuming these links are just used for inputting data and then we'll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assume it has just a single outgoing Link in other words this router is going to forward all the packets to the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reality there could be multiple outgoing links for now let's just assume one so let's see what happens as we go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a time and these are pipe diagrams by the way you see these little rectangles they're packets and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larger rectangle is the pipe itself so we're already using pipe diagrams which is kind of cool so this is a frozen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Moment In Time lots of packets are streaming into the router and the router's goal is to get them all out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its only outgoing link that's the goal of this particular router so if I look at this type diagram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g2efee653596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6" name="Google Shape;1436;g2efee653596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is the closest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the router it's going to get there first and the router forwards it out of the link and all the other packets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toward uh the router so they all move toward the router a little bit what comes next well packet A1 is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enter the router so at the next time step the router receives A1 sends it out out of the outgoing link and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incoming packets take a step closer okay good and then D1 takes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over outwards toward its next top okay good at the next step A2 shows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great and it gets sent out and then at the next step B2 enters and it gets sent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 A3 enters get sent out B3 and A4 worked out just line at every given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the router only had to process one packet and send it out so this router was not overloaded it was able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successfully handle all of the packets from the incoming links with no problem so the traffic wasn't too heavy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was able to process and forward all of the packets and careful viewers might have noticed I think I messed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animation but pretend you didn't see it the important thing was just packets coming in and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out I'll fix it later okay here's an example where the router was going to have some overload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g2efee653596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5" name="Google Shape;1575;g2efee653596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take a look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picture the router has two packets arriving at the exact same time so in this pipe diagram Frozen in Time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are both about to arrive at the router at the same time they're right there next to the router and on the next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time step they're both going to arrive well that's a problem because this router can't handle two packets at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only handle one packet at a time it looks at the packet thinks about where it needs to go forwards the packet so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router can only handle one packet at a time what happens if it suddenly gets two at once well it's a problem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solution is the router is going to keep a que and the que basically says here are some packets that I've received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 have not processed so I'm going to save them for processing later and that's actually totally fine happens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time in the internet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g2efee653596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9" name="Google Shape;1599;g2efee653596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what's going to happen is A1 and B1 both arrive we arbitrarily choose to send out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process it and B1 get stuck in the que how did I choose A1 over B1 open question we'll talk about it some other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day but for now assume that one of them was chosen and at the next time step uh oh we have some trouble A2 and B2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also arriving at the same time so the router is going to take both of them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shove them in the que and in the queue they take B1 and process that one so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exact way that the router figures out what to get queued and what to process is a bit beyond the scope for right for right now but the important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 is that when packets arrive they first enter the que look A2 and B2 enter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2efee653596_0_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2efee653596_0_7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que and what was it B1 can get dced so B1 gets dced and gets sent out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happens over and over again um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g2efee653596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0" name="Google Shape;1650;g2efee653596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at this time no packets enter so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is empty this pipe is empty so because right now there's no traffic this is a great opportunity to clear 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que so we clear out A2 we clear out B2 that's great and now A3 enters B3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A4 enters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2efee653596_0_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7" name="Google Shape;1677;g2efee653596_0_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2efee653596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2efee653596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called transient overload because temporarily the router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was overloaded and had too much to process but later the router used some downtime to finish training its que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having a queue is totally fine it just means some of the packets have to wait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efee653596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efee653596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sometimes the router cannot handle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the incoming load so if the two pipes that are incoming look like this well this router is doomed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be able to handle all of these packets no matter how much it tries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 packets in a queue it's just not going to have enough bandwidth to send out this many packets over a single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router is in trouble the que is going to build up and build up and eventually the queue itself is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exceed some limit and become to full and at that point this router simply has to give up and it's going to start dropping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which means it receives a packet and just ignores it doesn't get forwarded the packet just gets lost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stuff like this by the way is why we said that the internet has best effort at layer three it's because we 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like this and the way that we design routers which is that we allow them to drop packets in cases like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consistent with our design that we said routers only have to offer best effort service so it's a nice case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design matching the implementation because we said that the Internet only provides best effort well then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allowed to drop packets if it can't handle them because the internet is best effort so you could have a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the que is not going to help you if you try drawing this out with a que the que itself is going to get packed and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 and eventually some of these later packets are just going to get dropped so here we call this persistent overload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it's not the case that the router temporarily had a little bit too much to do but later it was able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 out the queue this is the case where the queue is never getting clean we just don't have enough capacity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just not powerful enough or doesn't have enough processing power doesn't have enough outgoing bandwidth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process all the packets that are incoming so this is a problem of not enough capacity it's not a problem of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temporary overload that gets solved this is a persistent problem that's why people call persistent overload so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fix this turns out there's not really a great answer one possible answer is the router itself logs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somewhere for its operator the person operating this router hey I am not able to send out all the packets I have been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dropping a lot of things lately you might want to consider upgrading me to a better model give me some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processing power connect me to some more links so that I can actually handle all the packets but that's a manual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something that the router can just automatically do routers don't upgrade themselves automatically someone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would actually have to come in and rewire this router or install a better one to handle this kind of load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something else we'll see later in the semester is this router might actually be able to send a packet backwards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sender and tell the sender you are sending me too much you need to slow down because I can't handle this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load and that's something we'll spend a lot of time on when we talk about congestion control but for now I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wanted to get the point across that routers take in incoming packets they forward them sometimes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 and sometimes there is persistent overload which we will try and solve a 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any thoughts on this stuff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g2efee65359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0" name="Google Shape;1800;g2efee65359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we actually have to go back now and revisit what a packet does when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travels from its source to its destination because remember earlier we said that you send a packet the delay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packet comes from two sources one is the transmission delay that is how long does it take for all of the bits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into the pipe and the propagation delay is how long the pipe is how long does it take for the bits to travel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pipe but there's actually a third term that we've now introduced that we previous previously had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thought of which is queuing delay because it could be the case that this packet travels multiple hops to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and some of the intermediate routers trap the packet in a queue for some time before the packet can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forwarded so that actually could introduce additional delay into the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takes to send a packet from a source to a destination so we already saw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terms those are in terms of the link that you have the bandwidth the propagation delay and now we have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third term which is the queuing delay and that comes from routers that might have to put this packet in a que so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if you think about what does a packet do from the moment it's created to the moment it's received well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sender is the one that creates the packet it wraps the packet around a bunch of headers like we've seen before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then it sends the bits of the packet along a link and how long it takes to send the packet along the link depends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those two terms eventually the packet arrives at a router and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forward the packet closer to its destination so the router says I'm not the Final Destination but the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 is that way so send it that way so the router is going to forward the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in doing so the packet might have to wait a little bit in the queue or if this router is totally overwhelmed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packet just gets dropped that's also an option and then this just repeats over and over again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router there might be some queuing time the router might drop it and if it doesn't drop then that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gets forwarded to the next router that router cues it for a little bit maybe maybe drops the pack pet forwards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and this repeats over and over again until either the packet reaches its destination because all the routers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along the path correctly forwarded the packet or the packet got dropped along the way in which case it's not reaching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 destination the end host will have to do something about that so roughly speaking that is what a packet does from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moment it's created to either the moment it drops or the moment it reaches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destination any thoughts on this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2efee653596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2efee653596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something I promised you last time which I didn't give to you so I'll give to you now is a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all the things you're going to see so now that we've given you a highlevel overview of all the things you're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see in the semester and some of the fundamental ideas behind networking how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works why the network was designed the way that it is what a packet looks like when it travels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the network we can now give you a whole preview of all all the things you're going to see it's basically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little topics that you've already seen in these first three lectures but we'll dive into them in a lot more detail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2efee653596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2efee653596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you've already done the first three lectures those were our basic networking principles we talked about the layers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we talked about how packets get wrapped in headers as they work down the stack and unwrapped as they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up we talked about all those design principles for why the internet is built the way that it is the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principle d multiplexing the narrow waist we talked about statistical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multiplexing and sharing of resources and last time we talked about what a link looks like how you measure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quality of a link and what a packet does when it travels through the network so once you have these three lectures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actually all set to start on Project one and project one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reminds you about all of these principles and asks you to build a neat little networking utility called trace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 so hope you're enjoying that so the next six lectures starting today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for the next six lectures we are now going to zoom in on routing for a long time and this happens at layer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three so you can think about Layer Three is the one that connects all the routers and the hosts to each other on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entire global internet and we're going to answer a question about routing which is how do routers actually know how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packets when I receive a packet how do I know that okay this packet is for Bob and Bob is that way or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for Alice and Al is that way how does the router know where everyone is that's the fundamental question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behind routing we're going to spend a lot of time answering that we'll also along the way see how you actually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assign addresses to end hosts turns out the network doesn't call them Alice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Bob we actually give them addresses and we'll talk about how you assign those and as a fun little Topic at the 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how you build an industrial strength router so we'll open up a router and see what all the hardware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components are and in this section you'll get a project to do which is all about routing so that's this entire unit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think this is most of the stuff on the midterm but don't quote me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okay and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2efee653596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2efee653596_1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okay and then near the end we'll have some other topics that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fit in the networking stack but are still really important so in lectur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 through 21 we're going to talk about data centers so this is a pretty new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topic it's pretty state-of-the-art and we're going to talk about building networks to connect up servers at a high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performance data center so to give you a little preview you can imagine I don't know Facebook or YouTube is probably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this big building full of computers and those computers have to talk to each each other how do you build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networks in that special context lectures 18 19 20 and 21 will tell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about that that's pretty cool and then lectures 22 and 23 these are even newer additions to the class they're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called Beyond client server it's what we called it and basically we'll think about some newer applications 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internet such as like Google Docs where you want to communicate in a group and also how do you use networks to support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AI training that's pretty cool this I think is the newest lecture we've made apparently it's a Super Hot Topic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research so look forward to that and then lectures 24 through 25 as a bit of a dessert will give you a quick tour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Wireless so it turns out designing Wireless Communications comes with it comes with its own set of challenges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take a look at what it means If instead of thinking of links as wires we think of them as Wireless Communications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you get one lecture on wireless communication one lecture on cellular networks like how does your phone access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if even though it's not connected to anything we'll talk about that and we'll be all done so that's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overview of the semester a lot of the things that we're talk going to talk about you've already gotten a little preview of in the three lectures so far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we'll just spend a lot of time digging into them and then at the end you get all these neat applications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things that are pretty hot now and active areas of research which is pretty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cool any thoughts on the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yeah data centers seem cool I hope uh I agree they're pretty cool I hope you think so as well when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okay so to 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327ce77ef6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1" name="Google Shape;1831;g327ce77ef6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Briefly summarize links we talked about this handy little formula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we said the packet delay is the sum of the transmission delay that is how long it takes to send all the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wire plus the propagation delay how long it takes for a single bit to travel all the way from one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other end plus the queuing delay in case packets have to wait at a Queue at an intermediate router or multiple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perhaps and we talked about two types of overload transient overload if a couple packets arrive at the same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queue them and the queue drains or persistent overload where there's just not enough capacity to handle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incoming and we also spend some time looking at two types of diagrams to help us analyze links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timing diagrams where we draw time going down and and this allows us to check when a packet gets sent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received and we also showed you the pipe diagram which shows uh the Link at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frozen moment in time and from this you can actually derive some of the properties of the link itself such 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transmission delay bandwidth so that's the summary of links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questions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Bandwidth and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8" name="Google Shape;16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Propagation Delay</a:t>
            </a: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3</a:t>
            </a:r>
            <a:r>
              <a:rPr lang="en"/>
              <a:t>, Spring </a:t>
            </a:r>
            <a:r>
              <a:rPr lang="en" dirty="0"/>
              <a:t>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link connects two devices.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 of a link: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</a:t>
            </a:r>
            <a:r>
              <a:rPr lang="en"/>
              <a:t>: Number of bits sent/received per unit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"Width"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bits per second (bps).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Propagation delay</a:t>
            </a:r>
            <a:r>
              <a:rPr lang="en"/>
              <a:t>: Time it takes a bit to travel along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"Length"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seconds.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Bandwidth-delay product</a:t>
            </a:r>
            <a:r>
              <a:rPr lang="en"/>
              <a:t>: Bandwidth × delay.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"Capacity" of the link.</a:t>
            </a: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2465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Links</a:t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2559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" name="Google Shape;178;p26"/>
          <p:cNvCxnSpPr>
            <a:stCxn id="177" idx="6"/>
            <a:endCxn id="175" idx="2"/>
          </p:cNvCxnSpPr>
          <p:nvPr/>
        </p:nvCxnSpPr>
        <p:spPr>
          <a:xfrm>
            <a:off x="3540963" y="702550"/>
            <a:ext cx="7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" name="Google Shape;179;p26"/>
          <p:cNvSpPr/>
          <p:nvPr/>
        </p:nvSpPr>
        <p:spPr>
          <a:xfrm rot="-5400000">
            <a:off x="4888425" y="2885338"/>
            <a:ext cx="580800" cy="3612900"/>
          </a:xfrm>
          <a:prstGeom prst="can">
            <a:avLst>
              <a:gd name="adj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3980475" y="4556748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3058725" y="4401693"/>
            <a:ext cx="179700" cy="581004"/>
            <a:chOff x="2338450" y="3338450"/>
            <a:chExt cx="179700" cy="836700"/>
          </a:xfrm>
        </p:grpSpPr>
        <p:cxnSp>
          <p:nvCxnSpPr>
            <p:cNvPr id="182" name="Google Shape;182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5" name="Google Shape;185;p26"/>
          <p:cNvSpPr txBox="1"/>
          <p:nvPr/>
        </p:nvSpPr>
        <p:spPr>
          <a:xfrm>
            <a:off x="2158725" y="4556748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6" name="Google Shape;186;p26"/>
          <p:cNvGrpSpPr/>
          <p:nvPr/>
        </p:nvGrpSpPr>
        <p:grpSpPr>
          <a:xfrm rot="5400000">
            <a:off x="5115423" y="2481747"/>
            <a:ext cx="204624" cy="3473309"/>
            <a:chOff x="2338450" y="3338450"/>
            <a:chExt cx="179700" cy="836700"/>
          </a:xfrm>
        </p:grpSpPr>
        <p:cxnSp>
          <p:nvCxnSpPr>
            <p:cNvPr id="187" name="Google Shape;187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6"/>
          <p:cNvSpPr txBox="1"/>
          <p:nvPr/>
        </p:nvSpPr>
        <p:spPr>
          <a:xfrm>
            <a:off x="4435188" y="3916673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a link with: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= 1 Mbps.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1,000,000 bits per second.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Propagation delay = 1 ms.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0.001 seconds.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does it take to send a 100-byte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800-bit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 packet?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the time the first bit is sent,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the time the last bit is received.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draw a timing diagram to help.</a:t>
            </a:r>
            <a:endParaRPr/>
          </a:p>
        </p:txBody>
      </p:sp>
      <p:cxnSp>
        <p:nvCxnSpPr>
          <p:cNvPr id="197" name="Google Shape;197;p27"/>
          <p:cNvCxnSpPr/>
          <p:nvPr/>
        </p:nvCxnSpPr>
        <p:spPr>
          <a:xfrm flipH="1">
            <a:off x="5065000" y="828400"/>
            <a:ext cx="885900" cy="23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27"/>
          <p:cNvSpPr txBox="1"/>
          <p:nvPr/>
        </p:nvSpPr>
        <p:spPr>
          <a:xfrm>
            <a:off x="5950900" y="703900"/>
            <a:ext cx="2221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We measure in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per second, not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bytes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/>
          <p:nvPr/>
        </p:nvSpPr>
        <p:spPr>
          <a:xfrm>
            <a:off x="3356325" y="1828725"/>
            <a:ext cx="2442300" cy="2861950"/>
          </a:xfrm>
          <a:custGeom>
            <a:avLst/>
            <a:gdLst/>
            <a:ahLst/>
            <a:cxnLst/>
            <a:rect l="l" t="t" r="r" b="b"/>
            <a:pathLst>
              <a:path w="97692" h="114478" extrusionOk="0">
                <a:moveTo>
                  <a:pt x="0" y="0"/>
                </a:moveTo>
                <a:lnTo>
                  <a:pt x="97692" y="26177"/>
                </a:lnTo>
                <a:lnTo>
                  <a:pt x="97692" y="114478"/>
                </a:lnTo>
                <a:lnTo>
                  <a:pt x="20" y="8830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05" name="Google Shape;205;p28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8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28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" name="Google Shape;209;p28"/>
          <p:cNvCxnSpPr>
            <a:stCxn id="208" idx="6"/>
            <a:endCxn id="207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8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/>
          <p:nvPr/>
        </p:nvCxnSpPr>
        <p:spPr>
          <a:xfrm>
            <a:off x="3082638" y="1517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2" name="Google Shape;212;p28"/>
          <p:cNvSpPr txBox="1"/>
          <p:nvPr/>
        </p:nvSpPr>
        <p:spPr>
          <a:xfrm>
            <a:off x="2484161" y="14099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4" name="Google Shape;214;p28"/>
          <p:cNvSpPr txBox="1"/>
          <p:nvPr/>
        </p:nvSpPr>
        <p:spPr>
          <a:xfrm>
            <a:off x="1834736" y="17147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282350" y="14714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each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6" name="Google Shape;216;p28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8" name="Google Shape;218;p28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74799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0.001s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/>
          <p:nvPr/>
        </p:nvCxnSpPr>
        <p:spPr>
          <a:xfrm>
            <a:off x="3082638" y="2127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1" name="Google Shape;221;p28"/>
          <p:cNvSpPr txBox="1"/>
          <p:nvPr/>
        </p:nvSpPr>
        <p:spPr>
          <a:xfrm>
            <a:off x="1834736" y="2019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2" name="Google Shape;222;p28"/>
          <p:cNvCxnSpPr/>
          <p:nvPr/>
        </p:nvCxnSpPr>
        <p:spPr>
          <a:xfrm>
            <a:off x="3358213" y="2132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8"/>
          <p:cNvCxnSpPr/>
          <p:nvPr/>
        </p:nvCxnSpPr>
        <p:spPr>
          <a:xfrm rot="10800000">
            <a:off x="5800863" y="2788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8"/>
          <p:cNvSpPr txBox="1"/>
          <p:nvPr/>
        </p:nvSpPr>
        <p:spPr>
          <a:xfrm>
            <a:off x="6149762" y="2680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8"/>
          <p:cNvCxnSpPr/>
          <p:nvPr/>
        </p:nvCxnSpPr>
        <p:spPr>
          <a:xfrm>
            <a:off x="3082638" y="2432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6" name="Google Shape;226;p28"/>
          <p:cNvSpPr txBox="1"/>
          <p:nvPr/>
        </p:nvSpPr>
        <p:spPr>
          <a:xfrm>
            <a:off x="1834736" y="23243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/>
          <p:nvPr/>
        </p:nvCxnSpPr>
        <p:spPr>
          <a:xfrm>
            <a:off x="3358213" y="2436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28"/>
          <p:cNvCxnSpPr/>
          <p:nvPr/>
        </p:nvCxnSpPr>
        <p:spPr>
          <a:xfrm rot="10800000">
            <a:off x="5800863" y="3093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8"/>
          <p:cNvSpPr txBox="1"/>
          <p:nvPr/>
        </p:nvSpPr>
        <p:spPr>
          <a:xfrm>
            <a:off x="6149762" y="29856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28"/>
          <p:cNvCxnSpPr/>
          <p:nvPr/>
        </p:nvCxnSpPr>
        <p:spPr>
          <a:xfrm>
            <a:off x="3082638" y="4032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1834736" y="3924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/>
          <p:nvPr/>
        </p:nvCxnSpPr>
        <p:spPr>
          <a:xfrm>
            <a:off x="3358213" y="4037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8"/>
          <p:cNvCxnSpPr/>
          <p:nvPr/>
        </p:nvCxnSpPr>
        <p:spPr>
          <a:xfrm rot="10800000">
            <a:off x="5800863" y="4693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28"/>
          <p:cNvSpPr txBox="1"/>
          <p:nvPr/>
        </p:nvSpPr>
        <p:spPr>
          <a:xfrm>
            <a:off x="6149762" y="4585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350" y="36812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800th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800/1,000,000s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8"/>
          <p:cNvSpPr txBox="1"/>
          <p:nvPr/>
        </p:nvSpPr>
        <p:spPr>
          <a:xfrm>
            <a:off x="7479900" y="44503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1.8 ms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3763800" y="327597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9"/>
          <p:cNvSpPr/>
          <p:nvPr/>
        </p:nvSpPr>
        <p:spPr>
          <a:xfrm>
            <a:off x="3355163" y="2794175"/>
            <a:ext cx="2442750" cy="1950050"/>
          </a:xfrm>
          <a:custGeom>
            <a:avLst/>
            <a:gdLst/>
            <a:ahLst/>
            <a:cxnLst/>
            <a:rect l="l" t="t" r="r" b="b"/>
            <a:pathLst>
              <a:path w="97710" h="78002" extrusionOk="0">
                <a:moveTo>
                  <a:pt x="0" y="0"/>
                </a:moveTo>
                <a:lnTo>
                  <a:pt x="97710" y="26181"/>
                </a:lnTo>
                <a:lnTo>
                  <a:pt x="97710" y="78002"/>
                </a:lnTo>
                <a:lnTo>
                  <a:pt x="34" y="51830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Google Shape;243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     </a:t>
            </a:r>
            <a:r>
              <a:rPr lang="en">
                <a:solidFill>
                  <a:schemeClr val="accent2"/>
                </a:solidFill>
              </a:rPr>
              <a:t>Transmission Delay</a:t>
            </a:r>
            <a:r>
              <a:rPr lang="en"/>
              <a:t>	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45" name="Google Shape;245;p29"/>
          <p:cNvCxnSpPr/>
          <p:nvPr/>
        </p:nvCxnSpPr>
        <p:spPr>
          <a:xfrm>
            <a:off x="3355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9"/>
          <p:cNvCxnSpPr/>
          <p:nvPr/>
        </p:nvCxnSpPr>
        <p:spPr>
          <a:xfrm>
            <a:off x="5799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29"/>
          <p:cNvSpPr/>
          <p:nvPr/>
        </p:nvSpPr>
        <p:spPr>
          <a:xfrm>
            <a:off x="5656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212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9" name="Google Shape;249;p29"/>
          <p:cNvCxnSpPr>
            <a:stCxn id="248" idx="6"/>
            <a:endCxn id="247" idx="2"/>
          </p:cNvCxnSpPr>
          <p:nvPr/>
        </p:nvCxnSpPr>
        <p:spPr>
          <a:xfrm>
            <a:off x="3497838" y="201207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29"/>
          <p:cNvSpPr txBox="1"/>
          <p:nvPr/>
        </p:nvSpPr>
        <p:spPr>
          <a:xfrm>
            <a:off x="3355350" y="153481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9"/>
          <p:cNvCxnSpPr/>
          <p:nvPr/>
        </p:nvCxnSpPr>
        <p:spPr>
          <a:xfrm>
            <a:off x="3082650" y="2482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29"/>
          <p:cNvSpPr txBox="1"/>
          <p:nvPr/>
        </p:nvSpPr>
        <p:spPr>
          <a:xfrm>
            <a:off x="2484173" y="237520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29"/>
          <p:cNvCxnSpPr/>
          <p:nvPr/>
        </p:nvCxnSpPr>
        <p:spPr>
          <a:xfrm>
            <a:off x="3082650" y="2787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p29"/>
          <p:cNvSpPr txBox="1"/>
          <p:nvPr/>
        </p:nvSpPr>
        <p:spPr>
          <a:xfrm>
            <a:off x="1834749" y="26800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5" name="Google Shape;255;p29"/>
          <p:cNvCxnSpPr/>
          <p:nvPr/>
        </p:nvCxnSpPr>
        <p:spPr>
          <a:xfrm>
            <a:off x="3358225" y="27925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9"/>
          <p:cNvCxnSpPr/>
          <p:nvPr/>
        </p:nvCxnSpPr>
        <p:spPr>
          <a:xfrm rot="10800000">
            <a:off x="5800875" y="34489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6149775" y="33412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9"/>
          <p:cNvCxnSpPr/>
          <p:nvPr/>
        </p:nvCxnSpPr>
        <p:spPr>
          <a:xfrm>
            <a:off x="3082650" y="4083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9" name="Google Shape;259;p29"/>
          <p:cNvSpPr txBox="1"/>
          <p:nvPr/>
        </p:nvSpPr>
        <p:spPr>
          <a:xfrm>
            <a:off x="1834749" y="39754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9"/>
          <p:cNvCxnSpPr/>
          <p:nvPr/>
        </p:nvCxnSpPr>
        <p:spPr>
          <a:xfrm>
            <a:off x="3358225" y="40879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9"/>
          <p:cNvCxnSpPr/>
          <p:nvPr/>
        </p:nvCxnSpPr>
        <p:spPr>
          <a:xfrm rot="10800000">
            <a:off x="5800875" y="47443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2" name="Google Shape;262;p29"/>
          <p:cNvSpPr txBox="1"/>
          <p:nvPr/>
        </p:nvSpPr>
        <p:spPr>
          <a:xfrm>
            <a:off x="6149775" y="46366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3763813" y="363162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4" name="Google Shape;264;p29"/>
          <p:cNvGrpSpPr/>
          <p:nvPr/>
        </p:nvGrpSpPr>
        <p:grpSpPr>
          <a:xfrm>
            <a:off x="1617050" y="2787567"/>
            <a:ext cx="179700" cy="1263835"/>
            <a:chOff x="2338450" y="3338450"/>
            <a:chExt cx="179700" cy="836700"/>
          </a:xfrm>
        </p:grpSpPr>
        <p:cxnSp>
          <p:nvCxnSpPr>
            <p:cNvPr id="265" name="Google Shape;265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6" name="Google Shape;266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7" name="Google Shape;267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8" name="Google Shape;268;p29"/>
          <p:cNvSpPr txBox="1"/>
          <p:nvPr/>
        </p:nvSpPr>
        <p:spPr>
          <a:xfrm>
            <a:off x="457550" y="3194700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9" name="Google Shape;269;p29"/>
          <p:cNvGrpSpPr/>
          <p:nvPr/>
        </p:nvGrpSpPr>
        <p:grpSpPr>
          <a:xfrm>
            <a:off x="1617050" y="4125162"/>
            <a:ext cx="179700" cy="616397"/>
            <a:chOff x="2338450" y="3338450"/>
            <a:chExt cx="179700" cy="836700"/>
          </a:xfrm>
        </p:grpSpPr>
        <p:cxnSp>
          <p:nvCxnSpPr>
            <p:cNvPr id="270" name="Google Shape;270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1" name="Google Shape;271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2" name="Google Shape;272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3" name="Google Shape;273;p29"/>
          <p:cNvSpPr txBox="1"/>
          <p:nvPr/>
        </p:nvSpPr>
        <p:spPr>
          <a:xfrm>
            <a:off x="457550" y="4171625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Tradeoffs</a:t>
            </a:r>
            <a:endParaRPr/>
          </a:p>
        </p:txBody>
      </p:sp>
      <p:sp>
        <p:nvSpPr>
          <p:cNvPr id="279" name="Google Shape;279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Which link is better? It depends.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1:	Bandwidth 10 Mbps	Propagation Delay = 10 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2:	Bandwidth 1 Mbps	Propagation Delay = 1 ms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10-byte packet: Link 2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~10 ms with Link 1.	~1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small packet, transmission delay is negligible. Propagation delay dominates.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10,000-byte packet: Link 1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~18 ms with Link 1.	~81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large packet, transmission delay dominates.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Pipe Diagrams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85" name="Google Shape;285;p3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286" name="Google Shape;286;p3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Diagrams and Pipe Diagrams</a:t>
            </a:r>
            <a:endParaRPr/>
          </a:p>
        </p:txBody>
      </p:sp>
      <p:sp>
        <p:nvSpPr>
          <p:cNvPr id="292" name="Google Shape;292;p32"/>
          <p:cNvSpPr/>
          <p:nvPr/>
        </p:nvSpPr>
        <p:spPr>
          <a:xfrm>
            <a:off x="3356825" y="1828525"/>
            <a:ext cx="2443000" cy="2712725"/>
          </a:xfrm>
          <a:custGeom>
            <a:avLst/>
            <a:gdLst/>
            <a:ahLst/>
            <a:cxnLst/>
            <a:rect l="l" t="t" r="r" b="b"/>
            <a:pathLst>
              <a:path w="97720" h="108509" extrusionOk="0">
                <a:moveTo>
                  <a:pt x="0" y="0"/>
                </a:moveTo>
                <a:lnTo>
                  <a:pt x="0" y="82325"/>
                </a:lnTo>
                <a:lnTo>
                  <a:pt x="97720" y="108509"/>
                </a:lnTo>
                <a:lnTo>
                  <a:pt x="97720" y="26029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93" name="Google Shape;293;p32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2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6" name="Google Shape;296;p32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32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8" name="Google Shape;298;p32"/>
          <p:cNvCxnSpPr>
            <a:stCxn id="297" idx="6"/>
            <a:endCxn id="296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9" name="Google Shape;299;p32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2"/>
          <p:cNvCxnSpPr/>
          <p:nvPr/>
        </p:nvCxnSpPr>
        <p:spPr>
          <a:xfrm>
            <a:off x="3082638" y="1593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1" name="Google Shape;301;p32"/>
          <p:cNvSpPr txBox="1"/>
          <p:nvPr/>
        </p:nvSpPr>
        <p:spPr>
          <a:xfrm>
            <a:off x="2484161" y="14861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32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3" name="Google Shape;303;p32"/>
          <p:cNvSpPr txBox="1"/>
          <p:nvPr/>
        </p:nvSpPr>
        <p:spPr>
          <a:xfrm>
            <a:off x="2383430" y="17147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891950" y="1471450"/>
            <a:ext cx="15144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5 bits transmitted per second.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5" name="Google Shape;305;p32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6" name="Google Shape;306;p32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9465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8" name="Google Shape;308;p32"/>
          <p:cNvCxnSpPr/>
          <p:nvPr/>
        </p:nvCxnSpPr>
        <p:spPr>
          <a:xfrm>
            <a:off x="3082638" y="2051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9" name="Google Shape;309;p32"/>
          <p:cNvSpPr txBox="1"/>
          <p:nvPr/>
        </p:nvSpPr>
        <p:spPr>
          <a:xfrm>
            <a:off x="2383430" y="19433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2"/>
          <p:cNvCxnSpPr/>
          <p:nvPr/>
        </p:nvCxnSpPr>
        <p:spPr>
          <a:xfrm>
            <a:off x="3358213" y="2055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1" name="Google Shape;311;p32"/>
          <p:cNvCxnSpPr/>
          <p:nvPr/>
        </p:nvCxnSpPr>
        <p:spPr>
          <a:xfrm rot="10800000">
            <a:off x="5800863" y="2712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2" name="Google Shape;312;p32"/>
          <p:cNvSpPr txBox="1"/>
          <p:nvPr/>
        </p:nvSpPr>
        <p:spPr>
          <a:xfrm>
            <a:off x="6149755" y="26046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3" name="Google Shape;313;p32"/>
          <p:cNvCxnSpPr/>
          <p:nvPr/>
        </p:nvCxnSpPr>
        <p:spPr>
          <a:xfrm>
            <a:off x="3082638" y="2279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4" name="Google Shape;314;p32"/>
          <p:cNvSpPr txBox="1"/>
          <p:nvPr/>
        </p:nvSpPr>
        <p:spPr>
          <a:xfrm>
            <a:off x="2383430" y="21719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p32"/>
          <p:cNvCxnSpPr/>
          <p:nvPr/>
        </p:nvCxnSpPr>
        <p:spPr>
          <a:xfrm>
            <a:off x="3358213" y="2284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2"/>
          <p:cNvCxnSpPr/>
          <p:nvPr/>
        </p:nvCxnSpPr>
        <p:spPr>
          <a:xfrm rot="10800000">
            <a:off x="5800863" y="2940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7" name="Google Shape;317;p32"/>
          <p:cNvSpPr txBox="1"/>
          <p:nvPr/>
        </p:nvSpPr>
        <p:spPr>
          <a:xfrm>
            <a:off x="6149755" y="28332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8" name="Google Shape;318;p32"/>
          <p:cNvCxnSpPr/>
          <p:nvPr/>
        </p:nvCxnSpPr>
        <p:spPr>
          <a:xfrm>
            <a:off x="3082638" y="3879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9" name="Google Shape;319;p32"/>
          <p:cNvSpPr txBox="1"/>
          <p:nvPr/>
        </p:nvSpPr>
        <p:spPr>
          <a:xfrm>
            <a:off x="1834736" y="37721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2"/>
          <p:cNvCxnSpPr/>
          <p:nvPr/>
        </p:nvCxnSpPr>
        <p:spPr>
          <a:xfrm>
            <a:off x="3358213" y="3884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32"/>
          <p:cNvCxnSpPr/>
          <p:nvPr/>
        </p:nvCxnSpPr>
        <p:spPr>
          <a:xfrm rot="10800000">
            <a:off x="5800863" y="4541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2" name="Google Shape;322;p32"/>
          <p:cNvSpPr txBox="1"/>
          <p:nvPr/>
        </p:nvSpPr>
        <p:spPr>
          <a:xfrm>
            <a:off x="6149756" y="4433400"/>
            <a:ext cx="636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2"/>
          <p:cNvSpPr txBox="1"/>
          <p:nvPr/>
        </p:nvSpPr>
        <p:spPr>
          <a:xfrm>
            <a:off x="891950" y="3681250"/>
            <a:ext cx="13938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10s to transmit 50 bits.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2"/>
          <p:cNvSpPr txBox="1"/>
          <p:nvPr/>
        </p:nvSpPr>
        <p:spPr>
          <a:xfrm>
            <a:off x="6870300" y="42979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3967050" y="4570475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26" name="Google Shape;326;p32"/>
          <p:cNvGrpSpPr/>
          <p:nvPr/>
        </p:nvGrpSpPr>
        <p:grpSpPr>
          <a:xfrm>
            <a:off x="4175093" y="1976049"/>
            <a:ext cx="793800" cy="354600"/>
            <a:chOff x="4175093" y="1976049"/>
            <a:chExt cx="793800" cy="354600"/>
          </a:xfrm>
        </p:grpSpPr>
        <p:sp>
          <p:nvSpPr>
            <p:cNvPr id="327" name="Google Shape;327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8" name="Google Shape;328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9" name="Google Shape;329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0" name="Google Shape;330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1" name="Google Shape;331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2" name="Google Shape;332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3" name="Google Shape;333;p32"/>
          <p:cNvGrpSpPr/>
          <p:nvPr/>
        </p:nvGrpSpPr>
        <p:grpSpPr>
          <a:xfrm>
            <a:off x="4175093" y="2204649"/>
            <a:ext cx="793800" cy="354600"/>
            <a:chOff x="4175093" y="1976049"/>
            <a:chExt cx="793800" cy="354600"/>
          </a:xfrm>
        </p:grpSpPr>
        <p:sp>
          <p:nvSpPr>
            <p:cNvPr id="334" name="Google Shape;334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8" name="Google Shape;338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9" name="Google Shape;339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0" name="Google Shape;340;p32"/>
          <p:cNvGrpSpPr/>
          <p:nvPr/>
        </p:nvGrpSpPr>
        <p:grpSpPr>
          <a:xfrm>
            <a:off x="4175093" y="2433249"/>
            <a:ext cx="793800" cy="354600"/>
            <a:chOff x="4175093" y="1976049"/>
            <a:chExt cx="793800" cy="354600"/>
          </a:xfrm>
        </p:grpSpPr>
        <p:sp>
          <p:nvSpPr>
            <p:cNvPr id="341" name="Google Shape;341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2" name="Google Shape;342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4" name="Google Shape;344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5" name="Google Shape;345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6" name="Google Shape;346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2"/>
          <p:cNvGrpSpPr/>
          <p:nvPr/>
        </p:nvGrpSpPr>
        <p:grpSpPr>
          <a:xfrm>
            <a:off x="4175093" y="4033449"/>
            <a:ext cx="793800" cy="354600"/>
            <a:chOff x="4175093" y="1976049"/>
            <a:chExt cx="793800" cy="354600"/>
          </a:xfrm>
        </p:grpSpPr>
        <p:sp>
          <p:nvSpPr>
            <p:cNvPr id="348" name="Google Shape;34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9" name="Google Shape;34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0" name="Google Shape;35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2" name="Google Shape;35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54" name="Google Shape;354;p32"/>
          <p:cNvCxnSpPr/>
          <p:nvPr/>
        </p:nvCxnSpPr>
        <p:spPr>
          <a:xfrm>
            <a:off x="3358213" y="2513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55" name="Google Shape;355;p32"/>
          <p:cNvGrpSpPr/>
          <p:nvPr/>
        </p:nvGrpSpPr>
        <p:grpSpPr>
          <a:xfrm>
            <a:off x="4175093" y="2661849"/>
            <a:ext cx="793800" cy="354600"/>
            <a:chOff x="4175093" y="1976049"/>
            <a:chExt cx="793800" cy="354600"/>
          </a:xfrm>
        </p:grpSpPr>
        <p:sp>
          <p:nvSpPr>
            <p:cNvPr id="356" name="Google Shape;35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8" name="Google Shape;35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9" name="Google Shape;35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62" name="Google Shape;362;p32"/>
          <p:cNvCxnSpPr/>
          <p:nvPr/>
        </p:nvCxnSpPr>
        <p:spPr>
          <a:xfrm>
            <a:off x="3358213" y="2741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32"/>
          <p:cNvCxnSpPr/>
          <p:nvPr/>
        </p:nvCxnSpPr>
        <p:spPr>
          <a:xfrm>
            <a:off x="3358213" y="2970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364;p32"/>
          <p:cNvCxnSpPr/>
          <p:nvPr/>
        </p:nvCxnSpPr>
        <p:spPr>
          <a:xfrm>
            <a:off x="3358213" y="3198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5" name="Google Shape;365;p32"/>
          <p:cNvGrpSpPr/>
          <p:nvPr/>
        </p:nvGrpSpPr>
        <p:grpSpPr>
          <a:xfrm>
            <a:off x="4175093" y="2890449"/>
            <a:ext cx="793800" cy="354600"/>
            <a:chOff x="4175093" y="1976049"/>
            <a:chExt cx="793800" cy="354600"/>
          </a:xfrm>
        </p:grpSpPr>
        <p:sp>
          <p:nvSpPr>
            <p:cNvPr id="366" name="Google Shape;36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0" name="Google Shape;37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1" name="Google Shape;37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2" name="Google Shape;372;p32"/>
          <p:cNvGrpSpPr/>
          <p:nvPr/>
        </p:nvGrpSpPr>
        <p:grpSpPr>
          <a:xfrm>
            <a:off x="4175093" y="3119049"/>
            <a:ext cx="793800" cy="354600"/>
            <a:chOff x="4175093" y="1976049"/>
            <a:chExt cx="793800" cy="354600"/>
          </a:xfrm>
        </p:grpSpPr>
        <p:sp>
          <p:nvSpPr>
            <p:cNvPr id="373" name="Google Shape;373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5" name="Google Shape;375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9" name="Google Shape;379;p32"/>
          <p:cNvGrpSpPr/>
          <p:nvPr/>
        </p:nvGrpSpPr>
        <p:grpSpPr>
          <a:xfrm>
            <a:off x="4175093" y="3347649"/>
            <a:ext cx="793800" cy="354600"/>
            <a:chOff x="4175093" y="1976049"/>
            <a:chExt cx="793800" cy="354600"/>
          </a:xfrm>
        </p:grpSpPr>
        <p:sp>
          <p:nvSpPr>
            <p:cNvPr id="380" name="Google Shape;380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86" name="Google Shape;386;p32"/>
          <p:cNvCxnSpPr/>
          <p:nvPr/>
        </p:nvCxnSpPr>
        <p:spPr>
          <a:xfrm>
            <a:off x="3358213" y="3427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7" name="Google Shape;387;p32"/>
          <p:cNvGrpSpPr/>
          <p:nvPr/>
        </p:nvGrpSpPr>
        <p:grpSpPr>
          <a:xfrm>
            <a:off x="4175093" y="3576249"/>
            <a:ext cx="793800" cy="354600"/>
            <a:chOff x="4175093" y="1976049"/>
            <a:chExt cx="793800" cy="354600"/>
          </a:xfrm>
        </p:grpSpPr>
        <p:sp>
          <p:nvSpPr>
            <p:cNvPr id="388" name="Google Shape;38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94" name="Google Shape;394;p32"/>
          <p:cNvCxnSpPr/>
          <p:nvPr/>
        </p:nvCxnSpPr>
        <p:spPr>
          <a:xfrm>
            <a:off x="3358213" y="3656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95" name="Google Shape;395;p32"/>
          <p:cNvGrpSpPr/>
          <p:nvPr/>
        </p:nvGrpSpPr>
        <p:grpSpPr>
          <a:xfrm>
            <a:off x="4175093" y="3804849"/>
            <a:ext cx="793800" cy="354600"/>
            <a:chOff x="4175093" y="1976049"/>
            <a:chExt cx="793800" cy="354600"/>
          </a:xfrm>
        </p:grpSpPr>
        <p:sp>
          <p:nvSpPr>
            <p:cNvPr id="396" name="Google Shape;39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7" name="Google Shape;39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8" name="Google Shape;39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9" name="Google Shape;39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0" name="Google Shape;40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Timing Diagrams and Pipe Diagrams</a:t>
            </a:r>
            <a:endParaRPr/>
          </a:p>
        </p:txBody>
      </p:sp>
      <p:sp>
        <p:nvSpPr>
          <p:cNvPr id="407" name="Google Shape;407;p33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08" name="Google Shape;408;p33"/>
          <p:cNvGrpSpPr/>
          <p:nvPr/>
        </p:nvGrpSpPr>
        <p:grpSpPr>
          <a:xfrm>
            <a:off x="1292507" y="3491807"/>
            <a:ext cx="158191" cy="779684"/>
            <a:chOff x="4492945" y="1763407"/>
            <a:chExt cx="158191" cy="779684"/>
          </a:xfrm>
        </p:grpSpPr>
        <p:sp>
          <p:nvSpPr>
            <p:cNvPr id="409" name="Google Shape;409;p33"/>
            <p:cNvSpPr/>
            <p:nvPr/>
          </p:nvSpPr>
          <p:spPr>
            <a:xfrm rot="5400612">
              <a:off x="4182253" y="2074223"/>
              <a:ext cx="779574" cy="1580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33"/>
            <p:cNvSpPr/>
            <p:nvPr/>
          </p:nvSpPr>
          <p:spPr>
            <a:xfrm rot="4500040">
              <a:off x="4529246" y="2426441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1" name="Google Shape;411;p33"/>
            <p:cNvSpPr/>
            <p:nvPr/>
          </p:nvSpPr>
          <p:spPr>
            <a:xfrm rot="4500040">
              <a:off x="4529165" y="2268692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2" name="Google Shape;412;p33"/>
            <p:cNvSpPr/>
            <p:nvPr/>
          </p:nvSpPr>
          <p:spPr>
            <a:xfrm rot="4500040">
              <a:off x="4528843" y="2111008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3" name="Google Shape;413;p33"/>
            <p:cNvSpPr/>
            <p:nvPr/>
          </p:nvSpPr>
          <p:spPr>
            <a:xfrm rot="4500040">
              <a:off x="4528980" y="1953200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4" name="Google Shape;414;p33"/>
            <p:cNvSpPr/>
            <p:nvPr/>
          </p:nvSpPr>
          <p:spPr>
            <a:xfrm rot="4500040">
              <a:off x="4528803" y="1795477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5" name="Google Shape;415;p33"/>
          <p:cNvGrpSpPr/>
          <p:nvPr/>
        </p:nvGrpSpPr>
        <p:grpSpPr>
          <a:xfrm>
            <a:off x="1597398" y="3491807"/>
            <a:ext cx="158100" cy="779700"/>
            <a:chOff x="4493036" y="1763407"/>
            <a:chExt cx="158100" cy="779700"/>
          </a:xfrm>
        </p:grpSpPr>
        <p:sp>
          <p:nvSpPr>
            <p:cNvPr id="416" name="Google Shape;41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8" name="Google Shape;41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9" name="Google Shape;41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0" name="Google Shape;42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1" name="Google Shape;42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2" name="Google Shape;422;p33"/>
          <p:cNvGrpSpPr/>
          <p:nvPr/>
        </p:nvGrpSpPr>
        <p:grpSpPr>
          <a:xfrm>
            <a:off x="1902198" y="3491807"/>
            <a:ext cx="158100" cy="779700"/>
            <a:chOff x="4493036" y="1763407"/>
            <a:chExt cx="158100" cy="779700"/>
          </a:xfrm>
        </p:grpSpPr>
        <p:sp>
          <p:nvSpPr>
            <p:cNvPr id="423" name="Google Shape;42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4" name="Google Shape;42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5" name="Google Shape;42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6" name="Google Shape;42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7" name="Google Shape;42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8" name="Google Shape;42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33"/>
          <p:cNvGrpSpPr/>
          <p:nvPr/>
        </p:nvGrpSpPr>
        <p:grpSpPr>
          <a:xfrm>
            <a:off x="2206998" y="3491807"/>
            <a:ext cx="158100" cy="779700"/>
            <a:chOff x="4493036" y="1763407"/>
            <a:chExt cx="158100" cy="779700"/>
          </a:xfrm>
        </p:grpSpPr>
        <p:sp>
          <p:nvSpPr>
            <p:cNvPr id="430" name="Google Shape;43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6" name="Google Shape;436;p33"/>
          <p:cNvGrpSpPr/>
          <p:nvPr/>
        </p:nvGrpSpPr>
        <p:grpSpPr>
          <a:xfrm>
            <a:off x="2511798" y="3491807"/>
            <a:ext cx="158100" cy="779700"/>
            <a:chOff x="4493036" y="1763407"/>
            <a:chExt cx="158100" cy="779700"/>
          </a:xfrm>
        </p:grpSpPr>
        <p:sp>
          <p:nvSpPr>
            <p:cNvPr id="437" name="Google Shape;43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9" name="Google Shape;43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0" name="Google Shape;44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1" name="Google Shape;44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3" name="Google Shape;443;p33"/>
          <p:cNvGrpSpPr/>
          <p:nvPr/>
        </p:nvGrpSpPr>
        <p:grpSpPr>
          <a:xfrm>
            <a:off x="2816598" y="3491807"/>
            <a:ext cx="158100" cy="779700"/>
            <a:chOff x="4493036" y="1763407"/>
            <a:chExt cx="158100" cy="779700"/>
          </a:xfrm>
        </p:grpSpPr>
        <p:sp>
          <p:nvSpPr>
            <p:cNvPr id="444" name="Google Shape;44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5" name="Google Shape;44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6" name="Google Shape;44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7" name="Google Shape;44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8" name="Google Shape;44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9" name="Google Shape;44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0" name="Google Shape;450;p33"/>
          <p:cNvGrpSpPr/>
          <p:nvPr/>
        </p:nvGrpSpPr>
        <p:grpSpPr>
          <a:xfrm>
            <a:off x="3121398" y="3491807"/>
            <a:ext cx="158100" cy="779700"/>
            <a:chOff x="4493036" y="1763407"/>
            <a:chExt cx="158100" cy="779700"/>
          </a:xfrm>
        </p:grpSpPr>
        <p:sp>
          <p:nvSpPr>
            <p:cNvPr id="451" name="Google Shape;45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2" name="Google Shape;45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3" name="Google Shape;45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4" name="Google Shape;45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5" name="Google Shape;45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6" name="Google Shape;45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7" name="Google Shape;457;p33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33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9" name="Google Shape;459;p33"/>
          <p:cNvCxnSpPr>
            <a:stCxn id="458" idx="6"/>
            <a:endCxn id="457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0" name="Google Shape;460;p33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61" name="Google Shape;461;p33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462" name="Google Shape;46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8" name="Google Shape;468;p33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469" name="Google Shape;46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0" name="Google Shape;47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1" name="Google Shape;47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2" name="Google Shape;47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3" name="Google Shape;47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4" name="Google Shape;47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5" name="Google Shape;475;p33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476" name="Google Shape;47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7" name="Google Shape;47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9" name="Google Shape;47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0" name="Google Shape;48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2" name="Google Shape;482;p33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483" name="Google Shape;48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5" name="Google Shape;48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6" name="Google Shape;48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7" name="Google Shape;48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8" name="Google Shape;48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9" name="Google Shape;489;p33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490" name="Google Shape;49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1" name="Google Shape;49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2" name="Google Shape;49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3" name="Google Shape;49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4" name="Google Shape;49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5" name="Google Shape;49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6" name="Google Shape;496;p33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497" name="Google Shape;49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3" name="Google Shape;503;p33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504" name="Google Shape;50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5" name="Google Shape;50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6" name="Google Shape;50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7" name="Google Shape;50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8" name="Google Shape;50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9" name="Google Shape;50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0" name="Google Shape;510;p33"/>
          <p:cNvGrpSpPr/>
          <p:nvPr/>
        </p:nvGrpSpPr>
        <p:grpSpPr>
          <a:xfrm>
            <a:off x="378198" y="3491807"/>
            <a:ext cx="158100" cy="779700"/>
            <a:chOff x="4493036" y="1763407"/>
            <a:chExt cx="158100" cy="779700"/>
          </a:xfrm>
        </p:grpSpPr>
        <p:sp>
          <p:nvSpPr>
            <p:cNvPr id="511" name="Google Shape;51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2" name="Google Shape;51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3" name="Google Shape;51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4" name="Google Shape;51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5" name="Google Shape;51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6" name="Google Shape;51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7" name="Google Shape;517;p33"/>
          <p:cNvGrpSpPr/>
          <p:nvPr/>
        </p:nvGrpSpPr>
        <p:grpSpPr>
          <a:xfrm>
            <a:off x="682998" y="3491807"/>
            <a:ext cx="158100" cy="779700"/>
            <a:chOff x="4493036" y="1763407"/>
            <a:chExt cx="158100" cy="779700"/>
          </a:xfrm>
        </p:grpSpPr>
        <p:sp>
          <p:nvSpPr>
            <p:cNvPr id="518" name="Google Shape;51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9" name="Google Shape;51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0" name="Google Shape;52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3" name="Google Shape;52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33"/>
          <p:cNvGrpSpPr/>
          <p:nvPr/>
        </p:nvGrpSpPr>
        <p:grpSpPr>
          <a:xfrm>
            <a:off x="987798" y="3491807"/>
            <a:ext cx="158100" cy="779700"/>
            <a:chOff x="4493036" y="1763407"/>
            <a:chExt cx="158100" cy="779700"/>
          </a:xfrm>
        </p:grpSpPr>
        <p:sp>
          <p:nvSpPr>
            <p:cNvPr id="525" name="Google Shape;52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6" name="Google Shape;52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7" name="Google Shape;52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8" name="Google Shape;52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0" name="Google Shape;53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1" name="Google Shape;531;p33"/>
          <p:cNvGrpSpPr/>
          <p:nvPr/>
        </p:nvGrpSpPr>
        <p:grpSpPr>
          <a:xfrm>
            <a:off x="6778998" y="3491807"/>
            <a:ext cx="158100" cy="779700"/>
            <a:chOff x="4493036" y="1763407"/>
            <a:chExt cx="158100" cy="779700"/>
          </a:xfrm>
        </p:grpSpPr>
        <p:sp>
          <p:nvSpPr>
            <p:cNvPr id="532" name="Google Shape;53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3" name="Google Shape;53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4" name="Google Shape;53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5" name="Google Shape;53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6" name="Google Shape;53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8" name="Google Shape;538;p33"/>
          <p:cNvGrpSpPr/>
          <p:nvPr/>
        </p:nvGrpSpPr>
        <p:grpSpPr>
          <a:xfrm>
            <a:off x="7083798" y="3491807"/>
            <a:ext cx="158100" cy="779700"/>
            <a:chOff x="4493036" y="1763407"/>
            <a:chExt cx="158100" cy="779700"/>
          </a:xfrm>
        </p:grpSpPr>
        <p:sp>
          <p:nvSpPr>
            <p:cNvPr id="539" name="Google Shape;53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0" name="Google Shape;54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1" name="Google Shape;54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2" name="Google Shape;54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3" name="Google Shape;54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5" name="Google Shape;545;p33"/>
          <p:cNvGrpSpPr/>
          <p:nvPr/>
        </p:nvGrpSpPr>
        <p:grpSpPr>
          <a:xfrm>
            <a:off x="7388598" y="3491807"/>
            <a:ext cx="158100" cy="779700"/>
            <a:chOff x="4493036" y="1763407"/>
            <a:chExt cx="158100" cy="779700"/>
          </a:xfrm>
        </p:grpSpPr>
        <p:sp>
          <p:nvSpPr>
            <p:cNvPr id="546" name="Google Shape;54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7" name="Google Shape;54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8" name="Google Shape;54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9" name="Google Shape;54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0" name="Google Shape;55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1" name="Google Shape;55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2" name="Google Shape;552;p33"/>
          <p:cNvGrpSpPr/>
          <p:nvPr/>
        </p:nvGrpSpPr>
        <p:grpSpPr>
          <a:xfrm>
            <a:off x="7693398" y="3491807"/>
            <a:ext cx="158100" cy="779700"/>
            <a:chOff x="4493036" y="1763407"/>
            <a:chExt cx="158100" cy="779700"/>
          </a:xfrm>
        </p:grpSpPr>
        <p:sp>
          <p:nvSpPr>
            <p:cNvPr id="553" name="Google Shape;55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4" name="Google Shape;55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5" name="Google Shape;55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6" name="Google Shape;55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7" name="Google Shape;55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8" name="Google Shape;55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9" name="Google Shape;559;p33"/>
          <p:cNvGrpSpPr/>
          <p:nvPr/>
        </p:nvGrpSpPr>
        <p:grpSpPr>
          <a:xfrm>
            <a:off x="7998198" y="3491807"/>
            <a:ext cx="158100" cy="779700"/>
            <a:chOff x="4493036" y="1763407"/>
            <a:chExt cx="158100" cy="779700"/>
          </a:xfrm>
        </p:grpSpPr>
        <p:sp>
          <p:nvSpPr>
            <p:cNvPr id="560" name="Google Shape;56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1" name="Google Shape;56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2" name="Google Shape;56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3" name="Google Shape;56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4" name="Google Shape;56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5" name="Google Shape;56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66" name="Google Shape;566;p33"/>
          <p:cNvGrpSpPr/>
          <p:nvPr/>
        </p:nvGrpSpPr>
        <p:grpSpPr>
          <a:xfrm>
            <a:off x="8302998" y="3491807"/>
            <a:ext cx="158100" cy="779700"/>
            <a:chOff x="4493036" y="1763407"/>
            <a:chExt cx="158100" cy="779700"/>
          </a:xfrm>
        </p:grpSpPr>
        <p:sp>
          <p:nvSpPr>
            <p:cNvPr id="567" name="Google Shape;56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9" name="Google Shape;56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0" name="Google Shape;57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3" name="Google Shape;573;p33"/>
          <p:cNvGrpSpPr/>
          <p:nvPr/>
        </p:nvGrpSpPr>
        <p:grpSpPr>
          <a:xfrm>
            <a:off x="8607798" y="3491807"/>
            <a:ext cx="158100" cy="779700"/>
            <a:chOff x="4493036" y="1763407"/>
            <a:chExt cx="158100" cy="779700"/>
          </a:xfrm>
        </p:grpSpPr>
        <p:sp>
          <p:nvSpPr>
            <p:cNvPr id="574" name="Google Shape;57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5" name="Google Shape;57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8" name="Google Shape;57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9" name="Google Shape;57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5864598" y="3491807"/>
            <a:ext cx="158100" cy="779700"/>
            <a:chOff x="4493036" y="1763407"/>
            <a:chExt cx="158100" cy="779700"/>
          </a:xfrm>
        </p:grpSpPr>
        <p:sp>
          <p:nvSpPr>
            <p:cNvPr id="581" name="Google Shape;58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4" name="Google Shape;58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5" name="Google Shape;58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6" name="Google Shape;58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7" name="Google Shape;587;p33"/>
          <p:cNvGrpSpPr/>
          <p:nvPr/>
        </p:nvGrpSpPr>
        <p:grpSpPr>
          <a:xfrm>
            <a:off x="6169398" y="3491807"/>
            <a:ext cx="158100" cy="779700"/>
            <a:chOff x="4493036" y="1763407"/>
            <a:chExt cx="158100" cy="779700"/>
          </a:xfrm>
        </p:grpSpPr>
        <p:sp>
          <p:nvSpPr>
            <p:cNvPr id="588" name="Google Shape;58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2" name="Google Shape;59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94" name="Google Shape;594;p33"/>
          <p:cNvGrpSpPr/>
          <p:nvPr/>
        </p:nvGrpSpPr>
        <p:grpSpPr>
          <a:xfrm>
            <a:off x="6474198" y="3491807"/>
            <a:ext cx="158100" cy="779700"/>
            <a:chOff x="4493036" y="1763407"/>
            <a:chExt cx="158100" cy="779700"/>
          </a:xfrm>
        </p:grpSpPr>
        <p:sp>
          <p:nvSpPr>
            <p:cNvPr id="595" name="Google Shape;59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6" name="Google Shape;59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7" name="Google Shape;59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8" name="Google Shape;59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5" name="Google Shape;605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3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9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pipe diagram is an alternate view of the link.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Shows the bits on the link at a frozen moment in time.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626" name="Google Shape;626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Pipe diagram shows the bits on the link at a frozen moment in time.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Height = bandwidth.</a:t>
            </a:r>
            <a:r>
              <a:rPr lang="en"/>
              <a:t> How many bits we can put in the pipe per unit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Width = propagation delay.</a:t>
            </a:r>
            <a:r>
              <a:rPr lang="en"/>
              <a:t> How long it takes for bits to travel through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Area = bandwidth-delay product</a:t>
            </a:r>
            <a:r>
              <a:rPr lang="en"/>
              <a:t>. How many bits fit in the pipe at a given instant.</a:t>
            </a:r>
            <a:endParaRPr/>
          </a:p>
        </p:txBody>
      </p:sp>
      <p:sp>
        <p:nvSpPr>
          <p:cNvPr id="627" name="Google Shape;627;p34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4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4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0" name="Google Shape;630;p34"/>
          <p:cNvCxnSpPr>
            <a:stCxn id="629" idx="6"/>
            <a:endCxn id="628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p34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32" name="Google Shape;632;p34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633" name="Google Shape;633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4" name="Google Shape;634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5" name="Google Shape;635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6" name="Google Shape;636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7" name="Google Shape;637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8" name="Google Shape;638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39" name="Google Shape;639;p34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640" name="Google Shape;640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1" name="Google Shape;641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2" name="Google Shape;642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3" name="Google Shape;643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4" name="Google Shape;644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5" name="Google Shape;645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46" name="Google Shape;646;p34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647" name="Google Shape;647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8" name="Google Shape;648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9" name="Google Shape;649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0" name="Google Shape;650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1" name="Google Shape;651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2" name="Google Shape;652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53" name="Google Shape;653;p34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654" name="Google Shape;654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5" name="Google Shape;655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6" name="Google Shape;656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7" name="Google Shape;657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8" name="Google Shape;658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9" name="Google Shape;659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661" name="Google Shape;661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2" name="Google Shape;662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4" name="Google Shape;664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5" name="Google Shape;665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6" name="Google Shape;666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7" name="Google Shape;667;p34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668" name="Google Shape;668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9" name="Google Shape;669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0" name="Google Shape;670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2" name="Google Shape;672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3" name="Google Shape;673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4" name="Google Shape;674;p34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675" name="Google Shape;675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6" name="Google Shape;676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7" name="Google Shape;677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1" name="Google Shape;681;p34"/>
          <p:cNvGrpSpPr/>
          <p:nvPr/>
        </p:nvGrpSpPr>
        <p:grpSpPr>
          <a:xfrm>
            <a:off x="3073025" y="3424440"/>
            <a:ext cx="179700" cy="914429"/>
            <a:chOff x="2338450" y="3338450"/>
            <a:chExt cx="179700" cy="836700"/>
          </a:xfrm>
        </p:grpSpPr>
        <p:cxnSp>
          <p:nvCxnSpPr>
            <p:cNvPr id="682" name="Google Shape;682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3" name="Google Shape;683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85" name="Google Shape;685;p34"/>
          <p:cNvSpPr txBox="1"/>
          <p:nvPr/>
        </p:nvSpPr>
        <p:spPr>
          <a:xfrm>
            <a:off x="2210425" y="3746200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86" name="Google Shape;686;p34"/>
          <p:cNvGrpSpPr/>
          <p:nvPr/>
        </p:nvGrpSpPr>
        <p:grpSpPr>
          <a:xfrm rot="5400000">
            <a:off x="4476767" y="3419744"/>
            <a:ext cx="179700" cy="2322763"/>
            <a:chOff x="2338450" y="3338450"/>
            <a:chExt cx="179700" cy="836700"/>
          </a:xfrm>
        </p:grpSpPr>
        <p:cxnSp>
          <p:nvCxnSpPr>
            <p:cNvPr id="687" name="Google Shape;687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8" name="Google Shape;688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9" name="Google Shape;689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90" name="Google Shape;690;p34"/>
          <p:cNvSpPr txBox="1"/>
          <p:nvPr/>
        </p:nvSpPr>
        <p:spPr>
          <a:xfrm>
            <a:off x="3763025" y="4579850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696" name="Google Shape;696;p35"/>
          <p:cNvSpPr/>
          <p:nvPr/>
        </p:nvSpPr>
        <p:spPr>
          <a:xfrm>
            <a:off x="4080600" y="3424450"/>
            <a:ext cx="9828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97" name="Google Shape;697;p35"/>
          <p:cNvGrpSpPr/>
          <p:nvPr/>
        </p:nvGrpSpPr>
        <p:grpSpPr>
          <a:xfrm>
            <a:off x="1902148" y="3491807"/>
            <a:ext cx="158100" cy="779700"/>
            <a:chOff x="4493036" y="1763407"/>
            <a:chExt cx="158100" cy="779700"/>
          </a:xfrm>
        </p:grpSpPr>
        <p:sp>
          <p:nvSpPr>
            <p:cNvPr id="698" name="Google Shape;69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0" name="Google Shape;70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1" name="Google Shape;70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3" name="Google Shape;70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4" name="Google Shape;704;p35"/>
          <p:cNvGrpSpPr/>
          <p:nvPr/>
        </p:nvGrpSpPr>
        <p:grpSpPr>
          <a:xfrm>
            <a:off x="2206948" y="3491807"/>
            <a:ext cx="158100" cy="779700"/>
            <a:chOff x="4493036" y="1763407"/>
            <a:chExt cx="158100" cy="779700"/>
          </a:xfrm>
        </p:grpSpPr>
        <p:sp>
          <p:nvSpPr>
            <p:cNvPr id="705" name="Google Shape;70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6" name="Google Shape;70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7" name="Google Shape;70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8" name="Google Shape;70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9" name="Google Shape;70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0" name="Google Shape;71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1" name="Google Shape;711;p35"/>
          <p:cNvGrpSpPr/>
          <p:nvPr/>
        </p:nvGrpSpPr>
        <p:grpSpPr>
          <a:xfrm>
            <a:off x="2511748" y="3491807"/>
            <a:ext cx="158100" cy="779700"/>
            <a:chOff x="4493036" y="1763407"/>
            <a:chExt cx="158100" cy="779700"/>
          </a:xfrm>
        </p:grpSpPr>
        <p:sp>
          <p:nvSpPr>
            <p:cNvPr id="712" name="Google Shape;71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3" name="Google Shape;71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4" name="Google Shape;71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5" name="Google Shape;71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6" name="Google Shape;71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7" name="Google Shape;71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8" name="Google Shape;718;p35"/>
          <p:cNvGrpSpPr/>
          <p:nvPr/>
        </p:nvGrpSpPr>
        <p:grpSpPr>
          <a:xfrm>
            <a:off x="2816548" y="3491807"/>
            <a:ext cx="158100" cy="779700"/>
            <a:chOff x="4493036" y="1763407"/>
            <a:chExt cx="158100" cy="779700"/>
          </a:xfrm>
        </p:grpSpPr>
        <p:sp>
          <p:nvSpPr>
            <p:cNvPr id="719" name="Google Shape;71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0" name="Google Shape;72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1" name="Google Shape;72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2" name="Google Shape;72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3" name="Google Shape;72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25" name="Google Shape;725;p35"/>
          <p:cNvGrpSpPr/>
          <p:nvPr/>
        </p:nvGrpSpPr>
        <p:grpSpPr>
          <a:xfrm>
            <a:off x="3121348" y="3491807"/>
            <a:ext cx="158100" cy="779700"/>
            <a:chOff x="4493036" y="1763407"/>
            <a:chExt cx="158100" cy="779700"/>
          </a:xfrm>
        </p:grpSpPr>
        <p:sp>
          <p:nvSpPr>
            <p:cNvPr id="726" name="Google Shape;72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7" name="Google Shape;72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8" name="Google Shape;72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9" name="Google Shape;72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0" name="Google Shape;73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1" name="Google Shape;73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2" name="Google Shape;732;p35"/>
          <p:cNvGrpSpPr/>
          <p:nvPr/>
        </p:nvGrpSpPr>
        <p:grpSpPr>
          <a:xfrm>
            <a:off x="3426148" y="3491807"/>
            <a:ext cx="158100" cy="779700"/>
            <a:chOff x="4493036" y="1763407"/>
            <a:chExt cx="158100" cy="779700"/>
          </a:xfrm>
        </p:grpSpPr>
        <p:sp>
          <p:nvSpPr>
            <p:cNvPr id="733" name="Google Shape;73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4" name="Google Shape;73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5" name="Google Shape;73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6" name="Google Shape;73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7" name="Google Shape;73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8" name="Google Shape;73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9" name="Google Shape;739;p35"/>
          <p:cNvGrpSpPr/>
          <p:nvPr/>
        </p:nvGrpSpPr>
        <p:grpSpPr>
          <a:xfrm>
            <a:off x="3730948" y="3491807"/>
            <a:ext cx="158100" cy="779700"/>
            <a:chOff x="4493036" y="1763407"/>
            <a:chExt cx="158100" cy="779700"/>
          </a:xfrm>
        </p:grpSpPr>
        <p:sp>
          <p:nvSpPr>
            <p:cNvPr id="740" name="Google Shape;74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1" name="Google Shape;74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2" name="Google Shape;74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3" name="Google Shape;74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4" name="Google Shape;74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5" name="Google Shape;74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46" name="Google Shape;746;p35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35"/>
          <p:cNvCxnSpPr>
            <a:stCxn id="747" idx="6"/>
            <a:endCxn id="746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9" name="Google Shape;749;p35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50" name="Google Shape;750;p35"/>
          <p:cNvGrpSpPr/>
          <p:nvPr/>
        </p:nvGrpSpPr>
        <p:grpSpPr>
          <a:xfrm>
            <a:off x="4182873" y="3491807"/>
            <a:ext cx="158100" cy="779700"/>
            <a:chOff x="4493036" y="1763407"/>
            <a:chExt cx="158100" cy="779700"/>
          </a:xfrm>
        </p:grpSpPr>
        <p:sp>
          <p:nvSpPr>
            <p:cNvPr id="751" name="Google Shape;75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2" name="Google Shape;75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3" name="Google Shape;75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4" name="Google Shape;75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5" name="Google Shape;75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6" name="Google Shape;75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57" name="Google Shape;757;p35"/>
          <p:cNvGrpSpPr/>
          <p:nvPr/>
        </p:nvGrpSpPr>
        <p:grpSpPr>
          <a:xfrm>
            <a:off x="4487673" y="3491807"/>
            <a:ext cx="158100" cy="779700"/>
            <a:chOff x="4493036" y="1763407"/>
            <a:chExt cx="158100" cy="779700"/>
          </a:xfrm>
        </p:grpSpPr>
        <p:sp>
          <p:nvSpPr>
            <p:cNvPr id="758" name="Google Shape;75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9" name="Google Shape;75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0" name="Google Shape;76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1" name="Google Shape;76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2" name="Google Shape;76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3" name="Google Shape;76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64" name="Google Shape;764;p35"/>
          <p:cNvGrpSpPr/>
          <p:nvPr/>
        </p:nvGrpSpPr>
        <p:grpSpPr>
          <a:xfrm>
            <a:off x="4792473" y="3491807"/>
            <a:ext cx="158100" cy="779700"/>
            <a:chOff x="4493036" y="1763407"/>
            <a:chExt cx="158100" cy="779700"/>
          </a:xfrm>
        </p:grpSpPr>
        <p:sp>
          <p:nvSpPr>
            <p:cNvPr id="765" name="Google Shape;76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6" name="Google Shape;76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7" name="Google Shape;76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8" name="Google Shape;76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9" name="Google Shape;76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0" name="Google Shape;77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1" name="Google Shape;771;p35"/>
          <p:cNvGrpSpPr/>
          <p:nvPr/>
        </p:nvGrpSpPr>
        <p:grpSpPr>
          <a:xfrm>
            <a:off x="5254948" y="3491857"/>
            <a:ext cx="158100" cy="779700"/>
            <a:chOff x="4493036" y="1763407"/>
            <a:chExt cx="158100" cy="779700"/>
          </a:xfrm>
        </p:grpSpPr>
        <p:sp>
          <p:nvSpPr>
            <p:cNvPr id="772" name="Google Shape;77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3" name="Google Shape;77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4" name="Google Shape;77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5" name="Google Shape;77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6" name="Google Shape;77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7" name="Google Shape;77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8" name="Google Shape;778;p35"/>
          <p:cNvGrpSpPr/>
          <p:nvPr/>
        </p:nvGrpSpPr>
        <p:grpSpPr>
          <a:xfrm>
            <a:off x="5559748" y="3491857"/>
            <a:ext cx="158100" cy="779700"/>
            <a:chOff x="4493036" y="1763407"/>
            <a:chExt cx="158100" cy="779700"/>
          </a:xfrm>
        </p:grpSpPr>
        <p:sp>
          <p:nvSpPr>
            <p:cNvPr id="779" name="Google Shape;77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0" name="Google Shape;78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1" name="Google Shape;78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2" name="Google Shape;78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3" name="Google Shape;78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4" name="Google Shape;78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85" name="Google Shape;785;p35"/>
          <p:cNvGrpSpPr/>
          <p:nvPr/>
        </p:nvGrpSpPr>
        <p:grpSpPr>
          <a:xfrm>
            <a:off x="5864548" y="3491857"/>
            <a:ext cx="158100" cy="779700"/>
            <a:chOff x="4493036" y="1763407"/>
            <a:chExt cx="158100" cy="779700"/>
          </a:xfrm>
        </p:grpSpPr>
        <p:sp>
          <p:nvSpPr>
            <p:cNvPr id="786" name="Google Shape;78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7" name="Google Shape;78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8" name="Google Shape;78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9" name="Google Shape;78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0" name="Google Shape;79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1" name="Google Shape;79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2" name="Google Shape;792;p35"/>
          <p:cNvGrpSpPr/>
          <p:nvPr/>
        </p:nvGrpSpPr>
        <p:grpSpPr>
          <a:xfrm>
            <a:off x="6169348" y="3491857"/>
            <a:ext cx="158100" cy="779700"/>
            <a:chOff x="4493036" y="1763407"/>
            <a:chExt cx="158100" cy="779700"/>
          </a:xfrm>
        </p:grpSpPr>
        <p:sp>
          <p:nvSpPr>
            <p:cNvPr id="793" name="Google Shape;79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4" name="Google Shape;79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5" name="Google Shape;79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6" name="Google Shape;79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7" name="Google Shape;79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8" name="Google Shape;79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9" name="Google Shape;799;p35"/>
          <p:cNvGrpSpPr/>
          <p:nvPr/>
        </p:nvGrpSpPr>
        <p:grpSpPr>
          <a:xfrm>
            <a:off x="987748" y="3491807"/>
            <a:ext cx="158100" cy="779700"/>
            <a:chOff x="4493036" y="1763407"/>
            <a:chExt cx="158100" cy="779700"/>
          </a:xfrm>
        </p:grpSpPr>
        <p:sp>
          <p:nvSpPr>
            <p:cNvPr id="800" name="Google Shape;80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1" name="Google Shape;80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2" name="Google Shape;80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3" name="Google Shape;80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4" name="Google Shape;80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06" name="Google Shape;806;p35"/>
          <p:cNvGrpSpPr/>
          <p:nvPr/>
        </p:nvGrpSpPr>
        <p:grpSpPr>
          <a:xfrm>
            <a:off x="1292548" y="3491807"/>
            <a:ext cx="158100" cy="779700"/>
            <a:chOff x="4493036" y="1763407"/>
            <a:chExt cx="158100" cy="779700"/>
          </a:xfrm>
        </p:grpSpPr>
        <p:sp>
          <p:nvSpPr>
            <p:cNvPr id="807" name="Google Shape;807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9" name="Google Shape;809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0" name="Google Shape;810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13" name="Google Shape;813;p35"/>
          <p:cNvGrpSpPr/>
          <p:nvPr/>
        </p:nvGrpSpPr>
        <p:grpSpPr>
          <a:xfrm>
            <a:off x="1597348" y="3491807"/>
            <a:ext cx="158100" cy="779700"/>
            <a:chOff x="4493036" y="1763407"/>
            <a:chExt cx="158100" cy="779700"/>
          </a:xfrm>
        </p:grpSpPr>
        <p:sp>
          <p:nvSpPr>
            <p:cNvPr id="814" name="Google Shape;814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0" name="Google Shape;820;p35"/>
          <p:cNvGrpSpPr/>
          <p:nvPr/>
        </p:nvGrpSpPr>
        <p:grpSpPr>
          <a:xfrm>
            <a:off x="7388548" y="3491807"/>
            <a:ext cx="158100" cy="779700"/>
            <a:chOff x="4493036" y="1763407"/>
            <a:chExt cx="158100" cy="779700"/>
          </a:xfrm>
        </p:grpSpPr>
        <p:sp>
          <p:nvSpPr>
            <p:cNvPr id="821" name="Google Shape;82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2" name="Google Shape;82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7" name="Google Shape;827;p35"/>
          <p:cNvGrpSpPr/>
          <p:nvPr/>
        </p:nvGrpSpPr>
        <p:grpSpPr>
          <a:xfrm>
            <a:off x="7693348" y="3491807"/>
            <a:ext cx="158100" cy="779700"/>
            <a:chOff x="4493036" y="1763407"/>
            <a:chExt cx="158100" cy="779700"/>
          </a:xfrm>
        </p:grpSpPr>
        <p:sp>
          <p:nvSpPr>
            <p:cNvPr id="828" name="Google Shape;82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9" name="Google Shape;82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0" name="Google Shape;83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1" name="Google Shape;83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2" name="Google Shape;83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3" name="Google Shape;83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34" name="Google Shape;834;p35"/>
          <p:cNvGrpSpPr/>
          <p:nvPr/>
        </p:nvGrpSpPr>
        <p:grpSpPr>
          <a:xfrm>
            <a:off x="7998148" y="3491807"/>
            <a:ext cx="158100" cy="779700"/>
            <a:chOff x="4493036" y="1763407"/>
            <a:chExt cx="158100" cy="779700"/>
          </a:xfrm>
        </p:grpSpPr>
        <p:sp>
          <p:nvSpPr>
            <p:cNvPr id="835" name="Google Shape;83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6" name="Google Shape;83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7" name="Google Shape;83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8" name="Google Shape;83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9" name="Google Shape;83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0" name="Google Shape;84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1" name="Google Shape;841;p35"/>
          <p:cNvGrpSpPr/>
          <p:nvPr/>
        </p:nvGrpSpPr>
        <p:grpSpPr>
          <a:xfrm>
            <a:off x="6474148" y="3491807"/>
            <a:ext cx="158100" cy="779700"/>
            <a:chOff x="4493036" y="1763407"/>
            <a:chExt cx="158100" cy="779700"/>
          </a:xfrm>
        </p:grpSpPr>
        <p:sp>
          <p:nvSpPr>
            <p:cNvPr id="842" name="Google Shape;84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3" name="Google Shape;84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4" name="Google Shape;84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5" name="Google Shape;84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6" name="Google Shape;84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7" name="Google Shape;84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8" name="Google Shape;848;p35"/>
          <p:cNvGrpSpPr/>
          <p:nvPr/>
        </p:nvGrpSpPr>
        <p:grpSpPr>
          <a:xfrm>
            <a:off x="6778948" y="3491807"/>
            <a:ext cx="158100" cy="779700"/>
            <a:chOff x="4493036" y="1763407"/>
            <a:chExt cx="158100" cy="779700"/>
          </a:xfrm>
        </p:grpSpPr>
        <p:sp>
          <p:nvSpPr>
            <p:cNvPr id="849" name="Google Shape;84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0" name="Google Shape;85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1" name="Google Shape;85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2" name="Google Shape;85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3" name="Google Shape;85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4" name="Google Shape;85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55" name="Google Shape;855;p35"/>
          <p:cNvGrpSpPr/>
          <p:nvPr/>
        </p:nvGrpSpPr>
        <p:grpSpPr>
          <a:xfrm>
            <a:off x="7083748" y="3491807"/>
            <a:ext cx="158100" cy="779700"/>
            <a:chOff x="4493036" y="1763407"/>
            <a:chExt cx="158100" cy="779700"/>
          </a:xfrm>
        </p:grpSpPr>
        <p:sp>
          <p:nvSpPr>
            <p:cNvPr id="856" name="Google Shape;85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7" name="Google Shape;85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8" name="Google Shape;85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9" name="Google Shape;85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0" name="Google Shape;86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1" name="Google Shape;86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62" name="Google Shape;86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5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Shorter propagation delay: Pipe length is shorter.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883" name="Google Shape;883;p36"/>
          <p:cNvSpPr/>
          <p:nvPr/>
        </p:nvSpPr>
        <p:spPr>
          <a:xfrm>
            <a:off x="5651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>
            <a:off x="3207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5" name="Google Shape;885;p36"/>
          <p:cNvCxnSpPr>
            <a:stCxn id="884" idx="6"/>
            <a:endCxn id="883" idx="2"/>
          </p:cNvCxnSpPr>
          <p:nvPr/>
        </p:nvCxnSpPr>
        <p:spPr>
          <a:xfrm>
            <a:off x="3492550" y="23422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p36"/>
          <p:cNvSpPr txBox="1"/>
          <p:nvPr/>
        </p:nvSpPr>
        <p:spPr>
          <a:xfrm>
            <a:off x="3350063" y="18649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Higher bandwidth: Pipe height is taller.</a:t>
            </a:r>
            <a:endParaRPr/>
          </a:p>
        </p:txBody>
      </p:sp>
      <p:sp>
        <p:nvSpPr>
          <p:cNvPr id="888" name="Google Shape;888;p36"/>
          <p:cNvSpPr/>
          <p:nvPr/>
        </p:nvSpPr>
        <p:spPr>
          <a:xfrm>
            <a:off x="4080600" y="2629050"/>
            <a:ext cx="9828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92" name="Google Shape;892;p36"/>
          <p:cNvGrpSpPr/>
          <p:nvPr/>
        </p:nvGrpSpPr>
        <p:grpSpPr>
          <a:xfrm>
            <a:off x="2550900" y="2698651"/>
            <a:ext cx="158100" cy="1572900"/>
            <a:chOff x="987750" y="2698651"/>
            <a:chExt cx="158100" cy="1572900"/>
          </a:xfrm>
        </p:grpSpPr>
        <p:sp>
          <p:nvSpPr>
            <p:cNvPr id="893" name="Google Shape;89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5" name="Google Shape;89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6" name="Google Shape;89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7" name="Google Shape;89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4" name="Google Shape;904;p36"/>
          <p:cNvGrpSpPr/>
          <p:nvPr/>
        </p:nvGrpSpPr>
        <p:grpSpPr>
          <a:xfrm>
            <a:off x="2855700" y="2698651"/>
            <a:ext cx="158100" cy="1572900"/>
            <a:chOff x="987750" y="2698651"/>
            <a:chExt cx="158100" cy="1572900"/>
          </a:xfrm>
        </p:grpSpPr>
        <p:sp>
          <p:nvSpPr>
            <p:cNvPr id="905" name="Google Shape;90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6" name="Google Shape;90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7" name="Google Shape;90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8" name="Google Shape;90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9" name="Google Shape;90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0" name="Google Shape;91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1" name="Google Shape;91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2" name="Google Shape;91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3" name="Google Shape;91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4" name="Google Shape;91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5" name="Google Shape;91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16" name="Google Shape;916;p36"/>
          <p:cNvGrpSpPr/>
          <p:nvPr/>
        </p:nvGrpSpPr>
        <p:grpSpPr>
          <a:xfrm>
            <a:off x="3160500" y="2698651"/>
            <a:ext cx="158100" cy="1572900"/>
            <a:chOff x="987750" y="2698651"/>
            <a:chExt cx="158100" cy="1572900"/>
          </a:xfrm>
        </p:grpSpPr>
        <p:sp>
          <p:nvSpPr>
            <p:cNvPr id="917" name="Google Shape;91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8" name="Google Shape;91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9" name="Google Shape;91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0" name="Google Shape;92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1" name="Google Shape;92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2" name="Google Shape;92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3" name="Google Shape;92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4" name="Google Shape;92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5" name="Google Shape;92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6" name="Google Shape;92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7" name="Google Shape;92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6"/>
          <p:cNvGrpSpPr/>
          <p:nvPr/>
        </p:nvGrpSpPr>
        <p:grpSpPr>
          <a:xfrm>
            <a:off x="3465300" y="2698651"/>
            <a:ext cx="158100" cy="1572900"/>
            <a:chOff x="987750" y="2698651"/>
            <a:chExt cx="158100" cy="1572900"/>
          </a:xfrm>
        </p:grpSpPr>
        <p:sp>
          <p:nvSpPr>
            <p:cNvPr id="929" name="Google Shape;92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0" name="Google Shape;93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1" name="Google Shape;93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2" name="Google Shape;93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3" name="Google Shape;93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4" name="Google Shape;93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5" name="Google Shape;93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6" name="Google Shape;93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7" name="Google Shape;93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8" name="Google Shape;93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9" name="Google Shape;93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6"/>
          <p:cNvGrpSpPr/>
          <p:nvPr/>
        </p:nvGrpSpPr>
        <p:grpSpPr>
          <a:xfrm>
            <a:off x="3770100" y="2698651"/>
            <a:ext cx="158100" cy="1572900"/>
            <a:chOff x="987750" y="2698651"/>
            <a:chExt cx="158100" cy="1572900"/>
          </a:xfrm>
        </p:grpSpPr>
        <p:sp>
          <p:nvSpPr>
            <p:cNvPr id="941" name="Google Shape;94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2" name="Google Shape;94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3" name="Google Shape;94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4" name="Google Shape;94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5" name="Google Shape;94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6" name="Google Shape;94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7" name="Google Shape;94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8" name="Google Shape;94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9" name="Google Shape;94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0" name="Google Shape;95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1" name="Google Shape;95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6"/>
          <p:cNvGrpSpPr/>
          <p:nvPr/>
        </p:nvGrpSpPr>
        <p:grpSpPr>
          <a:xfrm>
            <a:off x="5215800" y="2698651"/>
            <a:ext cx="158100" cy="1572900"/>
            <a:chOff x="987750" y="2698651"/>
            <a:chExt cx="158100" cy="1572900"/>
          </a:xfrm>
        </p:grpSpPr>
        <p:sp>
          <p:nvSpPr>
            <p:cNvPr id="953" name="Google Shape;95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4" name="Google Shape;95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5" name="Google Shape;95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6" name="Google Shape;95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7" name="Google Shape;95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8" name="Google Shape;95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9" name="Google Shape;95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0" name="Google Shape;96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1" name="Google Shape;96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2" name="Google Shape;96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3" name="Google Shape;96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6"/>
          <p:cNvGrpSpPr/>
          <p:nvPr/>
        </p:nvGrpSpPr>
        <p:grpSpPr>
          <a:xfrm>
            <a:off x="5520600" y="2698651"/>
            <a:ext cx="158100" cy="1572900"/>
            <a:chOff x="987750" y="2698651"/>
            <a:chExt cx="158100" cy="1572900"/>
          </a:xfrm>
        </p:grpSpPr>
        <p:sp>
          <p:nvSpPr>
            <p:cNvPr id="965" name="Google Shape;96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6" name="Google Shape;96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7" name="Google Shape;96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8" name="Google Shape;96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9" name="Google Shape;96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0" name="Google Shape;97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1" name="Google Shape;97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2" name="Google Shape;97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3" name="Google Shape;97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4" name="Google Shape;97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5" name="Google Shape;97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6"/>
          <p:cNvGrpSpPr/>
          <p:nvPr/>
        </p:nvGrpSpPr>
        <p:grpSpPr>
          <a:xfrm>
            <a:off x="5825400" y="2698651"/>
            <a:ext cx="158100" cy="1572900"/>
            <a:chOff x="987750" y="2698651"/>
            <a:chExt cx="158100" cy="1572900"/>
          </a:xfrm>
        </p:grpSpPr>
        <p:sp>
          <p:nvSpPr>
            <p:cNvPr id="977" name="Google Shape;97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8" name="Google Shape;97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9" name="Google Shape;97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0" name="Google Shape;98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1" name="Google Shape;98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2" name="Google Shape;98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3" name="Google Shape;98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4" name="Google Shape;98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5" name="Google Shape;98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6" name="Google Shape;98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7" name="Google Shape;98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6"/>
          <p:cNvGrpSpPr/>
          <p:nvPr/>
        </p:nvGrpSpPr>
        <p:grpSpPr>
          <a:xfrm>
            <a:off x="6130200" y="2698651"/>
            <a:ext cx="158100" cy="1572900"/>
            <a:chOff x="987750" y="2698651"/>
            <a:chExt cx="158100" cy="1572900"/>
          </a:xfrm>
        </p:grpSpPr>
        <p:sp>
          <p:nvSpPr>
            <p:cNvPr id="989" name="Google Shape;98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0" name="Google Shape;99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1" name="Google Shape;99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2" name="Google Shape;99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3" name="Google Shape;99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4" name="Google Shape;99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5" name="Google Shape;99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6" name="Google Shape;99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7" name="Google Shape;99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8" name="Google Shape;99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9" name="Google Shape;99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6"/>
          <p:cNvGrpSpPr/>
          <p:nvPr/>
        </p:nvGrpSpPr>
        <p:grpSpPr>
          <a:xfrm>
            <a:off x="6435000" y="2698651"/>
            <a:ext cx="158100" cy="1572900"/>
            <a:chOff x="987750" y="2698651"/>
            <a:chExt cx="158100" cy="1572900"/>
          </a:xfrm>
        </p:grpSpPr>
        <p:sp>
          <p:nvSpPr>
            <p:cNvPr id="1001" name="Google Shape;100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2" name="Google Shape;100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3" name="Google Shape;100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4" name="Google Shape;100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5" name="Google Shape;100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6" name="Google Shape;100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7" name="Google Shape;100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8" name="Google Shape;100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9" name="Google Shape;100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0" name="Google Shape;101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1" name="Google Shape;101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6"/>
          <p:cNvGrpSpPr/>
          <p:nvPr/>
        </p:nvGrpSpPr>
        <p:grpSpPr>
          <a:xfrm>
            <a:off x="4182875" y="2698651"/>
            <a:ext cx="158100" cy="1572900"/>
            <a:chOff x="987750" y="2698651"/>
            <a:chExt cx="158100" cy="1572900"/>
          </a:xfrm>
        </p:grpSpPr>
        <p:sp>
          <p:nvSpPr>
            <p:cNvPr id="1013" name="Google Shape;101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4" name="Google Shape;101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5" name="Google Shape;101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6" name="Google Shape;101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7" name="Google Shape;101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8" name="Google Shape;101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9" name="Google Shape;101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0" name="Google Shape;102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1" name="Google Shape;102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2" name="Google Shape;102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3" name="Google Shape;102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6"/>
          <p:cNvGrpSpPr/>
          <p:nvPr/>
        </p:nvGrpSpPr>
        <p:grpSpPr>
          <a:xfrm>
            <a:off x="4487675" y="2698651"/>
            <a:ext cx="158100" cy="1572900"/>
            <a:chOff x="987750" y="2698651"/>
            <a:chExt cx="158100" cy="1572900"/>
          </a:xfrm>
        </p:grpSpPr>
        <p:sp>
          <p:nvSpPr>
            <p:cNvPr id="1025" name="Google Shape;102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6" name="Google Shape;102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7" name="Google Shape;102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8" name="Google Shape;102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9" name="Google Shape;102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0" name="Google Shape;103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1" name="Google Shape;103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2" name="Google Shape;103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3" name="Google Shape;103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4" name="Google Shape;103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5" name="Google Shape;103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6"/>
          <p:cNvGrpSpPr/>
          <p:nvPr/>
        </p:nvGrpSpPr>
        <p:grpSpPr>
          <a:xfrm>
            <a:off x="4792475" y="2698651"/>
            <a:ext cx="158100" cy="1572900"/>
            <a:chOff x="987750" y="2698651"/>
            <a:chExt cx="158100" cy="1572900"/>
          </a:xfrm>
        </p:grpSpPr>
        <p:sp>
          <p:nvSpPr>
            <p:cNvPr id="1037" name="Google Shape;103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8" name="Google Shape;103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9" name="Google Shape;103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0" name="Google Shape;104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1" name="Google Shape;104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2" name="Google Shape;104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3" name="Google Shape;104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4" name="Google Shape;104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5" name="Google Shape;104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6" name="Google Shape;104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7" name="Google Shape;104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48" name="Google Shape;1048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 – Transmission Delay</a:t>
            </a:r>
            <a:endParaRPr/>
          </a:p>
        </p:txBody>
      </p:sp>
      <p:sp>
        <p:nvSpPr>
          <p:cNvPr id="1060" name="Google Shape;1060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9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width of the packet in the pipe represents the transmission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it takes to put all the bits in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bandwidth = taller pipe = more bits in pipe per unit time</a:t>
            </a:r>
            <a:br>
              <a:rPr lang="en"/>
            </a:br>
            <a:r>
              <a:rPr lang="en"/>
              <a:t>= narrower packet in pipe.</a:t>
            </a:r>
            <a:endParaRPr/>
          </a:p>
        </p:txBody>
      </p:sp>
      <p:sp>
        <p:nvSpPr>
          <p:cNvPr id="1061" name="Google Shape;1061;p37"/>
          <p:cNvSpPr/>
          <p:nvPr/>
        </p:nvSpPr>
        <p:spPr>
          <a:xfrm>
            <a:off x="3459575" y="3429175"/>
            <a:ext cx="22251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62" name="Google Shape;1062;p37"/>
          <p:cNvGrpSpPr/>
          <p:nvPr/>
        </p:nvGrpSpPr>
        <p:grpSpPr>
          <a:xfrm>
            <a:off x="2844273" y="3496482"/>
            <a:ext cx="158100" cy="779700"/>
            <a:chOff x="4493036" y="1763407"/>
            <a:chExt cx="158100" cy="779700"/>
          </a:xfrm>
        </p:grpSpPr>
        <p:sp>
          <p:nvSpPr>
            <p:cNvPr id="1063" name="Google Shape;106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7" name="Google Shape;106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8" name="Google Shape;106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9" name="Google Shape;1069;p37"/>
          <p:cNvGrpSpPr/>
          <p:nvPr/>
        </p:nvGrpSpPr>
        <p:grpSpPr>
          <a:xfrm>
            <a:off x="3149073" y="3496482"/>
            <a:ext cx="158100" cy="779700"/>
            <a:chOff x="4493036" y="1763407"/>
            <a:chExt cx="158100" cy="779700"/>
          </a:xfrm>
        </p:grpSpPr>
        <p:sp>
          <p:nvSpPr>
            <p:cNvPr id="1070" name="Google Shape;107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1" name="Google Shape;107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2" name="Google Shape;107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3" name="Google Shape;107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4" name="Google Shape;107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5" name="Google Shape;107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76" name="Google Shape;1076;p37"/>
          <p:cNvGrpSpPr/>
          <p:nvPr/>
        </p:nvGrpSpPr>
        <p:grpSpPr>
          <a:xfrm>
            <a:off x="3578673" y="3496482"/>
            <a:ext cx="158100" cy="779700"/>
            <a:chOff x="4493036" y="1763407"/>
            <a:chExt cx="158100" cy="779700"/>
          </a:xfrm>
        </p:grpSpPr>
        <p:sp>
          <p:nvSpPr>
            <p:cNvPr id="1077" name="Google Shape;107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8" name="Google Shape;107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9" name="Google Shape;107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0" name="Google Shape;108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1" name="Google Shape;108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2" name="Google Shape;108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3" name="Google Shape;1083;p37"/>
          <p:cNvGrpSpPr/>
          <p:nvPr/>
        </p:nvGrpSpPr>
        <p:grpSpPr>
          <a:xfrm>
            <a:off x="3883473" y="3496482"/>
            <a:ext cx="158100" cy="779700"/>
            <a:chOff x="4493036" y="1763407"/>
            <a:chExt cx="158100" cy="779700"/>
          </a:xfrm>
        </p:grpSpPr>
        <p:sp>
          <p:nvSpPr>
            <p:cNvPr id="1084" name="Google Shape;108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5" name="Google Shape;108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6" name="Google Shape;108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7" name="Google Shape;108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8" name="Google Shape;108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9" name="Google Shape;108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0" name="Google Shape;1090;p37"/>
          <p:cNvGrpSpPr/>
          <p:nvPr/>
        </p:nvGrpSpPr>
        <p:grpSpPr>
          <a:xfrm>
            <a:off x="4188273" y="3496482"/>
            <a:ext cx="158100" cy="779700"/>
            <a:chOff x="4493036" y="1763407"/>
            <a:chExt cx="158100" cy="779700"/>
          </a:xfrm>
        </p:grpSpPr>
        <p:sp>
          <p:nvSpPr>
            <p:cNvPr id="1091" name="Google Shape;109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2" name="Google Shape;109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3" name="Google Shape;109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4" name="Google Shape;109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5" name="Google Shape;109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6" name="Google Shape;109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7" name="Google Shape;1097;p37"/>
          <p:cNvGrpSpPr/>
          <p:nvPr/>
        </p:nvGrpSpPr>
        <p:grpSpPr>
          <a:xfrm>
            <a:off x="4493073" y="3496482"/>
            <a:ext cx="158100" cy="779700"/>
            <a:chOff x="4493036" y="1763407"/>
            <a:chExt cx="158100" cy="779700"/>
          </a:xfrm>
        </p:grpSpPr>
        <p:sp>
          <p:nvSpPr>
            <p:cNvPr id="1098" name="Google Shape;109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9" name="Google Shape;109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0" name="Google Shape;110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1" name="Google Shape;110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2" name="Google Shape;110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3" name="Google Shape;110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04" name="Google Shape;1104;p37"/>
          <p:cNvGrpSpPr/>
          <p:nvPr/>
        </p:nvGrpSpPr>
        <p:grpSpPr>
          <a:xfrm>
            <a:off x="4797873" y="3496482"/>
            <a:ext cx="158100" cy="779700"/>
            <a:chOff x="4493036" y="1763407"/>
            <a:chExt cx="158100" cy="779700"/>
          </a:xfrm>
        </p:grpSpPr>
        <p:sp>
          <p:nvSpPr>
            <p:cNvPr id="1105" name="Google Shape;110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6" name="Google Shape;110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7" name="Google Shape;110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8" name="Google Shape;110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9" name="Google Shape;110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0" name="Google Shape;111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11" name="Google Shape;1111;p37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37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37"/>
          <p:cNvCxnSpPr>
            <a:stCxn id="1112" idx="6"/>
            <a:endCxn id="1111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37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15" name="Google Shape;1115;p37"/>
          <p:cNvGrpSpPr/>
          <p:nvPr/>
        </p:nvGrpSpPr>
        <p:grpSpPr>
          <a:xfrm>
            <a:off x="5102673" y="3496532"/>
            <a:ext cx="158100" cy="779700"/>
            <a:chOff x="4493036" y="1763407"/>
            <a:chExt cx="158100" cy="779700"/>
          </a:xfrm>
        </p:grpSpPr>
        <p:sp>
          <p:nvSpPr>
            <p:cNvPr id="1116" name="Google Shape;1116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7" name="Google Shape;1117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8" name="Google Shape;1118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9" name="Google Shape;1119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0" name="Google Shape;1120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1" name="Google Shape;1121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2" name="Google Shape;1122;p37"/>
          <p:cNvGrpSpPr/>
          <p:nvPr/>
        </p:nvGrpSpPr>
        <p:grpSpPr>
          <a:xfrm>
            <a:off x="5407473" y="3496532"/>
            <a:ext cx="158100" cy="779700"/>
            <a:chOff x="4493036" y="1763407"/>
            <a:chExt cx="158100" cy="779700"/>
          </a:xfrm>
        </p:grpSpPr>
        <p:sp>
          <p:nvSpPr>
            <p:cNvPr id="1123" name="Google Shape;112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4" name="Google Shape;112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5" name="Google Shape;112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6" name="Google Shape;112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9" name="Google Shape;1129;p37"/>
          <p:cNvGrpSpPr/>
          <p:nvPr/>
        </p:nvGrpSpPr>
        <p:grpSpPr>
          <a:xfrm>
            <a:off x="5837073" y="3496532"/>
            <a:ext cx="158100" cy="779700"/>
            <a:chOff x="4493036" y="1763407"/>
            <a:chExt cx="158100" cy="779700"/>
          </a:xfrm>
        </p:grpSpPr>
        <p:sp>
          <p:nvSpPr>
            <p:cNvPr id="1130" name="Google Shape;113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1" name="Google Shape;113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2" name="Google Shape;113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3" name="Google Shape;113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4" name="Google Shape;113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5" name="Google Shape;113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6" name="Google Shape;1136;p37"/>
          <p:cNvGrpSpPr/>
          <p:nvPr/>
        </p:nvGrpSpPr>
        <p:grpSpPr>
          <a:xfrm>
            <a:off x="6141873" y="3496532"/>
            <a:ext cx="158100" cy="779700"/>
            <a:chOff x="4493036" y="1763407"/>
            <a:chExt cx="158100" cy="779700"/>
          </a:xfrm>
        </p:grpSpPr>
        <p:sp>
          <p:nvSpPr>
            <p:cNvPr id="1137" name="Google Shape;113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8" name="Google Shape;113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9" name="Google Shape;113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0" name="Google Shape;114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1" name="Google Shape;114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2" name="Google Shape;114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3" name="Google Shape;1143;p37"/>
          <p:cNvGrpSpPr/>
          <p:nvPr/>
        </p:nvGrpSpPr>
        <p:grpSpPr>
          <a:xfrm>
            <a:off x="6446673" y="3496532"/>
            <a:ext cx="158100" cy="779700"/>
            <a:chOff x="4493036" y="1763407"/>
            <a:chExt cx="158100" cy="779700"/>
          </a:xfrm>
        </p:grpSpPr>
        <p:sp>
          <p:nvSpPr>
            <p:cNvPr id="1144" name="Google Shape;114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5" name="Google Shape;114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6" name="Google Shape;114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7" name="Google Shape;114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8" name="Google Shape;114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9" name="Google Shape;114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6751473" y="3496532"/>
            <a:ext cx="158100" cy="779700"/>
            <a:chOff x="4493036" y="1763407"/>
            <a:chExt cx="158100" cy="779700"/>
          </a:xfrm>
        </p:grpSpPr>
        <p:sp>
          <p:nvSpPr>
            <p:cNvPr id="1151" name="Google Shape;115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2" name="Google Shape;115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3" name="Google Shape;115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4" name="Google Shape;115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5" name="Google Shape;115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6" name="Google Shape;115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7" name="Google Shape;1157;p37"/>
          <p:cNvGrpSpPr/>
          <p:nvPr/>
        </p:nvGrpSpPr>
        <p:grpSpPr>
          <a:xfrm>
            <a:off x="2234673" y="3496482"/>
            <a:ext cx="158100" cy="779700"/>
            <a:chOff x="4493036" y="1763407"/>
            <a:chExt cx="158100" cy="779700"/>
          </a:xfrm>
        </p:grpSpPr>
        <p:sp>
          <p:nvSpPr>
            <p:cNvPr id="1158" name="Google Shape;115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9" name="Google Shape;115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0" name="Google Shape;116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1" name="Google Shape;116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3" name="Google Shape;116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2539473" y="3496482"/>
            <a:ext cx="158100" cy="779700"/>
            <a:chOff x="4493036" y="1763407"/>
            <a:chExt cx="158100" cy="779700"/>
          </a:xfrm>
        </p:grpSpPr>
        <p:sp>
          <p:nvSpPr>
            <p:cNvPr id="1165" name="Google Shape;116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7" name="Google Shape;116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8" name="Google Shape;116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9" name="Google Shape;116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70" name="Google Shape;117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71" name="Google Shape;1171;p37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9" name="Google Shape;1179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1" name="Google Shape;1181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2" name="Google Shape;1182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 – Transmission Delay</a:t>
            </a:r>
            <a:endParaRPr/>
          </a:p>
        </p:txBody>
      </p:sp>
      <p:sp>
        <p:nvSpPr>
          <p:cNvPr id="1189" name="Google Shape;1189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width of the packet in the pipe represents the transmission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it takes to put all the bits in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bandwidth = taller pipe = more bits in pipe per unit time</a:t>
            </a:r>
            <a:br>
              <a:rPr lang="en"/>
            </a:br>
            <a:r>
              <a:rPr lang="en"/>
              <a:t>= narrower packet in pipe.</a:t>
            </a:r>
            <a:endParaRPr/>
          </a:p>
        </p:txBody>
      </p:sp>
      <p:sp>
        <p:nvSpPr>
          <p:cNvPr id="1190" name="Google Shape;1190;p38"/>
          <p:cNvSpPr/>
          <p:nvPr/>
        </p:nvSpPr>
        <p:spPr>
          <a:xfrm>
            <a:off x="5651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8"/>
          <p:cNvSpPr/>
          <p:nvPr/>
        </p:nvSpPr>
        <p:spPr>
          <a:xfrm>
            <a:off x="3207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38"/>
          <p:cNvCxnSpPr>
            <a:stCxn id="1191" idx="6"/>
            <a:endCxn id="1190" idx="2"/>
          </p:cNvCxnSpPr>
          <p:nvPr/>
        </p:nvCxnSpPr>
        <p:spPr>
          <a:xfrm>
            <a:off x="3492550" y="23422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3" name="Google Shape;1193;p38"/>
          <p:cNvSpPr txBox="1"/>
          <p:nvPr/>
        </p:nvSpPr>
        <p:spPr>
          <a:xfrm>
            <a:off x="3350063" y="18649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8"/>
          <p:cNvSpPr/>
          <p:nvPr/>
        </p:nvSpPr>
        <p:spPr>
          <a:xfrm>
            <a:off x="3459575" y="2629050"/>
            <a:ext cx="22251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38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96" name="Google Shape;1196;p38"/>
          <p:cNvGrpSpPr/>
          <p:nvPr/>
        </p:nvGrpSpPr>
        <p:grpSpPr>
          <a:xfrm>
            <a:off x="3149075" y="2698651"/>
            <a:ext cx="158100" cy="1572900"/>
            <a:chOff x="987750" y="2698651"/>
            <a:chExt cx="158100" cy="1572900"/>
          </a:xfrm>
        </p:grpSpPr>
        <p:sp>
          <p:nvSpPr>
            <p:cNvPr id="1197" name="Google Shape;119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8" name="Google Shape;119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9" name="Google Shape;119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0" name="Google Shape;120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1" name="Google Shape;120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2" name="Google Shape;120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3" name="Google Shape;120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4" name="Google Shape;120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5" name="Google Shape;120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7" name="Google Shape;120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08" name="Google Shape;1208;p38"/>
          <p:cNvGrpSpPr/>
          <p:nvPr/>
        </p:nvGrpSpPr>
        <p:grpSpPr>
          <a:xfrm>
            <a:off x="5837075" y="2698651"/>
            <a:ext cx="158100" cy="1572900"/>
            <a:chOff x="987750" y="2698651"/>
            <a:chExt cx="158100" cy="1572900"/>
          </a:xfrm>
        </p:grpSpPr>
        <p:sp>
          <p:nvSpPr>
            <p:cNvPr id="1209" name="Google Shape;120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0" name="Google Shape;121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1" name="Google Shape;121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3" name="Google Shape;121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4" name="Google Shape;121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5" name="Google Shape;121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8" name="Google Shape;121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9" name="Google Shape;121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0" name="Google Shape;1220;p38"/>
          <p:cNvGrpSpPr/>
          <p:nvPr/>
        </p:nvGrpSpPr>
        <p:grpSpPr>
          <a:xfrm>
            <a:off x="6141875" y="2698651"/>
            <a:ext cx="158100" cy="1572900"/>
            <a:chOff x="987750" y="2698651"/>
            <a:chExt cx="158100" cy="1572900"/>
          </a:xfrm>
        </p:grpSpPr>
        <p:sp>
          <p:nvSpPr>
            <p:cNvPr id="1221" name="Google Shape;122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2" name="Google Shape;122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4" name="Google Shape;122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5" name="Google Shape;122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9" name="Google Shape;122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0" name="Google Shape;123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32" name="Google Shape;1232;p38"/>
          <p:cNvGrpSpPr/>
          <p:nvPr/>
        </p:nvGrpSpPr>
        <p:grpSpPr>
          <a:xfrm>
            <a:off x="4182875" y="2698651"/>
            <a:ext cx="158100" cy="1572900"/>
            <a:chOff x="987750" y="2698651"/>
            <a:chExt cx="158100" cy="1572900"/>
          </a:xfrm>
        </p:grpSpPr>
        <p:sp>
          <p:nvSpPr>
            <p:cNvPr id="1233" name="Google Shape;123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4" name="Google Shape;123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5" name="Google Shape;123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8" name="Google Shape;123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9" name="Google Shape;123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44" name="Google Shape;1244;p38"/>
          <p:cNvGrpSpPr/>
          <p:nvPr/>
        </p:nvGrpSpPr>
        <p:grpSpPr>
          <a:xfrm>
            <a:off x="4487675" y="2698651"/>
            <a:ext cx="158100" cy="1572900"/>
            <a:chOff x="987750" y="2698651"/>
            <a:chExt cx="158100" cy="1572900"/>
          </a:xfrm>
        </p:grpSpPr>
        <p:sp>
          <p:nvSpPr>
            <p:cNvPr id="1245" name="Google Shape;124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7" name="Google Shape;124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8" name="Google Shape;124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4" name="Google Shape;125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5" name="Google Shape;125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56" name="Google Shape;1256;p38"/>
          <p:cNvGrpSpPr/>
          <p:nvPr/>
        </p:nvGrpSpPr>
        <p:grpSpPr>
          <a:xfrm>
            <a:off x="4792475" y="2698651"/>
            <a:ext cx="158100" cy="1572900"/>
            <a:chOff x="987750" y="2698651"/>
            <a:chExt cx="158100" cy="1572900"/>
          </a:xfrm>
        </p:grpSpPr>
        <p:sp>
          <p:nvSpPr>
            <p:cNvPr id="1257" name="Google Shape;125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8" name="Google Shape;125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0" name="Google Shape;126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1" name="Google Shape;126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2" name="Google Shape;126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3" name="Google Shape;126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4" name="Google Shape;126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5" name="Google Shape;126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6" name="Google Shape;126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7" name="Google Shape;126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68" name="Google Shape;1268;p38"/>
          <p:cNvGrpSpPr/>
          <p:nvPr/>
        </p:nvGrpSpPr>
        <p:grpSpPr>
          <a:xfrm>
            <a:off x="3878075" y="2698651"/>
            <a:ext cx="158100" cy="1572900"/>
            <a:chOff x="987750" y="2698651"/>
            <a:chExt cx="158100" cy="1572900"/>
          </a:xfrm>
        </p:grpSpPr>
        <p:sp>
          <p:nvSpPr>
            <p:cNvPr id="1269" name="Google Shape;126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0" name="Google Shape;127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1" name="Google Shape;127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2" name="Google Shape;127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0" name="Google Shape;1280;p38"/>
          <p:cNvGrpSpPr/>
          <p:nvPr/>
        </p:nvGrpSpPr>
        <p:grpSpPr>
          <a:xfrm>
            <a:off x="5097275" y="2698651"/>
            <a:ext cx="158100" cy="1572900"/>
            <a:chOff x="987750" y="2698651"/>
            <a:chExt cx="158100" cy="1572900"/>
          </a:xfrm>
        </p:grpSpPr>
        <p:sp>
          <p:nvSpPr>
            <p:cNvPr id="1281" name="Google Shape;128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5" name="Google Shape;128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6" name="Google Shape;128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9" name="Google Shape;128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0" name="Google Shape;129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1" name="Google Shape;129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92" name="Google Shape;1292;p38"/>
          <p:cNvGrpSpPr/>
          <p:nvPr/>
        </p:nvGrpSpPr>
        <p:grpSpPr>
          <a:xfrm>
            <a:off x="3573275" y="2698651"/>
            <a:ext cx="158100" cy="1572900"/>
            <a:chOff x="987750" y="2698651"/>
            <a:chExt cx="158100" cy="1572900"/>
          </a:xfrm>
        </p:grpSpPr>
        <p:sp>
          <p:nvSpPr>
            <p:cNvPr id="1293" name="Google Shape;129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4" name="Google Shape;129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5" name="Google Shape;129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6" name="Google Shape;129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7" name="Google Shape;129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8" name="Google Shape;129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9" name="Google Shape;129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0" name="Google Shape;130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1" name="Google Shape;130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2" name="Google Shape;130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3" name="Google Shape;130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4" name="Google Shape;1304;p38"/>
          <p:cNvGrpSpPr/>
          <p:nvPr/>
        </p:nvGrpSpPr>
        <p:grpSpPr>
          <a:xfrm>
            <a:off x="5402075" y="2698651"/>
            <a:ext cx="158100" cy="1572900"/>
            <a:chOff x="987750" y="2698651"/>
            <a:chExt cx="158100" cy="1572900"/>
          </a:xfrm>
        </p:grpSpPr>
        <p:sp>
          <p:nvSpPr>
            <p:cNvPr id="1305" name="Google Shape;130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6" name="Google Shape;130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7" name="Google Shape;130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8" name="Google Shape;130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9" name="Google Shape;130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0" name="Google Shape;131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1" name="Google Shape;131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2" name="Google Shape;131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3" name="Google Shape;131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4" name="Google Shape;131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5" name="Google Shape;131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16" name="Google Shape;1316;p38"/>
          <p:cNvGrpSpPr/>
          <p:nvPr/>
        </p:nvGrpSpPr>
        <p:grpSpPr>
          <a:xfrm>
            <a:off x="2844275" y="2698651"/>
            <a:ext cx="158100" cy="1572900"/>
            <a:chOff x="987750" y="2698651"/>
            <a:chExt cx="158100" cy="1572900"/>
          </a:xfrm>
        </p:grpSpPr>
        <p:sp>
          <p:nvSpPr>
            <p:cNvPr id="1317" name="Google Shape;131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8" name="Google Shape;131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9" name="Google Shape;131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0" name="Google Shape;132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1" name="Google Shape;132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2" name="Google Shape;132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3" name="Google Shape;132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4" name="Google Shape;132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5" name="Google Shape;132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6" name="Google Shape;132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7" name="Google Shape;132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28" name="Google Shape;1328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0" name="Google Shape;1330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3" name="Google Shape;1333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4" name="Google Shape;1334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6" name="Google Shape;1336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7" name="Google Shape;1337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Pipe Diagrams – Transmission Delay</a:t>
            </a:r>
            <a:endParaRPr/>
          </a:p>
        </p:txBody>
      </p:sp>
      <p:sp>
        <p:nvSpPr>
          <p:cNvPr id="1343" name="Google Shape;1343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width of the packet in the pipe represents the transmission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it takes to put all the bits in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bandwidth = taller pipe = more bits in pipe per unit time</a:t>
            </a:r>
            <a:br>
              <a:rPr lang="en"/>
            </a:br>
            <a:r>
              <a:rPr lang="en"/>
              <a:t>= narrower packet in pipe.</a:t>
            </a:r>
            <a:endParaRPr/>
          </a:p>
        </p:txBody>
      </p:sp>
      <p:sp>
        <p:nvSpPr>
          <p:cNvPr id="1344" name="Google Shape;1344;p39"/>
          <p:cNvSpPr/>
          <p:nvPr/>
        </p:nvSpPr>
        <p:spPr>
          <a:xfrm>
            <a:off x="1556150" y="4098675"/>
            <a:ext cx="2742600" cy="852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5" name="Google Shape;1345;p39"/>
          <p:cNvSpPr/>
          <p:nvPr/>
        </p:nvSpPr>
        <p:spPr>
          <a:xfrm>
            <a:off x="17967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46" name="Google Shape;1346;p39"/>
          <p:cNvGrpSpPr/>
          <p:nvPr/>
        </p:nvGrpSpPr>
        <p:grpSpPr>
          <a:xfrm>
            <a:off x="1842994" y="4177573"/>
            <a:ext cx="542100" cy="694500"/>
            <a:chOff x="2107969" y="3180898"/>
            <a:chExt cx="542100" cy="694500"/>
          </a:xfrm>
        </p:grpSpPr>
        <p:sp>
          <p:nvSpPr>
            <p:cNvPr id="1347" name="Google Shape;1347;p39"/>
            <p:cNvSpPr/>
            <p:nvPr/>
          </p:nvSpPr>
          <p:spPr>
            <a:xfrm>
              <a:off x="21079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39"/>
            <p:cNvSpPr/>
            <p:nvPr/>
          </p:nvSpPr>
          <p:spPr>
            <a:xfrm>
              <a:off x="21079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9" name="Google Shape;1349;p39"/>
            <p:cNvSpPr/>
            <p:nvPr/>
          </p:nvSpPr>
          <p:spPr>
            <a:xfrm>
              <a:off x="21079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0" name="Google Shape;1350;p39"/>
            <p:cNvSpPr/>
            <p:nvPr/>
          </p:nvSpPr>
          <p:spPr>
            <a:xfrm>
              <a:off x="21079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39"/>
            <p:cNvSpPr/>
            <p:nvPr/>
          </p:nvSpPr>
          <p:spPr>
            <a:xfrm>
              <a:off x="21079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39"/>
            <p:cNvSpPr/>
            <p:nvPr/>
          </p:nvSpPr>
          <p:spPr>
            <a:xfrm>
              <a:off x="22603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39"/>
            <p:cNvSpPr/>
            <p:nvPr/>
          </p:nvSpPr>
          <p:spPr>
            <a:xfrm>
              <a:off x="22603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39"/>
            <p:cNvSpPr/>
            <p:nvPr/>
          </p:nvSpPr>
          <p:spPr>
            <a:xfrm>
              <a:off x="22603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39"/>
            <p:cNvSpPr/>
            <p:nvPr/>
          </p:nvSpPr>
          <p:spPr>
            <a:xfrm>
              <a:off x="22603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39"/>
            <p:cNvSpPr/>
            <p:nvPr/>
          </p:nvSpPr>
          <p:spPr>
            <a:xfrm>
              <a:off x="22603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39"/>
            <p:cNvSpPr/>
            <p:nvPr/>
          </p:nvSpPr>
          <p:spPr>
            <a:xfrm>
              <a:off x="24127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39"/>
            <p:cNvSpPr/>
            <p:nvPr/>
          </p:nvSpPr>
          <p:spPr>
            <a:xfrm>
              <a:off x="24127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39"/>
            <p:cNvSpPr/>
            <p:nvPr/>
          </p:nvSpPr>
          <p:spPr>
            <a:xfrm>
              <a:off x="24127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39"/>
            <p:cNvSpPr/>
            <p:nvPr/>
          </p:nvSpPr>
          <p:spPr>
            <a:xfrm>
              <a:off x="24127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1" name="Google Shape;1361;p39"/>
            <p:cNvSpPr/>
            <p:nvPr/>
          </p:nvSpPr>
          <p:spPr>
            <a:xfrm>
              <a:off x="24127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2" name="Google Shape;1362;p39"/>
            <p:cNvSpPr/>
            <p:nvPr/>
          </p:nvSpPr>
          <p:spPr>
            <a:xfrm>
              <a:off x="25651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3" name="Google Shape;1363;p39"/>
            <p:cNvSpPr/>
            <p:nvPr/>
          </p:nvSpPr>
          <p:spPr>
            <a:xfrm>
              <a:off x="25651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4" name="Google Shape;1364;p39"/>
            <p:cNvSpPr/>
            <p:nvPr/>
          </p:nvSpPr>
          <p:spPr>
            <a:xfrm>
              <a:off x="25651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5" name="Google Shape;1365;p39"/>
            <p:cNvSpPr/>
            <p:nvPr/>
          </p:nvSpPr>
          <p:spPr>
            <a:xfrm>
              <a:off x="25651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6" name="Google Shape;1366;p39"/>
            <p:cNvSpPr/>
            <p:nvPr/>
          </p:nvSpPr>
          <p:spPr>
            <a:xfrm>
              <a:off x="25651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7" name="Google Shape;1367;p39"/>
          <p:cNvSpPr/>
          <p:nvPr/>
        </p:nvSpPr>
        <p:spPr>
          <a:xfrm>
            <a:off x="24378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8" name="Google Shape;1368;p39"/>
          <p:cNvSpPr/>
          <p:nvPr/>
        </p:nvSpPr>
        <p:spPr>
          <a:xfrm>
            <a:off x="30789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9" name="Google Shape;1369;p39"/>
          <p:cNvSpPr/>
          <p:nvPr/>
        </p:nvSpPr>
        <p:spPr>
          <a:xfrm>
            <a:off x="4854425" y="3246375"/>
            <a:ext cx="2742600" cy="170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0" name="Google Shape;1370;p39"/>
          <p:cNvSpPr/>
          <p:nvPr/>
        </p:nvSpPr>
        <p:spPr>
          <a:xfrm>
            <a:off x="51186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39"/>
          <p:cNvSpPr/>
          <p:nvPr/>
        </p:nvSpPr>
        <p:spPr>
          <a:xfrm>
            <a:off x="54402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2" name="Google Shape;1372;p39"/>
          <p:cNvSpPr/>
          <p:nvPr/>
        </p:nvSpPr>
        <p:spPr>
          <a:xfrm>
            <a:off x="57618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73" name="Google Shape;1373;p39"/>
          <p:cNvGrpSpPr/>
          <p:nvPr/>
        </p:nvGrpSpPr>
        <p:grpSpPr>
          <a:xfrm>
            <a:off x="5160819" y="3370423"/>
            <a:ext cx="237300" cy="1456500"/>
            <a:chOff x="4040319" y="2979898"/>
            <a:chExt cx="237300" cy="1456500"/>
          </a:xfrm>
        </p:grpSpPr>
        <p:sp>
          <p:nvSpPr>
            <p:cNvPr id="1374" name="Google Shape;1374;p39"/>
            <p:cNvSpPr/>
            <p:nvPr/>
          </p:nvSpPr>
          <p:spPr>
            <a:xfrm>
              <a:off x="40403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5" name="Google Shape;1375;p39"/>
            <p:cNvSpPr/>
            <p:nvPr/>
          </p:nvSpPr>
          <p:spPr>
            <a:xfrm>
              <a:off x="40403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6" name="Google Shape;1376;p39"/>
            <p:cNvSpPr/>
            <p:nvPr/>
          </p:nvSpPr>
          <p:spPr>
            <a:xfrm>
              <a:off x="40403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7" name="Google Shape;1377;p39"/>
            <p:cNvSpPr/>
            <p:nvPr/>
          </p:nvSpPr>
          <p:spPr>
            <a:xfrm>
              <a:off x="40403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8" name="Google Shape;1378;p39"/>
            <p:cNvSpPr/>
            <p:nvPr/>
          </p:nvSpPr>
          <p:spPr>
            <a:xfrm>
              <a:off x="40403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9" name="Google Shape;1379;p39"/>
            <p:cNvSpPr/>
            <p:nvPr/>
          </p:nvSpPr>
          <p:spPr>
            <a:xfrm>
              <a:off x="41927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0" name="Google Shape;1380;p39"/>
            <p:cNvSpPr/>
            <p:nvPr/>
          </p:nvSpPr>
          <p:spPr>
            <a:xfrm>
              <a:off x="41927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1" name="Google Shape;1381;p39"/>
            <p:cNvSpPr/>
            <p:nvPr/>
          </p:nvSpPr>
          <p:spPr>
            <a:xfrm>
              <a:off x="41927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39"/>
            <p:cNvSpPr/>
            <p:nvPr/>
          </p:nvSpPr>
          <p:spPr>
            <a:xfrm>
              <a:off x="41927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39"/>
            <p:cNvSpPr/>
            <p:nvPr/>
          </p:nvSpPr>
          <p:spPr>
            <a:xfrm>
              <a:off x="41927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39"/>
            <p:cNvSpPr/>
            <p:nvPr/>
          </p:nvSpPr>
          <p:spPr>
            <a:xfrm>
              <a:off x="40403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39"/>
            <p:cNvSpPr/>
            <p:nvPr/>
          </p:nvSpPr>
          <p:spPr>
            <a:xfrm>
              <a:off x="40403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39"/>
            <p:cNvSpPr/>
            <p:nvPr/>
          </p:nvSpPr>
          <p:spPr>
            <a:xfrm>
              <a:off x="40403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39"/>
            <p:cNvSpPr/>
            <p:nvPr/>
          </p:nvSpPr>
          <p:spPr>
            <a:xfrm>
              <a:off x="40403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39"/>
            <p:cNvSpPr/>
            <p:nvPr/>
          </p:nvSpPr>
          <p:spPr>
            <a:xfrm>
              <a:off x="40403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39"/>
            <p:cNvSpPr/>
            <p:nvPr/>
          </p:nvSpPr>
          <p:spPr>
            <a:xfrm>
              <a:off x="41927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0" name="Google Shape;1390;p39"/>
            <p:cNvSpPr/>
            <p:nvPr/>
          </p:nvSpPr>
          <p:spPr>
            <a:xfrm>
              <a:off x="41927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1" name="Google Shape;1391;p39"/>
            <p:cNvSpPr/>
            <p:nvPr/>
          </p:nvSpPr>
          <p:spPr>
            <a:xfrm>
              <a:off x="41927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2" name="Google Shape;1392;p39"/>
            <p:cNvSpPr/>
            <p:nvPr/>
          </p:nvSpPr>
          <p:spPr>
            <a:xfrm>
              <a:off x="41927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3" name="Google Shape;1393;p39"/>
            <p:cNvSpPr/>
            <p:nvPr/>
          </p:nvSpPr>
          <p:spPr>
            <a:xfrm>
              <a:off x="41927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4" name="Google Shape;1394;p39"/>
          <p:cNvGrpSpPr/>
          <p:nvPr/>
        </p:nvGrpSpPr>
        <p:grpSpPr>
          <a:xfrm rot="5400000">
            <a:off x="2026005" y="3613633"/>
            <a:ext cx="179700" cy="637984"/>
            <a:chOff x="2338450" y="3338450"/>
            <a:chExt cx="179700" cy="836700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7" name="Google Shape;1397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98" name="Google Shape;1398;p39"/>
          <p:cNvSpPr txBox="1"/>
          <p:nvPr/>
        </p:nvSpPr>
        <p:spPr>
          <a:xfrm>
            <a:off x="1523500" y="3356475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99" name="Google Shape;1399;p39"/>
          <p:cNvGrpSpPr/>
          <p:nvPr/>
        </p:nvGrpSpPr>
        <p:grpSpPr>
          <a:xfrm rot="5400000">
            <a:off x="5189616" y="2919302"/>
            <a:ext cx="179700" cy="322046"/>
            <a:chOff x="2338450" y="3338450"/>
            <a:chExt cx="179700" cy="836700"/>
          </a:xfrm>
        </p:grpSpPr>
        <p:cxnSp>
          <p:nvCxnSpPr>
            <p:cNvPr id="1400" name="Google Shape;1400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1" name="Google Shape;1401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4688925" y="2504163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4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Overloaded 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409" name="Google Shape;1409;p4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Overloaded Links</a:t>
            </a:r>
            <a:endParaRPr/>
          </a:p>
        </p:txBody>
      </p:sp>
      <p:sp>
        <p:nvSpPr>
          <p:cNvPr id="1410" name="Google Shape;1410;p4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16" name="Google Shape;1416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cxnSp>
        <p:nvCxnSpPr>
          <p:cNvPr id="1417" name="Google Shape;1417;p41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8" name="Google Shape;1418;p41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41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41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41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41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41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4" name="Google Shape;1424;p41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5" name="Google Shape;1425;p41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6" name="Google Shape;1426;p41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41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8" name="Google Shape;1428;p41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41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0" name="Google Shape;1430;p41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1" name="Google Shape;1431;p41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2" name="Google Shape;1432;p41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3" name="Google Shape;1433;p41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39" name="Google Shape;143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grpSp>
        <p:nvGrpSpPr>
          <p:cNvPr id="1440" name="Google Shape;1440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41" name="Google Shape;1441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3" name="Google Shape;1443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4" name="Google Shape;1444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5" name="Google Shape;1445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6" name="Google Shape;1446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7" name="Google Shape;1447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8" name="Google Shape;1448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9" name="Google Shape;1449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0" name="Google Shape;1450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1" name="Google Shape;1451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2" name="Google Shape;1452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53" name="Google Shape;1453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4" name="Google Shape;1454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5" name="Google Shape;1455;p42"/>
            <p:cNvSpPr/>
            <p:nvPr/>
          </p:nvSpPr>
          <p:spPr>
            <a:xfrm rot="900021">
              <a:off x="1802536" y="2897459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6" name="Google Shape;1456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7" name="Google Shape;1457;p42"/>
            <p:cNvSpPr/>
            <p:nvPr/>
          </p:nvSpPr>
          <p:spPr>
            <a:xfrm rot="-900021">
              <a:off x="2127676" y="428738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59" name="Google Shape;1459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60" name="Google Shape;1460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2" name="Google Shape;1462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3" name="Google Shape;1463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4" name="Google Shape;1464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5" name="Google Shape;1465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6" name="Google Shape;1466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8" name="Google Shape;1468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0" name="Google Shape;1470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1" name="Google Shape;1471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2" name="Google Shape;1472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8" name="Google Shape;1478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79" name="Google Shape;1479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1" name="Google Shape;1481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4" name="Google Shape;1484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5" name="Google Shape;1485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86" name="Google Shape;1486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7" name="Google Shape;1487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8" name="Google Shape;1488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9" name="Google Shape;1489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0" name="Google Shape;1490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91" name="Google Shape;1491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2" name="Google Shape;1492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3" name="Google Shape;1493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4" name="Google Shape;1494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5" name="Google Shape;1495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6" name="Google Shape;1496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7" name="Google Shape;1497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98" name="Google Shape;1498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9" name="Google Shape;1499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0" name="Google Shape;1500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3" name="Google Shape;1503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4" name="Google Shape;1504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5" name="Google Shape;1505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6" name="Google Shape;1506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7" name="Google Shape;1507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8" name="Google Shape;1508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9" name="Google Shape;1509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10" name="Google Shape;1510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1" name="Google Shape;1511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2" name="Google Shape;1512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3" name="Google Shape;1513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16" name="Google Shape;1516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17" name="Google Shape;1517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19" name="Google Shape;1519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0" name="Google Shape;1520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1" name="Google Shape;1521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2" name="Google Shape;1522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3" name="Google Shape;1523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4" name="Google Shape;1524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25" name="Google Shape;1525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6" name="Google Shape;1526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7" name="Google Shape;1527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8" name="Google Shape;1528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29" name="Google Shape;1529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0" name="Google Shape;1530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1" name="Google Shape;1531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2" name="Google Shape;1532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3" name="Google Shape;1533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4" name="Google Shape;1534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5" name="Google Shape;1535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36" name="Google Shape;1536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38" name="Google Shape;1538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9" name="Google Shape;1539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0" name="Google Shape;1540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1" name="Google Shape;1541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2" name="Google Shape;1542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3" name="Google Shape;1543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44" name="Google Shape;1544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5" name="Google Shape;1545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6" name="Google Shape;1546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7" name="Google Shape;1547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48" name="Google Shape;154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9" name="Google Shape;1549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1" name="Google Shape;1551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3" name="Google Shape;1553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54" name="Google Shape;1554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55" name="Google Shape;1555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57" name="Google Shape;1557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8" name="Google Shape;1558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9" name="Google Shape;1559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0" name="Google Shape;1560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1" name="Google Shape;1561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2" name="Google Shape;1562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3" name="Google Shape;1563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5" name="Google Shape;1565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66" name="Google Shape;156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7" name="Google Shape;156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8" name="Google Shape;1568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9" name="Google Shape;1569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0" name="Google Shape;1570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1" name="Google Shape;1571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2" name="Google Shape;1572;p42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578" name="Google Shape;157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579" name="Google Shape;1579;p43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43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43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43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3" name="Google Shape;1583;p43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43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5" name="Google Shape;1585;p43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6" name="Google Shape;1586;p43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43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43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9" name="Google Shape;1589;p43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0" name="Google Shape;1590;p43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1" name="Google Shape;1591;p43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43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43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43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5" name="Google Shape;1595;p43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6" name="Google Shape;1596;p43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02" name="Google Shape;1602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603" name="Google Shape;1603;p44"/>
          <p:cNvSpPr/>
          <p:nvPr/>
        </p:nvSpPr>
        <p:spPr>
          <a:xfrm>
            <a:off x="978950" y="2476875"/>
            <a:ext cx="7113600" cy="259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4" name="Google Shape;1604;p44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5" name="Google Shape;1605;p44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6" name="Google Shape;1606;p44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7" name="Google Shape;1607;p44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8" name="Google Shape;1608;p44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9" name="Google Shape;1609;p44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0" name="Google Shape;1610;p44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1" name="Google Shape;1611;p44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2" name="Google Shape;1612;p44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3" name="Google Shape;1613;p44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14" name="Google Shape;1614;p44"/>
          <p:cNvSpPr/>
          <p:nvPr/>
        </p:nvSpPr>
        <p:spPr>
          <a:xfrm>
            <a:off x="5252957" y="3662367"/>
            <a:ext cx="337200" cy="3372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44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6" name="Google Shape;1616;p44"/>
          <p:cNvSpPr/>
          <p:nvPr/>
        </p:nvSpPr>
        <p:spPr>
          <a:xfrm>
            <a:off x="5132582" y="2946979"/>
            <a:ext cx="337200" cy="3372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44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44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9" name="Google Shape;1619;p44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0" name="Google Shape;1620;p44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44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27" name="Google Shape;1627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28" name="Google Shape;1628;p45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29" name="Google Shape;1629;p45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30" name="Google Shape;1630;p45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31" name="Google Shape;1631;p45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2" name="Google Shape;1632;p45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3" name="Google Shape;1633;p45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4" name="Google Shape;1634;p45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5" name="Google Shape;1635;p45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6" name="Google Shape;1636;p45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7" name="Google Shape;1637;p45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8" name="Google Shape;1638;p45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9" name="Google Shape;1639;p45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40" name="Google Shape;1640;p45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1" name="Google Shape;1641;p45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2" name="Google Shape;1642;p45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3" name="Google Shape;1643;p45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4" name="Google Shape;1644;p45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5" name="Google Shape;1645;p45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6" name="Google Shape;1646;p45"/>
            <p:cNvSpPr/>
            <p:nvPr/>
          </p:nvSpPr>
          <p:spPr>
            <a:xfrm>
              <a:off x="5132582" y="2946979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7" name="Google Shape;1647;p45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53" name="Google Shape;165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54" name="Google Shape;1654;p46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55" name="Google Shape;1655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6" name="Google Shape;1656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7" name="Google Shape;1657;p46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58" name="Google Shape;1658;p46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59" name="Google Shape;1659;p46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0" name="Google Shape;1660;p46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1" name="Google Shape;1661;p46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2" name="Google Shape;1662;p46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3" name="Google Shape;1663;p46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4" name="Google Shape;1664;p46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5" name="Google Shape;1665;p46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6" name="Google Shape;1666;p46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67" name="Google Shape;1667;p46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8" name="Google Shape;1668;p46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9" name="Google Shape;1669;p46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0" name="Google Shape;1670;p46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1" name="Google Shape;1671;p46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2" name="Google Shape;1672;p46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3" name="Google Shape;1673;p46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4" name="Google Shape;1674;p46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80" name="Google Shape;16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2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81" name="Google Shape;1681;p47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82" name="Google Shape;1682;p47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83" name="Google Shape;1683;p47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84" name="Google Shape;1684;p47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5" name="Google Shape;1685;p47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6" name="Google Shape;1686;p47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87" name="Google Shape;1687;p47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8" name="Google Shape;1688;p47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89" name="Google Shape;1689;p47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90" name="Google Shape;1690;p47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1" name="Google Shape;1691;p47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2" name="Google Shape;1692;p47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93" name="Google Shape;1693;p47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94" name="Google Shape;1694;p47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5" name="Google Shape;1695;p47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6" name="Google Shape;1696;p47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7" name="Google Shape;1697;p47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8" name="Google Shape;1698;p47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9" name="Google Shape;1699;p47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0" name="Google Shape;1700;p47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706" name="Google Shape;1706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707" name="Google Shape;170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08" name="Google Shape;170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0" name="Google Shape;171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1" name="Google Shape;171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2" name="Google Shape;171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3" name="Google Shape;171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4" name="Google Shape;171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5" name="Google Shape;1715;p48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6" name="Google Shape;171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7" name="Google Shape;171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8" name="Google Shape;171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9" name="Google Shape;171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20" name="Google Shape;1720;p48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1" name="Google Shape;1721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3" name="Google Shape;1723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4" name="Google Shape;1724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5" name="Google Shape;1725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6" name="Google Shape;172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7" name="Google Shape;172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28" name="Google Shape;172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0" name="Google Shape;173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1" name="Google Shape;173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2" name="Google Shape;173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3" name="Google Shape;173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4" name="Google Shape;173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35" name="Google Shape;1735;p48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6" name="Google Shape;173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7" name="Google Shape;173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8" name="Google Shape;173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9" name="Google Shape;173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40" name="Google Shape;1740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1" name="Google Shape;1741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2" name="Google Shape;1742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3" name="Google Shape;1743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5" name="Google Shape;1745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6" name="Google Shape;174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47" name="Google Shape;174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48" name="Google Shape;174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50" name="Google Shape;175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1" name="Google Shape;175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2" name="Google Shape;175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3" name="Google Shape;175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4" name="Google Shape;175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5" name="Google Shape;1755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6" name="Google Shape;1756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7" name="Google Shape;1757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8" name="Google Shape;1758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59" name="Google Shape;1759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0" name="Google Shape;1760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1" name="Google Shape;1761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3" name="Google Shape;1763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4" name="Google Shape;1764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6" name="Google Shape;176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772" name="Google Shape;1772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Persistent overload</a:t>
            </a:r>
            <a:r>
              <a:rPr lang="en"/>
              <a:t>: Not enough capacity to handle the incoming packets!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Queue won't help us. If the queue fills up, the router must drop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solve persistent overload?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Operators can detect the overload and (manually) upgrade the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can tell the senders to slow down.</a:t>
            </a:r>
            <a:endParaRPr/>
          </a:p>
        </p:txBody>
      </p:sp>
      <p:sp>
        <p:nvSpPr>
          <p:cNvPr id="1773" name="Google Shape;1773;p49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49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5" name="Google Shape;1775;p49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6" name="Google Shape;1776;p49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77" name="Google Shape;1777;p49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8" name="Google Shape;1778;p49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9" name="Google Shape;1779;p49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49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49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2" name="Google Shape;1782;p49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3" name="Google Shape;1783;p49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84" name="Google Shape;1784;p49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85" name="Google Shape;1785;p49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49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49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49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49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49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49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49"/>
          <p:cNvSpPr/>
          <p:nvPr/>
        </p:nvSpPr>
        <p:spPr>
          <a:xfrm rot="-900021">
            <a:off x="2779976" y="4112863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49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49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49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6" name="Google Shape;1796;p49"/>
          <p:cNvSpPr/>
          <p:nvPr/>
        </p:nvSpPr>
        <p:spPr>
          <a:xfrm rot="-900021">
            <a:off x="1475279" y="446383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49"/>
          <p:cNvSpPr/>
          <p:nvPr/>
        </p:nvSpPr>
        <p:spPr>
          <a:xfrm>
            <a:off x="4823175" y="3008650"/>
            <a:ext cx="755400" cy="398100"/>
          </a:xfrm>
          <a:prstGeom prst="wedgeRoundRectCallout">
            <a:avLst>
              <a:gd name="adj1" fmla="val -73842"/>
              <a:gd name="adj2" fmla="val 62089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Uh oh...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Queuing and Life of a Packet</a:t>
            </a:r>
            <a:endParaRPr/>
          </a:p>
        </p:txBody>
      </p:sp>
      <p:sp>
        <p:nvSpPr>
          <p:cNvPr id="1803" name="Google Shape;180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Queues introduce extra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Transmission Delay + Propagation Delay </a:t>
            </a:r>
            <a:r>
              <a:rPr lang="en">
                <a:solidFill>
                  <a:schemeClr val="accent2"/>
                </a:solidFill>
              </a:rPr>
              <a:t>+ Queuing Delay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Life of a packet: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puts payload in a packet, adding headers.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travels along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arrives at a router. Router forwards packet to the next hop.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might be queued or dropped.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 the last step until: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reaches destination.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is dropped.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5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Brief Preview of the Semester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5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0" name="Google Shape;1810;p5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6" name="Google Shape;181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1–3: Networking Principles.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Layering and headers.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Design principles.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Links, life of a packet.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Project 1: Traceroute.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4–9: Routing (Layer 3).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Routing: How do routers know where to forward packets?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Addressing: How do we address end hosts?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you build an industrial-strength router in hardware?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Project 2: Routing.</a:t>
            </a:r>
            <a:endParaRPr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10–13: Reliability (Layer 4).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TCP: How do end hosts communicate reliably?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Congestion control: How do we ensure end hosts don't overload the links?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Project 3: Transport.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14–15: Applications (Layer 7).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DNS: How do we map names to addresses?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HTTP: How do we build applications on top of the network?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16–17: End-to-End Picture.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ARP and DHCP: What happens when you join the network for the first time?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NAT: How do we make sure there's enough addresses for everybody?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TLS: How do we secure network connections against attackers?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8" name="Google Shape;1828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18–21: Datacenters.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build a network to connect servers in high-performance datacenters?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SDN: Can we centralize control to improve performance?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networking, RDMA: How can we optimize performance at the end hosts?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22–23: Beyond Client-Server.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Multicast: How do we support group communication (e.g. Google Docs)?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Collectives: How do we design networks to support AI training?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24–25: Wireless.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wireless communication at Layers 1 and 2?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cellular networks?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+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r>
              <a:rPr lang="en">
                <a:solidFill>
                  <a:srgbClr val="000000"/>
                </a:solidFill>
              </a:rPr>
              <a:t> + </a:t>
            </a:r>
            <a:r>
              <a:rPr lang="en">
                <a:solidFill>
                  <a:srgbClr val="38761D"/>
                </a:solidFill>
              </a:rPr>
              <a:t>Queuing Delay</a:t>
            </a:r>
            <a:br>
              <a:rPr lang="en">
                <a:solidFill>
                  <a:srgbClr val="38761D"/>
                </a:solidFill>
              </a:rPr>
            </a:br>
            <a:br>
              <a:rPr lang="en">
                <a:solidFill>
                  <a:srgbClr val="000000"/>
                </a:solidFill>
              </a:rPr>
            </a:br>
            <a:endParaRPr sz="60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transient overload if packets arrive simultaneously.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Solution: Packets get queued for later.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persistent overload if there's insufficient capacity.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Queue gets full, and packets get dropped.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834" name="Google Shape;1834;p55"/>
          <p:cNvSpPr/>
          <p:nvPr/>
        </p:nvSpPr>
        <p:spPr>
          <a:xfrm>
            <a:off x="2639150" y="3430427"/>
            <a:ext cx="1902625" cy="1377400"/>
          </a:xfrm>
          <a:custGeom>
            <a:avLst/>
            <a:gdLst/>
            <a:ahLst/>
            <a:cxnLst/>
            <a:rect l="l" t="t" r="r" b="b"/>
            <a:pathLst>
              <a:path w="76105" h="55096" extrusionOk="0">
                <a:moveTo>
                  <a:pt x="0" y="0"/>
                </a:moveTo>
                <a:lnTo>
                  <a:pt x="0" y="32057"/>
                </a:lnTo>
                <a:lnTo>
                  <a:pt x="76105" y="55096"/>
                </a:lnTo>
                <a:lnTo>
                  <a:pt x="76105" y="2289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35" name="Google Shape;18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Links</a:t>
            </a:r>
            <a:endParaRPr/>
          </a:p>
        </p:txBody>
      </p:sp>
      <p:sp>
        <p:nvSpPr>
          <p:cNvPr id="1836" name="Google Shape;1836;p55"/>
          <p:cNvSpPr/>
          <p:nvPr/>
        </p:nvSpPr>
        <p:spPr>
          <a:xfrm rot="5400000">
            <a:off x="3408325" y="-345068"/>
            <a:ext cx="198600" cy="26181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7" name="Google Shape;1837;p55"/>
          <p:cNvSpPr txBox="1"/>
          <p:nvPr/>
        </p:nvSpPr>
        <p:spPr>
          <a:xfrm>
            <a:off x="2198575" y="1029861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55"/>
          <p:cNvSpPr/>
          <p:nvPr/>
        </p:nvSpPr>
        <p:spPr>
          <a:xfrm>
            <a:off x="6461725" y="319319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39" name="Google Shape;1839;p55"/>
          <p:cNvGrpSpPr/>
          <p:nvPr/>
        </p:nvGrpSpPr>
        <p:grpSpPr>
          <a:xfrm>
            <a:off x="7239523" y="3260553"/>
            <a:ext cx="158100" cy="779700"/>
            <a:chOff x="4493036" y="1763407"/>
            <a:chExt cx="158100" cy="779700"/>
          </a:xfrm>
        </p:grpSpPr>
        <p:sp>
          <p:nvSpPr>
            <p:cNvPr id="1840" name="Google Shape;1840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1" name="Google Shape;1841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2" name="Google Shape;1842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3" name="Google Shape;1843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4" name="Google Shape;1844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5" name="Google Shape;1845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46" name="Google Shape;1846;p55"/>
          <p:cNvGrpSpPr/>
          <p:nvPr/>
        </p:nvGrpSpPr>
        <p:grpSpPr>
          <a:xfrm>
            <a:off x="7544323" y="3260553"/>
            <a:ext cx="158100" cy="779700"/>
            <a:chOff x="4493036" y="1763407"/>
            <a:chExt cx="158100" cy="779700"/>
          </a:xfrm>
        </p:grpSpPr>
        <p:sp>
          <p:nvSpPr>
            <p:cNvPr id="1847" name="Google Shape;1847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8" name="Google Shape;1848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9" name="Google Shape;1849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0" name="Google Shape;1850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1" name="Google Shape;1851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2" name="Google Shape;1852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53" name="Google Shape;1853;p55"/>
          <p:cNvGrpSpPr/>
          <p:nvPr/>
        </p:nvGrpSpPr>
        <p:grpSpPr>
          <a:xfrm>
            <a:off x="7849123" y="3260553"/>
            <a:ext cx="158100" cy="779700"/>
            <a:chOff x="4493036" y="1763407"/>
            <a:chExt cx="158100" cy="779700"/>
          </a:xfrm>
        </p:grpSpPr>
        <p:sp>
          <p:nvSpPr>
            <p:cNvPr id="1854" name="Google Shape;1854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5" name="Google Shape;1855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6" name="Google Shape;1856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7" name="Google Shape;1857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8" name="Google Shape;1858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9" name="Google Shape;1859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0" name="Google Shape;1860;p55"/>
          <p:cNvGrpSpPr/>
          <p:nvPr/>
        </p:nvGrpSpPr>
        <p:grpSpPr>
          <a:xfrm>
            <a:off x="8153923" y="3260553"/>
            <a:ext cx="158100" cy="779700"/>
            <a:chOff x="4493036" y="1763407"/>
            <a:chExt cx="158100" cy="779700"/>
          </a:xfrm>
        </p:grpSpPr>
        <p:sp>
          <p:nvSpPr>
            <p:cNvPr id="1861" name="Google Shape;1861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2" name="Google Shape;1862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3" name="Google Shape;1863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4" name="Google Shape;1864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5" name="Google Shape;1865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6" name="Google Shape;1866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7" name="Google Shape;1867;p55"/>
          <p:cNvGrpSpPr/>
          <p:nvPr/>
        </p:nvGrpSpPr>
        <p:grpSpPr>
          <a:xfrm>
            <a:off x="6129625" y="3193186"/>
            <a:ext cx="179700" cy="914429"/>
            <a:chOff x="2338450" y="3338450"/>
            <a:chExt cx="179700" cy="836700"/>
          </a:xfrm>
        </p:grpSpPr>
        <p:cxnSp>
          <p:nvCxnSpPr>
            <p:cNvPr id="1868" name="Google Shape;1868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9" name="Google Shape;1869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0" name="Google Shape;1870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1" name="Google Shape;1871;p55"/>
          <p:cNvSpPr txBox="1"/>
          <p:nvPr/>
        </p:nvSpPr>
        <p:spPr>
          <a:xfrm rot="-5400000">
            <a:off x="5495625" y="351494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2" name="Google Shape;1872;p55"/>
          <p:cNvGrpSpPr/>
          <p:nvPr/>
        </p:nvGrpSpPr>
        <p:grpSpPr>
          <a:xfrm rot="5400000">
            <a:off x="7533367" y="3188490"/>
            <a:ext cx="179700" cy="2322763"/>
            <a:chOff x="2338450" y="3338450"/>
            <a:chExt cx="179700" cy="836700"/>
          </a:xfrm>
        </p:grpSpPr>
        <p:cxnSp>
          <p:nvCxnSpPr>
            <p:cNvPr id="1873" name="Google Shape;1873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4" name="Google Shape;1874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5" name="Google Shape;1875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6" name="Google Shape;1876;p55"/>
          <p:cNvSpPr txBox="1"/>
          <p:nvPr/>
        </p:nvSpPr>
        <p:spPr>
          <a:xfrm>
            <a:off x="6819625" y="434859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7" name="Google Shape;1877;p55"/>
          <p:cNvSpPr txBox="1"/>
          <p:nvPr/>
        </p:nvSpPr>
        <p:spPr>
          <a:xfrm>
            <a:off x="6235775" y="468303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8" name="Google Shape;1878;p55"/>
          <p:cNvGrpSpPr/>
          <p:nvPr/>
        </p:nvGrpSpPr>
        <p:grpSpPr>
          <a:xfrm rot="5400000">
            <a:off x="7693511" y="2460604"/>
            <a:ext cx="179700" cy="1133059"/>
            <a:chOff x="2338450" y="3338450"/>
            <a:chExt cx="179700" cy="836700"/>
          </a:xfrm>
        </p:grpSpPr>
        <p:cxnSp>
          <p:nvCxnSpPr>
            <p:cNvPr id="1879" name="Google Shape;1879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0" name="Google Shape;1880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1" name="Google Shape;1881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82" name="Google Shape;1882;p55"/>
          <p:cNvSpPr txBox="1"/>
          <p:nvPr/>
        </p:nvSpPr>
        <p:spPr>
          <a:xfrm>
            <a:off x="7192813" y="2520084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3" name="Google Shape;1883;p55"/>
          <p:cNvCxnSpPr/>
          <p:nvPr/>
        </p:nvCxnSpPr>
        <p:spPr>
          <a:xfrm>
            <a:off x="2638296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4" name="Google Shape;1884;p55"/>
          <p:cNvCxnSpPr/>
          <p:nvPr/>
        </p:nvCxnSpPr>
        <p:spPr>
          <a:xfrm>
            <a:off x="4540471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5" name="Google Shape;1885;p55"/>
          <p:cNvSpPr txBox="1"/>
          <p:nvPr/>
        </p:nvSpPr>
        <p:spPr>
          <a:xfrm>
            <a:off x="2535101" y="2824573"/>
            <a:ext cx="2100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55"/>
          <p:cNvCxnSpPr/>
          <p:nvPr/>
        </p:nvCxnSpPr>
        <p:spPr>
          <a:xfrm>
            <a:off x="2365578" y="31173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7" name="Google Shape;1887;p55"/>
          <p:cNvSpPr txBox="1"/>
          <p:nvPr/>
        </p:nvSpPr>
        <p:spPr>
          <a:xfrm>
            <a:off x="1776260" y="3028003"/>
            <a:ext cx="56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55"/>
          <p:cNvCxnSpPr/>
          <p:nvPr/>
        </p:nvCxnSpPr>
        <p:spPr>
          <a:xfrm>
            <a:off x="2365578" y="34221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9" name="Google Shape;1889;p55"/>
          <p:cNvSpPr txBox="1"/>
          <p:nvPr/>
        </p:nvSpPr>
        <p:spPr>
          <a:xfrm>
            <a:off x="1597618" y="3332798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55"/>
          <p:cNvCxnSpPr/>
          <p:nvPr/>
        </p:nvCxnSpPr>
        <p:spPr>
          <a:xfrm>
            <a:off x="2641153" y="3427023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1" name="Google Shape;1891;p55"/>
          <p:cNvCxnSpPr/>
          <p:nvPr/>
        </p:nvCxnSpPr>
        <p:spPr>
          <a:xfrm rot="10800000">
            <a:off x="4541974" y="4000092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2" name="Google Shape;1892;p55"/>
          <p:cNvSpPr txBox="1"/>
          <p:nvPr/>
        </p:nvSpPr>
        <p:spPr>
          <a:xfrm>
            <a:off x="4842153" y="3901555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55"/>
          <p:cNvCxnSpPr/>
          <p:nvPr/>
        </p:nvCxnSpPr>
        <p:spPr>
          <a:xfrm>
            <a:off x="2365578" y="423021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4" name="Google Shape;1894;p55"/>
          <p:cNvSpPr txBox="1"/>
          <p:nvPr/>
        </p:nvSpPr>
        <p:spPr>
          <a:xfrm>
            <a:off x="1597618" y="4140829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5" name="Google Shape;1895;p55"/>
          <p:cNvCxnSpPr/>
          <p:nvPr/>
        </p:nvCxnSpPr>
        <p:spPr>
          <a:xfrm>
            <a:off x="2641153" y="4232044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6" name="Google Shape;1896;p55"/>
          <p:cNvCxnSpPr/>
          <p:nvPr/>
        </p:nvCxnSpPr>
        <p:spPr>
          <a:xfrm rot="10800000">
            <a:off x="4541974" y="4804858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7" name="Google Shape;1897;p55"/>
          <p:cNvSpPr txBox="1"/>
          <p:nvPr/>
        </p:nvSpPr>
        <p:spPr>
          <a:xfrm>
            <a:off x="4842153" y="4706320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8" name="Google Shape;1898;p55"/>
          <p:cNvSpPr txBox="1"/>
          <p:nvPr/>
        </p:nvSpPr>
        <p:spPr>
          <a:xfrm rot="1027196">
            <a:off x="2741908" y="3961304"/>
            <a:ext cx="1616318" cy="270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99" name="Google Shape;1899;p55"/>
          <p:cNvGrpSpPr/>
          <p:nvPr/>
        </p:nvGrpSpPr>
        <p:grpSpPr>
          <a:xfrm>
            <a:off x="1357171" y="3422136"/>
            <a:ext cx="179700" cy="810009"/>
            <a:chOff x="2338450" y="3338450"/>
            <a:chExt cx="179700" cy="836700"/>
          </a:xfrm>
        </p:grpSpPr>
        <p:cxnSp>
          <p:nvCxnSpPr>
            <p:cNvPr id="1900" name="Google Shape;1900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1" name="Google Shape;1901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2" name="Google Shape;1902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3" name="Google Shape;1903;p55"/>
          <p:cNvSpPr txBox="1"/>
          <p:nvPr/>
        </p:nvSpPr>
        <p:spPr>
          <a:xfrm>
            <a:off x="197678" y="3583973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4" name="Google Shape;1904;p55"/>
          <p:cNvGrpSpPr/>
          <p:nvPr/>
        </p:nvGrpSpPr>
        <p:grpSpPr>
          <a:xfrm>
            <a:off x="1357171" y="4276002"/>
            <a:ext cx="179700" cy="531388"/>
            <a:chOff x="2338450" y="3338450"/>
            <a:chExt cx="179700" cy="836700"/>
          </a:xfrm>
        </p:grpSpPr>
        <p:cxnSp>
          <p:nvCxnSpPr>
            <p:cNvPr id="1905" name="Google Shape;1905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6" name="Google Shape;1906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7" name="Google Shape;1907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8" name="Google Shape;1908;p55"/>
          <p:cNvSpPr txBox="1"/>
          <p:nvPr/>
        </p:nvSpPr>
        <p:spPr>
          <a:xfrm>
            <a:off x="197678" y="4312234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12833</Words>
  <Application>Microsoft Office PowerPoint</Application>
  <PresentationFormat>On-screen Show (16:9)</PresentationFormat>
  <Paragraphs>1523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Roboto Light</vt:lpstr>
      <vt:lpstr>Arial</vt:lpstr>
      <vt:lpstr>Roboto Medium</vt:lpstr>
      <vt:lpstr>Roboto</vt:lpstr>
      <vt:lpstr>Simple Lecture</vt:lpstr>
      <vt:lpstr>Bandwidth and Propagation Delay</vt:lpstr>
      <vt:lpstr>Properties of Links</vt:lpstr>
      <vt:lpstr>Measuring Packet Delay with Timing Diagrams</vt:lpstr>
      <vt:lpstr>Measuring Packet Delay with Timing Diagrams</vt:lpstr>
      <vt:lpstr>Measuring Packet Delay with Timing Diagrams</vt:lpstr>
      <vt:lpstr>Link Tradeoffs</vt:lpstr>
      <vt:lpstr>Pipe Diagrams</vt:lpstr>
      <vt:lpstr>Timing Diagrams and Pipe Diagrams</vt:lpstr>
      <vt:lpstr>Timing Diagrams and Pipe Diagrams</vt:lpstr>
      <vt:lpstr>Pipe Diagrams</vt:lpstr>
      <vt:lpstr>Pipe Diagrams</vt:lpstr>
      <vt:lpstr>Pipe Diagrams</vt:lpstr>
      <vt:lpstr>Pipe Diagrams – Transmission Delay</vt:lpstr>
      <vt:lpstr>Pipe Diagrams – Transmission Delay</vt:lpstr>
      <vt:lpstr>Pipe Diagrams – Transmission Delay</vt:lpstr>
      <vt:lpstr>Overloaded Links</vt:lpstr>
      <vt:lpstr>Packet Switching at Routers</vt:lpstr>
      <vt:lpstr>Packet Switching at Routers</vt:lpstr>
      <vt:lpstr>Transient Overload</vt:lpstr>
      <vt:lpstr>Transient Overload</vt:lpstr>
      <vt:lpstr>Transient Overload</vt:lpstr>
      <vt:lpstr>Transient Overload</vt:lpstr>
      <vt:lpstr>Transient Overload</vt:lpstr>
      <vt:lpstr>Transient Overload</vt:lpstr>
      <vt:lpstr>Packet Switching at Routers</vt:lpstr>
      <vt:lpstr>Packet Queuing and Life of a Packet</vt:lpstr>
      <vt:lpstr>Brief Preview of the Semester</vt:lpstr>
      <vt:lpstr>Brief Preview of the Semester</vt:lpstr>
      <vt:lpstr>Brief Preview of the Semester</vt:lpstr>
      <vt:lpstr>Brief Preview of the Semester</vt:lpstr>
      <vt:lpstr>Summary: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</cp:revision>
  <dcterms:modified xsi:type="dcterms:W3CDTF">2026-01-27T19:35:05Z</dcterms:modified>
</cp:coreProperties>
</file>