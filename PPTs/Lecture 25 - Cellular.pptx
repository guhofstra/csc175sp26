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Lst>
  <p:sldSz cy="5143500" cx="9144000"/>
  <p:notesSz cx="6858000" cy="9144000"/>
  <p:embeddedFontLst>
    <p:embeddedFont>
      <p:font typeface="Roboto Medium"/>
      <p:regular r:id="rId64"/>
      <p:bold r:id="rId65"/>
      <p:italic r:id="rId66"/>
      <p:boldItalic r:id="rId67"/>
    </p:embeddedFont>
    <p:embeddedFont>
      <p:font typeface="Roboto"/>
      <p:regular r:id="rId68"/>
      <p:bold r:id="rId69"/>
      <p:italic r:id="rId70"/>
      <p:boldItalic r:id="rId71"/>
    </p:embeddedFont>
    <p:embeddedFont>
      <p:font typeface="Roboto Light"/>
      <p:regular r:id="rId72"/>
      <p:bold r:id="rId73"/>
      <p:italic r:id="rId74"/>
      <p:boldItalic r:id="rId7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1AFF29A-2706-40CE-8C42-EE41DE3FB69A}">
  <a:tblStyle styleId="{21AFF29A-2706-40CE-8C42-EE41DE3FB69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RobotoLight-bold.fntdata"/><Relationship Id="rId72" Type="http://schemas.openxmlformats.org/officeDocument/2006/relationships/font" Target="fonts/RobotoLight-regular.fntdata"/><Relationship Id="rId31" Type="http://schemas.openxmlformats.org/officeDocument/2006/relationships/slide" Target="slides/slide25.xml"/><Relationship Id="rId75" Type="http://schemas.openxmlformats.org/officeDocument/2006/relationships/font" Target="fonts/RobotoLight-boldItalic.fntdata"/><Relationship Id="rId30" Type="http://schemas.openxmlformats.org/officeDocument/2006/relationships/slide" Target="slides/slide24.xml"/><Relationship Id="rId74" Type="http://schemas.openxmlformats.org/officeDocument/2006/relationships/font" Target="fonts/RobotoLight-italic.fntdata"/><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Roboto-boldItalic.fntdata"/><Relationship Id="rId70" Type="http://schemas.openxmlformats.org/officeDocument/2006/relationships/font" Target="fonts/Roboto-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font" Target="fonts/RobotoMedium-regular.fntdata"/><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font" Target="fonts/RobotoMedium-italic.fntdata"/><Relationship Id="rId21" Type="http://schemas.openxmlformats.org/officeDocument/2006/relationships/slide" Target="slides/slide15.xml"/><Relationship Id="rId65" Type="http://schemas.openxmlformats.org/officeDocument/2006/relationships/font" Target="fonts/RobotoMedium-bold.fntdata"/><Relationship Id="rId24" Type="http://schemas.openxmlformats.org/officeDocument/2006/relationships/slide" Target="slides/slide18.xml"/><Relationship Id="rId68" Type="http://schemas.openxmlformats.org/officeDocument/2006/relationships/font" Target="fonts/Roboto-regular.fntdata"/><Relationship Id="rId23" Type="http://schemas.openxmlformats.org/officeDocument/2006/relationships/slide" Target="slides/slide17.xml"/><Relationship Id="rId67" Type="http://schemas.openxmlformats.org/officeDocument/2006/relationships/font" Target="fonts/RobotoMedium-boldItalic.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Roboto-bold.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File:Wifiservice.svg"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8000dcdba9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8000dcdba9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Slides template credit: Josh Hug, Lisa Yan</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2"/>
              </a:rPr>
              <a:t>https://en.wikipedia.org/wiki/File:Wifiservice.svg</a:t>
            </a:r>
            <a:r>
              <a:rPr lang="en">
                <a:solidFill>
                  <a:schemeClr val="dk1"/>
                </a:solidFill>
              </a:rPr>
              <a:t>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FILL OUT THE FORM</a:t>
            </a:r>
            <a:endParaRPr>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8000dcdba9_0_14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8000dcdba9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8000dcdba9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8000dcdba9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28000dcdba9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28000dcdba9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8000dcdba9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8000dcdba9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28000dcdba9_0_31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28000dcdba9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8000dcdba9_0_3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28000dcdba9_0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28000dcdba9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28000dcdba9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8000dcdba9_0_3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28000dcdba9_0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8000dcdba9_0_3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28000dcdba9_0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8000dcdba9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28000dcdba9_0_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28000dcdba9_0_34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28000dcdba9_0_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28000dcdba9_0_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28000dcdba9_0_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28000dcdba9_0_35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28000dcdba9_0_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Conceptual overview - not a lot of math, more to give a sense for how cellular works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28000dcdba9_0_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28000dcdba9_0_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28000dcdba9_0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28000dcdba9_0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Who gets what frequencies at what time?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8000dcdba9_0_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28000dcdba9_0_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28000dcdba9_0_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28000dcdba9_0_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do these towers actually communicate with the internet?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28000dcdba9_0_8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28000dcdba9_0_8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go through the different components.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Wired links between towers and radio gateways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28000dcdba9_0_9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8" name="Google Shape;678;g28000dcdba9_0_9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28000dcdba9_0_1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8" name="Google Shape;808;g28000dcdba9_0_1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g28000dcdba9_0_139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36" name="Google Shape;936;g28000dcdba9_0_1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g28000dcdba9_0_1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3" name="Google Shape;943;g28000dcdba9_0_1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g28000dcdba9_0_1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8" name="Google Shape;1008;g28000dcdba9_0_1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g28000dcdba9_0_15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3" name="Google Shape;1073;g28000dcdba9_0_15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g28000dcdba9_0_16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0" name="Google Shape;1140;g28000dcdba9_0_16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6" name="Shape 1206"/>
        <p:cNvGrpSpPr/>
        <p:nvPr/>
      </p:nvGrpSpPr>
      <p:grpSpPr>
        <a:xfrm>
          <a:off x="0" y="0"/>
          <a:ext cx="0" cy="0"/>
          <a:chOff x="0" y="0"/>
          <a:chExt cx="0" cy="0"/>
        </a:xfrm>
      </p:grpSpPr>
      <p:sp>
        <p:nvSpPr>
          <p:cNvPr id="1207" name="Google Shape;1207;g28000dcdba9_0_16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8" name="Google Shape;1208;g28000dcdba9_0_16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2" name="Shape 1272"/>
        <p:cNvGrpSpPr/>
        <p:nvPr/>
      </p:nvGrpSpPr>
      <p:grpSpPr>
        <a:xfrm>
          <a:off x="0" y="0"/>
          <a:ext cx="0" cy="0"/>
          <a:chOff x="0" y="0"/>
          <a:chExt cx="0" cy="0"/>
        </a:xfrm>
      </p:grpSpPr>
      <p:sp>
        <p:nvSpPr>
          <p:cNvPr id="1273" name="Google Shape;1273;g28000dcdba9_0_17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4" name="Google Shape;1274;g28000dcdba9_0_17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2" name="Shape 1342"/>
        <p:cNvGrpSpPr/>
        <p:nvPr/>
      </p:nvGrpSpPr>
      <p:grpSpPr>
        <a:xfrm>
          <a:off x="0" y="0"/>
          <a:ext cx="0" cy="0"/>
          <a:chOff x="0" y="0"/>
          <a:chExt cx="0" cy="0"/>
        </a:xfrm>
      </p:grpSpPr>
      <p:sp>
        <p:nvSpPr>
          <p:cNvPr id="1343" name="Google Shape;1343;g28000dcdba9_0_18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4" name="Google Shape;1344;g28000dcdba9_0_18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9" name="Shape 1409"/>
        <p:cNvGrpSpPr/>
        <p:nvPr/>
      </p:nvGrpSpPr>
      <p:grpSpPr>
        <a:xfrm>
          <a:off x="0" y="0"/>
          <a:ext cx="0" cy="0"/>
          <a:chOff x="0" y="0"/>
          <a:chExt cx="0" cy="0"/>
        </a:xfrm>
      </p:grpSpPr>
      <p:sp>
        <p:nvSpPr>
          <p:cNvPr id="1410" name="Google Shape;1410;g28000dcdba9_0_19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1" name="Google Shape;1411;g28000dcdba9_0_19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5" name="Shape 1475"/>
        <p:cNvGrpSpPr/>
        <p:nvPr/>
      </p:nvGrpSpPr>
      <p:grpSpPr>
        <a:xfrm>
          <a:off x="0" y="0"/>
          <a:ext cx="0" cy="0"/>
          <a:chOff x="0" y="0"/>
          <a:chExt cx="0" cy="0"/>
        </a:xfrm>
      </p:grpSpPr>
      <p:sp>
        <p:nvSpPr>
          <p:cNvPr id="1476" name="Google Shape;1476;g28000dcdba9_0_19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7" name="Google Shape;1477;g28000dcdba9_0_19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8" name="Shape 1568"/>
        <p:cNvGrpSpPr/>
        <p:nvPr/>
      </p:nvGrpSpPr>
      <p:grpSpPr>
        <a:xfrm>
          <a:off x="0" y="0"/>
          <a:ext cx="0" cy="0"/>
          <a:chOff x="0" y="0"/>
          <a:chExt cx="0" cy="0"/>
        </a:xfrm>
      </p:grpSpPr>
      <p:sp>
        <p:nvSpPr>
          <p:cNvPr id="1569" name="Google Shape;1569;g28005ade24a_0_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70" name="Google Shape;1570;g28005ade24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~30min in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5" name="Shape 1575"/>
        <p:cNvGrpSpPr/>
        <p:nvPr/>
      </p:nvGrpSpPr>
      <p:grpSpPr>
        <a:xfrm>
          <a:off x="0" y="0"/>
          <a:ext cx="0" cy="0"/>
          <a:chOff x="0" y="0"/>
          <a:chExt cx="0" cy="0"/>
        </a:xfrm>
      </p:grpSpPr>
      <p:sp>
        <p:nvSpPr>
          <p:cNvPr id="1576" name="Google Shape;1576;g28005ade24a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7" name="Google Shape;1577;g28005ade24a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9" name="Shape 1589"/>
        <p:cNvGrpSpPr/>
        <p:nvPr/>
      </p:nvGrpSpPr>
      <p:grpSpPr>
        <a:xfrm>
          <a:off x="0" y="0"/>
          <a:ext cx="0" cy="0"/>
          <a:chOff x="0" y="0"/>
          <a:chExt cx="0" cy="0"/>
        </a:xfrm>
      </p:grpSpPr>
      <p:sp>
        <p:nvSpPr>
          <p:cNvPr id="1590" name="Google Shape;1590;g28005ade24a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1" name="Google Shape;1591;g28005ade24a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5" name="Shape 1595"/>
        <p:cNvGrpSpPr/>
        <p:nvPr/>
      </p:nvGrpSpPr>
      <p:grpSpPr>
        <a:xfrm>
          <a:off x="0" y="0"/>
          <a:ext cx="0" cy="0"/>
          <a:chOff x="0" y="0"/>
          <a:chExt cx="0" cy="0"/>
        </a:xfrm>
      </p:grpSpPr>
      <p:sp>
        <p:nvSpPr>
          <p:cNvPr id="1596" name="Google Shape;1596;g28005ade24a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7" name="Google Shape;1597;g28005ade24a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5" name="Shape 1645"/>
        <p:cNvGrpSpPr/>
        <p:nvPr/>
      </p:nvGrpSpPr>
      <p:grpSpPr>
        <a:xfrm>
          <a:off x="0" y="0"/>
          <a:ext cx="0" cy="0"/>
          <a:chOff x="0" y="0"/>
          <a:chExt cx="0" cy="0"/>
        </a:xfrm>
      </p:grpSpPr>
      <p:sp>
        <p:nvSpPr>
          <p:cNvPr id="1646" name="Google Shape;1646;g28005ade24a_0_15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47" name="Google Shape;1647;g28005ade24a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2" name="Shape 1652"/>
        <p:cNvGrpSpPr/>
        <p:nvPr/>
      </p:nvGrpSpPr>
      <p:grpSpPr>
        <a:xfrm>
          <a:off x="0" y="0"/>
          <a:ext cx="0" cy="0"/>
          <a:chOff x="0" y="0"/>
          <a:chExt cx="0" cy="0"/>
        </a:xfrm>
      </p:grpSpPr>
      <p:sp>
        <p:nvSpPr>
          <p:cNvPr id="1653" name="Google Shape;1653;g28005ade24a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4" name="Google Shape;1654;g28005ade24a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1" name="Shape 1691"/>
        <p:cNvGrpSpPr/>
        <p:nvPr/>
      </p:nvGrpSpPr>
      <p:grpSpPr>
        <a:xfrm>
          <a:off x="0" y="0"/>
          <a:ext cx="0" cy="0"/>
          <a:chOff x="0" y="0"/>
          <a:chExt cx="0" cy="0"/>
        </a:xfrm>
      </p:grpSpPr>
      <p:sp>
        <p:nvSpPr>
          <p:cNvPr id="1692" name="Google Shape;1692;g28005ade24a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3" name="Google Shape;1693;g28005ade24a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Analogy here is listening to the radio and checking the channels - KALX 90.7, KEXP 92.7</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7" name="Shape 1697"/>
        <p:cNvGrpSpPr/>
        <p:nvPr/>
      </p:nvGrpSpPr>
      <p:grpSpPr>
        <a:xfrm>
          <a:off x="0" y="0"/>
          <a:ext cx="0" cy="0"/>
          <a:chOff x="0" y="0"/>
          <a:chExt cx="0" cy="0"/>
        </a:xfrm>
      </p:grpSpPr>
      <p:sp>
        <p:nvSpPr>
          <p:cNvPr id="1698" name="Google Shape;1698;g28005ade24a_0_20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99" name="Google Shape;1699;g28005ade24a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4" name="Shape 1704"/>
        <p:cNvGrpSpPr/>
        <p:nvPr/>
      </p:nvGrpSpPr>
      <p:grpSpPr>
        <a:xfrm>
          <a:off x="0" y="0"/>
          <a:ext cx="0" cy="0"/>
          <a:chOff x="0" y="0"/>
          <a:chExt cx="0" cy="0"/>
        </a:xfrm>
      </p:grpSpPr>
      <p:sp>
        <p:nvSpPr>
          <p:cNvPr id="1705" name="Google Shape;1705;g28005ade24a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6" name="Google Shape;1706;g28005ade24a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8" name="Shape 1758"/>
        <p:cNvGrpSpPr/>
        <p:nvPr/>
      </p:nvGrpSpPr>
      <p:grpSpPr>
        <a:xfrm>
          <a:off x="0" y="0"/>
          <a:ext cx="0" cy="0"/>
          <a:chOff x="0" y="0"/>
          <a:chExt cx="0" cy="0"/>
        </a:xfrm>
      </p:grpSpPr>
      <p:sp>
        <p:nvSpPr>
          <p:cNvPr id="1759" name="Google Shape;1759;g28005ade24a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0" name="Google Shape;1760;g28005ade24a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1" name="Shape 1811"/>
        <p:cNvGrpSpPr/>
        <p:nvPr/>
      </p:nvGrpSpPr>
      <p:grpSpPr>
        <a:xfrm>
          <a:off x="0" y="0"/>
          <a:ext cx="0" cy="0"/>
          <a:chOff x="0" y="0"/>
          <a:chExt cx="0" cy="0"/>
        </a:xfrm>
      </p:grpSpPr>
      <p:sp>
        <p:nvSpPr>
          <p:cNvPr id="1812" name="Google Shape;1812;g28005ade24a_0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3" name="Google Shape;1813;g28005ade24a_0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1" name="Shape 1861"/>
        <p:cNvGrpSpPr/>
        <p:nvPr/>
      </p:nvGrpSpPr>
      <p:grpSpPr>
        <a:xfrm>
          <a:off x="0" y="0"/>
          <a:ext cx="0" cy="0"/>
          <a:chOff x="0" y="0"/>
          <a:chExt cx="0" cy="0"/>
        </a:xfrm>
      </p:grpSpPr>
      <p:sp>
        <p:nvSpPr>
          <p:cNvPr id="1862" name="Google Shape;1862;g2f2d7f05e18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3" name="Google Shape;1863;g2f2d7f05e18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4" name="Shape 1924"/>
        <p:cNvGrpSpPr/>
        <p:nvPr/>
      </p:nvGrpSpPr>
      <p:grpSpPr>
        <a:xfrm>
          <a:off x="0" y="0"/>
          <a:ext cx="0" cy="0"/>
          <a:chOff x="0" y="0"/>
          <a:chExt cx="0" cy="0"/>
        </a:xfrm>
      </p:grpSpPr>
      <p:sp>
        <p:nvSpPr>
          <p:cNvPr id="1925" name="Google Shape;1925;g2f2d7f05e18_0_1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26" name="Google Shape;1926;g2f2d7f05e18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1" name="Shape 1931"/>
        <p:cNvGrpSpPr/>
        <p:nvPr/>
      </p:nvGrpSpPr>
      <p:grpSpPr>
        <a:xfrm>
          <a:off x="0" y="0"/>
          <a:ext cx="0" cy="0"/>
          <a:chOff x="0" y="0"/>
          <a:chExt cx="0" cy="0"/>
        </a:xfrm>
      </p:grpSpPr>
      <p:sp>
        <p:nvSpPr>
          <p:cNvPr id="1932" name="Google Shape;1932;g2f2d7f05e18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3" name="Google Shape;1933;g2f2d7f05e18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User is driving in a car which means they need to use different towers at different times. This is different from distance vector, link state where end hosts move once and awhile, but not all the time.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8" name="Shape 1978"/>
        <p:cNvGrpSpPr/>
        <p:nvPr/>
      </p:nvGrpSpPr>
      <p:grpSpPr>
        <a:xfrm>
          <a:off x="0" y="0"/>
          <a:ext cx="0" cy="0"/>
          <a:chOff x="0" y="0"/>
          <a:chExt cx="0" cy="0"/>
        </a:xfrm>
      </p:grpSpPr>
      <p:sp>
        <p:nvSpPr>
          <p:cNvPr id="1979" name="Google Shape;1979;g2f2d7f05e18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0" name="Google Shape;1980;g2f2d7f05e18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Fix is to not use IP addresses for forwarding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Install tunnels with rules about how to forward. It’s more centralized.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Tunnel could include multiple links.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0" name="Shape 2030"/>
        <p:cNvGrpSpPr/>
        <p:nvPr/>
      </p:nvGrpSpPr>
      <p:grpSpPr>
        <a:xfrm>
          <a:off x="0" y="0"/>
          <a:ext cx="0" cy="0"/>
          <a:chOff x="0" y="0"/>
          <a:chExt cx="0" cy="0"/>
        </a:xfrm>
      </p:grpSpPr>
      <p:sp>
        <p:nvSpPr>
          <p:cNvPr id="2031" name="Google Shape;2031;g2f2d7f05e18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2" name="Google Shape;2032;g2f2d7f05e18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8" name="Shape 2098"/>
        <p:cNvGrpSpPr/>
        <p:nvPr/>
      </p:nvGrpSpPr>
      <p:grpSpPr>
        <a:xfrm>
          <a:off x="0" y="0"/>
          <a:ext cx="0" cy="0"/>
          <a:chOff x="0" y="0"/>
          <a:chExt cx="0" cy="0"/>
        </a:xfrm>
      </p:grpSpPr>
      <p:sp>
        <p:nvSpPr>
          <p:cNvPr id="2099" name="Google Shape;2099;g2f2d7f05e18_0_30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00" name="Google Shape;2100;g2f2d7f05e18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5" name="Shape 2105"/>
        <p:cNvGrpSpPr/>
        <p:nvPr/>
      </p:nvGrpSpPr>
      <p:grpSpPr>
        <a:xfrm>
          <a:off x="0" y="0"/>
          <a:ext cx="0" cy="0"/>
          <a:chOff x="0" y="0"/>
          <a:chExt cx="0" cy="0"/>
        </a:xfrm>
      </p:grpSpPr>
      <p:sp>
        <p:nvSpPr>
          <p:cNvPr id="2106" name="Google Shape;2106;g2f2d7f05e18_0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7" name="Google Shape;2107;g2f2d7f05e18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3" name="Shape 2163"/>
        <p:cNvGrpSpPr/>
        <p:nvPr/>
      </p:nvGrpSpPr>
      <p:grpSpPr>
        <a:xfrm>
          <a:off x="0" y="0"/>
          <a:ext cx="0" cy="0"/>
          <a:chOff x="0" y="0"/>
          <a:chExt cx="0" cy="0"/>
        </a:xfrm>
      </p:grpSpPr>
      <p:sp>
        <p:nvSpPr>
          <p:cNvPr id="2164" name="Google Shape;2164;g2f2d7f05e18_0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5" name="Google Shape;2165;g2f2d7f05e18_0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9" name="Shape 2169"/>
        <p:cNvGrpSpPr/>
        <p:nvPr/>
      </p:nvGrpSpPr>
      <p:grpSpPr>
        <a:xfrm>
          <a:off x="0" y="0"/>
          <a:ext cx="0" cy="0"/>
          <a:chOff x="0" y="0"/>
          <a:chExt cx="0" cy="0"/>
        </a:xfrm>
      </p:grpSpPr>
      <p:sp>
        <p:nvSpPr>
          <p:cNvPr id="2170" name="Google Shape;2170;g2f2d7f05e18_0_38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71" name="Google Shape;2171;g2f2d7f05e18_0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6" name="Shape 2176"/>
        <p:cNvGrpSpPr/>
        <p:nvPr/>
      </p:nvGrpSpPr>
      <p:grpSpPr>
        <a:xfrm>
          <a:off x="0" y="0"/>
          <a:ext cx="0" cy="0"/>
          <a:chOff x="0" y="0"/>
          <a:chExt cx="0" cy="0"/>
        </a:xfrm>
      </p:grpSpPr>
      <p:sp>
        <p:nvSpPr>
          <p:cNvPr id="2177" name="Google Shape;2177;g2f2d7f05e18_0_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8" name="Google Shape;2178;g2f2d7f05e18_0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you go to Brazil have to use Vivo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Hopefully they have an agreement with Sprint, Verizon, AT&amp;T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Two managers must coordinate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9" name="Shape 2269"/>
        <p:cNvGrpSpPr/>
        <p:nvPr/>
      </p:nvGrpSpPr>
      <p:grpSpPr>
        <a:xfrm>
          <a:off x="0" y="0"/>
          <a:ext cx="0" cy="0"/>
          <a:chOff x="0" y="0"/>
          <a:chExt cx="0" cy="0"/>
        </a:xfrm>
      </p:grpSpPr>
      <p:sp>
        <p:nvSpPr>
          <p:cNvPr id="2270" name="Google Shape;2270;g2f2d7f05e18_0_6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1" name="Google Shape;2271;g2f2d7f05e18_0_6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3" name="Shape 2363"/>
        <p:cNvGrpSpPr/>
        <p:nvPr/>
      </p:nvGrpSpPr>
      <p:grpSpPr>
        <a:xfrm>
          <a:off x="0" y="0"/>
          <a:ext cx="0" cy="0"/>
          <a:chOff x="0" y="0"/>
          <a:chExt cx="0" cy="0"/>
        </a:xfrm>
      </p:grpSpPr>
      <p:sp>
        <p:nvSpPr>
          <p:cNvPr id="2364" name="Google Shape;2364;g2f2d7f05e18_0_7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5" name="Google Shape;2365;g2f2d7f05e18_0_7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7" name="Shape 2457"/>
        <p:cNvGrpSpPr/>
        <p:nvPr/>
      </p:nvGrpSpPr>
      <p:grpSpPr>
        <a:xfrm>
          <a:off x="0" y="0"/>
          <a:ext cx="0" cy="0"/>
          <a:chOff x="0" y="0"/>
          <a:chExt cx="0" cy="0"/>
        </a:xfrm>
      </p:grpSpPr>
      <p:sp>
        <p:nvSpPr>
          <p:cNvPr id="2458" name="Google Shape;2458;g2f2d7f05e18_0_8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9" name="Google Shape;2459;g2f2d7f05e18_0_8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Cellular networks have to comply with law enforcement in the standard.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3" name="Shape 2463"/>
        <p:cNvGrpSpPr/>
        <p:nvPr/>
      </p:nvGrpSpPr>
      <p:grpSpPr>
        <a:xfrm>
          <a:off x="0" y="0"/>
          <a:ext cx="0" cy="0"/>
          <a:chOff x="0" y="0"/>
          <a:chExt cx="0" cy="0"/>
        </a:xfrm>
      </p:grpSpPr>
      <p:sp>
        <p:nvSpPr>
          <p:cNvPr id="2464" name="Google Shape;2464;g2f2d7f05e18_0_8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5" name="Google Shape;2465;g2f2d7f05e18_0_8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Constantly changing IP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3" name="Shape 2473"/>
        <p:cNvGrpSpPr/>
        <p:nvPr/>
      </p:nvGrpSpPr>
      <p:grpSpPr>
        <a:xfrm>
          <a:off x="0" y="0"/>
          <a:ext cx="0" cy="0"/>
          <a:chOff x="0" y="0"/>
          <a:chExt cx="0" cy="0"/>
        </a:xfrm>
      </p:grpSpPr>
      <p:sp>
        <p:nvSpPr>
          <p:cNvPr id="2474" name="Google Shape;2474;g2f2d7f05e18_0_8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5" name="Google Shape;2475;g2f2d7f05e18_0_8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 all for a great summer semester. I really appreciate all the great questions and having you all in class. Hopefully this is just the beginning of your computer networking journey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SzPts val="4400"/>
              <a:buNone/>
              <a:defRPr sz="4400"/>
            </a:lvl1pPr>
            <a:lvl2pPr lvl="1" rtl="0">
              <a:spcBef>
                <a:spcPts val="0"/>
              </a:spcBef>
              <a:spcAft>
                <a:spcPts val="0"/>
              </a:spcAft>
              <a:buSzPts val="4400"/>
              <a:buNone/>
              <a:defRPr sz="4400"/>
            </a:lvl2pPr>
            <a:lvl3pPr lvl="2" rtl="0">
              <a:spcBef>
                <a:spcPts val="0"/>
              </a:spcBef>
              <a:spcAft>
                <a:spcPts val="0"/>
              </a:spcAft>
              <a:buSzPts val="4400"/>
              <a:buNone/>
              <a:defRPr sz="4400"/>
            </a:lvl3pPr>
            <a:lvl4pPr lvl="3" rtl="0">
              <a:spcBef>
                <a:spcPts val="0"/>
              </a:spcBef>
              <a:spcAft>
                <a:spcPts val="0"/>
              </a:spcAft>
              <a:buSzPts val="4400"/>
              <a:buNone/>
              <a:defRPr sz="4400"/>
            </a:lvl4pPr>
            <a:lvl5pPr lvl="4" rtl="0">
              <a:spcBef>
                <a:spcPts val="0"/>
              </a:spcBef>
              <a:spcAft>
                <a:spcPts val="0"/>
              </a:spcAft>
              <a:buSzPts val="4400"/>
              <a:buNone/>
              <a:defRPr sz="4400"/>
            </a:lvl5pPr>
            <a:lvl6pPr lvl="5" rtl="0">
              <a:spcBef>
                <a:spcPts val="0"/>
              </a:spcBef>
              <a:spcAft>
                <a:spcPts val="0"/>
              </a:spcAft>
              <a:buSzPts val="4400"/>
              <a:buNone/>
              <a:defRPr sz="4400"/>
            </a:lvl6pPr>
            <a:lvl7pPr lvl="6" rtl="0">
              <a:spcBef>
                <a:spcPts val="0"/>
              </a:spcBef>
              <a:spcAft>
                <a:spcPts val="0"/>
              </a:spcAft>
              <a:buSzPts val="4400"/>
              <a:buNone/>
              <a:defRPr sz="4400"/>
            </a:lvl7pPr>
            <a:lvl8pPr lvl="7" rtl="0">
              <a:spcBef>
                <a:spcPts val="0"/>
              </a:spcBef>
              <a:spcAft>
                <a:spcPts val="0"/>
              </a:spcAft>
              <a:buSzPts val="4400"/>
              <a:buNone/>
              <a:defRPr sz="4400"/>
            </a:lvl8pPr>
            <a:lvl9pPr lvl="8" rtl="0">
              <a:spcBef>
                <a:spcPts val="0"/>
              </a:spcBef>
              <a:spcAft>
                <a:spcPts val="0"/>
              </a:spcAft>
              <a:buSzPts val="4400"/>
              <a:buNone/>
              <a:defRPr sz="4400"/>
            </a:lvl9pPr>
          </a:lstStyle>
          <a:p/>
        </p:txBody>
      </p:sp>
      <p:sp>
        <p:nvSpPr>
          <p:cNvPr id="11" name="Google Shape;11;p2"/>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6" name="Google Shape;16;p3"/>
          <p:cNvSpPr txBox="1"/>
          <p:nvPr>
            <p:ph idx="1" type="subTitle"/>
          </p:nvPr>
        </p:nvSpPr>
        <p:spPr>
          <a:xfrm>
            <a:off x="311700" y="2834125"/>
            <a:ext cx="8520600" cy="15363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1pPr>
            <a:lvl2pPr lvl="1"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2pPr>
            <a:lvl3pPr lvl="2"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3pPr>
            <a:lvl4pPr lvl="3"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4pPr>
            <a:lvl5pPr lvl="4"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5pPr>
            <a:lvl6pPr lvl="5"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6pPr>
            <a:lvl7pPr lvl="6"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7pPr>
            <a:lvl8pPr lvl="7"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8pPr>
            <a:lvl9pPr lvl="8" rtl="0" algn="ctr">
              <a:lnSpc>
                <a:spcPct val="100000"/>
              </a:lnSpc>
              <a:spcBef>
                <a:spcPts val="600"/>
              </a:spcBef>
              <a:spcAft>
                <a:spcPts val="0"/>
              </a:spcAft>
              <a:buSzPts val="2400"/>
              <a:buFont typeface="Roboto Light"/>
              <a:buNone/>
              <a:defRPr sz="2400">
                <a:latin typeface="Roboto Light"/>
                <a:ea typeface="Roboto Light"/>
                <a:cs typeface="Roboto Light"/>
                <a:sym typeface="Roboto Ligh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b="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 name="Google Shape;19;p4"/>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21" name="Google Shape;21;p4"/>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SECTION_TITLE_AND_DESCRIPTION_1">
    <p:spTree>
      <p:nvGrpSpPr>
        <p:cNvPr id="22" name="Shape 22"/>
        <p:cNvGrpSpPr/>
        <p:nvPr/>
      </p:nvGrpSpPr>
      <p:grpSpPr>
        <a:xfrm>
          <a:off x="0" y="0"/>
          <a:ext cx="0" cy="0"/>
          <a:chOff x="0" y="0"/>
          <a:chExt cx="0" cy="0"/>
        </a:xfrm>
      </p:grpSpPr>
      <p:sp>
        <p:nvSpPr>
          <p:cNvPr id="23" name="Google Shape;23;p5"/>
          <p:cNvSpPr/>
          <p:nvPr/>
        </p:nvSpPr>
        <p:spPr>
          <a:xfrm>
            <a:off x="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5" name="Google Shape;25;p5"/>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1pPr>
            <a:lvl2pPr indent="-342900" lvl="1" marL="9144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2pPr>
            <a:lvl3pPr indent="-342900" lvl="2" marL="13716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3pPr>
            <a:lvl4pPr indent="-342900" lvl="3" marL="18288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4pPr>
            <a:lvl5pPr indent="-342900" lvl="4" marL="22860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5pPr>
            <a:lvl6pPr indent="-342900" lvl="5" marL="27432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6pPr>
            <a:lvl7pPr indent="-342900" lvl="6" marL="32004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7pPr>
            <a:lvl8pPr indent="-342900" lvl="7" marL="36576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8pPr>
            <a:lvl9pPr indent="-342900" lvl="8" marL="4114800" rtl="0">
              <a:spcBef>
                <a:spcPts val="600"/>
              </a:spcBef>
              <a:spcAft>
                <a:spcPts val="0"/>
              </a:spcAft>
              <a:buClr>
                <a:srgbClr val="CCCCCC"/>
              </a:buClr>
              <a:buSzPts val="1800"/>
              <a:buFont typeface="Roboto Light"/>
              <a:buChar char="•"/>
              <a:defRPr>
                <a:solidFill>
                  <a:srgbClr val="CCCCCC"/>
                </a:solidFill>
                <a:latin typeface="Roboto Light"/>
                <a:ea typeface="Roboto Light"/>
                <a:cs typeface="Roboto Light"/>
                <a:sym typeface="Roboto Light"/>
              </a:defRPr>
            </a:lvl9pPr>
          </a:lstStyle>
          <a:p/>
        </p:txBody>
      </p:sp>
      <p:sp>
        <p:nvSpPr>
          <p:cNvPr id="26" name="Google Shape;26;p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cxnSp>
        <p:nvCxnSpPr>
          <p:cNvPr id="27" name="Google Shape;27;p5"/>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28" name="Google Shape;28;p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SzPts val="1800"/>
              <a:buNone/>
              <a:defRPr/>
            </a:lvl1pPr>
            <a:lvl2pPr lvl="1" rtl="0">
              <a:lnSpc>
                <a:spcPct val="100000"/>
              </a:lnSpc>
              <a:spcBef>
                <a:spcPts val="600"/>
              </a:spcBef>
              <a:spcAft>
                <a:spcPts val="0"/>
              </a:spcAft>
              <a:buSzPts val="2100"/>
              <a:buNone/>
              <a:defRPr sz="2100"/>
            </a:lvl2pPr>
            <a:lvl3pPr lvl="2" rtl="0">
              <a:lnSpc>
                <a:spcPct val="100000"/>
              </a:lnSpc>
              <a:spcBef>
                <a:spcPts val="600"/>
              </a:spcBef>
              <a:spcAft>
                <a:spcPts val="0"/>
              </a:spcAft>
              <a:buSzPts val="2100"/>
              <a:buNone/>
              <a:defRPr sz="2100"/>
            </a:lvl3pPr>
            <a:lvl4pPr lvl="3" rtl="0">
              <a:lnSpc>
                <a:spcPct val="100000"/>
              </a:lnSpc>
              <a:spcBef>
                <a:spcPts val="600"/>
              </a:spcBef>
              <a:spcAft>
                <a:spcPts val="0"/>
              </a:spcAft>
              <a:buSzPts val="2100"/>
              <a:buNone/>
              <a:defRPr sz="2100"/>
            </a:lvl4pPr>
            <a:lvl5pPr lvl="4" rtl="0">
              <a:lnSpc>
                <a:spcPct val="100000"/>
              </a:lnSpc>
              <a:spcBef>
                <a:spcPts val="600"/>
              </a:spcBef>
              <a:spcAft>
                <a:spcPts val="0"/>
              </a:spcAft>
              <a:buSzPts val="2100"/>
              <a:buNone/>
              <a:defRPr sz="2100"/>
            </a:lvl5pPr>
            <a:lvl6pPr lvl="5" rtl="0">
              <a:lnSpc>
                <a:spcPct val="100000"/>
              </a:lnSpc>
              <a:spcBef>
                <a:spcPts val="600"/>
              </a:spcBef>
              <a:spcAft>
                <a:spcPts val="0"/>
              </a:spcAft>
              <a:buSzPts val="2100"/>
              <a:buNone/>
              <a:defRPr sz="2100"/>
            </a:lvl6pPr>
            <a:lvl7pPr lvl="6" rtl="0">
              <a:lnSpc>
                <a:spcPct val="100000"/>
              </a:lnSpc>
              <a:spcBef>
                <a:spcPts val="600"/>
              </a:spcBef>
              <a:spcAft>
                <a:spcPts val="0"/>
              </a:spcAft>
              <a:buSzPts val="2100"/>
              <a:buNone/>
              <a:defRPr sz="2100"/>
            </a:lvl7pPr>
            <a:lvl8pPr lvl="7" rtl="0">
              <a:lnSpc>
                <a:spcPct val="100000"/>
              </a:lnSpc>
              <a:spcBef>
                <a:spcPts val="600"/>
              </a:spcBef>
              <a:spcAft>
                <a:spcPts val="0"/>
              </a:spcAft>
              <a:buSzPts val="2100"/>
              <a:buNone/>
              <a:defRPr sz="2100"/>
            </a:lvl8pPr>
            <a:lvl9pPr lvl="8" rtl="0">
              <a:lnSpc>
                <a:spcPct val="100000"/>
              </a:lnSpc>
              <a:spcBef>
                <a:spcPts val="600"/>
              </a:spcBef>
              <a:spcAft>
                <a:spcPts val="0"/>
              </a:spcAft>
              <a:buSzPts val="2100"/>
              <a:buNone/>
              <a:defRPr sz="21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right">
  <p:cSld name="SECTION_TITLE_AND_DESCRIPTION_2">
    <p:spTree>
      <p:nvGrpSpPr>
        <p:cNvPr id="29" name="Shape 29"/>
        <p:cNvGrpSpPr/>
        <p:nvPr/>
      </p:nvGrpSpPr>
      <p:grpSpPr>
        <a:xfrm>
          <a:off x="0" y="0"/>
          <a:ext cx="0" cy="0"/>
          <a:chOff x="0" y="0"/>
          <a:chExt cx="0" cy="0"/>
        </a:xfrm>
      </p:grpSpPr>
      <p:sp>
        <p:nvSpPr>
          <p:cNvPr id="30" name="Google Shape;30;p6"/>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6"/>
          <p:cNvSpPr txBox="1"/>
          <p:nvPr>
            <p:ph idx="1" type="subTitle"/>
          </p:nvPr>
        </p:nvSpPr>
        <p:spPr>
          <a:xfrm>
            <a:off x="4835400" y="4198275"/>
            <a:ext cx="4045200" cy="465000"/>
          </a:xfrm>
          <a:prstGeom prst="rect">
            <a:avLst/>
          </a:prstGeom>
        </p:spPr>
        <p:txBody>
          <a:bodyPr anchorCtr="0" anchor="t" bIns="91425" lIns="91425" spcFirstLastPara="1" rIns="91425" wrap="square" tIns="91425">
            <a:noAutofit/>
          </a:bodyPr>
          <a:lstStyle>
            <a:lvl1pPr lvl="0" rtl="0" algn="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3" name="Google Shape;33;p6"/>
          <p:cNvSpPr txBox="1"/>
          <p:nvPr/>
        </p:nvSpPr>
        <p:spPr>
          <a:xfrm>
            <a:off x="6365900" y="3724875"/>
            <a:ext cx="2591100" cy="5694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34" name="Google Shape;34;p6"/>
          <p:cNvSpPr txBox="1"/>
          <p:nvPr>
            <p:ph idx="2" type="body"/>
          </p:nvPr>
        </p:nvSpPr>
        <p:spPr>
          <a:xfrm>
            <a:off x="95425" y="402200"/>
            <a:ext cx="43023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35" name="Google Shape;35;p6"/>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36" name="Google Shape;36;p6"/>
          <p:cNvCxnSpPr/>
          <p:nvPr/>
        </p:nvCxnSpPr>
        <p:spPr>
          <a:xfrm>
            <a:off x="95431" y="402210"/>
            <a:ext cx="43521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mo slide left">
  <p:cSld name="SECTION_TITLE_AND_DESCRIPTION_2_1">
    <p:spTree>
      <p:nvGrpSpPr>
        <p:cNvPr id="37" name="Shape 37"/>
        <p:cNvGrpSpPr/>
        <p:nvPr/>
      </p:nvGrpSpPr>
      <p:grpSpPr>
        <a:xfrm>
          <a:off x="0" y="0"/>
          <a:ext cx="0" cy="0"/>
          <a:chOff x="0" y="0"/>
          <a:chExt cx="0" cy="0"/>
        </a:xfrm>
      </p:grpSpPr>
      <p:sp>
        <p:nvSpPr>
          <p:cNvPr id="38" name="Google Shape;38;p7"/>
          <p:cNvSpPr/>
          <p:nvPr/>
        </p:nvSpPr>
        <p:spPr>
          <a:xfrm>
            <a:off x="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idx="1"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40" name="Google Shape;40;p7"/>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 Slides</a:t>
            </a:r>
            <a:endParaRPr b="1" sz="2500">
              <a:solidFill>
                <a:schemeClr val="accent3"/>
              </a:solidFill>
              <a:latin typeface="Roboto"/>
              <a:ea typeface="Roboto"/>
              <a:cs typeface="Roboto"/>
              <a:sym typeface="Roboto"/>
            </a:endParaRPr>
          </a:p>
        </p:txBody>
      </p:sp>
      <p:sp>
        <p:nvSpPr>
          <p:cNvPr id="41" name="Google Shape;41;p7"/>
          <p:cNvSpPr txBox="1"/>
          <p:nvPr>
            <p:ph idx="2" type="body"/>
          </p:nvPr>
        </p:nvSpPr>
        <p:spPr>
          <a:xfrm>
            <a:off x="4667425" y="402200"/>
            <a:ext cx="43023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42" name="Google Shape;42;p7"/>
          <p:cNvSpPr txBox="1"/>
          <p:nvPr>
            <p:ph type="title"/>
          </p:nvPr>
        </p:nvSpPr>
        <p:spPr>
          <a:xfrm>
            <a:off x="4572000" y="0"/>
            <a:ext cx="45720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43" name="Google Shape;43;p7"/>
          <p:cNvCxnSpPr/>
          <p:nvPr/>
        </p:nvCxnSpPr>
        <p:spPr>
          <a:xfrm>
            <a:off x="4667431" y="402210"/>
            <a:ext cx="4352100" cy="0"/>
          </a:xfrm>
          <a:prstGeom prst="straightConnector1">
            <a:avLst/>
          </a:prstGeom>
          <a:noFill/>
          <a:ln cap="flat" cmpd="sng" w="19050">
            <a:solidFill>
              <a:srgbClr val="BF9000"/>
            </a:solidFill>
            <a:prstDash val="solid"/>
            <a:round/>
            <a:headEnd len="med" w="med" type="none"/>
            <a:tailEnd len="med" w="med" type="none"/>
          </a:ln>
        </p:spPr>
      </p:cxnSp>
      <p:pic>
        <p:nvPicPr>
          <p:cNvPr id="44" name="Google Shape;44;p7"/>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45" name="Google Shape;45;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p:cSld name="SECTION_TITLE_AND_DESCRIPTION_2_1_1">
    <p:spTree>
      <p:nvGrpSpPr>
        <p:cNvPr id="46" name="Shape 46"/>
        <p:cNvGrpSpPr/>
        <p:nvPr/>
      </p:nvGrpSpPr>
      <p:grpSpPr>
        <a:xfrm>
          <a:off x="0" y="0"/>
          <a:ext cx="0" cy="0"/>
          <a:chOff x="0" y="0"/>
          <a:chExt cx="0" cy="0"/>
        </a:xfrm>
      </p:grpSpPr>
      <p:sp>
        <p:nvSpPr>
          <p:cNvPr id="47" name="Google Shape;47;p8"/>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8"/>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49" name="Google Shape;49;p8"/>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50" name="Google Shape;50;p8"/>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51" name="Google Shape;51;p8"/>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52" name="Google Shape;52;p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53" name="Google Shape;53;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8"/>
          <p:cNvSpPr txBox="1"/>
          <p:nvPr/>
        </p:nvSpPr>
        <p:spPr>
          <a:xfrm>
            <a:off x="208440" y="3420075"/>
            <a:ext cx="41217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Demo</a:t>
            </a:r>
            <a:endParaRPr b="1" sz="2500">
              <a:solidFill>
                <a:schemeClr val="accent3"/>
              </a:solidFill>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1">
  <p:cSld name="SECTION_TITLE_AND_DESCRIPTION_2_1_1_2">
    <p:spTree>
      <p:nvGrpSpPr>
        <p:cNvPr id="55" name="Shape 55"/>
        <p:cNvGrpSpPr/>
        <p:nvPr/>
      </p:nvGrpSpPr>
      <p:grpSpPr>
        <a:xfrm>
          <a:off x="0" y="0"/>
          <a:ext cx="0" cy="0"/>
          <a:chOff x="0" y="0"/>
          <a:chExt cx="0" cy="0"/>
        </a:xfrm>
      </p:grpSpPr>
      <p:sp>
        <p:nvSpPr>
          <p:cNvPr id="56" name="Google Shape;56;p9"/>
          <p:cNvSpPr/>
          <p:nvPr/>
        </p:nvSpPr>
        <p:spPr>
          <a:xfrm>
            <a:off x="0" y="-125"/>
            <a:ext cx="27765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9"/>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58" name="Google Shape;58;p9"/>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Compare</a:t>
            </a:r>
            <a:endParaRPr b="1" sz="2500">
              <a:solidFill>
                <a:schemeClr val="accent3"/>
              </a:solidFill>
              <a:latin typeface="Roboto"/>
              <a:ea typeface="Roboto"/>
              <a:cs typeface="Roboto"/>
              <a:sym typeface="Roboto"/>
            </a:endParaRPr>
          </a:p>
        </p:txBody>
      </p:sp>
      <p:sp>
        <p:nvSpPr>
          <p:cNvPr id="59" name="Google Shape;59;p9"/>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60" name="Google Shape;60;p9"/>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61" name="Google Shape;61;p9"/>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62" name="Google Shape;62;p9"/>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63" name="Google Shape;63;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ide Puzzle Solution">
  <p:cSld name="SECTION_TITLE_AND_DESCRIPTION_2_1_1_1">
    <p:spTree>
      <p:nvGrpSpPr>
        <p:cNvPr id="64" name="Shape 64"/>
        <p:cNvGrpSpPr/>
        <p:nvPr/>
      </p:nvGrpSpPr>
      <p:grpSpPr>
        <a:xfrm>
          <a:off x="0" y="0"/>
          <a:ext cx="0" cy="0"/>
          <a:chOff x="0" y="0"/>
          <a:chExt cx="0" cy="0"/>
        </a:xfrm>
      </p:grpSpPr>
      <p:sp>
        <p:nvSpPr>
          <p:cNvPr id="65" name="Google Shape;65;p10"/>
          <p:cNvSpPr/>
          <p:nvPr/>
        </p:nvSpPr>
        <p:spPr>
          <a:xfrm>
            <a:off x="0" y="-125"/>
            <a:ext cx="2776500" cy="51435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0"/>
          <p:cNvSpPr txBox="1"/>
          <p:nvPr>
            <p:ph idx="1" type="subTitle"/>
          </p:nvPr>
        </p:nvSpPr>
        <p:spPr>
          <a:xfrm>
            <a:off x="225450" y="3943400"/>
            <a:ext cx="2450400" cy="7197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67" name="Google Shape;67;p10"/>
          <p:cNvSpPr txBox="1"/>
          <p:nvPr/>
        </p:nvSpPr>
        <p:spPr>
          <a:xfrm>
            <a:off x="208445" y="3420075"/>
            <a:ext cx="18738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500">
                <a:solidFill>
                  <a:schemeClr val="accent3"/>
                </a:solidFill>
                <a:latin typeface="Roboto"/>
                <a:ea typeface="Roboto"/>
                <a:cs typeface="Roboto"/>
                <a:sym typeface="Roboto"/>
              </a:rPr>
              <a:t>Solution</a:t>
            </a:r>
            <a:endParaRPr b="1" sz="2500">
              <a:solidFill>
                <a:schemeClr val="accent3"/>
              </a:solidFill>
              <a:latin typeface="Roboto"/>
              <a:ea typeface="Roboto"/>
              <a:cs typeface="Roboto"/>
              <a:sym typeface="Roboto"/>
            </a:endParaRPr>
          </a:p>
        </p:txBody>
      </p:sp>
      <p:sp>
        <p:nvSpPr>
          <p:cNvPr id="68" name="Google Shape;68;p10"/>
          <p:cNvSpPr txBox="1"/>
          <p:nvPr>
            <p:ph idx="2" type="body"/>
          </p:nvPr>
        </p:nvSpPr>
        <p:spPr>
          <a:xfrm>
            <a:off x="2937350" y="402200"/>
            <a:ext cx="6032400" cy="42612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69" name="Google Shape;69;p10"/>
          <p:cNvSpPr txBox="1"/>
          <p:nvPr>
            <p:ph type="title"/>
          </p:nvPr>
        </p:nvSpPr>
        <p:spPr>
          <a:xfrm>
            <a:off x="2776500" y="0"/>
            <a:ext cx="63675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cxnSp>
        <p:nvCxnSpPr>
          <p:cNvPr id="70" name="Google Shape;70;p10"/>
          <p:cNvCxnSpPr/>
          <p:nvPr/>
        </p:nvCxnSpPr>
        <p:spPr>
          <a:xfrm>
            <a:off x="2937350" y="402200"/>
            <a:ext cx="6082200" cy="0"/>
          </a:xfrm>
          <a:prstGeom prst="straightConnector1">
            <a:avLst/>
          </a:prstGeom>
          <a:noFill/>
          <a:ln cap="flat" cmpd="sng" w="19050">
            <a:solidFill>
              <a:srgbClr val="BF9000"/>
            </a:solidFill>
            <a:prstDash val="solid"/>
            <a:round/>
            <a:headEnd len="med" w="med" type="none"/>
            <a:tailEnd len="med" w="med" type="none"/>
          </a:ln>
        </p:spPr>
      </p:cxnSp>
      <p:pic>
        <p:nvPicPr>
          <p:cNvPr id="71" name="Google Shape;71;p10"/>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72" name="Google Shape;72;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3" name="Shape 73"/>
        <p:cNvGrpSpPr/>
        <p:nvPr/>
      </p:nvGrpSpPr>
      <p:grpSpPr>
        <a:xfrm>
          <a:off x="0" y="0"/>
          <a:ext cx="0" cy="0"/>
          <a:chOff x="0" y="0"/>
          <a:chExt cx="0" cy="0"/>
        </a:xfrm>
      </p:grpSpPr>
      <p:sp>
        <p:nvSpPr>
          <p:cNvPr id="74" name="Google Shape;74;p11"/>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5" name="Google Shape;75;p11"/>
          <p:cNvSpPr txBox="1"/>
          <p:nvPr>
            <p:ph idx="1"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
        <p:nvSpPr>
          <p:cNvPr id="76" name="Google Shape;76;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77" name="Google Shape;77;p11"/>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
        <p:nvSpPr>
          <p:cNvPr id="78" name="Google Shape;78;p11"/>
          <p:cNvSpPr txBox="1"/>
          <p:nvPr>
            <p:ph idx="2" type="body"/>
          </p:nvPr>
        </p:nvSpPr>
        <p:spPr>
          <a:xfrm>
            <a:off x="9543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9" name="Shape 79"/>
        <p:cNvGrpSpPr/>
        <p:nvPr/>
      </p:nvGrpSpPr>
      <p:grpSpPr>
        <a:xfrm>
          <a:off x="0" y="0"/>
          <a:ext cx="0" cy="0"/>
          <a:chOff x="0" y="0"/>
          <a:chExt cx="0" cy="0"/>
        </a:xfrm>
      </p:grpSpPr>
      <p:sp>
        <p:nvSpPr>
          <p:cNvPr id="80" name="Google Shape;80;p12"/>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1" name="Google Shape;81;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2" name="Google Shape;82;p12"/>
          <p:cNvCxnSpPr/>
          <p:nvPr/>
        </p:nvCxnSpPr>
        <p:spPr>
          <a:xfrm>
            <a:off x="95431" y="402210"/>
            <a:ext cx="89097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3" name="Shape 83"/>
        <p:cNvGrpSpPr/>
        <p:nvPr/>
      </p:nvGrpSpPr>
      <p:grpSpPr>
        <a:xfrm>
          <a:off x="0" y="0"/>
          <a:ext cx="0" cy="0"/>
          <a:chOff x="0" y="0"/>
          <a:chExt cx="0" cy="0"/>
        </a:xfrm>
      </p:grpSpPr>
      <p:sp>
        <p:nvSpPr>
          <p:cNvPr id="84" name="Google Shape;84;p13"/>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5" name="Google Shape;85;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_3">
  <p:cSld name="SECTION_TITLE_AND_DESCRIPTION_3">
    <p:spTree>
      <p:nvGrpSpPr>
        <p:cNvPr id="86" name="Shape 86"/>
        <p:cNvGrpSpPr/>
        <p:nvPr/>
      </p:nvGrpSpPr>
      <p:grpSpPr>
        <a:xfrm>
          <a:off x="0" y="0"/>
          <a:ext cx="0" cy="0"/>
          <a:chOff x="0" y="0"/>
          <a:chExt cx="0" cy="0"/>
        </a:xfrm>
      </p:grpSpPr>
      <p:sp>
        <p:nvSpPr>
          <p:cNvPr id="87" name="Google Shape;87;p14"/>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4"/>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89" name="Google Shape;89;p14"/>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90" name="Google Shape;90;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1" name="Google Shape;91;p14"/>
          <p:cNvSpPr txBox="1"/>
          <p:nvPr>
            <p:ph idx="2" type="body"/>
          </p:nvPr>
        </p:nvSpPr>
        <p:spPr>
          <a:xfrm>
            <a:off x="4812381" y="402206"/>
            <a:ext cx="3999900" cy="34164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2" name="Shape 92"/>
        <p:cNvGrpSpPr/>
        <p:nvPr/>
      </p:nvGrpSpPr>
      <p:grpSpPr>
        <a:xfrm>
          <a:off x="0" y="0"/>
          <a:ext cx="0" cy="0"/>
          <a:chOff x="0" y="0"/>
          <a:chExt cx="0" cy="0"/>
        </a:xfrm>
      </p:grpSpPr>
      <p:sp>
        <p:nvSpPr>
          <p:cNvPr id="93" name="Google Shape;93;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94" name="Google Shape;94;p15"/>
          <p:cNvSpPr txBox="1"/>
          <p:nvPr>
            <p:ph type="title"/>
          </p:nvPr>
        </p:nvSpPr>
        <p:spPr>
          <a:xfrm>
            <a:off x="95425" y="4288400"/>
            <a:ext cx="8658900" cy="7683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dk1"/>
              </a:buClr>
              <a:buSzPts val="1800"/>
              <a:buFont typeface="Roboto"/>
              <a:buNone/>
              <a:defRPr sz="1800">
                <a:solidFill>
                  <a:schemeClr val="dk1"/>
                </a:solidFill>
                <a:latin typeface="Roboto"/>
                <a:ea typeface="Roboto"/>
                <a:cs typeface="Roboto"/>
                <a:sym typeface="Roboto"/>
              </a:defRPr>
            </a:lvl1pPr>
            <a:lvl2pPr lvl="1" rtl="0">
              <a:spcBef>
                <a:spcPts val="0"/>
              </a:spcBef>
              <a:spcAft>
                <a:spcPts val="0"/>
              </a:spcAft>
              <a:buSzPts val="2400"/>
              <a:buFont typeface="Roboto"/>
              <a:buNone/>
              <a:defRPr sz="2400">
                <a:latin typeface="Roboto"/>
                <a:ea typeface="Roboto"/>
                <a:cs typeface="Roboto"/>
                <a:sym typeface="Roboto"/>
              </a:defRPr>
            </a:lvl2pPr>
            <a:lvl3pPr lvl="2" rtl="0">
              <a:spcBef>
                <a:spcPts val="0"/>
              </a:spcBef>
              <a:spcAft>
                <a:spcPts val="0"/>
              </a:spcAft>
              <a:buSzPts val="2400"/>
              <a:buFont typeface="Roboto"/>
              <a:buNone/>
              <a:defRPr sz="2400">
                <a:latin typeface="Roboto"/>
                <a:ea typeface="Roboto"/>
                <a:cs typeface="Roboto"/>
                <a:sym typeface="Roboto"/>
              </a:defRPr>
            </a:lvl3pPr>
            <a:lvl4pPr lvl="3" rtl="0">
              <a:spcBef>
                <a:spcPts val="0"/>
              </a:spcBef>
              <a:spcAft>
                <a:spcPts val="0"/>
              </a:spcAft>
              <a:buSzPts val="2400"/>
              <a:buFont typeface="Roboto"/>
              <a:buNone/>
              <a:defRPr sz="2400">
                <a:latin typeface="Roboto"/>
                <a:ea typeface="Roboto"/>
                <a:cs typeface="Roboto"/>
                <a:sym typeface="Roboto"/>
              </a:defRPr>
            </a:lvl4pPr>
            <a:lvl5pPr lvl="4" rtl="0">
              <a:spcBef>
                <a:spcPts val="0"/>
              </a:spcBef>
              <a:spcAft>
                <a:spcPts val="0"/>
              </a:spcAft>
              <a:buSzPts val="2400"/>
              <a:buFont typeface="Roboto"/>
              <a:buNone/>
              <a:defRPr sz="2400">
                <a:latin typeface="Roboto"/>
                <a:ea typeface="Roboto"/>
                <a:cs typeface="Roboto"/>
                <a:sym typeface="Roboto"/>
              </a:defRPr>
            </a:lvl5pPr>
            <a:lvl6pPr lvl="5" rtl="0">
              <a:spcBef>
                <a:spcPts val="0"/>
              </a:spcBef>
              <a:spcAft>
                <a:spcPts val="0"/>
              </a:spcAft>
              <a:buSzPts val="2400"/>
              <a:buFont typeface="Roboto"/>
              <a:buNone/>
              <a:defRPr sz="2400">
                <a:latin typeface="Roboto"/>
                <a:ea typeface="Roboto"/>
                <a:cs typeface="Roboto"/>
                <a:sym typeface="Roboto"/>
              </a:defRPr>
            </a:lvl6pPr>
            <a:lvl7pPr lvl="6" rtl="0">
              <a:spcBef>
                <a:spcPts val="0"/>
              </a:spcBef>
              <a:spcAft>
                <a:spcPts val="0"/>
              </a:spcAft>
              <a:buSzPts val="2400"/>
              <a:buFont typeface="Roboto"/>
              <a:buNone/>
              <a:defRPr sz="2400">
                <a:latin typeface="Roboto"/>
                <a:ea typeface="Roboto"/>
                <a:cs typeface="Roboto"/>
                <a:sym typeface="Roboto"/>
              </a:defRPr>
            </a:lvl7pPr>
            <a:lvl8pPr lvl="7" rtl="0">
              <a:spcBef>
                <a:spcPts val="0"/>
              </a:spcBef>
              <a:spcAft>
                <a:spcPts val="0"/>
              </a:spcAft>
              <a:buSzPts val="2400"/>
              <a:buFont typeface="Roboto"/>
              <a:buNone/>
              <a:defRPr sz="2400">
                <a:latin typeface="Roboto"/>
                <a:ea typeface="Roboto"/>
                <a:cs typeface="Roboto"/>
                <a:sym typeface="Roboto"/>
              </a:defRPr>
            </a:lvl8pPr>
            <a:lvl9pPr lvl="8" rtl="0">
              <a:spcBef>
                <a:spcPts val="0"/>
              </a:spcBef>
              <a:spcAft>
                <a:spcPts val="0"/>
              </a:spcAft>
              <a:buSzPts val="2400"/>
              <a:buFont typeface="Roboto"/>
              <a:buNone/>
              <a:defRPr sz="2400">
                <a:latin typeface="Roboto"/>
                <a:ea typeface="Roboto"/>
                <a:cs typeface="Roboto"/>
                <a:sym typeface="Roboto"/>
              </a:defRPr>
            </a:lvl9pPr>
          </a:lstStyle>
          <a:p/>
        </p:txBody>
      </p:sp>
      <p:cxnSp>
        <p:nvCxnSpPr>
          <p:cNvPr id="95" name="Google Shape;95;p15"/>
          <p:cNvCxnSpPr/>
          <p:nvPr/>
        </p:nvCxnSpPr>
        <p:spPr>
          <a:xfrm>
            <a:off x="168250" y="4288400"/>
            <a:ext cx="8757000" cy="0"/>
          </a:xfrm>
          <a:prstGeom prst="straightConnector1">
            <a:avLst/>
          </a:prstGeom>
          <a:noFill/>
          <a:ln cap="flat" cmpd="sng" w="19050">
            <a:solidFill>
              <a:srgbClr val="BF9000"/>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dark">
  <p:cSld name="BLANK_1">
    <p:bg>
      <p:bgPr>
        <a:solidFill>
          <a:schemeClr val="dk1"/>
        </a:solidFill>
      </p:bgPr>
    </p:bg>
    <p:spTree>
      <p:nvGrpSpPr>
        <p:cNvPr id="98" name="Shape 98"/>
        <p:cNvGrpSpPr/>
        <p:nvPr/>
      </p:nvGrpSpPr>
      <p:grpSpPr>
        <a:xfrm>
          <a:off x="0" y="0"/>
          <a:ext cx="0" cy="0"/>
          <a:chOff x="0" y="0"/>
          <a:chExt cx="0" cy="0"/>
        </a:xfrm>
      </p:grpSpPr>
      <p:sp>
        <p:nvSpPr>
          <p:cNvPr id="99" name="Google Shape;99;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rlude">
  <p:cSld name="SECTION_TITLE_AND_DESCRIPTION_1_3">
    <p:spTree>
      <p:nvGrpSpPr>
        <p:cNvPr id="100" name="Shape 100"/>
        <p:cNvGrpSpPr/>
        <p:nvPr/>
      </p:nvGrpSpPr>
      <p:grpSpPr>
        <a:xfrm>
          <a:off x="0" y="0"/>
          <a:ext cx="0" cy="0"/>
          <a:chOff x="0" y="0"/>
          <a:chExt cx="0" cy="0"/>
        </a:xfrm>
      </p:grpSpPr>
      <p:sp>
        <p:nvSpPr>
          <p:cNvPr id="101" name="Google Shape;101;p18"/>
          <p:cNvSpPr/>
          <p:nvPr/>
        </p:nvSpPr>
        <p:spPr>
          <a:xfrm>
            <a:off x="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3" name="Google Shape;103;p18"/>
          <p:cNvSpPr txBox="1"/>
          <p:nvPr>
            <p:ph idx="1" type="body"/>
          </p:nvPr>
        </p:nvSpPr>
        <p:spPr>
          <a:xfrm>
            <a:off x="4812375" y="402198"/>
            <a:ext cx="3999900" cy="42609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SzPts val="1800"/>
              <a:buFont typeface="Roboto Light"/>
              <a:buChar char="•"/>
              <a:defRPr>
                <a:latin typeface="Roboto Light"/>
                <a:ea typeface="Roboto Light"/>
                <a:cs typeface="Roboto Light"/>
                <a:sym typeface="Roboto Light"/>
              </a:defRPr>
            </a:lvl1pPr>
            <a:lvl2pPr indent="-342900" lvl="1" marL="914400" rtl="0">
              <a:spcBef>
                <a:spcPts val="600"/>
              </a:spcBef>
              <a:spcAft>
                <a:spcPts val="0"/>
              </a:spcAft>
              <a:buSzPts val="1800"/>
              <a:buFont typeface="Roboto Light"/>
              <a:buChar char="•"/>
              <a:defRPr>
                <a:latin typeface="Roboto Light"/>
                <a:ea typeface="Roboto Light"/>
                <a:cs typeface="Roboto Light"/>
                <a:sym typeface="Roboto Light"/>
              </a:defRPr>
            </a:lvl2pPr>
            <a:lvl3pPr indent="-342900" lvl="2" marL="1371600" rtl="0">
              <a:spcBef>
                <a:spcPts val="600"/>
              </a:spcBef>
              <a:spcAft>
                <a:spcPts val="0"/>
              </a:spcAft>
              <a:buSzPts val="1800"/>
              <a:buFont typeface="Roboto Light"/>
              <a:buChar char="•"/>
              <a:defRPr>
                <a:latin typeface="Roboto Light"/>
                <a:ea typeface="Roboto Light"/>
                <a:cs typeface="Roboto Light"/>
                <a:sym typeface="Roboto Light"/>
              </a:defRPr>
            </a:lvl3pPr>
            <a:lvl4pPr indent="-342900" lvl="3" marL="1828800" rtl="0">
              <a:spcBef>
                <a:spcPts val="600"/>
              </a:spcBef>
              <a:spcAft>
                <a:spcPts val="0"/>
              </a:spcAft>
              <a:buSzPts val="1800"/>
              <a:buFont typeface="Roboto Light"/>
              <a:buChar char="•"/>
              <a:defRPr>
                <a:latin typeface="Roboto Light"/>
                <a:ea typeface="Roboto Light"/>
                <a:cs typeface="Roboto Light"/>
                <a:sym typeface="Roboto Light"/>
              </a:defRPr>
            </a:lvl4pPr>
            <a:lvl5pPr indent="-342900" lvl="4" marL="2286000" rtl="0">
              <a:spcBef>
                <a:spcPts val="600"/>
              </a:spcBef>
              <a:spcAft>
                <a:spcPts val="0"/>
              </a:spcAft>
              <a:buSzPts val="1800"/>
              <a:buFont typeface="Roboto Light"/>
              <a:buChar char="•"/>
              <a:defRPr>
                <a:latin typeface="Roboto Light"/>
                <a:ea typeface="Roboto Light"/>
                <a:cs typeface="Roboto Light"/>
                <a:sym typeface="Roboto Light"/>
              </a:defRPr>
            </a:lvl5pPr>
            <a:lvl6pPr indent="-342900" lvl="5" marL="2743200" rtl="0">
              <a:spcBef>
                <a:spcPts val="600"/>
              </a:spcBef>
              <a:spcAft>
                <a:spcPts val="0"/>
              </a:spcAft>
              <a:buSzPts val="1800"/>
              <a:buFont typeface="Roboto Light"/>
              <a:buChar char="•"/>
              <a:defRPr>
                <a:latin typeface="Roboto Light"/>
                <a:ea typeface="Roboto Light"/>
                <a:cs typeface="Roboto Light"/>
                <a:sym typeface="Roboto Light"/>
              </a:defRPr>
            </a:lvl6pPr>
            <a:lvl7pPr indent="-342900" lvl="6" marL="3200400" rtl="0">
              <a:spcBef>
                <a:spcPts val="600"/>
              </a:spcBef>
              <a:spcAft>
                <a:spcPts val="0"/>
              </a:spcAft>
              <a:buSzPts val="1800"/>
              <a:buFont typeface="Roboto Light"/>
              <a:buChar char="•"/>
              <a:defRPr>
                <a:latin typeface="Roboto Light"/>
                <a:ea typeface="Roboto Light"/>
                <a:cs typeface="Roboto Light"/>
                <a:sym typeface="Roboto Light"/>
              </a:defRPr>
            </a:lvl7pPr>
            <a:lvl8pPr indent="-342900" lvl="7" marL="3657600" rtl="0">
              <a:spcBef>
                <a:spcPts val="600"/>
              </a:spcBef>
              <a:spcAft>
                <a:spcPts val="0"/>
              </a:spcAft>
              <a:buSzPts val="1800"/>
              <a:buFont typeface="Roboto Light"/>
              <a:buChar char="•"/>
              <a:defRPr>
                <a:latin typeface="Roboto Light"/>
                <a:ea typeface="Roboto Light"/>
                <a:cs typeface="Roboto Light"/>
                <a:sym typeface="Roboto Light"/>
              </a:defRPr>
            </a:lvl8pPr>
            <a:lvl9pPr indent="-342900" lvl="8" marL="4114800" rtl="0">
              <a:spcBef>
                <a:spcPts val="600"/>
              </a:spcBef>
              <a:spcAft>
                <a:spcPts val="0"/>
              </a:spcAft>
              <a:buSzPts val="1800"/>
              <a:buFont typeface="Roboto Light"/>
              <a:buChar char="•"/>
              <a:defRPr>
                <a:latin typeface="Roboto Light"/>
                <a:ea typeface="Roboto Light"/>
                <a:cs typeface="Roboto Light"/>
                <a:sym typeface="Roboto Light"/>
              </a:defRPr>
            </a:lvl9pPr>
          </a:lstStyle>
          <a:p/>
        </p:txBody>
      </p:sp>
      <p:pic>
        <p:nvPicPr>
          <p:cNvPr id="104" name="Google Shape;104;p18"/>
          <p:cNvPicPr preferRelativeResize="0"/>
          <p:nvPr/>
        </p:nvPicPr>
        <p:blipFill>
          <a:blip r:embed="rId2">
            <a:alphaModFix/>
          </a:blip>
          <a:stretch>
            <a:fillRect/>
          </a:stretch>
        </p:blipFill>
        <p:spPr>
          <a:xfrm>
            <a:off x="0" y="4983478"/>
            <a:ext cx="457200" cy="160022"/>
          </a:xfrm>
          <a:prstGeom prst="rect">
            <a:avLst/>
          </a:prstGeom>
          <a:noFill/>
          <a:ln>
            <a:noFill/>
          </a:ln>
        </p:spPr>
      </p:pic>
      <p:sp>
        <p:nvSpPr>
          <p:cNvPr id="105" name="Google Shape;105;p18"/>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p:txBody>
      </p:sp>
      <p:cxnSp>
        <p:nvCxnSpPr>
          <p:cNvPr id="106" name="Google Shape;106;p18"/>
          <p:cNvCxnSpPr/>
          <p:nvPr/>
        </p:nvCxnSpPr>
        <p:spPr>
          <a:xfrm>
            <a:off x="266975" y="4049175"/>
            <a:ext cx="4038000" cy="0"/>
          </a:xfrm>
          <a:prstGeom prst="straightConnector1">
            <a:avLst/>
          </a:prstGeom>
          <a:noFill/>
          <a:ln cap="flat" cmpd="sng" w="19050">
            <a:solidFill>
              <a:srgbClr val="BF9000"/>
            </a:solidFill>
            <a:prstDash val="solid"/>
            <a:round/>
            <a:headEnd len="med" w="med" type="none"/>
            <a:tailEnd len="med" w="med" type="none"/>
          </a:ln>
        </p:spPr>
      </p:cxnSp>
      <p:sp>
        <p:nvSpPr>
          <p:cNvPr id="107" name="Google Shape;107;p18"/>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lvl1pPr lvl="0" rtl="0">
              <a:lnSpc>
                <a:spcPct val="100000"/>
              </a:lnSpc>
              <a:spcBef>
                <a:spcPts val="600"/>
              </a:spcBef>
              <a:spcAft>
                <a:spcPts val="0"/>
              </a:spcAft>
              <a:buClr>
                <a:schemeClr val="lt1"/>
              </a:buClr>
              <a:buSzPts val="1800"/>
              <a:buNone/>
              <a:defRPr>
                <a:solidFill>
                  <a:schemeClr val="lt1"/>
                </a:solidFill>
              </a:defRPr>
            </a:lvl1pPr>
            <a:lvl2pPr lvl="1" rtl="0">
              <a:lnSpc>
                <a:spcPct val="100000"/>
              </a:lnSpc>
              <a:spcBef>
                <a:spcPts val="600"/>
              </a:spcBef>
              <a:spcAft>
                <a:spcPts val="0"/>
              </a:spcAft>
              <a:buClr>
                <a:schemeClr val="lt1"/>
              </a:buClr>
              <a:buSzPts val="2100"/>
              <a:buNone/>
              <a:defRPr sz="2100">
                <a:solidFill>
                  <a:schemeClr val="lt1"/>
                </a:solidFill>
              </a:defRPr>
            </a:lvl2pPr>
            <a:lvl3pPr lvl="2" rtl="0">
              <a:lnSpc>
                <a:spcPct val="100000"/>
              </a:lnSpc>
              <a:spcBef>
                <a:spcPts val="600"/>
              </a:spcBef>
              <a:spcAft>
                <a:spcPts val="0"/>
              </a:spcAft>
              <a:buClr>
                <a:schemeClr val="lt1"/>
              </a:buClr>
              <a:buSzPts val="2100"/>
              <a:buNone/>
              <a:defRPr sz="2100">
                <a:solidFill>
                  <a:schemeClr val="lt1"/>
                </a:solidFill>
              </a:defRPr>
            </a:lvl3pPr>
            <a:lvl4pPr lvl="3" rtl="0">
              <a:lnSpc>
                <a:spcPct val="100000"/>
              </a:lnSpc>
              <a:spcBef>
                <a:spcPts val="600"/>
              </a:spcBef>
              <a:spcAft>
                <a:spcPts val="0"/>
              </a:spcAft>
              <a:buClr>
                <a:schemeClr val="lt1"/>
              </a:buClr>
              <a:buSzPts val="2100"/>
              <a:buNone/>
              <a:defRPr sz="2100">
                <a:solidFill>
                  <a:schemeClr val="lt1"/>
                </a:solidFill>
              </a:defRPr>
            </a:lvl4pPr>
            <a:lvl5pPr lvl="4" rtl="0">
              <a:lnSpc>
                <a:spcPct val="100000"/>
              </a:lnSpc>
              <a:spcBef>
                <a:spcPts val="600"/>
              </a:spcBef>
              <a:spcAft>
                <a:spcPts val="0"/>
              </a:spcAft>
              <a:buClr>
                <a:schemeClr val="lt1"/>
              </a:buClr>
              <a:buSzPts val="2100"/>
              <a:buNone/>
              <a:defRPr sz="2100">
                <a:solidFill>
                  <a:schemeClr val="lt1"/>
                </a:solidFill>
              </a:defRPr>
            </a:lvl5pPr>
            <a:lvl6pPr lvl="5" rtl="0">
              <a:lnSpc>
                <a:spcPct val="100000"/>
              </a:lnSpc>
              <a:spcBef>
                <a:spcPts val="600"/>
              </a:spcBef>
              <a:spcAft>
                <a:spcPts val="0"/>
              </a:spcAft>
              <a:buClr>
                <a:schemeClr val="lt1"/>
              </a:buClr>
              <a:buSzPts val="2100"/>
              <a:buNone/>
              <a:defRPr sz="2100">
                <a:solidFill>
                  <a:schemeClr val="lt1"/>
                </a:solidFill>
              </a:defRPr>
            </a:lvl6pPr>
            <a:lvl7pPr lvl="6" rtl="0">
              <a:lnSpc>
                <a:spcPct val="100000"/>
              </a:lnSpc>
              <a:spcBef>
                <a:spcPts val="600"/>
              </a:spcBef>
              <a:spcAft>
                <a:spcPts val="0"/>
              </a:spcAft>
              <a:buClr>
                <a:schemeClr val="lt1"/>
              </a:buClr>
              <a:buSzPts val="2100"/>
              <a:buNone/>
              <a:defRPr sz="2100">
                <a:solidFill>
                  <a:schemeClr val="lt1"/>
                </a:solidFill>
              </a:defRPr>
            </a:lvl7pPr>
            <a:lvl8pPr lvl="7" rtl="0">
              <a:lnSpc>
                <a:spcPct val="100000"/>
              </a:lnSpc>
              <a:spcBef>
                <a:spcPts val="600"/>
              </a:spcBef>
              <a:spcAft>
                <a:spcPts val="0"/>
              </a:spcAft>
              <a:buClr>
                <a:schemeClr val="lt1"/>
              </a:buClr>
              <a:buSzPts val="2100"/>
              <a:buNone/>
              <a:defRPr sz="2100">
                <a:solidFill>
                  <a:schemeClr val="lt1"/>
                </a:solidFill>
              </a:defRPr>
            </a:lvl8pPr>
            <a:lvl9pPr lvl="8" rtl="0">
              <a:lnSpc>
                <a:spcPct val="100000"/>
              </a:lnSpc>
              <a:spcBef>
                <a:spcPts val="600"/>
              </a:spcBef>
              <a:spcAft>
                <a:spcPts val="0"/>
              </a:spcAft>
              <a:buClr>
                <a:schemeClr val="lt1"/>
              </a:buClr>
              <a:buSzPts val="2100"/>
              <a:buNone/>
              <a:defRPr sz="2100">
                <a:solidFill>
                  <a:schemeClr val="lt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1">
  <p:cSld name="SECTION_TITLE_AND_DESCRIPTION_1_1">
    <p:spTree>
      <p:nvGrpSpPr>
        <p:cNvPr id="108" name="Shape 108"/>
        <p:cNvGrpSpPr/>
        <p:nvPr/>
      </p:nvGrpSpPr>
      <p:grpSpPr>
        <a:xfrm>
          <a:off x="0" y="0"/>
          <a:ext cx="0" cy="0"/>
          <a:chOff x="0" y="0"/>
          <a:chExt cx="0" cy="0"/>
        </a:xfrm>
      </p:grpSpPr>
      <p:sp>
        <p:nvSpPr>
          <p:cNvPr id="109" name="Google Shape;109;p19"/>
          <p:cNvSpPr/>
          <p:nvPr/>
        </p:nvSpPr>
        <p:spPr>
          <a:xfrm>
            <a:off x="4572000" y="-125"/>
            <a:ext cx="4572000" cy="5143500"/>
          </a:xfrm>
          <a:prstGeom prst="rect">
            <a:avLst/>
          </a:prstGeom>
          <a:solidFill>
            <a:srgbClr val="CFE2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11" name="Google Shape;111;p1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rtl="0" algn="ctr">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12" name="Google Shape;112;p1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13" name="Google Shape;11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left">
  <p:cSld name="SECTION_TITLE_AND_DESCRIPTION_1_1_1">
    <p:spTree>
      <p:nvGrpSpPr>
        <p:cNvPr id="114" name="Shape 114"/>
        <p:cNvGrpSpPr/>
        <p:nvPr/>
      </p:nvGrpSpPr>
      <p:grpSpPr>
        <a:xfrm>
          <a:off x="0" y="0"/>
          <a:ext cx="0" cy="0"/>
          <a:chOff x="0" y="0"/>
          <a:chExt cx="0" cy="0"/>
        </a:xfrm>
      </p:grpSpPr>
      <p:sp>
        <p:nvSpPr>
          <p:cNvPr id="115" name="Google Shape;115;p20"/>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7" name="Google Shape;117;p20"/>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18" name="Google Shape;118;p20"/>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19" name="Google Shape;119;p20"/>
          <p:cNvSpPr txBox="1"/>
          <p:nvPr>
            <p:ph type="title"/>
          </p:nvPr>
        </p:nvSpPr>
        <p:spPr>
          <a:xfrm>
            <a:off x="48829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0" name="Google Shape;120;p20"/>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left, Heading">
  <p:cSld name="SECTION_TITLE_AND_DESCRIPTION_1_1_1_1">
    <p:spTree>
      <p:nvGrpSpPr>
        <p:cNvPr id="121" name="Shape 121"/>
        <p:cNvGrpSpPr/>
        <p:nvPr/>
      </p:nvGrpSpPr>
      <p:grpSpPr>
        <a:xfrm>
          <a:off x="0" y="0"/>
          <a:ext cx="0" cy="0"/>
          <a:chOff x="0" y="0"/>
          <a:chExt cx="0" cy="0"/>
        </a:xfrm>
      </p:grpSpPr>
      <p:sp>
        <p:nvSpPr>
          <p:cNvPr id="122" name="Google Shape;122;p21"/>
          <p:cNvSpPr/>
          <p:nvPr/>
        </p:nvSpPr>
        <p:spPr>
          <a:xfrm>
            <a:off x="0" y="6"/>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24" name="Google Shape;124;p21"/>
          <p:cNvSpPr txBox="1"/>
          <p:nvPr>
            <p:ph idx="1" type="body"/>
          </p:nvPr>
        </p:nvSpPr>
        <p:spPr>
          <a:xfrm>
            <a:off x="48829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5" name="Google Shape;125;p21"/>
          <p:cNvSpPr txBox="1"/>
          <p:nvPr>
            <p:ph idx="2" type="body"/>
          </p:nvPr>
        </p:nvSpPr>
        <p:spPr>
          <a:xfrm>
            <a:off x="310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26" name="Google Shape;126;p21"/>
          <p:cNvSpPr txBox="1"/>
          <p:nvPr>
            <p:ph idx="3" type="subTitle"/>
          </p:nvPr>
        </p:nvSpPr>
        <p:spPr>
          <a:xfrm>
            <a:off x="225450" y="3943400"/>
            <a:ext cx="4045200" cy="465000"/>
          </a:xfrm>
          <a:prstGeom prst="rect">
            <a:avLst/>
          </a:prstGeom>
        </p:spPr>
        <p:txBody>
          <a:bodyPr anchorCtr="0" anchor="t" bIns="91425" lIns="91425" spcFirstLastPara="1" rIns="91425" wrap="square" tIns="91425">
            <a:noAutofit/>
          </a:bodyPr>
          <a:lstStyle>
            <a:lvl1pPr lvl="0" rtl="0">
              <a:lnSpc>
                <a:spcPct val="100000"/>
              </a:lnSpc>
              <a:spcBef>
                <a:spcPts val="600"/>
              </a:spcBef>
              <a:spcAft>
                <a:spcPts val="0"/>
              </a:spcAft>
              <a:buSzPts val="1800"/>
              <a:buNone/>
              <a:defRPr/>
            </a:lvl1pPr>
            <a:lvl2pPr lvl="1" rtl="0" algn="ctr">
              <a:lnSpc>
                <a:spcPct val="100000"/>
              </a:lnSpc>
              <a:spcBef>
                <a:spcPts val="600"/>
              </a:spcBef>
              <a:spcAft>
                <a:spcPts val="0"/>
              </a:spcAft>
              <a:buSzPts val="2100"/>
              <a:buNone/>
              <a:defRPr sz="2100"/>
            </a:lvl2pPr>
            <a:lvl3pPr lvl="2" rtl="0" algn="ctr">
              <a:lnSpc>
                <a:spcPct val="100000"/>
              </a:lnSpc>
              <a:spcBef>
                <a:spcPts val="600"/>
              </a:spcBef>
              <a:spcAft>
                <a:spcPts val="0"/>
              </a:spcAft>
              <a:buSzPts val="2100"/>
              <a:buNone/>
              <a:defRPr sz="2100"/>
            </a:lvl3pPr>
            <a:lvl4pPr lvl="3" rtl="0" algn="ctr">
              <a:lnSpc>
                <a:spcPct val="100000"/>
              </a:lnSpc>
              <a:spcBef>
                <a:spcPts val="600"/>
              </a:spcBef>
              <a:spcAft>
                <a:spcPts val="0"/>
              </a:spcAft>
              <a:buSzPts val="2100"/>
              <a:buNone/>
              <a:defRPr sz="2100"/>
            </a:lvl4pPr>
            <a:lvl5pPr lvl="4" rtl="0" algn="ctr">
              <a:lnSpc>
                <a:spcPct val="100000"/>
              </a:lnSpc>
              <a:spcBef>
                <a:spcPts val="600"/>
              </a:spcBef>
              <a:spcAft>
                <a:spcPts val="0"/>
              </a:spcAft>
              <a:buSzPts val="2100"/>
              <a:buNone/>
              <a:defRPr sz="2100"/>
            </a:lvl5pPr>
            <a:lvl6pPr lvl="5" rtl="0" algn="ctr">
              <a:lnSpc>
                <a:spcPct val="100000"/>
              </a:lnSpc>
              <a:spcBef>
                <a:spcPts val="600"/>
              </a:spcBef>
              <a:spcAft>
                <a:spcPts val="0"/>
              </a:spcAft>
              <a:buSzPts val="2100"/>
              <a:buNone/>
              <a:defRPr sz="2100"/>
            </a:lvl6pPr>
            <a:lvl7pPr lvl="6" rtl="0" algn="ctr">
              <a:lnSpc>
                <a:spcPct val="100000"/>
              </a:lnSpc>
              <a:spcBef>
                <a:spcPts val="600"/>
              </a:spcBef>
              <a:spcAft>
                <a:spcPts val="0"/>
              </a:spcAft>
              <a:buSzPts val="2100"/>
              <a:buNone/>
              <a:defRPr sz="2100"/>
            </a:lvl7pPr>
            <a:lvl8pPr lvl="7" rtl="0" algn="ctr">
              <a:lnSpc>
                <a:spcPct val="100000"/>
              </a:lnSpc>
              <a:spcBef>
                <a:spcPts val="600"/>
              </a:spcBef>
              <a:spcAft>
                <a:spcPts val="0"/>
              </a:spcAft>
              <a:buSzPts val="2100"/>
              <a:buNone/>
              <a:defRPr sz="2100"/>
            </a:lvl8pPr>
            <a:lvl9pPr lvl="8" rtl="0" algn="ctr">
              <a:lnSpc>
                <a:spcPct val="100000"/>
              </a:lnSpc>
              <a:spcBef>
                <a:spcPts val="600"/>
              </a:spcBef>
              <a:spcAft>
                <a:spcPts val="0"/>
              </a:spcAft>
              <a:buSzPts val="2100"/>
              <a:buNone/>
              <a:defRPr sz="2100"/>
            </a:lvl9pPr>
          </a:lstStyle>
          <a:p/>
        </p:txBody>
      </p:sp>
      <p:sp>
        <p:nvSpPr>
          <p:cNvPr id="127" name="Google Shape;127;p21"/>
          <p:cNvSpPr txBox="1"/>
          <p:nvPr>
            <p:ph type="title"/>
          </p:nvPr>
        </p:nvSpPr>
        <p:spPr>
          <a:xfrm>
            <a:off x="208450" y="3418425"/>
            <a:ext cx="3950100" cy="572700"/>
          </a:xfrm>
          <a:prstGeom prst="rect">
            <a:avLst/>
          </a:prstGeom>
        </p:spPr>
        <p:txBody>
          <a:bodyPr anchorCtr="0" anchor="b"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pic>
        <p:nvPicPr>
          <p:cNvPr id="128" name="Google Shape;128;p21"/>
          <p:cNvPicPr preferRelativeResize="0"/>
          <p:nvPr/>
        </p:nvPicPr>
        <p:blipFill>
          <a:blip r:embed="rId2">
            <a:alphaModFix/>
          </a:blip>
          <a:stretch>
            <a:fillRect/>
          </a:stretch>
        </p:blipFill>
        <p:spPr>
          <a:xfrm>
            <a:off x="0" y="4983478"/>
            <a:ext cx="457200" cy="160022"/>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129" name="Shape 129"/>
        <p:cNvGrpSpPr/>
        <p:nvPr/>
      </p:nvGrpSpPr>
      <p:grpSpPr>
        <a:xfrm>
          <a:off x="0" y="0"/>
          <a:ext cx="0" cy="0"/>
          <a:chOff x="0" y="0"/>
          <a:chExt cx="0" cy="0"/>
        </a:xfrm>
      </p:grpSpPr>
      <p:sp>
        <p:nvSpPr>
          <p:cNvPr id="130" name="Google Shape;130;p22"/>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31" name="Google Shape;131;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on right">
  <p:cSld name="SECTION_TITLE_AND_DESCRIPTION_1_2">
    <p:spTree>
      <p:nvGrpSpPr>
        <p:cNvPr id="132" name="Shape 132"/>
        <p:cNvGrpSpPr/>
        <p:nvPr/>
      </p:nvGrpSpPr>
      <p:grpSpPr>
        <a:xfrm>
          <a:off x="0" y="0"/>
          <a:ext cx="0" cy="0"/>
          <a:chOff x="0" y="0"/>
          <a:chExt cx="0" cy="0"/>
        </a:xfrm>
      </p:grpSpPr>
      <p:sp>
        <p:nvSpPr>
          <p:cNvPr id="133" name="Google Shape;133;p23"/>
          <p:cNvSpPr/>
          <p:nvPr/>
        </p:nvSpPr>
        <p:spPr>
          <a:xfrm>
            <a:off x="4572000" y="-125"/>
            <a:ext cx="4572000" cy="5143500"/>
          </a:xfrm>
          <a:prstGeom prst="rect">
            <a:avLst/>
          </a:prstGeom>
          <a:solidFill>
            <a:srgbClr val="FDF6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5" name="Google Shape;135;p23"/>
          <p:cNvSpPr txBox="1"/>
          <p:nvPr>
            <p:ph idx="1" type="body"/>
          </p:nvPr>
        </p:nvSpPr>
        <p:spPr>
          <a:xfrm>
            <a:off x="311700" y="1152150"/>
            <a:ext cx="3950100" cy="34200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36" name="Google Shape;136;p23"/>
          <p:cNvSpPr txBox="1"/>
          <p:nvPr>
            <p:ph idx="2" type="body"/>
          </p:nvPr>
        </p:nvSpPr>
        <p:spPr>
          <a:xfrm>
            <a:off x="4882900" y="448050"/>
            <a:ext cx="3950100" cy="4124100"/>
          </a:xfrm>
          <a:prstGeom prst="rect">
            <a:avLst/>
          </a:prstGeom>
        </p:spPr>
        <p:txBody>
          <a:bodyPr anchorCtr="0" anchor="t" bIns="91425" lIns="91425" spcFirstLastPara="1" rIns="91425" wrap="square" tIns="91425">
            <a:noAutofit/>
          </a:bodyPr>
          <a:lstStyle>
            <a:lvl1pPr indent="-342900" lvl="0" marL="457200" rtl="0">
              <a:spcBef>
                <a:spcPts val="600"/>
              </a:spcBef>
              <a:spcAft>
                <a:spcPts val="0"/>
              </a:spcAft>
              <a:buSzPts val="1800"/>
              <a:buChar char="•"/>
              <a:defRPr/>
            </a:lvl1pPr>
            <a:lvl2pPr indent="-342900" lvl="1" marL="914400" rtl="0">
              <a:spcBef>
                <a:spcPts val="600"/>
              </a:spcBef>
              <a:spcAft>
                <a:spcPts val="0"/>
              </a:spcAft>
              <a:buSzPts val="1800"/>
              <a:buChar char="•"/>
              <a:defRPr/>
            </a:lvl2pPr>
            <a:lvl3pPr indent="-342900" lvl="2" marL="1371600" rtl="0">
              <a:spcBef>
                <a:spcPts val="600"/>
              </a:spcBef>
              <a:spcAft>
                <a:spcPts val="0"/>
              </a:spcAft>
              <a:buSzPts val="1800"/>
              <a:buChar char="•"/>
              <a:defRPr/>
            </a:lvl3pPr>
            <a:lvl4pPr indent="-342900" lvl="3" marL="1828800" rtl="0">
              <a:spcBef>
                <a:spcPts val="600"/>
              </a:spcBef>
              <a:spcAft>
                <a:spcPts val="0"/>
              </a:spcAft>
              <a:buSzPts val="1800"/>
              <a:buChar char="•"/>
              <a:defRPr/>
            </a:lvl4pPr>
            <a:lvl5pPr indent="-342900" lvl="4" marL="2286000" rtl="0">
              <a:spcBef>
                <a:spcPts val="600"/>
              </a:spcBef>
              <a:spcAft>
                <a:spcPts val="0"/>
              </a:spcAft>
              <a:buSzPts val="1800"/>
              <a:buChar char="•"/>
              <a:defRPr/>
            </a:lvl5pPr>
            <a:lvl6pPr indent="-342900" lvl="5" marL="2743200" rtl="0">
              <a:spcBef>
                <a:spcPts val="600"/>
              </a:spcBef>
              <a:spcAft>
                <a:spcPts val="0"/>
              </a:spcAft>
              <a:buSzPts val="1800"/>
              <a:buChar char="•"/>
              <a:defRPr/>
            </a:lvl6pPr>
            <a:lvl7pPr indent="-342900" lvl="6" marL="3200400" rtl="0">
              <a:spcBef>
                <a:spcPts val="600"/>
              </a:spcBef>
              <a:spcAft>
                <a:spcPts val="0"/>
              </a:spcAft>
              <a:buSzPts val="1800"/>
              <a:buChar char="•"/>
              <a:defRPr/>
            </a:lvl7pPr>
            <a:lvl8pPr indent="-342900" lvl="7" marL="3657600" rtl="0">
              <a:spcBef>
                <a:spcPts val="600"/>
              </a:spcBef>
              <a:spcAft>
                <a:spcPts val="0"/>
              </a:spcAft>
              <a:buSzPts val="1800"/>
              <a:buChar char="•"/>
              <a:defRPr/>
            </a:lvl8pPr>
            <a:lvl9pPr indent="-342900" lvl="8" marL="4114800" rtl="0">
              <a:spcBef>
                <a:spcPts val="600"/>
              </a:spcBef>
              <a:spcAft>
                <a:spcPts val="0"/>
              </a:spcAft>
              <a:buSzPts val="1800"/>
              <a:buChar char="•"/>
              <a:defRPr/>
            </a:lvl9pPr>
          </a:lstStyle>
          <a:p/>
        </p:txBody>
      </p:sp>
      <p:sp>
        <p:nvSpPr>
          <p:cNvPr id="137" name="Google Shape;137;p23"/>
          <p:cNvSpPr txBox="1"/>
          <p:nvPr>
            <p:ph type="title"/>
          </p:nvPr>
        </p:nvSpPr>
        <p:spPr>
          <a:xfrm>
            <a:off x="311700" y="445025"/>
            <a:ext cx="3950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0" y="0"/>
            <a:ext cx="9144000" cy="393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0B5394"/>
              </a:buClr>
              <a:buSzPts val="1600"/>
              <a:buFont typeface="Roboto Medium"/>
              <a:buNone/>
              <a:defRPr sz="1600">
                <a:solidFill>
                  <a:srgbClr val="0B5394"/>
                </a:solidFill>
                <a:latin typeface="Roboto Medium"/>
                <a:ea typeface="Roboto Medium"/>
                <a:cs typeface="Roboto Medium"/>
                <a:sym typeface="Roboto Medium"/>
              </a:defRPr>
            </a:lvl1pPr>
            <a:lvl2pPr lvl="1"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2pPr>
            <a:lvl3pPr lvl="2"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3pPr>
            <a:lvl4pPr lvl="3"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4pPr>
            <a:lvl5pPr lvl="4"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5pPr>
            <a:lvl6pPr lvl="5"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6pPr>
            <a:lvl7pPr lvl="6"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7pPr>
            <a:lvl8pPr lvl="7"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8pPr>
            <a:lvl9pPr lvl="8" rtl="0">
              <a:spcBef>
                <a:spcPts val="0"/>
              </a:spcBef>
              <a:spcAft>
                <a:spcPts val="0"/>
              </a:spcAft>
              <a:buClr>
                <a:srgbClr val="0B5394"/>
              </a:buClr>
              <a:buSzPts val="2800"/>
              <a:buFont typeface="Roboto Medium"/>
              <a:buNone/>
              <a:defRPr sz="2800">
                <a:solidFill>
                  <a:srgbClr val="0B5394"/>
                </a:solidFill>
                <a:latin typeface="Roboto Medium"/>
                <a:ea typeface="Roboto Medium"/>
                <a:cs typeface="Roboto Medium"/>
                <a:sym typeface="Roboto Medium"/>
              </a:defRPr>
            </a:lvl9pPr>
          </a:lstStyle>
          <a:p/>
        </p:txBody>
      </p:sp>
      <p:sp>
        <p:nvSpPr>
          <p:cNvPr id="7" name="Google Shape;7;p1"/>
          <p:cNvSpPr txBox="1"/>
          <p:nvPr>
            <p:ph idx="1" type="body"/>
          </p:nvPr>
        </p:nvSpPr>
        <p:spPr>
          <a:xfrm>
            <a:off x="311700" y="572700"/>
            <a:ext cx="8520600" cy="3416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42900" lvl="1" marL="9144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2pPr>
            <a:lvl3pPr indent="-342900" lvl="2" marL="13716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3pPr>
            <a:lvl4pPr indent="-342900" lvl="3" marL="18288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4pPr>
            <a:lvl5pPr indent="-342900" lvl="4" marL="22860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5pPr>
            <a:lvl6pPr indent="-342900" lvl="5" marL="27432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6pPr>
            <a:lvl7pPr indent="-342900" lvl="6" marL="32004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7pPr>
            <a:lvl8pPr indent="-342900" lvl="7" marL="36576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8pPr>
            <a:lvl9pPr indent="-342900" lvl="8" marL="4114800" rtl="0">
              <a:lnSpc>
                <a:spcPct val="115000"/>
              </a:lnSpc>
              <a:spcBef>
                <a:spcPts val="600"/>
              </a:spcBef>
              <a:spcAft>
                <a:spcPts val="0"/>
              </a:spcAft>
              <a:buClr>
                <a:schemeClr val="dk1"/>
              </a:buClr>
              <a:buSzPts val="1800"/>
              <a:buFont typeface="Roboto"/>
              <a:buChar char="•"/>
              <a:defRPr sz="1800">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1"/>
                </a:solidFill>
                <a:latin typeface="Roboto"/>
                <a:ea typeface="Roboto"/>
                <a:cs typeface="Roboto"/>
                <a:sym typeface="Roboto"/>
              </a:defRPr>
            </a:lvl1pPr>
            <a:lvl2pPr lvl="1" rtl="0" algn="r">
              <a:buNone/>
              <a:defRPr sz="1000">
                <a:solidFill>
                  <a:schemeClr val="dk1"/>
                </a:solidFill>
                <a:latin typeface="Roboto"/>
                <a:ea typeface="Roboto"/>
                <a:cs typeface="Roboto"/>
                <a:sym typeface="Roboto"/>
              </a:defRPr>
            </a:lvl2pPr>
            <a:lvl3pPr lvl="2" rtl="0" algn="r">
              <a:buNone/>
              <a:defRPr sz="1000">
                <a:solidFill>
                  <a:schemeClr val="dk1"/>
                </a:solidFill>
                <a:latin typeface="Roboto"/>
                <a:ea typeface="Roboto"/>
                <a:cs typeface="Roboto"/>
                <a:sym typeface="Roboto"/>
              </a:defRPr>
            </a:lvl3pPr>
            <a:lvl4pPr lvl="3" rtl="0" algn="r">
              <a:buNone/>
              <a:defRPr sz="1000">
                <a:solidFill>
                  <a:schemeClr val="dk1"/>
                </a:solidFill>
                <a:latin typeface="Roboto"/>
                <a:ea typeface="Roboto"/>
                <a:cs typeface="Roboto"/>
                <a:sym typeface="Roboto"/>
              </a:defRPr>
            </a:lvl4pPr>
            <a:lvl5pPr lvl="4" rtl="0" algn="r">
              <a:buNone/>
              <a:defRPr sz="1000">
                <a:solidFill>
                  <a:schemeClr val="dk1"/>
                </a:solidFill>
                <a:latin typeface="Roboto"/>
                <a:ea typeface="Roboto"/>
                <a:cs typeface="Roboto"/>
                <a:sym typeface="Roboto"/>
              </a:defRPr>
            </a:lvl5pPr>
            <a:lvl6pPr lvl="5" rtl="0" algn="r">
              <a:buNone/>
              <a:defRPr sz="1000">
                <a:solidFill>
                  <a:schemeClr val="dk1"/>
                </a:solidFill>
                <a:latin typeface="Roboto"/>
                <a:ea typeface="Roboto"/>
                <a:cs typeface="Roboto"/>
                <a:sym typeface="Roboto"/>
              </a:defRPr>
            </a:lvl6pPr>
            <a:lvl7pPr lvl="6" rtl="0" algn="r">
              <a:buNone/>
              <a:defRPr sz="1000">
                <a:solidFill>
                  <a:schemeClr val="dk1"/>
                </a:solidFill>
                <a:latin typeface="Roboto"/>
                <a:ea typeface="Roboto"/>
                <a:cs typeface="Roboto"/>
                <a:sym typeface="Roboto"/>
              </a:defRPr>
            </a:lvl7pPr>
            <a:lvl8pPr lvl="7" rtl="0" algn="r">
              <a:buNone/>
              <a:defRPr sz="1000">
                <a:solidFill>
                  <a:schemeClr val="dk1"/>
                </a:solidFill>
                <a:latin typeface="Roboto"/>
                <a:ea typeface="Roboto"/>
                <a:cs typeface="Roboto"/>
                <a:sym typeface="Roboto"/>
              </a:defRPr>
            </a:lvl8pPr>
            <a:lvl9pPr lvl="8" rtl="0"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jpg"/><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3.jpg"/><Relationship Id="rId4" Type="http://schemas.openxmlformats.org/officeDocument/2006/relationships/image" Target="../media/image9.jpg"/><Relationship Id="rId5" Type="http://schemas.openxmlformats.org/officeDocument/2006/relationships/image" Target="../media/image1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png"/><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png"/><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png"/><Relationship Id="rId4"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png"/><Relationship Id="rId4"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3.png"/><Relationship Id="rId4" Type="http://schemas.openxmlformats.org/officeDocument/2006/relationships/image" Target="../media/image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0.png"/><Relationship Id="rId4" Type="http://schemas.openxmlformats.org/officeDocument/2006/relationships/image" Target="../media/image3.png"/><Relationship Id="rId5" Type="http://schemas.openxmlformats.org/officeDocument/2006/relationships/image" Target="../media/image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png"/><Relationship Id="rId4" Type="http://schemas.openxmlformats.org/officeDocument/2006/relationships/image" Target="../media/image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png"/><Relationship Id="rId4" Type="http://schemas.openxmlformats.org/officeDocument/2006/relationships/image" Target="../media/image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3.png"/><Relationship Id="rId4" Type="http://schemas.openxmlformats.org/officeDocument/2006/relationships/image" Target="../media/image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3.png"/><Relationship Id="rId4" Type="http://schemas.openxmlformats.org/officeDocument/2006/relationships/image" Target="../media/image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png"/><Relationship Id="rId4" Type="http://schemas.openxmlformats.org/officeDocument/2006/relationships/image" Target="../media/image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png"/><Relationship Id="rId4" Type="http://schemas.openxmlformats.org/officeDocument/2006/relationships/image" Target="../media/image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png"/><Relationship Id="rId4" Type="http://schemas.openxmlformats.org/officeDocument/2006/relationships/image" Target="../media/image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9.xml"/><Relationship Id="rId3" Type="http://schemas.openxmlformats.org/officeDocument/2006/relationships/image" Target="../media/image3.png"/><Relationship Id="rId4" Type="http://schemas.openxmlformats.org/officeDocument/2006/relationships/image" Target="../media/image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3.png"/><Relationship Id="rId4" Type="http://schemas.openxmlformats.org/officeDocument/2006/relationships/image" Target="../media/image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3.png"/><Relationship Id="rId4" Type="http://schemas.openxmlformats.org/officeDocument/2006/relationships/image" Target="../media/image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3.png"/><Relationship Id="rId4" Type="http://schemas.openxmlformats.org/officeDocument/2006/relationships/image" Target="../media/image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3" name="Google Shape;143;p24"/>
          <p:cNvSpPr txBox="1"/>
          <p:nvPr/>
        </p:nvSpPr>
        <p:spPr>
          <a:xfrm>
            <a:off x="311700" y="3854350"/>
            <a:ext cx="8520600" cy="808800"/>
          </a:xfrm>
          <a:prstGeom prst="rect">
            <a:avLst/>
          </a:prstGeom>
          <a:noFill/>
          <a:ln>
            <a:noFill/>
          </a:ln>
        </p:spPr>
        <p:txBody>
          <a:bodyPr anchorCtr="0" anchor="t" bIns="91425" lIns="91425" spcFirstLastPara="1" rIns="91425" wrap="square" tIns="91425">
            <a:noAutofit/>
          </a:bodyPr>
          <a:lstStyle/>
          <a:p>
            <a:pPr indent="0" lvl="0" marL="0" rtl="0" algn="l">
              <a:spcBef>
                <a:spcPts val="600"/>
              </a:spcBef>
              <a:spcAft>
                <a:spcPts val="0"/>
              </a:spcAft>
              <a:buNone/>
            </a:pPr>
            <a:r>
              <a:rPr lang="en" sz="1600">
                <a:latin typeface="Roboto Medium"/>
                <a:ea typeface="Roboto Medium"/>
                <a:cs typeface="Roboto Medium"/>
                <a:sym typeface="Roboto Medium"/>
              </a:rPr>
              <a:t>CS 168, </a:t>
            </a:r>
            <a:r>
              <a:rPr lang="en" sz="1600">
                <a:latin typeface="Roboto Medium"/>
                <a:ea typeface="Roboto Medium"/>
                <a:cs typeface="Roboto Medium"/>
                <a:sym typeface="Roboto Medium"/>
              </a:rPr>
              <a:t>Spring 2026</a:t>
            </a:r>
            <a:r>
              <a:rPr lang="en" sz="1600">
                <a:latin typeface="Roboto Medium"/>
                <a:ea typeface="Roboto Medium"/>
                <a:cs typeface="Roboto Medium"/>
                <a:sym typeface="Roboto Medium"/>
              </a:rPr>
              <a:t> </a:t>
            </a:r>
            <a:r>
              <a:rPr lang="en" sz="1600">
                <a:solidFill>
                  <a:srgbClr val="000000"/>
                </a:solidFill>
                <a:latin typeface="Roboto Medium"/>
                <a:ea typeface="Roboto Medium"/>
                <a:cs typeface="Roboto Medium"/>
                <a:sym typeface="Roboto Medium"/>
              </a:rPr>
              <a:t>@ UC Berkeley</a:t>
            </a:r>
            <a:endParaRPr sz="1600">
              <a:solidFill>
                <a:srgbClr val="000000"/>
              </a:solidFill>
              <a:latin typeface="Roboto Medium"/>
              <a:ea typeface="Roboto Medium"/>
              <a:cs typeface="Roboto Medium"/>
              <a:sym typeface="Roboto Medium"/>
            </a:endParaRPr>
          </a:p>
          <a:p>
            <a:pPr indent="0" lvl="0" marL="0" rtl="0" algn="l">
              <a:spcBef>
                <a:spcPts val="600"/>
              </a:spcBef>
              <a:spcAft>
                <a:spcPts val="0"/>
              </a:spcAft>
              <a:buNone/>
            </a:pPr>
            <a:r>
              <a:rPr lang="en" sz="1600">
                <a:latin typeface="Roboto Light"/>
                <a:ea typeface="Roboto Light"/>
                <a:cs typeface="Roboto Light"/>
                <a:sym typeface="Roboto Light"/>
              </a:rPr>
              <a:t>Slides credit: Sylvia Ratnasamy, Rob Shakir, Peyrin Kao, Raj Jain</a:t>
            </a:r>
            <a:endParaRPr sz="1600">
              <a:solidFill>
                <a:srgbClr val="000000"/>
              </a:solidFill>
              <a:latin typeface="Roboto Light"/>
              <a:ea typeface="Roboto Light"/>
              <a:cs typeface="Roboto Light"/>
              <a:sym typeface="Roboto Light"/>
            </a:endParaRPr>
          </a:p>
        </p:txBody>
      </p:sp>
      <p:sp>
        <p:nvSpPr>
          <p:cNvPr id="144" name="Google Shape;144;p24"/>
          <p:cNvSpPr txBox="1"/>
          <p:nvPr/>
        </p:nvSpPr>
        <p:spPr>
          <a:xfrm>
            <a:off x="311700" y="1658975"/>
            <a:ext cx="8709600" cy="2052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3600">
                <a:solidFill>
                  <a:srgbClr val="0B5394"/>
                </a:solidFill>
                <a:latin typeface="Roboto Medium"/>
                <a:ea typeface="Roboto Medium"/>
                <a:cs typeface="Roboto Medium"/>
                <a:sym typeface="Roboto Medium"/>
              </a:rPr>
              <a:t>Cellular</a:t>
            </a:r>
            <a:endParaRPr sz="3600">
              <a:solidFill>
                <a:srgbClr val="0B5394"/>
              </a:solidFill>
              <a:latin typeface="Roboto Medium"/>
              <a:ea typeface="Roboto Medium"/>
              <a:cs typeface="Roboto Medium"/>
              <a:sym typeface="Roboto Medium"/>
            </a:endParaRPr>
          </a:p>
        </p:txBody>
      </p:sp>
      <p:sp>
        <p:nvSpPr>
          <p:cNvPr id="145" name="Google Shape;145;p24"/>
          <p:cNvSpPr txBox="1"/>
          <p:nvPr/>
        </p:nvSpPr>
        <p:spPr>
          <a:xfrm>
            <a:off x="345775" y="2740300"/>
            <a:ext cx="2762700" cy="28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BF9000"/>
                </a:solidFill>
                <a:latin typeface="Roboto Medium"/>
                <a:ea typeface="Roboto Medium"/>
                <a:cs typeface="Roboto Medium"/>
                <a:sym typeface="Roboto Medium"/>
              </a:rPr>
              <a:t>Lecture 25 (Wireless 2)</a:t>
            </a:r>
            <a:endParaRPr sz="1200">
              <a:solidFill>
                <a:srgbClr val="BF9000"/>
              </a:solidFill>
              <a:latin typeface="Roboto Medium"/>
              <a:ea typeface="Roboto Medium"/>
              <a:cs typeface="Roboto Medium"/>
              <a:sym typeface="Roboto Medium"/>
            </a:endParaRPr>
          </a:p>
        </p:txBody>
      </p:sp>
      <p:sp>
        <p:nvSpPr>
          <p:cNvPr id="146" name="Google Shape;146;p24"/>
          <p:cNvSpPr/>
          <p:nvPr/>
        </p:nvSpPr>
        <p:spPr>
          <a:xfrm>
            <a:off x="6799285" y="955000"/>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47" name="Google Shape;147;p24"/>
          <p:cNvGrpSpPr/>
          <p:nvPr/>
        </p:nvGrpSpPr>
        <p:grpSpPr>
          <a:xfrm>
            <a:off x="7176622" y="1166456"/>
            <a:ext cx="205525" cy="409199"/>
            <a:chOff x="7897625" y="3319150"/>
            <a:chExt cx="645900" cy="1285575"/>
          </a:xfrm>
        </p:grpSpPr>
        <p:sp>
          <p:nvSpPr>
            <p:cNvPr id="148" name="Google Shape;148;p24"/>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49" name="Google Shape;149;p24"/>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50" name="Google Shape;150;p24"/>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51" name="Google Shape;151;p24"/>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52" name="Google Shape;152;p24"/>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53" name="Google Shape;153;p24"/>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54" name="Google Shape;154;p24"/>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55" name="Google Shape;155;p24"/>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156" name="Google Shape;156;p24"/>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157" name="Google Shape;157;p24"/>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8" name="Google Shape;158;p24"/>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9" name="Google Shape;159;p24"/>
            <p:cNvSpPr/>
            <p:nvPr/>
          </p:nvSpPr>
          <p:spPr>
            <a:xfrm>
              <a:off x="8198675" y="3551600"/>
              <a:ext cx="43800" cy="43800"/>
            </a:xfrm>
            <a:prstGeom prst="ellipse">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grpSp>
        <p:nvGrpSpPr>
          <p:cNvPr id="160" name="Google Shape;160;p24"/>
          <p:cNvGrpSpPr/>
          <p:nvPr/>
        </p:nvGrpSpPr>
        <p:grpSpPr>
          <a:xfrm>
            <a:off x="5969250" y="1095200"/>
            <a:ext cx="384763" cy="551700"/>
            <a:chOff x="160300" y="2651875"/>
            <a:chExt cx="384763" cy="551700"/>
          </a:xfrm>
        </p:grpSpPr>
        <p:pic>
          <p:nvPicPr>
            <p:cNvPr id="161" name="Google Shape;161;p24"/>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162" name="Google Shape;162;p24"/>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pic>
        <p:nvPicPr>
          <p:cNvPr id="163" name="Google Shape;163;p24"/>
          <p:cNvPicPr preferRelativeResize="0"/>
          <p:nvPr/>
        </p:nvPicPr>
        <p:blipFill>
          <a:blip r:embed="rId5">
            <a:alphaModFix amt="25000"/>
          </a:blip>
          <a:stretch>
            <a:fillRect/>
          </a:stretch>
        </p:blipFill>
        <p:spPr>
          <a:xfrm rot="-5400000">
            <a:off x="6323112" y="1013360"/>
            <a:ext cx="893376" cy="719000"/>
          </a:xfrm>
          <a:prstGeom prst="rect">
            <a:avLst/>
          </a:prstGeom>
          <a:noFill/>
          <a:ln>
            <a:noFill/>
          </a:ln>
        </p:spPr>
      </p:pic>
      <p:cxnSp>
        <p:nvCxnSpPr>
          <p:cNvPr id="164" name="Google Shape;164;p24"/>
          <p:cNvCxnSpPr>
            <a:stCxn id="163" idx="0"/>
            <a:endCxn id="163" idx="2"/>
          </p:cNvCxnSpPr>
          <p:nvPr/>
        </p:nvCxnSpPr>
        <p:spPr>
          <a:xfrm>
            <a:off x="6410300" y="1372860"/>
            <a:ext cx="719100" cy="0"/>
          </a:xfrm>
          <a:prstGeom prst="straightConnector1">
            <a:avLst/>
          </a:prstGeom>
          <a:noFill/>
          <a:ln cap="flat" cmpd="sng" w="28575">
            <a:solidFill>
              <a:schemeClr val="accent2"/>
            </a:solidFill>
            <a:prstDash val="solid"/>
            <a:round/>
            <a:headEnd len="med" w="med" type="none"/>
            <a:tailEnd len="med" w="med" type="triangl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5"/>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Why is Cellular Different?</a:t>
            </a:r>
            <a:endParaRPr b="1">
              <a:solidFill>
                <a:schemeClr val="accent3"/>
              </a:solidFill>
              <a:latin typeface="Roboto"/>
              <a:ea typeface="Roboto"/>
              <a:cs typeface="Roboto"/>
              <a:sym typeface="Roboto"/>
            </a:endParaRPr>
          </a:p>
          <a:p>
            <a:pPr indent="-342900" lvl="0" marL="457200" rtl="0" algn="l">
              <a:spcBef>
                <a:spcPts val="60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Brief History</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Standards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Challenge: Mobility</a:t>
            </a:r>
            <a:endParaRPr>
              <a:solidFill>
                <a:srgbClr val="B7B7B7"/>
              </a:solidFill>
            </a:endParaRPr>
          </a:p>
          <a:p>
            <a:pPr indent="0" lvl="0" marL="0" rtl="0" algn="l">
              <a:spcBef>
                <a:spcPts val="600"/>
              </a:spcBef>
              <a:spcAft>
                <a:spcPts val="0"/>
              </a:spcAft>
              <a:buNone/>
            </a:pPr>
            <a:r>
              <a:rPr lang="en">
                <a:solidFill>
                  <a:srgbClr val="B7B7B7"/>
                </a:solidFill>
              </a:rPr>
              <a:t>Cellular Networks</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Infrastructure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High-Level View</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0: Registration</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1: Discovery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2: Attachment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3: Data Exchange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4: Handover</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Roaming and Other Features</a:t>
            </a:r>
            <a:endParaRPr>
              <a:solidFill>
                <a:srgbClr val="B7B7B7"/>
              </a:solidFill>
            </a:endParaRPr>
          </a:p>
        </p:txBody>
      </p:sp>
      <p:sp>
        <p:nvSpPr>
          <p:cNvPr id="170" name="Google Shape;170;p2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Brief History of Cellular Networks</a:t>
            </a:r>
            <a:endParaRPr/>
          </a:p>
        </p:txBody>
      </p:sp>
      <p:sp>
        <p:nvSpPr>
          <p:cNvPr id="171" name="Google Shape;171;p2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25</a:t>
            </a:r>
            <a:r>
              <a:rPr lang="en"/>
              <a:t>, CS 168, </a:t>
            </a:r>
            <a:r>
              <a:rPr lang="en"/>
              <a:t>Spring 2026</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6"/>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Study Cellular?</a:t>
            </a:r>
            <a:endParaRPr/>
          </a:p>
        </p:txBody>
      </p:sp>
      <p:sp>
        <p:nvSpPr>
          <p:cNvPr id="177" name="Google Shape;177;p26"/>
          <p:cNvSpPr txBox="1"/>
          <p:nvPr>
            <p:ph idx="1" type="body"/>
          </p:nvPr>
        </p:nvSpPr>
        <p:spPr>
          <a:xfrm>
            <a:off x="107050" y="402200"/>
            <a:ext cx="8909700" cy="3560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Goal: </a:t>
            </a:r>
            <a:r>
              <a:rPr lang="en"/>
              <a:t>Wireless</a:t>
            </a:r>
            <a:r>
              <a:rPr lang="en"/>
              <a:t> mobile connectivity, e.g. </a:t>
            </a:r>
            <a:r>
              <a:rPr lang="en"/>
              <a:t>watching</a:t>
            </a:r>
            <a:r>
              <a:rPr lang="en"/>
              <a:t> video in a moving car.</a:t>
            </a:r>
            <a:endParaRPr/>
          </a:p>
          <a:p>
            <a:pPr indent="-342900" lvl="0" marL="457200" rtl="0" algn="l">
              <a:spcBef>
                <a:spcPts val="600"/>
              </a:spcBef>
              <a:spcAft>
                <a:spcPts val="0"/>
              </a:spcAft>
              <a:buSzPts val="1800"/>
              <a:buChar char="●"/>
            </a:pPr>
            <a:r>
              <a:rPr lang="en"/>
              <a:t>Cellular is the dominant approach today.</a:t>
            </a:r>
            <a:endParaRPr/>
          </a:p>
          <a:p>
            <a:pPr indent="-342900" lvl="1" marL="914400" rtl="0" algn="l">
              <a:spcBef>
                <a:spcPts val="0"/>
              </a:spcBef>
              <a:spcAft>
                <a:spcPts val="0"/>
              </a:spcAft>
              <a:buSzPts val="1800"/>
              <a:buChar char="○"/>
            </a:pPr>
            <a:r>
              <a:rPr lang="en"/>
              <a:t>Over 50% of web traffic originates from a cellular device!</a:t>
            </a:r>
            <a:endParaRPr/>
          </a:p>
          <a:p>
            <a:pPr indent="-342900" lvl="0" marL="457200" rtl="0" algn="l">
              <a:spcBef>
                <a:spcPts val="0"/>
              </a:spcBef>
              <a:spcAft>
                <a:spcPts val="0"/>
              </a:spcAft>
              <a:buSzPts val="1800"/>
              <a:buChar char="●"/>
            </a:pPr>
            <a:r>
              <a:rPr lang="en"/>
              <a:t>Other technologies (e.g. satellite) also exist.</a:t>
            </a:r>
            <a:endParaRPr/>
          </a:p>
          <a:p>
            <a:pPr indent="0" lvl="0" marL="0" rtl="0" algn="l">
              <a:spcBef>
                <a:spcPts val="600"/>
              </a:spcBef>
              <a:spcAft>
                <a:spcPts val="0"/>
              </a:spcAft>
              <a:buNone/>
            </a:pPr>
            <a:r>
              <a:rPr lang="en"/>
              <a:t>Active area of research!</a:t>
            </a:r>
            <a:endParaRPr/>
          </a:p>
          <a:p>
            <a:pPr indent="-342900" lvl="0" marL="457200" rtl="0" algn="l">
              <a:spcBef>
                <a:spcPts val="600"/>
              </a:spcBef>
              <a:spcAft>
                <a:spcPts val="0"/>
              </a:spcAft>
              <a:buSzPts val="1800"/>
              <a:buChar char="●"/>
            </a:pPr>
            <a:r>
              <a:rPr lang="en"/>
              <a:t>New bandwidth-intensive mobile apps, e.g. virtual reality, self-driving cars.</a:t>
            </a:r>
            <a:endParaRPr/>
          </a:p>
          <a:p>
            <a:pPr indent="-342900" lvl="0" marL="457200" rtl="0" algn="l">
              <a:spcBef>
                <a:spcPts val="0"/>
              </a:spcBef>
              <a:spcAft>
                <a:spcPts val="0"/>
              </a:spcAft>
              <a:buSzPts val="1800"/>
              <a:buChar char="●"/>
            </a:pPr>
            <a:r>
              <a:rPr lang="en"/>
              <a:t>Cellular network is facing </a:t>
            </a:r>
            <a:r>
              <a:rPr lang="en"/>
              <a:t>severe scaling challenges.</a:t>
            </a:r>
            <a:endParaRPr/>
          </a:p>
          <a:p>
            <a:pPr indent="-342900" lvl="1" marL="914400" rtl="0" algn="l">
              <a:spcBef>
                <a:spcPts val="0"/>
              </a:spcBef>
              <a:spcAft>
                <a:spcPts val="0"/>
              </a:spcAft>
              <a:buSzPts val="1800"/>
              <a:buChar char="○"/>
            </a:pPr>
            <a:r>
              <a:rPr lang="en"/>
              <a:t>Deploying towers and buying spectrum is expensive.</a:t>
            </a:r>
            <a:endParaRPr/>
          </a:p>
          <a:p>
            <a:pPr indent="-342900" lvl="1" marL="914400" rtl="0" algn="l">
              <a:spcBef>
                <a:spcPts val="0"/>
              </a:spcBef>
              <a:spcAft>
                <a:spcPts val="0"/>
              </a:spcAft>
              <a:buSzPts val="1800"/>
              <a:buChar char="○"/>
            </a:pPr>
            <a:r>
              <a:rPr lang="en"/>
              <a:t>Traditional operators (AT&amp;T, Verizon) don't have a reputation for rapid innovation.</a:t>
            </a:r>
            <a:endParaRPr/>
          </a:p>
        </p:txBody>
      </p:sp>
      <p:sp>
        <p:nvSpPr>
          <p:cNvPr id="178" name="Google Shape;178;p26"/>
          <p:cNvSpPr/>
          <p:nvPr/>
        </p:nvSpPr>
        <p:spPr>
          <a:xfrm>
            <a:off x="3490500" y="4042300"/>
            <a:ext cx="2163000" cy="2889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Mobile Wireless Access</a:t>
            </a:r>
            <a:endParaRPr>
              <a:latin typeface="Roboto"/>
              <a:ea typeface="Roboto"/>
              <a:cs typeface="Roboto"/>
              <a:sym typeface="Roboto"/>
            </a:endParaRPr>
          </a:p>
        </p:txBody>
      </p:sp>
      <p:sp>
        <p:nvSpPr>
          <p:cNvPr id="179" name="Google Shape;179;p26"/>
          <p:cNvSpPr/>
          <p:nvPr/>
        </p:nvSpPr>
        <p:spPr>
          <a:xfrm>
            <a:off x="2660650" y="4651900"/>
            <a:ext cx="754500" cy="2889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Cellular</a:t>
            </a:r>
            <a:endParaRPr>
              <a:latin typeface="Roboto"/>
              <a:ea typeface="Roboto"/>
              <a:cs typeface="Roboto"/>
              <a:sym typeface="Roboto"/>
            </a:endParaRPr>
          </a:p>
        </p:txBody>
      </p:sp>
      <p:sp>
        <p:nvSpPr>
          <p:cNvPr id="180" name="Google Shape;180;p26"/>
          <p:cNvSpPr/>
          <p:nvPr/>
        </p:nvSpPr>
        <p:spPr>
          <a:xfrm>
            <a:off x="5708650" y="4651900"/>
            <a:ext cx="754500" cy="2889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Satellite</a:t>
            </a:r>
            <a:endParaRPr>
              <a:latin typeface="Roboto"/>
              <a:ea typeface="Roboto"/>
              <a:cs typeface="Roboto"/>
              <a:sym typeface="Roboto"/>
            </a:endParaRPr>
          </a:p>
        </p:txBody>
      </p:sp>
      <p:sp>
        <p:nvSpPr>
          <p:cNvPr id="181" name="Google Shape;181;p26"/>
          <p:cNvSpPr/>
          <p:nvPr/>
        </p:nvSpPr>
        <p:spPr>
          <a:xfrm>
            <a:off x="3791400" y="4651900"/>
            <a:ext cx="1561200" cy="2889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27425" lIns="27425" spcFirstLastPara="1" rIns="27425" wrap="square" tIns="27425">
            <a:noAutofit/>
          </a:bodyPr>
          <a:lstStyle/>
          <a:p>
            <a:pPr indent="0" lvl="0" marL="0" rtl="0" algn="ctr">
              <a:spcBef>
                <a:spcPts val="0"/>
              </a:spcBef>
              <a:spcAft>
                <a:spcPts val="0"/>
              </a:spcAft>
              <a:buNone/>
            </a:pPr>
            <a:r>
              <a:rPr lang="en">
                <a:latin typeface="Roboto"/>
                <a:ea typeface="Roboto"/>
                <a:cs typeface="Roboto"/>
                <a:sym typeface="Roboto"/>
              </a:rPr>
              <a:t>Free-Space Optics</a:t>
            </a:r>
            <a:endParaRPr>
              <a:latin typeface="Roboto"/>
              <a:ea typeface="Roboto"/>
              <a:cs typeface="Roboto"/>
              <a:sym typeface="Roboto"/>
            </a:endParaRPr>
          </a:p>
        </p:txBody>
      </p:sp>
      <p:cxnSp>
        <p:nvCxnSpPr>
          <p:cNvPr id="182" name="Google Shape;182;p26"/>
          <p:cNvCxnSpPr>
            <a:stCxn id="178" idx="2"/>
            <a:endCxn id="179" idx="0"/>
          </p:cNvCxnSpPr>
          <p:nvPr/>
        </p:nvCxnSpPr>
        <p:spPr>
          <a:xfrm flipH="1">
            <a:off x="3037800" y="4331200"/>
            <a:ext cx="1534200" cy="320700"/>
          </a:xfrm>
          <a:prstGeom prst="straightConnector1">
            <a:avLst/>
          </a:prstGeom>
          <a:noFill/>
          <a:ln cap="flat" cmpd="sng" w="9525">
            <a:solidFill>
              <a:schemeClr val="dk2"/>
            </a:solidFill>
            <a:prstDash val="solid"/>
            <a:round/>
            <a:headEnd len="med" w="med" type="none"/>
            <a:tailEnd len="med" w="med" type="none"/>
          </a:ln>
        </p:spPr>
      </p:cxnSp>
      <p:cxnSp>
        <p:nvCxnSpPr>
          <p:cNvPr id="183" name="Google Shape;183;p26"/>
          <p:cNvCxnSpPr>
            <a:stCxn id="178" idx="2"/>
            <a:endCxn id="181" idx="0"/>
          </p:cNvCxnSpPr>
          <p:nvPr/>
        </p:nvCxnSpPr>
        <p:spPr>
          <a:xfrm>
            <a:off x="4572000" y="4331200"/>
            <a:ext cx="0" cy="320700"/>
          </a:xfrm>
          <a:prstGeom prst="straightConnector1">
            <a:avLst/>
          </a:prstGeom>
          <a:noFill/>
          <a:ln cap="flat" cmpd="sng" w="9525">
            <a:solidFill>
              <a:schemeClr val="dk2"/>
            </a:solidFill>
            <a:prstDash val="solid"/>
            <a:round/>
            <a:headEnd len="med" w="med" type="none"/>
            <a:tailEnd len="med" w="med" type="none"/>
          </a:ln>
        </p:spPr>
      </p:cxnSp>
      <p:cxnSp>
        <p:nvCxnSpPr>
          <p:cNvPr id="184" name="Google Shape;184;p26"/>
          <p:cNvCxnSpPr>
            <a:stCxn id="178" idx="2"/>
            <a:endCxn id="180" idx="0"/>
          </p:cNvCxnSpPr>
          <p:nvPr/>
        </p:nvCxnSpPr>
        <p:spPr>
          <a:xfrm>
            <a:off x="4572000" y="4331200"/>
            <a:ext cx="1513800" cy="320700"/>
          </a:xfrm>
          <a:prstGeom prst="straightConnector1">
            <a:avLst/>
          </a:prstGeom>
          <a:noFill/>
          <a:ln cap="flat" cmpd="sng" w="9525">
            <a:solidFill>
              <a:schemeClr val="dk2"/>
            </a:solidFill>
            <a:prstDash val="solid"/>
            <a:round/>
            <a:headEnd len="med" w="med" type="none"/>
            <a:tailEnd len="med" w="med" type="none"/>
          </a:ln>
        </p:spPr>
      </p:cxnSp>
      <p:sp>
        <p:nvSpPr>
          <p:cNvPr id="185" name="Google Shape;185;p26"/>
          <p:cNvSpPr txBox="1"/>
          <p:nvPr/>
        </p:nvSpPr>
        <p:spPr>
          <a:xfrm>
            <a:off x="1252825" y="4660900"/>
            <a:ext cx="1356000" cy="2709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Our focus today.</a:t>
            </a:r>
            <a:endParaRPr>
              <a:solidFill>
                <a:schemeClr val="accent2"/>
              </a:solidFill>
              <a:latin typeface="Roboto"/>
              <a:ea typeface="Roboto"/>
              <a:cs typeface="Roboto"/>
              <a:sym typeface="Roboto"/>
            </a:endParaRPr>
          </a:p>
        </p:txBody>
      </p:sp>
      <p:sp>
        <p:nvSpPr>
          <p:cNvPr id="186" name="Google Shape;186;p26"/>
          <p:cNvSpPr txBox="1"/>
          <p:nvPr/>
        </p:nvSpPr>
        <p:spPr>
          <a:xfrm>
            <a:off x="5708650" y="3943600"/>
            <a:ext cx="1561200" cy="4863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chemeClr val="accent2"/>
                </a:solidFill>
                <a:latin typeface="Roboto"/>
                <a:ea typeface="Roboto"/>
                <a:cs typeface="Roboto"/>
                <a:sym typeface="Roboto"/>
              </a:rPr>
              <a:t>The whole area is ripe for disruption!</a:t>
            </a:r>
            <a:endParaRPr>
              <a:solidFill>
                <a:schemeClr val="accent2"/>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7"/>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Brief History of Cellular Networks</a:t>
            </a:r>
            <a:endParaRPr/>
          </a:p>
        </p:txBody>
      </p:sp>
      <p:sp>
        <p:nvSpPr>
          <p:cNvPr id="192" name="Google Shape;192;p27"/>
          <p:cNvSpPr txBox="1"/>
          <p:nvPr>
            <p:ph idx="1" type="body"/>
          </p:nvPr>
        </p:nvSpPr>
        <p:spPr>
          <a:xfrm>
            <a:off x="107050" y="402200"/>
            <a:ext cx="8909700" cy="1102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Cellular networks are </a:t>
            </a:r>
            <a:r>
              <a:rPr lang="en"/>
              <a:t>derived</a:t>
            </a:r>
            <a:r>
              <a:rPr lang="en"/>
              <a:t> from the old telephone network.</a:t>
            </a:r>
            <a:endParaRPr/>
          </a:p>
          <a:p>
            <a:pPr indent="-342900" lvl="0" marL="457200" rtl="0" algn="l">
              <a:spcBef>
                <a:spcPts val="600"/>
              </a:spcBef>
              <a:spcAft>
                <a:spcPts val="0"/>
              </a:spcAft>
              <a:buSzPts val="1800"/>
              <a:buChar char="●"/>
            </a:pPr>
            <a:r>
              <a:rPr lang="en"/>
              <a:t>Original purpose: Make phone calls wirelessly.</a:t>
            </a:r>
            <a:endParaRPr/>
          </a:p>
        </p:txBody>
      </p:sp>
      <p:pic>
        <p:nvPicPr>
          <p:cNvPr id="193" name="Google Shape;193;p27"/>
          <p:cNvPicPr preferRelativeResize="0"/>
          <p:nvPr/>
        </p:nvPicPr>
        <p:blipFill>
          <a:blip r:embed="rId3">
            <a:alphaModFix/>
          </a:blip>
          <a:stretch>
            <a:fillRect/>
          </a:stretch>
        </p:blipFill>
        <p:spPr>
          <a:xfrm>
            <a:off x="1383600" y="1525300"/>
            <a:ext cx="1753299" cy="2219249"/>
          </a:xfrm>
          <a:prstGeom prst="rect">
            <a:avLst/>
          </a:prstGeom>
          <a:noFill/>
          <a:ln>
            <a:noFill/>
          </a:ln>
        </p:spPr>
      </p:pic>
      <p:sp>
        <p:nvSpPr>
          <p:cNvPr id="194" name="Google Shape;194;p27"/>
          <p:cNvSpPr txBox="1"/>
          <p:nvPr/>
        </p:nvSpPr>
        <p:spPr>
          <a:xfrm>
            <a:off x="738800" y="3838125"/>
            <a:ext cx="3042900" cy="10455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Martin Cooper made the first</a:t>
            </a:r>
            <a:br>
              <a:rPr lang="en">
                <a:latin typeface="Roboto"/>
                <a:ea typeface="Roboto"/>
                <a:cs typeface="Roboto"/>
                <a:sym typeface="Roboto"/>
              </a:rPr>
            </a:br>
            <a:r>
              <a:rPr lang="en">
                <a:latin typeface="Roboto"/>
                <a:ea typeface="Roboto"/>
                <a:cs typeface="Roboto"/>
                <a:sym typeface="Roboto"/>
              </a:rPr>
              <a:t>mobile call on this Motorola phone.</a:t>
            </a:r>
            <a:endParaRPr>
              <a:latin typeface="Roboto"/>
              <a:ea typeface="Roboto"/>
              <a:cs typeface="Roboto"/>
              <a:sym typeface="Roboto"/>
            </a:endParaRPr>
          </a:p>
          <a:p>
            <a:pPr indent="0" lvl="0" marL="0" rtl="0" algn="ctr">
              <a:spcBef>
                <a:spcPts val="1000"/>
              </a:spcBef>
              <a:spcAft>
                <a:spcPts val="1000"/>
              </a:spcAft>
              <a:buNone/>
            </a:pPr>
            <a:r>
              <a:rPr lang="en">
                <a:latin typeface="Roboto"/>
                <a:ea typeface="Roboto"/>
                <a:cs typeface="Roboto"/>
                <a:sym typeface="Roboto"/>
              </a:rPr>
              <a:t>Sold for $4,000 in 1983</a:t>
            </a:r>
            <a:br>
              <a:rPr lang="en">
                <a:latin typeface="Roboto"/>
                <a:ea typeface="Roboto"/>
                <a:cs typeface="Roboto"/>
                <a:sym typeface="Roboto"/>
              </a:rPr>
            </a:br>
            <a:r>
              <a:rPr lang="en">
                <a:latin typeface="Roboto"/>
                <a:ea typeface="Roboto"/>
                <a:cs typeface="Roboto"/>
                <a:sym typeface="Roboto"/>
              </a:rPr>
              <a:t>(over $12,000 today).</a:t>
            </a:r>
            <a:endParaRPr>
              <a:latin typeface="Roboto"/>
              <a:ea typeface="Roboto"/>
              <a:cs typeface="Roboto"/>
              <a:sym typeface="Roboto"/>
            </a:endParaRPr>
          </a:p>
        </p:txBody>
      </p:sp>
      <p:pic>
        <p:nvPicPr>
          <p:cNvPr id="195" name="Google Shape;195;p27"/>
          <p:cNvPicPr preferRelativeResize="0"/>
          <p:nvPr/>
        </p:nvPicPr>
        <p:blipFill>
          <a:blip r:embed="rId4">
            <a:alphaModFix/>
          </a:blip>
          <a:stretch>
            <a:fillRect/>
          </a:stretch>
        </p:blipFill>
        <p:spPr>
          <a:xfrm>
            <a:off x="4116050" y="1597200"/>
            <a:ext cx="4289142" cy="2075449"/>
          </a:xfrm>
          <a:prstGeom prst="rect">
            <a:avLst/>
          </a:prstGeom>
          <a:noFill/>
          <a:ln>
            <a:noFill/>
          </a:ln>
        </p:spPr>
      </p:pic>
      <p:sp>
        <p:nvSpPr>
          <p:cNvPr id="196" name="Google Shape;196;p27"/>
          <p:cNvSpPr txBox="1"/>
          <p:nvPr/>
        </p:nvSpPr>
        <p:spPr>
          <a:xfrm>
            <a:off x="5041725" y="3838125"/>
            <a:ext cx="2437800" cy="4863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1000"/>
              </a:spcAft>
              <a:buNone/>
            </a:pPr>
            <a:r>
              <a:rPr lang="en">
                <a:latin typeface="Roboto"/>
                <a:ea typeface="Roboto"/>
                <a:cs typeface="Roboto"/>
                <a:sym typeface="Roboto"/>
              </a:rPr>
              <a:t>Apparently worth over $40,000 today as an antique.</a:t>
            </a:r>
            <a:endParaRPr>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8"/>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Brief History of Cellular Networks</a:t>
            </a:r>
            <a:endParaRPr/>
          </a:p>
        </p:txBody>
      </p:sp>
      <p:sp>
        <p:nvSpPr>
          <p:cNvPr id="202" name="Google Shape;202;p28"/>
          <p:cNvSpPr txBox="1"/>
          <p:nvPr>
            <p:ph idx="1" type="body"/>
          </p:nvPr>
        </p:nvSpPr>
        <p:spPr>
          <a:xfrm>
            <a:off x="107050" y="402200"/>
            <a:ext cx="8909700" cy="531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Roots in the telephone network led to </a:t>
            </a:r>
            <a:r>
              <a:rPr lang="en"/>
              <a:t>design</a:t>
            </a:r>
            <a:r>
              <a:rPr lang="en"/>
              <a:t> choices that differ from the Internet.</a:t>
            </a:r>
            <a:endParaRPr/>
          </a:p>
        </p:txBody>
      </p:sp>
      <p:sp>
        <p:nvSpPr>
          <p:cNvPr id="203" name="Google Shape;203;p28"/>
          <p:cNvSpPr txBox="1"/>
          <p:nvPr>
            <p:ph idx="1" type="body"/>
          </p:nvPr>
        </p:nvSpPr>
        <p:spPr>
          <a:xfrm>
            <a:off x="4572000" y="1009425"/>
            <a:ext cx="4444800" cy="1638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Internet:</a:t>
            </a:r>
            <a:endParaRPr/>
          </a:p>
          <a:p>
            <a:pPr indent="-342900" lvl="0" marL="457200" rtl="0" algn="l">
              <a:spcBef>
                <a:spcPts val="600"/>
              </a:spcBef>
              <a:spcAft>
                <a:spcPts val="0"/>
              </a:spcAft>
              <a:buSzPts val="1800"/>
              <a:buChar char="●"/>
            </a:pPr>
            <a:r>
              <a:rPr lang="en"/>
              <a:t>Best-effort.</a:t>
            </a:r>
            <a:endParaRPr/>
          </a:p>
          <a:p>
            <a:pPr indent="-342900" lvl="0" marL="457200" rtl="0" algn="l">
              <a:spcBef>
                <a:spcPts val="0"/>
              </a:spcBef>
              <a:spcAft>
                <a:spcPts val="0"/>
              </a:spcAft>
              <a:buSzPts val="1800"/>
              <a:buChar char="●"/>
            </a:pPr>
            <a:r>
              <a:rPr lang="en"/>
              <a:t>Per-flow or per-packet state.</a:t>
            </a:r>
            <a:endParaRPr/>
          </a:p>
          <a:p>
            <a:pPr indent="-342900" lvl="0" marL="457200" rtl="0" algn="l">
              <a:spcBef>
                <a:spcPts val="0"/>
              </a:spcBef>
              <a:spcAft>
                <a:spcPts val="0"/>
              </a:spcAft>
              <a:buSzPts val="1800"/>
              <a:buChar char="●"/>
            </a:pPr>
            <a:r>
              <a:rPr lang="en"/>
              <a:t>Doesn't really track usage per user.</a:t>
            </a:r>
            <a:endParaRPr/>
          </a:p>
        </p:txBody>
      </p:sp>
      <p:sp>
        <p:nvSpPr>
          <p:cNvPr id="204" name="Google Shape;204;p28"/>
          <p:cNvSpPr txBox="1"/>
          <p:nvPr>
            <p:ph idx="1" type="body"/>
          </p:nvPr>
        </p:nvSpPr>
        <p:spPr>
          <a:xfrm>
            <a:off x="107050" y="1009425"/>
            <a:ext cx="4444800" cy="1638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Cellular networks:</a:t>
            </a:r>
            <a:endParaRPr/>
          </a:p>
          <a:p>
            <a:pPr indent="-342900" lvl="0" marL="457200" rtl="0" algn="l">
              <a:spcBef>
                <a:spcPts val="600"/>
              </a:spcBef>
              <a:spcAft>
                <a:spcPts val="0"/>
              </a:spcAft>
              <a:buSzPts val="1800"/>
              <a:buChar char="●"/>
            </a:pPr>
            <a:r>
              <a:rPr lang="en"/>
              <a:t>Resource reservations.</a:t>
            </a:r>
            <a:endParaRPr/>
          </a:p>
          <a:p>
            <a:pPr indent="-342900" lvl="0" marL="457200" rtl="0" algn="l">
              <a:spcBef>
                <a:spcPts val="0"/>
              </a:spcBef>
              <a:spcAft>
                <a:spcPts val="0"/>
              </a:spcAft>
              <a:buSzPts val="1800"/>
              <a:buChar char="●"/>
            </a:pPr>
            <a:r>
              <a:rPr lang="en"/>
              <a:t>Per-user state in the network.</a:t>
            </a:r>
            <a:endParaRPr/>
          </a:p>
          <a:p>
            <a:pPr indent="-342900" lvl="0" marL="457200" rtl="0" algn="l">
              <a:spcBef>
                <a:spcPts val="0"/>
              </a:spcBef>
              <a:spcAft>
                <a:spcPts val="0"/>
              </a:spcAft>
              <a:buSzPts val="1800"/>
              <a:buChar char="●"/>
            </a:pPr>
            <a:r>
              <a:rPr lang="en"/>
              <a:t>Emphasis on accountability.</a:t>
            </a:r>
            <a:endParaRPr/>
          </a:p>
        </p:txBody>
      </p:sp>
      <p:sp>
        <p:nvSpPr>
          <p:cNvPr id="205" name="Google Shape;205;p28"/>
          <p:cNvSpPr txBox="1"/>
          <p:nvPr>
            <p:ph idx="1" type="body"/>
          </p:nvPr>
        </p:nvSpPr>
        <p:spPr>
          <a:xfrm>
            <a:off x="107050" y="2840600"/>
            <a:ext cx="8909700" cy="1012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 recent years, cellular networks evolved to be more compatible with the Internet.</a:t>
            </a:r>
            <a:endParaRPr/>
          </a:p>
          <a:p>
            <a:pPr indent="-342900" lvl="0" marL="457200" rtl="0" algn="l">
              <a:spcBef>
                <a:spcPts val="600"/>
              </a:spcBef>
              <a:spcAft>
                <a:spcPts val="0"/>
              </a:spcAft>
              <a:buSzPts val="1800"/>
              <a:buChar char="●"/>
            </a:pPr>
            <a:r>
              <a:rPr lang="en"/>
              <a:t>Today, can think of cellular networks as Layer 2 networks within the Internet.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9"/>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Why is Cellular Different?</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Brief History</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Standards</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Challenge: Mobility</a:t>
            </a:r>
            <a:endParaRPr>
              <a:solidFill>
                <a:srgbClr val="B7B7B7"/>
              </a:solidFill>
            </a:endParaRPr>
          </a:p>
          <a:p>
            <a:pPr indent="0" lvl="0" marL="0" rtl="0" algn="l">
              <a:spcBef>
                <a:spcPts val="600"/>
              </a:spcBef>
              <a:spcAft>
                <a:spcPts val="0"/>
              </a:spcAft>
              <a:buNone/>
            </a:pPr>
            <a:r>
              <a:rPr lang="en">
                <a:solidFill>
                  <a:srgbClr val="B7B7B7"/>
                </a:solidFill>
              </a:rPr>
              <a:t>Cellular Networks</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Infrastructure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High-Level View</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0: Registration</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1: Discovery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2: Attachment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3: Data Exchange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4: Handover</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Roaming and Other Features</a:t>
            </a:r>
            <a:endParaRPr>
              <a:solidFill>
                <a:srgbClr val="B7B7B7"/>
              </a:solidFill>
            </a:endParaRPr>
          </a:p>
        </p:txBody>
      </p:sp>
      <p:sp>
        <p:nvSpPr>
          <p:cNvPr id="211" name="Google Shape;211;p29"/>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Cellular Network Standards</a:t>
            </a:r>
            <a:endParaRPr/>
          </a:p>
        </p:txBody>
      </p:sp>
      <p:sp>
        <p:nvSpPr>
          <p:cNvPr id="212" name="Google Shape;212;p29"/>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25</a:t>
            </a:r>
            <a:r>
              <a:rPr lang="en"/>
              <a:t>, CS 168, </a:t>
            </a:r>
            <a:r>
              <a:rPr lang="en"/>
              <a:t>Spring 2026</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0"/>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Cellular Standards Bodies</a:t>
            </a:r>
            <a:endParaRPr/>
          </a:p>
        </p:txBody>
      </p:sp>
      <p:sp>
        <p:nvSpPr>
          <p:cNvPr id="218" name="Google Shape;218;p30"/>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3GPP </a:t>
            </a:r>
            <a:r>
              <a:rPr lang="en" sz="1400">
                <a:solidFill>
                  <a:schemeClr val="accent3"/>
                </a:solidFill>
              </a:rPr>
              <a:t>(</a:t>
            </a:r>
            <a:r>
              <a:rPr i="1" lang="en" sz="1400">
                <a:solidFill>
                  <a:schemeClr val="accent3"/>
                </a:solidFill>
              </a:rPr>
              <a:t>3rd Generation Partnership Project</a:t>
            </a:r>
            <a:r>
              <a:rPr lang="en" sz="1400">
                <a:solidFill>
                  <a:schemeClr val="accent3"/>
                </a:solidFill>
              </a:rPr>
              <a:t>)</a:t>
            </a:r>
            <a:r>
              <a:rPr lang="en"/>
              <a:t> consortium </a:t>
            </a:r>
            <a:r>
              <a:rPr lang="en"/>
              <a:t>oversees</a:t>
            </a:r>
            <a:r>
              <a:rPr lang="en"/>
              <a:t> standardization efforts.</a:t>
            </a:r>
            <a:endParaRPr/>
          </a:p>
          <a:p>
            <a:pPr indent="-342900" lvl="0" marL="457200" rtl="0" algn="l">
              <a:spcBef>
                <a:spcPts val="600"/>
              </a:spcBef>
              <a:spcAft>
                <a:spcPts val="0"/>
              </a:spcAft>
              <a:buSzPts val="1800"/>
              <a:buChar char="●"/>
            </a:pPr>
            <a:r>
              <a:rPr lang="en"/>
              <a:t>Includes equipment vendors and telecommunications companies.</a:t>
            </a:r>
            <a:endParaRPr/>
          </a:p>
          <a:p>
            <a:pPr indent="-342900" lvl="0" marL="457200" rtl="0" algn="l">
              <a:spcBef>
                <a:spcPts val="0"/>
              </a:spcBef>
              <a:spcAft>
                <a:spcPts val="0"/>
              </a:spcAft>
              <a:buSzPts val="1800"/>
              <a:buChar char="●"/>
            </a:pPr>
            <a:r>
              <a:rPr lang="en"/>
              <a:t>Everyone must agree on protocols to achieve interoperability.</a:t>
            </a:r>
            <a:endParaRPr/>
          </a:p>
          <a:p>
            <a:pPr indent="0" lvl="0" marL="0" rtl="0" algn="l">
              <a:spcBef>
                <a:spcPts val="600"/>
              </a:spcBef>
              <a:spcAft>
                <a:spcPts val="0"/>
              </a:spcAft>
              <a:buNone/>
            </a:pPr>
            <a:r>
              <a:rPr lang="en"/>
              <a:t>Standards ratified by ITU </a:t>
            </a:r>
            <a:r>
              <a:rPr lang="en" sz="1400">
                <a:solidFill>
                  <a:schemeClr val="accent3"/>
                </a:solidFill>
              </a:rPr>
              <a:t>(</a:t>
            </a:r>
            <a:r>
              <a:rPr i="1" lang="en" sz="1400">
                <a:solidFill>
                  <a:schemeClr val="accent3"/>
                </a:solidFill>
              </a:rPr>
              <a:t>International Telecom Union</a:t>
            </a:r>
            <a:r>
              <a:rPr lang="en" sz="1400">
                <a:solidFill>
                  <a:schemeClr val="accent3"/>
                </a:solidFill>
              </a:rPr>
              <a:t>)</a:t>
            </a:r>
            <a:r>
              <a:rPr lang="en"/>
              <a:t>, part of the United Nations.</a:t>
            </a:r>
            <a:endParaRPr/>
          </a:p>
          <a:p>
            <a:pPr indent="-342900" lvl="0" marL="457200" rtl="0" algn="l">
              <a:spcBef>
                <a:spcPts val="600"/>
              </a:spcBef>
              <a:spcAft>
                <a:spcPts val="0"/>
              </a:spcAft>
              <a:buSzPts val="1800"/>
              <a:buChar char="●"/>
            </a:pPr>
            <a:r>
              <a:rPr lang="en"/>
              <a:t>Politics are involved in approving standards!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1"/>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Cellular Standards Evolution</a:t>
            </a:r>
            <a:endParaRPr/>
          </a:p>
        </p:txBody>
      </p:sp>
      <p:sp>
        <p:nvSpPr>
          <p:cNvPr id="224" name="Google Shape;224;p31"/>
          <p:cNvSpPr txBox="1"/>
          <p:nvPr>
            <p:ph idx="1" type="body"/>
          </p:nvPr>
        </p:nvSpPr>
        <p:spPr>
          <a:xfrm>
            <a:off x="107050" y="402200"/>
            <a:ext cx="8909700" cy="1331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New generation every 10 years: 1G, 2G, 3G, 4G, 5G.</a:t>
            </a:r>
            <a:endParaRPr/>
          </a:p>
          <a:p>
            <a:pPr indent="-342900" lvl="0" marL="457200" rtl="0" algn="l">
              <a:spcBef>
                <a:spcPts val="600"/>
              </a:spcBef>
              <a:spcAft>
                <a:spcPts val="0"/>
              </a:spcAft>
              <a:buSzPts val="1800"/>
              <a:buChar char="●"/>
            </a:pPr>
            <a:r>
              <a:rPr lang="en"/>
              <a:t>5G introduced in 2019, still being deployed.</a:t>
            </a:r>
            <a:endParaRPr/>
          </a:p>
          <a:p>
            <a:pPr indent="-342900" lvl="0" marL="457200" rtl="0" algn="l">
              <a:spcBef>
                <a:spcPts val="0"/>
              </a:spcBef>
              <a:spcAft>
                <a:spcPts val="0"/>
              </a:spcAft>
              <a:buSzPts val="1800"/>
              <a:buChar char="●"/>
            </a:pPr>
            <a:r>
              <a:rPr lang="en"/>
              <a:t>6G coming in 2030.</a:t>
            </a:r>
            <a:endParaRPr/>
          </a:p>
        </p:txBody>
      </p:sp>
      <p:pic>
        <p:nvPicPr>
          <p:cNvPr id="225" name="Google Shape;225;p31"/>
          <p:cNvPicPr preferRelativeResize="0"/>
          <p:nvPr/>
        </p:nvPicPr>
        <p:blipFill rotWithShape="1">
          <a:blip r:embed="rId3">
            <a:alphaModFix/>
          </a:blip>
          <a:srcRect b="0" l="0" r="18360" t="0"/>
          <a:stretch/>
        </p:blipFill>
        <p:spPr>
          <a:xfrm>
            <a:off x="2064001" y="1841675"/>
            <a:ext cx="5016005" cy="2529975"/>
          </a:xfrm>
          <a:prstGeom prst="rect">
            <a:avLst/>
          </a:prstGeom>
          <a:noFill/>
          <a:ln>
            <a:noFill/>
          </a:ln>
        </p:spPr>
      </p:pic>
      <p:sp>
        <p:nvSpPr>
          <p:cNvPr id="226" name="Google Shape;226;p31"/>
          <p:cNvSpPr txBox="1"/>
          <p:nvPr/>
        </p:nvSpPr>
        <p:spPr>
          <a:xfrm>
            <a:off x="2914300" y="4479425"/>
            <a:ext cx="3295200" cy="4863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1000"/>
              </a:spcAft>
              <a:buNone/>
            </a:pPr>
            <a:r>
              <a:rPr lang="en">
                <a:solidFill>
                  <a:schemeClr val="accent2"/>
                </a:solidFill>
                <a:latin typeface="Roboto"/>
                <a:ea typeface="Roboto"/>
                <a:cs typeface="Roboto"/>
                <a:sym typeface="Roboto"/>
              </a:rPr>
              <a:t>The </a:t>
            </a:r>
            <a:r>
              <a:rPr lang="en">
                <a:solidFill>
                  <a:schemeClr val="accent2"/>
                </a:solidFill>
                <a:latin typeface="Roboto"/>
                <a:ea typeface="Roboto"/>
                <a:cs typeface="Roboto"/>
                <a:sym typeface="Roboto"/>
              </a:rPr>
              <a:t>marketing</a:t>
            </a:r>
            <a:r>
              <a:rPr lang="en">
                <a:solidFill>
                  <a:schemeClr val="accent2"/>
                </a:solidFill>
                <a:latin typeface="Roboto"/>
                <a:ea typeface="Roboto"/>
                <a:cs typeface="Roboto"/>
                <a:sym typeface="Roboto"/>
              </a:rPr>
              <a:t> view:</a:t>
            </a:r>
            <a:br>
              <a:rPr lang="en">
                <a:solidFill>
                  <a:schemeClr val="accent2"/>
                </a:solidFill>
                <a:latin typeface="Roboto"/>
                <a:ea typeface="Roboto"/>
                <a:cs typeface="Roboto"/>
                <a:sym typeface="Roboto"/>
              </a:rPr>
            </a:br>
            <a:r>
              <a:rPr lang="en">
                <a:solidFill>
                  <a:schemeClr val="accent2"/>
                </a:solidFill>
                <a:latin typeface="Roboto"/>
                <a:ea typeface="Roboto"/>
                <a:cs typeface="Roboto"/>
                <a:sym typeface="Roboto"/>
              </a:rPr>
              <a:t>Every generation is better than the last!</a:t>
            </a:r>
            <a:endParaRPr>
              <a:solidFill>
                <a:schemeClr val="accent2"/>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2"/>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Cellular Standards Evolution</a:t>
            </a:r>
            <a:endParaRPr/>
          </a:p>
        </p:txBody>
      </p:sp>
      <p:sp>
        <p:nvSpPr>
          <p:cNvPr id="232" name="Google Shape;232;p32"/>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Each generation aims for a ~10x improvement along a few different dimensions:</a:t>
            </a:r>
            <a:endParaRPr/>
          </a:p>
          <a:p>
            <a:pPr indent="-342900" lvl="0" marL="457200" rtl="0" algn="l">
              <a:spcBef>
                <a:spcPts val="600"/>
              </a:spcBef>
              <a:spcAft>
                <a:spcPts val="0"/>
              </a:spcAft>
              <a:buSzPts val="1800"/>
              <a:buChar char="●"/>
            </a:pPr>
            <a:r>
              <a:rPr lang="en"/>
              <a:t>Peak theoretical data rate.</a:t>
            </a:r>
            <a:endParaRPr/>
          </a:p>
          <a:p>
            <a:pPr indent="-342900" lvl="0" marL="457200" rtl="0" algn="l">
              <a:spcBef>
                <a:spcPts val="0"/>
              </a:spcBef>
              <a:spcAft>
                <a:spcPts val="0"/>
              </a:spcAft>
              <a:buSzPts val="1800"/>
              <a:buChar char="●"/>
            </a:pPr>
            <a:r>
              <a:rPr lang="en"/>
              <a:t>Average data rate experienced by users.</a:t>
            </a:r>
            <a:endParaRPr/>
          </a:p>
          <a:p>
            <a:pPr indent="-342900" lvl="0" marL="457200" rtl="0" algn="l">
              <a:spcBef>
                <a:spcPts val="0"/>
              </a:spcBef>
              <a:spcAft>
                <a:spcPts val="0"/>
              </a:spcAft>
              <a:buSzPts val="1800"/>
              <a:buChar char="●"/>
            </a:pPr>
            <a:r>
              <a:rPr lang="en"/>
              <a:t>Mobility: Connection while user travels at high speed.</a:t>
            </a:r>
            <a:endParaRPr/>
          </a:p>
          <a:p>
            <a:pPr indent="-342900" lvl="0" marL="457200" rtl="0" algn="l">
              <a:spcBef>
                <a:spcPts val="0"/>
              </a:spcBef>
              <a:spcAft>
                <a:spcPts val="0"/>
              </a:spcAft>
              <a:buSzPts val="1800"/>
              <a:buChar char="●"/>
            </a:pPr>
            <a:r>
              <a:rPr lang="en"/>
              <a:t>Connection density: Number of devices in a specific era.</a:t>
            </a:r>
            <a:endParaRPr/>
          </a:p>
          <a:p>
            <a:pPr indent="-342900" lvl="0" marL="457200" rtl="0" algn="l">
              <a:spcBef>
                <a:spcPts val="0"/>
              </a:spcBef>
              <a:spcAft>
                <a:spcPts val="0"/>
              </a:spcAft>
              <a:buSzPts val="1800"/>
              <a:buChar char="●"/>
            </a:pPr>
            <a:r>
              <a:rPr lang="en"/>
              <a:t>etc.</a:t>
            </a:r>
            <a:endParaRPr/>
          </a:p>
        </p:txBody>
      </p:sp>
      <p:pic>
        <p:nvPicPr>
          <p:cNvPr id="233" name="Google Shape;233;p32"/>
          <p:cNvPicPr preferRelativeResize="0"/>
          <p:nvPr/>
        </p:nvPicPr>
        <p:blipFill rotWithShape="1">
          <a:blip r:embed="rId3">
            <a:alphaModFix/>
          </a:blip>
          <a:srcRect b="0" l="1871" r="10262" t="0"/>
          <a:stretch/>
        </p:blipFill>
        <p:spPr>
          <a:xfrm>
            <a:off x="5689825" y="2643049"/>
            <a:ext cx="2599686" cy="2361049"/>
          </a:xfrm>
          <a:prstGeom prst="rect">
            <a:avLst/>
          </a:prstGeom>
          <a:noFill/>
          <a:ln>
            <a:noFill/>
          </a:ln>
        </p:spPr>
      </p:pic>
      <p:sp>
        <p:nvSpPr>
          <p:cNvPr id="234" name="Google Shape;234;p32"/>
          <p:cNvSpPr txBox="1"/>
          <p:nvPr/>
        </p:nvSpPr>
        <p:spPr>
          <a:xfrm>
            <a:off x="834300" y="3516225"/>
            <a:ext cx="4363200" cy="6147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Light green = 4G quality along 8 different dimensions.</a:t>
            </a:r>
            <a:endParaRPr>
              <a:solidFill>
                <a:schemeClr val="accent2"/>
              </a:solidFill>
              <a:latin typeface="Roboto"/>
              <a:ea typeface="Roboto"/>
              <a:cs typeface="Roboto"/>
              <a:sym typeface="Roboto"/>
            </a:endParaRPr>
          </a:p>
          <a:p>
            <a:pPr indent="0" lvl="0" marL="0" rtl="0" algn="ctr">
              <a:spcBef>
                <a:spcPts val="1000"/>
              </a:spcBef>
              <a:spcAft>
                <a:spcPts val="1000"/>
              </a:spcAft>
              <a:buNone/>
            </a:pPr>
            <a:r>
              <a:rPr lang="en">
                <a:solidFill>
                  <a:schemeClr val="accent2"/>
                </a:solidFill>
                <a:latin typeface="Roboto"/>
                <a:ea typeface="Roboto"/>
                <a:cs typeface="Roboto"/>
                <a:sym typeface="Roboto"/>
              </a:rPr>
              <a:t>Dark green = 5G quality along those same dimensions.</a:t>
            </a:r>
            <a:endParaRPr>
              <a:solidFill>
                <a:schemeClr val="accent2"/>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3"/>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Cellular Standards Evolution</a:t>
            </a:r>
            <a:endParaRPr/>
          </a:p>
        </p:txBody>
      </p:sp>
      <p:sp>
        <p:nvSpPr>
          <p:cNvPr id="240" name="Google Shape;240;p33"/>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 addition to performance evolution, there's also been an </a:t>
            </a:r>
            <a:r>
              <a:rPr i="1" lang="en"/>
              <a:t>architectural</a:t>
            </a:r>
            <a:r>
              <a:rPr lang="en"/>
              <a:t> evolution:</a:t>
            </a:r>
            <a:endParaRPr/>
          </a:p>
          <a:p>
            <a:pPr indent="-342900" lvl="0" marL="457200" rtl="0" algn="l">
              <a:spcBef>
                <a:spcPts val="600"/>
              </a:spcBef>
              <a:spcAft>
                <a:spcPts val="0"/>
              </a:spcAft>
              <a:buSzPts val="1800"/>
              <a:buChar char="●"/>
            </a:pPr>
            <a:r>
              <a:rPr lang="en"/>
              <a:t>1G:</a:t>
            </a:r>
            <a:endParaRPr/>
          </a:p>
          <a:p>
            <a:pPr indent="-342900" lvl="1" marL="914400" rtl="0" algn="l">
              <a:spcBef>
                <a:spcPts val="0"/>
              </a:spcBef>
              <a:spcAft>
                <a:spcPts val="0"/>
              </a:spcAft>
              <a:buSzPts val="1800"/>
              <a:buChar char="○"/>
            </a:pPr>
            <a:r>
              <a:rPr lang="en"/>
              <a:t>Analog.</a:t>
            </a:r>
            <a:endParaRPr/>
          </a:p>
          <a:p>
            <a:pPr indent="-342900" lvl="1" marL="914400" rtl="0" algn="l">
              <a:spcBef>
                <a:spcPts val="0"/>
              </a:spcBef>
              <a:spcAft>
                <a:spcPts val="0"/>
              </a:spcAft>
              <a:buSzPts val="1800"/>
              <a:buChar char="○"/>
            </a:pPr>
            <a:r>
              <a:rPr lang="en"/>
              <a:t>Designed for voice calls.</a:t>
            </a:r>
            <a:endParaRPr/>
          </a:p>
          <a:p>
            <a:pPr indent="-342900" lvl="0" marL="457200" rtl="0" algn="l">
              <a:spcBef>
                <a:spcPts val="0"/>
              </a:spcBef>
              <a:spcAft>
                <a:spcPts val="0"/>
              </a:spcAft>
              <a:buSzPts val="1800"/>
              <a:buChar char="●"/>
            </a:pPr>
            <a:r>
              <a:rPr lang="en"/>
              <a:t>2G/3G:</a:t>
            </a:r>
            <a:endParaRPr/>
          </a:p>
          <a:p>
            <a:pPr indent="-342900" lvl="1" marL="914400" rtl="0" algn="l">
              <a:spcBef>
                <a:spcPts val="0"/>
              </a:spcBef>
              <a:spcAft>
                <a:spcPts val="0"/>
              </a:spcAft>
              <a:buSzPts val="1800"/>
              <a:buChar char="○"/>
            </a:pPr>
            <a:r>
              <a:rPr lang="en"/>
              <a:t>Mostly circuit-switched.</a:t>
            </a:r>
            <a:endParaRPr/>
          </a:p>
          <a:p>
            <a:pPr indent="-342900" lvl="1" marL="914400" rtl="0" algn="l">
              <a:spcBef>
                <a:spcPts val="0"/>
              </a:spcBef>
              <a:spcAft>
                <a:spcPts val="0"/>
              </a:spcAft>
              <a:buSzPts val="1800"/>
              <a:buChar char="○"/>
            </a:pPr>
            <a:r>
              <a:rPr lang="en"/>
              <a:t>Focused on voice traffic. </a:t>
            </a:r>
            <a:r>
              <a:rPr lang="en"/>
              <a:t>Some texting. Barely any Internet access.</a:t>
            </a:r>
            <a:endParaRPr/>
          </a:p>
          <a:p>
            <a:pPr indent="-342900" lvl="0" marL="457200" rtl="0" algn="l">
              <a:spcBef>
                <a:spcPts val="0"/>
              </a:spcBef>
              <a:spcAft>
                <a:spcPts val="0"/>
              </a:spcAft>
              <a:buSzPts val="1800"/>
              <a:buChar char="●"/>
            </a:pPr>
            <a:r>
              <a:rPr lang="en"/>
              <a:t>LTE/4G onwards:</a:t>
            </a:r>
            <a:endParaRPr/>
          </a:p>
          <a:p>
            <a:pPr indent="-342900" lvl="1" marL="914400" rtl="0" algn="l">
              <a:spcBef>
                <a:spcPts val="0"/>
              </a:spcBef>
              <a:spcAft>
                <a:spcPts val="0"/>
              </a:spcAft>
              <a:buSzPts val="1800"/>
              <a:buChar char="○"/>
            </a:pPr>
            <a:r>
              <a:rPr lang="en"/>
              <a:t>Packet-switched.</a:t>
            </a:r>
            <a:endParaRPr/>
          </a:p>
          <a:p>
            <a:pPr indent="-342900" lvl="1" marL="914400" rtl="0" algn="l">
              <a:spcBef>
                <a:spcPts val="0"/>
              </a:spcBef>
              <a:spcAft>
                <a:spcPts val="0"/>
              </a:spcAft>
              <a:buSzPts val="1800"/>
              <a:buChar char="○"/>
            </a:pPr>
            <a:r>
              <a:rPr lang="en"/>
              <a:t>Voice just one of many different applications.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4"/>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Cellular Standards Specifications</a:t>
            </a:r>
            <a:endParaRPr/>
          </a:p>
        </p:txBody>
      </p:sp>
      <p:sp>
        <p:nvSpPr>
          <p:cNvPr id="246" name="Google Shape;246;p34"/>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Cellular specifications are long and complicated.</a:t>
            </a:r>
            <a:endParaRPr/>
          </a:p>
          <a:p>
            <a:pPr indent="-342900" lvl="0" marL="457200" rtl="0" algn="l">
              <a:spcBef>
                <a:spcPts val="600"/>
              </a:spcBef>
              <a:spcAft>
                <a:spcPts val="0"/>
              </a:spcAft>
              <a:buSzPts val="1800"/>
              <a:buChar char="●"/>
            </a:pPr>
            <a:r>
              <a:rPr lang="en"/>
              <a:t>Hundreds of documents. Thousands of pages.</a:t>
            </a:r>
            <a:endParaRPr/>
          </a:p>
          <a:p>
            <a:pPr indent="-342900" lvl="0" marL="457200" rtl="0" algn="l">
              <a:spcBef>
                <a:spcPts val="0"/>
              </a:spcBef>
              <a:spcAft>
                <a:spcPts val="0"/>
              </a:spcAft>
              <a:buSzPts val="1800"/>
              <a:buChar char="●"/>
            </a:pPr>
            <a:r>
              <a:rPr lang="en"/>
              <a:t>Endless acronyms.</a:t>
            </a:r>
            <a:endParaRPr/>
          </a:p>
          <a:p>
            <a:pPr indent="-342900" lvl="0" marL="457200" rtl="0" algn="l">
              <a:spcBef>
                <a:spcPts val="0"/>
              </a:spcBef>
              <a:spcAft>
                <a:spcPts val="0"/>
              </a:spcAft>
              <a:buSzPts val="1800"/>
              <a:buChar char="●"/>
            </a:pPr>
            <a:r>
              <a:rPr lang="en"/>
              <a:t>Obscure naming conventions.</a:t>
            </a:r>
            <a:endParaRPr/>
          </a:p>
          <a:p>
            <a:pPr indent="-342900" lvl="0" marL="457200" rtl="0" algn="l">
              <a:spcBef>
                <a:spcPts val="0"/>
              </a:spcBef>
              <a:spcAft>
                <a:spcPts val="0"/>
              </a:spcAft>
              <a:buSzPts val="1800"/>
              <a:buChar char="●"/>
            </a:pPr>
            <a:r>
              <a:rPr lang="en"/>
              <a:t>Components/protocols are renamed in every generation!</a:t>
            </a:r>
            <a:endParaRPr/>
          </a:p>
          <a:p>
            <a:pPr indent="-342900" lvl="1" marL="914400" rtl="0" algn="l">
              <a:spcBef>
                <a:spcPts val="0"/>
              </a:spcBef>
              <a:spcAft>
                <a:spcPts val="0"/>
              </a:spcAft>
              <a:buSzPts val="1800"/>
              <a:buChar char="○"/>
            </a:pPr>
            <a:r>
              <a:rPr lang="en"/>
              <a:t>"Base station" → "NodeB" → "evolved Node B (eNodeB)"</a:t>
            </a:r>
            <a:br>
              <a:rPr lang="en"/>
            </a:br>
            <a:r>
              <a:rPr lang="en"/>
              <a:t>→ next-gen Node B (gNB)</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In this class, we'll exercise some poetic license and invent our own terminology.</a:t>
            </a:r>
            <a:endParaRPr/>
          </a:p>
          <a:p>
            <a:pPr indent="-342900" lvl="0" marL="457200" rtl="0" algn="l">
              <a:spcBef>
                <a:spcPts val="600"/>
              </a:spcBef>
              <a:spcAft>
                <a:spcPts val="0"/>
              </a:spcAft>
              <a:buSzPts val="1800"/>
              <a:buChar char="●"/>
            </a:pPr>
            <a:r>
              <a:rPr lang="en"/>
              <a:t>Loosely based on the LTE </a:t>
            </a:r>
            <a:r>
              <a:rPr lang="en"/>
              <a:t>architecture</a:t>
            </a:r>
            <a:r>
              <a:rPr lang="en"/>
              <a:t>.</a:t>
            </a:r>
            <a:endParaRPr/>
          </a:p>
          <a:p>
            <a:pPr indent="-342900" lvl="0" marL="457200" rtl="0" algn="l">
              <a:spcBef>
                <a:spcPts val="0"/>
              </a:spcBef>
              <a:spcAft>
                <a:spcPts val="0"/>
              </a:spcAft>
              <a:buSzPts val="1800"/>
              <a:buChar char="●"/>
            </a:pPr>
            <a:r>
              <a:rPr lang="en"/>
              <a:t>Conceptually correct, but not an exact match to textbooks and real standards.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5"/>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b="1" lang="en">
                <a:solidFill>
                  <a:schemeClr val="accent3"/>
                </a:solidFill>
                <a:latin typeface="Roboto"/>
                <a:ea typeface="Roboto"/>
                <a:cs typeface="Roboto"/>
                <a:sym typeface="Roboto"/>
              </a:rPr>
              <a:t>Why is Cellular Different?</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Brief History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Standards</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Challenge: Mobility</a:t>
            </a:r>
            <a:endParaRPr b="1">
              <a:solidFill>
                <a:schemeClr val="accent3"/>
              </a:solidFill>
              <a:latin typeface="Roboto"/>
              <a:ea typeface="Roboto"/>
              <a:cs typeface="Roboto"/>
              <a:sym typeface="Roboto"/>
            </a:endParaRPr>
          </a:p>
          <a:p>
            <a:pPr indent="0" lvl="0" marL="0" rtl="0" algn="l">
              <a:spcBef>
                <a:spcPts val="600"/>
              </a:spcBef>
              <a:spcAft>
                <a:spcPts val="0"/>
              </a:spcAft>
              <a:buNone/>
            </a:pPr>
            <a:r>
              <a:rPr lang="en">
                <a:solidFill>
                  <a:srgbClr val="B7B7B7"/>
                </a:solidFill>
              </a:rPr>
              <a:t>Cellular Networks</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Infrastructure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High-Level View</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0: Registration</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1: Discovery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2: Attachment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3: Data Exchange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4: Handover</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Roaming and Other Features</a:t>
            </a:r>
            <a:endParaRPr>
              <a:solidFill>
                <a:srgbClr val="B7B7B7"/>
              </a:solidFill>
            </a:endParaRPr>
          </a:p>
        </p:txBody>
      </p:sp>
      <p:sp>
        <p:nvSpPr>
          <p:cNvPr id="252" name="Google Shape;252;p3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Challenge: Mobility</a:t>
            </a:r>
            <a:endParaRPr/>
          </a:p>
        </p:txBody>
      </p:sp>
      <p:sp>
        <p:nvSpPr>
          <p:cNvPr id="253" name="Google Shape;253;p3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25</a:t>
            </a:r>
            <a:r>
              <a:rPr lang="en"/>
              <a:t>, CS 168, </a:t>
            </a:r>
            <a:r>
              <a:rPr lang="en"/>
              <a:t>Spring 2026</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6"/>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Key Challenge: Mobility</a:t>
            </a:r>
            <a:endParaRPr/>
          </a:p>
        </p:txBody>
      </p:sp>
      <p:sp>
        <p:nvSpPr>
          <p:cNvPr id="259" name="Google Shape;259;p36"/>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What </a:t>
            </a:r>
            <a:r>
              <a:rPr lang="en"/>
              <a:t>fundamental</a:t>
            </a:r>
            <a:r>
              <a:rPr lang="en"/>
              <a:t> new requirements does mobility introduce?</a:t>
            </a:r>
            <a:endParaRPr/>
          </a:p>
          <a:p>
            <a:pPr indent="-342900" lvl="0" marL="457200" rtl="0" algn="l">
              <a:spcBef>
                <a:spcPts val="600"/>
              </a:spcBef>
              <a:spcAft>
                <a:spcPts val="0"/>
              </a:spcAft>
              <a:buSzPts val="1800"/>
              <a:buChar char="●"/>
            </a:pPr>
            <a:r>
              <a:rPr b="1" lang="en"/>
              <a:t>Discovery</a:t>
            </a:r>
            <a:r>
              <a:rPr lang="en"/>
              <a:t>: What cell tower should a mobile device connect to?</a:t>
            </a:r>
            <a:endParaRPr/>
          </a:p>
          <a:p>
            <a:pPr indent="-342900" lvl="0" marL="457200" rtl="0" algn="l">
              <a:spcBef>
                <a:spcPts val="0"/>
              </a:spcBef>
              <a:spcAft>
                <a:spcPts val="0"/>
              </a:spcAft>
              <a:buSzPts val="1800"/>
              <a:buChar char="●"/>
            </a:pPr>
            <a:r>
              <a:rPr b="1" lang="en"/>
              <a:t>Authentication</a:t>
            </a:r>
            <a:r>
              <a:rPr lang="en"/>
              <a:t>: Should the tower provide service to this device?</a:t>
            </a:r>
            <a:endParaRPr/>
          </a:p>
          <a:p>
            <a:pPr indent="-342900" lvl="0" marL="457200" rtl="0" algn="l">
              <a:spcBef>
                <a:spcPts val="0"/>
              </a:spcBef>
              <a:spcAft>
                <a:spcPts val="0"/>
              </a:spcAft>
              <a:buSzPts val="1800"/>
              <a:buChar char="●"/>
            </a:pPr>
            <a:r>
              <a:rPr b="1" lang="en"/>
              <a:t>Seamless</a:t>
            </a:r>
            <a:r>
              <a:rPr lang="en"/>
              <a:t> communication: No disruption to new/ongoing application sessions.</a:t>
            </a:r>
            <a:endParaRPr/>
          </a:p>
          <a:p>
            <a:pPr indent="-342900" lvl="0" marL="457200" rtl="0" algn="l">
              <a:spcBef>
                <a:spcPts val="0"/>
              </a:spcBef>
              <a:spcAft>
                <a:spcPts val="0"/>
              </a:spcAft>
              <a:buSzPts val="1800"/>
              <a:buChar char="●"/>
            </a:pPr>
            <a:r>
              <a:rPr b="1" lang="en"/>
              <a:t>Accountability</a:t>
            </a:r>
            <a:r>
              <a:rPr lang="en"/>
              <a:t>: Enforcing resource limits based on the user's service plan.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7"/>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Why is Cellular Different?</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Brief History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Standards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Challenge: Mobility</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Cellular Networks</a:t>
            </a:r>
            <a:endParaRPr b="1">
              <a:solidFill>
                <a:schemeClr val="accent3"/>
              </a:solidFill>
              <a:latin typeface="Roboto"/>
              <a:ea typeface="Roboto"/>
              <a:cs typeface="Roboto"/>
              <a:sym typeface="Roboto"/>
            </a:endParaRPr>
          </a:p>
          <a:p>
            <a:pPr indent="-342900" lvl="0" marL="457200" rtl="0" algn="l">
              <a:spcBef>
                <a:spcPts val="60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Infrastructure</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High-Level View</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0: Registration</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1: Discovery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2: Attachment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3: Data Exchange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4: Handover</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Roaming and Other Features</a:t>
            </a:r>
            <a:endParaRPr>
              <a:solidFill>
                <a:srgbClr val="B7B7B7"/>
              </a:solidFill>
            </a:endParaRPr>
          </a:p>
        </p:txBody>
      </p:sp>
      <p:sp>
        <p:nvSpPr>
          <p:cNvPr id="265" name="Google Shape;265;p37"/>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Cellular Infrastructure</a:t>
            </a:r>
            <a:endParaRPr/>
          </a:p>
        </p:txBody>
      </p:sp>
      <p:sp>
        <p:nvSpPr>
          <p:cNvPr id="266" name="Google Shape;266;p37"/>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25</a:t>
            </a:r>
            <a:r>
              <a:rPr lang="en"/>
              <a:t>, CS 168, </a:t>
            </a:r>
            <a:r>
              <a:rPr lang="en"/>
              <a:t>Spring 2026</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8"/>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Infrastructure Components (1/5): Radio Towers</a:t>
            </a:r>
            <a:endParaRPr/>
          </a:p>
        </p:txBody>
      </p:sp>
      <p:sp>
        <p:nvSpPr>
          <p:cNvPr id="272" name="Google Shape;272;p38"/>
          <p:cNvSpPr/>
          <p:nvPr/>
        </p:nvSpPr>
        <p:spPr>
          <a:xfrm>
            <a:off x="635875" y="2359875"/>
            <a:ext cx="2203200" cy="19086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273" name="Google Shape;273;p38"/>
          <p:cNvGrpSpPr/>
          <p:nvPr/>
        </p:nvGrpSpPr>
        <p:grpSpPr>
          <a:xfrm>
            <a:off x="1526333" y="2893921"/>
            <a:ext cx="422289" cy="840509"/>
            <a:chOff x="7897625" y="3319150"/>
            <a:chExt cx="645900" cy="1285575"/>
          </a:xfrm>
        </p:grpSpPr>
        <p:sp>
          <p:nvSpPr>
            <p:cNvPr id="274" name="Google Shape;274;p38"/>
            <p:cNvSpPr/>
            <p:nvPr/>
          </p:nvSpPr>
          <p:spPr>
            <a:xfrm>
              <a:off x="7897625" y="3319150"/>
              <a:ext cx="645900" cy="645900"/>
            </a:xfrm>
            <a:prstGeom prst="arc">
              <a:avLst>
                <a:gd fmla="val 7001189" name="adj1"/>
                <a:gd fmla="val 3801002"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75" name="Google Shape;275;p38"/>
            <p:cNvCxnSpPr/>
            <p:nvPr/>
          </p:nvCxnSpPr>
          <p:spPr>
            <a:xfrm flipH="1">
              <a:off x="7943125" y="3567325"/>
              <a:ext cx="278100" cy="1037400"/>
            </a:xfrm>
            <a:prstGeom prst="straightConnector1">
              <a:avLst/>
            </a:prstGeom>
            <a:noFill/>
            <a:ln cap="flat" cmpd="sng" w="19050">
              <a:solidFill>
                <a:schemeClr val="dk2"/>
              </a:solidFill>
              <a:prstDash val="solid"/>
              <a:round/>
              <a:headEnd len="med" w="med" type="none"/>
              <a:tailEnd len="med" w="med" type="none"/>
            </a:ln>
          </p:spPr>
        </p:cxnSp>
        <p:cxnSp>
          <p:nvCxnSpPr>
            <p:cNvPr id="276" name="Google Shape;276;p38"/>
            <p:cNvCxnSpPr/>
            <p:nvPr/>
          </p:nvCxnSpPr>
          <p:spPr>
            <a:xfrm rot="10800000">
              <a:off x="8221225" y="3567325"/>
              <a:ext cx="278100" cy="1037400"/>
            </a:xfrm>
            <a:prstGeom prst="straightConnector1">
              <a:avLst/>
            </a:prstGeom>
            <a:noFill/>
            <a:ln cap="flat" cmpd="sng" w="19050">
              <a:solidFill>
                <a:schemeClr val="dk2"/>
              </a:solidFill>
              <a:prstDash val="solid"/>
              <a:round/>
              <a:headEnd len="med" w="med" type="none"/>
              <a:tailEnd len="med" w="med" type="none"/>
            </a:ln>
          </p:spPr>
        </p:cxnSp>
        <p:cxnSp>
          <p:nvCxnSpPr>
            <p:cNvPr id="277" name="Google Shape;277;p38"/>
            <p:cNvCxnSpPr/>
            <p:nvPr/>
          </p:nvCxnSpPr>
          <p:spPr>
            <a:xfrm>
              <a:off x="8131975" y="3895675"/>
              <a:ext cx="211200" cy="121800"/>
            </a:xfrm>
            <a:prstGeom prst="straightConnector1">
              <a:avLst/>
            </a:prstGeom>
            <a:noFill/>
            <a:ln cap="flat" cmpd="sng" w="19050">
              <a:solidFill>
                <a:schemeClr val="dk2"/>
              </a:solidFill>
              <a:prstDash val="solid"/>
              <a:round/>
              <a:headEnd len="med" w="med" type="none"/>
              <a:tailEnd len="med" w="med" type="none"/>
            </a:ln>
          </p:spPr>
        </p:cxnSp>
        <p:cxnSp>
          <p:nvCxnSpPr>
            <p:cNvPr id="278" name="Google Shape;278;p38"/>
            <p:cNvCxnSpPr/>
            <p:nvPr/>
          </p:nvCxnSpPr>
          <p:spPr>
            <a:xfrm flipH="1">
              <a:off x="8100725" y="3895675"/>
              <a:ext cx="211200" cy="121800"/>
            </a:xfrm>
            <a:prstGeom prst="straightConnector1">
              <a:avLst/>
            </a:prstGeom>
            <a:noFill/>
            <a:ln cap="flat" cmpd="sng" w="19050">
              <a:solidFill>
                <a:schemeClr val="dk2"/>
              </a:solidFill>
              <a:prstDash val="solid"/>
              <a:round/>
              <a:headEnd len="med" w="med" type="none"/>
              <a:tailEnd len="med" w="med" type="none"/>
            </a:ln>
          </p:spPr>
        </p:cxnSp>
        <p:cxnSp>
          <p:nvCxnSpPr>
            <p:cNvPr id="279" name="Google Shape;279;p38"/>
            <p:cNvCxnSpPr/>
            <p:nvPr/>
          </p:nvCxnSpPr>
          <p:spPr>
            <a:xfrm>
              <a:off x="8082625" y="4095650"/>
              <a:ext cx="332400" cy="192000"/>
            </a:xfrm>
            <a:prstGeom prst="straightConnector1">
              <a:avLst/>
            </a:prstGeom>
            <a:noFill/>
            <a:ln cap="flat" cmpd="sng" w="19050">
              <a:solidFill>
                <a:schemeClr val="dk2"/>
              </a:solidFill>
              <a:prstDash val="solid"/>
              <a:round/>
              <a:headEnd len="med" w="med" type="none"/>
              <a:tailEnd len="med" w="med" type="none"/>
            </a:ln>
          </p:spPr>
        </p:cxnSp>
        <p:cxnSp>
          <p:nvCxnSpPr>
            <p:cNvPr id="280" name="Google Shape;280;p38"/>
            <p:cNvCxnSpPr/>
            <p:nvPr/>
          </p:nvCxnSpPr>
          <p:spPr>
            <a:xfrm flipH="1">
              <a:off x="8030200" y="4095650"/>
              <a:ext cx="332400" cy="192000"/>
            </a:xfrm>
            <a:prstGeom prst="straightConnector1">
              <a:avLst/>
            </a:prstGeom>
            <a:noFill/>
            <a:ln cap="flat" cmpd="sng" w="19050">
              <a:solidFill>
                <a:schemeClr val="dk2"/>
              </a:solidFill>
              <a:prstDash val="solid"/>
              <a:round/>
              <a:headEnd len="med" w="med" type="none"/>
              <a:tailEnd len="med" w="med" type="none"/>
            </a:ln>
          </p:spPr>
        </p:cxnSp>
        <p:cxnSp>
          <p:nvCxnSpPr>
            <p:cNvPr id="281" name="Google Shape;281;p38"/>
            <p:cNvCxnSpPr/>
            <p:nvPr/>
          </p:nvCxnSpPr>
          <p:spPr>
            <a:xfrm>
              <a:off x="7996575" y="4404125"/>
              <a:ext cx="486000" cy="130200"/>
            </a:xfrm>
            <a:prstGeom prst="straightConnector1">
              <a:avLst/>
            </a:prstGeom>
            <a:noFill/>
            <a:ln cap="flat" cmpd="sng" w="19050">
              <a:solidFill>
                <a:schemeClr val="dk2"/>
              </a:solidFill>
              <a:prstDash val="solid"/>
              <a:round/>
              <a:headEnd len="med" w="med" type="none"/>
              <a:tailEnd len="med" w="med" type="none"/>
            </a:ln>
          </p:spPr>
        </p:cxnSp>
        <p:cxnSp>
          <p:nvCxnSpPr>
            <p:cNvPr id="282" name="Google Shape;282;p38"/>
            <p:cNvCxnSpPr/>
            <p:nvPr/>
          </p:nvCxnSpPr>
          <p:spPr>
            <a:xfrm flipH="1">
              <a:off x="7963325" y="4404125"/>
              <a:ext cx="486000" cy="130200"/>
            </a:xfrm>
            <a:prstGeom prst="straightConnector1">
              <a:avLst/>
            </a:prstGeom>
            <a:noFill/>
            <a:ln cap="flat" cmpd="sng" w="19050">
              <a:solidFill>
                <a:schemeClr val="dk2"/>
              </a:solidFill>
              <a:prstDash val="solid"/>
              <a:round/>
              <a:headEnd len="med" w="med" type="none"/>
              <a:tailEnd len="med" w="med" type="none"/>
            </a:ln>
          </p:spPr>
        </p:cxnSp>
        <p:sp>
          <p:nvSpPr>
            <p:cNvPr id="283" name="Google Shape;283;p38"/>
            <p:cNvSpPr/>
            <p:nvPr/>
          </p:nvSpPr>
          <p:spPr>
            <a:xfrm>
              <a:off x="8061866" y="3483399"/>
              <a:ext cx="317400" cy="317400"/>
            </a:xfrm>
            <a:prstGeom prst="arc">
              <a:avLst>
                <a:gd fmla="val 7725701" name="adj1"/>
                <a:gd fmla="val 2980561"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4" name="Google Shape;284;p38"/>
            <p:cNvSpPr/>
            <p:nvPr/>
          </p:nvSpPr>
          <p:spPr>
            <a:xfrm>
              <a:off x="7977575" y="3399100"/>
              <a:ext cx="486000" cy="486000"/>
            </a:xfrm>
            <a:prstGeom prst="arc">
              <a:avLst>
                <a:gd fmla="val 7288460" name="adj1"/>
                <a:gd fmla="val 3507633"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85" name="Google Shape;285;p38"/>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286" name="Google Shape;286;p38"/>
          <p:cNvSpPr txBox="1"/>
          <p:nvPr/>
        </p:nvSpPr>
        <p:spPr>
          <a:xfrm>
            <a:off x="1059475" y="3777475"/>
            <a:ext cx="1356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Radio Tower</a:t>
            </a:r>
            <a:endParaRPr>
              <a:solidFill>
                <a:schemeClr val="accent2"/>
              </a:solidFill>
              <a:latin typeface="Roboto"/>
              <a:ea typeface="Roboto"/>
              <a:cs typeface="Roboto"/>
              <a:sym typeface="Roboto"/>
            </a:endParaRPr>
          </a:p>
        </p:txBody>
      </p:sp>
      <p:sp>
        <p:nvSpPr>
          <p:cNvPr id="287" name="Google Shape;287;p38"/>
          <p:cNvSpPr txBox="1"/>
          <p:nvPr/>
        </p:nvSpPr>
        <p:spPr>
          <a:xfrm>
            <a:off x="1059475" y="4370725"/>
            <a:ext cx="1356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Range of tower</a:t>
            </a:r>
            <a:endParaRPr>
              <a:solidFill>
                <a:schemeClr val="accent2"/>
              </a:solidFill>
              <a:latin typeface="Roboto"/>
              <a:ea typeface="Roboto"/>
              <a:cs typeface="Roboto"/>
              <a:sym typeface="Roboto"/>
            </a:endParaRPr>
          </a:p>
        </p:txBody>
      </p:sp>
      <p:sp>
        <p:nvSpPr>
          <p:cNvPr id="288" name="Google Shape;288;p38"/>
          <p:cNvSpPr txBox="1"/>
          <p:nvPr>
            <p:ph idx="1" type="body"/>
          </p:nvPr>
        </p:nvSpPr>
        <p:spPr>
          <a:xfrm>
            <a:off x="107050" y="402200"/>
            <a:ext cx="8909700" cy="1595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Inside a radio tower:</a:t>
            </a:r>
            <a:endParaRPr/>
          </a:p>
          <a:p>
            <a:pPr indent="-342900" lvl="0" marL="457200" rtl="0" algn="l">
              <a:spcBef>
                <a:spcPts val="600"/>
              </a:spcBef>
              <a:spcAft>
                <a:spcPts val="0"/>
              </a:spcAft>
              <a:buSzPts val="1800"/>
              <a:buChar char="●"/>
            </a:pPr>
            <a:r>
              <a:rPr b="1" lang="en"/>
              <a:t>Radio transceiver</a:t>
            </a:r>
            <a:r>
              <a:rPr lang="en"/>
              <a:t>: Converts data to signals sent over the </a:t>
            </a:r>
            <a:r>
              <a:rPr i="1" lang="en"/>
              <a:t>air interface</a:t>
            </a:r>
            <a:r>
              <a:rPr lang="en"/>
              <a:t>.</a:t>
            </a:r>
            <a:endParaRPr/>
          </a:p>
          <a:p>
            <a:pPr indent="-342900" lvl="0" marL="457200" rtl="0" algn="l">
              <a:spcBef>
                <a:spcPts val="0"/>
              </a:spcBef>
              <a:spcAft>
                <a:spcPts val="0"/>
              </a:spcAft>
              <a:buSzPts val="1800"/>
              <a:buChar char="●"/>
            </a:pPr>
            <a:r>
              <a:rPr b="1" lang="en"/>
              <a:t>Radio controller</a:t>
            </a:r>
            <a:r>
              <a:rPr lang="en"/>
              <a:t>: Decides how to allocate radio resources.</a:t>
            </a:r>
            <a:endParaRPr/>
          </a:p>
          <a:p>
            <a:pPr indent="-342900" lvl="1" marL="914400" rtl="0" algn="l">
              <a:spcBef>
                <a:spcPts val="0"/>
              </a:spcBef>
              <a:spcAft>
                <a:spcPts val="0"/>
              </a:spcAft>
              <a:buSzPts val="1800"/>
              <a:buChar char="○"/>
            </a:pPr>
            <a:r>
              <a:rPr lang="en"/>
              <a:t>Traditionally near the tower, but sometimes in the cloud now.</a:t>
            </a:r>
            <a:endParaRPr/>
          </a:p>
        </p:txBody>
      </p:sp>
      <p:pic>
        <p:nvPicPr>
          <p:cNvPr id="289" name="Google Shape;289;p38"/>
          <p:cNvPicPr preferRelativeResize="0"/>
          <p:nvPr/>
        </p:nvPicPr>
        <p:blipFill rotWithShape="1">
          <a:blip r:embed="rId3">
            <a:alphaModFix/>
          </a:blip>
          <a:srcRect b="37933" l="17541" r="22115" t="3347"/>
          <a:stretch/>
        </p:blipFill>
        <p:spPr>
          <a:xfrm>
            <a:off x="7532938" y="2954450"/>
            <a:ext cx="997035" cy="949551"/>
          </a:xfrm>
          <a:prstGeom prst="rect">
            <a:avLst/>
          </a:prstGeom>
          <a:noFill/>
          <a:ln>
            <a:noFill/>
          </a:ln>
        </p:spPr>
      </p:pic>
      <p:pic>
        <p:nvPicPr>
          <p:cNvPr id="290" name="Google Shape;290;p38"/>
          <p:cNvPicPr preferRelativeResize="0"/>
          <p:nvPr/>
        </p:nvPicPr>
        <p:blipFill rotWithShape="1">
          <a:blip r:embed="rId4">
            <a:alphaModFix/>
          </a:blip>
          <a:srcRect b="31490" l="4315" r="13169" t="4505"/>
          <a:stretch/>
        </p:blipFill>
        <p:spPr>
          <a:xfrm>
            <a:off x="5803862" y="2954447"/>
            <a:ext cx="1286974" cy="949550"/>
          </a:xfrm>
          <a:prstGeom prst="rect">
            <a:avLst/>
          </a:prstGeom>
          <a:noFill/>
          <a:ln>
            <a:noFill/>
          </a:ln>
        </p:spPr>
      </p:pic>
      <p:pic>
        <p:nvPicPr>
          <p:cNvPr id="291" name="Google Shape;291;p38"/>
          <p:cNvPicPr preferRelativeResize="0"/>
          <p:nvPr/>
        </p:nvPicPr>
        <p:blipFill rotWithShape="1">
          <a:blip r:embed="rId5">
            <a:alphaModFix/>
          </a:blip>
          <a:srcRect b="21653" l="10192" r="32641" t="21647"/>
          <a:stretch/>
        </p:blipFill>
        <p:spPr>
          <a:xfrm>
            <a:off x="3254300" y="2308751"/>
            <a:ext cx="2107449" cy="1595250"/>
          </a:xfrm>
          <a:prstGeom prst="rect">
            <a:avLst/>
          </a:prstGeom>
          <a:noFill/>
          <a:ln>
            <a:noFill/>
          </a:ln>
        </p:spPr>
      </p:pic>
      <p:sp>
        <p:nvSpPr>
          <p:cNvPr id="292" name="Google Shape;292;p38"/>
          <p:cNvSpPr txBox="1"/>
          <p:nvPr/>
        </p:nvSpPr>
        <p:spPr>
          <a:xfrm>
            <a:off x="3630025" y="4048700"/>
            <a:ext cx="1356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Antenna</a:t>
            </a:r>
            <a:endParaRPr>
              <a:solidFill>
                <a:schemeClr val="accent2"/>
              </a:solidFill>
              <a:latin typeface="Roboto"/>
              <a:ea typeface="Roboto"/>
              <a:cs typeface="Roboto"/>
              <a:sym typeface="Roboto"/>
            </a:endParaRPr>
          </a:p>
        </p:txBody>
      </p:sp>
      <p:sp>
        <p:nvSpPr>
          <p:cNvPr id="293" name="Google Shape;293;p38"/>
          <p:cNvSpPr txBox="1"/>
          <p:nvPr/>
        </p:nvSpPr>
        <p:spPr>
          <a:xfrm>
            <a:off x="5755213" y="4048700"/>
            <a:ext cx="1356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Transceiver</a:t>
            </a:r>
            <a:endParaRPr>
              <a:solidFill>
                <a:schemeClr val="accent2"/>
              </a:solidFill>
              <a:latin typeface="Roboto"/>
              <a:ea typeface="Roboto"/>
              <a:cs typeface="Roboto"/>
              <a:sym typeface="Roboto"/>
            </a:endParaRPr>
          </a:p>
        </p:txBody>
      </p:sp>
      <p:sp>
        <p:nvSpPr>
          <p:cNvPr id="294" name="Google Shape;294;p38"/>
          <p:cNvSpPr txBox="1"/>
          <p:nvPr/>
        </p:nvSpPr>
        <p:spPr>
          <a:xfrm>
            <a:off x="7353450" y="4048700"/>
            <a:ext cx="1356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Controller</a:t>
            </a:r>
            <a:endParaRPr>
              <a:solidFill>
                <a:schemeClr val="accent2"/>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39"/>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Infrastructure Components (1/5): Radio Towers</a:t>
            </a:r>
            <a:endParaRPr>
              <a:solidFill>
                <a:schemeClr val="accent3"/>
              </a:solidFill>
            </a:endParaRPr>
          </a:p>
        </p:txBody>
      </p:sp>
      <p:sp>
        <p:nvSpPr>
          <p:cNvPr id="300" name="Google Shape;300;p39"/>
          <p:cNvSpPr txBox="1"/>
          <p:nvPr>
            <p:ph idx="1" type="body"/>
          </p:nvPr>
        </p:nvSpPr>
        <p:spPr>
          <a:xfrm>
            <a:off x="107050" y="402200"/>
            <a:ext cx="8909700" cy="1324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Simplified model: Radio controller is like a CPU running a scheduler.</a:t>
            </a:r>
            <a:endParaRPr/>
          </a:p>
          <a:p>
            <a:pPr indent="-342900" lvl="0" marL="457200" rtl="0" algn="l">
              <a:spcBef>
                <a:spcPts val="600"/>
              </a:spcBef>
              <a:spcAft>
                <a:spcPts val="0"/>
              </a:spcAft>
              <a:buSzPts val="1800"/>
              <a:buChar char="●"/>
            </a:pPr>
            <a:r>
              <a:rPr lang="en"/>
              <a:t>Decide</a:t>
            </a:r>
            <a:r>
              <a:rPr lang="en"/>
              <a:t> who gets to transmit when, and on what frequency.</a:t>
            </a:r>
            <a:endParaRPr/>
          </a:p>
          <a:p>
            <a:pPr indent="-342900" lvl="0" marL="457200" rtl="0" algn="l">
              <a:spcBef>
                <a:spcPts val="0"/>
              </a:spcBef>
              <a:spcAft>
                <a:spcPts val="0"/>
              </a:spcAft>
              <a:buSzPts val="1800"/>
              <a:buChar char="●"/>
            </a:pPr>
            <a:r>
              <a:rPr lang="en"/>
              <a:t>Each block represents </a:t>
            </a:r>
            <a:r>
              <a:rPr lang="en"/>
              <a:t>one </a:t>
            </a:r>
            <a:r>
              <a:rPr lang="en"/>
              <a:t>part of the spectrum at one time slot.</a:t>
            </a:r>
            <a:endParaRPr/>
          </a:p>
        </p:txBody>
      </p:sp>
      <p:graphicFrame>
        <p:nvGraphicFramePr>
          <p:cNvPr id="301" name="Google Shape;301;p39"/>
          <p:cNvGraphicFramePr/>
          <p:nvPr/>
        </p:nvGraphicFramePr>
        <p:xfrm>
          <a:off x="1510650" y="2157350"/>
          <a:ext cx="3000000" cy="3000000"/>
        </p:xfrm>
        <a:graphic>
          <a:graphicData uri="http://schemas.openxmlformats.org/drawingml/2006/table">
            <a:tbl>
              <a:tblPr>
                <a:noFill/>
                <a:tableStyleId>{21AFF29A-2706-40CE-8C42-EE41DE3FB69A}</a:tableStyleId>
              </a:tblPr>
              <a:tblGrid>
                <a:gridCol w="426450"/>
                <a:gridCol w="426450"/>
                <a:gridCol w="426450"/>
                <a:gridCol w="426450"/>
                <a:gridCol w="426450"/>
                <a:gridCol w="426450"/>
                <a:gridCol w="426450"/>
                <a:gridCol w="426450"/>
                <a:gridCol w="426450"/>
                <a:gridCol w="426450"/>
                <a:gridCol w="426450"/>
                <a:gridCol w="426450"/>
                <a:gridCol w="426450"/>
                <a:gridCol w="426450"/>
              </a:tblGrid>
              <a:tr h="203375">
                <a:tc>
                  <a:txBody>
                    <a:bodyPr/>
                    <a:lstStyle/>
                    <a:p>
                      <a:pPr indent="0" lvl="0" marL="0" rtl="0" algn="l">
                        <a:spcBef>
                          <a:spcPts val="0"/>
                        </a:spcBef>
                        <a:spcAft>
                          <a:spcPts val="0"/>
                        </a:spcAft>
                        <a:buNone/>
                      </a:pPr>
                      <a:r>
                        <a:t/>
                      </a:r>
                      <a:endParaRPr/>
                    </a:p>
                  </a:txBody>
                  <a:tcPr marT="0" marB="0" marR="0" marL="0">
                    <a:solidFill>
                      <a:srgbClr val="D9D9D9"/>
                    </a:solidFill>
                  </a:tcPr>
                </a:tc>
                <a:tc>
                  <a:txBody>
                    <a:bodyPr/>
                    <a:lstStyle/>
                    <a:p>
                      <a:pPr indent="0" lvl="0" marL="0" rtl="0" algn="l">
                        <a:spcBef>
                          <a:spcPts val="0"/>
                        </a:spcBef>
                        <a:spcAft>
                          <a:spcPts val="0"/>
                        </a:spcAft>
                        <a:buNone/>
                      </a:pPr>
                      <a:r>
                        <a:t/>
                      </a:r>
                      <a:endParaRPr/>
                    </a:p>
                  </a:txBody>
                  <a:tcPr marT="0" marB="0" marR="0" marL="0">
                    <a:solidFill>
                      <a:srgbClr val="D9D9D9"/>
                    </a:solidFill>
                  </a:tcPr>
                </a:tc>
                <a:tc>
                  <a:txBody>
                    <a:bodyPr/>
                    <a:lstStyle/>
                    <a:p>
                      <a:pPr indent="0" lvl="0" marL="0" rtl="0" algn="l">
                        <a:spcBef>
                          <a:spcPts val="0"/>
                        </a:spcBef>
                        <a:spcAft>
                          <a:spcPts val="0"/>
                        </a:spcAft>
                        <a:buNone/>
                      </a:pPr>
                      <a:r>
                        <a:t/>
                      </a:r>
                      <a:endParaRPr/>
                    </a:p>
                  </a:txBody>
                  <a:tcPr marT="0" marB="0" marR="0" marL="0">
                    <a:solidFill>
                      <a:srgbClr val="D9EAD3"/>
                    </a:solidFill>
                  </a:tcPr>
                </a:tc>
                <a:tc>
                  <a:txBody>
                    <a:bodyPr/>
                    <a:lstStyle/>
                    <a:p>
                      <a:pPr indent="0" lvl="0" marL="0" rtl="0" algn="l">
                        <a:spcBef>
                          <a:spcPts val="0"/>
                        </a:spcBef>
                        <a:spcAft>
                          <a:spcPts val="0"/>
                        </a:spcAft>
                        <a:buNone/>
                      </a:pPr>
                      <a:r>
                        <a:t/>
                      </a:r>
                      <a:endParaRPr/>
                    </a:p>
                  </a:txBody>
                  <a:tcPr marT="0" marB="0" marR="0" marL="0">
                    <a:solidFill>
                      <a:srgbClr val="D9EAD3"/>
                    </a:solidFill>
                  </a:tcPr>
                </a:tc>
                <a:tc>
                  <a:txBody>
                    <a:bodyPr/>
                    <a:lstStyle/>
                    <a:p>
                      <a:pPr indent="0" lvl="0" marL="0" rtl="0" algn="l">
                        <a:spcBef>
                          <a:spcPts val="0"/>
                        </a:spcBef>
                        <a:spcAft>
                          <a:spcPts val="0"/>
                        </a:spcAft>
                        <a:buNone/>
                      </a:pPr>
                      <a:r>
                        <a:t/>
                      </a:r>
                      <a:endParaRPr/>
                    </a:p>
                  </a:txBody>
                  <a:tcPr marT="0" marB="0" marR="0" marL="0">
                    <a:solidFill>
                      <a:srgbClr val="D9EAD3"/>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r>
              <a:tr h="193600">
                <a:tc>
                  <a:txBody>
                    <a:bodyPr/>
                    <a:lstStyle/>
                    <a:p>
                      <a:pPr indent="0" lvl="0" marL="0" rtl="0" algn="l">
                        <a:spcBef>
                          <a:spcPts val="0"/>
                        </a:spcBef>
                        <a:spcAft>
                          <a:spcPts val="0"/>
                        </a:spcAft>
                        <a:buNone/>
                      </a:pPr>
                      <a:r>
                        <a:t/>
                      </a:r>
                      <a:endParaRPr/>
                    </a:p>
                  </a:txBody>
                  <a:tcPr marT="0" marB="0" marR="0" marL="0">
                    <a:solidFill>
                      <a:srgbClr val="D9D9D9"/>
                    </a:solidFill>
                  </a:tcPr>
                </a:tc>
                <a:tc>
                  <a:txBody>
                    <a:bodyPr/>
                    <a:lstStyle/>
                    <a:p>
                      <a:pPr indent="0" lvl="0" marL="0" rtl="0" algn="l">
                        <a:spcBef>
                          <a:spcPts val="0"/>
                        </a:spcBef>
                        <a:spcAft>
                          <a:spcPts val="0"/>
                        </a:spcAft>
                        <a:buNone/>
                      </a:pPr>
                      <a:r>
                        <a:t/>
                      </a:r>
                      <a:endParaRPr/>
                    </a:p>
                  </a:txBody>
                  <a:tcPr marT="0" marB="0" marR="0" marL="0">
                    <a:solidFill>
                      <a:srgbClr val="D9D9D9"/>
                    </a:solidFill>
                  </a:tcPr>
                </a:tc>
                <a:tc>
                  <a:txBody>
                    <a:bodyPr/>
                    <a:lstStyle/>
                    <a:p>
                      <a:pPr indent="0" lvl="0" marL="0" rtl="0" algn="l">
                        <a:spcBef>
                          <a:spcPts val="0"/>
                        </a:spcBef>
                        <a:spcAft>
                          <a:spcPts val="0"/>
                        </a:spcAft>
                        <a:buNone/>
                      </a:pPr>
                      <a:r>
                        <a:t/>
                      </a:r>
                      <a:endParaRPr/>
                    </a:p>
                  </a:txBody>
                  <a:tcPr marT="0" marB="0" marR="0" marL="0">
                    <a:solidFill>
                      <a:srgbClr val="D9EAD3"/>
                    </a:solidFill>
                  </a:tcPr>
                </a:tc>
                <a:tc>
                  <a:txBody>
                    <a:bodyPr/>
                    <a:lstStyle/>
                    <a:p>
                      <a:pPr indent="0" lvl="0" marL="0" rtl="0" algn="l">
                        <a:spcBef>
                          <a:spcPts val="0"/>
                        </a:spcBef>
                        <a:spcAft>
                          <a:spcPts val="0"/>
                        </a:spcAft>
                        <a:buNone/>
                      </a:pPr>
                      <a:r>
                        <a:t/>
                      </a:r>
                      <a:endParaRPr/>
                    </a:p>
                  </a:txBody>
                  <a:tcPr marT="0" marB="0" marR="0" marL="0">
                    <a:solidFill>
                      <a:srgbClr val="D9EAD3"/>
                    </a:solidFill>
                  </a:tcPr>
                </a:tc>
                <a:tc>
                  <a:txBody>
                    <a:bodyPr/>
                    <a:lstStyle/>
                    <a:p>
                      <a:pPr indent="0" lvl="0" marL="0" rtl="0" algn="l">
                        <a:spcBef>
                          <a:spcPts val="0"/>
                        </a:spcBef>
                        <a:spcAft>
                          <a:spcPts val="0"/>
                        </a:spcAft>
                        <a:buNone/>
                      </a:pPr>
                      <a:r>
                        <a:t/>
                      </a:r>
                      <a:endParaRPr/>
                    </a:p>
                  </a:txBody>
                  <a:tcPr marT="0" marB="0" marR="0" marL="0">
                    <a:solidFill>
                      <a:srgbClr val="D9EAD3"/>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r>
              <a:tr h="203375">
                <a:tc>
                  <a:txBody>
                    <a:bodyPr/>
                    <a:lstStyle/>
                    <a:p>
                      <a:pPr indent="0" lvl="0" marL="0" rtl="0" algn="l">
                        <a:spcBef>
                          <a:spcPts val="0"/>
                        </a:spcBef>
                        <a:spcAft>
                          <a:spcPts val="0"/>
                        </a:spcAft>
                        <a:buNone/>
                      </a:pPr>
                      <a:r>
                        <a:t/>
                      </a:r>
                      <a:endParaRPr/>
                    </a:p>
                  </a:txBody>
                  <a:tcPr marT="0" marB="0" marR="0" marL="0">
                    <a:solidFill>
                      <a:srgbClr val="D9D9D9"/>
                    </a:solidFill>
                  </a:tcPr>
                </a:tc>
                <a:tc>
                  <a:txBody>
                    <a:bodyPr/>
                    <a:lstStyle/>
                    <a:p>
                      <a:pPr indent="0" lvl="0" marL="0" rtl="0" algn="l">
                        <a:spcBef>
                          <a:spcPts val="0"/>
                        </a:spcBef>
                        <a:spcAft>
                          <a:spcPts val="0"/>
                        </a:spcAft>
                        <a:buNone/>
                      </a:pPr>
                      <a:r>
                        <a:t/>
                      </a:r>
                      <a:endParaRPr/>
                    </a:p>
                  </a:txBody>
                  <a:tcPr marT="0" marB="0" marR="0" marL="0">
                    <a:solidFill>
                      <a:srgbClr val="D9D9D9"/>
                    </a:solidFill>
                  </a:tcPr>
                </a:tc>
                <a:tc>
                  <a:txBody>
                    <a:bodyPr/>
                    <a:lstStyle/>
                    <a:p>
                      <a:pPr indent="0" lvl="0" marL="0" rtl="0" algn="l">
                        <a:spcBef>
                          <a:spcPts val="0"/>
                        </a:spcBef>
                        <a:spcAft>
                          <a:spcPts val="0"/>
                        </a:spcAft>
                        <a:buNone/>
                      </a:pPr>
                      <a:r>
                        <a:t/>
                      </a:r>
                      <a:endParaRPr/>
                    </a:p>
                  </a:txBody>
                  <a:tcPr marT="0" marB="0" marR="0" marL="0">
                    <a:solidFill>
                      <a:srgbClr val="D9EAD3"/>
                    </a:solidFill>
                  </a:tcPr>
                </a:tc>
                <a:tc>
                  <a:txBody>
                    <a:bodyPr/>
                    <a:lstStyle/>
                    <a:p>
                      <a:pPr indent="0" lvl="0" marL="0" rtl="0" algn="l">
                        <a:spcBef>
                          <a:spcPts val="0"/>
                        </a:spcBef>
                        <a:spcAft>
                          <a:spcPts val="0"/>
                        </a:spcAft>
                        <a:buNone/>
                      </a:pPr>
                      <a:r>
                        <a:t/>
                      </a:r>
                      <a:endParaRPr/>
                    </a:p>
                  </a:txBody>
                  <a:tcPr marT="0" marB="0" marR="0" marL="0">
                    <a:solidFill>
                      <a:srgbClr val="D9EAD3"/>
                    </a:solidFill>
                  </a:tcPr>
                </a:tc>
                <a:tc>
                  <a:txBody>
                    <a:bodyPr/>
                    <a:lstStyle/>
                    <a:p>
                      <a:pPr indent="0" lvl="0" marL="0" rtl="0" algn="l">
                        <a:spcBef>
                          <a:spcPts val="0"/>
                        </a:spcBef>
                        <a:spcAft>
                          <a:spcPts val="0"/>
                        </a:spcAft>
                        <a:buNone/>
                      </a:pPr>
                      <a:r>
                        <a:t/>
                      </a:r>
                      <a:endParaRPr/>
                    </a:p>
                  </a:txBody>
                  <a:tcPr marT="0" marB="0" marR="0" marL="0">
                    <a:solidFill>
                      <a:srgbClr val="D9EAD3"/>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r>
              <a:tr h="193600">
                <a:tc>
                  <a:txBody>
                    <a:bodyPr/>
                    <a:lstStyle/>
                    <a:p>
                      <a:pPr indent="0" lvl="0" marL="0" rtl="0" algn="l">
                        <a:spcBef>
                          <a:spcPts val="0"/>
                        </a:spcBef>
                        <a:spcAft>
                          <a:spcPts val="0"/>
                        </a:spcAft>
                        <a:buNone/>
                      </a:pPr>
                      <a:r>
                        <a:t/>
                      </a:r>
                      <a:endParaRPr/>
                    </a:p>
                  </a:txBody>
                  <a:tcPr marT="0" marB="0" marR="0" marL="0">
                    <a:solidFill>
                      <a:srgbClr val="D9D9D9"/>
                    </a:solidFill>
                  </a:tcPr>
                </a:tc>
                <a:tc>
                  <a:txBody>
                    <a:bodyPr/>
                    <a:lstStyle/>
                    <a:p>
                      <a:pPr indent="0" lvl="0" marL="0" rtl="0" algn="l">
                        <a:spcBef>
                          <a:spcPts val="0"/>
                        </a:spcBef>
                        <a:spcAft>
                          <a:spcPts val="0"/>
                        </a:spcAft>
                        <a:buNone/>
                      </a:pPr>
                      <a:r>
                        <a:t/>
                      </a:r>
                      <a:endParaRPr/>
                    </a:p>
                  </a:txBody>
                  <a:tcPr marT="0" marB="0" marR="0" marL="0">
                    <a:solidFill>
                      <a:srgbClr val="D9D9D9"/>
                    </a:solidFill>
                  </a:tcPr>
                </a:tc>
                <a:tc>
                  <a:txBody>
                    <a:bodyPr/>
                    <a:lstStyle/>
                    <a:p>
                      <a:pPr indent="0" lvl="0" marL="0" rtl="0" algn="l">
                        <a:spcBef>
                          <a:spcPts val="0"/>
                        </a:spcBef>
                        <a:spcAft>
                          <a:spcPts val="0"/>
                        </a:spcAft>
                        <a:buNone/>
                      </a:pPr>
                      <a:r>
                        <a:t/>
                      </a:r>
                      <a:endParaRPr/>
                    </a:p>
                  </a:txBody>
                  <a:tcPr marT="0" marB="0" marR="0" marL="0">
                    <a:solidFill>
                      <a:srgbClr val="D9EAD3"/>
                    </a:solidFill>
                  </a:tcPr>
                </a:tc>
                <a:tc>
                  <a:txBody>
                    <a:bodyPr/>
                    <a:lstStyle/>
                    <a:p>
                      <a:pPr indent="0" lvl="0" marL="0" rtl="0" algn="l">
                        <a:spcBef>
                          <a:spcPts val="0"/>
                        </a:spcBef>
                        <a:spcAft>
                          <a:spcPts val="0"/>
                        </a:spcAft>
                        <a:buNone/>
                      </a:pPr>
                      <a:r>
                        <a:t/>
                      </a:r>
                      <a:endParaRPr/>
                    </a:p>
                  </a:txBody>
                  <a:tcPr marT="0" marB="0" marR="0" marL="0">
                    <a:solidFill>
                      <a:srgbClr val="D9EAD3"/>
                    </a:solidFill>
                  </a:tcPr>
                </a:tc>
                <a:tc>
                  <a:txBody>
                    <a:bodyPr/>
                    <a:lstStyle/>
                    <a:p>
                      <a:pPr indent="0" lvl="0" marL="0" rtl="0" algn="l">
                        <a:spcBef>
                          <a:spcPts val="0"/>
                        </a:spcBef>
                        <a:spcAft>
                          <a:spcPts val="0"/>
                        </a:spcAft>
                        <a:buNone/>
                      </a:pPr>
                      <a:r>
                        <a:t/>
                      </a:r>
                      <a:endParaRPr/>
                    </a:p>
                  </a:txBody>
                  <a:tcPr marT="0" marB="0" marR="0" marL="0">
                    <a:solidFill>
                      <a:srgbClr val="D9EAD3"/>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r>
              <a:tr h="203375">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r>
              <a:tr h="193600">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r>
              <a:tr h="203375">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r>
              <a:tr h="193600">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r>
              <a:tr h="193600">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rgbClr val="D9D2E9"/>
                    </a:solidFill>
                  </a:tcPr>
                </a:tc>
                <a:tc>
                  <a:txBody>
                    <a:bodyPr/>
                    <a:lstStyle/>
                    <a:p>
                      <a:pPr indent="0" lvl="0" marL="0" rtl="0" algn="l">
                        <a:spcBef>
                          <a:spcPts val="0"/>
                        </a:spcBef>
                        <a:spcAft>
                          <a:spcPts val="0"/>
                        </a:spcAft>
                        <a:buNone/>
                      </a:pPr>
                      <a:r>
                        <a:t/>
                      </a:r>
                      <a:endParaRPr/>
                    </a:p>
                  </a:txBody>
                  <a:tcPr marT="0" marB="0" marR="0" marL="0">
                    <a:solidFill>
                      <a:srgbClr val="D9D2E9"/>
                    </a:solidFill>
                  </a:tcPr>
                </a:tc>
              </a:tr>
              <a:tr h="203375">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D9D9D9"/>
                    </a:solidFill>
                  </a:tcPr>
                </a:tc>
                <a:tc>
                  <a:txBody>
                    <a:bodyPr/>
                    <a:lstStyle/>
                    <a:p>
                      <a:pPr indent="0" lvl="0" marL="0" rtl="0" algn="l">
                        <a:spcBef>
                          <a:spcPts val="0"/>
                        </a:spcBef>
                        <a:spcAft>
                          <a:spcPts val="0"/>
                        </a:spcAft>
                        <a:buNone/>
                      </a:pPr>
                      <a:r>
                        <a:t/>
                      </a:r>
                      <a:endParaRPr/>
                    </a:p>
                  </a:txBody>
                  <a:tcPr marT="0" marB="0" marR="0" marL="0">
                    <a:solidFill>
                      <a:srgbClr val="D9D9D9"/>
                    </a:solidFill>
                  </a:tcPr>
                </a:tc>
                <a:tc>
                  <a:txBody>
                    <a:bodyPr/>
                    <a:lstStyle/>
                    <a:p>
                      <a:pPr indent="0" lvl="0" marL="0" rtl="0" algn="l">
                        <a:spcBef>
                          <a:spcPts val="0"/>
                        </a:spcBef>
                        <a:spcAft>
                          <a:spcPts val="0"/>
                        </a:spcAft>
                        <a:buNone/>
                      </a:pPr>
                      <a:r>
                        <a:t/>
                      </a:r>
                      <a:endParaRPr/>
                    </a:p>
                  </a:txBody>
                  <a:tcPr marT="0" marB="0" marR="0" marL="0">
                    <a:solidFill>
                      <a:srgbClr val="D9D9D9"/>
                    </a:solidFill>
                  </a:tcPr>
                </a:tc>
                <a:tc>
                  <a:txBody>
                    <a:bodyPr/>
                    <a:lstStyle/>
                    <a:p>
                      <a:pPr indent="0" lvl="0" marL="0" rtl="0" algn="l">
                        <a:spcBef>
                          <a:spcPts val="0"/>
                        </a:spcBef>
                        <a:spcAft>
                          <a:spcPts val="0"/>
                        </a:spcAft>
                        <a:buNone/>
                      </a:pPr>
                      <a:r>
                        <a:t/>
                      </a:r>
                      <a:endParaRPr/>
                    </a:p>
                  </a:txBody>
                  <a:tcPr marT="0" marB="0" marR="0" marL="0">
                    <a:solidFill>
                      <a:srgbClr val="D9D9D9"/>
                    </a:solidFill>
                  </a:tcPr>
                </a:tc>
              </a:tr>
              <a:tr h="193600">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FCE5CD"/>
                    </a:solidFill>
                  </a:tcPr>
                </a:tc>
                <a:tc>
                  <a:txBody>
                    <a:bodyPr/>
                    <a:lstStyle/>
                    <a:p>
                      <a:pPr indent="0" lvl="0" marL="0" rtl="0" algn="l">
                        <a:spcBef>
                          <a:spcPts val="0"/>
                        </a:spcBef>
                        <a:spcAft>
                          <a:spcPts val="0"/>
                        </a:spcAft>
                        <a:buNone/>
                      </a:pPr>
                      <a:r>
                        <a:t/>
                      </a:r>
                      <a:endParaRPr/>
                    </a:p>
                  </a:txBody>
                  <a:tcPr marT="0" marB="0" marR="0" marL="0">
                    <a:solidFill>
                      <a:srgbClr val="D9D9D9"/>
                    </a:solidFill>
                  </a:tcPr>
                </a:tc>
                <a:tc>
                  <a:txBody>
                    <a:bodyPr/>
                    <a:lstStyle/>
                    <a:p>
                      <a:pPr indent="0" lvl="0" marL="0" rtl="0" algn="l">
                        <a:spcBef>
                          <a:spcPts val="0"/>
                        </a:spcBef>
                        <a:spcAft>
                          <a:spcPts val="0"/>
                        </a:spcAft>
                        <a:buNone/>
                      </a:pPr>
                      <a:r>
                        <a:t/>
                      </a:r>
                      <a:endParaRPr/>
                    </a:p>
                  </a:txBody>
                  <a:tcPr marT="0" marB="0" marR="0" marL="0">
                    <a:solidFill>
                      <a:srgbClr val="D9D9D9"/>
                    </a:solidFill>
                  </a:tcPr>
                </a:tc>
                <a:tc>
                  <a:txBody>
                    <a:bodyPr/>
                    <a:lstStyle/>
                    <a:p>
                      <a:pPr indent="0" lvl="0" marL="0" rtl="0" algn="l">
                        <a:spcBef>
                          <a:spcPts val="0"/>
                        </a:spcBef>
                        <a:spcAft>
                          <a:spcPts val="0"/>
                        </a:spcAft>
                        <a:buNone/>
                      </a:pPr>
                      <a:r>
                        <a:t/>
                      </a:r>
                      <a:endParaRPr/>
                    </a:p>
                  </a:txBody>
                  <a:tcPr marT="0" marB="0" marR="0" marL="0">
                    <a:solidFill>
                      <a:srgbClr val="D9D9D9"/>
                    </a:solidFill>
                  </a:tcPr>
                </a:tc>
                <a:tc>
                  <a:txBody>
                    <a:bodyPr/>
                    <a:lstStyle/>
                    <a:p>
                      <a:pPr indent="0" lvl="0" marL="0" rtl="0" algn="l">
                        <a:spcBef>
                          <a:spcPts val="0"/>
                        </a:spcBef>
                        <a:spcAft>
                          <a:spcPts val="0"/>
                        </a:spcAft>
                        <a:buNone/>
                      </a:pPr>
                      <a:r>
                        <a:t/>
                      </a:r>
                      <a:endParaRPr/>
                    </a:p>
                  </a:txBody>
                  <a:tcPr marT="0" marB="0" marR="0" marL="0">
                    <a:solidFill>
                      <a:srgbClr val="D9D9D9"/>
                    </a:solidFill>
                  </a:tcPr>
                </a:tc>
              </a:tr>
              <a:tr h="203375">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rgbClr val="F4CCCC"/>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chemeClr val="lt2"/>
                    </a:solidFill>
                  </a:tcPr>
                </a:tc>
                <a:tc>
                  <a:txBody>
                    <a:bodyPr/>
                    <a:lstStyle/>
                    <a:p>
                      <a:pPr indent="0" lvl="0" marL="0" rtl="0" algn="l">
                        <a:spcBef>
                          <a:spcPts val="0"/>
                        </a:spcBef>
                        <a:spcAft>
                          <a:spcPts val="0"/>
                        </a:spcAft>
                        <a:buNone/>
                      </a:pPr>
                      <a:r>
                        <a:t/>
                      </a:r>
                      <a:endParaRPr/>
                    </a:p>
                  </a:txBody>
                  <a:tcPr marT="0" marB="0" marR="0" marL="0">
                    <a:solidFill>
                      <a:srgbClr val="D9D9D9"/>
                    </a:solidFill>
                  </a:tcPr>
                </a:tc>
                <a:tc>
                  <a:txBody>
                    <a:bodyPr/>
                    <a:lstStyle/>
                    <a:p>
                      <a:pPr indent="0" lvl="0" marL="0" rtl="0" algn="l">
                        <a:spcBef>
                          <a:spcPts val="0"/>
                        </a:spcBef>
                        <a:spcAft>
                          <a:spcPts val="0"/>
                        </a:spcAft>
                        <a:buNone/>
                      </a:pPr>
                      <a:r>
                        <a:t/>
                      </a:r>
                      <a:endParaRPr/>
                    </a:p>
                  </a:txBody>
                  <a:tcPr marT="0" marB="0" marR="0" marL="0">
                    <a:solidFill>
                      <a:srgbClr val="D9D9D9"/>
                    </a:solidFill>
                  </a:tcPr>
                </a:tc>
                <a:tc>
                  <a:txBody>
                    <a:bodyPr/>
                    <a:lstStyle/>
                    <a:p>
                      <a:pPr indent="0" lvl="0" marL="0" rtl="0" algn="l">
                        <a:spcBef>
                          <a:spcPts val="0"/>
                        </a:spcBef>
                        <a:spcAft>
                          <a:spcPts val="0"/>
                        </a:spcAft>
                        <a:buNone/>
                      </a:pPr>
                      <a:r>
                        <a:t/>
                      </a:r>
                      <a:endParaRPr/>
                    </a:p>
                  </a:txBody>
                  <a:tcPr marT="0" marB="0" marR="0" marL="0">
                    <a:solidFill>
                      <a:srgbClr val="D9D9D9"/>
                    </a:solidFill>
                  </a:tcPr>
                </a:tc>
                <a:tc>
                  <a:txBody>
                    <a:bodyPr/>
                    <a:lstStyle/>
                    <a:p>
                      <a:pPr indent="0" lvl="0" marL="0" rtl="0" algn="l">
                        <a:spcBef>
                          <a:spcPts val="0"/>
                        </a:spcBef>
                        <a:spcAft>
                          <a:spcPts val="0"/>
                        </a:spcAft>
                        <a:buNone/>
                      </a:pPr>
                      <a:r>
                        <a:t/>
                      </a:r>
                      <a:endParaRPr/>
                    </a:p>
                  </a:txBody>
                  <a:tcPr marT="0" marB="0" marR="0" marL="0">
                    <a:solidFill>
                      <a:srgbClr val="D9D9D9"/>
                    </a:solidFill>
                  </a:tcPr>
                </a:tc>
              </a:tr>
            </a:tbl>
          </a:graphicData>
        </a:graphic>
      </p:graphicFrame>
      <p:cxnSp>
        <p:nvCxnSpPr>
          <p:cNvPr id="302" name="Google Shape;302;p39"/>
          <p:cNvCxnSpPr/>
          <p:nvPr/>
        </p:nvCxnSpPr>
        <p:spPr>
          <a:xfrm rot="10800000">
            <a:off x="1434450" y="1894025"/>
            <a:ext cx="0" cy="2790600"/>
          </a:xfrm>
          <a:prstGeom prst="straightConnector1">
            <a:avLst/>
          </a:prstGeom>
          <a:noFill/>
          <a:ln cap="flat" cmpd="sng" w="19050">
            <a:solidFill>
              <a:schemeClr val="dk2"/>
            </a:solidFill>
            <a:prstDash val="solid"/>
            <a:round/>
            <a:headEnd len="med" w="med" type="none"/>
            <a:tailEnd len="med" w="med" type="triangle"/>
          </a:ln>
        </p:spPr>
      </p:cxnSp>
      <p:cxnSp>
        <p:nvCxnSpPr>
          <p:cNvPr id="303" name="Google Shape;303;p39"/>
          <p:cNvCxnSpPr/>
          <p:nvPr/>
        </p:nvCxnSpPr>
        <p:spPr>
          <a:xfrm>
            <a:off x="1429025" y="4675250"/>
            <a:ext cx="6465000" cy="0"/>
          </a:xfrm>
          <a:prstGeom prst="straightConnector1">
            <a:avLst/>
          </a:prstGeom>
          <a:noFill/>
          <a:ln cap="flat" cmpd="sng" w="19050">
            <a:solidFill>
              <a:schemeClr val="dk2"/>
            </a:solidFill>
            <a:prstDash val="solid"/>
            <a:round/>
            <a:headEnd len="med" w="med" type="none"/>
            <a:tailEnd len="med" w="med" type="triangle"/>
          </a:ln>
        </p:spPr>
      </p:cxnSp>
      <p:sp>
        <p:nvSpPr>
          <p:cNvPr id="304" name="Google Shape;304;p39"/>
          <p:cNvSpPr txBox="1"/>
          <p:nvPr/>
        </p:nvSpPr>
        <p:spPr>
          <a:xfrm>
            <a:off x="3894000" y="4731400"/>
            <a:ext cx="13560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Time</a:t>
            </a:r>
            <a:endParaRPr>
              <a:latin typeface="Roboto"/>
              <a:ea typeface="Roboto"/>
              <a:cs typeface="Roboto"/>
              <a:sym typeface="Roboto"/>
            </a:endParaRPr>
          </a:p>
        </p:txBody>
      </p:sp>
      <p:sp>
        <p:nvSpPr>
          <p:cNvPr id="305" name="Google Shape;305;p39"/>
          <p:cNvSpPr txBox="1"/>
          <p:nvPr/>
        </p:nvSpPr>
        <p:spPr>
          <a:xfrm>
            <a:off x="405050" y="3166550"/>
            <a:ext cx="9831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Frequency</a:t>
            </a:r>
            <a:endParaRPr>
              <a:latin typeface="Roboto"/>
              <a:ea typeface="Roboto"/>
              <a:cs typeface="Roboto"/>
              <a:sym typeface="Roboto"/>
            </a:endParaRPr>
          </a:p>
        </p:txBody>
      </p:sp>
      <p:sp>
        <p:nvSpPr>
          <p:cNvPr id="306" name="Google Shape;306;p39"/>
          <p:cNvSpPr/>
          <p:nvPr/>
        </p:nvSpPr>
        <p:spPr>
          <a:xfrm>
            <a:off x="6628050" y="2157350"/>
            <a:ext cx="852900" cy="1781400"/>
          </a:xfrm>
          <a:prstGeom prst="rect">
            <a:avLst/>
          </a:prstGeom>
          <a:noFill/>
          <a:ln cap="flat" cmpd="sng" w="2857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07" name="Google Shape;307;p39"/>
          <p:cNvSpPr txBox="1"/>
          <p:nvPr/>
        </p:nvSpPr>
        <p:spPr>
          <a:xfrm>
            <a:off x="7755850" y="2717000"/>
            <a:ext cx="1136100" cy="7020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rgbClr val="9900FF"/>
                </a:solidFill>
                <a:latin typeface="Roboto"/>
                <a:ea typeface="Roboto"/>
                <a:cs typeface="Roboto"/>
                <a:sym typeface="Roboto"/>
              </a:rPr>
              <a:t>Purple user gets these frequencies...</a:t>
            </a:r>
            <a:endParaRPr>
              <a:solidFill>
                <a:srgbClr val="9900FF"/>
              </a:solidFill>
              <a:latin typeface="Roboto"/>
              <a:ea typeface="Roboto"/>
              <a:cs typeface="Roboto"/>
              <a:sym typeface="Roboto"/>
            </a:endParaRPr>
          </a:p>
        </p:txBody>
      </p:sp>
      <p:cxnSp>
        <p:nvCxnSpPr>
          <p:cNvPr id="308" name="Google Shape;308;p39"/>
          <p:cNvCxnSpPr/>
          <p:nvPr/>
        </p:nvCxnSpPr>
        <p:spPr>
          <a:xfrm>
            <a:off x="7664100" y="2157350"/>
            <a:ext cx="0" cy="1781400"/>
          </a:xfrm>
          <a:prstGeom prst="straightConnector1">
            <a:avLst/>
          </a:prstGeom>
          <a:noFill/>
          <a:ln cap="flat" cmpd="sng" w="19050">
            <a:solidFill>
              <a:srgbClr val="9900FF"/>
            </a:solidFill>
            <a:prstDash val="solid"/>
            <a:round/>
            <a:headEnd len="med" w="med" type="triangle"/>
            <a:tailEnd len="med" w="med" type="triangle"/>
          </a:ln>
        </p:spPr>
      </p:cxnSp>
      <p:sp>
        <p:nvSpPr>
          <p:cNvPr id="309" name="Google Shape;309;p39"/>
          <p:cNvSpPr txBox="1"/>
          <p:nvPr/>
        </p:nvSpPr>
        <p:spPr>
          <a:xfrm>
            <a:off x="6349500" y="1699325"/>
            <a:ext cx="1410000" cy="270900"/>
          </a:xfrm>
          <a:prstGeom prst="rect">
            <a:avLst/>
          </a:prstGeom>
          <a:noFill/>
          <a:ln>
            <a:noFill/>
          </a:ln>
        </p:spPr>
        <p:txBody>
          <a:bodyPr anchorCtr="0" anchor="t" bIns="27425" lIns="27425" spcFirstLastPara="1" rIns="27425" wrap="square" tIns="27425">
            <a:spAutoFit/>
          </a:bodyPr>
          <a:lstStyle/>
          <a:p>
            <a:pPr indent="0" lvl="0" marL="0" rtl="0" algn="l">
              <a:spcBef>
                <a:spcPts val="0"/>
              </a:spcBef>
              <a:spcAft>
                <a:spcPts val="0"/>
              </a:spcAft>
              <a:buNone/>
            </a:pPr>
            <a:r>
              <a:rPr lang="en">
                <a:solidFill>
                  <a:srgbClr val="9900FF"/>
                </a:solidFill>
                <a:latin typeface="Roboto"/>
                <a:ea typeface="Roboto"/>
                <a:cs typeface="Roboto"/>
                <a:sym typeface="Roboto"/>
              </a:rPr>
              <a:t>...at these times.</a:t>
            </a:r>
            <a:endParaRPr>
              <a:solidFill>
                <a:srgbClr val="9900FF"/>
              </a:solidFill>
              <a:latin typeface="Roboto"/>
              <a:ea typeface="Roboto"/>
              <a:cs typeface="Roboto"/>
              <a:sym typeface="Roboto"/>
            </a:endParaRPr>
          </a:p>
        </p:txBody>
      </p:sp>
      <p:cxnSp>
        <p:nvCxnSpPr>
          <p:cNvPr id="310" name="Google Shape;310;p39"/>
          <p:cNvCxnSpPr/>
          <p:nvPr/>
        </p:nvCxnSpPr>
        <p:spPr>
          <a:xfrm>
            <a:off x="6628050" y="2001200"/>
            <a:ext cx="852900" cy="0"/>
          </a:xfrm>
          <a:prstGeom prst="straightConnector1">
            <a:avLst/>
          </a:prstGeom>
          <a:noFill/>
          <a:ln cap="flat" cmpd="sng" w="19050">
            <a:solidFill>
              <a:srgbClr val="9900FF"/>
            </a:solidFill>
            <a:prstDash val="solid"/>
            <a:round/>
            <a:headEnd len="med" w="med" type="triangle"/>
            <a:tailEnd len="med" w="med" type="triangl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0"/>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Infrastructure Components: Radio Access Network</a:t>
            </a:r>
            <a:endParaRPr>
              <a:solidFill>
                <a:schemeClr val="accent3"/>
              </a:solidFill>
            </a:endParaRPr>
          </a:p>
        </p:txBody>
      </p:sp>
      <p:sp>
        <p:nvSpPr>
          <p:cNvPr id="316" name="Google Shape;316;p40"/>
          <p:cNvSpPr txBox="1"/>
          <p:nvPr>
            <p:ph idx="1" type="body"/>
          </p:nvPr>
        </p:nvSpPr>
        <p:spPr>
          <a:xfrm>
            <a:off x="107050" y="402200"/>
            <a:ext cx="8909700" cy="1482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Each operator has a </a:t>
            </a:r>
            <a:r>
              <a:rPr b="1" lang="en"/>
              <a:t>radio access network</a:t>
            </a:r>
            <a:r>
              <a:rPr lang="en"/>
              <a:t> of many towers.</a:t>
            </a:r>
            <a:endParaRPr/>
          </a:p>
          <a:p>
            <a:pPr indent="-342900" lvl="0" marL="457200" rtl="0" algn="l">
              <a:spcBef>
                <a:spcPts val="600"/>
              </a:spcBef>
              <a:spcAft>
                <a:spcPts val="0"/>
              </a:spcAft>
              <a:buSzPts val="1800"/>
              <a:buChar char="●"/>
            </a:pPr>
            <a:r>
              <a:rPr lang="en"/>
              <a:t>Neighboring towers are assigned non-overlapping frequency ranges.</a:t>
            </a:r>
            <a:endParaRPr/>
          </a:p>
          <a:p>
            <a:pPr indent="-342900" lvl="0" marL="457200" rtl="0" algn="l">
              <a:spcBef>
                <a:spcPts val="0"/>
              </a:spcBef>
              <a:spcAft>
                <a:spcPts val="0"/>
              </a:spcAft>
              <a:buSzPts val="1800"/>
              <a:buChar char="●"/>
            </a:pPr>
            <a:r>
              <a:rPr lang="en"/>
              <a:t>Towers in more populated areas can get allocated more frequencies.</a:t>
            </a:r>
            <a:endParaRPr/>
          </a:p>
        </p:txBody>
      </p:sp>
      <p:sp>
        <p:nvSpPr>
          <p:cNvPr id="317" name="Google Shape;317;p40"/>
          <p:cNvSpPr/>
          <p:nvPr/>
        </p:nvSpPr>
        <p:spPr>
          <a:xfrm>
            <a:off x="1785710" y="2078475"/>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318" name="Google Shape;318;p40"/>
          <p:cNvGrpSpPr/>
          <p:nvPr/>
        </p:nvGrpSpPr>
        <p:grpSpPr>
          <a:xfrm>
            <a:off x="2163047" y="2289931"/>
            <a:ext cx="205525" cy="409199"/>
            <a:chOff x="7897625" y="3319150"/>
            <a:chExt cx="645900" cy="1285575"/>
          </a:xfrm>
        </p:grpSpPr>
        <p:sp>
          <p:nvSpPr>
            <p:cNvPr id="319" name="Google Shape;319;p40"/>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20" name="Google Shape;320;p40"/>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321" name="Google Shape;321;p40"/>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322" name="Google Shape;322;p40"/>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323" name="Google Shape;323;p40"/>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324" name="Google Shape;324;p40"/>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325" name="Google Shape;325;p40"/>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326" name="Google Shape;326;p40"/>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327" name="Google Shape;327;p40"/>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328" name="Google Shape;328;p40"/>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29" name="Google Shape;329;p40"/>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30" name="Google Shape;330;p40"/>
            <p:cNvSpPr/>
            <p:nvPr/>
          </p:nvSpPr>
          <p:spPr>
            <a:xfrm>
              <a:off x="8198675" y="3551600"/>
              <a:ext cx="43800" cy="43800"/>
            </a:xfrm>
            <a:prstGeom prst="ellipse">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331" name="Google Shape;331;p40"/>
          <p:cNvSpPr/>
          <p:nvPr/>
        </p:nvSpPr>
        <p:spPr>
          <a:xfrm>
            <a:off x="1785710" y="2910667"/>
            <a:ext cx="960600" cy="832200"/>
          </a:xfrm>
          <a:prstGeom prst="hexagon">
            <a:avLst>
              <a:gd fmla="val 28852" name="adj"/>
              <a:gd fmla="val 115470" name="vf"/>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332" name="Google Shape;332;p40"/>
          <p:cNvGrpSpPr/>
          <p:nvPr/>
        </p:nvGrpSpPr>
        <p:grpSpPr>
          <a:xfrm>
            <a:off x="2163047" y="3122123"/>
            <a:ext cx="205525" cy="409199"/>
            <a:chOff x="7897625" y="3319150"/>
            <a:chExt cx="645900" cy="1285575"/>
          </a:xfrm>
        </p:grpSpPr>
        <p:sp>
          <p:nvSpPr>
            <p:cNvPr id="333" name="Google Shape;333;p40"/>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34" name="Google Shape;334;p40"/>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335" name="Google Shape;335;p40"/>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336" name="Google Shape;336;p40"/>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337" name="Google Shape;337;p40"/>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338" name="Google Shape;338;p40"/>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339" name="Google Shape;339;p40"/>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340" name="Google Shape;340;p40"/>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341" name="Google Shape;341;p40"/>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342" name="Google Shape;342;p40"/>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3" name="Google Shape;343;p40"/>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44" name="Google Shape;344;p40"/>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345" name="Google Shape;345;p40"/>
          <p:cNvSpPr/>
          <p:nvPr/>
        </p:nvSpPr>
        <p:spPr>
          <a:xfrm>
            <a:off x="1066200" y="2496334"/>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346" name="Google Shape;346;p40"/>
          <p:cNvGrpSpPr/>
          <p:nvPr/>
        </p:nvGrpSpPr>
        <p:grpSpPr>
          <a:xfrm>
            <a:off x="1443547" y="2707790"/>
            <a:ext cx="205525" cy="409199"/>
            <a:chOff x="7897625" y="3319150"/>
            <a:chExt cx="645900" cy="1285575"/>
          </a:xfrm>
        </p:grpSpPr>
        <p:sp>
          <p:nvSpPr>
            <p:cNvPr id="347" name="Google Shape;347;p40"/>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48" name="Google Shape;348;p40"/>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349" name="Google Shape;349;p40"/>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350" name="Google Shape;350;p40"/>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351" name="Google Shape;351;p40"/>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352" name="Google Shape;352;p40"/>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353" name="Google Shape;353;p40"/>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354" name="Google Shape;354;p40"/>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355" name="Google Shape;355;p40"/>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356" name="Google Shape;356;p40"/>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7" name="Google Shape;357;p40"/>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58" name="Google Shape;358;p40"/>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359" name="Google Shape;359;p40"/>
          <p:cNvSpPr/>
          <p:nvPr/>
        </p:nvSpPr>
        <p:spPr>
          <a:xfrm>
            <a:off x="2505200" y="2496334"/>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360" name="Google Shape;360;p40"/>
          <p:cNvGrpSpPr/>
          <p:nvPr/>
        </p:nvGrpSpPr>
        <p:grpSpPr>
          <a:xfrm>
            <a:off x="2882547" y="2707790"/>
            <a:ext cx="205525" cy="409199"/>
            <a:chOff x="7897625" y="3319150"/>
            <a:chExt cx="645900" cy="1285575"/>
          </a:xfrm>
        </p:grpSpPr>
        <p:sp>
          <p:nvSpPr>
            <p:cNvPr id="361" name="Google Shape;361;p40"/>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62" name="Google Shape;362;p40"/>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363" name="Google Shape;363;p40"/>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364" name="Google Shape;364;p40"/>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365" name="Google Shape;365;p40"/>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366" name="Google Shape;366;p40"/>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367" name="Google Shape;367;p40"/>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368" name="Google Shape;368;p40"/>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369" name="Google Shape;369;p40"/>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370" name="Google Shape;370;p40"/>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71" name="Google Shape;371;p40"/>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72" name="Google Shape;372;p40"/>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373" name="Google Shape;373;p40"/>
          <p:cNvSpPr/>
          <p:nvPr/>
        </p:nvSpPr>
        <p:spPr>
          <a:xfrm>
            <a:off x="2505200" y="3328526"/>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374" name="Google Shape;374;p40"/>
          <p:cNvGrpSpPr/>
          <p:nvPr/>
        </p:nvGrpSpPr>
        <p:grpSpPr>
          <a:xfrm>
            <a:off x="2882547" y="3539982"/>
            <a:ext cx="205525" cy="409199"/>
            <a:chOff x="7897625" y="3319150"/>
            <a:chExt cx="645900" cy="1285575"/>
          </a:xfrm>
        </p:grpSpPr>
        <p:sp>
          <p:nvSpPr>
            <p:cNvPr id="375" name="Google Shape;375;p40"/>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76" name="Google Shape;376;p40"/>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377" name="Google Shape;377;p40"/>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378" name="Google Shape;378;p40"/>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379" name="Google Shape;379;p40"/>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380" name="Google Shape;380;p40"/>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381" name="Google Shape;381;p40"/>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382" name="Google Shape;382;p40"/>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383" name="Google Shape;383;p40"/>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384" name="Google Shape;384;p40"/>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5" name="Google Shape;385;p40"/>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86" name="Google Shape;386;p40"/>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387" name="Google Shape;387;p40"/>
          <p:cNvSpPr/>
          <p:nvPr/>
        </p:nvSpPr>
        <p:spPr>
          <a:xfrm>
            <a:off x="1066200" y="3328526"/>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388" name="Google Shape;388;p40"/>
          <p:cNvGrpSpPr/>
          <p:nvPr/>
        </p:nvGrpSpPr>
        <p:grpSpPr>
          <a:xfrm>
            <a:off x="1443547" y="3539982"/>
            <a:ext cx="205525" cy="409199"/>
            <a:chOff x="7897625" y="3319150"/>
            <a:chExt cx="645900" cy="1285575"/>
          </a:xfrm>
        </p:grpSpPr>
        <p:sp>
          <p:nvSpPr>
            <p:cNvPr id="389" name="Google Shape;389;p40"/>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390" name="Google Shape;390;p40"/>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391" name="Google Shape;391;p40"/>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392" name="Google Shape;392;p40"/>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393" name="Google Shape;393;p40"/>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394" name="Google Shape;394;p40"/>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395" name="Google Shape;395;p40"/>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396" name="Google Shape;396;p40"/>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397" name="Google Shape;397;p40"/>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398" name="Google Shape;398;p40"/>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399" name="Google Shape;399;p40"/>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00" name="Google Shape;400;p40"/>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401" name="Google Shape;401;p40"/>
          <p:cNvSpPr/>
          <p:nvPr/>
        </p:nvSpPr>
        <p:spPr>
          <a:xfrm>
            <a:off x="1785710" y="3742859"/>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402" name="Google Shape;402;p40"/>
          <p:cNvGrpSpPr/>
          <p:nvPr/>
        </p:nvGrpSpPr>
        <p:grpSpPr>
          <a:xfrm>
            <a:off x="2163037" y="3954316"/>
            <a:ext cx="205525" cy="409199"/>
            <a:chOff x="7897625" y="3319150"/>
            <a:chExt cx="645900" cy="1285575"/>
          </a:xfrm>
        </p:grpSpPr>
        <p:sp>
          <p:nvSpPr>
            <p:cNvPr id="403" name="Google Shape;403;p40"/>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04" name="Google Shape;404;p40"/>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405" name="Google Shape;405;p40"/>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406" name="Google Shape;406;p40"/>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407" name="Google Shape;407;p40"/>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408" name="Google Shape;408;p40"/>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409" name="Google Shape;409;p40"/>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410" name="Google Shape;410;p40"/>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411" name="Google Shape;411;p40"/>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412" name="Google Shape;412;p40"/>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13" name="Google Shape;413;p40"/>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14" name="Google Shape;414;p40"/>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415" name="Google Shape;415;p40"/>
          <p:cNvSpPr/>
          <p:nvPr/>
        </p:nvSpPr>
        <p:spPr>
          <a:xfrm>
            <a:off x="599312" y="4501275"/>
            <a:ext cx="3333383" cy="226355"/>
          </a:xfrm>
          <a:custGeom>
            <a:rect b="b" l="l" r="r" t="t"/>
            <a:pathLst>
              <a:path extrusionOk="0" h="4715" w="97746">
                <a:moveTo>
                  <a:pt x="0" y="0"/>
                </a:moveTo>
                <a:lnTo>
                  <a:pt x="0" y="4715"/>
                </a:lnTo>
                <a:lnTo>
                  <a:pt x="97746" y="4715"/>
                </a:lnTo>
                <a:lnTo>
                  <a:pt x="97746" y="0"/>
                </a:lnTo>
              </a:path>
            </a:pathLst>
          </a:custGeom>
          <a:noFill/>
          <a:ln cap="flat" cmpd="sng" w="19050">
            <a:solidFill>
              <a:schemeClr val="dk2"/>
            </a:solidFill>
            <a:prstDash val="solid"/>
            <a:round/>
            <a:headEnd len="med" w="med" type="none"/>
            <a:tailEnd len="med" w="med" type="none"/>
          </a:ln>
        </p:spPr>
      </p:sp>
      <p:sp>
        <p:nvSpPr>
          <p:cNvPr id="416" name="Google Shape;416;p40"/>
          <p:cNvSpPr txBox="1"/>
          <p:nvPr/>
        </p:nvSpPr>
        <p:spPr>
          <a:xfrm>
            <a:off x="720550" y="4727625"/>
            <a:ext cx="30909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Cellular Radio Access Network (RAN)</a:t>
            </a:r>
            <a:endParaRPr>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cxnSp>
        <p:nvCxnSpPr>
          <p:cNvPr id="421" name="Google Shape;421;p41"/>
          <p:cNvCxnSpPr>
            <a:stCxn id="422" idx="2"/>
            <a:endCxn id="423" idx="0"/>
          </p:cNvCxnSpPr>
          <p:nvPr/>
        </p:nvCxnSpPr>
        <p:spPr>
          <a:xfrm flipH="1">
            <a:off x="5684250" y="3339925"/>
            <a:ext cx="1221600" cy="609300"/>
          </a:xfrm>
          <a:prstGeom prst="straightConnector1">
            <a:avLst/>
          </a:prstGeom>
          <a:noFill/>
          <a:ln cap="flat" cmpd="sng" w="9525">
            <a:solidFill>
              <a:srgbClr val="9900FF"/>
            </a:solidFill>
            <a:prstDash val="dash"/>
            <a:round/>
            <a:headEnd len="med" w="med" type="none"/>
            <a:tailEnd len="med" w="med" type="none"/>
          </a:ln>
        </p:spPr>
      </p:cxnSp>
      <p:cxnSp>
        <p:nvCxnSpPr>
          <p:cNvPr id="424" name="Google Shape;424;p41"/>
          <p:cNvCxnSpPr>
            <a:stCxn id="425" idx="2"/>
            <a:endCxn id="423" idx="0"/>
          </p:cNvCxnSpPr>
          <p:nvPr/>
        </p:nvCxnSpPr>
        <p:spPr>
          <a:xfrm>
            <a:off x="4549000" y="3054925"/>
            <a:ext cx="1135500" cy="894300"/>
          </a:xfrm>
          <a:prstGeom prst="straightConnector1">
            <a:avLst/>
          </a:prstGeom>
          <a:noFill/>
          <a:ln cap="flat" cmpd="sng" w="9525">
            <a:solidFill>
              <a:srgbClr val="9900FF"/>
            </a:solidFill>
            <a:prstDash val="dash"/>
            <a:round/>
            <a:headEnd len="med" w="med" type="none"/>
            <a:tailEnd len="med" w="med" type="none"/>
          </a:ln>
        </p:spPr>
      </p:cxnSp>
      <p:cxnSp>
        <p:nvCxnSpPr>
          <p:cNvPr id="426" name="Google Shape;426;p41"/>
          <p:cNvCxnSpPr>
            <a:stCxn id="427" idx="2"/>
            <a:endCxn id="423" idx="0"/>
          </p:cNvCxnSpPr>
          <p:nvPr/>
        </p:nvCxnSpPr>
        <p:spPr>
          <a:xfrm>
            <a:off x="4543650" y="3613525"/>
            <a:ext cx="1140600" cy="335700"/>
          </a:xfrm>
          <a:prstGeom prst="straightConnector1">
            <a:avLst/>
          </a:prstGeom>
          <a:noFill/>
          <a:ln cap="flat" cmpd="sng" w="9525">
            <a:solidFill>
              <a:srgbClr val="9900FF"/>
            </a:solidFill>
            <a:prstDash val="dash"/>
            <a:round/>
            <a:headEnd len="med" w="med" type="none"/>
            <a:tailEnd len="med" w="med" type="none"/>
          </a:ln>
        </p:spPr>
      </p:cxnSp>
      <p:sp>
        <p:nvSpPr>
          <p:cNvPr id="428" name="Google Shape;428;p41"/>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Infrastructure Components: Cellular Core</a:t>
            </a:r>
            <a:endParaRPr/>
          </a:p>
        </p:txBody>
      </p:sp>
      <p:sp>
        <p:nvSpPr>
          <p:cNvPr id="429" name="Google Shape;429;p41"/>
          <p:cNvSpPr txBox="1"/>
          <p:nvPr>
            <p:ph idx="1" type="body"/>
          </p:nvPr>
        </p:nvSpPr>
        <p:spPr>
          <a:xfrm>
            <a:off x="107050" y="402200"/>
            <a:ext cx="8909700" cy="1482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The </a:t>
            </a:r>
            <a:r>
              <a:rPr b="1" lang="en"/>
              <a:t>cellular core</a:t>
            </a:r>
            <a:r>
              <a:rPr lang="en"/>
              <a:t> is the "backend" of the cellular network.</a:t>
            </a:r>
            <a:endParaRPr/>
          </a:p>
        </p:txBody>
      </p:sp>
      <p:sp>
        <p:nvSpPr>
          <p:cNvPr id="430" name="Google Shape;430;p41"/>
          <p:cNvSpPr/>
          <p:nvPr/>
        </p:nvSpPr>
        <p:spPr>
          <a:xfrm>
            <a:off x="1785710" y="2078475"/>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431" name="Google Shape;431;p41"/>
          <p:cNvGrpSpPr/>
          <p:nvPr/>
        </p:nvGrpSpPr>
        <p:grpSpPr>
          <a:xfrm>
            <a:off x="2163047" y="2289931"/>
            <a:ext cx="205525" cy="409199"/>
            <a:chOff x="7897625" y="3319150"/>
            <a:chExt cx="645900" cy="1285575"/>
          </a:xfrm>
        </p:grpSpPr>
        <p:sp>
          <p:nvSpPr>
            <p:cNvPr id="432" name="Google Shape;432;p41"/>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33" name="Google Shape;433;p41"/>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434" name="Google Shape;434;p41"/>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435" name="Google Shape;435;p41"/>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436" name="Google Shape;436;p41"/>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437" name="Google Shape;437;p41"/>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438" name="Google Shape;438;p41"/>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439" name="Google Shape;439;p41"/>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440" name="Google Shape;440;p41"/>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441" name="Google Shape;441;p41"/>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42" name="Google Shape;442;p41"/>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43" name="Google Shape;443;p41"/>
            <p:cNvSpPr/>
            <p:nvPr/>
          </p:nvSpPr>
          <p:spPr>
            <a:xfrm>
              <a:off x="8198675" y="3551600"/>
              <a:ext cx="43800" cy="43800"/>
            </a:xfrm>
            <a:prstGeom prst="ellipse">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444" name="Google Shape;444;p41"/>
          <p:cNvSpPr/>
          <p:nvPr/>
        </p:nvSpPr>
        <p:spPr>
          <a:xfrm>
            <a:off x="1785710" y="2910667"/>
            <a:ext cx="960600" cy="832200"/>
          </a:xfrm>
          <a:prstGeom prst="hexagon">
            <a:avLst>
              <a:gd fmla="val 28852" name="adj"/>
              <a:gd fmla="val 115470" name="vf"/>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445" name="Google Shape;445;p41"/>
          <p:cNvGrpSpPr/>
          <p:nvPr/>
        </p:nvGrpSpPr>
        <p:grpSpPr>
          <a:xfrm>
            <a:off x="2163047" y="3122123"/>
            <a:ext cx="205525" cy="409199"/>
            <a:chOff x="7897625" y="3319150"/>
            <a:chExt cx="645900" cy="1285575"/>
          </a:xfrm>
        </p:grpSpPr>
        <p:sp>
          <p:nvSpPr>
            <p:cNvPr id="446" name="Google Shape;446;p41"/>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47" name="Google Shape;447;p41"/>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448" name="Google Shape;448;p41"/>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449" name="Google Shape;449;p41"/>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450" name="Google Shape;450;p41"/>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451" name="Google Shape;451;p41"/>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452" name="Google Shape;452;p41"/>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453" name="Google Shape;453;p41"/>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454" name="Google Shape;454;p41"/>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455" name="Google Shape;455;p41"/>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56" name="Google Shape;456;p41"/>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57" name="Google Shape;457;p41"/>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458" name="Google Shape;458;p41"/>
          <p:cNvSpPr/>
          <p:nvPr/>
        </p:nvSpPr>
        <p:spPr>
          <a:xfrm>
            <a:off x="1066200" y="2496334"/>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459" name="Google Shape;459;p41"/>
          <p:cNvGrpSpPr/>
          <p:nvPr/>
        </p:nvGrpSpPr>
        <p:grpSpPr>
          <a:xfrm>
            <a:off x="1443547" y="2707790"/>
            <a:ext cx="205525" cy="409199"/>
            <a:chOff x="7897625" y="3319150"/>
            <a:chExt cx="645900" cy="1285575"/>
          </a:xfrm>
        </p:grpSpPr>
        <p:sp>
          <p:nvSpPr>
            <p:cNvPr id="460" name="Google Shape;460;p41"/>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61" name="Google Shape;461;p41"/>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462" name="Google Shape;462;p41"/>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463" name="Google Shape;463;p41"/>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464" name="Google Shape;464;p41"/>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465" name="Google Shape;465;p41"/>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466" name="Google Shape;466;p41"/>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467" name="Google Shape;467;p41"/>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468" name="Google Shape;468;p41"/>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469" name="Google Shape;469;p41"/>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70" name="Google Shape;470;p41"/>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71" name="Google Shape;471;p41"/>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472" name="Google Shape;472;p41"/>
          <p:cNvSpPr/>
          <p:nvPr/>
        </p:nvSpPr>
        <p:spPr>
          <a:xfrm>
            <a:off x="2505200" y="2496334"/>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473" name="Google Shape;473;p41"/>
          <p:cNvGrpSpPr/>
          <p:nvPr/>
        </p:nvGrpSpPr>
        <p:grpSpPr>
          <a:xfrm>
            <a:off x="2882547" y="2707790"/>
            <a:ext cx="205525" cy="409199"/>
            <a:chOff x="7897625" y="3319150"/>
            <a:chExt cx="645900" cy="1285575"/>
          </a:xfrm>
        </p:grpSpPr>
        <p:sp>
          <p:nvSpPr>
            <p:cNvPr id="474" name="Google Shape;474;p41"/>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75" name="Google Shape;475;p41"/>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476" name="Google Shape;476;p41"/>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477" name="Google Shape;477;p41"/>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478" name="Google Shape;478;p41"/>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479" name="Google Shape;479;p41"/>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480" name="Google Shape;480;p41"/>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481" name="Google Shape;481;p41"/>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482" name="Google Shape;482;p41"/>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483" name="Google Shape;483;p41"/>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4" name="Google Shape;484;p41"/>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5" name="Google Shape;485;p41"/>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486" name="Google Shape;486;p41"/>
          <p:cNvSpPr/>
          <p:nvPr/>
        </p:nvSpPr>
        <p:spPr>
          <a:xfrm>
            <a:off x="2505200" y="3328526"/>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487" name="Google Shape;487;p41"/>
          <p:cNvGrpSpPr/>
          <p:nvPr/>
        </p:nvGrpSpPr>
        <p:grpSpPr>
          <a:xfrm>
            <a:off x="2882547" y="3539982"/>
            <a:ext cx="205525" cy="409199"/>
            <a:chOff x="7897625" y="3319150"/>
            <a:chExt cx="645900" cy="1285575"/>
          </a:xfrm>
        </p:grpSpPr>
        <p:sp>
          <p:nvSpPr>
            <p:cNvPr id="488" name="Google Shape;488;p41"/>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489" name="Google Shape;489;p41"/>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490" name="Google Shape;490;p41"/>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491" name="Google Shape;491;p41"/>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492" name="Google Shape;492;p41"/>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493" name="Google Shape;493;p41"/>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494" name="Google Shape;494;p41"/>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495" name="Google Shape;495;p41"/>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496" name="Google Shape;496;p41"/>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497" name="Google Shape;497;p41"/>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98" name="Google Shape;498;p41"/>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99" name="Google Shape;499;p41"/>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500" name="Google Shape;500;p41"/>
          <p:cNvSpPr/>
          <p:nvPr/>
        </p:nvSpPr>
        <p:spPr>
          <a:xfrm>
            <a:off x="1066200" y="3328526"/>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501" name="Google Shape;501;p41"/>
          <p:cNvGrpSpPr/>
          <p:nvPr/>
        </p:nvGrpSpPr>
        <p:grpSpPr>
          <a:xfrm>
            <a:off x="1443547" y="3539982"/>
            <a:ext cx="205525" cy="409199"/>
            <a:chOff x="7897625" y="3319150"/>
            <a:chExt cx="645900" cy="1285575"/>
          </a:xfrm>
        </p:grpSpPr>
        <p:sp>
          <p:nvSpPr>
            <p:cNvPr id="502" name="Google Shape;502;p41"/>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03" name="Google Shape;503;p41"/>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504" name="Google Shape;504;p41"/>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505" name="Google Shape;505;p41"/>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506" name="Google Shape;506;p41"/>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507" name="Google Shape;507;p41"/>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508" name="Google Shape;508;p41"/>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509" name="Google Shape;509;p41"/>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510" name="Google Shape;510;p41"/>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511" name="Google Shape;511;p41"/>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12" name="Google Shape;512;p41"/>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13" name="Google Shape;513;p41"/>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514" name="Google Shape;514;p41"/>
          <p:cNvSpPr/>
          <p:nvPr/>
        </p:nvSpPr>
        <p:spPr>
          <a:xfrm>
            <a:off x="1785710" y="3742859"/>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515" name="Google Shape;515;p41"/>
          <p:cNvGrpSpPr/>
          <p:nvPr/>
        </p:nvGrpSpPr>
        <p:grpSpPr>
          <a:xfrm>
            <a:off x="2163037" y="3954316"/>
            <a:ext cx="205525" cy="409199"/>
            <a:chOff x="7897625" y="3319150"/>
            <a:chExt cx="645900" cy="1285575"/>
          </a:xfrm>
        </p:grpSpPr>
        <p:sp>
          <p:nvSpPr>
            <p:cNvPr id="516" name="Google Shape;516;p41"/>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17" name="Google Shape;517;p41"/>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518" name="Google Shape;518;p41"/>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519" name="Google Shape;519;p41"/>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520" name="Google Shape;520;p41"/>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521" name="Google Shape;521;p41"/>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522" name="Google Shape;522;p41"/>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523" name="Google Shape;523;p41"/>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524" name="Google Shape;524;p41"/>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525" name="Google Shape;525;p41"/>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26" name="Google Shape;526;p41"/>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27" name="Google Shape;527;p41"/>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528" name="Google Shape;528;p41"/>
          <p:cNvSpPr/>
          <p:nvPr/>
        </p:nvSpPr>
        <p:spPr>
          <a:xfrm>
            <a:off x="599312" y="4501275"/>
            <a:ext cx="3333383" cy="226355"/>
          </a:xfrm>
          <a:custGeom>
            <a:rect b="b" l="l" r="r" t="t"/>
            <a:pathLst>
              <a:path extrusionOk="0" h="4715" w="97746">
                <a:moveTo>
                  <a:pt x="0" y="0"/>
                </a:moveTo>
                <a:lnTo>
                  <a:pt x="0" y="4715"/>
                </a:lnTo>
                <a:lnTo>
                  <a:pt x="97746" y="4715"/>
                </a:lnTo>
                <a:lnTo>
                  <a:pt x="97746" y="0"/>
                </a:lnTo>
              </a:path>
            </a:pathLst>
          </a:custGeom>
          <a:noFill/>
          <a:ln cap="flat" cmpd="sng" w="19050">
            <a:solidFill>
              <a:schemeClr val="dk2"/>
            </a:solidFill>
            <a:prstDash val="solid"/>
            <a:round/>
            <a:headEnd len="med" w="med" type="none"/>
            <a:tailEnd len="med" w="med" type="none"/>
          </a:ln>
        </p:spPr>
      </p:sp>
      <p:sp>
        <p:nvSpPr>
          <p:cNvPr id="529" name="Google Shape;529;p41"/>
          <p:cNvSpPr txBox="1"/>
          <p:nvPr/>
        </p:nvSpPr>
        <p:spPr>
          <a:xfrm>
            <a:off x="720550" y="4727625"/>
            <a:ext cx="30909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Cellular Radio Access Network (RAN)</a:t>
            </a:r>
            <a:endParaRPr>
              <a:latin typeface="Roboto"/>
              <a:ea typeface="Roboto"/>
              <a:cs typeface="Roboto"/>
              <a:sym typeface="Roboto"/>
            </a:endParaRPr>
          </a:p>
        </p:txBody>
      </p:sp>
      <p:sp>
        <p:nvSpPr>
          <p:cNvPr id="425" name="Google Shape;425;p41"/>
          <p:cNvSpPr/>
          <p:nvPr/>
        </p:nvSpPr>
        <p:spPr>
          <a:xfrm>
            <a:off x="4406500" y="27699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427" name="Google Shape;427;p41"/>
          <p:cNvSpPr/>
          <p:nvPr/>
        </p:nvSpPr>
        <p:spPr>
          <a:xfrm>
            <a:off x="4401150" y="33285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sp>
        <p:nvSpPr>
          <p:cNvPr id="422" name="Google Shape;422;p41"/>
          <p:cNvSpPr/>
          <p:nvPr/>
        </p:nvSpPr>
        <p:spPr>
          <a:xfrm>
            <a:off x="6763350" y="30549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P1</a:t>
            </a:r>
            <a:endParaRPr>
              <a:latin typeface="Roboto"/>
              <a:ea typeface="Roboto"/>
              <a:cs typeface="Roboto"/>
              <a:sym typeface="Roboto"/>
            </a:endParaRPr>
          </a:p>
        </p:txBody>
      </p:sp>
      <p:sp>
        <p:nvSpPr>
          <p:cNvPr id="423" name="Google Shape;423;p41"/>
          <p:cNvSpPr/>
          <p:nvPr/>
        </p:nvSpPr>
        <p:spPr>
          <a:xfrm>
            <a:off x="5204075" y="3949175"/>
            <a:ext cx="960600" cy="5508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Mobility Manager</a:t>
            </a:r>
            <a:endParaRPr>
              <a:latin typeface="Roboto"/>
              <a:ea typeface="Roboto"/>
              <a:cs typeface="Roboto"/>
              <a:sym typeface="Roboto"/>
            </a:endParaRPr>
          </a:p>
        </p:txBody>
      </p:sp>
      <p:sp>
        <p:nvSpPr>
          <p:cNvPr id="530" name="Google Shape;530;p41"/>
          <p:cNvSpPr/>
          <p:nvPr/>
        </p:nvSpPr>
        <p:spPr>
          <a:xfrm>
            <a:off x="6610950" y="3933575"/>
            <a:ext cx="960600" cy="5820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Database</a:t>
            </a:r>
            <a:endParaRPr>
              <a:latin typeface="Roboto"/>
              <a:ea typeface="Roboto"/>
              <a:cs typeface="Roboto"/>
              <a:sym typeface="Roboto"/>
            </a:endParaRPr>
          </a:p>
        </p:txBody>
      </p:sp>
      <p:sp>
        <p:nvSpPr>
          <p:cNvPr id="531" name="Google Shape;531;p41"/>
          <p:cNvSpPr/>
          <p:nvPr/>
        </p:nvSpPr>
        <p:spPr>
          <a:xfrm>
            <a:off x="4180699" y="4501275"/>
            <a:ext cx="3561131" cy="226355"/>
          </a:xfrm>
          <a:custGeom>
            <a:rect b="b" l="l" r="r" t="t"/>
            <a:pathLst>
              <a:path extrusionOk="0" h="4715" w="97746">
                <a:moveTo>
                  <a:pt x="0" y="0"/>
                </a:moveTo>
                <a:lnTo>
                  <a:pt x="0" y="4715"/>
                </a:lnTo>
                <a:lnTo>
                  <a:pt x="97746" y="4715"/>
                </a:lnTo>
                <a:lnTo>
                  <a:pt x="97746" y="0"/>
                </a:lnTo>
              </a:path>
            </a:pathLst>
          </a:custGeom>
          <a:noFill/>
          <a:ln cap="flat" cmpd="sng" w="19050">
            <a:solidFill>
              <a:schemeClr val="dk2"/>
            </a:solidFill>
            <a:prstDash val="solid"/>
            <a:round/>
            <a:headEnd len="med" w="med" type="none"/>
            <a:tailEnd len="med" w="med" type="none"/>
          </a:ln>
        </p:spPr>
      </p:sp>
      <p:sp>
        <p:nvSpPr>
          <p:cNvPr id="532" name="Google Shape;532;p41"/>
          <p:cNvSpPr txBox="1"/>
          <p:nvPr/>
        </p:nvSpPr>
        <p:spPr>
          <a:xfrm>
            <a:off x="4310222" y="4727625"/>
            <a:ext cx="33021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Cellular Core</a:t>
            </a:r>
            <a:endParaRPr>
              <a:latin typeface="Roboto"/>
              <a:ea typeface="Roboto"/>
              <a:cs typeface="Roboto"/>
              <a:sym typeface="Roboto"/>
            </a:endParaRPr>
          </a:p>
        </p:txBody>
      </p:sp>
      <p:cxnSp>
        <p:nvCxnSpPr>
          <p:cNvPr id="533" name="Google Shape;533;p41"/>
          <p:cNvCxnSpPr>
            <a:stCxn id="425" idx="1"/>
          </p:cNvCxnSpPr>
          <p:nvPr/>
        </p:nvCxnSpPr>
        <p:spPr>
          <a:xfrm flipH="1">
            <a:off x="3150100" y="2912425"/>
            <a:ext cx="1256400" cy="30600"/>
          </a:xfrm>
          <a:prstGeom prst="straightConnector1">
            <a:avLst/>
          </a:prstGeom>
          <a:noFill/>
          <a:ln cap="flat" cmpd="sng" w="19050">
            <a:solidFill>
              <a:srgbClr val="000000"/>
            </a:solidFill>
            <a:prstDash val="solid"/>
            <a:round/>
            <a:headEnd len="med" w="med" type="none"/>
            <a:tailEnd len="med" w="med" type="none"/>
          </a:ln>
        </p:spPr>
      </p:cxnSp>
      <p:cxnSp>
        <p:nvCxnSpPr>
          <p:cNvPr id="534" name="Google Shape;534;p41"/>
          <p:cNvCxnSpPr>
            <a:stCxn id="425" idx="1"/>
          </p:cNvCxnSpPr>
          <p:nvPr/>
        </p:nvCxnSpPr>
        <p:spPr>
          <a:xfrm rot="10800000">
            <a:off x="2438800" y="2541625"/>
            <a:ext cx="1967700" cy="370800"/>
          </a:xfrm>
          <a:prstGeom prst="straightConnector1">
            <a:avLst/>
          </a:prstGeom>
          <a:noFill/>
          <a:ln cap="flat" cmpd="sng" w="19050">
            <a:solidFill>
              <a:srgbClr val="000000"/>
            </a:solidFill>
            <a:prstDash val="solid"/>
            <a:round/>
            <a:headEnd len="med" w="med" type="none"/>
            <a:tailEnd len="med" w="med" type="none"/>
          </a:ln>
        </p:spPr>
      </p:cxnSp>
      <p:cxnSp>
        <p:nvCxnSpPr>
          <p:cNvPr id="535" name="Google Shape;535;p41"/>
          <p:cNvCxnSpPr>
            <a:stCxn id="425" idx="1"/>
          </p:cNvCxnSpPr>
          <p:nvPr/>
        </p:nvCxnSpPr>
        <p:spPr>
          <a:xfrm flipH="1">
            <a:off x="2365600" y="2912425"/>
            <a:ext cx="2040900" cy="454500"/>
          </a:xfrm>
          <a:prstGeom prst="straightConnector1">
            <a:avLst/>
          </a:prstGeom>
          <a:noFill/>
          <a:ln cap="flat" cmpd="sng" w="19050">
            <a:solidFill>
              <a:srgbClr val="000000"/>
            </a:solidFill>
            <a:prstDash val="solid"/>
            <a:round/>
            <a:headEnd len="med" w="med" type="none"/>
            <a:tailEnd len="med" w="med" type="none"/>
          </a:ln>
        </p:spPr>
      </p:cxnSp>
      <p:cxnSp>
        <p:nvCxnSpPr>
          <p:cNvPr id="536" name="Google Shape;536;p41"/>
          <p:cNvCxnSpPr>
            <a:stCxn id="427" idx="1"/>
          </p:cNvCxnSpPr>
          <p:nvPr/>
        </p:nvCxnSpPr>
        <p:spPr>
          <a:xfrm flipH="1">
            <a:off x="3126750" y="3471025"/>
            <a:ext cx="1274400" cy="314700"/>
          </a:xfrm>
          <a:prstGeom prst="straightConnector1">
            <a:avLst/>
          </a:prstGeom>
          <a:noFill/>
          <a:ln cap="flat" cmpd="sng" w="19050">
            <a:solidFill>
              <a:srgbClr val="000000"/>
            </a:solidFill>
            <a:prstDash val="solid"/>
            <a:round/>
            <a:headEnd len="med" w="med" type="none"/>
            <a:tailEnd len="med" w="med" type="none"/>
          </a:ln>
        </p:spPr>
      </p:cxnSp>
      <p:cxnSp>
        <p:nvCxnSpPr>
          <p:cNvPr id="537" name="Google Shape;537;p41"/>
          <p:cNvCxnSpPr>
            <a:stCxn id="427" idx="1"/>
          </p:cNvCxnSpPr>
          <p:nvPr/>
        </p:nvCxnSpPr>
        <p:spPr>
          <a:xfrm flipH="1">
            <a:off x="2417850" y="3471025"/>
            <a:ext cx="1983300" cy="751500"/>
          </a:xfrm>
          <a:prstGeom prst="straightConnector1">
            <a:avLst/>
          </a:prstGeom>
          <a:noFill/>
          <a:ln cap="flat" cmpd="sng" w="19050">
            <a:solidFill>
              <a:srgbClr val="000000"/>
            </a:solidFill>
            <a:prstDash val="solid"/>
            <a:round/>
            <a:headEnd len="med" w="med" type="none"/>
            <a:tailEnd len="med" w="med" type="none"/>
          </a:ln>
        </p:spPr>
      </p:cxnSp>
      <p:cxnSp>
        <p:nvCxnSpPr>
          <p:cNvPr id="538" name="Google Shape;538;p41"/>
          <p:cNvCxnSpPr>
            <a:stCxn id="425" idx="3"/>
            <a:endCxn id="422" idx="1"/>
          </p:cNvCxnSpPr>
          <p:nvPr/>
        </p:nvCxnSpPr>
        <p:spPr>
          <a:xfrm>
            <a:off x="4691500" y="2912425"/>
            <a:ext cx="2071800" cy="285000"/>
          </a:xfrm>
          <a:prstGeom prst="straightConnector1">
            <a:avLst/>
          </a:prstGeom>
          <a:noFill/>
          <a:ln cap="flat" cmpd="sng" w="19050">
            <a:solidFill>
              <a:srgbClr val="000000"/>
            </a:solidFill>
            <a:prstDash val="solid"/>
            <a:round/>
            <a:headEnd len="med" w="med" type="none"/>
            <a:tailEnd len="med" w="med" type="none"/>
          </a:ln>
        </p:spPr>
      </p:cxnSp>
      <p:cxnSp>
        <p:nvCxnSpPr>
          <p:cNvPr id="539" name="Google Shape;539;p41"/>
          <p:cNvCxnSpPr>
            <a:stCxn id="427" idx="3"/>
            <a:endCxn id="422" idx="1"/>
          </p:cNvCxnSpPr>
          <p:nvPr/>
        </p:nvCxnSpPr>
        <p:spPr>
          <a:xfrm flipH="1" rot="10800000">
            <a:off x="4686150" y="3197425"/>
            <a:ext cx="2077200" cy="273600"/>
          </a:xfrm>
          <a:prstGeom prst="straightConnector1">
            <a:avLst/>
          </a:prstGeom>
          <a:noFill/>
          <a:ln cap="flat" cmpd="sng" w="19050">
            <a:solidFill>
              <a:srgbClr val="000000"/>
            </a:solidFill>
            <a:prstDash val="solid"/>
            <a:round/>
            <a:headEnd len="med" w="med" type="none"/>
            <a:tailEnd len="med" w="med" type="none"/>
          </a:ln>
        </p:spPr>
      </p:cxnSp>
      <p:cxnSp>
        <p:nvCxnSpPr>
          <p:cNvPr id="540" name="Google Shape;540;p41"/>
          <p:cNvCxnSpPr>
            <a:stCxn id="530" idx="2"/>
            <a:endCxn id="423" idx="3"/>
          </p:cNvCxnSpPr>
          <p:nvPr/>
        </p:nvCxnSpPr>
        <p:spPr>
          <a:xfrm rot="10800000">
            <a:off x="6164550" y="4224575"/>
            <a:ext cx="446400" cy="0"/>
          </a:xfrm>
          <a:prstGeom prst="straightConnector1">
            <a:avLst/>
          </a:prstGeom>
          <a:noFill/>
          <a:ln cap="flat" cmpd="sng" w="9525">
            <a:solidFill>
              <a:srgbClr val="9900FF"/>
            </a:solidFill>
            <a:prstDash val="dash"/>
            <a:round/>
            <a:headEnd len="med" w="med" type="none"/>
            <a:tailEnd len="med" w="med" type="none"/>
          </a:ln>
        </p:spPr>
      </p:cxnSp>
      <p:cxnSp>
        <p:nvCxnSpPr>
          <p:cNvPr id="541" name="Google Shape;541;p41"/>
          <p:cNvCxnSpPr>
            <a:stCxn id="422" idx="3"/>
          </p:cNvCxnSpPr>
          <p:nvPr/>
        </p:nvCxnSpPr>
        <p:spPr>
          <a:xfrm>
            <a:off x="7048350" y="3197425"/>
            <a:ext cx="551700" cy="0"/>
          </a:xfrm>
          <a:prstGeom prst="straightConnector1">
            <a:avLst/>
          </a:prstGeom>
          <a:noFill/>
          <a:ln cap="flat" cmpd="sng" w="19050">
            <a:solidFill>
              <a:srgbClr val="000000"/>
            </a:solidFill>
            <a:prstDash val="solid"/>
            <a:round/>
            <a:headEnd len="med" w="med" type="none"/>
            <a:tailEnd len="med" w="med" type="none"/>
          </a:ln>
        </p:spPr>
      </p:cxnSp>
      <p:cxnSp>
        <p:nvCxnSpPr>
          <p:cNvPr id="542" name="Google Shape;542;p41"/>
          <p:cNvCxnSpPr/>
          <p:nvPr/>
        </p:nvCxnSpPr>
        <p:spPr>
          <a:xfrm>
            <a:off x="7659010" y="3197425"/>
            <a:ext cx="865500" cy="0"/>
          </a:xfrm>
          <a:prstGeom prst="straightConnector1">
            <a:avLst/>
          </a:prstGeom>
          <a:noFill/>
          <a:ln cap="flat" cmpd="sng" w="19050">
            <a:solidFill>
              <a:srgbClr val="000000"/>
            </a:solidFill>
            <a:prstDash val="dash"/>
            <a:round/>
            <a:headEnd len="med" w="med" type="none"/>
            <a:tailEnd len="med" w="med" type="none"/>
          </a:ln>
        </p:spPr>
      </p:cxnSp>
      <p:sp>
        <p:nvSpPr>
          <p:cNvPr id="543" name="Google Shape;543;p41"/>
          <p:cNvSpPr txBox="1"/>
          <p:nvPr/>
        </p:nvSpPr>
        <p:spPr>
          <a:xfrm>
            <a:off x="7600049" y="2927425"/>
            <a:ext cx="9216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To Internet</a:t>
            </a:r>
            <a:endParaRPr>
              <a:latin typeface="Roboto"/>
              <a:ea typeface="Roboto"/>
              <a:cs typeface="Roboto"/>
              <a:sym typeface="Roboto"/>
            </a:endParaRPr>
          </a:p>
        </p:txBody>
      </p:sp>
      <p:cxnSp>
        <p:nvCxnSpPr>
          <p:cNvPr id="544" name="Google Shape;544;p41"/>
          <p:cNvCxnSpPr>
            <a:endCxn id="423" idx="1"/>
          </p:cNvCxnSpPr>
          <p:nvPr/>
        </p:nvCxnSpPr>
        <p:spPr>
          <a:xfrm>
            <a:off x="3499475" y="4067375"/>
            <a:ext cx="1704600" cy="157200"/>
          </a:xfrm>
          <a:prstGeom prst="straightConnector1">
            <a:avLst/>
          </a:prstGeom>
          <a:noFill/>
          <a:ln cap="flat" cmpd="sng" w="9525">
            <a:solidFill>
              <a:srgbClr val="9900FF"/>
            </a:solidFill>
            <a:prstDash val="dash"/>
            <a:round/>
            <a:headEnd len="med" w="med" type="none"/>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cxnSp>
        <p:nvCxnSpPr>
          <p:cNvPr id="549" name="Google Shape;549;p42"/>
          <p:cNvCxnSpPr>
            <a:stCxn id="550" idx="2"/>
            <a:endCxn id="551" idx="0"/>
          </p:cNvCxnSpPr>
          <p:nvPr/>
        </p:nvCxnSpPr>
        <p:spPr>
          <a:xfrm flipH="1">
            <a:off x="5684250" y="3339925"/>
            <a:ext cx="1221600" cy="609300"/>
          </a:xfrm>
          <a:prstGeom prst="straightConnector1">
            <a:avLst/>
          </a:prstGeom>
          <a:noFill/>
          <a:ln cap="flat" cmpd="sng" w="9525">
            <a:solidFill>
              <a:srgbClr val="9900FF"/>
            </a:solidFill>
            <a:prstDash val="dash"/>
            <a:round/>
            <a:headEnd len="med" w="med" type="none"/>
            <a:tailEnd len="med" w="med" type="none"/>
          </a:ln>
        </p:spPr>
      </p:cxnSp>
      <p:cxnSp>
        <p:nvCxnSpPr>
          <p:cNvPr id="552" name="Google Shape;552;p42"/>
          <p:cNvCxnSpPr>
            <a:stCxn id="553" idx="2"/>
            <a:endCxn id="551" idx="0"/>
          </p:cNvCxnSpPr>
          <p:nvPr/>
        </p:nvCxnSpPr>
        <p:spPr>
          <a:xfrm>
            <a:off x="4549000" y="3054925"/>
            <a:ext cx="1135500" cy="894300"/>
          </a:xfrm>
          <a:prstGeom prst="straightConnector1">
            <a:avLst/>
          </a:prstGeom>
          <a:noFill/>
          <a:ln cap="flat" cmpd="sng" w="9525">
            <a:solidFill>
              <a:srgbClr val="9900FF"/>
            </a:solidFill>
            <a:prstDash val="dash"/>
            <a:round/>
            <a:headEnd len="med" w="med" type="none"/>
            <a:tailEnd len="med" w="med" type="none"/>
          </a:ln>
        </p:spPr>
      </p:cxnSp>
      <p:cxnSp>
        <p:nvCxnSpPr>
          <p:cNvPr id="554" name="Google Shape;554;p42"/>
          <p:cNvCxnSpPr>
            <a:stCxn id="555" idx="2"/>
            <a:endCxn id="551" idx="0"/>
          </p:cNvCxnSpPr>
          <p:nvPr/>
        </p:nvCxnSpPr>
        <p:spPr>
          <a:xfrm>
            <a:off x="4543650" y="3613525"/>
            <a:ext cx="1140600" cy="335700"/>
          </a:xfrm>
          <a:prstGeom prst="straightConnector1">
            <a:avLst/>
          </a:prstGeom>
          <a:noFill/>
          <a:ln cap="flat" cmpd="sng" w="9525">
            <a:solidFill>
              <a:srgbClr val="9900FF"/>
            </a:solidFill>
            <a:prstDash val="dash"/>
            <a:round/>
            <a:headEnd len="med" w="med" type="none"/>
            <a:tailEnd len="med" w="med" type="none"/>
          </a:ln>
        </p:spPr>
      </p:cxnSp>
      <p:sp>
        <p:nvSpPr>
          <p:cNvPr id="556" name="Google Shape;556;p42"/>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Infrastructure Components (</a:t>
            </a:r>
            <a:r>
              <a:rPr lang="en">
                <a:solidFill>
                  <a:schemeClr val="accent3"/>
                </a:solidFill>
              </a:rPr>
              <a:t>2/5</a:t>
            </a:r>
            <a:r>
              <a:rPr lang="en">
                <a:solidFill>
                  <a:schemeClr val="accent3"/>
                </a:solidFill>
              </a:rPr>
              <a:t> and </a:t>
            </a:r>
            <a:r>
              <a:rPr lang="en">
                <a:solidFill>
                  <a:schemeClr val="accent3"/>
                </a:solidFill>
              </a:rPr>
              <a:t>3/5</a:t>
            </a:r>
            <a:r>
              <a:rPr lang="en">
                <a:solidFill>
                  <a:schemeClr val="accent3"/>
                </a:solidFill>
              </a:rPr>
              <a:t>): Radio Gateway, Packet Gateway</a:t>
            </a:r>
            <a:endParaRPr/>
          </a:p>
        </p:txBody>
      </p:sp>
      <p:sp>
        <p:nvSpPr>
          <p:cNvPr id="557" name="Google Shape;557;p42"/>
          <p:cNvSpPr txBox="1"/>
          <p:nvPr>
            <p:ph idx="1" type="body"/>
          </p:nvPr>
        </p:nvSpPr>
        <p:spPr>
          <a:xfrm>
            <a:off x="107050" y="402200"/>
            <a:ext cx="8909700" cy="1340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Data-plane components (routers):</a:t>
            </a:r>
            <a:endParaRPr/>
          </a:p>
          <a:p>
            <a:pPr indent="-342900" lvl="0" marL="457200" rtl="0" algn="l">
              <a:spcBef>
                <a:spcPts val="600"/>
              </a:spcBef>
              <a:spcAft>
                <a:spcPts val="0"/>
              </a:spcAft>
              <a:buSzPts val="1800"/>
              <a:buChar char="●"/>
            </a:pPr>
            <a:r>
              <a:rPr b="1" lang="en"/>
              <a:t>Radio gateway</a:t>
            </a:r>
            <a:r>
              <a:rPr lang="en"/>
              <a:t>: Boundary </a:t>
            </a:r>
            <a:r>
              <a:rPr lang="en"/>
              <a:t>between</a:t>
            </a:r>
            <a:r>
              <a:rPr lang="en"/>
              <a:t> RAN and core.</a:t>
            </a:r>
            <a:endParaRPr/>
          </a:p>
          <a:p>
            <a:pPr indent="-342900" lvl="0" marL="457200" rtl="0" algn="l">
              <a:spcBef>
                <a:spcPts val="0"/>
              </a:spcBef>
              <a:spcAft>
                <a:spcPts val="0"/>
              </a:spcAft>
              <a:buSzPts val="1800"/>
              <a:buChar char="●"/>
            </a:pPr>
            <a:r>
              <a:rPr b="1" lang="en"/>
              <a:t>Packet gateway</a:t>
            </a:r>
            <a:r>
              <a:rPr lang="en"/>
              <a:t>: Boundary between cellular network and rest of Internet.</a:t>
            </a:r>
            <a:endParaRPr/>
          </a:p>
        </p:txBody>
      </p:sp>
      <p:sp>
        <p:nvSpPr>
          <p:cNvPr id="558" name="Google Shape;558;p42"/>
          <p:cNvSpPr/>
          <p:nvPr/>
        </p:nvSpPr>
        <p:spPr>
          <a:xfrm>
            <a:off x="1785710" y="2078475"/>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559" name="Google Shape;559;p42"/>
          <p:cNvGrpSpPr/>
          <p:nvPr/>
        </p:nvGrpSpPr>
        <p:grpSpPr>
          <a:xfrm>
            <a:off x="2163047" y="2289931"/>
            <a:ext cx="205525" cy="409199"/>
            <a:chOff x="7897625" y="3319150"/>
            <a:chExt cx="645900" cy="1285575"/>
          </a:xfrm>
        </p:grpSpPr>
        <p:sp>
          <p:nvSpPr>
            <p:cNvPr id="560" name="Google Shape;560;p42"/>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61" name="Google Shape;561;p42"/>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562" name="Google Shape;562;p42"/>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563" name="Google Shape;563;p42"/>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564" name="Google Shape;564;p42"/>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565" name="Google Shape;565;p42"/>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566" name="Google Shape;566;p42"/>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567" name="Google Shape;567;p42"/>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568" name="Google Shape;568;p42"/>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569" name="Google Shape;569;p42"/>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0" name="Google Shape;570;p42"/>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71" name="Google Shape;571;p42"/>
            <p:cNvSpPr/>
            <p:nvPr/>
          </p:nvSpPr>
          <p:spPr>
            <a:xfrm>
              <a:off x="8198675" y="3551600"/>
              <a:ext cx="43800" cy="43800"/>
            </a:xfrm>
            <a:prstGeom prst="ellipse">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572" name="Google Shape;572;p42"/>
          <p:cNvSpPr/>
          <p:nvPr/>
        </p:nvSpPr>
        <p:spPr>
          <a:xfrm>
            <a:off x="1785710" y="2910667"/>
            <a:ext cx="960600" cy="832200"/>
          </a:xfrm>
          <a:prstGeom prst="hexagon">
            <a:avLst>
              <a:gd fmla="val 28852" name="adj"/>
              <a:gd fmla="val 115470" name="vf"/>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573" name="Google Shape;573;p42"/>
          <p:cNvGrpSpPr/>
          <p:nvPr/>
        </p:nvGrpSpPr>
        <p:grpSpPr>
          <a:xfrm>
            <a:off x="2163047" y="3122123"/>
            <a:ext cx="205525" cy="409199"/>
            <a:chOff x="7897625" y="3319150"/>
            <a:chExt cx="645900" cy="1285575"/>
          </a:xfrm>
        </p:grpSpPr>
        <p:sp>
          <p:nvSpPr>
            <p:cNvPr id="574" name="Google Shape;574;p42"/>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75" name="Google Shape;575;p42"/>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576" name="Google Shape;576;p42"/>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577" name="Google Shape;577;p42"/>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578" name="Google Shape;578;p42"/>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579" name="Google Shape;579;p42"/>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580" name="Google Shape;580;p42"/>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581" name="Google Shape;581;p42"/>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582" name="Google Shape;582;p42"/>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583" name="Google Shape;583;p42"/>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4" name="Google Shape;584;p42"/>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85" name="Google Shape;585;p42"/>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586" name="Google Shape;586;p42"/>
          <p:cNvSpPr/>
          <p:nvPr/>
        </p:nvSpPr>
        <p:spPr>
          <a:xfrm>
            <a:off x="1066200" y="2496334"/>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587" name="Google Shape;587;p42"/>
          <p:cNvGrpSpPr/>
          <p:nvPr/>
        </p:nvGrpSpPr>
        <p:grpSpPr>
          <a:xfrm>
            <a:off x="1443547" y="2707790"/>
            <a:ext cx="205525" cy="409199"/>
            <a:chOff x="7897625" y="3319150"/>
            <a:chExt cx="645900" cy="1285575"/>
          </a:xfrm>
        </p:grpSpPr>
        <p:sp>
          <p:nvSpPr>
            <p:cNvPr id="588" name="Google Shape;588;p42"/>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589" name="Google Shape;589;p42"/>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590" name="Google Shape;590;p42"/>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591" name="Google Shape;591;p42"/>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592" name="Google Shape;592;p42"/>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593" name="Google Shape;593;p42"/>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594" name="Google Shape;594;p42"/>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595" name="Google Shape;595;p42"/>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596" name="Google Shape;596;p42"/>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597" name="Google Shape;597;p42"/>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98" name="Google Shape;598;p42"/>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599" name="Google Shape;599;p42"/>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600" name="Google Shape;600;p42"/>
          <p:cNvSpPr/>
          <p:nvPr/>
        </p:nvSpPr>
        <p:spPr>
          <a:xfrm>
            <a:off x="2505200" y="2496334"/>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601" name="Google Shape;601;p42"/>
          <p:cNvGrpSpPr/>
          <p:nvPr/>
        </p:nvGrpSpPr>
        <p:grpSpPr>
          <a:xfrm>
            <a:off x="2882547" y="2707790"/>
            <a:ext cx="205525" cy="409199"/>
            <a:chOff x="7897625" y="3319150"/>
            <a:chExt cx="645900" cy="1285575"/>
          </a:xfrm>
        </p:grpSpPr>
        <p:sp>
          <p:nvSpPr>
            <p:cNvPr id="602" name="Google Shape;602;p42"/>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03" name="Google Shape;603;p42"/>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604" name="Google Shape;604;p42"/>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605" name="Google Shape;605;p42"/>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606" name="Google Shape;606;p42"/>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607" name="Google Shape;607;p42"/>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608" name="Google Shape;608;p42"/>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609" name="Google Shape;609;p42"/>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610" name="Google Shape;610;p42"/>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611" name="Google Shape;611;p42"/>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2" name="Google Shape;612;p42"/>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13" name="Google Shape;613;p42"/>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614" name="Google Shape;614;p42"/>
          <p:cNvSpPr/>
          <p:nvPr/>
        </p:nvSpPr>
        <p:spPr>
          <a:xfrm>
            <a:off x="2505200" y="3328526"/>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615" name="Google Shape;615;p42"/>
          <p:cNvGrpSpPr/>
          <p:nvPr/>
        </p:nvGrpSpPr>
        <p:grpSpPr>
          <a:xfrm>
            <a:off x="2882547" y="3539982"/>
            <a:ext cx="205525" cy="409199"/>
            <a:chOff x="7897625" y="3319150"/>
            <a:chExt cx="645900" cy="1285575"/>
          </a:xfrm>
        </p:grpSpPr>
        <p:sp>
          <p:nvSpPr>
            <p:cNvPr id="616" name="Google Shape;616;p42"/>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17" name="Google Shape;617;p42"/>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618" name="Google Shape;618;p42"/>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619" name="Google Shape;619;p42"/>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620" name="Google Shape;620;p42"/>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621" name="Google Shape;621;p42"/>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622" name="Google Shape;622;p42"/>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623" name="Google Shape;623;p42"/>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624" name="Google Shape;624;p42"/>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625" name="Google Shape;625;p42"/>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26" name="Google Shape;626;p42"/>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27" name="Google Shape;627;p42"/>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628" name="Google Shape;628;p42"/>
          <p:cNvSpPr/>
          <p:nvPr/>
        </p:nvSpPr>
        <p:spPr>
          <a:xfrm>
            <a:off x="1066200" y="3328526"/>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629" name="Google Shape;629;p42"/>
          <p:cNvGrpSpPr/>
          <p:nvPr/>
        </p:nvGrpSpPr>
        <p:grpSpPr>
          <a:xfrm>
            <a:off x="1443547" y="3539982"/>
            <a:ext cx="205525" cy="409199"/>
            <a:chOff x="7897625" y="3319150"/>
            <a:chExt cx="645900" cy="1285575"/>
          </a:xfrm>
        </p:grpSpPr>
        <p:sp>
          <p:nvSpPr>
            <p:cNvPr id="630" name="Google Shape;630;p42"/>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31" name="Google Shape;631;p42"/>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632" name="Google Shape;632;p42"/>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633" name="Google Shape;633;p42"/>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634" name="Google Shape;634;p42"/>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635" name="Google Shape;635;p42"/>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636" name="Google Shape;636;p42"/>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637" name="Google Shape;637;p42"/>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638" name="Google Shape;638;p42"/>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639" name="Google Shape;639;p42"/>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40" name="Google Shape;640;p42"/>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41" name="Google Shape;641;p42"/>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642" name="Google Shape;642;p42"/>
          <p:cNvSpPr/>
          <p:nvPr/>
        </p:nvSpPr>
        <p:spPr>
          <a:xfrm>
            <a:off x="1785710" y="3742859"/>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643" name="Google Shape;643;p42"/>
          <p:cNvGrpSpPr/>
          <p:nvPr/>
        </p:nvGrpSpPr>
        <p:grpSpPr>
          <a:xfrm>
            <a:off x="2163037" y="3954316"/>
            <a:ext cx="205525" cy="409199"/>
            <a:chOff x="7897625" y="3319150"/>
            <a:chExt cx="645900" cy="1285575"/>
          </a:xfrm>
        </p:grpSpPr>
        <p:sp>
          <p:nvSpPr>
            <p:cNvPr id="644" name="Google Shape;644;p42"/>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45" name="Google Shape;645;p42"/>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646" name="Google Shape;646;p42"/>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647" name="Google Shape;647;p42"/>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648" name="Google Shape;648;p42"/>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649" name="Google Shape;649;p42"/>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650" name="Google Shape;650;p42"/>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651" name="Google Shape;651;p42"/>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652" name="Google Shape;652;p42"/>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653" name="Google Shape;653;p42"/>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54" name="Google Shape;654;p42"/>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655" name="Google Shape;655;p42"/>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656" name="Google Shape;656;p42"/>
          <p:cNvSpPr/>
          <p:nvPr/>
        </p:nvSpPr>
        <p:spPr>
          <a:xfrm>
            <a:off x="599312" y="4501275"/>
            <a:ext cx="3333383" cy="226355"/>
          </a:xfrm>
          <a:custGeom>
            <a:rect b="b" l="l" r="r" t="t"/>
            <a:pathLst>
              <a:path extrusionOk="0" h="4715" w="97746">
                <a:moveTo>
                  <a:pt x="0" y="0"/>
                </a:moveTo>
                <a:lnTo>
                  <a:pt x="0" y="4715"/>
                </a:lnTo>
                <a:lnTo>
                  <a:pt x="97746" y="4715"/>
                </a:lnTo>
                <a:lnTo>
                  <a:pt x="97746" y="0"/>
                </a:lnTo>
              </a:path>
            </a:pathLst>
          </a:custGeom>
          <a:noFill/>
          <a:ln cap="flat" cmpd="sng" w="19050">
            <a:solidFill>
              <a:schemeClr val="dk2"/>
            </a:solidFill>
            <a:prstDash val="solid"/>
            <a:round/>
            <a:headEnd len="med" w="med" type="none"/>
            <a:tailEnd len="med" w="med" type="none"/>
          </a:ln>
        </p:spPr>
      </p:sp>
      <p:sp>
        <p:nvSpPr>
          <p:cNvPr id="657" name="Google Shape;657;p42"/>
          <p:cNvSpPr txBox="1"/>
          <p:nvPr/>
        </p:nvSpPr>
        <p:spPr>
          <a:xfrm>
            <a:off x="720550" y="4727625"/>
            <a:ext cx="30909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Cellular Radio Access Network (RAN)</a:t>
            </a:r>
            <a:endParaRPr>
              <a:latin typeface="Roboto"/>
              <a:ea typeface="Roboto"/>
              <a:cs typeface="Roboto"/>
              <a:sym typeface="Roboto"/>
            </a:endParaRPr>
          </a:p>
        </p:txBody>
      </p:sp>
      <p:sp>
        <p:nvSpPr>
          <p:cNvPr id="553" name="Google Shape;553;p42"/>
          <p:cNvSpPr/>
          <p:nvPr/>
        </p:nvSpPr>
        <p:spPr>
          <a:xfrm>
            <a:off x="4406500" y="27699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555" name="Google Shape;555;p42"/>
          <p:cNvSpPr/>
          <p:nvPr/>
        </p:nvSpPr>
        <p:spPr>
          <a:xfrm>
            <a:off x="4401150" y="33285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sp>
        <p:nvSpPr>
          <p:cNvPr id="550" name="Google Shape;550;p42"/>
          <p:cNvSpPr/>
          <p:nvPr/>
        </p:nvSpPr>
        <p:spPr>
          <a:xfrm>
            <a:off x="6763350" y="30549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P1</a:t>
            </a:r>
            <a:endParaRPr>
              <a:latin typeface="Roboto"/>
              <a:ea typeface="Roboto"/>
              <a:cs typeface="Roboto"/>
              <a:sym typeface="Roboto"/>
            </a:endParaRPr>
          </a:p>
        </p:txBody>
      </p:sp>
      <p:sp>
        <p:nvSpPr>
          <p:cNvPr id="551" name="Google Shape;551;p42"/>
          <p:cNvSpPr/>
          <p:nvPr/>
        </p:nvSpPr>
        <p:spPr>
          <a:xfrm>
            <a:off x="5204075" y="3949175"/>
            <a:ext cx="960600" cy="5508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Mobility Manager</a:t>
            </a:r>
            <a:endParaRPr>
              <a:latin typeface="Roboto"/>
              <a:ea typeface="Roboto"/>
              <a:cs typeface="Roboto"/>
              <a:sym typeface="Roboto"/>
            </a:endParaRPr>
          </a:p>
        </p:txBody>
      </p:sp>
      <p:sp>
        <p:nvSpPr>
          <p:cNvPr id="658" name="Google Shape;658;p42"/>
          <p:cNvSpPr/>
          <p:nvPr/>
        </p:nvSpPr>
        <p:spPr>
          <a:xfrm>
            <a:off x="6610950" y="3933575"/>
            <a:ext cx="960600" cy="5820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Database</a:t>
            </a:r>
            <a:endParaRPr>
              <a:latin typeface="Roboto"/>
              <a:ea typeface="Roboto"/>
              <a:cs typeface="Roboto"/>
              <a:sym typeface="Roboto"/>
            </a:endParaRPr>
          </a:p>
        </p:txBody>
      </p:sp>
      <p:sp>
        <p:nvSpPr>
          <p:cNvPr id="659" name="Google Shape;659;p42"/>
          <p:cNvSpPr/>
          <p:nvPr/>
        </p:nvSpPr>
        <p:spPr>
          <a:xfrm>
            <a:off x="4180699" y="4501275"/>
            <a:ext cx="3561131" cy="226355"/>
          </a:xfrm>
          <a:custGeom>
            <a:rect b="b" l="l" r="r" t="t"/>
            <a:pathLst>
              <a:path extrusionOk="0" h="4715" w="97746">
                <a:moveTo>
                  <a:pt x="0" y="0"/>
                </a:moveTo>
                <a:lnTo>
                  <a:pt x="0" y="4715"/>
                </a:lnTo>
                <a:lnTo>
                  <a:pt x="97746" y="4715"/>
                </a:lnTo>
                <a:lnTo>
                  <a:pt x="97746" y="0"/>
                </a:lnTo>
              </a:path>
            </a:pathLst>
          </a:custGeom>
          <a:noFill/>
          <a:ln cap="flat" cmpd="sng" w="19050">
            <a:solidFill>
              <a:schemeClr val="dk2"/>
            </a:solidFill>
            <a:prstDash val="solid"/>
            <a:round/>
            <a:headEnd len="med" w="med" type="none"/>
            <a:tailEnd len="med" w="med" type="none"/>
          </a:ln>
        </p:spPr>
      </p:sp>
      <p:sp>
        <p:nvSpPr>
          <p:cNvPr id="660" name="Google Shape;660;p42"/>
          <p:cNvSpPr txBox="1"/>
          <p:nvPr/>
        </p:nvSpPr>
        <p:spPr>
          <a:xfrm>
            <a:off x="4310222" y="4727625"/>
            <a:ext cx="33021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Cellular Core</a:t>
            </a:r>
            <a:endParaRPr>
              <a:latin typeface="Roboto"/>
              <a:ea typeface="Roboto"/>
              <a:cs typeface="Roboto"/>
              <a:sym typeface="Roboto"/>
            </a:endParaRPr>
          </a:p>
        </p:txBody>
      </p:sp>
      <p:cxnSp>
        <p:nvCxnSpPr>
          <p:cNvPr id="661" name="Google Shape;661;p42"/>
          <p:cNvCxnSpPr>
            <a:stCxn id="553" idx="1"/>
          </p:cNvCxnSpPr>
          <p:nvPr/>
        </p:nvCxnSpPr>
        <p:spPr>
          <a:xfrm flipH="1">
            <a:off x="3150100" y="2912425"/>
            <a:ext cx="1256400" cy="30600"/>
          </a:xfrm>
          <a:prstGeom prst="straightConnector1">
            <a:avLst/>
          </a:prstGeom>
          <a:noFill/>
          <a:ln cap="flat" cmpd="sng" w="19050">
            <a:solidFill>
              <a:srgbClr val="000000"/>
            </a:solidFill>
            <a:prstDash val="solid"/>
            <a:round/>
            <a:headEnd len="med" w="med" type="none"/>
            <a:tailEnd len="med" w="med" type="none"/>
          </a:ln>
        </p:spPr>
      </p:cxnSp>
      <p:cxnSp>
        <p:nvCxnSpPr>
          <p:cNvPr id="662" name="Google Shape;662;p42"/>
          <p:cNvCxnSpPr>
            <a:stCxn id="553" idx="1"/>
          </p:cNvCxnSpPr>
          <p:nvPr/>
        </p:nvCxnSpPr>
        <p:spPr>
          <a:xfrm rot="10800000">
            <a:off x="2438800" y="2541625"/>
            <a:ext cx="1967700" cy="370800"/>
          </a:xfrm>
          <a:prstGeom prst="straightConnector1">
            <a:avLst/>
          </a:prstGeom>
          <a:noFill/>
          <a:ln cap="flat" cmpd="sng" w="19050">
            <a:solidFill>
              <a:srgbClr val="000000"/>
            </a:solidFill>
            <a:prstDash val="solid"/>
            <a:round/>
            <a:headEnd len="med" w="med" type="none"/>
            <a:tailEnd len="med" w="med" type="none"/>
          </a:ln>
        </p:spPr>
      </p:cxnSp>
      <p:cxnSp>
        <p:nvCxnSpPr>
          <p:cNvPr id="663" name="Google Shape;663;p42"/>
          <p:cNvCxnSpPr>
            <a:stCxn id="553" idx="1"/>
          </p:cNvCxnSpPr>
          <p:nvPr/>
        </p:nvCxnSpPr>
        <p:spPr>
          <a:xfrm flipH="1">
            <a:off x="2365600" y="2912425"/>
            <a:ext cx="2040900" cy="454500"/>
          </a:xfrm>
          <a:prstGeom prst="straightConnector1">
            <a:avLst/>
          </a:prstGeom>
          <a:noFill/>
          <a:ln cap="flat" cmpd="sng" w="19050">
            <a:solidFill>
              <a:srgbClr val="000000"/>
            </a:solidFill>
            <a:prstDash val="solid"/>
            <a:round/>
            <a:headEnd len="med" w="med" type="none"/>
            <a:tailEnd len="med" w="med" type="none"/>
          </a:ln>
        </p:spPr>
      </p:cxnSp>
      <p:cxnSp>
        <p:nvCxnSpPr>
          <p:cNvPr id="664" name="Google Shape;664;p42"/>
          <p:cNvCxnSpPr>
            <a:stCxn id="555" idx="1"/>
          </p:cNvCxnSpPr>
          <p:nvPr/>
        </p:nvCxnSpPr>
        <p:spPr>
          <a:xfrm flipH="1">
            <a:off x="3126750" y="3471025"/>
            <a:ext cx="1274400" cy="314700"/>
          </a:xfrm>
          <a:prstGeom prst="straightConnector1">
            <a:avLst/>
          </a:prstGeom>
          <a:noFill/>
          <a:ln cap="flat" cmpd="sng" w="19050">
            <a:solidFill>
              <a:srgbClr val="000000"/>
            </a:solidFill>
            <a:prstDash val="solid"/>
            <a:round/>
            <a:headEnd len="med" w="med" type="none"/>
            <a:tailEnd len="med" w="med" type="none"/>
          </a:ln>
        </p:spPr>
      </p:cxnSp>
      <p:cxnSp>
        <p:nvCxnSpPr>
          <p:cNvPr id="665" name="Google Shape;665;p42"/>
          <p:cNvCxnSpPr>
            <a:stCxn id="555" idx="1"/>
          </p:cNvCxnSpPr>
          <p:nvPr/>
        </p:nvCxnSpPr>
        <p:spPr>
          <a:xfrm flipH="1">
            <a:off x="2417850" y="3471025"/>
            <a:ext cx="1983300" cy="751500"/>
          </a:xfrm>
          <a:prstGeom prst="straightConnector1">
            <a:avLst/>
          </a:prstGeom>
          <a:noFill/>
          <a:ln cap="flat" cmpd="sng" w="19050">
            <a:solidFill>
              <a:srgbClr val="000000"/>
            </a:solidFill>
            <a:prstDash val="solid"/>
            <a:round/>
            <a:headEnd len="med" w="med" type="none"/>
            <a:tailEnd len="med" w="med" type="none"/>
          </a:ln>
        </p:spPr>
      </p:cxnSp>
      <p:cxnSp>
        <p:nvCxnSpPr>
          <p:cNvPr id="666" name="Google Shape;666;p42"/>
          <p:cNvCxnSpPr>
            <a:stCxn id="553" idx="3"/>
            <a:endCxn id="550" idx="1"/>
          </p:cNvCxnSpPr>
          <p:nvPr/>
        </p:nvCxnSpPr>
        <p:spPr>
          <a:xfrm>
            <a:off x="4691500" y="2912425"/>
            <a:ext cx="2071800" cy="285000"/>
          </a:xfrm>
          <a:prstGeom prst="straightConnector1">
            <a:avLst/>
          </a:prstGeom>
          <a:noFill/>
          <a:ln cap="flat" cmpd="sng" w="19050">
            <a:solidFill>
              <a:srgbClr val="000000"/>
            </a:solidFill>
            <a:prstDash val="solid"/>
            <a:round/>
            <a:headEnd len="med" w="med" type="none"/>
            <a:tailEnd len="med" w="med" type="none"/>
          </a:ln>
        </p:spPr>
      </p:cxnSp>
      <p:cxnSp>
        <p:nvCxnSpPr>
          <p:cNvPr id="667" name="Google Shape;667;p42"/>
          <p:cNvCxnSpPr>
            <a:stCxn id="555" idx="3"/>
            <a:endCxn id="550" idx="1"/>
          </p:cNvCxnSpPr>
          <p:nvPr/>
        </p:nvCxnSpPr>
        <p:spPr>
          <a:xfrm flipH="1" rot="10800000">
            <a:off x="4686150" y="3197425"/>
            <a:ext cx="2077200" cy="273600"/>
          </a:xfrm>
          <a:prstGeom prst="straightConnector1">
            <a:avLst/>
          </a:prstGeom>
          <a:noFill/>
          <a:ln cap="flat" cmpd="sng" w="19050">
            <a:solidFill>
              <a:srgbClr val="000000"/>
            </a:solidFill>
            <a:prstDash val="solid"/>
            <a:round/>
            <a:headEnd len="med" w="med" type="none"/>
            <a:tailEnd len="med" w="med" type="none"/>
          </a:ln>
        </p:spPr>
      </p:cxnSp>
      <p:cxnSp>
        <p:nvCxnSpPr>
          <p:cNvPr id="668" name="Google Shape;668;p42"/>
          <p:cNvCxnSpPr>
            <a:stCxn id="658" idx="2"/>
            <a:endCxn id="551" idx="3"/>
          </p:cNvCxnSpPr>
          <p:nvPr/>
        </p:nvCxnSpPr>
        <p:spPr>
          <a:xfrm rot="10800000">
            <a:off x="6164550" y="4224575"/>
            <a:ext cx="446400" cy="0"/>
          </a:xfrm>
          <a:prstGeom prst="straightConnector1">
            <a:avLst/>
          </a:prstGeom>
          <a:noFill/>
          <a:ln cap="flat" cmpd="sng" w="9525">
            <a:solidFill>
              <a:srgbClr val="9900FF"/>
            </a:solidFill>
            <a:prstDash val="dash"/>
            <a:round/>
            <a:headEnd len="med" w="med" type="none"/>
            <a:tailEnd len="med" w="med" type="none"/>
          </a:ln>
        </p:spPr>
      </p:cxnSp>
      <p:cxnSp>
        <p:nvCxnSpPr>
          <p:cNvPr id="669" name="Google Shape;669;p42"/>
          <p:cNvCxnSpPr>
            <a:stCxn id="550" idx="3"/>
          </p:cNvCxnSpPr>
          <p:nvPr/>
        </p:nvCxnSpPr>
        <p:spPr>
          <a:xfrm>
            <a:off x="7048350" y="3197425"/>
            <a:ext cx="551700" cy="0"/>
          </a:xfrm>
          <a:prstGeom prst="straightConnector1">
            <a:avLst/>
          </a:prstGeom>
          <a:noFill/>
          <a:ln cap="flat" cmpd="sng" w="19050">
            <a:solidFill>
              <a:srgbClr val="000000"/>
            </a:solidFill>
            <a:prstDash val="solid"/>
            <a:round/>
            <a:headEnd len="med" w="med" type="none"/>
            <a:tailEnd len="med" w="med" type="none"/>
          </a:ln>
        </p:spPr>
      </p:cxnSp>
      <p:cxnSp>
        <p:nvCxnSpPr>
          <p:cNvPr id="670" name="Google Shape;670;p42"/>
          <p:cNvCxnSpPr/>
          <p:nvPr/>
        </p:nvCxnSpPr>
        <p:spPr>
          <a:xfrm>
            <a:off x="7659010" y="3197425"/>
            <a:ext cx="865500" cy="0"/>
          </a:xfrm>
          <a:prstGeom prst="straightConnector1">
            <a:avLst/>
          </a:prstGeom>
          <a:noFill/>
          <a:ln cap="flat" cmpd="sng" w="19050">
            <a:solidFill>
              <a:srgbClr val="000000"/>
            </a:solidFill>
            <a:prstDash val="dash"/>
            <a:round/>
            <a:headEnd len="med" w="med" type="none"/>
            <a:tailEnd len="med" w="med" type="none"/>
          </a:ln>
        </p:spPr>
      </p:cxnSp>
      <p:sp>
        <p:nvSpPr>
          <p:cNvPr id="671" name="Google Shape;671;p42"/>
          <p:cNvSpPr txBox="1"/>
          <p:nvPr/>
        </p:nvSpPr>
        <p:spPr>
          <a:xfrm>
            <a:off x="7600049" y="2927425"/>
            <a:ext cx="9216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To Internet</a:t>
            </a:r>
            <a:endParaRPr>
              <a:latin typeface="Roboto"/>
              <a:ea typeface="Roboto"/>
              <a:cs typeface="Roboto"/>
              <a:sym typeface="Roboto"/>
            </a:endParaRPr>
          </a:p>
        </p:txBody>
      </p:sp>
      <p:sp>
        <p:nvSpPr>
          <p:cNvPr id="672" name="Google Shape;672;p42"/>
          <p:cNvSpPr txBox="1"/>
          <p:nvPr/>
        </p:nvSpPr>
        <p:spPr>
          <a:xfrm>
            <a:off x="3900150" y="2236613"/>
            <a:ext cx="1343700" cy="4863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R1 and R2 are radio gateways.</a:t>
            </a:r>
            <a:endParaRPr>
              <a:solidFill>
                <a:schemeClr val="accent2"/>
              </a:solidFill>
              <a:latin typeface="Roboto"/>
              <a:ea typeface="Roboto"/>
              <a:cs typeface="Roboto"/>
              <a:sym typeface="Roboto"/>
            </a:endParaRPr>
          </a:p>
        </p:txBody>
      </p:sp>
      <p:sp>
        <p:nvSpPr>
          <p:cNvPr id="673" name="Google Shape;673;p42"/>
          <p:cNvSpPr txBox="1"/>
          <p:nvPr/>
        </p:nvSpPr>
        <p:spPr>
          <a:xfrm>
            <a:off x="5867250" y="2369213"/>
            <a:ext cx="2077200" cy="4863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P1 is the packet gateway.</a:t>
            </a:r>
            <a:br>
              <a:rPr lang="en">
                <a:solidFill>
                  <a:schemeClr val="accent2"/>
                </a:solidFill>
                <a:latin typeface="Roboto"/>
                <a:ea typeface="Roboto"/>
                <a:cs typeface="Roboto"/>
                <a:sym typeface="Roboto"/>
              </a:rPr>
            </a:br>
            <a:r>
              <a:rPr lang="en">
                <a:solidFill>
                  <a:schemeClr val="accent2"/>
                </a:solidFill>
                <a:latin typeface="Roboto"/>
                <a:ea typeface="Roboto"/>
                <a:cs typeface="Roboto"/>
                <a:sym typeface="Roboto"/>
              </a:rPr>
              <a:t>(There could be multiple).</a:t>
            </a:r>
            <a:endParaRPr>
              <a:solidFill>
                <a:schemeClr val="accent2"/>
              </a:solidFill>
              <a:latin typeface="Roboto"/>
              <a:ea typeface="Roboto"/>
              <a:cs typeface="Roboto"/>
              <a:sym typeface="Roboto"/>
            </a:endParaRPr>
          </a:p>
        </p:txBody>
      </p:sp>
      <p:sp>
        <p:nvSpPr>
          <p:cNvPr id="674" name="Google Shape;674;p42"/>
          <p:cNvSpPr txBox="1"/>
          <p:nvPr/>
        </p:nvSpPr>
        <p:spPr>
          <a:xfrm>
            <a:off x="2282372" y="1714377"/>
            <a:ext cx="2404500" cy="4863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Wired links between towers and radio gateways.</a:t>
            </a:r>
            <a:endParaRPr>
              <a:solidFill>
                <a:schemeClr val="accent2"/>
              </a:solidFill>
              <a:latin typeface="Roboto"/>
              <a:ea typeface="Roboto"/>
              <a:cs typeface="Roboto"/>
              <a:sym typeface="Roboto"/>
            </a:endParaRPr>
          </a:p>
        </p:txBody>
      </p:sp>
      <p:cxnSp>
        <p:nvCxnSpPr>
          <p:cNvPr id="675" name="Google Shape;675;p42"/>
          <p:cNvCxnSpPr>
            <a:endCxn id="551" idx="1"/>
          </p:cNvCxnSpPr>
          <p:nvPr/>
        </p:nvCxnSpPr>
        <p:spPr>
          <a:xfrm>
            <a:off x="3499475" y="4067375"/>
            <a:ext cx="1704600" cy="157200"/>
          </a:xfrm>
          <a:prstGeom prst="straightConnector1">
            <a:avLst/>
          </a:prstGeom>
          <a:noFill/>
          <a:ln cap="flat" cmpd="sng" w="9525">
            <a:solidFill>
              <a:srgbClr val="9900FF"/>
            </a:solidFill>
            <a:prstDash val="dash"/>
            <a:round/>
            <a:headEnd len="med" w="med" type="none"/>
            <a:tailEnd len="med" w="med"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cxnSp>
        <p:nvCxnSpPr>
          <p:cNvPr id="680" name="Google Shape;680;p43"/>
          <p:cNvCxnSpPr>
            <a:stCxn id="681" idx="2"/>
            <a:endCxn id="682" idx="0"/>
          </p:cNvCxnSpPr>
          <p:nvPr/>
        </p:nvCxnSpPr>
        <p:spPr>
          <a:xfrm flipH="1">
            <a:off x="5684250" y="3339925"/>
            <a:ext cx="1221600" cy="609300"/>
          </a:xfrm>
          <a:prstGeom prst="straightConnector1">
            <a:avLst/>
          </a:prstGeom>
          <a:noFill/>
          <a:ln cap="flat" cmpd="sng" w="9525">
            <a:solidFill>
              <a:srgbClr val="9900FF"/>
            </a:solidFill>
            <a:prstDash val="dash"/>
            <a:round/>
            <a:headEnd len="med" w="med" type="none"/>
            <a:tailEnd len="med" w="med" type="none"/>
          </a:ln>
        </p:spPr>
      </p:cxnSp>
      <p:cxnSp>
        <p:nvCxnSpPr>
          <p:cNvPr id="683" name="Google Shape;683;p43"/>
          <p:cNvCxnSpPr>
            <a:stCxn id="684" idx="2"/>
            <a:endCxn id="682" idx="0"/>
          </p:cNvCxnSpPr>
          <p:nvPr/>
        </p:nvCxnSpPr>
        <p:spPr>
          <a:xfrm>
            <a:off x="4549000" y="3054925"/>
            <a:ext cx="1135500" cy="894300"/>
          </a:xfrm>
          <a:prstGeom prst="straightConnector1">
            <a:avLst/>
          </a:prstGeom>
          <a:noFill/>
          <a:ln cap="flat" cmpd="sng" w="9525">
            <a:solidFill>
              <a:srgbClr val="9900FF"/>
            </a:solidFill>
            <a:prstDash val="dash"/>
            <a:round/>
            <a:headEnd len="med" w="med" type="none"/>
            <a:tailEnd len="med" w="med" type="none"/>
          </a:ln>
        </p:spPr>
      </p:cxnSp>
      <p:cxnSp>
        <p:nvCxnSpPr>
          <p:cNvPr id="685" name="Google Shape;685;p43"/>
          <p:cNvCxnSpPr>
            <a:stCxn id="686" idx="2"/>
            <a:endCxn id="682" idx="0"/>
          </p:cNvCxnSpPr>
          <p:nvPr/>
        </p:nvCxnSpPr>
        <p:spPr>
          <a:xfrm>
            <a:off x="4543650" y="3613525"/>
            <a:ext cx="1140600" cy="335700"/>
          </a:xfrm>
          <a:prstGeom prst="straightConnector1">
            <a:avLst/>
          </a:prstGeom>
          <a:noFill/>
          <a:ln cap="flat" cmpd="sng" w="9525">
            <a:solidFill>
              <a:srgbClr val="9900FF"/>
            </a:solidFill>
            <a:prstDash val="dash"/>
            <a:round/>
            <a:headEnd len="med" w="med" type="none"/>
            <a:tailEnd len="med" w="med" type="none"/>
          </a:ln>
        </p:spPr>
      </p:cxnSp>
      <p:sp>
        <p:nvSpPr>
          <p:cNvPr id="687" name="Google Shape;687;p43"/>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Infrastructure Components (</a:t>
            </a:r>
            <a:r>
              <a:rPr lang="en">
                <a:solidFill>
                  <a:schemeClr val="accent3"/>
                </a:solidFill>
              </a:rPr>
              <a:t>4/5</a:t>
            </a:r>
            <a:r>
              <a:rPr lang="en">
                <a:solidFill>
                  <a:schemeClr val="accent3"/>
                </a:solidFill>
              </a:rPr>
              <a:t> and 5/5): Mobility Manager, Database</a:t>
            </a:r>
            <a:endParaRPr/>
          </a:p>
        </p:txBody>
      </p:sp>
      <p:sp>
        <p:nvSpPr>
          <p:cNvPr id="688" name="Google Shape;688;p43"/>
          <p:cNvSpPr txBox="1"/>
          <p:nvPr>
            <p:ph idx="1" type="body"/>
          </p:nvPr>
        </p:nvSpPr>
        <p:spPr>
          <a:xfrm>
            <a:off x="107050" y="402200"/>
            <a:ext cx="8909700" cy="1340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Control-plane components:</a:t>
            </a:r>
            <a:endParaRPr/>
          </a:p>
          <a:p>
            <a:pPr indent="-342900" lvl="0" marL="457200" rtl="0" algn="l">
              <a:spcBef>
                <a:spcPts val="600"/>
              </a:spcBef>
              <a:spcAft>
                <a:spcPts val="0"/>
              </a:spcAft>
              <a:buSzPts val="1800"/>
              <a:buChar char="●"/>
            </a:pPr>
            <a:r>
              <a:rPr b="1" lang="en"/>
              <a:t>Mobility manager</a:t>
            </a:r>
            <a:r>
              <a:rPr lang="en"/>
              <a:t>: Handles authentication, mobility, location tracking, etc.</a:t>
            </a:r>
            <a:endParaRPr/>
          </a:p>
          <a:p>
            <a:pPr indent="-342900" lvl="0" marL="457200" rtl="0" algn="l">
              <a:spcBef>
                <a:spcPts val="0"/>
              </a:spcBef>
              <a:spcAft>
                <a:spcPts val="0"/>
              </a:spcAft>
              <a:buSzPts val="1800"/>
              <a:buChar char="●"/>
            </a:pPr>
            <a:r>
              <a:rPr b="1" lang="en"/>
              <a:t>Database</a:t>
            </a:r>
            <a:r>
              <a:rPr lang="en"/>
              <a:t>: Stores information about customers.</a:t>
            </a:r>
            <a:endParaRPr/>
          </a:p>
        </p:txBody>
      </p:sp>
      <p:sp>
        <p:nvSpPr>
          <p:cNvPr id="689" name="Google Shape;689;p43"/>
          <p:cNvSpPr/>
          <p:nvPr/>
        </p:nvSpPr>
        <p:spPr>
          <a:xfrm>
            <a:off x="1785710" y="2078475"/>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690" name="Google Shape;690;p43"/>
          <p:cNvGrpSpPr/>
          <p:nvPr/>
        </p:nvGrpSpPr>
        <p:grpSpPr>
          <a:xfrm>
            <a:off x="2163047" y="2289931"/>
            <a:ext cx="205525" cy="409199"/>
            <a:chOff x="7897625" y="3319150"/>
            <a:chExt cx="645900" cy="1285575"/>
          </a:xfrm>
        </p:grpSpPr>
        <p:sp>
          <p:nvSpPr>
            <p:cNvPr id="691" name="Google Shape;691;p43"/>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692" name="Google Shape;692;p43"/>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693" name="Google Shape;693;p43"/>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694" name="Google Shape;694;p43"/>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695" name="Google Shape;695;p43"/>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696" name="Google Shape;696;p43"/>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697" name="Google Shape;697;p43"/>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698" name="Google Shape;698;p43"/>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699" name="Google Shape;699;p43"/>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700" name="Google Shape;700;p43"/>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01" name="Google Shape;701;p43"/>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02" name="Google Shape;702;p43"/>
            <p:cNvSpPr/>
            <p:nvPr/>
          </p:nvSpPr>
          <p:spPr>
            <a:xfrm>
              <a:off x="8198675" y="3551600"/>
              <a:ext cx="43800" cy="43800"/>
            </a:xfrm>
            <a:prstGeom prst="ellipse">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703" name="Google Shape;703;p43"/>
          <p:cNvSpPr/>
          <p:nvPr/>
        </p:nvSpPr>
        <p:spPr>
          <a:xfrm>
            <a:off x="1785710" y="2910667"/>
            <a:ext cx="960600" cy="832200"/>
          </a:xfrm>
          <a:prstGeom prst="hexagon">
            <a:avLst>
              <a:gd fmla="val 28852" name="adj"/>
              <a:gd fmla="val 115470" name="vf"/>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704" name="Google Shape;704;p43"/>
          <p:cNvGrpSpPr/>
          <p:nvPr/>
        </p:nvGrpSpPr>
        <p:grpSpPr>
          <a:xfrm>
            <a:off x="2163047" y="3122123"/>
            <a:ext cx="205525" cy="409199"/>
            <a:chOff x="7897625" y="3319150"/>
            <a:chExt cx="645900" cy="1285575"/>
          </a:xfrm>
        </p:grpSpPr>
        <p:sp>
          <p:nvSpPr>
            <p:cNvPr id="705" name="Google Shape;705;p43"/>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06" name="Google Shape;706;p43"/>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707" name="Google Shape;707;p43"/>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708" name="Google Shape;708;p43"/>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709" name="Google Shape;709;p43"/>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710" name="Google Shape;710;p43"/>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711" name="Google Shape;711;p43"/>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712" name="Google Shape;712;p43"/>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713" name="Google Shape;713;p43"/>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714" name="Google Shape;714;p43"/>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15" name="Google Shape;715;p43"/>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16" name="Google Shape;716;p43"/>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717" name="Google Shape;717;p43"/>
          <p:cNvSpPr/>
          <p:nvPr/>
        </p:nvSpPr>
        <p:spPr>
          <a:xfrm>
            <a:off x="1066200" y="2496334"/>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718" name="Google Shape;718;p43"/>
          <p:cNvGrpSpPr/>
          <p:nvPr/>
        </p:nvGrpSpPr>
        <p:grpSpPr>
          <a:xfrm>
            <a:off x="1443547" y="2707790"/>
            <a:ext cx="205525" cy="409199"/>
            <a:chOff x="7897625" y="3319150"/>
            <a:chExt cx="645900" cy="1285575"/>
          </a:xfrm>
        </p:grpSpPr>
        <p:sp>
          <p:nvSpPr>
            <p:cNvPr id="719" name="Google Shape;719;p43"/>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20" name="Google Shape;720;p43"/>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721" name="Google Shape;721;p43"/>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722" name="Google Shape;722;p43"/>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723" name="Google Shape;723;p43"/>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724" name="Google Shape;724;p43"/>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725" name="Google Shape;725;p43"/>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726" name="Google Shape;726;p43"/>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727" name="Google Shape;727;p43"/>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728" name="Google Shape;728;p43"/>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29" name="Google Shape;729;p43"/>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30" name="Google Shape;730;p43"/>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731" name="Google Shape;731;p43"/>
          <p:cNvSpPr/>
          <p:nvPr/>
        </p:nvSpPr>
        <p:spPr>
          <a:xfrm>
            <a:off x="2505200" y="2496334"/>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732" name="Google Shape;732;p43"/>
          <p:cNvGrpSpPr/>
          <p:nvPr/>
        </p:nvGrpSpPr>
        <p:grpSpPr>
          <a:xfrm>
            <a:off x="2882547" y="2707790"/>
            <a:ext cx="205525" cy="409199"/>
            <a:chOff x="7897625" y="3319150"/>
            <a:chExt cx="645900" cy="1285575"/>
          </a:xfrm>
        </p:grpSpPr>
        <p:sp>
          <p:nvSpPr>
            <p:cNvPr id="733" name="Google Shape;733;p43"/>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34" name="Google Shape;734;p43"/>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735" name="Google Shape;735;p43"/>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736" name="Google Shape;736;p43"/>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737" name="Google Shape;737;p43"/>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738" name="Google Shape;738;p43"/>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739" name="Google Shape;739;p43"/>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740" name="Google Shape;740;p43"/>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741" name="Google Shape;741;p43"/>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742" name="Google Shape;742;p43"/>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43" name="Google Shape;743;p43"/>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44" name="Google Shape;744;p43"/>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745" name="Google Shape;745;p43"/>
          <p:cNvSpPr/>
          <p:nvPr/>
        </p:nvSpPr>
        <p:spPr>
          <a:xfrm>
            <a:off x="2505200" y="3328526"/>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746" name="Google Shape;746;p43"/>
          <p:cNvGrpSpPr/>
          <p:nvPr/>
        </p:nvGrpSpPr>
        <p:grpSpPr>
          <a:xfrm>
            <a:off x="2882547" y="3539982"/>
            <a:ext cx="205525" cy="409199"/>
            <a:chOff x="7897625" y="3319150"/>
            <a:chExt cx="645900" cy="1285575"/>
          </a:xfrm>
        </p:grpSpPr>
        <p:sp>
          <p:nvSpPr>
            <p:cNvPr id="747" name="Google Shape;747;p43"/>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48" name="Google Shape;748;p43"/>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749" name="Google Shape;749;p43"/>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750" name="Google Shape;750;p43"/>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751" name="Google Shape;751;p43"/>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752" name="Google Shape;752;p43"/>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753" name="Google Shape;753;p43"/>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754" name="Google Shape;754;p43"/>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755" name="Google Shape;755;p43"/>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756" name="Google Shape;756;p43"/>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57" name="Google Shape;757;p43"/>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58" name="Google Shape;758;p43"/>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759" name="Google Shape;759;p43"/>
          <p:cNvSpPr/>
          <p:nvPr/>
        </p:nvSpPr>
        <p:spPr>
          <a:xfrm>
            <a:off x="1066200" y="3328526"/>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760" name="Google Shape;760;p43"/>
          <p:cNvGrpSpPr/>
          <p:nvPr/>
        </p:nvGrpSpPr>
        <p:grpSpPr>
          <a:xfrm>
            <a:off x="1443547" y="3539982"/>
            <a:ext cx="205525" cy="409199"/>
            <a:chOff x="7897625" y="3319150"/>
            <a:chExt cx="645900" cy="1285575"/>
          </a:xfrm>
        </p:grpSpPr>
        <p:sp>
          <p:nvSpPr>
            <p:cNvPr id="761" name="Google Shape;761;p43"/>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62" name="Google Shape;762;p43"/>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763" name="Google Shape;763;p43"/>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764" name="Google Shape;764;p43"/>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765" name="Google Shape;765;p43"/>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766" name="Google Shape;766;p43"/>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767" name="Google Shape;767;p43"/>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768" name="Google Shape;768;p43"/>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769" name="Google Shape;769;p43"/>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770" name="Google Shape;770;p43"/>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71" name="Google Shape;771;p43"/>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72" name="Google Shape;772;p43"/>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773" name="Google Shape;773;p43"/>
          <p:cNvSpPr/>
          <p:nvPr/>
        </p:nvSpPr>
        <p:spPr>
          <a:xfrm>
            <a:off x="1785710" y="3742859"/>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774" name="Google Shape;774;p43"/>
          <p:cNvGrpSpPr/>
          <p:nvPr/>
        </p:nvGrpSpPr>
        <p:grpSpPr>
          <a:xfrm>
            <a:off x="2163037" y="3954316"/>
            <a:ext cx="205525" cy="409199"/>
            <a:chOff x="7897625" y="3319150"/>
            <a:chExt cx="645900" cy="1285575"/>
          </a:xfrm>
        </p:grpSpPr>
        <p:sp>
          <p:nvSpPr>
            <p:cNvPr id="775" name="Google Shape;775;p43"/>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776" name="Google Shape;776;p43"/>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777" name="Google Shape;777;p43"/>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778" name="Google Shape;778;p43"/>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779" name="Google Shape;779;p43"/>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780" name="Google Shape;780;p43"/>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781" name="Google Shape;781;p43"/>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782" name="Google Shape;782;p43"/>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783" name="Google Shape;783;p43"/>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784" name="Google Shape;784;p43"/>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85" name="Google Shape;785;p43"/>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786" name="Google Shape;786;p43"/>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787" name="Google Shape;787;p43"/>
          <p:cNvSpPr/>
          <p:nvPr/>
        </p:nvSpPr>
        <p:spPr>
          <a:xfrm>
            <a:off x="599312" y="4501275"/>
            <a:ext cx="3333383" cy="226355"/>
          </a:xfrm>
          <a:custGeom>
            <a:rect b="b" l="l" r="r" t="t"/>
            <a:pathLst>
              <a:path extrusionOk="0" h="4715" w="97746">
                <a:moveTo>
                  <a:pt x="0" y="0"/>
                </a:moveTo>
                <a:lnTo>
                  <a:pt x="0" y="4715"/>
                </a:lnTo>
                <a:lnTo>
                  <a:pt x="97746" y="4715"/>
                </a:lnTo>
                <a:lnTo>
                  <a:pt x="97746" y="0"/>
                </a:lnTo>
              </a:path>
            </a:pathLst>
          </a:custGeom>
          <a:noFill/>
          <a:ln cap="flat" cmpd="sng" w="19050">
            <a:solidFill>
              <a:schemeClr val="dk2"/>
            </a:solidFill>
            <a:prstDash val="solid"/>
            <a:round/>
            <a:headEnd len="med" w="med" type="none"/>
            <a:tailEnd len="med" w="med" type="none"/>
          </a:ln>
        </p:spPr>
      </p:sp>
      <p:sp>
        <p:nvSpPr>
          <p:cNvPr id="788" name="Google Shape;788;p43"/>
          <p:cNvSpPr txBox="1"/>
          <p:nvPr/>
        </p:nvSpPr>
        <p:spPr>
          <a:xfrm>
            <a:off x="720550" y="4727625"/>
            <a:ext cx="30909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Cellular Radio Access Network (RAN)</a:t>
            </a:r>
            <a:endParaRPr>
              <a:latin typeface="Roboto"/>
              <a:ea typeface="Roboto"/>
              <a:cs typeface="Roboto"/>
              <a:sym typeface="Roboto"/>
            </a:endParaRPr>
          </a:p>
        </p:txBody>
      </p:sp>
      <p:sp>
        <p:nvSpPr>
          <p:cNvPr id="684" name="Google Shape;684;p43"/>
          <p:cNvSpPr/>
          <p:nvPr/>
        </p:nvSpPr>
        <p:spPr>
          <a:xfrm>
            <a:off x="4406500" y="27699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686" name="Google Shape;686;p43"/>
          <p:cNvSpPr/>
          <p:nvPr/>
        </p:nvSpPr>
        <p:spPr>
          <a:xfrm>
            <a:off x="4401150" y="33285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sp>
        <p:nvSpPr>
          <p:cNvPr id="681" name="Google Shape;681;p43"/>
          <p:cNvSpPr/>
          <p:nvPr/>
        </p:nvSpPr>
        <p:spPr>
          <a:xfrm>
            <a:off x="6763350" y="30549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P1</a:t>
            </a:r>
            <a:endParaRPr>
              <a:latin typeface="Roboto"/>
              <a:ea typeface="Roboto"/>
              <a:cs typeface="Roboto"/>
              <a:sym typeface="Roboto"/>
            </a:endParaRPr>
          </a:p>
        </p:txBody>
      </p:sp>
      <p:sp>
        <p:nvSpPr>
          <p:cNvPr id="682" name="Google Shape;682;p43"/>
          <p:cNvSpPr/>
          <p:nvPr/>
        </p:nvSpPr>
        <p:spPr>
          <a:xfrm>
            <a:off x="5204075" y="3949175"/>
            <a:ext cx="960600" cy="5508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Mobility Manager</a:t>
            </a:r>
            <a:endParaRPr>
              <a:latin typeface="Roboto"/>
              <a:ea typeface="Roboto"/>
              <a:cs typeface="Roboto"/>
              <a:sym typeface="Roboto"/>
            </a:endParaRPr>
          </a:p>
        </p:txBody>
      </p:sp>
      <p:sp>
        <p:nvSpPr>
          <p:cNvPr id="789" name="Google Shape;789;p43"/>
          <p:cNvSpPr/>
          <p:nvPr/>
        </p:nvSpPr>
        <p:spPr>
          <a:xfrm>
            <a:off x="6610950" y="3933575"/>
            <a:ext cx="960600" cy="5820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Database</a:t>
            </a:r>
            <a:endParaRPr>
              <a:latin typeface="Roboto"/>
              <a:ea typeface="Roboto"/>
              <a:cs typeface="Roboto"/>
              <a:sym typeface="Roboto"/>
            </a:endParaRPr>
          </a:p>
        </p:txBody>
      </p:sp>
      <p:sp>
        <p:nvSpPr>
          <p:cNvPr id="790" name="Google Shape;790;p43"/>
          <p:cNvSpPr/>
          <p:nvPr/>
        </p:nvSpPr>
        <p:spPr>
          <a:xfrm>
            <a:off x="4180699" y="4501275"/>
            <a:ext cx="3561131" cy="226355"/>
          </a:xfrm>
          <a:custGeom>
            <a:rect b="b" l="l" r="r" t="t"/>
            <a:pathLst>
              <a:path extrusionOk="0" h="4715" w="97746">
                <a:moveTo>
                  <a:pt x="0" y="0"/>
                </a:moveTo>
                <a:lnTo>
                  <a:pt x="0" y="4715"/>
                </a:lnTo>
                <a:lnTo>
                  <a:pt x="97746" y="4715"/>
                </a:lnTo>
                <a:lnTo>
                  <a:pt x="97746" y="0"/>
                </a:lnTo>
              </a:path>
            </a:pathLst>
          </a:custGeom>
          <a:noFill/>
          <a:ln cap="flat" cmpd="sng" w="19050">
            <a:solidFill>
              <a:schemeClr val="dk2"/>
            </a:solidFill>
            <a:prstDash val="solid"/>
            <a:round/>
            <a:headEnd len="med" w="med" type="none"/>
            <a:tailEnd len="med" w="med" type="none"/>
          </a:ln>
        </p:spPr>
      </p:sp>
      <p:sp>
        <p:nvSpPr>
          <p:cNvPr id="791" name="Google Shape;791;p43"/>
          <p:cNvSpPr txBox="1"/>
          <p:nvPr/>
        </p:nvSpPr>
        <p:spPr>
          <a:xfrm>
            <a:off x="4310222" y="4727625"/>
            <a:ext cx="33021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Cellular Core</a:t>
            </a:r>
            <a:endParaRPr>
              <a:latin typeface="Roboto"/>
              <a:ea typeface="Roboto"/>
              <a:cs typeface="Roboto"/>
              <a:sym typeface="Roboto"/>
            </a:endParaRPr>
          </a:p>
        </p:txBody>
      </p:sp>
      <p:cxnSp>
        <p:nvCxnSpPr>
          <p:cNvPr id="792" name="Google Shape;792;p43"/>
          <p:cNvCxnSpPr>
            <a:stCxn id="684" idx="1"/>
          </p:cNvCxnSpPr>
          <p:nvPr/>
        </p:nvCxnSpPr>
        <p:spPr>
          <a:xfrm flipH="1">
            <a:off x="3150100" y="2912425"/>
            <a:ext cx="1256400" cy="30600"/>
          </a:xfrm>
          <a:prstGeom prst="straightConnector1">
            <a:avLst/>
          </a:prstGeom>
          <a:noFill/>
          <a:ln cap="flat" cmpd="sng" w="19050">
            <a:solidFill>
              <a:srgbClr val="000000"/>
            </a:solidFill>
            <a:prstDash val="solid"/>
            <a:round/>
            <a:headEnd len="med" w="med" type="none"/>
            <a:tailEnd len="med" w="med" type="none"/>
          </a:ln>
        </p:spPr>
      </p:cxnSp>
      <p:cxnSp>
        <p:nvCxnSpPr>
          <p:cNvPr id="793" name="Google Shape;793;p43"/>
          <p:cNvCxnSpPr>
            <a:stCxn id="684" idx="1"/>
          </p:cNvCxnSpPr>
          <p:nvPr/>
        </p:nvCxnSpPr>
        <p:spPr>
          <a:xfrm rot="10800000">
            <a:off x="2438800" y="2541625"/>
            <a:ext cx="1967700" cy="370800"/>
          </a:xfrm>
          <a:prstGeom prst="straightConnector1">
            <a:avLst/>
          </a:prstGeom>
          <a:noFill/>
          <a:ln cap="flat" cmpd="sng" w="19050">
            <a:solidFill>
              <a:srgbClr val="000000"/>
            </a:solidFill>
            <a:prstDash val="solid"/>
            <a:round/>
            <a:headEnd len="med" w="med" type="none"/>
            <a:tailEnd len="med" w="med" type="none"/>
          </a:ln>
        </p:spPr>
      </p:cxnSp>
      <p:cxnSp>
        <p:nvCxnSpPr>
          <p:cNvPr id="794" name="Google Shape;794;p43"/>
          <p:cNvCxnSpPr>
            <a:stCxn id="684" idx="1"/>
          </p:cNvCxnSpPr>
          <p:nvPr/>
        </p:nvCxnSpPr>
        <p:spPr>
          <a:xfrm flipH="1">
            <a:off x="2365600" y="2912425"/>
            <a:ext cx="2040900" cy="454500"/>
          </a:xfrm>
          <a:prstGeom prst="straightConnector1">
            <a:avLst/>
          </a:prstGeom>
          <a:noFill/>
          <a:ln cap="flat" cmpd="sng" w="19050">
            <a:solidFill>
              <a:srgbClr val="000000"/>
            </a:solidFill>
            <a:prstDash val="solid"/>
            <a:round/>
            <a:headEnd len="med" w="med" type="none"/>
            <a:tailEnd len="med" w="med" type="none"/>
          </a:ln>
        </p:spPr>
      </p:cxnSp>
      <p:cxnSp>
        <p:nvCxnSpPr>
          <p:cNvPr id="795" name="Google Shape;795;p43"/>
          <p:cNvCxnSpPr>
            <a:stCxn id="686" idx="1"/>
          </p:cNvCxnSpPr>
          <p:nvPr/>
        </p:nvCxnSpPr>
        <p:spPr>
          <a:xfrm flipH="1">
            <a:off x="3126750" y="3471025"/>
            <a:ext cx="1274400" cy="314700"/>
          </a:xfrm>
          <a:prstGeom prst="straightConnector1">
            <a:avLst/>
          </a:prstGeom>
          <a:noFill/>
          <a:ln cap="flat" cmpd="sng" w="19050">
            <a:solidFill>
              <a:srgbClr val="000000"/>
            </a:solidFill>
            <a:prstDash val="solid"/>
            <a:round/>
            <a:headEnd len="med" w="med" type="none"/>
            <a:tailEnd len="med" w="med" type="none"/>
          </a:ln>
        </p:spPr>
      </p:cxnSp>
      <p:cxnSp>
        <p:nvCxnSpPr>
          <p:cNvPr id="796" name="Google Shape;796;p43"/>
          <p:cNvCxnSpPr>
            <a:stCxn id="686" idx="1"/>
          </p:cNvCxnSpPr>
          <p:nvPr/>
        </p:nvCxnSpPr>
        <p:spPr>
          <a:xfrm flipH="1">
            <a:off x="2417850" y="3471025"/>
            <a:ext cx="1983300" cy="751500"/>
          </a:xfrm>
          <a:prstGeom prst="straightConnector1">
            <a:avLst/>
          </a:prstGeom>
          <a:noFill/>
          <a:ln cap="flat" cmpd="sng" w="19050">
            <a:solidFill>
              <a:srgbClr val="000000"/>
            </a:solidFill>
            <a:prstDash val="solid"/>
            <a:round/>
            <a:headEnd len="med" w="med" type="none"/>
            <a:tailEnd len="med" w="med" type="none"/>
          </a:ln>
        </p:spPr>
      </p:cxnSp>
      <p:cxnSp>
        <p:nvCxnSpPr>
          <p:cNvPr id="797" name="Google Shape;797;p43"/>
          <p:cNvCxnSpPr>
            <a:stCxn id="684" idx="3"/>
            <a:endCxn id="681" idx="1"/>
          </p:cNvCxnSpPr>
          <p:nvPr/>
        </p:nvCxnSpPr>
        <p:spPr>
          <a:xfrm>
            <a:off x="4691500" y="2912425"/>
            <a:ext cx="2071800" cy="285000"/>
          </a:xfrm>
          <a:prstGeom prst="straightConnector1">
            <a:avLst/>
          </a:prstGeom>
          <a:noFill/>
          <a:ln cap="flat" cmpd="sng" w="19050">
            <a:solidFill>
              <a:srgbClr val="000000"/>
            </a:solidFill>
            <a:prstDash val="solid"/>
            <a:round/>
            <a:headEnd len="med" w="med" type="none"/>
            <a:tailEnd len="med" w="med" type="none"/>
          </a:ln>
        </p:spPr>
      </p:cxnSp>
      <p:cxnSp>
        <p:nvCxnSpPr>
          <p:cNvPr id="798" name="Google Shape;798;p43"/>
          <p:cNvCxnSpPr>
            <a:stCxn id="686" idx="3"/>
            <a:endCxn id="681" idx="1"/>
          </p:cNvCxnSpPr>
          <p:nvPr/>
        </p:nvCxnSpPr>
        <p:spPr>
          <a:xfrm flipH="1" rot="10800000">
            <a:off x="4686150" y="3197425"/>
            <a:ext cx="2077200" cy="273600"/>
          </a:xfrm>
          <a:prstGeom prst="straightConnector1">
            <a:avLst/>
          </a:prstGeom>
          <a:noFill/>
          <a:ln cap="flat" cmpd="sng" w="19050">
            <a:solidFill>
              <a:srgbClr val="000000"/>
            </a:solidFill>
            <a:prstDash val="solid"/>
            <a:round/>
            <a:headEnd len="med" w="med" type="none"/>
            <a:tailEnd len="med" w="med" type="none"/>
          </a:ln>
        </p:spPr>
      </p:cxnSp>
      <p:cxnSp>
        <p:nvCxnSpPr>
          <p:cNvPr id="799" name="Google Shape;799;p43"/>
          <p:cNvCxnSpPr>
            <a:stCxn id="789" idx="2"/>
            <a:endCxn id="682" idx="3"/>
          </p:cNvCxnSpPr>
          <p:nvPr/>
        </p:nvCxnSpPr>
        <p:spPr>
          <a:xfrm rot="10800000">
            <a:off x="6164550" y="4224575"/>
            <a:ext cx="446400" cy="0"/>
          </a:xfrm>
          <a:prstGeom prst="straightConnector1">
            <a:avLst/>
          </a:prstGeom>
          <a:noFill/>
          <a:ln cap="flat" cmpd="sng" w="9525">
            <a:solidFill>
              <a:srgbClr val="9900FF"/>
            </a:solidFill>
            <a:prstDash val="dash"/>
            <a:round/>
            <a:headEnd len="med" w="med" type="none"/>
            <a:tailEnd len="med" w="med" type="none"/>
          </a:ln>
        </p:spPr>
      </p:cxnSp>
      <p:cxnSp>
        <p:nvCxnSpPr>
          <p:cNvPr id="800" name="Google Shape;800;p43"/>
          <p:cNvCxnSpPr>
            <a:stCxn id="681" idx="3"/>
          </p:cNvCxnSpPr>
          <p:nvPr/>
        </p:nvCxnSpPr>
        <p:spPr>
          <a:xfrm>
            <a:off x="7048350" y="3197425"/>
            <a:ext cx="551700" cy="0"/>
          </a:xfrm>
          <a:prstGeom prst="straightConnector1">
            <a:avLst/>
          </a:prstGeom>
          <a:noFill/>
          <a:ln cap="flat" cmpd="sng" w="19050">
            <a:solidFill>
              <a:srgbClr val="000000"/>
            </a:solidFill>
            <a:prstDash val="solid"/>
            <a:round/>
            <a:headEnd len="med" w="med" type="none"/>
            <a:tailEnd len="med" w="med" type="none"/>
          </a:ln>
        </p:spPr>
      </p:cxnSp>
      <p:cxnSp>
        <p:nvCxnSpPr>
          <p:cNvPr id="801" name="Google Shape;801;p43"/>
          <p:cNvCxnSpPr/>
          <p:nvPr/>
        </p:nvCxnSpPr>
        <p:spPr>
          <a:xfrm>
            <a:off x="7659010" y="3197425"/>
            <a:ext cx="865500" cy="0"/>
          </a:xfrm>
          <a:prstGeom prst="straightConnector1">
            <a:avLst/>
          </a:prstGeom>
          <a:noFill/>
          <a:ln cap="flat" cmpd="sng" w="19050">
            <a:solidFill>
              <a:srgbClr val="000000"/>
            </a:solidFill>
            <a:prstDash val="dash"/>
            <a:round/>
            <a:headEnd len="med" w="med" type="none"/>
            <a:tailEnd len="med" w="med" type="none"/>
          </a:ln>
        </p:spPr>
      </p:cxnSp>
      <p:sp>
        <p:nvSpPr>
          <p:cNvPr id="802" name="Google Shape;802;p43"/>
          <p:cNvSpPr txBox="1"/>
          <p:nvPr/>
        </p:nvSpPr>
        <p:spPr>
          <a:xfrm>
            <a:off x="7600049" y="2927425"/>
            <a:ext cx="9216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To Internet</a:t>
            </a:r>
            <a:endParaRPr>
              <a:latin typeface="Roboto"/>
              <a:ea typeface="Roboto"/>
              <a:cs typeface="Roboto"/>
              <a:sym typeface="Roboto"/>
            </a:endParaRPr>
          </a:p>
        </p:txBody>
      </p:sp>
      <p:cxnSp>
        <p:nvCxnSpPr>
          <p:cNvPr id="803" name="Google Shape;803;p43"/>
          <p:cNvCxnSpPr>
            <a:endCxn id="682" idx="1"/>
          </p:cNvCxnSpPr>
          <p:nvPr/>
        </p:nvCxnSpPr>
        <p:spPr>
          <a:xfrm>
            <a:off x="3499475" y="4067375"/>
            <a:ext cx="1704600" cy="157200"/>
          </a:xfrm>
          <a:prstGeom prst="straightConnector1">
            <a:avLst/>
          </a:prstGeom>
          <a:noFill/>
          <a:ln cap="flat" cmpd="sng" w="9525">
            <a:solidFill>
              <a:srgbClr val="9900FF"/>
            </a:solidFill>
            <a:prstDash val="dash"/>
            <a:round/>
            <a:headEnd len="med" w="med" type="none"/>
            <a:tailEnd len="med" w="med" type="none"/>
          </a:ln>
        </p:spPr>
      </p:cxnSp>
      <p:sp>
        <p:nvSpPr>
          <p:cNvPr id="804" name="Google Shape;804;p43"/>
          <p:cNvSpPr txBox="1"/>
          <p:nvPr/>
        </p:nvSpPr>
        <p:spPr>
          <a:xfrm>
            <a:off x="7902950" y="3873575"/>
            <a:ext cx="960600" cy="702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rgbClr val="9900FF"/>
                </a:solidFill>
                <a:latin typeface="Roboto"/>
                <a:ea typeface="Roboto"/>
                <a:cs typeface="Roboto"/>
                <a:sym typeface="Roboto"/>
              </a:rPr>
              <a:t>Manager can access database.</a:t>
            </a:r>
            <a:endParaRPr>
              <a:solidFill>
                <a:srgbClr val="9900FF"/>
              </a:solidFill>
              <a:latin typeface="Roboto"/>
              <a:ea typeface="Roboto"/>
              <a:cs typeface="Roboto"/>
              <a:sym typeface="Roboto"/>
            </a:endParaRPr>
          </a:p>
        </p:txBody>
      </p:sp>
      <p:sp>
        <p:nvSpPr>
          <p:cNvPr id="805" name="Google Shape;805;p43"/>
          <p:cNvSpPr txBox="1"/>
          <p:nvPr/>
        </p:nvSpPr>
        <p:spPr>
          <a:xfrm>
            <a:off x="5204075" y="2065938"/>
            <a:ext cx="1983300" cy="4863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rgbClr val="9900FF"/>
                </a:solidFill>
                <a:latin typeface="Roboto"/>
                <a:ea typeface="Roboto"/>
                <a:cs typeface="Roboto"/>
                <a:sym typeface="Roboto"/>
              </a:rPr>
              <a:t>Manager can configure gateways and towers.</a:t>
            </a:r>
            <a:endParaRPr>
              <a:solidFill>
                <a:srgbClr val="9900FF"/>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cxnSp>
        <p:nvCxnSpPr>
          <p:cNvPr id="810" name="Google Shape;810;p44"/>
          <p:cNvCxnSpPr>
            <a:stCxn id="811" idx="2"/>
            <a:endCxn id="812" idx="0"/>
          </p:cNvCxnSpPr>
          <p:nvPr/>
        </p:nvCxnSpPr>
        <p:spPr>
          <a:xfrm flipH="1">
            <a:off x="5684250" y="3339925"/>
            <a:ext cx="1221600" cy="609300"/>
          </a:xfrm>
          <a:prstGeom prst="straightConnector1">
            <a:avLst/>
          </a:prstGeom>
          <a:noFill/>
          <a:ln cap="flat" cmpd="sng" w="9525">
            <a:solidFill>
              <a:srgbClr val="9900FF"/>
            </a:solidFill>
            <a:prstDash val="dash"/>
            <a:round/>
            <a:headEnd len="med" w="med" type="none"/>
            <a:tailEnd len="med" w="med" type="none"/>
          </a:ln>
        </p:spPr>
      </p:cxnSp>
      <p:cxnSp>
        <p:nvCxnSpPr>
          <p:cNvPr id="813" name="Google Shape;813;p44"/>
          <p:cNvCxnSpPr>
            <a:stCxn id="814" idx="2"/>
            <a:endCxn id="812" idx="0"/>
          </p:cNvCxnSpPr>
          <p:nvPr/>
        </p:nvCxnSpPr>
        <p:spPr>
          <a:xfrm>
            <a:off x="4549000" y="3054925"/>
            <a:ext cx="1135500" cy="894300"/>
          </a:xfrm>
          <a:prstGeom prst="straightConnector1">
            <a:avLst/>
          </a:prstGeom>
          <a:noFill/>
          <a:ln cap="flat" cmpd="sng" w="9525">
            <a:solidFill>
              <a:srgbClr val="9900FF"/>
            </a:solidFill>
            <a:prstDash val="dash"/>
            <a:round/>
            <a:headEnd len="med" w="med" type="none"/>
            <a:tailEnd len="med" w="med" type="none"/>
          </a:ln>
        </p:spPr>
      </p:cxnSp>
      <p:cxnSp>
        <p:nvCxnSpPr>
          <p:cNvPr id="815" name="Google Shape;815;p44"/>
          <p:cNvCxnSpPr>
            <a:stCxn id="816" idx="2"/>
            <a:endCxn id="812" idx="0"/>
          </p:cNvCxnSpPr>
          <p:nvPr/>
        </p:nvCxnSpPr>
        <p:spPr>
          <a:xfrm>
            <a:off x="4543650" y="3613525"/>
            <a:ext cx="1140600" cy="335700"/>
          </a:xfrm>
          <a:prstGeom prst="straightConnector1">
            <a:avLst/>
          </a:prstGeom>
          <a:noFill/>
          <a:ln cap="flat" cmpd="sng" w="9525">
            <a:solidFill>
              <a:srgbClr val="9900FF"/>
            </a:solidFill>
            <a:prstDash val="dash"/>
            <a:round/>
            <a:headEnd len="med" w="med" type="none"/>
            <a:tailEnd len="med" w="med" type="none"/>
          </a:ln>
        </p:spPr>
      </p:cxnSp>
      <p:sp>
        <p:nvSpPr>
          <p:cNvPr id="817" name="Google Shape;817;p44"/>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Infrastructure Components: Summary</a:t>
            </a:r>
            <a:endParaRPr/>
          </a:p>
        </p:txBody>
      </p:sp>
      <p:sp>
        <p:nvSpPr>
          <p:cNvPr id="818" name="Google Shape;818;p44"/>
          <p:cNvSpPr txBox="1"/>
          <p:nvPr>
            <p:ph idx="1" type="body"/>
          </p:nvPr>
        </p:nvSpPr>
        <p:spPr>
          <a:xfrm>
            <a:off x="107050" y="402200"/>
            <a:ext cx="8909700" cy="14826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lang="en"/>
              <a:t>Cell towers (arranged in a RAN).</a:t>
            </a:r>
            <a:endParaRPr/>
          </a:p>
          <a:p>
            <a:pPr indent="-342900" lvl="0" marL="457200" rtl="0" algn="l">
              <a:spcBef>
                <a:spcPts val="0"/>
              </a:spcBef>
              <a:spcAft>
                <a:spcPts val="0"/>
              </a:spcAft>
              <a:buSzPts val="1800"/>
              <a:buChar char="●"/>
            </a:pPr>
            <a:r>
              <a:rPr lang="en"/>
              <a:t>Data plane: Radio gateways, packet gateways.</a:t>
            </a:r>
            <a:endParaRPr/>
          </a:p>
          <a:p>
            <a:pPr indent="-342900" lvl="0" marL="457200" rtl="0" algn="l">
              <a:spcBef>
                <a:spcPts val="0"/>
              </a:spcBef>
              <a:spcAft>
                <a:spcPts val="0"/>
              </a:spcAft>
              <a:buSzPts val="1800"/>
              <a:buChar char="●"/>
            </a:pPr>
            <a:r>
              <a:rPr lang="en"/>
              <a:t>Control plane: Mobility manager, database.</a:t>
            </a:r>
            <a:endParaRPr/>
          </a:p>
        </p:txBody>
      </p:sp>
      <p:sp>
        <p:nvSpPr>
          <p:cNvPr id="819" name="Google Shape;819;p44"/>
          <p:cNvSpPr/>
          <p:nvPr/>
        </p:nvSpPr>
        <p:spPr>
          <a:xfrm>
            <a:off x="1785710" y="2078475"/>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820" name="Google Shape;820;p44"/>
          <p:cNvGrpSpPr/>
          <p:nvPr/>
        </p:nvGrpSpPr>
        <p:grpSpPr>
          <a:xfrm>
            <a:off x="2163047" y="2289931"/>
            <a:ext cx="205525" cy="409199"/>
            <a:chOff x="7897625" y="3319150"/>
            <a:chExt cx="645900" cy="1285575"/>
          </a:xfrm>
        </p:grpSpPr>
        <p:sp>
          <p:nvSpPr>
            <p:cNvPr id="821" name="Google Shape;821;p44"/>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22" name="Google Shape;822;p44"/>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823" name="Google Shape;823;p44"/>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824" name="Google Shape;824;p44"/>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825" name="Google Shape;825;p44"/>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826" name="Google Shape;826;p44"/>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827" name="Google Shape;827;p44"/>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828" name="Google Shape;828;p44"/>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829" name="Google Shape;829;p44"/>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830" name="Google Shape;830;p44"/>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31" name="Google Shape;831;p44"/>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32" name="Google Shape;832;p44"/>
            <p:cNvSpPr/>
            <p:nvPr/>
          </p:nvSpPr>
          <p:spPr>
            <a:xfrm>
              <a:off x="8198675" y="3551600"/>
              <a:ext cx="43800" cy="43800"/>
            </a:xfrm>
            <a:prstGeom prst="ellipse">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833" name="Google Shape;833;p44"/>
          <p:cNvSpPr/>
          <p:nvPr/>
        </p:nvSpPr>
        <p:spPr>
          <a:xfrm>
            <a:off x="1785710" y="2910667"/>
            <a:ext cx="960600" cy="832200"/>
          </a:xfrm>
          <a:prstGeom prst="hexagon">
            <a:avLst>
              <a:gd fmla="val 28852" name="adj"/>
              <a:gd fmla="val 115470" name="vf"/>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834" name="Google Shape;834;p44"/>
          <p:cNvGrpSpPr/>
          <p:nvPr/>
        </p:nvGrpSpPr>
        <p:grpSpPr>
          <a:xfrm>
            <a:off x="2163047" y="3122123"/>
            <a:ext cx="205525" cy="409199"/>
            <a:chOff x="7897625" y="3319150"/>
            <a:chExt cx="645900" cy="1285575"/>
          </a:xfrm>
        </p:grpSpPr>
        <p:sp>
          <p:nvSpPr>
            <p:cNvPr id="835" name="Google Shape;835;p44"/>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36" name="Google Shape;836;p44"/>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837" name="Google Shape;837;p44"/>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838" name="Google Shape;838;p44"/>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839" name="Google Shape;839;p44"/>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840" name="Google Shape;840;p44"/>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841" name="Google Shape;841;p44"/>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842" name="Google Shape;842;p44"/>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843" name="Google Shape;843;p44"/>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844" name="Google Shape;844;p44"/>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45" name="Google Shape;845;p44"/>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46" name="Google Shape;846;p44"/>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847" name="Google Shape;847;p44"/>
          <p:cNvSpPr/>
          <p:nvPr/>
        </p:nvSpPr>
        <p:spPr>
          <a:xfrm>
            <a:off x="1066200" y="2496334"/>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848" name="Google Shape;848;p44"/>
          <p:cNvGrpSpPr/>
          <p:nvPr/>
        </p:nvGrpSpPr>
        <p:grpSpPr>
          <a:xfrm>
            <a:off x="1443547" y="2707790"/>
            <a:ext cx="205525" cy="409199"/>
            <a:chOff x="7897625" y="3319150"/>
            <a:chExt cx="645900" cy="1285575"/>
          </a:xfrm>
        </p:grpSpPr>
        <p:sp>
          <p:nvSpPr>
            <p:cNvPr id="849" name="Google Shape;849;p44"/>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50" name="Google Shape;850;p44"/>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851" name="Google Shape;851;p44"/>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852" name="Google Shape;852;p44"/>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853" name="Google Shape;853;p44"/>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854" name="Google Shape;854;p44"/>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855" name="Google Shape;855;p44"/>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856" name="Google Shape;856;p44"/>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857" name="Google Shape;857;p44"/>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858" name="Google Shape;858;p44"/>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59" name="Google Shape;859;p44"/>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60" name="Google Shape;860;p44"/>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861" name="Google Shape;861;p44"/>
          <p:cNvSpPr/>
          <p:nvPr/>
        </p:nvSpPr>
        <p:spPr>
          <a:xfrm>
            <a:off x="2505200" y="2496334"/>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862" name="Google Shape;862;p44"/>
          <p:cNvGrpSpPr/>
          <p:nvPr/>
        </p:nvGrpSpPr>
        <p:grpSpPr>
          <a:xfrm>
            <a:off x="2882547" y="2707790"/>
            <a:ext cx="205525" cy="409199"/>
            <a:chOff x="7897625" y="3319150"/>
            <a:chExt cx="645900" cy="1285575"/>
          </a:xfrm>
        </p:grpSpPr>
        <p:sp>
          <p:nvSpPr>
            <p:cNvPr id="863" name="Google Shape;863;p44"/>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64" name="Google Shape;864;p44"/>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865" name="Google Shape;865;p44"/>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866" name="Google Shape;866;p44"/>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867" name="Google Shape;867;p44"/>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868" name="Google Shape;868;p44"/>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869" name="Google Shape;869;p44"/>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870" name="Google Shape;870;p44"/>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871" name="Google Shape;871;p44"/>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872" name="Google Shape;872;p44"/>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73" name="Google Shape;873;p44"/>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74" name="Google Shape;874;p44"/>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875" name="Google Shape;875;p44"/>
          <p:cNvSpPr/>
          <p:nvPr/>
        </p:nvSpPr>
        <p:spPr>
          <a:xfrm>
            <a:off x="2505200" y="3328526"/>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876" name="Google Shape;876;p44"/>
          <p:cNvGrpSpPr/>
          <p:nvPr/>
        </p:nvGrpSpPr>
        <p:grpSpPr>
          <a:xfrm>
            <a:off x="2882547" y="3539982"/>
            <a:ext cx="205525" cy="409199"/>
            <a:chOff x="7897625" y="3319150"/>
            <a:chExt cx="645900" cy="1285575"/>
          </a:xfrm>
        </p:grpSpPr>
        <p:sp>
          <p:nvSpPr>
            <p:cNvPr id="877" name="Google Shape;877;p44"/>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78" name="Google Shape;878;p44"/>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879" name="Google Shape;879;p44"/>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880" name="Google Shape;880;p44"/>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881" name="Google Shape;881;p44"/>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882" name="Google Shape;882;p44"/>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883" name="Google Shape;883;p44"/>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884" name="Google Shape;884;p44"/>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885" name="Google Shape;885;p44"/>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886" name="Google Shape;886;p44"/>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87" name="Google Shape;887;p44"/>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888" name="Google Shape;888;p44"/>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889" name="Google Shape;889;p44"/>
          <p:cNvSpPr/>
          <p:nvPr/>
        </p:nvSpPr>
        <p:spPr>
          <a:xfrm>
            <a:off x="1066200" y="3328526"/>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890" name="Google Shape;890;p44"/>
          <p:cNvGrpSpPr/>
          <p:nvPr/>
        </p:nvGrpSpPr>
        <p:grpSpPr>
          <a:xfrm>
            <a:off x="1443547" y="3539982"/>
            <a:ext cx="205525" cy="409199"/>
            <a:chOff x="7897625" y="3319150"/>
            <a:chExt cx="645900" cy="1285575"/>
          </a:xfrm>
        </p:grpSpPr>
        <p:sp>
          <p:nvSpPr>
            <p:cNvPr id="891" name="Google Shape;891;p44"/>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92" name="Google Shape;892;p44"/>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893" name="Google Shape;893;p44"/>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894" name="Google Shape;894;p44"/>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895" name="Google Shape;895;p44"/>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896" name="Google Shape;896;p44"/>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897" name="Google Shape;897;p44"/>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898" name="Google Shape;898;p44"/>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899" name="Google Shape;899;p44"/>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900" name="Google Shape;900;p44"/>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01" name="Google Shape;901;p44"/>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02" name="Google Shape;902;p44"/>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903" name="Google Shape;903;p44"/>
          <p:cNvSpPr/>
          <p:nvPr/>
        </p:nvSpPr>
        <p:spPr>
          <a:xfrm>
            <a:off x="1785710" y="3742859"/>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904" name="Google Shape;904;p44"/>
          <p:cNvGrpSpPr/>
          <p:nvPr/>
        </p:nvGrpSpPr>
        <p:grpSpPr>
          <a:xfrm>
            <a:off x="2163037" y="3954316"/>
            <a:ext cx="205525" cy="409199"/>
            <a:chOff x="7897625" y="3319150"/>
            <a:chExt cx="645900" cy="1285575"/>
          </a:xfrm>
        </p:grpSpPr>
        <p:sp>
          <p:nvSpPr>
            <p:cNvPr id="905" name="Google Shape;905;p44"/>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906" name="Google Shape;906;p44"/>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907" name="Google Shape;907;p44"/>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908" name="Google Shape;908;p44"/>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909" name="Google Shape;909;p44"/>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910" name="Google Shape;910;p44"/>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911" name="Google Shape;911;p44"/>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912" name="Google Shape;912;p44"/>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913" name="Google Shape;913;p44"/>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914" name="Google Shape;914;p44"/>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15" name="Google Shape;915;p44"/>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16" name="Google Shape;916;p44"/>
            <p:cNvSpPr/>
            <p:nvPr/>
          </p:nvSpPr>
          <p:spPr>
            <a:xfrm>
              <a:off x="8198675" y="3551600"/>
              <a:ext cx="43800" cy="4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917" name="Google Shape;917;p44"/>
          <p:cNvSpPr/>
          <p:nvPr/>
        </p:nvSpPr>
        <p:spPr>
          <a:xfrm>
            <a:off x="599312" y="4501275"/>
            <a:ext cx="3333383" cy="226355"/>
          </a:xfrm>
          <a:custGeom>
            <a:rect b="b" l="l" r="r" t="t"/>
            <a:pathLst>
              <a:path extrusionOk="0" h="4715" w="97746">
                <a:moveTo>
                  <a:pt x="0" y="0"/>
                </a:moveTo>
                <a:lnTo>
                  <a:pt x="0" y="4715"/>
                </a:lnTo>
                <a:lnTo>
                  <a:pt x="97746" y="4715"/>
                </a:lnTo>
                <a:lnTo>
                  <a:pt x="97746" y="0"/>
                </a:lnTo>
              </a:path>
            </a:pathLst>
          </a:custGeom>
          <a:noFill/>
          <a:ln cap="flat" cmpd="sng" w="19050">
            <a:solidFill>
              <a:schemeClr val="dk2"/>
            </a:solidFill>
            <a:prstDash val="solid"/>
            <a:round/>
            <a:headEnd len="med" w="med" type="none"/>
            <a:tailEnd len="med" w="med" type="none"/>
          </a:ln>
        </p:spPr>
      </p:sp>
      <p:sp>
        <p:nvSpPr>
          <p:cNvPr id="918" name="Google Shape;918;p44"/>
          <p:cNvSpPr txBox="1"/>
          <p:nvPr/>
        </p:nvSpPr>
        <p:spPr>
          <a:xfrm>
            <a:off x="720550" y="4727625"/>
            <a:ext cx="30909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Cellular Radio Access Network (RAN)</a:t>
            </a:r>
            <a:endParaRPr>
              <a:latin typeface="Roboto"/>
              <a:ea typeface="Roboto"/>
              <a:cs typeface="Roboto"/>
              <a:sym typeface="Roboto"/>
            </a:endParaRPr>
          </a:p>
        </p:txBody>
      </p:sp>
      <p:sp>
        <p:nvSpPr>
          <p:cNvPr id="814" name="Google Shape;814;p44"/>
          <p:cNvSpPr/>
          <p:nvPr/>
        </p:nvSpPr>
        <p:spPr>
          <a:xfrm>
            <a:off x="4406500" y="27699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816" name="Google Shape;816;p44"/>
          <p:cNvSpPr/>
          <p:nvPr/>
        </p:nvSpPr>
        <p:spPr>
          <a:xfrm>
            <a:off x="4401150" y="33285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sp>
        <p:nvSpPr>
          <p:cNvPr id="811" name="Google Shape;811;p44"/>
          <p:cNvSpPr/>
          <p:nvPr/>
        </p:nvSpPr>
        <p:spPr>
          <a:xfrm>
            <a:off x="6763350" y="30549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P1</a:t>
            </a:r>
            <a:endParaRPr>
              <a:latin typeface="Roboto"/>
              <a:ea typeface="Roboto"/>
              <a:cs typeface="Roboto"/>
              <a:sym typeface="Roboto"/>
            </a:endParaRPr>
          </a:p>
        </p:txBody>
      </p:sp>
      <p:sp>
        <p:nvSpPr>
          <p:cNvPr id="812" name="Google Shape;812;p44"/>
          <p:cNvSpPr/>
          <p:nvPr/>
        </p:nvSpPr>
        <p:spPr>
          <a:xfrm>
            <a:off x="5204075" y="3949175"/>
            <a:ext cx="960600" cy="5508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Mobility Manager</a:t>
            </a:r>
            <a:endParaRPr>
              <a:latin typeface="Roboto"/>
              <a:ea typeface="Roboto"/>
              <a:cs typeface="Roboto"/>
              <a:sym typeface="Roboto"/>
            </a:endParaRPr>
          </a:p>
        </p:txBody>
      </p:sp>
      <p:sp>
        <p:nvSpPr>
          <p:cNvPr id="919" name="Google Shape;919;p44"/>
          <p:cNvSpPr/>
          <p:nvPr/>
        </p:nvSpPr>
        <p:spPr>
          <a:xfrm>
            <a:off x="6610950" y="3933575"/>
            <a:ext cx="960600" cy="5820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Database</a:t>
            </a:r>
            <a:endParaRPr>
              <a:latin typeface="Roboto"/>
              <a:ea typeface="Roboto"/>
              <a:cs typeface="Roboto"/>
              <a:sym typeface="Roboto"/>
            </a:endParaRPr>
          </a:p>
        </p:txBody>
      </p:sp>
      <p:sp>
        <p:nvSpPr>
          <p:cNvPr id="920" name="Google Shape;920;p44"/>
          <p:cNvSpPr/>
          <p:nvPr/>
        </p:nvSpPr>
        <p:spPr>
          <a:xfrm>
            <a:off x="4180699" y="4501275"/>
            <a:ext cx="3561131" cy="226355"/>
          </a:xfrm>
          <a:custGeom>
            <a:rect b="b" l="l" r="r" t="t"/>
            <a:pathLst>
              <a:path extrusionOk="0" h="4715" w="97746">
                <a:moveTo>
                  <a:pt x="0" y="0"/>
                </a:moveTo>
                <a:lnTo>
                  <a:pt x="0" y="4715"/>
                </a:lnTo>
                <a:lnTo>
                  <a:pt x="97746" y="4715"/>
                </a:lnTo>
                <a:lnTo>
                  <a:pt x="97746" y="0"/>
                </a:lnTo>
              </a:path>
            </a:pathLst>
          </a:custGeom>
          <a:noFill/>
          <a:ln cap="flat" cmpd="sng" w="19050">
            <a:solidFill>
              <a:schemeClr val="dk2"/>
            </a:solidFill>
            <a:prstDash val="solid"/>
            <a:round/>
            <a:headEnd len="med" w="med" type="none"/>
            <a:tailEnd len="med" w="med" type="none"/>
          </a:ln>
        </p:spPr>
      </p:sp>
      <p:sp>
        <p:nvSpPr>
          <p:cNvPr id="921" name="Google Shape;921;p44"/>
          <p:cNvSpPr txBox="1"/>
          <p:nvPr/>
        </p:nvSpPr>
        <p:spPr>
          <a:xfrm>
            <a:off x="4310222" y="4727625"/>
            <a:ext cx="33021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Cellular Core</a:t>
            </a:r>
            <a:endParaRPr>
              <a:latin typeface="Roboto"/>
              <a:ea typeface="Roboto"/>
              <a:cs typeface="Roboto"/>
              <a:sym typeface="Roboto"/>
            </a:endParaRPr>
          </a:p>
        </p:txBody>
      </p:sp>
      <p:cxnSp>
        <p:nvCxnSpPr>
          <p:cNvPr id="922" name="Google Shape;922;p44"/>
          <p:cNvCxnSpPr>
            <a:stCxn id="814" idx="1"/>
          </p:cNvCxnSpPr>
          <p:nvPr/>
        </p:nvCxnSpPr>
        <p:spPr>
          <a:xfrm flipH="1">
            <a:off x="3150100" y="2912425"/>
            <a:ext cx="1256400" cy="30600"/>
          </a:xfrm>
          <a:prstGeom prst="straightConnector1">
            <a:avLst/>
          </a:prstGeom>
          <a:noFill/>
          <a:ln cap="flat" cmpd="sng" w="19050">
            <a:solidFill>
              <a:srgbClr val="000000"/>
            </a:solidFill>
            <a:prstDash val="solid"/>
            <a:round/>
            <a:headEnd len="med" w="med" type="none"/>
            <a:tailEnd len="med" w="med" type="none"/>
          </a:ln>
        </p:spPr>
      </p:cxnSp>
      <p:cxnSp>
        <p:nvCxnSpPr>
          <p:cNvPr id="923" name="Google Shape;923;p44"/>
          <p:cNvCxnSpPr>
            <a:stCxn id="814" idx="1"/>
          </p:cNvCxnSpPr>
          <p:nvPr/>
        </p:nvCxnSpPr>
        <p:spPr>
          <a:xfrm rot="10800000">
            <a:off x="2438800" y="2541625"/>
            <a:ext cx="1967700" cy="370800"/>
          </a:xfrm>
          <a:prstGeom prst="straightConnector1">
            <a:avLst/>
          </a:prstGeom>
          <a:noFill/>
          <a:ln cap="flat" cmpd="sng" w="19050">
            <a:solidFill>
              <a:srgbClr val="000000"/>
            </a:solidFill>
            <a:prstDash val="solid"/>
            <a:round/>
            <a:headEnd len="med" w="med" type="none"/>
            <a:tailEnd len="med" w="med" type="none"/>
          </a:ln>
        </p:spPr>
      </p:cxnSp>
      <p:cxnSp>
        <p:nvCxnSpPr>
          <p:cNvPr id="924" name="Google Shape;924;p44"/>
          <p:cNvCxnSpPr>
            <a:stCxn id="814" idx="1"/>
          </p:cNvCxnSpPr>
          <p:nvPr/>
        </p:nvCxnSpPr>
        <p:spPr>
          <a:xfrm flipH="1">
            <a:off x="2365600" y="2912425"/>
            <a:ext cx="2040900" cy="454500"/>
          </a:xfrm>
          <a:prstGeom prst="straightConnector1">
            <a:avLst/>
          </a:prstGeom>
          <a:noFill/>
          <a:ln cap="flat" cmpd="sng" w="19050">
            <a:solidFill>
              <a:srgbClr val="000000"/>
            </a:solidFill>
            <a:prstDash val="solid"/>
            <a:round/>
            <a:headEnd len="med" w="med" type="none"/>
            <a:tailEnd len="med" w="med" type="none"/>
          </a:ln>
        </p:spPr>
      </p:cxnSp>
      <p:cxnSp>
        <p:nvCxnSpPr>
          <p:cNvPr id="925" name="Google Shape;925;p44"/>
          <p:cNvCxnSpPr>
            <a:stCxn id="816" idx="1"/>
          </p:cNvCxnSpPr>
          <p:nvPr/>
        </p:nvCxnSpPr>
        <p:spPr>
          <a:xfrm flipH="1">
            <a:off x="3126750" y="3471025"/>
            <a:ext cx="1274400" cy="314700"/>
          </a:xfrm>
          <a:prstGeom prst="straightConnector1">
            <a:avLst/>
          </a:prstGeom>
          <a:noFill/>
          <a:ln cap="flat" cmpd="sng" w="19050">
            <a:solidFill>
              <a:srgbClr val="000000"/>
            </a:solidFill>
            <a:prstDash val="solid"/>
            <a:round/>
            <a:headEnd len="med" w="med" type="none"/>
            <a:tailEnd len="med" w="med" type="none"/>
          </a:ln>
        </p:spPr>
      </p:cxnSp>
      <p:cxnSp>
        <p:nvCxnSpPr>
          <p:cNvPr id="926" name="Google Shape;926;p44"/>
          <p:cNvCxnSpPr>
            <a:stCxn id="816" idx="1"/>
          </p:cNvCxnSpPr>
          <p:nvPr/>
        </p:nvCxnSpPr>
        <p:spPr>
          <a:xfrm flipH="1">
            <a:off x="2417850" y="3471025"/>
            <a:ext cx="1983300" cy="751500"/>
          </a:xfrm>
          <a:prstGeom prst="straightConnector1">
            <a:avLst/>
          </a:prstGeom>
          <a:noFill/>
          <a:ln cap="flat" cmpd="sng" w="19050">
            <a:solidFill>
              <a:srgbClr val="000000"/>
            </a:solidFill>
            <a:prstDash val="solid"/>
            <a:round/>
            <a:headEnd len="med" w="med" type="none"/>
            <a:tailEnd len="med" w="med" type="none"/>
          </a:ln>
        </p:spPr>
      </p:cxnSp>
      <p:cxnSp>
        <p:nvCxnSpPr>
          <p:cNvPr id="927" name="Google Shape;927;p44"/>
          <p:cNvCxnSpPr>
            <a:stCxn id="814" idx="3"/>
            <a:endCxn id="811" idx="1"/>
          </p:cNvCxnSpPr>
          <p:nvPr/>
        </p:nvCxnSpPr>
        <p:spPr>
          <a:xfrm>
            <a:off x="4691500" y="2912425"/>
            <a:ext cx="2071800" cy="285000"/>
          </a:xfrm>
          <a:prstGeom prst="straightConnector1">
            <a:avLst/>
          </a:prstGeom>
          <a:noFill/>
          <a:ln cap="flat" cmpd="sng" w="19050">
            <a:solidFill>
              <a:srgbClr val="000000"/>
            </a:solidFill>
            <a:prstDash val="solid"/>
            <a:round/>
            <a:headEnd len="med" w="med" type="none"/>
            <a:tailEnd len="med" w="med" type="none"/>
          </a:ln>
        </p:spPr>
      </p:cxnSp>
      <p:cxnSp>
        <p:nvCxnSpPr>
          <p:cNvPr id="928" name="Google Shape;928;p44"/>
          <p:cNvCxnSpPr>
            <a:stCxn id="816" idx="3"/>
            <a:endCxn id="811" idx="1"/>
          </p:cNvCxnSpPr>
          <p:nvPr/>
        </p:nvCxnSpPr>
        <p:spPr>
          <a:xfrm flipH="1" rot="10800000">
            <a:off x="4686150" y="3197425"/>
            <a:ext cx="2077200" cy="273600"/>
          </a:xfrm>
          <a:prstGeom prst="straightConnector1">
            <a:avLst/>
          </a:prstGeom>
          <a:noFill/>
          <a:ln cap="flat" cmpd="sng" w="19050">
            <a:solidFill>
              <a:srgbClr val="000000"/>
            </a:solidFill>
            <a:prstDash val="solid"/>
            <a:round/>
            <a:headEnd len="med" w="med" type="none"/>
            <a:tailEnd len="med" w="med" type="none"/>
          </a:ln>
        </p:spPr>
      </p:cxnSp>
      <p:cxnSp>
        <p:nvCxnSpPr>
          <p:cNvPr id="929" name="Google Shape;929;p44"/>
          <p:cNvCxnSpPr>
            <a:stCxn id="919" idx="2"/>
            <a:endCxn id="812" idx="3"/>
          </p:cNvCxnSpPr>
          <p:nvPr/>
        </p:nvCxnSpPr>
        <p:spPr>
          <a:xfrm rot="10800000">
            <a:off x="6164550" y="4224575"/>
            <a:ext cx="446400" cy="0"/>
          </a:xfrm>
          <a:prstGeom prst="straightConnector1">
            <a:avLst/>
          </a:prstGeom>
          <a:noFill/>
          <a:ln cap="flat" cmpd="sng" w="9525">
            <a:solidFill>
              <a:srgbClr val="9900FF"/>
            </a:solidFill>
            <a:prstDash val="dash"/>
            <a:round/>
            <a:headEnd len="med" w="med" type="none"/>
            <a:tailEnd len="med" w="med" type="none"/>
          </a:ln>
        </p:spPr>
      </p:cxnSp>
      <p:cxnSp>
        <p:nvCxnSpPr>
          <p:cNvPr id="930" name="Google Shape;930;p44"/>
          <p:cNvCxnSpPr>
            <a:stCxn id="811" idx="3"/>
          </p:cNvCxnSpPr>
          <p:nvPr/>
        </p:nvCxnSpPr>
        <p:spPr>
          <a:xfrm>
            <a:off x="7048350" y="3197425"/>
            <a:ext cx="551700" cy="0"/>
          </a:xfrm>
          <a:prstGeom prst="straightConnector1">
            <a:avLst/>
          </a:prstGeom>
          <a:noFill/>
          <a:ln cap="flat" cmpd="sng" w="19050">
            <a:solidFill>
              <a:srgbClr val="000000"/>
            </a:solidFill>
            <a:prstDash val="solid"/>
            <a:round/>
            <a:headEnd len="med" w="med" type="none"/>
            <a:tailEnd len="med" w="med" type="none"/>
          </a:ln>
        </p:spPr>
      </p:cxnSp>
      <p:cxnSp>
        <p:nvCxnSpPr>
          <p:cNvPr id="931" name="Google Shape;931;p44"/>
          <p:cNvCxnSpPr/>
          <p:nvPr/>
        </p:nvCxnSpPr>
        <p:spPr>
          <a:xfrm>
            <a:off x="7659010" y="3197425"/>
            <a:ext cx="865500" cy="0"/>
          </a:xfrm>
          <a:prstGeom prst="straightConnector1">
            <a:avLst/>
          </a:prstGeom>
          <a:noFill/>
          <a:ln cap="flat" cmpd="sng" w="19050">
            <a:solidFill>
              <a:srgbClr val="000000"/>
            </a:solidFill>
            <a:prstDash val="dash"/>
            <a:round/>
            <a:headEnd len="med" w="med" type="none"/>
            <a:tailEnd len="med" w="med" type="none"/>
          </a:ln>
        </p:spPr>
      </p:cxnSp>
      <p:sp>
        <p:nvSpPr>
          <p:cNvPr id="932" name="Google Shape;932;p44"/>
          <p:cNvSpPr txBox="1"/>
          <p:nvPr/>
        </p:nvSpPr>
        <p:spPr>
          <a:xfrm>
            <a:off x="7600049" y="2927425"/>
            <a:ext cx="9216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To Internet</a:t>
            </a:r>
            <a:endParaRPr>
              <a:latin typeface="Roboto"/>
              <a:ea typeface="Roboto"/>
              <a:cs typeface="Roboto"/>
              <a:sym typeface="Roboto"/>
            </a:endParaRPr>
          </a:p>
        </p:txBody>
      </p:sp>
      <p:cxnSp>
        <p:nvCxnSpPr>
          <p:cNvPr id="933" name="Google Shape;933;p44"/>
          <p:cNvCxnSpPr>
            <a:endCxn id="812" idx="1"/>
          </p:cNvCxnSpPr>
          <p:nvPr/>
        </p:nvCxnSpPr>
        <p:spPr>
          <a:xfrm>
            <a:off x="3499475" y="4067375"/>
            <a:ext cx="1704600" cy="157200"/>
          </a:xfrm>
          <a:prstGeom prst="straightConnector1">
            <a:avLst/>
          </a:prstGeom>
          <a:noFill/>
          <a:ln cap="flat" cmpd="sng" w="9525">
            <a:solidFill>
              <a:srgbClr val="9900FF"/>
            </a:solidFill>
            <a:prstDash val="dash"/>
            <a:round/>
            <a:headEnd len="med" w="med" type="none"/>
            <a:tailEnd len="med" w="med"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p45"/>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Why is Cellular Different?</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Brief History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Standards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Challenge: Mobility</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Cellular Networks</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Infrastructure</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High-Level View</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Step 0: Registration</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1: Discovery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2: Attachment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3: Data Exchange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4: Handover</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Roaming and Other Features</a:t>
            </a:r>
            <a:endParaRPr>
              <a:solidFill>
                <a:srgbClr val="B7B7B7"/>
              </a:solidFill>
            </a:endParaRPr>
          </a:p>
        </p:txBody>
      </p:sp>
      <p:sp>
        <p:nvSpPr>
          <p:cNvPr id="939" name="Google Shape;939;p4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High-Level View</a:t>
            </a:r>
            <a:endParaRPr/>
          </a:p>
        </p:txBody>
      </p:sp>
      <p:sp>
        <p:nvSpPr>
          <p:cNvPr id="940" name="Google Shape;940;p4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25</a:t>
            </a:r>
            <a:r>
              <a:rPr lang="en"/>
              <a:t>, CS 168, </a:t>
            </a:r>
            <a:r>
              <a:rPr lang="en"/>
              <a:t>Spring 2026</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46"/>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High-Level View (0/4) – Registration</a:t>
            </a:r>
            <a:endParaRPr/>
          </a:p>
        </p:txBody>
      </p:sp>
      <p:sp>
        <p:nvSpPr>
          <p:cNvPr id="946" name="Google Shape;946;p46"/>
          <p:cNvSpPr txBox="1"/>
          <p:nvPr>
            <p:ph idx="1" type="body"/>
          </p:nvPr>
        </p:nvSpPr>
        <p:spPr>
          <a:xfrm>
            <a:off x="107050" y="402200"/>
            <a:ext cx="8909700" cy="1482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Step 0: </a:t>
            </a:r>
            <a:r>
              <a:rPr b="1" lang="en"/>
              <a:t>Registration</a:t>
            </a:r>
            <a:r>
              <a:rPr lang="en"/>
              <a:t>.</a:t>
            </a:r>
            <a:endParaRPr/>
          </a:p>
          <a:p>
            <a:pPr indent="-342900" lvl="0" marL="457200" rtl="0" algn="l">
              <a:spcBef>
                <a:spcPts val="600"/>
              </a:spcBef>
              <a:spcAft>
                <a:spcPts val="0"/>
              </a:spcAft>
              <a:buSzPts val="1800"/>
              <a:buChar char="●"/>
            </a:pPr>
            <a:r>
              <a:rPr lang="en"/>
              <a:t>User registers for the service. Database is updated.</a:t>
            </a:r>
            <a:endParaRPr/>
          </a:p>
        </p:txBody>
      </p:sp>
      <p:sp>
        <p:nvSpPr>
          <p:cNvPr id="947" name="Google Shape;947;p46"/>
          <p:cNvSpPr/>
          <p:nvPr/>
        </p:nvSpPr>
        <p:spPr>
          <a:xfrm>
            <a:off x="1785710" y="2078475"/>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948" name="Google Shape;948;p46"/>
          <p:cNvGrpSpPr/>
          <p:nvPr/>
        </p:nvGrpSpPr>
        <p:grpSpPr>
          <a:xfrm>
            <a:off x="2163047" y="2289931"/>
            <a:ext cx="205525" cy="409199"/>
            <a:chOff x="7897625" y="3319150"/>
            <a:chExt cx="645900" cy="1285575"/>
          </a:xfrm>
        </p:grpSpPr>
        <p:sp>
          <p:nvSpPr>
            <p:cNvPr id="949" name="Google Shape;949;p46"/>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950" name="Google Shape;950;p46"/>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951" name="Google Shape;951;p46"/>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952" name="Google Shape;952;p46"/>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953" name="Google Shape;953;p46"/>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954" name="Google Shape;954;p46"/>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955" name="Google Shape;955;p46"/>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956" name="Google Shape;956;p46"/>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957" name="Google Shape;957;p46"/>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958" name="Google Shape;958;p46"/>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59" name="Google Shape;959;p46"/>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60" name="Google Shape;960;p46"/>
            <p:cNvSpPr/>
            <p:nvPr/>
          </p:nvSpPr>
          <p:spPr>
            <a:xfrm>
              <a:off x="8198675" y="3551600"/>
              <a:ext cx="43800" cy="43800"/>
            </a:xfrm>
            <a:prstGeom prst="ellipse">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961" name="Google Shape;961;p46"/>
          <p:cNvSpPr/>
          <p:nvPr/>
        </p:nvSpPr>
        <p:spPr>
          <a:xfrm>
            <a:off x="1785710" y="2910667"/>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962" name="Google Shape;962;p46"/>
          <p:cNvGrpSpPr/>
          <p:nvPr/>
        </p:nvGrpSpPr>
        <p:grpSpPr>
          <a:xfrm>
            <a:off x="2163047" y="3122123"/>
            <a:ext cx="205525" cy="409199"/>
            <a:chOff x="7897625" y="3319150"/>
            <a:chExt cx="645900" cy="1285575"/>
          </a:xfrm>
        </p:grpSpPr>
        <p:sp>
          <p:nvSpPr>
            <p:cNvPr id="963" name="Google Shape;963;p46"/>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964" name="Google Shape;964;p46"/>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965" name="Google Shape;965;p46"/>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966" name="Google Shape;966;p46"/>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967" name="Google Shape;967;p46"/>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968" name="Google Shape;968;p46"/>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969" name="Google Shape;969;p46"/>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970" name="Google Shape;970;p46"/>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971" name="Google Shape;971;p46"/>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972" name="Google Shape;972;p46"/>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73" name="Google Shape;973;p46"/>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74" name="Google Shape;974;p46"/>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975" name="Google Shape;975;p46"/>
          <p:cNvSpPr/>
          <p:nvPr/>
        </p:nvSpPr>
        <p:spPr>
          <a:xfrm>
            <a:off x="1785710" y="3742859"/>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976" name="Google Shape;976;p46"/>
          <p:cNvGrpSpPr/>
          <p:nvPr/>
        </p:nvGrpSpPr>
        <p:grpSpPr>
          <a:xfrm>
            <a:off x="2163037" y="3954316"/>
            <a:ext cx="205525" cy="409199"/>
            <a:chOff x="7897625" y="3319150"/>
            <a:chExt cx="645900" cy="1285575"/>
          </a:xfrm>
        </p:grpSpPr>
        <p:sp>
          <p:nvSpPr>
            <p:cNvPr id="977" name="Google Shape;977;p46"/>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978" name="Google Shape;978;p46"/>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979" name="Google Shape;979;p46"/>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980" name="Google Shape;980;p46"/>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981" name="Google Shape;981;p46"/>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982" name="Google Shape;982;p46"/>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983" name="Google Shape;983;p46"/>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984" name="Google Shape;984;p46"/>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985" name="Google Shape;985;p46"/>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986" name="Google Shape;986;p46"/>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87" name="Google Shape;987;p46"/>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988" name="Google Shape;988;p46"/>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989" name="Google Shape;989;p46"/>
          <p:cNvSpPr/>
          <p:nvPr/>
        </p:nvSpPr>
        <p:spPr>
          <a:xfrm>
            <a:off x="4406500" y="276992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R1</a:t>
            </a:r>
            <a:endParaRPr>
              <a:solidFill>
                <a:srgbClr val="B7B7B7"/>
              </a:solidFill>
              <a:latin typeface="Roboto"/>
              <a:ea typeface="Roboto"/>
              <a:cs typeface="Roboto"/>
              <a:sym typeface="Roboto"/>
            </a:endParaRPr>
          </a:p>
        </p:txBody>
      </p:sp>
      <p:sp>
        <p:nvSpPr>
          <p:cNvPr id="990" name="Google Shape;990;p46"/>
          <p:cNvSpPr/>
          <p:nvPr/>
        </p:nvSpPr>
        <p:spPr>
          <a:xfrm>
            <a:off x="4401150" y="332852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R2</a:t>
            </a:r>
            <a:endParaRPr>
              <a:solidFill>
                <a:srgbClr val="B7B7B7"/>
              </a:solidFill>
              <a:latin typeface="Roboto"/>
              <a:ea typeface="Roboto"/>
              <a:cs typeface="Roboto"/>
              <a:sym typeface="Roboto"/>
            </a:endParaRPr>
          </a:p>
        </p:txBody>
      </p:sp>
      <p:cxnSp>
        <p:nvCxnSpPr>
          <p:cNvPr id="991" name="Google Shape;991;p46"/>
          <p:cNvCxnSpPr>
            <a:stCxn id="989" idx="1"/>
          </p:cNvCxnSpPr>
          <p:nvPr/>
        </p:nvCxnSpPr>
        <p:spPr>
          <a:xfrm rot="10800000">
            <a:off x="2438800" y="2541625"/>
            <a:ext cx="1967700" cy="370800"/>
          </a:xfrm>
          <a:prstGeom prst="straightConnector1">
            <a:avLst/>
          </a:prstGeom>
          <a:noFill/>
          <a:ln cap="flat" cmpd="sng" w="9525">
            <a:solidFill>
              <a:srgbClr val="B7B7B7"/>
            </a:solidFill>
            <a:prstDash val="solid"/>
            <a:round/>
            <a:headEnd len="med" w="med" type="none"/>
            <a:tailEnd len="med" w="med" type="none"/>
          </a:ln>
        </p:spPr>
      </p:cxnSp>
      <p:cxnSp>
        <p:nvCxnSpPr>
          <p:cNvPr id="992" name="Google Shape;992;p46"/>
          <p:cNvCxnSpPr>
            <a:stCxn id="990" idx="1"/>
          </p:cNvCxnSpPr>
          <p:nvPr/>
        </p:nvCxnSpPr>
        <p:spPr>
          <a:xfrm rot="10800000">
            <a:off x="2365650" y="3366925"/>
            <a:ext cx="2035500" cy="104100"/>
          </a:xfrm>
          <a:prstGeom prst="straightConnector1">
            <a:avLst/>
          </a:prstGeom>
          <a:noFill/>
          <a:ln cap="flat" cmpd="sng" w="9525">
            <a:solidFill>
              <a:srgbClr val="B7B7B7"/>
            </a:solidFill>
            <a:prstDash val="solid"/>
            <a:round/>
            <a:headEnd len="med" w="med" type="none"/>
            <a:tailEnd len="med" w="med" type="none"/>
          </a:ln>
        </p:spPr>
      </p:cxnSp>
      <p:cxnSp>
        <p:nvCxnSpPr>
          <p:cNvPr id="993" name="Google Shape;993;p46"/>
          <p:cNvCxnSpPr>
            <a:stCxn id="990" idx="1"/>
          </p:cNvCxnSpPr>
          <p:nvPr/>
        </p:nvCxnSpPr>
        <p:spPr>
          <a:xfrm flipH="1">
            <a:off x="2417850" y="3471025"/>
            <a:ext cx="1983300" cy="751500"/>
          </a:xfrm>
          <a:prstGeom prst="straightConnector1">
            <a:avLst/>
          </a:prstGeom>
          <a:noFill/>
          <a:ln cap="flat" cmpd="sng" w="9525">
            <a:solidFill>
              <a:srgbClr val="B7B7B7"/>
            </a:solidFill>
            <a:prstDash val="solid"/>
            <a:round/>
            <a:headEnd len="med" w="med" type="none"/>
            <a:tailEnd len="med" w="med" type="none"/>
          </a:ln>
        </p:spPr>
      </p:cxnSp>
      <p:cxnSp>
        <p:nvCxnSpPr>
          <p:cNvPr id="994" name="Google Shape;994;p46"/>
          <p:cNvCxnSpPr>
            <a:stCxn id="989" idx="3"/>
            <a:endCxn id="995" idx="1"/>
          </p:cNvCxnSpPr>
          <p:nvPr/>
        </p:nvCxnSpPr>
        <p:spPr>
          <a:xfrm>
            <a:off x="4691500" y="2912425"/>
            <a:ext cx="2071800" cy="285000"/>
          </a:xfrm>
          <a:prstGeom prst="straightConnector1">
            <a:avLst/>
          </a:prstGeom>
          <a:noFill/>
          <a:ln cap="flat" cmpd="sng" w="9525">
            <a:solidFill>
              <a:srgbClr val="B7B7B7"/>
            </a:solidFill>
            <a:prstDash val="solid"/>
            <a:round/>
            <a:headEnd len="med" w="med" type="none"/>
            <a:tailEnd len="med" w="med" type="none"/>
          </a:ln>
        </p:spPr>
      </p:cxnSp>
      <p:cxnSp>
        <p:nvCxnSpPr>
          <p:cNvPr id="996" name="Google Shape;996;p46"/>
          <p:cNvCxnSpPr>
            <a:stCxn id="990" idx="3"/>
            <a:endCxn id="995" idx="1"/>
          </p:cNvCxnSpPr>
          <p:nvPr/>
        </p:nvCxnSpPr>
        <p:spPr>
          <a:xfrm flipH="1" rot="10800000">
            <a:off x="4686150" y="3197425"/>
            <a:ext cx="2077200" cy="273600"/>
          </a:xfrm>
          <a:prstGeom prst="straightConnector1">
            <a:avLst/>
          </a:prstGeom>
          <a:noFill/>
          <a:ln cap="flat" cmpd="sng" w="9525">
            <a:solidFill>
              <a:srgbClr val="B7B7B7"/>
            </a:solidFill>
            <a:prstDash val="solid"/>
            <a:round/>
            <a:headEnd len="med" w="med" type="none"/>
            <a:tailEnd len="med" w="med" type="none"/>
          </a:ln>
        </p:spPr>
      </p:cxnSp>
      <p:cxnSp>
        <p:nvCxnSpPr>
          <p:cNvPr id="997" name="Google Shape;997;p46"/>
          <p:cNvCxnSpPr>
            <a:stCxn id="998" idx="2"/>
            <a:endCxn id="999" idx="3"/>
          </p:cNvCxnSpPr>
          <p:nvPr/>
        </p:nvCxnSpPr>
        <p:spPr>
          <a:xfrm rot="10800000">
            <a:off x="6164550" y="4224575"/>
            <a:ext cx="903600" cy="0"/>
          </a:xfrm>
          <a:prstGeom prst="straightConnector1">
            <a:avLst/>
          </a:prstGeom>
          <a:noFill/>
          <a:ln cap="flat" cmpd="sng" w="9525">
            <a:solidFill>
              <a:srgbClr val="B7B7B7"/>
            </a:solidFill>
            <a:prstDash val="dash"/>
            <a:round/>
            <a:headEnd len="med" w="med" type="none"/>
            <a:tailEnd len="med" w="med" type="none"/>
          </a:ln>
        </p:spPr>
      </p:cxnSp>
      <p:cxnSp>
        <p:nvCxnSpPr>
          <p:cNvPr id="1000" name="Google Shape;1000;p46"/>
          <p:cNvCxnSpPr>
            <a:stCxn id="995" idx="3"/>
          </p:cNvCxnSpPr>
          <p:nvPr/>
        </p:nvCxnSpPr>
        <p:spPr>
          <a:xfrm>
            <a:off x="7048350" y="3197425"/>
            <a:ext cx="551700" cy="0"/>
          </a:xfrm>
          <a:prstGeom prst="straightConnector1">
            <a:avLst/>
          </a:prstGeom>
          <a:noFill/>
          <a:ln cap="flat" cmpd="sng" w="9525">
            <a:solidFill>
              <a:srgbClr val="B7B7B7"/>
            </a:solidFill>
            <a:prstDash val="solid"/>
            <a:round/>
            <a:headEnd len="med" w="med" type="none"/>
            <a:tailEnd len="med" w="med" type="none"/>
          </a:ln>
        </p:spPr>
      </p:cxnSp>
      <p:cxnSp>
        <p:nvCxnSpPr>
          <p:cNvPr id="1001" name="Google Shape;1001;p46"/>
          <p:cNvCxnSpPr/>
          <p:nvPr/>
        </p:nvCxnSpPr>
        <p:spPr>
          <a:xfrm>
            <a:off x="7659010" y="3197425"/>
            <a:ext cx="865500" cy="0"/>
          </a:xfrm>
          <a:prstGeom prst="straightConnector1">
            <a:avLst/>
          </a:prstGeom>
          <a:noFill/>
          <a:ln cap="flat" cmpd="sng" w="9525">
            <a:solidFill>
              <a:srgbClr val="B7B7B7"/>
            </a:solidFill>
            <a:prstDash val="dash"/>
            <a:round/>
            <a:headEnd len="med" w="med" type="none"/>
            <a:tailEnd len="med" w="med" type="none"/>
          </a:ln>
        </p:spPr>
      </p:cxnSp>
      <p:grpSp>
        <p:nvGrpSpPr>
          <p:cNvPr id="1002" name="Google Shape;1002;p46"/>
          <p:cNvGrpSpPr/>
          <p:nvPr/>
        </p:nvGrpSpPr>
        <p:grpSpPr>
          <a:xfrm>
            <a:off x="7227575" y="1738225"/>
            <a:ext cx="384763" cy="551700"/>
            <a:chOff x="160300" y="2651875"/>
            <a:chExt cx="384763" cy="551700"/>
          </a:xfrm>
        </p:grpSpPr>
        <p:pic>
          <p:nvPicPr>
            <p:cNvPr id="1003" name="Google Shape;1003;p46"/>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1004" name="Google Shape;1004;p46"/>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sp>
        <p:nvSpPr>
          <p:cNvPr id="999" name="Google Shape;999;p46"/>
          <p:cNvSpPr/>
          <p:nvPr/>
        </p:nvSpPr>
        <p:spPr>
          <a:xfrm>
            <a:off x="5204075" y="3949175"/>
            <a:ext cx="960600" cy="550800"/>
          </a:xfrm>
          <a:prstGeom prst="roundRect">
            <a:avLst>
              <a:gd fmla="val 16667" name="adj"/>
            </a:avLst>
          </a:prstGeom>
          <a:solidFill>
            <a:srgbClr val="EFEFE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Mobility Manager</a:t>
            </a:r>
            <a:endParaRPr>
              <a:solidFill>
                <a:srgbClr val="B7B7B7"/>
              </a:solidFill>
              <a:latin typeface="Roboto"/>
              <a:ea typeface="Roboto"/>
              <a:cs typeface="Roboto"/>
              <a:sym typeface="Roboto"/>
            </a:endParaRPr>
          </a:p>
        </p:txBody>
      </p:sp>
      <p:cxnSp>
        <p:nvCxnSpPr>
          <p:cNvPr id="1005" name="Google Shape;1005;p46"/>
          <p:cNvCxnSpPr>
            <a:stCxn id="998" idx="1"/>
            <a:endCxn id="1003" idx="2"/>
          </p:cNvCxnSpPr>
          <p:nvPr/>
        </p:nvCxnSpPr>
        <p:spPr>
          <a:xfrm rot="10800000">
            <a:off x="7383150" y="2289875"/>
            <a:ext cx="165300" cy="1643700"/>
          </a:xfrm>
          <a:prstGeom prst="straightConnector1">
            <a:avLst/>
          </a:prstGeom>
          <a:noFill/>
          <a:ln cap="flat" cmpd="sng" w="28575">
            <a:solidFill>
              <a:schemeClr val="accent2"/>
            </a:solidFill>
            <a:prstDash val="solid"/>
            <a:round/>
            <a:headEnd len="med" w="med" type="triangle"/>
            <a:tailEnd len="med" w="med" type="none"/>
          </a:ln>
        </p:spPr>
      </p:cxnSp>
      <p:sp>
        <p:nvSpPr>
          <p:cNvPr id="998" name="Google Shape;998;p46"/>
          <p:cNvSpPr/>
          <p:nvPr/>
        </p:nvSpPr>
        <p:spPr>
          <a:xfrm>
            <a:off x="7068150" y="3933575"/>
            <a:ext cx="960600" cy="5820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Database</a:t>
            </a:r>
            <a:endParaRPr>
              <a:latin typeface="Roboto"/>
              <a:ea typeface="Roboto"/>
              <a:cs typeface="Roboto"/>
              <a:sym typeface="Roboto"/>
            </a:endParaRPr>
          </a:p>
        </p:txBody>
      </p:sp>
      <p:sp>
        <p:nvSpPr>
          <p:cNvPr id="995" name="Google Shape;995;p46"/>
          <p:cNvSpPr/>
          <p:nvPr/>
        </p:nvSpPr>
        <p:spPr>
          <a:xfrm>
            <a:off x="6763350" y="305492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P1</a:t>
            </a:r>
            <a:endParaRPr>
              <a:solidFill>
                <a:srgbClr val="B7B7B7"/>
              </a:solidFill>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p47"/>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High-Level View (1/4) – Discovery</a:t>
            </a:r>
            <a:endParaRPr/>
          </a:p>
        </p:txBody>
      </p:sp>
      <p:sp>
        <p:nvSpPr>
          <p:cNvPr id="1011" name="Google Shape;1011;p47"/>
          <p:cNvSpPr txBox="1"/>
          <p:nvPr>
            <p:ph idx="1" type="body"/>
          </p:nvPr>
        </p:nvSpPr>
        <p:spPr>
          <a:xfrm>
            <a:off x="107050" y="402200"/>
            <a:ext cx="8909700" cy="1482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Step 1: </a:t>
            </a:r>
            <a:r>
              <a:rPr b="1" lang="en"/>
              <a:t>Discovery</a:t>
            </a:r>
            <a:r>
              <a:rPr lang="en"/>
              <a:t>.</a:t>
            </a:r>
            <a:endParaRPr/>
          </a:p>
          <a:p>
            <a:pPr indent="-342900" lvl="0" marL="457200" rtl="0" algn="l">
              <a:spcBef>
                <a:spcPts val="600"/>
              </a:spcBef>
              <a:spcAft>
                <a:spcPts val="0"/>
              </a:spcAft>
              <a:buSzPts val="1800"/>
              <a:buChar char="●"/>
            </a:pPr>
            <a:r>
              <a:rPr lang="en"/>
              <a:t>User wants to connect.</a:t>
            </a:r>
            <a:endParaRPr/>
          </a:p>
          <a:p>
            <a:pPr indent="-342900" lvl="0" marL="457200" rtl="0" algn="l">
              <a:spcBef>
                <a:spcPts val="0"/>
              </a:spcBef>
              <a:spcAft>
                <a:spcPts val="0"/>
              </a:spcAft>
              <a:buSzPts val="1800"/>
              <a:buChar char="●"/>
            </a:pPr>
            <a:r>
              <a:rPr lang="en"/>
              <a:t>User device discovers available towers and picks one.</a:t>
            </a:r>
            <a:endParaRPr/>
          </a:p>
        </p:txBody>
      </p:sp>
      <p:sp>
        <p:nvSpPr>
          <p:cNvPr id="1012" name="Google Shape;1012;p47"/>
          <p:cNvSpPr/>
          <p:nvPr/>
        </p:nvSpPr>
        <p:spPr>
          <a:xfrm>
            <a:off x="1785710" y="2078475"/>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013" name="Google Shape;1013;p47"/>
          <p:cNvGrpSpPr/>
          <p:nvPr/>
        </p:nvGrpSpPr>
        <p:grpSpPr>
          <a:xfrm>
            <a:off x="2163047" y="2289931"/>
            <a:ext cx="205525" cy="409199"/>
            <a:chOff x="7897625" y="3319150"/>
            <a:chExt cx="645900" cy="1285575"/>
          </a:xfrm>
        </p:grpSpPr>
        <p:sp>
          <p:nvSpPr>
            <p:cNvPr id="1014" name="Google Shape;1014;p47"/>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015" name="Google Shape;1015;p47"/>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016" name="Google Shape;1016;p47"/>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017" name="Google Shape;1017;p47"/>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018" name="Google Shape;1018;p47"/>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019" name="Google Shape;1019;p47"/>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020" name="Google Shape;1020;p47"/>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021" name="Google Shape;1021;p47"/>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1022" name="Google Shape;1022;p47"/>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1023" name="Google Shape;1023;p47"/>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24" name="Google Shape;1024;p47"/>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25" name="Google Shape;1025;p47"/>
            <p:cNvSpPr/>
            <p:nvPr/>
          </p:nvSpPr>
          <p:spPr>
            <a:xfrm>
              <a:off x="8198675" y="3551600"/>
              <a:ext cx="43800" cy="43800"/>
            </a:xfrm>
            <a:prstGeom prst="ellipse">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026" name="Google Shape;1026;p47"/>
          <p:cNvSpPr/>
          <p:nvPr/>
        </p:nvSpPr>
        <p:spPr>
          <a:xfrm>
            <a:off x="1785710" y="2910667"/>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027" name="Google Shape;1027;p47"/>
          <p:cNvGrpSpPr/>
          <p:nvPr/>
        </p:nvGrpSpPr>
        <p:grpSpPr>
          <a:xfrm>
            <a:off x="2163047" y="3122123"/>
            <a:ext cx="205525" cy="409199"/>
            <a:chOff x="7897625" y="3319150"/>
            <a:chExt cx="645900" cy="1285575"/>
          </a:xfrm>
        </p:grpSpPr>
        <p:sp>
          <p:nvSpPr>
            <p:cNvPr id="1028" name="Google Shape;1028;p47"/>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029" name="Google Shape;1029;p47"/>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030" name="Google Shape;1030;p47"/>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031" name="Google Shape;1031;p47"/>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032" name="Google Shape;1032;p47"/>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033" name="Google Shape;1033;p47"/>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034" name="Google Shape;1034;p47"/>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035" name="Google Shape;1035;p47"/>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036" name="Google Shape;1036;p47"/>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037" name="Google Shape;1037;p47"/>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38" name="Google Shape;1038;p47"/>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39" name="Google Shape;1039;p47"/>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040" name="Google Shape;1040;p47"/>
          <p:cNvSpPr/>
          <p:nvPr/>
        </p:nvSpPr>
        <p:spPr>
          <a:xfrm>
            <a:off x="1785710" y="3742859"/>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041" name="Google Shape;1041;p47"/>
          <p:cNvGrpSpPr/>
          <p:nvPr/>
        </p:nvGrpSpPr>
        <p:grpSpPr>
          <a:xfrm>
            <a:off x="2163037" y="3954316"/>
            <a:ext cx="205525" cy="409199"/>
            <a:chOff x="7897625" y="3319150"/>
            <a:chExt cx="645900" cy="1285575"/>
          </a:xfrm>
        </p:grpSpPr>
        <p:sp>
          <p:nvSpPr>
            <p:cNvPr id="1042" name="Google Shape;1042;p47"/>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043" name="Google Shape;1043;p47"/>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044" name="Google Shape;1044;p47"/>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045" name="Google Shape;1045;p47"/>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046" name="Google Shape;1046;p47"/>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047" name="Google Shape;1047;p47"/>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048" name="Google Shape;1048;p47"/>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049" name="Google Shape;1049;p47"/>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050" name="Google Shape;1050;p47"/>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051" name="Google Shape;1051;p47"/>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52" name="Google Shape;1052;p47"/>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53" name="Google Shape;1053;p47"/>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054" name="Google Shape;1054;p47"/>
          <p:cNvSpPr/>
          <p:nvPr/>
        </p:nvSpPr>
        <p:spPr>
          <a:xfrm>
            <a:off x="4406500" y="276992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R1</a:t>
            </a:r>
            <a:endParaRPr>
              <a:solidFill>
                <a:srgbClr val="B7B7B7"/>
              </a:solidFill>
              <a:latin typeface="Roboto"/>
              <a:ea typeface="Roboto"/>
              <a:cs typeface="Roboto"/>
              <a:sym typeface="Roboto"/>
            </a:endParaRPr>
          </a:p>
        </p:txBody>
      </p:sp>
      <p:sp>
        <p:nvSpPr>
          <p:cNvPr id="1055" name="Google Shape;1055;p47"/>
          <p:cNvSpPr/>
          <p:nvPr/>
        </p:nvSpPr>
        <p:spPr>
          <a:xfrm>
            <a:off x="4401150" y="332852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R2</a:t>
            </a:r>
            <a:endParaRPr>
              <a:solidFill>
                <a:srgbClr val="B7B7B7"/>
              </a:solidFill>
              <a:latin typeface="Roboto"/>
              <a:ea typeface="Roboto"/>
              <a:cs typeface="Roboto"/>
              <a:sym typeface="Roboto"/>
            </a:endParaRPr>
          </a:p>
        </p:txBody>
      </p:sp>
      <p:sp>
        <p:nvSpPr>
          <p:cNvPr id="1056" name="Google Shape;1056;p47"/>
          <p:cNvSpPr/>
          <p:nvPr/>
        </p:nvSpPr>
        <p:spPr>
          <a:xfrm>
            <a:off x="6763350" y="305492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P1</a:t>
            </a:r>
            <a:endParaRPr>
              <a:solidFill>
                <a:srgbClr val="B7B7B7"/>
              </a:solidFill>
              <a:latin typeface="Roboto"/>
              <a:ea typeface="Roboto"/>
              <a:cs typeface="Roboto"/>
              <a:sym typeface="Roboto"/>
            </a:endParaRPr>
          </a:p>
        </p:txBody>
      </p:sp>
      <p:sp>
        <p:nvSpPr>
          <p:cNvPr id="1057" name="Google Shape;1057;p47"/>
          <p:cNvSpPr/>
          <p:nvPr/>
        </p:nvSpPr>
        <p:spPr>
          <a:xfrm>
            <a:off x="7068150" y="3933575"/>
            <a:ext cx="960600" cy="582000"/>
          </a:xfrm>
          <a:prstGeom prst="can">
            <a:avLst>
              <a:gd fmla="val 25000" name="adj"/>
            </a:avLst>
          </a:prstGeom>
          <a:solidFill>
            <a:srgbClr val="EFEFE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Database</a:t>
            </a:r>
            <a:endParaRPr>
              <a:solidFill>
                <a:srgbClr val="B7B7B7"/>
              </a:solidFill>
              <a:latin typeface="Roboto"/>
              <a:ea typeface="Roboto"/>
              <a:cs typeface="Roboto"/>
              <a:sym typeface="Roboto"/>
            </a:endParaRPr>
          </a:p>
        </p:txBody>
      </p:sp>
      <p:cxnSp>
        <p:nvCxnSpPr>
          <p:cNvPr id="1058" name="Google Shape;1058;p47"/>
          <p:cNvCxnSpPr>
            <a:stCxn id="1054" idx="1"/>
          </p:cNvCxnSpPr>
          <p:nvPr/>
        </p:nvCxnSpPr>
        <p:spPr>
          <a:xfrm rot="10800000">
            <a:off x="2438800" y="2541625"/>
            <a:ext cx="1967700" cy="370800"/>
          </a:xfrm>
          <a:prstGeom prst="straightConnector1">
            <a:avLst/>
          </a:prstGeom>
          <a:noFill/>
          <a:ln cap="flat" cmpd="sng" w="9525">
            <a:solidFill>
              <a:srgbClr val="B7B7B7"/>
            </a:solidFill>
            <a:prstDash val="solid"/>
            <a:round/>
            <a:headEnd len="med" w="med" type="none"/>
            <a:tailEnd len="med" w="med" type="none"/>
          </a:ln>
        </p:spPr>
      </p:cxnSp>
      <p:cxnSp>
        <p:nvCxnSpPr>
          <p:cNvPr id="1059" name="Google Shape;1059;p47"/>
          <p:cNvCxnSpPr>
            <a:stCxn id="1055" idx="1"/>
          </p:cNvCxnSpPr>
          <p:nvPr/>
        </p:nvCxnSpPr>
        <p:spPr>
          <a:xfrm rot="10800000">
            <a:off x="2365650" y="3366925"/>
            <a:ext cx="2035500" cy="104100"/>
          </a:xfrm>
          <a:prstGeom prst="straightConnector1">
            <a:avLst/>
          </a:prstGeom>
          <a:noFill/>
          <a:ln cap="flat" cmpd="sng" w="9525">
            <a:solidFill>
              <a:srgbClr val="B7B7B7"/>
            </a:solidFill>
            <a:prstDash val="solid"/>
            <a:round/>
            <a:headEnd len="med" w="med" type="none"/>
            <a:tailEnd len="med" w="med" type="none"/>
          </a:ln>
        </p:spPr>
      </p:cxnSp>
      <p:cxnSp>
        <p:nvCxnSpPr>
          <p:cNvPr id="1060" name="Google Shape;1060;p47"/>
          <p:cNvCxnSpPr>
            <a:stCxn id="1055" idx="1"/>
          </p:cNvCxnSpPr>
          <p:nvPr/>
        </p:nvCxnSpPr>
        <p:spPr>
          <a:xfrm flipH="1">
            <a:off x="2417850" y="3471025"/>
            <a:ext cx="1983300" cy="751500"/>
          </a:xfrm>
          <a:prstGeom prst="straightConnector1">
            <a:avLst/>
          </a:prstGeom>
          <a:noFill/>
          <a:ln cap="flat" cmpd="sng" w="9525">
            <a:solidFill>
              <a:srgbClr val="B7B7B7"/>
            </a:solidFill>
            <a:prstDash val="solid"/>
            <a:round/>
            <a:headEnd len="med" w="med" type="none"/>
            <a:tailEnd len="med" w="med" type="none"/>
          </a:ln>
        </p:spPr>
      </p:cxnSp>
      <p:cxnSp>
        <p:nvCxnSpPr>
          <p:cNvPr id="1061" name="Google Shape;1061;p47"/>
          <p:cNvCxnSpPr>
            <a:stCxn id="1054" idx="3"/>
            <a:endCxn id="1056" idx="1"/>
          </p:cNvCxnSpPr>
          <p:nvPr/>
        </p:nvCxnSpPr>
        <p:spPr>
          <a:xfrm>
            <a:off x="4691500" y="2912425"/>
            <a:ext cx="2071800" cy="285000"/>
          </a:xfrm>
          <a:prstGeom prst="straightConnector1">
            <a:avLst/>
          </a:prstGeom>
          <a:noFill/>
          <a:ln cap="flat" cmpd="sng" w="9525">
            <a:solidFill>
              <a:srgbClr val="B7B7B7"/>
            </a:solidFill>
            <a:prstDash val="solid"/>
            <a:round/>
            <a:headEnd len="med" w="med" type="none"/>
            <a:tailEnd len="med" w="med" type="none"/>
          </a:ln>
        </p:spPr>
      </p:cxnSp>
      <p:cxnSp>
        <p:nvCxnSpPr>
          <p:cNvPr id="1062" name="Google Shape;1062;p47"/>
          <p:cNvCxnSpPr>
            <a:stCxn id="1055" idx="3"/>
            <a:endCxn id="1056" idx="1"/>
          </p:cNvCxnSpPr>
          <p:nvPr/>
        </p:nvCxnSpPr>
        <p:spPr>
          <a:xfrm flipH="1" rot="10800000">
            <a:off x="4686150" y="3197425"/>
            <a:ext cx="2077200" cy="273600"/>
          </a:xfrm>
          <a:prstGeom prst="straightConnector1">
            <a:avLst/>
          </a:prstGeom>
          <a:noFill/>
          <a:ln cap="flat" cmpd="sng" w="9525">
            <a:solidFill>
              <a:srgbClr val="B7B7B7"/>
            </a:solidFill>
            <a:prstDash val="solid"/>
            <a:round/>
            <a:headEnd len="med" w="med" type="none"/>
            <a:tailEnd len="med" w="med" type="none"/>
          </a:ln>
        </p:spPr>
      </p:cxnSp>
      <p:cxnSp>
        <p:nvCxnSpPr>
          <p:cNvPr id="1063" name="Google Shape;1063;p47"/>
          <p:cNvCxnSpPr>
            <a:stCxn id="1057" idx="2"/>
            <a:endCxn id="1064" idx="3"/>
          </p:cNvCxnSpPr>
          <p:nvPr/>
        </p:nvCxnSpPr>
        <p:spPr>
          <a:xfrm rot="10800000">
            <a:off x="6164550" y="4224575"/>
            <a:ext cx="903600" cy="0"/>
          </a:xfrm>
          <a:prstGeom prst="straightConnector1">
            <a:avLst/>
          </a:prstGeom>
          <a:noFill/>
          <a:ln cap="flat" cmpd="sng" w="9525">
            <a:solidFill>
              <a:srgbClr val="B7B7B7"/>
            </a:solidFill>
            <a:prstDash val="dash"/>
            <a:round/>
            <a:headEnd len="med" w="med" type="none"/>
            <a:tailEnd len="med" w="med" type="none"/>
          </a:ln>
        </p:spPr>
      </p:cxnSp>
      <p:cxnSp>
        <p:nvCxnSpPr>
          <p:cNvPr id="1065" name="Google Shape;1065;p47"/>
          <p:cNvCxnSpPr>
            <a:stCxn id="1056" idx="3"/>
          </p:cNvCxnSpPr>
          <p:nvPr/>
        </p:nvCxnSpPr>
        <p:spPr>
          <a:xfrm>
            <a:off x="7048350" y="3197425"/>
            <a:ext cx="551700" cy="0"/>
          </a:xfrm>
          <a:prstGeom prst="straightConnector1">
            <a:avLst/>
          </a:prstGeom>
          <a:noFill/>
          <a:ln cap="flat" cmpd="sng" w="9525">
            <a:solidFill>
              <a:srgbClr val="B7B7B7"/>
            </a:solidFill>
            <a:prstDash val="solid"/>
            <a:round/>
            <a:headEnd len="med" w="med" type="none"/>
            <a:tailEnd len="med" w="med" type="none"/>
          </a:ln>
        </p:spPr>
      </p:cxnSp>
      <p:cxnSp>
        <p:nvCxnSpPr>
          <p:cNvPr id="1066" name="Google Shape;1066;p47"/>
          <p:cNvCxnSpPr/>
          <p:nvPr/>
        </p:nvCxnSpPr>
        <p:spPr>
          <a:xfrm>
            <a:off x="7659010" y="3197425"/>
            <a:ext cx="865500" cy="0"/>
          </a:xfrm>
          <a:prstGeom prst="straightConnector1">
            <a:avLst/>
          </a:prstGeom>
          <a:noFill/>
          <a:ln cap="flat" cmpd="sng" w="9525">
            <a:solidFill>
              <a:srgbClr val="B7B7B7"/>
            </a:solidFill>
            <a:prstDash val="dash"/>
            <a:round/>
            <a:headEnd len="med" w="med" type="none"/>
            <a:tailEnd len="med" w="med" type="none"/>
          </a:ln>
        </p:spPr>
      </p:cxnSp>
      <p:grpSp>
        <p:nvGrpSpPr>
          <p:cNvPr id="1067" name="Google Shape;1067;p47"/>
          <p:cNvGrpSpPr/>
          <p:nvPr/>
        </p:nvGrpSpPr>
        <p:grpSpPr>
          <a:xfrm>
            <a:off x="955675" y="2218675"/>
            <a:ext cx="384763" cy="551700"/>
            <a:chOff x="160300" y="2651875"/>
            <a:chExt cx="384763" cy="551700"/>
          </a:xfrm>
        </p:grpSpPr>
        <p:pic>
          <p:nvPicPr>
            <p:cNvPr id="1068" name="Google Shape;1068;p47"/>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1069" name="Google Shape;1069;p47"/>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pic>
        <p:nvPicPr>
          <p:cNvPr id="1070" name="Google Shape;1070;p47"/>
          <p:cNvPicPr preferRelativeResize="0"/>
          <p:nvPr/>
        </p:nvPicPr>
        <p:blipFill>
          <a:blip r:embed="rId5">
            <a:alphaModFix amt="50000"/>
          </a:blip>
          <a:stretch>
            <a:fillRect/>
          </a:stretch>
        </p:blipFill>
        <p:spPr>
          <a:xfrm rot="-5400000">
            <a:off x="1309537" y="2136835"/>
            <a:ext cx="893376" cy="719000"/>
          </a:xfrm>
          <a:prstGeom prst="rect">
            <a:avLst/>
          </a:prstGeom>
          <a:noFill/>
          <a:ln>
            <a:noFill/>
          </a:ln>
        </p:spPr>
      </p:pic>
      <p:sp>
        <p:nvSpPr>
          <p:cNvPr id="1064" name="Google Shape;1064;p47"/>
          <p:cNvSpPr/>
          <p:nvPr/>
        </p:nvSpPr>
        <p:spPr>
          <a:xfrm>
            <a:off x="5204075" y="3949175"/>
            <a:ext cx="960600" cy="550800"/>
          </a:xfrm>
          <a:prstGeom prst="roundRect">
            <a:avLst>
              <a:gd fmla="val 16667" name="adj"/>
            </a:avLst>
          </a:prstGeom>
          <a:solidFill>
            <a:srgbClr val="EFEFE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Mobility Manager</a:t>
            </a:r>
            <a:endParaRPr>
              <a:solidFill>
                <a:srgbClr val="B7B7B7"/>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sp>
        <p:nvSpPr>
          <p:cNvPr id="1075" name="Google Shape;1075;p48"/>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High-Level View (2/4) – Attachment</a:t>
            </a:r>
            <a:endParaRPr/>
          </a:p>
        </p:txBody>
      </p:sp>
      <p:sp>
        <p:nvSpPr>
          <p:cNvPr id="1076" name="Google Shape;1076;p48"/>
          <p:cNvSpPr txBox="1"/>
          <p:nvPr>
            <p:ph idx="1" type="body"/>
          </p:nvPr>
        </p:nvSpPr>
        <p:spPr>
          <a:xfrm>
            <a:off x="107050" y="402200"/>
            <a:ext cx="8909700" cy="1482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Step 2: </a:t>
            </a:r>
            <a:r>
              <a:rPr b="1" lang="en"/>
              <a:t>Attachment</a:t>
            </a:r>
            <a:r>
              <a:rPr lang="en"/>
              <a:t>.</a:t>
            </a:r>
            <a:endParaRPr/>
          </a:p>
          <a:p>
            <a:pPr indent="-342900" lvl="0" marL="457200" rtl="0" algn="l">
              <a:spcBef>
                <a:spcPts val="600"/>
              </a:spcBef>
              <a:spcAft>
                <a:spcPts val="0"/>
              </a:spcAft>
              <a:buSzPts val="1800"/>
              <a:buChar char="●"/>
            </a:pPr>
            <a:r>
              <a:rPr lang="en"/>
              <a:t>Device asks the tower to connect.</a:t>
            </a:r>
            <a:endParaRPr/>
          </a:p>
          <a:p>
            <a:pPr indent="-342900" lvl="0" marL="457200" rtl="0" algn="l">
              <a:spcBef>
                <a:spcPts val="0"/>
              </a:spcBef>
              <a:spcAft>
                <a:spcPts val="0"/>
              </a:spcAft>
              <a:buSzPts val="1800"/>
              <a:buChar char="●"/>
            </a:pPr>
            <a:r>
              <a:rPr lang="en"/>
              <a:t>Tower checks with mobility manager if connection is allowed.</a:t>
            </a:r>
            <a:endParaRPr/>
          </a:p>
        </p:txBody>
      </p:sp>
      <p:sp>
        <p:nvSpPr>
          <p:cNvPr id="1077" name="Google Shape;1077;p48"/>
          <p:cNvSpPr/>
          <p:nvPr/>
        </p:nvSpPr>
        <p:spPr>
          <a:xfrm>
            <a:off x="1785710" y="2078475"/>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078" name="Google Shape;1078;p48"/>
          <p:cNvGrpSpPr/>
          <p:nvPr/>
        </p:nvGrpSpPr>
        <p:grpSpPr>
          <a:xfrm>
            <a:off x="2163047" y="2289931"/>
            <a:ext cx="205525" cy="409199"/>
            <a:chOff x="7897625" y="3319150"/>
            <a:chExt cx="645900" cy="1285575"/>
          </a:xfrm>
        </p:grpSpPr>
        <p:sp>
          <p:nvSpPr>
            <p:cNvPr id="1079" name="Google Shape;1079;p48"/>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080" name="Google Shape;1080;p48"/>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081" name="Google Shape;1081;p48"/>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082" name="Google Shape;1082;p48"/>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083" name="Google Shape;1083;p48"/>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084" name="Google Shape;1084;p48"/>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085" name="Google Shape;1085;p48"/>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086" name="Google Shape;1086;p48"/>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1087" name="Google Shape;1087;p48"/>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1088" name="Google Shape;1088;p48"/>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89" name="Google Shape;1089;p48"/>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090" name="Google Shape;1090;p48"/>
            <p:cNvSpPr/>
            <p:nvPr/>
          </p:nvSpPr>
          <p:spPr>
            <a:xfrm>
              <a:off x="8198675" y="3551600"/>
              <a:ext cx="43800" cy="43800"/>
            </a:xfrm>
            <a:prstGeom prst="ellipse">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091" name="Google Shape;1091;p48"/>
          <p:cNvSpPr/>
          <p:nvPr/>
        </p:nvSpPr>
        <p:spPr>
          <a:xfrm>
            <a:off x="1785710" y="2910667"/>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092" name="Google Shape;1092;p48"/>
          <p:cNvGrpSpPr/>
          <p:nvPr/>
        </p:nvGrpSpPr>
        <p:grpSpPr>
          <a:xfrm>
            <a:off x="2163047" y="3122123"/>
            <a:ext cx="205525" cy="409199"/>
            <a:chOff x="7897625" y="3319150"/>
            <a:chExt cx="645900" cy="1285575"/>
          </a:xfrm>
        </p:grpSpPr>
        <p:sp>
          <p:nvSpPr>
            <p:cNvPr id="1093" name="Google Shape;1093;p48"/>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094" name="Google Shape;1094;p48"/>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095" name="Google Shape;1095;p48"/>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096" name="Google Shape;1096;p48"/>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097" name="Google Shape;1097;p48"/>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098" name="Google Shape;1098;p48"/>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099" name="Google Shape;1099;p48"/>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100" name="Google Shape;1100;p48"/>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101" name="Google Shape;1101;p48"/>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102" name="Google Shape;1102;p48"/>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03" name="Google Shape;1103;p48"/>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04" name="Google Shape;1104;p48"/>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105" name="Google Shape;1105;p48"/>
          <p:cNvSpPr/>
          <p:nvPr/>
        </p:nvSpPr>
        <p:spPr>
          <a:xfrm>
            <a:off x="1785710" y="3742859"/>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106" name="Google Shape;1106;p48"/>
          <p:cNvGrpSpPr/>
          <p:nvPr/>
        </p:nvGrpSpPr>
        <p:grpSpPr>
          <a:xfrm>
            <a:off x="2163037" y="3954316"/>
            <a:ext cx="205525" cy="409199"/>
            <a:chOff x="7897625" y="3319150"/>
            <a:chExt cx="645900" cy="1285575"/>
          </a:xfrm>
        </p:grpSpPr>
        <p:sp>
          <p:nvSpPr>
            <p:cNvPr id="1107" name="Google Shape;1107;p48"/>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108" name="Google Shape;1108;p48"/>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109" name="Google Shape;1109;p48"/>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110" name="Google Shape;1110;p48"/>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111" name="Google Shape;1111;p48"/>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112" name="Google Shape;1112;p48"/>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113" name="Google Shape;1113;p48"/>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114" name="Google Shape;1114;p48"/>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115" name="Google Shape;1115;p48"/>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116" name="Google Shape;1116;p48"/>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17" name="Google Shape;1117;p48"/>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18" name="Google Shape;1118;p48"/>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119" name="Google Shape;1119;p48"/>
          <p:cNvSpPr/>
          <p:nvPr/>
        </p:nvSpPr>
        <p:spPr>
          <a:xfrm>
            <a:off x="4406500" y="276992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R1</a:t>
            </a:r>
            <a:endParaRPr>
              <a:solidFill>
                <a:srgbClr val="B7B7B7"/>
              </a:solidFill>
              <a:latin typeface="Roboto"/>
              <a:ea typeface="Roboto"/>
              <a:cs typeface="Roboto"/>
              <a:sym typeface="Roboto"/>
            </a:endParaRPr>
          </a:p>
        </p:txBody>
      </p:sp>
      <p:sp>
        <p:nvSpPr>
          <p:cNvPr id="1120" name="Google Shape;1120;p48"/>
          <p:cNvSpPr/>
          <p:nvPr/>
        </p:nvSpPr>
        <p:spPr>
          <a:xfrm>
            <a:off x="4401150" y="332852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R2</a:t>
            </a:r>
            <a:endParaRPr>
              <a:solidFill>
                <a:srgbClr val="B7B7B7"/>
              </a:solidFill>
              <a:latin typeface="Roboto"/>
              <a:ea typeface="Roboto"/>
              <a:cs typeface="Roboto"/>
              <a:sym typeface="Roboto"/>
            </a:endParaRPr>
          </a:p>
        </p:txBody>
      </p:sp>
      <p:sp>
        <p:nvSpPr>
          <p:cNvPr id="1121" name="Google Shape;1121;p48"/>
          <p:cNvSpPr/>
          <p:nvPr/>
        </p:nvSpPr>
        <p:spPr>
          <a:xfrm>
            <a:off x="6763350" y="305492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P1</a:t>
            </a:r>
            <a:endParaRPr>
              <a:solidFill>
                <a:srgbClr val="B7B7B7"/>
              </a:solidFill>
              <a:latin typeface="Roboto"/>
              <a:ea typeface="Roboto"/>
              <a:cs typeface="Roboto"/>
              <a:sym typeface="Roboto"/>
            </a:endParaRPr>
          </a:p>
        </p:txBody>
      </p:sp>
      <p:sp>
        <p:nvSpPr>
          <p:cNvPr id="1122" name="Google Shape;1122;p48"/>
          <p:cNvSpPr/>
          <p:nvPr/>
        </p:nvSpPr>
        <p:spPr>
          <a:xfrm>
            <a:off x="7068150" y="3933575"/>
            <a:ext cx="960600" cy="5820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Database</a:t>
            </a:r>
            <a:endParaRPr>
              <a:latin typeface="Roboto"/>
              <a:ea typeface="Roboto"/>
              <a:cs typeface="Roboto"/>
              <a:sym typeface="Roboto"/>
            </a:endParaRPr>
          </a:p>
        </p:txBody>
      </p:sp>
      <p:cxnSp>
        <p:nvCxnSpPr>
          <p:cNvPr id="1123" name="Google Shape;1123;p48"/>
          <p:cNvCxnSpPr>
            <a:stCxn id="1119" idx="1"/>
          </p:cNvCxnSpPr>
          <p:nvPr/>
        </p:nvCxnSpPr>
        <p:spPr>
          <a:xfrm rot="10800000">
            <a:off x="2438800" y="2541625"/>
            <a:ext cx="1967700" cy="370800"/>
          </a:xfrm>
          <a:prstGeom prst="straightConnector1">
            <a:avLst/>
          </a:prstGeom>
          <a:noFill/>
          <a:ln cap="flat" cmpd="sng" w="9525">
            <a:solidFill>
              <a:srgbClr val="B7B7B7"/>
            </a:solidFill>
            <a:prstDash val="solid"/>
            <a:round/>
            <a:headEnd len="med" w="med" type="none"/>
            <a:tailEnd len="med" w="med" type="none"/>
          </a:ln>
        </p:spPr>
      </p:cxnSp>
      <p:cxnSp>
        <p:nvCxnSpPr>
          <p:cNvPr id="1124" name="Google Shape;1124;p48"/>
          <p:cNvCxnSpPr>
            <a:stCxn id="1120" idx="1"/>
          </p:cNvCxnSpPr>
          <p:nvPr/>
        </p:nvCxnSpPr>
        <p:spPr>
          <a:xfrm rot="10800000">
            <a:off x="2365650" y="3366925"/>
            <a:ext cx="2035500" cy="104100"/>
          </a:xfrm>
          <a:prstGeom prst="straightConnector1">
            <a:avLst/>
          </a:prstGeom>
          <a:noFill/>
          <a:ln cap="flat" cmpd="sng" w="9525">
            <a:solidFill>
              <a:srgbClr val="B7B7B7"/>
            </a:solidFill>
            <a:prstDash val="solid"/>
            <a:round/>
            <a:headEnd len="med" w="med" type="none"/>
            <a:tailEnd len="med" w="med" type="none"/>
          </a:ln>
        </p:spPr>
      </p:cxnSp>
      <p:cxnSp>
        <p:nvCxnSpPr>
          <p:cNvPr id="1125" name="Google Shape;1125;p48"/>
          <p:cNvCxnSpPr>
            <a:stCxn id="1120" idx="1"/>
          </p:cNvCxnSpPr>
          <p:nvPr/>
        </p:nvCxnSpPr>
        <p:spPr>
          <a:xfrm flipH="1">
            <a:off x="2417850" y="3471025"/>
            <a:ext cx="1983300" cy="751500"/>
          </a:xfrm>
          <a:prstGeom prst="straightConnector1">
            <a:avLst/>
          </a:prstGeom>
          <a:noFill/>
          <a:ln cap="flat" cmpd="sng" w="9525">
            <a:solidFill>
              <a:srgbClr val="B7B7B7"/>
            </a:solidFill>
            <a:prstDash val="solid"/>
            <a:round/>
            <a:headEnd len="med" w="med" type="none"/>
            <a:tailEnd len="med" w="med" type="none"/>
          </a:ln>
        </p:spPr>
      </p:cxnSp>
      <p:cxnSp>
        <p:nvCxnSpPr>
          <p:cNvPr id="1126" name="Google Shape;1126;p48"/>
          <p:cNvCxnSpPr>
            <a:stCxn id="1119" idx="3"/>
            <a:endCxn id="1121" idx="1"/>
          </p:cNvCxnSpPr>
          <p:nvPr/>
        </p:nvCxnSpPr>
        <p:spPr>
          <a:xfrm>
            <a:off x="4691500" y="2912425"/>
            <a:ext cx="2071800" cy="285000"/>
          </a:xfrm>
          <a:prstGeom prst="straightConnector1">
            <a:avLst/>
          </a:prstGeom>
          <a:noFill/>
          <a:ln cap="flat" cmpd="sng" w="9525">
            <a:solidFill>
              <a:srgbClr val="B7B7B7"/>
            </a:solidFill>
            <a:prstDash val="solid"/>
            <a:round/>
            <a:headEnd len="med" w="med" type="none"/>
            <a:tailEnd len="med" w="med" type="none"/>
          </a:ln>
        </p:spPr>
      </p:cxnSp>
      <p:cxnSp>
        <p:nvCxnSpPr>
          <p:cNvPr id="1127" name="Google Shape;1127;p48"/>
          <p:cNvCxnSpPr>
            <a:stCxn id="1120" idx="3"/>
            <a:endCxn id="1121" idx="1"/>
          </p:cNvCxnSpPr>
          <p:nvPr/>
        </p:nvCxnSpPr>
        <p:spPr>
          <a:xfrm flipH="1" rot="10800000">
            <a:off x="4686150" y="3197425"/>
            <a:ext cx="2077200" cy="273600"/>
          </a:xfrm>
          <a:prstGeom prst="straightConnector1">
            <a:avLst/>
          </a:prstGeom>
          <a:noFill/>
          <a:ln cap="flat" cmpd="sng" w="9525">
            <a:solidFill>
              <a:srgbClr val="B7B7B7"/>
            </a:solidFill>
            <a:prstDash val="solid"/>
            <a:round/>
            <a:headEnd len="med" w="med" type="none"/>
            <a:tailEnd len="med" w="med" type="none"/>
          </a:ln>
        </p:spPr>
      </p:cxnSp>
      <p:cxnSp>
        <p:nvCxnSpPr>
          <p:cNvPr id="1128" name="Google Shape;1128;p48"/>
          <p:cNvCxnSpPr>
            <a:stCxn id="1122" idx="2"/>
            <a:endCxn id="1129" idx="3"/>
          </p:cNvCxnSpPr>
          <p:nvPr/>
        </p:nvCxnSpPr>
        <p:spPr>
          <a:xfrm rot="10800000">
            <a:off x="6164550" y="4224575"/>
            <a:ext cx="903600" cy="0"/>
          </a:xfrm>
          <a:prstGeom prst="straightConnector1">
            <a:avLst/>
          </a:prstGeom>
          <a:noFill/>
          <a:ln cap="flat" cmpd="sng" w="28575">
            <a:solidFill>
              <a:schemeClr val="accent2"/>
            </a:solidFill>
            <a:prstDash val="solid"/>
            <a:round/>
            <a:headEnd len="med" w="med" type="triangle"/>
            <a:tailEnd len="med" w="med" type="none"/>
          </a:ln>
        </p:spPr>
      </p:cxnSp>
      <p:cxnSp>
        <p:nvCxnSpPr>
          <p:cNvPr id="1130" name="Google Shape;1130;p48"/>
          <p:cNvCxnSpPr>
            <a:stCxn id="1121" idx="3"/>
          </p:cNvCxnSpPr>
          <p:nvPr/>
        </p:nvCxnSpPr>
        <p:spPr>
          <a:xfrm>
            <a:off x="7048350" y="3197425"/>
            <a:ext cx="551700" cy="0"/>
          </a:xfrm>
          <a:prstGeom prst="straightConnector1">
            <a:avLst/>
          </a:prstGeom>
          <a:noFill/>
          <a:ln cap="flat" cmpd="sng" w="9525">
            <a:solidFill>
              <a:srgbClr val="B7B7B7"/>
            </a:solidFill>
            <a:prstDash val="solid"/>
            <a:round/>
            <a:headEnd len="med" w="med" type="none"/>
            <a:tailEnd len="med" w="med" type="none"/>
          </a:ln>
        </p:spPr>
      </p:cxnSp>
      <p:cxnSp>
        <p:nvCxnSpPr>
          <p:cNvPr id="1131" name="Google Shape;1131;p48"/>
          <p:cNvCxnSpPr/>
          <p:nvPr/>
        </p:nvCxnSpPr>
        <p:spPr>
          <a:xfrm>
            <a:off x="7659010" y="3197425"/>
            <a:ext cx="865500" cy="0"/>
          </a:xfrm>
          <a:prstGeom prst="straightConnector1">
            <a:avLst/>
          </a:prstGeom>
          <a:noFill/>
          <a:ln cap="flat" cmpd="sng" w="9525">
            <a:solidFill>
              <a:srgbClr val="B7B7B7"/>
            </a:solidFill>
            <a:prstDash val="dash"/>
            <a:round/>
            <a:headEnd len="med" w="med" type="none"/>
            <a:tailEnd len="med" w="med" type="none"/>
          </a:ln>
        </p:spPr>
      </p:cxnSp>
      <p:grpSp>
        <p:nvGrpSpPr>
          <p:cNvPr id="1132" name="Google Shape;1132;p48"/>
          <p:cNvGrpSpPr/>
          <p:nvPr/>
        </p:nvGrpSpPr>
        <p:grpSpPr>
          <a:xfrm>
            <a:off x="955675" y="2218675"/>
            <a:ext cx="384763" cy="551700"/>
            <a:chOff x="160300" y="2651875"/>
            <a:chExt cx="384763" cy="551700"/>
          </a:xfrm>
        </p:grpSpPr>
        <p:pic>
          <p:nvPicPr>
            <p:cNvPr id="1133" name="Google Shape;1133;p48"/>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1134" name="Google Shape;1134;p48"/>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pic>
        <p:nvPicPr>
          <p:cNvPr id="1135" name="Google Shape;1135;p48"/>
          <p:cNvPicPr preferRelativeResize="0"/>
          <p:nvPr/>
        </p:nvPicPr>
        <p:blipFill>
          <a:blip r:embed="rId5">
            <a:alphaModFix amt="25000"/>
          </a:blip>
          <a:stretch>
            <a:fillRect/>
          </a:stretch>
        </p:blipFill>
        <p:spPr>
          <a:xfrm rot="-5400000">
            <a:off x="1309537" y="2136835"/>
            <a:ext cx="893376" cy="719000"/>
          </a:xfrm>
          <a:prstGeom prst="rect">
            <a:avLst/>
          </a:prstGeom>
          <a:noFill/>
          <a:ln>
            <a:noFill/>
          </a:ln>
        </p:spPr>
      </p:pic>
      <p:cxnSp>
        <p:nvCxnSpPr>
          <p:cNvPr id="1136" name="Google Shape;1136;p48"/>
          <p:cNvCxnSpPr>
            <a:endCxn id="1129" idx="1"/>
          </p:cNvCxnSpPr>
          <p:nvPr/>
        </p:nvCxnSpPr>
        <p:spPr>
          <a:xfrm>
            <a:off x="2460575" y="2611775"/>
            <a:ext cx="2743500" cy="1612800"/>
          </a:xfrm>
          <a:prstGeom prst="straightConnector1">
            <a:avLst/>
          </a:prstGeom>
          <a:noFill/>
          <a:ln cap="flat" cmpd="sng" w="28575">
            <a:solidFill>
              <a:schemeClr val="accent2"/>
            </a:solidFill>
            <a:prstDash val="solid"/>
            <a:round/>
            <a:headEnd len="med" w="med" type="none"/>
            <a:tailEnd len="med" w="med" type="triangle"/>
          </a:ln>
        </p:spPr>
      </p:cxnSp>
      <p:sp>
        <p:nvSpPr>
          <p:cNvPr id="1129" name="Google Shape;1129;p48"/>
          <p:cNvSpPr/>
          <p:nvPr/>
        </p:nvSpPr>
        <p:spPr>
          <a:xfrm>
            <a:off x="5204075" y="3949175"/>
            <a:ext cx="960600" cy="5508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Mobility Manager</a:t>
            </a:r>
            <a:endParaRPr>
              <a:latin typeface="Roboto"/>
              <a:ea typeface="Roboto"/>
              <a:cs typeface="Roboto"/>
              <a:sym typeface="Roboto"/>
            </a:endParaRPr>
          </a:p>
        </p:txBody>
      </p:sp>
      <p:cxnSp>
        <p:nvCxnSpPr>
          <p:cNvPr id="1137" name="Google Shape;1137;p48"/>
          <p:cNvCxnSpPr>
            <a:stCxn id="1135" idx="0"/>
            <a:endCxn id="1135" idx="2"/>
          </p:cNvCxnSpPr>
          <p:nvPr/>
        </p:nvCxnSpPr>
        <p:spPr>
          <a:xfrm>
            <a:off x="1396725" y="2496335"/>
            <a:ext cx="719100" cy="0"/>
          </a:xfrm>
          <a:prstGeom prst="straightConnector1">
            <a:avLst/>
          </a:prstGeom>
          <a:noFill/>
          <a:ln cap="flat" cmpd="sng" w="28575">
            <a:solidFill>
              <a:schemeClr val="accent2"/>
            </a:solidFill>
            <a:prstDash val="solid"/>
            <a:round/>
            <a:headEnd len="med" w="med" type="none"/>
            <a:tailEnd len="med" w="med" type="triangl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cxnSp>
        <p:nvCxnSpPr>
          <p:cNvPr id="1142" name="Google Shape;1142;p49"/>
          <p:cNvCxnSpPr>
            <a:stCxn id="1143" idx="3"/>
            <a:endCxn id="1144" idx="1"/>
          </p:cNvCxnSpPr>
          <p:nvPr/>
        </p:nvCxnSpPr>
        <p:spPr>
          <a:xfrm flipH="1" rot="10800000">
            <a:off x="4686150" y="3197425"/>
            <a:ext cx="2077200" cy="273600"/>
          </a:xfrm>
          <a:prstGeom prst="straightConnector1">
            <a:avLst/>
          </a:prstGeom>
          <a:noFill/>
          <a:ln cap="flat" cmpd="sng" w="9525">
            <a:solidFill>
              <a:srgbClr val="B7B7B7"/>
            </a:solidFill>
            <a:prstDash val="solid"/>
            <a:round/>
            <a:headEnd len="med" w="med" type="none"/>
            <a:tailEnd len="med" w="med" type="none"/>
          </a:ln>
        </p:spPr>
      </p:cxnSp>
      <p:cxnSp>
        <p:nvCxnSpPr>
          <p:cNvPr id="1145" name="Google Shape;1145;p49"/>
          <p:cNvCxnSpPr>
            <a:stCxn id="1144" idx="2"/>
            <a:endCxn id="1146" idx="0"/>
          </p:cNvCxnSpPr>
          <p:nvPr/>
        </p:nvCxnSpPr>
        <p:spPr>
          <a:xfrm flipH="1">
            <a:off x="5684250" y="3339925"/>
            <a:ext cx="1221600" cy="609300"/>
          </a:xfrm>
          <a:prstGeom prst="straightConnector1">
            <a:avLst/>
          </a:prstGeom>
          <a:noFill/>
          <a:ln cap="flat" cmpd="sng" w="28575">
            <a:solidFill>
              <a:schemeClr val="accent2"/>
            </a:solidFill>
            <a:prstDash val="solid"/>
            <a:round/>
            <a:headEnd len="med" w="med" type="triangle"/>
            <a:tailEnd len="med" w="med" type="none"/>
          </a:ln>
        </p:spPr>
      </p:cxnSp>
      <p:cxnSp>
        <p:nvCxnSpPr>
          <p:cNvPr id="1147" name="Google Shape;1147;p49"/>
          <p:cNvCxnSpPr>
            <a:stCxn id="1148" idx="2"/>
            <a:endCxn id="1146" idx="0"/>
          </p:cNvCxnSpPr>
          <p:nvPr/>
        </p:nvCxnSpPr>
        <p:spPr>
          <a:xfrm>
            <a:off x="4549000" y="3054925"/>
            <a:ext cx="1135500" cy="894300"/>
          </a:xfrm>
          <a:prstGeom prst="straightConnector1">
            <a:avLst/>
          </a:prstGeom>
          <a:noFill/>
          <a:ln cap="flat" cmpd="sng" w="28575">
            <a:solidFill>
              <a:schemeClr val="accent2"/>
            </a:solidFill>
            <a:prstDash val="solid"/>
            <a:round/>
            <a:headEnd len="med" w="med" type="triangle"/>
            <a:tailEnd len="med" w="med" type="none"/>
          </a:ln>
        </p:spPr>
      </p:cxnSp>
      <p:sp>
        <p:nvSpPr>
          <p:cNvPr id="1149" name="Google Shape;1149;p49"/>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High-Level View (2/4) – Attachment</a:t>
            </a:r>
            <a:endParaRPr/>
          </a:p>
        </p:txBody>
      </p:sp>
      <p:sp>
        <p:nvSpPr>
          <p:cNvPr id="1150" name="Google Shape;1150;p49"/>
          <p:cNvSpPr txBox="1"/>
          <p:nvPr>
            <p:ph idx="1" type="body"/>
          </p:nvPr>
        </p:nvSpPr>
        <p:spPr>
          <a:xfrm>
            <a:off x="107050" y="402200"/>
            <a:ext cx="8909700" cy="1482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Step 2: </a:t>
            </a:r>
            <a:r>
              <a:rPr b="1" lang="en"/>
              <a:t>Attachment</a:t>
            </a:r>
            <a:r>
              <a:rPr lang="en"/>
              <a:t>.</a:t>
            </a:r>
            <a:endParaRPr/>
          </a:p>
          <a:p>
            <a:pPr indent="-342900" lvl="0" marL="457200" rtl="0" algn="l">
              <a:spcBef>
                <a:spcPts val="600"/>
              </a:spcBef>
              <a:spcAft>
                <a:spcPts val="0"/>
              </a:spcAft>
              <a:buSzPts val="1800"/>
              <a:buChar char="●"/>
            </a:pPr>
            <a:r>
              <a:rPr lang="en"/>
              <a:t>If manager approves request, it configures a path between user and Internet.</a:t>
            </a:r>
            <a:endParaRPr/>
          </a:p>
        </p:txBody>
      </p:sp>
      <p:sp>
        <p:nvSpPr>
          <p:cNvPr id="1151" name="Google Shape;1151;p49"/>
          <p:cNvSpPr/>
          <p:nvPr/>
        </p:nvSpPr>
        <p:spPr>
          <a:xfrm>
            <a:off x="1785710" y="2078475"/>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152" name="Google Shape;1152;p49"/>
          <p:cNvGrpSpPr/>
          <p:nvPr/>
        </p:nvGrpSpPr>
        <p:grpSpPr>
          <a:xfrm>
            <a:off x="2163047" y="2289931"/>
            <a:ext cx="205525" cy="409199"/>
            <a:chOff x="7897625" y="3319150"/>
            <a:chExt cx="645900" cy="1285575"/>
          </a:xfrm>
        </p:grpSpPr>
        <p:sp>
          <p:nvSpPr>
            <p:cNvPr id="1153" name="Google Shape;1153;p49"/>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154" name="Google Shape;1154;p49"/>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155" name="Google Shape;1155;p49"/>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156" name="Google Shape;1156;p49"/>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157" name="Google Shape;1157;p49"/>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158" name="Google Shape;1158;p49"/>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159" name="Google Shape;1159;p49"/>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160" name="Google Shape;1160;p49"/>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1161" name="Google Shape;1161;p49"/>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1162" name="Google Shape;1162;p49"/>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63" name="Google Shape;1163;p49"/>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64" name="Google Shape;1164;p49"/>
            <p:cNvSpPr/>
            <p:nvPr/>
          </p:nvSpPr>
          <p:spPr>
            <a:xfrm>
              <a:off x="8198675" y="3551600"/>
              <a:ext cx="43800" cy="43800"/>
            </a:xfrm>
            <a:prstGeom prst="ellipse">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165" name="Google Shape;1165;p49"/>
          <p:cNvSpPr/>
          <p:nvPr/>
        </p:nvSpPr>
        <p:spPr>
          <a:xfrm>
            <a:off x="1785710" y="2910667"/>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166" name="Google Shape;1166;p49"/>
          <p:cNvGrpSpPr/>
          <p:nvPr/>
        </p:nvGrpSpPr>
        <p:grpSpPr>
          <a:xfrm>
            <a:off x="2163047" y="3122123"/>
            <a:ext cx="205525" cy="409199"/>
            <a:chOff x="7897625" y="3319150"/>
            <a:chExt cx="645900" cy="1285575"/>
          </a:xfrm>
        </p:grpSpPr>
        <p:sp>
          <p:nvSpPr>
            <p:cNvPr id="1167" name="Google Shape;1167;p49"/>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168" name="Google Shape;1168;p49"/>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169" name="Google Shape;1169;p49"/>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170" name="Google Shape;1170;p49"/>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171" name="Google Shape;1171;p49"/>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172" name="Google Shape;1172;p49"/>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173" name="Google Shape;1173;p49"/>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174" name="Google Shape;1174;p49"/>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175" name="Google Shape;1175;p49"/>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176" name="Google Shape;1176;p49"/>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77" name="Google Shape;1177;p49"/>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78" name="Google Shape;1178;p49"/>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179" name="Google Shape;1179;p49"/>
          <p:cNvSpPr/>
          <p:nvPr/>
        </p:nvSpPr>
        <p:spPr>
          <a:xfrm>
            <a:off x="1785710" y="3742859"/>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180" name="Google Shape;1180;p49"/>
          <p:cNvGrpSpPr/>
          <p:nvPr/>
        </p:nvGrpSpPr>
        <p:grpSpPr>
          <a:xfrm>
            <a:off x="2163037" y="3954316"/>
            <a:ext cx="205525" cy="409199"/>
            <a:chOff x="7897625" y="3319150"/>
            <a:chExt cx="645900" cy="1285575"/>
          </a:xfrm>
        </p:grpSpPr>
        <p:sp>
          <p:nvSpPr>
            <p:cNvPr id="1181" name="Google Shape;1181;p49"/>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182" name="Google Shape;1182;p49"/>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183" name="Google Shape;1183;p49"/>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184" name="Google Shape;1184;p49"/>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185" name="Google Shape;1185;p49"/>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186" name="Google Shape;1186;p49"/>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187" name="Google Shape;1187;p49"/>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188" name="Google Shape;1188;p49"/>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189" name="Google Shape;1189;p49"/>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190" name="Google Shape;1190;p49"/>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91" name="Google Shape;1191;p49"/>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192" name="Google Shape;1192;p49"/>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148" name="Google Shape;1148;p49"/>
          <p:cNvSpPr/>
          <p:nvPr/>
        </p:nvSpPr>
        <p:spPr>
          <a:xfrm>
            <a:off x="4406500" y="27699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1143" name="Google Shape;1143;p49"/>
          <p:cNvSpPr/>
          <p:nvPr/>
        </p:nvSpPr>
        <p:spPr>
          <a:xfrm>
            <a:off x="4401150" y="332852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R2</a:t>
            </a:r>
            <a:endParaRPr>
              <a:solidFill>
                <a:srgbClr val="B7B7B7"/>
              </a:solidFill>
              <a:latin typeface="Roboto"/>
              <a:ea typeface="Roboto"/>
              <a:cs typeface="Roboto"/>
              <a:sym typeface="Roboto"/>
            </a:endParaRPr>
          </a:p>
        </p:txBody>
      </p:sp>
      <p:sp>
        <p:nvSpPr>
          <p:cNvPr id="1144" name="Google Shape;1144;p49"/>
          <p:cNvSpPr/>
          <p:nvPr/>
        </p:nvSpPr>
        <p:spPr>
          <a:xfrm>
            <a:off x="6763350" y="30549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P1</a:t>
            </a:r>
            <a:endParaRPr>
              <a:latin typeface="Roboto"/>
              <a:ea typeface="Roboto"/>
              <a:cs typeface="Roboto"/>
              <a:sym typeface="Roboto"/>
            </a:endParaRPr>
          </a:p>
        </p:txBody>
      </p:sp>
      <p:sp>
        <p:nvSpPr>
          <p:cNvPr id="1193" name="Google Shape;1193;p49"/>
          <p:cNvSpPr/>
          <p:nvPr/>
        </p:nvSpPr>
        <p:spPr>
          <a:xfrm>
            <a:off x="7068150" y="3933575"/>
            <a:ext cx="960600" cy="5820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Database</a:t>
            </a:r>
            <a:endParaRPr>
              <a:latin typeface="Roboto"/>
              <a:ea typeface="Roboto"/>
              <a:cs typeface="Roboto"/>
              <a:sym typeface="Roboto"/>
            </a:endParaRPr>
          </a:p>
        </p:txBody>
      </p:sp>
      <p:cxnSp>
        <p:nvCxnSpPr>
          <p:cNvPr id="1194" name="Google Shape;1194;p49"/>
          <p:cNvCxnSpPr>
            <a:stCxn id="1148" idx="1"/>
          </p:cNvCxnSpPr>
          <p:nvPr/>
        </p:nvCxnSpPr>
        <p:spPr>
          <a:xfrm rot="10800000">
            <a:off x="2438800" y="2541625"/>
            <a:ext cx="1967700" cy="370800"/>
          </a:xfrm>
          <a:prstGeom prst="straightConnector1">
            <a:avLst/>
          </a:prstGeom>
          <a:noFill/>
          <a:ln cap="flat" cmpd="sng" w="19050">
            <a:solidFill>
              <a:srgbClr val="0000FF"/>
            </a:solidFill>
            <a:prstDash val="solid"/>
            <a:round/>
            <a:headEnd len="med" w="med" type="none"/>
            <a:tailEnd len="med" w="med" type="none"/>
          </a:ln>
        </p:spPr>
      </p:cxnSp>
      <p:cxnSp>
        <p:nvCxnSpPr>
          <p:cNvPr id="1195" name="Google Shape;1195;p49"/>
          <p:cNvCxnSpPr>
            <a:stCxn id="1143" idx="1"/>
          </p:cNvCxnSpPr>
          <p:nvPr/>
        </p:nvCxnSpPr>
        <p:spPr>
          <a:xfrm rot="10800000">
            <a:off x="2365650" y="3366925"/>
            <a:ext cx="2035500" cy="104100"/>
          </a:xfrm>
          <a:prstGeom prst="straightConnector1">
            <a:avLst/>
          </a:prstGeom>
          <a:noFill/>
          <a:ln cap="flat" cmpd="sng" w="9525">
            <a:solidFill>
              <a:srgbClr val="B7B7B7"/>
            </a:solidFill>
            <a:prstDash val="solid"/>
            <a:round/>
            <a:headEnd len="med" w="med" type="none"/>
            <a:tailEnd len="med" w="med" type="none"/>
          </a:ln>
        </p:spPr>
      </p:cxnSp>
      <p:cxnSp>
        <p:nvCxnSpPr>
          <p:cNvPr id="1196" name="Google Shape;1196;p49"/>
          <p:cNvCxnSpPr>
            <a:stCxn id="1143" idx="1"/>
          </p:cNvCxnSpPr>
          <p:nvPr/>
        </p:nvCxnSpPr>
        <p:spPr>
          <a:xfrm flipH="1">
            <a:off x="2417850" y="3471025"/>
            <a:ext cx="1983300" cy="751500"/>
          </a:xfrm>
          <a:prstGeom prst="straightConnector1">
            <a:avLst/>
          </a:prstGeom>
          <a:noFill/>
          <a:ln cap="flat" cmpd="sng" w="9525">
            <a:solidFill>
              <a:srgbClr val="B7B7B7"/>
            </a:solidFill>
            <a:prstDash val="solid"/>
            <a:round/>
            <a:headEnd len="med" w="med" type="none"/>
            <a:tailEnd len="med" w="med" type="none"/>
          </a:ln>
        </p:spPr>
      </p:cxnSp>
      <p:cxnSp>
        <p:nvCxnSpPr>
          <p:cNvPr id="1197" name="Google Shape;1197;p49"/>
          <p:cNvCxnSpPr>
            <a:stCxn id="1148" idx="3"/>
            <a:endCxn id="1144" idx="1"/>
          </p:cNvCxnSpPr>
          <p:nvPr/>
        </p:nvCxnSpPr>
        <p:spPr>
          <a:xfrm>
            <a:off x="4691500" y="2912425"/>
            <a:ext cx="2071800" cy="285000"/>
          </a:xfrm>
          <a:prstGeom prst="straightConnector1">
            <a:avLst/>
          </a:prstGeom>
          <a:noFill/>
          <a:ln cap="flat" cmpd="sng" w="19050">
            <a:solidFill>
              <a:srgbClr val="0000FF"/>
            </a:solidFill>
            <a:prstDash val="solid"/>
            <a:round/>
            <a:headEnd len="med" w="med" type="none"/>
            <a:tailEnd len="med" w="med" type="none"/>
          </a:ln>
        </p:spPr>
      </p:cxnSp>
      <p:cxnSp>
        <p:nvCxnSpPr>
          <p:cNvPr id="1198" name="Google Shape;1198;p49"/>
          <p:cNvCxnSpPr>
            <a:stCxn id="1193" idx="2"/>
            <a:endCxn id="1146" idx="3"/>
          </p:cNvCxnSpPr>
          <p:nvPr/>
        </p:nvCxnSpPr>
        <p:spPr>
          <a:xfrm rot="10800000">
            <a:off x="6164550" y="4224575"/>
            <a:ext cx="903600" cy="0"/>
          </a:xfrm>
          <a:prstGeom prst="straightConnector1">
            <a:avLst/>
          </a:prstGeom>
          <a:noFill/>
          <a:ln cap="flat" cmpd="sng" w="9525">
            <a:solidFill>
              <a:srgbClr val="B7B7B7"/>
            </a:solidFill>
            <a:prstDash val="dash"/>
            <a:round/>
            <a:headEnd len="med" w="med" type="none"/>
            <a:tailEnd len="med" w="med" type="none"/>
          </a:ln>
        </p:spPr>
      </p:cxnSp>
      <p:cxnSp>
        <p:nvCxnSpPr>
          <p:cNvPr id="1199" name="Google Shape;1199;p49"/>
          <p:cNvCxnSpPr>
            <a:stCxn id="1144" idx="3"/>
          </p:cNvCxnSpPr>
          <p:nvPr/>
        </p:nvCxnSpPr>
        <p:spPr>
          <a:xfrm>
            <a:off x="7048350" y="3197425"/>
            <a:ext cx="551700" cy="0"/>
          </a:xfrm>
          <a:prstGeom prst="straightConnector1">
            <a:avLst/>
          </a:prstGeom>
          <a:noFill/>
          <a:ln cap="flat" cmpd="sng" w="19050">
            <a:solidFill>
              <a:srgbClr val="0000FF"/>
            </a:solidFill>
            <a:prstDash val="solid"/>
            <a:round/>
            <a:headEnd len="med" w="med" type="none"/>
            <a:tailEnd len="med" w="med" type="none"/>
          </a:ln>
        </p:spPr>
      </p:cxnSp>
      <p:cxnSp>
        <p:nvCxnSpPr>
          <p:cNvPr id="1200" name="Google Shape;1200;p49"/>
          <p:cNvCxnSpPr/>
          <p:nvPr/>
        </p:nvCxnSpPr>
        <p:spPr>
          <a:xfrm>
            <a:off x="7659010" y="3197425"/>
            <a:ext cx="865500" cy="0"/>
          </a:xfrm>
          <a:prstGeom prst="straightConnector1">
            <a:avLst/>
          </a:prstGeom>
          <a:noFill/>
          <a:ln cap="flat" cmpd="sng" w="19050">
            <a:solidFill>
              <a:srgbClr val="0000FF"/>
            </a:solidFill>
            <a:prstDash val="dash"/>
            <a:round/>
            <a:headEnd len="med" w="med" type="none"/>
            <a:tailEnd len="med" w="med" type="none"/>
          </a:ln>
        </p:spPr>
      </p:cxnSp>
      <p:grpSp>
        <p:nvGrpSpPr>
          <p:cNvPr id="1201" name="Google Shape;1201;p49"/>
          <p:cNvGrpSpPr/>
          <p:nvPr/>
        </p:nvGrpSpPr>
        <p:grpSpPr>
          <a:xfrm>
            <a:off x="955675" y="2218675"/>
            <a:ext cx="384763" cy="551700"/>
            <a:chOff x="160300" y="2651875"/>
            <a:chExt cx="384763" cy="551700"/>
          </a:xfrm>
        </p:grpSpPr>
        <p:pic>
          <p:nvPicPr>
            <p:cNvPr id="1202" name="Google Shape;1202;p49"/>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1203" name="Google Shape;1203;p49"/>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pic>
        <p:nvPicPr>
          <p:cNvPr id="1204" name="Google Shape;1204;p49"/>
          <p:cNvPicPr preferRelativeResize="0"/>
          <p:nvPr/>
        </p:nvPicPr>
        <p:blipFill>
          <a:blip r:embed="rId5">
            <a:alphaModFix amt="25000"/>
          </a:blip>
          <a:stretch>
            <a:fillRect/>
          </a:stretch>
        </p:blipFill>
        <p:spPr>
          <a:xfrm rot="-5400000">
            <a:off x="1309537" y="2136835"/>
            <a:ext cx="893376" cy="719000"/>
          </a:xfrm>
          <a:prstGeom prst="rect">
            <a:avLst/>
          </a:prstGeom>
          <a:noFill/>
          <a:ln>
            <a:noFill/>
          </a:ln>
        </p:spPr>
      </p:pic>
      <p:cxnSp>
        <p:nvCxnSpPr>
          <p:cNvPr id="1205" name="Google Shape;1205;p49"/>
          <p:cNvCxnSpPr>
            <a:endCxn id="1146" idx="1"/>
          </p:cNvCxnSpPr>
          <p:nvPr/>
        </p:nvCxnSpPr>
        <p:spPr>
          <a:xfrm>
            <a:off x="2460575" y="2611775"/>
            <a:ext cx="2743500" cy="1612800"/>
          </a:xfrm>
          <a:prstGeom prst="straightConnector1">
            <a:avLst/>
          </a:prstGeom>
          <a:noFill/>
          <a:ln cap="flat" cmpd="sng" w="28575">
            <a:solidFill>
              <a:schemeClr val="accent2"/>
            </a:solidFill>
            <a:prstDash val="solid"/>
            <a:round/>
            <a:headEnd len="med" w="med" type="triangle"/>
            <a:tailEnd len="med" w="med" type="none"/>
          </a:ln>
        </p:spPr>
      </p:cxnSp>
      <p:sp>
        <p:nvSpPr>
          <p:cNvPr id="1146" name="Google Shape;1146;p49"/>
          <p:cNvSpPr/>
          <p:nvPr/>
        </p:nvSpPr>
        <p:spPr>
          <a:xfrm>
            <a:off x="5204075" y="3949175"/>
            <a:ext cx="960600" cy="5508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Mobility Manager</a:t>
            </a:r>
            <a:endParaRPr>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9" name="Shape 1209"/>
        <p:cNvGrpSpPr/>
        <p:nvPr/>
      </p:nvGrpSpPr>
      <p:grpSpPr>
        <a:xfrm>
          <a:off x="0" y="0"/>
          <a:ext cx="0" cy="0"/>
          <a:chOff x="0" y="0"/>
          <a:chExt cx="0" cy="0"/>
        </a:xfrm>
      </p:grpSpPr>
      <p:sp>
        <p:nvSpPr>
          <p:cNvPr id="1210" name="Google Shape;1210;p50"/>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High-Level View (3/4) – Data Exchange</a:t>
            </a:r>
            <a:endParaRPr/>
          </a:p>
        </p:txBody>
      </p:sp>
      <p:sp>
        <p:nvSpPr>
          <p:cNvPr id="1211" name="Google Shape;1211;p50"/>
          <p:cNvSpPr txBox="1"/>
          <p:nvPr>
            <p:ph idx="1" type="body"/>
          </p:nvPr>
        </p:nvSpPr>
        <p:spPr>
          <a:xfrm>
            <a:off x="107050" y="402200"/>
            <a:ext cx="8909700" cy="1482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Step 3: </a:t>
            </a:r>
            <a:r>
              <a:rPr b="1" lang="en"/>
              <a:t>Data exchange</a:t>
            </a:r>
            <a:r>
              <a:rPr lang="en"/>
              <a:t>.</a:t>
            </a:r>
            <a:endParaRPr/>
          </a:p>
          <a:p>
            <a:pPr indent="-342900" lvl="0" marL="457200" rtl="0" algn="l">
              <a:spcBef>
                <a:spcPts val="600"/>
              </a:spcBef>
              <a:spcAft>
                <a:spcPts val="0"/>
              </a:spcAft>
              <a:buSzPts val="1800"/>
              <a:buChar char="●"/>
            </a:pPr>
            <a:r>
              <a:rPr lang="en"/>
              <a:t>User can now send and receive data!</a:t>
            </a:r>
            <a:endParaRPr/>
          </a:p>
          <a:p>
            <a:pPr indent="-342900" lvl="0" marL="457200" rtl="0" algn="l">
              <a:spcBef>
                <a:spcPts val="0"/>
              </a:spcBef>
              <a:spcAft>
                <a:spcPts val="0"/>
              </a:spcAft>
              <a:buSzPts val="1800"/>
              <a:buChar char="●"/>
            </a:pPr>
            <a:r>
              <a:rPr lang="en"/>
              <a:t>Packets travel along the path configured in previous step.</a:t>
            </a:r>
            <a:endParaRPr/>
          </a:p>
        </p:txBody>
      </p:sp>
      <p:sp>
        <p:nvSpPr>
          <p:cNvPr id="1212" name="Google Shape;1212;p50"/>
          <p:cNvSpPr/>
          <p:nvPr/>
        </p:nvSpPr>
        <p:spPr>
          <a:xfrm>
            <a:off x="1785710" y="2078475"/>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213" name="Google Shape;1213;p50"/>
          <p:cNvGrpSpPr/>
          <p:nvPr/>
        </p:nvGrpSpPr>
        <p:grpSpPr>
          <a:xfrm>
            <a:off x="2163047" y="2289931"/>
            <a:ext cx="205525" cy="409199"/>
            <a:chOff x="7897625" y="3319150"/>
            <a:chExt cx="645900" cy="1285575"/>
          </a:xfrm>
        </p:grpSpPr>
        <p:sp>
          <p:nvSpPr>
            <p:cNvPr id="1214" name="Google Shape;1214;p50"/>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215" name="Google Shape;1215;p50"/>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216" name="Google Shape;1216;p50"/>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217" name="Google Shape;1217;p50"/>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218" name="Google Shape;1218;p50"/>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219" name="Google Shape;1219;p50"/>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220" name="Google Shape;1220;p50"/>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221" name="Google Shape;1221;p50"/>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1222" name="Google Shape;1222;p50"/>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1223" name="Google Shape;1223;p50"/>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24" name="Google Shape;1224;p50"/>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25" name="Google Shape;1225;p50"/>
            <p:cNvSpPr/>
            <p:nvPr/>
          </p:nvSpPr>
          <p:spPr>
            <a:xfrm>
              <a:off x="8198675" y="3551600"/>
              <a:ext cx="43800" cy="43800"/>
            </a:xfrm>
            <a:prstGeom prst="ellipse">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226" name="Google Shape;1226;p50"/>
          <p:cNvSpPr/>
          <p:nvPr/>
        </p:nvSpPr>
        <p:spPr>
          <a:xfrm>
            <a:off x="1785710" y="2910667"/>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227" name="Google Shape;1227;p50"/>
          <p:cNvGrpSpPr/>
          <p:nvPr/>
        </p:nvGrpSpPr>
        <p:grpSpPr>
          <a:xfrm>
            <a:off x="2163047" y="3122123"/>
            <a:ext cx="205525" cy="409199"/>
            <a:chOff x="7897625" y="3319150"/>
            <a:chExt cx="645900" cy="1285575"/>
          </a:xfrm>
        </p:grpSpPr>
        <p:sp>
          <p:nvSpPr>
            <p:cNvPr id="1228" name="Google Shape;1228;p50"/>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229" name="Google Shape;1229;p50"/>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230" name="Google Shape;1230;p50"/>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231" name="Google Shape;1231;p50"/>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232" name="Google Shape;1232;p50"/>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233" name="Google Shape;1233;p50"/>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234" name="Google Shape;1234;p50"/>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235" name="Google Shape;1235;p50"/>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236" name="Google Shape;1236;p50"/>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237" name="Google Shape;1237;p50"/>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38" name="Google Shape;1238;p50"/>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39" name="Google Shape;1239;p50"/>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240" name="Google Shape;1240;p50"/>
          <p:cNvSpPr/>
          <p:nvPr/>
        </p:nvSpPr>
        <p:spPr>
          <a:xfrm>
            <a:off x="1785710" y="3742859"/>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241" name="Google Shape;1241;p50"/>
          <p:cNvGrpSpPr/>
          <p:nvPr/>
        </p:nvGrpSpPr>
        <p:grpSpPr>
          <a:xfrm>
            <a:off x="2163037" y="3954316"/>
            <a:ext cx="205525" cy="409199"/>
            <a:chOff x="7897625" y="3319150"/>
            <a:chExt cx="645900" cy="1285575"/>
          </a:xfrm>
        </p:grpSpPr>
        <p:sp>
          <p:nvSpPr>
            <p:cNvPr id="1242" name="Google Shape;1242;p50"/>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243" name="Google Shape;1243;p50"/>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244" name="Google Shape;1244;p50"/>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245" name="Google Shape;1245;p50"/>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246" name="Google Shape;1246;p50"/>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247" name="Google Shape;1247;p50"/>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248" name="Google Shape;1248;p50"/>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249" name="Google Shape;1249;p50"/>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250" name="Google Shape;1250;p50"/>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251" name="Google Shape;1251;p50"/>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52" name="Google Shape;1252;p50"/>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53" name="Google Shape;1253;p50"/>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254" name="Google Shape;1254;p50"/>
          <p:cNvSpPr/>
          <p:nvPr/>
        </p:nvSpPr>
        <p:spPr>
          <a:xfrm>
            <a:off x="4406500" y="27699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1255" name="Google Shape;1255;p50"/>
          <p:cNvSpPr/>
          <p:nvPr/>
        </p:nvSpPr>
        <p:spPr>
          <a:xfrm>
            <a:off x="4401150" y="332852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R2</a:t>
            </a:r>
            <a:endParaRPr>
              <a:solidFill>
                <a:srgbClr val="B7B7B7"/>
              </a:solidFill>
              <a:latin typeface="Roboto"/>
              <a:ea typeface="Roboto"/>
              <a:cs typeface="Roboto"/>
              <a:sym typeface="Roboto"/>
            </a:endParaRPr>
          </a:p>
        </p:txBody>
      </p:sp>
      <p:sp>
        <p:nvSpPr>
          <p:cNvPr id="1256" name="Google Shape;1256;p50"/>
          <p:cNvSpPr/>
          <p:nvPr/>
        </p:nvSpPr>
        <p:spPr>
          <a:xfrm>
            <a:off x="6763350" y="30549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P1</a:t>
            </a:r>
            <a:endParaRPr>
              <a:latin typeface="Roboto"/>
              <a:ea typeface="Roboto"/>
              <a:cs typeface="Roboto"/>
              <a:sym typeface="Roboto"/>
            </a:endParaRPr>
          </a:p>
        </p:txBody>
      </p:sp>
      <p:cxnSp>
        <p:nvCxnSpPr>
          <p:cNvPr id="1257" name="Google Shape;1257;p50"/>
          <p:cNvCxnSpPr>
            <a:stCxn id="1254" idx="1"/>
          </p:cNvCxnSpPr>
          <p:nvPr/>
        </p:nvCxnSpPr>
        <p:spPr>
          <a:xfrm rot="10800000">
            <a:off x="2438800" y="2541625"/>
            <a:ext cx="1967700" cy="370800"/>
          </a:xfrm>
          <a:prstGeom prst="straightConnector1">
            <a:avLst/>
          </a:prstGeom>
          <a:noFill/>
          <a:ln cap="flat" cmpd="sng" w="28575">
            <a:solidFill>
              <a:srgbClr val="0000FF"/>
            </a:solidFill>
            <a:prstDash val="solid"/>
            <a:round/>
            <a:headEnd len="med" w="med" type="none"/>
            <a:tailEnd len="med" w="med" type="none"/>
          </a:ln>
        </p:spPr>
      </p:cxnSp>
      <p:cxnSp>
        <p:nvCxnSpPr>
          <p:cNvPr id="1258" name="Google Shape;1258;p50"/>
          <p:cNvCxnSpPr>
            <a:stCxn id="1255" idx="1"/>
          </p:cNvCxnSpPr>
          <p:nvPr/>
        </p:nvCxnSpPr>
        <p:spPr>
          <a:xfrm rot="10800000">
            <a:off x="2365650" y="3366925"/>
            <a:ext cx="2035500" cy="104100"/>
          </a:xfrm>
          <a:prstGeom prst="straightConnector1">
            <a:avLst/>
          </a:prstGeom>
          <a:noFill/>
          <a:ln cap="flat" cmpd="sng" w="9525">
            <a:solidFill>
              <a:srgbClr val="B7B7B7"/>
            </a:solidFill>
            <a:prstDash val="solid"/>
            <a:round/>
            <a:headEnd len="med" w="med" type="none"/>
            <a:tailEnd len="med" w="med" type="none"/>
          </a:ln>
        </p:spPr>
      </p:cxnSp>
      <p:cxnSp>
        <p:nvCxnSpPr>
          <p:cNvPr id="1259" name="Google Shape;1259;p50"/>
          <p:cNvCxnSpPr>
            <a:stCxn id="1255" idx="1"/>
          </p:cNvCxnSpPr>
          <p:nvPr/>
        </p:nvCxnSpPr>
        <p:spPr>
          <a:xfrm flipH="1">
            <a:off x="2417850" y="3471025"/>
            <a:ext cx="1983300" cy="751500"/>
          </a:xfrm>
          <a:prstGeom prst="straightConnector1">
            <a:avLst/>
          </a:prstGeom>
          <a:noFill/>
          <a:ln cap="flat" cmpd="sng" w="9525">
            <a:solidFill>
              <a:srgbClr val="B7B7B7"/>
            </a:solidFill>
            <a:prstDash val="solid"/>
            <a:round/>
            <a:headEnd len="med" w="med" type="none"/>
            <a:tailEnd len="med" w="med" type="none"/>
          </a:ln>
        </p:spPr>
      </p:cxnSp>
      <p:cxnSp>
        <p:nvCxnSpPr>
          <p:cNvPr id="1260" name="Google Shape;1260;p50"/>
          <p:cNvCxnSpPr>
            <a:stCxn id="1254" idx="3"/>
            <a:endCxn id="1256" idx="1"/>
          </p:cNvCxnSpPr>
          <p:nvPr/>
        </p:nvCxnSpPr>
        <p:spPr>
          <a:xfrm>
            <a:off x="4691500" y="2912425"/>
            <a:ext cx="2071800" cy="285000"/>
          </a:xfrm>
          <a:prstGeom prst="straightConnector1">
            <a:avLst/>
          </a:prstGeom>
          <a:noFill/>
          <a:ln cap="flat" cmpd="sng" w="28575">
            <a:solidFill>
              <a:srgbClr val="0000FF"/>
            </a:solidFill>
            <a:prstDash val="solid"/>
            <a:round/>
            <a:headEnd len="med" w="med" type="none"/>
            <a:tailEnd len="med" w="med" type="none"/>
          </a:ln>
        </p:spPr>
      </p:cxnSp>
      <p:cxnSp>
        <p:nvCxnSpPr>
          <p:cNvPr id="1261" name="Google Shape;1261;p50"/>
          <p:cNvCxnSpPr>
            <a:stCxn id="1255" idx="3"/>
            <a:endCxn id="1256" idx="1"/>
          </p:cNvCxnSpPr>
          <p:nvPr/>
        </p:nvCxnSpPr>
        <p:spPr>
          <a:xfrm flipH="1" rot="10800000">
            <a:off x="4686150" y="3197425"/>
            <a:ext cx="2077200" cy="273600"/>
          </a:xfrm>
          <a:prstGeom prst="straightConnector1">
            <a:avLst/>
          </a:prstGeom>
          <a:noFill/>
          <a:ln cap="flat" cmpd="sng" w="9525">
            <a:solidFill>
              <a:srgbClr val="B7B7B7"/>
            </a:solidFill>
            <a:prstDash val="solid"/>
            <a:round/>
            <a:headEnd len="med" w="med" type="none"/>
            <a:tailEnd len="med" w="med" type="none"/>
          </a:ln>
        </p:spPr>
      </p:cxnSp>
      <p:cxnSp>
        <p:nvCxnSpPr>
          <p:cNvPr id="1262" name="Google Shape;1262;p50"/>
          <p:cNvCxnSpPr>
            <a:stCxn id="1256" idx="3"/>
          </p:cNvCxnSpPr>
          <p:nvPr/>
        </p:nvCxnSpPr>
        <p:spPr>
          <a:xfrm>
            <a:off x="7048350" y="3197425"/>
            <a:ext cx="551700" cy="0"/>
          </a:xfrm>
          <a:prstGeom prst="straightConnector1">
            <a:avLst/>
          </a:prstGeom>
          <a:noFill/>
          <a:ln cap="flat" cmpd="sng" w="28575">
            <a:solidFill>
              <a:srgbClr val="0000FF"/>
            </a:solidFill>
            <a:prstDash val="solid"/>
            <a:round/>
            <a:headEnd len="med" w="med" type="none"/>
            <a:tailEnd len="med" w="med" type="none"/>
          </a:ln>
        </p:spPr>
      </p:cxnSp>
      <p:cxnSp>
        <p:nvCxnSpPr>
          <p:cNvPr id="1263" name="Google Shape;1263;p50"/>
          <p:cNvCxnSpPr/>
          <p:nvPr/>
        </p:nvCxnSpPr>
        <p:spPr>
          <a:xfrm>
            <a:off x="7659010" y="3197425"/>
            <a:ext cx="865500" cy="0"/>
          </a:xfrm>
          <a:prstGeom prst="straightConnector1">
            <a:avLst/>
          </a:prstGeom>
          <a:noFill/>
          <a:ln cap="flat" cmpd="sng" w="28575">
            <a:solidFill>
              <a:srgbClr val="0000FF"/>
            </a:solidFill>
            <a:prstDash val="dash"/>
            <a:round/>
            <a:headEnd len="med" w="med" type="none"/>
            <a:tailEnd len="med" w="med" type="none"/>
          </a:ln>
        </p:spPr>
      </p:cxnSp>
      <p:grpSp>
        <p:nvGrpSpPr>
          <p:cNvPr id="1264" name="Google Shape;1264;p50"/>
          <p:cNvGrpSpPr/>
          <p:nvPr/>
        </p:nvGrpSpPr>
        <p:grpSpPr>
          <a:xfrm>
            <a:off x="955675" y="2218675"/>
            <a:ext cx="384763" cy="551700"/>
            <a:chOff x="160300" y="2651875"/>
            <a:chExt cx="384763" cy="551700"/>
          </a:xfrm>
        </p:grpSpPr>
        <p:pic>
          <p:nvPicPr>
            <p:cNvPr id="1265" name="Google Shape;1265;p50"/>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1266" name="Google Shape;1266;p50"/>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pic>
        <p:nvPicPr>
          <p:cNvPr id="1267" name="Google Shape;1267;p50"/>
          <p:cNvPicPr preferRelativeResize="0"/>
          <p:nvPr/>
        </p:nvPicPr>
        <p:blipFill>
          <a:blip r:embed="rId5">
            <a:alphaModFix amt="25000"/>
          </a:blip>
          <a:stretch>
            <a:fillRect/>
          </a:stretch>
        </p:blipFill>
        <p:spPr>
          <a:xfrm rot="-5400000">
            <a:off x="1309537" y="2136835"/>
            <a:ext cx="893376" cy="719000"/>
          </a:xfrm>
          <a:prstGeom prst="rect">
            <a:avLst/>
          </a:prstGeom>
          <a:noFill/>
          <a:ln>
            <a:noFill/>
          </a:ln>
        </p:spPr>
      </p:pic>
      <p:sp>
        <p:nvSpPr>
          <p:cNvPr id="1268" name="Google Shape;1268;p50"/>
          <p:cNvSpPr/>
          <p:nvPr/>
        </p:nvSpPr>
        <p:spPr>
          <a:xfrm>
            <a:off x="7068150" y="3933575"/>
            <a:ext cx="960600" cy="582000"/>
          </a:xfrm>
          <a:prstGeom prst="can">
            <a:avLst>
              <a:gd fmla="val 25000" name="adj"/>
            </a:avLst>
          </a:prstGeom>
          <a:solidFill>
            <a:srgbClr val="EFEFE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Database</a:t>
            </a:r>
            <a:endParaRPr>
              <a:solidFill>
                <a:srgbClr val="B7B7B7"/>
              </a:solidFill>
              <a:latin typeface="Roboto"/>
              <a:ea typeface="Roboto"/>
              <a:cs typeface="Roboto"/>
              <a:sym typeface="Roboto"/>
            </a:endParaRPr>
          </a:p>
        </p:txBody>
      </p:sp>
      <p:cxnSp>
        <p:nvCxnSpPr>
          <p:cNvPr id="1269" name="Google Shape;1269;p50"/>
          <p:cNvCxnSpPr>
            <a:stCxn id="1268" idx="2"/>
            <a:endCxn id="1270" idx="3"/>
          </p:cNvCxnSpPr>
          <p:nvPr/>
        </p:nvCxnSpPr>
        <p:spPr>
          <a:xfrm rot="10800000">
            <a:off x="6164550" y="4224575"/>
            <a:ext cx="903600" cy="0"/>
          </a:xfrm>
          <a:prstGeom prst="straightConnector1">
            <a:avLst/>
          </a:prstGeom>
          <a:noFill/>
          <a:ln cap="flat" cmpd="sng" w="9525">
            <a:solidFill>
              <a:srgbClr val="B7B7B7"/>
            </a:solidFill>
            <a:prstDash val="dash"/>
            <a:round/>
            <a:headEnd len="med" w="med" type="none"/>
            <a:tailEnd len="med" w="med" type="none"/>
          </a:ln>
        </p:spPr>
      </p:cxnSp>
      <p:sp>
        <p:nvSpPr>
          <p:cNvPr id="1270" name="Google Shape;1270;p50"/>
          <p:cNvSpPr/>
          <p:nvPr/>
        </p:nvSpPr>
        <p:spPr>
          <a:xfrm>
            <a:off x="5204075" y="3949175"/>
            <a:ext cx="960600" cy="550800"/>
          </a:xfrm>
          <a:prstGeom prst="roundRect">
            <a:avLst>
              <a:gd fmla="val 16667" name="adj"/>
            </a:avLst>
          </a:prstGeom>
          <a:solidFill>
            <a:srgbClr val="EFEFE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Mobility Manager</a:t>
            </a:r>
            <a:endParaRPr>
              <a:solidFill>
                <a:srgbClr val="B7B7B7"/>
              </a:solidFill>
              <a:latin typeface="Roboto"/>
              <a:ea typeface="Roboto"/>
              <a:cs typeface="Roboto"/>
              <a:sym typeface="Roboto"/>
            </a:endParaRPr>
          </a:p>
        </p:txBody>
      </p:sp>
      <p:cxnSp>
        <p:nvCxnSpPr>
          <p:cNvPr id="1271" name="Google Shape;1271;p50"/>
          <p:cNvCxnSpPr>
            <a:stCxn id="1267" idx="0"/>
            <a:endCxn id="1267" idx="2"/>
          </p:cNvCxnSpPr>
          <p:nvPr/>
        </p:nvCxnSpPr>
        <p:spPr>
          <a:xfrm>
            <a:off x="1396725" y="2496335"/>
            <a:ext cx="719100" cy="0"/>
          </a:xfrm>
          <a:prstGeom prst="straightConnector1">
            <a:avLst/>
          </a:prstGeom>
          <a:noFill/>
          <a:ln cap="flat" cmpd="sng" w="28575">
            <a:solidFill>
              <a:srgbClr val="0000FF"/>
            </a:solidFill>
            <a:prstDash val="solid"/>
            <a:round/>
            <a:headEnd len="med" w="med" type="none"/>
            <a:tailEnd len="med" w="med" type="non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5" name="Shape 1275"/>
        <p:cNvGrpSpPr/>
        <p:nvPr/>
      </p:nvGrpSpPr>
      <p:grpSpPr>
        <a:xfrm>
          <a:off x="0" y="0"/>
          <a:ext cx="0" cy="0"/>
          <a:chOff x="0" y="0"/>
          <a:chExt cx="0" cy="0"/>
        </a:xfrm>
      </p:grpSpPr>
      <p:sp>
        <p:nvSpPr>
          <p:cNvPr id="1276" name="Google Shape;1276;p51"/>
          <p:cNvSpPr/>
          <p:nvPr/>
        </p:nvSpPr>
        <p:spPr>
          <a:xfrm>
            <a:off x="1785710" y="2910667"/>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77" name="Google Shape;1277;p51"/>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High-Level View (4/4) – Handover</a:t>
            </a:r>
            <a:endParaRPr/>
          </a:p>
        </p:txBody>
      </p:sp>
      <p:sp>
        <p:nvSpPr>
          <p:cNvPr id="1278" name="Google Shape;1278;p51"/>
          <p:cNvSpPr txBox="1"/>
          <p:nvPr>
            <p:ph idx="1" type="body"/>
          </p:nvPr>
        </p:nvSpPr>
        <p:spPr>
          <a:xfrm>
            <a:off x="107050" y="402200"/>
            <a:ext cx="8909700" cy="1482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Step 4: </a:t>
            </a:r>
            <a:r>
              <a:rPr b="1" lang="en"/>
              <a:t>Handover</a:t>
            </a:r>
            <a:r>
              <a:rPr lang="en"/>
              <a:t>.</a:t>
            </a:r>
            <a:endParaRPr/>
          </a:p>
          <a:p>
            <a:pPr indent="-342900" lvl="0" marL="457200" rtl="0" algn="l">
              <a:spcBef>
                <a:spcPts val="600"/>
              </a:spcBef>
              <a:spcAft>
                <a:spcPts val="0"/>
              </a:spcAft>
              <a:buSzPts val="1800"/>
              <a:buChar char="●"/>
            </a:pPr>
            <a:r>
              <a:rPr lang="en"/>
              <a:t>Device might move away from old tower, closer to a new tower.</a:t>
            </a:r>
            <a:endParaRPr/>
          </a:p>
          <a:p>
            <a:pPr indent="-342900" lvl="0" marL="457200" rtl="0" algn="l">
              <a:spcBef>
                <a:spcPts val="0"/>
              </a:spcBef>
              <a:spcAft>
                <a:spcPts val="0"/>
              </a:spcAft>
              <a:buSzPts val="1800"/>
              <a:buChar char="●"/>
            </a:pPr>
            <a:r>
              <a:rPr lang="en"/>
              <a:t>Device, old tower, new tower, and manager work together to switch towers.</a:t>
            </a:r>
            <a:endParaRPr/>
          </a:p>
        </p:txBody>
      </p:sp>
      <p:sp>
        <p:nvSpPr>
          <p:cNvPr id="1279" name="Google Shape;1279;p51"/>
          <p:cNvSpPr/>
          <p:nvPr/>
        </p:nvSpPr>
        <p:spPr>
          <a:xfrm>
            <a:off x="1785710" y="2078475"/>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280" name="Google Shape;1280;p51"/>
          <p:cNvGrpSpPr/>
          <p:nvPr/>
        </p:nvGrpSpPr>
        <p:grpSpPr>
          <a:xfrm>
            <a:off x="2163047" y="2289931"/>
            <a:ext cx="205525" cy="409199"/>
            <a:chOff x="7897625" y="3319150"/>
            <a:chExt cx="645900" cy="1285575"/>
          </a:xfrm>
        </p:grpSpPr>
        <p:sp>
          <p:nvSpPr>
            <p:cNvPr id="1281" name="Google Shape;1281;p51"/>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282" name="Google Shape;1282;p51"/>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283" name="Google Shape;1283;p51"/>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284" name="Google Shape;1284;p51"/>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285" name="Google Shape;1285;p51"/>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286" name="Google Shape;1286;p51"/>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287" name="Google Shape;1287;p51"/>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288" name="Google Shape;1288;p51"/>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1289" name="Google Shape;1289;p51"/>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1290" name="Google Shape;1290;p51"/>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91" name="Google Shape;1291;p51"/>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292" name="Google Shape;1292;p51"/>
            <p:cNvSpPr/>
            <p:nvPr/>
          </p:nvSpPr>
          <p:spPr>
            <a:xfrm>
              <a:off x="8198675" y="3551600"/>
              <a:ext cx="43800" cy="43800"/>
            </a:xfrm>
            <a:prstGeom prst="ellipse">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grpSp>
        <p:nvGrpSpPr>
          <p:cNvPr id="1293" name="Google Shape;1293;p51"/>
          <p:cNvGrpSpPr/>
          <p:nvPr/>
        </p:nvGrpSpPr>
        <p:grpSpPr>
          <a:xfrm>
            <a:off x="2163047" y="3122123"/>
            <a:ext cx="205525" cy="409199"/>
            <a:chOff x="7897625" y="3319150"/>
            <a:chExt cx="645900" cy="1285575"/>
          </a:xfrm>
        </p:grpSpPr>
        <p:sp>
          <p:nvSpPr>
            <p:cNvPr id="1294" name="Google Shape;1294;p51"/>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295" name="Google Shape;1295;p51"/>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296" name="Google Shape;1296;p51"/>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297" name="Google Shape;1297;p51"/>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298" name="Google Shape;1298;p51"/>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299" name="Google Shape;1299;p51"/>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300" name="Google Shape;1300;p51"/>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301" name="Google Shape;1301;p51"/>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1302" name="Google Shape;1302;p51"/>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1303" name="Google Shape;1303;p51"/>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04" name="Google Shape;1304;p51"/>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05" name="Google Shape;1305;p51"/>
            <p:cNvSpPr/>
            <p:nvPr/>
          </p:nvSpPr>
          <p:spPr>
            <a:xfrm>
              <a:off x="8198675" y="3551600"/>
              <a:ext cx="43800" cy="43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306" name="Google Shape;1306;p51"/>
          <p:cNvSpPr/>
          <p:nvPr/>
        </p:nvSpPr>
        <p:spPr>
          <a:xfrm>
            <a:off x="1785710" y="3742859"/>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307" name="Google Shape;1307;p51"/>
          <p:cNvGrpSpPr/>
          <p:nvPr/>
        </p:nvGrpSpPr>
        <p:grpSpPr>
          <a:xfrm>
            <a:off x="2163037" y="3954316"/>
            <a:ext cx="205525" cy="409199"/>
            <a:chOff x="7897625" y="3319150"/>
            <a:chExt cx="645900" cy="1285575"/>
          </a:xfrm>
        </p:grpSpPr>
        <p:sp>
          <p:nvSpPr>
            <p:cNvPr id="1308" name="Google Shape;1308;p51"/>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309" name="Google Shape;1309;p51"/>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310" name="Google Shape;1310;p51"/>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311" name="Google Shape;1311;p51"/>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312" name="Google Shape;1312;p51"/>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313" name="Google Shape;1313;p51"/>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314" name="Google Shape;1314;p51"/>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315" name="Google Shape;1315;p51"/>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316" name="Google Shape;1316;p51"/>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317" name="Google Shape;1317;p51"/>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18" name="Google Shape;1318;p51"/>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19" name="Google Shape;1319;p51"/>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320" name="Google Shape;1320;p51"/>
          <p:cNvSpPr/>
          <p:nvPr/>
        </p:nvSpPr>
        <p:spPr>
          <a:xfrm>
            <a:off x="4406500" y="276992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R1</a:t>
            </a:r>
            <a:endParaRPr>
              <a:solidFill>
                <a:srgbClr val="B7B7B7"/>
              </a:solidFill>
              <a:latin typeface="Roboto"/>
              <a:ea typeface="Roboto"/>
              <a:cs typeface="Roboto"/>
              <a:sym typeface="Roboto"/>
            </a:endParaRPr>
          </a:p>
        </p:txBody>
      </p:sp>
      <p:sp>
        <p:nvSpPr>
          <p:cNvPr id="1321" name="Google Shape;1321;p51"/>
          <p:cNvSpPr/>
          <p:nvPr/>
        </p:nvSpPr>
        <p:spPr>
          <a:xfrm>
            <a:off x="4401150" y="332852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R2</a:t>
            </a:r>
            <a:endParaRPr>
              <a:solidFill>
                <a:srgbClr val="B7B7B7"/>
              </a:solidFill>
              <a:latin typeface="Roboto"/>
              <a:ea typeface="Roboto"/>
              <a:cs typeface="Roboto"/>
              <a:sym typeface="Roboto"/>
            </a:endParaRPr>
          </a:p>
        </p:txBody>
      </p:sp>
      <p:sp>
        <p:nvSpPr>
          <p:cNvPr id="1322" name="Google Shape;1322;p51"/>
          <p:cNvSpPr/>
          <p:nvPr/>
        </p:nvSpPr>
        <p:spPr>
          <a:xfrm>
            <a:off x="6763350" y="305492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P1</a:t>
            </a:r>
            <a:endParaRPr>
              <a:solidFill>
                <a:srgbClr val="B7B7B7"/>
              </a:solidFill>
              <a:latin typeface="Roboto"/>
              <a:ea typeface="Roboto"/>
              <a:cs typeface="Roboto"/>
              <a:sym typeface="Roboto"/>
            </a:endParaRPr>
          </a:p>
        </p:txBody>
      </p:sp>
      <p:cxnSp>
        <p:nvCxnSpPr>
          <p:cNvPr id="1323" name="Google Shape;1323;p51"/>
          <p:cNvCxnSpPr>
            <a:stCxn id="1320" idx="1"/>
          </p:cNvCxnSpPr>
          <p:nvPr/>
        </p:nvCxnSpPr>
        <p:spPr>
          <a:xfrm rot="10800000">
            <a:off x="2438800" y="2541625"/>
            <a:ext cx="1967700" cy="370800"/>
          </a:xfrm>
          <a:prstGeom prst="straightConnector1">
            <a:avLst/>
          </a:prstGeom>
          <a:noFill/>
          <a:ln cap="flat" cmpd="sng" w="9525">
            <a:solidFill>
              <a:srgbClr val="B7B7B7"/>
            </a:solidFill>
            <a:prstDash val="solid"/>
            <a:round/>
            <a:headEnd len="med" w="med" type="none"/>
            <a:tailEnd len="med" w="med" type="none"/>
          </a:ln>
        </p:spPr>
      </p:cxnSp>
      <p:cxnSp>
        <p:nvCxnSpPr>
          <p:cNvPr id="1324" name="Google Shape;1324;p51"/>
          <p:cNvCxnSpPr>
            <a:stCxn id="1321" idx="1"/>
          </p:cNvCxnSpPr>
          <p:nvPr/>
        </p:nvCxnSpPr>
        <p:spPr>
          <a:xfrm rot="10800000">
            <a:off x="2365650" y="3366925"/>
            <a:ext cx="2035500" cy="104100"/>
          </a:xfrm>
          <a:prstGeom prst="straightConnector1">
            <a:avLst/>
          </a:prstGeom>
          <a:noFill/>
          <a:ln cap="flat" cmpd="sng" w="9525">
            <a:solidFill>
              <a:srgbClr val="B7B7B7"/>
            </a:solidFill>
            <a:prstDash val="solid"/>
            <a:round/>
            <a:headEnd len="med" w="med" type="none"/>
            <a:tailEnd len="med" w="med" type="none"/>
          </a:ln>
        </p:spPr>
      </p:cxnSp>
      <p:cxnSp>
        <p:nvCxnSpPr>
          <p:cNvPr id="1325" name="Google Shape;1325;p51"/>
          <p:cNvCxnSpPr>
            <a:stCxn id="1321" idx="1"/>
          </p:cNvCxnSpPr>
          <p:nvPr/>
        </p:nvCxnSpPr>
        <p:spPr>
          <a:xfrm flipH="1">
            <a:off x="2417850" y="3471025"/>
            <a:ext cx="1983300" cy="751500"/>
          </a:xfrm>
          <a:prstGeom prst="straightConnector1">
            <a:avLst/>
          </a:prstGeom>
          <a:noFill/>
          <a:ln cap="flat" cmpd="sng" w="9525">
            <a:solidFill>
              <a:srgbClr val="B7B7B7"/>
            </a:solidFill>
            <a:prstDash val="solid"/>
            <a:round/>
            <a:headEnd len="med" w="med" type="none"/>
            <a:tailEnd len="med" w="med" type="none"/>
          </a:ln>
        </p:spPr>
      </p:cxnSp>
      <p:cxnSp>
        <p:nvCxnSpPr>
          <p:cNvPr id="1326" name="Google Shape;1326;p51"/>
          <p:cNvCxnSpPr>
            <a:stCxn id="1320" idx="3"/>
            <a:endCxn id="1322" idx="1"/>
          </p:cNvCxnSpPr>
          <p:nvPr/>
        </p:nvCxnSpPr>
        <p:spPr>
          <a:xfrm>
            <a:off x="4691500" y="2912425"/>
            <a:ext cx="2071800" cy="285000"/>
          </a:xfrm>
          <a:prstGeom prst="straightConnector1">
            <a:avLst/>
          </a:prstGeom>
          <a:noFill/>
          <a:ln cap="flat" cmpd="sng" w="9525">
            <a:solidFill>
              <a:srgbClr val="B7B7B7"/>
            </a:solidFill>
            <a:prstDash val="solid"/>
            <a:round/>
            <a:headEnd len="med" w="med" type="none"/>
            <a:tailEnd len="med" w="med" type="none"/>
          </a:ln>
        </p:spPr>
      </p:cxnSp>
      <p:cxnSp>
        <p:nvCxnSpPr>
          <p:cNvPr id="1327" name="Google Shape;1327;p51"/>
          <p:cNvCxnSpPr>
            <a:stCxn id="1321" idx="3"/>
            <a:endCxn id="1322" idx="1"/>
          </p:cNvCxnSpPr>
          <p:nvPr/>
        </p:nvCxnSpPr>
        <p:spPr>
          <a:xfrm flipH="1" rot="10800000">
            <a:off x="4686150" y="3197425"/>
            <a:ext cx="2077200" cy="273600"/>
          </a:xfrm>
          <a:prstGeom prst="straightConnector1">
            <a:avLst/>
          </a:prstGeom>
          <a:noFill/>
          <a:ln cap="flat" cmpd="sng" w="9525">
            <a:solidFill>
              <a:srgbClr val="B7B7B7"/>
            </a:solidFill>
            <a:prstDash val="solid"/>
            <a:round/>
            <a:headEnd len="med" w="med" type="none"/>
            <a:tailEnd len="med" w="med" type="none"/>
          </a:ln>
        </p:spPr>
      </p:cxnSp>
      <p:cxnSp>
        <p:nvCxnSpPr>
          <p:cNvPr id="1328" name="Google Shape;1328;p51"/>
          <p:cNvCxnSpPr>
            <a:stCxn id="1322" idx="3"/>
          </p:cNvCxnSpPr>
          <p:nvPr/>
        </p:nvCxnSpPr>
        <p:spPr>
          <a:xfrm>
            <a:off x="7048350" y="3197425"/>
            <a:ext cx="551700" cy="0"/>
          </a:xfrm>
          <a:prstGeom prst="straightConnector1">
            <a:avLst/>
          </a:prstGeom>
          <a:noFill/>
          <a:ln cap="flat" cmpd="sng" w="9525">
            <a:solidFill>
              <a:srgbClr val="B7B7B7"/>
            </a:solidFill>
            <a:prstDash val="solid"/>
            <a:round/>
            <a:headEnd len="med" w="med" type="none"/>
            <a:tailEnd len="med" w="med" type="none"/>
          </a:ln>
        </p:spPr>
      </p:cxnSp>
      <p:cxnSp>
        <p:nvCxnSpPr>
          <p:cNvPr id="1329" name="Google Shape;1329;p51"/>
          <p:cNvCxnSpPr/>
          <p:nvPr/>
        </p:nvCxnSpPr>
        <p:spPr>
          <a:xfrm>
            <a:off x="7659010" y="3197425"/>
            <a:ext cx="865500" cy="0"/>
          </a:xfrm>
          <a:prstGeom prst="straightConnector1">
            <a:avLst/>
          </a:prstGeom>
          <a:noFill/>
          <a:ln cap="flat" cmpd="sng" w="9525">
            <a:solidFill>
              <a:srgbClr val="B7B7B7"/>
            </a:solidFill>
            <a:prstDash val="dash"/>
            <a:round/>
            <a:headEnd len="med" w="med" type="none"/>
            <a:tailEnd len="med" w="med" type="none"/>
          </a:ln>
        </p:spPr>
      </p:cxnSp>
      <p:grpSp>
        <p:nvGrpSpPr>
          <p:cNvPr id="1330" name="Google Shape;1330;p51"/>
          <p:cNvGrpSpPr/>
          <p:nvPr/>
        </p:nvGrpSpPr>
        <p:grpSpPr>
          <a:xfrm>
            <a:off x="955675" y="3056875"/>
            <a:ext cx="384763" cy="551700"/>
            <a:chOff x="160300" y="2651875"/>
            <a:chExt cx="384763" cy="551700"/>
          </a:xfrm>
        </p:grpSpPr>
        <p:pic>
          <p:nvPicPr>
            <p:cNvPr id="1331" name="Google Shape;1331;p51"/>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1332" name="Google Shape;1332;p51"/>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sp>
        <p:nvSpPr>
          <p:cNvPr id="1333" name="Google Shape;1333;p51"/>
          <p:cNvSpPr/>
          <p:nvPr/>
        </p:nvSpPr>
        <p:spPr>
          <a:xfrm>
            <a:off x="7068150" y="3933575"/>
            <a:ext cx="960600" cy="5820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Database</a:t>
            </a:r>
            <a:endParaRPr>
              <a:latin typeface="Roboto"/>
              <a:ea typeface="Roboto"/>
              <a:cs typeface="Roboto"/>
              <a:sym typeface="Roboto"/>
            </a:endParaRPr>
          </a:p>
        </p:txBody>
      </p:sp>
      <p:cxnSp>
        <p:nvCxnSpPr>
          <p:cNvPr id="1334" name="Google Shape;1334;p51"/>
          <p:cNvCxnSpPr>
            <a:stCxn id="1333" idx="2"/>
            <a:endCxn id="1335" idx="3"/>
          </p:cNvCxnSpPr>
          <p:nvPr/>
        </p:nvCxnSpPr>
        <p:spPr>
          <a:xfrm rot="10800000">
            <a:off x="6164550" y="4224575"/>
            <a:ext cx="903600" cy="0"/>
          </a:xfrm>
          <a:prstGeom prst="straightConnector1">
            <a:avLst/>
          </a:prstGeom>
          <a:noFill/>
          <a:ln cap="flat" cmpd="sng" w="28575">
            <a:solidFill>
              <a:schemeClr val="accent2"/>
            </a:solidFill>
            <a:prstDash val="solid"/>
            <a:round/>
            <a:headEnd len="med" w="med" type="none"/>
            <a:tailEnd len="med" w="med" type="none"/>
          </a:ln>
        </p:spPr>
      </p:cxnSp>
      <p:cxnSp>
        <p:nvCxnSpPr>
          <p:cNvPr id="1336" name="Google Shape;1336;p51"/>
          <p:cNvCxnSpPr>
            <a:stCxn id="1337" idx="0"/>
            <a:endCxn id="1337" idx="2"/>
          </p:cNvCxnSpPr>
          <p:nvPr/>
        </p:nvCxnSpPr>
        <p:spPr>
          <a:xfrm>
            <a:off x="1396725" y="3334535"/>
            <a:ext cx="719100" cy="0"/>
          </a:xfrm>
          <a:prstGeom prst="straightConnector1">
            <a:avLst/>
          </a:prstGeom>
          <a:noFill/>
          <a:ln cap="flat" cmpd="sng" w="28575">
            <a:solidFill>
              <a:schemeClr val="accent2"/>
            </a:solidFill>
            <a:prstDash val="solid"/>
            <a:round/>
            <a:headEnd len="med" w="med" type="none"/>
            <a:tailEnd len="med" w="med" type="none"/>
          </a:ln>
        </p:spPr>
      </p:cxnSp>
      <p:cxnSp>
        <p:nvCxnSpPr>
          <p:cNvPr id="1338" name="Google Shape;1338;p51"/>
          <p:cNvCxnSpPr/>
          <p:nvPr/>
        </p:nvCxnSpPr>
        <p:spPr>
          <a:xfrm flipH="1" rot="10800000">
            <a:off x="1299050" y="2470050"/>
            <a:ext cx="789900" cy="688800"/>
          </a:xfrm>
          <a:prstGeom prst="straightConnector1">
            <a:avLst/>
          </a:prstGeom>
          <a:noFill/>
          <a:ln cap="flat" cmpd="sng" w="28575">
            <a:solidFill>
              <a:schemeClr val="accent2"/>
            </a:solidFill>
            <a:prstDash val="solid"/>
            <a:round/>
            <a:headEnd len="med" w="med" type="none"/>
            <a:tailEnd len="med" w="med" type="none"/>
          </a:ln>
        </p:spPr>
      </p:cxnSp>
      <p:cxnSp>
        <p:nvCxnSpPr>
          <p:cNvPr id="1339" name="Google Shape;1339;p51"/>
          <p:cNvCxnSpPr/>
          <p:nvPr/>
        </p:nvCxnSpPr>
        <p:spPr>
          <a:xfrm rot="10800000">
            <a:off x="2266000" y="2708425"/>
            <a:ext cx="0" cy="387600"/>
          </a:xfrm>
          <a:prstGeom prst="straightConnector1">
            <a:avLst/>
          </a:prstGeom>
          <a:noFill/>
          <a:ln cap="flat" cmpd="sng" w="28575">
            <a:solidFill>
              <a:schemeClr val="accent2"/>
            </a:solidFill>
            <a:prstDash val="solid"/>
            <a:round/>
            <a:headEnd len="med" w="med" type="none"/>
            <a:tailEnd len="med" w="med" type="none"/>
          </a:ln>
        </p:spPr>
      </p:cxnSp>
      <p:cxnSp>
        <p:nvCxnSpPr>
          <p:cNvPr id="1340" name="Google Shape;1340;p51"/>
          <p:cNvCxnSpPr>
            <a:stCxn id="1335" idx="1"/>
          </p:cNvCxnSpPr>
          <p:nvPr/>
        </p:nvCxnSpPr>
        <p:spPr>
          <a:xfrm rot="10800000">
            <a:off x="2459675" y="2588375"/>
            <a:ext cx="2744400" cy="1636200"/>
          </a:xfrm>
          <a:prstGeom prst="straightConnector1">
            <a:avLst/>
          </a:prstGeom>
          <a:noFill/>
          <a:ln cap="flat" cmpd="sng" w="28575">
            <a:solidFill>
              <a:schemeClr val="accent2"/>
            </a:solidFill>
            <a:prstDash val="solid"/>
            <a:round/>
            <a:headEnd len="med" w="med" type="none"/>
            <a:tailEnd len="med" w="med" type="none"/>
          </a:ln>
        </p:spPr>
      </p:cxnSp>
      <p:cxnSp>
        <p:nvCxnSpPr>
          <p:cNvPr id="1341" name="Google Shape;1341;p51"/>
          <p:cNvCxnSpPr>
            <a:stCxn id="1335" idx="1"/>
          </p:cNvCxnSpPr>
          <p:nvPr/>
        </p:nvCxnSpPr>
        <p:spPr>
          <a:xfrm rot="10800000">
            <a:off x="2429675" y="3412475"/>
            <a:ext cx="2774400" cy="812100"/>
          </a:xfrm>
          <a:prstGeom prst="straightConnector1">
            <a:avLst/>
          </a:prstGeom>
          <a:noFill/>
          <a:ln cap="flat" cmpd="sng" w="28575">
            <a:solidFill>
              <a:schemeClr val="accent2"/>
            </a:solidFill>
            <a:prstDash val="solid"/>
            <a:round/>
            <a:headEnd len="med" w="med" type="none"/>
            <a:tailEnd len="med" w="med" type="none"/>
          </a:ln>
        </p:spPr>
      </p:cxnSp>
      <p:sp>
        <p:nvSpPr>
          <p:cNvPr id="1335" name="Google Shape;1335;p51"/>
          <p:cNvSpPr/>
          <p:nvPr/>
        </p:nvSpPr>
        <p:spPr>
          <a:xfrm>
            <a:off x="5204075" y="3949175"/>
            <a:ext cx="960600" cy="5508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Mobility Manager</a:t>
            </a:r>
            <a:endParaRPr>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5" name="Shape 1345"/>
        <p:cNvGrpSpPr/>
        <p:nvPr/>
      </p:nvGrpSpPr>
      <p:grpSpPr>
        <a:xfrm>
          <a:off x="0" y="0"/>
          <a:ext cx="0" cy="0"/>
          <a:chOff x="0" y="0"/>
          <a:chExt cx="0" cy="0"/>
        </a:xfrm>
      </p:grpSpPr>
      <p:sp>
        <p:nvSpPr>
          <p:cNvPr id="1346" name="Google Shape;1346;p52"/>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High-Level View (4/4) – Handover</a:t>
            </a:r>
            <a:endParaRPr/>
          </a:p>
        </p:txBody>
      </p:sp>
      <p:sp>
        <p:nvSpPr>
          <p:cNvPr id="1347" name="Google Shape;1347;p52"/>
          <p:cNvSpPr txBox="1"/>
          <p:nvPr>
            <p:ph idx="1" type="body"/>
          </p:nvPr>
        </p:nvSpPr>
        <p:spPr>
          <a:xfrm>
            <a:off x="107050" y="402200"/>
            <a:ext cx="8909700" cy="1482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Step 4: </a:t>
            </a:r>
            <a:r>
              <a:rPr b="1" lang="en"/>
              <a:t>Handover</a:t>
            </a:r>
            <a:r>
              <a:rPr lang="en"/>
              <a:t>.</a:t>
            </a:r>
            <a:endParaRPr/>
          </a:p>
          <a:p>
            <a:pPr indent="-342900" lvl="0" marL="457200" rtl="0" algn="l">
              <a:spcBef>
                <a:spcPts val="600"/>
              </a:spcBef>
              <a:spcAft>
                <a:spcPts val="0"/>
              </a:spcAft>
              <a:buSzPts val="1800"/>
              <a:buChar char="●"/>
            </a:pPr>
            <a:r>
              <a:rPr lang="en"/>
              <a:t>Manager configures a new path through the network for the user.</a:t>
            </a:r>
            <a:endParaRPr/>
          </a:p>
          <a:p>
            <a:pPr indent="-342900" lvl="0" marL="457200" rtl="0" algn="l">
              <a:spcBef>
                <a:spcPts val="0"/>
              </a:spcBef>
              <a:spcAft>
                <a:spcPts val="0"/>
              </a:spcAft>
              <a:buSzPts val="1800"/>
              <a:buChar char="●"/>
            </a:pPr>
            <a:r>
              <a:rPr lang="en"/>
              <a:t>Handover must be seamless. We can't interrupt the user's connection!</a:t>
            </a:r>
            <a:endParaRPr/>
          </a:p>
          <a:p>
            <a:pPr indent="-342900" lvl="1" marL="914400" rtl="0" algn="l">
              <a:spcBef>
                <a:spcPts val="0"/>
              </a:spcBef>
              <a:spcAft>
                <a:spcPts val="0"/>
              </a:spcAft>
              <a:buSzPts val="1800"/>
              <a:buChar char="○"/>
            </a:pPr>
            <a:r>
              <a:rPr lang="en"/>
              <a:t>User's IP address should stay the same.</a:t>
            </a:r>
            <a:endParaRPr/>
          </a:p>
        </p:txBody>
      </p:sp>
      <p:sp>
        <p:nvSpPr>
          <p:cNvPr id="1348" name="Google Shape;1348;p52"/>
          <p:cNvSpPr/>
          <p:nvPr/>
        </p:nvSpPr>
        <p:spPr>
          <a:xfrm>
            <a:off x="1785710" y="2078475"/>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349" name="Google Shape;1349;p52"/>
          <p:cNvGrpSpPr/>
          <p:nvPr/>
        </p:nvGrpSpPr>
        <p:grpSpPr>
          <a:xfrm>
            <a:off x="2163047" y="2289931"/>
            <a:ext cx="205525" cy="409199"/>
            <a:chOff x="7897625" y="3319150"/>
            <a:chExt cx="645900" cy="1285575"/>
          </a:xfrm>
        </p:grpSpPr>
        <p:sp>
          <p:nvSpPr>
            <p:cNvPr id="1350" name="Google Shape;1350;p52"/>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351" name="Google Shape;1351;p52"/>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352" name="Google Shape;1352;p52"/>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353" name="Google Shape;1353;p52"/>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354" name="Google Shape;1354;p52"/>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355" name="Google Shape;1355;p52"/>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356" name="Google Shape;1356;p52"/>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357" name="Google Shape;1357;p52"/>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358" name="Google Shape;1358;p52"/>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359" name="Google Shape;1359;p52"/>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60" name="Google Shape;1360;p52"/>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61" name="Google Shape;1361;p52"/>
            <p:cNvSpPr/>
            <p:nvPr/>
          </p:nvSpPr>
          <p:spPr>
            <a:xfrm>
              <a:off x="8198675" y="3551600"/>
              <a:ext cx="43800" cy="43800"/>
            </a:xfrm>
            <a:prstGeom prst="ellipse">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362" name="Google Shape;1362;p52"/>
          <p:cNvSpPr/>
          <p:nvPr/>
        </p:nvSpPr>
        <p:spPr>
          <a:xfrm>
            <a:off x="1785710" y="2910667"/>
            <a:ext cx="960600" cy="832200"/>
          </a:xfrm>
          <a:prstGeom prst="hexagon">
            <a:avLst>
              <a:gd fmla="val 28852" name="adj"/>
              <a:gd fmla="val 115470" name="vf"/>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363" name="Google Shape;1363;p52"/>
          <p:cNvGrpSpPr/>
          <p:nvPr/>
        </p:nvGrpSpPr>
        <p:grpSpPr>
          <a:xfrm>
            <a:off x="2163047" y="3122123"/>
            <a:ext cx="205525" cy="409199"/>
            <a:chOff x="7897625" y="3319150"/>
            <a:chExt cx="645900" cy="1285575"/>
          </a:xfrm>
        </p:grpSpPr>
        <p:sp>
          <p:nvSpPr>
            <p:cNvPr id="1364" name="Google Shape;1364;p52"/>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365" name="Google Shape;1365;p52"/>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366" name="Google Shape;1366;p52"/>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367" name="Google Shape;1367;p52"/>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368" name="Google Shape;1368;p52"/>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369" name="Google Shape;1369;p52"/>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370" name="Google Shape;1370;p52"/>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371" name="Google Shape;1371;p52"/>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1372" name="Google Shape;1372;p52"/>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1373" name="Google Shape;1373;p52"/>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74" name="Google Shape;1374;p52"/>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75" name="Google Shape;1375;p52"/>
            <p:cNvSpPr/>
            <p:nvPr/>
          </p:nvSpPr>
          <p:spPr>
            <a:xfrm>
              <a:off x="8198675" y="3551600"/>
              <a:ext cx="43800" cy="43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376" name="Google Shape;1376;p52"/>
          <p:cNvSpPr/>
          <p:nvPr/>
        </p:nvSpPr>
        <p:spPr>
          <a:xfrm>
            <a:off x="1785710" y="3742859"/>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377" name="Google Shape;1377;p52"/>
          <p:cNvGrpSpPr/>
          <p:nvPr/>
        </p:nvGrpSpPr>
        <p:grpSpPr>
          <a:xfrm>
            <a:off x="2163037" y="3954316"/>
            <a:ext cx="205525" cy="409199"/>
            <a:chOff x="7897625" y="3319150"/>
            <a:chExt cx="645900" cy="1285575"/>
          </a:xfrm>
        </p:grpSpPr>
        <p:sp>
          <p:nvSpPr>
            <p:cNvPr id="1378" name="Google Shape;1378;p52"/>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379" name="Google Shape;1379;p52"/>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380" name="Google Shape;1380;p52"/>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381" name="Google Shape;1381;p52"/>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382" name="Google Shape;1382;p52"/>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383" name="Google Shape;1383;p52"/>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384" name="Google Shape;1384;p52"/>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385" name="Google Shape;1385;p52"/>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386" name="Google Shape;1386;p52"/>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387" name="Google Shape;1387;p52"/>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88" name="Google Shape;1388;p52"/>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89" name="Google Shape;1389;p52"/>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390" name="Google Shape;1390;p52"/>
          <p:cNvSpPr/>
          <p:nvPr/>
        </p:nvSpPr>
        <p:spPr>
          <a:xfrm>
            <a:off x="4406500" y="276992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R1</a:t>
            </a:r>
            <a:endParaRPr>
              <a:solidFill>
                <a:srgbClr val="B7B7B7"/>
              </a:solidFill>
              <a:latin typeface="Roboto"/>
              <a:ea typeface="Roboto"/>
              <a:cs typeface="Roboto"/>
              <a:sym typeface="Roboto"/>
            </a:endParaRPr>
          </a:p>
        </p:txBody>
      </p:sp>
      <p:cxnSp>
        <p:nvCxnSpPr>
          <p:cNvPr id="1391" name="Google Shape;1391;p52"/>
          <p:cNvCxnSpPr>
            <a:stCxn id="1390" idx="1"/>
          </p:cNvCxnSpPr>
          <p:nvPr/>
        </p:nvCxnSpPr>
        <p:spPr>
          <a:xfrm rot="10800000">
            <a:off x="2438800" y="2541625"/>
            <a:ext cx="1967700" cy="370800"/>
          </a:xfrm>
          <a:prstGeom prst="straightConnector1">
            <a:avLst/>
          </a:prstGeom>
          <a:noFill/>
          <a:ln cap="flat" cmpd="sng" w="9525">
            <a:solidFill>
              <a:srgbClr val="B7B7B7"/>
            </a:solidFill>
            <a:prstDash val="solid"/>
            <a:round/>
            <a:headEnd len="med" w="med" type="none"/>
            <a:tailEnd len="med" w="med" type="none"/>
          </a:ln>
        </p:spPr>
      </p:cxnSp>
      <p:cxnSp>
        <p:nvCxnSpPr>
          <p:cNvPr id="1392" name="Google Shape;1392;p52"/>
          <p:cNvCxnSpPr>
            <a:stCxn id="1393" idx="1"/>
          </p:cNvCxnSpPr>
          <p:nvPr/>
        </p:nvCxnSpPr>
        <p:spPr>
          <a:xfrm rot="10800000">
            <a:off x="2365650" y="3366925"/>
            <a:ext cx="2035500" cy="104100"/>
          </a:xfrm>
          <a:prstGeom prst="straightConnector1">
            <a:avLst/>
          </a:prstGeom>
          <a:noFill/>
          <a:ln cap="flat" cmpd="sng" w="19050">
            <a:solidFill>
              <a:srgbClr val="0000FF"/>
            </a:solidFill>
            <a:prstDash val="solid"/>
            <a:round/>
            <a:headEnd len="med" w="med" type="none"/>
            <a:tailEnd len="med" w="med" type="none"/>
          </a:ln>
        </p:spPr>
      </p:cxnSp>
      <p:cxnSp>
        <p:nvCxnSpPr>
          <p:cNvPr id="1394" name="Google Shape;1394;p52"/>
          <p:cNvCxnSpPr>
            <a:stCxn id="1393" idx="1"/>
          </p:cNvCxnSpPr>
          <p:nvPr/>
        </p:nvCxnSpPr>
        <p:spPr>
          <a:xfrm flipH="1">
            <a:off x="2417850" y="3471025"/>
            <a:ext cx="1983300" cy="751500"/>
          </a:xfrm>
          <a:prstGeom prst="straightConnector1">
            <a:avLst/>
          </a:prstGeom>
          <a:noFill/>
          <a:ln cap="flat" cmpd="sng" w="9525">
            <a:solidFill>
              <a:srgbClr val="B7B7B7"/>
            </a:solidFill>
            <a:prstDash val="solid"/>
            <a:round/>
            <a:headEnd len="med" w="med" type="none"/>
            <a:tailEnd len="med" w="med" type="none"/>
          </a:ln>
        </p:spPr>
      </p:cxnSp>
      <p:cxnSp>
        <p:nvCxnSpPr>
          <p:cNvPr id="1395" name="Google Shape;1395;p52"/>
          <p:cNvCxnSpPr>
            <a:stCxn id="1390" idx="3"/>
            <a:endCxn id="1396" idx="1"/>
          </p:cNvCxnSpPr>
          <p:nvPr/>
        </p:nvCxnSpPr>
        <p:spPr>
          <a:xfrm>
            <a:off x="4691500" y="2912425"/>
            <a:ext cx="2071800" cy="285000"/>
          </a:xfrm>
          <a:prstGeom prst="straightConnector1">
            <a:avLst/>
          </a:prstGeom>
          <a:noFill/>
          <a:ln cap="flat" cmpd="sng" w="9525">
            <a:solidFill>
              <a:srgbClr val="B7B7B7"/>
            </a:solidFill>
            <a:prstDash val="solid"/>
            <a:round/>
            <a:headEnd len="med" w="med" type="none"/>
            <a:tailEnd len="med" w="med" type="none"/>
          </a:ln>
        </p:spPr>
      </p:cxnSp>
      <p:cxnSp>
        <p:nvCxnSpPr>
          <p:cNvPr id="1397" name="Google Shape;1397;p52"/>
          <p:cNvCxnSpPr>
            <a:stCxn id="1393" idx="3"/>
            <a:endCxn id="1396" idx="1"/>
          </p:cNvCxnSpPr>
          <p:nvPr/>
        </p:nvCxnSpPr>
        <p:spPr>
          <a:xfrm flipH="1" rot="10800000">
            <a:off x="4686150" y="3197425"/>
            <a:ext cx="2077200" cy="273600"/>
          </a:xfrm>
          <a:prstGeom prst="straightConnector1">
            <a:avLst/>
          </a:prstGeom>
          <a:noFill/>
          <a:ln cap="flat" cmpd="sng" w="19050">
            <a:solidFill>
              <a:srgbClr val="0000FF"/>
            </a:solidFill>
            <a:prstDash val="solid"/>
            <a:round/>
            <a:headEnd len="med" w="med" type="none"/>
            <a:tailEnd len="med" w="med" type="none"/>
          </a:ln>
        </p:spPr>
      </p:cxnSp>
      <p:cxnSp>
        <p:nvCxnSpPr>
          <p:cNvPr id="1398" name="Google Shape;1398;p52"/>
          <p:cNvCxnSpPr>
            <a:stCxn id="1396" idx="3"/>
          </p:cNvCxnSpPr>
          <p:nvPr/>
        </p:nvCxnSpPr>
        <p:spPr>
          <a:xfrm>
            <a:off x="7048350" y="3197425"/>
            <a:ext cx="551700" cy="0"/>
          </a:xfrm>
          <a:prstGeom prst="straightConnector1">
            <a:avLst/>
          </a:prstGeom>
          <a:noFill/>
          <a:ln cap="flat" cmpd="sng" w="19050">
            <a:solidFill>
              <a:srgbClr val="0000FF"/>
            </a:solidFill>
            <a:prstDash val="solid"/>
            <a:round/>
            <a:headEnd len="med" w="med" type="none"/>
            <a:tailEnd len="med" w="med" type="none"/>
          </a:ln>
        </p:spPr>
      </p:cxnSp>
      <p:cxnSp>
        <p:nvCxnSpPr>
          <p:cNvPr id="1399" name="Google Shape;1399;p52"/>
          <p:cNvCxnSpPr/>
          <p:nvPr/>
        </p:nvCxnSpPr>
        <p:spPr>
          <a:xfrm>
            <a:off x="7659010" y="3197425"/>
            <a:ext cx="865500" cy="0"/>
          </a:xfrm>
          <a:prstGeom prst="straightConnector1">
            <a:avLst/>
          </a:prstGeom>
          <a:noFill/>
          <a:ln cap="flat" cmpd="sng" w="19050">
            <a:solidFill>
              <a:srgbClr val="0000FF"/>
            </a:solidFill>
            <a:prstDash val="dash"/>
            <a:round/>
            <a:headEnd len="med" w="med" type="none"/>
            <a:tailEnd len="med" w="med" type="none"/>
          </a:ln>
        </p:spPr>
      </p:cxnSp>
      <p:grpSp>
        <p:nvGrpSpPr>
          <p:cNvPr id="1400" name="Google Shape;1400;p52"/>
          <p:cNvGrpSpPr/>
          <p:nvPr/>
        </p:nvGrpSpPr>
        <p:grpSpPr>
          <a:xfrm>
            <a:off x="955675" y="3056875"/>
            <a:ext cx="384763" cy="551700"/>
            <a:chOff x="160300" y="2651875"/>
            <a:chExt cx="384763" cy="551700"/>
          </a:xfrm>
        </p:grpSpPr>
        <p:pic>
          <p:nvPicPr>
            <p:cNvPr id="1401" name="Google Shape;1401;p52"/>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1402" name="Google Shape;1402;p52"/>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sp>
        <p:nvSpPr>
          <p:cNvPr id="1403" name="Google Shape;1403;p52"/>
          <p:cNvSpPr/>
          <p:nvPr/>
        </p:nvSpPr>
        <p:spPr>
          <a:xfrm>
            <a:off x="7068150" y="3933575"/>
            <a:ext cx="960600" cy="5820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Database</a:t>
            </a:r>
            <a:endParaRPr>
              <a:latin typeface="Roboto"/>
              <a:ea typeface="Roboto"/>
              <a:cs typeface="Roboto"/>
              <a:sym typeface="Roboto"/>
            </a:endParaRPr>
          </a:p>
        </p:txBody>
      </p:sp>
      <p:cxnSp>
        <p:nvCxnSpPr>
          <p:cNvPr id="1404" name="Google Shape;1404;p52"/>
          <p:cNvCxnSpPr>
            <a:stCxn id="1403" idx="2"/>
            <a:endCxn id="1405" idx="3"/>
          </p:cNvCxnSpPr>
          <p:nvPr/>
        </p:nvCxnSpPr>
        <p:spPr>
          <a:xfrm rot="10800000">
            <a:off x="6164550" y="4224575"/>
            <a:ext cx="903600" cy="0"/>
          </a:xfrm>
          <a:prstGeom prst="straightConnector1">
            <a:avLst/>
          </a:prstGeom>
          <a:noFill/>
          <a:ln cap="flat" cmpd="sng" w="9525">
            <a:solidFill>
              <a:srgbClr val="B7B7B7"/>
            </a:solidFill>
            <a:prstDash val="dash"/>
            <a:round/>
            <a:headEnd len="med" w="med" type="none"/>
            <a:tailEnd len="med" w="med" type="none"/>
          </a:ln>
        </p:spPr>
      </p:cxnSp>
      <p:cxnSp>
        <p:nvCxnSpPr>
          <p:cNvPr id="1406" name="Google Shape;1406;p52"/>
          <p:cNvCxnSpPr>
            <a:stCxn id="1405" idx="0"/>
            <a:endCxn id="1393" idx="3"/>
          </p:cNvCxnSpPr>
          <p:nvPr/>
        </p:nvCxnSpPr>
        <p:spPr>
          <a:xfrm rot="10800000">
            <a:off x="4686275" y="3470975"/>
            <a:ext cx="998100" cy="478200"/>
          </a:xfrm>
          <a:prstGeom prst="straightConnector1">
            <a:avLst/>
          </a:prstGeom>
          <a:noFill/>
          <a:ln cap="flat" cmpd="sng" w="28575">
            <a:solidFill>
              <a:schemeClr val="accent2"/>
            </a:solidFill>
            <a:prstDash val="solid"/>
            <a:round/>
            <a:headEnd len="med" w="med" type="none"/>
            <a:tailEnd len="med" w="med" type="triangle"/>
          </a:ln>
        </p:spPr>
      </p:cxnSp>
      <p:cxnSp>
        <p:nvCxnSpPr>
          <p:cNvPr id="1407" name="Google Shape;1407;p52"/>
          <p:cNvCxnSpPr>
            <a:stCxn id="1405" idx="1"/>
          </p:cNvCxnSpPr>
          <p:nvPr/>
        </p:nvCxnSpPr>
        <p:spPr>
          <a:xfrm rot="10800000">
            <a:off x="2429675" y="3412475"/>
            <a:ext cx="2774400" cy="812100"/>
          </a:xfrm>
          <a:prstGeom prst="straightConnector1">
            <a:avLst/>
          </a:prstGeom>
          <a:noFill/>
          <a:ln cap="flat" cmpd="sng" w="28575">
            <a:solidFill>
              <a:schemeClr val="accent2"/>
            </a:solidFill>
            <a:prstDash val="solid"/>
            <a:round/>
            <a:headEnd len="med" w="med" type="none"/>
            <a:tailEnd len="med" w="med" type="triangle"/>
          </a:ln>
        </p:spPr>
      </p:cxnSp>
      <p:cxnSp>
        <p:nvCxnSpPr>
          <p:cNvPr id="1408" name="Google Shape;1408;p52"/>
          <p:cNvCxnSpPr>
            <a:stCxn id="1405" idx="0"/>
            <a:endCxn id="1396" idx="1"/>
          </p:cNvCxnSpPr>
          <p:nvPr/>
        </p:nvCxnSpPr>
        <p:spPr>
          <a:xfrm flipH="1" rot="10800000">
            <a:off x="5684375" y="3197375"/>
            <a:ext cx="1079100" cy="751800"/>
          </a:xfrm>
          <a:prstGeom prst="straightConnector1">
            <a:avLst/>
          </a:prstGeom>
          <a:noFill/>
          <a:ln cap="flat" cmpd="sng" w="28575">
            <a:solidFill>
              <a:schemeClr val="accent2"/>
            </a:solidFill>
            <a:prstDash val="solid"/>
            <a:round/>
            <a:headEnd len="med" w="med" type="none"/>
            <a:tailEnd len="med" w="med" type="triangle"/>
          </a:ln>
        </p:spPr>
      </p:cxnSp>
      <p:sp>
        <p:nvSpPr>
          <p:cNvPr id="1405" name="Google Shape;1405;p52"/>
          <p:cNvSpPr/>
          <p:nvPr/>
        </p:nvSpPr>
        <p:spPr>
          <a:xfrm>
            <a:off x="5204075" y="3949175"/>
            <a:ext cx="960600" cy="5508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Mobility Manager</a:t>
            </a:r>
            <a:endParaRPr>
              <a:latin typeface="Roboto"/>
              <a:ea typeface="Roboto"/>
              <a:cs typeface="Roboto"/>
              <a:sym typeface="Roboto"/>
            </a:endParaRPr>
          </a:p>
        </p:txBody>
      </p:sp>
      <p:sp>
        <p:nvSpPr>
          <p:cNvPr id="1393" name="Google Shape;1393;p52"/>
          <p:cNvSpPr/>
          <p:nvPr/>
        </p:nvSpPr>
        <p:spPr>
          <a:xfrm>
            <a:off x="4401150" y="33285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sp>
        <p:nvSpPr>
          <p:cNvPr id="1396" name="Google Shape;1396;p52"/>
          <p:cNvSpPr/>
          <p:nvPr/>
        </p:nvSpPr>
        <p:spPr>
          <a:xfrm>
            <a:off x="6763350" y="30549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P1</a:t>
            </a:r>
            <a:endParaRPr>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2" name="Shape 1412"/>
        <p:cNvGrpSpPr/>
        <p:nvPr/>
      </p:nvGrpSpPr>
      <p:grpSpPr>
        <a:xfrm>
          <a:off x="0" y="0"/>
          <a:ext cx="0" cy="0"/>
          <a:chOff x="0" y="0"/>
          <a:chExt cx="0" cy="0"/>
        </a:xfrm>
      </p:grpSpPr>
      <p:sp>
        <p:nvSpPr>
          <p:cNvPr id="1413" name="Google Shape;1413;p53"/>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High-Level View (4/4) – Handover</a:t>
            </a:r>
            <a:endParaRPr/>
          </a:p>
        </p:txBody>
      </p:sp>
      <p:sp>
        <p:nvSpPr>
          <p:cNvPr id="1414" name="Google Shape;1414;p53"/>
          <p:cNvSpPr txBox="1"/>
          <p:nvPr>
            <p:ph idx="1" type="body"/>
          </p:nvPr>
        </p:nvSpPr>
        <p:spPr>
          <a:xfrm>
            <a:off x="107050" y="402200"/>
            <a:ext cx="8909700" cy="1482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After handover, user has a new path through the network.</a:t>
            </a:r>
            <a:endParaRPr/>
          </a:p>
          <a:p>
            <a:pPr indent="0" lvl="0" marL="0" rtl="0" algn="l">
              <a:spcBef>
                <a:spcPts val="600"/>
              </a:spcBef>
              <a:spcAft>
                <a:spcPts val="0"/>
              </a:spcAft>
              <a:buNone/>
            </a:pPr>
            <a:r>
              <a:rPr lang="en"/>
              <a:t>Step 3 (Data Exchange) and Step 4 (Handover) repeat as the user moves around.</a:t>
            </a:r>
            <a:endParaRPr/>
          </a:p>
        </p:txBody>
      </p:sp>
      <p:sp>
        <p:nvSpPr>
          <p:cNvPr id="1415" name="Google Shape;1415;p53"/>
          <p:cNvSpPr/>
          <p:nvPr/>
        </p:nvSpPr>
        <p:spPr>
          <a:xfrm>
            <a:off x="1785710" y="2078475"/>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416" name="Google Shape;1416;p53"/>
          <p:cNvGrpSpPr/>
          <p:nvPr/>
        </p:nvGrpSpPr>
        <p:grpSpPr>
          <a:xfrm>
            <a:off x="2163047" y="2289931"/>
            <a:ext cx="205525" cy="409199"/>
            <a:chOff x="7897625" y="3319150"/>
            <a:chExt cx="645900" cy="1285575"/>
          </a:xfrm>
        </p:grpSpPr>
        <p:sp>
          <p:nvSpPr>
            <p:cNvPr id="1417" name="Google Shape;1417;p53"/>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418" name="Google Shape;1418;p53"/>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419" name="Google Shape;1419;p53"/>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420" name="Google Shape;1420;p53"/>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421" name="Google Shape;1421;p53"/>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422" name="Google Shape;1422;p53"/>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423" name="Google Shape;1423;p53"/>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424" name="Google Shape;1424;p53"/>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425" name="Google Shape;1425;p53"/>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426" name="Google Shape;1426;p53"/>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27" name="Google Shape;1427;p53"/>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28" name="Google Shape;1428;p53"/>
            <p:cNvSpPr/>
            <p:nvPr/>
          </p:nvSpPr>
          <p:spPr>
            <a:xfrm>
              <a:off x="8198675" y="3551600"/>
              <a:ext cx="43800" cy="43800"/>
            </a:xfrm>
            <a:prstGeom prst="ellipse">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429" name="Google Shape;1429;p53"/>
          <p:cNvSpPr/>
          <p:nvPr/>
        </p:nvSpPr>
        <p:spPr>
          <a:xfrm>
            <a:off x="1785710" y="2910667"/>
            <a:ext cx="960600" cy="832200"/>
          </a:xfrm>
          <a:prstGeom prst="hexagon">
            <a:avLst>
              <a:gd fmla="val 28852" name="adj"/>
              <a:gd fmla="val 115470" name="vf"/>
            </a:avLst>
          </a:prstGeom>
          <a:solidFill>
            <a:srgbClr val="C9DAF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430" name="Google Shape;1430;p53"/>
          <p:cNvGrpSpPr/>
          <p:nvPr/>
        </p:nvGrpSpPr>
        <p:grpSpPr>
          <a:xfrm>
            <a:off x="2163047" y="3122123"/>
            <a:ext cx="205525" cy="409199"/>
            <a:chOff x="7897625" y="3319150"/>
            <a:chExt cx="645900" cy="1285575"/>
          </a:xfrm>
        </p:grpSpPr>
        <p:sp>
          <p:nvSpPr>
            <p:cNvPr id="1431" name="Google Shape;1431;p53"/>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432" name="Google Shape;1432;p53"/>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433" name="Google Shape;1433;p53"/>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434" name="Google Shape;1434;p53"/>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435" name="Google Shape;1435;p53"/>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436" name="Google Shape;1436;p53"/>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437" name="Google Shape;1437;p53"/>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438" name="Google Shape;1438;p53"/>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1439" name="Google Shape;1439;p53"/>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1440" name="Google Shape;1440;p53"/>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41" name="Google Shape;1441;p53"/>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42" name="Google Shape;1442;p53"/>
            <p:cNvSpPr/>
            <p:nvPr/>
          </p:nvSpPr>
          <p:spPr>
            <a:xfrm>
              <a:off x="8198675" y="3551600"/>
              <a:ext cx="43800" cy="43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443" name="Google Shape;1443;p53"/>
          <p:cNvSpPr/>
          <p:nvPr/>
        </p:nvSpPr>
        <p:spPr>
          <a:xfrm>
            <a:off x="1785710" y="3742859"/>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444" name="Google Shape;1444;p53"/>
          <p:cNvGrpSpPr/>
          <p:nvPr/>
        </p:nvGrpSpPr>
        <p:grpSpPr>
          <a:xfrm>
            <a:off x="2163037" y="3954316"/>
            <a:ext cx="205525" cy="409199"/>
            <a:chOff x="7897625" y="3319150"/>
            <a:chExt cx="645900" cy="1285575"/>
          </a:xfrm>
        </p:grpSpPr>
        <p:sp>
          <p:nvSpPr>
            <p:cNvPr id="1445" name="Google Shape;1445;p53"/>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446" name="Google Shape;1446;p53"/>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447" name="Google Shape;1447;p53"/>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448" name="Google Shape;1448;p53"/>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449" name="Google Shape;1449;p53"/>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450" name="Google Shape;1450;p53"/>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451" name="Google Shape;1451;p53"/>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452" name="Google Shape;1452;p53"/>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453" name="Google Shape;1453;p53"/>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454" name="Google Shape;1454;p53"/>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55" name="Google Shape;1455;p53"/>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56" name="Google Shape;1456;p53"/>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457" name="Google Shape;1457;p53"/>
          <p:cNvSpPr/>
          <p:nvPr/>
        </p:nvSpPr>
        <p:spPr>
          <a:xfrm>
            <a:off x="4406500" y="276992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R1</a:t>
            </a:r>
            <a:endParaRPr>
              <a:solidFill>
                <a:srgbClr val="B7B7B7"/>
              </a:solidFill>
              <a:latin typeface="Roboto"/>
              <a:ea typeface="Roboto"/>
              <a:cs typeface="Roboto"/>
              <a:sym typeface="Roboto"/>
            </a:endParaRPr>
          </a:p>
        </p:txBody>
      </p:sp>
      <p:cxnSp>
        <p:nvCxnSpPr>
          <p:cNvPr id="1458" name="Google Shape;1458;p53"/>
          <p:cNvCxnSpPr>
            <a:stCxn id="1457" idx="1"/>
          </p:cNvCxnSpPr>
          <p:nvPr/>
        </p:nvCxnSpPr>
        <p:spPr>
          <a:xfrm rot="10800000">
            <a:off x="2438800" y="2541625"/>
            <a:ext cx="1967700" cy="370800"/>
          </a:xfrm>
          <a:prstGeom prst="straightConnector1">
            <a:avLst/>
          </a:prstGeom>
          <a:noFill/>
          <a:ln cap="flat" cmpd="sng" w="9525">
            <a:solidFill>
              <a:srgbClr val="B7B7B7"/>
            </a:solidFill>
            <a:prstDash val="solid"/>
            <a:round/>
            <a:headEnd len="med" w="med" type="none"/>
            <a:tailEnd len="med" w="med" type="none"/>
          </a:ln>
        </p:spPr>
      </p:cxnSp>
      <p:cxnSp>
        <p:nvCxnSpPr>
          <p:cNvPr id="1459" name="Google Shape;1459;p53"/>
          <p:cNvCxnSpPr>
            <a:stCxn id="1460" idx="1"/>
          </p:cNvCxnSpPr>
          <p:nvPr/>
        </p:nvCxnSpPr>
        <p:spPr>
          <a:xfrm rot="10800000">
            <a:off x="2365650" y="3366925"/>
            <a:ext cx="2035500" cy="104100"/>
          </a:xfrm>
          <a:prstGeom prst="straightConnector1">
            <a:avLst/>
          </a:prstGeom>
          <a:noFill/>
          <a:ln cap="flat" cmpd="sng" w="28575">
            <a:solidFill>
              <a:srgbClr val="0000FF"/>
            </a:solidFill>
            <a:prstDash val="solid"/>
            <a:round/>
            <a:headEnd len="med" w="med" type="none"/>
            <a:tailEnd len="med" w="med" type="none"/>
          </a:ln>
        </p:spPr>
      </p:cxnSp>
      <p:cxnSp>
        <p:nvCxnSpPr>
          <p:cNvPr id="1461" name="Google Shape;1461;p53"/>
          <p:cNvCxnSpPr>
            <a:stCxn id="1460" idx="1"/>
          </p:cNvCxnSpPr>
          <p:nvPr/>
        </p:nvCxnSpPr>
        <p:spPr>
          <a:xfrm flipH="1">
            <a:off x="2417850" y="3471025"/>
            <a:ext cx="1983300" cy="751500"/>
          </a:xfrm>
          <a:prstGeom prst="straightConnector1">
            <a:avLst/>
          </a:prstGeom>
          <a:noFill/>
          <a:ln cap="flat" cmpd="sng" w="9525">
            <a:solidFill>
              <a:srgbClr val="B7B7B7"/>
            </a:solidFill>
            <a:prstDash val="solid"/>
            <a:round/>
            <a:headEnd len="med" w="med" type="none"/>
            <a:tailEnd len="med" w="med" type="none"/>
          </a:ln>
        </p:spPr>
      </p:cxnSp>
      <p:cxnSp>
        <p:nvCxnSpPr>
          <p:cNvPr id="1462" name="Google Shape;1462;p53"/>
          <p:cNvCxnSpPr>
            <a:stCxn id="1457" idx="3"/>
            <a:endCxn id="1463" idx="1"/>
          </p:cNvCxnSpPr>
          <p:nvPr/>
        </p:nvCxnSpPr>
        <p:spPr>
          <a:xfrm>
            <a:off x="4691500" y="2912425"/>
            <a:ext cx="2071800" cy="285000"/>
          </a:xfrm>
          <a:prstGeom prst="straightConnector1">
            <a:avLst/>
          </a:prstGeom>
          <a:noFill/>
          <a:ln cap="flat" cmpd="sng" w="9525">
            <a:solidFill>
              <a:srgbClr val="B7B7B7"/>
            </a:solidFill>
            <a:prstDash val="solid"/>
            <a:round/>
            <a:headEnd len="med" w="med" type="none"/>
            <a:tailEnd len="med" w="med" type="none"/>
          </a:ln>
        </p:spPr>
      </p:cxnSp>
      <p:cxnSp>
        <p:nvCxnSpPr>
          <p:cNvPr id="1464" name="Google Shape;1464;p53"/>
          <p:cNvCxnSpPr>
            <a:stCxn id="1460" idx="3"/>
            <a:endCxn id="1463" idx="1"/>
          </p:cNvCxnSpPr>
          <p:nvPr/>
        </p:nvCxnSpPr>
        <p:spPr>
          <a:xfrm flipH="1" rot="10800000">
            <a:off x="4686150" y="3197425"/>
            <a:ext cx="2077200" cy="273600"/>
          </a:xfrm>
          <a:prstGeom prst="straightConnector1">
            <a:avLst/>
          </a:prstGeom>
          <a:noFill/>
          <a:ln cap="flat" cmpd="sng" w="28575">
            <a:solidFill>
              <a:srgbClr val="0000FF"/>
            </a:solidFill>
            <a:prstDash val="solid"/>
            <a:round/>
            <a:headEnd len="med" w="med" type="none"/>
            <a:tailEnd len="med" w="med" type="none"/>
          </a:ln>
        </p:spPr>
      </p:cxnSp>
      <p:cxnSp>
        <p:nvCxnSpPr>
          <p:cNvPr id="1465" name="Google Shape;1465;p53"/>
          <p:cNvCxnSpPr>
            <a:stCxn id="1463" idx="3"/>
          </p:cNvCxnSpPr>
          <p:nvPr/>
        </p:nvCxnSpPr>
        <p:spPr>
          <a:xfrm>
            <a:off x="7048350" y="3197425"/>
            <a:ext cx="551700" cy="0"/>
          </a:xfrm>
          <a:prstGeom prst="straightConnector1">
            <a:avLst/>
          </a:prstGeom>
          <a:noFill/>
          <a:ln cap="flat" cmpd="sng" w="28575">
            <a:solidFill>
              <a:srgbClr val="0000FF"/>
            </a:solidFill>
            <a:prstDash val="solid"/>
            <a:round/>
            <a:headEnd len="med" w="med" type="none"/>
            <a:tailEnd len="med" w="med" type="none"/>
          </a:ln>
        </p:spPr>
      </p:cxnSp>
      <p:cxnSp>
        <p:nvCxnSpPr>
          <p:cNvPr id="1466" name="Google Shape;1466;p53"/>
          <p:cNvCxnSpPr/>
          <p:nvPr/>
        </p:nvCxnSpPr>
        <p:spPr>
          <a:xfrm>
            <a:off x="7659010" y="3197425"/>
            <a:ext cx="865500" cy="0"/>
          </a:xfrm>
          <a:prstGeom prst="straightConnector1">
            <a:avLst/>
          </a:prstGeom>
          <a:noFill/>
          <a:ln cap="flat" cmpd="sng" w="28575">
            <a:solidFill>
              <a:srgbClr val="0000FF"/>
            </a:solidFill>
            <a:prstDash val="dash"/>
            <a:round/>
            <a:headEnd len="med" w="med" type="none"/>
            <a:tailEnd len="med" w="med" type="none"/>
          </a:ln>
        </p:spPr>
      </p:cxnSp>
      <p:grpSp>
        <p:nvGrpSpPr>
          <p:cNvPr id="1467" name="Google Shape;1467;p53"/>
          <p:cNvGrpSpPr/>
          <p:nvPr/>
        </p:nvGrpSpPr>
        <p:grpSpPr>
          <a:xfrm>
            <a:off x="955675" y="3056875"/>
            <a:ext cx="384763" cy="551700"/>
            <a:chOff x="160300" y="2651875"/>
            <a:chExt cx="384763" cy="551700"/>
          </a:xfrm>
        </p:grpSpPr>
        <p:pic>
          <p:nvPicPr>
            <p:cNvPr id="1468" name="Google Shape;1468;p53"/>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1469" name="Google Shape;1469;p53"/>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sp>
        <p:nvSpPr>
          <p:cNvPr id="1470" name="Google Shape;1470;p53"/>
          <p:cNvSpPr/>
          <p:nvPr/>
        </p:nvSpPr>
        <p:spPr>
          <a:xfrm>
            <a:off x="7068150" y="3933575"/>
            <a:ext cx="960600" cy="5820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Database</a:t>
            </a:r>
            <a:endParaRPr>
              <a:latin typeface="Roboto"/>
              <a:ea typeface="Roboto"/>
              <a:cs typeface="Roboto"/>
              <a:sym typeface="Roboto"/>
            </a:endParaRPr>
          </a:p>
        </p:txBody>
      </p:sp>
      <p:cxnSp>
        <p:nvCxnSpPr>
          <p:cNvPr id="1471" name="Google Shape;1471;p53"/>
          <p:cNvCxnSpPr>
            <a:stCxn id="1470" idx="2"/>
            <a:endCxn id="1472" idx="3"/>
          </p:cNvCxnSpPr>
          <p:nvPr/>
        </p:nvCxnSpPr>
        <p:spPr>
          <a:xfrm rot="10800000">
            <a:off x="6164550" y="4224575"/>
            <a:ext cx="903600" cy="0"/>
          </a:xfrm>
          <a:prstGeom prst="straightConnector1">
            <a:avLst/>
          </a:prstGeom>
          <a:noFill/>
          <a:ln cap="flat" cmpd="sng" w="9525">
            <a:solidFill>
              <a:srgbClr val="B7B7B7"/>
            </a:solidFill>
            <a:prstDash val="dash"/>
            <a:round/>
            <a:headEnd len="med" w="med" type="none"/>
            <a:tailEnd len="med" w="med" type="none"/>
          </a:ln>
        </p:spPr>
      </p:cxnSp>
      <p:sp>
        <p:nvSpPr>
          <p:cNvPr id="1472" name="Google Shape;1472;p53"/>
          <p:cNvSpPr/>
          <p:nvPr/>
        </p:nvSpPr>
        <p:spPr>
          <a:xfrm>
            <a:off x="5204075" y="3949175"/>
            <a:ext cx="960600" cy="5508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Mobility Manager</a:t>
            </a:r>
            <a:endParaRPr>
              <a:latin typeface="Roboto"/>
              <a:ea typeface="Roboto"/>
              <a:cs typeface="Roboto"/>
              <a:sym typeface="Roboto"/>
            </a:endParaRPr>
          </a:p>
        </p:txBody>
      </p:sp>
      <p:sp>
        <p:nvSpPr>
          <p:cNvPr id="1460" name="Google Shape;1460;p53"/>
          <p:cNvSpPr/>
          <p:nvPr/>
        </p:nvSpPr>
        <p:spPr>
          <a:xfrm>
            <a:off x="4401150" y="33285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sp>
        <p:nvSpPr>
          <p:cNvPr id="1463" name="Google Shape;1463;p53"/>
          <p:cNvSpPr/>
          <p:nvPr/>
        </p:nvSpPr>
        <p:spPr>
          <a:xfrm>
            <a:off x="6763350" y="305492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P1</a:t>
            </a:r>
            <a:endParaRPr>
              <a:latin typeface="Roboto"/>
              <a:ea typeface="Roboto"/>
              <a:cs typeface="Roboto"/>
              <a:sym typeface="Roboto"/>
            </a:endParaRPr>
          </a:p>
        </p:txBody>
      </p:sp>
      <p:pic>
        <p:nvPicPr>
          <p:cNvPr id="1473" name="Google Shape;1473;p53"/>
          <p:cNvPicPr preferRelativeResize="0"/>
          <p:nvPr/>
        </p:nvPicPr>
        <p:blipFill>
          <a:blip r:embed="rId5">
            <a:alphaModFix amt="25000"/>
          </a:blip>
          <a:stretch>
            <a:fillRect/>
          </a:stretch>
        </p:blipFill>
        <p:spPr>
          <a:xfrm rot="-5400000">
            <a:off x="1309537" y="3010619"/>
            <a:ext cx="893376" cy="719000"/>
          </a:xfrm>
          <a:prstGeom prst="rect">
            <a:avLst/>
          </a:prstGeom>
          <a:noFill/>
          <a:ln>
            <a:noFill/>
          </a:ln>
        </p:spPr>
      </p:pic>
      <p:cxnSp>
        <p:nvCxnSpPr>
          <p:cNvPr id="1474" name="Google Shape;1474;p53"/>
          <p:cNvCxnSpPr>
            <a:stCxn id="1473" idx="0"/>
            <a:endCxn id="1473" idx="2"/>
          </p:cNvCxnSpPr>
          <p:nvPr/>
        </p:nvCxnSpPr>
        <p:spPr>
          <a:xfrm>
            <a:off x="1396725" y="3370119"/>
            <a:ext cx="719100" cy="0"/>
          </a:xfrm>
          <a:prstGeom prst="straightConnector1">
            <a:avLst/>
          </a:prstGeom>
          <a:noFill/>
          <a:ln cap="flat" cmpd="sng" w="28575">
            <a:solidFill>
              <a:srgbClr val="0000FF"/>
            </a:solidFill>
            <a:prstDash val="solid"/>
            <a:round/>
            <a:headEnd len="med" w="med" type="none"/>
            <a:tailEnd len="med" w="med" type="non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8" name="Shape 1478"/>
        <p:cNvGrpSpPr/>
        <p:nvPr/>
      </p:nvGrpSpPr>
      <p:grpSpPr>
        <a:xfrm>
          <a:off x="0" y="0"/>
          <a:ext cx="0" cy="0"/>
          <a:chOff x="0" y="0"/>
          <a:chExt cx="0" cy="0"/>
        </a:xfrm>
      </p:grpSpPr>
      <p:sp>
        <p:nvSpPr>
          <p:cNvPr id="1479" name="Google Shape;1479;p54"/>
          <p:cNvSpPr/>
          <p:nvPr/>
        </p:nvSpPr>
        <p:spPr>
          <a:xfrm>
            <a:off x="5188250" y="2677500"/>
            <a:ext cx="3355200" cy="2364300"/>
          </a:xfrm>
          <a:prstGeom prst="ellipse">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80" name="Google Shape;1480;p54"/>
          <p:cNvSpPr/>
          <p:nvPr/>
        </p:nvSpPr>
        <p:spPr>
          <a:xfrm>
            <a:off x="510275" y="1948700"/>
            <a:ext cx="3355200" cy="2364300"/>
          </a:xfrm>
          <a:prstGeom prst="ellipse">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81" name="Google Shape;1481;p54"/>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High-Level View – Roaming</a:t>
            </a:r>
            <a:endParaRPr/>
          </a:p>
        </p:txBody>
      </p:sp>
      <p:sp>
        <p:nvSpPr>
          <p:cNvPr id="1482" name="Google Shape;1482;p54"/>
          <p:cNvSpPr txBox="1"/>
          <p:nvPr>
            <p:ph idx="1" type="body"/>
          </p:nvPr>
        </p:nvSpPr>
        <p:spPr>
          <a:xfrm>
            <a:off x="107050" y="402200"/>
            <a:ext cx="8909700" cy="1546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One last feature is </a:t>
            </a:r>
            <a:r>
              <a:rPr b="1" lang="en"/>
              <a:t>roaming</a:t>
            </a:r>
            <a:r>
              <a:rPr lang="en"/>
              <a:t>: User connecting to a different network.</a:t>
            </a:r>
            <a:endParaRPr/>
          </a:p>
          <a:p>
            <a:pPr indent="-342900" lvl="0" marL="457200" rtl="0" algn="l">
              <a:spcBef>
                <a:spcPts val="600"/>
              </a:spcBef>
              <a:spcAft>
                <a:spcPts val="0"/>
              </a:spcAft>
              <a:buSzPts val="1800"/>
              <a:buChar char="●"/>
            </a:pPr>
            <a:r>
              <a:rPr lang="en"/>
              <a:t>Example</a:t>
            </a:r>
            <a:r>
              <a:rPr lang="en"/>
              <a:t>: User visiting a different country.</a:t>
            </a:r>
            <a:endParaRPr/>
          </a:p>
          <a:p>
            <a:pPr indent="-342900" lvl="0" marL="457200" rtl="0" algn="l">
              <a:spcBef>
                <a:spcPts val="0"/>
              </a:spcBef>
              <a:spcAft>
                <a:spcPts val="0"/>
              </a:spcAft>
              <a:buSzPts val="1800"/>
              <a:buChar char="●"/>
            </a:pPr>
            <a:r>
              <a:rPr lang="en"/>
              <a:t>Mostly works the same as what we've seen.</a:t>
            </a:r>
            <a:endParaRPr/>
          </a:p>
          <a:p>
            <a:pPr indent="-342900" lvl="0" marL="457200" rtl="0" algn="l">
              <a:spcBef>
                <a:spcPts val="0"/>
              </a:spcBef>
              <a:spcAft>
                <a:spcPts val="0"/>
              </a:spcAft>
              <a:buSzPts val="1800"/>
              <a:buChar char="●"/>
            </a:pPr>
            <a:r>
              <a:rPr lang="en"/>
              <a:t>Main difference: Managers in the visited and home networks must </a:t>
            </a:r>
            <a:r>
              <a:rPr lang="en"/>
              <a:t>coordinate</a:t>
            </a:r>
            <a:r>
              <a:rPr lang="en"/>
              <a:t>.</a:t>
            </a:r>
            <a:endParaRPr/>
          </a:p>
        </p:txBody>
      </p:sp>
      <p:sp>
        <p:nvSpPr>
          <p:cNvPr id="1483" name="Google Shape;1483;p54"/>
          <p:cNvSpPr/>
          <p:nvPr/>
        </p:nvSpPr>
        <p:spPr>
          <a:xfrm>
            <a:off x="1060114" y="2213263"/>
            <a:ext cx="780600" cy="676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484" name="Google Shape;1484;p54"/>
          <p:cNvGrpSpPr/>
          <p:nvPr/>
        </p:nvGrpSpPr>
        <p:grpSpPr>
          <a:xfrm>
            <a:off x="1360922" y="2373180"/>
            <a:ext cx="178979" cy="356361"/>
            <a:chOff x="7897625" y="3319150"/>
            <a:chExt cx="645900" cy="1285575"/>
          </a:xfrm>
        </p:grpSpPr>
        <p:sp>
          <p:nvSpPr>
            <p:cNvPr id="1485" name="Google Shape;1485;p54"/>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486" name="Google Shape;1486;p54"/>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487" name="Google Shape;1487;p54"/>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488" name="Google Shape;1488;p54"/>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489" name="Google Shape;1489;p54"/>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490" name="Google Shape;1490;p54"/>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491" name="Google Shape;1491;p54"/>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492" name="Google Shape;1492;p54"/>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493" name="Google Shape;1493;p54"/>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494" name="Google Shape;1494;p54"/>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95" name="Google Shape;1495;p54"/>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496" name="Google Shape;1496;p54"/>
            <p:cNvSpPr/>
            <p:nvPr/>
          </p:nvSpPr>
          <p:spPr>
            <a:xfrm>
              <a:off x="8198675" y="3551600"/>
              <a:ext cx="43800" cy="43800"/>
            </a:xfrm>
            <a:prstGeom prst="ellipse">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497" name="Google Shape;1497;p54"/>
          <p:cNvSpPr/>
          <p:nvPr/>
        </p:nvSpPr>
        <p:spPr>
          <a:xfrm>
            <a:off x="1060102" y="2889463"/>
            <a:ext cx="780600" cy="676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498" name="Google Shape;1498;p54"/>
          <p:cNvGrpSpPr/>
          <p:nvPr/>
        </p:nvGrpSpPr>
        <p:grpSpPr>
          <a:xfrm>
            <a:off x="1360910" y="3049380"/>
            <a:ext cx="178979" cy="356361"/>
            <a:chOff x="7897625" y="3319150"/>
            <a:chExt cx="645900" cy="1285575"/>
          </a:xfrm>
        </p:grpSpPr>
        <p:sp>
          <p:nvSpPr>
            <p:cNvPr id="1499" name="Google Shape;1499;p54"/>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500" name="Google Shape;1500;p54"/>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501" name="Google Shape;1501;p54"/>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502" name="Google Shape;1502;p54"/>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503" name="Google Shape;1503;p54"/>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504" name="Google Shape;1504;p54"/>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505" name="Google Shape;1505;p54"/>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506" name="Google Shape;1506;p54"/>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507" name="Google Shape;1507;p54"/>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508" name="Google Shape;1508;p54"/>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09" name="Google Shape;1509;p54"/>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10" name="Google Shape;1510;p54"/>
            <p:cNvSpPr/>
            <p:nvPr/>
          </p:nvSpPr>
          <p:spPr>
            <a:xfrm>
              <a:off x="8198675" y="3551600"/>
              <a:ext cx="43800" cy="43800"/>
            </a:xfrm>
            <a:prstGeom prst="ellipse">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511" name="Google Shape;1511;p54"/>
          <p:cNvSpPr/>
          <p:nvPr/>
        </p:nvSpPr>
        <p:spPr>
          <a:xfrm>
            <a:off x="2136275" y="240887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R1</a:t>
            </a:r>
            <a:endParaRPr>
              <a:solidFill>
                <a:srgbClr val="B7B7B7"/>
              </a:solidFill>
              <a:latin typeface="Roboto"/>
              <a:ea typeface="Roboto"/>
              <a:cs typeface="Roboto"/>
              <a:sym typeface="Roboto"/>
            </a:endParaRPr>
          </a:p>
        </p:txBody>
      </p:sp>
      <p:sp>
        <p:nvSpPr>
          <p:cNvPr id="1512" name="Google Shape;1512;p54"/>
          <p:cNvSpPr/>
          <p:nvPr/>
        </p:nvSpPr>
        <p:spPr>
          <a:xfrm>
            <a:off x="2136275" y="308872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R2</a:t>
            </a:r>
            <a:endParaRPr>
              <a:solidFill>
                <a:srgbClr val="B7B7B7"/>
              </a:solidFill>
              <a:latin typeface="Roboto"/>
              <a:ea typeface="Roboto"/>
              <a:cs typeface="Roboto"/>
              <a:sym typeface="Roboto"/>
            </a:endParaRPr>
          </a:p>
        </p:txBody>
      </p:sp>
      <p:sp>
        <p:nvSpPr>
          <p:cNvPr id="1513" name="Google Shape;1513;p54"/>
          <p:cNvSpPr/>
          <p:nvPr/>
        </p:nvSpPr>
        <p:spPr>
          <a:xfrm>
            <a:off x="3050675" y="2748800"/>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P1</a:t>
            </a:r>
            <a:endParaRPr>
              <a:solidFill>
                <a:srgbClr val="B7B7B7"/>
              </a:solidFill>
              <a:latin typeface="Roboto"/>
              <a:ea typeface="Roboto"/>
              <a:cs typeface="Roboto"/>
              <a:sym typeface="Roboto"/>
            </a:endParaRPr>
          </a:p>
        </p:txBody>
      </p:sp>
      <p:cxnSp>
        <p:nvCxnSpPr>
          <p:cNvPr id="1514" name="Google Shape;1514;p54"/>
          <p:cNvCxnSpPr>
            <a:stCxn id="1511" idx="1"/>
          </p:cNvCxnSpPr>
          <p:nvPr/>
        </p:nvCxnSpPr>
        <p:spPr>
          <a:xfrm rot="10800000">
            <a:off x="1617275" y="2551375"/>
            <a:ext cx="519000" cy="0"/>
          </a:xfrm>
          <a:prstGeom prst="straightConnector1">
            <a:avLst/>
          </a:prstGeom>
          <a:noFill/>
          <a:ln cap="flat" cmpd="sng" w="9525">
            <a:solidFill>
              <a:srgbClr val="B7B7B7"/>
            </a:solidFill>
            <a:prstDash val="solid"/>
            <a:round/>
            <a:headEnd len="med" w="med" type="none"/>
            <a:tailEnd len="med" w="med" type="none"/>
          </a:ln>
        </p:spPr>
      </p:cxnSp>
      <p:cxnSp>
        <p:nvCxnSpPr>
          <p:cNvPr id="1515" name="Google Shape;1515;p54"/>
          <p:cNvCxnSpPr/>
          <p:nvPr/>
        </p:nvCxnSpPr>
        <p:spPr>
          <a:xfrm rot="10800000">
            <a:off x="1617275" y="3231225"/>
            <a:ext cx="519000" cy="0"/>
          </a:xfrm>
          <a:prstGeom prst="straightConnector1">
            <a:avLst/>
          </a:prstGeom>
          <a:noFill/>
          <a:ln cap="flat" cmpd="sng" w="9525">
            <a:solidFill>
              <a:srgbClr val="B7B7B7"/>
            </a:solidFill>
            <a:prstDash val="solid"/>
            <a:round/>
            <a:headEnd len="med" w="med" type="none"/>
            <a:tailEnd len="med" w="med" type="none"/>
          </a:ln>
        </p:spPr>
      </p:cxnSp>
      <p:cxnSp>
        <p:nvCxnSpPr>
          <p:cNvPr id="1516" name="Google Shape;1516;p54"/>
          <p:cNvCxnSpPr>
            <a:stCxn id="1511" idx="3"/>
            <a:endCxn id="1513" idx="1"/>
          </p:cNvCxnSpPr>
          <p:nvPr/>
        </p:nvCxnSpPr>
        <p:spPr>
          <a:xfrm>
            <a:off x="2421275" y="2551375"/>
            <a:ext cx="629400" cy="339900"/>
          </a:xfrm>
          <a:prstGeom prst="straightConnector1">
            <a:avLst/>
          </a:prstGeom>
          <a:noFill/>
          <a:ln cap="flat" cmpd="sng" w="9525">
            <a:solidFill>
              <a:srgbClr val="B7B7B7"/>
            </a:solidFill>
            <a:prstDash val="solid"/>
            <a:round/>
            <a:headEnd len="med" w="med" type="none"/>
            <a:tailEnd len="med" w="med" type="none"/>
          </a:ln>
        </p:spPr>
      </p:cxnSp>
      <p:cxnSp>
        <p:nvCxnSpPr>
          <p:cNvPr id="1517" name="Google Shape;1517;p54"/>
          <p:cNvCxnSpPr>
            <a:stCxn id="1512" idx="3"/>
            <a:endCxn id="1513" idx="1"/>
          </p:cNvCxnSpPr>
          <p:nvPr/>
        </p:nvCxnSpPr>
        <p:spPr>
          <a:xfrm flipH="1" rot="10800000">
            <a:off x="2421275" y="2891325"/>
            <a:ext cx="629400" cy="339900"/>
          </a:xfrm>
          <a:prstGeom prst="straightConnector1">
            <a:avLst/>
          </a:prstGeom>
          <a:noFill/>
          <a:ln cap="flat" cmpd="sng" w="9525">
            <a:solidFill>
              <a:srgbClr val="B7B7B7"/>
            </a:solidFill>
            <a:prstDash val="solid"/>
            <a:round/>
            <a:headEnd len="med" w="med" type="none"/>
            <a:tailEnd len="med" w="med" type="none"/>
          </a:ln>
        </p:spPr>
      </p:cxnSp>
      <p:sp>
        <p:nvSpPr>
          <p:cNvPr id="1518" name="Google Shape;1518;p54"/>
          <p:cNvSpPr/>
          <p:nvPr/>
        </p:nvSpPr>
        <p:spPr>
          <a:xfrm>
            <a:off x="1320000" y="3681488"/>
            <a:ext cx="448200" cy="3564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DB</a:t>
            </a:r>
            <a:endParaRPr sz="1200">
              <a:latin typeface="Roboto"/>
              <a:ea typeface="Roboto"/>
              <a:cs typeface="Roboto"/>
              <a:sym typeface="Roboto"/>
            </a:endParaRPr>
          </a:p>
        </p:txBody>
      </p:sp>
      <p:cxnSp>
        <p:nvCxnSpPr>
          <p:cNvPr id="1519" name="Google Shape;1519;p54"/>
          <p:cNvCxnSpPr>
            <a:stCxn id="1518" idx="4"/>
            <a:endCxn id="1520" idx="1"/>
          </p:cNvCxnSpPr>
          <p:nvPr/>
        </p:nvCxnSpPr>
        <p:spPr>
          <a:xfrm>
            <a:off x="1768200" y="3859688"/>
            <a:ext cx="430800" cy="0"/>
          </a:xfrm>
          <a:prstGeom prst="straightConnector1">
            <a:avLst/>
          </a:prstGeom>
          <a:noFill/>
          <a:ln cap="flat" cmpd="sng" w="28575">
            <a:solidFill>
              <a:schemeClr val="accent2"/>
            </a:solidFill>
            <a:prstDash val="solid"/>
            <a:round/>
            <a:headEnd len="med" w="med" type="none"/>
            <a:tailEnd len="med" w="med" type="none"/>
          </a:ln>
        </p:spPr>
      </p:cxnSp>
      <p:sp>
        <p:nvSpPr>
          <p:cNvPr id="1520" name="Google Shape;1520;p54"/>
          <p:cNvSpPr/>
          <p:nvPr/>
        </p:nvSpPr>
        <p:spPr>
          <a:xfrm>
            <a:off x="2199125" y="3691040"/>
            <a:ext cx="960600" cy="3372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Manager</a:t>
            </a:r>
            <a:endParaRPr sz="1200">
              <a:latin typeface="Roboto"/>
              <a:ea typeface="Roboto"/>
              <a:cs typeface="Roboto"/>
              <a:sym typeface="Roboto"/>
            </a:endParaRPr>
          </a:p>
        </p:txBody>
      </p:sp>
      <p:sp>
        <p:nvSpPr>
          <p:cNvPr id="1521" name="Google Shape;1521;p54"/>
          <p:cNvSpPr txBox="1"/>
          <p:nvPr/>
        </p:nvSpPr>
        <p:spPr>
          <a:xfrm>
            <a:off x="1410525" y="4345575"/>
            <a:ext cx="13218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Home network</a:t>
            </a:r>
            <a:endParaRPr>
              <a:solidFill>
                <a:schemeClr val="dk1"/>
              </a:solidFill>
              <a:latin typeface="Roboto"/>
              <a:ea typeface="Roboto"/>
              <a:cs typeface="Roboto"/>
              <a:sym typeface="Roboto"/>
            </a:endParaRPr>
          </a:p>
        </p:txBody>
      </p:sp>
      <p:sp>
        <p:nvSpPr>
          <p:cNvPr id="1522" name="Google Shape;1522;p54"/>
          <p:cNvSpPr/>
          <p:nvPr/>
        </p:nvSpPr>
        <p:spPr>
          <a:xfrm>
            <a:off x="7113932" y="2963923"/>
            <a:ext cx="780600" cy="676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523" name="Google Shape;1523;p54"/>
          <p:cNvGrpSpPr/>
          <p:nvPr/>
        </p:nvGrpSpPr>
        <p:grpSpPr>
          <a:xfrm>
            <a:off x="7414740" y="3123841"/>
            <a:ext cx="178979" cy="356361"/>
            <a:chOff x="7897625" y="3319150"/>
            <a:chExt cx="645900" cy="1285575"/>
          </a:xfrm>
        </p:grpSpPr>
        <p:sp>
          <p:nvSpPr>
            <p:cNvPr id="1524" name="Google Shape;1524;p54"/>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525" name="Google Shape;1525;p54"/>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526" name="Google Shape;1526;p54"/>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527" name="Google Shape;1527;p54"/>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528" name="Google Shape;1528;p54"/>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529" name="Google Shape;1529;p54"/>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530" name="Google Shape;1530;p54"/>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531" name="Google Shape;1531;p54"/>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532" name="Google Shape;1532;p54"/>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533" name="Google Shape;1533;p54"/>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34" name="Google Shape;1534;p54"/>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35" name="Google Shape;1535;p54"/>
            <p:cNvSpPr/>
            <p:nvPr/>
          </p:nvSpPr>
          <p:spPr>
            <a:xfrm>
              <a:off x="8198675" y="3551600"/>
              <a:ext cx="43800" cy="43800"/>
            </a:xfrm>
            <a:prstGeom prst="ellipse">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536" name="Google Shape;1536;p54"/>
          <p:cNvSpPr/>
          <p:nvPr/>
        </p:nvSpPr>
        <p:spPr>
          <a:xfrm>
            <a:off x="7113920" y="3640123"/>
            <a:ext cx="780600" cy="676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537" name="Google Shape;1537;p54"/>
          <p:cNvGrpSpPr/>
          <p:nvPr/>
        </p:nvGrpSpPr>
        <p:grpSpPr>
          <a:xfrm>
            <a:off x="7414728" y="3800041"/>
            <a:ext cx="178979" cy="356361"/>
            <a:chOff x="7897625" y="3319150"/>
            <a:chExt cx="645900" cy="1285575"/>
          </a:xfrm>
        </p:grpSpPr>
        <p:sp>
          <p:nvSpPr>
            <p:cNvPr id="1538" name="Google Shape;1538;p54"/>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539" name="Google Shape;1539;p54"/>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540" name="Google Shape;1540;p54"/>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541" name="Google Shape;1541;p54"/>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542" name="Google Shape;1542;p54"/>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543" name="Google Shape;1543;p54"/>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544" name="Google Shape;1544;p54"/>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545" name="Google Shape;1545;p54"/>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1546" name="Google Shape;1546;p54"/>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1547" name="Google Shape;1547;p54"/>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48" name="Google Shape;1548;p54"/>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549" name="Google Shape;1549;p54"/>
            <p:cNvSpPr/>
            <p:nvPr/>
          </p:nvSpPr>
          <p:spPr>
            <a:xfrm>
              <a:off x="8198675" y="3551600"/>
              <a:ext cx="43800" cy="43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550" name="Google Shape;1550;p54"/>
          <p:cNvSpPr/>
          <p:nvPr/>
        </p:nvSpPr>
        <p:spPr>
          <a:xfrm>
            <a:off x="6513693" y="3159536"/>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R1</a:t>
            </a:r>
            <a:endParaRPr>
              <a:solidFill>
                <a:srgbClr val="B7B7B7"/>
              </a:solidFill>
              <a:latin typeface="Roboto"/>
              <a:ea typeface="Roboto"/>
              <a:cs typeface="Roboto"/>
              <a:sym typeface="Roboto"/>
            </a:endParaRPr>
          </a:p>
        </p:txBody>
      </p:sp>
      <p:sp>
        <p:nvSpPr>
          <p:cNvPr id="1551" name="Google Shape;1551;p54"/>
          <p:cNvSpPr/>
          <p:nvPr/>
        </p:nvSpPr>
        <p:spPr>
          <a:xfrm>
            <a:off x="6513693" y="3839386"/>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R2</a:t>
            </a:r>
            <a:endParaRPr>
              <a:latin typeface="Roboto"/>
              <a:ea typeface="Roboto"/>
              <a:cs typeface="Roboto"/>
              <a:sym typeface="Roboto"/>
            </a:endParaRPr>
          </a:p>
        </p:txBody>
      </p:sp>
      <p:sp>
        <p:nvSpPr>
          <p:cNvPr id="1552" name="Google Shape;1552;p54"/>
          <p:cNvSpPr/>
          <p:nvPr/>
        </p:nvSpPr>
        <p:spPr>
          <a:xfrm>
            <a:off x="5751693" y="3499461"/>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P1</a:t>
            </a:r>
            <a:endParaRPr>
              <a:latin typeface="Roboto"/>
              <a:ea typeface="Roboto"/>
              <a:cs typeface="Roboto"/>
              <a:sym typeface="Roboto"/>
            </a:endParaRPr>
          </a:p>
        </p:txBody>
      </p:sp>
      <p:cxnSp>
        <p:nvCxnSpPr>
          <p:cNvPr id="1553" name="Google Shape;1553;p54"/>
          <p:cNvCxnSpPr>
            <a:stCxn id="1550" idx="3"/>
          </p:cNvCxnSpPr>
          <p:nvPr/>
        </p:nvCxnSpPr>
        <p:spPr>
          <a:xfrm>
            <a:off x="6798693" y="3302036"/>
            <a:ext cx="539700" cy="0"/>
          </a:xfrm>
          <a:prstGeom prst="straightConnector1">
            <a:avLst/>
          </a:prstGeom>
          <a:noFill/>
          <a:ln cap="flat" cmpd="sng" w="9525">
            <a:solidFill>
              <a:srgbClr val="B7B7B7"/>
            </a:solidFill>
            <a:prstDash val="solid"/>
            <a:round/>
            <a:headEnd len="med" w="med" type="none"/>
            <a:tailEnd len="med" w="med" type="none"/>
          </a:ln>
        </p:spPr>
      </p:cxnSp>
      <p:cxnSp>
        <p:nvCxnSpPr>
          <p:cNvPr id="1554" name="Google Shape;1554;p54"/>
          <p:cNvCxnSpPr>
            <a:stCxn id="1551" idx="3"/>
          </p:cNvCxnSpPr>
          <p:nvPr/>
        </p:nvCxnSpPr>
        <p:spPr>
          <a:xfrm>
            <a:off x="6798693" y="3981886"/>
            <a:ext cx="539700" cy="0"/>
          </a:xfrm>
          <a:prstGeom prst="straightConnector1">
            <a:avLst/>
          </a:prstGeom>
          <a:noFill/>
          <a:ln cap="flat" cmpd="sng" w="28575">
            <a:solidFill>
              <a:srgbClr val="0000FF"/>
            </a:solidFill>
            <a:prstDash val="solid"/>
            <a:round/>
            <a:headEnd len="med" w="med" type="none"/>
            <a:tailEnd len="med" w="med" type="none"/>
          </a:ln>
        </p:spPr>
      </p:cxnSp>
      <p:cxnSp>
        <p:nvCxnSpPr>
          <p:cNvPr id="1555" name="Google Shape;1555;p54"/>
          <p:cNvCxnSpPr>
            <a:stCxn id="1550" idx="1"/>
            <a:endCxn id="1552" idx="3"/>
          </p:cNvCxnSpPr>
          <p:nvPr/>
        </p:nvCxnSpPr>
        <p:spPr>
          <a:xfrm flipH="1">
            <a:off x="6036693" y="3302036"/>
            <a:ext cx="477000" cy="339900"/>
          </a:xfrm>
          <a:prstGeom prst="straightConnector1">
            <a:avLst/>
          </a:prstGeom>
          <a:noFill/>
          <a:ln cap="flat" cmpd="sng" w="9525">
            <a:solidFill>
              <a:srgbClr val="B7B7B7"/>
            </a:solidFill>
            <a:prstDash val="solid"/>
            <a:round/>
            <a:headEnd len="med" w="med" type="none"/>
            <a:tailEnd len="med" w="med" type="none"/>
          </a:ln>
        </p:spPr>
      </p:cxnSp>
      <p:cxnSp>
        <p:nvCxnSpPr>
          <p:cNvPr id="1556" name="Google Shape;1556;p54"/>
          <p:cNvCxnSpPr>
            <a:stCxn id="1551" idx="1"/>
            <a:endCxn id="1552" idx="3"/>
          </p:cNvCxnSpPr>
          <p:nvPr/>
        </p:nvCxnSpPr>
        <p:spPr>
          <a:xfrm rot="10800000">
            <a:off x="6036693" y="3641986"/>
            <a:ext cx="477000" cy="339900"/>
          </a:xfrm>
          <a:prstGeom prst="straightConnector1">
            <a:avLst/>
          </a:prstGeom>
          <a:noFill/>
          <a:ln cap="flat" cmpd="sng" w="28575">
            <a:solidFill>
              <a:srgbClr val="0000FF"/>
            </a:solidFill>
            <a:prstDash val="solid"/>
            <a:round/>
            <a:headEnd len="med" w="med" type="none"/>
            <a:tailEnd len="med" w="med" type="none"/>
          </a:ln>
        </p:spPr>
      </p:cxnSp>
      <p:sp>
        <p:nvSpPr>
          <p:cNvPr id="1557" name="Google Shape;1557;p54"/>
          <p:cNvSpPr/>
          <p:nvPr/>
        </p:nvSpPr>
        <p:spPr>
          <a:xfrm>
            <a:off x="7373818" y="4432148"/>
            <a:ext cx="448200" cy="3564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DB</a:t>
            </a:r>
            <a:endParaRPr sz="1200">
              <a:latin typeface="Roboto"/>
              <a:ea typeface="Roboto"/>
              <a:cs typeface="Roboto"/>
              <a:sym typeface="Roboto"/>
            </a:endParaRPr>
          </a:p>
        </p:txBody>
      </p:sp>
      <p:cxnSp>
        <p:nvCxnSpPr>
          <p:cNvPr id="1558" name="Google Shape;1558;p54"/>
          <p:cNvCxnSpPr>
            <a:stCxn id="1557" idx="2"/>
            <a:endCxn id="1559" idx="3"/>
          </p:cNvCxnSpPr>
          <p:nvPr/>
        </p:nvCxnSpPr>
        <p:spPr>
          <a:xfrm rot="10800000">
            <a:off x="6927418" y="4610348"/>
            <a:ext cx="446400" cy="0"/>
          </a:xfrm>
          <a:prstGeom prst="straightConnector1">
            <a:avLst/>
          </a:prstGeom>
          <a:noFill/>
          <a:ln cap="flat" cmpd="sng" w="28575">
            <a:solidFill>
              <a:schemeClr val="accent2"/>
            </a:solidFill>
            <a:prstDash val="solid"/>
            <a:round/>
            <a:headEnd len="med" w="med" type="none"/>
            <a:tailEnd len="med" w="med" type="none"/>
          </a:ln>
        </p:spPr>
      </p:cxnSp>
      <p:sp>
        <p:nvSpPr>
          <p:cNvPr id="1559" name="Google Shape;1559;p54"/>
          <p:cNvSpPr/>
          <p:nvPr/>
        </p:nvSpPr>
        <p:spPr>
          <a:xfrm>
            <a:off x="5966943" y="4441701"/>
            <a:ext cx="960600" cy="3372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Manager</a:t>
            </a:r>
            <a:endParaRPr sz="1200">
              <a:latin typeface="Roboto"/>
              <a:ea typeface="Roboto"/>
              <a:cs typeface="Roboto"/>
              <a:sym typeface="Roboto"/>
            </a:endParaRPr>
          </a:p>
        </p:txBody>
      </p:sp>
      <p:sp>
        <p:nvSpPr>
          <p:cNvPr id="1560" name="Google Shape;1560;p54"/>
          <p:cNvSpPr txBox="1"/>
          <p:nvPr/>
        </p:nvSpPr>
        <p:spPr>
          <a:xfrm>
            <a:off x="6204943" y="2366536"/>
            <a:ext cx="13218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Visited </a:t>
            </a:r>
            <a:r>
              <a:rPr lang="en">
                <a:solidFill>
                  <a:schemeClr val="dk1"/>
                </a:solidFill>
                <a:latin typeface="Roboto"/>
                <a:ea typeface="Roboto"/>
                <a:cs typeface="Roboto"/>
                <a:sym typeface="Roboto"/>
              </a:rPr>
              <a:t>network</a:t>
            </a:r>
            <a:endParaRPr>
              <a:solidFill>
                <a:schemeClr val="dk1"/>
              </a:solidFill>
              <a:latin typeface="Roboto"/>
              <a:ea typeface="Roboto"/>
              <a:cs typeface="Roboto"/>
              <a:sym typeface="Roboto"/>
            </a:endParaRPr>
          </a:p>
        </p:txBody>
      </p:sp>
      <p:cxnSp>
        <p:nvCxnSpPr>
          <p:cNvPr id="1561" name="Google Shape;1561;p54"/>
          <p:cNvCxnSpPr>
            <a:stCxn id="1513" idx="3"/>
          </p:cNvCxnSpPr>
          <p:nvPr/>
        </p:nvCxnSpPr>
        <p:spPr>
          <a:xfrm>
            <a:off x="3335675" y="2891300"/>
            <a:ext cx="757800" cy="437400"/>
          </a:xfrm>
          <a:prstGeom prst="straightConnector1">
            <a:avLst/>
          </a:prstGeom>
          <a:noFill/>
          <a:ln cap="flat" cmpd="sng" w="9525">
            <a:solidFill>
              <a:srgbClr val="B7B7B7"/>
            </a:solidFill>
            <a:prstDash val="solid"/>
            <a:round/>
            <a:headEnd len="med" w="med" type="none"/>
            <a:tailEnd len="med" w="med" type="none"/>
          </a:ln>
        </p:spPr>
      </p:cxnSp>
      <p:cxnSp>
        <p:nvCxnSpPr>
          <p:cNvPr id="1562" name="Google Shape;1562;p54"/>
          <p:cNvCxnSpPr>
            <a:endCxn id="1552" idx="1"/>
          </p:cNvCxnSpPr>
          <p:nvPr/>
        </p:nvCxnSpPr>
        <p:spPr>
          <a:xfrm>
            <a:off x="4882893" y="3641961"/>
            <a:ext cx="868800" cy="0"/>
          </a:xfrm>
          <a:prstGeom prst="straightConnector1">
            <a:avLst/>
          </a:prstGeom>
          <a:noFill/>
          <a:ln cap="flat" cmpd="sng" w="28575">
            <a:solidFill>
              <a:srgbClr val="0000FF"/>
            </a:solidFill>
            <a:prstDash val="solid"/>
            <a:round/>
            <a:headEnd len="med" w="med" type="none"/>
            <a:tailEnd len="med" w="med" type="none"/>
          </a:ln>
        </p:spPr>
      </p:cxnSp>
      <p:sp>
        <p:nvSpPr>
          <p:cNvPr id="1563" name="Google Shape;1563;p54"/>
          <p:cNvSpPr/>
          <p:nvPr/>
        </p:nvSpPr>
        <p:spPr>
          <a:xfrm>
            <a:off x="3849180" y="2213275"/>
            <a:ext cx="1371900" cy="2459400"/>
          </a:xfrm>
          <a:prstGeom prst="ellipse">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Internet</a:t>
            </a:r>
            <a:endParaRPr>
              <a:latin typeface="Roboto"/>
              <a:ea typeface="Roboto"/>
              <a:cs typeface="Roboto"/>
              <a:sym typeface="Roboto"/>
            </a:endParaRPr>
          </a:p>
        </p:txBody>
      </p:sp>
      <p:cxnSp>
        <p:nvCxnSpPr>
          <p:cNvPr id="1564" name="Google Shape;1564;p54"/>
          <p:cNvCxnSpPr>
            <a:stCxn id="1520" idx="3"/>
            <a:endCxn id="1559" idx="1"/>
          </p:cNvCxnSpPr>
          <p:nvPr/>
        </p:nvCxnSpPr>
        <p:spPr>
          <a:xfrm>
            <a:off x="3159725" y="3859640"/>
            <a:ext cx="2807100" cy="750600"/>
          </a:xfrm>
          <a:prstGeom prst="straightConnector1">
            <a:avLst/>
          </a:prstGeom>
          <a:noFill/>
          <a:ln cap="flat" cmpd="sng" w="28575">
            <a:solidFill>
              <a:schemeClr val="accent2"/>
            </a:solidFill>
            <a:prstDash val="solid"/>
            <a:round/>
            <a:headEnd len="med" w="med" type="none"/>
            <a:tailEnd len="med" w="med" type="none"/>
          </a:ln>
        </p:spPr>
      </p:cxnSp>
      <p:grpSp>
        <p:nvGrpSpPr>
          <p:cNvPr id="1565" name="Google Shape;1565;p54"/>
          <p:cNvGrpSpPr/>
          <p:nvPr/>
        </p:nvGrpSpPr>
        <p:grpSpPr>
          <a:xfrm flipH="1">
            <a:off x="7938925" y="3706025"/>
            <a:ext cx="384763" cy="551700"/>
            <a:chOff x="160300" y="2651875"/>
            <a:chExt cx="384763" cy="551700"/>
          </a:xfrm>
        </p:grpSpPr>
        <p:pic>
          <p:nvPicPr>
            <p:cNvPr id="1566" name="Google Shape;1566;p54"/>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1567" name="Google Shape;1567;p54"/>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1" name="Shape 1571"/>
        <p:cNvGrpSpPr/>
        <p:nvPr/>
      </p:nvGrpSpPr>
      <p:grpSpPr>
        <a:xfrm>
          <a:off x="0" y="0"/>
          <a:ext cx="0" cy="0"/>
          <a:chOff x="0" y="0"/>
          <a:chExt cx="0" cy="0"/>
        </a:xfrm>
      </p:grpSpPr>
      <p:sp>
        <p:nvSpPr>
          <p:cNvPr id="1572" name="Google Shape;1572;p55"/>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Why is Cellular Different?</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Brief History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Standards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Challenge: Mobility</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Cellular Networks</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Infrastructure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High-Level View</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Step 0: Registration</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Step 1: Discovery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2: Attachment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3: Data Exchange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4: Handover</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Roaming and Other Features</a:t>
            </a:r>
            <a:endParaRPr>
              <a:solidFill>
                <a:srgbClr val="B7B7B7"/>
              </a:solidFill>
            </a:endParaRPr>
          </a:p>
        </p:txBody>
      </p:sp>
      <p:sp>
        <p:nvSpPr>
          <p:cNvPr id="1573" name="Google Shape;1573;p55"/>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Step 0: Registration</a:t>
            </a:r>
            <a:endParaRPr/>
          </a:p>
        </p:txBody>
      </p:sp>
      <p:sp>
        <p:nvSpPr>
          <p:cNvPr id="1574" name="Google Shape;1574;p55"/>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25</a:t>
            </a:r>
            <a:r>
              <a:rPr lang="en"/>
              <a:t>, CS 168, </a:t>
            </a:r>
            <a:r>
              <a:rPr lang="en"/>
              <a:t>Spring 2026</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8" name="Shape 1578"/>
        <p:cNvGrpSpPr/>
        <p:nvPr/>
      </p:nvGrpSpPr>
      <p:grpSpPr>
        <a:xfrm>
          <a:off x="0" y="0"/>
          <a:ext cx="0" cy="0"/>
          <a:chOff x="0" y="0"/>
          <a:chExt cx="0" cy="0"/>
        </a:xfrm>
      </p:grpSpPr>
      <p:sp>
        <p:nvSpPr>
          <p:cNvPr id="1579" name="Google Shape;1579;p56"/>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Identifying User Devices: IMSI</a:t>
            </a:r>
            <a:endParaRPr/>
          </a:p>
        </p:txBody>
      </p:sp>
      <p:sp>
        <p:nvSpPr>
          <p:cNvPr id="1580" name="Google Shape;1580;p56"/>
          <p:cNvSpPr txBox="1"/>
          <p:nvPr>
            <p:ph idx="1" type="body"/>
          </p:nvPr>
        </p:nvSpPr>
        <p:spPr>
          <a:xfrm>
            <a:off x="107050" y="402200"/>
            <a:ext cx="8909700" cy="1959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When you register for a service, you receive an IMSI </a:t>
            </a:r>
            <a:r>
              <a:rPr lang="en" sz="1400">
                <a:solidFill>
                  <a:schemeClr val="accent3"/>
                </a:solidFill>
              </a:rPr>
              <a:t>(</a:t>
            </a:r>
            <a:r>
              <a:rPr i="1" lang="en" sz="1400">
                <a:solidFill>
                  <a:schemeClr val="accent3"/>
                </a:solidFill>
              </a:rPr>
              <a:t>International Mobile Subscriber Identity</a:t>
            </a:r>
            <a:r>
              <a:rPr lang="en" sz="1400">
                <a:solidFill>
                  <a:schemeClr val="accent3"/>
                </a:solidFill>
              </a:rPr>
              <a:t>)</a:t>
            </a:r>
            <a:r>
              <a:rPr lang="en"/>
              <a:t>.</a:t>
            </a:r>
            <a:endParaRPr sz="1400"/>
          </a:p>
          <a:p>
            <a:pPr indent="-342900" lvl="0" marL="457200" rtl="0" algn="l">
              <a:spcBef>
                <a:spcPts val="600"/>
              </a:spcBef>
              <a:spcAft>
                <a:spcPts val="0"/>
              </a:spcAft>
              <a:buSzPts val="1800"/>
              <a:buChar char="●"/>
            </a:pPr>
            <a:r>
              <a:rPr lang="en"/>
              <a:t>Uniquely identifies a user's subscription.</a:t>
            </a:r>
            <a:endParaRPr/>
          </a:p>
          <a:p>
            <a:pPr indent="-342900" lvl="0" marL="457200" rtl="0" algn="l">
              <a:spcBef>
                <a:spcPts val="0"/>
              </a:spcBef>
              <a:spcAft>
                <a:spcPts val="0"/>
              </a:spcAft>
              <a:buSzPts val="1800"/>
              <a:buChar char="●"/>
            </a:pPr>
            <a:r>
              <a:rPr lang="en"/>
              <a:t>Securely stored in hardware (SIM) card.</a:t>
            </a:r>
            <a:endParaRPr/>
          </a:p>
          <a:p>
            <a:pPr indent="-342900" lvl="0" marL="457200" rtl="0" algn="l">
              <a:spcBef>
                <a:spcPts val="0"/>
              </a:spcBef>
              <a:spcAft>
                <a:spcPts val="0"/>
              </a:spcAft>
              <a:buSzPts val="1800"/>
              <a:buChar char="●"/>
            </a:pPr>
            <a:r>
              <a:rPr lang="en"/>
              <a:t>IMSI stays the same if you switch phones, but keep the same service plan.</a:t>
            </a:r>
            <a:endParaRPr/>
          </a:p>
        </p:txBody>
      </p:sp>
      <p:sp>
        <p:nvSpPr>
          <p:cNvPr id="1581" name="Google Shape;1581;p56"/>
          <p:cNvSpPr/>
          <p:nvPr/>
        </p:nvSpPr>
        <p:spPr>
          <a:xfrm>
            <a:off x="1298787" y="3098850"/>
            <a:ext cx="1112100" cy="5889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MCC</a:t>
            </a:r>
            <a:br>
              <a:rPr lang="en">
                <a:latin typeface="Roboto"/>
                <a:ea typeface="Roboto"/>
                <a:cs typeface="Roboto"/>
                <a:sym typeface="Roboto"/>
              </a:rPr>
            </a:br>
            <a:r>
              <a:rPr lang="en">
                <a:latin typeface="Roboto"/>
                <a:ea typeface="Roboto"/>
                <a:cs typeface="Roboto"/>
                <a:sym typeface="Roboto"/>
              </a:rPr>
              <a:t>(3 digits)</a:t>
            </a:r>
            <a:endParaRPr>
              <a:latin typeface="Roboto"/>
              <a:ea typeface="Roboto"/>
              <a:cs typeface="Roboto"/>
              <a:sym typeface="Roboto"/>
            </a:endParaRPr>
          </a:p>
        </p:txBody>
      </p:sp>
      <p:sp>
        <p:nvSpPr>
          <p:cNvPr id="1582" name="Google Shape;1582;p56"/>
          <p:cNvSpPr/>
          <p:nvPr/>
        </p:nvSpPr>
        <p:spPr>
          <a:xfrm>
            <a:off x="2411106" y="3098850"/>
            <a:ext cx="1112100" cy="588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MNC</a:t>
            </a:r>
            <a:br>
              <a:rPr lang="en">
                <a:latin typeface="Roboto"/>
                <a:ea typeface="Roboto"/>
                <a:cs typeface="Roboto"/>
                <a:sym typeface="Roboto"/>
              </a:rPr>
            </a:br>
            <a:r>
              <a:rPr lang="en">
                <a:latin typeface="Roboto"/>
                <a:ea typeface="Roboto"/>
                <a:cs typeface="Roboto"/>
                <a:sym typeface="Roboto"/>
              </a:rPr>
              <a:t>(2–3 digits)</a:t>
            </a:r>
            <a:endParaRPr>
              <a:latin typeface="Roboto"/>
              <a:ea typeface="Roboto"/>
              <a:cs typeface="Roboto"/>
              <a:sym typeface="Roboto"/>
            </a:endParaRPr>
          </a:p>
        </p:txBody>
      </p:sp>
      <p:sp>
        <p:nvSpPr>
          <p:cNvPr id="1583" name="Google Shape;1583;p56"/>
          <p:cNvSpPr/>
          <p:nvPr/>
        </p:nvSpPr>
        <p:spPr>
          <a:xfrm>
            <a:off x="3523425" y="3098850"/>
            <a:ext cx="4321800" cy="5889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MSIN</a:t>
            </a:r>
            <a:br>
              <a:rPr lang="en">
                <a:latin typeface="Roboto"/>
                <a:ea typeface="Roboto"/>
                <a:cs typeface="Roboto"/>
                <a:sym typeface="Roboto"/>
              </a:rPr>
            </a:br>
            <a:r>
              <a:rPr lang="en">
                <a:latin typeface="Roboto"/>
                <a:ea typeface="Roboto"/>
                <a:cs typeface="Roboto"/>
                <a:sym typeface="Roboto"/>
              </a:rPr>
              <a:t>(9–10 digits)</a:t>
            </a:r>
            <a:endParaRPr>
              <a:latin typeface="Roboto"/>
              <a:ea typeface="Roboto"/>
              <a:cs typeface="Roboto"/>
              <a:sym typeface="Roboto"/>
            </a:endParaRPr>
          </a:p>
        </p:txBody>
      </p:sp>
      <p:sp>
        <p:nvSpPr>
          <p:cNvPr id="1584" name="Google Shape;1584;p56"/>
          <p:cNvSpPr txBox="1"/>
          <p:nvPr/>
        </p:nvSpPr>
        <p:spPr>
          <a:xfrm>
            <a:off x="1444877" y="3763950"/>
            <a:ext cx="819900" cy="7941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600">
                <a:solidFill>
                  <a:schemeClr val="accent2"/>
                </a:solidFill>
                <a:latin typeface="Roboto"/>
                <a:ea typeface="Roboto"/>
                <a:cs typeface="Roboto"/>
                <a:sym typeface="Roboto"/>
              </a:rPr>
              <a:t>Mobile </a:t>
            </a:r>
            <a:r>
              <a:rPr b="1" lang="en" sz="1600">
                <a:solidFill>
                  <a:schemeClr val="accent2"/>
                </a:solidFill>
                <a:latin typeface="Roboto"/>
                <a:ea typeface="Roboto"/>
                <a:cs typeface="Roboto"/>
                <a:sym typeface="Roboto"/>
              </a:rPr>
              <a:t>Country </a:t>
            </a:r>
            <a:r>
              <a:rPr lang="en" sz="1600">
                <a:solidFill>
                  <a:schemeClr val="accent2"/>
                </a:solidFill>
                <a:latin typeface="Roboto"/>
                <a:ea typeface="Roboto"/>
                <a:cs typeface="Roboto"/>
                <a:sym typeface="Roboto"/>
              </a:rPr>
              <a:t>Code</a:t>
            </a:r>
            <a:endParaRPr sz="1600">
              <a:solidFill>
                <a:schemeClr val="accent2"/>
              </a:solidFill>
              <a:latin typeface="Roboto"/>
              <a:ea typeface="Roboto"/>
              <a:cs typeface="Roboto"/>
              <a:sym typeface="Roboto"/>
            </a:endParaRPr>
          </a:p>
        </p:txBody>
      </p:sp>
      <p:sp>
        <p:nvSpPr>
          <p:cNvPr id="1585" name="Google Shape;1585;p56"/>
          <p:cNvSpPr txBox="1"/>
          <p:nvPr/>
        </p:nvSpPr>
        <p:spPr>
          <a:xfrm>
            <a:off x="2498853" y="3763950"/>
            <a:ext cx="936600" cy="7941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600">
                <a:solidFill>
                  <a:schemeClr val="accent3"/>
                </a:solidFill>
                <a:latin typeface="Roboto"/>
                <a:ea typeface="Roboto"/>
                <a:cs typeface="Roboto"/>
                <a:sym typeface="Roboto"/>
              </a:rPr>
              <a:t>Mobile </a:t>
            </a:r>
            <a:r>
              <a:rPr b="1" lang="en" sz="1600">
                <a:solidFill>
                  <a:schemeClr val="accent3"/>
                </a:solidFill>
                <a:latin typeface="Roboto"/>
                <a:ea typeface="Roboto"/>
                <a:cs typeface="Roboto"/>
                <a:sym typeface="Roboto"/>
              </a:rPr>
              <a:t>Network </a:t>
            </a:r>
            <a:r>
              <a:rPr lang="en" sz="1600">
                <a:solidFill>
                  <a:schemeClr val="accent3"/>
                </a:solidFill>
                <a:latin typeface="Roboto"/>
                <a:ea typeface="Roboto"/>
                <a:cs typeface="Roboto"/>
                <a:sym typeface="Roboto"/>
              </a:rPr>
              <a:t>Code</a:t>
            </a:r>
            <a:endParaRPr sz="1600">
              <a:solidFill>
                <a:schemeClr val="accent3"/>
              </a:solidFill>
              <a:latin typeface="Roboto"/>
              <a:ea typeface="Roboto"/>
              <a:cs typeface="Roboto"/>
              <a:sym typeface="Roboto"/>
            </a:endParaRPr>
          </a:p>
        </p:txBody>
      </p:sp>
      <p:sp>
        <p:nvSpPr>
          <p:cNvPr id="1586" name="Google Shape;1586;p56"/>
          <p:cNvSpPr txBox="1"/>
          <p:nvPr/>
        </p:nvSpPr>
        <p:spPr>
          <a:xfrm>
            <a:off x="4496613" y="3871800"/>
            <a:ext cx="2375400" cy="5481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sz="1600">
                <a:solidFill>
                  <a:srgbClr val="38761D"/>
                </a:solidFill>
                <a:latin typeface="Roboto"/>
                <a:ea typeface="Roboto"/>
                <a:cs typeface="Roboto"/>
                <a:sym typeface="Roboto"/>
              </a:rPr>
              <a:t>Mobile </a:t>
            </a:r>
            <a:r>
              <a:rPr b="1" lang="en" sz="1600">
                <a:solidFill>
                  <a:srgbClr val="38761D"/>
                </a:solidFill>
                <a:latin typeface="Roboto"/>
                <a:ea typeface="Roboto"/>
                <a:cs typeface="Roboto"/>
                <a:sym typeface="Roboto"/>
              </a:rPr>
              <a:t>Subscriber </a:t>
            </a:r>
            <a:r>
              <a:rPr lang="en" sz="1600">
                <a:solidFill>
                  <a:srgbClr val="38761D"/>
                </a:solidFill>
                <a:latin typeface="Roboto"/>
                <a:ea typeface="Roboto"/>
                <a:cs typeface="Roboto"/>
                <a:sym typeface="Roboto"/>
              </a:rPr>
              <a:t>Identification Number</a:t>
            </a:r>
            <a:endParaRPr sz="1600">
              <a:solidFill>
                <a:srgbClr val="38761D"/>
              </a:solidFill>
              <a:latin typeface="Roboto"/>
              <a:ea typeface="Roboto"/>
              <a:cs typeface="Roboto"/>
              <a:sym typeface="Roboto"/>
            </a:endParaRPr>
          </a:p>
        </p:txBody>
      </p:sp>
      <p:cxnSp>
        <p:nvCxnSpPr>
          <p:cNvPr id="1587" name="Google Shape;1587;p56"/>
          <p:cNvCxnSpPr/>
          <p:nvPr/>
        </p:nvCxnSpPr>
        <p:spPr>
          <a:xfrm>
            <a:off x="1298775" y="2843750"/>
            <a:ext cx="6546600" cy="0"/>
          </a:xfrm>
          <a:prstGeom prst="straightConnector1">
            <a:avLst/>
          </a:prstGeom>
          <a:noFill/>
          <a:ln cap="flat" cmpd="sng" w="19050">
            <a:solidFill>
              <a:srgbClr val="000000"/>
            </a:solidFill>
            <a:prstDash val="solid"/>
            <a:round/>
            <a:headEnd len="med" w="med" type="triangle"/>
            <a:tailEnd len="med" w="med" type="triangle"/>
          </a:ln>
        </p:spPr>
      </p:cxnSp>
      <p:sp>
        <p:nvSpPr>
          <p:cNvPr id="1588" name="Google Shape;1588;p56"/>
          <p:cNvSpPr txBox="1"/>
          <p:nvPr/>
        </p:nvSpPr>
        <p:spPr>
          <a:xfrm>
            <a:off x="3374188" y="2708300"/>
            <a:ext cx="2375400" cy="270900"/>
          </a:xfrm>
          <a:prstGeom prst="rect">
            <a:avLst/>
          </a:prstGeom>
          <a:solidFill>
            <a:srgbClr val="FFFFFF"/>
          </a:solid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latin typeface="Roboto"/>
                <a:ea typeface="Roboto"/>
                <a:cs typeface="Roboto"/>
                <a:sym typeface="Roboto"/>
              </a:rPr>
              <a:t>IMSI (no more than 15 digits)</a:t>
            </a:r>
            <a:endParaRPr>
              <a:latin typeface="Roboto"/>
              <a:ea typeface="Roboto"/>
              <a:cs typeface="Roboto"/>
              <a:sym typeface="Robo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2" name="Shape 1592"/>
        <p:cNvGrpSpPr/>
        <p:nvPr/>
      </p:nvGrpSpPr>
      <p:grpSpPr>
        <a:xfrm>
          <a:off x="0" y="0"/>
          <a:ext cx="0" cy="0"/>
          <a:chOff x="0" y="0"/>
          <a:chExt cx="0" cy="0"/>
        </a:xfrm>
      </p:grpSpPr>
      <p:sp>
        <p:nvSpPr>
          <p:cNvPr id="1593" name="Google Shape;1593;p57"/>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Identifying User Devices: IMSI, IMEI, IP, MSISDN</a:t>
            </a:r>
            <a:endParaRPr/>
          </a:p>
        </p:txBody>
      </p:sp>
      <p:sp>
        <p:nvSpPr>
          <p:cNvPr id="1594" name="Google Shape;1594;p57"/>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Different ways to </a:t>
            </a:r>
            <a:r>
              <a:rPr lang="en"/>
              <a:t>identify</a:t>
            </a:r>
            <a:r>
              <a:rPr lang="en"/>
              <a:t> a user device:</a:t>
            </a:r>
            <a:endParaRPr/>
          </a:p>
          <a:p>
            <a:pPr indent="-342900" lvl="0" marL="457200" rtl="0" algn="l">
              <a:spcBef>
                <a:spcPts val="600"/>
              </a:spcBef>
              <a:spcAft>
                <a:spcPts val="0"/>
              </a:spcAft>
              <a:buSzPts val="1800"/>
              <a:buChar char="●"/>
            </a:pPr>
            <a:r>
              <a:rPr b="1" lang="en"/>
              <a:t>IMSI</a:t>
            </a:r>
            <a:r>
              <a:rPr lang="en"/>
              <a:t>: Identifies a user subscription.</a:t>
            </a:r>
            <a:endParaRPr/>
          </a:p>
          <a:p>
            <a:pPr indent="-342900" lvl="0" marL="457200" rtl="0" algn="l">
              <a:spcBef>
                <a:spcPts val="0"/>
              </a:spcBef>
              <a:spcAft>
                <a:spcPts val="0"/>
              </a:spcAft>
              <a:buSzPts val="1800"/>
              <a:buChar char="●"/>
            </a:pPr>
            <a:r>
              <a:rPr b="1" lang="en"/>
              <a:t>IP address</a:t>
            </a:r>
            <a:r>
              <a:rPr lang="en"/>
              <a:t>: Assigned on attachment, typically retained across handovers.</a:t>
            </a:r>
            <a:endParaRPr/>
          </a:p>
          <a:p>
            <a:pPr indent="-342900" lvl="1" marL="914400" rtl="0" algn="l">
              <a:spcBef>
                <a:spcPts val="0"/>
              </a:spcBef>
              <a:spcAft>
                <a:spcPts val="0"/>
              </a:spcAft>
              <a:buSzPts val="1800"/>
              <a:buChar char="○"/>
            </a:pPr>
            <a:r>
              <a:rPr lang="en"/>
              <a:t>Can change each time you attach to the network.</a:t>
            </a:r>
            <a:endParaRPr/>
          </a:p>
          <a:p>
            <a:pPr indent="-342900" lvl="0" marL="457200" rtl="0" algn="l">
              <a:spcBef>
                <a:spcPts val="0"/>
              </a:spcBef>
              <a:spcAft>
                <a:spcPts val="0"/>
              </a:spcAft>
              <a:buSzPts val="1800"/>
              <a:buChar char="●"/>
            </a:pPr>
            <a:r>
              <a:rPr b="1" lang="en"/>
              <a:t>IMEI</a:t>
            </a:r>
            <a:r>
              <a:rPr lang="en"/>
              <a:t> </a:t>
            </a:r>
            <a:r>
              <a:rPr lang="en" sz="1400">
                <a:solidFill>
                  <a:schemeClr val="accent3"/>
                </a:solidFill>
              </a:rPr>
              <a:t>(</a:t>
            </a:r>
            <a:r>
              <a:rPr i="1" lang="en" sz="1400">
                <a:solidFill>
                  <a:schemeClr val="accent3"/>
                </a:solidFill>
              </a:rPr>
              <a:t>International Mobile Equipment Identity</a:t>
            </a:r>
            <a:r>
              <a:rPr lang="en" sz="1400">
                <a:solidFill>
                  <a:schemeClr val="accent3"/>
                </a:solidFill>
              </a:rPr>
              <a:t>)</a:t>
            </a:r>
            <a:r>
              <a:rPr lang="en"/>
              <a:t>: Identifies a physical device.</a:t>
            </a:r>
            <a:endParaRPr/>
          </a:p>
          <a:p>
            <a:pPr indent="-342900" lvl="1" marL="914400" rtl="0" algn="l">
              <a:spcBef>
                <a:spcPts val="0"/>
              </a:spcBef>
              <a:spcAft>
                <a:spcPts val="0"/>
              </a:spcAft>
              <a:buSzPts val="1800"/>
              <a:buChar char="○"/>
            </a:pPr>
            <a:r>
              <a:rPr lang="en"/>
              <a:t>Identifies device manufacturer and model.</a:t>
            </a:r>
            <a:endParaRPr/>
          </a:p>
          <a:p>
            <a:pPr indent="-342900" lvl="1" marL="914400" rtl="0" algn="l">
              <a:spcBef>
                <a:spcPts val="0"/>
              </a:spcBef>
              <a:spcAft>
                <a:spcPts val="0"/>
              </a:spcAft>
              <a:buSzPts val="1800"/>
              <a:buChar char="○"/>
            </a:pPr>
            <a:r>
              <a:rPr lang="en"/>
              <a:t>Burned into hardware. Stays the same even if you </a:t>
            </a:r>
            <a:r>
              <a:rPr lang="en"/>
              <a:t>switch</a:t>
            </a:r>
            <a:r>
              <a:rPr lang="en"/>
              <a:t> plans.</a:t>
            </a:r>
            <a:endParaRPr/>
          </a:p>
          <a:p>
            <a:pPr indent="-342900" lvl="0" marL="457200" rtl="0" algn="l">
              <a:spcBef>
                <a:spcPts val="0"/>
              </a:spcBef>
              <a:spcAft>
                <a:spcPts val="0"/>
              </a:spcAft>
              <a:buSzPts val="1800"/>
              <a:buChar char="●"/>
            </a:pPr>
            <a:r>
              <a:rPr b="1" lang="en"/>
              <a:t>MSISDN</a:t>
            </a:r>
            <a:r>
              <a:rPr lang="en"/>
              <a:t>: Your phone number.</a:t>
            </a:r>
            <a:endParaRPr/>
          </a:p>
          <a:p>
            <a:pPr indent="-342900" lvl="1" marL="914400" rtl="0" algn="l">
              <a:spcBef>
                <a:spcPts val="0"/>
              </a:spcBef>
              <a:spcAft>
                <a:spcPts val="0"/>
              </a:spcAft>
              <a:buSzPts val="1800"/>
              <a:buChar char="○"/>
            </a:pPr>
            <a:r>
              <a:rPr lang="en"/>
              <a:t>Operator maps your phone number to your IMSI.</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8" name="Shape 1598"/>
        <p:cNvGrpSpPr/>
        <p:nvPr/>
      </p:nvGrpSpPr>
      <p:grpSpPr>
        <a:xfrm>
          <a:off x="0" y="0"/>
          <a:ext cx="0" cy="0"/>
          <a:chOff x="0" y="0"/>
          <a:chExt cx="0" cy="0"/>
        </a:xfrm>
      </p:grpSpPr>
      <p:sp>
        <p:nvSpPr>
          <p:cNvPr id="1599" name="Google Shape;1599;p58"/>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accent3"/>
                </a:solidFill>
              </a:rPr>
              <a:t>Step 0: Registration</a:t>
            </a:r>
            <a:endParaRPr/>
          </a:p>
        </p:txBody>
      </p:sp>
      <p:sp>
        <p:nvSpPr>
          <p:cNvPr id="1600" name="Google Shape;1600;p58"/>
          <p:cNvSpPr txBox="1"/>
          <p:nvPr>
            <p:ph idx="1" type="body"/>
          </p:nvPr>
        </p:nvSpPr>
        <p:spPr>
          <a:xfrm>
            <a:off x="107050" y="402200"/>
            <a:ext cx="8909700" cy="19386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lang="en"/>
              <a:t>User registers </a:t>
            </a:r>
            <a:r>
              <a:rPr lang="en"/>
              <a:t>for the service.</a:t>
            </a:r>
            <a:endParaRPr/>
          </a:p>
          <a:p>
            <a:pPr indent="-342900" lvl="0" marL="457200" rtl="0" algn="l">
              <a:spcBef>
                <a:spcPts val="0"/>
              </a:spcBef>
              <a:spcAft>
                <a:spcPts val="0"/>
              </a:spcAft>
              <a:buSzPts val="1800"/>
              <a:buChar char="●"/>
            </a:pPr>
            <a:r>
              <a:rPr lang="en"/>
              <a:t>Operator stores user's IMSI and plan information in the database.</a:t>
            </a:r>
            <a:endParaRPr/>
          </a:p>
          <a:p>
            <a:pPr indent="-342900" lvl="0" marL="457200" rtl="0" algn="l">
              <a:spcBef>
                <a:spcPts val="0"/>
              </a:spcBef>
              <a:spcAft>
                <a:spcPts val="0"/>
              </a:spcAft>
              <a:buSzPts val="1800"/>
              <a:buChar char="●"/>
            </a:pPr>
            <a:r>
              <a:rPr lang="en"/>
              <a:t>Establishes a shared key known only by the user and operator.</a:t>
            </a:r>
            <a:endParaRPr/>
          </a:p>
          <a:p>
            <a:pPr indent="-342900" lvl="1" marL="914400" rtl="0" algn="l">
              <a:spcBef>
                <a:spcPts val="0"/>
              </a:spcBef>
              <a:spcAft>
                <a:spcPts val="0"/>
              </a:spcAft>
              <a:buSzPts val="1800"/>
              <a:buChar char="○"/>
            </a:pPr>
            <a:r>
              <a:rPr lang="en"/>
              <a:t>User: Stored in SIM card.</a:t>
            </a:r>
            <a:endParaRPr/>
          </a:p>
          <a:p>
            <a:pPr indent="-342900" lvl="1" marL="914400" rtl="0" algn="l">
              <a:spcBef>
                <a:spcPts val="0"/>
              </a:spcBef>
              <a:spcAft>
                <a:spcPts val="0"/>
              </a:spcAft>
              <a:buSzPts val="1800"/>
              <a:buChar char="○"/>
            </a:pPr>
            <a:r>
              <a:rPr lang="en"/>
              <a:t>Operator: Stored in database.</a:t>
            </a:r>
            <a:endParaRPr/>
          </a:p>
        </p:txBody>
      </p:sp>
      <p:sp>
        <p:nvSpPr>
          <p:cNvPr id="1601" name="Google Shape;1601;p58"/>
          <p:cNvSpPr/>
          <p:nvPr/>
        </p:nvSpPr>
        <p:spPr>
          <a:xfrm>
            <a:off x="2334472" y="2614275"/>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602" name="Google Shape;1602;p58"/>
          <p:cNvGrpSpPr/>
          <p:nvPr/>
        </p:nvGrpSpPr>
        <p:grpSpPr>
          <a:xfrm>
            <a:off x="2711809" y="2825731"/>
            <a:ext cx="205525" cy="409199"/>
            <a:chOff x="7897625" y="3319150"/>
            <a:chExt cx="645900" cy="1285575"/>
          </a:xfrm>
        </p:grpSpPr>
        <p:sp>
          <p:nvSpPr>
            <p:cNvPr id="1603" name="Google Shape;1603;p58"/>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604" name="Google Shape;1604;p58"/>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605" name="Google Shape;1605;p58"/>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606" name="Google Shape;1606;p58"/>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607" name="Google Shape;1607;p58"/>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608" name="Google Shape;1608;p58"/>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609" name="Google Shape;1609;p58"/>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610" name="Google Shape;1610;p58"/>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611" name="Google Shape;1611;p58"/>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612" name="Google Shape;1612;p58"/>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13" name="Google Shape;1613;p58"/>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14" name="Google Shape;1614;p58"/>
            <p:cNvSpPr/>
            <p:nvPr/>
          </p:nvSpPr>
          <p:spPr>
            <a:xfrm>
              <a:off x="8198675" y="3551600"/>
              <a:ext cx="43800" cy="43800"/>
            </a:xfrm>
            <a:prstGeom prst="ellipse">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615" name="Google Shape;1615;p58"/>
          <p:cNvSpPr/>
          <p:nvPr/>
        </p:nvSpPr>
        <p:spPr>
          <a:xfrm>
            <a:off x="2334472" y="3446467"/>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616" name="Google Shape;1616;p58"/>
          <p:cNvGrpSpPr/>
          <p:nvPr/>
        </p:nvGrpSpPr>
        <p:grpSpPr>
          <a:xfrm>
            <a:off x="2711809" y="3657923"/>
            <a:ext cx="205525" cy="409199"/>
            <a:chOff x="7897625" y="3319150"/>
            <a:chExt cx="645900" cy="1285575"/>
          </a:xfrm>
        </p:grpSpPr>
        <p:sp>
          <p:nvSpPr>
            <p:cNvPr id="1617" name="Google Shape;1617;p58"/>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618" name="Google Shape;1618;p58"/>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619" name="Google Shape;1619;p58"/>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620" name="Google Shape;1620;p58"/>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621" name="Google Shape;1621;p58"/>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622" name="Google Shape;1622;p58"/>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623" name="Google Shape;1623;p58"/>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624" name="Google Shape;1624;p58"/>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625" name="Google Shape;1625;p58"/>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626" name="Google Shape;1626;p58"/>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27" name="Google Shape;1627;p58"/>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28" name="Google Shape;1628;p58"/>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629" name="Google Shape;1629;p58"/>
          <p:cNvSpPr/>
          <p:nvPr/>
        </p:nvSpPr>
        <p:spPr>
          <a:xfrm>
            <a:off x="3964663" y="288787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R1</a:t>
            </a:r>
            <a:endParaRPr>
              <a:solidFill>
                <a:srgbClr val="B7B7B7"/>
              </a:solidFill>
              <a:latin typeface="Roboto"/>
              <a:ea typeface="Roboto"/>
              <a:cs typeface="Roboto"/>
              <a:sym typeface="Roboto"/>
            </a:endParaRPr>
          </a:p>
        </p:txBody>
      </p:sp>
      <p:sp>
        <p:nvSpPr>
          <p:cNvPr id="1630" name="Google Shape;1630;p58"/>
          <p:cNvSpPr/>
          <p:nvPr/>
        </p:nvSpPr>
        <p:spPr>
          <a:xfrm>
            <a:off x="3964663" y="372007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R2</a:t>
            </a:r>
            <a:endParaRPr>
              <a:solidFill>
                <a:srgbClr val="B7B7B7"/>
              </a:solidFill>
              <a:latin typeface="Roboto"/>
              <a:ea typeface="Roboto"/>
              <a:cs typeface="Roboto"/>
              <a:sym typeface="Roboto"/>
            </a:endParaRPr>
          </a:p>
        </p:txBody>
      </p:sp>
      <p:cxnSp>
        <p:nvCxnSpPr>
          <p:cNvPr id="1631" name="Google Shape;1631;p58"/>
          <p:cNvCxnSpPr/>
          <p:nvPr/>
        </p:nvCxnSpPr>
        <p:spPr>
          <a:xfrm rot="10800000">
            <a:off x="3004063" y="3030375"/>
            <a:ext cx="960600" cy="0"/>
          </a:xfrm>
          <a:prstGeom prst="straightConnector1">
            <a:avLst/>
          </a:prstGeom>
          <a:noFill/>
          <a:ln cap="flat" cmpd="sng" w="9525">
            <a:solidFill>
              <a:srgbClr val="B7B7B7"/>
            </a:solidFill>
            <a:prstDash val="solid"/>
            <a:round/>
            <a:headEnd len="med" w="med" type="none"/>
            <a:tailEnd len="med" w="med" type="none"/>
          </a:ln>
        </p:spPr>
      </p:cxnSp>
      <p:cxnSp>
        <p:nvCxnSpPr>
          <p:cNvPr id="1632" name="Google Shape;1632;p58"/>
          <p:cNvCxnSpPr/>
          <p:nvPr/>
        </p:nvCxnSpPr>
        <p:spPr>
          <a:xfrm rot="10800000">
            <a:off x="3005377" y="3854425"/>
            <a:ext cx="956700" cy="0"/>
          </a:xfrm>
          <a:prstGeom prst="straightConnector1">
            <a:avLst/>
          </a:prstGeom>
          <a:noFill/>
          <a:ln cap="flat" cmpd="sng" w="9525">
            <a:solidFill>
              <a:srgbClr val="B7B7B7"/>
            </a:solidFill>
            <a:prstDash val="solid"/>
            <a:round/>
            <a:headEnd len="med" w="med" type="none"/>
            <a:tailEnd len="med" w="med" type="none"/>
          </a:ln>
        </p:spPr>
      </p:cxnSp>
      <p:cxnSp>
        <p:nvCxnSpPr>
          <p:cNvPr id="1633" name="Google Shape;1633;p58"/>
          <p:cNvCxnSpPr>
            <a:stCxn id="1629" idx="3"/>
            <a:endCxn id="1634" idx="1"/>
          </p:cNvCxnSpPr>
          <p:nvPr/>
        </p:nvCxnSpPr>
        <p:spPr>
          <a:xfrm>
            <a:off x="4249663" y="3030375"/>
            <a:ext cx="705600" cy="416100"/>
          </a:xfrm>
          <a:prstGeom prst="straightConnector1">
            <a:avLst/>
          </a:prstGeom>
          <a:noFill/>
          <a:ln cap="flat" cmpd="sng" w="9525">
            <a:solidFill>
              <a:srgbClr val="B7B7B7"/>
            </a:solidFill>
            <a:prstDash val="solid"/>
            <a:round/>
            <a:headEnd len="med" w="med" type="none"/>
            <a:tailEnd len="med" w="med" type="none"/>
          </a:ln>
        </p:spPr>
      </p:cxnSp>
      <p:cxnSp>
        <p:nvCxnSpPr>
          <p:cNvPr id="1635" name="Google Shape;1635;p58"/>
          <p:cNvCxnSpPr>
            <a:stCxn id="1630" idx="3"/>
            <a:endCxn id="1634" idx="1"/>
          </p:cNvCxnSpPr>
          <p:nvPr/>
        </p:nvCxnSpPr>
        <p:spPr>
          <a:xfrm flipH="1" rot="10800000">
            <a:off x="4249663" y="3446475"/>
            <a:ext cx="705600" cy="416100"/>
          </a:xfrm>
          <a:prstGeom prst="straightConnector1">
            <a:avLst/>
          </a:prstGeom>
          <a:noFill/>
          <a:ln cap="flat" cmpd="sng" w="9525">
            <a:solidFill>
              <a:srgbClr val="B7B7B7"/>
            </a:solidFill>
            <a:prstDash val="solid"/>
            <a:round/>
            <a:headEnd len="med" w="med" type="none"/>
            <a:tailEnd len="med" w="med" type="none"/>
          </a:ln>
        </p:spPr>
      </p:cxnSp>
      <p:cxnSp>
        <p:nvCxnSpPr>
          <p:cNvPr id="1636" name="Google Shape;1636;p58"/>
          <p:cNvCxnSpPr>
            <a:stCxn id="1637" idx="2"/>
            <a:endCxn id="1638" idx="3"/>
          </p:cNvCxnSpPr>
          <p:nvPr/>
        </p:nvCxnSpPr>
        <p:spPr>
          <a:xfrm rot="10800000">
            <a:off x="4925138" y="4569675"/>
            <a:ext cx="903600" cy="0"/>
          </a:xfrm>
          <a:prstGeom prst="straightConnector1">
            <a:avLst/>
          </a:prstGeom>
          <a:noFill/>
          <a:ln cap="flat" cmpd="sng" w="9525">
            <a:solidFill>
              <a:srgbClr val="B7B7B7"/>
            </a:solidFill>
            <a:prstDash val="dash"/>
            <a:round/>
            <a:headEnd len="med" w="med" type="none"/>
            <a:tailEnd len="med" w="med" type="none"/>
          </a:ln>
        </p:spPr>
      </p:cxnSp>
      <p:cxnSp>
        <p:nvCxnSpPr>
          <p:cNvPr id="1639" name="Google Shape;1639;p58"/>
          <p:cNvCxnSpPr>
            <a:stCxn id="1634" idx="3"/>
          </p:cNvCxnSpPr>
          <p:nvPr/>
        </p:nvCxnSpPr>
        <p:spPr>
          <a:xfrm>
            <a:off x="5240263" y="3446475"/>
            <a:ext cx="551700" cy="0"/>
          </a:xfrm>
          <a:prstGeom prst="straightConnector1">
            <a:avLst/>
          </a:prstGeom>
          <a:noFill/>
          <a:ln cap="flat" cmpd="sng" w="9525">
            <a:solidFill>
              <a:srgbClr val="B7B7B7"/>
            </a:solidFill>
            <a:prstDash val="solid"/>
            <a:round/>
            <a:headEnd len="med" w="med" type="none"/>
            <a:tailEnd len="med" w="med" type="none"/>
          </a:ln>
        </p:spPr>
      </p:cxnSp>
      <p:cxnSp>
        <p:nvCxnSpPr>
          <p:cNvPr id="1640" name="Google Shape;1640;p58"/>
          <p:cNvCxnSpPr/>
          <p:nvPr/>
        </p:nvCxnSpPr>
        <p:spPr>
          <a:xfrm>
            <a:off x="5791973" y="3446475"/>
            <a:ext cx="525300" cy="0"/>
          </a:xfrm>
          <a:prstGeom prst="straightConnector1">
            <a:avLst/>
          </a:prstGeom>
          <a:noFill/>
          <a:ln cap="flat" cmpd="sng" w="9525">
            <a:solidFill>
              <a:srgbClr val="B7B7B7"/>
            </a:solidFill>
            <a:prstDash val="dash"/>
            <a:round/>
            <a:headEnd len="med" w="med" type="none"/>
            <a:tailEnd len="med" w="med" type="none"/>
          </a:ln>
        </p:spPr>
      </p:cxnSp>
      <p:grpSp>
        <p:nvGrpSpPr>
          <p:cNvPr id="1641" name="Google Shape;1641;p58"/>
          <p:cNvGrpSpPr/>
          <p:nvPr/>
        </p:nvGrpSpPr>
        <p:grpSpPr>
          <a:xfrm>
            <a:off x="6404587" y="2478675"/>
            <a:ext cx="384763" cy="551700"/>
            <a:chOff x="160300" y="2651875"/>
            <a:chExt cx="384763" cy="551700"/>
          </a:xfrm>
        </p:grpSpPr>
        <p:pic>
          <p:nvPicPr>
            <p:cNvPr id="1642" name="Google Shape;1642;p58"/>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1643" name="Google Shape;1643;p58"/>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sp>
        <p:nvSpPr>
          <p:cNvPr id="1638" name="Google Shape;1638;p58"/>
          <p:cNvSpPr/>
          <p:nvPr/>
        </p:nvSpPr>
        <p:spPr>
          <a:xfrm>
            <a:off x="3964663" y="4294275"/>
            <a:ext cx="960600" cy="550800"/>
          </a:xfrm>
          <a:prstGeom prst="roundRect">
            <a:avLst>
              <a:gd fmla="val 16667" name="adj"/>
            </a:avLst>
          </a:prstGeom>
          <a:solidFill>
            <a:srgbClr val="EFEFEF"/>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Mobility Manager</a:t>
            </a:r>
            <a:endParaRPr>
              <a:solidFill>
                <a:srgbClr val="B7B7B7"/>
              </a:solidFill>
              <a:latin typeface="Roboto"/>
              <a:ea typeface="Roboto"/>
              <a:cs typeface="Roboto"/>
              <a:sym typeface="Roboto"/>
            </a:endParaRPr>
          </a:p>
        </p:txBody>
      </p:sp>
      <p:cxnSp>
        <p:nvCxnSpPr>
          <p:cNvPr id="1644" name="Google Shape;1644;p58"/>
          <p:cNvCxnSpPr>
            <a:stCxn id="1637" idx="1"/>
            <a:endCxn id="1642" idx="2"/>
          </p:cNvCxnSpPr>
          <p:nvPr/>
        </p:nvCxnSpPr>
        <p:spPr>
          <a:xfrm flipH="1" rot="10800000">
            <a:off x="6309038" y="3030375"/>
            <a:ext cx="251100" cy="1248300"/>
          </a:xfrm>
          <a:prstGeom prst="straightConnector1">
            <a:avLst/>
          </a:prstGeom>
          <a:noFill/>
          <a:ln cap="flat" cmpd="sng" w="28575">
            <a:solidFill>
              <a:schemeClr val="accent2"/>
            </a:solidFill>
            <a:prstDash val="solid"/>
            <a:round/>
            <a:headEnd len="med" w="med" type="triangle"/>
            <a:tailEnd len="med" w="med" type="none"/>
          </a:ln>
        </p:spPr>
      </p:cxnSp>
      <p:sp>
        <p:nvSpPr>
          <p:cNvPr id="1637" name="Google Shape;1637;p58"/>
          <p:cNvSpPr/>
          <p:nvPr/>
        </p:nvSpPr>
        <p:spPr>
          <a:xfrm>
            <a:off x="5828738" y="4278675"/>
            <a:ext cx="960600" cy="5820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Database</a:t>
            </a:r>
            <a:endParaRPr>
              <a:latin typeface="Roboto"/>
              <a:ea typeface="Roboto"/>
              <a:cs typeface="Roboto"/>
              <a:sym typeface="Roboto"/>
            </a:endParaRPr>
          </a:p>
        </p:txBody>
      </p:sp>
      <p:sp>
        <p:nvSpPr>
          <p:cNvPr id="1634" name="Google Shape;1634;p58"/>
          <p:cNvSpPr/>
          <p:nvPr/>
        </p:nvSpPr>
        <p:spPr>
          <a:xfrm>
            <a:off x="4955263" y="330397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P1</a:t>
            </a:r>
            <a:endParaRPr>
              <a:solidFill>
                <a:srgbClr val="B7B7B7"/>
              </a:solidFill>
              <a:latin typeface="Roboto"/>
              <a:ea typeface="Roboto"/>
              <a:cs typeface="Roboto"/>
              <a:sym typeface="Robo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8" name="Shape 1648"/>
        <p:cNvGrpSpPr/>
        <p:nvPr/>
      </p:nvGrpSpPr>
      <p:grpSpPr>
        <a:xfrm>
          <a:off x="0" y="0"/>
          <a:ext cx="0" cy="0"/>
          <a:chOff x="0" y="0"/>
          <a:chExt cx="0" cy="0"/>
        </a:xfrm>
      </p:grpSpPr>
      <p:sp>
        <p:nvSpPr>
          <p:cNvPr id="1649" name="Google Shape;1649;p59"/>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Why is Cellular Different?</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Brief History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Standards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Challenge: Mobility</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Cellular Networks</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Infrastructure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High-Level View</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0: Registration</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Step 1: Discovery</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Step 2: Attachment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3: Data Exchange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4: Handover</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Roaming and Other Features</a:t>
            </a:r>
            <a:endParaRPr>
              <a:solidFill>
                <a:srgbClr val="B7B7B7"/>
              </a:solidFill>
            </a:endParaRPr>
          </a:p>
        </p:txBody>
      </p:sp>
      <p:sp>
        <p:nvSpPr>
          <p:cNvPr id="1650" name="Google Shape;1650;p59"/>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Step 1: Discovery</a:t>
            </a:r>
            <a:endParaRPr/>
          </a:p>
        </p:txBody>
      </p:sp>
      <p:sp>
        <p:nvSpPr>
          <p:cNvPr id="1651" name="Google Shape;1651;p59"/>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25</a:t>
            </a:r>
            <a:r>
              <a:rPr lang="en"/>
              <a:t>, CS 168, </a:t>
            </a:r>
            <a:r>
              <a:rPr lang="en"/>
              <a:t>Spring 2026</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5" name="Shape 1655"/>
        <p:cNvGrpSpPr/>
        <p:nvPr/>
      </p:nvGrpSpPr>
      <p:grpSpPr>
        <a:xfrm>
          <a:off x="0" y="0"/>
          <a:ext cx="0" cy="0"/>
          <a:chOff x="0" y="0"/>
          <a:chExt cx="0" cy="0"/>
        </a:xfrm>
      </p:grpSpPr>
      <p:sp>
        <p:nvSpPr>
          <p:cNvPr id="1656" name="Google Shape;1656;p60"/>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1: Discovery</a:t>
            </a:r>
            <a:endParaRPr/>
          </a:p>
        </p:txBody>
      </p:sp>
      <p:sp>
        <p:nvSpPr>
          <p:cNvPr id="1657" name="Google Shape;1657;p60"/>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Towers transmit periodic </a:t>
            </a:r>
            <a:r>
              <a:rPr i="1" lang="en"/>
              <a:t>beacons</a:t>
            </a:r>
            <a:r>
              <a:rPr lang="en"/>
              <a:t> to announce their presence.</a:t>
            </a:r>
            <a:endParaRPr/>
          </a:p>
          <a:p>
            <a:pPr indent="-342900" lvl="0" marL="457200" rtl="0" algn="l">
              <a:spcBef>
                <a:spcPts val="600"/>
              </a:spcBef>
              <a:spcAft>
                <a:spcPts val="0"/>
              </a:spcAft>
              <a:buSzPts val="1800"/>
              <a:buChar char="●"/>
            </a:pPr>
            <a:r>
              <a:rPr lang="en"/>
              <a:t>Beacons transmitted on a dedicated control channel.</a:t>
            </a:r>
            <a:endParaRPr/>
          </a:p>
          <a:p>
            <a:pPr indent="-342900" lvl="1" marL="914400" rtl="0" algn="l">
              <a:spcBef>
                <a:spcPts val="0"/>
              </a:spcBef>
              <a:spcAft>
                <a:spcPts val="0"/>
              </a:spcAft>
              <a:buSzPts val="1800"/>
              <a:buChar char="○"/>
            </a:pPr>
            <a:r>
              <a:rPr lang="en"/>
              <a:t>Avoids interfering with data.</a:t>
            </a:r>
            <a:endParaRPr/>
          </a:p>
          <a:p>
            <a:pPr indent="-342900" lvl="1" marL="914400" rtl="0" algn="l">
              <a:spcBef>
                <a:spcPts val="0"/>
              </a:spcBef>
              <a:spcAft>
                <a:spcPts val="0"/>
              </a:spcAft>
              <a:buSzPts val="1800"/>
              <a:buChar char="○"/>
            </a:pPr>
            <a:r>
              <a:rPr lang="en"/>
              <a:t>Each frequency range has its own control channel.</a:t>
            </a:r>
            <a:br>
              <a:rPr lang="en"/>
            </a:br>
            <a:r>
              <a:rPr lang="en"/>
              <a:t>Avoids beacons interfering with each other.</a:t>
            </a:r>
            <a:endParaRPr/>
          </a:p>
          <a:p>
            <a:pPr indent="-342900" lvl="0" marL="457200" rtl="0" algn="l">
              <a:spcBef>
                <a:spcPts val="0"/>
              </a:spcBef>
              <a:spcAft>
                <a:spcPts val="0"/>
              </a:spcAft>
              <a:buSzPts val="1800"/>
              <a:buChar char="●"/>
            </a:pPr>
            <a:r>
              <a:rPr lang="en"/>
              <a:t>Beacons identify the network operator.</a:t>
            </a:r>
            <a:endParaRPr/>
          </a:p>
          <a:p>
            <a:pPr indent="-342900" lvl="1" marL="914400" rtl="0" algn="l">
              <a:spcBef>
                <a:spcPts val="0"/>
              </a:spcBef>
              <a:spcAft>
                <a:spcPts val="0"/>
              </a:spcAft>
              <a:buSzPts val="1800"/>
              <a:buChar char="○"/>
            </a:pPr>
            <a:r>
              <a:rPr lang="en"/>
              <a:t>User compares beacon against the network ID (in the user's IMSI).</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User measures signal strength to different towers,</a:t>
            </a:r>
            <a:br>
              <a:rPr lang="en"/>
            </a:br>
            <a:r>
              <a:rPr lang="en"/>
              <a:t>and picks the tower (belonging to its operator)</a:t>
            </a:r>
            <a:br>
              <a:rPr lang="en"/>
            </a:br>
            <a:r>
              <a:rPr lang="en"/>
              <a:t>with the best signal.</a:t>
            </a:r>
            <a:endParaRPr/>
          </a:p>
        </p:txBody>
      </p:sp>
      <p:sp>
        <p:nvSpPr>
          <p:cNvPr id="1658" name="Google Shape;1658;p60"/>
          <p:cNvSpPr/>
          <p:nvPr/>
        </p:nvSpPr>
        <p:spPr>
          <a:xfrm>
            <a:off x="7785697" y="3097850"/>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659" name="Google Shape;1659;p60"/>
          <p:cNvGrpSpPr/>
          <p:nvPr/>
        </p:nvGrpSpPr>
        <p:grpSpPr>
          <a:xfrm>
            <a:off x="8163034" y="3309306"/>
            <a:ext cx="205525" cy="409199"/>
            <a:chOff x="7897625" y="3319150"/>
            <a:chExt cx="645900" cy="1285575"/>
          </a:xfrm>
        </p:grpSpPr>
        <p:sp>
          <p:nvSpPr>
            <p:cNvPr id="1660" name="Google Shape;1660;p60"/>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661" name="Google Shape;1661;p60"/>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662" name="Google Shape;1662;p60"/>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663" name="Google Shape;1663;p60"/>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664" name="Google Shape;1664;p60"/>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665" name="Google Shape;1665;p60"/>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666" name="Google Shape;1666;p60"/>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667" name="Google Shape;1667;p60"/>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1668" name="Google Shape;1668;p60"/>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1669" name="Google Shape;1669;p60"/>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70" name="Google Shape;1670;p60"/>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71" name="Google Shape;1671;p60"/>
            <p:cNvSpPr/>
            <p:nvPr/>
          </p:nvSpPr>
          <p:spPr>
            <a:xfrm>
              <a:off x="8198675" y="3551600"/>
              <a:ext cx="43800" cy="43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672" name="Google Shape;1672;p60"/>
          <p:cNvSpPr/>
          <p:nvPr/>
        </p:nvSpPr>
        <p:spPr>
          <a:xfrm>
            <a:off x="7785697" y="3930042"/>
            <a:ext cx="960600" cy="832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673" name="Google Shape;1673;p60"/>
          <p:cNvGrpSpPr/>
          <p:nvPr/>
        </p:nvGrpSpPr>
        <p:grpSpPr>
          <a:xfrm>
            <a:off x="8163034" y="4141498"/>
            <a:ext cx="205525" cy="409199"/>
            <a:chOff x="7897625" y="3319150"/>
            <a:chExt cx="645900" cy="1285575"/>
          </a:xfrm>
        </p:grpSpPr>
        <p:sp>
          <p:nvSpPr>
            <p:cNvPr id="1674" name="Google Shape;1674;p60"/>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675" name="Google Shape;1675;p60"/>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676" name="Google Shape;1676;p60"/>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677" name="Google Shape;1677;p60"/>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678" name="Google Shape;1678;p60"/>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679" name="Google Shape;1679;p60"/>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680" name="Google Shape;1680;p60"/>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681" name="Google Shape;1681;p60"/>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1682" name="Google Shape;1682;p60"/>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1683" name="Google Shape;1683;p60"/>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84" name="Google Shape;1684;p60"/>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685" name="Google Shape;1685;p60"/>
            <p:cNvSpPr/>
            <p:nvPr/>
          </p:nvSpPr>
          <p:spPr>
            <a:xfrm>
              <a:off x="8198675" y="3551600"/>
              <a:ext cx="43800" cy="438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pic>
        <p:nvPicPr>
          <p:cNvPr id="1686" name="Google Shape;1686;p60"/>
          <p:cNvPicPr preferRelativeResize="0"/>
          <p:nvPr/>
        </p:nvPicPr>
        <p:blipFill>
          <a:blip r:embed="rId3">
            <a:alphaModFix amt="25000"/>
          </a:blip>
          <a:stretch>
            <a:fillRect/>
          </a:stretch>
        </p:blipFill>
        <p:spPr>
          <a:xfrm rot="-5400000">
            <a:off x="7159137" y="3234500"/>
            <a:ext cx="694325" cy="558800"/>
          </a:xfrm>
          <a:prstGeom prst="rect">
            <a:avLst/>
          </a:prstGeom>
          <a:noFill/>
          <a:ln>
            <a:noFill/>
          </a:ln>
        </p:spPr>
      </p:pic>
      <p:pic>
        <p:nvPicPr>
          <p:cNvPr id="1687" name="Google Shape;1687;p60"/>
          <p:cNvPicPr preferRelativeResize="0"/>
          <p:nvPr/>
        </p:nvPicPr>
        <p:blipFill>
          <a:blip r:embed="rId3">
            <a:alphaModFix amt="25000"/>
          </a:blip>
          <a:stretch>
            <a:fillRect/>
          </a:stretch>
        </p:blipFill>
        <p:spPr>
          <a:xfrm rot="-5400000">
            <a:off x="7159137" y="4072700"/>
            <a:ext cx="694325" cy="558800"/>
          </a:xfrm>
          <a:prstGeom prst="rect">
            <a:avLst/>
          </a:prstGeom>
          <a:noFill/>
          <a:ln>
            <a:noFill/>
          </a:ln>
        </p:spPr>
      </p:pic>
      <p:grpSp>
        <p:nvGrpSpPr>
          <p:cNvPr id="1688" name="Google Shape;1688;p60"/>
          <p:cNvGrpSpPr/>
          <p:nvPr/>
        </p:nvGrpSpPr>
        <p:grpSpPr>
          <a:xfrm>
            <a:off x="6705262" y="3503175"/>
            <a:ext cx="384763" cy="551700"/>
            <a:chOff x="160300" y="2651875"/>
            <a:chExt cx="384763" cy="551700"/>
          </a:xfrm>
        </p:grpSpPr>
        <p:pic>
          <p:nvPicPr>
            <p:cNvPr id="1689" name="Google Shape;1689;p60"/>
            <p:cNvPicPr preferRelativeResize="0"/>
            <p:nvPr/>
          </p:nvPicPr>
          <p:blipFill rotWithShape="1">
            <a:blip r:embed="rId4">
              <a:alphaModFix/>
            </a:blip>
            <a:srcRect b="0" l="28918" r="14645" t="0"/>
            <a:stretch/>
          </p:blipFill>
          <p:spPr>
            <a:xfrm flipH="1">
              <a:off x="160300" y="2651875"/>
              <a:ext cx="311375" cy="551700"/>
            </a:xfrm>
            <a:prstGeom prst="rect">
              <a:avLst/>
            </a:prstGeom>
            <a:noFill/>
            <a:ln>
              <a:noFill/>
            </a:ln>
          </p:spPr>
        </p:pic>
        <p:pic>
          <p:nvPicPr>
            <p:cNvPr id="1690" name="Google Shape;1690;p60"/>
            <p:cNvPicPr preferRelativeResize="0"/>
            <p:nvPr/>
          </p:nvPicPr>
          <p:blipFill rotWithShape="1">
            <a:blip r:embed="rId5">
              <a:alphaModFix/>
            </a:blip>
            <a:srcRect b="0" l="16440" r="15845" t="0"/>
            <a:stretch/>
          </p:blipFill>
          <p:spPr>
            <a:xfrm>
              <a:off x="431525" y="2887247"/>
              <a:ext cx="113537" cy="167675"/>
            </a:xfrm>
            <a:prstGeom prst="rect">
              <a:avLst/>
            </a:prstGeom>
            <a:noFill/>
            <a:ln>
              <a:noFill/>
            </a:ln>
          </p:spPr>
        </p:pic>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4" name="Shape 1694"/>
        <p:cNvGrpSpPr/>
        <p:nvPr/>
      </p:nvGrpSpPr>
      <p:grpSpPr>
        <a:xfrm>
          <a:off x="0" y="0"/>
          <a:ext cx="0" cy="0"/>
          <a:chOff x="0" y="0"/>
          <a:chExt cx="0" cy="0"/>
        </a:xfrm>
      </p:grpSpPr>
      <p:sp>
        <p:nvSpPr>
          <p:cNvPr id="1695" name="Google Shape;1695;p61"/>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Discovery: Finding Control Channel</a:t>
            </a:r>
            <a:endParaRPr/>
          </a:p>
        </p:txBody>
      </p:sp>
      <p:sp>
        <p:nvSpPr>
          <p:cNvPr id="1696" name="Google Shape;1696;p61"/>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Bootstrapping problem: How does the user know which control channel to listen to?</a:t>
            </a:r>
            <a:endParaRPr/>
          </a:p>
          <a:p>
            <a:pPr indent="-342900" lvl="0" marL="457200" rtl="0" algn="l">
              <a:spcBef>
                <a:spcPts val="600"/>
              </a:spcBef>
              <a:spcAft>
                <a:spcPts val="0"/>
              </a:spcAft>
              <a:buSzPts val="1800"/>
              <a:buChar char="●"/>
            </a:pPr>
            <a:r>
              <a:rPr lang="en"/>
              <a:t>Scan all frequencies.</a:t>
            </a:r>
            <a:endParaRPr/>
          </a:p>
          <a:p>
            <a:pPr indent="-342900" lvl="1" marL="914400" rtl="0" algn="l">
              <a:spcBef>
                <a:spcPts val="0"/>
              </a:spcBef>
              <a:spcAft>
                <a:spcPts val="0"/>
              </a:spcAft>
              <a:buSzPts val="1800"/>
              <a:buChar char="○"/>
            </a:pPr>
            <a:r>
              <a:rPr lang="en"/>
              <a:t>Slow, but sometimes unavoidable.</a:t>
            </a:r>
            <a:endParaRPr/>
          </a:p>
          <a:p>
            <a:pPr indent="-342900" lvl="0" marL="457200" rtl="0" algn="l">
              <a:spcBef>
                <a:spcPts val="0"/>
              </a:spcBef>
              <a:spcAft>
                <a:spcPts val="0"/>
              </a:spcAft>
              <a:buSzPts val="1800"/>
              <a:buChar char="●"/>
            </a:pPr>
            <a:r>
              <a:rPr lang="en"/>
              <a:t>At registration, pre-configure device with a list of frequency channels.</a:t>
            </a:r>
            <a:endParaRPr/>
          </a:p>
          <a:p>
            <a:pPr indent="-342900" lvl="0" marL="457200" rtl="0" algn="l">
              <a:spcBef>
                <a:spcPts val="0"/>
              </a:spcBef>
              <a:spcAft>
                <a:spcPts val="0"/>
              </a:spcAft>
              <a:buSzPts val="1800"/>
              <a:buChar char="●"/>
            </a:pPr>
            <a:r>
              <a:rPr lang="en"/>
              <a:t>Cache previously-used channels.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Note: During handovers, the old tower tells the user the channel on the new tower.</a:t>
            </a:r>
            <a:endParaRPr/>
          </a:p>
          <a:p>
            <a:pPr indent="-342900" lvl="0" marL="457200" rtl="0" algn="l">
              <a:spcBef>
                <a:spcPts val="600"/>
              </a:spcBef>
              <a:spcAft>
                <a:spcPts val="0"/>
              </a:spcAft>
              <a:buSzPts val="1800"/>
              <a:buChar char="●"/>
            </a:pPr>
            <a:r>
              <a:rPr lang="en"/>
              <a:t>No need to scan! Handovers take 0.01s–0.1s.</a:t>
            </a:r>
            <a:endParaRPr/>
          </a:p>
          <a:p>
            <a:pPr indent="-342900" lvl="0" marL="457200" rtl="0" algn="l">
              <a:spcBef>
                <a:spcPts val="0"/>
              </a:spcBef>
              <a:spcAft>
                <a:spcPts val="0"/>
              </a:spcAft>
              <a:buSzPts val="1800"/>
              <a:buChar char="●"/>
            </a:pPr>
            <a:r>
              <a:rPr lang="en"/>
              <a:t>Contrast with attachment, which takes 10s–100s.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0" name="Shape 1700"/>
        <p:cNvGrpSpPr/>
        <p:nvPr/>
      </p:nvGrpSpPr>
      <p:grpSpPr>
        <a:xfrm>
          <a:off x="0" y="0"/>
          <a:ext cx="0" cy="0"/>
          <a:chOff x="0" y="0"/>
          <a:chExt cx="0" cy="0"/>
        </a:xfrm>
      </p:grpSpPr>
      <p:sp>
        <p:nvSpPr>
          <p:cNvPr id="1701" name="Google Shape;1701;p62"/>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Why is Cellular Different?</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Brief History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Standards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Challenge: Mobility</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Cellular Networks</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Infrastructure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High-Level View</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0: Registration</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1: Discovery</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Step 2: Attachment</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Step 3: Data Exchange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4: Handover</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Roaming and Other Features</a:t>
            </a:r>
            <a:endParaRPr>
              <a:solidFill>
                <a:srgbClr val="B7B7B7"/>
              </a:solidFill>
            </a:endParaRPr>
          </a:p>
        </p:txBody>
      </p:sp>
      <p:sp>
        <p:nvSpPr>
          <p:cNvPr id="1702" name="Google Shape;1702;p62"/>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Step 2: Attachment</a:t>
            </a:r>
            <a:endParaRPr/>
          </a:p>
        </p:txBody>
      </p:sp>
      <p:sp>
        <p:nvSpPr>
          <p:cNvPr id="1703" name="Google Shape;1703;p62"/>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25</a:t>
            </a:r>
            <a:r>
              <a:rPr lang="en"/>
              <a:t>, CS 168, </a:t>
            </a:r>
            <a:r>
              <a:rPr lang="en"/>
              <a:t>Spring 2026</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7" name="Shape 1707"/>
        <p:cNvGrpSpPr/>
        <p:nvPr/>
      </p:nvGrpSpPr>
      <p:grpSpPr>
        <a:xfrm>
          <a:off x="0" y="0"/>
          <a:ext cx="0" cy="0"/>
          <a:chOff x="0" y="0"/>
          <a:chExt cx="0" cy="0"/>
        </a:xfrm>
      </p:grpSpPr>
      <p:cxnSp>
        <p:nvCxnSpPr>
          <p:cNvPr id="1708" name="Google Shape;1708;p63"/>
          <p:cNvCxnSpPr>
            <a:stCxn id="1709" idx="2"/>
            <a:endCxn id="1710" idx="3"/>
          </p:cNvCxnSpPr>
          <p:nvPr/>
        </p:nvCxnSpPr>
        <p:spPr>
          <a:xfrm rot="10800000">
            <a:off x="4925138" y="4569675"/>
            <a:ext cx="903600" cy="0"/>
          </a:xfrm>
          <a:prstGeom prst="straightConnector1">
            <a:avLst/>
          </a:prstGeom>
          <a:noFill/>
          <a:ln cap="flat" cmpd="sng" w="28575">
            <a:solidFill>
              <a:schemeClr val="accent2"/>
            </a:solidFill>
            <a:prstDash val="solid"/>
            <a:round/>
            <a:headEnd len="med" w="med" type="none"/>
            <a:tailEnd len="med" w="med" type="none"/>
          </a:ln>
        </p:spPr>
      </p:cxnSp>
      <p:sp>
        <p:nvSpPr>
          <p:cNvPr id="1711" name="Google Shape;1711;p63"/>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2: Attachment</a:t>
            </a:r>
            <a:endParaRPr/>
          </a:p>
        </p:txBody>
      </p:sp>
      <p:sp>
        <p:nvSpPr>
          <p:cNvPr id="1712" name="Google Shape;1712;p63"/>
          <p:cNvSpPr txBox="1"/>
          <p:nvPr>
            <p:ph idx="1" type="body"/>
          </p:nvPr>
        </p:nvSpPr>
        <p:spPr>
          <a:xfrm>
            <a:off x="107050" y="402200"/>
            <a:ext cx="8909700" cy="2081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1. User sends attach request to tower, containing user's IMSI.</a:t>
            </a:r>
            <a:endParaRPr/>
          </a:p>
          <a:p>
            <a:pPr indent="0" lvl="0" marL="0" rtl="0" algn="l">
              <a:spcBef>
                <a:spcPts val="600"/>
              </a:spcBef>
              <a:spcAft>
                <a:spcPts val="0"/>
              </a:spcAft>
              <a:buNone/>
            </a:pPr>
            <a:r>
              <a:rPr lang="en"/>
              <a:t>2. Tower forwards </a:t>
            </a:r>
            <a:r>
              <a:rPr lang="en"/>
              <a:t>request</a:t>
            </a:r>
            <a:r>
              <a:rPr lang="en"/>
              <a:t> to mobility manager.</a:t>
            </a:r>
            <a:endParaRPr/>
          </a:p>
          <a:p>
            <a:pPr indent="0" lvl="0" marL="0" rtl="0" algn="l">
              <a:spcBef>
                <a:spcPts val="600"/>
              </a:spcBef>
              <a:spcAft>
                <a:spcPts val="0"/>
              </a:spcAft>
              <a:buNone/>
            </a:pPr>
            <a:r>
              <a:rPr lang="en"/>
              <a:t>3. Mobility manager processes the request, by looking up the IMSI in database.</a:t>
            </a:r>
            <a:endParaRPr/>
          </a:p>
          <a:p>
            <a:pPr indent="-342900" lvl="0" marL="457200" rtl="0" algn="l">
              <a:spcBef>
                <a:spcPts val="600"/>
              </a:spcBef>
              <a:spcAft>
                <a:spcPts val="0"/>
              </a:spcAft>
              <a:buSzPts val="1800"/>
              <a:buChar char="●"/>
            </a:pPr>
            <a:r>
              <a:rPr lang="en"/>
              <a:t>Use secret key to authenticate: Is the user who they claim to be?</a:t>
            </a:r>
            <a:endParaRPr/>
          </a:p>
          <a:p>
            <a:pPr indent="-342900" lvl="0" marL="457200" rtl="0" algn="l">
              <a:spcBef>
                <a:spcPts val="0"/>
              </a:spcBef>
              <a:spcAft>
                <a:spcPts val="0"/>
              </a:spcAft>
              <a:buSzPts val="1800"/>
              <a:buChar char="●"/>
            </a:pPr>
            <a:r>
              <a:rPr lang="en"/>
              <a:t>Use database to check service parameters: Did user pay their bills?</a:t>
            </a:r>
            <a:endParaRPr/>
          </a:p>
        </p:txBody>
      </p:sp>
      <p:sp>
        <p:nvSpPr>
          <p:cNvPr id="1713" name="Google Shape;1713;p63"/>
          <p:cNvSpPr/>
          <p:nvPr/>
        </p:nvSpPr>
        <p:spPr>
          <a:xfrm>
            <a:off x="2334472" y="2614275"/>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714" name="Google Shape;1714;p63"/>
          <p:cNvGrpSpPr/>
          <p:nvPr/>
        </p:nvGrpSpPr>
        <p:grpSpPr>
          <a:xfrm>
            <a:off x="2711809" y="2825731"/>
            <a:ext cx="205525" cy="409199"/>
            <a:chOff x="7897625" y="3319150"/>
            <a:chExt cx="645900" cy="1285575"/>
          </a:xfrm>
        </p:grpSpPr>
        <p:sp>
          <p:nvSpPr>
            <p:cNvPr id="1715" name="Google Shape;1715;p63"/>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716" name="Google Shape;1716;p63"/>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717" name="Google Shape;1717;p63"/>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718" name="Google Shape;1718;p63"/>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719" name="Google Shape;1719;p63"/>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720" name="Google Shape;1720;p63"/>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721" name="Google Shape;1721;p63"/>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722" name="Google Shape;1722;p63"/>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1723" name="Google Shape;1723;p63"/>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1724" name="Google Shape;1724;p63"/>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725" name="Google Shape;1725;p63"/>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726" name="Google Shape;1726;p63"/>
            <p:cNvSpPr/>
            <p:nvPr/>
          </p:nvSpPr>
          <p:spPr>
            <a:xfrm>
              <a:off x="8198675" y="3551600"/>
              <a:ext cx="43800" cy="43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727" name="Google Shape;1727;p63"/>
          <p:cNvSpPr/>
          <p:nvPr/>
        </p:nvSpPr>
        <p:spPr>
          <a:xfrm>
            <a:off x="2334472" y="3446467"/>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728" name="Google Shape;1728;p63"/>
          <p:cNvGrpSpPr/>
          <p:nvPr/>
        </p:nvGrpSpPr>
        <p:grpSpPr>
          <a:xfrm>
            <a:off x="2711809" y="3657923"/>
            <a:ext cx="205525" cy="409199"/>
            <a:chOff x="7897625" y="3319150"/>
            <a:chExt cx="645900" cy="1285575"/>
          </a:xfrm>
        </p:grpSpPr>
        <p:sp>
          <p:nvSpPr>
            <p:cNvPr id="1729" name="Google Shape;1729;p63"/>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730" name="Google Shape;1730;p63"/>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731" name="Google Shape;1731;p63"/>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732" name="Google Shape;1732;p63"/>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733" name="Google Shape;1733;p63"/>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734" name="Google Shape;1734;p63"/>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735" name="Google Shape;1735;p63"/>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736" name="Google Shape;1736;p63"/>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737" name="Google Shape;1737;p63"/>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738" name="Google Shape;1738;p63"/>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739" name="Google Shape;1739;p63"/>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740" name="Google Shape;1740;p63"/>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741" name="Google Shape;1741;p63"/>
          <p:cNvSpPr/>
          <p:nvPr/>
        </p:nvSpPr>
        <p:spPr>
          <a:xfrm>
            <a:off x="3964663" y="288787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R1</a:t>
            </a:r>
            <a:endParaRPr>
              <a:solidFill>
                <a:srgbClr val="B7B7B7"/>
              </a:solidFill>
              <a:latin typeface="Roboto"/>
              <a:ea typeface="Roboto"/>
              <a:cs typeface="Roboto"/>
              <a:sym typeface="Roboto"/>
            </a:endParaRPr>
          </a:p>
        </p:txBody>
      </p:sp>
      <p:sp>
        <p:nvSpPr>
          <p:cNvPr id="1742" name="Google Shape;1742;p63"/>
          <p:cNvSpPr/>
          <p:nvPr/>
        </p:nvSpPr>
        <p:spPr>
          <a:xfrm>
            <a:off x="3964663" y="372007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R2</a:t>
            </a:r>
            <a:endParaRPr>
              <a:solidFill>
                <a:srgbClr val="B7B7B7"/>
              </a:solidFill>
              <a:latin typeface="Roboto"/>
              <a:ea typeface="Roboto"/>
              <a:cs typeface="Roboto"/>
              <a:sym typeface="Roboto"/>
            </a:endParaRPr>
          </a:p>
        </p:txBody>
      </p:sp>
      <p:cxnSp>
        <p:nvCxnSpPr>
          <p:cNvPr id="1743" name="Google Shape;1743;p63"/>
          <p:cNvCxnSpPr/>
          <p:nvPr/>
        </p:nvCxnSpPr>
        <p:spPr>
          <a:xfrm rot="10800000">
            <a:off x="3004063" y="3030375"/>
            <a:ext cx="960600" cy="0"/>
          </a:xfrm>
          <a:prstGeom prst="straightConnector1">
            <a:avLst/>
          </a:prstGeom>
          <a:noFill/>
          <a:ln cap="flat" cmpd="sng" w="9525">
            <a:solidFill>
              <a:srgbClr val="B7B7B7"/>
            </a:solidFill>
            <a:prstDash val="solid"/>
            <a:round/>
            <a:headEnd len="med" w="med" type="none"/>
            <a:tailEnd len="med" w="med" type="none"/>
          </a:ln>
        </p:spPr>
      </p:cxnSp>
      <p:cxnSp>
        <p:nvCxnSpPr>
          <p:cNvPr id="1744" name="Google Shape;1744;p63"/>
          <p:cNvCxnSpPr/>
          <p:nvPr/>
        </p:nvCxnSpPr>
        <p:spPr>
          <a:xfrm rot="10800000">
            <a:off x="3005377" y="3854425"/>
            <a:ext cx="956700" cy="0"/>
          </a:xfrm>
          <a:prstGeom prst="straightConnector1">
            <a:avLst/>
          </a:prstGeom>
          <a:noFill/>
          <a:ln cap="flat" cmpd="sng" w="9525">
            <a:solidFill>
              <a:srgbClr val="B7B7B7"/>
            </a:solidFill>
            <a:prstDash val="solid"/>
            <a:round/>
            <a:headEnd len="med" w="med" type="none"/>
            <a:tailEnd len="med" w="med" type="none"/>
          </a:ln>
        </p:spPr>
      </p:cxnSp>
      <p:cxnSp>
        <p:nvCxnSpPr>
          <p:cNvPr id="1745" name="Google Shape;1745;p63"/>
          <p:cNvCxnSpPr>
            <a:stCxn id="1741" idx="3"/>
            <a:endCxn id="1746" idx="1"/>
          </p:cNvCxnSpPr>
          <p:nvPr/>
        </p:nvCxnSpPr>
        <p:spPr>
          <a:xfrm>
            <a:off x="4249663" y="3030375"/>
            <a:ext cx="705600" cy="416100"/>
          </a:xfrm>
          <a:prstGeom prst="straightConnector1">
            <a:avLst/>
          </a:prstGeom>
          <a:noFill/>
          <a:ln cap="flat" cmpd="sng" w="9525">
            <a:solidFill>
              <a:srgbClr val="B7B7B7"/>
            </a:solidFill>
            <a:prstDash val="solid"/>
            <a:round/>
            <a:headEnd len="med" w="med" type="none"/>
            <a:tailEnd len="med" w="med" type="none"/>
          </a:ln>
        </p:spPr>
      </p:cxnSp>
      <p:cxnSp>
        <p:nvCxnSpPr>
          <p:cNvPr id="1747" name="Google Shape;1747;p63"/>
          <p:cNvCxnSpPr>
            <a:stCxn id="1742" idx="3"/>
            <a:endCxn id="1746" idx="1"/>
          </p:cNvCxnSpPr>
          <p:nvPr/>
        </p:nvCxnSpPr>
        <p:spPr>
          <a:xfrm flipH="1" rot="10800000">
            <a:off x="4249663" y="3446475"/>
            <a:ext cx="705600" cy="416100"/>
          </a:xfrm>
          <a:prstGeom prst="straightConnector1">
            <a:avLst/>
          </a:prstGeom>
          <a:noFill/>
          <a:ln cap="flat" cmpd="sng" w="9525">
            <a:solidFill>
              <a:srgbClr val="B7B7B7"/>
            </a:solidFill>
            <a:prstDash val="solid"/>
            <a:round/>
            <a:headEnd len="med" w="med" type="none"/>
            <a:tailEnd len="med" w="med" type="none"/>
          </a:ln>
        </p:spPr>
      </p:cxnSp>
      <p:cxnSp>
        <p:nvCxnSpPr>
          <p:cNvPr id="1748" name="Google Shape;1748;p63"/>
          <p:cNvCxnSpPr>
            <a:stCxn id="1746" idx="3"/>
          </p:cNvCxnSpPr>
          <p:nvPr/>
        </p:nvCxnSpPr>
        <p:spPr>
          <a:xfrm>
            <a:off x="5240263" y="3446475"/>
            <a:ext cx="551700" cy="0"/>
          </a:xfrm>
          <a:prstGeom prst="straightConnector1">
            <a:avLst/>
          </a:prstGeom>
          <a:noFill/>
          <a:ln cap="flat" cmpd="sng" w="9525">
            <a:solidFill>
              <a:srgbClr val="B7B7B7"/>
            </a:solidFill>
            <a:prstDash val="solid"/>
            <a:round/>
            <a:headEnd len="med" w="med" type="none"/>
            <a:tailEnd len="med" w="med" type="none"/>
          </a:ln>
        </p:spPr>
      </p:cxnSp>
      <p:cxnSp>
        <p:nvCxnSpPr>
          <p:cNvPr id="1749" name="Google Shape;1749;p63"/>
          <p:cNvCxnSpPr/>
          <p:nvPr/>
        </p:nvCxnSpPr>
        <p:spPr>
          <a:xfrm>
            <a:off x="5791973" y="3446475"/>
            <a:ext cx="525300" cy="0"/>
          </a:xfrm>
          <a:prstGeom prst="straightConnector1">
            <a:avLst/>
          </a:prstGeom>
          <a:noFill/>
          <a:ln cap="flat" cmpd="sng" w="9525">
            <a:solidFill>
              <a:srgbClr val="B7B7B7"/>
            </a:solidFill>
            <a:prstDash val="dash"/>
            <a:round/>
            <a:headEnd len="med" w="med" type="none"/>
            <a:tailEnd len="med" w="med" type="none"/>
          </a:ln>
        </p:spPr>
      </p:cxnSp>
      <p:grpSp>
        <p:nvGrpSpPr>
          <p:cNvPr id="1750" name="Google Shape;1750;p63"/>
          <p:cNvGrpSpPr/>
          <p:nvPr/>
        </p:nvGrpSpPr>
        <p:grpSpPr>
          <a:xfrm>
            <a:off x="1101937" y="2742800"/>
            <a:ext cx="384763" cy="551700"/>
            <a:chOff x="160300" y="2651875"/>
            <a:chExt cx="384763" cy="551700"/>
          </a:xfrm>
        </p:grpSpPr>
        <p:pic>
          <p:nvPicPr>
            <p:cNvPr id="1751" name="Google Shape;1751;p63"/>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1752" name="Google Shape;1752;p63"/>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sp>
        <p:nvSpPr>
          <p:cNvPr id="1710" name="Google Shape;1710;p63"/>
          <p:cNvSpPr/>
          <p:nvPr/>
        </p:nvSpPr>
        <p:spPr>
          <a:xfrm>
            <a:off x="3964663" y="4294275"/>
            <a:ext cx="960600" cy="5508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Mobility Manager</a:t>
            </a:r>
            <a:endParaRPr>
              <a:latin typeface="Roboto"/>
              <a:ea typeface="Roboto"/>
              <a:cs typeface="Roboto"/>
              <a:sym typeface="Roboto"/>
            </a:endParaRPr>
          </a:p>
        </p:txBody>
      </p:sp>
      <p:cxnSp>
        <p:nvCxnSpPr>
          <p:cNvPr id="1753" name="Google Shape;1753;p63"/>
          <p:cNvCxnSpPr/>
          <p:nvPr/>
        </p:nvCxnSpPr>
        <p:spPr>
          <a:xfrm rot="10800000">
            <a:off x="1537650" y="3030334"/>
            <a:ext cx="1123200" cy="0"/>
          </a:xfrm>
          <a:prstGeom prst="straightConnector1">
            <a:avLst/>
          </a:prstGeom>
          <a:noFill/>
          <a:ln cap="flat" cmpd="sng" w="28575">
            <a:solidFill>
              <a:schemeClr val="accent2"/>
            </a:solidFill>
            <a:prstDash val="solid"/>
            <a:round/>
            <a:headEnd len="med" w="med" type="triangle"/>
            <a:tailEnd len="med" w="med" type="none"/>
          </a:ln>
        </p:spPr>
      </p:cxnSp>
      <p:sp>
        <p:nvSpPr>
          <p:cNvPr id="1709" name="Google Shape;1709;p63"/>
          <p:cNvSpPr/>
          <p:nvPr/>
        </p:nvSpPr>
        <p:spPr>
          <a:xfrm>
            <a:off x="5828738" y="4278675"/>
            <a:ext cx="960600" cy="5820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Database</a:t>
            </a:r>
            <a:endParaRPr>
              <a:latin typeface="Roboto"/>
              <a:ea typeface="Roboto"/>
              <a:cs typeface="Roboto"/>
              <a:sym typeface="Roboto"/>
            </a:endParaRPr>
          </a:p>
        </p:txBody>
      </p:sp>
      <p:sp>
        <p:nvSpPr>
          <p:cNvPr id="1746" name="Google Shape;1746;p63"/>
          <p:cNvSpPr/>
          <p:nvPr/>
        </p:nvSpPr>
        <p:spPr>
          <a:xfrm>
            <a:off x="4955263" y="330397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P1</a:t>
            </a:r>
            <a:endParaRPr>
              <a:solidFill>
                <a:srgbClr val="B7B7B7"/>
              </a:solidFill>
              <a:latin typeface="Roboto"/>
              <a:ea typeface="Roboto"/>
              <a:cs typeface="Roboto"/>
              <a:sym typeface="Roboto"/>
            </a:endParaRPr>
          </a:p>
        </p:txBody>
      </p:sp>
      <p:sp>
        <p:nvSpPr>
          <p:cNvPr id="1754" name="Google Shape;1754;p63"/>
          <p:cNvSpPr txBox="1"/>
          <p:nvPr/>
        </p:nvSpPr>
        <p:spPr>
          <a:xfrm>
            <a:off x="1920300" y="2742800"/>
            <a:ext cx="2055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1</a:t>
            </a:r>
            <a:endParaRPr>
              <a:solidFill>
                <a:schemeClr val="accent2"/>
              </a:solidFill>
              <a:latin typeface="Roboto"/>
              <a:ea typeface="Roboto"/>
              <a:cs typeface="Roboto"/>
              <a:sym typeface="Roboto"/>
            </a:endParaRPr>
          </a:p>
        </p:txBody>
      </p:sp>
      <p:cxnSp>
        <p:nvCxnSpPr>
          <p:cNvPr id="1755" name="Google Shape;1755;p63"/>
          <p:cNvCxnSpPr/>
          <p:nvPr/>
        </p:nvCxnSpPr>
        <p:spPr>
          <a:xfrm rot="10800000">
            <a:off x="2985100" y="3112225"/>
            <a:ext cx="987600" cy="1204200"/>
          </a:xfrm>
          <a:prstGeom prst="straightConnector1">
            <a:avLst/>
          </a:prstGeom>
          <a:noFill/>
          <a:ln cap="flat" cmpd="sng" w="28575">
            <a:solidFill>
              <a:schemeClr val="accent2"/>
            </a:solidFill>
            <a:prstDash val="solid"/>
            <a:round/>
            <a:headEnd len="med" w="med" type="triangle"/>
            <a:tailEnd len="med" w="med" type="none"/>
          </a:ln>
        </p:spPr>
      </p:cxnSp>
      <p:sp>
        <p:nvSpPr>
          <p:cNvPr id="1756" name="Google Shape;1756;p63"/>
          <p:cNvSpPr txBox="1"/>
          <p:nvPr/>
        </p:nvSpPr>
        <p:spPr>
          <a:xfrm>
            <a:off x="3447900" y="3446475"/>
            <a:ext cx="2055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2</a:t>
            </a:r>
            <a:endParaRPr>
              <a:solidFill>
                <a:schemeClr val="accent2"/>
              </a:solidFill>
              <a:latin typeface="Roboto"/>
              <a:ea typeface="Roboto"/>
              <a:cs typeface="Roboto"/>
              <a:sym typeface="Roboto"/>
            </a:endParaRPr>
          </a:p>
        </p:txBody>
      </p:sp>
      <p:sp>
        <p:nvSpPr>
          <p:cNvPr id="1757" name="Google Shape;1757;p63"/>
          <p:cNvSpPr txBox="1"/>
          <p:nvPr/>
        </p:nvSpPr>
        <p:spPr>
          <a:xfrm>
            <a:off x="5274250" y="4316425"/>
            <a:ext cx="2055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3</a:t>
            </a:r>
            <a:endParaRPr>
              <a:solidFill>
                <a:schemeClr val="accent2"/>
              </a:solidFill>
              <a:latin typeface="Roboto"/>
              <a:ea typeface="Roboto"/>
              <a:cs typeface="Roboto"/>
              <a:sym typeface="Robot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1" name="Shape 1761"/>
        <p:cNvGrpSpPr/>
        <p:nvPr/>
      </p:nvGrpSpPr>
      <p:grpSpPr>
        <a:xfrm>
          <a:off x="0" y="0"/>
          <a:ext cx="0" cy="0"/>
          <a:chOff x="0" y="0"/>
          <a:chExt cx="0" cy="0"/>
        </a:xfrm>
      </p:grpSpPr>
      <p:cxnSp>
        <p:nvCxnSpPr>
          <p:cNvPr id="1762" name="Google Shape;1762;p64"/>
          <p:cNvCxnSpPr>
            <a:stCxn id="1763" idx="2"/>
            <a:endCxn id="1764" idx="3"/>
          </p:cNvCxnSpPr>
          <p:nvPr/>
        </p:nvCxnSpPr>
        <p:spPr>
          <a:xfrm rot="10800000">
            <a:off x="4925138" y="4569675"/>
            <a:ext cx="903600" cy="0"/>
          </a:xfrm>
          <a:prstGeom prst="straightConnector1">
            <a:avLst/>
          </a:prstGeom>
          <a:noFill/>
          <a:ln cap="flat" cmpd="sng" w="9525">
            <a:solidFill>
              <a:srgbClr val="B7B7B7"/>
            </a:solidFill>
            <a:prstDash val="solid"/>
            <a:round/>
            <a:headEnd len="med" w="med" type="none"/>
            <a:tailEnd len="med" w="med" type="none"/>
          </a:ln>
        </p:spPr>
      </p:cxnSp>
      <p:sp>
        <p:nvSpPr>
          <p:cNvPr id="1765" name="Google Shape;1765;p64"/>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2: Attachment</a:t>
            </a:r>
            <a:endParaRPr/>
          </a:p>
        </p:txBody>
      </p:sp>
      <p:sp>
        <p:nvSpPr>
          <p:cNvPr id="1766" name="Google Shape;1766;p64"/>
          <p:cNvSpPr txBox="1"/>
          <p:nvPr>
            <p:ph idx="1" type="body"/>
          </p:nvPr>
        </p:nvSpPr>
        <p:spPr>
          <a:xfrm>
            <a:off x="107050" y="402200"/>
            <a:ext cx="8909700" cy="2081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4. If request is approved, mobility manager configures the data plane.</a:t>
            </a:r>
            <a:endParaRPr/>
          </a:p>
          <a:p>
            <a:pPr indent="-342900" lvl="0" marL="457200" rtl="0" algn="l">
              <a:spcBef>
                <a:spcPts val="600"/>
              </a:spcBef>
              <a:spcAft>
                <a:spcPts val="0"/>
              </a:spcAft>
              <a:buSzPts val="1800"/>
              <a:buChar char="●"/>
            </a:pPr>
            <a:r>
              <a:rPr lang="en"/>
              <a:t>Assign an IP address to the user.</a:t>
            </a:r>
            <a:endParaRPr/>
          </a:p>
          <a:p>
            <a:pPr indent="-342900" lvl="0" marL="457200" rtl="0" algn="l">
              <a:spcBef>
                <a:spcPts val="0"/>
              </a:spcBef>
              <a:spcAft>
                <a:spcPts val="0"/>
              </a:spcAft>
              <a:buSzPts val="1800"/>
              <a:buChar char="●"/>
            </a:pPr>
            <a:r>
              <a:rPr lang="en"/>
              <a:t>Tell the tower how many resources to allocate for this user.</a:t>
            </a:r>
            <a:endParaRPr/>
          </a:p>
          <a:p>
            <a:pPr indent="-342900" lvl="0" marL="457200" rtl="0" algn="l">
              <a:spcBef>
                <a:spcPts val="0"/>
              </a:spcBef>
              <a:spcAft>
                <a:spcPts val="0"/>
              </a:spcAft>
              <a:buSzPts val="1800"/>
              <a:buChar char="●"/>
            </a:pPr>
            <a:r>
              <a:rPr lang="en"/>
              <a:t>Configure tower and routers to </a:t>
            </a:r>
            <a:r>
              <a:rPr lang="en"/>
              <a:t>create</a:t>
            </a:r>
            <a:r>
              <a:rPr lang="en"/>
              <a:t> a path from user to Internet.</a:t>
            </a:r>
            <a:endParaRPr/>
          </a:p>
          <a:p>
            <a:pPr indent="-342900" lvl="0" marL="457200" rtl="0" algn="l">
              <a:spcBef>
                <a:spcPts val="0"/>
              </a:spcBef>
              <a:spcAft>
                <a:spcPts val="0"/>
              </a:spcAft>
              <a:buSzPts val="1800"/>
              <a:buChar char="●"/>
            </a:pPr>
            <a:r>
              <a:rPr lang="en"/>
              <a:t>Initialize counters to track the device's usage.</a:t>
            </a:r>
            <a:endParaRPr/>
          </a:p>
        </p:txBody>
      </p:sp>
      <p:sp>
        <p:nvSpPr>
          <p:cNvPr id="1767" name="Google Shape;1767;p64"/>
          <p:cNvSpPr/>
          <p:nvPr/>
        </p:nvSpPr>
        <p:spPr>
          <a:xfrm>
            <a:off x="2334472" y="2614275"/>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768" name="Google Shape;1768;p64"/>
          <p:cNvGrpSpPr/>
          <p:nvPr/>
        </p:nvGrpSpPr>
        <p:grpSpPr>
          <a:xfrm>
            <a:off x="2711809" y="2825731"/>
            <a:ext cx="205525" cy="409199"/>
            <a:chOff x="7897625" y="3319150"/>
            <a:chExt cx="645900" cy="1285575"/>
          </a:xfrm>
        </p:grpSpPr>
        <p:sp>
          <p:nvSpPr>
            <p:cNvPr id="1769" name="Google Shape;1769;p64"/>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770" name="Google Shape;1770;p64"/>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771" name="Google Shape;1771;p64"/>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772" name="Google Shape;1772;p64"/>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773" name="Google Shape;1773;p64"/>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774" name="Google Shape;1774;p64"/>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775" name="Google Shape;1775;p64"/>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776" name="Google Shape;1776;p64"/>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1777" name="Google Shape;1777;p64"/>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1778" name="Google Shape;1778;p64"/>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779" name="Google Shape;1779;p64"/>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780" name="Google Shape;1780;p64"/>
            <p:cNvSpPr/>
            <p:nvPr/>
          </p:nvSpPr>
          <p:spPr>
            <a:xfrm>
              <a:off x="8198675" y="3551600"/>
              <a:ext cx="43800" cy="43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781" name="Google Shape;1781;p64"/>
          <p:cNvSpPr/>
          <p:nvPr/>
        </p:nvSpPr>
        <p:spPr>
          <a:xfrm>
            <a:off x="2334472" y="3446467"/>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782" name="Google Shape;1782;p64"/>
          <p:cNvGrpSpPr/>
          <p:nvPr/>
        </p:nvGrpSpPr>
        <p:grpSpPr>
          <a:xfrm>
            <a:off x="2711809" y="3657923"/>
            <a:ext cx="205525" cy="409199"/>
            <a:chOff x="7897625" y="3319150"/>
            <a:chExt cx="645900" cy="1285575"/>
          </a:xfrm>
        </p:grpSpPr>
        <p:sp>
          <p:nvSpPr>
            <p:cNvPr id="1783" name="Google Shape;1783;p64"/>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784" name="Google Shape;1784;p64"/>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785" name="Google Shape;1785;p64"/>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786" name="Google Shape;1786;p64"/>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787" name="Google Shape;1787;p64"/>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788" name="Google Shape;1788;p64"/>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789" name="Google Shape;1789;p64"/>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790" name="Google Shape;1790;p64"/>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791" name="Google Shape;1791;p64"/>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792" name="Google Shape;1792;p64"/>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793" name="Google Shape;1793;p64"/>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794" name="Google Shape;1794;p64"/>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795" name="Google Shape;1795;p64"/>
          <p:cNvSpPr/>
          <p:nvPr/>
        </p:nvSpPr>
        <p:spPr>
          <a:xfrm>
            <a:off x="3964663" y="28878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1796" name="Google Shape;1796;p64"/>
          <p:cNvSpPr/>
          <p:nvPr/>
        </p:nvSpPr>
        <p:spPr>
          <a:xfrm>
            <a:off x="3964663" y="372007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R2</a:t>
            </a:r>
            <a:endParaRPr>
              <a:solidFill>
                <a:srgbClr val="B7B7B7"/>
              </a:solidFill>
              <a:latin typeface="Roboto"/>
              <a:ea typeface="Roboto"/>
              <a:cs typeface="Roboto"/>
              <a:sym typeface="Roboto"/>
            </a:endParaRPr>
          </a:p>
        </p:txBody>
      </p:sp>
      <p:cxnSp>
        <p:nvCxnSpPr>
          <p:cNvPr id="1797" name="Google Shape;1797;p64"/>
          <p:cNvCxnSpPr/>
          <p:nvPr/>
        </p:nvCxnSpPr>
        <p:spPr>
          <a:xfrm rot="10800000">
            <a:off x="3004063" y="3030375"/>
            <a:ext cx="960600" cy="0"/>
          </a:xfrm>
          <a:prstGeom prst="straightConnector1">
            <a:avLst/>
          </a:prstGeom>
          <a:noFill/>
          <a:ln cap="flat" cmpd="sng" w="19050">
            <a:solidFill>
              <a:srgbClr val="0000FF"/>
            </a:solidFill>
            <a:prstDash val="solid"/>
            <a:round/>
            <a:headEnd len="med" w="med" type="none"/>
            <a:tailEnd len="med" w="med" type="none"/>
          </a:ln>
        </p:spPr>
      </p:cxnSp>
      <p:cxnSp>
        <p:nvCxnSpPr>
          <p:cNvPr id="1798" name="Google Shape;1798;p64"/>
          <p:cNvCxnSpPr/>
          <p:nvPr/>
        </p:nvCxnSpPr>
        <p:spPr>
          <a:xfrm rot="10800000">
            <a:off x="3005377" y="3854425"/>
            <a:ext cx="956700" cy="0"/>
          </a:xfrm>
          <a:prstGeom prst="straightConnector1">
            <a:avLst/>
          </a:prstGeom>
          <a:noFill/>
          <a:ln cap="flat" cmpd="sng" w="9525">
            <a:solidFill>
              <a:srgbClr val="B7B7B7"/>
            </a:solidFill>
            <a:prstDash val="solid"/>
            <a:round/>
            <a:headEnd len="med" w="med" type="none"/>
            <a:tailEnd len="med" w="med" type="none"/>
          </a:ln>
        </p:spPr>
      </p:cxnSp>
      <p:cxnSp>
        <p:nvCxnSpPr>
          <p:cNvPr id="1799" name="Google Shape;1799;p64"/>
          <p:cNvCxnSpPr>
            <a:stCxn id="1795" idx="3"/>
            <a:endCxn id="1800" idx="1"/>
          </p:cNvCxnSpPr>
          <p:nvPr/>
        </p:nvCxnSpPr>
        <p:spPr>
          <a:xfrm>
            <a:off x="4249663" y="3030375"/>
            <a:ext cx="705600" cy="416100"/>
          </a:xfrm>
          <a:prstGeom prst="straightConnector1">
            <a:avLst/>
          </a:prstGeom>
          <a:noFill/>
          <a:ln cap="flat" cmpd="sng" w="19050">
            <a:solidFill>
              <a:srgbClr val="0000FF"/>
            </a:solidFill>
            <a:prstDash val="solid"/>
            <a:round/>
            <a:headEnd len="med" w="med" type="none"/>
            <a:tailEnd len="med" w="med" type="none"/>
          </a:ln>
        </p:spPr>
      </p:cxnSp>
      <p:cxnSp>
        <p:nvCxnSpPr>
          <p:cNvPr id="1801" name="Google Shape;1801;p64"/>
          <p:cNvCxnSpPr>
            <a:stCxn id="1796" idx="3"/>
            <a:endCxn id="1800" idx="1"/>
          </p:cNvCxnSpPr>
          <p:nvPr/>
        </p:nvCxnSpPr>
        <p:spPr>
          <a:xfrm flipH="1" rot="10800000">
            <a:off x="4249663" y="3446475"/>
            <a:ext cx="705600" cy="416100"/>
          </a:xfrm>
          <a:prstGeom prst="straightConnector1">
            <a:avLst/>
          </a:prstGeom>
          <a:noFill/>
          <a:ln cap="flat" cmpd="sng" w="9525">
            <a:solidFill>
              <a:srgbClr val="B7B7B7"/>
            </a:solidFill>
            <a:prstDash val="solid"/>
            <a:round/>
            <a:headEnd len="med" w="med" type="none"/>
            <a:tailEnd len="med" w="med" type="none"/>
          </a:ln>
        </p:spPr>
      </p:cxnSp>
      <p:cxnSp>
        <p:nvCxnSpPr>
          <p:cNvPr id="1802" name="Google Shape;1802;p64"/>
          <p:cNvCxnSpPr>
            <a:stCxn id="1800" idx="3"/>
          </p:cNvCxnSpPr>
          <p:nvPr/>
        </p:nvCxnSpPr>
        <p:spPr>
          <a:xfrm>
            <a:off x="5240263" y="3446475"/>
            <a:ext cx="551700" cy="0"/>
          </a:xfrm>
          <a:prstGeom prst="straightConnector1">
            <a:avLst/>
          </a:prstGeom>
          <a:noFill/>
          <a:ln cap="flat" cmpd="sng" w="19050">
            <a:solidFill>
              <a:srgbClr val="0000FF"/>
            </a:solidFill>
            <a:prstDash val="solid"/>
            <a:round/>
            <a:headEnd len="med" w="med" type="none"/>
            <a:tailEnd len="med" w="med" type="none"/>
          </a:ln>
        </p:spPr>
      </p:cxnSp>
      <p:cxnSp>
        <p:nvCxnSpPr>
          <p:cNvPr id="1803" name="Google Shape;1803;p64"/>
          <p:cNvCxnSpPr/>
          <p:nvPr/>
        </p:nvCxnSpPr>
        <p:spPr>
          <a:xfrm>
            <a:off x="5791973" y="3446475"/>
            <a:ext cx="525300" cy="0"/>
          </a:xfrm>
          <a:prstGeom prst="straightConnector1">
            <a:avLst/>
          </a:prstGeom>
          <a:noFill/>
          <a:ln cap="flat" cmpd="sng" w="19050">
            <a:solidFill>
              <a:srgbClr val="0000FF"/>
            </a:solidFill>
            <a:prstDash val="dash"/>
            <a:round/>
            <a:headEnd len="med" w="med" type="none"/>
            <a:tailEnd len="med" w="med" type="none"/>
          </a:ln>
        </p:spPr>
      </p:cxnSp>
      <p:grpSp>
        <p:nvGrpSpPr>
          <p:cNvPr id="1804" name="Google Shape;1804;p64"/>
          <p:cNvGrpSpPr/>
          <p:nvPr/>
        </p:nvGrpSpPr>
        <p:grpSpPr>
          <a:xfrm>
            <a:off x="1101937" y="2742800"/>
            <a:ext cx="384763" cy="551700"/>
            <a:chOff x="160300" y="2651875"/>
            <a:chExt cx="384763" cy="551700"/>
          </a:xfrm>
        </p:grpSpPr>
        <p:pic>
          <p:nvPicPr>
            <p:cNvPr id="1805" name="Google Shape;1805;p64"/>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1806" name="Google Shape;1806;p64"/>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sp>
        <p:nvSpPr>
          <p:cNvPr id="1763" name="Google Shape;1763;p64"/>
          <p:cNvSpPr/>
          <p:nvPr/>
        </p:nvSpPr>
        <p:spPr>
          <a:xfrm>
            <a:off x="5828738" y="4278675"/>
            <a:ext cx="960600" cy="5820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Database</a:t>
            </a:r>
            <a:endParaRPr>
              <a:latin typeface="Roboto"/>
              <a:ea typeface="Roboto"/>
              <a:cs typeface="Roboto"/>
              <a:sym typeface="Roboto"/>
            </a:endParaRPr>
          </a:p>
        </p:txBody>
      </p:sp>
      <p:sp>
        <p:nvSpPr>
          <p:cNvPr id="1800" name="Google Shape;1800;p64"/>
          <p:cNvSpPr/>
          <p:nvPr/>
        </p:nvSpPr>
        <p:spPr>
          <a:xfrm>
            <a:off x="4955263" y="33039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P1</a:t>
            </a:r>
            <a:endParaRPr>
              <a:latin typeface="Roboto"/>
              <a:ea typeface="Roboto"/>
              <a:cs typeface="Roboto"/>
              <a:sym typeface="Roboto"/>
            </a:endParaRPr>
          </a:p>
        </p:txBody>
      </p:sp>
      <p:cxnSp>
        <p:nvCxnSpPr>
          <p:cNvPr id="1807" name="Google Shape;1807;p64"/>
          <p:cNvCxnSpPr>
            <a:stCxn id="1795" idx="2"/>
            <a:endCxn id="1764" idx="0"/>
          </p:cNvCxnSpPr>
          <p:nvPr/>
        </p:nvCxnSpPr>
        <p:spPr>
          <a:xfrm>
            <a:off x="4107163" y="3172875"/>
            <a:ext cx="337800" cy="1121400"/>
          </a:xfrm>
          <a:prstGeom prst="straightConnector1">
            <a:avLst/>
          </a:prstGeom>
          <a:noFill/>
          <a:ln cap="flat" cmpd="sng" w="28575">
            <a:solidFill>
              <a:schemeClr val="accent2"/>
            </a:solidFill>
            <a:prstDash val="solid"/>
            <a:round/>
            <a:headEnd len="med" w="med" type="triangle"/>
            <a:tailEnd len="med" w="med" type="none"/>
          </a:ln>
        </p:spPr>
      </p:cxnSp>
      <p:cxnSp>
        <p:nvCxnSpPr>
          <p:cNvPr id="1808" name="Google Shape;1808;p64"/>
          <p:cNvCxnSpPr>
            <a:stCxn id="1800" idx="2"/>
          </p:cNvCxnSpPr>
          <p:nvPr/>
        </p:nvCxnSpPr>
        <p:spPr>
          <a:xfrm flipH="1">
            <a:off x="4876063" y="3588975"/>
            <a:ext cx="221700" cy="714300"/>
          </a:xfrm>
          <a:prstGeom prst="straightConnector1">
            <a:avLst/>
          </a:prstGeom>
          <a:noFill/>
          <a:ln cap="flat" cmpd="sng" w="28575">
            <a:solidFill>
              <a:schemeClr val="accent2"/>
            </a:solidFill>
            <a:prstDash val="solid"/>
            <a:round/>
            <a:headEnd len="med" w="med" type="triangle"/>
            <a:tailEnd len="med" w="med" type="none"/>
          </a:ln>
        </p:spPr>
      </p:cxnSp>
      <p:cxnSp>
        <p:nvCxnSpPr>
          <p:cNvPr id="1809" name="Google Shape;1809;p64"/>
          <p:cNvCxnSpPr/>
          <p:nvPr/>
        </p:nvCxnSpPr>
        <p:spPr>
          <a:xfrm rot="10800000">
            <a:off x="2985200" y="3112100"/>
            <a:ext cx="1019100" cy="1243200"/>
          </a:xfrm>
          <a:prstGeom prst="straightConnector1">
            <a:avLst/>
          </a:prstGeom>
          <a:noFill/>
          <a:ln cap="flat" cmpd="sng" w="28575">
            <a:solidFill>
              <a:schemeClr val="accent2"/>
            </a:solidFill>
            <a:prstDash val="solid"/>
            <a:round/>
            <a:headEnd len="med" w="med" type="none"/>
            <a:tailEnd len="med" w="med" type="triangle"/>
          </a:ln>
        </p:spPr>
      </p:cxnSp>
      <p:sp>
        <p:nvSpPr>
          <p:cNvPr id="1764" name="Google Shape;1764;p64"/>
          <p:cNvSpPr/>
          <p:nvPr/>
        </p:nvSpPr>
        <p:spPr>
          <a:xfrm>
            <a:off x="3964663" y="4294275"/>
            <a:ext cx="960600" cy="5508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Mobility Manager</a:t>
            </a:r>
            <a:endParaRPr>
              <a:latin typeface="Roboto"/>
              <a:ea typeface="Roboto"/>
              <a:cs typeface="Roboto"/>
              <a:sym typeface="Roboto"/>
            </a:endParaRPr>
          </a:p>
        </p:txBody>
      </p:sp>
      <p:cxnSp>
        <p:nvCxnSpPr>
          <p:cNvPr id="1810" name="Google Shape;1810;p64"/>
          <p:cNvCxnSpPr/>
          <p:nvPr/>
        </p:nvCxnSpPr>
        <p:spPr>
          <a:xfrm rot="10800000">
            <a:off x="1537650" y="3030334"/>
            <a:ext cx="1123200" cy="0"/>
          </a:xfrm>
          <a:prstGeom prst="straightConnector1">
            <a:avLst/>
          </a:prstGeom>
          <a:noFill/>
          <a:ln cap="flat" cmpd="sng" w="19050">
            <a:solidFill>
              <a:srgbClr val="0000FF"/>
            </a:solidFill>
            <a:prstDash val="solid"/>
            <a:round/>
            <a:headEnd len="med" w="med" type="none"/>
            <a:tailEnd len="med" w="med" type="none"/>
          </a:ln>
        </p:spPr>
      </p:cxn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4" name="Shape 1814"/>
        <p:cNvGrpSpPr/>
        <p:nvPr/>
      </p:nvGrpSpPr>
      <p:grpSpPr>
        <a:xfrm>
          <a:off x="0" y="0"/>
          <a:ext cx="0" cy="0"/>
          <a:chOff x="0" y="0"/>
          <a:chExt cx="0" cy="0"/>
        </a:xfrm>
      </p:grpSpPr>
      <p:cxnSp>
        <p:nvCxnSpPr>
          <p:cNvPr id="1815" name="Google Shape;1815;p65"/>
          <p:cNvCxnSpPr>
            <a:stCxn id="1816" idx="2"/>
            <a:endCxn id="1817" idx="3"/>
          </p:cNvCxnSpPr>
          <p:nvPr/>
        </p:nvCxnSpPr>
        <p:spPr>
          <a:xfrm rot="10800000">
            <a:off x="4925138" y="4569675"/>
            <a:ext cx="903600" cy="0"/>
          </a:xfrm>
          <a:prstGeom prst="straightConnector1">
            <a:avLst/>
          </a:prstGeom>
          <a:noFill/>
          <a:ln cap="flat" cmpd="sng" w="28575">
            <a:solidFill>
              <a:schemeClr val="accent2"/>
            </a:solidFill>
            <a:prstDash val="solid"/>
            <a:round/>
            <a:headEnd len="med" w="med" type="none"/>
            <a:tailEnd len="med" w="med" type="none"/>
          </a:ln>
        </p:spPr>
      </p:cxnSp>
      <p:sp>
        <p:nvSpPr>
          <p:cNvPr id="1818" name="Google Shape;1818;p65"/>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2: Attachment</a:t>
            </a:r>
            <a:endParaRPr/>
          </a:p>
        </p:txBody>
      </p:sp>
      <p:sp>
        <p:nvSpPr>
          <p:cNvPr id="1819" name="Google Shape;1819;p65"/>
          <p:cNvSpPr/>
          <p:nvPr/>
        </p:nvSpPr>
        <p:spPr>
          <a:xfrm>
            <a:off x="2334472" y="2614275"/>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820" name="Google Shape;1820;p65"/>
          <p:cNvSpPr txBox="1"/>
          <p:nvPr>
            <p:ph idx="1" type="body"/>
          </p:nvPr>
        </p:nvSpPr>
        <p:spPr>
          <a:xfrm>
            <a:off x="107050" y="402200"/>
            <a:ext cx="8909700" cy="2081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5. If request is approved, mobility manager records information in the database,</a:t>
            </a:r>
            <a:br>
              <a:rPr lang="en"/>
            </a:br>
            <a:r>
              <a:rPr lang="en"/>
              <a:t>    mapping the user's IMSI to their current:</a:t>
            </a:r>
            <a:endParaRPr/>
          </a:p>
          <a:p>
            <a:pPr indent="-342900" lvl="0" marL="457200" rtl="0" algn="l">
              <a:spcBef>
                <a:spcPts val="600"/>
              </a:spcBef>
              <a:spcAft>
                <a:spcPts val="0"/>
              </a:spcAft>
              <a:buSzPts val="1800"/>
              <a:buChar char="●"/>
            </a:pPr>
            <a:r>
              <a:rPr lang="en"/>
              <a:t>Location (tower).</a:t>
            </a:r>
            <a:endParaRPr/>
          </a:p>
          <a:p>
            <a:pPr indent="-342900" lvl="0" marL="457200" rtl="0" algn="l">
              <a:spcBef>
                <a:spcPts val="0"/>
              </a:spcBef>
              <a:spcAft>
                <a:spcPts val="0"/>
              </a:spcAft>
              <a:buSzPts val="1800"/>
              <a:buChar char="●"/>
            </a:pPr>
            <a:r>
              <a:rPr lang="en"/>
              <a:t>Path to the Internet (radio gateway, packet gateway).</a:t>
            </a:r>
            <a:endParaRPr/>
          </a:p>
          <a:p>
            <a:pPr indent="-342900" lvl="0" marL="457200" rtl="0" algn="l">
              <a:spcBef>
                <a:spcPts val="0"/>
              </a:spcBef>
              <a:spcAft>
                <a:spcPts val="0"/>
              </a:spcAft>
              <a:buSzPts val="1800"/>
              <a:buChar char="●"/>
            </a:pPr>
            <a:r>
              <a:rPr lang="en"/>
              <a:t>IP address.</a:t>
            </a:r>
            <a:endParaRPr/>
          </a:p>
        </p:txBody>
      </p:sp>
      <p:grpSp>
        <p:nvGrpSpPr>
          <p:cNvPr id="1821" name="Google Shape;1821;p65"/>
          <p:cNvGrpSpPr/>
          <p:nvPr/>
        </p:nvGrpSpPr>
        <p:grpSpPr>
          <a:xfrm>
            <a:off x="2711809" y="2825731"/>
            <a:ext cx="205525" cy="409199"/>
            <a:chOff x="7897625" y="3319150"/>
            <a:chExt cx="645900" cy="1285575"/>
          </a:xfrm>
        </p:grpSpPr>
        <p:sp>
          <p:nvSpPr>
            <p:cNvPr id="1822" name="Google Shape;1822;p65"/>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823" name="Google Shape;1823;p65"/>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824" name="Google Shape;1824;p65"/>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825" name="Google Shape;1825;p65"/>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826" name="Google Shape;1826;p65"/>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827" name="Google Shape;1827;p65"/>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828" name="Google Shape;1828;p65"/>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829" name="Google Shape;1829;p65"/>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1830" name="Google Shape;1830;p65"/>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1831" name="Google Shape;1831;p65"/>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832" name="Google Shape;1832;p65"/>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833" name="Google Shape;1833;p65"/>
            <p:cNvSpPr/>
            <p:nvPr/>
          </p:nvSpPr>
          <p:spPr>
            <a:xfrm>
              <a:off x="8198675" y="3551600"/>
              <a:ext cx="43800" cy="43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834" name="Google Shape;1834;p65"/>
          <p:cNvSpPr/>
          <p:nvPr/>
        </p:nvSpPr>
        <p:spPr>
          <a:xfrm>
            <a:off x="2334472" y="3446467"/>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835" name="Google Shape;1835;p65"/>
          <p:cNvGrpSpPr/>
          <p:nvPr/>
        </p:nvGrpSpPr>
        <p:grpSpPr>
          <a:xfrm>
            <a:off x="2711809" y="3657923"/>
            <a:ext cx="205525" cy="409199"/>
            <a:chOff x="7897625" y="3319150"/>
            <a:chExt cx="645900" cy="1285575"/>
          </a:xfrm>
        </p:grpSpPr>
        <p:sp>
          <p:nvSpPr>
            <p:cNvPr id="1836" name="Google Shape;1836;p65"/>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837" name="Google Shape;1837;p65"/>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838" name="Google Shape;1838;p65"/>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839" name="Google Shape;1839;p65"/>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840" name="Google Shape;1840;p65"/>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841" name="Google Shape;1841;p65"/>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842" name="Google Shape;1842;p65"/>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843" name="Google Shape;1843;p65"/>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844" name="Google Shape;1844;p65"/>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845" name="Google Shape;1845;p65"/>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846" name="Google Shape;1846;p65"/>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847" name="Google Shape;1847;p65"/>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848" name="Google Shape;1848;p65"/>
          <p:cNvSpPr/>
          <p:nvPr/>
        </p:nvSpPr>
        <p:spPr>
          <a:xfrm>
            <a:off x="3964663" y="28878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1849" name="Google Shape;1849;p65"/>
          <p:cNvSpPr/>
          <p:nvPr/>
        </p:nvSpPr>
        <p:spPr>
          <a:xfrm>
            <a:off x="3964663" y="372007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R2</a:t>
            </a:r>
            <a:endParaRPr>
              <a:solidFill>
                <a:srgbClr val="B7B7B7"/>
              </a:solidFill>
              <a:latin typeface="Roboto"/>
              <a:ea typeface="Roboto"/>
              <a:cs typeface="Roboto"/>
              <a:sym typeface="Roboto"/>
            </a:endParaRPr>
          </a:p>
        </p:txBody>
      </p:sp>
      <p:cxnSp>
        <p:nvCxnSpPr>
          <p:cNvPr id="1850" name="Google Shape;1850;p65"/>
          <p:cNvCxnSpPr/>
          <p:nvPr/>
        </p:nvCxnSpPr>
        <p:spPr>
          <a:xfrm rot="10800000">
            <a:off x="3004063" y="3030375"/>
            <a:ext cx="960600" cy="0"/>
          </a:xfrm>
          <a:prstGeom prst="straightConnector1">
            <a:avLst/>
          </a:prstGeom>
          <a:noFill/>
          <a:ln cap="flat" cmpd="sng" w="19050">
            <a:solidFill>
              <a:srgbClr val="0000FF"/>
            </a:solidFill>
            <a:prstDash val="solid"/>
            <a:round/>
            <a:headEnd len="med" w="med" type="none"/>
            <a:tailEnd len="med" w="med" type="none"/>
          </a:ln>
        </p:spPr>
      </p:cxnSp>
      <p:cxnSp>
        <p:nvCxnSpPr>
          <p:cNvPr id="1851" name="Google Shape;1851;p65"/>
          <p:cNvCxnSpPr/>
          <p:nvPr/>
        </p:nvCxnSpPr>
        <p:spPr>
          <a:xfrm rot="10800000">
            <a:off x="3005377" y="3854425"/>
            <a:ext cx="956700" cy="0"/>
          </a:xfrm>
          <a:prstGeom prst="straightConnector1">
            <a:avLst/>
          </a:prstGeom>
          <a:noFill/>
          <a:ln cap="flat" cmpd="sng" w="9525">
            <a:solidFill>
              <a:srgbClr val="B7B7B7"/>
            </a:solidFill>
            <a:prstDash val="solid"/>
            <a:round/>
            <a:headEnd len="med" w="med" type="none"/>
            <a:tailEnd len="med" w="med" type="none"/>
          </a:ln>
        </p:spPr>
      </p:cxnSp>
      <p:cxnSp>
        <p:nvCxnSpPr>
          <p:cNvPr id="1852" name="Google Shape;1852;p65"/>
          <p:cNvCxnSpPr>
            <a:stCxn id="1848" idx="3"/>
            <a:endCxn id="1853" idx="1"/>
          </p:cNvCxnSpPr>
          <p:nvPr/>
        </p:nvCxnSpPr>
        <p:spPr>
          <a:xfrm>
            <a:off x="4249663" y="3030375"/>
            <a:ext cx="705600" cy="416100"/>
          </a:xfrm>
          <a:prstGeom prst="straightConnector1">
            <a:avLst/>
          </a:prstGeom>
          <a:noFill/>
          <a:ln cap="flat" cmpd="sng" w="19050">
            <a:solidFill>
              <a:srgbClr val="0000FF"/>
            </a:solidFill>
            <a:prstDash val="solid"/>
            <a:round/>
            <a:headEnd len="med" w="med" type="none"/>
            <a:tailEnd len="med" w="med" type="none"/>
          </a:ln>
        </p:spPr>
      </p:cxnSp>
      <p:cxnSp>
        <p:nvCxnSpPr>
          <p:cNvPr id="1854" name="Google Shape;1854;p65"/>
          <p:cNvCxnSpPr>
            <a:stCxn id="1849" idx="3"/>
            <a:endCxn id="1853" idx="1"/>
          </p:cNvCxnSpPr>
          <p:nvPr/>
        </p:nvCxnSpPr>
        <p:spPr>
          <a:xfrm flipH="1" rot="10800000">
            <a:off x="4249663" y="3446475"/>
            <a:ext cx="705600" cy="416100"/>
          </a:xfrm>
          <a:prstGeom prst="straightConnector1">
            <a:avLst/>
          </a:prstGeom>
          <a:noFill/>
          <a:ln cap="flat" cmpd="sng" w="9525">
            <a:solidFill>
              <a:srgbClr val="B7B7B7"/>
            </a:solidFill>
            <a:prstDash val="solid"/>
            <a:round/>
            <a:headEnd len="med" w="med" type="none"/>
            <a:tailEnd len="med" w="med" type="none"/>
          </a:ln>
        </p:spPr>
      </p:cxnSp>
      <p:cxnSp>
        <p:nvCxnSpPr>
          <p:cNvPr id="1855" name="Google Shape;1855;p65"/>
          <p:cNvCxnSpPr>
            <a:stCxn id="1853" idx="3"/>
          </p:cNvCxnSpPr>
          <p:nvPr/>
        </p:nvCxnSpPr>
        <p:spPr>
          <a:xfrm>
            <a:off x="5240263" y="3446475"/>
            <a:ext cx="551700" cy="0"/>
          </a:xfrm>
          <a:prstGeom prst="straightConnector1">
            <a:avLst/>
          </a:prstGeom>
          <a:noFill/>
          <a:ln cap="flat" cmpd="sng" w="19050">
            <a:solidFill>
              <a:srgbClr val="0000FF"/>
            </a:solidFill>
            <a:prstDash val="solid"/>
            <a:round/>
            <a:headEnd len="med" w="med" type="none"/>
            <a:tailEnd len="med" w="med" type="none"/>
          </a:ln>
        </p:spPr>
      </p:cxnSp>
      <p:cxnSp>
        <p:nvCxnSpPr>
          <p:cNvPr id="1856" name="Google Shape;1856;p65"/>
          <p:cNvCxnSpPr/>
          <p:nvPr/>
        </p:nvCxnSpPr>
        <p:spPr>
          <a:xfrm>
            <a:off x="5791973" y="3446475"/>
            <a:ext cx="525300" cy="0"/>
          </a:xfrm>
          <a:prstGeom prst="straightConnector1">
            <a:avLst/>
          </a:prstGeom>
          <a:noFill/>
          <a:ln cap="flat" cmpd="sng" w="19050">
            <a:solidFill>
              <a:srgbClr val="0000FF"/>
            </a:solidFill>
            <a:prstDash val="dash"/>
            <a:round/>
            <a:headEnd len="med" w="med" type="none"/>
            <a:tailEnd len="med" w="med" type="none"/>
          </a:ln>
        </p:spPr>
      </p:cxnSp>
      <p:grpSp>
        <p:nvGrpSpPr>
          <p:cNvPr id="1857" name="Google Shape;1857;p65"/>
          <p:cNvGrpSpPr/>
          <p:nvPr/>
        </p:nvGrpSpPr>
        <p:grpSpPr>
          <a:xfrm>
            <a:off x="1101937" y="2742800"/>
            <a:ext cx="384763" cy="551700"/>
            <a:chOff x="160300" y="2651875"/>
            <a:chExt cx="384763" cy="551700"/>
          </a:xfrm>
        </p:grpSpPr>
        <p:pic>
          <p:nvPicPr>
            <p:cNvPr id="1858" name="Google Shape;1858;p65"/>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1859" name="Google Shape;1859;p65"/>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sp>
        <p:nvSpPr>
          <p:cNvPr id="1817" name="Google Shape;1817;p65"/>
          <p:cNvSpPr/>
          <p:nvPr/>
        </p:nvSpPr>
        <p:spPr>
          <a:xfrm>
            <a:off x="3964663" y="4294275"/>
            <a:ext cx="960600" cy="5508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Mobility Manager</a:t>
            </a:r>
            <a:endParaRPr>
              <a:latin typeface="Roboto"/>
              <a:ea typeface="Roboto"/>
              <a:cs typeface="Roboto"/>
              <a:sym typeface="Roboto"/>
            </a:endParaRPr>
          </a:p>
        </p:txBody>
      </p:sp>
      <p:sp>
        <p:nvSpPr>
          <p:cNvPr id="1816" name="Google Shape;1816;p65"/>
          <p:cNvSpPr/>
          <p:nvPr/>
        </p:nvSpPr>
        <p:spPr>
          <a:xfrm>
            <a:off x="5828738" y="4278675"/>
            <a:ext cx="960600" cy="5820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Database</a:t>
            </a:r>
            <a:endParaRPr>
              <a:latin typeface="Roboto"/>
              <a:ea typeface="Roboto"/>
              <a:cs typeface="Roboto"/>
              <a:sym typeface="Roboto"/>
            </a:endParaRPr>
          </a:p>
        </p:txBody>
      </p:sp>
      <p:sp>
        <p:nvSpPr>
          <p:cNvPr id="1853" name="Google Shape;1853;p65"/>
          <p:cNvSpPr/>
          <p:nvPr/>
        </p:nvSpPr>
        <p:spPr>
          <a:xfrm>
            <a:off x="4955263" y="33039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P1</a:t>
            </a:r>
            <a:endParaRPr>
              <a:latin typeface="Roboto"/>
              <a:ea typeface="Roboto"/>
              <a:cs typeface="Roboto"/>
              <a:sym typeface="Roboto"/>
            </a:endParaRPr>
          </a:p>
        </p:txBody>
      </p:sp>
      <p:cxnSp>
        <p:nvCxnSpPr>
          <p:cNvPr id="1860" name="Google Shape;1860;p65"/>
          <p:cNvCxnSpPr/>
          <p:nvPr/>
        </p:nvCxnSpPr>
        <p:spPr>
          <a:xfrm rot="10800000">
            <a:off x="1537650" y="3030334"/>
            <a:ext cx="1123200" cy="0"/>
          </a:xfrm>
          <a:prstGeom prst="straightConnector1">
            <a:avLst/>
          </a:prstGeom>
          <a:noFill/>
          <a:ln cap="flat" cmpd="sng" w="19050">
            <a:solidFill>
              <a:srgbClr val="0000FF"/>
            </a:solidFill>
            <a:prstDash val="solid"/>
            <a:round/>
            <a:headEnd len="med" w="med" type="none"/>
            <a:tailEnd len="med" w="med" type="none"/>
          </a:ln>
        </p:spPr>
      </p:cxn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4" name="Shape 1864"/>
        <p:cNvGrpSpPr/>
        <p:nvPr/>
      </p:nvGrpSpPr>
      <p:grpSpPr>
        <a:xfrm>
          <a:off x="0" y="0"/>
          <a:ext cx="0" cy="0"/>
          <a:chOff x="0" y="0"/>
          <a:chExt cx="0" cy="0"/>
        </a:xfrm>
      </p:grpSpPr>
      <p:sp>
        <p:nvSpPr>
          <p:cNvPr id="1865" name="Google Shape;1865;p66"/>
          <p:cNvSpPr/>
          <p:nvPr/>
        </p:nvSpPr>
        <p:spPr>
          <a:xfrm>
            <a:off x="2334472" y="2614275"/>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866" name="Google Shape;1866;p66"/>
          <p:cNvCxnSpPr/>
          <p:nvPr/>
        </p:nvCxnSpPr>
        <p:spPr>
          <a:xfrm rot="10800000">
            <a:off x="1537650" y="2877934"/>
            <a:ext cx="1123200" cy="0"/>
          </a:xfrm>
          <a:prstGeom prst="straightConnector1">
            <a:avLst/>
          </a:prstGeom>
          <a:noFill/>
          <a:ln cap="flat" cmpd="sng" w="28575">
            <a:solidFill>
              <a:schemeClr val="accent2"/>
            </a:solidFill>
            <a:prstDash val="solid"/>
            <a:round/>
            <a:headEnd len="med" w="med" type="triangle"/>
            <a:tailEnd len="med" w="med" type="none"/>
          </a:ln>
        </p:spPr>
      </p:cxnSp>
      <p:sp>
        <p:nvSpPr>
          <p:cNvPr id="1867" name="Google Shape;1867;p66"/>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2: Attachment</a:t>
            </a:r>
            <a:endParaRPr/>
          </a:p>
        </p:txBody>
      </p:sp>
      <p:sp>
        <p:nvSpPr>
          <p:cNvPr id="1868" name="Google Shape;1868;p66"/>
          <p:cNvSpPr txBox="1"/>
          <p:nvPr>
            <p:ph idx="1" type="body"/>
          </p:nvPr>
        </p:nvSpPr>
        <p:spPr>
          <a:xfrm>
            <a:off x="107050" y="402200"/>
            <a:ext cx="8909700" cy="2212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1. User sends attach request to tower, containing user's IMSI.</a:t>
            </a:r>
            <a:br>
              <a:rPr lang="en"/>
            </a:br>
            <a:r>
              <a:rPr lang="en"/>
              <a:t>2. Tower forwards request to mobility manager.</a:t>
            </a:r>
            <a:br>
              <a:rPr lang="en"/>
            </a:br>
            <a:r>
              <a:rPr lang="en"/>
              <a:t>3. Mobility manager processes the request, by looking up the IMSI in database.</a:t>
            </a:r>
            <a:br>
              <a:rPr lang="en"/>
            </a:br>
            <a:r>
              <a:rPr lang="en"/>
              <a:t>4. If request is approved, mobility manager configures the data plane.</a:t>
            </a:r>
            <a:br>
              <a:rPr lang="en"/>
            </a:br>
            <a:r>
              <a:rPr lang="en"/>
              <a:t>5. If request is approved, mobility manager records information in the database.</a:t>
            </a:r>
            <a:endParaRPr/>
          </a:p>
          <a:p>
            <a:pPr indent="0" lvl="0" marL="0" rtl="0" algn="l">
              <a:spcBef>
                <a:spcPts val="600"/>
              </a:spcBef>
              <a:spcAft>
                <a:spcPts val="0"/>
              </a:spcAft>
              <a:buNone/>
            </a:pPr>
            <a:r>
              <a:rPr lang="en"/>
              <a:t>Note: All communication so far is over dedicated control channels.</a:t>
            </a:r>
            <a:endParaRPr/>
          </a:p>
        </p:txBody>
      </p:sp>
      <p:grpSp>
        <p:nvGrpSpPr>
          <p:cNvPr id="1869" name="Google Shape;1869;p66"/>
          <p:cNvGrpSpPr/>
          <p:nvPr/>
        </p:nvGrpSpPr>
        <p:grpSpPr>
          <a:xfrm>
            <a:off x="2711809" y="2825731"/>
            <a:ext cx="205525" cy="409199"/>
            <a:chOff x="7897625" y="3319150"/>
            <a:chExt cx="645900" cy="1285575"/>
          </a:xfrm>
        </p:grpSpPr>
        <p:sp>
          <p:nvSpPr>
            <p:cNvPr id="1870" name="Google Shape;1870;p66"/>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871" name="Google Shape;1871;p66"/>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872" name="Google Shape;1872;p66"/>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873" name="Google Shape;1873;p66"/>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874" name="Google Shape;1874;p66"/>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875" name="Google Shape;1875;p66"/>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876" name="Google Shape;1876;p66"/>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877" name="Google Shape;1877;p66"/>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1878" name="Google Shape;1878;p66"/>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1879" name="Google Shape;1879;p66"/>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880" name="Google Shape;1880;p66"/>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881" name="Google Shape;1881;p66"/>
            <p:cNvSpPr/>
            <p:nvPr/>
          </p:nvSpPr>
          <p:spPr>
            <a:xfrm>
              <a:off x="8198675" y="3551600"/>
              <a:ext cx="43800" cy="43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882" name="Google Shape;1882;p66"/>
          <p:cNvSpPr/>
          <p:nvPr/>
        </p:nvSpPr>
        <p:spPr>
          <a:xfrm>
            <a:off x="2334472" y="3446467"/>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883" name="Google Shape;1883;p66"/>
          <p:cNvGrpSpPr/>
          <p:nvPr/>
        </p:nvGrpSpPr>
        <p:grpSpPr>
          <a:xfrm>
            <a:off x="2711809" y="3657923"/>
            <a:ext cx="205525" cy="409199"/>
            <a:chOff x="7897625" y="3319150"/>
            <a:chExt cx="645900" cy="1285575"/>
          </a:xfrm>
        </p:grpSpPr>
        <p:sp>
          <p:nvSpPr>
            <p:cNvPr id="1884" name="Google Shape;1884;p66"/>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885" name="Google Shape;1885;p66"/>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886" name="Google Shape;1886;p66"/>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887" name="Google Shape;1887;p66"/>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888" name="Google Shape;1888;p66"/>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889" name="Google Shape;1889;p66"/>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890" name="Google Shape;1890;p66"/>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891" name="Google Shape;1891;p66"/>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892" name="Google Shape;1892;p66"/>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893" name="Google Shape;1893;p66"/>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894" name="Google Shape;1894;p66"/>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895" name="Google Shape;1895;p66"/>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896" name="Google Shape;1896;p66"/>
          <p:cNvSpPr/>
          <p:nvPr/>
        </p:nvSpPr>
        <p:spPr>
          <a:xfrm>
            <a:off x="3964663" y="28878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1897" name="Google Shape;1897;p66"/>
          <p:cNvSpPr/>
          <p:nvPr/>
        </p:nvSpPr>
        <p:spPr>
          <a:xfrm>
            <a:off x="3964663" y="372007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R2</a:t>
            </a:r>
            <a:endParaRPr>
              <a:solidFill>
                <a:srgbClr val="B7B7B7"/>
              </a:solidFill>
              <a:latin typeface="Roboto"/>
              <a:ea typeface="Roboto"/>
              <a:cs typeface="Roboto"/>
              <a:sym typeface="Roboto"/>
            </a:endParaRPr>
          </a:p>
        </p:txBody>
      </p:sp>
      <p:cxnSp>
        <p:nvCxnSpPr>
          <p:cNvPr id="1898" name="Google Shape;1898;p66"/>
          <p:cNvCxnSpPr/>
          <p:nvPr/>
        </p:nvCxnSpPr>
        <p:spPr>
          <a:xfrm rot="10800000">
            <a:off x="3004063" y="3030375"/>
            <a:ext cx="960600" cy="0"/>
          </a:xfrm>
          <a:prstGeom prst="straightConnector1">
            <a:avLst/>
          </a:prstGeom>
          <a:noFill/>
          <a:ln cap="flat" cmpd="sng" w="19050">
            <a:solidFill>
              <a:srgbClr val="0000FF"/>
            </a:solidFill>
            <a:prstDash val="solid"/>
            <a:round/>
            <a:headEnd len="med" w="med" type="none"/>
            <a:tailEnd len="med" w="med" type="none"/>
          </a:ln>
        </p:spPr>
      </p:cxnSp>
      <p:cxnSp>
        <p:nvCxnSpPr>
          <p:cNvPr id="1899" name="Google Shape;1899;p66"/>
          <p:cNvCxnSpPr/>
          <p:nvPr/>
        </p:nvCxnSpPr>
        <p:spPr>
          <a:xfrm rot="10800000">
            <a:off x="3005377" y="3854425"/>
            <a:ext cx="956700" cy="0"/>
          </a:xfrm>
          <a:prstGeom prst="straightConnector1">
            <a:avLst/>
          </a:prstGeom>
          <a:noFill/>
          <a:ln cap="flat" cmpd="sng" w="9525">
            <a:solidFill>
              <a:srgbClr val="B7B7B7"/>
            </a:solidFill>
            <a:prstDash val="solid"/>
            <a:round/>
            <a:headEnd len="med" w="med" type="none"/>
            <a:tailEnd len="med" w="med" type="none"/>
          </a:ln>
        </p:spPr>
      </p:cxnSp>
      <p:cxnSp>
        <p:nvCxnSpPr>
          <p:cNvPr id="1900" name="Google Shape;1900;p66"/>
          <p:cNvCxnSpPr>
            <a:stCxn id="1896" idx="3"/>
            <a:endCxn id="1901" idx="1"/>
          </p:cNvCxnSpPr>
          <p:nvPr/>
        </p:nvCxnSpPr>
        <p:spPr>
          <a:xfrm>
            <a:off x="4249663" y="3030375"/>
            <a:ext cx="705600" cy="416100"/>
          </a:xfrm>
          <a:prstGeom prst="straightConnector1">
            <a:avLst/>
          </a:prstGeom>
          <a:noFill/>
          <a:ln cap="flat" cmpd="sng" w="19050">
            <a:solidFill>
              <a:srgbClr val="0000FF"/>
            </a:solidFill>
            <a:prstDash val="solid"/>
            <a:round/>
            <a:headEnd len="med" w="med" type="none"/>
            <a:tailEnd len="med" w="med" type="none"/>
          </a:ln>
        </p:spPr>
      </p:cxnSp>
      <p:cxnSp>
        <p:nvCxnSpPr>
          <p:cNvPr id="1902" name="Google Shape;1902;p66"/>
          <p:cNvCxnSpPr>
            <a:stCxn id="1897" idx="3"/>
            <a:endCxn id="1901" idx="1"/>
          </p:cNvCxnSpPr>
          <p:nvPr/>
        </p:nvCxnSpPr>
        <p:spPr>
          <a:xfrm flipH="1" rot="10800000">
            <a:off x="4249663" y="3446475"/>
            <a:ext cx="705600" cy="416100"/>
          </a:xfrm>
          <a:prstGeom prst="straightConnector1">
            <a:avLst/>
          </a:prstGeom>
          <a:noFill/>
          <a:ln cap="flat" cmpd="sng" w="9525">
            <a:solidFill>
              <a:srgbClr val="B7B7B7"/>
            </a:solidFill>
            <a:prstDash val="solid"/>
            <a:round/>
            <a:headEnd len="med" w="med" type="none"/>
            <a:tailEnd len="med" w="med" type="none"/>
          </a:ln>
        </p:spPr>
      </p:cxnSp>
      <p:cxnSp>
        <p:nvCxnSpPr>
          <p:cNvPr id="1903" name="Google Shape;1903;p66"/>
          <p:cNvCxnSpPr>
            <a:stCxn id="1901" idx="3"/>
          </p:cNvCxnSpPr>
          <p:nvPr/>
        </p:nvCxnSpPr>
        <p:spPr>
          <a:xfrm>
            <a:off x="5240263" y="3446475"/>
            <a:ext cx="551700" cy="0"/>
          </a:xfrm>
          <a:prstGeom prst="straightConnector1">
            <a:avLst/>
          </a:prstGeom>
          <a:noFill/>
          <a:ln cap="flat" cmpd="sng" w="19050">
            <a:solidFill>
              <a:srgbClr val="0000FF"/>
            </a:solidFill>
            <a:prstDash val="solid"/>
            <a:round/>
            <a:headEnd len="med" w="med" type="none"/>
            <a:tailEnd len="med" w="med" type="none"/>
          </a:ln>
        </p:spPr>
      </p:cxnSp>
      <p:cxnSp>
        <p:nvCxnSpPr>
          <p:cNvPr id="1904" name="Google Shape;1904;p66"/>
          <p:cNvCxnSpPr/>
          <p:nvPr/>
        </p:nvCxnSpPr>
        <p:spPr>
          <a:xfrm>
            <a:off x="5791973" y="3446475"/>
            <a:ext cx="525300" cy="0"/>
          </a:xfrm>
          <a:prstGeom prst="straightConnector1">
            <a:avLst/>
          </a:prstGeom>
          <a:noFill/>
          <a:ln cap="flat" cmpd="sng" w="19050">
            <a:solidFill>
              <a:srgbClr val="0000FF"/>
            </a:solidFill>
            <a:prstDash val="dash"/>
            <a:round/>
            <a:headEnd len="med" w="med" type="none"/>
            <a:tailEnd len="med" w="med" type="none"/>
          </a:ln>
        </p:spPr>
      </p:cxnSp>
      <p:grpSp>
        <p:nvGrpSpPr>
          <p:cNvPr id="1905" name="Google Shape;1905;p66"/>
          <p:cNvGrpSpPr/>
          <p:nvPr/>
        </p:nvGrpSpPr>
        <p:grpSpPr>
          <a:xfrm>
            <a:off x="1101937" y="2742800"/>
            <a:ext cx="384763" cy="551700"/>
            <a:chOff x="160300" y="2651875"/>
            <a:chExt cx="384763" cy="551700"/>
          </a:xfrm>
        </p:grpSpPr>
        <p:pic>
          <p:nvPicPr>
            <p:cNvPr id="1906" name="Google Shape;1906;p66"/>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1907" name="Google Shape;1907;p66"/>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sp>
        <p:nvSpPr>
          <p:cNvPr id="1908" name="Google Shape;1908;p66"/>
          <p:cNvSpPr/>
          <p:nvPr/>
        </p:nvSpPr>
        <p:spPr>
          <a:xfrm>
            <a:off x="5828738" y="4278675"/>
            <a:ext cx="960600" cy="5820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Database</a:t>
            </a:r>
            <a:endParaRPr>
              <a:latin typeface="Roboto"/>
              <a:ea typeface="Roboto"/>
              <a:cs typeface="Roboto"/>
              <a:sym typeface="Roboto"/>
            </a:endParaRPr>
          </a:p>
        </p:txBody>
      </p:sp>
      <p:sp>
        <p:nvSpPr>
          <p:cNvPr id="1901" name="Google Shape;1901;p66"/>
          <p:cNvSpPr/>
          <p:nvPr/>
        </p:nvSpPr>
        <p:spPr>
          <a:xfrm>
            <a:off x="4955263" y="33039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P1</a:t>
            </a:r>
            <a:endParaRPr>
              <a:latin typeface="Roboto"/>
              <a:ea typeface="Roboto"/>
              <a:cs typeface="Roboto"/>
              <a:sym typeface="Roboto"/>
            </a:endParaRPr>
          </a:p>
        </p:txBody>
      </p:sp>
      <p:cxnSp>
        <p:nvCxnSpPr>
          <p:cNvPr id="1909" name="Google Shape;1909;p66"/>
          <p:cNvCxnSpPr/>
          <p:nvPr/>
        </p:nvCxnSpPr>
        <p:spPr>
          <a:xfrm rot="10800000">
            <a:off x="4925138" y="4493475"/>
            <a:ext cx="903600" cy="0"/>
          </a:xfrm>
          <a:prstGeom prst="straightConnector1">
            <a:avLst/>
          </a:prstGeom>
          <a:noFill/>
          <a:ln cap="flat" cmpd="sng" w="28575">
            <a:solidFill>
              <a:schemeClr val="accent2"/>
            </a:solidFill>
            <a:prstDash val="solid"/>
            <a:round/>
            <a:headEnd len="med" w="med" type="triangle"/>
            <a:tailEnd len="med" w="med" type="none"/>
          </a:ln>
        </p:spPr>
      </p:cxnSp>
      <p:sp>
        <p:nvSpPr>
          <p:cNvPr id="1910" name="Google Shape;1910;p66"/>
          <p:cNvSpPr txBox="1"/>
          <p:nvPr/>
        </p:nvSpPr>
        <p:spPr>
          <a:xfrm>
            <a:off x="1920300" y="2590400"/>
            <a:ext cx="2055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1</a:t>
            </a:r>
            <a:endParaRPr>
              <a:solidFill>
                <a:schemeClr val="accent2"/>
              </a:solidFill>
              <a:latin typeface="Roboto"/>
              <a:ea typeface="Roboto"/>
              <a:cs typeface="Roboto"/>
              <a:sym typeface="Roboto"/>
            </a:endParaRPr>
          </a:p>
        </p:txBody>
      </p:sp>
      <p:cxnSp>
        <p:nvCxnSpPr>
          <p:cNvPr id="1911" name="Google Shape;1911;p66"/>
          <p:cNvCxnSpPr/>
          <p:nvPr/>
        </p:nvCxnSpPr>
        <p:spPr>
          <a:xfrm rot="10800000">
            <a:off x="2985100" y="3112225"/>
            <a:ext cx="987600" cy="1204200"/>
          </a:xfrm>
          <a:prstGeom prst="straightConnector1">
            <a:avLst/>
          </a:prstGeom>
          <a:noFill/>
          <a:ln cap="flat" cmpd="sng" w="28575">
            <a:solidFill>
              <a:schemeClr val="accent2"/>
            </a:solidFill>
            <a:prstDash val="solid"/>
            <a:round/>
            <a:headEnd len="med" w="med" type="none"/>
            <a:tailEnd len="med" w="med" type="triangle"/>
          </a:ln>
        </p:spPr>
      </p:cxnSp>
      <p:sp>
        <p:nvSpPr>
          <p:cNvPr id="1912" name="Google Shape;1912;p66"/>
          <p:cNvSpPr txBox="1"/>
          <p:nvPr/>
        </p:nvSpPr>
        <p:spPr>
          <a:xfrm>
            <a:off x="3447900" y="3446475"/>
            <a:ext cx="2055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4</a:t>
            </a:r>
            <a:endParaRPr>
              <a:solidFill>
                <a:schemeClr val="accent2"/>
              </a:solidFill>
              <a:latin typeface="Roboto"/>
              <a:ea typeface="Roboto"/>
              <a:cs typeface="Roboto"/>
              <a:sym typeface="Roboto"/>
            </a:endParaRPr>
          </a:p>
        </p:txBody>
      </p:sp>
      <p:sp>
        <p:nvSpPr>
          <p:cNvPr id="1913" name="Google Shape;1913;p66"/>
          <p:cNvSpPr txBox="1"/>
          <p:nvPr/>
        </p:nvSpPr>
        <p:spPr>
          <a:xfrm>
            <a:off x="5198050" y="4240225"/>
            <a:ext cx="2055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5</a:t>
            </a:r>
            <a:endParaRPr>
              <a:solidFill>
                <a:schemeClr val="accent2"/>
              </a:solidFill>
              <a:latin typeface="Roboto"/>
              <a:ea typeface="Roboto"/>
              <a:cs typeface="Roboto"/>
              <a:sym typeface="Roboto"/>
            </a:endParaRPr>
          </a:p>
        </p:txBody>
      </p:sp>
      <p:cxnSp>
        <p:nvCxnSpPr>
          <p:cNvPr id="1914" name="Google Shape;1914;p66"/>
          <p:cNvCxnSpPr/>
          <p:nvPr/>
        </p:nvCxnSpPr>
        <p:spPr>
          <a:xfrm>
            <a:off x="4107163" y="3172875"/>
            <a:ext cx="337800" cy="1121400"/>
          </a:xfrm>
          <a:prstGeom prst="straightConnector1">
            <a:avLst/>
          </a:prstGeom>
          <a:noFill/>
          <a:ln cap="flat" cmpd="sng" w="28575">
            <a:solidFill>
              <a:schemeClr val="accent2"/>
            </a:solidFill>
            <a:prstDash val="solid"/>
            <a:round/>
            <a:headEnd len="med" w="med" type="triangle"/>
            <a:tailEnd len="med" w="med" type="none"/>
          </a:ln>
        </p:spPr>
      </p:cxnSp>
      <p:cxnSp>
        <p:nvCxnSpPr>
          <p:cNvPr id="1915" name="Google Shape;1915;p66"/>
          <p:cNvCxnSpPr/>
          <p:nvPr/>
        </p:nvCxnSpPr>
        <p:spPr>
          <a:xfrm flipH="1">
            <a:off x="4876063" y="3588975"/>
            <a:ext cx="221700" cy="714300"/>
          </a:xfrm>
          <a:prstGeom prst="straightConnector1">
            <a:avLst/>
          </a:prstGeom>
          <a:noFill/>
          <a:ln cap="flat" cmpd="sng" w="28575">
            <a:solidFill>
              <a:schemeClr val="accent2"/>
            </a:solidFill>
            <a:prstDash val="solid"/>
            <a:round/>
            <a:headEnd len="med" w="med" type="triangle"/>
            <a:tailEnd len="med" w="med" type="none"/>
          </a:ln>
        </p:spPr>
      </p:cxnSp>
      <p:cxnSp>
        <p:nvCxnSpPr>
          <p:cNvPr id="1916" name="Google Shape;1916;p66"/>
          <p:cNvCxnSpPr/>
          <p:nvPr/>
        </p:nvCxnSpPr>
        <p:spPr>
          <a:xfrm rot="10800000">
            <a:off x="2909000" y="3340700"/>
            <a:ext cx="1019100" cy="1243200"/>
          </a:xfrm>
          <a:prstGeom prst="straightConnector1">
            <a:avLst/>
          </a:prstGeom>
          <a:noFill/>
          <a:ln cap="flat" cmpd="sng" w="28575">
            <a:solidFill>
              <a:schemeClr val="accent2"/>
            </a:solidFill>
            <a:prstDash val="solid"/>
            <a:round/>
            <a:headEnd len="med" w="med" type="triangle"/>
            <a:tailEnd len="med" w="med" type="none"/>
          </a:ln>
        </p:spPr>
      </p:cxnSp>
      <p:sp>
        <p:nvSpPr>
          <p:cNvPr id="1917" name="Google Shape;1917;p66"/>
          <p:cNvSpPr/>
          <p:nvPr/>
        </p:nvSpPr>
        <p:spPr>
          <a:xfrm>
            <a:off x="3964663" y="4294275"/>
            <a:ext cx="960600" cy="5508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Mobility Manager</a:t>
            </a:r>
            <a:endParaRPr>
              <a:latin typeface="Roboto"/>
              <a:ea typeface="Roboto"/>
              <a:cs typeface="Roboto"/>
              <a:sym typeface="Roboto"/>
            </a:endParaRPr>
          </a:p>
        </p:txBody>
      </p:sp>
      <p:cxnSp>
        <p:nvCxnSpPr>
          <p:cNvPr id="1918" name="Google Shape;1918;p66"/>
          <p:cNvCxnSpPr/>
          <p:nvPr/>
        </p:nvCxnSpPr>
        <p:spPr>
          <a:xfrm rot="10800000">
            <a:off x="1537650" y="3030334"/>
            <a:ext cx="1123200" cy="0"/>
          </a:xfrm>
          <a:prstGeom prst="straightConnector1">
            <a:avLst/>
          </a:prstGeom>
          <a:noFill/>
          <a:ln cap="flat" cmpd="sng" w="19050">
            <a:solidFill>
              <a:srgbClr val="0000FF"/>
            </a:solidFill>
            <a:prstDash val="solid"/>
            <a:round/>
            <a:headEnd len="med" w="med" type="none"/>
            <a:tailEnd len="med" w="med" type="none"/>
          </a:ln>
        </p:spPr>
      </p:cxnSp>
      <p:sp>
        <p:nvSpPr>
          <p:cNvPr id="1919" name="Google Shape;1919;p66"/>
          <p:cNvSpPr txBox="1"/>
          <p:nvPr/>
        </p:nvSpPr>
        <p:spPr>
          <a:xfrm>
            <a:off x="3219300" y="3979875"/>
            <a:ext cx="2055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2</a:t>
            </a:r>
            <a:endParaRPr>
              <a:solidFill>
                <a:schemeClr val="accent2"/>
              </a:solidFill>
              <a:latin typeface="Roboto"/>
              <a:ea typeface="Roboto"/>
              <a:cs typeface="Roboto"/>
              <a:sym typeface="Roboto"/>
            </a:endParaRPr>
          </a:p>
        </p:txBody>
      </p:sp>
      <p:sp>
        <p:nvSpPr>
          <p:cNvPr id="1920" name="Google Shape;1920;p66"/>
          <p:cNvSpPr txBox="1"/>
          <p:nvPr/>
        </p:nvSpPr>
        <p:spPr>
          <a:xfrm>
            <a:off x="4239475" y="3416350"/>
            <a:ext cx="2055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4</a:t>
            </a:r>
            <a:endParaRPr>
              <a:solidFill>
                <a:schemeClr val="accent2"/>
              </a:solidFill>
              <a:latin typeface="Roboto"/>
              <a:ea typeface="Roboto"/>
              <a:cs typeface="Roboto"/>
              <a:sym typeface="Roboto"/>
            </a:endParaRPr>
          </a:p>
        </p:txBody>
      </p:sp>
      <p:sp>
        <p:nvSpPr>
          <p:cNvPr id="1921" name="Google Shape;1921;p66"/>
          <p:cNvSpPr txBox="1"/>
          <p:nvPr/>
        </p:nvSpPr>
        <p:spPr>
          <a:xfrm>
            <a:off x="4955275" y="3943875"/>
            <a:ext cx="2055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4</a:t>
            </a:r>
            <a:endParaRPr>
              <a:solidFill>
                <a:schemeClr val="accent2"/>
              </a:solidFill>
              <a:latin typeface="Roboto"/>
              <a:ea typeface="Roboto"/>
              <a:cs typeface="Roboto"/>
              <a:sym typeface="Roboto"/>
            </a:endParaRPr>
          </a:p>
        </p:txBody>
      </p:sp>
      <p:cxnSp>
        <p:nvCxnSpPr>
          <p:cNvPr id="1922" name="Google Shape;1922;p66"/>
          <p:cNvCxnSpPr/>
          <p:nvPr/>
        </p:nvCxnSpPr>
        <p:spPr>
          <a:xfrm rot="10800000">
            <a:off x="4925138" y="4688654"/>
            <a:ext cx="903600" cy="0"/>
          </a:xfrm>
          <a:prstGeom prst="straightConnector1">
            <a:avLst/>
          </a:prstGeom>
          <a:noFill/>
          <a:ln cap="flat" cmpd="sng" w="28575">
            <a:solidFill>
              <a:schemeClr val="accent2"/>
            </a:solidFill>
            <a:prstDash val="solid"/>
            <a:round/>
            <a:headEnd len="med" w="med" type="triangle"/>
            <a:tailEnd len="med" w="med" type="none"/>
          </a:ln>
        </p:spPr>
      </p:cxnSp>
      <p:sp>
        <p:nvSpPr>
          <p:cNvPr id="1923" name="Google Shape;1923;p66"/>
          <p:cNvSpPr txBox="1"/>
          <p:nvPr/>
        </p:nvSpPr>
        <p:spPr>
          <a:xfrm>
            <a:off x="5198050" y="4680714"/>
            <a:ext cx="2055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3</a:t>
            </a:r>
            <a:endParaRPr>
              <a:solidFill>
                <a:schemeClr val="accent2"/>
              </a:solidFill>
              <a:latin typeface="Roboto"/>
              <a:ea typeface="Roboto"/>
              <a:cs typeface="Roboto"/>
              <a:sym typeface="Roboto"/>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7" name="Shape 1927"/>
        <p:cNvGrpSpPr/>
        <p:nvPr/>
      </p:nvGrpSpPr>
      <p:grpSpPr>
        <a:xfrm>
          <a:off x="0" y="0"/>
          <a:ext cx="0" cy="0"/>
          <a:chOff x="0" y="0"/>
          <a:chExt cx="0" cy="0"/>
        </a:xfrm>
      </p:grpSpPr>
      <p:sp>
        <p:nvSpPr>
          <p:cNvPr id="1928" name="Google Shape;1928;p67"/>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Why is Cellular Different?</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Brief History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Standards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Challenge: Mobility</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Cellular Networks</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Infrastructure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High-Level View</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0: Registration</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1: Discovery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2: Attachment</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Step 3: Data Exchange</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Step 4: Handover</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Roaming and Other Features</a:t>
            </a:r>
            <a:endParaRPr>
              <a:solidFill>
                <a:srgbClr val="B7B7B7"/>
              </a:solidFill>
            </a:endParaRPr>
          </a:p>
        </p:txBody>
      </p:sp>
      <p:sp>
        <p:nvSpPr>
          <p:cNvPr id="1929" name="Google Shape;1929;p67"/>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Step 3:</a:t>
            </a:r>
            <a:br>
              <a:rPr lang="en"/>
            </a:br>
            <a:r>
              <a:rPr lang="en"/>
              <a:t>Data Exchange</a:t>
            </a:r>
            <a:endParaRPr/>
          </a:p>
        </p:txBody>
      </p:sp>
      <p:sp>
        <p:nvSpPr>
          <p:cNvPr id="1930" name="Google Shape;1930;p67"/>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25</a:t>
            </a:r>
            <a:r>
              <a:rPr lang="en"/>
              <a:t>, CS 168, </a:t>
            </a:r>
            <a:r>
              <a:rPr lang="en"/>
              <a:t>Spring 2026</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4" name="Shape 1934"/>
        <p:cNvGrpSpPr/>
        <p:nvPr/>
      </p:nvGrpSpPr>
      <p:grpSpPr>
        <a:xfrm>
          <a:off x="0" y="0"/>
          <a:ext cx="0" cy="0"/>
          <a:chOff x="0" y="0"/>
          <a:chExt cx="0" cy="0"/>
        </a:xfrm>
      </p:grpSpPr>
      <p:sp>
        <p:nvSpPr>
          <p:cNvPr id="1935" name="Google Shape;1935;p68"/>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3: Data Exchange</a:t>
            </a:r>
            <a:endParaRPr/>
          </a:p>
        </p:txBody>
      </p:sp>
      <p:sp>
        <p:nvSpPr>
          <p:cNvPr id="1936" name="Google Shape;1936;p68"/>
          <p:cNvSpPr txBox="1"/>
          <p:nvPr>
            <p:ph idx="1" type="body"/>
          </p:nvPr>
        </p:nvSpPr>
        <p:spPr>
          <a:xfrm>
            <a:off x="107050" y="402200"/>
            <a:ext cx="8909700" cy="2685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Device can now send and receive packets with its IP address!</a:t>
            </a:r>
            <a:endParaRPr/>
          </a:p>
          <a:p>
            <a:pPr indent="0" lvl="0" marL="0" rtl="0" algn="l">
              <a:spcBef>
                <a:spcPts val="600"/>
              </a:spcBef>
              <a:spcAft>
                <a:spcPts val="0"/>
              </a:spcAft>
              <a:buNone/>
            </a:pPr>
            <a:r>
              <a:rPr lang="en"/>
              <a:t>How does the network know how to forward packets?</a:t>
            </a:r>
            <a:endParaRPr/>
          </a:p>
          <a:p>
            <a:pPr indent="-342900" lvl="0" marL="457200" rtl="0" algn="l">
              <a:spcBef>
                <a:spcPts val="600"/>
              </a:spcBef>
              <a:spcAft>
                <a:spcPts val="0"/>
              </a:spcAft>
              <a:buSzPts val="1800"/>
              <a:buChar char="●"/>
            </a:pPr>
            <a:r>
              <a:rPr lang="en"/>
              <a:t>Users are constantly moving.</a:t>
            </a:r>
            <a:endParaRPr/>
          </a:p>
          <a:p>
            <a:pPr indent="-342900" lvl="0" marL="457200" rtl="0" algn="l">
              <a:spcBef>
                <a:spcPts val="0"/>
              </a:spcBef>
              <a:spcAft>
                <a:spcPts val="0"/>
              </a:spcAft>
              <a:buSzPts val="1800"/>
              <a:buChar char="●"/>
            </a:pPr>
            <a:r>
              <a:rPr lang="en"/>
              <a:t>Traditional routing algorithms won't converge.</a:t>
            </a:r>
            <a:endParaRPr/>
          </a:p>
        </p:txBody>
      </p:sp>
      <p:sp>
        <p:nvSpPr>
          <p:cNvPr id="1937" name="Google Shape;1937;p68"/>
          <p:cNvSpPr/>
          <p:nvPr/>
        </p:nvSpPr>
        <p:spPr>
          <a:xfrm>
            <a:off x="2434872" y="3298875"/>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938" name="Google Shape;1938;p68"/>
          <p:cNvGrpSpPr/>
          <p:nvPr/>
        </p:nvGrpSpPr>
        <p:grpSpPr>
          <a:xfrm>
            <a:off x="2812209" y="3510331"/>
            <a:ext cx="205525" cy="409199"/>
            <a:chOff x="7897625" y="3319150"/>
            <a:chExt cx="645900" cy="1285575"/>
          </a:xfrm>
        </p:grpSpPr>
        <p:sp>
          <p:nvSpPr>
            <p:cNvPr id="1939" name="Google Shape;1939;p68"/>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940" name="Google Shape;1940;p68"/>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941" name="Google Shape;1941;p68"/>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942" name="Google Shape;1942;p68"/>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943" name="Google Shape;1943;p68"/>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944" name="Google Shape;1944;p68"/>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945" name="Google Shape;1945;p68"/>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946" name="Google Shape;1946;p68"/>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1947" name="Google Shape;1947;p68"/>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1948" name="Google Shape;1948;p68"/>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949" name="Google Shape;1949;p68"/>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950" name="Google Shape;1950;p68"/>
            <p:cNvSpPr/>
            <p:nvPr/>
          </p:nvSpPr>
          <p:spPr>
            <a:xfrm>
              <a:off x="8198675" y="3551600"/>
              <a:ext cx="43800" cy="43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951" name="Google Shape;1951;p68"/>
          <p:cNvSpPr/>
          <p:nvPr/>
        </p:nvSpPr>
        <p:spPr>
          <a:xfrm>
            <a:off x="2434872" y="4131067"/>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952" name="Google Shape;1952;p68"/>
          <p:cNvGrpSpPr/>
          <p:nvPr/>
        </p:nvGrpSpPr>
        <p:grpSpPr>
          <a:xfrm>
            <a:off x="2812209" y="4342523"/>
            <a:ext cx="205525" cy="409199"/>
            <a:chOff x="7897625" y="3319150"/>
            <a:chExt cx="645900" cy="1285575"/>
          </a:xfrm>
        </p:grpSpPr>
        <p:sp>
          <p:nvSpPr>
            <p:cNvPr id="1953" name="Google Shape;1953;p68"/>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954" name="Google Shape;1954;p68"/>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955" name="Google Shape;1955;p68"/>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1956" name="Google Shape;1956;p68"/>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957" name="Google Shape;1957;p68"/>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1958" name="Google Shape;1958;p68"/>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959" name="Google Shape;1959;p68"/>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1960" name="Google Shape;1960;p68"/>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1961" name="Google Shape;1961;p68"/>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1962" name="Google Shape;1962;p68"/>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963" name="Google Shape;1963;p68"/>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964" name="Google Shape;1964;p68"/>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965" name="Google Shape;1965;p68"/>
          <p:cNvSpPr/>
          <p:nvPr/>
        </p:nvSpPr>
        <p:spPr>
          <a:xfrm>
            <a:off x="4827063" y="35724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1966" name="Google Shape;1966;p68"/>
          <p:cNvSpPr/>
          <p:nvPr/>
        </p:nvSpPr>
        <p:spPr>
          <a:xfrm>
            <a:off x="4827063" y="440467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R2</a:t>
            </a:r>
            <a:endParaRPr>
              <a:solidFill>
                <a:srgbClr val="B7B7B7"/>
              </a:solidFill>
              <a:latin typeface="Roboto"/>
              <a:ea typeface="Roboto"/>
              <a:cs typeface="Roboto"/>
              <a:sym typeface="Roboto"/>
            </a:endParaRPr>
          </a:p>
        </p:txBody>
      </p:sp>
      <p:cxnSp>
        <p:nvCxnSpPr>
          <p:cNvPr id="1967" name="Google Shape;1967;p68"/>
          <p:cNvCxnSpPr/>
          <p:nvPr/>
        </p:nvCxnSpPr>
        <p:spPr>
          <a:xfrm rot="10800000">
            <a:off x="3086785" y="3714975"/>
            <a:ext cx="1740300" cy="0"/>
          </a:xfrm>
          <a:prstGeom prst="straightConnector1">
            <a:avLst/>
          </a:prstGeom>
          <a:noFill/>
          <a:ln cap="flat" cmpd="sng" w="28575">
            <a:solidFill>
              <a:srgbClr val="0000FF"/>
            </a:solidFill>
            <a:prstDash val="solid"/>
            <a:round/>
            <a:headEnd len="med" w="med" type="none"/>
            <a:tailEnd len="med" w="med" type="none"/>
          </a:ln>
        </p:spPr>
      </p:cxnSp>
      <p:cxnSp>
        <p:nvCxnSpPr>
          <p:cNvPr id="1968" name="Google Shape;1968;p68"/>
          <p:cNvCxnSpPr/>
          <p:nvPr/>
        </p:nvCxnSpPr>
        <p:spPr>
          <a:xfrm rot="10800000">
            <a:off x="3089000" y="4539025"/>
            <a:ext cx="1733400" cy="0"/>
          </a:xfrm>
          <a:prstGeom prst="straightConnector1">
            <a:avLst/>
          </a:prstGeom>
          <a:noFill/>
          <a:ln cap="flat" cmpd="sng" w="9525">
            <a:solidFill>
              <a:srgbClr val="B7B7B7"/>
            </a:solidFill>
            <a:prstDash val="solid"/>
            <a:round/>
            <a:headEnd len="med" w="med" type="none"/>
            <a:tailEnd len="med" w="med" type="none"/>
          </a:ln>
        </p:spPr>
      </p:cxnSp>
      <p:cxnSp>
        <p:nvCxnSpPr>
          <p:cNvPr id="1969" name="Google Shape;1969;p68"/>
          <p:cNvCxnSpPr>
            <a:stCxn id="1965" idx="3"/>
            <a:endCxn id="1970" idx="1"/>
          </p:cNvCxnSpPr>
          <p:nvPr/>
        </p:nvCxnSpPr>
        <p:spPr>
          <a:xfrm>
            <a:off x="5112063" y="3714975"/>
            <a:ext cx="2001000" cy="416100"/>
          </a:xfrm>
          <a:prstGeom prst="straightConnector1">
            <a:avLst/>
          </a:prstGeom>
          <a:noFill/>
          <a:ln cap="flat" cmpd="sng" w="28575">
            <a:solidFill>
              <a:srgbClr val="0000FF"/>
            </a:solidFill>
            <a:prstDash val="solid"/>
            <a:round/>
            <a:headEnd len="med" w="med" type="none"/>
            <a:tailEnd len="med" w="med" type="none"/>
          </a:ln>
        </p:spPr>
      </p:cxnSp>
      <p:cxnSp>
        <p:nvCxnSpPr>
          <p:cNvPr id="1971" name="Google Shape;1971;p68"/>
          <p:cNvCxnSpPr>
            <a:stCxn id="1966" idx="3"/>
            <a:endCxn id="1970" idx="1"/>
          </p:cNvCxnSpPr>
          <p:nvPr/>
        </p:nvCxnSpPr>
        <p:spPr>
          <a:xfrm flipH="1" rot="10800000">
            <a:off x="5112063" y="4131075"/>
            <a:ext cx="2001000" cy="416100"/>
          </a:xfrm>
          <a:prstGeom prst="straightConnector1">
            <a:avLst/>
          </a:prstGeom>
          <a:noFill/>
          <a:ln cap="flat" cmpd="sng" w="9525">
            <a:solidFill>
              <a:srgbClr val="B7B7B7"/>
            </a:solidFill>
            <a:prstDash val="solid"/>
            <a:round/>
            <a:headEnd len="med" w="med" type="none"/>
            <a:tailEnd len="med" w="med" type="none"/>
          </a:ln>
        </p:spPr>
      </p:cxnSp>
      <p:cxnSp>
        <p:nvCxnSpPr>
          <p:cNvPr id="1972" name="Google Shape;1972;p68"/>
          <p:cNvCxnSpPr>
            <a:stCxn id="1970" idx="3"/>
          </p:cNvCxnSpPr>
          <p:nvPr/>
        </p:nvCxnSpPr>
        <p:spPr>
          <a:xfrm>
            <a:off x="7398063" y="4131075"/>
            <a:ext cx="551700" cy="0"/>
          </a:xfrm>
          <a:prstGeom prst="straightConnector1">
            <a:avLst/>
          </a:prstGeom>
          <a:noFill/>
          <a:ln cap="flat" cmpd="sng" w="28575">
            <a:solidFill>
              <a:srgbClr val="0000FF"/>
            </a:solidFill>
            <a:prstDash val="solid"/>
            <a:round/>
            <a:headEnd len="med" w="med" type="none"/>
            <a:tailEnd len="med" w="med" type="none"/>
          </a:ln>
        </p:spPr>
      </p:cxnSp>
      <p:cxnSp>
        <p:nvCxnSpPr>
          <p:cNvPr id="1973" name="Google Shape;1973;p68"/>
          <p:cNvCxnSpPr/>
          <p:nvPr/>
        </p:nvCxnSpPr>
        <p:spPr>
          <a:xfrm>
            <a:off x="7949773" y="4131075"/>
            <a:ext cx="525300" cy="0"/>
          </a:xfrm>
          <a:prstGeom prst="straightConnector1">
            <a:avLst/>
          </a:prstGeom>
          <a:noFill/>
          <a:ln cap="flat" cmpd="sng" w="28575">
            <a:solidFill>
              <a:srgbClr val="0000FF"/>
            </a:solidFill>
            <a:prstDash val="dash"/>
            <a:round/>
            <a:headEnd len="med" w="med" type="none"/>
            <a:tailEnd len="med" w="med" type="none"/>
          </a:ln>
        </p:spPr>
      </p:cxnSp>
      <p:grpSp>
        <p:nvGrpSpPr>
          <p:cNvPr id="1974" name="Google Shape;1974;p68"/>
          <p:cNvGrpSpPr/>
          <p:nvPr/>
        </p:nvGrpSpPr>
        <p:grpSpPr>
          <a:xfrm>
            <a:off x="821337" y="3427400"/>
            <a:ext cx="384763" cy="551700"/>
            <a:chOff x="160300" y="2651875"/>
            <a:chExt cx="384763" cy="551700"/>
          </a:xfrm>
        </p:grpSpPr>
        <p:pic>
          <p:nvPicPr>
            <p:cNvPr id="1975" name="Google Shape;1975;p68"/>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1976" name="Google Shape;1976;p68"/>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sp>
        <p:nvSpPr>
          <p:cNvPr id="1970" name="Google Shape;1970;p68"/>
          <p:cNvSpPr/>
          <p:nvPr/>
        </p:nvSpPr>
        <p:spPr>
          <a:xfrm>
            <a:off x="7113063" y="39885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P1</a:t>
            </a:r>
            <a:endParaRPr>
              <a:latin typeface="Roboto"/>
              <a:ea typeface="Roboto"/>
              <a:cs typeface="Roboto"/>
              <a:sym typeface="Roboto"/>
            </a:endParaRPr>
          </a:p>
        </p:txBody>
      </p:sp>
      <p:cxnSp>
        <p:nvCxnSpPr>
          <p:cNvPr id="1977" name="Google Shape;1977;p68"/>
          <p:cNvCxnSpPr/>
          <p:nvPr/>
        </p:nvCxnSpPr>
        <p:spPr>
          <a:xfrm rot="10800000">
            <a:off x="1259450" y="3714925"/>
            <a:ext cx="1501800" cy="0"/>
          </a:xfrm>
          <a:prstGeom prst="straightConnector1">
            <a:avLst/>
          </a:prstGeom>
          <a:noFill/>
          <a:ln cap="flat" cmpd="sng" w="28575">
            <a:solidFill>
              <a:srgbClr val="0000FF"/>
            </a:solidFill>
            <a:prstDash val="solid"/>
            <a:round/>
            <a:headEnd len="med" w="med" type="none"/>
            <a:tailEnd len="med" w="med" type="none"/>
          </a:ln>
        </p:spPr>
      </p:cxn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1" name="Shape 1981"/>
        <p:cNvGrpSpPr/>
        <p:nvPr/>
      </p:nvGrpSpPr>
      <p:grpSpPr>
        <a:xfrm>
          <a:off x="0" y="0"/>
          <a:ext cx="0" cy="0"/>
          <a:chOff x="0" y="0"/>
          <a:chExt cx="0" cy="0"/>
        </a:xfrm>
      </p:grpSpPr>
      <p:sp>
        <p:nvSpPr>
          <p:cNvPr id="1982" name="Google Shape;1982;p69"/>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3: Data Exchange with Tunnels</a:t>
            </a:r>
            <a:endParaRPr/>
          </a:p>
        </p:txBody>
      </p:sp>
      <p:sp>
        <p:nvSpPr>
          <p:cNvPr id="1983" name="Google Shape;1983;p69"/>
          <p:cNvSpPr txBox="1"/>
          <p:nvPr>
            <p:ph idx="1" type="body"/>
          </p:nvPr>
        </p:nvSpPr>
        <p:spPr>
          <a:xfrm>
            <a:off x="107050" y="402200"/>
            <a:ext cx="8909700" cy="1606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Solution: Mobility manager configures a path from user to Internet using </a:t>
            </a:r>
            <a:r>
              <a:rPr b="1" lang="en"/>
              <a:t>tunnels</a:t>
            </a:r>
            <a:r>
              <a:rPr lang="en"/>
              <a:t>.</a:t>
            </a:r>
            <a:endParaRPr/>
          </a:p>
          <a:p>
            <a:pPr indent="0" lvl="0" marL="0" rtl="0" algn="l">
              <a:spcBef>
                <a:spcPts val="600"/>
              </a:spcBef>
              <a:spcAft>
                <a:spcPts val="0"/>
              </a:spcAft>
              <a:buNone/>
            </a:pPr>
            <a:r>
              <a:rPr lang="en"/>
              <a:t>Result</a:t>
            </a:r>
            <a:r>
              <a:rPr lang="en"/>
              <a:t> is different from traditional IP networks:</a:t>
            </a:r>
            <a:endParaRPr/>
          </a:p>
          <a:p>
            <a:pPr indent="-342900" lvl="0" marL="457200" rtl="0" algn="l">
              <a:spcBef>
                <a:spcPts val="600"/>
              </a:spcBef>
              <a:spcAft>
                <a:spcPts val="0"/>
              </a:spcAft>
              <a:buSzPts val="1800"/>
              <a:buChar char="●"/>
            </a:pPr>
            <a:r>
              <a:rPr lang="en"/>
              <a:t>No direct forwarding on the user's IP address!</a:t>
            </a:r>
            <a:endParaRPr/>
          </a:p>
          <a:p>
            <a:pPr indent="-342900" lvl="0" marL="457200" rtl="0" algn="l">
              <a:spcBef>
                <a:spcPts val="0"/>
              </a:spcBef>
              <a:spcAft>
                <a:spcPts val="0"/>
              </a:spcAft>
              <a:buSzPts val="1800"/>
              <a:buChar char="●"/>
            </a:pPr>
            <a:r>
              <a:rPr lang="en"/>
              <a:t>Requires</a:t>
            </a:r>
            <a:r>
              <a:rPr lang="en"/>
              <a:t> installing per-user state in the network.</a:t>
            </a:r>
            <a:endParaRPr/>
          </a:p>
        </p:txBody>
      </p:sp>
      <p:sp>
        <p:nvSpPr>
          <p:cNvPr id="1984" name="Google Shape;1984;p69"/>
          <p:cNvSpPr/>
          <p:nvPr/>
        </p:nvSpPr>
        <p:spPr>
          <a:xfrm>
            <a:off x="2434872" y="3298875"/>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985" name="Google Shape;1985;p69"/>
          <p:cNvGrpSpPr/>
          <p:nvPr/>
        </p:nvGrpSpPr>
        <p:grpSpPr>
          <a:xfrm>
            <a:off x="2812209" y="3510331"/>
            <a:ext cx="205525" cy="409199"/>
            <a:chOff x="7897625" y="3319150"/>
            <a:chExt cx="645900" cy="1285575"/>
          </a:xfrm>
        </p:grpSpPr>
        <p:sp>
          <p:nvSpPr>
            <p:cNvPr id="1986" name="Google Shape;1986;p69"/>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987" name="Google Shape;1987;p69"/>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988" name="Google Shape;1988;p69"/>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1989" name="Google Shape;1989;p69"/>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990" name="Google Shape;1990;p69"/>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1991" name="Google Shape;1991;p69"/>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992" name="Google Shape;1992;p69"/>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1993" name="Google Shape;1993;p69"/>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1994" name="Google Shape;1994;p69"/>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1995" name="Google Shape;1995;p69"/>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996" name="Google Shape;1996;p69"/>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997" name="Google Shape;1997;p69"/>
            <p:cNvSpPr/>
            <p:nvPr/>
          </p:nvSpPr>
          <p:spPr>
            <a:xfrm>
              <a:off x="8198675" y="3551600"/>
              <a:ext cx="43800" cy="43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1998" name="Google Shape;1998;p69"/>
          <p:cNvSpPr/>
          <p:nvPr/>
        </p:nvSpPr>
        <p:spPr>
          <a:xfrm>
            <a:off x="2434872" y="4131067"/>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1999" name="Google Shape;1999;p69"/>
          <p:cNvGrpSpPr/>
          <p:nvPr/>
        </p:nvGrpSpPr>
        <p:grpSpPr>
          <a:xfrm>
            <a:off x="2812209" y="4342523"/>
            <a:ext cx="205525" cy="409199"/>
            <a:chOff x="7897625" y="3319150"/>
            <a:chExt cx="645900" cy="1285575"/>
          </a:xfrm>
        </p:grpSpPr>
        <p:sp>
          <p:nvSpPr>
            <p:cNvPr id="2000" name="Google Shape;2000;p69"/>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001" name="Google Shape;2001;p69"/>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002" name="Google Shape;2002;p69"/>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003" name="Google Shape;2003;p69"/>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004" name="Google Shape;2004;p69"/>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005" name="Google Shape;2005;p69"/>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006" name="Google Shape;2006;p69"/>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007" name="Google Shape;2007;p69"/>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2008" name="Google Shape;2008;p69"/>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2009" name="Google Shape;2009;p69"/>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010" name="Google Shape;2010;p69"/>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011" name="Google Shape;2011;p69"/>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2012" name="Google Shape;2012;p69"/>
          <p:cNvSpPr/>
          <p:nvPr/>
        </p:nvSpPr>
        <p:spPr>
          <a:xfrm>
            <a:off x="4827063" y="440467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R2</a:t>
            </a:r>
            <a:endParaRPr>
              <a:solidFill>
                <a:srgbClr val="B7B7B7"/>
              </a:solidFill>
              <a:latin typeface="Roboto"/>
              <a:ea typeface="Roboto"/>
              <a:cs typeface="Roboto"/>
              <a:sym typeface="Roboto"/>
            </a:endParaRPr>
          </a:p>
        </p:txBody>
      </p:sp>
      <p:cxnSp>
        <p:nvCxnSpPr>
          <p:cNvPr id="2013" name="Google Shape;2013;p69"/>
          <p:cNvCxnSpPr/>
          <p:nvPr/>
        </p:nvCxnSpPr>
        <p:spPr>
          <a:xfrm rot="10800000">
            <a:off x="3086785" y="3714975"/>
            <a:ext cx="1740300" cy="0"/>
          </a:xfrm>
          <a:prstGeom prst="straightConnector1">
            <a:avLst/>
          </a:prstGeom>
          <a:noFill/>
          <a:ln cap="flat" cmpd="sng" w="28575">
            <a:solidFill>
              <a:srgbClr val="6AA84F"/>
            </a:solidFill>
            <a:prstDash val="solid"/>
            <a:round/>
            <a:headEnd len="med" w="med" type="none"/>
            <a:tailEnd len="med" w="med" type="none"/>
          </a:ln>
        </p:spPr>
      </p:cxnSp>
      <p:cxnSp>
        <p:nvCxnSpPr>
          <p:cNvPr id="2014" name="Google Shape;2014;p69"/>
          <p:cNvCxnSpPr/>
          <p:nvPr/>
        </p:nvCxnSpPr>
        <p:spPr>
          <a:xfrm rot="10800000">
            <a:off x="3089300" y="4539025"/>
            <a:ext cx="1733100" cy="0"/>
          </a:xfrm>
          <a:prstGeom prst="straightConnector1">
            <a:avLst/>
          </a:prstGeom>
          <a:noFill/>
          <a:ln cap="flat" cmpd="sng" w="9525">
            <a:solidFill>
              <a:srgbClr val="B7B7B7"/>
            </a:solidFill>
            <a:prstDash val="solid"/>
            <a:round/>
            <a:headEnd len="med" w="med" type="none"/>
            <a:tailEnd len="med" w="med" type="none"/>
          </a:ln>
        </p:spPr>
      </p:cxnSp>
      <p:cxnSp>
        <p:nvCxnSpPr>
          <p:cNvPr id="2015" name="Google Shape;2015;p69"/>
          <p:cNvCxnSpPr>
            <a:stCxn id="2016" idx="3"/>
            <a:endCxn id="2017" idx="1"/>
          </p:cNvCxnSpPr>
          <p:nvPr/>
        </p:nvCxnSpPr>
        <p:spPr>
          <a:xfrm>
            <a:off x="5112063" y="3714975"/>
            <a:ext cx="2001000" cy="416100"/>
          </a:xfrm>
          <a:prstGeom prst="straightConnector1">
            <a:avLst/>
          </a:prstGeom>
          <a:noFill/>
          <a:ln cap="flat" cmpd="sng" w="28575">
            <a:solidFill>
              <a:srgbClr val="0000FF"/>
            </a:solidFill>
            <a:prstDash val="solid"/>
            <a:round/>
            <a:headEnd len="med" w="med" type="none"/>
            <a:tailEnd len="med" w="med" type="none"/>
          </a:ln>
        </p:spPr>
      </p:cxnSp>
      <p:cxnSp>
        <p:nvCxnSpPr>
          <p:cNvPr id="2018" name="Google Shape;2018;p69"/>
          <p:cNvCxnSpPr>
            <a:stCxn id="2012" idx="3"/>
            <a:endCxn id="2017" idx="1"/>
          </p:cNvCxnSpPr>
          <p:nvPr/>
        </p:nvCxnSpPr>
        <p:spPr>
          <a:xfrm flipH="1" rot="10800000">
            <a:off x="5112063" y="4131075"/>
            <a:ext cx="2001000" cy="416100"/>
          </a:xfrm>
          <a:prstGeom prst="straightConnector1">
            <a:avLst/>
          </a:prstGeom>
          <a:noFill/>
          <a:ln cap="flat" cmpd="sng" w="9525">
            <a:solidFill>
              <a:srgbClr val="B7B7B7"/>
            </a:solidFill>
            <a:prstDash val="solid"/>
            <a:round/>
            <a:headEnd len="med" w="med" type="none"/>
            <a:tailEnd len="med" w="med" type="none"/>
          </a:ln>
        </p:spPr>
      </p:cxnSp>
      <p:cxnSp>
        <p:nvCxnSpPr>
          <p:cNvPr id="2019" name="Google Shape;2019;p69"/>
          <p:cNvCxnSpPr>
            <a:stCxn id="2017" idx="3"/>
          </p:cNvCxnSpPr>
          <p:nvPr/>
        </p:nvCxnSpPr>
        <p:spPr>
          <a:xfrm>
            <a:off x="7398063" y="4131075"/>
            <a:ext cx="551700" cy="0"/>
          </a:xfrm>
          <a:prstGeom prst="straightConnector1">
            <a:avLst/>
          </a:prstGeom>
          <a:noFill/>
          <a:ln cap="flat" cmpd="sng" w="28575">
            <a:solidFill>
              <a:schemeClr val="accent2"/>
            </a:solidFill>
            <a:prstDash val="solid"/>
            <a:round/>
            <a:headEnd len="med" w="med" type="none"/>
            <a:tailEnd len="med" w="med" type="none"/>
          </a:ln>
        </p:spPr>
      </p:cxnSp>
      <p:cxnSp>
        <p:nvCxnSpPr>
          <p:cNvPr id="2020" name="Google Shape;2020;p69"/>
          <p:cNvCxnSpPr/>
          <p:nvPr/>
        </p:nvCxnSpPr>
        <p:spPr>
          <a:xfrm>
            <a:off x="7949773" y="4131075"/>
            <a:ext cx="525300" cy="0"/>
          </a:xfrm>
          <a:prstGeom prst="straightConnector1">
            <a:avLst/>
          </a:prstGeom>
          <a:noFill/>
          <a:ln cap="flat" cmpd="sng" w="28575">
            <a:solidFill>
              <a:schemeClr val="accent2"/>
            </a:solidFill>
            <a:prstDash val="dash"/>
            <a:round/>
            <a:headEnd len="med" w="med" type="none"/>
            <a:tailEnd len="med" w="med" type="none"/>
          </a:ln>
        </p:spPr>
      </p:cxnSp>
      <p:grpSp>
        <p:nvGrpSpPr>
          <p:cNvPr id="2021" name="Google Shape;2021;p69"/>
          <p:cNvGrpSpPr/>
          <p:nvPr/>
        </p:nvGrpSpPr>
        <p:grpSpPr>
          <a:xfrm>
            <a:off x="821337" y="3427400"/>
            <a:ext cx="384763" cy="551700"/>
            <a:chOff x="160300" y="2651875"/>
            <a:chExt cx="384763" cy="551700"/>
          </a:xfrm>
        </p:grpSpPr>
        <p:pic>
          <p:nvPicPr>
            <p:cNvPr id="2022" name="Google Shape;2022;p69"/>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2023" name="Google Shape;2023;p69"/>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sp>
        <p:nvSpPr>
          <p:cNvPr id="2017" name="Google Shape;2017;p69"/>
          <p:cNvSpPr/>
          <p:nvPr/>
        </p:nvSpPr>
        <p:spPr>
          <a:xfrm>
            <a:off x="7113063" y="39885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P1</a:t>
            </a:r>
            <a:endParaRPr>
              <a:latin typeface="Roboto"/>
              <a:ea typeface="Roboto"/>
              <a:cs typeface="Roboto"/>
              <a:sym typeface="Roboto"/>
            </a:endParaRPr>
          </a:p>
        </p:txBody>
      </p:sp>
      <p:cxnSp>
        <p:nvCxnSpPr>
          <p:cNvPr id="2024" name="Google Shape;2024;p69"/>
          <p:cNvCxnSpPr/>
          <p:nvPr/>
        </p:nvCxnSpPr>
        <p:spPr>
          <a:xfrm rot="10800000">
            <a:off x="1259450" y="3714925"/>
            <a:ext cx="1501800" cy="0"/>
          </a:xfrm>
          <a:prstGeom prst="straightConnector1">
            <a:avLst/>
          </a:prstGeom>
          <a:noFill/>
          <a:ln cap="flat" cmpd="sng" w="28575">
            <a:solidFill>
              <a:srgbClr val="FF00FF"/>
            </a:solidFill>
            <a:prstDash val="solid"/>
            <a:round/>
            <a:headEnd len="med" w="med" type="none"/>
            <a:tailEnd len="med" w="med" type="none"/>
          </a:ln>
        </p:spPr>
      </p:cxnSp>
      <p:sp>
        <p:nvSpPr>
          <p:cNvPr id="2025" name="Google Shape;2025;p69"/>
          <p:cNvSpPr/>
          <p:nvPr/>
        </p:nvSpPr>
        <p:spPr>
          <a:xfrm>
            <a:off x="5337650" y="2582599"/>
            <a:ext cx="2179800" cy="832200"/>
          </a:xfrm>
          <a:prstGeom prst="wedgeRoundRectCallout">
            <a:avLst>
              <a:gd fmla="val -63461" name="adj1"/>
              <a:gd fmla="val 54532" name="adj2"/>
              <a:gd fmla="val 0" name="adj3"/>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If I get a packet exiting </a:t>
            </a:r>
            <a:r>
              <a:rPr lang="en">
                <a:solidFill>
                  <a:srgbClr val="6AA84F"/>
                </a:solidFill>
                <a:latin typeface="Roboto"/>
                <a:ea typeface="Roboto"/>
                <a:cs typeface="Roboto"/>
                <a:sym typeface="Roboto"/>
              </a:rPr>
              <a:t>the green </a:t>
            </a:r>
            <a:r>
              <a:rPr lang="en">
                <a:solidFill>
                  <a:srgbClr val="6AA84F"/>
                </a:solidFill>
                <a:latin typeface="Roboto"/>
                <a:ea typeface="Roboto"/>
                <a:cs typeface="Roboto"/>
                <a:sym typeface="Roboto"/>
              </a:rPr>
              <a:t>tunnel</a:t>
            </a:r>
            <a:r>
              <a:rPr lang="en">
                <a:latin typeface="Roboto"/>
                <a:ea typeface="Roboto"/>
                <a:cs typeface="Roboto"/>
                <a:sym typeface="Roboto"/>
              </a:rPr>
              <a:t>, send it into </a:t>
            </a:r>
            <a:r>
              <a:rPr lang="en">
                <a:solidFill>
                  <a:srgbClr val="0000FF"/>
                </a:solidFill>
                <a:latin typeface="Roboto"/>
                <a:ea typeface="Roboto"/>
                <a:cs typeface="Roboto"/>
                <a:sym typeface="Roboto"/>
              </a:rPr>
              <a:t>the blue </a:t>
            </a:r>
            <a:r>
              <a:rPr lang="en">
                <a:solidFill>
                  <a:srgbClr val="0000FF"/>
                </a:solidFill>
                <a:latin typeface="Roboto"/>
                <a:ea typeface="Roboto"/>
                <a:cs typeface="Roboto"/>
                <a:sym typeface="Roboto"/>
              </a:rPr>
              <a:t>tunnel</a:t>
            </a:r>
            <a:r>
              <a:rPr lang="en">
                <a:latin typeface="Roboto"/>
                <a:ea typeface="Roboto"/>
                <a:cs typeface="Roboto"/>
                <a:sym typeface="Roboto"/>
              </a:rPr>
              <a:t>.</a:t>
            </a:r>
            <a:endParaRPr>
              <a:latin typeface="Roboto"/>
              <a:ea typeface="Roboto"/>
              <a:cs typeface="Roboto"/>
              <a:sym typeface="Roboto"/>
            </a:endParaRPr>
          </a:p>
        </p:txBody>
      </p:sp>
      <p:sp>
        <p:nvSpPr>
          <p:cNvPr id="2016" name="Google Shape;2016;p69"/>
          <p:cNvSpPr/>
          <p:nvPr/>
        </p:nvSpPr>
        <p:spPr>
          <a:xfrm>
            <a:off x="4827063" y="35724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cxnSp>
        <p:nvCxnSpPr>
          <p:cNvPr id="2026" name="Google Shape;2026;p69"/>
          <p:cNvCxnSpPr/>
          <p:nvPr/>
        </p:nvCxnSpPr>
        <p:spPr>
          <a:xfrm>
            <a:off x="4308775" y="3562575"/>
            <a:ext cx="439500" cy="0"/>
          </a:xfrm>
          <a:prstGeom prst="straightConnector1">
            <a:avLst/>
          </a:prstGeom>
          <a:noFill/>
          <a:ln cap="flat" cmpd="sng" w="19050">
            <a:solidFill>
              <a:srgbClr val="6AA84F"/>
            </a:solidFill>
            <a:prstDash val="solid"/>
            <a:round/>
            <a:headEnd len="med" w="med" type="none"/>
            <a:tailEnd len="med" w="med" type="triangle"/>
          </a:ln>
        </p:spPr>
      </p:cxnSp>
      <p:cxnSp>
        <p:nvCxnSpPr>
          <p:cNvPr id="2027" name="Google Shape;2027;p69"/>
          <p:cNvCxnSpPr/>
          <p:nvPr/>
        </p:nvCxnSpPr>
        <p:spPr>
          <a:xfrm>
            <a:off x="5274750" y="3596563"/>
            <a:ext cx="447300" cy="93300"/>
          </a:xfrm>
          <a:prstGeom prst="straightConnector1">
            <a:avLst/>
          </a:prstGeom>
          <a:noFill/>
          <a:ln cap="flat" cmpd="sng" w="19050">
            <a:solidFill>
              <a:srgbClr val="0000FF"/>
            </a:solidFill>
            <a:prstDash val="solid"/>
            <a:round/>
            <a:headEnd len="med" w="med" type="none"/>
            <a:tailEnd len="med" w="med" type="triangle"/>
          </a:ln>
        </p:spPr>
      </p:cxnSp>
      <p:sp>
        <p:nvSpPr>
          <p:cNvPr id="2028" name="Google Shape;2028;p69"/>
          <p:cNvSpPr/>
          <p:nvPr/>
        </p:nvSpPr>
        <p:spPr>
          <a:xfrm>
            <a:off x="915925" y="2163699"/>
            <a:ext cx="2179800" cy="832200"/>
          </a:xfrm>
          <a:prstGeom prst="wedgeRoundRectCallout">
            <a:avLst>
              <a:gd fmla="val 41110" name="adj1"/>
              <a:gd fmla="val 78133" name="adj2"/>
              <a:gd fmla="val 0" name="adj3"/>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If I get a packet exiting </a:t>
            </a:r>
            <a:r>
              <a:rPr lang="en">
                <a:solidFill>
                  <a:srgbClr val="FF00FF"/>
                </a:solidFill>
                <a:latin typeface="Roboto"/>
                <a:ea typeface="Roboto"/>
                <a:cs typeface="Roboto"/>
                <a:sym typeface="Roboto"/>
              </a:rPr>
              <a:t>the pink </a:t>
            </a:r>
            <a:r>
              <a:rPr lang="en">
                <a:solidFill>
                  <a:srgbClr val="FF00FF"/>
                </a:solidFill>
                <a:latin typeface="Roboto"/>
                <a:ea typeface="Roboto"/>
                <a:cs typeface="Roboto"/>
                <a:sym typeface="Roboto"/>
              </a:rPr>
              <a:t>tunnel</a:t>
            </a:r>
            <a:r>
              <a:rPr lang="en">
                <a:latin typeface="Roboto"/>
                <a:ea typeface="Roboto"/>
                <a:cs typeface="Roboto"/>
                <a:sym typeface="Roboto"/>
              </a:rPr>
              <a:t>, send it into </a:t>
            </a:r>
            <a:r>
              <a:rPr lang="en">
                <a:solidFill>
                  <a:srgbClr val="6AA84F"/>
                </a:solidFill>
                <a:latin typeface="Roboto"/>
                <a:ea typeface="Roboto"/>
                <a:cs typeface="Roboto"/>
                <a:sym typeface="Roboto"/>
              </a:rPr>
              <a:t>the green </a:t>
            </a:r>
            <a:r>
              <a:rPr lang="en">
                <a:solidFill>
                  <a:srgbClr val="6AA84F"/>
                </a:solidFill>
                <a:latin typeface="Roboto"/>
                <a:ea typeface="Roboto"/>
                <a:cs typeface="Roboto"/>
                <a:sym typeface="Roboto"/>
              </a:rPr>
              <a:t>tunnel</a:t>
            </a:r>
            <a:r>
              <a:rPr lang="en">
                <a:latin typeface="Roboto"/>
                <a:ea typeface="Roboto"/>
                <a:cs typeface="Roboto"/>
                <a:sym typeface="Roboto"/>
              </a:rPr>
              <a:t>.</a:t>
            </a:r>
            <a:endParaRPr>
              <a:latin typeface="Roboto"/>
              <a:ea typeface="Roboto"/>
              <a:cs typeface="Roboto"/>
              <a:sym typeface="Roboto"/>
            </a:endParaRPr>
          </a:p>
        </p:txBody>
      </p:sp>
      <p:cxnSp>
        <p:nvCxnSpPr>
          <p:cNvPr id="2029" name="Google Shape;2029;p69"/>
          <p:cNvCxnSpPr/>
          <p:nvPr/>
        </p:nvCxnSpPr>
        <p:spPr>
          <a:xfrm>
            <a:off x="1946575" y="3562575"/>
            <a:ext cx="439500" cy="0"/>
          </a:xfrm>
          <a:prstGeom prst="straightConnector1">
            <a:avLst/>
          </a:prstGeom>
          <a:noFill/>
          <a:ln cap="flat" cmpd="sng" w="19050">
            <a:solidFill>
              <a:srgbClr val="FF00FF"/>
            </a:solidFill>
            <a:prstDash val="solid"/>
            <a:round/>
            <a:headEnd len="med" w="med" type="none"/>
            <a:tailEnd len="med" w="med" type="triangle"/>
          </a:ln>
        </p:spPr>
      </p:cxn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3" name="Shape 2033"/>
        <p:cNvGrpSpPr/>
        <p:nvPr/>
      </p:nvGrpSpPr>
      <p:grpSpPr>
        <a:xfrm>
          <a:off x="0" y="0"/>
          <a:ext cx="0" cy="0"/>
          <a:chOff x="0" y="0"/>
          <a:chExt cx="0" cy="0"/>
        </a:xfrm>
      </p:grpSpPr>
      <p:sp>
        <p:nvSpPr>
          <p:cNvPr id="2034" name="Google Shape;2034;p70"/>
          <p:cNvSpPr/>
          <p:nvPr/>
        </p:nvSpPr>
        <p:spPr>
          <a:xfrm>
            <a:off x="6734625" y="3018000"/>
            <a:ext cx="1041900" cy="832200"/>
          </a:xfrm>
          <a:prstGeom prst="rect">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User's IP</a:t>
            </a:r>
            <a:endParaRPr>
              <a:solidFill>
                <a:srgbClr val="B7B7B7"/>
              </a:solidFill>
              <a:latin typeface="Roboto"/>
              <a:ea typeface="Roboto"/>
              <a:cs typeface="Roboto"/>
              <a:sym typeface="Roboto"/>
            </a:endParaRPr>
          </a:p>
          <a:p>
            <a:pPr indent="0" lvl="0" marL="0" rtl="0" algn="ctr">
              <a:spcBef>
                <a:spcPts val="1000"/>
              </a:spcBef>
              <a:spcAft>
                <a:spcPts val="0"/>
              </a:spcAft>
              <a:buNone/>
            </a:pPr>
            <a:r>
              <a:rPr lang="en">
                <a:solidFill>
                  <a:srgbClr val="B7B7B7"/>
                </a:solidFill>
                <a:latin typeface="Roboto"/>
                <a:ea typeface="Roboto"/>
                <a:cs typeface="Roboto"/>
                <a:sym typeface="Roboto"/>
              </a:rPr>
              <a:t>[Payload]</a:t>
            </a:r>
            <a:endParaRPr>
              <a:solidFill>
                <a:srgbClr val="B7B7B7"/>
              </a:solidFill>
              <a:latin typeface="Roboto"/>
              <a:ea typeface="Roboto"/>
              <a:cs typeface="Roboto"/>
              <a:sym typeface="Roboto"/>
            </a:endParaRPr>
          </a:p>
        </p:txBody>
      </p:sp>
      <p:sp>
        <p:nvSpPr>
          <p:cNvPr id="2035" name="Google Shape;2035;p70"/>
          <p:cNvSpPr/>
          <p:nvPr/>
        </p:nvSpPr>
        <p:spPr>
          <a:xfrm>
            <a:off x="6734613" y="3025275"/>
            <a:ext cx="1041900" cy="8322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User's IP</a:t>
            </a:r>
            <a:endParaRPr>
              <a:latin typeface="Roboto"/>
              <a:ea typeface="Roboto"/>
              <a:cs typeface="Roboto"/>
              <a:sym typeface="Roboto"/>
            </a:endParaRPr>
          </a:p>
          <a:p>
            <a:pPr indent="0" lvl="0" marL="0" rtl="0" algn="ctr">
              <a:spcBef>
                <a:spcPts val="1000"/>
              </a:spcBef>
              <a:spcAft>
                <a:spcPts val="0"/>
              </a:spcAft>
              <a:buNone/>
            </a:pPr>
            <a:r>
              <a:rPr lang="en">
                <a:latin typeface="Roboto"/>
                <a:ea typeface="Roboto"/>
                <a:cs typeface="Roboto"/>
                <a:sym typeface="Roboto"/>
              </a:rPr>
              <a:t>[Payload]</a:t>
            </a:r>
            <a:endParaRPr>
              <a:latin typeface="Roboto"/>
              <a:ea typeface="Roboto"/>
              <a:cs typeface="Roboto"/>
              <a:sym typeface="Roboto"/>
            </a:endParaRPr>
          </a:p>
        </p:txBody>
      </p:sp>
      <p:sp>
        <p:nvSpPr>
          <p:cNvPr id="2036" name="Google Shape;2036;p70"/>
          <p:cNvSpPr/>
          <p:nvPr/>
        </p:nvSpPr>
        <p:spPr>
          <a:xfrm>
            <a:off x="2400700" y="2298063"/>
            <a:ext cx="1041900" cy="8322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User's IP</a:t>
            </a:r>
            <a:endParaRPr>
              <a:latin typeface="Roboto"/>
              <a:ea typeface="Roboto"/>
              <a:cs typeface="Roboto"/>
              <a:sym typeface="Roboto"/>
            </a:endParaRPr>
          </a:p>
          <a:p>
            <a:pPr indent="0" lvl="0" marL="0" rtl="0" algn="ctr">
              <a:spcBef>
                <a:spcPts val="1000"/>
              </a:spcBef>
              <a:spcAft>
                <a:spcPts val="0"/>
              </a:spcAft>
              <a:buNone/>
            </a:pPr>
            <a:r>
              <a:rPr lang="en">
                <a:latin typeface="Roboto"/>
                <a:ea typeface="Roboto"/>
                <a:cs typeface="Roboto"/>
                <a:sym typeface="Roboto"/>
              </a:rPr>
              <a:t>[Payload]</a:t>
            </a:r>
            <a:endParaRPr>
              <a:latin typeface="Roboto"/>
              <a:ea typeface="Roboto"/>
              <a:cs typeface="Roboto"/>
              <a:sym typeface="Roboto"/>
            </a:endParaRPr>
          </a:p>
        </p:txBody>
      </p:sp>
      <p:sp>
        <p:nvSpPr>
          <p:cNvPr id="2037" name="Google Shape;2037;p70"/>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3: Data Exchange with Tunnels</a:t>
            </a:r>
            <a:endParaRPr/>
          </a:p>
        </p:txBody>
      </p:sp>
      <p:sp>
        <p:nvSpPr>
          <p:cNvPr id="2038" name="Google Shape;2038;p70"/>
          <p:cNvSpPr txBox="1"/>
          <p:nvPr>
            <p:ph idx="1" type="body"/>
          </p:nvPr>
        </p:nvSpPr>
        <p:spPr>
          <a:xfrm>
            <a:off x="107050" y="402200"/>
            <a:ext cx="8909700" cy="6102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How do we tell if a packet is traveling through a tunnel? Use </a:t>
            </a:r>
            <a:r>
              <a:rPr b="1" lang="en"/>
              <a:t>encapsulation</a:t>
            </a:r>
            <a:r>
              <a:rPr lang="en"/>
              <a:t>.</a:t>
            </a:r>
            <a:endParaRPr/>
          </a:p>
        </p:txBody>
      </p:sp>
      <p:sp>
        <p:nvSpPr>
          <p:cNvPr id="2039" name="Google Shape;2039;p70"/>
          <p:cNvSpPr/>
          <p:nvPr/>
        </p:nvSpPr>
        <p:spPr>
          <a:xfrm>
            <a:off x="2434872" y="3298875"/>
            <a:ext cx="960600" cy="832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2040" name="Google Shape;2040;p70"/>
          <p:cNvGrpSpPr/>
          <p:nvPr/>
        </p:nvGrpSpPr>
        <p:grpSpPr>
          <a:xfrm>
            <a:off x="2812209" y="3510331"/>
            <a:ext cx="205525" cy="409199"/>
            <a:chOff x="7897625" y="3319150"/>
            <a:chExt cx="645900" cy="1285575"/>
          </a:xfrm>
        </p:grpSpPr>
        <p:sp>
          <p:nvSpPr>
            <p:cNvPr id="2041" name="Google Shape;2041;p70"/>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042" name="Google Shape;2042;p70"/>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2043" name="Google Shape;2043;p70"/>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2044" name="Google Shape;2044;p70"/>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2045" name="Google Shape;2045;p70"/>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2046" name="Google Shape;2046;p70"/>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2047" name="Google Shape;2047;p70"/>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2048" name="Google Shape;2048;p70"/>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2049" name="Google Shape;2049;p70"/>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2050" name="Google Shape;2050;p70"/>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051" name="Google Shape;2051;p70"/>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052" name="Google Shape;2052;p70"/>
            <p:cNvSpPr/>
            <p:nvPr/>
          </p:nvSpPr>
          <p:spPr>
            <a:xfrm>
              <a:off x="8198675" y="3551600"/>
              <a:ext cx="43800" cy="43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2053" name="Google Shape;2053;p70"/>
          <p:cNvSpPr/>
          <p:nvPr/>
        </p:nvSpPr>
        <p:spPr>
          <a:xfrm>
            <a:off x="2434872" y="4131067"/>
            <a:ext cx="960600" cy="832200"/>
          </a:xfrm>
          <a:prstGeom prst="hexagon">
            <a:avLst>
              <a:gd fmla="val 28852" name="adj"/>
              <a:gd fmla="val 115470" name="vf"/>
            </a:avLst>
          </a:prstGeom>
          <a:solidFill>
            <a:srgbClr val="EFEFE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2054" name="Google Shape;2054;p70"/>
          <p:cNvGrpSpPr/>
          <p:nvPr/>
        </p:nvGrpSpPr>
        <p:grpSpPr>
          <a:xfrm>
            <a:off x="2812209" y="4342523"/>
            <a:ext cx="205525" cy="409199"/>
            <a:chOff x="7897625" y="3319150"/>
            <a:chExt cx="645900" cy="1285575"/>
          </a:xfrm>
        </p:grpSpPr>
        <p:sp>
          <p:nvSpPr>
            <p:cNvPr id="2055" name="Google Shape;2055;p70"/>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056" name="Google Shape;2056;p70"/>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057" name="Google Shape;2057;p70"/>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058" name="Google Shape;2058;p70"/>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059" name="Google Shape;2059;p70"/>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060" name="Google Shape;2060;p70"/>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061" name="Google Shape;2061;p70"/>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062" name="Google Shape;2062;p70"/>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2063" name="Google Shape;2063;p70"/>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2064" name="Google Shape;2064;p70"/>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065" name="Google Shape;2065;p70"/>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066" name="Google Shape;2066;p70"/>
            <p:cNvSpPr/>
            <p:nvPr/>
          </p:nvSpPr>
          <p:spPr>
            <a:xfrm>
              <a:off x="8198675" y="3551600"/>
              <a:ext cx="43800" cy="43800"/>
            </a:xfrm>
            <a:prstGeom prst="ellipse">
              <a:avLst/>
            </a:prstGeom>
            <a:solidFill>
              <a:schemeClr val="dk2"/>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2067" name="Google Shape;2067;p70"/>
          <p:cNvSpPr/>
          <p:nvPr/>
        </p:nvSpPr>
        <p:spPr>
          <a:xfrm>
            <a:off x="4827063" y="35724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R1</a:t>
            </a:r>
            <a:endParaRPr>
              <a:latin typeface="Roboto"/>
              <a:ea typeface="Roboto"/>
              <a:cs typeface="Roboto"/>
              <a:sym typeface="Roboto"/>
            </a:endParaRPr>
          </a:p>
        </p:txBody>
      </p:sp>
      <p:sp>
        <p:nvSpPr>
          <p:cNvPr id="2068" name="Google Shape;2068;p70"/>
          <p:cNvSpPr/>
          <p:nvPr/>
        </p:nvSpPr>
        <p:spPr>
          <a:xfrm>
            <a:off x="4827063" y="440467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R2</a:t>
            </a:r>
            <a:endParaRPr>
              <a:solidFill>
                <a:srgbClr val="B7B7B7"/>
              </a:solidFill>
              <a:latin typeface="Roboto"/>
              <a:ea typeface="Roboto"/>
              <a:cs typeface="Roboto"/>
              <a:sym typeface="Roboto"/>
            </a:endParaRPr>
          </a:p>
        </p:txBody>
      </p:sp>
      <p:cxnSp>
        <p:nvCxnSpPr>
          <p:cNvPr id="2069" name="Google Shape;2069;p70"/>
          <p:cNvCxnSpPr/>
          <p:nvPr/>
        </p:nvCxnSpPr>
        <p:spPr>
          <a:xfrm rot="10800000">
            <a:off x="3097285" y="3714975"/>
            <a:ext cx="1729800" cy="0"/>
          </a:xfrm>
          <a:prstGeom prst="straightConnector1">
            <a:avLst/>
          </a:prstGeom>
          <a:noFill/>
          <a:ln cap="flat" cmpd="sng" w="28575">
            <a:solidFill>
              <a:srgbClr val="0000FF"/>
            </a:solidFill>
            <a:prstDash val="solid"/>
            <a:round/>
            <a:headEnd len="med" w="med" type="none"/>
            <a:tailEnd len="med" w="med" type="none"/>
          </a:ln>
        </p:spPr>
      </p:cxnSp>
      <p:cxnSp>
        <p:nvCxnSpPr>
          <p:cNvPr id="2070" name="Google Shape;2070;p70"/>
          <p:cNvCxnSpPr/>
          <p:nvPr/>
        </p:nvCxnSpPr>
        <p:spPr>
          <a:xfrm rot="10800000">
            <a:off x="3099528" y="4539025"/>
            <a:ext cx="1722900" cy="0"/>
          </a:xfrm>
          <a:prstGeom prst="straightConnector1">
            <a:avLst/>
          </a:prstGeom>
          <a:noFill/>
          <a:ln cap="flat" cmpd="sng" w="9525">
            <a:solidFill>
              <a:srgbClr val="B7B7B7"/>
            </a:solidFill>
            <a:prstDash val="solid"/>
            <a:round/>
            <a:headEnd len="med" w="med" type="none"/>
            <a:tailEnd len="med" w="med" type="none"/>
          </a:ln>
        </p:spPr>
      </p:cxnSp>
      <p:cxnSp>
        <p:nvCxnSpPr>
          <p:cNvPr id="2071" name="Google Shape;2071;p70"/>
          <p:cNvCxnSpPr>
            <a:stCxn id="2067" idx="3"/>
            <a:endCxn id="2072" idx="1"/>
          </p:cNvCxnSpPr>
          <p:nvPr/>
        </p:nvCxnSpPr>
        <p:spPr>
          <a:xfrm>
            <a:off x="5112063" y="3714975"/>
            <a:ext cx="2001000" cy="416100"/>
          </a:xfrm>
          <a:prstGeom prst="straightConnector1">
            <a:avLst/>
          </a:prstGeom>
          <a:noFill/>
          <a:ln cap="flat" cmpd="sng" w="28575">
            <a:solidFill>
              <a:srgbClr val="0000FF"/>
            </a:solidFill>
            <a:prstDash val="solid"/>
            <a:round/>
            <a:headEnd len="med" w="med" type="none"/>
            <a:tailEnd len="med" w="med" type="none"/>
          </a:ln>
        </p:spPr>
      </p:cxnSp>
      <p:cxnSp>
        <p:nvCxnSpPr>
          <p:cNvPr id="2073" name="Google Shape;2073;p70"/>
          <p:cNvCxnSpPr>
            <a:stCxn id="2068" idx="3"/>
            <a:endCxn id="2072" idx="1"/>
          </p:cNvCxnSpPr>
          <p:nvPr/>
        </p:nvCxnSpPr>
        <p:spPr>
          <a:xfrm flipH="1" rot="10800000">
            <a:off x="5112063" y="4131075"/>
            <a:ext cx="2001000" cy="416100"/>
          </a:xfrm>
          <a:prstGeom prst="straightConnector1">
            <a:avLst/>
          </a:prstGeom>
          <a:noFill/>
          <a:ln cap="flat" cmpd="sng" w="9525">
            <a:solidFill>
              <a:srgbClr val="B7B7B7"/>
            </a:solidFill>
            <a:prstDash val="solid"/>
            <a:round/>
            <a:headEnd len="med" w="med" type="none"/>
            <a:tailEnd len="med" w="med" type="none"/>
          </a:ln>
        </p:spPr>
      </p:cxnSp>
      <p:cxnSp>
        <p:nvCxnSpPr>
          <p:cNvPr id="2074" name="Google Shape;2074;p70"/>
          <p:cNvCxnSpPr>
            <a:stCxn id="2072" idx="3"/>
          </p:cNvCxnSpPr>
          <p:nvPr/>
        </p:nvCxnSpPr>
        <p:spPr>
          <a:xfrm>
            <a:off x="7398063" y="4131075"/>
            <a:ext cx="551700" cy="0"/>
          </a:xfrm>
          <a:prstGeom prst="straightConnector1">
            <a:avLst/>
          </a:prstGeom>
          <a:noFill/>
          <a:ln cap="flat" cmpd="sng" w="28575">
            <a:solidFill>
              <a:srgbClr val="0000FF"/>
            </a:solidFill>
            <a:prstDash val="solid"/>
            <a:round/>
            <a:headEnd len="med" w="med" type="none"/>
            <a:tailEnd len="med" w="med" type="none"/>
          </a:ln>
        </p:spPr>
      </p:cxnSp>
      <p:cxnSp>
        <p:nvCxnSpPr>
          <p:cNvPr id="2075" name="Google Shape;2075;p70"/>
          <p:cNvCxnSpPr/>
          <p:nvPr/>
        </p:nvCxnSpPr>
        <p:spPr>
          <a:xfrm>
            <a:off x="7949773" y="4131075"/>
            <a:ext cx="525300" cy="0"/>
          </a:xfrm>
          <a:prstGeom prst="straightConnector1">
            <a:avLst/>
          </a:prstGeom>
          <a:noFill/>
          <a:ln cap="flat" cmpd="sng" w="28575">
            <a:solidFill>
              <a:srgbClr val="0000FF"/>
            </a:solidFill>
            <a:prstDash val="dash"/>
            <a:round/>
            <a:headEnd len="med" w="med" type="none"/>
            <a:tailEnd len="med" w="med" type="none"/>
          </a:ln>
        </p:spPr>
      </p:cxnSp>
      <p:grpSp>
        <p:nvGrpSpPr>
          <p:cNvPr id="2076" name="Google Shape;2076;p70"/>
          <p:cNvGrpSpPr/>
          <p:nvPr/>
        </p:nvGrpSpPr>
        <p:grpSpPr>
          <a:xfrm>
            <a:off x="821337" y="3427400"/>
            <a:ext cx="384763" cy="551700"/>
            <a:chOff x="160300" y="2651875"/>
            <a:chExt cx="384763" cy="551700"/>
          </a:xfrm>
        </p:grpSpPr>
        <p:pic>
          <p:nvPicPr>
            <p:cNvPr id="2077" name="Google Shape;2077;p70"/>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2078" name="Google Shape;2078;p70"/>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sp>
        <p:nvSpPr>
          <p:cNvPr id="2072" name="Google Shape;2072;p70"/>
          <p:cNvSpPr/>
          <p:nvPr/>
        </p:nvSpPr>
        <p:spPr>
          <a:xfrm>
            <a:off x="7113063" y="39885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P1</a:t>
            </a:r>
            <a:endParaRPr>
              <a:latin typeface="Roboto"/>
              <a:ea typeface="Roboto"/>
              <a:cs typeface="Roboto"/>
              <a:sym typeface="Roboto"/>
            </a:endParaRPr>
          </a:p>
        </p:txBody>
      </p:sp>
      <p:cxnSp>
        <p:nvCxnSpPr>
          <p:cNvPr id="2079" name="Google Shape;2079;p70"/>
          <p:cNvCxnSpPr/>
          <p:nvPr/>
        </p:nvCxnSpPr>
        <p:spPr>
          <a:xfrm rot="10800000">
            <a:off x="1259450" y="3714925"/>
            <a:ext cx="1501800" cy="0"/>
          </a:xfrm>
          <a:prstGeom prst="straightConnector1">
            <a:avLst/>
          </a:prstGeom>
          <a:noFill/>
          <a:ln cap="flat" cmpd="sng" w="28575">
            <a:solidFill>
              <a:srgbClr val="0000FF"/>
            </a:solidFill>
            <a:prstDash val="solid"/>
            <a:round/>
            <a:headEnd len="med" w="med" type="none"/>
            <a:tailEnd len="med" w="med" type="none"/>
          </a:ln>
        </p:spPr>
      </p:cxnSp>
      <p:sp>
        <p:nvSpPr>
          <p:cNvPr id="2080" name="Google Shape;2080;p70"/>
          <p:cNvSpPr/>
          <p:nvPr/>
        </p:nvSpPr>
        <p:spPr>
          <a:xfrm>
            <a:off x="6734625" y="2684075"/>
            <a:ext cx="1041900" cy="333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Blue Tunnel</a:t>
            </a:r>
            <a:endParaRPr>
              <a:latin typeface="Roboto"/>
              <a:ea typeface="Roboto"/>
              <a:cs typeface="Roboto"/>
              <a:sym typeface="Roboto"/>
            </a:endParaRPr>
          </a:p>
        </p:txBody>
      </p:sp>
      <p:grpSp>
        <p:nvGrpSpPr>
          <p:cNvPr id="2081" name="Google Shape;2081;p70"/>
          <p:cNvGrpSpPr/>
          <p:nvPr/>
        </p:nvGrpSpPr>
        <p:grpSpPr>
          <a:xfrm>
            <a:off x="148812" y="1063263"/>
            <a:ext cx="1729800" cy="2203863"/>
            <a:chOff x="148812" y="1063263"/>
            <a:chExt cx="1729800" cy="2203863"/>
          </a:xfrm>
        </p:grpSpPr>
        <p:sp>
          <p:nvSpPr>
            <p:cNvPr id="2082" name="Google Shape;2082;p70"/>
            <p:cNvSpPr/>
            <p:nvPr/>
          </p:nvSpPr>
          <p:spPr>
            <a:xfrm>
              <a:off x="492750" y="2434925"/>
              <a:ext cx="1041900" cy="8322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User's IP</a:t>
              </a:r>
              <a:endParaRPr>
                <a:latin typeface="Roboto"/>
                <a:ea typeface="Roboto"/>
                <a:cs typeface="Roboto"/>
                <a:sym typeface="Roboto"/>
              </a:endParaRPr>
            </a:p>
            <a:p>
              <a:pPr indent="0" lvl="0" marL="0" rtl="0" algn="ctr">
                <a:spcBef>
                  <a:spcPts val="1000"/>
                </a:spcBef>
                <a:spcAft>
                  <a:spcPts val="0"/>
                </a:spcAft>
                <a:buNone/>
              </a:pPr>
              <a:r>
                <a:rPr lang="en">
                  <a:latin typeface="Roboto"/>
                  <a:ea typeface="Roboto"/>
                  <a:cs typeface="Roboto"/>
                  <a:sym typeface="Roboto"/>
                </a:rPr>
                <a:t>[Payload]</a:t>
              </a:r>
              <a:endParaRPr>
                <a:latin typeface="Roboto"/>
                <a:ea typeface="Roboto"/>
                <a:cs typeface="Roboto"/>
                <a:sym typeface="Roboto"/>
              </a:endParaRPr>
            </a:p>
          </p:txBody>
        </p:sp>
        <p:sp>
          <p:nvSpPr>
            <p:cNvPr id="2083" name="Google Shape;2083;p70"/>
            <p:cNvSpPr txBox="1"/>
            <p:nvPr/>
          </p:nvSpPr>
          <p:spPr>
            <a:xfrm>
              <a:off x="148812" y="1063263"/>
              <a:ext cx="1729800" cy="702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User sends plain IP packet. No need to think about tunnels.</a:t>
              </a:r>
              <a:endParaRPr>
                <a:solidFill>
                  <a:schemeClr val="accent2"/>
                </a:solidFill>
                <a:latin typeface="Roboto"/>
                <a:ea typeface="Roboto"/>
                <a:cs typeface="Roboto"/>
                <a:sym typeface="Roboto"/>
              </a:endParaRPr>
            </a:p>
          </p:txBody>
        </p:sp>
        <p:cxnSp>
          <p:nvCxnSpPr>
            <p:cNvPr id="2084" name="Google Shape;2084;p70"/>
            <p:cNvCxnSpPr>
              <a:stCxn id="2083" idx="2"/>
              <a:endCxn id="2082" idx="0"/>
            </p:cNvCxnSpPr>
            <p:nvPr/>
          </p:nvCxnSpPr>
          <p:spPr>
            <a:xfrm>
              <a:off x="1013712" y="1765263"/>
              <a:ext cx="0" cy="669600"/>
            </a:xfrm>
            <a:prstGeom prst="straightConnector1">
              <a:avLst/>
            </a:prstGeom>
            <a:noFill/>
            <a:ln cap="flat" cmpd="sng" w="19050">
              <a:solidFill>
                <a:schemeClr val="accent2"/>
              </a:solidFill>
              <a:prstDash val="solid"/>
              <a:round/>
              <a:headEnd len="med" w="med" type="none"/>
              <a:tailEnd len="med" w="med" type="triangle"/>
            </a:ln>
          </p:spPr>
        </p:cxnSp>
      </p:grpSp>
      <p:grpSp>
        <p:nvGrpSpPr>
          <p:cNvPr id="2085" name="Google Shape;2085;p70"/>
          <p:cNvGrpSpPr/>
          <p:nvPr/>
        </p:nvGrpSpPr>
        <p:grpSpPr>
          <a:xfrm>
            <a:off x="2056775" y="1097813"/>
            <a:ext cx="1729800" cy="2032475"/>
            <a:chOff x="2056775" y="1097813"/>
            <a:chExt cx="1729800" cy="2032475"/>
          </a:xfrm>
        </p:grpSpPr>
        <p:sp>
          <p:nvSpPr>
            <p:cNvPr id="2086" name="Google Shape;2086;p70"/>
            <p:cNvSpPr/>
            <p:nvPr/>
          </p:nvSpPr>
          <p:spPr>
            <a:xfrm>
              <a:off x="2400713" y="2298088"/>
              <a:ext cx="1041900" cy="832200"/>
            </a:xfrm>
            <a:prstGeom prst="rect">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User's IP</a:t>
              </a:r>
              <a:endParaRPr>
                <a:solidFill>
                  <a:srgbClr val="B7B7B7"/>
                </a:solidFill>
                <a:latin typeface="Roboto"/>
                <a:ea typeface="Roboto"/>
                <a:cs typeface="Roboto"/>
                <a:sym typeface="Roboto"/>
              </a:endParaRPr>
            </a:p>
            <a:p>
              <a:pPr indent="0" lvl="0" marL="0" rtl="0" algn="ctr">
                <a:spcBef>
                  <a:spcPts val="1000"/>
                </a:spcBef>
                <a:spcAft>
                  <a:spcPts val="0"/>
                </a:spcAft>
                <a:buNone/>
              </a:pPr>
              <a:r>
                <a:rPr lang="en">
                  <a:solidFill>
                    <a:srgbClr val="B7B7B7"/>
                  </a:solidFill>
                  <a:latin typeface="Roboto"/>
                  <a:ea typeface="Roboto"/>
                  <a:cs typeface="Roboto"/>
                  <a:sym typeface="Roboto"/>
                </a:rPr>
                <a:t>[Payload]</a:t>
              </a:r>
              <a:endParaRPr>
                <a:solidFill>
                  <a:srgbClr val="B7B7B7"/>
                </a:solidFill>
                <a:latin typeface="Roboto"/>
                <a:ea typeface="Roboto"/>
                <a:cs typeface="Roboto"/>
                <a:sym typeface="Roboto"/>
              </a:endParaRPr>
            </a:p>
          </p:txBody>
        </p:sp>
        <p:sp>
          <p:nvSpPr>
            <p:cNvPr id="2087" name="Google Shape;2087;p70"/>
            <p:cNvSpPr/>
            <p:nvPr/>
          </p:nvSpPr>
          <p:spPr>
            <a:xfrm>
              <a:off x="2400713" y="1964163"/>
              <a:ext cx="1041900" cy="333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Blue Tunnel</a:t>
              </a:r>
              <a:endParaRPr>
                <a:latin typeface="Roboto"/>
                <a:ea typeface="Roboto"/>
                <a:cs typeface="Roboto"/>
                <a:sym typeface="Roboto"/>
              </a:endParaRPr>
            </a:p>
          </p:txBody>
        </p:sp>
        <p:sp>
          <p:nvSpPr>
            <p:cNvPr id="2088" name="Google Shape;2088;p70"/>
            <p:cNvSpPr txBox="1"/>
            <p:nvPr/>
          </p:nvSpPr>
          <p:spPr>
            <a:xfrm>
              <a:off x="2056775" y="1097813"/>
              <a:ext cx="1729800" cy="4863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Cellular network adds extra header.</a:t>
              </a:r>
              <a:endParaRPr>
                <a:solidFill>
                  <a:schemeClr val="accent2"/>
                </a:solidFill>
                <a:latin typeface="Roboto"/>
                <a:ea typeface="Roboto"/>
                <a:cs typeface="Roboto"/>
                <a:sym typeface="Roboto"/>
              </a:endParaRPr>
            </a:p>
          </p:txBody>
        </p:sp>
        <p:cxnSp>
          <p:nvCxnSpPr>
            <p:cNvPr id="2089" name="Google Shape;2089;p70"/>
            <p:cNvCxnSpPr>
              <a:stCxn id="2088" idx="2"/>
              <a:endCxn id="2087" idx="0"/>
            </p:cNvCxnSpPr>
            <p:nvPr/>
          </p:nvCxnSpPr>
          <p:spPr>
            <a:xfrm>
              <a:off x="2921675" y="1584113"/>
              <a:ext cx="0" cy="380100"/>
            </a:xfrm>
            <a:prstGeom prst="straightConnector1">
              <a:avLst/>
            </a:prstGeom>
            <a:noFill/>
            <a:ln cap="flat" cmpd="sng" w="19050">
              <a:solidFill>
                <a:schemeClr val="accent2"/>
              </a:solidFill>
              <a:prstDash val="solid"/>
              <a:round/>
              <a:headEnd len="med" w="med" type="none"/>
              <a:tailEnd len="med" w="med" type="triangle"/>
            </a:ln>
          </p:spPr>
        </p:cxnSp>
      </p:grpSp>
      <p:grpSp>
        <p:nvGrpSpPr>
          <p:cNvPr id="2090" name="Google Shape;2090;p70"/>
          <p:cNvGrpSpPr/>
          <p:nvPr/>
        </p:nvGrpSpPr>
        <p:grpSpPr>
          <a:xfrm>
            <a:off x="3848025" y="1072038"/>
            <a:ext cx="2243100" cy="2287213"/>
            <a:chOff x="3848025" y="1072038"/>
            <a:chExt cx="2243100" cy="2287213"/>
          </a:xfrm>
        </p:grpSpPr>
        <p:sp>
          <p:nvSpPr>
            <p:cNvPr id="2091" name="Google Shape;2091;p70"/>
            <p:cNvSpPr/>
            <p:nvPr/>
          </p:nvSpPr>
          <p:spPr>
            <a:xfrm>
              <a:off x="4448625" y="2193125"/>
              <a:ext cx="1041900" cy="333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Blue Tunnel</a:t>
              </a:r>
              <a:endParaRPr>
                <a:latin typeface="Roboto"/>
                <a:ea typeface="Roboto"/>
                <a:cs typeface="Roboto"/>
                <a:sym typeface="Roboto"/>
              </a:endParaRPr>
            </a:p>
          </p:txBody>
        </p:sp>
        <p:sp>
          <p:nvSpPr>
            <p:cNvPr id="2092" name="Google Shape;2092;p70"/>
            <p:cNvSpPr/>
            <p:nvPr/>
          </p:nvSpPr>
          <p:spPr>
            <a:xfrm>
              <a:off x="4448625" y="2527050"/>
              <a:ext cx="1041900" cy="832200"/>
            </a:xfrm>
            <a:prstGeom prst="rect">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User's IP</a:t>
              </a:r>
              <a:endParaRPr>
                <a:solidFill>
                  <a:srgbClr val="B7B7B7"/>
                </a:solidFill>
                <a:latin typeface="Roboto"/>
                <a:ea typeface="Roboto"/>
                <a:cs typeface="Roboto"/>
                <a:sym typeface="Roboto"/>
              </a:endParaRPr>
            </a:p>
            <a:p>
              <a:pPr indent="0" lvl="0" marL="0" rtl="0" algn="ctr">
                <a:spcBef>
                  <a:spcPts val="1000"/>
                </a:spcBef>
                <a:spcAft>
                  <a:spcPts val="0"/>
                </a:spcAft>
                <a:buNone/>
              </a:pPr>
              <a:r>
                <a:rPr lang="en">
                  <a:solidFill>
                    <a:srgbClr val="B7B7B7"/>
                  </a:solidFill>
                  <a:latin typeface="Roboto"/>
                  <a:ea typeface="Roboto"/>
                  <a:cs typeface="Roboto"/>
                  <a:sym typeface="Roboto"/>
                </a:rPr>
                <a:t>[Payload]</a:t>
              </a:r>
              <a:endParaRPr>
                <a:solidFill>
                  <a:srgbClr val="B7B7B7"/>
                </a:solidFill>
                <a:latin typeface="Roboto"/>
                <a:ea typeface="Roboto"/>
                <a:cs typeface="Roboto"/>
                <a:sym typeface="Roboto"/>
              </a:endParaRPr>
            </a:p>
          </p:txBody>
        </p:sp>
        <p:sp>
          <p:nvSpPr>
            <p:cNvPr id="2093" name="Google Shape;2093;p70"/>
            <p:cNvSpPr txBox="1"/>
            <p:nvPr/>
          </p:nvSpPr>
          <p:spPr>
            <a:xfrm>
              <a:off x="3848025" y="1072038"/>
              <a:ext cx="2243100" cy="702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Packet forwarded through cellular network. No need to think about user IP!</a:t>
              </a:r>
              <a:endParaRPr>
                <a:solidFill>
                  <a:schemeClr val="accent2"/>
                </a:solidFill>
                <a:latin typeface="Roboto"/>
                <a:ea typeface="Roboto"/>
                <a:cs typeface="Roboto"/>
                <a:sym typeface="Roboto"/>
              </a:endParaRPr>
            </a:p>
          </p:txBody>
        </p:sp>
        <p:cxnSp>
          <p:nvCxnSpPr>
            <p:cNvPr id="2094" name="Google Shape;2094;p70"/>
            <p:cNvCxnSpPr>
              <a:stCxn id="2093" idx="2"/>
              <a:endCxn id="2091" idx="0"/>
            </p:cNvCxnSpPr>
            <p:nvPr/>
          </p:nvCxnSpPr>
          <p:spPr>
            <a:xfrm>
              <a:off x="4969575" y="1774038"/>
              <a:ext cx="0" cy="419100"/>
            </a:xfrm>
            <a:prstGeom prst="straightConnector1">
              <a:avLst/>
            </a:prstGeom>
            <a:noFill/>
            <a:ln cap="flat" cmpd="sng" w="19050">
              <a:solidFill>
                <a:schemeClr val="accent2"/>
              </a:solidFill>
              <a:prstDash val="solid"/>
              <a:round/>
              <a:headEnd len="med" w="med" type="none"/>
              <a:tailEnd len="med" w="med" type="triangle"/>
            </a:ln>
          </p:spPr>
        </p:cxnSp>
      </p:grpSp>
      <p:grpSp>
        <p:nvGrpSpPr>
          <p:cNvPr id="2095" name="Google Shape;2095;p70"/>
          <p:cNvGrpSpPr/>
          <p:nvPr/>
        </p:nvGrpSpPr>
        <p:grpSpPr>
          <a:xfrm>
            <a:off x="6303375" y="1491125"/>
            <a:ext cx="1904400" cy="1193100"/>
            <a:chOff x="6303375" y="1491125"/>
            <a:chExt cx="1904400" cy="1193100"/>
          </a:xfrm>
        </p:grpSpPr>
        <p:sp>
          <p:nvSpPr>
            <p:cNvPr id="2096" name="Google Shape;2096;p70"/>
            <p:cNvSpPr txBox="1"/>
            <p:nvPr/>
          </p:nvSpPr>
          <p:spPr>
            <a:xfrm>
              <a:off x="6303375" y="1491125"/>
              <a:ext cx="1904400" cy="702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Extra header removed, and plain IP packet sent to rest of Internet.</a:t>
              </a:r>
              <a:endParaRPr>
                <a:solidFill>
                  <a:schemeClr val="accent2"/>
                </a:solidFill>
                <a:latin typeface="Roboto"/>
                <a:ea typeface="Roboto"/>
                <a:cs typeface="Roboto"/>
                <a:sym typeface="Roboto"/>
              </a:endParaRPr>
            </a:p>
          </p:txBody>
        </p:sp>
        <p:cxnSp>
          <p:nvCxnSpPr>
            <p:cNvPr id="2097" name="Google Shape;2097;p70"/>
            <p:cNvCxnSpPr>
              <a:stCxn id="2096" idx="2"/>
              <a:endCxn id="2080" idx="0"/>
            </p:cNvCxnSpPr>
            <p:nvPr/>
          </p:nvCxnSpPr>
          <p:spPr>
            <a:xfrm>
              <a:off x="7255575" y="2193125"/>
              <a:ext cx="0" cy="491100"/>
            </a:xfrm>
            <a:prstGeom prst="straightConnector1">
              <a:avLst/>
            </a:prstGeom>
            <a:noFill/>
            <a:ln cap="flat" cmpd="sng" w="19050">
              <a:solidFill>
                <a:schemeClr val="accent2"/>
              </a:solidFill>
              <a:prstDash val="solid"/>
              <a:round/>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08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20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036"/>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20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08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20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090"/>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20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2080"/>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2034"/>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20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1" name="Shape 2101"/>
        <p:cNvGrpSpPr/>
        <p:nvPr/>
      </p:nvGrpSpPr>
      <p:grpSpPr>
        <a:xfrm>
          <a:off x="0" y="0"/>
          <a:ext cx="0" cy="0"/>
          <a:chOff x="0" y="0"/>
          <a:chExt cx="0" cy="0"/>
        </a:xfrm>
      </p:grpSpPr>
      <p:sp>
        <p:nvSpPr>
          <p:cNvPr id="2102" name="Google Shape;2102;p71"/>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Why is Cellular Different?</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Brief History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Standards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Challenge: Mobility</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Cellular Networks</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Infrastructure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High-Level View</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0: Registration</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1: Discovery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2: Attachment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3: Data Exchange</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Step 4: Handover</a:t>
            </a:r>
            <a:endParaRPr b="1">
              <a:solidFill>
                <a:schemeClr val="accent3"/>
              </a:solidFill>
              <a:latin typeface="Roboto"/>
              <a:ea typeface="Roboto"/>
              <a:cs typeface="Roboto"/>
              <a:sym typeface="Roboto"/>
            </a:endParaRPr>
          </a:p>
          <a:p>
            <a:pPr indent="-342900" lvl="0" marL="457200" rtl="0" algn="l">
              <a:spcBef>
                <a:spcPts val="0"/>
              </a:spcBef>
              <a:spcAft>
                <a:spcPts val="0"/>
              </a:spcAft>
              <a:buClr>
                <a:srgbClr val="B7B7B7"/>
              </a:buClr>
              <a:buSzPts val="1800"/>
              <a:buChar char="•"/>
            </a:pPr>
            <a:r>
              <a:rPr lang="en">
                <a:solidFill>
                  <a:srgbClr val="B7B7B7"/>
                </a:solidFill>
              </a:rPr>
              <a:t>Roaming and Other Features</a:t>
            </a:r>
            <a:endParaRPr>
              <a:solidFill>
                <a:srgbClr val="B7B7B7"/>
              </a:solidFill>
            </a:endParaRPr>
          </a:p>
        </p:txBody>
      </p:sp>
      <p:sp>
        <p:nvSpPr>
          <p:cNvPr id="2103" name="Google Shape;2103;p71"/>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Step 4: Handover</a:t>
            </a:r>
            <a:endParaRPr/>
          </a:p>
        </p:txBody>
      </p:sp>
      <p:sp>
        <p:nvSpPr>
          <p:cNvPr id="2104" name="Google Shape;2104;p71"/>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25</a:t>
            </a:r>
            <a:r>
              <a:rPr lang="en"/>
              <a:t>, CS 168, </a:t>
            </a:r>
            <a:r>
              <a:rPr lang="en"/>
              <a:t>Spring 2026</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8" name="Shape 2108"/>
        <p:cNvGrpSpPr/>
        <p:nvPr/>
      </p:nvGrpSpPr>
      <p:grpSpPr>
        <a:xfrm>
          <a:off x="0" y="0"/>
          <a:ext cx="0" cy="0"/>
          <a:chOff x="0" y="0"/>
          <a:chExt cx="0" cy="0"/>
        </a:xfrm>
      </p:grpSpPr>
      <p:sp>
        <p:nvSpPr>
          <p:cNvPr id="2109" name="Google Shape;2109;p72"/>
          <p:cNvSpPr txBox="1"/>
          <p:nvPr/>
        </p:nvSpPr>
        <p:spPr>
          <a:xfrm>
            <a:off x="1003437" y="4064025"/>
            <a:ext cx="35799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5. Connect to new tower using these slots.</a:t>
            </a:r>
            <a:endParaRPr>
              <a:solidFill>
                <a:schemeClr val="accent2"/>
              </a:solidFill>
              <a:latin typeface="Roboto"/>
              <a:ea typeface="Roboto"/>
              <a:cs typeface="Roboto"/>
              <a:sym typeface="Roboto"/>
            </a:endParaRPr>
          </a:p>
        </p:txBody>
      </p:sp>
      <p:cxnSp>
        <p:nvCxnSpPr>
          <p:cNvPr id="2110" name="Google Shape;2110;p72"/>
          <p:cNvCxnSpPr/>
          <p:nvPr/>
        </p:nvCxnSpPr>
        <p:spPr>
          <a:xfrm>
            <a:off x="4777788" y="2294250"/>
            <a:ext cx="0" cy="2529900"/>
          </a:xfrm>
          <a:prstGeom prst="straightConnector1">
            <a:avLst/>
          </a:prstGeom>
          <a:noFill/>
          <a:ln cap="flat" cmpd="sng" w="19050">
            <a:solidFill>
              <a:schemeClr val="dk2"/>
            </a:solidFill>
            <a:prstDash val="solid"/>
            <a:round/>
            <a:headEnd len="med" w="med" type="none"/>
            <a:tailEnd len="med" w="med" type="none"/>
          </a:ln>
        </p:spPr>
      </p:cxnSp>
      <p:sp>
        <p:nvSpPr>
          <p:cNvPr id="2111" name="Google Shape;2111;p72"/>
          <p:cNvSpPr/>
          <p:nvPr/>
        </p:nvSpPr>
        <p:spPr>
          <a:xfrm>
            <a:off x="4695150" y="3378225"/>
            <a:ext cx="165300" cy="685800"/>
          </a:xfrm>
          <a:prstGeom prst="rect">
            <a:avLst/>
          </a:prstGeom>
          <a:solidFill>
            <a:srgbClr val="FFFFFF">
              <a:alpha val="75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112" name="Google Shape;2112;p72"/>
          <p:cNvSpPr txBox="1"/>
          <p:nvPr/>
        </p:nvSpPr>
        <p:spPr>
          <a:xfrm>
            <a:off x="1044762" y="2921013"/>
            <a:ext cx="35799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2. Here's my signal strength to other towers.</a:t>
            </a:r>
            <a:endParaRPr>
              <a:solidFill>
                <a:schemeClr val="accent2"/>
              </a:solidFill>
              <a:latin typeface="Roboto"/>
              <a:ea typeface="Roboto"/>
              <a:cs typeface="Roboto"/>
              <a:sym typeface="Roboto"/>
            </a:endParaRPr>
          </a:p>
        </p:txBody>
      </p:sp>
      <p:sp>
        <p:nvSpPr>
          <p:cNvPr id="2113" name="Google Shape;2113;p72"/>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4: Handover</a:t>
            </a:r>
            <a:endParaRPr/>
          </a:p>
        </p:txBody>
      </p:sp>
      <p:grpSp>
        <p:nvGrpSpPr>
          <p:cNvPr id="2114" name="Google Shape;2114;p72"/>
          <p:cNvGrpSpPr/>
          <p:nvPr/>
        </p:nvGrpSpPr>
        <p:grpSpPr>
          <a:xfrm>
            <a:off x="4585412" y="1471650"/>
            <a:ext cx="384763" cy="551700"/>
            <a:chOff x="160300" y="2651875"/>
            <a:chExt cx="384763" cy="551700"/>
          </a:xfrm>
        </p:grpSpPr>
        <p:pic>
          <p:nvPicPr>
            <p:cNvPr id="2115" name="Google Shape;2115;p72"/>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2116" name="Google Shape;2116;p72"/>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grpSp>
        <p:nvGrpSpPr>
          <p:cNvPr id="2117" name="Google Shape;2117;p72"/>
          <p:cNvGrpSpPr/>
          <p:nvPr/>
        </p:nvGrpSpPr>
        <p:grpSpPr>
          <a:xfrm>
            <a:off x="8066753" y="1471681"/>
            <a:ext cx="280062" cy="551640"/>
            <a:chOff x="7897625" y="3319150"/>
            <a:chExt cx="645900" cy="1285575"/>
          </a:xfrm>
        </p:grpSpPr>
        <p:sp>
          <p:nvSpPr>
            <p:cNvPr id="2118" name="Google Shape;2118;p72"/>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119" name="Google Shape;2119;p72"/>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2120" name="Google Shape;2120;p72"/>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2121" name="Google Shape;2121;p72"/>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2122" name="Google Shape;2122;p72"/>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2123" name="Google Shape;2123;p72"/>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2124" name="Google Shape;2124;p72"/>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2125" name="Google Shape;2125;p72"/>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2126" name="Google Shape;2126;p72"/>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2127" name="Google Shape;2127;p72"/>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128" name="Google Shape;2128;p72"/>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129" name="Google Shape;2129;p72"/>
            <p:cNvSpPr/>
            <p:nvPr/>
          </p:nvSpPr>
          <p:spPr>
            <a:xfrm>
              <a:off x="8198675" y="3551600"/>
              <a:ext cx="43800" cy="43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grpSp>
        <p:nvGrpSpPr>
          <p:cNvPr id="2130" name="Google Shape;2130;p72"/>
          <p:cNvGrpSpPr/>
          <p:nvPr/>
        </p:nvGrpSpPr>
        <p:grpSpPr>
          <a:xfrm>
            <a:off x="751553" y="1471681"/>
            <a:ext cx="280062" cy="551640"/>
            <a:chOff x="7897625" y="3319150"/>
            <a:chExt cx="645900" cy="1285575"/>
          </a:xfrm>
        </p:grpSpPr>
        <p:sp>
          <p:nvSpPr>
            <p:cNvPr id="2131" name="Google Shape;2131;p72"/>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132" name="Google Shape;2132;p72"/>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2133" name="Google Shape;2133;p72"/>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2134" name="Google Shape;2134;p72"/>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2135" name="Google Shape;2135;p72"/>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2136" name="Google Shape;2136;p72"/>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2137" name="Google Shape;2137;p72"/>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2138" name="Google Shape;2138;p72"/>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2139" name="Google Shape;2139;p72"/>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2140" name="Google Shape;2140;p72"/>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141" name="Google Shape;2141;p72"/>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142" name="Google Shape;2142;p72"/>
            <p:cNvSpPr/>
            <p:nvPr/>
          </p:nvSpPr>
          <p:spPr>
            <a:xfrm>
              <a:off x="8198675" y="3551600"/>
              <a:ext cx="43800" cy="43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2143" name="Google Shape;2143;p72"/>
          <p:cNvSpPr txBox="1"/>
          <p:nvPr/>
        </p:nvSpPr>
        <p:spPr>
          <a:xfrm>
            <a:off x="449388" y="2023350"/>
            <a:ext cx="8844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Old Tower</a:t>
            </a:r>
            <a:endParaRPr>
              <a:solidFill>
                <a:schemeClr val="dk1"/>
              </a:solidFill>
              <a:latin typeface="Roboto"/>
              <a:ea typeface="Roboto"/>
              <a:cs typeface="Roboto"/>
              <a:sym typeface="Roboto"/>
            </a:endParaRPr>
          </a:p>
        </p:txBody>
      </p:sp>
      <p:sp>
        <p:nvSpPr>
          <p:cNvPr id="2144" name="Google Shape;2144;p72"/>
          <p:cNvSpPr txBox="1"/>
          <p:nvPr/>
        </p:nvSpPr>
        <p:spPr>
          <a:xfrm>
            <a:off x="4335575" y="2023350"/>
            <a:ext cx="8844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Device</a:t>
            </a:r>
            <a:endParaRPr>
              <a:solidFill>
                <a:schemeClr val="dk1"/>
              </a:solidFill>
              <a:latin typeface="Roboto"/>
              <a:ea typeface="Roboto"/>
              <a:cs typeface="Roboto"/>
              <a:sym typeface="Roboto"/>
            </a:endParaRPr>
          </a:p>
        </p:txBody>
      </p:sp>
      <p:sp>
        <p:nvSpPr>
          <p:cNvPr id="2145" name="Google Shape;2145;p72"/>
          <p:cNvSpPr txBox="1"/>
          <p:nvPr/>
        </p:nvSpPr>
        <p:spPr>
          <a:xfrm>
            <a:off x="7718988" y="2023350"/>
            <a:ext cx="9756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New Tower</a:t>
            </a:r>
            <a:endParaRPr>
              <a:solidFill>
                <a:schemeClr val="dk1"/>
              </a:solidFill>
              <a:latin typeface="Roboto"/>
              <a:ea typeface="Roboto"/>
              <a:cs typeface="Roboto"/>
              <a:sym typeface="Roboto"/>
            </a:endParaRPr>
          </a:p>
        </p:txBody>
      </p:sp>
      <p:cxnSp>
        <p:nvCxnSpPr>
          <p:cNvPr id="2146" name="Google Shape;2146;p72"/>
          <p:cNvCxnSpPr/>
          <p:nvPr/>
        </p:nvCxnSpPr>
        <p:spPr>
          <a:xfrm>
            <a:off x="891600" y="2294250"/>
            <a:ext cx="0" cy="2529900"/>
          </a:xfrm>
          <a:prstGeom prst="straightConnector1">
            <a:avLst/>
          </a:prstGeom>
          <a:noFill/>
          <a:ln cap="flat" cmpd="sng" w="19050">
            <a:solidFill>
              <a:schemeClr val="dk2"/>
            </a:solidFill>
            <a:prstDash val="solid"/>
            <a:round/>
            <a:headEnd len="med" w="med" type="none"/>
            <a:tailEnd len="med" w="med" type="none"/>
          </a:ln>
        </p:spPr>
      </p:cxnSp>
      <p:cxnSp>
        <p:nvCxnSpPr>
          <p:cNvPr id="2147" name="Google Shape;2147;p72"/>
          <p:cNvCxnSpPr/>
          <p:nvPr/>
        </p:nvCxnSpPr>
        <p:spPr>
          <a:xfrm>
            <a:off x="8206800" y="2294250"/>
            <a:ext cx="0" cy="2529900"/>
          </a:xfrm>
          <a:prstGeom prst="straightConnector1">
            <a:avLst/>
          </a:prstGeom>
          <a:noFill/>
          <a:ln cap="flat" cmpd="sng" w="19050">
            <a:solidFill>
              <a:schemeClr val="dk2"/>
            </a:solidFill>
            <a:prstDash val="solid"/>
            <a:round/>
            <a:headEnd len="med" w="med" type="none"/>
            <a:tailEnd len="med" w="med" type="none"/>
          </a:ln>
        </p:spPr>
      </p:cxnSp>
      <p:cxnSp>
        <p:nvCxnSpPr>
          <p:cNvPr id="2148" name="Google Shape;2148;p72"/>
          <p:cNvCxnSpPr/>
          <p:nvPr/>
        </p:nvCxnSpPr>
        <p:spPr>
          <a:xfrm>
            <a:off x="891600" y="2734725"/>
            <a:ext cx="3886200" cy="0"/>
          </a:xfrm>
          <a:prstGeom prst="straightConnector1">
            <a:avLst/>
          </a:prstGeom>
          <a:noFill/>
          <a:ln cap="flat" cmpd="sng" w="19050">
            <a:solidFill>
              <a:schemeClr val="accent2"/>
            </a:solidFill>
            <a:prstDash val="solid"/>
            <a:round/>
            <a:headEnd len="med" w="med" type="none"/>
            <a:tailEnd len="med" w="med" type="triangle"/>
          </a:ln>
        </p:spPr>
      </p:cxnSp>
      <p:sp>
        <p:nvSpPr>
          <p:cNvPr id="2149" name="Google Shape;2149;p72"/>
          <p:cNvSpPr txBox="1"/>
          <p:nvPr/>
        </p:nvSpPr>
        <p:spPr>
          <a:xfrm>
            <a:off x="1374513" y="2248425"/>
            <a:ext cx="2837700" cy="4863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1. Your signal strength is low. Measure signal to other towers.</a:t>
            </a:r>
            <a:endParaRPr>
              <a:solidFill>
                <a:schemeClr val="accent2"/>
              </a:solidFill>
              <a:latin typeface="Roboto"/>
              <a:ea typeface="Roboto"/>
              <a:cs typeface="Roboto"/>
              <a:sym typeface="Roboto"/>
            </a:endParaRPr>
          </a:p>
        </p:txBody>
      </p:sp>
      <p:cxnSp>
        <p:nvCxnSpPr>
          <p:cNvPr id="2150" name="Google Shape;2150;p72"/>
          <p:cNvCxnSpPr/>
          <p:nvPr/>
        </p:nvCxnSpPr>
        <p:spPr>
          <a:xfrm>
            <a:off x="891600" y="3191925"/>
            <a:ext cx="3886200" cy="0"/>
          </a:xfrm>
          <a:prstGeom prst="straightConnector1">
            <a:avLst/>
          </a:prstGeom>
          <a:noFill/>
          <a:ln cap="flat" cmpd="sng" w="19050">
            <a:solidFill>
              <a:schemeClr val="accent2"/>
            </a:solidFill>
            <a:prstDash val="solid"/>
            <a:round/>
            <a:headEnd len="med" w="med" type="triangle"/>
            <a:tailEnd len="med" w="med" type="none"/>
          </a:ln>
        </p:spPr>
      </p:cxnSp>
      <p:cxnSp>
        <p:nvCxnSpPr>
          <p:cNvPr id="2151" name="Google Shape;2151;p72"/>
          <p:cNvCxnSpPr/>
          <p:nvPr/>
        </p:nvCxnSpPr>
        <p:spPr>
          <a:xfrm>
            <a:off x="891600" y="3572925"/>
            <a:ext cx="7315200" cy="0"/>
          </a:xfrm>
          <a:prstGeom prst="straightConnector1">
            <a:avLst/>
          </a:prstGeom>
          <a:noFill/>
          <a:ln cap="flat" cmpd="sng" w="19050">
            <a:solidFill>
              <a:schemeClr val="accent2"/>
            </a:solidFill>
            <a:prstDash val="solid"/>
            <a:round/>
            <a:headEnd len="med" w="med" type="none"/>
            <a:tailEnd len="med" w="med" type="triangle"/>
          </a:ln>
        </p:spPr>
      </p:cxnSp>
      <p:sp>
        <p:nvSpPr>
          <p:cNvPr id="2152" name="Google Shape;2152;p72"/>
          <p:cNvSpPr txBox="1"/>
          <p:nvPr/>
        </p:nvSpPr>
        <p:spPr>
          <a:xfrm>
            <a:off x="5073450" y="3302025"/>
            <a:ext cx="28377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3. User is coming your way...</a:t>
            </a:r>
            <a:endParaRPr>
              <a:solidFill>
                <a:schemeClr val="accent2"/>
              </a:solidFill>
              <a:latin typeface="Roboto"/>
              <a:ea typeface="Roboto"/>
              <a:cs typeface="Roboto"/>
              <a:sym typeface="Roboto"/>
            </a:endParaRPr>
          </a:p>
        </p:txBody>
      </p:sp>
      <p:cxnSp>
        <p:nvCxnSpPr>
          <p:cNvPr id="2153" name="Google Shape;2153;p72"/>
          <p:cNvCxnSpPr/>
          <p:nvPr/>
        </p:nvCxnSpPr>
        <p:spPr>
          <a:xfrm>
            <a:off x="891600" y="3953925"/>
            <a:ext cx="7315200" cy="0"/>
          </a:xfrm>
          <a:prstGeom prst="straightConnector1">
            <a:avLst/>
          </a:prstGeom>
          <a:noFill/>
          <a:ln cap="flat" cmpd="sng" w="19050">
            <a:solidFill>
              <a:schemeClr val="accent2"/>
            </a:solidFill>
            <a:prstDash val="solid"/>
            <a:round/>
            <a:headEnd len="med" w="med" type="triangle"/>
            <a:tailEnd len="med" w="med" type="none"/>
          </a:ln>
        </p:spPr>
      </p:cxnSp>
      <p:sp>
        <p:nvSpPr>
          <p:cNvPr id="2154" name="Google Shape;2154;p72"/>
          <p:cNvSpPr txBox="1"/>
          <p:nvPr/>
        </p:nvSpPr>
        <p:spPr>
          <a:xfrm>
            <a:off x="4938462" y="3683025"/>
            <a:ext cx="31077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4. OK. Here are radio slots for the user.</a:t>
            </a:r>
            <a:endParaRPr>
              <a:solidFill>
                <a:schemeClr val="accent2"/>
              </a:solidFill>
              <a:latin typeface="Roboto"/>
              <a:ea typeface="Roboto"/>
              <a:cs typeface="Roboto"/>
              <a:sym typeface="Roboto"/>
            </a:endParaRPr>
          </a:p>
        </p:txBody>
      </p:sp>
      <p:cxnSp>
        <p:nvCxnSpPr>
          <p:cNvPr id="2155" name="Google Shape;2155;p72"/>
          <p:cNvCxnSpPr/>
          <p:nvPr/>
        </p:nvCxnSpPr>
        <p:spPr>
          <a:xfrm>
            <a:off x="891600" y="4334925"/>
            <a:ext cx="3886200" cy="0"/>
          </a:xfrm>
          <a:prstGeom prst="straightConnector1">
            <a:avLst/>
          </a:prstGeom>
          <a:noFill/>
          <a:ln cap="flat" cmpd="sng" w="19050">
            <a:solidFill>
              <a:schemeClr val="accent2"/>
            </a:solidFill>
            <a:prstDash val="solid"/>
            <a:round/>
            <a:headEnd len="med" w="med" type="none"/>
            <a:tailEnd len="med" w="med" type="triangle"/>
          </a:ln>
        </p:spPr>
      </p:cxnSp>
      <p:sp>
        <p:nvSpPr>
          <p:cNvPr id="2156" name="Google Shape;2156;p72"/>
          <p:cNvSpPr txBox="1"/>
          <p:nvPr/>
        </p:nvSpPr>
        <p:spPr>
          <a:xfrm>
            <a:off x="4938462" y="4445025"/>
            <a:ext cx="31077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7. Handover complete!</a:t>
            </a:r>
            <a:endParaRPr>
              <a:solidFill>
                <a:schemeClr val="accent2"/>
              </a:solidFill>
              <a:latin typeface="Roboto"/>
              <a:ea typeface="Roboto"/>
              <a:cs typeface="Roboto"/>
              <a:sym typeface="Roboto"/>
            </a:endParaRPr>
          </a:p>
        </p:txBody>
      </p:sp>
      <p:sp>
        <p:nvSpPr>
          <p:cNvPr id="2157" name="Google Shape;2157;p72"/>
          <p:cNvSpPr/>
          <p:nvPr/>
        </p:nvSpPr>
        <p:spPr>
          <a:xfrm>
            <a:off x="4695150" y="4553325"/>
            <a:ext cx="165300" cy="270900"/>
          </a:xfrm>
          <a:prstGeom prst="rect">
            <a:avLst/>
          </a:prstGeom>
          <a:solidFill>
            <a:srgbClr val="FFFFFF">
              <a:alpha val="75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158" name="Google Shape;2158;p72"/>
          <p:cNvCxnSpPr/>
          <p:nvPr/>
        </p:nvCxnSpPr>
        <p:spPr>
          <a:xfrm>
            <a:off x="891600" y="4715925"/>
            <a:ext cx="7315200" cy="0"/>
          </a:xfrm>
          <a:prstGeom prst="straightConnector1">
            <a:avLst/>
          </a:prstGeom>
          <a:noFill/>
          <a:ln cap="flat" cmpd="sng" w="19050">
            <a:solidFill>
              <a:schemeClr val="accent2"/>
            </a:solidFill>
            <a:prstDash val="solid"/>
            <a:round/>
            <a:headEnd len="med" w="med" type="triangle"/>
            <a:tailEnd len="med" w="med" type="none"/>
          </a:ln>
        </p:spPr>
      </p:cxnSp>
      <p:sp>
        <p:nvSpPr>
          <p:cNvPr id="2159" name="Google Shape;2159;p72"/>
          <p:cNvSpPr/>
          <p:nvPr/>
        </p:nvSpPr>
        <p:spPr>
          <a:xfrm>
            <a:off x="5804113" y="693375"/>
            <a:ext cx="960600" cy="5508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Mobility Manager</a:t>
            </a:r>
            <a:endParaRPr>
              <a:latin typeface="Roboto"/>
              <a:ea typeface="Roboto"/>
              <a:cs typeface="Roboto"/>
              <a:sym typeface="Roboto"/>
            </a:endParaRPr>
          </a:p>
        </p:txBody>
      </p:sp>
      <p:cxnSp>
        <p:nvCxnSpPr>
          <p:cNvPr id="2160" name="Google Shape;2160;p72"/>
          <p:cNvCxnSpPr>
            <a:endCxn id="2159" idx="3"/>
          </p:cNvCxnSpPr>
          <p:nvPr/>
        </p:nvCxnSpPr>
        <p:spPr>
          <a:xfrm rot="10800000">
            <a:off x="6764713" y="968775"/>
            <a:ext cx="1264500" cy="599400"/>
          </a:xfrm>
          <a:prstGeom prst="straightConnector1">
            <a:avLst/>
          </a:prstGeom>
          <a:noFill/>
          <a:ln cap="flat" cmpd="sng" w="19050">
            <a:solidFill>
              <a:schemeClr val="accent2"/>
            </a:solidFill>
            <a:prstDash val="solid"/>
            <a:round/>
            <a:headEnd len="med" w="med" type="none"/>
            <a:tailEnd len="med" w="med" type="triangle"/>
          </a:ln>
        </p:spPr>
      </p:cxnSp>
      <p:sp>
        <p:nvSpPr>
          <p:cNvPr id="2161" name="Google Shape;2161;p72"/>
          <p:cNvSpPr txBox="1"/>
          <p:nvPr/>
        </p:nvSpPr>
        <p:spPr>
          <a:xfrm>
            <a:off x="7065625" y="608425"/>
            <a:ext cx="1388700" cy="7020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accent2"/>
                </a:solidFill>
                <a:latin typeface="Roboto"/>
                <a:ea typeface="Roboto"/>
                <a:cs typeface="Roboto"/>
                <a:sym typeface="Roboto"/>
              </a:rPr>
              <a:t>6. I'm the new tower for the user.</a:t>
            </a:r>
            <a:endParaRPr>
              <a:solidFill>
                <a:schemeClr val="accent2"/>
              </a:solidFill>
              <a:latin typeface="Roboto"/>
              <a:ea typeface="Roboto"/>
              <a:cs typeface="Roboto"/>
              <a:sym typeface="Roboto"/>
            </a:endParaRPr>
          </a:p>
        </p:txBody>
      </p:sp>
      <p:sp>
        <p:nvSpPr>
          <p:cNvPr id="2162" name="Google Shape;2162;p72"/>
          <p:cNvSpPr txBox="1"/>
          <p:nvPr/>
        </p:nvSpPr>
        <p:spPr>
          <a:xfrm>
            <a:off x="1984350" y="725625"/>
            <a:ext cx="3819900" cy="486300"/>
          </a:xfrm>
          <a:prstGeom prst="rect">
            <a:avLst/>
          </a:prstGeom>
          <a:noFill/>
          <a:ln>
            <a:noFill/>
          </a:ln>
        </p:spPr>
        <p:txBody>
          <a:bodyPr anchorCtr="0" anchor="t" bIns="27425" lIns="27425" spcFirstLastPara="1" rIns="27425" wrap="square" tIns="27425">
            <a:spAutoFit/>
          </a:bodyPr>
          <a:lstStyle/>
          <a:p>
            <a:pPr indent="0" lvl="0" marL="0" rtl="0" algn="r">
              <a:spcBef>
                <a:spcPts val="0"/>
              </a:spcBef>
              <a:spcAft>
                <a:spcPts val="0"/>
              </a:spcAft>
              <a:buNone/>
            </a:pPr>
            <a:r>
              <a:rPr lang="en">
                <a:solidFill>
                  <a:schemeClr val="accent2"/>
                </a:solidFill>
                <a:latin typeface="Roboto"/>
                <a:ea typeface="Roboto"/>
                <a:cs typeface="Roboto"/>
                <a:sym typeface="Roboto"/>
              </a:rPr>
              <a:t>Update user location in database.</a:t>
            </a:r>
            <a:br>
              <a:rPr lang="en">
                <a:solidFill>
                  <a:schemeClr val="accent2"/>
                </a:solidFill>
                <a:latin typeface="Roboto"/>
                <a:ea typeface="Roboto"/>
                <a:cs typeface="Roboto"/>
                <a:sym typeface="Roboto"/>
              </a:rPr>
            </a:br>
            <a:r>
              <a:rPr lang="en">
                <a:solidFill>
                  <a:schemeClr val="accent2"/>
                </a:solidFill>
                <a:latin typeface="Roboto"/>
                <a:ea typeface="Roboto"/>
                <a:cs typeface="Roboto"/>
                <a:sym typeface="Roboto"/>
              </a:rPr>
              <a:t>Configure new path between user and Internet.</a:t>
            </a:r>
            <a:endParaRPr>
              <a:solidFill>
                <a:schemeClr val="accent2"/>
              </a:solidFill>
              <a:latin typeface="Roboto"/>
              <a:ea typeface="Roboto"/>
              <a:cs typeface="Roboto"/>
              <a:sym typeface="Roboto"/>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6" name="Shape 2166"/>
        <p:cNvGrpSpPr/>
        <p:nvPr/>
      </p:nvGrpSpPr>
      <p:grpSpPr>
        <a:xfrm>
          <a:off x="0" y="0"/>
          <a:ext cx="0" cy="0"/>
          <a:chOff x="0" y="0"/>
          <a:chExt cx="0" cy="0"/>
        </a:xfrm>
      </p:grpSpPr>
      <p:sp>
        <p:nvSpPr>
          <p:cNvPr id="2167" name="Google Shape;2167;p73"/>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Step 4: Handover</a:t>
            </a:r>
            <a:endParaRPr/>
          </a:p>
        </p:txBody>
      </p:sp>
      <p:sp>
        <p:nvSpPr>
          <p:cNvPr id="2168" name="Google Shape;2168;p73"/>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Handover is </a:t>
            </a:r>
            <a:r>
              <a:rPr lang="en"/>
              <a:t>complicated</a:t>
            </a:r>
            <a:r>
              <a:rPr lang="en"/>
              <a:t>.</a:t>
            </a:r>
            <a:endParaRPr/>
          </a:p>
          <a:p>
            <a:pPr indent="-342900" lvl="0" marL="457200" rtl="0" algn="l">
              <a:spcBef>
                <a:spcPts val="600"/>
              </a:spcBef>
              <a:spcAft>
                <a:spcPts val="0"/>
              </a:spcAft>
              <a:buSzPts val="1800"/>
              <a:buChar char="●"/>
            </a:pPr>
            <a:r>
              <a:rPr lang="en"/>
              <a:t>Cooperative process between user, towers, manager, and gateways.</a:t>
            </a:r>
            <a:endParaRPr/>
          </a:p>
          <a:p>
            <a:pPr indent="-342900" lvl="0" marL="457200" rtl="0" algn="l">
              <a:spcBef>
                <a:spcPts val="0"/>
              </a:spcBef>
              <a:spcAft>
                <a:spcPts val="0"/>
              </a:spcAft>
              <a:buSzPts val="1800"/>
              <a:buChar char="●"/>
            </a:pPr>
            <a:r>
              <a:rPr lang="en"/>
              <a:t>More involved when we have to change the radio or packet gateways being used.</a:t>
            </a:r>
            <a:endParaRPr/>
          </a:p>
          <a:p>
            <a:pPr indent="0" lvl="0" marL="0" rtl="0" algn="l">
              <a:spcBef>
                <a:spcPts val="600"/>
              </a:spcBef>
              <a:spcAft>
                <a:spcPts val="0"/>
              </a:spcAft>
              <a:buNone/>
            </a:pPr>
            <a:r>
              <a:rPr lang="en"/>
              <a:t>Handover must be </a:t>
            </a:r>
            <a:r>
              <a:rPr lang="en"/>
              <a:t>seamless</a:t>
            </a:r>
            <a:r>
              <a:rPr lang="en"/>
              <a:t>.</a:t>
            </a:r>
            <a:endParaRPr/>
          </a:p>
          <a:p>
            <a:pPr indent="-342900" lvl="0" marL="457200" rtl="0" algn="l">
              <a:spcBef>
                <a:spcPts val="600"/>
              </a:spcBef>
              <a:spcAft>
                <a:spcPts val="0"/>
              </a:spcAft>
              <a:buSzPts val="1800"/>
              <a:buChar char="●"/>
            </a:pPr>
            <a:r>
              <a:rPr lang="en"/>
              <a:t>User's IP address cannot change.</a:t>
            </a:r>
            <a:endParaRPr/>
          </a:p>
          <a:p>
            <a:pPr indent="-342900" lvl="0" marL="457200" rtl="0" algn="l">
              <a:spcBef>
                <a:spcPts val="0"/>
              </a:spcBef>
              <a:spcAft>
                <a:spcPts val="0"/>
              </a:spcAft>
              <a:buSzPts val="1800"/>
              <a:buChar char="●"/>
            </a:pPr>
            <a:r>
              <a:rPr lang="en"/>
              <a:t>User is still sending/receiving data during </a:t>
            </a:r>
            <a:r>
              <a:rPr lang="en"/>
              <a:t>handover</a:t>
            </a:r>
            <a:r>
              <a:rPr lang="en"/>
              <a:t>.</a:t>
            </a:r>
            <a:endParaRPr/>
          </a:p>
          <a:p>
            <a:pPr indent="-342900" lvl="0" marL="457200" rtl="0" algn="l">
              <a:spcBef>
                <a:spcPts val="0"/>
              </a:spcBef>
              <a:spcAft>
                <a:spcPts val="0"/>
              </a:spcAft>
              <a:buSzPts val="1800"/>
              <a:buChar char="●"/>
            </a:pPr>
            <a:r>
              <a:rPr lang="en"/>
              <a:t>Old tower can buffer data it receives during handover.</a:t>
            </a:r>
            <a:endParaRPr/>
          </a:p>
          <a:p>
            <a:pPr indent="-342900" lvl="0" marL="457200" rtl="0" algn="l">
              <a:spcBef>
                <a:spcPts val="0"/>
              </a:spcBef>
              <a:spcAft>
                <a:spcPts val="0"/>
              </a:spcAft>
              <a:buSzPts val="1800"/>
              <a:buChar char="●"/>
            </a:pPr>
            <a:r>
              <a:rPr lang="en"/>
              <a:t>After handover, old tower transfers buffer to new tower.</a:t>
            </a:r>
            <a:endParaRPr/>
          </a:p>
          <a:p>
            <a:pPr indent="0" lvl="0" marL="0" rtl="0" algn="l">
              <a:spcBef>
                <a:spcPts val="600"/>
              </a:spcBef>
              <a:spcAft>
                <a:spcPts val="0"/>
              </a:spcAft>
              <a:buNone/>
            </a:pPr>
            <a:r>
              <a:rPr lang="en"/>
              <a:t>Decisions are </a:t>
            </a:r>
            <a:r>
              <a:rPr lang="en"/>
              <a:t>made by the operator</a:t>
            </a:r>
            <a:r>
              <a:rPr lang="en"/>
              <a:t>.</a:t>
            </a:r>
            <a:endParaRPr/>
          </a:p>
          <a:p>
            <a:pPr indent="-342900" lvl="0" marL="457200" rtl="0" algn="l">
              <a:spcBef>
                <a:spcPts val="600"/>
              </a:spcBef>
              <a:spcAft>
                <a:spcPts val="0"/>
              </a:spcAft>
              <a:buSzPts val="1800"/>
              <a:buChar char="●"/>
            </a:pPr>
            <a:r>
              <a:rPr lang="en"/>
              <a:t>Device reports signal strength, but old tower chooses the new tower.</a:t>
            </a:r>
            <a:endParaRPr/>
          </a:p>
          <a:p>
            <a:pPr indent="-342900" lvl="0" marL="457200" rtl="0" algn="l">
              <a:spcBef>
                <a:spcPts val="0"/>
              </a:spcBef>
              <a:spcAft>
                <a:spcPts val="0"/>
              </a:spcAft>
              <a:buSzPts val="1800"/>
              <a:buChar char="●"/>
            </a:pPr>
            <a:r>
              <a:rPr lang="en"/>
              <a:t>Benefit: Operator has more control, e.g. for load-balancing.</a:t>
            </a:r>
            <a:endParaRPr/>
          </a:p>
          <a:p>
            <a:pPr indent="-342900" lvl="0" marL="457200" rtl="0" algn="l">
              <a:spcBef>
                <a:spcPts val="0"/>
              </a:spcBef>
              <a:spcAft>
                <a:spcPts val="0"/>
              </a:spcAft>
              <a:buSzPts val="1800"/>
              <a:buChar char="●"/>
            </a:pPr>
            <a:r>
              <a:rPr lang="en"/>
              <a:t>Drawback: Slower, requires extra round-trips.</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2" name="Shape 2172"/>
        <p:cNvGrpSpPr/>
        <p:nvPr/>
      </p:nvGrpSpPr>
      <p:grpSpPr>
        <a:xfrm>
          <a:off x="0" y="0"/>
          <a:ext cx="0" cy="0"/>
          <a:chOff x="0" y="0"/>
          <a:chExt cx="0" cy="0"/>
        </a:xfrm>
      </p:grpSpPr>
      <p:sp>
        <p:nvSpPr>
          <p:cNvPr id="2173" name="Google Shape;2173;p74"/>
          <p:cNvSpPr txBox="1"/>
          <p:nvPr>
            <p:ph idx="1" type="body"/>
          </p:nvPr>
        </p:nvSpPr>
        <p:spPr>
          <a:xfrm>
            <a:off x="4812375" y="402200"/>
            <a:ext cx="4038000" cy="42609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solidFill>
                  <a:srgbClr val="B7B7B7"/>
                </a:solidFill>
              </a:rPr>
              <a:t>Why is Cellular Different?</a:t>
            </a:r>
            <a:endParaRPr>
              <a:solidFill>
                <a:srgbClr val="B7B7B7"/>
              </a:solidFill>
            </a:endParaRPr>
          </a:p>
          <a:p>
            <a:pPr indent="-342900" lvl="0" marL="457200" rtl="0" algn="l">
              <a:spcBef>
                <a:spcPts val="600"/>
              </a:spcBef>
              <a:spcAft>
                <a:spcPts val="0"/>
              </a:spcAft>
              <a:buClr>
                <a:srgbClr val="B7B7B7"/>
              </a:buClr>
              <a:buSzPts val="1800"/>
              <a:buChar char="•"/>
            </a:pPr>
            <a:r>
              <a:rPr lang="en">
                <a:solidFill>
                  <a:srgbClr val="B7B7B7"/>
                </a:solidFill>
              </a:rPr>
              <a:t>Brief History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Standards</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Challenge: Mobility</a:t>
            </a:r>
            <a:endParaRPr>
              <a:solidFill>
                <a:srgbClr val="B7B7B7"/>
              </a:solidFill>
            </a:endParaRPr>
          </a:p>
          <a:p>
            <a:pPr indent="0" lvl="0" marL="0" rtl="0" algn="l">
              <a:spcBef>
                <a:spcPts val="600"/>
              </a:spcBef>
              <a:spcAft>
                <a:spcPts val="0"/>
              </a:spcAft>
              <a:buNone/>
            </a:pPr>
            <a:r>
              <a:rPr b="1" lang="en">
                <a:solidFill>
                  <a:schemeClr val="accent3"/>
                </a:solidFill>
                <a:latin typeface="Roboto"/>
                <a:ea typeface="Roboto"/>
                <a:cs typeface="Roboto"/>
                <a:sym typeface="Roboto"/>
              </a:rPr>
              <a:t>Cellular Networks</a:t>
            </a:r>
            <a:endParaRPr b="1">
              <a:solidFill>
                <a:schemeClr val="accent3"/>
              </a:solidFill>
              <a:latin typeface="Roboto"/>
              <a:ea typeface="Roboto"/>
              <a:cs typeface="Roboto"/>
              <a:sym typeface="Roboto"/>
            </a:endParaRPr>
          </a:p>
          <a:p>
            <a:pPr indent="-342900" lvl="0" marL="457200" rtl="0" algn="l">
              <a:spcBef>
                <a:spcPts val="600"/>
              </a:spcBef>
              <a:spcAft>
                <a:spcPts val="0"/>
              </a:spcAft>
              <a:buClr>
                <a:srgbClr val="B7B7B7"/>
              </a:buClr>
              <a:buSzPts val="1800"/>
              <a:buChar char="•"/>
            </a:pPr>
            <a:r>
              <a:rPr lang="en">
                <a:solidFill>
                  <a:srgbClr val="B7B7B7"/>
                </a:solidFill>
              </a:rPr>
              <a:t>Infrastructure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High-Level View</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0: Registration</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1: Discovery</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2: Attachment</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3: Data Exchange</a:t>
            </a:r>
            <a:endParaRPr>
              <a:solidFill>
                <a:srgbClr val="B7B7B7"/>
              </a:solidFill>
            </a:endParaRPr>
          </a:p>
          <a:p>
            <a:pPr indent="-342900" lvl="0" marL="457200" rtl="0" algn="l">
              <a:spcBef>
                <a:spcPts val="0"/>
              </a:spcBef>
              <a:spcAft>
                <a:spcPts val="0"/>
              </a:spcAft>
              <a:buClr>
                <a:srgbClr val="B7B7B7"/>
              </a:buClr>
              <a:buSzPts val="1800"/>
              <a:buChar char="•"/>
            </a:pPr>
            <a:r>
              <a:rPr lang="en">
                <a:solidFill>
                  <a:srgbClr val="B7B7B7"/>
                </a:solidFill>
              </a:rPr>
              <a:t>Step 4: Handover</a:t>
            </a:r>
            <a:endParaRPr>
              <a:solidFill>
                <a:srgbClr val="B7B7B7"/>
              </a:solidFill>
            </a:endParaRPr>
          </a:p>
          <a:p>
            <a:pPr indent="-342900" lvl="0" marL="457200" rtl="0" algn="l">
              <a:spcBef>
                <a:spcPts val="0"/>
              </a:spcBef>
              <a:spcAft>
                <a:spcPts val="0"/>
              </a:spcAft>
              <a:buClr>
                <a:schemeClr val="accent3"/>
              </a:buClr>
              <a:buSzPts val="1800"/>
              <a:buFont typeface="Roboto"/>
              <a:buChar char="•"/>
            </a:pPr>
            <a:r>
              <a:rPr b="1" lang="en">
                <a:solidFill>
                  <a:schemeClr val="accent3"/>
                </a:solidFill>
                <a:latin typeface="Roboto"/>
                <a:ea typeface="Roboto"/>
                <a:cs typeface="Roboto"/>
                <a:sym typeface="Roboto"/>
              </a:rPr>
              <a:t>Roaming and Other Features</a:t>
            </a:r>
            <a:endParaRPr b="1">
              <a:solidFill>
                <a:schemeClr val="accent3"/>
              </a:solidFill>
              <a:latin typeface="Roboto"/>
              <a:ea typeface="Roboto"/>
              <a:cs typeface="Roboto"/>
              <a:sym typeface="Roboto"/>
            </a:endParaRPr>
          </a:p>
        </p:txBody>
      </p:sp>
      <p:sp>
        <p:nvSpPr>
          <p:cNvPr id="2174" name="Google Shape;2174;p74"/>
          <p:cNvSpPr txBox="1"/>
          <p:nvPr>
            <p:ph type="title"/>
          </p:nvPr>
        </p:nvSpPr>
        <p:spPr>
          <a:xfrm>
            <a:off x="177925" y="2003300"/>
            <a:ext cx="4038000" cy="2037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Roaming and Other Features</a:t>
            </a:r>
            <a:endParaRPr/>
          </a:p>
        </p:txBody>
      </p:sp>
      <p:sp>
        <p:nvSpPr>
          <p:cNvPr id="2175" name="Google Shape;2175;p74"/>
          <p:cNvSpPr txBox="1"/>
          <p:nvPr>
            <p:ph idx="2" type="subTitle"/>
          </p:nvPr>
        </p:nvSpPr>
        <p:spPr>
          <a:xfrm>
            <a:off x="177925" y="4068000"/>
            <a:ext cx="4158000" cy="393600"/>
          </a:xfrm>
          <a:prstGeom prst="rect">
            <a:avLst/>
          </a:prstGeom>
        </p:spPr>
        <p:txBody>
          <a:bodyPr anchorCtr="0" anchor="ctr" bIns="91425" lIns="91425" spcFirstLastPara="1" rIns="91425" wrap="square" tIns="91425">
            <a:noAutofit/>
          </a:bodyPr>
          <a:lstStyle/>
          <a:p>
            <a:pPr indent="0" lvl="0" marL="0" rtl="0" algn="l">
              <a:spcBef>
                <a:spcPts val="600"/>
              </a:spcBef>
              <a:spcAft>
                <a:spcPts val="0"/>
              </a:spcAft>
              <a:buNone/>
            </a:pPr>
            <a:r>
              <a:rPr lang="en"/>
              <a:t>Lecture 25</a:t>
            </a:r>
            <a:r>
              <a:rPr lang="en"/>
              <a:t>, CS 168, </a:t>
            </a:r>
            <a:r>
              <a:rPr lang="en"/>
              <a:t>Spring 2026</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9" name="Shape 2179"/>
        <p:cNvGrpSpPr/>
        <p:nvPr/>
      </p:nvGrpSpPr>
      <p:grpSpPr>
        <a:xfrm>
          <a:off x="0" y="0"/>
          <a:ext cx="0" cy="0"/>
          <a:chOff x="0" y="0"/>
          <a:chExt cx="0" cy="0"/>
        </a:xfrm>
      </p:grpSpPr>
      <p:sp>
        <p:nvSpPr>
          <p:cNvPr id="2180" name="Google Shape;2180;p75"/>
          <p:cNvSpPr/>
          <p:nvPr/>
        </p:nvSpPr>
        <p:spPr>
          <a:xfrm>
            <a:off x="5188250" y="2677500"/>
            <a:ext cx="3355200" cy="2364300"/>
          </a:xfrm>
          <a:prstGeom prst="ellipse">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181" name="Google Shape;2181;p75"/>
          <p:cNvSpPr/>
          <p:nvPr/>
        </p:nvSpPr>
        <p:spPr>
          <a:xfrm>
            <a:off x="510275" y="1948700"/>
            <a:ext cx="3355200" cy="2364300"/>
          </a:xfrm>
          <a:prstGeom prst="ellipse">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182" name="Google Shape;2182;p75"/>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Roaming</a:t>
            </a:r>
            <a:endParaRPr/>
          </a:p>
        </p:txBody>
      </p:sp>
      <p:sp>
        <p:nvSpPr>
          <p:cNvPr id="2183" name="Google Shape;2183;p75"/>
          <p:cNvSpPr txBox="1"/>
          <p:nvPr>
            <p:ph idx="1" type="body"/>
          </p:nvPr>
        </p:nvSpPr>
        <p:spPr>
          <a:xfrm>
            <a:off x="107050" y="402200"/>
            <a:ext cx="8909700" cy="1546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Visitor and home networks must establish a roaming agreement.</a:t>
            </a:r>
            <a:endParaRPr/>
          </a:p>
          <a:p>
            <a:pPr indent="-342900" lvl="0" marL="457200" rtl="0" algn="l">
              <a:spcBef>
                <a:spcPts val="600"/>
              </a:spcBef>
              <a:spcAft>
                <a:spcPts val="0"/>
              </a:spcAft>
              <a:buSzPts val="1800"/>
              <a:buChar char="●"/>
            </a:pPr>
            <a:r>
              <a:rPr lang="en"/>
              <a:t>Visited network uses device's network code (in IMSI) to learn the home network.</a:t>
            </a:r>
            <a:endParaRPr/>
          </a:p>
          <a:p>
            <a:pPr indent="-342900" lvl="0" marL="457200" rtl="0" algn="l">
              <a:spcBef>
                <a:spcPts val="0"/>
              </a:spcBef>
              <a:spcAft>
                <a:spcPts val="0"/>
              </a:spcAft>
              <a:buSzPts val="1800"/>
              <a:buChar char="●"/>
            </a:pPr>
            <a:r>
              <a:rPr lang="en"/>
              <a:t>Need home network's help to authenticate user.</a:t>
            </a:r>
            <a:endParaRPr/>
          </a:p>
          <a:p>
            <a:pPr indent="-342900" lvl="0" marL="457200" rtl="0" algn="l">
              <a:spcBef>
                <a:spcPts val="0"/>
              </a:spcBef>
              <a:spcAft>
                <a:spcPts val="0"/>
              </a:spcAft>
              <a:buSzPts val="1800"/>
              <a:buChar char="●"/>
            </a:pPr>
            <a:r>
              <a:rPr lang="en"/>
              <a:t>Need to update home network's database with user's location.</a:t>
            </a:r>
            <a:endParaRPr/>
          </a:p>
        </p:txBody>
      </p:sp>
      <p:sp>
        <p:nvSpPr>
          <p:cNvPr id="2184" name="Google Shape;2184;p75"/>
          <p:cNvSpPr/>
          <p:nvPr/>
        </p:nvSpPr>
        <p:spPr>
          <a:xfrm>
            <a:off x="1060114" y="2213263"/>
            <a:ext cx="780600" cy="676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2185" name="Google Shape;2185;p75"/>
          <p:cNvGrpSpPr/>
          <p:nvPr/>
        </p:nvGrpSpPr>
        <p:grpSpPr>
          <a:xfrm>
            <a:off x="1360922" y="2373180"/>
            <a:ext cx="178979" cy="356361"/>
            <a:chOff x="7897625" y="3319150"/>
            <a:chExt cx="645900" cy="1285575"/>
          </a:xfrm>
        </p:grpSpPr>
        <p:sp>
          <p:nvSpPr>
            <p:cNvPr id="2186" name="Google Shape;2186;p75"/>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187" name="Google Shape;2187;p75"/>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188" name="Google Shape;2188;p75"/>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189" name="Google Shape;2189;p75"/>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190" name="Google Shape;2190;p75"/>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191" name="Google Shape;2191;p75"/>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192" name="Google Shape;2192;p75"/>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193" name="Google Shape;2193;p75"/>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2194" name="Google Shape;2194;p75"/>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2195" name="Google Shape;2195;p75"/>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196" name="Google Shape;2196;p75"/>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197" name="Google Shape;2197;p75"/>
            <p:cNvSpPr/>
            <p:nvPr/>
          </p:nvSpPr>
          <p:spPr>
            <a:xfrm>
              <a:off x="8198675" y="3551600"/>
              <a:ext cx="43800" cy="43800"/>
            </a:xfrm>
            <a:prstGeom prst="ellipse">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2198" name="Google Shape;2198;p75"/>
          <p:cNvSpPr/>
          <p:nvPr/>
        </p:nvSpPr>
        <p:spPr>
          <a:xfrm>
            <a:off x="1060102" y="2889463"/>
            <a:ext cx="780600" cy="676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2199" name="Google Shape;2199;p75"/>
          <p:cNvGrpSpPr/>
          <p:nvPr/>
        </p:nvGrpSpPr>
        <p:grpSpPr>
          <a:xfrm>
            <a:off x="1360910" y="3049380"/>
            <a:ext cx="178979" cy="356361"/>
            <a:chOff x="7897625" y="3319150"/>
            <a:chExt cx="645900" cy="1285575"/>
          </a:xfrm>
        </p:grpSpPr>
        <p:sp>
          <p:nvSpPr>
            <p:cNvPr id="2200" name="Google Shape;2200;p75"/>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201" name="Google Shape;2201;p75"/>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202" name="Google Shape;2202;p75"/>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203" name="Google Shape;2203;p75"/>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204" name="Google Shape;2204;p75"/>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205" name="Google Shape;2205;p75"/>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206" name="Google Shape;2206;p75"/>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207" name="Google Shape;2207;p75"/>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2208" name="Google Shape;2208;p75"/>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2209" name="Google Shape;2209;p75"/>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210" name="Google Shape;2210;p75"/>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211" name="Google Shape;2211;p75"/>
            <p:cNvSpPr/>
            <p:nvPr/>
          </p:nvSpPr>
          <p:spPr>
            <a:xfrm>
              <a:off x="8198675" y="3551600"/>
              <a:ext cx="43800" cy="43800"/>
            </a:xfrm>
            <a:prstGeom prst="ellipse">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2212" name="Google Shape;2212;p75"/>
          <p:cNvSpPr/>
          <p:nvPr/>
        </p:nvSpPr>
        <p:spPr>
          <a:xfrm>
            <a:off x="2136275" y="240887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R1</a:t>
            </a:r>
            <a:endParaRPr>
              <a:solidFill>
                <a:srgbClr val="B7B7B7"/>
              </a:solidFill>
              <a:latin typeface="Roboto"/>
              <a:ea typeface="Roboto"/>
              <a:cs typeface="Roboto"/>
              <a:sym typeface="Roboto"/>
            </a:endParaRPr>
          </a:p>
        </p:txBody>
      </p:sp>
      <p:sp>
        <p:nvSpPr>
          <p:cNvPr id="2213" name="Google Shape;2213;p75"/>
          <p:cNvSpPr/>
          <p:nvPr/>
        </p:nvSpPr>
        <p:spPr>
          <a:xfrm>
            <a:off x="2136275" y="308872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R2</a:t>
            </a:r>
            <a:endParaRPr>
              <a:solidFill>
                <a:srgbClr val="B7B7B7"/>
              </a:solidFill>
              <a:latin typeface="Roboto"/>
              <a:ea typeface="Roboto"/>
              <a:cs typeface="Roboto"/>
              <a:sym typeface="Roboto"/>
            </a:endParaRPr>
          </a:p>
        </p:txBody>
      </p:sp>
      <p:sp>
        <p:nvSpPr>
          <p:cNvPr id="2214" name="Google Shape;2214;p75"/>
          <p:cNvSpPr/>
          <p:nvPr/>
        </p:nvSpPr>
        <p:spPr>
          <a:xfrm>
            <a:off x="3580475" y="304937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P1</a:t>
            </a:r>
            <a:endParaRPr>
              <a:solidFill>
                <a:srgbClr val="B7B7B7"/>
              </a:solidFill>
              <a:latin typeface="Roboto"/>
              <a:ea typeface="Roboto"/>
              <a:cs typeface="Roboto"/>
              <a:sym typeface="Roboto"/>
            </a:endParaRPr>
          </a:p>
        </p:txBody>
      </p:sp>
      <p:cxnSp>
        <p:nvCxnSpPr>
          <p:cNvPr id="2215" name="Google Shape;2215;p75"/>
          <p:cNvCxnSpPr>
            <a:stCxn id="2212" idx="1"/>
          </p:cNvCxnSpPr>
          <p:nvPr/>
        </p:nvCxnSpPr>
        <p:spPr>
          <a:xfrm rot="10800000">
            <a:off x="1617275" y="2551375"/>
            <a:ext cx="519000" cy="0"/>
          </a:xfrm>
          <a:prstGeom prst="straightConnector1">
            <a:avLst/>
          </a:prstGeom>
          <a:noFill/>
          <a:ln cap="flat" cmpd="sng" w="9525">
            <a:solidFill>
              <a:srgbClr val="B7B7B7"/>
            </a:solidFill>
            <a:prstDash val="solid"/>
            <a:round/>
            <a:headEnd len="med" w="med" type="none"/>
            <a:tailEnd len="med" w="med" type="none"/>
          </a:ln>
        </p:spPr>
      </p:cxnSp>
      <p:cxnSp>
        <p:nvCxnSpPr>
          <p:cNvPr id="2216" name="Google Shape;2216;p75"/>
          <p:cNvCxnSpPr/>
          <p:nvPr/>
        </p:nvCxnSpPr>
        <p:spPr>
          <a:xfrm rot="10800000">
            <a:off x="1617275" y="3231225"/>
            <a:ext cx="519000" cy="0"/>
          </a:xfrm>
          <a:prstGeom prst="straightConnector1">
            <a:avLst/>
          </a:prstGeom>
          <a:noFill/>
          <a:ln cap="flat" cmpd="sng" w="9525">
            <a:solidFill>
              <a:srgbClr val="B7B7B7"/>
            </a:solidFill>
            <a:prstDash val="solid"/>
            <a:round/>
            <a:headEnd len="med" w="med" type="none"/>
            <a:tailEnd len="med" w="med" type="none"/>
          </a:ln>
        </p:spPr>
      </p:cxnSp>
      <p:cxnSp>
        <p:nvCxnSpPr>
          <p:cNvPr id="2217" name="Google Shape;2217;p75"/>
          <p:cNvCxnSpPr>
            <a:stCxn id="2212" idx="3"/>
            <a:endCxn id="2214" idx="1"/>
          </p:cNvCxnSpPr>
          <p:nvPr/>
        </p:nvCxnSpPr>
        <p:spPr>
          <a:xfrm>
            <a:off x="2421275" y="2551375"/>
            <a:ext cx="1159200" cy="640500"/>
          </a:xfrm>
          <a:prstGeom prst="straightConnector1">
            <a:avLst/>
          </a:prstGeom>
          <a:noFill/>
          <a:ln cap="flat" cmpd="sng" w="9525">
            <a:solidFill>
              <a:srgbClr val="B7B7B7"/>
            </a:solidFill>
            <a:prstDash val="solid"/>
            <a:round/>
            <a:headEnd len="med" w="med" type="none"/>
            <a:tailEnd len="med" w="med" type="none"/>
          </a:ln>
        </p:spPr>
      </p:cxnSp>
      <p:cxnSp>
        <p:nvCxnSpPr>
          <p:cNvPr id="2218" name="Google Shape;2218;p75"/>
          <p:cNvCxnSpPr>
            <a:stCxn id="2213" idx="3"/>
            <a:endCxn id="2214" idx="1"/>
          </p:cNvCxnSpPr>
          <p:nvPr/>
        </p:nvCxnSpPr>
        <p:spPr>
          <a:xfrm flipH="1" rot="10800000">
            <a:off x="2421275" y="3191925"/>
            <a:ext cx="1159200" cy="39300"/>
          </a:xfrm>
          <a:prstGeom prst="straightConnector1">
            <a:avLst/>
          </a:prstGeom>
          <a:noFill/>
          <a:ln cap="flat" cmpd="sng" w="9525">
            <a:solidFill>
              <a:srgbClr val="B7B7B7"/>
            </a:solidFill>
            <a:prstDash val="solid"/>
            <a:round/>
            <a:headEnd len="med" w="med" type="none"/>
            <a:tailEnd len="med" w="med" type="none"/>
          </a:ln>
        </p:spPr>
      </p:cxnSp>
      <p:sp>
        <p:nvSpPr>
          <p:cNvPr id="2219" name="Google Shape;2219;p75"/>
          <p:cNvSpPr/>
          <p:nvPr/>
        </p:nvSpPr>
        <p:spPr>
          <a:xfrm>
            <a:off x="1320000" y="3681488"/>
            <a:ext cx="448200" cy="3564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DB</a:t>
            </a:r>
            <a:endParaRPr sz="1200">
              <a:latin typeface="Roboto"/>
              <a:ea typeface="Roboto"/>
              <a:cs typeface="Roboto"/>
              <a:sym typeface="Roboto"/>
            </a:endParaRPr>
          </a:p>
        </p:txBody>
      </p:sp>
      <p:cxnSp>
        <p:nvCxnSpPr>
          <p:cNvPr id="2220" name="Google Shape;2220;p75"/>
          <p:cNvCxnSpPr>
            <a:stCxn id="2219" idx="4"/>
            <a:endCxn id="2221" idx="1"/>
          </p:cNvCxnSpPr>
          <p:nvPr/>
        </p:nvCxnSpPr>
        <p:spPr>
          <a:xfrm>
            <a:off x="1768200" y="3859688"/>
            <a:ext cx="430800" cy="0"/>
          </a:xfrm>
          <a:prstGeom prst="straightConnector1">
            <a:avLst/>
          </a:prstGeom>
          <a:noFill/>
          <a:ln cap="flat" cmpd="sng" w="28575">
            <a:solidFill>
              <a:schemeClr val="accent2"/>
            </a:solidFill>
            <a:prstDash val="solid"/>
            <a:round/>
            <a:headEnd len="med" w="med" type="none"/>
            <a:tailEnd len="med" w="med" type="none"/>
          </a:ln>
        </p:spPr>
      </p:cxnSp>
      <p:sp>
        <p:nvSpPr>
          <p:cNvPr id="2221" name="Google Shape;2221;p75"/>
          <p:cNvSpPr/>
          <p:nvPr/>
        </p:nvSpPr>
        <p:spPr>
          <a:xfrm>
            <a:off x="2199125" y="3691040"/>
            <a:ext cx="960600" cy="3372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Manager</a:t>
            </a:r>
            <a:endParaRPr sz="1200">
              <a:latin typeface="Roboto"/>
              <a:ea typeface="Roboto"/>
              <a:cs typeface="Roboto"/>
              <a:sym typeface="Roboto"/>
            </a:endParaRPr>
          </a:p>
        </p:txBody>
      </p:sp>
      <p:sp>
        <p:nvSpPr>
          <p:cNvPr id="2222" name="Google Shape;2222;p75"/>
          <p:cNvSpPr txBox="1"/>
          <p:nvPr/>
        </p:nvSpPr>
        <p:spPr>
          <a:xfrm>
            <a:off x="1410525" y="4345575"/>
            <a:ext cx="13218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Home network</a:t>
            </a:r>
            <a:endParaRPr>
              <a:solidFill>
                <a:schemeClr val="dk1"/>
              </a:solidFill>
              <a:latin typeface="Roboto"/>
              <a:ea typeface="Roboto"/>
              <a:cs typeface="Roboto"/>
              <a:sym typeface="Roboto"/>
            </a:endParaRPr>
          </a:p>
        </p:txBody>
      </p:sp>
      <p:sp>
        <p:nvSpPr>
          <p:cNvPr id="2223" name="Google Shape;2223;p75"/>
          <p:cNvSpPr/>
          <p:nvPr/>
        </p:nvSpPr>
        <p:spPr>
          <a:xfrm>
            <a:off x="7113932" y="2963923"/>
            <a:ext cx="780600" cy="676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2224" name="Google Shape;2224;p75"/>
          <p:cNvGrpSpPr/>
          <p:nvPr/>
        </p:nvGrpSpPr>
        <p:grpSpPr>
          <a:xfrm>
            <a:off x="7414740" y="3123841"/>
            <a:ext cx="178979" cy="356361"/>
            <a:chOff x="7897625" y="3319150"/>
            <a:chExt cx="645900" cy="1285575"/>
          </a:xfrm>
        </p:grpSpPr>
        <p:sp>
          <p:nvSpPr>
            <p:cNvPr id="2225" name="Google Shape;2225;p75"/>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226" name="Google Shape;2226;p75"/>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227" name="Google Shape;2227;p75"/>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228" name="Google Shape;2228;p75"/>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229" name="Google Shape;2229;p75"/>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230" name="Google Shape;2230;p75"/>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231" name="Google Shape;2231;p75"/>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232" name="Google Shape;2232;p75"/>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2233" name="Google Shape;2233;p75"/>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2234" name="Google Shape;2234;p75"/>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235" name="Google Shape;2235;p75"/>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236" name="Google Shape;2236;p75"/>
            <p:cNvSpPr/>
            <p:nvPr/>
          </p:nvSpPr>
          <p:spPr>
            <a:xfrm>
              <a:off x="8198675" y="3551600"/>
              <a:ext cx="43800" cy="43800"/>
            </a:xfrm>
            <a:prstGeom prst="ellipse">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2237" name="Google Shape;2237;p75"/>
          <p:cNvSpPr/>
          <p:nvPr/>
        </p:nvSpPr>
        <p:spPr>
          <a:xfrm>
            <a:off x="7113920" y="3640123"/>
            <a:ext cx="780600" cy="676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2238" name="Google Shape;2238;p75"/>
          <p:cNvGrpSpPr/>
          <p:nvPr/>
        </p:nvGrpSpPr>
        <p:grpSpPr>
          <a:xfrm>
            <a:off x="7414728" y="3800041"/>
            <a:ext cx="178979" cy="356361"/>
            <a:chOff x="7897625" y="3319150"/>
            <a:chExt cx="645900" cy="1285575"/>
          </a:xfrm>
        </p:grpSpPr>
        <p:sp>
          <p:nvSpPr>
            <p:cNvPr id="2239" name="Google Shape;2239;p75"/>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240" name="Google Shape;2240;p75"/>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2241" name="Google Shape;2241;p75"/>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2242" name="Google Shape;2242;p75"/>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2243" name="Google Shape;2243;p75"/>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2244" name="Google Shape;2244;p75"/>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2245" name="Google Shape;2245;p75"/>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2246" name="Google Shape;2246;p75"/>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2247" name="Google Shape;2247;p75"/>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2248" name="Google Shape;2248;p75"/>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249" name="Google Shape;2249;p75"/>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250" name="Google Shape;2250;p75"/>
            <p:cNvSpPr/>
            <p:nvPr/>
          </p:nvSpPr>
          <p:spPr>
            <a:xfrm>
              <a:off x="8198675" y="3551600"/>
              <a:ext cx="43800" cy="43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2251" name="Google Shape;2251;p75"/>
          <p:cNvSpPr/>
          <p:nvPr/>
        </p:nvSpPr>
        <p:spPr>
          <a:xfrm>
            <a:off x="6513693" y="3159536"/>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R3</a:t>
            </a:r>
            <a:endParaRPr>
              <a:solidFill>
                <a:srgbClr val="B7B7B7"/>
              </a:solidFill>
              <a:latin typeface="Roboto"/>
              <a:ea typeface="Roboto"/>
              <a:cs typeface="Roboto"/>
              <a:sym typeface="Roboto"/>
            </a:endParaRPr>
          </a:p>
        </p:txBody>
      </p:sp>
      <p:cxnSp>
        <p:nvCxnSpPr>
          <p:cNvPr id="2252" name="Google Shape;2252;p75"/>
          <p:cNvCxnSpPr>
            <a:stCxn id="2251" idx="3"/>
          </p:cNvCxnSpPr>
          <p:nvPr/>
        </p:nvCxnSpPr>
        <p:spPr>
          <a:xfrm>
            <a:off x="6798693" y="3302036"/>
            <a:ext cx="539700" cy="0"/>
          </a:xfrm>
          <a:prstGeom prst="straightConnector1">
            <a:avLst/>
          </a:prstGeom>
          <a:noFill/>
          <a:ln cap="flat" cmpd="sng" w="9525">
            <a:solidFill>
              <a:srgbClr val="B7B7B7"/>
            </a:solidFill>
            <a:prstDash val="solid"/>
            <a:round/>
            <a:headEnd len="med" w="med" type="none"/>
            <a:tailEnd len="med" w="med" type="none"/>
          </a:ln>
        </p:spPr>
      </p:cxnSp>
      <p:cxnSp>
        <p:nvCxnSpPr>
          <p:cNvPr id="2253" name="Google Shape;2253;p75"/>
          <p:cNvCxnSpPr>
            <a:stCxn id="2254" idx="3"/>
          </p:cNvCxnSpPr>
          <p:nvPr/>
        </p:nvCxnSpPr>
        <p:spPr>
          <a:xfrm>
            <a:off x="6798693" y="3981886"/>
            <a:ext cx="539700" cy="0"/>
          </a:xfrm>
          <a:prstGeom prst="straightConnector1">
            <a:avLst/>
          </a:prstGeom>
          <a:noFill/>
          <a:ln cap="flat" cmpd="sng" w="9525">
            <a:solidFill>
              <a:srgbClr val="B7B7B7"/>
            </a:solidFill>
            <a:prstDash val="solid"/>
            <a:round/>
            <a:headEnd len="med" w="med" type="none"/>
            <a:tailEnd len="med" w="med" type="none"/>
          </a:ln>
        </p:spPr>
      </p:cxnSp>
      <p:cxnSp>
        <p:nvCxnSpPr>
          <p:cNvPr id="2255" name="Google Shape;2255;p75"/>
          <p:cNvCxnSpPr>
            <a:stCxn id="2251" idx="1"/>
            <a:endCxn id="2256" idx="3"/>
          </p:cNvCxnSpPr>
          <p:nvPr/>
        </p:nvCxnSpPr>
        <p:spPr>
          <a:xfrm flipH="1">
            <a:off x="5507193" y="3302036"/>
            <a:ext cx="1006500" cy="320700"/>
          </a:xfrm>
          <a:prstGeom prst="straightConnector1">
            <a:avLst/>
          </a:prstGeom>
          <a:noFill/>
          <a:ln cap="flat" cmpd="sng" w="9525">
            <a:solidFill>
              <a:srgbClr val="B7B7B7"/>
            </a:solidFill>
            <a:prstDash val="solid"/>
            <a:round/>
            <a:headEnd len="med" w="med" type="none"/>
            <a:tailEnd len="med" w="med" type="none"/>
          </a:ln>
        </p:spPr>
      </p:cxnSp>
      <p:cxnSp>
        <p:nvCxnSpPr>
          <p:cNvPr id="2257" name="Google Shape;2257;p75"/>
          <p:cNvCxnSpPr>
            <a:stCxn id="2254" idx="1"/>
            <a:endCxn id="2256" idx="3"/>
          </p:cNvCxnSpPr>
          <p:nvPr/>
        </p:nvCxnSpPr>
        <p:spPr>
          <a:xfrm rot="10800000">
            <a:off x="5507193" y="3622786"/>
            <a:ext cx="1006500" cy="359100"/>
          </a:xfrm>
          <a:prstGeom prst="straightConnector1">
            <a:avLst/>
          </a:prstGeom>
          <a:noFill/>
          <a:ln cap="flat" cmpd="sng" w="9525">
            <a:solidFill>
              <a:srgbClr val="B7B7B7"/>
            </a:solidFill>
            <a:prstDash val="solid"/>
            <a:round/>
            <a:headEnd len="med" w="med" type="none"/>
            <a:tailEnd len="med" w="med" type="none"/>
          </a:ln>
        </p:spPr>
      </p:cxnSp>
      <p:sp>
        <p:nvSpPr>
          <p:cNvPr id="2258" name="Google Shape;2258;p75"/>
          <p:cNvSpPr/>
          <p:nvPr/>
        </p:nvSpPr>
        <p:spPr>
          <a:xfrm>
            <a:off x="7373818" y="4432148"/>
            <a:ext cx="448200" cy="3564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DB</a:t>
            </a:r>
            <a:endParaRPr sz="1200">
              <a:latin typeface="Roboto"/>
              <a:ea typeface="Roboto"/>
              <a:cs typeface="Roboto"/>
              <a:sym typeface="Roboto"/>
            </a:endParaRPr>
          </a:p>
        </p:txBody>
      </p:sp>
      <p:cxnSp>
        <p:nvCxnSpPr>
          <p:cNvPr id="2259" name="Google Shape;2259;p75"/>
          <p:cNvCxnSpPr>
            <a:stCxn id="2258" idx="2"/>
            <a:endCxn id="2260" idx="3"/>
          </p:cNvCxnSpPr>
          <p:nvPr/>
        </p:nvCxnSpPr>
        <p:spPr>
          <a:xfrm rot="10800000">
            <a:off x="6927418" y="4610348"/>
            <a:ext cx="446400" cy="0"/>
          </a:xfrm>
          <a:prstGeom prst="straightConnector1">
            <a:avLst/>
          </a:prstGeom>
          <a:noFill/>
          <a:ln cap="flat" cmpd="sng" w="28575">
            <a:solidFill>
              <a:schemeClr val="accent2"/>
            </a:solidFill>
            <a:prstDash val="solid"/>
            <a:round/>
            <a:headEnd len="med" w="med" type="none"/>
            <a:tailEnd len="med" w="med" type="none"/>
          </a:ln>
        </p:spPr>
      </p:cxnSp>
      <p:sp>
        <p:nvSpPr>
          <p:cNvPr id="2260" name="Google Shape;2260;p75"/>
          <p:cNvSpPr/>
          <p:nvPr/>
        </p:nvSpPr>
        <p:spPr>
          <a:xfrm>
            <a:off x="5966943" y="4441701"/>
            <a:ext cx="960600" cy="3372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Manager</a:t>
            </a:r>
            <a:endParaRPr sz="1200">
              <a:latin typeface="Roboto"/>
              <a:ea typeface="Roboto"/>
              <a:cs typeface="Roboto"/>
              <a:sym typeface="Roboto"/>
            </a:endParaRPr>
          </a:p>
        </p:txBody>
      </p:sp>
      <p:sp>
        <p:nvSpPr>
          <p:cNvPr id="2261" name="Google Shape;2261;p75"/>
          <p:cNvSpPr txBox="1"/>
          <p:nvPr/>
        </p:nvSpPr>
        <p:spPr>
          <a:xfrm>
            <a:off x="6204943" y="2366536"/>
            <a:ext cx="13218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Visited network</a:t>
            </a:r>
            <a:endParaRPr>
              <a:solidFill>
                <a:schemeClr val="dk1"/>
              </a:solidFill>
              <a:latin typeface="Roboto"/>
              <a:ea typeface="Roboto"/>
              <a:cs typeface="Roboto"/>
              <a:sym typeface="Roboto"/>
            </a:endParaRPr>
          </a:p>
        </p:txBody>
      </p:sp>
      <p:sp>
        <p:nvSpPr>
          <p:cNvPr id="2262" name="Google Shape;2262;p75"/>
          <p:cNvSpPr/>
          <p:nvPr/>
        </p:nvSpPr>
        <p:spPr>
          <a:xfrm>
            <a:off x="3849180" y="2213275"/>
            <a:ext cx="1371900" cy="2459400"/>
          </a:xfrm>
          <a:prstGeom prst="ellipse">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Internet</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p:txBody>
      </p:sp>
      <p:cxnSp>
        <p:nvCxnSpPr>
          <p:cNvPr id="2263" name="Google Shape;2263;p75"/>
          <p:cNvCxnSpPr>
            <a:stCxn id="2221" idx="3"/>
            <a:endCxn id="2260" idx="1"/>
          </p:cNvCxnSpPr>
          <p:nvPr/>
        </p:nvCxnSpPr>
        <p:spPr>
          <a:xfrm>
            <a:off x="3159725" y="3859640"/>
            <a:ext cx="2807100" cy="750600"/>
          </a:xfrm>
          <a:prstGeom prst="straightConnector1">
            <a:avLst/>
          </a:prstGeom>
          <a:noFill/>
          <a:ln cap="flat" cmpd="sng" w="28575">
            <a:solidFill>
              <a:schemeClr val="accent2"/>
            </a:solidFill>
            <a:prstDash val="solid"/>
            <a:round/>
            <a:headEnd len="med" w="med" type="none"/>
            <a:tailEnd len="med" w="med" type="none"/>
          </a:ln>
        </p:spPr>
      </p:cxnSp>
      <p:grpSp>
        <p:nvGrpSpPr>
          <p:cNvPr id="2264" name="Google Shape;2264;p75"/>
          <p:cNvGrpSpPr/>
          <p:nvPr/>
        </p:nvGrpSpPr>
        <p:grpSpPr>
          <a:xfrm flipH="1">
            <a:off x="8015125" y="3665768"/>
            <a:ext cx="384763" cy="551700"/>
            <a:chOff x="160300" y="2651875"/>
            <a:chExt cx="384763" cy="551700"/>
          </a:xfrm>
        </p:grpSpPr>
        <p:pic>
          <p:nvPicPr>
            <p:cNvPr id="2265" name="Google Shape;2265;p75"/>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2266" name="Google Shape;2266;p75"/>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cxnSp>
        <p:nvCxnSpPr>
          <p:cNvPr id="2267" name="Google Shape;2267;p75"/>
          <p:cNvCxnSpPr/>
          <p:nvPr/>
        </p:nvCxnSpPr>
        <p:spPr>
          <a:xfrm>
            <a:off x="7618800" y="3981875"/>
            <a:ext cx="344700" cy="0"/>
          </a:xfrm>
          <a:prstGeom prst="straightConnector1">
            <a:avLst/>
          </a:prstGeom>
          <a:noFill/>
          <a:ln cap="flat" cmpd="sng" w="9525">
            <a:solidFill>
              <a:srgbClr val="B7B7B7"/>
            </a:solidFill>
            <a:prstDash val="solid"/>
            <a:round/>
            <a:headEnd len="med" w="med" type="none"/>
            <a:tailEnd len="med" w="med" type="none"/>
          </a:ln>
        </p:spPr>
      </p:cxnSp>
      <p:cxnSp>
        <p:nvCxnSpPr>
          <p:cNvPr id="2268" name="Google Shape;2268;p75"/>
          <p:cNvCxnSpPr/>
          <p:nvPr/>
        </p:nvCxnSpPr>
        <p:spPr>
          <a:xfrm>
            <a:off x="3861775" y="3196675"/>
            <a:ext cx="1360500" cy="447300"/>
          </a:xfrm>
          <a:prstGeom prst="straightConnector1">
            <a:avLst/>
          </a:prstGeom>
          <a:noFill/>
          <a:ln cap="flat" cmpd="sng" w="9525">
            <a:solidFill>
              <a:srgbClr val="B7B7B7"/>
            </a:solidFill>
            <a:prstDash val="solid"/>
            <a:round/>
            <a:headEnd len="med" w="med" type="none"/>
            <a:tailEnd len="med" w="med" type="none"/>
          </a:ln>
        </p:spPr>
      </p:cxnSp>
      <p:sp>
        <p:nvSpPr>
          <p:cNvPr id="2256" name="Google Shape;2256;p75"/>
          <p:cNvSpPr/>
          <p:nvPr/>
        </p:nvSpPr>
        <p:spPr>
          <a:xfrm>
            <a:off x="5222268" y="3480211"/>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P2</a:t>
            </a:r>
            <a:endParaRPr>
              <a:solidFill>
                <a:srgbClr val="B7B7B7"/>
              </a:solidFill>
              <a:latin typeface="Roboto"/>
              <a:ea typeface="Roboto"/>
              <a:cs typeface="Roboto"/>
              <a:sym typeface="Roboto"/>
            </a:endParaRPr>
          </a:p>
        </p:txBody>
      </p:sp>
      <p:sp>
        <p:nvSpPr>
          <p:cNvPr id="2254" name="Google Shape;2254;p75"/>
          <p:cNvSpPr/>
          <p:nvPr/>
        </p:nvSpPr>
        <p:spPr>
          <a:xfrm>
            <a:off x="6513693" y="3839386"/>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R4</a:t>
            </a:r>
            <a:endParaRPr>
              <a:solidFill>
                <a:srgbClr val="B7B7B7"/>
              </a:solidFill>
              <a:latin typeface="Roboto"/>
              <a:ea typeface="Roboto"/>
              <a:cs typeface="Roboto"/>
              <a:sym typeface="Roboto"/>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2" name="Shape 2272"/>
        <p:cNvGrpSpPr/>
        <p:nvPr/>
      </p:nvGrpSpPr>
      <p:grpSpPr>
        <a:xfrm>
          <a:off x="0" y="0"/>
          <a:ext cx="0" cy="0"/>
          <a:chOff x="0" y="0"/>
          <a:chExt cx="0" cy="0"/>
        </a:xfrm>
      </p:grpSpPr>
      <p:sp>
        <p:nvSpPr>
          <p:cNvPr id="2273" name="Google Shape;2273;p76"/>
          <p:cNvSpPr/>
          <p:nvPr/>
        </p:nvSpPr>
        <p:spPr>
          <a:xfrm>
            <a:off x="5188250" y="2677500"/>
            <a:ext cx="3355200" cy="2364300"/>
          </a:xfrm>
          <a:prstGeom prst="ellipse">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274" name="Google Shape;2274;p76"/>
          <p:cNvSpPr/>
          <p:nvPr/>
        </p:nvSpPr>
        <p:spPr>
          <a:xfrm>
            <a:off x="510275" y="1948700"/>
            <a:ext cx="3355200" cy="2364300"/>
          </a:xfrm>
          <a:prstGeom prst="ellipse">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275" name="Google Shape;2275;p76"/>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Roaming</a:t>
            </a:r>
            <a:endParaRPr/>
          </a:p>
        </p:txBody>
      </p:sp>
      <p:sp>
        <p:nvSpPr>
          <p:cNvPr id="2276" name="Google Shape;2276;p76"/>
          <p:cNvSpPr txBox="1"/>
          <p:nvPr>
            <p:ph idx="1" type="body"/>
          </p:nvPr>
        </p:nvSpPr>
        <p:spPr>
          <a:xfrm>
            <a:off x="107050" y="402200"/>
            <a:ext cx="8909700" cy="1546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Two common ways to configure path from user to Internet.</a:t>
            </a:r>
            <a:endParaRPr/>
          </a:p>
          <a:p>
            <a:pPr indent="-342900" lvl="0" marL="457200" rtl="0" algn="l">
              <a:spcBef>
                <a:spcPts val="600"/>
              </a:spcBef>
              <a:spcAft>
                <a:spcPts val="0"/>
              </a:spcAft>
              <a:buSzPts val="1800"/>
              <a:buChar char="●"/>
            </a:pPr>
            <a:r>
              <a:rPr b="1" lang="en"/>
              <a:t>Home routing</a:t>
            </a:r>
            <a:r>
              <a:rPr lang="en"/>
              <a:t>: Tunnel traffic through the </a:t>
            </a:r>
            <a:r>
              <a:rPr b="1" lang="en"/>
              <a:t>home</a:t>
            </a:r>
            <a:r>
              <a:rPr lang="en"/>
              <a:t> network's packet gateway.</a:t>
            </a:r>
            <a:endParaRPr/>
          </a:p>
          <a:p>
            <a:pPr indent="-342900" lvl="0" marL="457200" rtl="0" algn="l">
              <a:spcBef>
                <a:spcPts val="0"/>
              </a:spcBef>
              <a:spcAft>
                <a:spcPts val="0"/>
              </a:spcAft>
              <a:buSzPts val="1800"/>
              <a:buChar char="●"/>
            </a:pPr>
            <a:r>
              <a:rPr lang="en"/>
              <a:t>Benefit: Home network can track user.</a:t>
            </a:r>
            <a:endParaRPr/>
          </a:p>
          <a:p>
            <a:pPr indent="-342900" lvl="0" marL="457200" rtl="0" algn="l">
              <a:spcBef>
                <a:spcPts val="0"/>
              </a:spcBef>
              <a:spcAft>
                <a:spcPts val="0"/>
              </a:spcAft>
              <a:buSzPts val="1800"/>
              <a:buChar char="●"/>
            </a:pPr>
            <a:r>
              <a:rPr lang="en"/>
              <a:t>Drawback: Packets takes longer path to Internet.</a:t>
            </a:r>
            <a:endParaRPr/>
          </a:p>
        </p:txBody>
      </p:sp>
      <p:sp>
        <p:nvSpPr>
          <p:cNvPr id="2277" name="Google Shape;2277;p76"/>
          <p:cNvSpPr/>
          <p:nvPr/>
        </p:nvSpPr>
        <p:spPr>
          <a:xfrm>
            <a:off x="1060114" y="2213263"/>
            <a:ext cx="780600" cy="676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2278" name="Google Shape;2278;p76"/>
          <p:cNvGrpSpPr/>
          <p:nvPr/>
        </p:nvGrpSpPr>
        <p:grpSpPr>
          <a:xfrm>
            <a:off x="1360922" y="2373180"/>
            <a:ext cx="178979" cy="356361"/>
            <a:chOff x="7897625" y="3319150"/>
            <a:chExt cx="645900" cy="1285575"/>
          </a:xfrm>
        </p:grpSpPr>
        <p:sp>
          <p:nvSpPr>
            <p:cNvPr id="2279" name="Google Shape;2279;p76"/>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280" name="Google Shape;2280;p76"/>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281" name="Google Shape;2281;p76"/>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282" name="Google Shape;2282;p76"/>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283" name="Google Shape;2283;p76"/>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284" name="Google Shape;2284;p76"/>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285" name="Google Shape;2285;p76"/>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286" name="Google Shape;2286;p76"/>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2287" name="Google Shape;2287;p76"/>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2288" name="Google Shape;2288;p76"/>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289" name="Google Shape;2289;p76"/>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290" name="Google Shape;2290;p76"/>
            <p:cNvSpPr/>
            <p:nvPr/>
          </p:nvSpPr>
          <p:spPr>
            <a:xfrm>
              <a:off x="8198675" y="3551600"/>
              <a:ext cx="43800" cy="43800"/>
            </a:xfrm>
            <a:prstGeom prst="ellipse">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2291" name="Google Shape;2291;p76"/>
          <p:cNvSpPr/>
          <p:nvPr/>
        </p:nvSpPr>
        <p:spPr>
          <a:xfrm>
            <a:off x="1060102" y="2889463"/>
            <a:ext cx="780600" cy="676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2292" name="Google Shape;2292;p76"/>
          <p:cNvGrpSpPr/>
          <p:nvPr/>
        </p:nvGrpSpPr>
        <p:grpSpPr>
          <a:xfrm>
            <a:off x="1360910" y="3049380"/>
            <a:ext cx="178979" cy="356361"/>
            <a:chOff x="7897625" y="3319150"/>
            <a:chExt cx="645900" cy="1285575"/>
          </a:xfrm>
        </p:grpSpPr>
        <p:sp>
          <p:nvSpPr>
            <p:cNvPr id="2293" name="Google Shape;2293;p76"/>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294" name="Google Shape;2294;p76"/>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295" name="Google Shape;2295;p76"/>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296" name="Google Shape;2296;p76"/>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297" name="Google Shape;2297;p76"/>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298" name="Google Shape;2298;p76"/>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299" name="Google Shape;2299;p76"/>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300" name="Google Shape;2300;p76"/>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2301" name="Google Shape;2301;p76"/>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2302" name="Google Shape;2302;p76"/>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03" name="Google Shape;2303;p76"/>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04" name="Google Shape;2304;p76"/>
            <p:cNvSpPr/>
            <p:nvPr/>
          </p:nvSpPr>
          <p:spPr>
            <a:xfrm>
              <a:off x="8198675" y="3551600"/>
              <a:ext cx="43800" cy="43800"/>
            </a:xfrm>
            <a:prstGeom prst="ellipse">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2305" name="Google Shape;2305;p76"/>
          <p:cNvSpPr/>
          <p:nvPr/>
        </p:nvSpPr>
        <p:spPr>
          <a:xfrm>
            <a:off x="2136275" y="240887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R1</a:t>
            </a:r>
            <a:endParaRPr>
              <a:solidFill>
                <a:srgbClr val="B7B7B7"/>
              </a:solidFill>
              <a:latin typeface="Roboto"/>
              <a:ea typeface="Roboto"/>
              <a:cs typeface="Roboto"/>
              <a:sym typeface="Roboto"/>
            </a:endParaRPr>
          </a:p>
        </p:txBody>
      </p:sp>
      <p:sp>
        <p:nvSpPr>
          <p:cNvPr id="2306" name="Google Shape;2306;p76"/>
          <p:cNvSpPr/>
          <p:nvPr/>
        </p:nvSpPr>
        <p:spPr>
          <a:xfrm>
            <a:off x="2136275" y="308872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R2</a:t>
            </a:r>
            <a:endParaRPr>
              <a:solidFill>
                <a:srgbClr val="B7B7B7"/>
              </a:solidFill>
              <a:latin typeface="Roboto"/>
              <a:ea typeface="Roboto"/>
              <a:cs typeface="Roboto"/>
              <a:sym typeface="Roboto"/>
            </a:endParaRPr>
          </a:p>
        </p:txBody>
      </p:sp>
      <p:cxnSp>
        <p:nvCxnSpPr>
          <p:cNvPr id="2307" name="Google Shape;2307;p76"/>
          <p:cNvCxnSpPr>
            <a:stCxn id="2305" idx="1"/>
          </p:cNvCxnSpPr>
          <p:nvPr/>
        </p:nvCxnSpPr>
        <p:spPr>
          <a:xfrm rot="10800000">
            <a:off x="1617275" y="2551375"/>
            <a:ext cx="519000" cy="0"/>
          </a:xfrm>
          <a:prstGeom prst="straightConnector1">
            <a:avLst/>
          </a:prstGeom>
          <a:noFill/>
          <a:ln cap="flat" cmpd="sng" w="9525">
            <a:solidFill>
              <a:srgbClr val="B7B7B7"/>
            </a:solidFill>
            <a:prstDash val="solid"/>
            <a:round/>
            <a:headEnd len="med" w="med" type="none"/>
            <a:tailEnd len="med" w="med" type="none"/>
          </a:ln>
        </p:spPr>
      </p:cxnSp>
      <p:cxnSp>
        <p:nvCxnSpPr>
          <p:cNvPr id="2308" name="Google Shape;2308;p76"/>
          <p:cNvCxnSpPr/>
          <p:nvPr/>
        </p:nvCxnSpPr>
        <p:spPr>
          <a:xfrm rot="10800000">
            <a:off x="1617275" y="3231225"/>
            <a:ext cx="519000" cy="0"/>
          </a:xfrm>
          <a:prstGeom prst="straightConnector1">
            <a:avLst/>
          </a:prstGeom>
          <a:noFill/>
          <a:ln cap="flat" cmpd="sng" w="9525">
            <a:solidFill>
              <a:srgbClr val="B7B7B7"/>
            </a:solidFill>
            <a:prstDash val="solid"/>
            <a:round/>
            <a:headEnd len="med" w="med" type="none"/>
            <a:tailEnd len="med" w="med" type="none"/>
          </a:ln>
        </p:spPr>
      </p:cxnSp>
      <p:cxnSp>
        <p:nvCxnSpPr>
          <p:cNvPr id="2309" name="Google Shape;2309;p76"/>
          <p:cNvCxnSpPr>
            <a:stCxn id="2305" idx="3"/>
            <a:endCxn id="2310" idx="1"/>
          </p:cNvCxnSpPr>
          <p:nvPr/>
        </p:nvCxnSpPr>
        <p:spPr>
          <a:xfrm>
            <a:off x="2421275" y="2551375"/>
            <a:ext cx="1159200" cy="640500"/>
          </a:xfrm>
          <a:prstGeom prst="straightConnector1">
            <a:avLst/>
          </a:prstGeom>
          <a:noFill/>
          <a:ln cap="flat" cmpd="sng" w="9525">
            <a:solidFill>
              <a:srgbClr val="B7B7B7"/>
            </a:solidFill>
            <a:prstDash val="solid"/>
            <a:round/>
            <a:headEnd len="med" w="med" type="none"/>
            <a:tailEnd len="med" w="med" type="none"/>
          </a:ln>
        </p:spPr>
      </p:cxnSp>
      <p:cxnSp>
        <p:nvCxnSpPr>
          <p:cNvPr id="2311" name="Google Shape;2311;p76"/>
          <p:cNvCxnSpPr>
            <a:stCxn id="2306" idx="3"/>
            <a:endCxn id="2310" idx="1"/>
          </p:cNvCxnSpPr>
          <p:nvPr/>
        </p:nvCxnSpPr>
        <p:spPr>
          <a:xfrm flipH="1" rot="10800000">
            <a:off x="2421275" y="3191925"/>
            <a:ext cx="1159200" cy="39300"/>
          </a:xfrm>
          <a:prstGeom prst="straightConnector1">
            <a:avLst/>
          </a:prstGeom>
          <a:noFill/>
          <a:ln cap="flat" cmpd="sng" w="9525">
            <a:solidFill>
              <a:srgbClr val="B7B7B7"/>
            </a:solidFill>
            <a:prstDash val="solid"/>
            <a:round/>
            <a:headEnd len="med" w="med" type="none"/>
            <a:tailEnd len="med" w="med" type="none"/>
          </a:ln>
        </p:spPr>
      </p:cxnSp>
      <p:sp>
        <p:nvSpPr>
          <p:cNvPr id="2312" name="Google Shape;2312;p76"/>
          <p:cNvSpPr/>
          <p:nvPr/>
        </p:nvSpPr>
        <p:spPr>
          <a:xfrm>
            <a:off x="1320000" y="3681488"/>
            <a:ext cx="448200" cy="3564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DB</a:t>
            </a:r>
            <a:endParaRPr sz="1200">
              <a:latin typeface="Roboto"/>
              <a:ea typeface="Roboto"/>
              <a:cs typeface="Roboto"/>
              <a:sym typeface="Roboto"/>
            </a:endParaRPr>
          </a:p>
        </p:txBody>
      </p:sp>
      <p:cxnSp>
        <p:nvCxnSpPr>
          <p:cNvPr id="2313" name="Google Shape;2313;p76"/>
          <p:cNvCxnSpPr>
            <a:stCxn id="2312" idx="4"/>
            <a:endCxn id="2314" idx="1"/>
          </p:cNvCxnSpPr>
          <p:nvPr/>
        </p:nvCxnSpPr>
        <p:spPr>
          <a:xfrm>
            <a:off x="1768200" y="3859688"/>
            <a:ext cx="430800" cy="0"/>
          </a:xfrm>
          <a:prstGeom prst="straightConnector1">
            <a:avLst/>
          </a:prstGeom>
          <a:noFill/>
          <a:ln cap="flat" cmpd="sng" w="28575">
            <a:solidFill>
              <a:schemeClr val="accent2"/>
            </a:solidFill>
            <a:prstDash val="solid"/>
            <a:round/>
            <a:headEnd len="med" w="med" type="none"/>
            <a:tailEnd len="med" w="med" type="none"/>
          </a:ln>
        </p:spPr>
      </p:cxnSp>
      <p:sp>
        <p:nvSpPr>
          <p:cNvPr id="2314" name="Google Shape;2314;p76"/>
          <p:cNvSpPr/>
          <p:nvPr/>
        </p:nvSpPr>
        <p:spPr>
          <a:xfrm>
            <a:off x="2199125" y="3691040"/>
            <a:ext cx="960600" cy="3372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Manager</a:t>
            </a:r>
            <a:endParaRPr sz="1200">
              <a:latin typeface="Roboto"/>
              <a:ea typeface="Roboto"/>
              <a:cs typeface="Roboto"/>
              <a:sym typeface="Roboto"/>
            </a:endParaRPr>
          </a:p>
        </p:txBody>
      </p:sp>
      <p:sp>
        <p:nvSpPr>
          <p:cNvPr id="2315" name="Google Shape;2315;p76"/>
          <p:cNvSpPr txBox="1"/>
          <p:nvPr/>
        </p:nvSpPr>
        <p:spPr>
          <a:xfrm>
            <a:off x="1410525" y="4345575"/>
            <a:ext cx="13218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Home network</a:t>
            </a:r>
            <a:endParaRPr>
              <a:solidFill>
                <a:schemeClr val="dk1"/>
              </a:solidFill>
              <a:latin typeface="Roboto"/>
              <a:ea typeface="Roboto"/>
              <a:cs typeface="Roboto"/>
              <a:sym typeface="Roboto"/>
            </a:endParaRPr>
          </a:p>
        </p:txBody>
      </p:sp>
      <p:sp>
        <p:nvSpPr>
          <p:cNvPr id="2316" name="Google Shape;2316;p76"/>
          <p:cNvSpPr/>
          <p:nvPr/>
        </p:nvSpPr>
        <p:spPr>
          <a:xfrm>
            <a:off x="7113932" y="2963923"/>
            <a:ext cx="780600" cy="676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2317" name="Google Shape;2317;p76"/>
          <p:cNvGrpSpPr/>
          <p:nvPr/>
        </p:nvGrpSpPr>
        <p:grpSpPr>
          <a:xfrm>
            <a:off x="7414740" y="3123841"/>
            <a:ext cx="178979" cy="356361"/>
            <a:chOff x="7897625" y="3319150"/>
            <a:chExt cx="645900" cy="1285575"/>
          </a:xfrm>
        </p:grpSpPr>
        <p:sp>
          <p:nvSpPr>
            <p:cNvPr id="2318" name="Google Shape;2318;p76"/>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319" name="Google Shape;2319;p76"/>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320" name="Google Shape;2320;p76"/>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321" name="Google Shape;2321;p76"/>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322" name="Google Shape;2322;p76"/>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323" name="Google Shape;2323;p76"/>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324" name="Google Shape;2324;p76"/>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325" name="Google Shape;2325;p76"/>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2326" name="Google Shape;2326;p76"/>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2327" name="Google Shape;2327;p76"/>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28" name="Google Shape;2328;p76"/>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29" name="Google Shape;2329;p76"/>
            <p:cNvSpPr/>
            <p:nvPr/>
          </p:nvSpPr>
          <p:spPr>
            <a:xfrm>
              <a:off x="8198675" y="3551600"/>
              <a:ext cx="43800" cy="43800"/>
            </a:xfrm>
            <a:prstGeom prst="ellipse">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2330" name="Google Shape;2330;p76"/>
          <p:cNvSpPr/>
          <p:nvPr/>
        </p:nvSpPr>
        <p:spPr>
          <a:xfrm>
            <a:off x="7113920" y="3640123"/>
            <a:ext cx="780600" cy="676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2331" name="Google Shape;2331;p76"/>
          <p:cNvGrpSpPr/>
          <p:nvPr/>
        </p:nvGrpSpPr>
        <p:grpSpPr>
          <a:xfrm>
            <a:off x="7414728" y="3800041"/>
            <a:ext cx="178979" cy="356361"/>
            <a:chOff x="7897625" y="3319150"/>
            <a:chExt cx="645900" cy="1285575"/>
          </a:xfrm>
        </p:grpSpPr>
        <p:sp>
          <p:nvSpPr>
            <p:cNvPr id="2332" name="Google Shape;2332;p76"/>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333" name="Google Shape;2333;p76"/>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2334" name="Google Shape;2334;p76"/>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2335" name="Google Shape;2335;p76"/>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2336" name="Google Shape;2336;p76"/>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2337" name="Google Shape;2337;p76"/>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2338" name="Google Shape;2338;p76"/>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2339" name="Google Shape;2339;p76"/>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2340" name="Google Shape;2340;p76"/>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2341" name="Google Shape;2341;p76"/>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42" name="Google Shape;2342;p76"/>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43" name="Google Shape;2343;p76"/>
            <p:cNvSpPr/>
            <p:nvPr/>
          </p:nvSpPr>
          <p:spPr>
            <a:xfrm>
              <a:off x="8198675" y="3551600"/>
              <a:ext cx="43800" cy="43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2344" name="Google Shape;2344;p76"/>
          <p:cNvSpPr/>
          <p:nvPr/>
        </p:nvSpPr>
        <p:spPr>
          <a:xfrm>
            <a:off x="6513693" y="3159536"/>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R3</a:t>
            </a:r>
            <a:endParaRPr>
              <a:solidFill>
                <a:srgbClr val="B7B7B7"/>
              </a:solidFill>
              <a:latin typeface="Roboto"/>
              <a:ea typeface="Roboto"/>
              <a:cs typeface="Roboto"/>
              <a:sym typeface="Roboto"/>
            </a:endParaRPr>
          </a:p>
        </p:txBody>
      </p:sp>
      <p:sp>
        <p:nvSpPr>
          <p:cNvPr id="2345" name="Google Shape;2345;p76"/>
          <p:cNvSpPr/>
          <p:nvPr/>
        </p:nvSpPr>
        <p:spPr>
          <a:xfrm>
            <a:off x="6513693" y="3839386"/>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cxnSp>
        <p:nvCxnSpPr>
          <p:cNvPr id="2346" name="Google Shape;2346;p76"/>
          <p:cNvCxnSpPr>
            <a:stCxn id="2344" idx="3"/>
          </p:cNvCxnSpPr>
          <p:nvPr/>
        </p:nvCxnSpPr>
        <p:spPr>
          <a:xfrm>
            <a:off x="6798693" y="3302036"/>
            <a:ext cx="539700" cy="0"/>
          </a:xfrm>
          <a:prstGeom prst="straightConnector1">
            <a:avLst/>
          </a:prstGeom>
          <a:noFill/>
          <a:ln cap="flat" cmpd="sng" w="9525">
            <a:solidFill>
              <a:srgbClr val="B7B7B7"/>
            </a:solidFill>
            <a:prstDash val="solid"/>
            <a:round/>
            <a:headEnd len="med" w="med" type="none"/>
            <a:tailEnd len="med" w="med" type="none"/>
          </a:ln>
        </p:spPr>
      </p:cxnSp>
      <p:cxnSp>
        <p:nvCxnSpPr>
          <p:cNvPr id="2347" name="Google Shape;2347;p76"/>
          <p:cNvCxnSpPr>
            <a:stCxn id="2345" idx="3"/>
          </p:cNvCxnSpPr>
          <p:nvPr/>
        </p:nvCxnSpPr>
        <p:spPr>
          <a:xfrm>
            <a:off x="6798693" y="3981886"/>
            <a:ext cx="539700" cy="0"/>
          </a:xfrm>
          <a:prstGeom prst="straightConnector1">
            <a:avLst/>
          </a:prstGeom>
          <a:noFill/>
          <a:ln cap="flat" cmpd="sng" w="28575">
            <a:solidFill>
              <a:srgbClr val="0000FF"/>
            </a:solidFill>
            <a:prstDash val="solid"/>
            <a:round/>
            <a:headEnd len="med" w="med" type="none"/>
            <a:tailEnd len="med" w="med" type="none"/>
          </a:ln>
        </p:spPr>
      </p:cxnSp>
      <p:cxnSp>
        <p:nvCxnSpPr>
          <p:cNvPr id="2348" name="Google Shape;2348;p76"/>
          <p:cNvCxnSpPr>
            <a:stCxn id="2344" idx="1"/>
            <a:endCxn id="2349" idx="3"/>
          </p:cNvCxnSpPr>
          <p:nvPr/>
        </p:nvCxnSpPr>
        <p:spPr>
          <a:xfrm flipH="1">
            <a:off x="5507193" y="3302036"/>
            <a:ext cx="1006500" cy="320700"/>
          </a:xfrm>
          <a:prstGeom prst="straightConnector1">
            <a:avLst/>
          </a:prstGeom>
          <a:noFill/>
          <a:ln cap="flat" cmpd="sng" w="9525">
            <a:solidFill>
              <a:srgbClr val="B7B7B7"/>
            </a:solidFill>
            <a:prstDash val="solid"/>
            <a:round/>
            <a:headEnd len="med" w="med" type="none"/>
            <a:tailEnd len="med" w="med" type="none"/>
          </a:ln>
        </p:spPr>
      </p:cxnSp>
      <p:cxnSp>
        <p:nvCxnSpPr>
          <p:cNvPr id="2350" name="Google Shape;2350;p76"/>
          <p:cNvCxnSpPr>
            <a:stCxn id="2345" idx="1"/>
            <a:endCxn id="2349" idx="3"/>
          </p:cNvCxnSpPr>
          <p:nvPr/>
        </p:nvCxnSpPr>
        <p:spPr>
          <a:xfrm rot="10800000">
            <a:off x="5507193" y="3622786"/>
            <a:ext cx="1006500" cy="359100"/>
          </a:xfrm>
          <a:prstGeom prst="straightConnector1">
            <a:avLst/>
          </a:prstGeom>
          <a:noFill/>
          <a:ln cap="flat" cmpd="sng" w="28575">
            <a:solidFill>
              <a:srgbClr val="0000FF"/>
            </a:solidFill>
            <a:prstDash val="solid"/>
            <a:round/>
            <a:headEnd len="med" w="med" type="none"/>
            <a:tailEnd len="med" w="med" type="none"/>
          </a:ln>
        </p:spPr>
      </p:cxnSp>
      <p:sp>
        <p:nvSpPr>
          <p:cNvPr id="2351" name="Google Shape;2351;p76"/>
          <p:cNvSpPr/>
          <p:nvPr/>
        </p:nvSpPr>
        <p:spPr>
          <a:xfrm>
            <a:off x="7373818" y="4432148"/>
            <a:ext cx="448200" cy="3564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DB</a:t>
            </a:r>
            <a:endParaRPr sz="1200">
              <a:latin typeface="Roboto"/>
              <a:ea typeface="Roboto"/>
              <a:cs typeface="Roboto"/>
              <a:sym typeface="Roboto"/>
            </a:endParaRPr>
          </a:p>
        </p:txBody>
      </p:sp>
      <p:cxnSp>
        <p:nvCxnSpPr>
          <p:cNvPr id="2352" name="Google Shape;2352;p76"/>
          <p:cNvCxnSpPr>
            <a:stCxn id="2351" idx="2"/>
            <a:endCxn id="2353" idx="3"/>
          </p:cNvCxnSpPr>
          <p:nvPr/>
        </p:nvCxnSpPr>
        <p:spPr>
          <a:xfrm rot="10800000">
            <a:off x="6927418" y="4610348"/>
            <a:ext cx="446400" cy="0"/>
          </a:xfrm>
          <a:prstGeom prst="straightConnector1">
            <a:avLst/>
          </a:prstGeom>
          <a:noFill/>
          <a:ln cap="flat" cmpd="sng" w="28575">
            <a:solidFill>
              <a:schemeClr val="accent2"/>
            </a:solidFill>
            <a:prstDash val="solid"/>
            <a:round/>
            <a:headEnd len="med" w="med" type="none"/>
            <a:tailEnd len="med" w="med" type="none"/>
          </a:ln>
        </p:spPr>
      </p:cxnSp>
      <p:sp>
        <p:nvSpPr>
          <p:cNvPr id="2353" name="Google Shape;2353;p76"/>
          <p:cNvSpPr/>
          <p:nvPr/>
        </p:nvSpPr>
        <p:spPr>
          <a:xfrm>
            <a:off x="5966943" y="4441701"/>
            <a:ext cx="960600" cy="3372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Manager</a:t>
            </a:r>
            <a:endParaRPr sz="1200">
              <a:latin typeface="Roboto"/>
              <a:ea typeface="Roboto"/>
              <a:cs typeface="Roboto"/>
              <a:sym typeface="Roboto"/>
            </a:endParaRPr>
          </a:p>
        </p:txBody>
      </p:sp>
      <p:sp>
        <p:nvSpPr>
          <p:cNvPr id="2354" name="Google Shape;2354;p76"/>
          <p:cNvSpPr txBox="1"/>
          <p:nvPr/>
        </p:nvSpPr>
        <p:spPr>
          <a:xfrm>
            <a:off x="6204943" y="2366536"/>
            <a:ext cx="13218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Visited network</a:t>
            </a:r>
            <a:endParaRPr>
              <a:solidFill>
                <a:schemeClr val="dk1"/>
              </a:solidFill>
              <a:latin typeface="Roboto"/>
              <a:ea typeface="Roboto"/>
              <a:cs typeface="Roboto"/>
              <a:sym typeface="Roboto"/>
            </a:endParaRPr>
          </a:p>
        </p:txBody>
      </p:sp>
      <p:sp>
        <p:nvSpPr>
          <p:cNvPr id="2355" name="Google Shape;2355;p76"/>
          <p:cNvSpPr/>
          <p:nvPr/>
        </p:nvSpPr>
        <p:spPr>
          <a:xfrm>
            <a:off x="3849180" y="2213275"/>
            <a:ext cx="1371900" cy="2459400"/>
          </a:xfrm>
          <a:prstGeom prst="ellipse">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Internet</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p:txBody>
      </p:sp>
      <p:cxnSp>
        <p:nvCxnSpPr>
          <p:cNvPr id="2356" name="Google Shape;2356;p76"/>
          <p:cNvCxnSpPr>
            <a:stCxn id="2314" idx="3"/>
            <a:endCxn id="2353" idx="1"/>
          </p:cNvCxnSpPr>
          <p:nvPr/>
        </p:nvCxnSpPr>
        <p:spPr>
          <a:xfrm>
            <a:off x="3159725" y="3859640"/>
            <a:ext cx="2807100" cy="750600"/>
          </a:xfrm>
          <a:prstGeom prst="straightConnector1">
            <a:avLst/>
          </a:prstGeom>
          <a:noFill/>
          <a:ln cap="flat" cmpd="sng" w="28575">
            <a:solidFill>
              <a:schemeClr val="accent2"/>
            </a:solidFill>
            <a:prstDash val="solid"/>
            <a:round/>
            <a:headEnd len="med" w="med" type="none"/>
            <a:tailEnd len="med" w="med" type="none"/>
          </a:ln>
        </p:spPr>
      </p:cxnSp>
      <p:grpSp>
        <p:nvGrpSpPr>
          <p:cNvPr id="2357" name="Google Shape;2357;p76"/>
          <p:cNvGrpSpPr/>
          <p:nvPr/>
        </p:nvGrpSpPr>
        <p:grpSpPr>
          <a:xfrm flipH="1">
            <a:off x="8015125" y="3665768"/>
            <a:ext cx="384763" cy="551700"/>
            <a:chOff x="160300" y="2651875"/>
            <a:chExt cx="384763" cy="551700"/>
          </a:xfrm>
        </p:grpSpPr>
        <p:pic>
          <p:nvPicPr>
            <p:cNvPr id="2358" name="Google Shape;2358;p76"/>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2359" name="Google Shape;2359;p76"/>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cxnSp>
        <p:nvCxnSpPr>
          <p:cNvPr id="2360" name="Google Shape;2360;p76"/>
          <p:cNvCxnSpPr/>
          <p:nvPr/>
        </p:nvCxnSpPr>
        <p:spPr>
          <a:xfrm>
            <a:off x="7618800" y="3981875"/>
            <a:ext cx="344700" cy="0"/>
          </a:xfrm>
          <a:prstGeom prst="straightConnector1">
            <a:avLst/>
          </a:prstGeom>
          <a:noFill/>
          <a:ln cap="flat" cmpd="sng" w="28575">
            <a:solidFill>
              <a:srgbClr val="0000FF"/>
            </a:solidFill>
            <a:prstDash val="solid"/>
            <a:round/>
            <a:headEnd len="med" w="med" type="none"/>
            <a:tailEnd len="med" w="med" type="none"/>
          </a:ln>
        </p:spPr>
      </p:cxnSp>
      <p:cxnSp>
        <p:nvCxnSpPr>
          <p:cNvPr id="2361" name="Google Shape;2361;p76"/>
          <p:cNvCxnSpPr/>
          <p:nvPr/>
        </p:nvCxnSpPr>
        <p:spPr>
          <a:xfrm>
            <a:off x="3861775" y="3196675"/>
            <a:ext cx="1360500" cy="447300"/>
          </a:xfrm>
          <a:prstGeom prst="straightConnector1">
            <a:avLst/>
          </a:prstGeom>
          <a:noFill/>
          <a:ln cap="flat" cmpd="sng" w="28575">
            <a:solidFill>
              <a:srgbClr val="0000FF"/>
            </a:solidFill>
            <a:prstDash val="solid"/>
            <a:round/>
            <a:headEnd len="med" w="med" type="none"/>
            <a:tailEnd len="med" w="med" type="none"/>
          </a:ln>
        </p:spPr>
      </p:cxnSp>
      <p:sp>
        <p:nvSpPr>
          <p:cNvPr id="2362" name="Google Shape;2362;p76"/>
          <p:cNvSpPr/>
          <p:nvPr/>
        </p:nvSpPr>
        <p:spPr>
          <a:xfrm>
            <a:off x="3856000" y="2740225"/>
            <a:ext cx="652000" cy="450300"/>
          </a:xfrm>
          <a:custGeom>
            <a:rect b="b" l="l" r="r" t="t"/>
            <a:pathLst>
              <a:path extrusionOk="0" h="18012" w="26080">
                <a:moveTo>
                  <a:pt x="0" y="18012"/>
                </a:moveTo>
                <a:cubicBezTo>
                  <a:pt x="2930" y="17656"/>
                  <a:pt x="13232" y="18877"/>
                  <a:pt x="17579" y="15875"/>
                </a:cubicBezTo>
                <a:cubicBezTo>
                  <a:pt x="21926" y="12873"/>
                  <a:pt x="24663" y="2646"/>
                  <a:pt x="26080" y="0"/>
                </a:cubicBezTo>
              </a:path>
            </a:pathLst>
          </a:custGeom>
          <a:noFill/>
          <a:ln cap="flat" cmpd="sng" w="28575">
            <a:solidFill>
              <a:srgbClr val="0000FF"/>
            </a:solidFill>
            <a:prstDash val="solid"/>
            <a:round/>
            <a:headEnd len="med" w="med" type="none"/>
            <a:tailEnd len="med" w="med" type="triangle"/>
          </a:ln>
        </p:spPr>
      </p:sp>
      <p:sp>
        <p:nvSpPr>
          <p:cNvPr id="2349" name="Google Shape;2349;p76"/>
          <p:cNvSpPr/>
          <p:nvPr/>
        </p:nvSpPr>
        <p:spPr>
          <a:xfrm>
            <a:off x="5222268" y="3480211"/>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P2</a:t>
            </a:r>
            <a:endParaRPr>
              <a:latin typeface="Roboto"/>
              <a:ea typeface="Roboto"/>
              <a:cs typeface="Roboto"/>
              <a:sym typeface="Roboto"/>
            </a:endParaRPr>
          </a:p>
        </p:txBody>
      </p:sp>
      <p:sp>
        <p:nvSpPr>
          <p:cNvPr id="2310" name="Google Shape;2310;p76"/>
          <p:cNvSpPr/>
          <p:nvPr/>
        </p:nvSpPr>
        <p:spPr>
          <a:xfrm>
            <a:off x="3580475" y="3049375"/>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P1</a:t>
            </a:r>
            <a:endParaRPr>
              <a:latin typeface="Roboto"/>
              <a:ea typeface="Roboto"/>
              <a:cs typeface="Roboto"/>
              <a:sym typeface="Roboto"/>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6" name="Shape 2366"/>
        <p:cNvGrpSpPr/>
        <p:nvPr/>
      </p:nvGrpSpPr>
      <p:grpSpPr>
        <a:xfrm>
          <a:off x="0" y="0"/>
          <a:ext cx="0" cy="0"/>
          <a:chOff x="0" y="0"/>
          <a:chExt cx="0" cy="0"/>
        </a:xfrm>
      </p:grpSpPr>
      <p:sp>
        <p:nvSpPr>
          <p:cNvPr id="2367" name="Google Shape;2367;p77"/>
          <p:cNvSpPr/>
          <p:nvPr/>
        </p:nvSpPr>
        <p:spPr>
          <a:xfrm>
            <a:off x="5188250" y="2677500"/>
            <a:ext cx="3355200" cy="2364300"/>
          </a:xfrm>
          <a:prstGeom prst="ellipse">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68" name="Google Shape;2368;p77"/>
          <p:cNvSpPr/>
          <p:nvPr/>
        </p:nvSpPr>
        <p:spPr>
          <a:xfrm>
            <a:off x="510275" y="1948700"/>
            <a:ext cx="3355200" cy="2364300"/>
          </a:xfrm>
          <a:prstGeom prst="ellipse">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69" name="Google Shape;2369;p77"/>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accent3"/>
                </a:solidFill>
              </a:rPr>
              <a:t>Roaming</a:t>
            </a:r>
            <a:endParaRPr/>
          </a:p>
        </p:txBody>
      </p:sp>
      <p:sp>
        <p:nvSpPr>
          <p:cNvPr id="2370" name="Google Shape;2370;p77"/>
          <p:cNvSpPr txBox="1"/>
          <p:nvPr>
            <p:ph idx="1" type="body"/>
          </p:nvPr>
        </p:nvSpPr>
        <p:spPr>
          <a:xfrm>
            <a:off x="107050" y="402200"/>
            <a:ext cx="8909700" cy="1546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Two common ways to configure path from user to Internet.</a:t>
            </a:r>
            <a:endParaRPr/>
          </a:p>
          <a:p>
            <a:pPr indent="-342900" lvl="0" marL="457200" rtl="0" algn="l">
              <a:spcBef>
                <a:spcPts val="600"/>
              </a:spcBef>
              <a:spcAft>
                <a:spcPts val="0"/>
              </a:spcAft>
              <a:buSzPts val="1800"/>
              <a:buChar char="●"/>
            </a:pPr>
            <a:r>
              <a:rPr b="1" lang="en"/>
              <a:t>Local breakout</a:t>
            </a:r>
            <a:r>
              <a:rPr lang="en"/>
              <a:t>: Tunnel traffic through the </a:t>
            </a:r>
            <a:r>
              <a:rPr b="1" lang="en"/>
              <a:t>visitor</a:t>
            </a:r>
            <a:r>
              <a:rPr lang="en"/>
              <a:t> network's packet gateway.</a:t>
            </a:r>
            <a:endParaRPr/>
          </a:p>
          <a:p>
            <a:pPr indent="-342900" lvl="0" marL="457200" rtl="0" algn="l">
              <a:spcBef>
                <a:spcPts val="0"/>
              </a:spcBef>
              <a:spcAft>
                <a:spcPts val="0"/>
              </a:spcAft>
              <a:buSzPts val="1800"/>
              <a:buChar char="●"/>
            </a:pPr>
            <a:r>
              <a:rPr lang="en"/>
              <a:t>Drawback: Harder for home network to track user.</a:t>
            </a:r>
            <a:endParaRPr/>
          </a:p>
          <a:p>
            <a:pPr indent="-342900" lvl="0" marL="457200" rtl="0" algn="l">
              <a:spcBef>
                <a:spcPts val="0"/>
              </a:spcBef>
              <a:spcAft>
                <a:spcPts val="0"/>
              </a:spcAft>
              <a:buSzPts val="1800"/>
              <a:buChar char="●"/>
            </a:pPr>
            <a:r>
              <a:rPr lang="en"/>
              <a:t>Benefit: Packets takes shorter path to Internet.</a:t>
            </a:r>
            <a:endParaRPr/>
          </a:p>
        </p:txBody>
      </p:sp>
      <p:sp>
        <p:nvSpPr>
          <p:cNvPr id="2371" name="Google Shape;2371;p77"/>
          <p:cNvSpPr/>
          <p:nvPr/>
        </p:nvSpPr>
        <p:spPr>
          <a:xfrm>
            <a:off x="1060114" y="2213263"/>
            <a:ext cx="780600" cy="676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2372" name="Google Shape;2372;p77"/>
          <p:cNvGrpSpPr/>
          <p:nvPr/>
        </p:nvGrpSpPr>
        <p:grpSpPr>
          <a:xfrm>
            <a:off x="1360922" y="2373180"/>
            <a:ext cx="178979" cy="356361"/>
            <a:chOff x="7897625" y="3319150"/>
            <a:chExt cx="645900" cy="1285575"/>
          </a:xfrm>
        </p:grpSpPr>
        <p:sp>
          <p:nvSpPr>
            <p:cNvPr id="2373" name="Google Shape;2373;p77"/>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374" name="Google Shape;2374;p77"/>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375" name="Google Shape;2375;p77"/>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376" name="Google Shape;2376;p77"/>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377" name="Google Shape;2377;p77"/>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378" name="Google Shape;2378;p77"/>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379" name="Google Shape;2379;p77"/>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380" name="Google Shape;2380;p77"/>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2381" name="Google Shape;2381;p77"/>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2382" name="Google Shape;2382;p77"/>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83" name="Google Shape;2383;p77"/>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84" name="Google Shape;2384;p77"/>
            <p:cNvSpPr/>
            <p:nvPr/>
          </p:nvSpPr>
          <p:spPr>
            <a:xfrm>
              <a:off x="8198675" y="3551600"/>
              <a:ext cx="43800" cy="43800"/>
            </a:xfrm>
            <a:prstGeom prst="ellipse">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2385" name="Google Shape;2385;p77"/>
          <p:cNvSpPr/>
          <p:nvPr/>
        </p:nvSpPr>
        <p:spPr>
          <a:xfrm>
            <a:off x="1060102" y="2889463"/>
            <a:ext cx="780600" cy="676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2386" name="Google Shape;2386;p77"/>
          <p:cNvGrpSpPr/>
          <p:nvPr/>
        </p:nvGrpSpPr>
        <p:grpSpPr>
          <a:xfrm>
            <a:off x="1360910" y="3049380"/>
            <a:ext cx="178979" cy="356361"/>
            <a:chOff x="7897625" y="3319150"/>
            <a:chExt cx="645900" cy="1285575"/>
          </a:xfrm>
        </p:grpSpPr>
        <p:sp>
          <p:nvSpPr>
            <p:cNvPr id="2387" name="Google Shape;2387;p77"/>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388" name="Google Shape;2388;p77"/>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389" name="Google Shape;2389;p77"/>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390" name="Google Shape;2390;p77"/>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391" name="Google Shape;2391;p77"/>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392" name="Google Shape;2392;p77"/>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393" name="Google Shape;2393;p77"/>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394" name="Google Shape;2394;p77"/>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2395" name="Google Shape;2395;p77"/>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2396" name="Google Shape;2396;p77"/>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97" name="Google Shape;2397;p77"/>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398" name="Google Shape;2398;p77"/>
            <p:cNvSpPr/>
            <p:nvPr/>
          </p:nvSpPr>
          <p:spPr>
            <a:xfrm>
              <a:off x="8198675" y="3551600"/>
              <a:ext cx="43800" cy="43800"/>
            </a:xfrm>
            <a:prstGeom prst="ellipse">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2399" name="Google Shape;2399;p77"/>
          <p:cNvSpPr/>
          <p:nvPr/>
        </p:nvSpPr>
        <p:spPr>
          <a:xfrm>
            <a:off x="2136275" y="240887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R1</a:t>
            </a:r>
            <a:endParaRPr>
              <a:solidFill>
                <a:srgbClr val="B7B7B7"/>
              </a:solidFill>
              <a:latin typeface="Roboto"/>
              <a:ea typeface="Roboto"/>
              <a:cs typeface="Roboto"/>
              <a:sym typeface="Roboto"/>
            </a:endParaRPr>
          </a:p>
        </p:txBody>
      </p:sp>
      <p:sp>
        <p:nvSpPr>
          <p:cNvPr id="2400" name="Google Shape;2400;p77"/>
          <p:cNvSpPr/>
          <p:nvPr/>
        </p:nvSpPr>
        <p:spPr>
          <a:xfrm>
            <a:off x="2136275" y="308872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R2</a:t>
            </a:r>
            <a:endParaRPr>
              <a:solidFill>
                <a:srgbClr val="B7B7B7"/>
              </a:solidFill>
              <a:latin typeface="Roboto"/>
              <a:ea typeface="Roboto"/>
              <a:cs typeface="Roboto"/>
              <a:sym typeface="Roboto"/>
            </a:endParaRPr>
          </a:p>
        </p:txBody>
      </p:sp>
      <p:sp>
        <p:nvSpPr>
          <p:cNvPr id="2401" name="Google Shape;2401;p77"/>
          <p:cNvSpPr/>
          <p:nvPr/>
        </p:nvSpPr>
        <p:spPr>
          <a:xfrm>
            <a:off x="3580475" y="3049375"/>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P1</a:t>
            </a:r>
            <a:endParaRPr>
              <a:solidFill>
                <a:srgbClr val="B7B7B7"/>
              </a:solidFill>
              <a:latin typeface="Roboto"/>
              <a:ea typeface="Roboto"/>
              <a:cs typeface="Roboto"/>
              <a:sym typeface="Roboto"/>
            </a:endParaRPr>
          </a:p>
        </p:txBody>
      </p:sp>
      <p:cxnSp>
        <p:nvCxnSpPr>
          <p:cNvPr id="2402" name="Google Shape;2402;p77"/>
          <p:cNvCxnSpPr>
            <a:stCxn id="2399" idx="1"/>
          </p:cNvCxnSpPr>
          <p:nvPr/>
        </p:nvCxnSpPr>
        <p:spPr>
          <a:xfrm rot="10800000">
            <a:off x="1617275" y="2551375"/>
            <a:ext cx="519000" cy="0"/>
          </a:xfrm>
          <a:prstGeom prst="straightConnector1">
            <a:avLst/>
          </a:prstGeom>
          <a:noFill/>
          <a:ln cap="flat" cmpd="sng" w="9525">
            <a:solidFill>
              <a:srgbClr val="B7B7B7"/>
            </a:solidFill>
            <a:prstDash val="solid"/>
            <a:round/>
            <a:headEnd len="med" w="med" type="none"/>
            <a:tailEnd len="med" w="med" type="none"/>
          </a:ln>
        </p:spPr>
      </p:cxnSp>
      <p:cxnSp>
        <p:nvCxnSpPr>
          <p:cNvPr id="2403" name="Google Shape;2403;p77"/>
          <p:cNvCxnSpPr/>
          <p:nvPr/>
        </p:nvCxnSpPr>
        <p:spPr>
          <a:xfrm rot="10800000">
            <a:off x="1617275" y="3231225"/>
            <a:ext cx="519000" cy="0"/>
          </a:xfrm>
          <a:prstGeom prst="straightConnector1">
            <a:avLst/>
          </a:prstGeom>
          <a:noFill/>
          <a:ln cap="flat" cmpd="sng" w="9525">
            <a:solidFill>
              <a:srgbClr val="B7B7B7"/>
            </a:solidFill>
            <a:prstDash val="solid"/>
            <a:round/>
            <a:headEnd len="med" w="med" type="none"/>
            <a:tailEnd len="med" w="med" type="none"/>
          </a:ln>
        </p:spPr>
      </p:cxnSp>
      <p:cxnSp>
        <p:nvCxnSpPr>
          <p:cNvPr id="2404" name="Google Shape;2404;p77"/>
          <p:cNvCxnSpPr>
            <a:stCxn id="2399" idx="3"/>
            <a:endCxn id="2401" idx="1"/>
          </p:cNvCxnSpPr>
          <p:nvPr/>
        </p:nvCxnSpPr>
        <p:spPr>
          <a:xfrm>
            <a:off x="2421275" y="2551375"/>
            <a:ext cx="1159200" cy="640500"/>
          </a:xfrm>
          <a:prstGeom prst="straightConnector1">
            <a:avLst/>
          </a:prstGeom>
          <a:noFill/>
          <a:ln cap="flat" cmpd="sng" w="9525">
            <a:solidFill>
              <a:srgbClr val="B7B7B7"/>
            </a:solidFill>
            <a:prstDash val="solid"/>
            <a:round/>
            <a:headEnd len="med" w="med" type="none"/>
            <a:tailEnd len="med" w="med" type="none"/>
          </a:ln>
        </p:spPr>
      </p:cxnSp>
      <p:cxnSp>
        <p:nvCxnSpPr>
          <p:cNvPr id="2405" name="Google Shape;2405;p77"/>
          <p:cNvCxnSpPr>
            <a:stCxn id="2400" idx="3"/>
            <a:endCxn id="2401" idx="1"/>
          </p:cNvCxnSpPr>
          <p:nvPr/>
        </p:nvCxnSpPr>
        <p:spPr>
          <a:xfrm flipH="1" rot="10800000">
            <a:off x="2421275" y="3191925"/>
            <a:ext cx="1159200" cy="39300"/>
          </a:xfrm>
          <a:prstGeom prst="straightConnector1">
            <a:avLst/>
          </a:prstGeom>
          <a:noFill/>
          <a:ln cap="flat" cmpd="sng" w="9525">
            <a:solidFill>
              <a:srgbClr val="B7B7B7"/>
            </a:solidFill>
            <a:prstDash val="solid"/>
            <a:round/>
            <a:headEnd len="med" w="med" type="none"/>
            <a:tailEnd len="med" w="med" type="none"/>
          </a:ln>
        </p:spPr>
      </p:cxnSp>
      <p:sp>
        <p:nvSpPr>
          <p:cNvPr id="2406" name="Google Shape;2406;p77"/>
          <p:cNvSpPr/>
          <p:nvPr/>
        </p:nvSpPr>
        <p:spPr>
          <a:xfrm>
            <a:off x="1320000" y="3681488"/>
            <a:ext cx="448200" cy="3564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DB</a:t>
            </a:r>
            <a:endParaRPr sz="1200">
              <a:latin typeface="Roboto"/>
              <a:ea typeface="Roboto"/>
              <a:cs typeface="Roboto"/>
              <a:sym typeface="Roboto"/>
            </a:endParaRPr>
          </a:p>
        </p:txBody>
      </p:sp>
      <p:cxnSp>
        <p:nvCxnSpPr>
          <p:cNvPr id="2407" name="Google Shape;2407;p77"/>
          <p:cNvCxnSpPr>
            <a:stCxn id="2406" idx="4"/>
            <a:endCxn id="2408" idx="1"/>
          </p:cNvCxnSpPr>
          <p:nvPr/>
        </p:nvCxnSpPr>
        <p:spPr>
          <a:xfrm>
            <a:off x="1768200" y="3859688"/>
            <a:ext cx="430800" cy="0"/>
          </a:xfrm>
          <a:prstGeom prst="straightConnector1">
            <a:avLst/>
          </a:prstGeom>
          <a:noFill/>
          <a:ln cap="flat" cmpd="sng" w="28575">
            <a:solidFill>
              <a:schemeClr val="accent2"/>
            </a:solidFill>
            <a:prstDash val="solid"/>
            <a:round/>
            <a:headEnd len="med" w="med" type="none"/>
            <a:tailEnd len="med" w="med" type="none"/>
          </a:ln>
        </p:spPr>
      </p:cxnSp>
      <p:sp>
        <p:nvSpPr>
          <p:cNvPr id="2408" name="Google Shape;2408;p77"/>
          <p:cNvSpPr/>
          <p:nvPr/>
        </p:nvSpPr>
        <p:spPr>
          <a:xfrm>
            <a:off x="2199125" y="3691040"/>
            <a:ext cx="960600" cy="3372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Manager</a:t>
            </a:r>
            <a:endParaRPr sz="1200">
              <a:latin typeface="Roboto"/>
              <a:ea typeface="Roboto"/>
              <a:cs typeface="Roboto"/>
              <a:sym typeface="Roboto"/>
            </a:endParaRPr>
          </a:p>
        </p:txBody>
      </p:sp>
      <p:sp>
        <p:nvSpPr>
          <p:cNvPr id="2409" name="Google Shape;2409;p77"/>
          <p:cNvSpPr txBox="1"/>
          <p:nvPr/>
        </p:nvSpPr>
        <p:spPr>
          <a:xfrm>
            <a:off x="1410525" y="4345575"/>
            <a:ext cx="13218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Home network</a:t>
            </a:r>
            <a:endParaRPr>
              <a:solidFill>
                <a:schemeClr val="dk1"/>
              </a:solidFill>
              <a:latin typeface="Roboto"/>
              <a:ea typeface="Roboto"/>
              <a:cs typeface="Roboto"/>
              <a:sym typeface="Roboto"/>
            </a:endParaRPr>
          </a:p>
        </p:txBody>
      </p:sp>
      <p:sp>
        <p:nvSpPr>
          <p:cNvPr id="2410" name="Google Shape;2410;p77"/>
          <p:cNvSpPr/>
          <p:nvPr/>
        </p:nvSpPr>
        <p:spPr>
          <a:xfrm>
            <a:off x="7113932" y="2963923"/>
            <a:ext cx="780600" cy="676200"/>
          </a:xfrm>
          <a:prstGeom prst="hexagon">
            <a:avLst>
              <a:gd fmla="val 28852" name="adj"/>
              <a:gd fmla="val 115470" name="vf"/>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2411" name="Google Shape;2411;p77"/>
          <p:cNvGrpSpPr/>
          <p:nvPr/>
        </p:nvGrpSpPr>
        <p:grpSpPr>
          <a:xfrm>
            <a:off x="7414740" y="3123841"/>
            <a:ext cx="178979" cy="356361"/>
            <a:chOff x="7897625" y="3319150"/>
            <a:chExt cx="645900" cy="1285575"/>
          </a:xfrm>
        </p:grpSpPr>
        <p:sp>
          <p:nvSpPr>
            <p:cNvPr id="2412" name="Google Shape;2412;p77"/>
            <p:cNvSpPr/>
            <p:nvPr/>
          </p:nvSpPr>
          <p:spPr>
            <a:xfrm>
              <a:off x="7897625" y="3319150"/>
              <a:ext cx="645900" cy="645900"/>
            </a:xfrm>
            <a:prstGeom prst="arc">
              <a:avLst>
                <a:gd fmla="val 7001189" name="adj1"/>
                <a:gd fmla="val 3801002"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413" name="Google Shape;2413;p77"/>
            <p:cNvCxnSpPr/>
            <p:nvPr/>
          </p:nvCxnSpPr>
          <p:spPr>
            <a:xfrm flipH="1">
              <a:off x="79431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414" name="Google Shape;2414;p77"/>
            <p:cNvCxnSpPr/>
            <p:nvPr/>
          </p:nvCxnSpPr>
          <p:spPr>
            <a:xfrm rot="10800000">
              <a:off x="8221225" y="3567325"/>
              <a:ext cx="278100" cy="1037400"/>
            </a:xfrm>
            <a:prstGeom prst="straightConnector1">
              <a:avLst/>
            </a:prstGeom>
            <a:noFill/>
            <a:ln cap="flat" cmpd="sng" w="9525">
              <a:solidFill>
                <a:srgbClr val="B7B7B7"/>
              </a:solidFill>
              <a:prstDash val="solid"/>
              <a:round/>
              <a:headEnd len="med" w="med" type="none"/>
              <a:tailEnd len="med" w="med" type="none"/>
            </a:ln>
          </p:spPr>
        </p:cxnSp>
        <p:cxnSp>
          <p:nvCxnSpPr>
            <p:cNvPr id="2415" name="Google Shape;2415;p77"/>
            <p:cNvCxnSpPr/>
            <p:nvPr/>
          </p:nvCxnSpPr>
          <p:spPr>
            <a:xfrm>
              <a:off x="813197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416" name="Google Shape;2416;p77"/>
            <p:cNvCxnSpPr/>
            <p:nvPr/>
          </p:nvCxnSpPr>
          <p:spPr>
            <a:xfrm flipH="1">
              <a:off x="8100725" y="3895675"/>
              <a:ext cx="211200" cy="121800"/>
            </a:xfrm>
            <a:prstGeom prst="straightConnector1">
              <a:avLst/>
            </a:prstGeom>
            <a:noFill/>
            <a:ln cap="flat" cmpd="sng" w="9525">
              <a:solidFill>
                <a:srgbClr val="B7B7B7"/>
              </a:solidFill>
              <a:prstDash val="solid"/>
              <a:round/>
              <a:headEnd len="med" w="med" type="none"/>
              <a:tailEnd len="med" w="med" type="none"/>
            </a:ln>
          </p:spPr>
        </p:cxnSp>
        <p:cxnSp>
          <p:nvCxnSpPr>
            <p:cNvPr id="2417" name="Google Shape;2417;p77"/>
            <p:cNvCxnSpPr/>
            <p:nvPr/>
          </p:nvCxnSpPr>
          <p:spPr>
            <a:xfrm>
              <a:off x="8082625"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418" name="Google Shape;2418;p77"/>
            <p:cNvCxnSpPr/>
            <p:nvPr/>
          </p:nvCxnSpPr>
          <p:spPr>
            <a:xfrm flipH="1">
              <a:off x="8030200" y="4095650"/>
              <a:ext cx="332400" cy="192000"/>
            </a:xfrm>
            <a:prstGeom prst="straightConnector1">
              <a:avLst/>
            </a:prstGeom>
            <a:noFill/>
            <a:ln cap="flat" cmpd="sng" w="9525">
              <a:solidFill>
                <a:srgbClr val="B7B7B7"/>
              </a:solidFill>
              <a:prstDash val="solid"/>
              <a:round/>
              <a:headEnd len="med" w="med" type="none"/>
              <a:tailEnd len="med" w="med" type="none"/>
            </a:ln>
          </p:spPr>
        </p:cxnSp>
        <p:cxnSp>
          <p:nvCxnSpPr>
            <p:cNvPr id="2419" name="Google Shape;2419;p77"/>
            <p:cNvCxnSpPr/>
            <p:nvPr/>
          </p:nvCxnSpPr>
          <p:spPr>
            <a:xfrm>
              <a:off x="7996575" y="4404125"/>
              <a:ext cx="486000" cy="130200"/>
            </a:xfrm>
            <a:prstGeom prst="straightConnector1">
              <a:avLst/>
            </a:prstGeom>
            <a:noFill/>
            <a:ln cap="flat" cmpd="sng" w="9525">
              <a:solidFill>
                <a:srgbClr val="B7B7B7"/>
              </a:solidFill>
              <a:prstDash val="solid"/>
              <a:round/>
              <a:headEnd len="med" w="med" type="none"/>
              <a:tailEnd len="med" w="med" type="none"/>
            </a:ln>
          </p:spPr>
        </p:cxnSp>
        <p:cxnSp>
          <p:nvCxnSpPr>
            <p:cNvPr id="2420" name="Google Shape;2420;p77"/>
            <p:cNvCxnSpPr/>
            <p:nvPr/>
          </p:nvCxnSpPr>
          <p:spPr>
            <a:xfrm flipH="1">
              <a:off x="7963325" y="4404125"/>
              <a:ext cx="486000" cy="130200"/>
            </a:xfrm>
            <a:prstGeom prst="straightConnector1">
              <a:avLst/>
            </a:prstGeom>
            <a:noFill/>
            <a:ln cap="flat" cmpd="sng" w="9525">
              <a:solidFill>
                <a:srgbClr val="B7B7B7"/>
              </a:solidFill>
              <a:prstDash val="solid"/>
              <a:round/>
              <a:headEnd len="med" w="med" type="none"/>
              <a:tailEnd len="med" w="med" type="none"/>
            </a:ln>
          </p:spPr>
        </p:cxnSp>
        <p:sp>
          <p:nvSpPr>
            <p:cNvPr id="2421" name="Google Shape;2421;p77"/>
            <p:cNvSpPr/>
            <p:nvPr/>
          </p:nvSpPr>
          <p:spPr>
            <a:xfrm>
              <a:off x="8061866" y="3483399"/>
              <a:ext cx="317400" cy="317400"/>
            </a:xfrm>
            <a:prstGeom prst="arc">
              <a:avLst>
                <a:gd fmla="val 7725701" name="adj1"/>
                <a:gd fmla="val 2980561"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22" name="Google Shape;2422;p77"/>
            <p:cNvSpPr/>
            <p:nvPr/>
          </p:nvSpPr>
          <p:spPr>
            <a:xfrm>
              <a:off x="7977575" y="3399100"/>
              <a:ext cx="486000" cy="486000"/>
            </a:xfrm>
            <a:prstGeom prst="arc">
              <a:avLst>
                <a:gd fmla="val 7288460" name="adj1"/>
                <a:gd fmla="val 3507633" name="adj2"/>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23" name="Google Shape;2423;p77"/>
            <p:cNvSpPr/>
            <p:nvPr/>
          </p:nvSpPr>
          <p:spPr>
            <a:xfrm>
              <a:off x="8198675" y="3551600"/>
              <a:ext cx="43800" cy="43800"/>
            </a:xfrm>
            <a:prstGeom prst="ellipse">
              <a:avLst/>
            </a:prstGeom>
            <a:no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2424" name="Google Shape;2424;p77"/>
          <p:cNvSpPr/>
          <p:nvPr/>
        </p:nvSpPr>
        <p:spPr>
          <a:xfrm>
            <a:off x="7113920" y="3640123"/>
            <a:ext cx="780600" cy="676200"/>
          </a:xfrm>
          <a:prstGeom prst="hexagon">
            <a:avLst>
              <a:gd fmla="val 28852" name="adj"/>
              <a:gd fmla="val 115470" name="vf"/>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nvGrpSpPr>
          <p:cNvPr id="2425" name="Google Shape;2425;p77"/>
          <p:cNvGrpSpPr/>
          <p:nvPr/>
        </p:nvGrpSpPr>
        <p:grpSpPr>
          <a:xfrm>
            <a:off x="7414728" y="3800041"/>
            <a:ext cx="178979" cy="356361"/>
            <a:chOff x="7897625" y="3319150"/>
            <a:chExt cx="645900" cy="1285575"/>
          </a:xfrm>
        </p:grpSpPr>
        <p:sp>
          <p:nvSpPr>
            <p:cNvPr id="2426" name="Google Shape;2426;p77"/>
            <p:cNvSpPr/>
            <p:nvPr/>
          </p:nvSpPr>
          <p:spPr>
            <a:xfrm>
              <a:off x="7897625" y="3319150"/>
              <a:ext cx="645900" cy="645900"/>
            </a:xfrm>
            <a:prstGeom prst="arc">
              <a:avLst>
                <a:gd fmla="val 7001189" name="adj1"/>
                <a:gd fmla="val 3801002"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2427" name="Google Shape;2427;p77"/>
            <p:cNvCxnSpPr/>
            <p:nvPr/>
          </p:nvCxnSpPr>
          <p:spPr>
            <a:xfrm flipH="1">
              <a:off x="79431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2428" name="Google Shape;2428;p77"/>
            <p:cNvCxnSpPr/>
            <p:nvPr/>
          </p:nvCxnSpPr>
          <p:spPr>
            <a:xfrm rot="10800000">
              <a:off x="8221225" y="3567325"/>
              <a:ext cx="278100" cy="1037400"/>
            </a:xfrm>
            <a:prstGeom prst="straightConnector1">
              <a:avLst/>
            </a:prstGeom>
            <a:noFill/>
            <a:ln cap="flat" cmpd="sng" w="9525">
              <a:solidFill>
                <a:schemeClr val="dk2"/>
              </a:solidFill>
              <a:prstDash val="solid"/>
              <a:round/>
              <a:headEnd len="med" w="med" type="none"/>
              <a:tailEnd len="med" w="med" type="none"/>
            </a:ln>
          </p:spPr>
        </p:cxnSp>
        <p:cxnSp>
          <p:nvCxnSpPr>
            <p:cNvPr id="2429" name="Google Shape;2429;p77"/>
            <p:cNvCxnSpPr/>
            <p:nvPr/>
          </p:nvCxnSpPr>
          <p:spPr>
            <a:xfrm>
              <a:off x="813197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2430" name="Google Shape;2430;p77"/>
            <p:cNvCxnSpPr/>
            <p:nvPr/>
          </p:nvCxnSpPr>
          <p:spPr>
            <a:xfrm flipH="1">
              <a:off x="8100725" y="3895675"/>
              <a:ext cx="211200" cy="121800"/>
            </a:xfrm>
            <a:prstGeom prst="straightConnector1">
              <a:avLst/>
            </a:prstGeom>
            <a:noFill/>
            <a:ln cap="flat" cmpd="sng" w="9525">
              <a:solidFill>
                <a:schemeClr val="dk2"/>
              </a:solidFill>
              <a:prstDash val="solid"/>
              <a:round/>
              <a:headEnd len="med" w="med" type="none"/>
              <a:tailEnd len="med" w="med" type="none"/>
            </a:ln>
          </p:spPr>
        </p:cxnSp>
        <p:cxnSp>
          <p:nvCxnSpPr>
            <p:cNvPr id="2431" name="Google Shape;2431;p77"/>
            <p:cNvCxnSpPr/>
            <p:nvPr/>
          </p:nvCxnSpPr>
          <p:spPr>
            <a:xfrm>
              <a:off x="8082625"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2432" name="Google Shape;2432;p77"/>
            <p:cNvCxnSpPr/>
            <p:nvPr/>
          </p:nvCxnSpPr>
          <p:spPr>
            <a:xfrm flipH="1">
              <a:off x="8030200" y="4095650"/>
              <a:ext cx="332400" cy="192000"/>
            </a:xfrm>
            <a:prstGeom prst="straightConnector1">
              <a:avLst/>
            </a:prstGeom>
            <a:noFill/>
            <a:ln cap="flat" cmpd="sng" w="9525">
              <a:solidFill>
                <a:schemeClr val="dk2"/>
              </a:solidFill>
              <a:prstDash val="solid"/>
              <a:round/>
              <a:headEnd len="med" w="med" type="none"/>
              <a:tailEnd len="med" w="med" type="none"/>
            </a:ln>
          </p:spPr>
        </p:cxnSp>
        <p:cxnSp>
          <p:nvCxnSpPr>
            <p:cNvPr id="2433" name="Google Shape;2433;p77"/>
            <p:cNvCxnSpPr/>
            <p:nvPr/>
          </p:nvCxnSpPr>
          <p:spPr>
            <a:xfrm>
              <a:off x="7996575" y="4404125"/>
              <a:ext cx="486000" cy="130200"/>
            </a:xfrm>
            <a:prstGeom prst="straightConnector1">
              <a:avLst/>
            </a:prstGeom>
            <a:noFill/>
            <a:ln cap="flat" cmpd="sng" w="9525">
              <a:solidFill>
                <a:schemeClr val="dk2"/>
              </a:solidFill>
              <a:prstDash val="solid"/>
              <a:round/>
              <a:headEnd len="med" w="med" type="none"/>
              <a:tailEnd len="med" w="med" type="none"/>
            </a:ln>
          </p:spPr>
        </p:cxnSp>
        <p:cxnSp>
          <p:nvCxnSpPr>
            <p:cNvPr id="2434" name="Google Shape;2434;p77"/>
            <p:cNvCxnSpPr/>
            <p:nvPr/>
          </p:nvCxnSpPr>
          <p:spPr>
            <a:xfrm flipH="1">
              <a:off x="7963325" y="4404125"/>
              <a:ext cx="486000" cy="130200"/>
            </a:xfrm>
            <a:prstGeom prst="straightConnector1">
              <a:avLst/>
            </a:prstGeom>
            <a:noFill/>
            <a:ln cap="flat" cmpd="sng" w="9525">
              <a:solidFill>
                <a:schemeClr val="dk2"/>
              </a:solidFill>
              <a:prstDash val="solid"/>
              <a:round/>
              <a:headEnd len="med" w="med" type="none"/>
              <a:tailEnd len="med" w="med" type="none"/>
            </a:ln>
          </p:spPr>
        </p:cxnSp>
        <p:sp>
          <p:nvSpPr>
            <p:cNvPr id="2435" name="Google Shape;2435;p77"/>
            <p:cNvSpPr/>
            <p:nvPr/>
          </p:nvSpPr>
          <p:spPr>
            <a:xfrm>
              <a:off x="8061866" y="3483399"/>
              <a:ext cx="317400" cy="317400"/>
            </a:xfrm>
            <a:prstGeom prst="arc">
              <a:avLst>
                <a:gd fmla="val 7725701" name="adj1"/>
                <a:gd fmla="val 2980561"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36" name="Google Shape;2436;p77"/>
            <p:cNvSpPr/>
            <p:nvPr/>
          </p:nvSpPr>
          <p:spPr>
            <a:xfrm>
              <a:off x="7977575" y="3399100"/>
              <a:ext cx="486000" cy="486000"/>
            </a:xfrm>
            <a:prstGeom prst="arc">
              <a:avLst>
                <a:gd fmla="val 7288460" name="adj1"/>
                <a:gd fmla="val 3507633"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437" name="Google Shape;2437;p77"/>
            <p:cNvSpPr/>
            <p:nvPr/>
          </p:nvSpPr>
          <p:spPr>
            <a:xfrm>
              <a:off x="8198675" y="3551600"/>
              <a:ext cx="43800" cy="43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grpSp>
      <p:sp>
        <p:nvSpPr>
          <p:cNvPr id="2438" name="Google Shape;2438;p77"/>
          <p:cNvSpPr/>
          <p:nvPr/>
        </p:nvSpPr>
        <p:spPr>
          <a:xfrm>
            <a:off x="6513693" y="3159536"/>
            <a:ext cx="285000" cy="285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solidFill>
                  <a:srgbClr val="B7B7B7"/>
                </a:solidFill>
                <a:latin typeface="Roboto"/>
                <a:ea typeface="Roboto"/>
                <a:cs typeface="Roboto"/>
                <a:sym typeface="Roboto"/>
              </a:rPr>
              <a:t>R3</a:t>
            </a:r>
            <a:endParaRPr>
              <a:solidFill>
                <a:srgbClr val="B7B7B7"/>
              </a:solidFill>
              <a:latin typeface="Roboto"/>
              <a:ea typeface="Roboto"/>
              <a:cs typeface="Roboto"/>
              <a:sym typeface="Roboto"/>
            </a:endParaRPr>
          </a:p>
        </p:txBody>
      </p:sp>
      <p:sp>
        <p:nvSpPr>
          <p:cNvPr id="2439" name="Google Shape;2439;p77"/>
          <p:cNvSpPr/>
          <p:nvPr/>
        </p:nvSpPr>
        <p:spPr>
          <a:xfrm>
            <a:off x="6513693" y="3839386"/>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R4</a:t>
            </a:r>
            <a:endParaRPr>
              <a:latin typeface="Roboto"/>
              <a:ea typeface="Roboto"/>
              <a:cs typeface="Roboto"/>
              <a:sym typeface="Roboto"/>
            </a:endParaRPr>
          </a:p>
        </p:txBody>
      </p:sp>
      <p:cxnSp>
        <p:nvCxnSpPr>
          <p:cNvPr id="2440" name="Google Shape;2440;p77"/>
          <p:cNvCxnSpPr>
            <a:stCxn id="2438" idx="3"/>
          </p:cNvCxnSpPr>
          <p:nvPr/>
        </p:nvCxnSpPr>
        <p:spPr>
          <a:xfrm>
            <a:off x="6798693" y="3302036"/>
            <a:ext cx="539700" cy="0"/>
          </a:xfrm>
          <a:prstGeom prst="straightConnector1">
            <a:avLst/>
          </a:prstGeom>
          <a:noFill/>
          <a:ln cap="flat" cmpd="sng" w="9525">
            <a:solidFill>
              <a:srgbClr val="B7B7B7"/>
            </a:solidFill>
            <a:prstDash val="solid"/>
            <a:round/>
            <a:headEnd len="med" w="med" type="none"/>
            <a:tailEnd len="med" w="med" type="none"/>
          </a:ln>
        </p:spPr>
      </p:cxnSp>
      <p:cxnSp>
        <p:nvCxnSpPr>
          <p:cNvPr id="2441" name="Google Shape;2441;p77"/>
          <p:cNvCxnSpPr>
            <a:stCxn id="2439" idx="3"/>
          </p:cNvCxnSpPr>
          <p:nvPr/>
        </p:nvCxnSpPr>
        <p:spPr>
          <a:xfrm>
            <a:off x="6798693" y="3981886"/>
            <a:ext cx="539700" cy="0"/>
          </a:xfrm>
          <a:prstGeom prst="straightConnector1">
            <a:avLst/>
          </a:prstGeom>
          <a:noFill/>
          <a:ln cap="flat" cmpd="sng" w="28575">
            <a:solidFill>
              <a:srgbClr val="0000FF"/>
            </a:solidFill>
            <a:prstDash val="solid"/>
            <a:round/>
            <a:headEnd len="med" w="med" type="none"/>
            <a:tailEnd len="med" w="med" type="none"/>
          </a:ln>
        </p:spPr>
      </p:cxnSp>
      <p:cxnSp>
        <p:nvCxnSpPr>
          <p:cNvPr id="2442" name="Google Shape;2442;p77"/>
          <p:cNvCxnSpPr>
            <a:stCxn id="2438" idx="1"/>
            <a:endCxn id="2443" idx="3"/>
          </p:cNvCxnSpPr>
          <p:nvPr/>
        </p:nvCxnSpPr>
        <p:spPr>
          <a:xfrm flipH="1">
            <a:off x="5507193" y="3302036"/>
            <a:ext cx="1006500" cy="320700"/>
          </a:xfrm>
          <a:prstGeom prst="straightConnector1">
            <a:avLst/>
          </a:prstGeom>
          <a:noFill/>
          <a:ln cap="flat" cmpd="sng" w="9525">
            <a:solidFill>
              <a:srgbClr val="B7B7B7"/>
            </a:solidFill>
            <a:prstDash val="solid"/>
            <a:round/>
            <a:headEnd len="med" w="med" type="none"/>
            <a:tailEnd len="med" w="med" type="none"/>
          </a:ln>
        </p:spPr>
      </p:cxnSp>
      <p:cxnSp>
        <p:nvCxnSpPr>
          <p:cNvPr id="2444" name="Google Shape;2444;p77"/>
          <p:cNvCxnSpPr>
            <a:stCxn id="2439" idx="1"/>
            <a:endCxn id="2443" idx="3"/>
          </p:cNvCxnSpPr>
          <p:nvPr/>
        </p:nvCxnSpPr>
        <p:spPr>
          <a:xfrm rot="10800000">
            <a:off x="5507193" y="3622786"/>
            <a:ext cx="1006500" cy="359100"/>
          </a:xfrm>
          <a:prstGeom prst="straightConnector1">
            <a:avLst/>
          </a:prstGeom>
          <a:noFill/>
          <a:ln cap="flat" cmpd="sng" w="28575">
            <a:solidFill>
              <a:srgbClr val="0000FF"/>
            </a:solidFill>
            <a:prstDash val="solid"/>
            <a:round/>
            <a:headEnd len="med" w="med" type="none"/>
            <a:tailEnd len="med" w="med" type="none"/>
          </a:ln>
        </p:spPr>
      </p:cxnSp>
      <p:sp>
        <p:nvSpPr>
          <p:cNvPr id="2445" name="Google Shape;2445;p77"/>
          <p:cNvSpPr/>
          <p:nvPr/>
        </p:nvSpPr>
        <p:spPr>
          <a:xfrm>
            <a:off x="7373818" y="4432148"/>
            <a:ext cx="448200" cy="356400"/>
          </a:xfrm>
          <a:prstGeom prst="can">
            <a:avLst>
              <a:gd fmla="val 25000"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DB</a:t>
            </a:r>
            <a:endParaRPr sz="1200">
              <a:latin typeface="Roboto"/>
              <a:ea typeface="Roboto"/>
              <a:cs typeface="Roboto"/>
              <a:sym typeface="Roboto"/>
            </a:endParaRPr>
          </a:p>
        </p:txBody>
      </p:sp>
      <p:cxnSp>
        <p:nvCxnSpPr>
          <p:cNvPr id="2446" name="Google Shape;2446;p77"/>
          <p:cNvCxnSpPr>
            <a:stCxn id="2445" idx="2"/>
            <a:endCxn id="2447" idx="3"/>
          </p:cNvCxnSpPr>
          <p:nvPr/>
        </p:nvCxnSpPr>
        <p:spPr>
          <a:xfrm rot="10800000">
            <a:off x="6927418" y="4610348"/>
            <a:ext cx="446400" cy="0"/>
          </a:xfrm>
          <a:prstGeom prst="straightConnector1">
            <a:avLst/>
          </a:prstGeom>
          <a:noFill/>
          <a:ln cap="flat" cmpd="sng" w="28575">
            <a:solidFill>
              <a:schemeClr val="accent2"/>
            </a:solidFill>
            <a:prstDash val="solid"/>
            <a:round/>
            <a:headEnd len="med" w="med" type="none"/>
            <a:tailEnd len="med" w="med" type="none"/>
          </a:ln>
        </p:spPr>
      </p:cxnSp>
      <p:sp>
        <p:nvSpPr>
          <p:cNvPr id="2447" name="Google Shape;2447;p77"/>
          <p:cNvSpPr/>
          <p:nvPr/>
        </p:nvSpPr>
        <p:spPr>
          <a:xfrm>
            <a:off x="5966943" y="4441701"/>
            <a:ext cx="960600" cy="337200"/>
          </a:xfrm>
          <a:prstGeom prst="roundRect">
            <a:avLst>
              <a:gd fmla="val 16667" name="adj"/>
            </a:avLst>
          </a:prstGeom>
          <a:solidFill>
            <a:srgbClr val="D9D2E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Manager</a:t>
            </a:r>
            <a:endParaRPr sz="1200">
              <a:latin typeface="Roboto"/>
              <a:ea typeface="Roboto"/>
              <a:cs typeface="Roboto"/>
              <a:sym typeface="Roboto"/>
            </a:endParaRPr>
          </a:p>
        </p:txBody>
      </p:sp>
      <p:sp>
        <p:nvSpPr>
          <p:cNvPr id="2448" name="Google Shape;2448;p77"/>
          <p:cNvSpPr txBox="1"/>
          <p:nvPr/>
        </p:nvSpPr>
        <p:spPr>
          <a:xfrm>
            <a:off x="6204943" y="2366536"/>
            <a:ext cx="1321800" cy="270900"/>
          </a:xfrm>
          <a:prstGeom prst="rect">
            <a:avLst/>
          </a:prstGeom>
          <a:noFill/>
          <a:ln>
            <a:noFill/>
          </a:ln>
        </p:spPr>
        <p:txBody>
          <a:bodyPr anchorCtr="0" anchor="t" bIns="27425" lIns="27425" spcFirstLastPara="1" rIns="27425" wrap="square" tIns="27425">
            <a:spAutoFit/>
          </a:bodyPr>
          <a:lstStyle/>
          <a:p>
            <a:pPr indent="0" lvl="0" marL="0" rtl="0" algn="ctr">
              <a:spcBef>
                <a:spcPts val="0"/>
              </a:spcBef>
              <a:spcAft>
                <a:spcPts val="0"/>
              </a:spcAft>
              <a:buNone/>
            </a:pPr>
            <a:r>
              <a:rPr lang="en">
                <a:solidFill>
                  <a:schemeClr val="dk1"/>
                </a:solidFill>
                <a:latin typeface="Roboto"/>
                <a:ea typeface="Roboto"/>
                <a:cs typeface="Roboto"/>
                <a:sym typeface="Roboto"/>
              </a:rPr>
              <a:t>Visited network</a:t>
            </a:r>
            <a:endParaRPr>
              <a:solidFill>
                <a:schemeClr val="dk1"/>
              </a:solidFill>
              <a:latin typeface="Roboto"/>
              <a:ea typeface="Roboto"/>
              <a:cs typeface="Roboto"/>
              <a:sym typeface="Roboto"/>
            </a:endParaRPr>
          </a:p>
        </p:txBody>
      </p:sp>
      <p:sp>
        <p:nvSpPr>
          <p:cNvPr id="2449" name="Google Shape;2449;p77"/>
          <p:cNvSpPr/>
          <p:nvPr/>
        </p:nvSpPr>
        <p:spPr>
          <a:xfrm>
            <a:off x="3849180" y="2213275"/>
            <a:ext cx="1371900" cy="2459400"/>
          </a:xfrm>
          <a:prstGeom prst="ellipse">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Internet</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p:txBody>
      </p:sp>
      <p:cxnSp>
        <p:nvCxnSpPr>
          <p:cNvPr id="2450" name="Google Shape;2450;p77"/>
          <p:cNvCxnSpPr>
            <a:stCxn id="2408" idx="3"/>
            <a:endCxn id="2447" idx="1"/>
          </p:cNvCxnSpPr>
          <p:nvPr/>
        </p:nvCxnSpPr>
        <p:spPr>
          <a:xfrm>
            <a:off x="3159725" y="3859640"/>
            <a:ext cx="2807100" cy="750600"/>
          </a:xfrm>
          <a:prstGeom prst="straightConnector1">
            <a:avLst/>
          </a:prstGeom>
          <a:noFill/>
          <a:ln cap="flat" cmpd="sng" w="28575">
            <a:solidFill>
              <a:schemeClr val="accent2"/>
            </a:solidFill>
            <a:prstDash val="solid"/>
            <a:round/>
            <a:headEnd len="med" w="med" type="none"/>
            <a:tailEnd len="med" w="med" type="none"/>
          </a:ln>
        </p:spPr>
      </p:cxnSp>
      <p:grpSp>
        <p:nvGrpSpPr>
          <p:cNvPr id="2451" name="Google Shape;2451;p77"/>
          <p:cNvGrpSpPr/>
          <p:nvPr/>
        </p:nvGrpSpPr>
        <p:grpSpPr>
          <a:xfrm flipH="1">
            <a:off x="8015125" y="3665768"/>
            <a:ext cx="384763" cy="551700"/>
            <a:chOff x="160300" y="2651875"/>
            <a:chExt cx="384763" cy="551700"/>
          </a:xfrm>
        </p:grpSpPr>
        <p:pic>
          <p:nvPicPr>
            <p:cNvPr id="2452" name="Google Shape;2452;p77"/>
            <p:cNvPicPr preferRelativeResize="0"/>
            <p:nvPr/>
          </p:nvPicPr>
          <p:blipFill rotWithShape="1">
            <a:blip r:embed="rId3">
              <a:alphaModFix/>
            </a:blip>
            <a:srcRect b="0" l="28918" r="14645" t="0"/>
            <a:stretch/>
          </p:blipFill>
          <p:spPr>
            <a:xfrm flipH="1">
              <a:off x="160300" y="2651875"/>
              <a:ext cx="311375" cy="551700"/>
            </a:xfrm>
            <a:prstGeom prst="rect">
              <a:avLst/>
            </a:prstGeom>
            <a:noFill/>
            <a:ln>
              <a:noFill/>
            </a:ln>
          </p:spPr>
        </p:pic>
        <p:pic>
          <p:nvPicPr>
            <p:cNvPr id="2453" name="Google Shape;2453;p77"/>
            <p:cNvPicPr preferRelativeResize="0"/>
            <p:nvPr/>
          </p:nvPicPr>
          <p:blipFill rotWithShape="1">
            <a:blip r:embed="rId4">
              <a:alphaModFix/>
            </a:blip>
            <a:srcRect b="0" l="16440" r="15845" t="0"/>
            <a:stretch/>
          </p:blipFill>
          <p:spPr>
            <a:xfrm>
              <a:off x="431525" y="2887247"/>
              <a:ext cx="113537" cy="167675"/>
            </a:xfrm>
            <a:prstGeom prst="rect">
              <a:avLst/>
            </a:prstGeom>
            <a:noFill/>
            <a:ln>
              <a:noFill/>
            </a:ln>
          </p:spPr>
        </p:pic>
      </p:grpSp>
      <p:cxnSp>
        <p:nvCxnSpPr>
          <p:cNvPr id="2454" name="Google Shape;2454;p77"/>
          <p:cNvCxnSpPr/>
          <p:nvPr/>
        </p:nvCxnSpPr>
        <p:spPr>
          <a:xfrm>
            <a:off x="7618800" y="3981875"/>
            <a:ext cx="344700" cy="0"/>
          </a:xfrm>
          <a:prstGeom prst="straightConnector1">
            <a:avLst/>
          </a:prstGeom>
          <a:noFill/>
          <a:ln cap="flat" cmpd="sng" w="28575">
            <a:solidFill>
              <a:srgbClr val="0000FF"/>
            </a:solidFill>
            <a:prstDash val="solid"/>
            <a:round/>
            <a:headEnd len="med" w="med" type="none"/>
            <a:tailEnd len="med" w="med" type="none"/>
          </a:ln>
        </p:spPr>
      </p:cxnSp>
      <p:cxnSp>
        <p:nvCxnSpPr>
          <p:cNvPr id="2455" name="Google Shape;2455;p77"/>
          <p:cNvCxnSpPr/>
          <p:nvPr/>
        </p:nvCxnSpPr>
        <p:spPr>
          <a:xfrm>
            <a:off x="3861775" y="3196675"/>
            <a:ext cx="1360500" cy="447300"/>
          </a:xfrm>
          <a:prstGeom prst="straightConnector1">
            <a:avLst/>
          </a:prstGeom>
          <a:noFill/>
          <a:ln cap="flat" cmpd="sng" w="9525">
            <a:solidFill>
              <a:srgbClr val="B7B7B7"/>
            </a:solidFill>
            <a:prstDash val="solid"/>
            <a:round/>
            <a:headEnd len="med" w="med" type="none"/>
            <a:tailEnd len="med" w="med" type="none"/>
          </a:ln>
        </p:spPr>
      </p:cxnSp>
      <p:sp>
        <p:nvSpPr>
          <p:cNvPr id="2456" name="Google Shape;2456;p77"/>
          <p:cNvSpPr/>
          <p:nvPr/>
        </p:nvSpPr>
        <p:spPr>
          <a:xfrm>
            <a:off x="4595725" y="2772200"/>
            <a:ext cx="625375" cy="869100"/>
          </a:xfrm>
          <a:custGeom>
            <a:rect b="b" l="l" r="r" t="t"/>
            <a:pathLst>
              <a:path extrusionOk="0" h="34764" w="25015">
                <a:moveTo>
                  <a:pt x="25015" y="34764"/>
                </a:moveTo>
                <a:cubicBezTo>
                  <a:pt x="22450" y="33118"/>
                  <a:pt x="13791" y="30681"/>
                  <a:pt x="9622" y="24887"/>
                </a:cubicBezTo>
                <a:cubicBezTo>
                  <a:pt x="5453" y="19093"/>
                  <a:pt x="1604" y="4148"/>
                  <a:pt x="0" y="0"/>
                </a:cubicBezTo>
              </a:path>
            </a:pathLst>
          </a:custGeom>
          <a:noFill/>
          <a:ln cap="flat" cmpd="sng" w="28575">
            <a:solidFill>
              <a:srgbClr val="0000FF"/>
            </a:solidFill>
            <a:prstDash val="solid"/>
            <a:round/>
            <a:headEnd len="med" w="med" type="none"/>
            <a:tailEnd len="med" w="med" type="triangle"/>
          </a:ln>
        </p:spPr>
      </p:sp>
      <p:sp>
        <p:nvSpPr>
          <p:cNvPr id="2443" name="Google Shape;2443;p77"/>
          <p:cNvSpPr/>
          <p:nvPr/>
        </p:nvSpPr>
        <p:spPr>
          <a:xfrm>
            <a:off x="5222268" y="3480211"/>
            <a:ext cx="285000" cy="28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lang="en">
                <a:latin typeface="Roboto"/>
                <a:ea typeface="Roboto"/>
                <a:cs typeface="Roboto"/>
                <a:sym typeface="Roboto"/>
              </a:rPr>
              <a:t>P2</a:t>
            </a:r>
            <a:endParaRPr>
              <a:latin typeface="Roboto"/>
              <a:ea typeface="Roboto"/>
              <a:cs typeface="Roboto"/>
              <a:sym typeface="Roboto"/>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0" name="Shape 2460"/>
        <p:cNvGrpSpPr/>
        <p:nvPr/>
      </p:nvGrpSpPr>
      <p:grpSpPr>
        <a:xfrm>
          <a:off x="0" y="0"/>
          <a:ext cx="0" cy="0"/>
          <a:chOff x="0" y="0"/>
          <a:chExt cx="0" cy="0"/>
        </a:xfrm>
      </p:grpSpPr>
      <p:sp>
        <p:nvSpPr>
          <p:cNvPr id="2461" name="Google Shape;2461;p78"/>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Additional Operations</a:t>
            </a:r>
            <a:endParaRPr/>
          </a:p>
        </p:txBody>
      </p:sp>
      <p:sp>
        <p:nvSpPr>
          <p:cNvPr id="2462" name="Google Shape;2462;p78"/>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Other operations in cellular networks:</a:t>
            </a:r>
            <a:endParaRPr/>
          </a:p>
          <a:p>
            <a:pPr indent="-342900" lvl="0" marL="457200" rtl="0" algn="l">
              <a:spcBef>
                <a:spcPts val="600"/>
              </a:spcBef>
              <a:spcAft>
                <a:spcPts val="0"/>
              </a:spcAft>
              <a:buSzPts val="1800"/>
              <a:buChar char="●"/>
            </a:pPr>
            <a:r>
              <a:rPr b="1" lang="en"/>
              <a:t>Lawful intercept</a:t>
            </a:r>
            <a:r>
              <a:rPr lang="en"/>
              <a:t>:</a:t>
            </a:r>
            <a:endParaRPr/>
          </a:p>
          <a:p>
            <a:pPr indent="-342900" lvl="1" marL="914400" rtl="0" algn="l">
              <a:spcBef>
                <a:spcPts val="0"/>
              </a:spcBef>
              <a:spcAft>
                <a:spcPts val="0"/>
              </a:spcAft>
              <a:buSzPts val="1800"/>
              <a:buChar char="○"/>
            </a:pPr>
            <a:r>
              <a:rPr lang="en"/>
              <a:t>Allows law enforcement to wiretap specific subscribers.</a:t>
            </a:r>
            <a:endParaRPr/>
          </a:p>
          <a:p>
            <a:pPr indent="-342900" lvl="1" marL="914400" rtl="0" algn="l">
              <a:spcBef>
                <a:spcPts val="0"/>
              </a:spcBef>
              <a:spcAft>
                <a:spcPts val="0"/>
              </a:spcAft>
              <a:buSzPts val="1800"/>
              <a:buChar char="○"/>
            </a:pPr>
            <a:r>
              <a:rPr lang="en"/>
              <a:t>Operators must be able to fulfill wiretap requests.</a:t>
            </a:r>
            <a:endParaRPr/>
          </a:p>
          <a:p>
            <a:pPr indent="-342900" lvl="0" marL="457200" rtl="0" algn="l">
              <a:spcBef>
                <a:spcPts val="0"/>
              </a:spcBef>
              <a:spcAft>
                <a:spcPts val="0"/>
              </a:spcAft>
              <a:buSzPts val="1800"/>
              <a:buChar char="●"/>
            </a:pPr>
            <a:r>
              <a:rPr b="1" lang="en"/>
              <a:t>Stolen phone registries</a:t>
            </a:r>
            <a:r>
              <a:rPr lang="en"/>
              <a:t>:</a:t>
            </a:r>
            <a:endParaRPr/>
          </a:p>
          <a:p>
            <a:pPr indent="-342900" lvl="1" marL="914400" rtl="0" algn="l">
              <a:spcBef>
                <a:spcPts val="0"/>
              </a:spcBef>
              <a:spcAft>
                <a:spcPts val="0"/>
              </a:spcAft>
              <a:buSzPts val="1800"/>
              <a:buChar char="○"/>
            </a:pPr>
            <a:r>
              <a:rPr lang="en"/>
              <a:t>Users can report their phone stolen.</a:t>
            </a:r>
            <a:endParaRPr/>
          </a:p>
          <a:p>
            <a:pPr indent="-342900" lvl="1" marL="914400" rtl="0" algn="l">
              <a:spcBef>
                <a:spcPts val="0"/>
              </a:spcBef>
              <a:spcAft>
                <a:spcPts val="0"/>
              </a:spcAft>
              <a:buSzPts val="1800"/>
              <a:buChar char="○"/>
            </a:pPr>
            <a:r>
              <a:rPr lang="en"/>
              <a:t>If someone connects stolen phone to network, the phone can be tracked.</a:t>
            </a:r>
            <a:endParaRPr/>
          </a:p>
          <a:p>
            <a:pPr indent="-342900" lvl="1" marL="914400" rtl="0" algn="l">
              <a:spcBef>
                <a:spcPts val="0"/>
              </a:spcBef>
              <a:spcAft>
                <a:spcPts val="0"/>
              </a:spcAft>
              <a:buSzPts val="1800"/>
              <a:buChar char="○"/>
            </a:pPr>
            <a:r>
              <a:rPr lang="en"/>
              <a:t>Use IMEI (burned into phone) to identify the stolen phone.</a:t>
            </a:r>
            <a:endParaRPr/>
          </a:p>
          <a:p>
            <a:pPr indent="0" lvl="0" marL="0" rtl="0" algn="l">
              <a:spcBef>
                <a:spcPts val="600"/>
              </a:spcBef>
              <a:spcAft>
                <a:spcPts val="0"/>
              </a:spcAft>
              <a:buNone/>
            </a:pPr>
            <a:r>
              <a:rPr lang="en"/>
              <a:t>These </a:t>
            </a:r>
            <a:r>
              <a:rPr lang="en"/>
              <a:t>operations</a:t>
            </a:r>
            <a:r>
              <a:rPr lang="en"/>
              <a:t> are possible because of centralized control.</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6" name="Shape 2466"/>
        <p:cNvGrpSpPr/>
        <p:nvPr/>
      </p:nvGrpSpPr>
      <p:grpSpPr>
        <a:xfrm>
          <a:off x="0" y="0"/>
          <a:ext cx="0" cy="0"/>
          <a:chOff x="0" y="0"/>
          <a:chExt cx="0" cy="0"/>
        </a:xfrm>
      </p:grpSpPr>
      <p:sp>
        <p:nvSpPr>
          <p:cNvPr id="2467" name="Google Shape;2467;p79"/>
          <p:cNvSpPr txBox="1"/>
          <p:nvPr>
            <p:ph idx="1" type="body"/>
          </p:nvPr>
        </p:nvSpPr>
        <p:spPr>
          <a:xfrm>
            <a:off x="107050" y="402200"/>
            <a:ext cx="8909700" cy="1880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Stateful networks are complex and challenging!</a:t>
            </a:r>
            <a:endParaRPr/>
          </a:p>
          <a:p>
            <a:pPr indent="-342900" lvl="0" marL="457200" rtl="0" algn="l">
              <a:spcBef>
                <a:spcPts val="600"/>
              </a:spcBef>
              <a:spcAft>
                <a:spcPts val="0"/>
              </a:spcAft>
              <a:buSzPts val="1800"/>
              <a:buChar char="●"/>
            </a:pPr>
            <a:r>
              <a:rPr lang="en"/>
              <a:t>Must store per-user state in the network.</a:t>
            </a:r>
            <a:endParaRPr/>
          </a:p>
          <a:p>
            <a:pPr indent="-342900" lvl="0" marL="457200" rtl="0" algn="l">
              <a:spcBef>
                <a:spcPts val="0"/>
              </a:spcBef>
              <a:spcAft>
                <a:spcPts val="0"/>
              </a:spcAft>
              <a:buSzPts val="1800"/>
              <a:buChar char="●"/>
            </a:pPr>
            <a:r>
              <a:rPr lang="en"/>
              <a:t>Must reconfigure tunnels each time the user moves.</a:t>
            </a:r>
            <a:endParaRPr/>
          </a:p>
          <a:p>
            <a:pPr indent="-342900" lvl="0" marL="457200" rtl="0" algn="l">
              <a:spcBef>
                <a:spcPts val="0"/>
              </a:spcBef>
              <a:spcAft>
                <a:spcPts val="0"/>
              </a:spcAft>
              <a:buSzPts val="1800"/>
              <a:buChar char="●"/>
            </a:pPr>
            <a:r>
              <a:rPr lang="en"/>
              <a:t>Requires extreme optimization to scale well.</a:t>
            </a:r>
            <a:endParaRPr/>
          </a:p>
          <a:p>
            <a:pPr indent="0" lvl="0" marL="0" rtl="0" algn="l">
              <a:spcBef>
                <a:spcPts val="600"/>
              </a:spcBef>
              <a:spcAft>
                <a:spcPts val="0"/>
              </a:spcAft>
              <a:buNone/>
            </a:pPr>
            <a:r>
              <a:rPr lang="en"/>
              <a:t>Alternate designs:</a:t>
            </a:r>
            <a:endParaRPr/>
          </a:p>
        </p:txBody>
      </p:sp>
      <p:sp>
        <p:nvSpPr>
          <p:cNvPr id="2468" name="Google Shape;2468;p79"/>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Design Reflections</a:t>
            </a:r>
            <a:endParaRPr/>
          </a:p>
        </p:txBody>
      </p:sp>
      <p:sp>
        <p:nvSpPr>
          <p:cNvPr id="2469" name="Google Shape;2469;p79"/>
          <p:cNvSpPr txBox="1"/>
          <p:nvPr>
            <p:ph idx="1" type="body"/>
          </p:nvPr>
        </p:nvSpPr>
        <p:spPr>
          <a:xfrm>
            <a:off x="4572000" y="2214550"/>
            <a:ext cx="4444800" cy="18285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lang="en"/>
              <a:t>Change IPs on handover:</a:t>
            </a:r>
            <a:endParaRPr/>
          </a:p>
          <a:p>
            <a:pPr indent="-342900" lvl="1" marL="914400" rtl="0" algn="l">
              <a:spcBef>
                <a:spcPts val="0"/>
              </a:spcBef>
              <a:spcAft>
                <a:spcPts val="0"/>
              </a:spcAft>
              <a:buSzPts val="1800"/>
              <a:buChar char="○"/>
            </a:pPr>
            <a:r>
              <a:rPr lang="en"/>
              <a:t>Benefit: Can use standard routing </a:t>
            </a:r>
            <a:r>
              <a:rPr lang="en"/>
              <a:t>protocols.</a:t>
            </a:r>
            <a:endParaRPr/>
          </a:p>
          <a:p>
            <a:pPr indent="-342900" lvl="1" marL="914400" rtl="0" algn="l">
              <a:spcBef>
                <a:spcPts val="0"/>
              </a:spcBef>
              <a:spcAft>
                <a:spcPts val="0"/>
              </a:spcAft>
              <a:buSzPts val="1800"/>
              <a:buChar char="○"/>
            </a:pPr>
            <a:r>
              <a:rPr lang="en"/>
              <a:t>Drawback: TCP connections break when IPs change.</a:t>
            </a:r>
            <a:endParaRPr/>
          </a:p>
        </p:txBody>
      </p:sp>
      <p:sp>
        <p:nvSpPr>
          <p:cNvPr id="2470" name="Google Shape;2470;p79"/>
          <p:cNvSpPr txBox="1"/>
          <p:nvPr>
            <p:ph idx="1" type="body"/>
          </p:nvPr>
        </p:nvSpPr>
        <p:spPr>
          <a:xfrm>
            <a:off x="107100" y="2214550"/>
            <a:ext cx="4444800" cy="1828500"/>
          </a:xfrm>
          <a:prstGeom prst="rect">
            <a:avLst/>
          </a:prstGeom>
        </p:spPr>
        <p:txBody>
          <a:bodyPr anchorCtr="0" anchor="t" bIns="91425" lIns="91425" spcFirstLastPara="1" rIns="91425" wrap="square" tIns="91425">
            <a:noAutofit/>
          </a:bodyPr>
          <a:lstStyle/>
          <a:p>
            <a:pPr indent="-342900" lvl="0" marL="457200" rtl="0" algn="l">
              <a:spcBef>
                <a:spcPts val="600"/>
              </a:spcBef>
              <a:spcAft>
                <a:spcPts val="0"/>
              </a:spcAft>
              <a:buSzPts val="1800"/>
              <a:buChar char="●"/>
            </a:pPr>
            <a:r>
              <a:rPr lang="en"/>
              <a:t>Tunnels.</a:t>
            </a:r>
            <a:endParaRPr/>
          </a:p>
          <a:p>
            <a:pPr indent="-342900" lvl="1" marL="914400" rtl="0" algn="l">
              <a:spcBef>
                <a:spcPts val="0"/>
              </a:spcBef>
              <a:spcAft>
                <a:spcPts val="0"/>
              </a:spcAft>
              <a:buSzPts val="1800"/>
              <a:buChar char="○"/>
            </a:pPr>
            <a:r>
              <a:rPr lang="en"/>
              <a:t>Drawback: Must store per-user state for routing.</a:t>
            </a:r>
            <a:endParaRPr/>
          </a:p>
          <a:p>
            <a:pPr indent="-342900" lvl="1" marL="914400" rtl="0" algn="l">
              <a:spcBef>
                <a:spcPts val="0"/>
              </a:spcBef>
              <a:spcAft>
                <a:spcPts val="0"/>
              </a:spcAft>
              <a:buSzPts val="1800"/>
              <a:buChar char="○"/>
            </a:pPr>
            <a:r>
              <a:rPr lang="en"/>
              <a:t>Benefit: Can use standard routing protocols.</a:t>
            </a:r>
            <a:endParaRPr/>
          </a:p>
        </p:txBody>
      </p:sp>
      <p:sp>
        <p:nvSpPr>
          <p:cNvPr id="2471" name="Google Shape;2471;p79"/>
          <p:cNvSpPr txBox="1"/>
          <p:nvPr/>
        </p:nvSpPr>
        <p:spPr>
          <a:xfrm>
            <a:off x="5095200" y="4422350"/>
            <a:ext cx="3398400" cy="518700"/>
          </a:xfrm>
          <a:prstGeom prst="rect">
            <a:avLst/>
          </a:prstGeom>
          <a:noFill/>
          <a:ln>
            <a:noFill/>
          </a:ln>
        </p:spPr>
        <p:txBody>
          <a:bodyPr anchorCtr="0" anchor="t" bIns="27425" lIns="27425" spcFirstLastPara="1" rIns="27425" wrap="square" tIns="27425">
            <a:spAutoFit/>
          </a:bodyPr>
          <a:lstStyle/>
          <a:p>
            <a:pPr indent="0" lvl="0" marL="0" rtl="0" algn="l">
              <a:lnSpc>
                <a:spcPct val="115000"/>
              </a:lnSpc>
              <a:spcBef>
                <a:spcPts val="600"/>
              </a:spcBef>
              <a:spcAft>
                <a:spcPts val="0"/>
              </a:spcAft>
              <a:buNone/>
            </a:pPr>
            <a:r>
              <a:rPr lang="en">
                <a:solidFill>
                  <a:schemeClr val="accent2"/>
                </a:solidFill>
                <a:latin typeface="Roboto"/>
                <a:ea typeface="Roboto"/>
                <a:cs typeface="Roboto"/>
                <a:sym typeface="Roboto"/>
              </a:rPr>
              <a:t>Possible solution: QUIC is an alternate Layer 4 protocol that allows changing IPs.</a:t>
            </a:r>
            <a:endParaRPr>
              <a:solidFill>
                <a:schemeClr val="accent2"/>
              </a:solidFill>
              <a:latin typeface="Roboto"/>
              <a:ea typeface="Roboto"/>
              <a:cs typeface="Roboto"/>
              <a:sym typeface="Roboto"/>
            </a:endParaRPr>
          </a:p>
        </p:txBody>
      </p:sp>
      <p:cxnSp>
        <p:nvCxnSpPr>
          <p:cNvPr id="2472" name="Google Shape;2472;p79"/>
          <p:cNvCxnSpPr>
            <a:stCxn id="2471" idx="0"/>
          </p:cNvCxnSpPr>
          <p:nvPr/>
        </p:nvCxnSpPr>
        <p:spPr>
          <a:xfrm rot="10800000">
            <a:off x="6794400" y="3936650"/>
            <a:ext cx="0" cy="485700"/>
          </a:xfrm>
          <a:prstGeom prst="straightConnector1">
            <a:avLst/>
          </a:prstGeom>
          <a:noFill/>
          <a:ln cap="flat" cmpd="sng" w="19050">
            <a:solidFill>
              <a:schemeClr val="accent2"/>
            </a:solidFill>
            <a:prstDash val="solid"/>
            <a:round/>
            <a:headEnd len="med" w="med" type="none"/>
            <a:tailEnd len="med" w="med" type="triangle"/>
          </a:ln>
        </p:spPr>
      </p:cxn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6" name="Shape 2476"/>
        <p:cNvGrpSpPr/>
        <p:nvPr/>
      </p:nvGrpSpPr>
      <p:grpSpPr>
        <a:xfrm>
          <a:off x="0" y="0"/>
          <a:ext cx="0" cy="0"/>
          <a:chOff x="0" y="0"/>
          <a:chExt cx="0" cy="0"/>
        </a:xfrm>
      </p:grpSpPr>
      <p:sp>
        <p:nvSpPr>
          <p:cNvPr id="2477" name="Google Shape;2477;p80"/>
          <p:cNvSpPr txBox="1"/>
          <p:nvPr>
            <p:ph type="title"/>
          </p:nvPr>
        </p:nvSpPr>
        <p:spPr>
          <a:xfrm>
            <a:off x="0" y="0"/>
            <a:ext cx="91440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 Cellular</a:t>
            </a:r>
            <a:endParaRPr/>
          </a:p>
        </p:txBody>
      </p:sp>
      <p:sp>
        <p:nvSpPr>
          <p:cNvPr id="2478" name="Google Shape;2478;p80"/>
          <p:cNvSpPr txBox="1"/>
          <p:nvPr>
            <p:ph idx="1" type="body"/>
          </p:nvPr>
        </p:nvSpPr>
        <p:spPr>
          <a:xfrm>
            <a:off x="107050" y="402200"/>
            <a:ext cx="8909700" cy="4530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Cellular</a:t>
            </a:r>
            <a:r>
              <a:rPr lang="en"/>
              <a:t> networks are based on a very different design philosophy:</a:t>
            </a:r>
            <a:endParaRPr/>
          </a:p>
          <a:p>
            <a:pPr indent="-342900" lvl="0" marL="457200" rtl="0" algn="l">
              <a:spcBef>
                <a:spcPts val="600"/>
              </a:spcBef>
              <a:spcAft>
                <a:spcPts val="0"/>
              </a:spcAft>
              <a:buSzPts val="1800"/>
              <a:buChar char="●"/>
            </a:pPr>
            <a:r>
              <a:rPr lang="en"/>
              <a:t>Authentication and accountability are primary goals.</a:t>
            </a:r>
            <a:endParaRPr/>
          </a:p>
          <a:p>
            <a:pPr indent="-342900" lvl="0" marL="457200" rtl="0" algn="l">
              <a:spcBef>
                <a:spcPts val="0"/>
              </a:spcBef>
              <a:spcAft>
                <a:spcPts val="0"/>
              </a:spcAft>
              <a:buSzPts val="1800"/>
              <a:buChar char="●"/>
            </a:pPr>
            <a:r>
              <a:rPr lang="en"/>
              <a:t>Allocation of radio bandwidth is based on reservations.</a:t>
            </a:r>
            <a:endParaRPr/>
          </a:p>
          <a:p>
            <a:pPr indent="-342900" lvl="0" marL="457200" rtl="0" algn="l">
              <a:spcBef>
                <a:spcPts val="0"/>
              </a:spcBef>
              <a:spcAft>
                <a:spcPts val="0"/>
              </a:spcAft>
              <a:buSzPts val="1800"/>
              <a:buChar char="●"/>
            </a:pPr>
            <a:r>
              <a:rPr lang="en"/>
              <a:t>Lots of in-network state that is dynamic and per-user.</a:t>
            </a:r>
            <a:endParaRPr/>
          </a:p>
          <a:p>
            <a:pPr indent="-342900" lvl="0" marL="457200" rtl="0" algn="l">
              <a:spcBef>
                <a:spcPts val="0"/>
              </a:spcBef>
              <a:spcAft>
                <a:spcPts val="0"/>
              </a:spcAft>
              <a:buSzPts val="1800"/>
              <a:buChar char="●"/>
            </a:pPr>
            <a:r>
              <a:rPr lang="en"/>
              <a:t>Generality was not an early goal.</a:t>
            </a:r>
            <a:endParaRPr/>
          </a:p>
          <a:p>
            <a:pPr indent="-342900" lvl="0" marL="457200" rtl="0" algn="l">
              <a:spcBef>
                <a:spcPts val="0"/>
              </a:spcBef>
              <a:spcAft>
                <a:spcPts val="0"/>
              </a:spcAft>
              <a:buSzPts val="1800"/>
              <a:buChar char="●"/>
            </a:pPr>
            <a:r>
              <a:rPr lang="en"/>
              <a:t>Mobility is the central challenge.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Cellular networks have evolved from a standalone voice network, to being an integral part of the Internet.</a:t>
            </a:r>
            <a:endParaRPr/>
          </a:p>
          <a:p>
            <a:pPr indent="-342900" lvl="0" marL="457200" rtl="0" algn="l">
              <a:spcBef>
                <a:spcPts val="600"/>
              </a:spcBef>
              <a:spcAft>
                <a:spcPts val="0"/>
              </a:spcAft>
              <a:buSzPts val="1800"/>
              <a:buChar char="●"/>
            </a:pPr>
            <a:r>
              <a:rPr lang="en"/>
              <a:t>We've been able to seamlessly integrate cellular networks into the Internet.</a:t>
            </a:r>
            <a:endParaRPr/>
          </a:p>
          <a:p>
            <a:pPr indent="-342900" lvl="0" marL="457200" rtl="0" algn="l">
              <a:spcBef>
                <a:spcPts val="0"/>
              </a:spcBef>
              <a:spcAft>
                <a:spcPts val="0"/>
              </a:spcAft>
              <a:buSzPts val="1800"/>
              <a:buChar char="●"/>
            </a:pPr>
            <a:r>
              <a:rPr lang="en"/>
              <a:t>Cellular architecture continues to evolve toward the Internet architecture.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ecture">
  <a:themeElements>
    <a:clrScheme name="Simple Light">
      <a:dk1>
        <a:srgbClr val="000000"/>
      </a:dk1>
      <a:lt1>
        <a:srgbClr val="FFFFFF"/>
      </a:lt1>
      <a:dk2>
        <a:srgbClr val="666666"/>
      </a:dk2>
      <a:lt2>
        <a:srgbClr val="C9DAF8"/>
      </a:lt2>
      <a:accent1>
        <a:srgbClr val="FCE5CD"/>
      </a:accent1>
      <a:accent2>
        <a:srgbClr val="CC4125"/>
      </a:accent2>
      <a:accent3>
        <a:srgbClr val="0B5394"/>
      </a:accent3>
      <a:accent4>
        <a:srgbClr val="BF9000"/>
      </a:accent4>
      <a:accent5>
        <a:srgbClr val="6AA84F"/>
      </a:accent5>
      <a:accent6>
        <a:srgbClr val="D9D9D9"/>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