
<file path=[Content_Types].xml><?xml version="1.0" encoding="utf-8"?>
<Types xmlns="http://schemas.openxmlformats.org/package/2006/content-types">
  <Default Extension="fntdata" ContentType="application/x-fontdata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  <Override PartName="/ppt/slides/slide70.xml" ContentType="application/vnd.openxmlformats-officedocument.presentationml.slide+xml"/>
  <Override PartName="/ppt/slides/slide71.xml" ContentType="application/vnd.openxmlformats-officedocument.presentationml.slide+xml"/>
  <Override PartName="/ppt/slides/slide72.xml" ContentType="application/vnd.openxmlformats-officedocument.presentationml.slide+xml"/>
  <Override PartName="/ppt/slides/slide73.xml" ContentType="application/vnd.openxmlformats-officedocument.presentationml.slide+xml"/>
  <Override PartName="/ppt/slides/slide74.xml" ContentType="application/vnd.openxmlformats-officedocument.presentationml.slide+xml"/>
  <Override PartName="/ppt/slides/slide75.xml" ContentType="application/vnd.openxmlformats-officedocument.presentationml.slide+xml"/>
  <Override PartName="/ppt/slides/slide76.xml" ContentType="application/vnd.openxmlformats-officedocument.presentationml.slide+xml"/>
  <Override PartName="/ppt/slides/slide77.xml" ContentType="application/vnd.openxmlformats-officedocument.presentationml.slide+xml"/>
  <Override PartName="/ppt/slides/slide78.xml" ContentType="application/vnd.openxmlformats-officedocument.presentationml.slide+xml"/>
  <Override PartName="/ppt/slides/slide79.xml" ContentType="application/vnd.openxmlformats-officedocument.presentationml.slide+xml"/>
  <Override PartName="/ppt/slides/slide80.xml" ContentType="application/vnd.openxmlformats-officedocument.presentationml.slide+xml"/>
  <Override PartName="/ppt/slides/slide81.xml" ContentType="application/vnd.openxmlformats-officedocument.presentationml.slide+xml"/>
  <Override PartName="/ppt/slides/slide82.xml" ContentType="application/vnd.openxmlformats-officedocument.presentationml.slide+xml"/>
  <Override PartName="/ppt/slides/slide83.xml" ContentType="application/vnd.openxmlformats-officedocument.presentationml.slide+xml"/>
  <Override PartName="/ppt/slides/slide84.xml" ContentType="application/vnd.openxmlformats-officedocument.presentationml.slide+xml"/>
  <Override PartName="/ppt/slides/slide85.xml" ContentType="application/vnd.openxmlformats-officedocument.presentationml.slide+xml"/>
  <Override PartName="/ppt/slides/slide86.xml" ContentType="application/vnd.openxmlformats-officedocument.presentationml.slide+xml"/>
  <Override PartName="/ppt/slides/slide87.xml" ContentType="application/vnd.openxmlformats-officedocument.presentationml.slide+xml"/>
  <Override PartName="/ppt/slides/slide88.xml" ContentType="application/vnd.openxmlformats-officedocument.presentationml.slide+xml"/>
  <Override PartName="/ppt/slides/slide89.xml" ContentType="application/vnd.openxmlformats-officedocument.presentationml.slide+xml"/>
  <Override PartName="/ppt/slides/slide90.xml" ContentType="application/vnd.openxmlformats-officedocument.presentationml.slide+xml"/>
  <Override PartName="/ppt/slides/slide91.xml" ContentType="application/vnd.openxmlformats-officedocument.presentationml.slide+xml"/>
  <Override PartName="/ppt/slides/slide92.xml" ContentType="application/vnd.openxmlformats-officedocument.presentationml.slide+xml"/>
  <Override PartName="/ppt/slides/slide93.xml" ContentType="application/vnd.openxmlformats-officedocument.presentationml.slide+xml"/>
  <Override PartName="/ppt/slides/slide94.xml" ContentType="application/vnd.openxmlformats-officedocument.presentationml.slide+xml"/>
  <Override PartName="/ppt/slides/slide95.xml" ContentType="application/vnd.openxmlformats-officedocument.presentationml.slide+xml"/>
  <Override PartName="/ppt/slides/slide96.xml" ContentType="application/vnd.openxmlformats-officedocument.presentationml.slide+xml"/>
  <Override PartName="/ppt/slides/slide97.xml" ContentType="application/vnd.openxmlformats-officedocument.presentationml.slide+xml"/>
  <Override PartName="/ppt/slides/slide98.xml" ContentType="application/vnd.openxmlformats-officedocument.presentationml.slide+xml"/>
  <Override PartName="/ppt/slides/slide99.xml" ContentType="application/vnd.openxmlformats-officedocument.presentationml.slide+xml"/>
  <Override PartName="/ppt/slides/slide100.xml" ContentType="application/vnd.openxmlformats-officedocument.presentationml.slide+xml"/>
  <Override PartName="/ppt/slides/slide101.xml" ContentType="application/vnd.openxmlformats-officedocument.presentationml.slide+xml"/>
  <Override PartName="/ppt/slides/slide102.xml" ContentType="application/vnd.openxmlformats-officedocument.presentationml.slide+xml"/>
  <Override PartName="/ppt/slides/slide103.xml" ContentType="application/vnd.openxmlformats-officedocument.presentationml.slide+xml"/>
  <Override PartName="/ppt/slides/slide104.xml" ContentType="application/vnd.openxmlformats-officedocument.presentationml.slide+xml"/>
  <Override PartName="/ppt/slides/slide105.xml" ContentType="application/vnd.openxmlformats-officedocument.presentationml.slide+xml"/>
  <Override PartName="/ppt/slides/slide106.xml" ContentType="application/vnd.openxmlformats-officedocument.presentationml.slide+xml"/>
  <Override PartName="/ppt/slides/slide107.xml" ContentType="application/vnd.openxmlformats-officedocument.presentationml.slide+xml"/>
  <Override PartName="/ppt/slides/slide108.xml" ContentType="application/vnd.openxmlformats-officedocument.presentationml.slide+xml"/>
  <Override PartName="/ppt/slides/slide109.xml" ContentType="application/vnd.openxmlformats-officedocument.presentationml.slide+xml"/>
  <Override PartName="/ppt/slides/slide110.xml" ContentType="application/vnd.openxmlformats-officedocument.presentationml.slide+xml"/>
  <Override PartName="/ppt/slides/slide111.xml" ContentType="application/vnd.openxmlformats-officedocument.presentationml.slide+xml"/>
  <Override PartName="/ppt/slides/slide112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49.xml" ContentType="application/vnd.openxmlformats-officedocument.presentationml.notesSlide+xml"/>
  <Override PartName="/ppt/notesSlides/notesSlide50.xml" ContentType="application/vnd.openxmlformats-officedocument.presentationml.notesSlide+xml"/>
  <Override PartName="/ppt/notesSlides/notesSlide51.xml" ContentType="application/vnd.openxmlformats-officedocument.presentationml.notesSlide+xml"/>
  <Override PartName="/ppt/notesSlides/notesSlide52.xml" ContentType="application/vnd.openxmlformats-officedocument.presentationml.notesSlide+xml"/>
  <Override PartName="/ppt/notesSlides/notesSlide53.xml" ContentType="application/vnd.openxmlformats-officedocument.presentationml.notesSlide+xml"/>
  <Override PartName="/ppt/notesSlides/notesSlide54.xml" ContentType="application/vnd.openxmlformats-officedocument.presentationml.notesSlide+xml"/>
  <Override PartName="/ppt/notesSlides/notesSlide55.xml" ContentType="application/vnd.openxmlformats-officedocument.presentationml.notesSlide+xml"/>
  <Override PartName="/ppt/notesSlides/notesSlide56.xml" ContentType="application/vnd.openxmlformats-officedocument.presentationml.notesSlide+xml"/>
  <Override PartName="/ppt/notesSlides/notesSlide57.xml" ContentType="application/vnd.openxmlformats-officedocument.presentationml.notesSlide+xml"/>
  <Override PartName="/ppt/notesSlides/notesSlide58.xml" ContentType="application/vnd.openxmlformats-officedocument.presentationml.notesSlide+xml"/>
  <Override PartName="/ppt/notesSlides/notesSlide59.xml" ContentType="application/vnd.openxmlformats-officedocument.presentationml.notesSlide+xml"/>
  <Override PartName="/ppt/notesSlides/notesSlide60.xml" ContentType="application/vnd.openxmlformats-officedocument.presentationml.notesSlide+xml"/>
  <Override PartName="/ppt/notesSlides/notesSlide61.xml" ContentType="application/vnd.openxmlformats-officedocument.presentationml.notesSlide+xml"/>
  <Override PartName="/ppt/notesSlides/notesSlide62.xml" ContentType="application/vnd.openxmlformats-officedocument.presentationml.notesSlide+xml"/>
  <Override PartName="/ppt/notesSlides/notesSlide63.xml" ContentType="application/vnd.openxmlformats-officedocument.presentationml.notesSlide+xml"/>
  <Override PartName="/ppt/notesSlides/notesSlide64.xml" ContentType="application/vnd.openxmlformats-officedocument.presentationml.notesSlide+xml"/>
  <Override PartName="/ppt/notesSlides/notesSlide65.xml" ContentType="application/vnd.openxmlformats-officedocument.presentationml.notesSlide+xml"/>
  <Override PartName="/ppt/notesSlides/notesSlide66.xml" ContentType="application/vnd.openxmlformats-officedocument.presentationml.notesSlide+xml"/>
  <Override PartName="/ppt/notesSlides/notesSlide67.xml" ContentType="application/vnd.openxmlformats-officedocument.presentationml.notesSlide+xml"/>
  <Override PartName="/ppt/notesSlides/notesSlide68.xml" ContentType="application/vnd.openxmlformats-officedocument.presentationml.notesSlide+xml"/>
  <Override PartName="/ppt/notesSlides/notesSlide69.xml" ContentType="application/vnd.openxmlformats-officedocument.presentationml.notesSlide+xml"/>
  <Override PartName="/ppt/notesSlides/notesSlide70.xml" ContentType="application/vnd.openxmlformats-officedocument.presentationml.notesSlide+xml"/>
  <Override PartName="/ppt/notesSlides/notesSlide71.xml" ContentType="application/vnd.openxmlformats-officedocument.presentationml.notesSlide+xml"/>
  <Override PartName="/ppt/notesSlides/notesSlide72.xml" ContentType="application/vnd.openxmlformats-officedocument.presentationml.notesSlide+xml"/>
  <Override PartName="/ppt/notesSlides/notesSlide73.xml" ContentType="application/vnd.openxmlformats-officedocument.presentationml.notesSlide+xml"/>
  <Override PartName="/ppt/notesSlides/notesSlide74.xml" ContentType="application/vnd.openxmlformats-officedocument.presentationml.notesSlide+xml"/>
  <Override PartName="/ppt/notesSlides/notesSlide75.xml" ContentType="application/vnd.openxmlformats-officedocument.presentationml.notesSlide+xml"/>
  <Override PartName="/ppt/notesSlides/notesSlide76.xml" ContentType="application/vnd.openxmlformats-officedocument.presentationml.notesSlide+xml"/>
  <Override PartName="/ppt/notesSlides/notesSlide77.xml" ContentType="application/vnd.openxmlformats-officedocument.presentationml.notesSlide+xml"/>
  <Override PartName="/ppt/notesSlides/notesSlide78.xml" ContentType="application/vnd.openxmlformats-officedocument.presentationml.notesSlide+xml"/>
  <Override PartName="/ppt/notesSlides/notesSlide79.xml" ContentType="application/vnd.openxmlformats-officedocument.presentationml.notesSlide+xml"/>
  <Override PartName="/ppt/notesSlides/notesSlide80.xml" ContentType="application/vnd.openxmlformats-officedocument.presentationml.notesSlide+xml"/>
  <Override PartName="/ppt/notesSlides/notesSlide81.xml" ContentType="application/vnd.openxmlformats-officedocument.presentationml.notesSlide+xml"/>
  <Override PartName="/ppt/notesSlides/notesSlide82.xml" ContentType="application/vnd.openxmlformats-officedocument.presentationml.notesSlide+xml"/>
  <Override PartName="/ppt/notesSlides/notesSlide83.xml" ContentType="application/vnd.openxmlformats-officedocument.presentationml.notesSlide+xml"/>
  <Override PartName="/ppt/notesSlides/notesSlide84.xml" ContentType="application/vnd.openxmlformats-officedocument.presentationml.notesSlide+xml"/>
  <Override PartName="/ppt/notesSlides/notesSlide85.xml" ContentType="application/vnd.openxmlformats-officedocument.presentationml.notesSlide+xml"/>
  <Override PartName="/ppt/notesSlides/notesSlide86.xml" ContentType="application/vnd.openxmlformats-officedocument.presentationml.notesSlide+xml"/>
  <Override PartName="/ppt/notesSlides/notesSlide87.xml" ContentType="application/vnd.openxmlformats-officedocument.presentationml.notesSlide+xml"/>
  <Override PartName="/ppt/notesSlides/notesSlide88.xml" ContentType="application/vnd.openxmlformats-officedocument.presentationml.notesSlide+xml"/>
  <Override PartName="/ppt/notesSlides/notesSlide89.xml" ContentType="application/vnd.openxmlformats-officedocument.presentationml.notesSlide+xml"/>
  <Override PartName="/ppt/notesSlides/notesSlide90.xml" ContentType="application/vnd.openxmlformats-officedocument.presentationml.notesSlide+xml"/>
  <Override PartName="/ppt/notesSlides/notesSlide91.xml" ContentType="application/vnd.openxmlformats-officedocument.presentationml.notesSlide+xml"/>
  <Override PartName="/ppt/notesSlides/notesSlide92.xml" ContentType="application/vnd.openxmlformats-officedocument.presentationml.notesSlide+xml"/>
  <Override PartName="/ppt/notesSlides/notesSlide93.xml" ContentType="application/vnd.openxmlformats-officedocument.presentationml.notesSlide+xml"/>
  <Override PartName="/ppt/notesSlides/notesSlide94.xml" ContentType="application/vnd.openxmlformats-officedocument.presentationml.notesSlide+xml"/>
  <Override PartName="/ppt/notesSlides/notesSlide95.xml" ContentType="application/vnd.openxmlformats-officedocument.presentationml.notesSlide+xml"/>
  <Override PartName="/ppt/notesSlides/notesSlide96.xml" ContentType="application/vnd.openxmlformats-officedocument.presentationml.notesSlide+xml"/>
  <Override PartName="/ppt/notesSlides/notesSlide97.xml" ContentType="application/vnd.openxmlformats-officedocument.presentationml.notesSlide+xml"/>
  <Override PartName="/ppt/notesSlides/notesSlide98.xml" ContentType="application/vnd.openxmlformats-officedocument.presentationml.notesSlide+xml"/>
  <Override PartName="/ppt/notesSlides/notesSlide99.xml" ContentType="application/vnd.openxmlformats-officedocument.presentationml.notesSlide+xml"/>
  <Override PartName="/ppt/notesSlides/notesSlide100.xml" ContentType="application/vnd.openxmlformats-officedocument.presentationml.notesSlide+xml"/>
  <Override PartName="/ppt/notesSlides/notesSlide101.xml" ContentType="application/vnd.openxmlformats-officedocument.presentationml.notesSlide+xml"/>
  <Override PartName="/ppt/notesSlides/notesSlide102.xml" ContentType="application/vnd.openxmlformats-officedocument.presentationml.notesSlide+xml"/>
  <Override PartName="/ppt/notesSlides/notesSlide103.xml" ContentType="application/vnd.openxmlformats-officedocument.presentationml.notesSlide+xml"/>
  <Override PartName="/ppt/notesSlides/notesSlide104.xml" ContentType="application/vnd.openxmlformats-officedocument.presentationml.notesSlide+xml"/>
  <Override PartName="/ppt/notesSlides/notesSlide105.xml" ContentType="application/vnd.openxmlformats-officedocument.presentationml.notesSlide+xml"/>
  <Override PartName="/ppt/notesSlides/notesSlide106.xml" ContentType="application/vnd.openxmlformats-officedocument.presentationml.notesSlide+xml"/>
  <Override PartName="/ppt/notesSlides/notesSlide107.xml" ContentType="application/vnd.openxmlformats-officedocument.presentationml.notesSlide+xml"/>
  <Override PartName="/ppt/notesSlides/notesSlide108.xml" ContentType="application/vnd.openxmlformats-officedocument.presentationml.notesSlide+xml"/>
  <Override PartName="/ppt/notesSlides/notesSlide109.xml" ContentType="application/vnd.openxmlformats-officedocument.presentationml.notesSlide+xml"/>
  <Override PartName="/ppt/notesSlides/notesSlide110.xml" ContentType="application/vnd.openxmlformats-officedocument.presentationml.notesSlide+xml"/>
  <Override PartName="/ppt/notesSlides/notesSlide111.xml" ContentType="application/vnd.openxmlformats-officedocument.presentationml.notesSlide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embedTrueTypeFonts="1" saveSubsetFonts="1" autoCompressPictures="0">
  <p:sldMasterIdLst>
    <p:sldMasterId id="2147483670" r:id="rId1"/>
  </p:sldMasterIdLst>
  <p:notesMasterIdLst>
    <p:notesMasterId r:id="rId114"/>
  </p:notesMasterIdLst>
  <p:sldIdLst>
    <p:sldId id="257" r:id="rId2"/>
    <p:sldId id="258" r:id="rId3"/>
    <p:sldId id="259" r:id="rId4"/>
    <p:sldId id="260" r:id="rId5"/>
    <p:sldId id="261" r:id="rId6"/>
    <p:sldId id="262" r:id="rId7"/>
    <p:sldId id="263" r:id="rId8"/>
    <p:sldId id="264" r:id="rId9"/>
    <p:sldId id="265" r:id="rId10"/>
    <p:sldId id="266" r:id="rId11"/>
    <p:sldId id="267" r:id="rId12"/>
    <p:sldId id="268" r:id="rId13"/>
    <p:sldId id="269" r:id="rId14"/>
    <p:sldId id="270" r:id="rId15"/>
    <p:sldId id="271" r:id="rId16"/>
    <p:sldId id="272" r:id="rId17"/>
    <p:sldId id="273" r:id="rId18"/>
    <p:sldId id="274" r:id="rId19"/>
    <p:sldId id="275" r:id="rId20"/>
    <p:sldId id="276" r:id="rId21"/>
    <p:sldId id="277" r:id="rId22"/>
    <p:sldId id="278" r:id="rId23"/>
    <p:sldId id="279" r:id="rId24"/>
    <p:sldId id="280" r:id="rId25"/>
    <p:sldId id="281" r:id="rId26"/>
    <p:sldId id="282" r:id="rId27"/>
    <p:sldId id="283" r:id="rId28"/>
    <p:sldId id="284" r:id="rId29"/>
    <p:sldId id="285" r:id="rId30"/>
    <p:sldId id="286" r:id="rId31"/>
    <p:sldId id="287" r:id="rId32"/>
    <p:sldId id="288" r:id="rId33"/>
    <p:sldId id="289" r:id="rId34"/>
    <p:sldId id="290" r:id="rId35"/>
    <p:sldId id="291" r:id="rId36"/>
    <p:sldId id="292" r:id="rId37"/>
    <p:sldId id="293" r:id="rId38"/>
    <p:sldId id="294" r:id="rId39"/>
    <p:sldId id="295" r:id="rId40"/>
    <p:sldId id="296" r:id="rId41"/>
    <p:sldId id="297" r:id="rId42"/>
    <p:sldId id="298" r:id="rId43"/>
    <p:sldId id="299" r:id="rId44"/>
    <p:sldId id="300" r:id="rId45"/>
    <p:sldId id="301" r:id="rId46"/>
    <p:sldId id="302" r:id="rId47"/>
    <p:sldId id="303" r:id="rId48"/>
    <p:sldId id="304" r:id="rId49"/>
    <p:sldId id="305" r:id="rId50"/>
    <p:sldId id="368" r:id="rId51"/>
    <p:sldId id="308" r:id="rId52"/>
    <p:sldId id="309" r:id="rId53"/>
    <p:sldId id="310" r:id="rId54"/>
    <p:sldId id="311" r:id="rId55"/>
    <p:sldId id="312" r:id="rId56"/>
    <p:sldId id="313" r:id="rId57"/>
    <p:sldId id="314" r:id="rId58"/>
    <p:sldId id="315" r:id="rId59"/>
    <p:sldId id="316" r:id="rId60"/>
    <p:sldId id="317" r:id="rId61"/>
    <p:sldId id="318" r:id="rId62"/>
    <p:sldId id="319" r:id="rId63"/>
    <p:sldId id="320" r:id="rId64"/>
    <p:sldId id="321" r:id="rId65"/>
    <p:sldId id="322" r:id="rId66"/>
    <p:sldId id="323" r:id="rId67"/>
    <p:sldId id="324" r:id="rId68"/>
    <p:sldId id="325" r:id="rId69"/>
    <p:sldId id="326" r:id="rId70"/>
    <p:sldId id="327" r:id="rId71"/>
    <p:sldId id="328" r:id="rId72"/>
    <p:sldId id="329" r:id="rId73"/>
    <p:sldId id="330" r:id="rId74"/>
    <p:sldId id="331" r:id="rId75"/>
    <p:sldId id="332" r:id="rId76"/>
    <p:sldId id="333" r:id="rId77"/>
    <p:sldId id="334" r:id="rId78"/>
    <p:sldId id="335" r:id="rId79"/>
    <p:sldId id="336" r:id="rId80"/>
    <p:sldId id="337" r:id="rId81"/>
    <p:sldId id="338" r:id="rId82"/>
    <p:sldId id="370" r:id="rId83"/>
    <p:sldId id="339" r:id="rId84"/>
    <p:sldId id="340" r:id="rId85"/>
    <p:sldId id="341" r:id="rId86"/>
    <p:sldId id="342" r:id="rId87"/>
    <p:sldId id="343" r:id="rId88"/>
    <p:sldId id="344" r:id="rId89"/>
    <p:sldId id="345" r:id="rId90"/>
    <p:sldId id="346" r:id="rId91"/>
    <p:sldId id="347" r:id="rId92"/>
    <p:sldId id="348" r:id="rId93"/>
    <p:sldId id="349" r:id="rId94"/>
    <p:sldId id="350" r:id="rId95"/>
    <p:sldId id="351" r:id="rId96"/>
    <p:sldId id="352" r:id="rId97"/>
    <p:sldId id="353" r:id="rId98"/>
    <p:sldId id="354" r:id="rId99"/>
    <p:sldId id="355" r:id="rId100"/>
    <p:sldId id="356" r:id="rId101"/>
    <p:sldId id="357" r:id="rId102"/>
    <p:sldId id="358" r:id="rId103"/>
    <p:sldId id="359" r:id="rId104"/>
    <p:sldId id="360" r:id="rId105"/>
    <p:sldId id="361" r:id="rId106"/>
    <p:sldId id="362" r:id="rId107"/>
    <p:sldId id="363" r:id="rId108"/>
    <p:sldId id="364" r:id="rId109"/>
    <p:sldId id="365" r:id="rId110"/>
    <p:sldId id="366" r:id="rId111"/>
    <p:sldId id="367" r:id="rId112"/>
    <p:sldId id="369" r:id="rId113"/>
  </p:sldIdLst>
  <p:sldSz cx="9144000" cy="5143500" type="screen16x9"/>
  <p:notesSz cx="6858000" cy="9144000"/>
  <p:embeddedFontLst>
    <p:embeddedFont>
      <p:font typeface="Consolas" panose="020B0609020204030204" pitchFamily="49" charset="0"/>
      <p:regular r:id="rId115"/>
      <p:bold r:id="rId116"/>
      <p:italic r:id="rId117"/>
      <p:boldItalic r:id="rId118"/>
    </p:embeddedFont>
    <p:embeddedFont>
      <p:font typeface="Roboto" panose="02000000000000000000" pitchFamily="2" charset="0"/>
      <p:regular r:id="rId119"/>
      <p:bold r:id="rId120"/>
      <p:italic r:id="rId121"/>
      <p:boldItalic r:id="rId122"/>
    </p:embeddedFont>
    <p:embeddedFont>
      <p:font typeface="Roboto Light" panose="02000000000000000000" pitchFamily="2" charset="0"/>
      <p:regular r:id="rId123"/>
      <p:bold r:id="rId124"/>
      <p:italic r:id="rId125"/>
      <p:boldItalic r:id="rId126"/>
    </p:embeddedFont>
    <p:embeddedFont>
      <p:font typeface="Roboto Medium" panose="02000000000000000000" pitchFamily="2" charset="0"/>
      <p:regular r:id="rId127"/>
      <p:bold r:id="rId128"/>
      <p:italic r:id="rId129"/>
      <p:boldItalic r:id="rId130"/>
    </p:embeddedFont>
  </p:embeddedFontLst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 xmlns:p15="http://schemas.microsoft.com/office/powerpoint/2012/main">
        <p15:guide id="1" orient="horz" pos="1620">
          <p15:clr>
            <a:srgbClr val="747775"/>
          </p15:clr>
        </p15:guide>
        <p15:guide id="2" pos="2880">
          <p15:clr>
            <a:srgbClr val="747775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358D4B5D-E0CC-458D-A227-BD79BF7A411F}" v="4" dt="2026-02-01T05:51:48.820"/>
  </p1510:revLst>
</p1510:revInfo>
</file>

<file path=ppt/tableStyles.xml><?xml version="1.0" encoding="utf-8"?>
<a:tblStyleLst xmlns:a="http://schemas.openxmlformats.org/drawingml/2006/main" def="{9827013E-C202-4D27-A2D1-B1A861925892}">
  <a:tblStyle styleId="{9827013E-C202-4D27-A2D1-B1A861925892}" styleName="Table_0">
    <a:wholeTbl>
      <a:tcTxStyle>
        <a:font>
          <a:latin typeface="Arial"/>
          <a:ea typeface="Arial"/>
          <a:cs typeface="Arial"/>
        </a:font>
        <a:srgbClr val="000000"/>
      </a:tcTxStyle>
      <a:tcStyle>
        <a:tcBdr>
          <a:left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left>
          <a:right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right>
          <a:top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top>
          <a:bottom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bottom>
          <a:insideH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insideH>
          <a:insideV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insideV>
        </a:tcBdr>
      </a:tcStyle>
    </a:wholeTbl>
    <a:band1H>
      <a:tcTxStyle/>
      <a:tcStyle>
        <a:tcBdr/>
      </a:tcStyle>
    </a:band1H>
    <a:band2H>
      <a:tcTxStyle/>
      <a:tcStyle>
        <a:tcBdr/>
      </a:tcStyle>
    </a:band2H>
    <a:band1V>
      <a:tcTxStyle/>
      <a:tcStyle>
        <a:tcBdr/>
      </a:tcStyle>
    </a:band1V>
    <a:band2V>
      <a:tcTxStyle/>
      <a:tcStyle>
        <a:tcBdr/>
      </a:tcStyle>
    </a:band2V>
    <a:lastCol>
      <a:tcTxStyle/>
      <a:tcStyle>
        <a:tcBdr/>
      </a:tcStyle>
    </a:lastCol>
    <a:firstCol>
      <a:tcTxStyle/>
      <a:tcStyle>
        <a:tcBdr/>
      </a:tcStyle>
    </a:firstCol>
    <a:lastRow>
      <a:tcTxStyle/>
      <a:tcStyle>
        <a:tcBdr/>
      </a:tcStyle>
    </a:lastRow>
    <a:seCell>
      <a:tcTxStyle/>
      <a:tcStyle>
        <a:tcBdr/>
      </a:tcStyle>
    </a:seCell>
    <a:swCell>
      <a:tcTxStyle/>
      <a:tcStyle>
        <a:tcBdr/>
      </a:tcStyle>
    </a:swCell>
    <a:firstRow>
      <a:tcTxStyle/>
      <a:tcStyle>
        <a:tcBdr/>
      </a:tcStyle>
    </a:firstRow>
    <a:neCell>
      <a:tcTxStyle/>
      <a:tcStyle>
        <a:tcBdr/>
      </a:tcStyle>
    </a:neCell>
    <a:nwCell>
      <a:tcTxStyle/>
      <a:tcStyle>
        <a:tcBdr/>
      </a:tcStyle>
    </a:nwCell>
  </a:tblStyle>
  <a:tblStyle styleId="{5940675A-B579-460E-94D1-54222C63F5DA}" styleName="No Style, Table Grid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103" d="100"/>
          <a:sy n="103" d="100"/>
        </p:scale>
        <p:origin x="182" y="96"/>
      </p:cViewPr>
      <p:guideLst>
        <p:guide orient="horz" pos="162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sorterViewPr>
    <p:cViewPr>
      <p:scale>
        <a:sx n="200" d="100"/>
        <a:sy n="200" d="100"/>
      </p:scale>
      <p:origin x="0" y="-15797"/>
    </p:cViewPr>
  </p:sorterViewPr>
  <p:gridSpacing cx="72008" cy="72008"/>
</p:viewPr>
</file>

<file path=ppt/_rels/presentation.xml.rels><?xml version="1.0" encoding="UTF-8" standalone="yes"?>
<Relationships xmlns="http://schemas.openxmlformats.org/package/2006/relationships"><Relationship Id="rId117" Type="http://schemas.openxmlformats.org/officeDocument/2006/relationships/font" Target="fonts/font3.fntdata"/><Relationship Id="rId21" Type="http://schemas.openxmlformats.org/officeDocument/2006/relationships/slide" Target="slides/slide20.xml"/><Relationship Id="rId42" Type="http://schemas.openxmlformats.org/officeDocument/2006/relationships/slide" Target="slides/slide41.xml"/><Relationship Id="rId63" Type="http://schemas.openxmlformats.org/officeDocument/2006/relationships/slide" Target="slides/slide62.xml"/><Relationship Id="rId84" Type="http://schemas.openxmlformats.org/officeDocument/2006/relationships/slide" Target="slides/slide83.xml"/><Relationship Id="rId16" Type="http://schemas.openxmlformats.org/officeDocument/2006/relationships/slide" Target="slides/slide15.xml"/><Relationship Id="rId107" Type="http://schemas.openxmlformats.org/officeDocument/2006/relationships/slide" Target="slides/slide106.xml"/><Relationship Id="rId11" Type="http://schemas.openxmlformats.org/officeDocument/2006/relationships/slide" Target="slides/slide10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53" Type="http://schemas.openxmlformats.org/officeDocument/2006/relationships/slide" Target="slides/slide52.xml"/><Relationship Id="rId58" Type="http://schemas.openxmlformats.org/officeDocument/2006/relationships/slide" Target="slides/slide57.xml"/><Relationship Id="rId74" Type="http://schemas.openxmlformats.org/officeDocument/2006/relationships/slide" Target="slides/slide73.xml"/><Relationship Id="rId79" Type="http://schemas.openxmlformats.org/officeDocument/2006/relationships/slide" Target="slides/slide78.xml"/><Relationship Id="rId102" Type="http://schemas.openxmlformats.org/officeDocument/2006/relationships/slide" Target="slides/slide101.xml"/><Relationship Id="rId123" Type="http://schemas.openxmlformats.org/officeDocument/2006/relationships/font" Target="fonts/font9.fntdata"/><Relationship Id="rId128" Type="http://schemas.openxmlformats.org/officeDocument/2006/relationships/font" Target="fonts/font14.fntdata"/><Relationship Id="rId5" Type="http://schemas.openxmlformats.org/officeDocument/2006/relationships/slide" Target="slides/slide4.xml"/><Relationship Id="rId90" Type="http://schemas.openxmlformats.org/officeDocument/2006/relationships/slide" Target="slides/slide89.xml"/><Relationship Id="rId95" Type="http://schemas.openxmlformats.org/officeDocument/2006/relationships/slide" Target="slides/slide94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43" Type="http://schemas.openxmlformats.org/officeDocument/2006/relationships/slide" Target="slides/slide42.xml"/><Relationship Id="rId48" Type="http://schemas.openxmlformats.org/officeDocument/2006/relationships/slide" Target="slides/slide47.xml"/><Relationship Id="rId64" Type="http://schemas.openxmlformats.org/officeDocument/2006/relationships/slide" Target="slides/slide63.xml"/><Relationship Id="rId69" Type="http://schemas.openxmlformats.org/officeDocument/2006/relationships/slide" Target="slides/slide68.xml"/><Relationship Id="rId113" Type="http://schemas.openxmlformats.org/officeDocument/2006/relationships/slide" Target="slides/slide112.xml"/><Relationship Id="rId118" Type="http://schemas.openxmlformats.org/officeDocument/2006/relationships/font" Target="fonts/font4.fntdata"/><Relationship Id="rId134" Type="http://schemas.openxmlformats.org/officeDocument/2006/relationships/tableStyles" Target="tableStyles.xml"/><Relationship Id="rId80" Type="http://schemas.openxmlformats.org/officeDocument/2006/relationships/slide" Target="slides/slide79.xml"/><Relationship Id="rId85" Type="http://schemas.openxmlformats.org/officeDocument/2006/relationships/slide" Target="slides/slide84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59" Type="http://schemas.openxmlformats.org/officeDocument/2006/relationships/slide" Target="slides/slide58.xml"/><Relationship Id="rId103" Type="http://schemas.openxmlformats.org/officeDocument/2006/relationships/slide" Target="slides/slide102.xml"/><Relationship Id="rId108" Type="http://schemas.openxmlformats.org/officeDocument/2006/relationships/slide" Target="slides/slide107.xml"/><Relationship Id="rId124" Type="http://schemas.openxmlformats.org/officeDocument/2006/relationships/font" Target="fonts/font10.fntdata"/><Relationship Id="rId129" Type="http://schemas.openxmlformats.org/officeDocument/2006/relationships/font" Target="fonts/font15.fntdata"/><Relationship Id="rId54" Type="http://schemas.openxmlformats.org/officeDocument/2006/relationships/slide" Target="slides/slide53.xml"/><Relationship Id="rId70" Type="http://schemas.openxmlformats.org/officeDocument/2006/relationships/slide" Target="slides/slide69.xml"/><Relationship Id="rId75" Type="http://schemas.openxmlformats.org/officeDocument/2006/relationships/slide" Target="slides/slide74.xml"/><Relationship Id="rId91" Type="http://schemas.openxmlformats.org/officeDocument/2006/relationships/slide" Target="slides/slide90.xml"/><Relationship Id="rId96" Type="http://schemas.openxmlformats.org/officeDocument/2006/relationships/slide" Target="slides/slide95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49" Type="http://schemas.openxmlformats.org/officeDocument/2006/relationships/slide" Target="slides/slide48.xml"/><Relationship Id="rId114" Type="http://schemas.openxmlformats.org/officeDocument/2006/relationships/notesMaster" Target="notesMasters/notesMaster1.xml"/><Relationship Id="rId119" Type="http://schemas.openxmlformats.org/officeDocument/2006/relationships/font" Target="fonts/font5.fntdata"/><Relationship Id="rId44" Type="http://schemas.openxmlformats.org/officeDocument/2006/relationships/slide" Target="slides/slide43.xml"/><Relationship Id="rId60" Type="http://schemas.openxmlformats.org/officeDocument/2006/relationships/slide" Target="slides/slide59.xml"/><Relationship Id="rId65" Type="http://schemas.openxmlformats.org/officeDocument/2006/relationships/slide" Target="slides/slide64.xml"/><Relationship Id="rId81" Type="http://schemas.openxmlformats.org/officeDocument/2006/relationships/slide" Target="slides/slide80.xml"/><Relationship Id="rId86" Type="http://schemas.openxmlformats.org/officeDocument/2006/relationships/slide" Target="slides/slide85.xml"/><Relationship Id="rId130" Type="http://schemas.openxmlformats.org/officeDocument/2006/relationships/font" Target="fonts/font16.fntdata"/><Relationship Id="rId135" Type="http://schemas.microsoft.com/office/2016/11/relationships/changesInfo" Target="changesInfos/changesInfo1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9" Type="http://schemas.openxmlformats.org/officeDocument/2006/relationships/slide" Target="slides/slide38.xml"/><Relationship Id="rId109" Type="http://schemas.openxmlformats.org/officeDocument/2006/relationships/slide" Target="slides/slide108.xml"/><Relationship Id="rId34" Type="http://schemas.openxmlformats.org/officeDocument/2006/relationships/slide" Target="slides/slide33.xml"/><Relationship Id="rId50" Type="http://schemas.openxmlformats.org/officeDocument/2006/relationships/slide" Target="slides/slide49.xml"/><Relationship Id="rId55" Type="http://schemas.openxmlformats.org/officeDocument/2006/relationships/slide" Target="slides/slide54.xml"/><Relationship Id="rId76" Type="http://schemas.openxmlformats.org/officeDocument/2006/relationships/slide" Target="slides/slide75.xml"/><Relationship Id="rId97" Type="http://schemas.openxmlformats.org/officeDocument/2006/relationships/slide" Target="slides/slide96.xml"/><Relationship Id="rId104" Type="http://schemas.openxmlformats.org/officeDocument/2006/relationships/slide" Target="slides/slide103.xml"/><Relationship Id="rId120" Type="http://schemas.openxmlformats.org/officeDocument/2006/relationships/font" Target="fonts/font6.fntdata"/><Relationship Id="rId125" Type="http://schemas.openxmlformats.org/officeDocument/2006/relationships/font" Target="fonts/font11.fntdata"/><Relationship Id="rId7" Type="http://schemas.openxmlformats.org/officeDocument/2006/relationships/slide" Target="slides/slide6.xml"/><Relationship Id="rId71" Type="http://schemas.openxmlformats.org/officeDocument/2006/relationships/slide" Target="slides/slide70.xml"/><Relationship Id="rId92" Type="http://schemas.openxmlformats.org/officeDocument/2006/relationships/slide" Target="slides/slide91.xml"/><Relationship Id="rId2" Type="http://schemas.openxmlformats.org/officeDocument/2006/relationships/slide" Target="slides/slide1.xml"/><Relationship Id="rId29" Type="http://schemas.openxmlformats.org/officeDocument/2006/relationships/slide" Target="slides/slide28.xml"/><Relationship Id="rId24" Type="http://schemas.openxmlformats.org/officeDocument/2006/relationships/slide" Target="slides/slide23.xml"/><Relationship Id="rId40" Type="http://schemas.openxmlformats.org/officeDocument/2006/relationships/slide" Target="slides/slide39.xml"/><Relationship Id="rId45" Type="http://schemas.openxmlformats.org/officeDocument/2006/relationships/slide" Target="slides/slide44.xml"/><Relationship Id="rId66" Type="http://schemas.openxmlformats.org/officeDocument/2006/relationships/slide" Target="slides/slide65.xml"/><Relationship Id="rId87" Type="http://schemas.openxmlformats.org/officeDocument/2006/relationships/slide" Target="slides/slide86.xml"/><Relationship Id="rId110" Type="http://schemas.openxmlformats.org/officeDocument/2006/relationships/slide" Target="slides/slide109.xml"/><Relationship Id="rId115" Type="http://schemas.openxmlformats.org/officeDocument/2006/relationships/font" Target="fonts/font1.fntdata"/><Relationship Id="rId131" Type="http://schemas.openxmlformats.org/officeDocument/2006/relationships/presProps" Target="presProps.xml"/><Relationship Id="rId136" Type="http://schemas.microsoft.com/office/2015/10/relationships/revisionInfo" Target="revisionInfo.xml"/><Relationship Id="rId61" Type="http://schemas.openxmlformats.org/officeDocument/2006/relationships/slide" Target="slides/slide60.xml"/><Relationship Id="rId82" Type="http://schemas.openxmlformats.org/officeDocument/2006/relationships/slide" Target="slides/slide81.xml"/><Relationship Id="rId19" Type="http://schemas.openxmlformats.org/officeDocument/2006/relationships/slide" Target="slides/slide18.xml"/><Relationship Id="rId14" Type="http://schemas.openxmlformats.org/officeDocument/2006/relationships/slide" Target="slides/slide13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56" Type="http://schemas.openxmlformats.org/officeDocument/2006/relationships/slide" Target="slides/slide55.xml"/><Relationship Id="rId77" Type="http://schemas.openxmlformats.org/officeDocument/2006/relationships/slide" Target="slides/slide76.xml"/><Relationship Id="rId100" Type="http://schemas.openxmlformats.org/officeDocument/2006/relationships/slide" Target="slides/slide99.xml"/><Relationship Id="rId105" Type="http://schemas.openxmlformats.org/officeDocument/2006/relationships/slide" Target="slides/slide104.xml"/><Relationship Id="rId126" Type="http://schemas.openxmlformats.org/officeDocument/2006/relationships/font" Target="fonts/font12.fntdata"/><Relationship Id="rId8" Type="http://schemas.openxmlformats.org/officeDocument/2006/relationships/slide" Target="slides/slide7.xml"/><Relationship Id="rId51" Type="http://schemas.openxmlformats.org/officeDocument/2006/relationships/slide" Target="slides/slide50.xml"/><Relationship Id="rId72" Type="http://schemas.openxmlformats.org/officeDocument/2006/relationships/slide" Target="slides/slide71.xml"/><Relationship Id="rId93" Type="http://schemas.openxmlformats.org/officeDocument/2006/relationships/slide" Target="slides/slide92.xml"/><Relationship Id="rId98" Type="http://schemas.openxmlformats.org/officeDocument/2006/relationships/slide" Target="slides/slide97.xml"/><Relationship Id="rId121" Type="http://schemas.openxmlformats.org/officeDocument/2006/relationships/font" Target="fonts/font7.fntdata"/><Relationship Id="rId3" Type="http://schemas.openxmlformats.org/officeDocument/2006/relationships/slide" Target="slides/slide2.xml"/><Relationship Id="rId25" Type="http://schemas.openxmlformats.org/officeDocument/2006/relationships/slide" Target="slides/slide24.xml"/><Relationship Id="rId46" Type="http://schemas.openxmlformats.org/officeDocument/2006/relationships/slide" Target="slides/slide45.xml"/><Relationship Id="rId67" Type="http://schemas.openxmlformats.org/officeDocument/2006/relationships/slide" Target="slides/slide66.xml"/><Relationship Id="rId116" Type="http://schemas.openxmlformats.org/officeDocument/2006/relationships/font" Target="fonts/font2.fntdata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62" Type="http://schemas.openxmlformats.org/officeDocument/2006/relationships/slide" Target="slides/slide61.xml"/><Relationship Id="rId83" Type="http://schemas.openxmlformats.org/officeDocument/2006/relationships/slide" Target="slides/slide82.xml"/><Relationship Id="rId88" Type="http://schemas.openxmlformats.org/officeDocument/2006/relationships/slide" Target="slides/slide87.xml"/><Relationship Id="rId111" Type="http://schemas.openxmlformats.org/officeDocument/2006/relationships/slide" Target="slides/slide110.xml"/><Relationship Id="rId132" Type="http://schemas.openxmlformats.org/officeDocument/2006/relationships/viewProps" Target="viewProps.xml"/><Relationship Id="rId15" Type="http://schemas.openxmlformats.org/officeDocument/2006/relationships/slide" Target="slides/slide14.xml"/><Relationship Id="rId36" Type="http://schemas.openxmlformats.org/officeDocument/2006/relationships/slide" Target="slides/slide35.xml"/><Relationship Id="rId57" Type="http://schemas.openxmlformats.org/officeDocument/2006/relationships/slide" Target="slides/slide56.xml"/><Relationship Id="rId106" Type="http://schemas.openxmlformats.org/officeDocument/2006/relationships/slide" Target="slides/slide105.xml"/><Relationship Id="rId127" Type="http://schemas.openxmlformats.org/officeDocument/2006/relationships/font" Target="fonts/font13.fntdata"/><Relationship Id="rId10" Type="http://schemas.openxmlformats.org/officeDocument/2006/relationships/slide" Target="slides/slide9.xml"/><Relationship Id="rId31" Type="http://schemas.openxmlformats.org/officeDocument/2006/relationships/slide" Target="slides/slide30.xml"/><Relationship Id="rId52" Type="http://schemas.openxmlformats.org/officeDocument/2006/relationships/slide" Target="slides/slide51.xml"/><Relationship Id="rId73" Type="http://schemas.openxmlformats.org/officeDocument/2006/relationships/slide" Target="slides/slide72.xml"/><Relationship Id="rId78" Type="http://schemas.openxmlformats.org/officeDocument/2006/relationships/slide" Target="slides/slide77.xml"/><Relationship Id="rId94" Type="http://schemas.openxmlformats.org/officeDocument/2006/relationships/slide" Target="slides/slide93.xml"/><Relationship Id="rId99" Type="http://schemas.openxmlformats.org/officeDocument/2006/relationships/slide" Target="slides/slide98.xml"/><Relationship Id="rId101" Type="http://schemas.openxmlformats.org/officeDocument/2006/relationships/slide" Target="slides/slide100.xml"/><Relationship Id="rId122" Type="http://schemas.openxmlformats.org/officeDocument/2006/relationships/font" Target="fonts/font8.fntdata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26" Type="http://schemas.openxmlformats.org/officeDocument/2006/relationships/slide" Target="slides/slide25.xml"/><Relationship Id="rId47" Type="http://schemas.openxmlformats.org/officeDocument/2006/relationships/slide" Target="slides/slide46.xml"/><Relationship Id="rId68" Type="http://schemas.openxmlformats.org/officeDocument/2006/relationships/slide" Target="slides/slide67.xml"/><Relationship Id="rId89" Type="http://schemas.openxmlformats.org/officeDocument/2006/relationships/slide" Target="slides/slide88.xml"/><Relationship Id="rId112" Type="http://schemas.openxmlformats.org/officeDocument/2006/relationships/slide" Target="slides/slide111.xml"/><Relationship Id="rId133" Type="http://schemas.openxmlformats.org/officeDocument/2006/relationships/theme" Target="theme/theme1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Zonghua Gu" userId="9a7e1853e1951ef5" providerId="LiveId" clId="{CF1FAA12-072C-4ED5-BA76-0FFFAEFDB88A}"/>
    <pc:docChg chg="addSld modSld">
      <pc:chgData name="Zonghua Gu" userId="9a7e1853e1951ef5" providerId="LiveId" clId="{CF1FAA12-072C-4ED5-BA76-0FFFAEFDB88A}" dt="2026-02-01T05:53:37.540" v="40"/>
      <pc:docMkLst>
        <pc:docMk/>
      </pc:docMkLst>
      <pc:sldChg chg="modSp mod">
        <pc:chgData name="Zonghua Gu" userId="9a7e1853e1951ef5" providerId="LiveId" clId="{CF1FAA12-072C-4ED5-BA76-0FFFAEFDB88A}" dt="2026-01-31T04:53:52.700" v="1" actId="20577"/>
        <pc:sldMkLst>
          <pc:docMk/>
          <pc:sldMk cId="0" sldId="257"/>
        </pc:sldMkLst>
        <pc:spChg chg="mod">
          <ac:chgData name="Zonghua Gu" userId="9a7e1853e1951ef5" providerId="LiveId" clId="{CF1FAA12-072C-4ED5-BA76-0FFFAEFDB88A}" dt="2026-01-31T04:53:52.700" v="1" actId="20577"/>
          <ac:spMkLst>
            <pc:docMk/>
            <pc:sldMk cId="0" sldId="257"/>
            <ac:spMk id="161" creationId="{00000000-0000-0000-0000-000000000000}"/>
          </ac:spMkLst>
        </pc:spChg>
      </pc:sldChg>
      <pc:sldChg chg="modSp">
        <pc:chgData name="Zonghua Gu" userId="9a7e1853e1951ef5" providerId="LiveId" clId="{CF1FAA12-072C-4ED5-BA76-0FFFAEFDB88A}" dt="2026-01-31T04:54:10.454" v="2"/>
        <pc:sldMkLst>
          <pc:docMk/>
          <pc:sldMk cId="0" sldId="267"/>
        </pc:sldMkLst>
        <pc:spChg chg="mod">
          <ac:chgData name="Zonghua Gu" userId="9a7e1853e1951ef5" providerId="LiveId" clId="{CF1FAA12-072C-4ED5-BA76-0FFFAEFDB88A}" dt="2026-01-31T04:54:10.454" v="2"/>
          <ac:spMkLst>
            <pc:docMk/>
            <pc:sldMk cId="0" sldId="267"/>
            <ac:spMk id="581" creationId="{00000000-0000-0000-0000-000000000000}"/>
          </ac:spMkLst>
        </pc:spChg>
      </pc:sldChg>
      <pc:sldChg chg="modSp mod">
        <pc:chgData name="Zonghua Gu" userId="9a7e1853e1951ef5" providerId="LiveId" clId="{CF1FAA12-072C-4ED5-BA76-0FFFAEFDB88A}" dt="2026-02-01T05:50:08.967" v="4" actId="20577"/>
        <pc:sldMkLst>
          <pc:docMk/>
          <pc:sldMk cId="0" sldId="276"/>
        </pc:sldMkLst>
        <pc:spChg chg="mod">
          <ac:chgData name="Zonghua Gu" userId="9a7e1853e1951ef5" providerId="LiveId" clId="{CF1FAA12-072C-4ED5-BA76-0FFFAEFDB88A}" dt="2026-02-01T05:50:08.967" v="4" actId="20577"/>
          <ac:spMkLst>
            <pc:docMk/>
            <pc:sldMk cId="0" sldId="276"/>
            <ac:spMk id="734" creationId="{00000000-0000-0000-0000-000000000000}"/>
          </ac:spMkLst>
        </pc:spChg>
      </pc:sldChg>
      <pc:sldChg chg="modSp">
        <pc:chgData name="Zonghua Gu" userId="9a7e1853e1951ef5" providerId="LiveId" clId="{CF1FAA12-072C-4ED5-BA76-0FFFAEFDB88A}" dt="2026-01-31T04:54:10.454" v="2"/>
        <pc:sldMkLst>
          <pc:docMk/>
          <pc:sldMk cId="0" sldId="278"/>
        </pc:sldMkLst>
        <pc:spChg chg="mod">
          <ac:chgData name="Zonghua Gu" userId="9a7e1853e1951ef5" providerId="LiveId" clId="{CF1FAA12-072C-4ED5-BA76-0FFFAEFDB88A}" dt="2026-01-31T04:54:10.454" v="2"/>
          <ac:spMkLst>
            <pc:docMk/>
            <pc:sldMk cId="0" sldId="278"/>
            <ac:spMk id="753" creationId="{00000000-0000-0000-0000-000000000000}"/>
          </ac:spMkLst>
        </pc:spChg>
      </pc:sldChg>
      <pc:sldChg chg="modSp">
        <pc:chgData name="Zonghua Gu" userId="9a7e1853e1951ef5" providerId="LiveId" clId="{CF1FAA12-072C-4ED5-BA76-0FFFAEFDB88A}" dt="2026-01-31T04:54:10.454" v="2"/>
        <pc:sldMkLst>
          <pc:docMk/>
          <pc:sldMk cId="0" sldId="291"/>
        </pc:sldMkLst>
        <pc:spChg chg="mod">
          <ac:chgData name="Zonghua Gu" userId="9a7e1853e1951ef5" providerId="LiveId" clId="{CF1FAA12-072C-4ED5-BA76-0FFFAEFDB88A}" dt="2026-01-31T04:54:10.454" v="2"/>
          <ac:spMkLst>
            <pc:docMk/>
            <pc:sldMk cId="0" sldId="291"/>
            <ac:spMk id="967" creationId="{00000000-0000-0000-0000-000000000000}"/>
          </ac:spMkLst>
        </pc:spChg>
      </pc:sldChg>
      <pc:sldChg chg="modSp">
        <pc:chgData name="Zonghua Gu" userId="9a7e1853e1951ef5" providerId="LiveId" clId="{CF1FAA12-072C-4ED5-BA76-0FFFAEFDB88A}" dt="2026-01-31T04:54:10.454" v="2"/>
        <pc:sldMkLst>
          <pc:docMk/>
          <pc:sldMk cId="0" sldId="297"/>
        </pc:sldMkLst>
        <pc:spChg chg="mod">
          <ac:chgData name="Zonghua Gu" userId="9a7e1853e1951ef5" providerId="LiveId" clId="{CF1FAA12-072C-4ED5-BA76-0FFFAEFDB88A}" dt="2026-01-31T04:54:10.454" v="2"/>
          <ac:spMkLst>
            <pc:docMk/>
            <pc:sldMk cId="0" sldId="297"/>
            <ac:spMk id="1035" creationId="{00000000-0000-0000-0000-000000000000}"/>
          </ac:spMkLst>
        </pc:spChg>
      </pc:sldChg>
      <pc:sldChg chg="modSp">
        <pc:chgData name="Zonghua Gu" userId="9a7e1853e1951ef5" providerId="LiveId" clId="{CF1FAA12-072C-4ED5-BA76-0FFFAEFDB88A}" dt="2026-01-31T04:54:10.454" v="2"/>
        <pc:sldMkLst>
          <pc:docMk/>
          <pc:sldMk cId="0" sldId="300"/>
        </pc:sldMkLst>
        <pc:spChg chg="mod">
          <ac:chgData name="Zonghua Gu" userId="9a7e1853e1951ef5" providerId="LiveId" clId="{CF1FAA12-072C-4ED5-BA76-0FFFAEFDB88A}" dt="2026-01-31T04:54:10.454" v="2"/>
          <ac:spMkLst>
            <pc:docMk/>
            <pc:sldMk cId="0" sldId="300"/>
            <ac:spMk id="1068" creationId="{00000000-0000-0000-0000-000000000000}"/>
          </ac:spMkLst>
        </pc:spChg>
      </pc:sldChg>
      <pc:sldChg chg="modSp modNotes">
        <pc:chgData name="Zonghua Gu" userId="9a7e1853e1951ef5" providerId="LiveId" clId="{CF1FAA12-072C-4ED5-BA76-0FFFAEFDB88A}" dt="2026-01-31T04:54:10.454" v="2"/>
        <pc:sldMkLst>
          <pc:docMk/>
          <pc:sldMk cId="0" sldId="308"/>
        </pc:sldMkLst>
        <pc:spChg chg="mod">
          <ac:chgData name="Zonghua Gu" userId="9a7e1853e1951ef5" providerId="LiveId" clId="{CF1FAA12-072C-4ED5-BA76-0FFFAEFDB88A}" dt="2026-01-31T04:54:10.454" v="2"/>
          <ac:spMkLst>
            <pc:docMk/>
            <pc:sldMk cId="0" sldId="308"/>
            <ac:spMk id="1188" creationId="{00000000-0000-0000-0000-000000000000}"/>
          </ac:spMkLst>
        </pc:spChg>
      </pc:sldChg>
      <pc:sldChg chg="modSp modNotes">
        <pc:chgData name="Zonghua Gu" userId="9a7e1853e1951ef5" providerId="LiveId" clId="{CF1FAA12-072C-4ED5-BA76-0FFFAEFDB88A}" dt="2026-01-31T04:54:10.454" v="2"/>
        <pc:sldMkLst>
          <pc:docMk/>
          <pc:sldMk cId="0" sldId="322"/>
        </pc:sldMkLst>
        <pc:spChg chg="mod">
          <ac:chgData name="Zonghua Gu" userId="9a7e1853e1951ef5" providerId="LiveId" clId="{CF1FAA12-072C-4ED5-BA76-0FFFAEFDB88A}" dt="2026-01-31T04:54:10.454" v="2"/>
          <ac:spMkLst>
            <pc:docMk/>
            <pc:sldMk cId="0" sldId="322"/>
            <ac:spMk id="1415" creationId="{00000000-0000-0000-0000-000000000000}"/>
          </ac:spMkLst>
        </pc:spChg>
      </pc:sldChg>
      <pc:sldChg chg="modSp modNotes">
        <pc:chgData name="Zonghua Gu" userId="9a7e1853e1951ef5" providerId="LiveId" clId="{CF1FAA12-072C-4ED5-BA76-0FFFAEFDB88A}" dt="2026-01-31T04:54:10.454" v="2"/>
        <pc:sldMkLst>
          <pc:docMk/>
          <pc:sldMk cId="0" sldId="331"/>
        </pc:sldMkLst>
        <pc:spChg chg="mod">
          <ac:chgData name="Zonghua Gu" userId="9a7e1853e1951ef5" providerId="LiveId" clId="{CF1FAA12-072C-4ED5-BA76-0FFFAEFDB88A}" dt="2026-01-31T04:54:10.454" v="2"/>
          <ac:spMkLst>
            <pc:docMk/>
            <pc:sldMk cId="0" sldId="331"/>
            <ac:spMk id="1544" creationId="{00000000-0000-0000-0000-000000000000}"/>
          </ac:spMkLst>
        </pc:spChg>
      </pc:sldChg>
      <pc:sldChg chg="modSp modNotes">
        <pc:chgData name="Zonghua Gu" userId="9a7e1853e1951ef5" providerId="LiveId" clId="{CF1FAA12-072C-4ED5-BA76-0FFFAEFDB88A}" dt="2026-01-31T04:54:10.454" v="2"/>
        <pc:sldMkLst>
          <pc:docMk/>
          <pc:sldMk cId="0" sldId="340"/>
        </pc:sldMkLst>
        <pc:spChg chg="mod">
          <ac:chgData name="Zonghua Gu" userId="9a7e1853e1951ef5" providerId="LiveId" clId="{CF1FAA12-072C-4ED5-BA76-0FFFAEFDB88A}" dt="2026-01-31T04:54:10.454" v="2"/>
          <ac:spMkLst>
            <pc:docMk/>
            <pc:sldMk cId="0" sldId="340"/>
            <ac:spMk id="1699" creationId="{00000000-0000-0000-0000-000000000000}"/>
          </ac:spMkLst>
        </pc:spChg>
      </pc:sldChg>
      <pc:sldChg chg="modSp modNotes">
        <pc:chgData name="Zonghua Gu" userId="9a7e1853e1951ef5" providerId="LiveId" clId="{CF1FAA12-072C-4ED5-BA76-0FFFAEFDB88A}" dt="2026-01-31T04:54:10.454" v="2"/>
        <pc:sldMkLst>
          <pc:docMk/>
          <pc:sldMk cId="0" sldId="365"/>
        </pc:sldMkLst>
        <pc:spChg chg="mod">
          <ac:chgData name="Zonghua Gu" userId="9a7e1853e1951ef5" providerId="LiveId" clId="{CF1FAA12-072C-4ED5-BA76-0FFFAEFDB88A}" dt="2026-01-31T04:54:10.454" v="2"/>
          <ac:spMkLst>
            <pc:docMk/>
            <pc:sldMk cId="0" sldId="365"/>
            <ac:spMk id="2143" creationId="{00000000-0000-0000-0000-000000000000}"/>
          </ac:spMkLst>
        </pc:spChg>
      </pc:sldChg>
      <pc:sldChg chg="modSp new mod">
        <pc:chgData name="Zonghua Gu" userId="9a7e1853e1951ef5" providerId="LiveId" clId="{CF1FAA12-072C-4ED5-BA76-0FFFAEFDB88A}" dt="2026-02-01T05:53:37.540" v="40"/>
        <pc:sldMkLst>
          <pc:docMk/>
          <pc:sldMk cId="107044331" sldId="370"/>
        </pc:sldMkLst>
        <pc:spChg chg="mod">
          <ac:chgData name="Zonghua Gu" userId="9a7e1853e1951ef5" providerId="LiveId" clId="{CF1FAA12-072C-4ED5-BA76-0FFFAEFDB88A}" dt="2026-02-01T05:53:37.540" v="40"/>
          <ac:spMkLst>
            <pc:docMk/>
            <pc:sldMk cId="107044331" sldId="370"/>
            <ac:spMk id="2" creationId="{C7A94682-D978-92CA-8223-F5DB8238E909}"/>
          </ac:spMkLst>
        </pc:spChg>
        <pc:spChg chg="mod">
          <ac:chgData name="Zonghua Gu" userId="9a7e1853e1951ef5" providerId="LiveId" clId="{CF1FAA12-072C-4ED5-BA76-0FFFAEFDB88A}" dt="2026-02-01T05:52:54.179" v="39" actId="20577"/>
          <ac:spMkLst>
            <pc:docMk/>
            <pc:sldMk cId="107044331" sldId="370"/>
            <ac:spMk id="3" creationId="{6E68C109-0918-3A9B-296E-E2A024E77A3E}"/>
          </ac:spMkLst>
        </pc:spChg>
      </pc:sldChg>
    </pc:docChg>
  </pc:docChgLst>
</pc:chgInfo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7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4" name="Google Shape;4;n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marL="914400" lvl="1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marL="1371600" lvl="2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marL="1828800" lvl="3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marL="2286000" lvl="4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marL="2743200" lvl="5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marL="3200400" lvl="6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marL="3657600" lvl="7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marL="4114800" lvl="8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.xml"/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9.xml"/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0.xml"/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1.xml"/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2.xml"/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3.xml"/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4.xml"/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5.xml"/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6.xml"/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7.xml"/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8.xml"/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9.xml"/><Relationship Id="rId1" Type="http://schemas.openxmlformats.org/officeDocument/2006/relationships/notesMaster" Target="../notesMasters/notesMaster1.xml"/></Relationships>
</file>

<file path=ppt/notesSlides/_rels/notesSlide4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0.xml"/><Relationship Id="rId1" Type="http://schemas.openxmlformats.org/officeDocument/2006/relationships/notesMaster" Target="../notesMasters/notesMaster1.xml"/></Relationships>
</file>

<file path=ppt/notesSlides/_rels/notesSlide4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1.xml"/><Relationship Id="rId1" Type="http://schemas.openxmlformats.org/officeDocument/2006/relationships/notesMaster" Target="../notesMasters/notesMaster1.xml"/></Relationships>
</file>

<file path=ppt/notesSlides/_rels/notesSlide4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2.xml"/><Relationship Id="rId1" Type="http://schemas.openxmlformats.org/officeDocument/2006/relationships/notesMaster" Target="../notesMasters/notesMaster1.xml"/></Relationships>
</file>

<file path=ppt/notesSlides/_rels/notesSlide4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3.xml"/><Relationship Id="rId1" Type="http://schemas.openxmlformats.org/officeDocument/2006/relationships/notesMaster" Target="../notesMasters/notesMaster1.xml"/></Relationships>
</file>

<file path=ppt/notesSlides/_rels/notesSlide4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4.xml"/><Relationship Id="rId1" Type="http://schemas.openxmlformats.org/officeDocument/2006/relationships/notesMaster" Target="../notesMasters/notesMaster1.xml"/></Relationships>
</file>

<file path=ppt/notesSlides/_rels/notesSlide4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5.xml"/><Relationship Id="rId1" Type="http://schemas.openxmlformats.org/officeDocument/2006/relationships/notesMaster" Target="../notesMasters/notesMaster1.xml"/></Relationships>
</file>

<file path=ppt/notesSlides/_rels/notesSlide4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6.xml"/><Relationship Id="rId1" Type="http://schemas.openxmlformats.org/officeDocument/2006/relationships/notesMaster" Target="../notesMasters/notesMaster1.xml"/></Relationships>
</file>

<file path=ppt/notesSlides/_rels/notesSlide4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7.xml"/><Relationship Id="rId1" Type="http://schemas.openxmlformats.org/officeDocument/2006/relationships/notesMaster" Target="../notesMasters/notesMaster1.xml"/></Relationships>
</file>

<file path=ppt/notesSlides/_rels/notesSlide4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8.xml"/><Relationship Id="rId1" Type="http://schemas.openxmlformats.org/officeDocument/2006/relationships/notesMaster" Target="../notesMasters/notesMaster1.xml"/></Relationships>
</file>

<file path=ppt/notesSlides/_rels/notesSlide4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9.xml"/><Relationship Id="rId1" Type="http://schemas.openxmlformats.org/officeDocument/2006/relationships/notesMaster" Target="../notesMasters/notesMaster1.xml"/></Relationships>
</file>

<file path=ppt/notesSlides/_rels/notesSlide5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0.xml"/><Relationship Id="rId1" Type="http://schemas.openxmlformats.org/officeDocument/2006/relationships/notesMaster" Target="../notesMasters/notesMaster1.xml"/></Relationships>
</file>

<file path=ppt/notesSlides/_rels/notesSlide5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1.xml"/><Relationship Id="rId1" Type="http://schemas.openxmlformats.org/officeDocument/2006/relationships/notesMaster" Target="../notesMasters/notesMaster1.xml"/></Relationships>
</file>

<file path=ppt/notesSlides/_rels/notesSlide5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2.xml"/><Relationship Id="rId1" Type="http://schemas.openxmlformats.org/officeDocument/2006/relationships/notesMaster" Target="../notesMasters/notesMaster1.xml"/></Relationships>
</file>

<file path=ppt/notesSlides/_rels/notesSlide5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3.xml"/><Relationship Id="rId1" Type="http://schemas.openxmlformats.org/officeDocument/2006/relationships/notesMaster" Target="../notesMasters/notesMaster1.xml"/></Relationships>
</file>

<file path=ppt/notesSlides/_rels/notesSlide5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4.xml"/><Relationship Id="rId1" Type="http://schemas.openxmlformats.org/officeDocument/2006/relationships/notesMaster" Target="../notesMasters/notesMaster1.xml"/></Relationships>
</file>

<file path=ppt/notesSlides/_rels/notesSlide5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5.xml"/><Relationship Id="rId1" Type="http://schemas.openxmlformats.org/officeDocument/2006/relationships/notesMaster" Target="../notesMasters/notesMaster1.xml"/></Relationships>
</file>

<file path=ppt/notesSlides/_rels/notesSlide5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6.xml"/><Relationship Id="rId1" Type="http://schemas.openxmlformats.org/officeDocument/2006/relationships/notesMaster" Target="../notesMasters/notesMaster1.xml"/></Relationships>
</file>

<file path=ppt/notesSlides/_rels/notesSlide5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7.xml"/><Relationship Id="rId1" Type="http://schemas.openxmlformats.org/officeDocument/2006/relationships/notesMaster" Target="../notesMasters/notesMaster1.xml"/></Relationships>
</file>

<file path=ppt/notesSlides/_rels/notesSlide5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8.xml"/><Relationship Id="rId1" Type="http://schemas.openxmlformats.org/officeDocument/2006/relationships/notesMaster" Target="../notesMasters/notesMaster1.xml"/></Relationships>
</file>

<file path=ppt/notesSlides/_rels/notesSlide5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9.xml"/><Relationship Id="rId1" Type="http://schemas.openxmlformats.org/officeDocument/2006/relationships/notesMaster" Target="../notesMasters/notesMaster1.xml"/></Relationships>
</file>

<file path=ppt/notesSlides/_rels/notesSlide6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0.xml"/><Relationship Id="rId1" Type="http://schemas.openxmlformats.org/officeDocument/2006/relationships/notesMaster" Target="../notesMasters/notesMaster1.xml"/></Relationships>
</file>

<file path=ppt/notesSlides/_rels/notesSlide6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1.xml"/><Relationship Id="rId1" Type="http://schemas.openxmlformats.org/officeDocument/2006/relationships/notesMaster" Target="../notesMasters/notesMaster1.xml"/></Relationships>
</file>

<file path=ppt/notesSlides/_rels/notesSlide6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2.xml"/><Relationship Id="rId1" Type="http://schemas.openxmlformats.org/officeDocument/2006/relationships/notesMaster" Target="../notesMasters/notesMaster1.xml"/></Relationships>
</file>

<file path=ppt/notesSlides/_rels/notesSlide6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3.xml"/><Relationship Id="rId1" Type="http://schemas.openxmlformats.org/officeDocument/2006/relationships/notesMaster" Target="../notesMasters/notesMaster1.xml"/></Relationships>
</file>

<file path=ppt/notesSlides/_rels/notesSlide6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4.xml"/><Relationship Id="rId1" Type="http://schemas.openxmlformats.org/officeDocument/2006/relationships/notesMaster" Target="../notesMasters/notesMaster1.xml"/></Relationships>
</file>

<file path=ppt/notesSlides/_rels/notesSlide6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5.xml"/><Relationship Id="rId1" Type="http://schemas.openxmlformats.org/officeDocument/2006/relationships/notesMaster" Target="../notesMasters/notesMaster1.xml"/></Relationships>
</file>

<file path=ppt/notesSlides/_rels/notesSlide6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6.xml"/><Relationship Id="rId1" Type="http://schemas.openxmlformats.org/officeDocument/2006/relationships/notesMaster" Target="../notesMasters/notesMaster1.xml"/></Relationships>
</file>

<file path=ppt/notesSlides/_rels/notesSlide6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7.xml"/><Relationship Id="rId1" Type="http://schemas.openxmlformats.org/officeDocument/2006/relationships/notesMaster" Target="../notesMasters/notesMaster1.xml"/></Relationships>
</file>

<file path=ppt/notesSlides/_rels/notesSlide6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8.xml"/><Relationship Id="rId1" Type="http://schemas.openxmlformats.org/officeDocument/2006/relationships/notesMaster" Target="../notesMasters/notesMaster1.xml"/></Relationships>
</file>

<file path=ppt/notesSlides/_rels/notesSlide6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9.xml"/><Relationship Id="rId1" Type="http://schemas.openxmlformats.org/officeDocument/2006/relationships/notesMaster" Target="../notesMasters/notesMaster1.xml"/></Relationships>
</file>

<file path=ppt/notesSlides/_rels/notesSlide7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0.xml"/><Relationship Id="rId1" Type="http://schemas.openxmlformats.org/officeDocument/2006/relationships/notesMaster" Target="../notesMasters/notesMaster1.xml"/></Relationships>
</file>

<file path=ppt/notesSlides/_rels/notesSlide7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1.xml"/><Relationship Id="rId1" Type="http://schemas.openxmlformats.org/officeDocument/2006/relationships/notesMaster" Target="../notesMasters/notesMaster1.xml"/></Relationships>
</file>

<file path=ppt/notesSlides/_rels/notesSlide7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2.xml"/><Relationship Id="rId1" Type="http://schemas.openxmlformats.org/officeDocument/2006/relationships/notesMaster" Target="../notesMasters/notesMaster1.xml"/></Relationships>
</file>

<file path=ppt/notesSlides/_rels/notesSlide7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3.xml"/><Relationship Id="rId1" Type="http://schemas.openxmlformats.org/officeDocument/2006/relationships/notesMaster" Target="../notesMasters/notesMaster1.xml"/></Relationships>
</file>

<file path=ppt/notesSlides/_rels/notesSlide7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4.xml"/><Relationship Id="rId1" Type="http://schemas.openxmlformats.org/officeDocument/2006/relationships/notesMaster" Target="../notesMasters/notesMaster1.xml"/></Relationships>
</file>

<file path=ppt/notesSlides/_rels/notesSlide7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5.xml"/><Relationship Id="rId1" Type="http://schemas.openxmlformats.org/officeDocument/2006/relationships/notesMaster" Target="../notesMasters/notesMaster1.xml"/></Relationships>
</file>

<file path=ppt/notesSlides/_rels/notesSlide7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6.xml"/><Relationship Id="rId1" Type="http://schemas.openxmlformats.org/officeDocument/2006/relationships/notesMaster" Target="../notesMasters/notesMaster1.xml"/></Relationships>
</file>

<file path=ppt/notesSlides/_rels/notesSlide7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7.xml"/><Relationship Id="rId1" Type="http://schemas.openxmlformats.org/officeDocument/2006/relationships/notesMaster" Target="../notesMasters/notesMaster1.xml"/></Relationships>
</file>

<file path=ppt/notesSlides/_rels/notesSlide7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8.xml"/><Relationship Id="rId1" Type="http://schemas.openxmlformats.org/officeDocument/2006/relationships/notesMaster" Target="../notesMasters/notesMaster1.xml"/></Relationships>
</file>

<file path=ppt/notesSlides/_rels/notesSlide7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9.xml"/><Relationship Id="rId1" Type="http://schemas.openxmlformats.org/officeDocument/2006/relationships/notesMaster" Target="../notesMasters/notesMaster1.xml"/></Relationships>
</file>

<file path=ppt/notesSlides/_rels/notesSlide8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0.xml"/><Relationship Id="rId1" Type="http://schemas.openxmlformats.org/officeDocument/2006/relationships/notesMaster" Target="../notesMasters/notesMaster1.xml"/></Relationships>
</file>

<file path=ppt/notesSlides/_rels/notesSlide8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1.xml"/><Relationship Id="rId1" Type="http://schemas.openxmlformats.org/officeDocument/2006/relationships/notesMaster" Target="../notesMasters/notesMaster1.xml"/></Relationships>
</file>

<file path=ppt/notesSlides/_rels/notesSlide8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3.xml"/><Relationship Id="rId1" Type="http://schemas.openxmlformats.org/officeDocument/2006/relationships/notesMaster" Target="../notesMasters/notesMaster1.xml"/></Relationships>
</file>

<file path=ppt/notesSlides/_rels/notesSlide8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4.xml"/><Relationship Id="rId1" Type="http://schemas.openxmlformats.org/officeDocument/2006/relationships/notesMaster" Target="../notesMasters/notesMaster1.xml"/></Relationships>
</file>

<file path=ppt/notesSlides/_rels/notesSlide8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5.xml"/><Relationship Id="rId1" Type="http://schemas.openxmlformats.org/officeDocument/2006/relationships/notesMaster" Target="../notesMasters/notesMaster1.xml"/></Relationships>
</file>

<file path=ppt/notesSlides/_rels/notesSlide8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6.xml"/><Relationship Id="rId1" Type="http://schemas.openxmlformats.org/officeDocument/2006/relationships/notesMaster" Target="../notesMasters/notesMaster1.xml"/></Relationships>
</file>

<file path=ppt/notesSlides/_rels/notesSlide8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7.xml"/><Relationship Id="rId1" Type="http://schemas.openxmlformats.org/officeDocument/2006/relationships/notesMaster" Target="../notesMasters/notesMaster1.xml"/></Relationships>
</file>

<file path=ppt/notesSlides/_rels/notesSlide8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8.xml"/><Relationship Id="rId1" Type="http://schemas.openxmlformats.org/officeDocument/2006/relationships/notesMaster" Target="../notesMasters/notesMaster1.xml"/></Relationships>
</file>

<file path=ppt/notesSlides/_rels/notesSlide8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9.xml"/><Relationship Id="rId1" Type="http://schemas.openxmlformats.org/officeDocument/2006/relationships/notesMaster" Target="../notesMasters/notesMaster1.xml"/></Relationships>
</file>

<file path=ppt/notesSlides/_rels/notesSlide8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0.xml"/><Relationship Id="rId1" Type="http://schemas.openxmlformats.org/officeDocument/2006/relationships/notesMaster" Target="../notesMasters/notesMaster1.xml"/></Relationships>
</file>

<file path=ppt/notesSlides/_rels/notesSlide9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1.xml"/><Relationship Id="rId1" Type="http://schemas.openxmlformats.org/officeDocument/2006/relationships/notesMaster" Target="../notesMasters/notesMaster1.xml"/></Relationships>
</file>

<file path=ppt/notesSlides/_rels/notesSlide9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2.xml"/><Relationship Id="rId1" Type="http://schemas.openxmlformats.org/officeDocument/2006/relationships/notesMaster" Target="../notesMasters/notesMaster1.xml"/></Relationships>
</file>

<file path=ppt/notesSlides/_rels/notesSlide9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3.xml"/><Relationship Id="rId1" Type="http://schemas.openxmlformats.org/officeDocument/2006/relationships/notesMaster" Target="../notesMasters/notesMaster1.xml"/></Relationships>
</file>

<file path=ppt/notesSlides/_rels/notesSlide9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4.xml"/><Relationship Id="rId1" Type="http://schemas.openxmlformats.org/officeDocument/2006/relationships/notesMaster" Target="../notesMasters/notesMaster1.xml"/></Relationships>
</file>

<file path=ppt/notesSlides/_rels/notesSlide9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5.xml"/><Relationship Id="rId1" Type="http://schemas.openxmlformats.org/officeDocument/2006/relationships/notesMaster" Target="../notesMasters/notesMaster1.xml"/></Relationships>
</file>

<file path=ppt/notesSlides/_rels/notesSlide9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6.xml"/><Relationship Id="rId1" Type="http://schemas.openxmlformats.org/officeDocument/2006/relationships/notesMaster" Target="../notesMasters/notesMaster1.xml"/></Relationships>
</file>

<file path=ppt/notesSlides/_rels/notesSlide9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7.xml"/><Relationship Id="rId1" Type="http://schemas.openxmlformats.org/officeDocument/2006/relationships/notesMaster" Target="../notesMasters/notesMaster1.xml"/></Relationships>
</file>

<file path=ppt/notesSlides/_rels/notesSlide9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8.xml"/><Relationship Id="rId1" Type="http://schemas.openxmlformats.org/officeDocument/2006/relationships/notesMaster" Target="../notesMasters/notesMaster1.xml"/></Relationships>
</file>

<file path=ppt/notesSlides/_rels/notesSlide9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9.xml"/><Relationship Id="rId1" Type="http://schemas.openxmlformats.org/officeDocument/2006/relationships/notesMaster" Target="../notesMasters/notesMaster1.xml"/></Relationships>
</file>

<file path=ppt/notesSlides/_rels/notesSlide9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0.xml"/><Relationship Id="rId1" Type="http://schemas.openxmlformats.org/officeDocument/2006/relationships/notesMaster" Target="../notesMasters/notesMaster1.xml"/></Relationships>
</file>

<file path=ppt/notesSlides/_rels/notesSlide10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1.xml"/><Relationship Id="rId1" Type="http://schemas.openxmlformats.org/officeDocument/2006/relationships/notesMaster" Target="../notesMasters/notesMaster1.xml"/></Relationships>
</file>

<file path=ppt/notesSlides/_rels/notesSlide10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2.xml"/><Relationship Id="rId1" Type="http://schemas.openxmlformats.org/officeDocument/2006/relationships/notesMaster" Target="../notesMasters/notesMaster1.xml"/></Relationships>
</file>

<file path=ppt/notesSlides/_rels/notesSlide10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3.xml"/><Relationship Id="rId1" Type="http://schemas.openxmlformats.org/officeDocument/2006/relationships/notesMaster" Target="../notesMasters/notesMaster1.xml"/></Relationships>
</file>

<file path=ppt/notesSlides/_rels/notesSlide10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4.xml"/><Relationship Id="rId1" Type="http://schemas.openxmlformats.org/officeDocument/2006/relationships/notesMaster" Target="../notesMasters/notesMaster1.xml"/></Relationships>
</file>

<file path=ppt/notesSlides/_rels/notesSlide10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5.xml"/><Relationship Id="rId1" Type="http://schemas.openxmlformats.org/officeDocument/2006/relationships/notesMaster" Target="../notesMasters/notesMaster1.xml"/></Relationships>
</file>

<file path=ppt/notesSlides/_rels/notesSlide10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6.xml"/><Relationship Id="rId1" Type="http://schemas.openxmlformats.org/officeDocument/2006/relationships/notesMaster" Target="../notesMasters/notesMaster1.xml"/></Relationships>
</file>

<file path=ppt/notesSlides/_rels/notesSlide10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7.xml"/><Relationship Id="rId1" Type="http://schemas.openxmlformats.org/officeDocument/2006/relationships/notesMaster" Target="../notesMasters/notesMaster1.xml"/></Relationships>
</file>

<file path=ppt/notesSlides/_rels/notesSlide10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8.xml"/><Relationship Id="rId1" Type="http://schemas.openxmlformats.org/officeDocument/2006/relationships/notesMaster" Target="../notesMasters/notesMaster1.xml"/></Relationships>
</file>

<file path=ppt/notesSlides/_rels/notesSlide10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9.xml"/><Relationship Id="rId1" Type="http://schemas.openxmlformats.org/officeDocument/2006/relationships/notesMaster" Target="../notesMasters/notesMaster1.xml"/></Relationships>
</file>

<file path=ppt/notesSlides/_rels/notesSlide10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0.xml"/><Relationship Id="rId1" Type="http://schemas.openxmlformats.org/officeDocument/2006/relationships/notesMaster" Target="../notesMasters/notesMaster1.xml"/></Relationships>
</file>

<file path=ppt/notesSlides/_rels/notesSlide1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1.xml"/><Relationship Id="rId1" Type="http://schemas.openxmlformats.org/officeDocument/2006/relationships/notesMaster" Target="../notesMasters/notesMaster1.xml"/></Relationships>
</file>

<file path=ppt/notesSlides/_rels/notesSlide1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2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g2786d2d46cd_0_439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57" name="Google Shape;157;g2786d2d46cd_0_439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Welcome to week 2 </a:t>
            </a:r>
            <a:endParaRPr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Finally, we get to build a routing protocol. Today will be entirely focused on Distance-Vector approach and then we’ll talk about an alternative approach hopefully tomorrow. </a:t>
            </a:r>
            <a:endParaRPr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dirty="0"/>
              <a:t>so we're going to number them 1 through seven we'll come up with rules and when you put the seven rules together you get</a:t>
            </a:r>
            <a:endParaRPr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dirty="0"/>
              <a:t>29:30</a:t>
            </a:r>
            <a:endParaRPr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dirty="0"/>
              <a:t>an algorithm called the distance Vector protocol and it allows us to find shortest paths through the entire</a:t>
            </a:r>
            <a:endParaRPr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dirty="0"/>
              <a:t>29:36</a:t>
            </a:r>
            <a:endParaRPr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network </a:t>
            </a:r>
            <a:endParaRPr dirty="0"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3" name="Google Shape;163;g2812fc3e5d3_0_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64" name="Google Shape;164;g2812fc3e5d3_0_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dirty="0">
                <a:solidFill>
                  <a:schemeClr val="dk1"/>
                </a:solidFill>
              </a:rPr>
              <a:t>so let's Jump Right In so before we talk about any rules let me just give</a:t>
            </a:r>
            <a:endParaRPr dirty="0"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dirty="0">
                <a:solidFill>
                  <a:schemeClr val="dk1"/>
                </a:solidFill>
              </a:rPr>
              <a:t>29:41</a:t>
            </a:r>
            <a:endParaRPr dirty="0"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dirty="0">
                <a:solidFill>
                  <a:schemeClr val="dk1"/>
                </a:solidFill>
              </a:rPr>
              <a:t>you a one slide one sentence version of this algorithm so all you have to do is</a:t>
            </a:r>
            <a:endParaRPr dirty="0"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dirty="0"/>
              <a:t>29:47</a:t>
            </a:r>
            <a:endParaRPr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dirty="0"/>
              <a:t>that if you hear about a path to a destination tell all your neighbors that's the oneliner version of this</a:t>
            </a:r>
            <a:endParaRPr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dirty="0"/>
              <a:t>29:54</a:t>
            </a:r>
            <a:endParaRPr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dirty="0"/>
              <a:t>algorithm we're then going to spend a lot of time making it good but at a high level this is what it looks like so what</a:t>
            </a:r>
            <a:endParaRPr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dirty="0"/>
              <a:t>30:00</a:t>
            </a:r>
            <a:endParaRPr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dirty="0"/>
              <a:t>does that mean let's say R1 wakes up one day and it sees that it has a hardcoded route to a so remember we said that</a:t>
            </a:r>
            <a:endParaRPr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dirty="0"/>
              <a:t>30:08</a:t>
            </a:r>
            <a:endParaRPr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dirty="0"/>
              <a:t>static routes are the ones that are hardcoded if you're directly connected to a host then we will hardcode an entry</a:t>
            </a:r>
            <a:endParaRPr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dirty="0"/>
              <a:t>30:15</a:t>
            </a:r>
            <a:endParaRPr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dirty="0"/>
              <a:t>into r1's table saying that your next top to a is direct so R1 wakes up one</a:t>
            </a:r>
            <a:endParaRPr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dirty="0"/>
              <a:t>30:21</a:t>
            </a:r>
            <a:endParaRPr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dirty="0"/>
              <a:t>day with this hardcoded entry and says I know a way to get to a so you know what I should do I should spread the love I</a:t>
            </a:r>
            <a:endParaRPr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dirty="0"/>
              <a:t>30:27</a:t>
            </a:r>
            <a:endParaRPr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dirty="0"/>
              <a:t>should tell all of my neighbors that if they want to reach a they should come through me so R1 thinks I can reach a so</a:t>
            </a:r>
            <a:endParaRPr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dirty="0"/>
              <a:t>30:35</a:t>
            </a:r>
            <a:endParaRPr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dirty="0"/>
              <a:t>let me go tell all of my neighbors so that if they want to reach a they can come through me as well so that's what</a:t>
            </a:r>
            <a:endParaRPr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3" name="Google Shape;203;g2ed56a414bf_0_171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04" name="Google Shape;204;g2ed56a414bf_0_171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30:40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R1 does R1 go goes ahead and tells all of its neighbors hey everyone I am R1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30:46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and I can reach a so if you ever want to talk to a send it to me and I got it for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30:51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you I'll send it to a for you so R2 and R3 hear this and now they can update their forwarding tables therefore in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30:58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table say if I want to send a packet to a I should forward it to R1 because R1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31:03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just told me that they can reach a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6" name="Google Shape;246;g2ed56a414bf_0_21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47" name="Google Shape;247;g2ed56a414bf_0_21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and likewise R3 thinks and says well I just heard this message from R1 saying they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31:10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can reach a so if I ever want to send packets to a I should just forward packets to R1 because they told me that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31:16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they can reach a so R2 and R3 can now program their forwarding tables with a path to a and because R2 and R3 can now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31:24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reach a they should also spread the love and tell their neighbors so R2 and R3 say we now know how to reach a let's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31:31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tell all of our neighbors how to reach a so that they can also join in on the fun and send packets to a </a:t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g2ed56a414bf_0_263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92" name="Google Shape;292;g2ed56a414bf_0_263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so R2 and R3 send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31:39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packets to all of their neighbors and they say I can reach a as well so if you ever want to send packets to a send it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31:45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my way and R4 R5 R6 R7 they all hear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2" name="Google Shape;342;g2ed56a414bf_0_32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43" name="Google Shape;343;g2ed56a414bf_0_32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31:51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this message saying R2 can reach a and R3 can reach a so now they can also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31:56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program entries into their forwork table so R4 says well R2 claims they can reach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32:01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a so if I ever want to talk to a I should send packets that way and R5 here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32:07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is well R2 says they can reach a so if I ever want to send packets to a I will send them this way and the same thing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5" name="Google Shape;395;g2ed56a414bf_0_396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96" name="Google Shape;396;g2ed56a414bf_0_396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32:28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they should also spread the love and tell their neighbors so their neighbors can also reach a so they talk to all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32:34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their neighbors saying I can reach a if you ever want to talk to a come through me and these routers can now program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32:40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routes through a as well and if you do this enough times that you spread the love all across the network eventually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32:47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everyone should have a forwarding table entry that points toward a these blue arrows form a valid directed delivery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32:54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tree where all the arrows Point toward a and now regardless of who's sending packets anywhere all these routers can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33:00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coordinate and send the packets toward a so at a very high level with a single line this is what you're supposed to do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2" name="Google Shape;462;g2ed56a414bf_0_53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63" name="Google Shape;463;g2ed56a414bf_0_53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0" name="Google Shape;530;g2ed56a414bf_0_693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31" name="Google Shape;531;g2ed56a414bf_0_693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remember there is a critical difference between routing and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34:36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forwarding and remember routing is the process of all the routers talking to each other to form uh valid forwarding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34:45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tables and forwarding is the process of receiving a packet from a user and using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34:50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the table to forward packets so routing is building the tables forwarding is using the tables that you just built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34:58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and something you'll notice if you look at the demo is that the direction of packets being sent in routing and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35:04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forwarding are opposites and this always trips people up so notice that when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35:09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everyone was sharing information with their friends about the fact that they can reach a that information propagated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35:16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outwards so it started at a and R1 at first these were the only two people who knew about a but slowly that information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35:24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radiated outwards and from a going F further and further and further away from a from the left side of your screen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35:31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to the right side of your screen propagating outwards from a until everyone knew the information by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35:37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contrast when you are forwarding when you actually have the tables filled in and you're ready to use the tables when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35:44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someone sends you a packet and says please forward this packet toward a then the packets travel inwards toward a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70" name="Google Shape;570;g2ed56a414bf_0_794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71" name="Google Shape;571;g2ed56a414bf_0_794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76" name="Google Shape;576;g2ed56a414bf_0_606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77" name="Google Shape;577;g2ed56a414bf_0_606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Pause to see if anyone can think of multipath, or expiring issues or other issues with the sketch</a:t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83" name="Google Shape;583;g2ed56a414bf_0_612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84" name="Google Shape;584;g2ed56a414bf_0_612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38:40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in the picture we showed you earlier everything was nice there was only a single path so when you heard about the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38:46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way to reach a you just pointed your forwarding table in the direction toward a but that might not always be the case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38:54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sometimes there are multiple paths to reach a destination so in this example as before R1 is the only one that knows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39:01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about a at the very beginning so it tells all its friends it tells R2 and R4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39:06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and then R2 tells R3 and then R3 tells R5 and then R4 tells R5 so what happened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39:13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here is R3 and R4 both have a way to reach a so R5 is going to hear two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39:20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different paths R3 is going to say I can reach a if you send packets to me I'll get to a but R4 will also say if you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39:28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send packets to me I will also re J so R5 now has a choice it can either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39:33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program its forwarding table to go via R3 or to go via R4 the next top to a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39:39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could either be R3 or R4 there's a choice and remember we said that both of these would be valid paths they would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39:46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send packets to a but one of them is better than the other in other words the cost is less and ultimately we want the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39:53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least cost path so what R5 should really do is prefer the path with less cost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6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2" name="Google Shape;612;g2812fc3e5d3_0_39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13" name="Google Shape;613;g2812fc3e5d3_0_39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6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4" name="Google Shape;634;g2ed56a414bf_0_76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35" name="Google Shape;635;g2ed56a414bf_0_76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dirty="0"/>
              <a:t>one more problem is that you</a:t>
            </a:r>
            <a:endParaRPr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dirty="0"/>
              <a:t>42:05</a:t>
            </a:r>
            <a:endParaRPr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dirty="0"/>
              <a:t>might actually not hear about both of the paths at the same time so in the picture we had before everything was</a:t>
            </a:r>
            <a:endParaRPr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dirty="0"/>
              <a:t>42:10</a:t>
            </a:r>
            <a:endParaRPr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dirty="0"/>
              <a:t>nice R5 heard about two different paths and it got to pick the best one but that</a:t>
            </a:r>
            <a:endParaRPr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dirty="0"/>
              <a:t>42:16</a:t>
            </a:r>
            <a:endParaRPr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dirty="0"/>
              <a:t>might not always happen what if the costs come in at different times for example you your R5 and you hear about</a:t>
            </a:r>
            <a:endParaRPr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dirty="0"/>
              <a:t>42:23</a:t>
            </a:r>
            <a:endParaRPr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dirty="0"/>
              <a:t>the advertisement from R3 so R3 says I can reach a I'm 308 so what should R5 do</a:t>
            </a:r>
            <a:endParaRPr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dirty="0"/>
              <a:t>42:30</a:t>
            </a:r>
            <a:endParaRPr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dirty="0"/>
              <a:t>at this point because R5 hasn't heard the second path yet it only knows about</a:t>
            </a:r>
            <a:endParaRPr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dirty="0"/>
              <a:t>42:35</a:t>
            </a:r>
            <a:endParaRPr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dirty="0"/>
              <a:t>a single path to a so what R5 has to do for now is say well is this the best I</a:t>
            </a:r>
            <a:endParaRPr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dirty="0"/>
              <a:t>42:41</a:t>
            </a:r>
            <a:endParaRPr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dirty="0"/>
              <a:t>don't know but it's what I have right now so I'm going to go ahead and use this one for now and if I hear a better</a:t>
            </a:r>
            <a:endParaRPr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dirty="0"/>
              <a:t>42:47</a:t>
            </a:r>
            <a:endParaRPr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dirty="0"/>
              <a:t>one later I can change my mind so routers are allowed to change their mind if they hear about something better and</a:t>
            </a:r>
            <a:endParaRPr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dirty="0"/>
              <a:t>42:53</a:t>
            </a:r>
            <a:endParaRPr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dirty="0"/>
              <a:t>what that means is because routers have to be able to change their minds when they hear better routes they should also</a:t>
            </a:r>
            <a:endParaRPr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dirty="0"/>
              <a:t>43:00</a:t>
            </a:r>
            <a:endParaRPr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dirty="0"/>
              <a:t>keep track of the routes so so far our forwarding tables just said a destination and a Next Top we are now</a:t>
            </a:r>
            <a:endParaRPr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dirty="0"/>
              <a:t>43:07</a:t>
            </a:r>
            <a:endParaRPr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dirty="0"/>
              <a:t>going to add a third column that used to not be there and the third column helps us keep track of the best known cost to</a:t>
            </a:r>
            <a:endParaRPr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dirty="0"/>
              <a:t>43:15</a:t>
            </a:r>
            <a:endParaRPr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dirty="0"/>
              <a:t>the destination so before </a:t>
            </a:r>
            <a:r>
              <a:rPr lang="en"/>
              <a:t>this little </a:t>
            </a:r>
            <a:r>
              <a:rPr lang="en" dirty="0"/>
              <a:t>packet came in R5 had no idea where a</a:t>
            </a:r>
            <a:endParaRPr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dirty="0"/>
              <a:t>43:21</a:t>
            </a:r>
            <a:endParaRPr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dirty="0"/>
              <a:t>was or even that a existed but then it heard a message from R3 and R3 said I am</a:t>
            </a:r>
            <a:endParaRPr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dirty="0"/>
              <a:t>43:26</a:t>
            </a:r>
            <a:endParaRPr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dirty="0"/>
              <a:t>r three if you want to send packets to a send them through me I am cost three</a:t>
            </a:r>
            <a:endParaRPr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dirty="0"/>
              <a:t>43:32</a:t>
            </a:r>
            <a:endParaRPr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dirty="0"/>
              <a:t>away and R5 thinks well that's great if you're three away I must be four away so</a:t>
            </a:r>
            <a:endParaRPr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dirty="0"/>
              <a:t>43:39</a:t>
            </a:r>
            <a:endParaRPr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dirty="0"/>
              <a:t>I will write down that I can pass packets to R3 and they will reach a and</a:t>
            </a:r>
            <a:endParaRPr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dirty="0"/>
              <a:t>43:44</a:t>
            </a:r>
            <a:endParaRPr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dirty="0"/>
              <a:t>I'll also leave a note to myself that this best known path has cost four and</a:t>
            </a:r>
            <a:endParaRPr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dirty="0"/>
              <a:t>43:50</a:t>
            </a:r>
            <a:endParaRPr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dirty="0"/>
              <a:t>maybe I'll get a better one later who knows but for now at least I have a path to a I don't know if it's the best one</a:t>
            </a:r>
            <a:endParaRPr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dirty="0"/>
              <a:t>43:56</a:t>
            </a:r>
            <a:endParaRPr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dirty="0"/>
              <a:t>maybe maybe better ones will come along maybe no other paths will come along but that's what I have right now and later</a:t>
            </a:r>
            <a:endParaRPr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6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59" name="Google Shape;659;g2ed56a414bf_0_80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60" name="Google Shape;660;g2ed56a414bf_0_80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44:03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you might hear a different path so now later down the line R4 sends a message to R5 and says I'm R4 I can reach a and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44:12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if you send it to me I am two away from a so R5 now thinks and realizes actually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44:17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you know what the old path that I had which was cost four is not the best one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44:22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this one is better R4 is 2 away so I must be three away so so actually this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44:27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one has cost three that's better than four three is better than four so what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44:32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R5 can now do is R5 can change its mind it says actually I don't need that path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44:38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via R3 anymore with cost 4 I really want the path via R4 with cost three that's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44:45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better so R5 says I like the new one better and it's okay to change your mind and abandon old ones so this is what you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44:52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have to do because of the fact that there are multiple paths and they might not all be revealed to you at the same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44:58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time 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6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85" name="Google Shape;685;g2ed56a414bf_0_76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86" name="Google Shape;686;g2ed56a414bf_0_76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we've actually already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45:55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started to build our algorithm so we'll piece it together and this slide will start from very empty to very full as we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46:01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fill in all the rules so these rules are repeated once per destination that's why it says for each destination we just did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46:08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it for a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6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91" name="Google Shape;691;g2ed56a414bf_0_859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92" name="Google Shape;692;g2ed56a414bf_0_859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dirty="0"/>
              <a:t>47:57</a:t>
            </a:r>
            <a:endParaRPr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dirty="0"/>
              <a:t>not all link costs are one so so far we were just kind of being lazy and saying all the links were one so if someone</a:t>
            </a:r>
            <a:endParaRPr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dirty="0"/>
              <a:t>48:02</a:t>
            </a:r>
            <a:endParaRPr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dirty="0"/>
              <a:t>says I am five away from a then you must be six away because your buddy was five</a:t>
            </a:r>
            <a:endParaRPr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dirty="0"/>
              <a:t>48:08</a:t>
            </a:r>
            <a:endParaRPr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dirty="0"/>
              <a:t>away you must be six away that's true of all the link costs are one but if the link costs are not all one you have to</a:t>
            </a:r>
            <a:endParaRPr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dirty="0"/>
              <a:t>48:15</a:t>
            </a:r>
            <a:endParaRPr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dirty="0"/>
              <a:t>do </a:t>
            </a:r>
            <a:r>
              <a:rPr lang="en"/>
              <a:t>a little </a:t>
            </a:r>
            <a:r>
              <a:rPr lang="en" dirty="0"/>
              <a:t>bit of math</a:t>
            </a:r>
            <a:endParaRPr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7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07" name="Google Shape;707;g2ed56a414bf_0_87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08" name="Google Shape;708;g2ed56a414bf_0_87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7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4" name="Google Shape;724;g2ed56a414bf_0_892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25" name="Google Shape;725;g2ed56a414bf_0_892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50:27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okay so to take that rule that we just talked about and write it out that summation looks like this it's the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50:33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advertised cost the cost that you received from your buddy plus the link cost to the neighbor that's what we just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Does rule one look familiar from other classes or algorithms that you’ve encountered? Can you think of any?</a:t>
            </a:r>
            <a:endParaRPr/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7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30" name="Google Shape;730;g2ed56a414bf_0_897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31" name="Google Shape;731;g2ed56a414bf_0_897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dirty="0"/>
              <a:t> this thing should hopefully look very</a:t>
            </a:r>
            <a:endParaRPr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dirty="0"/>
              <a:t>51:34</a:t>
            </a:r>
            <a:endParaRPr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dirty="0"/>
              <a:t>familiar if you've taken a data structures class because this is exactly what you do to run a shortest paths</a:t>
            </a:r>
            <a:endParaRPr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dirty="0"/>
              <a:t>51:40</a:t>
            </a:r>
            <a:endParaRPr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dirty="0"/>
              <a:t>algorithm like dyra algorithm do people know Dyer's algorithm do they remember it kind of sort of okay I saw my hands</a:t>
            </a:r>
            <a:endParaRPr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dirty="0"/>
              <a:t>51:48</a:t>
            </a:r>
            <a:endParaRPr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dirty="0"/>
              <a:t>go up that's good so this is the operation in dyra algorithm that actually makes it work if you really</a:t>
            </a:r>
            <a:endParaRPr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dirty="0"/>
              <a:t>51:54</a:t>
            </a:r>
            <a:endParaRPr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dirty="0"/>
              <a:t>remember your stuff you might remember it's called relaxation although I don't really what it's called but that's the</a:t>
            </a:r>
            <a:endParaRPr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dirty="0"/>
              <a:t>51:59</a:t>
            </a:r>
            <a:endParaRPr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dirty="0"/>
              <a:t>term that people use and basically to run dyra algorithm to get the shortest paths in a graph you just do this</a:t>
            </a:r>
            <a:endParaRPr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dirty="0"/>
              <a:t>52:06</a:t>
            </a:r>
            <a:endParaRPr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dirty="0"/>
              <a:t>operation over and over again so we could actually build a distance Vector</a:t>
            </a:r>
            <a:endParaRPr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dirty="0"/>
              <a:t>52:13</a:t>
            </a:r>
            <a:endParaRPr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dirty="0"/>
              <a:t>protocol based on dyis algorithm but I'm actually going to do it based on Bellman Ford which is another shortest pass</a:t>
            </a:r>
            <a:endParaRPr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dirty="0"/>
              <a:t>52:20</a:t>
            </a:r>
            <a:endParaRPr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dirty="0"/>
              <a:t>algorithm that does the same relaxation and the reason why I use one over the other will become more clear as we keep</a:t>
            </a:r>
            <a:endParaRPr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dirty="0"/>
              <a:t>52:26</a:t>
            </a:r>
            <a:endParaRPr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dirty="0"/>
              <a:t>going but if you remember either of these algorithms which you don't have to it's</a:t>
            </a:r>
            <a:endParaRPr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dirty="0"/>
              <a:t>52:31</a:t>
            </a:r>
            <a:endParaRPr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dirty="0"/>
              <a:t>okay if you don't remember exactly how they work Dyer's algorithm relaxes things in a very specific order</a:t>
            </a:r>
            <a:endParaRPr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dirty="0"/>
              <a:t>52:37</a:t>
            </a:r>
            <a:endParaRPr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dirty="0"/>
              <a:t>to relax all the edges radiating outwards from The Source in order to get the shortest paths whereas Bellman Ford</a:t>
            </a:r>
            <a:endParaRPr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dirty="0"/>
              <a:t>52:43</a:t>
            </a:r>
            <a:endParaRPr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dirty="0"/>
              <a:t>if you've ever seen it you can relax the edges in any order that you want as long as you relax everybody enough times you</a:t>
            </a:r>
            <a:endParaRPr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dirty="0"/>
              <a:t>52:50</a:t>
            </a:r>
            <a:endParaRPr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dirty="0"/>
              <a:t>get the shortest path so the reason why I want to use Bellman Ford here instead of dstress is that b for doesn't impose</a:t>
            </a:r>
            <a:endParaRPr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dirty="0"/>
              <a:t>52:57</a:t>
            </a:r>
            <a:endParaRPr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dirty="0"/>
              <a:t>any order in which I visit all the edges I can relax all the edges in any order that I feel like whereas Dyas actually</a:t>
            </a:r>
            <a:endParaRPr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dirty="0"/>
              <a:t>53:04</a:t>
            </a:r>
            <a:endParaRPr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dirty="0"/>
              <a:t>does impose an order but both of them are based on this relaxation operation</a:t>
            </a:r>
            <a:endParaRPr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7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36" name="Google Shape;736;g2ed56a414bf_0_902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37" name="Google Shape;737;g2ed56a414bf_0_902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Here is the centralized bellman-ford algorithm in pseudo code. Let’s step through each component and then we’ll talk about how it’s distributed. 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In the distributed version have to take out this for loop. Routers can’t get in line or have a guarantee all will do this in order. 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ow the difference with our version is that our version is distributed so we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58:35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don't have a list of all the routers we don't have a list of all the links no one is telling us that stuff so instead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58:42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we're still going to do the same thing but we're going to do it in a distributed way so this blue section it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58:47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still exists but instead of initializing these dictionaries the way they did in their centralized version we'll just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58:53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have every router initialize their forwarding tables to for example empty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7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48" name="Google Shape;748;g2ed56a414bf_0_914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49" name="Google Shape;749;g2ed56a414bf_0_914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7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5" name="Google Shape;755;g2ed56a414bf_0_92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56" name="Google Shape;756;g2ed56a414bf_0_92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7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61" name="Google Shape;761;g2ed56a414bf_0_92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62" name="Google Shape;762;g2ed56a414bf_0_92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7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76" name="Google Shape;776;g2ed56a414bf_0_941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77" name="Google Shape;777;g2ed56a414bf_0_941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7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2" name="Google Shape;792;g2ed56a414bf_0_956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93" name="Google Shape;793;g2ed56a414bf_0_956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08" name="Google Shape;808;g2ed56a414bf_0_989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09" name="Google Shape;809;g2ed56a414bf_0_989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28" name="Google Shape;828;g2ed56a414bf_0_1027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29" name="Google Shape;829;g2ed56a414bf_0_1027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4" name="Google Shape;844;g2ed56a414bf_0_1047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45" name="Google Shape;845;g2ed56a414bf_0_1047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4" name="Google Shape;864;g2ed56a414bf_0_1068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65" name="Google Shape;865;g2ed56a414bf_0_1068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4" name="Google Shape;884;g2ed56a414bf_0_1088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85" name="Google Shape;885;g2ed56a414bf_0_1088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0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06" name="Google Shape;906;g2ed56a414bf_0_1112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07" name="Google Shape;907;g2ed56a414bf_0_1112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2" name="Google Shape;922;g2ed56a414bf_0_1133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23" name="Google Shape;923;g2ed56a414bf_0_1133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40" name="Google Shape;940;g2ed56a414bf_0_1151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41" name="Google Shape;941;g2ed56a414bf_0_1151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62" name="Google Shape;962;g2ed56a414bf_0_122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63" name="Google Shape;963;g2ed56a414bf_0_122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69" name="Google Shape;969;g2ed56a414bf_0_1226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70" name="Google Shape;970;g2ed56a414bf_0_1226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1:12:28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actually the topology might have changed maybe like a link went down or an operator changed the cost of one of the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1:12:35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links so I know I said it's three earlier but I've actually changed my mind the graph itself has changed so I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1:12:42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have changed my mind and a should really be eight away so when you see a message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1:12:47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like this you're tempted to see it and say oh was a and nine that's worse than four reject but actually R2 might be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1:12:54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trying to tell you something it's trying to tell you hey the path has actually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1:12:59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changed because the network topology itself changed so you should really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1:13:04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listen to me because I'm trying to tell you new information so we need to change our rule to not just reject all things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1:13:11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that are worse but we need to accept in a case like this so R3 really should say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1:13:19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well I currently am going via R2 but R2 has just come along and told me that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1:13:24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they changed their mind so this really shouldn't say four anymore what should it say this should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1:13:29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really say nine so I'm still forwarding via R2 to a but the new cost is nine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5" name="Google Shape;985;g2ed56a414bf_0_1244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86" name="Google Shape;986;g2ed56a414bf_0_1244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9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0" name="Google Shape;1000;g2ed56a414bf_0_1263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001" name="Google Shape;1001;g2ed56a414bf_0_1263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0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8" name="Google Shape;1018;g2ed56a414bf_0_1303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019" name="Google Shape;1019;g2ed56a414bf_0_1303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0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4" name="Google Shape;1024;g2ed56a414bf_0_1284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025" name="Google Shape;1025;g2ed56a414bf_0_1284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0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0" name="Google Shape;1030;g2ed56a414bf_0_1177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031" name="Google Shape;1031;g2ed56a414bf_0_1177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0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7" name="Google Shape;1037;g2ed56a414bf_0_1184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038" name="Google Shape;1038;g2ed56a414bf_0_1184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let's take care of another one another problem with the routing protocol and routing protocols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5:22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in general is that they are running on layer three which is best effort and best effort means that packets can get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5:29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dropped so it could be the case that R1 has this new shiny path to a it's all great but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5:35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when it tries to tell R2 back it gets dropped R2 doesn't hear anything that's a problem R2 is not going to learn the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5:43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path to a that's a problem and we're going to solve it with probably the simplest dumbest solution to best effort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5:51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and that is to resend the advertisements every so often so instead of just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5:57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sending this advertisement once and saying saying I'm R1 I can reach a with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6:02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cost one you're going to send that exact same advertisement once every few seconds and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6:09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the number of seconds is the advertisement interval I think in practice it's like every 10 seconds or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6:14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every one second order of seconds as opposed to milliseconds or something that' be too fast but roughly the order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6:21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of a couple seconds that's called the advertisement interval and you send it over and over and over again and even if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6:28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it doesn't work the first time the second time or the third time it should work eventually assuming that something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6:34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gets through this packet or this link this should work eventually after some time if every single packet gets dropped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6:42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you might ask if that link even counts because it's dropping everything there a link that drops everything even count as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6:47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a link kind of philosophical not that important but basically that's our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6:52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solution to ensuring reliability is just sending the same thing over and over and over again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7:02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okay so back to our favorite list of rule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0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7" name="Google Shape;1057;g2ed56a414bf_0_1317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058" name="Google Shape;1058;g2ed56a414bf_0_1317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0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63" name="Google Shape;1063;g32d5486c624_0_12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064" name="Google Shape;1064;g32d5486c624_0_12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4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0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0" name="Google Shape;1070;g2ed56a414bf_0_1322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071" name="Google Shape;1071;g2ed56a414bf_0_1322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4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0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8" name="Google Shape;1088;g2ed56a414bf_0_1358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089" name="Google Shape;1089;g2ed56a414bf_0_1358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4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7" name="Google Shape;1107;g2ed56a414bf_0_1406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108" name="Google Shape;1108;g2ed56a414bf_0_1406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4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3" name="Google Shape;1123;g2ed56a414bf_0_1419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124" name="Google Shape;1124;g2ed56a414bf_0_1419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4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5" name="Google Shape;1155;g2ed56a414bf_0_1479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156" name="Google Shape;1156;g2ed56a414bf_0_1479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</p:spTree>
  </p:cSld>
  <p:clrMapOvr>
    <a:masterClrMapping/>
  </p:clrMapOvr>
</p:notes>
</file>

<file path=ppt/notesSlides/notesSlide5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7" name="Google Shape;2157;g337c67ec3e1_0_914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158" name="Google Shape;2158;g337c67ec3e1_0_914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5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3" name="Google Shape;1183;g337c67ec3e1_0_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184" name="Google Shape;1184;g337c67ec3e1_0_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5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0" name="Google Shape;1190;g337c67ec3e1_0_6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191" name="Google Shape;1191;g337c67ec3e1_0_6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5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1" name="Google Shape;1211;g337c67ec3e1_0_26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212" name="Google Shape;1212;g337c67ec3e1_0_26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5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2" name="Google Shape;1232;g337c67ec3e1_0_46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233" name="Google Shape;1233;g337c67ec3e1_0_46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5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4" name="Google Shape;1254;g337c67ec3e1_0_67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255" name="Google Shape;1255;g337c67ec3e1_0_67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5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2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74" name="Google Shape;1274;g337c67ec3e1_0_86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275" name="Google Shape;1275;g337c67ec3e1_0_86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5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2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6" name="Google Shape;1296;g337c67ec3e1_0_107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297" name="Google Shape;1297;g337c67ec3e1_0_107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5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3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8" name="Google Shape;1318;g337c67ec3e1_0_128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319" name="Google Shape;1319;g337c67ec3e1_0_128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5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3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24" name="Google Shape;1324;g337c67ec3e1_0_133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325" name="Google Shape;1325;g337c67ec3e1_0_133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6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3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5" name="Google Shape;1345;g337c67ec3e1_0_153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346" name="Google Shape;1346;g337c67ec3e1_0_153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6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3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7" name="Google Shape;1367;g337c67ec3e1_0_174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368" name="Google Shape;1368;g337c67ec3e1_0_174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6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3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9" name="Google Shape;1389;g337c67ec3e1_0_19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390" name="Google Shape;1390;g337c67ec3e1_0_19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6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3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5" name="Google Shape;1395;g337c67ec3e1_0_20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396" name="Google Shape;1396;g337c67ec3e1_0_20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6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4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4" name="Google Shape;1404;g337c67ec3e1_0_208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405" name="Google Shape;1405;g337c67ec3e1_0_208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6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4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0" name="Google Shape;1410;g337c67ec3e1_0_213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411" name="Google Shape;1411;g337c67ec3e1_0_213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6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4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7" name="Google Shape;1417;g337c67ec3e1_0_219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418" name="Google Shape;1418;g337c67ec3e1_0_219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6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4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3" name="Google Shape;1433;g337c67ec3e1_0_234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434" name="Google Shape;1434;g337c67ec3e1_0_234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6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4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1" name="Google Shape;1451;g337c67ec3e1_0_251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452" name="Google Shape;1452;g337c67ec3e1_0_251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6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4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8" name="Google Shape;1468;g337c67ec3e1_0_267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469" name="Google Shape;1469;g337c67ec3e1_0_267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7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4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7" name="Google Shape;1487;g337c67ec3e1_0_28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488" name="Google Shape;1488;g337c67ec3e1_0_28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7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5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7" name="Google Shape;1507;g337c67ec3e1_0_304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508" name="Google Shape;1508;g337c67ec3e1_0_304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7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5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27" name="Google Shape;1527;g337c67ec3e1_0_323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528" name="Google Shape;1528;g337c67ec3e1_0_323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tabLst/>
              <a:defRPr/>
            </a:pPr>
            <a:r>
              <a:rPr lang="en-US" dirty="0"/>
              <a:t>More generally: Don't advertise paths back to the next-hop (the router that gave you the path), e.g., R3 should not advertise path to A back to R2.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</p:spTree>
  </p:cSld>
  <p:clrMapOvr>
    <a:masterClrMapping/>
  </p:clrMapOvr>
</p:notes>
</file>

<file path=ppt/notesSlides/notesSlide7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5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3" name="Google Shape;1533;g337c67ec3e1_0_328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534" name="Google Shape;1534;g337c67ec3e1_0_328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7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5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9" name="Google Shape;1539;g337c67ec3e1_0_333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540" name="Google Shape;1540;g337c67ec3e1_0_333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7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5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6" name="Google Shape;1546;g337c67ec3e1_0_339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547" name="Google Shape;1547;g337c67ec3e1_0_339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7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5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52" name="Google Shape;1552;g337c67ec3e1_0_344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553" name="Google Shape;1553;g337c67ec3e1_0_344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7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60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06" name="Google Shape;1606;g337c67ec3e1_0_397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607" name="Google Shape;1607;g337c67ec3e1_0_397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7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6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22" name="Google Shape;1622;g337c67ec3e1_0_412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623" name="Google Shape;1623;g337c67ec3e1_0_412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7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6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39" name="Google Shape;1639;g337c67ec3e1_0_428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640" name="Google Shape;1640;g337c67ec3e1_0_428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8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6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9" name="Google Shape;1659;g337c67ec3e1_0_447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660" name="Google Shape;1660;g337c67ec3e1_0_447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8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6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2" name="Google Shape;1672;g337c67ec3e1_0_459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673" name="Google Shape;1673;g337c67ec3e1_0_459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8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6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8" name="Google Shape;1688;g337c67ec3e1_0_474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689" name="Google Shape;1689;g337c67ec3e1_0_474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8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6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94" name="Google Shape;1694;g337c67ec3e1_0_479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695" name="Google Shape;1695;g337c67ec3e1_0_479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8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7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1" name="Google Shape;1701;g337c67ec3e1_0_48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702" name="Google Shape;1702;g337c67ec3e1_0_48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8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7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7" name="Google Shape;1707;g337c67ec3e1_0_49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708" name="Google Shape;1708;g337c67ec3e1_0_49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8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7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24" name="Google Shape;1724;g337c67ec3e1_0_506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725" name="Google Shape;1725;g337c67ec3e1_0_506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8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7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48" name="Google Shape;1748;g337c67ec3e1_0_529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749" name="Google Shape;1749;g337c67ec3e1_0_529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8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7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5" name="Google Shape;1765;g337c67ec3e1_0_54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766" name="Google Shape;1766;g337c67ec3e1_0_54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8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7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85" name="Google Shape;1785;g337c67ec3e1_0_564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786" name="Google Shape;1786;g337c67ec3e1_0_564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9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8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05" name="Google Shape;1805;g337c67ec3e1_0_583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806" name="Google Shape;1806;g337c67ec3e1_0_583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9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8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25" name="Google Shape;1825;g337c67ec3e1_0_602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826" name="Google Shape;1826;g337c67ec3e1_0_602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9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8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5" name="Google Shape;1845;g337c67ec3e1_0_621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846" name="Google Shape;1846;g337c67ec3e1_0_621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9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8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5" name="Google Shape;1865;g337c67ec3e1_0_64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866" name="Google Shape;1866;g337c67ec3e1_0_64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9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8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85" name="Google Shape;1885;g337c67ec3e1_0_659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886" name="Google Shape;1886;g337c67ec3e1_0_659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9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9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5" name="Google Shape;1905;g337c67ec3e1_0_678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906" name="Google Shape;1906;g337c67ec3e1_0_678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9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9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5" name="Google Shape;1925;g337c67ec3e1_0_697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926" name="Google Shape;1926;g337c67ec3e1_0_697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9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9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45" name="Google Shape;1945;g337c67ec3e1_0_716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946" name="Google Shape;1946;g337c67ec3e1_0_716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9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9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69" name="Google Shape;1969;g337c67ec3e1_0_739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970" name="Google Shape;1970;g337c67ec3e1_0_739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9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9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75" name="Google Shape;1975;g337c67ec3e1_0_744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976" name="Google Shape;1976;g337c67ec3e1_0_744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0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9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5" name="Google Shape;1995;g337c67ec3e1_0_763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996" name="Google Shape;1996;g337c67ec3e1_0_763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0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0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5" name="Google Shape;2015;g337c67ec3e1_0_782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016" name="Google Shape;2016;g337c67ec3e1_0_782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0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0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35" name="Google Shape;2035;g337c67ec3e1_0_801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036" name="Google Shape;2036;g337c67ec3e1_0_801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0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0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5" name="Google Shape;2055;g337c67ec3e1_0_82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056" name="Google Shape;2056;g337c67ec3e1_0_82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0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0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75" name="Google Shape;2075;g337c67ec3e1_0_839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076" name="Google Shape;2076;g337c67ec3e1_0_839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0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0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95" name="Google Shape;2095;g337c67ec3e1_0_858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096" name="Google Shape;2096;g337c67ec3e1_0_858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0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5" name="Google Shape;2115;g337c67ec3e1_0_877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116" name="Google Shape;2116;g337c67ec3e1_0_877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0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1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32" name="Google Shape;2132;g337c67ec3e1_0_893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133" name="Google Shape;2133;g337c67ec3e1_0_893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0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38" name="Google Shape;2138;g337c67ec3e1_0_898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139" name="Google Shape;2139;g337c67ec3e1_0_898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0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5" name="Google Shape;2145;g337c67ec3e1_0_904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146" name="Google Shape;2146;g337c67ec3e1_0_904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1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1" name="Google Shape;2151;g337c67ec3e1_0_909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152" name="Google Shape;2152;g337c67ec3e1_0_909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1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7" name="Google Shape;2157;g337c67ec3e1_0_914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158" name="Google Shape;2158;g337c67ec3e1_0_914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2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header" type="secHead">
  <p:cSld name="SECTION_HEADER">
    <p:spTree>
      <p:nvGrpSpPr>
        <p:cNvPr id="1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>
            <a:spLocks noGrp="1"/>
          </p:cNvSpPr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>
            <a:endParaRPr/>
          </a:p>
        </p:txBody>
      </p:sp>
      <p:sp>
        <p:nvSpPr>
          <p:cNvPr id="15" name="Google Shape;15;p3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buNone/>
              <a:defRPr/>
            </a:lvl1pPr>
            <a:lvl2pPr lvl="1" rtl="0">
              <a:buNone/>
              <a:defRPr/>
            </a:lvl2pPr>
            <a:lvl3pPr lvl="2" rtl="0">
              <a:buNone/>
              <a:defRPr/>
            </a:lvl3pPr>
            <a:lvl4pPr lvl="3" rtl="0">
              <a:buNone/>
              <a:defRPr/>
            </a:lvl4pPr>
            <a:lvl5pPr lvl="4" rtl="0">
              <a:buNone/>
              <a:defRPr/>
            </a:lvl5pPr>
            <a:lvl6pPr lvl="5" rtl="0">
              <a:buNone/>
              <a:defRPr/>
            </a:lvl6pPr>
            <a:lvl7pPr lvl="6" rtl="0">
              <a:buNone/>
              <a:defRPr/>
            </a:lvl7pPr>
            <a:lvl8pPr lvl="7" rtl="0">
              <a:buNone/>
              <a:defRPr/>
            </a:lvl8pPr>
            <a:lvl9pPr lvl="8" rtl="0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16" name="Google Shape;16;p3"/>
          <p:cNvSpPr txBox="1">
            <a:spLocks noGrp="1"/>
          </p:cNvSpPr>
          <p:nvPr>
            <p:ph type="subTitle" idx="1"/>
          </p:nvPr>
        </p:nvSpPr>
        <p:spPr>
          <a:xfrm>
            <a:off x="311700" y="2834125"/>
            <a:ext cx="8520600" cy="15363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400"/>
              <a:buFont typeface="Roboto Light"/>
              <a:buNone/>
              <a:defRPr sz="2400">
                <a:latin typeface="Roboto Light"/>
                <a:ea typeface="Roboto Light"/>
                <a:cs typeface="Roboto Light"/>
                <a:sym typeface="Roboto Light"/>
              </a:defRPr>
            </a:lvl1pPr>
            <a:lvl2pPr lvl="1" algn="ctr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400"/>
              <a:buFont typeface="Roboto Light"/>
              <a:buNone/>
              <a:defRPr sz="2400">
                <a:latin typeface="Roboto Light"/>
                <a:ea typeface="Roboto Light"/>
                <a:cs typeface="Roboto Light"/>
                <a:sym typeface="Roboto Light"/>
              </a:defRPr>
            </a:lvl2pPr>
            <a:lvl3pPr lvl="2" algn="ctr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400"/>
              <a:buFont typeface="Roboto Light"/>
              <a:buNone/>
              <a:defRPr sz="2400">
                <a:latin typeface="Roboto Light"/>
                <a:ea typeface="Roboto Light"/>
                <a:cs typeface="Roboto Light"/>
                <a:sym typeface="Roboto Light"/>
              </a:defRPr>
            </a:lvl3pPr>
            <a:lvl4pPr lvl="3" algn="ctr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400"/>
              <a:buFont typeface="Roboto Light"/>
              <a:buNone/>
              <a:defRPr sz="2400">
                <a:latin typeface="Roboto Light"/>
                <a:ea typeface="Roboto Light"/>
                <a:cs typeface="Roboto Light"/>
                <a:sym typeface="Roboto Light"/>
              </a:defRPr>
            </a:lvl4pPr>
            <a:lvl5pPr lvl="4" algn="ctr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400"/>
              <a:buFont typeface="Roboto Light"/>
              <a:buNone/>
              <a:defRPr sz="2400">
                <a:latin typeface="Roboto Light"/>
                <a:ea typeface="Roboto Light"/>
                <a:cs typeface="Roboto Light"/>
                <a:sym typeface="Roboto Light"/>
              </a:defRPr>
            </a:lvl5pPr>
            <a:lvl6pPr lvl="5" algn="ctr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400"/>
              <a:buFont typeface="Roboto Light"/>
              <a:buNone/>
              <a:defRPr sz="2400">
                <a:latin typeface="Roboto Light"/>
                <a:ea typeface="Roboto Light"/>
                <a:cs typeface="Roboto Light"/>
                <a:sym typeface="Roboto Light"/>
              </a:defRPr>
            </a:lvl6pPr>
            <a:lvl7pPr lvl="6" algn="ctr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400"/>
              <a:buFont typeface="Roboto Light"/>
              <a:buNone/>
              <a:defRPr sz="2400">
                <a:latin typeface="Roboto Light"/>
                <a:ea typeface="Roboto Light"/>
                <a:cs typeface="Roboto Light"/>
                <a:sym typeface="Roboto Light"/>
              </a:defRPr>
            </a:lvl7pPr>
            <a:lvl8pPr lvl="7" algn="ctr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400"/>
              <a:buFont typeface="Roboto Light"/>
              <a:buNone/>
              <a:defRPr sz="2400">
                <a:latin typeface="Roboto Light"/>
                <a:ea typeface="Roboto Light"/>
                <a:cs typeface="Roboto Light"/>
                <a:sym typeface="Roboto Light"/>
              </a:defRPr>
            </a:lvl8pPr>
            <a:lvl9pPr lvl="8" algn="ctr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400"/>
              <a:buFont typeface="Roboto Light"/>
              <a:buNone/>
              <a:defRPr sz="2400">
                <a:latin typeface="Roboto Light"/>
                <a:ea typeface="Roboto Light"/>
                <a:cs typeface="Roboto Light"/>
                <a:sym typeface="Roboto Light"/>
              </a:defRPr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body" type="tx">
  <p:cSld name="TITLE_AND_BODY">
    <p:spTree>
      <p:nvGrpSpPr>
        <p:cNvPr id="1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4"/>
          <p:cNvSpPr txBox="1">
            <a:spLocks noGrp="1"/>
          </p:cNvSpPr>
          <p:nvPr>
            <p:ph type="title"/>
          </p:nvPr>
        </p:nvSpPr>
        <p:spPr>
          <a:xfrm>
            <a:off x="0" y="0"/>
            <a:ext cx="9144000" cy="39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1600"/>
              <a:buNone/>
              <a:defRPr b="0"/>
            </a:lvl1pPr>
            <a:lvl2pPr lvl="1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19" name="Google Shape;19;p4"/>
          <p:cNvSpPr txBox="1">
            <a:spLocks noGrp="1"/>
          </p:cNvSpPr>
          <p:nvPr>
            <p:ph type="body" idx="1"/>
          </p:nvPr>
        </p:nvSpPr>
        <p:spPr>
          <a:xfrm>
            <a:off x="107050" y="402200"/>
            <a:ext cx="8909700" cy="4530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42900" rtl="0">
              <a:spcBef>
                <a:spcPts val="600"/>
              </a:spcBef>
              <a:spcAft>
                <a:spcPts val="0"/>
              </a:spcAft>
              <a:buSzPts val="1800"/>
              <a:buChar char="●"/>
              <a:defRPr/>
            </a:lvl1pPr>
            <a:lvl2pPr marL="914400" lvl="1" indent="-342900" rtl="0">
              <a:spcBef>
                <a:spcPts val="600"/>
              </a:spcBef>
              <a:spcAft>
                <a:spcPts val="0"/>
              </a:spcAft>
              <a:buSzPts val="1800"/>
              <a:buChar char="○"/>
              <a:defRPr/>
            </a:lvl2pPr>
            <a:lvl3pPr marL="1371600" lvl="2" indent="-342900" rtl="0">
              <a:spcBef>
                <a:spcPts val="600"/>
              </a:spcBef>
              <a:spcAft>
                <a:spcPts val="0"/>
              </a:spcAft>
              <a:buSzPts val="1800"/>
              <a:buChar char="■"/>
              <a:defRPr/>
            </a:lvl3pPr>
            <a:lvl4pPr marL="1828800" lvl="3" indent="-342900" rtl="0">
              <a:spcBef>
                <a:spcPts val="600"/>
              </a:spcBef>
              <a:spcAft>
                <a:spcPts val="0"/>
              </a:spcAft>
              <a:buSzPts val="1800"/>
              <a:buChar char="●"/>
              <a:defRPr/>
            </a:lvl4pPr>
            <a:lvl5pPr marL="2286000" lvl="4" indent="-342900" rtl="0">
              <a:spcBef>
                <a:spcPts val="600"/>
              </a:spcBef>
              <a:spcAft>
                <a:spcPts val="0"/>
              </a:spcAft>
              <a:buSzPts val="1800"/>
              <a:buChar char="○"/>
              <a:defRPr/>
            </a:lvl5pPr>
            <a:lvl6pPr marL="2743200" lvl="5" indent="-342900" rtl="0">
              <a:spcBef>
                <a:spcPts val="600"/>
              </a:spcBef>
              <a:spcAft>
                <a:spcPts val="0"/>
              </a:spcAft>
              <a:buSzPts val="1800"/>
              <a:buChar char="■"/>
              <a:defRPr/>
            </a:lvl6pPr>
            <a:lvl7pPr marL="3200400" lvl="6" indent="-342900" rtl="0">
              <a:spcBef>
                <a:spcPts val="600"/>
              </a:spcBef>
              <a:spcAft>
                <a:spcPts val="0"/>
              </a:spcAft>
              <a:buSzPts val="1800"/>
              <a:buChar char="●"/>
              <a:defRPr/>
            </a:lvl7pPr>
            <a:lvl8pPr marL="3657600" lvl="7" indent="-342900" rtl="0">
              <a:spcBef>
                <a:spcPts val="600"/>
              </a:spcBef>
              <a:spcAft>
                <a:spcPts val="0"/>
              </a:spcAft>
              <a:buSzPts val="1800"/>
              <a:buChar char="○"/>
              <a:defRPr/>
            </a:lvl8pPr>
            <a:lvl9pPr marL="4114800" lvl="8" indent="-342900" rtl="0">
              <a:spcBef>
                <a:spcPts val="600"/>
              </a:spcBef>
              <a:spcAft>
                <a:spcPts val="0"/>
              </a:spcAft>
              <a:buSzPts val="1800"/>
              <a:buChar char="■"/>
              <a:defRPr/>
            </a:lvl9pPr>
          </a:lstStyle>
          <a:p>
            <a:endParaRPr/>
          </a:p>
        </p:txBody>
      </p:sp>
      <p:sp>
        <p:nvSpPr>
          <p:cNvPr id="20" name="Google Shape;20;p4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buNone/>
              <a:defRPr/>
            </a:lvl1pPr>
            <a:lvl2pPr lvl="1" rtl="0">
              <a:buNone/>
              <a:defRPr/>
            </a:lvl2pPr>
            <a:lvl3pPr lvl="2" rtl="0">
              <a:buNone/>
              <a:defRPr/>
            </a:lvl3pPr>
            <a:lvl4pPr lvl="3" rtl="0">
              <a:buNone/>
              <a:defRPr/>
            </a:lvl4pPr>
            <a:lvl5pPr lvl="4" rtl="0">
              <a:buNone/>
              <a:defRPr/>
            </a:lvl5pPr>
            <a:lvl6pPr lvl="5" rtl="0">
              <a:buNone/>
              <a:defRPr/>
            </a:lvl6pPr>
            <a:lvl7pPr lvl="6" rtl="0">
              <a:buNone/>
              <a:defRPr/>
            </a:lvl7pPr>
            <a:lvl8pPr lvl="7" rtl="0">
              <a:buNone/>
              <a:defRPr/>
            </a:lvl8pPr>
            <a:lvl9pPr lvl="8" rtl="0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cxnSp>
        <p:nvCxnSpPr>
          <p:cNvPr id="21" name="Google Shape;21;p4"/>
          <p:cNvCxnSpPr/>
          <p:nvPr/>
        </p:nvCxnSpPr>
        <p:spPr>
          <a:xfrm>
            <a:off x="95431" y="402210"/>
            <a:ext cx="8909700" cy="0"/>
          </a:xfrm>
          <a:prstGeom prst="straightConnector1">
            <a:avLst/>
          </a:prstGeom>
          <a:noFill/>
          <a:ln w="19050" cap="flat" cmpd="sng">
            <a:solidFill>
              <a:srgbClr val="BF9000"/>
            </a:solidFill>
            <a:prstDash val="solid"/>
            <a:round/>
            <a:headEnd type="none" w="med" len="med"/>
            <a:tailEnd type="none" w="med" len="med"/>
          </a:ln>
        </p:spPr>
      </p:cxn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Roadmap">
  <p:cSld name="SECTION_TITLE_AND_DESCRIPTION_1">
    <p:spTree>
      <p:nvGrpSpPr>
        <p:cNvPr id="1" name="Shape 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" name="Google Shape;23;p5"/>
          <p:cNvSpPr/>
          <p:nvPr/>
        </p:nvSpPr>
        <p:spPr>
          <a:xfrm>
            <a:off x="0" y="-125"/>
            <a:ext cx="4572000" cy="5143500"/>
          </a:xfrm>
          <a:prstGeom prst="rect">
            <a:avLst/>
          </a:prstGeom>
          <a:solidFill>
            <a:srgbClr val="CFE2F3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4" name="Google Shape;24;p5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buNone/>
              <a:defRPr/>
            </a:lvl1pPr>
            <a:lvl2pPr lvl="1" rtl="0">
              <a:buNone/>
              <a:defRPr/>
            </a:lvl2pPr>
            <a:lvl3pPr lvl="2" rtl="0">
              <a:buNone/>
              <a:defRPr/>
            </a:lvl3pPr>
            <a:lvl4pPr lvl="3" rtl="0">
              <a:buNone/>
              <a:defRPr/>
            </a:lvl4pPr>
            <a:lvl5pPr lvl="4" rtl="0">
              <a:buNone/>
              <a:defRPr/>
            </a:lvl5pPr>
            <a:lvl6pPr lvl="5" rtl="0">
              <a:buNone/>
              <a:defRPr/>
            </a:lvl6pPr>
            <a:lvl7pPr lvl="6" rtl="0">
              <a:buNone/>
              <a:defRPr/>
            </a:lvl7pPr>
            <a:lvl8pPr lvl="7" rtl="0">
              <a:buNone/>
              <a:defRPr/>
            </a:lvl8pPr>
            <a:lvl9pPr lvl="8" rtl="0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25" name="Google Shape;25;p5"/>
          <p:cNvSpPr txBox="1">
            <a:spLocks noGrp="1"/>
          </p:cNvSpPr>
          <p:nvPr>
            <p:ph type="body" idx="1"/>
          </p:nvPr>
        </p:nvSpPr>
        <p:spPr>
          <a:xfrm>
            <a:off x="4812375" y="402198"/>
            <a:ext cx="3999900" cy="42609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marL="457200" lvl="0" indent="-342900" rtl="0">
              <a:spcBef>
                <a:spcPts val="600"/>
              </a:spcBef>
              <a:spcAft>
                <a:spcPts val="0"/>
              </a:spcAft>
              <a:buClr>
                <a:srgbClr val="CCCCCC"/>
              </a:buClr>
              <a:buSzPts val="1800"/>
              <a:buFont typeface="Roboto Light"/>
              <a:buChar char="•"/>
              <a:defRPr>
                <a:solidFill>
                  <a:srgbClr val="CCCCCC"/>
                </a:solidFill>
                <a:latin typeface="Roboto Light"/>
                <a:ea typeface="Roboto Light"/>
                <a:cs typeface="Roboto Light"/>
                <a:sym typeface="Roboto Light"/>
              </a:defRPr>
            </a:lvl1pPr>
            <a:lvl2pPr marL="914400" lvl="1" indent="-342900" rtl="0">
              <a:spcBef>
                <a:spcPts val="600"/>
              </a:spcBef>
              <a:spcAft>
                <a:spcPts val="0"/>
              </a:spcAft>
              <a:buClr>
                <a:srgbClr val="CCCCCC"/>
              </a:buClr>
              <a:buSzPts val="1800"/>
              <a:buFont typeface="Roboto Light"/>
              <a:buChar char="•"/>
              <a:defRPr>
                <a:solidFill>
                  <a:srgbClr val="CCCCCC"/>
                </a:solidFill>
                <a:latin typeface="Roboto Light"/>
                <a:ea typeface="Roboto Light"/>
                <a:cs typeface="Roboto Light"/>
                <a:sym typeface="Roboto Light"/>
              </a:defRPr>
            </a:lvl2pPr>
            <a:lvl3pPr marL="1371600" lvl="2" indent="-342900" rtl="0">
              <a:spcBef>
                <a:spcPts val="600"/>
              </a:spcBef>
              <a:spcAft>
                <a:spcPts val="0"/>
              </a:spcAft>
              <a:buClr>
                <a:srgbClr val="CCCCCC"/>
              </a:buClr>
              <a:buSzPts val="1800"/>
              <a:buFont typeface="Roboto Light"/>
              <a:buChar char="•"/>
              <a:defRPr>
                <a:solidFill>
                  <a:srgbClr val="CCCCCC"/>
                </a:solidFill>
                <a:latin typeface="Roboto Light"/>
                <a:ea typeface="Roboto Light"/>
                <a:cs typeface="Roboto Light"/>
                <a:sym typeface="Roboto Light"/>
              </a:defRPr>
            </a:lvl3pPr>
            <a:lvl4pPr marL="1828800" lvl="3" indent="-342900" rtl="0">
              <a:spcBef>
                <a:spcPts val="600"/>
              </a:spcBef>
              <a:spcAft>
                <a:spcPts val="0"/>
              </a:spcAft>
              <a:buClr>
                <a:srgbClr val="CCCCCC"/>
              </a:buClr>
              <a:buSzPts val="1800"/>
              <a:buFont typeface="Roboto Light"/>
              <a:buChar char="•"/>
              <a:defRPr>
                <a:solidFill>
                  <a:srgbClr val="CCCCCC"/>
                </a:solidFill>
                <a:latin typeface="Roboto Light"/>
                <a:ea typeface="Roboto Light"/>
                <a:cs typeface="Roboto Light"/>
                <a:sym typeface="Roboto Light"/>
              </a:defRPr>
            </a:lvl4pPr>
            <a:lvl5pPr marL="2286000" lvl="4" indent="-342900" rtl="0">
              <a:spcBef>
                <a:spcPts val="600"/>
              </a:spcBef>
              <a:spcAft>
                <a:spcPts val="0"/>
              </a:spcAft>
              <a:buClr>
                <a:srgbClr val="CCCCCC"/>
              </a:buClr>
              <a:buSzPts val="1800"/>
              <a:buFont typeface="Roboto Light"/>
              <a:buChar char="•"/>
              <a:defRPr>
                <a:solidFill>
                  <a:srgbClr val="CCCCCC"/>
                </a:solidFill>
                <a:latin typeface="Roboto Light"/>
                <a:ea typeface="Roboto Light"/>
                <a:cs typeface="Roboto Light"/>
                <a:sym typeface="Roboto Light"/>
              </a:defRPr>
            </a:lvl5pPr>
            <a:lvl6pPr marL="2743200" lvl="5" indent="-342900" rtl="0">
              <a:spcBef>
                <a:spcPts val="600"/>
              </a:spcBef>
              <a:spcAft>
                <a:spcPts val="0"/>
              </a:spcAft>
              <a:buClr>
                <a:srgbClr val="CCCCCC"/>
              </a:buClr>
              <a:buSzPts val="1800"/>
              <a:buFont typeface="Roboto Light"/>
              <a:buChar char="•"/>
              <a:defRPr>
                <a:solidFill>
                  <a:srgbClr val="CCCCCC"/>
                </a:solidFill>
                <a:latin typeface="Roboto Light"/>
                <a:ea typeface="Roboto Light"/>
                <a:cs typeface="Roboto Light"/>
                <a:sym typeface="Roboto Light"/>
              </a:defRPr>
            </a:lvl6pPr>
            <a:lvl7pPr marL="3200400" lvl="6" indent="-342900" rtl="0">
              <a:spcBef>
                <a:spcPts val="600"/>
              </a:spcBef>
              <a:spcAft>
                <a:spcPts val="0"/>
              </a:spcAft>
              <a:buClr>
                <a:srgbClr val="CCCCCC"/>
              </a:buClr>
              <a:buSzPts val="1800"/>
              <a:buFont typeface="Roboto Light"/>
              <a:buChar char="•"/>
              <a:defRPr>
                <a:solidFill>
                  <a:srgbClr val="CCCCCC"/>
                </a:solidFill>
                <a:latin typeface="Roboto Light"/>
                <a:ea typeface="Roboto Light"/>
                <a:cs typeface="Roboto Light"/>
                <a:sym typeface="Roboto Light"/>
              </a:defRPr>
            </a:lvl7pPr>
            <a:lvl8pPr marL="3657600" lvl="7" indent="-342900" rtl="0">
              <a:spcBef>
                <a:spcPts val="600"/>
              </a:spcBef>
              <a:spcAft>
                <a:spcPts val="0"/>
              </a:spcAft>
              <a:buClr>
                <a:srgbClr val="CCCCCC"/>
              </a:buClr>
              <a:buSzPts val="1800"/>
              <a:buFont typeface="Roboto Light"/>
              <a:buChar char="•"/>
              <a:defRPr>
                <a:solidFill>
                  <a:srgbClr val="CCCCCC"/>
                </a:solidFill>
                <a:latin typeface="Roboto Light"/>
                <a:ea typeface="Roboto Light"/>
                <a:cs typeface="Roboto Light"/>
                <a:sym typeface="Roboto Light"/>
              </a:defRPr>
            </a:lvl8pPr>
            <a:lvl9pPr marL="4114800" lvl="8" indent="-342900" rtl="0">
              <a:spcBef>
                <a:spcPts val="600"/>
              </a:spcBef>
              <a:spcAft>
                <a:spcPts val="0"/>
              </a:spcAft>
              <a:buClr>
                <a:srgbClr val="CCCCCC"/>
              </a:buClr>
              <a:buSzPts val="1800"/>
              <a:buFont typeface="Roboto Light"/>
              <a:buChar char="•"/>
              <a:defRPr>
                <a:solidFill>
                  <a:srgbClr val="CCCCCC"/>
                </a:solidFill>
                <a:latin typeface="Roboto Light"/>
                <a:ea typeface="Roboto Light"/>
                <a:cs typeface="Roboto Light"/>
                <a:sym typeface="Roboto Light"/>
              </a:defRPr>
            </a:lvl9pPr>
          </a:lstStyle>
          <a:p>
            <a:endParaRPr/>
          </a:p>
        </p:txBody>
      </p:sp>
      <p:sp>
        <p:nvSpPr>
          <p:cNvPr id="26" name="Google Shape;26;p5"/>
          <p:cNvSpPr txBox="1">
            <a:spLocks noGrp="1"/>
          </p:cNvSpPr>
          <p:nvPr>
            <p:ph type="title"/>
          </p:nvPr>
        </p:nvSpPr>
        <p:spPr>
          <a:xfrm>
            <a:off x="177925" y="2003300"/>
            <a:ext cx="4038000" cy="20379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1pPr>
            <a:lvl2pPr lvl="1" rtl="0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rtl="0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rtl="0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rtl="0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rtl="0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rtl="0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rtl="0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rtl="0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>
            <a:endParaRPr/>
          </a:p>
        </p:txBody>
      </p:sp>
      <p:cxnSp>
        <p:nvCxnSpPr>
          <p:cNvPr id="27" name="Google Shape;27;p5"/>
          <p:cNvCxnSpPr/>
          <p:nvPr/>
        </p:nvCxnSpPr>
        <p:spPr>
          <a:xfrm>
            <a:off x="266975" y="4049175"/>
            <a:ext cx="4038000" cy="0"/>
          </a:xfrm>
          <a:prstGeom prst="straightConnector1">
            <a:avLst/>
          </a:prstGeom>
          <a:noFill/>
          <a:ln w="19050" cap="flat" cmpd="sng">
            <a:solidFill>
              <a:srgbClr val="BF9000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28" name="Google Shape;28;p5"/>
          <p:cNvSpPr txBox="1">
            <a:spLocks noGrp="1"/>
          </p:cNvSpPr>
          <p:nvPr>
            <p:ph type="subTitle" idx="2"/>
          </p:nvPr>
        </p:nvSpPr>
        <p:spPr>
          <a:xfrm>
            <a:off x="177925" y="4068000"/>
            <a:ext cx="41580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800"/>
              <a:buNone/>
              <a:defRPr/>
            </a:lvl1pPr>
            <a:lvl2pPr lvl="1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100"/>
              <a:buNone/>
              <a:defRPr sz="2100"/>
            </a:lvl2pPr>
            <a:lvl3pPr lvl="2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100"/>
              <a:buNone/>
              <a:defRPr sz="2100"/>
            </a:lvl3pPr>
            <a:lvl4pPr lvl="3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100"/>
              <a:buNone/>
              <a:defRPr sz="2100"/>
            </a:lvl4pPr>
            <a:lvl5pPr lvl="4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100"/>
              <a:buNone/>
              <a:defRPr sz="2100"/>
            </a:lvl5pPr>
            <a:lvl6pPr lvl="5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100"/>
              <a:buNone/>
              <a:defRPr sz="2100"/>
            </a:lvl6pPr>
            <a:lvl7pPr lvl="6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100"/>
              <a:buNone/>
              <a:defRPr sz="2100"/>
            </a:lvl7pPr>
            <a:lvl8pPr lvl="7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100"/>
              <a:buNone/>
              <a:defRPr sz="2100"/>
            </a:lvl8pPr>
            <a:lvl9pPr lvl="8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100"/>
              <a:buNone/>
              <a:defRPr sz="2100"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Demo slide right">
  <p:cSld name="SECTION_TITLE_AND_DESCRIPTION_2">
    <p:spTree>
      <p:nvGrpSpPr>
        <p:cNvPr id="1" name="Shape 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" name="Google Shape;30;p6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rgbClr val="CFE2F3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1" name="Google Shape;31;p6"/>
          <p:cNvSpPr txBox="1">
            <a:spLocks noGrp="1"/>
          </p:cNvSpPr>
          <p:nvPr>
            <p:ph type="subTitle" idx="1"/>
          </p:nvPr>
        </p:nvSpPr>
        <p:spPr>
          <a:xfrm>
            <a:off x="4835400" y="4198275"/>
            <a:ext cx="4045200" cy="4650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r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800"/>
              <a:buNone/>
              <a:defRPr/>
            </a:lvl1pPr>
            <a:lvl2pPr lvl="1" algn="ctr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100"/>
              <a:buNone/>
              <a:defRPr sz="2100"/>
            </a:lvl2pPr>
            <a:lvl3pPr lvl="2" algn="ctr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100"/>
              <a:buNone/>
              <a:defRPr sz="2100"/>
            </a:lvl3pPr>
            <a:lvl4pPr lvl="3" algn="ctr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100"/>
              <a:buNone/>
              <a:defRPr sz="2100"/>
            </a:lvl4pPr>
            <a:lvl5pPr lvl="4" algn="ctr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100"/>
              <a:buNone/>
              <a:defRPr sz="2100"/>
            </a:lvl5pPr>
            <a:lvl6pPr lvl="5" algn="ctr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100"/>
              <a:buNone/>
              <a:defRPr sz="2100"/>
            </a:lvl6pPr>
            <a:lvl7pPr lvl="6" algn="ctr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100"/>
              <a:buNone/>
              <a:defRPr sz="2100"/>
            </a:lvl7pPr>
            <a:lvl8pPr lvl="7" algn="ctr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100"/>
              <a:buNone/>
              <a:defRPr sz="2100"/>
            </a:lvl8pPr>
            <a:lvl9pPr lvl="8" algn="ctr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100"/>
              <a:buNone/>
              <a:defRPr sz="2100"/>
            </a:lvl9pPr>
          </a:lstStyle>
          <a:p>
            <a:endParaRPr/>
          </a:p>
        </p:txBody>
      </p:sp>
      <p:sp>
        <p:nvSpPr>
          <p:cNvPr id="32" name="Google Shape;32;p6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buNone/>
              <a:defRPr/>
            </a:lvl1pPr>
            <a:lvl2pPr lvl="1" rtl="0">
              <a:buNone/>
              <a:defRPr/>
            </a:lvl2pPr>
            <a:lvl3pPr lvl="2" rtl="0">
              <a:buNone/>
              <a:defRPr/>
            </a:lvl3pPr>
            <a:lvl4pPr lvl="3" rtl="0">
              <a:buNone/>
              <a:defRPr/>
            </a:lvl4pPr>
            <a:lvl5pPr lvl="4" rtl="0">
              <a:buNone/>
              <a:defRPr/>
            </a:lvl5pPr>
            <a:lvl6pPr lvl="5" rtl="0">
              <a:buNone/>
              <a:defRPr/>
            </a:lvl6pPr>
            <a:lvl7pPr lvl="6" rtl="0">
              <a:buNone/>
              <a:defRPr/>
            </a:lvl7pPr>
            <a:lvl8pPr lvl="7" rtl="0">
              <a:buNone/>
              <a:defRPr/>
            </a:lvl8pPr>
            <a:lvl9pPr lvl="8" rtl="0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33" name="Google Shape;33;p6"/>
          <p:cNvSpPr txBox="1"/>
          <p:nvPr/>
        </p:nvSpPr>
        <p:spPr>
          <a:xfrm>
            <a:off x="6365900" y="3724875"/>
            <a:ext cx="2591100" cy="569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2500" b="1">
                <a:solidFill>
                  <a:schemeClr val="accent3"/>
                </a:solidFill>
                <a:latin typeface="Roboto"/>
                <a:ea typeface="Roboto"/>
                <a:cs typeface="Roboto"/>
                <a:sym typeface="Roboto"/>
              </a:rPr>
              <a:t>Demo Slides</a:t>
            </a:r>
            <a:endParaRPr sz="2500" b="1">
              <a:solidFill>
                <a:schemeClr val="accent3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34" name="Google Shape;34;p6"/>
          <p:cNvSpPr txBox="1">
            <a:spLocks noGrp="1"/>
          </p:cNvSpPr>
          <p:nvPr>
            <p:ph type="body" idx="2"/>
          </p:nvPr>
        </p:nvSpPr>
        <p:spPr>
          <a:xfrm>
            <a:off x="95425" y="402200"/>
            <a:ext cx="4302300" cy="4261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42900" rtl="0">
              <a:spcBef>
                <a:spcPts val="6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1pPr>
            <a:lvl2pPr marL="914400" lvl="1" indent="-342900" rtl="0">
              <a:spcBef>
                <a:spcPts val="6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2pPr>
            <a:lvl3pPr marL="1371600" lvl="2" indent="-342900" rtl="0">
              <a:spcBef>
                <a:spcPts val="6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3pPr>
            <a:lvl4pPr marL="1828800" lvl="3" indent="-342900" rtl="0">
              <a:spcBef>
                <a:spcPts val="6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4pPr>
            <a:lvl5pPr marL="2286000" lvl="4" indent="-342900" rtl="0">
              <a:spcBef>
                <a:spcPts val="6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5pPr>
            <a:lvl6pPr marL="2743200" lvl="5" indent="-342900" rtl="0">
              <a:spcBef>
                <a:spcPts val="6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6pPr>
            <a:lvl7pPr marL="3200400" lvl="6" indent="-342900" rtl="0">
              <a:spcBef>
                <a:spcPts val="6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7pPr>
            <a:lvl8pPr marL="3657600" lvl="7" indent="-342900" rtl="0">
              <a:spcBef>
                <a:spcPts val="6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8pPr>
            <a:lvl9pPr marL="4114800" lvl="8" indent="-342900" rtl="0">
              <a:spcBef>
                <a:spcPts val="6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9pPr>
          </a:lstStyle>
          <a:p>
            <a:endParaRPr/>
          </a:p>
        </p:txBody>
      </p:sp>
      <p:sp>
        <p:nvSpPr>
          <p:cNvPr id="35" name="Google Shape;35;p6"/>
          <p:cNvSpPr txBox="1">
            <a:spLocks noGrp="1"/>
          </p:cNvSpPr>
          <p:nvPr>
            <p:ph type="title"/>
          </p:nvPr>
        </p:nvSpPr>
        <p:spPr>
          <a:xfrm>
            <a:off x="0" y="0"/>
            <a:ext cx="9144000" cy="39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cxnSp>
        <p:nvCxnSpPr>
          <p:cNvPr id="36" name="Google Shape;36;p6"/>
          <p:cNvCxnSpPr/>
          <p:nvPr/>
        </p:nvCxnSpPr>
        <p:spPr>
          <a:xfrm>
            <a:off x="95431" y="402210"/>
            <a:ext cx="4352100" cy="0"/>
          </a:xfrm>
          <a:prstGeom prst="straightConnector1">
            <a:avLst/>
          </a:prstGeom>
          <a:noFill/>
          <a:ln w="19050" cap="flat" cmpd="sng">
            <a:solidFill>
              <a:srgbClr val="BF9000"/>
            </a:solidFill>
            <a:prstDash val="solid"/>
            <a:round/>
            <a:headEnd type="none" w="med" len="med"/>
            <a:tailEnd type="none" w="med" len="med"/>
          </a:ln>
        </p:spPr>
      </p:cxn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Demo slide left">
  <p:cSld name="SECTION_TITLE_AND_DESCRIPTION_2_1">
    <p:spTree>
      <p:nvGrpSpPr>
        <p:cNvPr id="1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7"/>
          <p:cNvSpPr/>
          <p:nvPr/>
        </p:nvSpPr>
        <p:spPr>
          <a:xfrm>
            <a:off x="0" y="-125"/>
            <a:ext cx="4572000" cy="5143500"/>
          </a:xfrm>
          <a:prstGeom prst="rect">
            <a:avLst/>
          </a:prstGeom>
          <a:solidFill>
            <a:srgbClr val="FDF6E3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9" name="Google Shape;39;p7"/>
          <p:cNvSpPr txBox="1">
            <a:spLocks noGrp="1"/>
          </p:cNvSpPr>
          <p:nvPr>
            <p:ph type="subTitle" idx="1"/>
          </p:nvPr>
        </p:nvSpPr>
        <p:spPr>
          <a:xfrm>
            <a:off x="225450" y="3943400"/>
            <a:ext cx="4045200" cy="4650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800"/>
              <a:buNone/>
              <a:defRPr/>
            </a:lvl1pPr>
            <a:lvl2pPr lvl="1" algn="ctr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100"/>
              <a:buNone/>
              <a:defRPr sz="2100"/>
            </a:lvl2pPr>
            <a:lvl3pPr lvl="2" algn="ctr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100"/>
              <a:buNone/>
              <a:defRPr sz="2100"/>
            </a:lvl3pPr>
            <a:lvl4pPr lvl="3" algn="ctr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100"/>
              <a:buNone/>
              <a:defRPr sz="2100"/>
            </a:lvl4pPr>
            <a:lvl5pPr lvl="4" algn="ctr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100"/>
              <a:buNone/>
              <a:defRPr sz="2100"/>
            </a:lvl5pPr>
            <a:lvl6pPr lvl="5" algn="ctr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100"/>
              <a:buNone/>
              <a:defRPr sz="2100"/>
            </a:lvl6pPr>
            <a:lvl7pPr lvl="6" algn="ctr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100"/>
              <a:buNone/>
              <a:defRPr sz="2100"/>
            </a:lvl7pPr>
            <a:lvl8pPr lvl="7" algn="ctr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100"/>
              <a:buNone/>
              <a:defRPr sz="2100"/>
            </a:lvl8pPr>
            <a:lvl9pPr lvl="8" algn="ctr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100"/>
              <a:buNone/>
              <a:defRPr sz="2100"/>
            </a:lvl9pPr>
          </a:lstStyle>
          <a:p>
            <a:endParaRPr/>
          </a:p>
        </p:txBody>
      </p:sp>
      <p:sp>
        <p:nvSpPr>
          <p:cNvPr id="40" name="Google Shape;40;p7"/>
          <p:cNvSpPr txBox="1"/>
          <p:nvPr/>
        </p:nvSpPr>
        <p:spPr>
          <a:xfrm>
            <a:off x="208440" y="3420075"/>
            <a:ext cx="4121700" cy="569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2500" b="1">
                <a:solidFill>
                  <a:schemeClr val="accent3"/>
                </a:solidFill>
                <a:latin typeface="Roboto"/>
                <a:ea typeface="Roboto"/>
                <a:cs typeface="Roboto"/>
                <a:sym typeface="Roboto"/>
              </a:rPr>
              <a:t>Demo Slides</a:t>
            </a:r>
            <a:endParaRPr sz="2500" b="1">
              <a:solidFill>
                <a:schemeClr val="accent3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41" name="Google Shape;41;p7"/>
          <p:cNvSpPr txBox="1">
            <a:spLocks noGrp="1"/>
          </p:cNvSpPr>
          <p:nvPr>
            <p:ph type="body" idx="2"/>
          </p:nvPr>
        </p:nvSpPr>
        <p:spPr>
          <a:xfrm>
            <a:off x="4667425" y="402200"/>
            <a:ext cx="4302300" cy="4261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42900" rtl="0">
              <a:spcBef>
                <a:spcPts val="6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1pPr>
            <a:lvl2pPr marL="914400" lvl="1" indent="-342900" rtl="0">
              <a:spcBef>
                <a:spcPts val="6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2pPr>
            <a:lvl3pPr marL="1371600" lvl="2" indent="-342900" rtl="0">
              <a:spcBef>
                <a:spcPts val="6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3pPr>
            <a:lvl4pPr marL="1828800" lvl="3" indent="-342900" rtl="0">
              <a:spcBef>
                <a:spcPts val="6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4pPr>
            <a:lvl5pPr marL="2286000" lvl="4" indent="-342900" rtl="0">
              <a:spcBef>
                <a:spcPts val="6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5pPr>
            <a:lvl6pPr marL="2743200" lvl="5" indent="-342900" rtl="0">
              <a:spcBef>
                <a:spcPts val="6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6pPr>
            <a:lvl7pPr marL="3200400" lvl="6" indent="-342900" rtl="0">
              <a:spcBef>
                <a:spcPts val="6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7pPr>
            <a:lvl8pPr marL="3657600" lvl="7" indent="-342900" rtl="0">
              <a:spcBef>
                <a:spcPts val="6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8pPr>
            <a:lvl9pPr marL="4114800" lvl="8" indent="-342900" rtl="0">
              <a:spcBef>
                <a:spcPts val="6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9pPr>
          </a:lstStyle>
          <a:p>
            <a:endParaRPr/>
          </a:p>
        </p:txBody>
      </p:sp>
      <p:sp>
        <p:nvSpPr>
          <p:cNvPr id="42" name="Google Shape;42;p7"/>
          <p:cNvSpPr txBox="1">
            <a:spLocks noGrp="1"/>
          </p:cNvSpPr>
          <p:nvPr>
            <p:ph type="title"/>
          </p:nvPr>
        </p:nvSpPr>
        <p:spPr>
          <a:xfrm>
            <a:off x="4572000" y="0"/>
            <a:ext cx="4572000" cy="39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cxnSp>
        <p:nvCxnSpPr>
          <p:cNvPr id="43" name="Google Shape;43;p7"/>
          <p:cNvCxnSpPr/>
          <p:nvPr/>
        </p:nvCxnSpPr>
        <p:spPr>
          <a:xfrm>
            <a:off x="4667431" y="402210"/>
            <a:ext cx="4352100" cy="0"/>
          </a:xfrm>
          <a:prstGeom prst="straightConnector1">
            <a:avLst/>
          </a:prstGeom>
          <a:noFill/>
          <a:ln w="19050" cap="flat" cmpd="sng">
            <a:solidFill>
              <a:srgbClr val="BF9000"/>
            </a:solidFill>
            <a:prstDash val="solid"/>
            <a:round/>
            <a:headEnd type="none" w="med" len="med"/>
            <a:tailEnd type="none" w="med" len="med"/>
          </a:ln>
        </p:spPr>
      </p:cxnSp>
      <p:pic>
        <p:nvPicPr>
          <p:cNvPr id="44" name="Google Shape;44;p7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0" y="4983478"/>
            <a:ext cx="457200" cy="160022"/>
          </a:xfrm>
          <a:prstGeom prst="rect">
            <a:avLst/>
          </a:prstGeom>
          <a:noFill/>
          <a:ln>
            <a:noFill/>
          </a:ln>
        </p:spPr>
      </p:pic>
      <p:sp>
        <p:nvSpPr>
          <p:cNvPr id="45" name="Google Shape;45;p7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buNone/>
              <a:defRPr/>
            </a:lvl1pPr>
            <a:lvl2pPr lvl="1" rtl="0">
              <a:buNone/>
              <a:defRPr/>
            </a:lvl2pPr>
            <a:lvl3pPr lvl="2" rtl="0">
              <a:buNone/>
              <a:defRPr/>
            </a:lvl3pPr>
            <a:lvl4pPr lvl="3" rtl="0">
              <a:buNone/>
              <a:defRPr/>
            </a:lvl4pPr>
            <a:lvl5pPr lvl="4" rtl="0">
              <a:buNone/>
              <a:defRPr/>
            </a:lvl5pPr>
            <a:lvl6pPr lvl="5" rtl="0">
              <a:buNone/>
              <a:defRPr/>
            </a:lvl6pPr>
            <a:lvl7pPr lvl="6" rtl="0">
              <a:buNone/>
              <a:defRPr/>
            </a:lvl7pPr>
            <a:lvl8pPr lvl="7" rtl="0">
              <a:buNone/>
              <a:defRPr/>
            </a:lvl8pPr>
            <a:lvl9pPr lvl="8" rtl="0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Wide Puzzle">
  <p:cSld name="SECTION_TITLE_AND_DESCRIPTION_2_1_1">
    <p:spTree>
      <p:nvGrpSpPr>
        <p:cNvPr id="1" name="Shape 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" name="Google Shape;47;p8"/>
          <p:cNvSpPr/>
          <p:nvPr/>
        </p:nvSpPr>
        <p:spPr>
          <a:xfrm>
            <a:off x="0" y="-125"/>
            <a:ext cx="2776500" cy="5143500"/>
          </a:xfrm>
          <a:prstGeom prst="rect">
            <a:avLst/>
          </a:prstGeom>
          <a:solidFill>
            <a:srgbClr val="FDF6E3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8" name="Google Shape;48;p8"/>
          <p:cNvSpPr txBox="1">
            <a:spLocks noGrp="1"/>
          </p:cNvSpPr>
          <p:nvPr>
            <p:ph type="subTitle" idx="1"/>
          </p:nvPr>
        </p:nvSpPr>
        <p:spPr>
          <a:xfrm>
            <a:off x="225450" y="3943400"/>
            <a:ext cx="2450400" cy="719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800"/>
              <a:buNone/>
              <a:defRPr/>
            </a:lvl1pPr>
            <a:lvl2pPr lvl="1" algn="ctr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100"/>
              <a:buNone/>
              <a:defRPr sz="2100"/>
            </a:lvl2pPr>
            <a:lvl3pPr lvl="2" algn="ctr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100"/>
              <a:buNone/>
              <a:defRPr sz="2100"/>
            </a:lvl3pPr>
            <a:lvl4pPr lvl="3" algn="ctr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100"/>
              <a:buNone/>
              <a:defRPr sz="2100"/>
            </a:lvl4pPr>
            <a:lvl5pPr lvl="4" algn="ctr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100"/>
              <a:buNone/>
              <a:defRPr sz="2100"/>
            </a:lvl5pPr>
            <a:lvl6pPr lvl="5" algn="ctr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100"/>
              <a:buNone/>
              <a:defRPr sz="2100"/>
            </a:lvl6pPr>
            <a:lvl7pPr lvl="6" algn="ctr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100"/>
              <a:buNone/>
              <a:defRPr sz="2100"/>
            </a:lvl7pPr>
            <a:lvl8pPr lvl="7" algn="ctr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100"/>
              <a:buNone/>
              <a:defRPr sz="2100"/>
            </a:lvl8pPr>
            <a:lvl9pPr lvl="8" algn="ctr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100"/>
              <a:buNone/>
              <a:defRPr sz="2100"/>
            </a:lvl9pPr>
          </a:lstStyle>
          <a:p>
            <a:endParaRPr/>
          </a:p>
        </p:txBody>
      </p:sp>
      <p:sp>
        <p:nvSpPr>
          <p:cNvPr id="49" name="Google Shape;49;p8"/>
          <p:cNvSpPr txBox="1">
            <a:spLocks noGrp="1"/>
          </p:cNvSpPr>
          <p:nvPr>
            <p:ph type="body" idx="2"/>
          </p:nvPr>
        </p:nvSpPr>
        <p:spPr>
          <a:xfrm>
            <a:off x="2937350" y="402200"/>
            <a:ext cx="6032400" cy="4261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42900" rtl="0">
              <a:spcBef>
                <a:spcPts val="6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1pPr>
            <a:lvl2pPr marL="914400" lvl="1" indent="-342900" rtl="0">
              <a:spcBef>
                <a:spcPts val="6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2pPr>
            <a:lvl3pPr marL="1371600" lvl="2" indent="-342900" rtl="0">
              <a:spcBef>
                <a:spcPts val="6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3pPr>
            <a:lvl4pPr marL="1828800" lvl="3" indent="-342900" rtl="0">
              <a:spcBef>
                <a:spcPts val="6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4pPr>
            <a:lvl5pPr marL="2286000" lvl="4" indent="-342900" rtl="0">
              <a:spcBef>
                <a:spcPts val="6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5pPr>
            <a:lvl6pPr marL="2743200" lvl="5" indent="-342900" rtl="0">
              <a:spcBef>
                <a:spcPts val="6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6pPr>
            <a:lvl7pPr marL="3200400" lvl="6" indent="-342900" rtl="0">
              <a:spcBef>
                <a:spcPts val="6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7pPr>
            <a:lvl8pPr marL="3657600" lvl="7" indent="-342900" rtl="0">
              <a:spcBef>
                <a:spcPts val="6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8pPr>
            <a:lvl9pPr marL="4114800" lvl="8" indent="-342900" rtl="0">
              <a:spcBef>
                <a:spcPts val="6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9pPr>
          </a:lstStyle>
          <a:p>
            <a:endParaRPr/>
          </a:p>
        </p:txBody>
      </p:sp>
      <p:sp>
        <p:nvSpPr>
          <p:cNvPr id="50" name="Google Shape;50;p8"/>
          <p:cNvSpPr txBox="1">
            <a:spLocks noGrp="1"/>
          </p:cNvSpPr>
          <p:nvPr>
            <p:ph type="title"/>
          </p:nvPr>
        </p:nvSpPr>
        <p:spPr>
          <a:xfrm>
            <a:off x="2776500" y="0"/>
            <a:ext cx="6367500" cy="39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cxnSp>
        <p:nvCxnSpPr>
          <p:cNvPr id="51" name="Google Shape;51;p8"/>
          <p:cNvCxnSpPr/>
          <p:nvPr/>
        </p:nvCxnSpPr>
        <p:spPr>
          <a:xfrm>
            <a:off x="2937350" y="402200"/>
            <a:ext cx="6082200" cy="0"/>
          </a:xfrm>
          <a:prstGeom prst="straightConnector1">
            <a:avLst/>
          </a:prstGeom>
          <a:noFill/>
          <a:ln w="19050" cap="flat" cmpd="sng">
            <a:solidFill>
              <a:srgbClr val="BF9000"/>
            </a:solidFill>
            <a:prstDash val="solid"/>
            <a:round/>
            <a:headEnd type="none" w="med" len="med"/>
            <a:tailEnd type="none" w="med" len="med"/>
          </a:ln>
        </p:spPr>
      </p:cxnSp>
      <p:pic>
        <p:nvPicPr>
          <p:cNvPr id="52" name="Google Shape;52;p8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0" y="4983478"/>
            <a:ext cx="457200" cy="160022"/>
          </a:xfrm>
          <a:prstGeom prst="rect">
            <a:avLst/>
          </a:prstGeom>
          <a:noFill/>
          <a:ln>
            <a:noFill/>
          </a:ln>
        </p:spPr>
      </p:pic>
      <p:sp>
        <p:nvSpPr>
          <p:cNvPr id="53" name="Google Shape;53;p8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buNone/>
              <a:defRPr/>
            </a:lvl1pPr>
            <a:lvl2pPr lvl="1" rtl="0">
              <a:buNone/>
              <a:defRPr/>
            </a:lvl2pPr>
            <a:lvl3pPr lvl="2" rtl="0">
              <a:buNone/>
              <a:defRPr/>
            </a:lvl3pPr>
            <a:lvl4pPr lvl="3" rtl="0">
              <a:buNone/>
              <a:defRPr/>
            </a:lvl4pPr>
            <a:lvl5pPr lvl="4" rtl="0">
              <a:buNone/>
              <a:defRPr/>
            </a:lvl5pPr>
            <a:lvl6pPr lvl="5" rtl="0">
              <a:buNone/>
              <a:defRPr/>
            </a:lvl6pPr>
            <a:lvl7pPr lvl="6" rtl="0">
              <a:buNone/>
              <a:defRPr/>
            </a:lvl7pPr>
            <a:lvl8pPr lvl="7" rtl="0">
              <a:buNone/>
              <a:defRPr/>
            </a:lvl8pPr>
            <a:lvl9pPr lvl="8" rtl="0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54" name="Google Shape;54;p8"/>
          <p:cNvSpPr txBox="1"/>
          <p:nvPr/>
        </p:nvSpPr>
        <p:spPr>
          <a:xfrm>
            <a:off x="208440" y="3420075"/>
            <a:ext cx="4121700" cy="569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2500" b="1">
                <a:solidFill>
                  <a:schemeClr val="accent3"/>
                </a:solidFill>
                <a:latin typeface="Roboto"/>
                <a:ea typeface="Roboto"/>
                <a:cs typeface="Roboto"/>
                <a:sym typeface="Roboto"/>
              </a:rPr>
              <a:t>Demo</a:t>
            </a:r>
            <a:endParaRPr sz="2500" b="1">
              <a:solidFill>
                <a:schemeClr val="accent3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Wide Puzzle 1">
  <p:cSld name="SECTION_TITLE_AND_DESCRIPTION_2_1_1_2">
    <p:spTree>
      <p:nvGrpSpPr>
        <p:cNvPr id="1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9"/>
          <p:cNvSpPr/>
          <p:nvPr/>
        </p:nvSpPr>
        <p:spPr>
          <a:xfrm>
            <a:off x="0" y="-125"/>
            <a:ext cx="2776500" cy="5143500"/>
          </a:xfrm>
          <a:prstGeom prst="rect">
            <a:avLst/>
          </a:prstGeom>
          <a:solidFill>
            <a:srgbClr val="FDF6E3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7" name="Google Shape;57;p9"/>
          <p:cNvSpPr txBox="1">
            <a:spLocks noGrp="1"/>
          </p:cNvSpPr>
          <p:nvPr>
            <p:ph type="subTitle" idx="1"/>
          </p:nvPr>
        </p:nvSpPr>
        <p:spPr>
          <a:xfrm>
            <a:off x="225450" y="3943400"/>
            <a:ext cx="2450400" cy="719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800"/>
              <a:buNone/>
              <a:defRPr/>
            </a:lvl1pPr>
            <a:lvl2pPr lvl="1" algn="ctr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100"/>
              <a:buNone/>
              <a:defRPr sz="2100"/>
            </a:lvl2pPr>
            <a:lvl3pPr lvl="2" algn="ctr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100"/>
              <a:buNone/>
              <a:defRPr sz="2100"/>
            </a:lvl3pPr>
            <a:lvl4pPr lvl="3" algn="ctr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100"/>
              <a:buNone/>
              <a:defRPr sz="2100"/>
            </a:lvl4pPr>
            <a:lvl5pPr lvl="4" algn="ctr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100"/>
              <a:buNone/>
              <a:defRPr sz="2100"/>
            </a:lvl5pPr>
            <a:lvl6pPr lvl="5" algn="ctr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100"/>
              <a:buNone/>
              <a:defRPr sz="2100"/>
            </a:lvl6pPr>
            <a:lvl7pPr lvl="6" algn="ctr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100"/>
              <a:buNone/>
              <a:defRPr sz="2100"/>
            </a:lvl7pPr>
            <a:lvl8pPr lvl="7" algn="ctr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100"/>
              <a:buNone/>
              <a:defRPr sz="2100"/>
            </a:lvl8pPr>
            <a:lvl9pPr lvl="8" algn="ctr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100"/>
              <a:buNone/>
              <a:defRPr sz="2100"/>
            </a:lvl9pPr>
          </a:lstStyle>
          <a:p>
            <a:endParaRPr/>
          </a:p>
        </p:txBody>
      </p:sp>
      <p:sp>
        <p:nvSpPr>
          <p:cNvPr id="58" name="Google Shape;58;p9"/>
          <p:cNvSpPr txBox="1"/>
          <p:nvPr/>
        </p:nvSpPr>
        <p:spPr>
          <a:xfrm>
            <a:off x="208445" y="3420075"/>
            <a:ext cx="1873800" cy="569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2500" b="1">
                <a:solidFill>
                  <a:schemeClr val="accent3"/>
                </a:solidFill>
                <a:latin typeface="Roboto"/>
                <a:ea typeface="Roboto"/>
                <a:cs typeface="Roboto"/>
                <a:sym typeface="Roboto"/>
              </a:rPr>
              <a:t>Compare</a:t>
            </a:r>
            <a:endParaRPr sz="2500" b="1">
              <a:solidFill>
                <a:schemeClr val="accent3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59" name="Google Shape;59;p9"/>
          <p:cNvSpPr txBox="1">
            <a:spLocks noGrp="1"/>
          </p:cNvSpPr>
          <p:nvPr>
            <p:ph type="body" idx="2"/>
          </p:nvPr>
        </p:nvSpPr>
        <p:spPr>
          <a:xfrm>
            <a:off x="2937350" y="402200"/>
            <a:ext cx="6032400" cy="4261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42900" rtl="0">
              <a:spcBef>
                <a:spcPts val="6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1pPr>
            <a:lvl2pPr marL="914400" lvl="1" indent="-342900" rtl="0">
              <a:spcBef>
                <a:spcPts val="6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2pPr>
            <a:lvl3pPr marL="1371600" lvl="2" indent="-342900" rtl="0">
              <a:spcBef>
                <a:spcPts val="6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3pPr>
            <a:lvl4pPr marL="1828800" lvl="3" indent="-342900" rtl="0">
              <a:spcBef>
                <a:spcPts val="6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4pPr>
            <a:lvl5pPr marL="2286000" lvl="4" indent="-342900" rtl="0">
              <a:spcBef>
                <a:spcPts val="6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5pPr>
            <a:lvl6pPr marL="2743200" lvl="5" indent="-342900" rtl="0">
              <a:spcBef>
                <a:spcPts val="6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6pPr>
            <a:lvl7pPr marL="3200400" lvl="6" indent="-342900" rtl="0">
              <a:spcBef>
                <a:spcPts val="6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7pPr>
            <a:lvl8pPr marL="3657600" lvl="7" indent="-342900" rtl="0">
              <a:spcBef>
                <a:spcPts val="6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8pPr>
            <a:lvl9pPr marL="4114800" lvl="8" indent="-342900" rtl="0">
              <a:spcBef>
                <a:spcPts val="6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9pPr>
          </a:lstStyle>
          <a:p>
            <a:endParaRPr/>
          </a:p>
        </p:txBody>
      </p:sp>
      <p:sp>
        <p:nvSpPr>
          <p:cNvPr id="60" name="Google Shape;60;p9"/>
          <p:cNvSpPr txBox="1">
            <a:spLocks noGrp="1"/>
          </p:cNvSpPr>
          <p:nvPr>
            <p:ph type="title"/>
          </p:nvPr>
        </p:nvSpPr>
        <p:spPr>
          <a:xfrm>
            <a:off x="2776500" y="0"/>
            <a:ext cx="6367500" cy="39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cxnSp>
        <p:nvCxnSpPr>
          <p:cNvPr id="61" name="Google Shape;61;p9"/>
          <p:cNvCxnSpPr/>
          <p:nvPr/>
        </p:nvCxnSpPr>
        <p:spPr>
          <a:xfrm>
            <a:off x="2937350" y="402200"/>
            <a:ext cx="6082200" cy="0"/>
          </a:xfrm>
          <a:prstGeom prst="straightConnector1">
            <a:avLst/>
          </a:prstGeom>
          <a:noFill/>
          <a:ln w="19050" cap="flat" cmpd="sng">
            <a:solidFill>
              <a:srgbClr val="BF9000"/>
            </a:solidFill>
            <a:prstDash val="solid"/>
            <a:round/>
            <a:headEnd type="none" w="med" len="med"/>
            <a:tailEnd type="none" w="med" len="med"/>
          </a:ln>
        </p:spPr>
      </p:cxnSp>
      <p:pic>
        <p:nvPicPr>
          <p:cNvPr id="62" name="Google Shape;62;p9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0" y="4983478"/>
            <a:ext cx="457200" cy="160022"/>
          </a:xfrm>
          <a:prstGeom prst="rect">
            <a:avLst/>
          </a:prstGeom>
          <a:noFill/>
          <a:ln>
            <a:noFill/>
          </a:ln>
        </p:spPr>
      </p:pic>
      <p:sp>
        <p:nvSpPr>
          <p:cNvPr id="63" name="Google Shape;63;p9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buNone/>
              <a:defRPr/>
            </a:lvl1pPr>
            <a:lvl2pPr lvl="1" rtl="0">
              <a:buNone/>
              <a:defRPr/>
            </a:lvl2pPr>
            <a:lvl3pPr lvl="2" rtl="0">
              <a:buNone/>
              <a:defRPr/>
            </a:lvl3pPr>
            <a:lvl4pPr lvl="3" rtl="0">
              <a:buNone/>
              <a:defRPr/>
            </a:lvl4pPr>
            <a:lvl5pPr lvl="4" rtl="0">
              <a:buNone/>
              <a:defRPr/>
            </a:lvl5pPr>
            <a:lvl6pPr lvl="5" rtl="0">
              <a:buNone/>
              <a:defRPr/>
            </a:lvl6pPr>
            <a:lvl7pPr lvl="6" rtl="0">
              <a:buNone/>
              <a:defRPr/>
            </a:lvl7pPr>
            <a:lvl8pPr lvl="7" rtl="0">
              <a:buNone/>
              <a:defRPr/>
            </a:lvl8pPr>
            <a:lvl9pPr lvl="8" rtl="0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Wide Puzzle Solution">
  <p:cSld name="SECTION_TITLE_AND_DESCRIPTION_2_1_1_1">
    <p:spTree>
      <p:nvGrpSpPr>
        <p:cNvPr id="1" name="Shape 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5" name="Google Shape;65;p10"/>
          <p:cNvSpPr/>
          <p:nvPr/>
        </p:nvSpPr>
        <p:spPr>
          <a:xfrm>
            <a:off x="0" y="-125"/>
            <a:ext cx="2776500" cy="5143500"/>
          </a:xfrm>
          <a:prstGeom prst="rect">
            <a:avLst/>
          </a:prstGeom>
          <a:solidFill>
            <a:srgbClr val="F3F3F3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66" name="Google Shape;66;p10"/>
          <p:cNvSpPr txBox="1">
            <a:spLocks noGrp="1"/>
          </p:cNvSpPr>
          <p:nvPr>
            <p:ph type="subTitle" idx="1"/>
          </p:nvPr>
        </p:nvSpPr>
        <p:spPr>
          <a:xfrm>
            <a:off x="225450" y="3943400"/>
            <a:ext cx="2450400" cy="719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800"/>
              <a:buNone/>
              <a:defRPr/>
            </a:lvl1pPr>
            <a:lvl2pPr lvl="1" algn="ctr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100"/>
              <a:buNone/>
              <a:defRPr sz="2100"/>
            </a:lvl2pPr>
            <a:lvl3pPr lvl="2" algn="ctr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100"/>
              <a:buNone/>
              <a:defRPr sz="2100"/>
            </a:lvl3pPr>
            <a:lvl4pPr lvl="3" algn="ctr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100"/>
              <a:buNone/>
              <a:defRPr sz="2100"/>
            </a:lvl4pPr>
            <a:lvl5pPr lvl="4" algn="ctr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100"/>
              <a:buNone/>
              <a:defRPr sz="2100"/>
            </a:lvl5pPr>
            <a:lvl6pPr lvl="5" algn="ctr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100"/>
              <a:buNone/>
              <a:defRPr sz="2100"/>
            </a:lvl6pPr>
            <a:lvl7pPr lvl="6" algn="ctr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100"/>
              <a:buNone/>
              <a:defRPr sz="2100"/>
            </a:lvl7pPr>
            <a:lvl8pPr lvl="7" algn="ctr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100"/>
              <a:buNone/>
              <a:defRPr sz="2100"/>
            </a:lvl8pPr>
            <a:lvl9pPr lvl="8" algn="ctr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100"/>
              <a:buNone/>
              <a:defRPr sz="2100"/>
            </a:lvl9pPr>
          </a:lstStyle>
          <a:p>
            <a:endParaRPr/>
          </a:p>
        </p:txBody>
      </p:sp>
      <p:sp>
        <p:nvSpPr>
          <p:cNvPr id="67" name="Google Shape;67;p10"/>
          <p:cNvSpPr txBox="1"/>
          <p:nvPr/>
        </p:nvSpPr>
        <p:spPr>
          <a:xfrm>
            <a:off x="208445" y="3420075"/>
            <a:ext cx="1873800" cy="569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2500" b="1">
                <a:solidFill>
                  <a:schemeClr val="accent3"/>
                </a:solidFill>
                <a:latin typeface="Roboto"/>
                <a:ea typeface="Roboto"/>
                <a:cs typeface="Roboto"/>
                <a:sym typeface="Roboto"/>
              </a:rPr>
              <a:t>Solution</a:t>
            </a:r>
            <a:endParaRPr sz="2500" b="1">
              <a:solidFill>
                <a:schemeClr val="accent3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68" name="Google Shape;68;p10"/>
          <p:cNvSpPr txBox="1">
            <a:spLocks noGrp="1"/>
          </p:cNvSpPr>
          <p:nvPr>
            <p:ph type="body" idx="2"/>
          </p:nvPr>
        </p:nvSpPr>
        <p:spPr>
          <a:xfrm>
            <a:off x="2937350" y="402200"/>
            <a:ext cx="6032400" cy="4261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42900" rtl="0">
              <a:spcBef>
                <a:spcPts val="6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1pPr>
            <a:lvl2pPr marL="914400" lvl="1" indent="-342900" rtl="0">
              <a:spcBef>
                <a:spcPts val="6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2pPr>
            <a:lvl3pPr marL="1371600" lvl="2" indent="-342900" rtl="0">
              <a:spcBef>
                <a:spcPts val="6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3pPr>
            <a:lvl4pPr marL="1828800" lvl="3" indent="-342900" rtl="0">
              <a:spcBef>
                <a:spcPts val="6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4pPr>
            <a:lvl5pPr marL="2286000" lvl="4" indent="-342900" rtl="0">
              <a:spcBef>
                <a:spcPts val="6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5pPr>
            <a:lvl6pPr marL="2743200" lvl="5" indent="-342900" rtl="0">
              <a:spcBef>
                <a:spcPts val="6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6pPr>
            <a:lvl7pPr marL="3200400" lvl="6" indent="-342900" rtl="0">
              <a:spcBef>
                <a:spcPts val="6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7pPr>
            <a:lvl8pPr marL="3657600" lvl="7" indent="-342900" rtl="0">
              <a:spcBef>
                <a:spcPts val="6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8pPr>
            <a:lvl9pPr marL="4114800" lvl="8" indent="-342900" rtl="0">
              <a:spcBef>
                <a:spcPts val="6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9pPr>
          </a:lstStyle>
          <a:p>
            <a:endParaRPr/>
          </a:p>
        </p:txBody>
      </p:sp>
      <p:sp>
        <p:nvSpPr>
          <p:cNvPr id="69" name="Google Shape;69;p10"/>
          <p:cNvSpPr txBox="1">
            <a:spLocks noGrp="1"/>
          </p:cNvSpPr>
          <p:nvPr>
            <p:ph type="title"/>
          </p:nvPr>
        </p:nvSpPr>
        <p:spPr>
          <a:xfrm>
            <a:off x="2776500" y="0"/>
            <a:ext cx="6367500" cy="39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cxnSp>
        <p:nvCxnSpPr>
          <p:cNvPr id="70" name="Google Shape;70;p10"/>
          <p:cNvCxnSpPr/>
          <p:nvPr/>
        </p:nvCxnSpPr>
        <p:spPr>
          <a:xfrm>
            <a:off x="2937350" y="402200"/>
            <a:ext cx="6082200" cy="0"/>
          </a:xfrm>
          <a:prstGeom prst="straightConnector1">
            <a:avLst/>
          </a:prstGeom>
          <a:noFill/>
          <a:ln w="19050" cap="flat" cmpd="sng">
            <a:solidFill>
              <a:srgbClr val="BF9000"/>
            </a:solidFill>
            <a:prstDash val="solid"/>
            <a:round/>
            <a:headEnd type="none" w="med" len="med"/>
            <a:tailEnd type="none" w="med" len="med"/>
          </a:ln>
        </p:spPr>
      </p:cxnSp>
      <p:pic>
        <p:nvPicPr>
          <p:cNvPr id="71" name="Google Shape;71;p10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0" y="4983478"/>
            <a:ext cx="457200" cy="160022"/>
          </a:xfrm>
          <a:prstGeom prst="rect">
            <a:avLst/>
          </a:prstGeom>
          <a:noFill/>
          <a:ln>
            <a:noFill/>
          </a:ln>
        </p:spPr>
      </p:pic>
      <p:sp>
        <p:nvSpPr>
          <p:cNvPr id="72" name="Google Shape;72;p10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buNone/>
              <a:defRPr/>
            </a:lvl1pPr>
            <a:lvl2pPr lvl="1" rtl="0">
              <a:buNone/>
              <a:defRPr/>
            </a:lvl2pPr>
            <a:lvl3pPr lvl="2" rtl="0">
              <a:buNone/>
              <a:defRPr/>
            </a:lvl3pPr>
            <a:lvl4pPr lvl="3" rtl="0">
              <a:buNone/>
              <a:defRPr/>
            </a:lvl4pPr>
            <a:lvl5pPr lvl="4" rtl="0">
              <a:buNone/>
              <a:defRPr/>
            </a:lvl5pPr>
            <a:lvl6pPr lvl="5" rtl="0">
              <a:buNone/>
              <a:defRPr/>
            </a:lvl6pPr>
            <a:lvl7pPr lvl="6" rtl="0">
              <a:buNone/>
              <a:defRPr/>
            </a:lvl7pPr>
            <a:lvl8pPr lvl="7" rtl="0">
              <a:buNone/>
              <a:defRPr/>
            </a:lvl8pPr>
            <a:lvl9pPr lvl="8" rtl="0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two columns" type="twoColTx">
  <p:cSld name="TITLE_AND_TWO_COLUMNS">
    <p:spTree>
      <p:nvGrpSpPr>
        <p:cNvPr id="1" name="Shape 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4" name="Google Shape;74;p11"/>
          <p:cNvSpPr txBox="1">
            <a:spLocks noGrp="1"/>
          </p:cNvSpPr>
          <p:nvPr>
            <p:ph type="title"/>
          </p:nvPr>
        </p:nvSpPr>
        <p:spPr>
          <a:xfrm>
            <a:off x="0" y="0"/>
            <a:ext cx="9144000" cy="39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75" name="Google Shape;75;p11"/>
          <p:cNvSpPr txBox="1">
            <a:spLocks noGrp="1"/>
          </p:cNvSpPr>
          <p:nvPr>
            <p:ph type="body" idx="1"/>
          </p:nvPr>
        </p:nvSpPr>
        <p:spPr>
          <a:xfrm>
            <a:off x="4812381" y="402206"/>
            <a:ext cx="3999900" cy="3416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42900" rtl="0">
              <a:spcBef>
                <a:spcPts val="6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1pPr>
            <a:lvl2pPr marL="914400" lvl="1" indent="-342900" rtl="0">
              <a:spcBef>
                <a:spcPts val="6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2pPr>
            <a:lvl3pPr marL="1371600" lvl="2" indent="-342900" rtl="0">
              <a:spcBef>
                <a:spcPts val="6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3pPr>
            <a:lvl4pPr marL="1828800" lvl="3" indent="-342900" rtl="0">
              <a:spcBef>
                <a:spcPts val="6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4pPr>
            <a:lvl5pPr marL="2286000" lvl="4" indent="-342900" rtl="0">
              <a:spcBef>
                <a:spcPts val="6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5pPr>
            <a:lvl6pPr marL="2743200" lvl="5" indent="-342900" rtl="0">
              <a:spcBef>
                <a:spcPts val="6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6pPr>
            <a:lvl7pPr marL="3200400" lvl="6" indent="-342900" rtl="0">
              <a:spcBef>
                <a:spcPts val="6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7pPr>
            <a:lvl8pPr marL="3657600" lvl="7" indent="-342900" rtl="0">
              <a:spcBef>
                <a:spcPts val="6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8pPr>
            <a:lvl9pPr marL="4114800" lvl="8" indent="-342900" rtl="0">
              <a:spcBef>
                <a:spcPts val="6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9pPr>
          </a:lstStyle>
          <a:p>
            <a:endParaRPr/>
          </a:p>
        </p:txBody>
      </p:sp>
      <p:sp>
        <p:nvSpPr>
          <p:cNvPr id="76" name="Google Shape;76;p11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buNone/>
              <a:defRPr/>
            </a:lvl1pPr>
            <a:lvl2pPr lvl="1" rtl="0">
              <a:buNone/>
              <a:defRPr/>
            </a:lvl2pPr>
            <a:lvl3pPr lvl="2" rtl="0">
              <a:buNone/>
              <a:defRPr/>
            </a:lvl3pPr>
            <a:lvl4pPr lvl="3" rtl="0">
              <a:buNone/>
              <a:defRPr/>
            </a:lvl4pPr>
            <a:lvl5pPr lvl="4" rtl="0">
              <a:buNone/>
              <a:defRPr/>
            </a:lvl5pPr>
            <a:lvl6pPr lvl="5" rtl="0">
              <a:buNone/>
              <a:defRPr/>
            </a:lvl6pPr>
            <a:lvl7pPr lvl="6" rtl="0">
              <a:buNone/>
              <a:defRPr/>
            </a:lvl7pPr>
            <a:lvl8pPr lvl="7" rtl="0">
              <a:buNone/>
              <a:defRPr/>
            </a:lvl8pPr>
            <a:lvl9pPr lvl="8" rtl="0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cxnSp>
        <p:nvCxnSpPr>
          <p:cNvPr id="77" name="Google Shape;77;p11"/>
          <p:cNvCxnSpPr/>
          <p:nvPr/>
        </p:nvCxnSpPr>
        <p:spPr>
          <a:xfrm>
            <a:off x="95431" y="402210"/>
            <a:ext cx="8909700" cy="0"/>
          </a:xfrm>
          <a:prstGeom prst="straightConnector1">
            <a:avLst/>
          </a:prstGeom>
          <a:noFill/>
          <a:ln w="19050" cap="flat" cmpd="sng">
            <a:solidFill>
              <a:srgbClr val="BF9000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78" name="Google Shape;78;p11"/>
          <p:cNvSpPr txBox="1">
            <a:spLocks noGrp="1"/>
          </p:cNvSpPr>
          <p:nvPr>
            <p:ph type="body" idx="2"/>
          </p:nvPr>
        </p:nvSpPr>
        <p:spPr>
          <a:xfrm>
            <a:off x="95431" y="402206"/>
            <a:ext cx="3999900" cy="3416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42900" rtl="0">
              <a:spcBef>
                <a:spcPts val="6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1pPr>
            <a:lvl2pPr marL="914400" lvl="1" indent="-342900" rtl="0">
              <a:spcBef>
                <a:spcPts val="6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2pPr>
            <a:lvl3pPr marL="1371600" lvl="2" indent="-342900" rtl="0">
              <a:spcBef>
                <a:spcPts val="6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3pPr>
            <a:lvl4pPr marL="1828800" lvl="3" indent="-342900" rtl="0">
              <a:spcBef>
                <a:spcPts val="6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4pPr>
            <a:lvl5pPr marL="2286000" lvl="4" indent="-342900" rtl="0">
              <a:spcBef>
                <a:spcPts val="6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5pPr>
            <a:lvl6pPr marL="2743200" lvl="5" indent="-342900" rtl="0">
              <a:spcBef>
                <a:spcPts val="6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6pPr>
            <a:lvl7pPr marL="3200400" lvl="6" indent="-342900" rtl="0">
              <a:spcBef>
                <a:spcPts val="6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7pPr>
            <a:lvl8pPr marL="3657600" lvl="7" indent="-342900" rtl="0">
              <a:spcBef>
                <a:spcPts val="6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8pPr>
            <a:lvl9pPr marL="4114800" lvl="8" indent="-342900" rtl="0">
              <a:spcBef>
                <a:spcPts val="6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only" type="titleOnly">
  <p:cSld name="TITLE_ONLY">
    <p:spTree>
      <p:nvGrpSpPr>
        <p:cNvPr id="1" name="Shape 7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0" name="Google Shape;80;p12"/>
          <p:cNvSpPr txBox="1">
            <a:spLocks noGrp="1"/>
          </p:cNvSpPr>
          <p:nvPr>
            <p:ph type="title"/>
          </p:nvPr>
        </p:nvSpPr>
        <p:spPr>
          <a:xfrm>
            <a:off x="0" y="0"/>
            <a:ext cx="9144000" cy="39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81" name="Google Shape;81;p12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buNone/>
              <a:defRPr/>
            </a:lvl1pPr>
            <a:lvl2pPr lvl="1" rtl="0">
              <a:buNone/>
              <a:defRPr/>
            </a:lvl2pPr>
            <a:lvl3pPr lvl="2" rtl="0">
              <a:buNone/>
              <a:defRPr/>
            </a:lvl3pPr>
            <a:lvl4pPr lvl="3" rtl="0">
              <a:buNone/>
              <a:defRPr/>
            </a:lvl4pPr>
            <a:lvl5pPr lvl="4" rtl="0">
              <a:buNone/>
              <a:defRPr/>
            </a:lvl5pPr>
            <a:lvl6pPr lvl="5" rtl="0">
              <a:buNone/>
              <a:defRPr/>
            </a:lvl6pPr>
            <a:lvl7pPr lvl="6" rtl="0">
              <a:buNone/>
              <a:defRPr/>
            </a:lvl7pPr>
            <a:lvl8pPr lvl="7" rtl="0">
              <a:buNone/>
              <a:defRPr/>
            </a:lvl8pPr>
            <a:lvl9pPr lvl="8" rtl="0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cxnSp>
        <p:nvCxnSpPr>
          <p:cNvPr id="82" name="Google Shape;82;p12"/>
          <p:cNvCxnSpPr/>
          <p:nvPr/>
        </p:nvCxnSpPr>
        <p:spPr>
          <a:xfrm>
            <a:off x="95431" y="402210"/>
            <a:ext cx="8909700" cy="0"/>
          </a:xfrm>
          <a:prstGeom prst="straightConnector1">
            <a:avLst/>
          </a:prstGeom>
          <a:noFill/>
          <a:ln w="19050" cap="flat" cmpd="sng">
            <a:solidFill>
              <a:srgbClr val="BF9000"/>
            </a:solidFill>
            <a:prstDash val="solid"/>
            <a:round/>
            <a:headEnd type="none" w="med" len="med"/>
            <a:tailEnd type="none" w="med" len="med"/>
          </a:ln>
        </p:spPr>
      </p:cxn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Main point">
  <p:cSld name="MAIN_POINT">
    <p:spTree>
      <p:nvGrpSpPr>
        <p:cNvPr id="1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3"/>
          <p:cNvSpPr txBox="1">
            <a:spLocks noGrp="1"/>
          </p:cNvSpPr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1pPr>
            <a:lvl2pPr lvl="1" rtl="0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 rtl="0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 rtl="0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 rtl="0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 rtl="0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 rtl="0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 rtl="0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 rtl="0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>
            <a:endParaRPr/>
          </a:p>
        </p:txBody>
      </p:sp>
      <p:sp>
        <p:nvSpPr>
          <p:cNvPr id="85" name="Google Shape;85;p13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buNone/>
              <a:defRPr/>
            </a:lvl1pPr>
            <a:lvl2pPr lvl="1" rtl="0">
              <a:buNone/>
              <a:defRPr/>
            </a:lvl2pPr>
            <a:lvl3pPr lvl="2" rtl="0">
              <a:buNone/>
              <a:defRPr/>
            </a:lvl3pPr>
            <a:lvl4pPr lvl="3" rtl="0">
              <a:buNone/>
              <a:defRPr/>
            </a:lvl4pPr>
            <a:lvl5pPr lvl="4" rtl="0">
              <a:buNone/>
              <a:defRPr/>
            </a:lvl5pPr>
            <a:lvl6pPr lvl="5" rtl="0">
              <a:buNone/>
              <a:defRPr/>
            </a:lvl6pPr>
            <a:lvl7pPr lvl="6" rtl="0">
              <a:buNone/>
              <a:defRPr/>
            </a:lvl7pPr>
            <a:lvl8pPr lvl="7" rtl="0">
              <a:buNone/>
              <a:defRPr/>
            </a:lvl8pPr>
            <a:lvl9pPr lvl="8" rtl="0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_TITLE_AND_DESCRIPTION_3">
  <p:cSld name="SECTION_TITLE_AND_DESCRIPTION_3">
    <p:spTree>
      <p:nvGrpSpPr>
        <p:cNvPr id="1" name="Shape 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7" name="Google Shape;87;p14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rgbClr val="CFE2F3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8" name="Google Shape;88;p14"/>
          <p:cNvSpPr txBox="1">
            <a:spLocks noGrp="1"/>
          </p:cNvSpPr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>
            <a:endParaRPr/>
          </a:p>
        </p:txBody>
      </p:sp>
      <p:sp>
        <p:nvSpPr>
          <p:cNvPr id="89" name="Google Shape;89;p14"/>
          <p:cNvSpPr txBox="1">
            <a:spLocks noGrp="1"/>
          </p:cNvSpPr>
          <p:nvPr>
            <p:ph type="subTitle" idx="1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800"/>
              <a:buNone/>
              <a:defRPr/>
            </a:lvl1pPr>
            <a:lvl2pPr lvl="1" algn="ctr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100"/>
              <a:buNone/>
              <a:defRPr sz="2100"/>
            </a:lvl2pPr>
            <a:lvl3pPr lvl="2" algn="ctr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100"/>
              <a:buNone/>
              <a:defRPr sz="2100"/>
            </a:lvl3pPr>
            <a:lvl4pPr lvl="3" algn="ctr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100"/>
              <a:buNone/>
              <a:defRPr sz="2100"/>
            </a:lvl4pPr>
            <a:lvl5pPr lvl="4" algn="ctr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100"/>
              <a:buNone/>
              <a:defRPr sz="2100"/>
            </a:lvl5pPr>
            <a:lvl6pPr lvl="5" algn="ctr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100"/>
              <a:buNone/>
              <a:defRPr sz="2100"/>
            </a:lvl6pPr>
            <a:lvl7pPr lvl="6" algn="ctr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100"/>
              <a:buNone/>
              <a:defRPr sz="2100"/>
            </a:lvl7pPr>
            <a:lvl8pPr lvl="7" algn="ctr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100"/>
              <a:buNone/>
              <a:defRPr sz="2100"/>
            </a:lvl8pPr>
            <a:lvl9pPr lvl="8" algn="ctr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100"/>
              <a:buNone/>
              <a:defRPr sz="2100"/>
            </a:lvl9pPr>
          </a:lstStyle>
          <a:p>
            <a:endParaRPr/>
          </a:p>
        </p:txBody>
      </p:sp>
      <p:sp>
        <p:nvSpPr>
          <p:cNvPr id="90" name="Google Shape;90;p14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buNone/>
              <a:defRPr/>
            </a:lvl1pPr>
            <a:lvl2pPr lvl="1" rtl="0">
              <a:buNone/>
              <a:defRPr/>
            </a:lvl2pPr>
            <a:lvl3pPr lvl="2" rtl="0">
              <a:buNone/>
              <a:defRPr/>
            </a:lvl3pPr>
            <a:lvl4pPr lvl="3" rtl="0">
              <a:buNone/>
              <a:defRPr/>
            </a:lvl4pPr>
            <a:lvl5pPr lvl="4" rtl="0">
              <a:buNone/>
              <a:defRPr/>
            </a:lvl5pPr>
            <a:lvl6pPr lvl="5" rtl="0">
              <a:buNone/>
              <a:defRPr/>
            </a:lvl6pPr>
            <a:lvl7pPr lvl="6" rtl="0">
              <a:buNone/>
              <a:defRPr/>
            </a:lvl7pPr>
            <a:lvl8pPr lvl="7" rtl="0">
              <a:buNone/>
              <a:defRPr/>
            </a:lvl8pPr>
            <a:lvl9pPr lvl="8" rtl="0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91" name="Google Shape;91;p14"/>
          <p:cNvSpPr txBox="1">
            <a:spLocks noGrp="1"/>
          </p:cNvSpPr>
          <p:nvPr>
            <p:ph type="body" idx="2"/>
          </p:nvPr>
        </p:nvSpPr>
        <p:spPr>
          <a:xfrm>
            <a:off x="4812381" y="402206"/>
            <a:ext cx="3999900" cy="3416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42900" rtl="0">
              <a:spcBef>
                <a:spcPts val="6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1pPr>
            <a:lvl2pPr marL="914400" lvl="1" indent="-342900" rtl="0">
              <a:spcBef>
                <a:spcPts val="6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2pPr>
            <a:lvl3pPr marL="1371600" lvl="2" indent="-342900" rtl="0">
              <a:spcBef>
                <a:spcPts val="6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3pPr>
            <a:lvl4pPr marL="1828800" lvl="3" indent="-342900" rtl="0">
              <a:spcBef>
                <a:spcPts val="6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4pPr>
            <a:lvl5pPr marL="2286000" lvl="4" indent="-342900" rtl="0">
              <a:spcBef>
                <a:spcPts val="6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5pPr>
            <a:lvl6pPr marL="2743200" lvl="5" indent="-342900" rtl="0">
              <a:spcBef>
                <a:spcPts val="6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6pPr>
            <a:lvl7pPr marL="3200400" lvl="6" indent="-342900" rtl="0">
              <a:spcBef>
                <a:spcPts val="6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7pPr>
            <a:lvl8pPr marL="3657600" lvl="7" indent="-342900" rtl="0">
              <a:spcBef>
                <a:spcPts val="6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8pPr>
            <a:lvl9pPr marL="4114800" lvl="8" indent="-342900" rtl="0">
              <a:spcBef>
                <a:spcPts val="6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aption">
  <p:cSld name="CAPTION_ONLY">
    <p:spTree>
      <p:nvGrpSpPr>
        <p:cNvPr id="1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15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buNone/>
              <a:defRPr/>
            </a:lvl1pPr>
            <a:lvl2pPr lvl="1" rtl="0">
              <a:buNone/>
              <a:defRPr/>
            </a:lvl2pPr>
            <a:lvl3pPr lvl="2" rtl="0">
              <a:buNone/>
              <a:defRPr/>
            </a:lvl3pPr>
            <a:lvl4pPr lvl="3" rtl="0">
              <a:buNone/>
              <a:defRPr/>
            </a:lvl4pPr>
            <a:lvl5pPr lvl="4" rtl="0">
              <a:buNone/>
              <a:defRPr/>
            </a:lvl5pPr>
            <a:lvl6pPr lvl="5" rtl="0">
              <a:buNone/>
              <a:defRPr/>
            </a:lvl6pPr>
            <a:lvl7pPr lvl="6" rtl="0">
              <a:buNone/>
              <a:defRPr/>
            </a:lvl7pPr>
            <a:lvl8pPr lvl="7" rtl="0">
              <a:buNone/>
              <a:defRPr/>
            </a:lvl8pPr>
            <a:lvl9pPr lvl="8" rtl="0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94" name="Google Shape;94;p15"/>
          <p:cNvSpPr txBox="1">
            <a:spLocks noGrp="1"/>
          </p:cNvSpPr>
          <p:nvPr>
            <p:ph type="title"/>
          </p:nvPr>
        </p:nvSpPr>
        <p:spPr>
          <a:xfrm>
            <a:off x="95425" y="4288400"/>
            <a:ext cx="8658900" cy="7683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Roboto"/>
              <a:buNone/>
              <a:defRPr sz="18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SzPts val="2400"/>
              <a:buFont typeface="Roboto"/>
              <a:buNone/>
              <a:defRPr sz="2400">
                <a:latin typeface="Roboto"/>
                <a:ea typeface="Roboto"/>
                <a:cs typeface="Roboto"/>
                <a:sym typeface="Roboto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SzPts val="2400"/>
              <a:buFont typeface="Roboto"/>
              <a:buNone/>
              <a:defRPr sz="2400">
                <a:latin typeface="Roboto"/>
                <a:ea typeface="Roboto"/>
                <a:cs typeface="Roboto"/>
                <a:sym typeface="Roboto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SzPts val="2400"/>
              <a:buFont typeface="Roboto"/>
              <a:buNone/>
              <a:defRPr sz="2400">
                <a:latin typeface="Roboto"/>
                <a:ea typeface="Roboto"/>
                <a:cs typeface="Roboto"/>
                <a:sym typeface="Roboto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SzPts val="2400"/>
              <a:buFont typeface="Roboto"/>
              <a:buNone/>
              <a:defRPr sz="2400">
                <a:latin typeface="Roboto"/>
                <a:ea typeface="Roboto"/>
                <a:cs typeface="Roboto"/>
                <a:sym typeface="Roboto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SzPts val="2400"/>
              <a:buFont typeface="Roboto"/>
              <a:buNone/>
              <a:defRPr sz="2400">
                <a:latin typeface="Roboto"/>
                <a:ea typeface="Roboto"/>
                <a:cs typeface="Roboto"/>
                <a:sym typeface="Roboto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SzPts val="2400"/>
              <a:buFont typeface="Roboto"/>
              <a:buNone/>
              <a:defRPr sz="2400">
                <a:latin typeface="Roboto"/>
                <a:ea typeface="Roboto"/>
                <a:cs typeface="Roboto"/>
                <a:sym typeface="Roboto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SzPts val="2400"/>
              <a:buFont typeface="Roboto"/>
              <a:buNone/>
              <a:defRPr sz="2400">
                <a:latin typeface="Roboto"/>
                <a:ea typeface="Roboto"/>
                <a:cs typeface="Roboto"/>
                <a:sym typeface="Roboto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SzPts val="2400"/>
              <a:buFont typeface="Roboto"/>
              <a:buNone/>
              <a:defRPr sz="2400"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endParaRPr/>
          </a:p>
        </p:txBody>
      </p:sp>
      <p:cxnSp>
        <p:nvCxnSpPr>
          <p:cNvPr id="95" name="Google Shape;95;p15"/>
          <p:cNvCxnSpPr/>
          <p:nvPr/>
        </p:nvCxnSpPr>
        <p:spPr>
          <a:xfrm>
            <a:off x="168250" y="4288400"/>
            <a:ext cx="8757000" cy="0"/>
          </a:xfrm>
          <a:prstGeom prst="straightConnector1">
            <a:avLst/>
          </a:prstGeom>
          <a:noFill/>
          <a:ln w="19050" cap="flat" cmpd="sng">
            <a:solidFill>
              <a:srgbClr val="BF9000"/>
            </a:solidFill>
            <a:prstDash val="solid"/>
            <a:round/>
            <a:headEnd type="none" w="med" len="med"/>
            <a:tailEnd type="none" w="med" len="med"/>
          </a:ln>
        </p:spPr>
      </p:cxnSp>
    </p:spTree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lank" type="blank">
  <p:cSld name="BLANK">
    <p:spTree>
      <p:nvGrpSpPr>
        <p:cNvPr id="1" name="Shape 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7" name="Google Shape;97;p16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buNone/>
              <a:defRPr/>
            </a:lvl1pPr>
            <a:lvl2pPr lvl="1" rtl="0">
              <a:buNone/>
              <a:defRPr/>
            </a:lvl2pPr>
            <a:lvl3pPr lvl="2" rtl="0">
              <a:buNone/>
              <a:defRPr/>
            </a:lvl3pPr>
            <a:lvl4pPr lvl="3" rtl="0">
              <a:buNone/>
              <a:defRPr/>
            </a:lvl4pPr>
            <a:lvl5pPr lvl="4" rtl="0">
              <a:buNone/>
              <a:defRPr/>
            </a:lvl5pPr>
            <a:lvl6pPr lvl="5" rtl="0">
              <a:buNone/>
              <a:defRPr/>
            </a:lvl6pPr>
            <a:lvl7pPr lvl="6" rtl="0">
              <a:buNone/>
              <a:defRPr/>
            </a:lvl7pPr>
            <a:lvl8pPr lvl="7" rtl="0">
              <a:buNone/>
              <a:defRPr/>
            </a:lvl8pPr>
            <a:lvl9pPr lvl="8" rtl="0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lank dark">
  <p:cSld name="BLANK_1">
    <p:bg>
      <p:bgPr>
        <a:solidFill>
          <a:schemeClr val="dk1"/>
        </a:solidFill>
        <a:effectLst/>
      </p:bgPr>
    </p:bg>
    <p:spTree>
      <p:nvGrpSpPr>
        <p:cNvPr id="1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17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buNone/>
              <a:defRPr/>
            </a:lvl1pPr>
            <a:lvl2pPr lvl="1" rtl="0">
              <a:buNone/>
              <a:defRPr/>
            </a:lvl2pPr>
            <a:lvl3pPr lvl="2" rtl="0">
              <a:buNone/>
              <a:defRPr/>
            </a:lvl3pPr>
            <a:lvl4pPr lvl="3" rtl="0">
              <a:buNone/>
              <a:defRPr/>
            </a:lvl4pPr>
            <a:lvl5pPr lvl="4" rtl="0">
              <a:buNone/>
              <a:defRPr/>
            </a:lvl5pPr>
            <a:lvl6pPr lvl="5" rtl="0">
              <a:buNone/>
              <a:defRPr/>
            </a:lvl6pPr>
            <a:lvl7pPr lvl="6" rtl="0">
              <a:buNone/>
              <a:defRPr/>
            </a:lvl7pPr>
            <a:lvl8pPr lvl="7" rtl="0">
              <a:buNone/>
              <a:defRPr/>
            </a:lvl8pPr>
            <a:lvl9pPr lvl="8" rtl="0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Interlude">
  <p:cSld name="SECTION_TITLE_AND_DESCRIPTION_1_3">
    <p:spTree>
      <p:nvGrpSpPr>
        <p:cNvPr id="1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8"/>
          <p:cNvSpPr/>
          <p:nvPr/>
        </p:nvSpPr>
        <p:spPr>
          <a:xfrm>
            <a:off x="0" y="-125"/>
            <a:ext cx="4572000" cy="51435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02" name="Google Shape;102;p18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buNone/>
              <a:defRPr/>
            </a:lvl1pPr>
            <a:lvl2pPr lvl="1" rtl="0">
              <a:buNone/>
              <a:defRPr/>
            </a:lvl2pPr>
            <a:lvl3pPr lvl="2" rtl="0">
              <a:buNone/>
              <a:defRPr/>
            </a:lvl3pPr>
            <a:lvl4pPr lvl="3" rtl="0">
              <a:buNone/>
              <a:defRPr/>
            </a:lvl4pPr>
            <a:lvl5pPr lvl="4" rtl="0">
              <a:buNone/>
              <a:defRPr/>
            </a:lvl5pPr>
            <a:lvl6pPr lvl="5" rtl="0">
              <a:buNone/>
              <a:defRPr/>
            </a:lvl6pPr>
            <a:lvl7pPr lvl="6" rtl="0">
              <a:buNone/>
              <a:defRPr/>
            </a:lvl7pPr>
            <a:lvl8pPr lvl="7" rtl="0">
              <a:buNone/>
              <a:defRPr/>
            </a:lvl8pPr>
            <a:lvl9pPr lvl="8" rtl="0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103" name="Google Shape;103;p18"/>
          <p:cNvSpPr txBox="1">
            <a:spLocks noGrp="1"/>
          </p:cNvSpPr>
          <p:nvPr>
            <p:ph type="body" idx="1"/>
          </p:nvPr>
        </p:nvSpPr>
        <p:spPr>
          <a:xfrm>
            <a:off x="4812375" y="402198"/>
            <a:ext cx="3999900" cy="42609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marL="457200" lvl="0" indent="-342900" rtl="0">
              <a:spcBef>
                <a:spcPts val="6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1pPr>
            <a:lvl2pPr marL="914400" lvl="1" indent="-342900" rtl="0">
              <a:spcBef>
                <a:spcPts val="6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2pPr>
            <a:lvl3pPr marL="1371600" lvl="2" indent="-342900" rtl="0">
              <a:spcBef>
                <a:spcPts val="6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3pPr>
            <a:lvl4pPr marL="1828800" lvl="3" indent="-342900" rtl="0">
              <a:spcBef>
                <a:spcPts val="6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4pPr>
            <a:lvl5pPr marL="2286000" lvl="4" indent="-342900" rtl="0">
              <a:spcBef>
                <a:spcPts val="6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5pPr>
            <a:lvl6pPr marL="2743200" lvl="5" indent="-342900" rtl="0">
              <a:spcBef>
                <a:spcPts val="6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6pPr>
            <a:lvl7pPr marL="3200400" lvl="6" indent="-342900" rtl="0">
              <a:spcBef>
                <a:spcPts val="6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7pPr>
            <a:lvl8pPr marL="3657600" lvl="7" indent="-342900" rtl="0">
              <a:spcBef>
                <a:spcPts val="6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8pPr>
            <a:lvl9pPr marL="4114800" lvl="8" indent="-342900" rtl="0">
              <a:spcBef>
                <a:spcPts val="6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9pPr>
          </a:lstStyle>
          <a:p>
            <a:endParaRPr/>
          </a:p>
        </p:txBody>
      </p:sp>
      <p:pic>
        <p:nvPicPr>
          <p:cNvPr id="104" name="Google Shape;104;p18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0" y="4983478"/>
            <a:ext cx="457200" cy="160022"/>
          </a:xfrm>
          <a:prstGeom prst="rect">
            <a:avLst/>
          </a:prstGeom>
          <a:noFill/>
          <a:ln>
            <a:noFill/>
          </a:ln>
        </p:spPr>
      </p:pic>
      <p:sp>
        <p:nvSpPr>
          <p:cNvPr id="105" name="Google Shape;105;p18"/>
          <p:cNvSpPr txBox="1">
            <a:spLocks noGrp="1"/>
          </p:cNvSpPr>
          <p:nvPr>
            <p:ph type="title"/>
          </p:nvPr>
        </p:nvSpPr>
        <p:spPr>
          <a:xfrm>
            <a:off x="177925" y="2003300"/>
            <a:ext cx="4038000" cy="20379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3600">
                <a:solidFill>
                  <a:schemeClr val="lt1"/>
                </a:solidFill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3600">
                <a:solidFill>
                  <a:schemeClr val="lt1"/>
                </a:solidFill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3600">
                <a:solidFill>
                  <a:schemeClr val="lt1"/>
                </a:solidFill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3600">
                <a:solidFill>
                  <a:schemeClr val="lt1"/>
                </a:solidFill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3600">
                <a:solidFill>
                  <a:schemeClr val="lt1"/>
                </a:solidFill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3600">
                <a:solidFill>
                  <a:schemeClr val="lt1"/>
                </a:solidFill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3600">
                <a:solidFill>
                  <a:schemeClr val="lt1"/>
                </a:solidFill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3600">
                <a:solidFill>
                  <a:schemeClr val="lt1"/>
                </a:solidFill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3600">
                <a:solidFill>
                  <a:schemeClr val="lt1"/>
                </a:solidFill>
              </a:defRPr>
            </a:lvl9pPr>
          </a:lstStyle>
          <a:p>
            <a:endParaRPr/>
          </a:p>
        </p:txBody>
      </p:sp>
      <p:cxnSp>
        <p:nvCxnSpPr>
          <p:cNvPr id="106" name="Google Shape;106;p18"/>
          <p:cNvCxnSpPr/>
          <p:nvPr/>
        </p:nvCxnSpPr>
        <p:spPr>
          <a:xfrm>
            <a:off x="266975" y="4049175"/>
            <a:ext cx="4038000" cy="0"/>
          </a:xfrm>
          <a:prstGeom prst="straightConnector1">
            <a:avLst/>
          </a:prstGeom>
          <a:noFill/>
          <a:ln w="19050" cap="flat" cmpd="sng">
            <a:solidFill>
              <a:srgbClr val="BF9000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107" name="Google Shape;107;p18"/>
          <p:cNvSpPr txBox="1">
            <a:spLocks noGrp="1"/>
          </p:cNvSpPr>
          <p:nvPr>
            <p:ph type="subTitle" idx="2"/>
          </p:nvPr>
        </p:nvSpPr>
        <p:spPr>
          <a:xfrm>
            <a:off x="177925" y="4068000"/>
            <a:ext cx="41580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chemeClr val="lt1"/>
              </a:buClr>
              <a:buSzPts val="1800"/>
              <a:buNone/>
              <a:defRPr>
                <a:solidFill>
                  <a:schemeClr val="lt1"/>
                </a:solidFill>
              </a:defRPr>
            </a:lvl1pPr>
            <a:lvl2pPr lvl="1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2pPr>
            <a:lvl3pPr lvl="2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3pPr>
            <a:lvl4pPr lvl="3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4pPr>
            <a:lvl5pPr lvl="4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5pPr>
            <a:lvl6pPr lvl="5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6pPr>
            <a:lvl7pPr lvl="6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7pPr>
            <a:lvl8pPr lvl="7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8pPr>
            <a:lvl9pPr lvl="8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title and description 1">
  <p:cSld name="SECTION_TITLE_AND_DESCRIPTION_1_1">
    <p:spTree>
      <p:nvGrpSpPr>
        <p:cNvPr id="1" name="Shape 10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9" name="Google Shape;109;p1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rgbClr val="CFE2F3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10" name="Google Shape;110;p19"/>
          <p:cNvSpPr txBox="1">
            <a:spLocks noGrp="1"/>
          </p:cNvSpPr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>
            <a:endParaRPr/>
          </a:p>
        </p:txBody>
      </p:sp>
      <p:sp>
        <p:nvSpPr>
          <p:cNvPr id="111" name="Google Shape;111;p19"/>
          <p:cNvSpPr txBox="1">
            <a:spLocks noGrp="1"/>
          </p:cNvSpPr>
          <p:nvPr>
            <p:ph type="subTitle" idx="1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800"/>
              <a:buNone/>
              <a:defRPr/>
            </a:lvl1pPr>
            <a:lvl2pPr lvl="1" algn="ctr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100"/>
              <a:buNone/>
              <a:defRPr sz="2100"/>
            </a:lvl2pPr>
            <a:lvl3pPr lvl="2" algn="ctr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100"/>
              <a:buNone/>
              <a:defRPr sz="2100"/>
            </a:lvl3pPr>
            <a:lvl4pPr lvl="3" algn="ctr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100"/>
              <a:buNone/>
              <a:defRPr sz="2100"/>
            </a:lvl4pPr>
            <a:lvl5pPr lvl="4" algn="ctr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100"/>
              <a:buNone/>
              <a:defRPr sz="2100"/>
            </a:lvl5pPr>
            <a:lvl6pPr lvl="5" algn="ctr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100"/>
              <a:buNone/>
              <a:defRPr sz="2100"/>
            </a:lvl6pPr>
            <a:lvl7pPr lvl="6" algn="ctr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100"/>
              <a:buNone/>
              <a:defRPr sz="2100"/>
            </a:lvl7pPr>
            <a:lvl8pPr lvl="7" algn="ctr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100"/>
              <a:buNone/>
              <a:defRPr sz="2100"/>
            </a:lvl8pPr>
            <a:lvl9pPr lvl="8" algn="ctr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100"/>
              <a:buNone/>
              <a:defRPr sz="2100"/>
            </a:lvl9pPr>
          </a:lstStyle>
          <a:p>
            <a:endParaRPr/>
          </a:p>
        </p:txBody>
      </p:sp>
      <p:sp>
        <p:nvSpPr>
          <p:cNvPr id="112" name="Google Shape;112;p19"/>
          <p:cNvSpPr txBox="1">
            <a:spLocks noGrp="1"/>
          </p:cNvSpPr>
          <p:nvPr>
            <p:ph type="body" idx="2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marL="457200" lvl="0" indent="-342900" rtl="0">
              <a:spcBef>
                <a:spcPts val="600"/>
              </a:spcBef>
              <a:spcAft>
                <a:spcPts val="0"/>
              </a:spcAft>
              <a:buSzPts val="1800"/>
              <a:buChar char="•"/>
              <a:defRPr/>
            </a:lvl1pPr>
            <a:lvl2pPr marL="914400" lvl="1" indent="-342900" rtl="0">
              <a:spcBef>
                <a:spcPts val="600"/>
              </a:spcBef>
              <a:spcAft>
                <a:spcPts val="0"/>
              </a:spcAft>
              <a:buSzPts val="1800"/>
              <a:buChar char="•"/>
              <a:defRPr/>
            </a:lvl2pPr>
            <a:lvl3pPr marL="1371600" lvl="2" indent="-342900" rtl="0">
              <a:spcBef>
                <a:spcPts val="600"/>
              </a:spcBef>
              <a:spcAft>
                <a:spcPts val="0"/>
              </a:spcAft>
              <a:buSzPts val="1800"/>
              <a:buChar char="•"/>
              <a:defRPr/>
            </a:lvl3pPr>
            <a:lvl4pPr marL="1828800" lvl="3" indent="-342900" rtl="0">
              <a:spcBef>
                <a:spcPts val="600"/>
              </a:spcBef>
              <a:spcAft>
                <a:spcPts val="0"/>
              </a:spcAft>
              <a:buSzPts val="1800"/>
              <a:buChar char="•"/>
              <a:defRPr/>
            </a:lvl4pPr>
            <a:lvl5pPr marL="2286000" lvl="4" indent="-342900" rtl="0">
              <a:spcBef>
                <a:spcPts val="600"/>
              </a:spcBef>
              <a:spcAft>
                <a:spcPts val="0"/>
              </a:spcAft>
              <a:buSzPts val="1800"/>
              <a:buChar char="•"/>
              <a:defRPr/>
            </a:lvl5pPr>
            <a:lvl6pPr marL="2743200" lvl="5" indent="-342900" rtl="0">
              <a:spcBef>
                <a:spcPts val="600"/>
              </a:spcBef>
              <a:spcAft>
                <a:spcPts val="0"/>
              </a:spcAft>
              <a:buSzPts val="1800"/>
              <a:buChar char="•"/>
              <a:defRPr/>
            </a:lvl6pPr>
            <a:lvl7pPr marL="3200400" lvl="6" indent="-342900" rtl="0">
              <a:spcBef>
                <a:spcPts val="600"/>
              </a:spcBef>
              <a:spcAft>
                <a:spcPts val="0"/>
              </a:spcAft>
              <a:buSzPts val="1800"/>
              <a:buChar char="•"/>
              <a:defRPr/>
            </a:lvl7pPr>
            <a:lvl8pPr marL="3657600" lvl="7" indent="-342900" rtl="0">
              <a:spcBef>
                <a:spcPts val="600"/>
              </a:spcBef>
              <a:spcAft>
                <a:spcPts val="0"/>
              </a:spcAft>
              <a:buSzPts val="1800"/>
              <a:buChar char="•"/>
              <a:defRPr/>
            </a:lvl8pPr>
            <a:lvl9pPr marL="4114800" lvl="8" indent="-342900" rtl="0">
              <a:spcBef>
                <a:spcPts val="600"/>
              </a:spcBef>
              <a:spcAft>
                <a:spcPts val="0"/>
              </a:spcAft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113" name="Google Shape;113;p19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buNone/>
              <a:defRPr/>
            </a:lvl1pPr>
            <a:lvl2pPr lvl="1" rtl="0">
              <a:buNone/>
              <a:defRPr/>
            </a:lvl2pPr>
            <a:lvl3pPr lvl="2" rtl="0">
              <a:buNone/>
              <a:defRPr/>
            </a:lvl3pPr>
            <a:lvl4pPr lvl="3" rtl="0">
              <a:buNone/>
              <a:defRPr/>
            </a:lvl4pPr>
            <a:lvl5pPr lvl="4" rtl="0">
              <a:buNone/>
              <a:defRPr/>
            </a:lvl5pPr>
            <a:lvl6pPr lvl="5" rtl="0">
              <a:buNone/>
              <a:defRPr/>
            </a:lvl6pPr>
            <a:lvl7pPr lvl="6" rtl="0">
              <a:buNone/>
              <a:defRPr/>
            </a:lvl7pPr>
            <a:lvl8pPr lvl="7" rtl="0">
              <a:buNone/>
              <a:defRPr/>
            </a:lvl8pPr>
            <a:lvl9pPr lvl="8" rtl="0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ode on left">
  <p:cSld name="SECTION_TITLE_AND_DESCRIPTION_1_1_1">
    <p:spTree>
      <p:nvGrpSpPr>
        <p:cNvPr id="1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20"/>
          <p:cNvSpPr/>
          <p:nvPr/>
        </p:nvSpPr>
        <p:spPr>
          <a:xfrm>
            <a:off x="0" y="6"/>
            <a:ext cx="4572000" cy="5143500"/>
          </a:xfrm>
          <a:prstGeom prst="rect">
            <a:avLst/>
          </a:prstGeom>
          <a:solidFill>
            <a:srgbClr val="FDF6E3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16" name="Google Shape;116;p20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buNone/>
              <a:defRPr/>
            </a:lvl1pPr>
            <a:lvl2pPr lvl="1" rtl="0">
              <a:buNone/>
              <a:defRPr/>
            </a:lvl2pPr>
            <a:lvl3pPr lvl="2" rtl="0">
              <a:buNone/>
              <a:defRPr/>
            </a:lvl3pPr>
            <a:lvl4pPr lvl="3" rtl="0">
              <a:buNone/>
              <a:defRPr/>
            </a:lvl4pPr>
            <a:lvl5pPr lvl="4" rtl="0">
              <a:buNone/>
              <a:defRPr/>
            </a:lvl5pPr>
            <a:lvl6pPr lvl="5" rtl="0">
              <a:buNone/>
              <a:defRPr/>
            </a:lvl6pPr>
            <a:lvl7pPr lvl="6" rtl="0">
              <a:buNone/>
              <a:defRPr/>
            </a:lvl7pPr>
            <a:lvl8pPr lvl="7" rtl="0">
              <a:buNone/>
              <a:defRPr/>
            </a:lvl8pPr>
            <a:lvl9pPr lvl="8" rtl="0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117" name="Google Shape;117;p20"/>
          <p:cNvSpPr txBox="1">
            <a:spLocks noGrp="1"/>
          </p:cNvSpPr>
          <p:nvPr>
            <p:ph type="body" idx="1"/>
          </p:nvPr>
        </p:nvSpPr>
        <p:spPr>
          <a:xfrm>
            <a:off x="4882900" y="1152150"/>
            <a:ext cx="3950100" cy="34200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42900" rtl="0">
              <a:spcBef>
                <a:spcPts val="600"/>
              </a:spcBef>
              <a:spcAft>
                <a:spcPts val="0"/>
              </a:spcAft>
              <a:buSzPts val="1800"/>
              <a:buChar char="•"/>
              <a:defRPr/>
            </a:lvl1pPr>
            <a:lvl2pPr marL="914400" lvl="1" indent="-342900" rtl="0">
              <a:spcBef>
                <a:spcPts val="600"/>
              </a:spcBef>
              <a:spcAft>
                <a:spcPts val="0"/>
              </a:spcAft>
              <a:buSzPts val="1800"/>
              <a:buChar char="•"/>
              <a:defRPr/>
            </a:lvl2pPr>
            <a:lvl3pPr marL="1371600" lvl="2" indent="-342900" rtl="0">
              <a:spcBef>
                <a:spcPts val="600"/>
              </a:spcBef>
              <a:spcAft>
                <a:spcPts val="0"/>
              </a:spcAft>
              <a:buSzPts val="1800"/>
              <a:buChar char="•"/>
              <a:defRPr/>
            </a:lvl3pPr>
            <a:lvl4pPr marL="1828800" lvl="3" indent="-342900" rtl="0">
              <a:spcBef>
                <a:spcPts val="600"/>
              </a:spcBef>
              <a:spcAft>
                <a:spcPts val="0"/>
              </a:spcAft>
              <a:buSzPts val="1800"/>
              <a:buChar char="•"/>
              <a:defRPr/>
            </a:lvl4pPr>
            <a:lvl5pPr marL="2286000" lvl="4" indent="-342900" rtl="0">
              <a:spcBef>
                <a:spcPts val="600"/>
              </a:spcBef>
              <a:spcAft>
                <a:spcPts val="0"/>
              </a:spcAft>
              <a:buSzPts val="1800"/>
              <a:buChar char="•"/>
              <a:defRPr/>
            </a:lvl5pPr>
            <a:lvl6pPr marL="2743200" lvl="5" indent="-342900" rtl="0">
              <a:spcBef>
                <a:spcPts val="600"/>
              </a:spcBef>
              <a:spcAft>
                <a:spcPts val="0"/>
              </a:spcAft>
              <a:buSzPts val="1800"/>
              <a:buChar char="•"/>
              <a:defRPr/>
            </a:lvl6pPr>
            <a:lvl7pPr marL="3200400" lvl="6" indent="-342900" rtl="0">
              <a:spcBef>
                <a:spcPts val="600"/>
              </a:spcBef>
              <a:spcAft>
                <a:spcPts val="0"/>
              </a:spcAft>
              <a:buSzPts val="1800"/>
              <a:buChar char="•"/>
              <a:defRPr/>
            </a:lvl7pPr>
            <a:lvl8pPr marL="3657600" lvl="7" indent="-342900" rtl="0">
              <a:spcBef>
                <a:spcPts val="600"/>
              </a:spcBef>
              <a:spcAft>
                <a:spcPts val="0"/>
              </a:spcAft>
              <a:buSzPts val="1800"/>
              <a:buChar char="•"/>
              <a:defRPr/>
            </a:lvl8pPr>
            <a:lvl9pPr marL="4114800" lvl="8" indent="-342900" rtl="0">
              <a:spcBef>
                <a:spcPts val="600"/>
              </a:spcBef>
              <a:spcAft>
                <a:spcPts val="0"/>
              </a:spcAft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118" name="Google Shape;118;p20"/>
          <p:cNvSpPr txBox="1">
            <a:spLocks noGrp="1"/>
          </p:cNvSpPr>
          <p:nvPr>
            <p:ph type="body" idx="2"/>
          </p:nvPr>
        </p:nvSpPr>
        <p:spPr>
          <a:xfrm>
            <a:off x="310900" y="448050"/>
            <a:ext cx="3950100" cy="41241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42900" rtl="0">
              <a:spcBef>
                <a:spcPts val="600"/>
              </a:spcBef>
              <a:spcAft>
                <a:spcPts val="0"/>
              </a:spcAft>
              <a:buSzPts val="1800"/>
              <a:buChar char="•"/>
              <a:defRPr/>
            </a:lvl1pPr>
            <a:lvl2pPr marL="914400" lvl="1" indent="-342900" rtl="0">
              <a:spcBef>
                <a:spcPts val="600"/>
              </a:spcBef>
              <a:spcAft>
                <a:spcPts val="0"/>
              </a:spcAft>
              <a:buSzPts val="1800"/>
              <a:buChar char="•"/>
              <a:defRPr/>
            </a:lvl2pPr>
            <a:lvl3pPr marL="1371600" lvl="2" indent="-342900" rtl="0">
              <a:spcBef>
                <a:spcPts val="600"/>
              </a:spcBef>
              <a:spcAft>
                <a:spcPts val="0"/>
              </a:spcAft>
              <a:buSzPts val="1800"/>
              <a:buChar char="•"/>
              <a:defRPr/>
            </a:lvl3pPr>
            <a:lvl4pPr marL="1828800" lvl="3" indent="-342900" rtl="0">
              <a:spcBef>
                <a:spcPts val="600"/>
              </a:spcBef>
              <a:spcAft>
                <a:spcPts val="0"/>
              </a:spcAft>
              <a:buSzPts val="1800"/>
              <a:buChar char="•"/>
              <a:defRPr/>
            </a:lvl4pPr>
            <a:lvl5pPr marL="2286000" lvl="4" indent="-342900" rtl="0">
              <a:spcBef>
                <a:spcPts val="600"/>
              </a:spcBef>
              <a:spcAft>
                <a:spcPts val="0"/>
              </a:spcAft>
              <a:buSzPts val="1800"/>
              <a:buChar char="•"/>
              <a:defRPr/>
            </a:lvl5pPr>
            <a:lvl6pPr marL="2743200" lvl="5" indent="-342900" rtl="0">
              <a:spcBef>
                <a:spcPts val="600"/>
              </a:spcBef>
              <a:spcAft>
                <a:spcPts val="0"/>
              </a:spcAft>
              <a:buSzPts val="1800"/>
              <a:buChar char="•"/>
              <a:defRPr/>
            </a:lvl6pPr>
            <a:lvl7pPr marL="3200400" lvl="6" indent="-342900" rtl="0">
              <a:spcBef>
                <a:spcPts val="600"/>
              </a:spcBef>
              <a:spcAft>
                <a:spcPts val="0"/>
              </a:spcAft>
              <a:buSzPts val="1800"/>
              <a:buChar char="•"/>
              <a:defRPr/>
            </a:lvl7pPr>
            <a:lvl8pPr marL="3657600" lvl="7" indent="-342900" rtl="0">
              <a:spcBef>
                <a:spcPts val="600"/>
              </a:spcBef>
              <a:spcAft>
                <a:spcPts val="0"/>
              </a:spcAft>
              <a:buSzPts val="1800"/>
              <a:buChar char="•"/>
              <a:defRPr/>
            </a:lvl8pPr>
            <a:lvl9pPr marL="4114800" lvl="8" indent="-342900" rtl="0">
              <a:spcBef>
                <a:spcPts val="600"/>
              </a:spcBef>
              <a:spcAft>
                <a:spcPts val="0"/>
              </a:spcAft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119" name="Google Shape;119;p20"/>
          <p:cNvSpPr txBox="1">
            <a:spLocks noGrp="1"/>
          </p:cNvSpPr>
          <p:nvPr>
            <p:ph type="title"/>
          </p:nvPr>
        </p:nvSpPr>
        <p:spPr>
          <a:xfrm>
            <a:off x="4882900" y="445025"/>
            <a:ext cx="39501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pic>
        <p:nvPicPr>
          <p:cNvPr id="120" name="Google Shape;120;p20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0" y="4983478"/>
            <a:ext cx="457200" cy="16002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ode left, Heading">
  <p:cSld name="SECTION_TITLE_AND_DESCRIPTION_1_1_1_1">
    <p:spTree>
      <p:nvGrpSpPr>
        <p:cNvPr id="1" name="Shape 1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2" name="Google Shape;122;p21"/>
          <p:cNvSpPr/>
          <p:nvPr/>
        </p:nvSpPr>
        <p:spPr>
          <a:xfrm>
            <a:off x="0" y="6"/>
            <a:ext cx="4572000" cy="5143500"/>
          </a:xfrm>
          <a:prstGeom prst="rect">
            <a:avLst/>
          </a:prstGeom>
          <a:solidFill>
            <a:srgbClr val="FDF6E3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23" name="Google Shape;123;p21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buNone/>
              <a:defRPr/>
            </a:lvl1pPr>
            <a:lvl2pPr lvl="1" rtl="0">
              <a:buNone/>
              <a:defRPr/>
            </a:lvl2pPr>
            <a:lvl3pPr lvl="2" rtl="0">
              <a:buNone/>
              <a:defRPr/>
            </a:lvl3pPr>
            <a:lvl4pPr lvl="3" rtl="0">
              <a:buNone/>
              <a:defRPr/>
            </a:lvl4pPr>
            <a:lvl5pPr lvl="4" rtl="0">
              <a:buNone/>
              <a:defRPr/>
            </a:lvl5pPr>
            <a:lvl6pPr lvl="5" rtl="0">
              <a:buNone/>
              <a:defRPr/>
            </a:lvl6pPr>
            <a:lvl7pPr lvl="6" rtl="0">
              <a:buNone/>
              <a:defRPr/>
            </a:lvl7pPr>
            <a:lvl8pPr lvl="7" rtl="0">
              <a:buNone/>
              <a:defRPr/>
            </a:lvl8pPr>
            <a:lvl9pPr lvl="8" rtl="0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124" name="Google Shape;124;p21"/>
          <p:cNvSpPr txBox="1">
            <a:spLocks noGrp="1"/>
          </p:cNvSpPr>
          <p:nvPr>
            <p:ph type="body" idx="1"/>
          </p:nvPr>
        </p:nvSpPr>
        <p:spPr>
          <a:xfrm>
            <a:off x="4882900" y="1152150"/>
            <a:ext cx="3950100" cy="34200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42900" rtl="0">
              <a:spcBef>
                <a:spcPts val="600"/>
              </a:spcBef>
              <a:spcAft>
                <a:spcPts val="0"/>
              </a:spcAft>
              <a:buSzPts val="1800"/>
              <a:buChar char="•"/>
              <a:defRPr/>
            </a:lvl1pPr>
            <a:lvl2pPr marL="914400" lvl="1" indent="-342900" rtl="0">
              <a:spcBef>
                <a:spcPts val="600"/>
              </a:spcBef>
              <a:spcAft>
                <a:spcPts val="0"/>
              </a:spcAft>
              <a:buSzPts val="1800"/>
              <a:buChar char="•"/>
              <a:defRPr/>
            </a:lvl2pPr>
            <a:lvl3pPr marL="1371600" lvl="2" indent="-342900" rtl="0">
              <a:spcBef>
                <a:spcPts val="600"/>
              </a:spcBef>
              <a:spcAft>
                <a:spcPts val="0"/>
              </a:spcAft>
              <a:buSzPts val="1800"/>
              <a:buChar char="•"/>
              <a:defRPr/>
            </a:lvl3pPr>
            <a:lvl4pPr marL="1828800" lvl="3" indent="-342900" rtl="0">
              <a:spcBef>
                <a:spcPts val="600"/>
              </a:spcBef>
              <a:spcAft>
                <a:spcPts val="0"/>
              </a:spcAft>
              <a:buSzPts val="1800"/>
              <a:buChar char="•"/>
              <a:defRPr/>
            </a:lvl4pPr>
            <a:lvl5pPr marL="2286000" lvl="4" indent="-342900" rtl="0">
              <a:spcBef>
                <a:spcPts val="600"/>
              </a:spcBef>
              <a:spcAft>
                <a:spcPts val="0"/>
              </a:spcAft>
              <a:buSzPts val="1800"/>
              <a:buChar char="•"/>
              <a:defRPr/>
            </a:lvl5pPr>
            <a:lvl6pPr marL="2743200" lvl="5" indent="-342900" rtl="0">
              <a:spcBef>
                <a:spcPts val="600"/>
              </a:spcBef>
              <a:spcAft>
                <a:spcPts val="0"/>
              </a:spcAft>
              <a:buSzPts val="1800"/>
              <a:buChar char="•"/>
              <a:defRPr/>
            </a:lvl6pPr>
            <a:lvl7pPr marL="3200400" lvl="6" indent="-342900" rtl="0">
              <a:spcBef>
                <a:spcPts val="600"/>
              </a:spcBef>
              <a:spcAft>
                <a:spcPts val="0"/>
              </a:spcAft>
              <a:buSzPts val="1800"/>
              <a:buChar char="•"/>
              <a:defRPr/>
            </a:lvl7pPr>
            <a:lvl8pPr marL="3657600" lvl="7" indent="-342900" rtl="0">
              <a:spcBef>
                <a:spcPts val="600"/>
              </a:spcBef>
              <a:spcAft>
                <a:spcPts val="0"/>
              </a:spcAft>
              <a:buSzPts val="1800"/>
              <a:buChar char="•"/>
              <a:defRPr/>
            </a:lvl8pPr>
            <a:lvl9pPr marL="4114800" lvl="8" indent="-342900" rtl="0">
              <a:spcBef>
                <a:spcPts val="600"/>
              </a:spcBef>
              <a:spcAft>
                <a:spcPts val="0"/>
              </a:spcAft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125" name="Google Shape;125;p21"/>
          <p:cNvSpPr txBox="1">
            <a:spLocks noGrp="1"/>
          </p:cNvSpPr>
          <p:nvPr>
            <p:ph type="body" idx="2"/>
          </p:nvPr>
        </p:nvSpPr>
        <p:spPr>
          <a:xfrm>
            <a:off x="310900" y="448050"/>
            <a:ext cx="3950100" cy="41241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42900" rtl="0">
              <a:spcBef>
                <a:spcPts val="600"/>
              </a:spcBef>
              <a:spcAft>
                <a:spcPts val="0"/>
              </a:spcAft>
              <a:buSzPts val="1800"/>
              <a:buChar char="•"/>
              <a:defRPr/>
            </a:lvl1pPr>
            <a:lvl2pPr marL="914400" lvl="1" indent="-342900" rtl="0">
              <a:spcBef>
                <a:spcPts val="600"/>
              </a:spcBef>
              <a:spcAft>
                <a:spcPts val="0"/>
              </a:spcAft>
              <a:buSzPts val="1800"/>
              <a:buChar char="•"/>
              <a:defRPr/>
            </a:lvl2pPr>
            <a:lvl3pPr marL="1371600" lvl="2" indent="-342900" rtl="0">
              <a:spcBef>
                <a:spcPts val="600"/>
              </a:spcBef>
              <a:spcAft>
                <a:spcPts val="0"/>
              </a:spcAft>
              <a:buSzPts val="1800"/>
              <a:buChar char="•"/>
              <a:defRPr/>
            </a:lvl3pPr>
            <a:lvl4pPr marL="1828800" lvl="3" indent="-342900" rtl="0">
              <a:spcBef>
                <a:spcPts val="600"/>
              </a:spcBef>
              <a:spcAft>
                <a:spcPts val="0"/>
              </a:spcAft>
              <a:buSzPts val="1800"/>
              <a:buChar char="•"/>
              <a:defRPr/>
            </a:lvl4pPr>
            <a:lvl5pPr marL="2286000" lvl="4" indent="-342900" rtl="0">
              <a:spcBef>
                <a:spcPts val="600"/>
              </a:spcBef>
              <a:spcAft>
                <a:spcPts val="0"/>
              </a:spcAft>
              <a:buSzPts val="1800"/>
              <a:buChar char="•"/>
              <a:defRPr/>
            </a:lvl5pPr>
            <a:lvl6pPr marL="2743200" lvl="5" indent="-342900" rtl="0">
              <a:spcBef>
                <a:spcPts val="600"/>
              </a:spcBef>
              <a:spcAft>
                <a:spcPts val="0"/>
              </a:spcAft>
              <a:buSzPts val="1800"/>
              <a:buChar char="•"/>
              <a:defRPr/>
            </a:lvl6pPr>
            <a:lvl7pPr marL="3200400" lvl="6" indent="-342900" rtl="0">
              <a:spcBef>
                <a:spcPts val="600"/>
              </a:spcBef>
              <a:spcAft>
                <a:spcPts val="0"/>
              </a:spcAft>
              <a:buSzPts val="1800"/>
              <a:buChar char="•"/>
              <a:defRPr/>
            </a:lvl7pPr>
            <a:lvl8pPr marL="3657600" lvl="7" indent="-342900" rtl="0">
              <a:spcBef>
                <a:spcPts val="600"/>
              </a:spcBef>
              <a:spcAft>
                <a:spcPts val="0"/>
              </a:spcAft>
              <a:buSzPts val="1800"/>
              <a:buChar char="•"/>
              <a:defRPr/>
            </a:lvl8pPr>
            <a:lvl9pPr marL="4114800" lvl="8" indent="-342900" rtl="0">
              <a:spcBef>
                <a:spcPts val="600"/>
              </a:spcBef>
              <a:spcAft>
                <a:spcPts val="0"/>
              </a:spcAft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126" name="Google Shape;126;p21"/>
          <p:cNvSpPr txBox="1">
            <a:spLocks noGrp="1"/>
          </p:cNvSpPr>
          <p:nvPr>
            <p:ph type="subTitle" idx="3"/>
          </p:nvPr>
        </p:nvSpPr>
        <p:spPr>
          <a:xfrm>
            <a:off x="225450" y="3943400"/>
            <a:ext cx="4045200" cy="4650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800"/>
              <a:buNone/>
              <a:defRPr/>
            </a:lvl1pPr>
            <a:lvl2pPr lvl="1" algn="ctr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100"/>
              <a:buNone/>
              <a:defRPr sz="2100"/>
            </a:lvl2pPr>
            <a:lvl3pPr lvl="2" algn="ctr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100"/>
              <a:buNone/>
              <a:defRPr sz="2100"/>
            </a:lvl3pPr>
            <a:lvl4pPr lvl="3" algn="ctr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100"/>
              <a:buNone/>
              <a:defRPr sz="2100"/>
            </a:lvl4pPr>
            <a:lvl5pPr lvl="4" algn="ctr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100"/>
              <a:buNone/>
              <a:defRPr sz="2100"/>
            </a:lvl5pPr>
            <a:lvl6pPr lvl="5" algn="ctr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100"/>
              <a:buNone/>
              <a:defRPr sz="2100"/>
            </a:lvl6pPr>
            <a:lvl7pPr lvl="6" algn="ctr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100"/>
              <a:buNone/>
              <a:defRPr sz="2100"/>
            </a:lvl7pPr>
            <a:lvl8pPr lvl="7" algn="ctr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100"/>
              <a:buNone/>
              <a:defRPr sz="2100"/>
            </a:lvl8pPr>
            <a:lvl9pPr lvl="8" algn="ctr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100"/>
              <a:buNone/>
              <a:defRPr sz="2100"/>
            </a:lvl9pPr>
          </a:lstStyle>
          <a:p>
            <a:endParaRPr/>
          </a:p>
        </p:txBody>
      </p:sp>
      <p:sp>
        <p:nvSpPr>
          <p:cNvPr id="127" name="Google Shape;127;p21"/>
          <p:cNvSpPr txBox="1">
            <a:spLocks noGrp="1"/>
          </p:cNvSpPr>
          <p:nvPr>
            <p:ph type="title"/>
          </p:nvPr>
        </p:nvSpPr>
        <p:spPr>
          <a:xfrm>
            <a:off x="208450" y="3418425"/>
            <a:ext cx="3950100" cy="5727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1pPr>
            <a:lvl2pPr lvl="1" rtl="0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2pPr>
            <a:lvl3pPr lvl="2" rtl="0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3pPr>
            <a:lvl4pPr lvl="3" rtl="0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4pPr>
            <a:lvl5pPr lvl="4" rtl="0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5pPr>
            <a:lvl6pPr lvl="5" rtl="0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6pPr>
            <a:lvl7pPr lvl="6" rtl="0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7pPr>
            <a:lvl8pPr lvl="7" rtl="0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8pPr>
            <a:lvl9pPr lvl="8" rtl="0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9pPr>
          </a:lstStyle>
          <a:p>
            <a:endParaRPr/>
          </a:p>
        </p:txBody>
      </p:sp>
      <p:pic>
        <p:nvPicPr>
          <p:cNvPr id="128" name="Google Shape;128;p21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0" y="4983478"/>
            <a:ext cx="457200" cy="16002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header 1">
  <p:cSld name="SECTION_HEADER_1">
    <p:spTree>
      <p:nvGrpSpPr>
        <p:cNvPr id="1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22"/>
          <p:cNvSpPr txBox="1">
            <a:spLocks noGrp="1"/>
          </p:cNvSpPr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>
            <a:endParaRPr/>
          </a:p>
        </p:txBody>
      </p:sp>
      <p:sp>
        <p:nvSpPr>
          <p:cNvPr id="131" name="Google Shape;131;p22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buNone/>
              <a:defRPr/>
            </a:lvl1pPr>
            <a:lvl2pPr lvl="1" rtl="0">
              <a:buNone/>
              <a:defRPr/>
            </a:lvl2pPr>
            <a:lvl3pPr lvl="2" rtl="0">
              <a:buNone/>
              <a:defRPr/>
            </a:lvl3pPr>
            <a:lvl4pPr lvl="3" rtl="0">
              <a:buNone/>
              <a:defRPr/>
            </a:lvl4pPr>
            <a:lvl5pPr lvl="4" rtl="0">
              <a:buNone/>
              <a:defRPr/>
            </a:lvl5pPr>
            <a:lvl6pPr lvl="5" rtl="0">
              <a:buNone/>
              <a:defRPr/>
            </a:lvl6pPr>
            <a:lvl7pPr lvl="6" rtl="0">
              <a:buNone/>
              <a:defRPr/>
            </a:lvl7pPr>
            <a:lvl8pPr lvl="7" rtl="0">
              <a:buNone/>
              <a:defRPr/>
            </a:lvl8pPr>
            <a:lvl9pPr lvl="8" rtl="0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ode on right">
  <p:cSld name="SECTION_TITLE_AND_DESCRIPTION_1_2">
    <p:spTree>
      <p:nvGrpSpPr>
        <p:cNvPr id="1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23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rgbClr val="FDF6E3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34" name="Google Shape;134;p23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buNone/>
              <a:defRPr/>
            </a:lvl1pPr>
            <a:lvl2pPr lvl="1" rtl="0">
              <a:buNone/>
              <a:defRPr/>
            </a:lvl2pPr>
            <a:lvl3pPr lvl="2" rtl="0">
              <a:buNone/>
              <a:defRPr/>
            </a:lvl3pPr>
            <a:lvl4pPr lvl="3" rtl="0">
              <a:buNone/>
              <a:defRPr/>
            </a:lvl4pPr>
            <a:lvl5pPr lvl="4" rtl="0">
              <a:buNone/>
              <a:defRPr/>
            </a:lvl5pPr>
            <a:lvl6pPr lvl="5" rtl="0">
              <a:buNone/>
              <a:defRPr/>
            </a:lvl6pPr>
            <a:lvl7pPr lvl="6" rtl="0">
              <a:buNone/>
              <a:defRPr/>
            </a:lvl7pPr>
            <a:lvl8pPr lvl="7" rtl="0">
              <a:buNone/>
              <a:defRPr/>
            </a:lvl8pPr>
            <a:lvl9pPr lvl="8" rtl="0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135" name="Google Shape;135;p23"/>
          <p:cNvSpPr txBox="1">
            <a:spLocks noGrp="1"/>
          </p:cNvSpPr>
          <p:nvPr>
            <p:ph type="body" idx="1"/>
          </p:nvPr>
        </p:nvSpPr>
        <p:spPr>
          <a:xfrm>
            <a:off x="311700" y="1152150"/>
            <a:ext cx="3950100" cy="34200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42900" rtl="0">
              <a:spcBef>
                <a:spcPts val="600"/>
              </a:spcBef>
              <a:spcAft>
                <a:spcPts val="0"/>
              </a:spcAft>
              <a:buSzPts val="1800"/>
              <a:buChar char="•"/>
              <a:defRPr/>
            </a:lvl1pPr>
            <a:lvl2pPr marL="914400" lvl="1" indent="-342900" rtl="0">
              <a:spcBef>
                <a:spcPts val="600"/>
              </a:spcBef>
              <a:spcAft>
                <a:spcPts val="0"/>
              </a:spcAft>
              <a:buSzPts val="1800"/>
              <a:buChar char="•"/>
              <a:defRPr/>
            </a:lvl2pPr>
            <a:lvl3pPr marL="1371600" lvl="2" indent="-342900" rtl="0">
              <a:spcBef>
                <a:spcPts val="600"/>
              </a:spcBef>
              <a:spcAft>
                <a:spcPts val="0"/>
              </a:spcAft>
              <a:buSzPts val="1800"/>
              <a:buChar char="•"/>
              <a:defRPr/>
            </a:lvl3pPr>
            <a:lvl4pPr marL="1828800" lvl="3" indent="-342900" rtl="0">
              <a:spcBef>
                <a:spcPts val="600"/>
              </a:spcBef>
              <a:spcAft>
                <a:spcPts val="0"/>
              </a:spcAft>
              <a:buSzPts val="1800"/>
              <a:buChar char="•"/>
              <a:defRPr/>
            </a:lvl4pPr>
            <a:lvl5pPr marL="2286000" lvl="4" indent="-342900" rtl="0">
              <a:spcBef>
                <a:spcPts val="600"/>
              </a:spcBef>
              <a:spcAft>
                <a:spcPts val="0"/>
              </a:spcAft>
              <a:buSzPts val="1800"/>
              <a:buChar char="•"/>
              <a:defRPr/>
            </a:lvl5pPr>
            <a:lvl6pPr marL="2743200" lvl="5" indent="-342900" rtl="0">
              <a:spcBef>
                <a:spcPts val="600"/>
              </a:spcBef>
              <a:spcAft>
                <a:spcPts val="0"/>
              </a:spcAft>
              <a:buSzPts val="1800"/>
              <a:buChar char="•"/>
              <a:defRPr/>
            </a:lvl6pPr>
            <a:lvl7pPr marL="3200400" lvl="6" indent="-342900" rtl="0">
              <a:spcBef>
                <a:spcPts val="600"/>
              </a:spcBef>
              <a:spcAft>
                <a:spcPts val="0"/>
              </a:spcAft>
              <a:buSzPts val="1800"/>
              <a:buChar char="•"/>
              <a:defRPr/>
            </a:lvl7pPr>
            <a:lvl8pPr marL="3657600" lvl="7" indent="-342900" rtl="0">
              <a:spcBef>
                <a:spcPts val="600"/>
              </a:spcBef>
              <a:spcAft>
                <a:spcPts val="0"/>
              </a:spcAft>
              <a:buSzPts val="1800"/>
              <a:buChar char="•"/>
              <a:defRPr/>
            </a:lvl8pPr>
            <a:lvl9pPr marL="4114800" lvl="8" indent="-342900" rtl="0">
              <a:spcBef>
                <a:spcPts val="600"/>
              </a:spcBef>
              <a:spcAft>
                <a:spcPts val="0"/>
              </a:spcAft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136" name="Google Shape;136;p23"/>
          <p:cNvSpPr txBox="1">
            <a:spLocks noGrp="1"/>
          </p:cNvSpPr>
          <p:nvPr>
            <p:ph type="body" idx="2"/>
          </p:nvPr>
        </p:nvSpPr>
        <p:spPr>
          <a:xfrm>
            <a:off x="4882900" y="448050"/>
            <a:ext cx="3950100" cy="41241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42900" rtl="0">
              <a:spcBef>
                <a:spcPts val="600"/>
              </a:spcBef>
              <a:spcAft>
                <a:spcPts val="0"/>
              </a:spcAft>
              <a:buSzPts val="1800"/>
              <a:buChar char="•"/>
              <a:defRPr/>
            </a:lvl1pPr>
            <a:lvl2pPr marL="914400" lvl="1" indent="-342900" rtl="0">
              <a:spcBef>
                <a:spcPts val="600"/>
              </a:spcBef>
              <a:spcAft>
                <a:spcPts val="0"/>
              </a:spcAft>
              <a:buSzPts val="1800"/>
              <a:buChar char="•"/>
              <a:defRPr/>
            </a:lvl2pPr>
            <a:lvl3pPr marL="1371600" lvl="2" indent="-342900" rtl="0">
              <a:spcBef>
                <a:spcPts val="600"/>
              </a:spcBef>
              <a:spcAft>
                <a:spcPts val="0"/>
              </a:spcAft>
              <a:buSzPts val="1800"/>
              <a:buChar char="•"/>
              <a:defRPr/>
            </a:lvl3pPr>
            <a:lvl4pPr marL="1828800" lvl="3" indent="-342900" rtl="0">
              <a:spcBef>
                <a:spcPts val="600"/>
              </a:spcBef>
              <a:spcAft>
                <a:spcPts val="0"/>
              </a:spcAft>
              <a:buSzPts val="1800"/>
              <a:buChar char="•"/>
              <a:defRPr/>
            </a:lvl4pPr>
            <a:lvl5pPr marL="2286000" lvl="4" indent="-342900" rtl="0">
              <a:spcBef>
                <a:spcPts val="600"/>
              </a:spcBef>
              <a:spcAft>
                <a:spcPts val="0"/>
              </a:spcAft>
              <a:buSzPts val="1800"/>
              <a:buChar char="•"/>
              <a:defRPr/>
            </a:lvl5pPr>
            <a:lvl6pPr marL="2743200" lvl="5" indent="-342900" rtl="0">
              <a:spcBef>
                <a:spcPts val="600"/>
              </a:spcBef>
              <a:spcAft>
                <a:spcPts val="0"/>
              </a:spcAft>
              <a:buSzPts val="1800"/>
              <a:buChar char="•"/>
              <a:defRPr/>
            </a:lvl6pPr>
            <a:lvl7pPr marL="3200400" lvl="6" indent="-342900" rtl="0">
              <a:spcBef>
                <a:spcPts val="600"/>
              </a:spcBef>
              <a:spcAft>
                <a:spcPts val="0"/>
              </a:spcAft>
              <a:buSzPts val="1800"/>
              <a:buChar char="•"/>
              <a:defRPr/>
            </a:lvl7pPr>
            <a:lvl8pPr marL="3657600" lvl="7" indent="-342900" rtl="0">
              <a:spcBef>
                <a:spcPts val="600"/>
              </a:spcBef>
              <a:spcAft>
                <a:spcPts val="0"/>
              </a:spcAft>
              <a:buSzPts val="1800"/>
              <a:buChar char="•"/>
              <a:defRPr/>
            </a:lvl8pPr>
            <a:lvl9pPr marL="4114800" lvl="8" indent="-342900" rtl="0">
              <a:spcBef>
                <a:spcPts val="600"/>
              </a:spcBef>
              <a:spcAft>
                <a:spcPts val="0"/>
              </a:spcAft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137" name="Google Shape;137;p23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39501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slideLayout" Target="../slideLayouts/slideLayout18.xml"/><Relationship Id="rId3" Type="http://schemas.openxmlformats.org/officeDocument/2006/relationships/slideLayout" Target="../slideLayouts/slideLayout3.xml"/><Relationship Id="rId21" Type="http://schemas.openxmlformats.org/officeDocument/2006/relationships/slideLayout" Target="../slideLayouts/slideLayout21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20" Type="http://schemas.openxmlformats.org/officeDocument/2006/relationships/slideLayout" Target="../slideLayouts/slideLayout20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19" Type="http://schemas.openxmlformats.org/officeDocument/2006/relationships/slideLayout" Target="../slideLayouts/slideLayout19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Relationship Id="rId2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simple-light-2">
    <p:bg>
      <p:bgPr>
        <a:solidFill>
          <a:schemeClr val="lt1"/>
        </a:solidFill>
        <a:effectLst/>
      </p:bgPr>
    </p:bg>
    <p:spTree>
      <p:nvGrpSpPr>
        <p:cNvPr id="1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>
            <a:spLocks noGrp="1"/>
          </p:cNvSpPr>
          <p:nvPr>
            <p:ph type="title"/>
          </p:nvPr>
        </p:nvSpPr>
        <p:spPr>
          <a:xfrm>
            <a:off x="0" y="0"/>
            <a:ext cx="91440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rgbClr val="0B5394"/>
              </a:buClr>
              <a:buSzPts val="1600"/>
              <a:buFont typeface="Roboto Medium"/>
              <a:buNone/>
              <a:defRPr sz="1600">
                <a:solidFill>
                  <a:srgbClr val="0B5394"/>
                </a:solidFill>
                <a:latin typeface="Roboto Medium"/>
                <a:ea typeface="Roboto Medium"/>
                <a:cs typeface="Roboto Medium"/>
                <a:sym typeface="Roboto Medium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rgbClr val="0B5394"/>
              </a:buClr>
              <a:buSzPts val="2800"/>
              <a:buFont typeface="Roboto Medium"/>
              <a:buNone/>
              <a:defRPr sz="2800">
                <a:solidFill>
                  <a:srgbClr val="0B5394"/>
                </a:solidFill>
                <a:latin typeface="Roboto Medium"/>
                <a:ea typeface="Roboto Medium"/>
                <a:cs typeface="Roboto Medium"/>
                <a:sym typeface="Roboto Medium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rgbClr val="0B5394"/>
              </a:buClr>
              <a:buSzPts val="2800"/>
              <a:buFont typeface="Roboto Medium"/>
              <a:buNone/>
              <a:defRPr sz="2800">
                <a:solidFill>
                  <a:srgbClr val="0B5394"/>
                </a:solidFill>
                <a:latin typeface="Roboto Medium"/>
                <a:ea typeface="Roboto Medium"/>
                <a:cs typeface="Roboto Medium"/>
                <a:sym typeface="Roboto Medium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rgbClr val="0B5394"/>
              </a:buClr>
              <a:buSzPts val="2800"/>
              <a:buFont typeface="Roboto Medium"/>
              <a:buNone/>
              <a:defRPr sz="2800">
                <a:solidFill>
                  <a:srgbClr val="0B5394"/>
                </a:solidFill>
                <a:latin typeface="Roboto Medium"/>
                <a:ea typeface="Roboto Medium"/>
                <a:cs typeface="Roboto Medium"/>
                <a:sym typeface="Roboto Medium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rgbClr val="0B5394"/>
              </a:buClr>
              <a:buSzPts val="2800"/>
              <a:buFont typeface="Roboto Medium"/>
              <a:buNone/>
              <a:defRPr sz="2800">
                <a:solidFill>
                  <a:srgbClr val="0B5394"/>
                </a:solidFill>
                <a:latin typeface="Roboto Medium"/>
                <a:ea typeface="Roboto Medium"/>
                <a:cs typeface="Roboto Medium"/>
                <a:sym typeface="Roboto Medium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rgbClr val="0B5394"/>
              </a:buClr>
              <a:buSzPts val="2800"/>
              <a:buFont typeface="Roboto Medium"/>
              <a:buNone/>
              <a:defRPr sz="2800">
                <a:solidFill>
                  <a:srgbClr val="0B5394"/>
                </a:solidFill>
                <a:latin typeface="Roboto Medium"/>
                <a:ea typeface="Roboto Medium"/>
                <a:cs typeface="Roboto Medium"/>
                <a:sym typeface="Roboto Medium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rgbClr val="0B5394"/>
              </a:buClr>
              <a:buSzPts val="2800"/>
              <a:buFont typeface="Roboto Medium"/>
              <a:buNone/>
              <a:defRPr sz="2800">
                <a:solidFill>
                  <a:srgbClr val="0B5394"/>
                </a:solidFill>
                <a:latin typeface="Roboto Medium"/>
                <a:ea typeface="Roboto Medium"/>
                <a:cs typeface="Roboto Medium"/>
                <a:sym typeface="Roboto Medium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rgbClr val="0B5394"/>
              </a:buClr>
              <a:buSzPts val="2800"/>
              <a:buFont typeface="Roboto Medium"/>
              <a:buNone/>
              <a:defRPr sz="2800">
                <a:solidFill>
                  <a:srgbClr val="0B5394"/>
                </a:solidFill>
                <a:latin typeface="Roboto Medium"/>
                <a:ea typeface="Roboto Medium"/>
                <a:cs typeface="Roboto Medium"/>
                <a:sym typeface="Roboto Medium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rgbClr val="0B5394"/>
              </a:buClr>
              <a:buSzPts val="2800"/>
              <a:buFont typeface="Roboto Medium"/>
              <a:buNone/>
              <a:defRPr sz="2800">
                <a:solidFill>
                  <a:srgbClr val="0B5394"/>
                </a:solidFill>
                <a:latin typeface="Roboto Medium"/>
                <a:ea typeface="Roboto Medium"/>
                <a:cs typeface="Roboto Medium"/>
                <a:sym typeface="Roboto Medium"/>
              </a:defRPr>
            </a:lvl9pPr>
          </a:lstStyle>
          <a:p>
            <a:endParaRPr/>
          </a:p>
        </p:txBody>
      </p:sp>
      <p:sp>
        <p:nvSpPr>
          <p:cNvPr id="7" name="Google Shape;7;p1"/>
          <p:cNvSpPr txBox="1">
            <a:spLocks noGrp="1"/>
          </p:cNvSpPr>
          <p:nvPr>
            <p:ph type="body" idx="1"/>
          </p:nvPr>
        </p:nvSpPr>
        <p:spPr>
          <a:xfrm>
            <a:off x="311700" y="572700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42900" rtl="0">
              <a:lnSpc>
                <a:spcPct val="115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Roboto"/>
              <a:buChar char="•"/>
              <a:defRPr sz="18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marL="914400" lvl="1" indent="-342900" rtl="0">
              <a:lnSpc>
                <a:spcPct val="115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Roboto"/>
              <a:buChar char="•"/>
              <a:defRPr sz="18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marL="1371600" lvl="2" indent="-342900" rtl="0">
              <a:lnSpc>
                <a:spcPct val="115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Roboto"/>
              <a:buChar char="•"/>
              <a:defRPr sz="18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marL="1828800" lvl="3" indent="-342900" rtl="0">
              <a:lnSpc>
                <a:spcPct val="115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Roboto"/>
              <a:buChar char="•"/>
              <a:defRPr sz="18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marL="2286000" lvl="4" indent="-342900" rtl="0">
              <a:lnSpc>
                <a:spcPct val="115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Roboto"/>
              <a:buChar char="•"/>
              <a:defRPr sz="18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marL="2743200" lvl="5" indent="-342900" rtl="0">
              <a:lnSpc>
                <a:spcPct val="115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Roboto"/>
              <a:buChar char="•"/>
              <a:defRPr sz="18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marL="3200400" lvl="6" indent="-342900" rtl="0">
              <a:lnSpc>
                <a:spcPct val="115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Roboto"/>
              <a:buChar char="•"/>
              <a:defRPr sz="18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marL="3657600" lvl="7" indent="-342900" rtl="0">
              <a:lnSpc>
                <a:spcPct val="115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Roboto"/>
              <a:buChar char="•"/>
              <a:defRPr sz="18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marL="4114800" lvl="8" indent="-342900" rtl="0">
              <a:lnSpc>
                <a:spcPct val="115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Roboto"/>
              <a:buChar char="•"/>
              <a:defRPr sz="18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endParaRPr/>
          </a:p>
        </p:txBody>
      </p:sp>
      <p:sp>
        <p:nvSpPr>
          <p:cNvPr id="8" name="Google Shape;8;p1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r" rtl="0">
              <a:buNone/>
              <a:defRPr sz="10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lvl="1" algn="r" rtl="0">
              <a:buNone/>
              <a:defRPr sz="10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lvl="2" algn="r" rtl="0">
              <a:buNone/>
              <a:defRPr sz="10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lvl="3" algn="r" rtl="0">
              <a:buNone/>
              <a:defRPr sz="10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lvl="4" algn="r" rtl="0">
              <a:buNone/>
              <a:defRPr sz="10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lvl="5" algn="r" rtl="0">
              <a:buNone/>
              <a:defRPr sz="10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lvl="6" algn="r" rtl="0">
              <a:buNone/>
              <a:defRPr sz="10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lvl="7" algn="r" rtl="0">
              <a:buNone/>
              <a:defRPr sz="10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lvl="8" algn="r" rtl="0">
              <a:buNone/>
              <a:defRPr sz="10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  <p:sldLayoutId id="2147483661" r:id="rId13"/>
    <p:sldLayoutId id="2147483662" r:id="rId14"/>
    <p:sldLayoutId id="2147483663" r:id="rId15"/>
    <p:sldLayoutId id="2147483664" r:id="rId16"/>
    <p:sldLayoutId id="2147483665" r:id="rId17"/>
    <p:sldLayoutId id="2147483666" r:id="rId18"/>
    <p:sldLayoutId id="2147483667" r:id="rId19"/>
    <p:sldLayoutId id="2147483668" r:id="rId20"/>
    <p:sldLayoutId id="2147483669" r:id="rId21"/>
  </p:sldLayoutIdLst>
  <p:hf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3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3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3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10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10.xml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6.xml"/><Relationship Id="rId1" Type="http://schemas.openxmlformats.org/officeDocument/2006/relationships/slideLayout" Target="../slideLayouts/slideLayout10.xml"/></Relationships>
</file>

<file path=ppt/slides/_rels/slide2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7.xml"/><Relationship Id="rId1" Type="http://schemas.openxmlformats.org/officeDocument/2006/relationships/slideLayout" Target="../slideLayouts/slideLayout10.xml"/></Relationships>
</file>

<file path=ppt/slides/_rels/slide2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8.xml"/><Relationship Id="rId1" Type="http://schemas.openxmlformats.org/officeDocument/2006/relationships/slideLayout" Target="../slideLayouts/slideLayout10.xml"/></Relationships>
</file>

<file path=ppt/slides/_rels/slide2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9.xml"/><Relationship Id="rId1" Type="http://schemas.openxmlformats.org/officeDocument/2006/relationships/slideLayout" Target="../slideLayouts/slideLayout10.xml"/></Relationships>
</file>

<file path=ppt/slides/_rels/slide3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0.xml"/><Relationship Id="rId1" Type="http://schemas.openxmlformats.org/officeDocument/2006/relationships/slideLayout" Target="../slideLayouts/slideLayout10.xml"/></Relationships>
</file>

<file path=ppt/slides/_rels/slide3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1.xml"/><Relationship Id="rId1" Type="http://schemas.openxmlformats.org/officeDocument/2006/relationships/slideLayout" Target="../slideLayouts/slideLayout10.xml"/></Relationships>
</file>

<file path=ppt/slides/_rels/slide3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2.xml"/><Relationship Id="rId1" Type="http://schemas.openxmlformats.org/officeDocument/2006/relationships/slideLayout" Target="../slideLayouts/slideLayout10.xml"/></Relationships>
</file>

<file path=ppt/slides/_rels/slide3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3.xml"/><Relationship Id="rId1" Type="http://schemas.openxmlformats.org/officeDocument/2006/relationships/slideLayout" Target="../slideLayouts/slideLayout10.xml"/></Relationships>
</file>

<file path=ppt/slides/_rels/slide3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4.xml"/><Relationship Id="rId1" Type="http://schemas.openxmlformats.org/officeDocument/2006/relationships/slideLayout" Target="../slideLayouts/slideLayout10.xml"/></Relationships>
</file>

<file path=ppt/slides/_rels/slide3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5.xml"/><Relationship Id="rId1" Type="http://schemas.openxmlformats.org/officeDocument/2006/relationships/slideLayout" Target="../slideLayouts/slideLayout3.xml"/></Relationships>
</file>

<file path=ppt/slides/_rels/slide3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6.xml"/><Relationship Id="rId1" Type="http://schemas.openxmlformats.org/officeDocument/2006/relationships/slideLayout" Target="../slideLayouts/slideLayout2.xml"/></Relationships>
</file>

<file path=ppt/slides/_rels/slide3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7.xml"/><Relationship Id="rId1" Type="http://schemas.openxmlformats.org/officeDocument/2006/relationships/slideLayout" Target="../slideLayouts/slideLayout2.xml"/></Relationships>
</file>

<file path=ppt/slides/_rels/slide3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8.xml"/><Relationship Id="rId1" Type="http://schemas.openxmlformats.org/officeDocument/2006/relationships/slideLayout" Target="../slideLayouts/slideLayout2.xml"/></Relationships>
</file>

<file path=ppt/slides/_rels/slide3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9.xml"/><Relationship Id="rId1" Type="http://schemas.openxmlformats.org/officeDocument/2006/relationships/slideLayout" Target="../slideLayouts/slideLayout2.xml"/></Relationships>
</file>

<file path=ppt/slides/_rels/slide4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0.xml"/><Relationship Id="rId1" Type="http://schemas.openxmlformats.org/officeDocument/2006/relationships/slideLayout" Target="../slideLayouts/slideLayout2.xml"/></Relationships>
</file>

<file path=ppt/slides/_rels/slide4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1.xml"/><Relationship Id="rId1" Type="http://schemas.openxmlformats.org/officeDocument/2006/relationships/slideLayout" Target="../slideLayouts/slideLayout3.xml"/></Relationships>
</file>

<file path=ppt/slides/_rels/slide4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2.xml"/><Relationship Id="rId1" Type="http://schemas.openxmlformats.org/officeDocument/2006/relationships/slideLayout" Target="../slideLayouts/slideLayout2.xml"/></Relationships>
</file>

<file path=ppt/slides/_rels/slide4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3.xml"/><Relationship Id="rId1" Type="http://schemas.openxmlformats.org/officeDocument/2006/relationships/slideLayout" Target="../slideLayouts/slideLayout2.xml"/></Relationships>
</file>

<file path=ppt/slides/_rels/slide4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4.xml"/><Relationship Id="rId1" Type="http://schemas.openxmlformats.org/officeDocument/2006/relationships/slideLayout" Target="../slideLayouts/slideLayout3.xml"/></Relationships>
</file>

<file path=ppt/slides/_rels/slide4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5.xml"/><Relationship Id="rId1" Type="http://schemas.openxmlformats.org/officeDocument/2006/relationships/slideLayout" Target="../slideLayouts/slideLayout2.xml"/></Relationships>
</file>

<file path=ppt/slides/_rels/slide4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6.xml"/><Relationship Id="rId1" Type="http://schemas.openxmlformats.org/officeDocument/2006/relationships/slideLayout" Target="../slideLayouts/slideLayout2.xml"/></Relationships>
</file>

<file path=ppt/slides/_rels/slide4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7.xml"/><Relationship Id="rId1" Type="http://schemas.openxmlformats.org/officeDocument/2006/relationships/slideLayout" Target="../slideLayouts/slideLayout2.xml"/></Relationships>
</file>

<file path=ppt/slides/_rels/slide4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8.xml"/><Relationship Id="rId1" Type="http://schemas.openxmlformats.org/officeDocument/2006/relationships/slideLayout" Target="../slideLayouts/slideLayout2.xml"/></Relationships>
</file>

<file path=ppt/slides/_rels/slide4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9.xml"/><Relationship Id="rId1" Type="http://schemas.openxmlformats.org/officeDocument/2006/relationships/slideLayout" Target="../slideLayouts/slideLayout2.xml"/></Relationships>
</file>

<file path=ppt/slides/_rels/slide5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0.xml"/><Relationship Id="rId1" Type="http://schemas.openxmlformats.org/officeDocument/2006/relationships/slideLayout" Target="../slideLayouts/slideLayout2.xml"/></Relationships>
</file>

<file path=ppt/slides/_rels/slide5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1.xml"/><Relationship Id="rId1" Type="http://schemas.openxmlformats.org/officeDocument/2006/relationships/slideLayout" Target="../slideLayouts/slideLayout3.xml"/></Relationships>
</file>

<file path=ppt/slides/_rels/slide5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2.xml"/><Relationship Id="rId1" Type="http://schemas.openxmlformats.org/officeDocument/2006/relationships/slideLayout" Target="../slideLayouts/slideLayout2.xml"/></Relationships>
</file>

<file path=ppt/slides/_rels/slide5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3.xml"/><Relationship Id="rId1" Type="http://schemas.openxmlformats.org/officeDocument/2006/relationships/slideLayout" Target="../slideLayouts/slideLayout2.xml"/></Relationships>
</file>

<file path=ppt/slides/_rels/slide5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4.xml"/><Relationship Id="rId1" Type="http://schemas.openxmlformats.org/officeDocument/2006/relationships/slideLayout" Target="../slideLayouts/slideLayout2.xml"/></Relationships>
</file>

<file path=ppt/slides/_rels/slide5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5.xml"/><Relationship Id="rId1" Type="http://schemas.openxmlformats.org/officeDocument/2006/relationships/slideLayout" Target="../slideLayouts/slideLayout2.xml"/></Relationships>
</file>

<file path=ppt/slides/_rels/slide5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6.xml"/><Relationship Id="rId1" Type="http://schemas.openxmlformats.org/officeDocument/2006/relationships/slideLayout" Target="../slideLayouts/slideLayout2.xml"/></Relationships>
</file>

<file path=ppt/slides/_rels/slide5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7.xml"/><Relationship Id="rId1" Type="http://schemas.openxmlformats.org/officeDocument/2006/relationships/slideLayout" Target="../slideLayouts/slideLayout2.xml"/></Relationships>
</file>

<file path=ppt/slides/_rels/slide5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8.xml"/><Relationship Id="rId1" Type="http://schemas.openxmlformats.org/officeDocument/2006/relationships/slideLayout" Target="../slideLayouts/slideLayout2.xml"/></Relationships>
</file>

<file path=ppt/slides/_rels/slide5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9.xml"/><Relationship Id="rId1" Type="http://schemas.openxmlformats.org/officeDocument/2006/relationships/slideLayout" Target="../slideLayouts/slideLayout2.xml"/></Relationships>
</file>

<file path=ppt/slides/_rels/slide6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0.xml"/><Relationship Id="rId1" Type="http://schemas.openxmlformats.org/officeDocument/2006/relationships/slideLayout" Target="../slideLayouts/slideLayout2.xml"/></Relationships>
</file>

<file path=ppt/slides/_rels/slide6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1.xml"/><Relationship Id="rId1" Type="http://schemas.openxmlformats.org/officeDocument/2006/relationships/slideLayout" Target="../slideLayouts/slideLayout2.xml"/></Relationships>
</file>

<file path=ppt/slides/_rels/slide6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2.xml"/><Relationship Id="rId1" Type="http://schemas.openxmlformats.org/officeDocument/2006/relationships/slideLayout" Target="../slideLayouts/slideLayout2.xml"/></Relationships>
</file>

<file path=ppt/slides/_rels/slide6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3.xml"/><Relationship Id="rId1" Type="http://schemas.openxmlformats.org/officeDocument/2006/relationships/slideLayout" Target="../slideLayouts/slideLayout2.xml"/></Relationships>
</file>

<file path=ppt/slides/_rels/slide6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4.xml"/><Relationship Id="rId1" Type="http://schemas.openxmlformats.org/officeDocument/2006/relationships/slideLayout" Target="../slideLayouts/slideLayout2.xml"/></Relationships>
</file>

<file path=ppt/slides/_rels/slide6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5.xml"/><Relationship Id="rId1" Type="http://schemas.openxmlformats.org/officeDocument/2006/relationships/slideLayout" Target="../slideLayouts/slideLayout3.xml"/></Relationships>
</file>

<file path=ppt/slides/_rels/slide6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6.xml"/><Relationship Id="rId1" Type="http://schemas.openxmlformats.org/officeDocument/2006/relationships/slideLayout" Target="../slideLayouts/slideLayout10.xml"/></Relationships>
</file>

<file path=ppt/slides/_rels/slide6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7.xml"/><Relationship Id="rId1" Type="http://schemas.openxmlformats.org/officeDocument/2006/relationships/slideLayout" Target="../slideLayouts/slideLayout10.xml"/></Relationships>
</file>

<file path=ppt/slides/_rels/slide6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8.xml"/><Relationship Id="rId1" Type="http://schemas.openxmlformats.org/officeDocument/2006/relationships/slideLayout" Target="../slideLayouts/slideLayout10.xml"/></Relationships>
</file>

<file path=ppt/slides/_rels/slide6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9.xml"/><Relationship Id="rId1" Type="http://schemas.openxmlformats.org/officeDocument/2006/relationships/slideLayout" Target="../slideLayouts/slideLayout10.xml"/></Relationships>
</file>

<file path=ppt/slides/_rels/slide7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0.xml"/><Relationship Id="rId1" Type="http://schemas.openxmlformats.org/officeDocument/2006/relationships/slideLayout" Target="../slideLayouts/slideLayout10.xml"/></Relationships>
</file>

<file path=ppt/slides/_rels/slide7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1.xml"/><Relationship Id="rId1" Type="http://schemas.openxmlformats.org/officeDocument/2006/relationships/slideLayout" Target="../slideLayouts/slideLayout2.xml"/></Relationships>
</file>

<file path=ppt/slides/_rels/slide7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2.xml"/><Relationship Id="rId1" Type="http://schemas.openxmlformats.org/officeDocument/2006/relationships/slideLayout" Target="../slideLayouts/slideLayout2.xml"/></Relationships>
</file>

<file path=ppt/slides/_rels/slide7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3.xml"/><Relationship Id="rId1" Type="http://schemas.openxmlformats.org/officeDocument/2006/relationships/slideLayout" Target="../slideLayouts/slideLayout2.xml"/></Relationships>
</file>

<file path=ppt/slides/_rels/slide7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4.xml"/><Relationship Id="rId1" Type="http://schemas.openxmlformats.org/officeDocument/2006/relationships/slideLayout" Target="../slideLayouts/slideLayout3.xml"/></Relationships>
</file>

<file path=ppt/slides/_rels/slide7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5.xml"/><Relationship Id="rId1" Type="http://schemas.openxmlformats.org/officeDocument/2006/relationships/slideLayout" Target="../slideLayouts/slideLayout2.xml"/></Relationships>
</file>

<file path=ppt/slides/_rels/slide7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6.xml"/><Relationship Id="rId1" Type="http://schemas.openxmlformats.org/officeDocument/2006/relationships/slideLayout" Target="../slideLayouts/slideLayout10.xml"/></Relationships>
</file>

<file path=ppt/slides/_rels/slide7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7.xml"/><Relationship Id="rId1" Type="http://schemas.openxmlformats.org/officeDocument/2006/relationships/slideLayout" Target="../slideLayouts/slideLayout10.xml"/></Relationships>
</file>

<file path=ppt/slides/_rels/slide7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8.xml"/><Relationship Id="rId1" Type="http://schemas.openxmlformats.org/officeDocument/2006/relationships/slideLayout" Target="../slideLayouts/slideLayout10.xml"/></Relationships>
</file>

<file path=ppt/slides/_rels/slide7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9.xml"/><Relationship Id="rId1" Type="http://schemas.openxmlformats.org/officeDocument/2006/relationships/slideLayout" Target="../slideLayouts/slideLayout2.xml"/></Relationships>
</file>

<file path=ppt/slides/_rels/slide8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0.xml"/><Relationship Id="rId1" Type="http://schemas.openxmlformats.org/officeDocument/2006/relationships/slideLayout" Target="../slideLayouts/slideLayout2.xml"/></Relationships>
</file>

<file path=ppt/slides/_rels/slide8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1.xml"/><Relationship Id="rId1" Type="http://schemas.openxmlformats.org/officeDocument/2006/relationships/slideLayout" Target="../slideLayouts/slideLayout2.xml"/></Relationships>
</file>

<file path=ppt/slides/_rels/slide8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2.xml"/><Relationship Id="rId1" Type="http://schemas.openxmlformats.org/officeDocument/2006/relationships/slideLayout" Target="../slideLayouts/slideLayout2.xml"/></Relationships>
</file>

<file path=ppt/slides/_rels/slide8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3.xml"/><Relationship Id="rId1" Type="http://schemas.openxmlformats.org/officeDocument/2006/relationships/slideLayout" Target="../slideLayouts/slideLayout3.xml"/></Relationships>
</file>

<file path=ppt/slides/_rels/slide8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4.xml"/><Relationship Id="rId1" Type="http://schemas.openxmlformats.org/officeDocument/2006/relationships/slideLayout" Target="../slideLayouts/slideLayout2.xml"/></Relationships>
</file>

<file path=ppt/slides/_rels/slide8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5.xml"/><Relationship Id="rId1" Type="http://schemas.openxmlformats.org/officeDocument/2006/relationships/slideLayout" Target="../slideLayouts/slideLayout2.xml"/></Relationships>
</file>

<file path=ppt/slides/_rels/slide8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6.xml"/><Relationship Id="rId1" Type="http://schemas.openxmlformats.org/officeDocument/2006/relationships/slideLayout" Target="../slideLayouts/slideLayout2.xml"/></Relationships>
</file>

<file path=ppt/slides/_rels/slide8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7.xml"/><Relationship Id="rId1" Type="http://schemas.openxmlformats.org/officeDocument/2006/relationships/slideLayout" Target="../slideLayouts/slideLayout2.xml"/></Relationships>
</file>

<file path=ppt/slides/_rels/slide8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8.xml"/><Relationship Id="rId1" Type="http://schemas.openxmlformats.org/officeDocument/2006/relationships/slideLayout" Target="../slideLayouts/slideLayout2.xml"/></Relationships>
</file>

<file path=ppt/slides/_rels/slide9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9.xml"/><Relationship Id="rId1" Type="http://schemas.openxmlformats.org/officeDocument/2006/relationships/slideLayout" Target="../slideLayouts/slideLayout2.xml"/></Relationships>
</file>

<file path=ppt/slides/_rels/slide9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0.xml"/><Relationship Id="rId1" Type="http://schemas.openxmlformats.org/officeDocument/2006/relationships/slideLayout" Target="../slideLayouts/slideLayout2.xml"/></Relationships>
</file>

<file path=ppt/slides/_rels/slide9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1.xml"/><Relationship Id="rId1" Type="http://schemas.openxmlformats.org/officeDocument/2006/relationships/slideLayout" Target="../slideLayouts/slideLayout2.xml"/></Relationships>
</file>

<file path=ppt/slides/_rels/slide9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2.xml"/><Relationship Id="rId1" Type="http://schemas.openxmlformats.org/officeDocument/2006/relationships/slideLayout" Target="../slideLayouts/slideLayout2.xml"/></Relationships>
</file>

<file path=ppt/slides/_rels/slide9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3.xml"/><Relationship Id="rId1" Type="http://schemas.openxmlformats.org/officeDocument/2006/relationships/slideLayout" Target="../slideLayouts/slideLayout2.xml"/></Relationships>
</file>

<file path=ppt/slides/_rels/slide9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4.xml"/><Relationship Id="rId1" Type="http://schemas.openxmlformats.org/officeDocument/2006/relationships/slideLayout" Target="../slideLayouts/slideLayout2.xml"/></Relationships>
</file>

<file path=ppt/slides/_rels/slide9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5.xml"/><Relationship Id="rId1" Type="http://schemas.openxmlformats.org/officeDocument/2006/relationships/slideLayout" Target="../slideLayouts/slideLayout2.xml"/></Relationships>
</file>

<file path=ppt/slides/_rels/slide9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6.xml"/><Relationship Id="rId1" Type="http://schemas.openxmlformats.org/officeDocument/2006/relationships/slideLayout" Target="../slideLayouts/slideLayout2.xml"/></Relationships>
</file>

<file path=ppt/slides/_rels/slide9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7.xml"/><Relationship Id="rId1" Type="http://schemas.openxmlformats.org/officeDocument/2006/relationships/slideLayout" Target="../slideLayouts/slideLayout2.xml"/></Relationships>
</file>

<file path=ppt/slides/_rels/slide9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8.xml"/><Relationship Id="rId1" Type="http://schemas.openxmlformats.org/officeDocument/2006/relationships/slideLayout" Target="../slideLayouts/slideLayout2.xml"/></Relationships>
</file>

<file path=ppt/slides/_rels/slide10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9.xml"/><Relationship Id="rId1" Type="http://schemas.openxmlformats.org/officeDocument/2006/relationships/slideLayout" Target="../slideLayouts/slideLayout2.xml"/></Relationships>
</file>

<file path=ppt/slides/_rels/slide10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0.xml"/><Relationship Id="rId1" Type="http://schemas.openxmlformats.org/officeDocument/2006/relationships/slideLayout" Target="../slideLayouts/slideLayout2.xml"/></Relationships>
</file>

<file path=ppt/slides/_rels/slide10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1.xml"/><Relationship Id="rId1" Type="http://schemas.openxmlformats.org/officeDocument/2006/relationships/slideLayout" Target="../slideLayouts/slideLayout2.xml"/></Relationships>
</file>

<file path=ppt/slides/_rels/slide10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2.xml"/><Relationship Id="rId1" Type="http://schemas.openxmlformats.org/officeDocument/2006/relationships/slideLayout" Target="../slideLayouts/slideLayout2.xml"/></Relationships>
</file>

<file path=ppt/slides/_rels/slide10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3.xml"/><Relationship Id="rId1" Type="http://schemas.openxmlformats.org/officeDocument/2006/relationships/slideLayout" Target="../slideLayouts/slideLayout2.xml"/></Relationships>
</file>

<file path=ppt/slides/_rels/slide10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4.xml"/><Relationship Id="rId1" Type="http://schemas.openxmlformats.org/officeDocument/2006/relationships/slideLayout" Target="../slideLayouts/slideLayout2.xml"/></Relationships>
</file>

<file path=ppt/slides/_rels/slide10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5.xml"/><Relationship Id="rId1" Type="http://schemas.openxmlformats.org/officeDocument/2006/relationships/slideLayout" Target="../slideLayouts/slideLayout2.xml"/></Relationships>
</file>

<file path=ppt/slides/_rels/slide10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6.xml"/><Relationship Id="rId1" Type="http://schemas.openxmlformats.org/officeDocument/2006/relationships/slideLayout" Target="../slideLayouts/slideLayout2.xml"/></Relationships>
</file>

<file path=ppt/slides/_rels/slide10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7.xml"/><Relationship Id="rId1" Type="http://schemas.openxmlformats.org/officeDocument/2006/relationships/slideLayout" Target="../slideLayouts/slideLayout2.xml"/></Relationships>
</file>

<file path=ppt/slides/_rels/slide10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8.xml"/><Relationship Id="rId1" Type="http://schemas.openxmlformats.org/officeDocument/2006/relationships/slideLayout" Target="../slideLayouts/slideLayout3.xml"/></Relationships>
</file>

<file path=ppt/slides/_rels/slide1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9.xml"/><Relationship Id="rId1" Type="http://schemas.openxmlformats.org/officeDocument/2006/relationships/slideLayout" Target="../slideLayouts/slideLayout2.xml"/></Relationships>
</file>

<file path=ppt/slides/_rels/slide1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0.xml"/><Relationship Id="rId1" Type="http://schemas.openxmlformats.org/officeDocument/2006/relationships/slideLayout" Target="../slideLayouts/slideLayout2.xml"/></Relationships>
</file>

<file path=ppt/slides/_rels/slide1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1.xml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9" name="Google Shape;159;p25"/>
          <p:cNvSpPr txBox="1">
            <a:spLocks noGrp="1"/>
          </p:cNvSpPr>
          <p:nvPr>
            <p:ph type="body" idx="1"/>
          </p:nvPr>
        </p:nvSpPr>
        <p:spPr>
          <a:xfrm>
            <a:off x="4812375" y="402200"/>
            <a:ext cx="4038000" cy="42609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" b="1">
                <a:solidFill>
                  <a:schemeClr val="accent3"/>
                </a:solidFill>
                <a:latin typeface="Roboto"/>
                <a:ea typeface="Roboto"/>
                <a:cs typeface="Roboto"/>
                <a:sym typeface="Roboto"/>
              </a:rPr>
              <a:t>Distance-Vector Correctness</a:t>
            </a:r>
            <a:endParaRPr b="1">
              <a:solidFill>
                <a:schemeClr val="accent3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457200" lvl="0" indent="-342900" algn="l" rtl="0">
              <a:spcBef>
                <a:spcPts val="600"/>
              </a:spcBef>
              <a:spcAft>
                <a:spcPts val="0"/>
              </a:spcAft>
              <a:buClr>
                <a:schemeClr val="accent3"/>
              </a:buClr>
              <a:buSzPts val="1800"/>
              <a:buFont typeface="Roboto"/>
              <a:buChar char="•"/>
            </a:pPr>
            <a:r>
              <a:rPr lang="en" b="1">
                <a:solidFill>
                  <a:schemeClr val="accent3"/>
                </a:solidFill>
                <a:latin typeface="Roboto"/>
                <a:ea typeface="Roboto"/>
                <a:cs typeface="Roboto"/>
                <a:sym typeface="Roboto"/>
              </a:rPr>
              <a:t>Algorithm Sketch</a:t>
            </a:r>
            <a:endParaRPr b="1">
              <a:solidFill>
                <a:schemeClr val="accent3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Clr>
                <a:srgbClr val="B7B7B7"/>
              </a:buClr>
              <a:buSzPts val="1800"/>
              <a:buChar char="•"/>
            </a:pPr>
            <a:r>
              <a:rPr lang="en">
                <a:solidFill>
                  <a:srgbClr val="B7B7B7"/>
                </a:solidFill>
              </a:rPr>
              <a:t>Rule 1: Bellman-Ford Updates</a:t>
            </a:r>
            <a:endParaRPr>
              <a:solidFill>
                <a:srgbClr val="B7B7B7"/>
              </a:solidFill>
            </a:endParaRPr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Clr>
                <a:srgbClr val="B7B7B7"/>
              </a:buClr>
              <a:buSzPts val="1800"/>
              <a:buChar char="•"/>
            </a:pPr>
            <a:r>
              <a:rPr lang="en">
                <a:solidFill>
                  <a:srgbClr val="B7B7B7"/>
                </a:solidFill>
              </a:rPr>
              <a:t>Bellman-Ford Demo</a:t>
            </a:r>
            <a:endParaRPr>
              <a:solidFill>
                <a:srgbClr val="B7B7B7"/>
              </a:solidFill>
            </a:endParaRPr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Clr>
                <a:srgbClr val="B7B7B7"/>
              </a:buClr>
              <a:buSzPts val="1800"/>
              <a:buChar char="•"/>
            </a:pPr>
            <a:r>
              <a:rPr lang="en">
                <a:solidFill>
                  <a:srgbClr val="B7B7B7"/>
                </a:solidFill>
              </a:rPr>
              <a:t>Rule 2: Updates From Next-Hop</a:t>
            </a:r>
            <a:endParaRPr>
              <a:solidFill>
                <a:srgbClr val="B7B7B7"/>
              </a:solidFill>
            </a:endParaRPr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Clr>
                <a:srgbClr val="B7B7B7"/>
              </a:buClr>
              <a:buSzPts val="1800"/>
              <a:buChar char="•"/>
            </a:pPr>
            <a:r>
              <a:rPr lang="en">
                <a:solidFill>
                  <a:srgbClr val="B7B7B7"/>
                </a:solidFill>
              </a:rPr>
              <a:t>Rule 3: Resending</a:t>
            </a:r>
            <a:endParaRPr>
              <a:solidFill>
                <a:srgbClr val="B7B7B7"/>
              </a:solidFill>
            </a:endParaRPr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Clr>
                <a:srgbClr val="B7B7B7"/>
              </a:buClr>
              <a:buSzPts val="1800"/>
              <a:buChar char="•"/>
            </a:pPr>
            <a:r>
              <a:rPr lang="en">
                <a:solidFill>
                  <a:srgbClr val="B7B7B7"/>
                </a:solidFill>
              </a:rPr>
              <a:t>Rule 4: Expiring</a:t>
            </a:r>
            <a:endParaRPr>
              <a:solidFill>
                <a:srgbClr val="B7B7B7"/>
              </a:solidFill>
            </a:endParaRPr>
          </a:p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">
                <a:solidFill>
                  <a:srgbClr val="B7B7B7"/>
                </a:solidFill>
              </a:rPr>
              <a:t>Distance-Vector Enhancements</a:t>
            </a:r>
            <a:endParaRPr>
              <a:solidFill>
                <a:srgbClr val="B7B7B7"/>
              </a:solidFill>
            </a:endParaRPr>
          </a:p>
          <a:p>
            <a:pPr marL="457200" lvl="0" indent="-342900" algn="l" rtl="0">
              <a:spcBef>
                <a:spcPts val="600"/>
              </a:spcBef>
              <a:spcAft>
                <a:spcPts val="0"/>
              </a:spcAft>
              <a:buClr>
                <a:srgbClr val="B7B7B7"/>
              </a:buClr>
              <a:buSzPts val="1800"/>
              <a:buChar char="•"/>
            </a:pPr>
            <a:r>
              <a:rPr lang="en">
                <a:solidFill>
                  <a:srgbClr val="B7B7B7"/>
                </a:solidFill>
              </a:rPr>
              <a:t>Rule 5: Poison Expired Routes</a:t>
            </a:r>
            <a:endParaRPr>
              <a:solidFill>
                <a:srgbClr val="B7B7B7"/>
              </a:solidFill>
            </a:endParaRPr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Clr>
                <a:srgbClr val="B7B7B7"/>
              </a:buClr>
              <a:buSzPts val="1800"/>
              <a:buChar char="•"/>
            </a:pPr>
            <a:r>
              <a:rPr lang="en">
                <a:solidFill>
                  <a:srgbClr val="B7B7B7"/>
                </a:solidFill>
              </a:rPr>
              <a:t>Rule 6A: Split Horizon</a:t>
            </a:r>
            <a:endParaRPr>
              <a:solidFill>
                <a:srgbClr val="B7B7B7"/>
              </a:solidFill>
            </a:endParaRPr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Clr>
                <a:srgbClr val="B7B7B7"/>
              </a:buClr>
              <a:buSzPts val="1800"/>
              <a:buChar char="•"/>
            </a:pPr>
            <a:r>
              <a:rPr lang="en">
                <a:solidFill>
                  <a:srgbClr val="B7B7B7"/>
                </a:solidFill>
              </a:rPr>
              <a:t>Rule 6B: Poison Reverse</a:t>
            </a:r>
            <a:endParaRPr>
              <a:solidFill>
                <a:srgbClr val="B7B7B7"/>
              </a:solidFill>
            </a:endParaRPr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Clr>
                <a:srgbClr val="B7B7B7"/>
              </a:buClr>
              <a:buSzPts val="1800"/>
              <a:buChar char="•"/>
            </a:pPr>
            <a:r>
              <a:rPr lang="en">
                <a:solidFill>
                  <a:srgbClr val="B7B7B7"/>
                </a:solidFill>
              </a:rPr>
              <a:t>Rule 7: Count To Infinity</a:t>
            </a:r>
            <a:endParaRPr>
              <a:solidFill>
                <a:srgbClr val="B7B7B7"/>
              </a:solidFill>
            </a:endParaRPr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Clr>
                <a:srgbClr val="B7B7B7"/>
              </a:buClr>
              <a:buSzPts val="1800"/>
              <a:buChar char="•"/>
            </a:pPr>
            <a:r>
              <a:rPr lang="en">
                <a:solidFill>
                  <a:srgbClr val="B7B7B7"/>
                </a:solidFill>
              </a:rPr>
              <a:t>Eventful Updates</a:t>
            </a:r>
            <a:endParaRPr>
              <a:solidFill>
                <a:srgbClr val="B7B7B7"/>
              </a:solidFill>
            </a:endParaRPr>
          </a:p>
        </p:txBody>
      </p:sp>
      <p:sp>
        <p:nvSpPr>
          <p:cNvPr id="160" name="Google Shape;160;p25"/>
          <p:cNvSpPr txBox="1">
            <a:spLocks noGrp="1"/>
          </p:cNvSpPr>
          <p:nvPr>
            <p:ph type="title"/>
          </p:nvPr>
        </p:nvSpPr>
        <p:spPr>
          <a:xfrm>
            <a:off x="177925" y="2003300"/>
            <a:ext cx="4038000" cy="20379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Distance-Vector Algorithm</a:t>
            </a:r>
            <a:endParaRPr dirty="0"/>
          </a:p>
        </p:txBody>
      </p:sp>
      <p:sp>
        <p:nvSpPr>
          <p:cNvPr id="161" name="Google Shape;161;p25"/>
          <p:cNvSpPr txBox="1">
            <a:spLocks noGrp="1"/>
          </p:cNvSpPr>
          <p:nvPr>
            <p:ph type="subTitle" idx="2"/>
          </p:nvPr>
        </p:nvSpPr>
        <p:spPr>
          <a:xfrm>
            <a:off x="177925" y="4068000"/>
            <a:ext cx="41580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" dirty="0"/>
              <a:t>Lecture 5.2, Spring 2026</a:t>
            </a:r>
            <a:endParaRPr dirty="0"/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B6241645-895C-0046-F6C5-E295740C0BBF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 smtClean="0"/>
              <a:t>1</a:t>
            </a:fld>
            <a:endParaRPr lang="en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6" name="Google Shape;166;p26"/>
          <p:cNvSpPr txBox="1">
            <a:spLocks noGrp="1"/>
          </p:cNvSpPr>
          <p:nvPr>
            <p:ph type="title"/>
          </p:nvPr>
        </p:nvSpPr>
        <p:spPr>
          <a:xfrm>
            <a:off x="0" y="0"/>
            <a:ext cx="9144000" cy="39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Distance-Vector Algorithm Sketch</a:t>
            </a:r>
            <a:endParaRPr/>
          </a:p>
        </p:txBody>
      </p:sp>
      <p:sp>
        <p:nvSpPr>
          <p:cNvPr id="167" name="Google Shape;167;p26"/>
          <p:cNvSpPr txBox="1">
            <a:spLocks noGrp="1"/>
          </p:cNvSpPr>
          <p:nvPr>
            <p:ph type="body" idx="1"/>
          </p:nvPr>
        </p:nvSpPr>
        <p:spPr>
          <a:xfrm>
            <a:off x="107050" y="402200"/>
            <a:ext cx="8909700" cy="6333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"/>
              <a:t>One-line algorithm: If you hear about a path to a destination, tell all your neighbors.</a:t>
            </a:r>
            <a:endParaRPr/>
          </a:p>
        </p:txBody>
      </p:sp>
      <p:cxnSp>
        <p:nvCxnSpPr>
          <p:cNvPr id="168" name="Google Shape;168;p26"/>
          <p:cNvCxnSpPr>
            <a:stCxn id="169" idx="3"/>
            <a:endCxn id="170" idx="1"/>
          </p:cNvCxnSpPr>
          <p:nvPr/>
        </p:nvCxnSpPr>
        <p:spPr>
          <a:xfrm rot="10800000" flipH="1">
            <a:off x="2951800" y="2720825"/>
            <a:ext cx="1239000" cy="781200"/>
          </a:xfrm>
          <a:prstGeom prst="straightConnector1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170" name="Google Shape;170;p26"/>
          <p:cNvSpPr/>
          <p:nvPr/>
        </p:nvSpPr>
        <p:spPr>
          <a:xfrm>
            <a:off x="4190800" y="2578475"/>
            <a:ext cx="285000" cy="285000"/>
          </a:xfrm>
          <a:prstGeom prst="rect">
            <a:avLst/>
          </a:prstGeom>
          <a:solidFill>
            <a:srgbClr val="FFFFFF"/>
          </a:solidFill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R2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71" name="Google Shape;171;p26"/>
          <p:cNvSpPr/>
          <p:nvPr/>
        </p:nvSpPr>
        <p:spPr>
          <a:xfrm>
            <a:off x="1371388" y="3359525"/>
            <a:ext cx="285000" cy="285000"/>
          </a:xfrm>
          <a:prstGeom prst="ellipse">
            <a:avLst/>
          </a:prstGeom>
          <a:solidFill>
            <a:srgbClr val="FFFFFF"/>
          </a:solidFill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A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72" name="Google Shape;172;p26"/>
          <p:cNvSpPr/>
          <p:nvPr/>
        </p:nvSpPr>
        <p:spPr>
          <a:xfrm>
            <a:off x="4190800" y="4140575"/>
            <a:ext cx="285000" cy="285000"/>
          </a:xfrm>
          <a:prstGeom prst="rect">
            <a:avLst/>
          </a:prstGeom>
          <a:solidFill>
            <a:srgbClr val="FFFFFF"/>
          </a:solidFill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R3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173" name="Google Shape;173;p26"/>
          <p:cNvCxnSpPr>
            <a:stCxn id="169" idx="3"/>
            <a:endCxn id="172" idx="1"/>
          </p:cNvCxnSpPr>
          <p:nvPr/>
        </p:nvCxnSpPr>
        <p:spPr>
          <a:xfrm>
            <a:off x="2951800" y="3502025"/>
            <a:ext cx="1239000" cy="781200"/>
          </a:xfrm>
          <a:prstGeom prst="straightConnector1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169" name="Google Shape;169;p26"/>
          <p:cNvSpPr/>
          <p:nvPr/>
        </p:nvSpPr>
        <p:spPr>
          <a:xfrm>
            <a:off x="2666800" y="3359525"/>
            <a:ext cx="285000" cy="285000"/>
          </a:xfrm>
          <a:prstGeom prst="rect">
            <a:avLst/>
          </a:prstGeom>
          <a:solidFill>
            <a:srgbClr val="FFFFFF"/>
          </a:solidFill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R1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174" name="Google Shape;174;p26"/>
          <p:cNvCxnSpPr>
            <a:stCxn id="171" idx="6"/>
            <a:endCxn id="169" idx="1"/>
          </p:cNvCxnSpPr>
          <p:nvPr/>
        </p:nvCxnSpPr>
        <p:spPr>
          <a:xfrm>
            <a:off x="1656388" y="3502025"/>
            <a:ext cx="1010400" cy="0"/>
          </a:xfrm>
          <a:prstGeom prst="straightConnector1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175" name="Google Shape;175;p26"/>
          <p:cNvSpPr/>
          <p:nvPr/>
        </p:nvSpPr>
        <p:spPr>
          <a:xfrm>
            <a:off x="5714800" y="2959475"/>
            <a:ext cx="285000" cy="285000"/>
          </a:xfrm>
          <a:prstGeom prst="rect">
            <a:avLst/>
          </a:prstGeom>
          <a:solidFill>
            <a:srgbClr val="FFFFFF"/>
          </a:solidFill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R5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76" name="Google Shape;176;p26"/>
          <p:cNvSpPr/>
          <p:nvPr/>
        </p:nvSpPr>
        <p:spPr>
          <a:xfrm>
            <a:off x="5714800" y="2197475"/>
            <a:ext cx="285000" cy="285000"/>
          </a:xfrm>
          <a:prstGeom prst="rect">
            <a:avLst/>
          </a:prstGeom>
          <a:solidFill>
            <a:srgbClr val="FFFFFF"/>
          </a:solidFill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R4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77" name="Google Shape;177;p26"/>
          <p:cNvSpPr/>
          <p:nvPr/>
        </p:nvSpPr>
        <p:spPr>
          <a:xfrm>
            <a:off x="5714800" y="3759575"/>
            <a:ext cx="285000" cy="285000"/>
          </a:xfrm>
          <a:prstGeom prst="rect">
            <a:avLst/>
          </a:prstGeom>
          <a:solidFill>
            <a:srgbClr val="FFFFFF"/>
          </a:solidFill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R6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78" name="Google Shape;178;p26"/>
          <p:cNvSpPr/>
          <p:nvPr/>
        </p:nvSpPr>
        <p:spPr>
          <a:xfrm>
            <a:off x="5714800" y="4521575"/>
            <a:ext cx="285000" cy="285000"/>
          </a:xfrm>
          <a:prstGeom prst="rect">
            <a:avLst/>
          </a:prstGeom>
          <a:solidFill>
            <a:srgbClr val="FFFFFF"/>
          </a:solidFill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R7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179" name="Google Shape;179;p26"/>
          <p:cNvCxnSpPr>
            <a:stCxn id="170" idx="3"/>
            <a:endCxn id="176" idx="1"/>
          </p:cNvCxnSpPr>
          <p:nvPr/>
        </p:nvCxnSpPr>
        <p:spPr>
          <a:xfrm rot="10800000" flipH="1">
            <a:off x="4475800" y="2339975"/>
            <a:ext cx="1239000" cy="381000"/>
          </a:xfrm>
          <a:prstGeom prst="straightConnector1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180" name="Google Shape;180;p26"/>
          <p:cNvCxnSpPr>
            <a:stCxn id="170" idx="3"/>
            <a:endCxn id="175" idx="1"/>
          </p:cNvCxnSpPr>
          <p:nvPr/>
        </p:nvCxnSpPr>
        <p:spPr>
          <a:xfrm>
            <a:off x="4475800" y="2720975"/>
            <a:ext cx="1239000" cy="381000"/>
          </a:xfrm>
          <a:prstGeom prst="straightConnector1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181" name="Google Shape;181;p26"/>
          <p:cNvCxnSpPr>
            <a:stCxn id="172" idx="3"/>
            <a:endCxn id="177" idx="1"/>
          </p:cNvCxnSpPr>
          <p:nvPr/>
        </p:nvCxnSpPr>
        <p:spPr>
          <a:xfrm rot="10800000" flipH="1">
            <a:off x="4475800" y="3902075"/>
            <a:ext cx="1239000" cy="381000"/>
          </a:xfrm>
          <a:prstGeom prst="straightConnector1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182" name="Google Shape;182;p26"/>
          <p:cNvCxnSpPr>
            <a:stCxn id="172" idx="3"/>
            <a:endCxn id="178" idx="1"/>
          </p:cNvCxnSpPr>
          <p:nvPr/>
        </p:nvCxnSpPr>
        <p:spPr>
          <a:xfrm>
            <a:off x="4475800" y="4283075"/>
            <a:ext cx="1239000" cy="381000"/>
          </a:xfrm>
          <a:prstGeom prst="straightConnector1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183" name="Google Shape;183;p26"/>
          <p:cNvSpPr/>
          <p:nvPr/>
        </p:nvSpPr>
        <p:spPr>
          <a:xfrm>
            <a:off x="7238800" y="2016500"/>
            <a:ext cx="285000" cy="285000"/>
          </a:xfrm>
          <a:prstGeom prst="rect">
            <a:avLst/>
          </a:prstGeom>
          <a:solidFill>
            <a:srgbClr val="FFFFFF"/>
          </a:solidFill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R8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84" name="Google Shape;184;p26"/>
          <p:cNvSpPr/>
          <p:nvPr/>
        </p:nvSpPr>
        <p:spPr>
          <a:xfrm>
            <a:off x="7238800" y="2378450"/>
            <a:ext cx="285000" cy="285000"/>
          </a:xfrm>
          <a:prstGeom prst="rect">
            <a:avLst/>
          </a:prstGeom>
          <a:solidFill>
            <a:srgbClr val="FFFFFF"/>
          </a:solidFill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R9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85" name="Google Shape;185;p26"/>
          <p:cNvSpPr/>
          <p:nvPr/>
        </p:nvSpPr>
        <p:spPr>
          <a:xfrm>
            <a:off x="7238800" y="2778500"/>
            <a:ext cx="285000" cy="285000"/>
          </a:xfrm>
          <a:prstGeom prst="rect">
            <a:avLst/>
          </a:prstGeom>
          <a:solidFill>
            <a:srgbClr val="FFFFFF"/>
          </a:solidFill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>
                <a:latin typeface="Roboto"/>
                <a:ea typeface="Roboto"/>
                <a:cs typeface="Roboto"/>
                <a:sym typeface="Roboto"/>
              </a:rPr>
              <a:t>R10</a:t>
            </a:r>
            <a:endParaRPr sz="12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86" name="Google Shape;186;p26"/>
          <p:cNvSpPr/>
          <p:nvPr/>
        </p:nvSpPr>
        <p:spPr>
          <a:xfrm>
            <a:off x="7238800" y="3140450"/>
            <a:ext cx="285000" cy="285000"/>
          </a:xfrm>
          <a:prstGeom prst="rect">
            <a:avLst/>
          </a:prstGeom>
          <a:solidFill>
            <a:srgbClr val="FFFFFF"/>
          </a:solidFill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>
                <a:latin typeface="Roboto"/>
                <a:ea typeface="Roboto"/>
                <a:cs typeface="Roboto"/>
                <a:sym typeface="Roboto"/>
              </a:rPr>
              <a:t>R11</a:t>
            </a:r>
            <a:endParaRPr sz="12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87" name="Google Shape;187;p26"/>
          <p:cNvSpPr/>
          <p:nvPr/>
        </p:nvSpPr>
        <p:spPr>
          <a:xfrm>
            <a:off x="7238800" y="3578600"/>
            <a:ext cx="285000" cy="285000"/>
          </a:xfrm>
          <a:prstGeom prst="rect">
            <a:avLst/>
          </a:prstGeom>
          <a:solidFill>
            <a:srgbClr val="FFFFFF"/>
          </a:solidFill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>
                <a:latin typeface="Roboto"/>
                <a:ea typeface="Roboto"/>
                <a:cs typeface="Roboto"/>
                <a:sym typeface="Roboto"/>
              </a:rPr>
              <a:t>R12</a:t>
            </a:r>
            <a:endParaRPr sz="12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88" name="Google Shape;188;p26"/>
          <p:cNvSpPr/>
          <p:nvPr/>
        </p:nvSpPr>
        <p:spPr>
          <a:xfrm>
            <a:off x="7238800" y="3940550"/>
            <a:ext cx="285000" cy="285000"/>
          </a:xfrm>
          <a:prstGeom prst="rect">
            <a:avLst/>
          </a:prstGeom>
          <a:solidFill>
            <a:srgbClr val="FFFFFF"/>
          </a:solidFill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>
                <a:latin typeface="Roboto"/>
                <a:ea typeface="Roboto"/>
                <a:cs typeface="Roboto"/>
                <a:sym typeface="Roboto"/>
              </a:rPr>
              <a:t>R13</a:t>
            </a:r>
            <a:endParaRPr sz="12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89" name="Google Shape;189;p26"/>
          <p:cNvSpPr/>
          <p:nvPr/>
        </p:nvSpPr>
        <p:spPr>
          <a:xfrm>
            <a:off x="7238800" y="4340600"/>
            <a:ext cx="285000" cy="285000"/>
          </a:xfrm>
          <a:prstGeom prst="rect">
            <a:avLst/>
          </a:prstGeom>
          <a:solidFill>
            <a:srgbClr val="FFFFFF"/>
          </a:solidFill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>
                <a:latin typeface="Roboto"/>
                <a:ea typeface="Roboto"/>
                <a:cs typeface="Roboto"/>
                <a:sym typeface="Roboto"/>
              </a:rPr>
              <a:t>R14</a:t>
            </a:r>
            <a:endParaRPr sz="12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90" name="Google Shape;190;p26"/>
          <p:cNvSpPr/>
          <p:nvPr/>
        </p:nvSpPr>
        <p:spPr>
          <a:xfrm>
            <a:off x="7238800" y="4702550"/>
            <a:ext cx="285000" cy="285000"/>
          </a:xfrm>
          <a:prstGeom prst="rect">
            <a:avLst/>
          </a:prstGeom>
          <a:solidFill>
            <a:srgbClr val="FFFFFF"/>
          </a:solidFill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>
                <a:latin typeface="Roboto"/>
                <a:ea typeface="Roboto"/>
                <a:cs typeface="Roboto"/>
                <a:sym typeface="Roboto"/>
              </a:rPr>
              <a:t>R15</a:t>
            </a:r>
            <a:endParaRPr sz="1200"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191" name="Google Shape;191;p26"/>
          <p:cNvCxnSpPr>
            <a:stCxn id="176" idx="3"/>
            <a:endCxn id="183" idx="1"/>
          </p:cNvCxnSpPr>
          <p:nvPr/>
        </p:nvCxnSpPr>
        <p:spPr>
          <a:xfrm rot="10800000" flipH="1">
            <a:off x="5999800" y="2159075"/>
            <a:ext cx="1239000" cy="180900"/>
          </a:xfrm>
          <a:prstGeom prst="straightConnector1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192" name="Google Shape;192;p26"/>
          <p:cNvCxnSpPr>
            <a:stCxn id="176" idx="3"/>
            <a:endCxn id="184" idx="1"/>
          </p:cNvCxnSpPr>
          <p:nvPr/>
        </p:nvCxnSpPr>
        <p:spPr>
          <a:xfrm>
            <a:off x="5999800" y="2339975"/>
            <a:ext cx="1239000" cy="180900"/>
          </a:xfrm>
          <a:prstGeom prst="straightConnector1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193" name="Google Shape;193;p26"/>
          <p:cNvCxnSpPr>
            <a:stCxn id="175" idx="3"/>
            <a:endCxn id="185" idx="1"/>
          </p:cNvCxnSpPr>
          <p:nvPr/>
        </p:nvCxnSpPr>
        <p:spPr>
          <a:xfrm rot="10800000" flipH="1">
            <a:off x="5999800" y="2921075"/>
            <a:ext cx="1239000" cy="180900"/>
          </a:xfrm>
          <a:prstGeom prst="straightConnector1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194" name="Google Shape;194;p26"/>
          <p:cNvCxnSpPr>
            <a:stCxn id="175" idx="3"/>
            <a:endCxn id="186" idx="1"/>
          </p:cNvCxnSpPr>
          <p:nvPr/>
        </p:nvCxnSpPr>
        <p:spPr>
          <a:xfrm>
            <a:off x="5999800" y="3101975"/>
            <a:ext cx="1239000" cy="180900"/>
          </a:xfrm>
          <a:prstGeom prst="straightConnector1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195" name="Google Shape;195;p26"/>
          <p:cNvCxnSpPr>
            <a:stCxn id="177" idx="3"/>
            <a:endCxn id="187" idx="1"/>
          </p:cNvCxnSpPr>
          <p:nvPr/>
        </p:nvCxnSpPr>
        <p:spPr>
          <a:xfrm rot="10800000" flipH="1">
            <a:off x="5999800" y="3721175"/>
            <a:ext cx="1239000" cy="180900"/>
          </a:xfrm>
          <a:prstGeom prst="straightConnector1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196" name="Google Shape;196;p26"/>
          <p:cNvCxnSpPr>
            <a:stCxn id="177" idx="3"/>
            <a:endCxn id="188" idx="1"/>
          </p:cNvCxnSpPr>
          <p:nvPr/>
        </p:nvCxnSpPr>
        <p:spPr>
          <a:xfrm>
            <a:off x="5999800" y="3902075"/>
            <a:ext cx="1239000" cy="180900"/>
          </a:xfrm>
          <a:prstGeom prst="straightConnector1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197" name="Google Shape;197;p26"/>
          <p:cNvCxnSpPr>
            <a:stCxn id="178" idx="3"/>
            <a:endCxn id="189" idx="1"/>
          </p:cNvCxnSpPr>
          <p:nvPr/>
        </p:nvCxnSpPr>
        <p:spPr>
          <a:xfrm rot="10800000" flipH="1">
            <a:off x="5999800" y="4483175"/>
            <a:ext cx="1239000" cy="180900"/>
          </a:xfrm>
          <a:prstGeom prst="straightConnector1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198" name="Google Shape;198;p26"/>
          <p:cNvCxnSpPr>
            <a:stCxn id="178" idx="3"/>
            <a:endCxn id="190" idx="1"/>
          </p:cNvCxnSpPr>
          <p:nvPr/>
        </p:nvCxnSpPr>
        <p:spPr>
          <a:xfrm>
            <a:off x="5999800" y="4664075"/>
            <a:ext cx="1239000" cy="180900"/>
          </a:xfrm>
          <a:prstGeom prst="straightConnector1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199" name="Google Shape;199;p26"/>
          <p:cNvSpPr/>
          <p:nvPr/>
        </p:nvSpPr>
        <p:spPr>
          <a:xfrm>
            <a:off x="1265650" y="2216525"/>
            <a:ext cx="1615500" cy="868200"/>
          </a:xfrm>
          <a:prstGeom prst="wedgeRoundRectCallout">
            <a:avLst>
              <a:gd name="adj1" fmla="val 43927"/>
              <a:gd name="adj2" fmla="val 70959"/>
              <a:gd name="adj3" fmla="val 0"/>
            </a:avLst>
          </a:prstGeom>
          <a:noFill/>
          <a:ln w="9525" cap="flat" cmpd="sng">
            <a:solidFill>
              <a:schemeClr val="accent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accent2"/>
                </a:solidFill>
                <a:latin typeface="Roboto"/>
                <a:ea typeface="Roboto"/>
                <a:cs typeface="Roboto"/>
                <a:sym typeface="Roboto"/>
              </a:rPr>
              <a:t>A is 1 away from me. I should tell my neighbors.</a:t>
            </a:r>
            <a:endParaRPr>
              <a:solidFill>
                <a:schemeClr val="accent2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200" name="Google Shape;200;p26"/>
          <p:cNvCxnSpPr/>
          <p:nvPr/>
        </p:nvCxnSpPr>
        <p:spPr>
          <a:xfrm rot="10800000">
            <a:off x="2003375" y="3434175"/>
            <a:ext cx="595200" cy="0"/>
          </a:xfrm>
          <a:prstGeom prst="straightConnector1">
            <a:avLst/>
          </a:prstGeom>
          <a:noFill/>
          <a:ln w="9525" cap="flat" cmpd="sng">
            <a:solidFill>
              <a:srgbClr val="0000FF"/>
            </a:solidFill>
            <a:prstDash val="solid"/>
            <a:round/>
            <a:headEnd type="none" w="med" len="med"/>
            <a:tailEnd type="triangle" w="med" len="med"/>
          </a:ln>
        </p:spPr>
      </p:cxnSp>
      <p:sp>
        <p:nvSpPr>
          <p:cNvPr id="201" name="Google Shape;201;p26"/>
          <p:cNvSpPr txBox="1"/>
          <p:nvPr/>
        </p:nvSpPr>
        <p:spPr>
          <a:xfrm>
            <a:off x="2009375" y="3257150"/>
            <a:ext cx="589200" cy="153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0000FF"/>
                </a:solidFill>
                <a:latin typeface="Roboto"/>
                <a:ea typeface="Roboto"/>
                <a:cs typeface="Roboto"/>
                <a:sym typeface="Roboto"/>
              </a:rPr>
              <a:t>A this way</a:t>
            </a:r>
            <a:endParaRPr sz="1000">
              <a:solidFill>
                <a:srgbClr val="0000FF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50B57824-BEB7-86D7-222C-708598692E43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 smtClean="0"/>
              <a:t>2</a:t>
            </a:fld>
            <a:endParaRPr lang="en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0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6" name="Google Shape;206;p27"/>
          <p:cNvSpPr txBox="1">
            <a:spLocks noGrp="1"/>
          </p:cNvSpPr>
          <p:nvPr>
            <p:ph type="title"/>
          </p:nvPr>
        </p:nvSpPr>
        <p:spPr>
          <a:xfrm>
            <a:off x="0" y="0"/>
            <a:ext cx="9144000" cy="39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Distance-Vector Algorithm Sketch</a:t>
            </a:r>
            <a:endParaRPr/>
          </a:p>
        </p:txBody>
      </p:sp>
      <p:sp>
        <p:nvSpPr>
          <p:cNvPr id="207" name="Google Shape;207;p27"/>
          <p:cNvSpPr txBox="1">
            <a:spLocks noGrp="1"/>
          </p:cNvSpPr>
          <p:nvPr>
            <p:ph type="body" idx="1"/>
          </p:nvPr>
        </p:nvSpPr>
        <p:spPr>
          <a:xfrm>
            <a:off x="107050" y="402200"/>
            <a:ext cx="8909700" cy="6333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One-line algorithm: If you hear about a path to a destination, tell all your neighbors.</a:t>
            </a:r>
            <a:endParaRPr/>
          </a:p>
        </p:txBody>
      </p:sp>
      <p:cxnSp>
        <p:nvCxnSpPr>
          <p:cNvPr id="208" name="Google Shape;208;p27"/>
          <p:cNvCxnSpPr>
            <a:stCxn id="209" idx="3"/>
            <a:endCxn id="210" idx="1"/>
          </p:cNvCxnSpPr>
          <p:nvPr/>
        </p:nvCxnSpPr>
        <p:spPr>
          <a:xfrm rot="10800000" flipH="1">
            <a:off x="2951800" y="2720825"/>
            <a:ext cx="1239000" cy="781200"/>
          </a:xfrm>
          <a:prstGeom prst="straightConnector1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210" name="Google Shape;210;p27"/>
          <p:cNvSpPr/>
          <p:nvPr/>
        </p:nvSpPr>
        <p:spPr>
          <a:xfrm>
            <a:off x="4190800" y="2578475"/>
            <a:ext cx="285000" cy="285000"/>
          </a:xfrm>
          <a:prstGeom prst="rect">
            <a:avLst/>
          </a:prstGeom>
          <a:solidFill>
            <a:srgbClr val="FFFFFF"/>
          </a:solidFill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R2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211" name="Google Shape;211;p27"/>
          <p:cNvSpPr/>
          <p:nvPr/>
        </p:nvSpPr>
        <p:spPr>
          <a:xfrm>
            <a:off x="1371388" y="3359525"/>
            <a:ext cx="285000" cy="285000"/>
          </a:xfrm>
          <a:prstGeom prst="ellipse">
            <a:avLst/>
          </a:prstGeom>
          <a:solidFill>
            <a:srgbClr val="FFFFFF"/>
          </a:solidFill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A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212" name="Google Shape;212;p27"/>
          <p:cNvSpPr/>
          <p:nvPr/>
        </p:nvSpPr>
        <p:spPr>
          <a:xfrm>
            <a:off x="4190800" y="4140575"/>
            <a:ext cx="285000" cy="285000"/>
          </a:xfrm>
          <a:prstGeom prst="rect">
            <a:avLst/>
          </a:prstGeom>
          <a:solidFill>
            <a:srgbClr val="FFFFFF"/>
          </a:solidFill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R3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213" name="Google Shape;213;p27"/>
          <p:cNvCxnSpPr>
            <a:stCxn id="209" idx="3"/>
            <a:endCxn id="212" idx="1"/>
          </p:cNvCxnSpPr>
          <p:nvPr/>
        </p:nvCxnSpPr>
        <p:spPr>
          <a:xfrm>
            <a:off x="2951800" y="3502025"/>
            <a:ext cx="1239000" cy="781200"/>
          </a:xfrm>
          <a:prstGeom prst="straightConnector1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209" name="Google Shape;209;p27"/>
          <p:cNvSpPr/>
          <p:nvPr/>
        </p:nvSpPr>
        <p:spPr>
          <a:xfrm>
            <a:off x="2666800" y="3359525"/>
            <a:ext cx="285000" cy="285000"/>
          </a:xfrm>
          <a:prstGeom prst="rect">
            <a:avLst/>
          </a:prstGeom>
          <a:solidFill>
            <a:srgbClr val="FFFFFF"/>
          </a:solidFill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R1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214" name="Google Shape;214;p27"/>
          <p:cNvCxnSpPr>
            <a:stCxn id="211" idx="6"/>
            <a:endCxn id="209" idx="1"/>
          </p:cNvCxnSpPr>
          <p:nvPr/>
        </p:nvCxnSpPr>
        <p:spPr>
          <a:xfrm>
            <a:off x="1656388" y="3502025"/>
            <a:ext cx="1010400" cy="0"/>
          </a:xfrm>
          <a:prstGeom prst="straightConnector1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215" name="Google Shape;215;p27"/>
          <p:cNvSpPr/>
          <p:nvPr/>
        </p:nvSpPr>
        <p:spPr>
          <a:xfrm>
            <a:off x="5714800" y="2959475"/>
            <a:ext cx="285000" cy="285000"/>
          </a:xfrm>
          <a:prstGeom prst="rect">
            <a:avLst/>
          </a:prstGeom>
          <a:solidFill>
            <a:srgbClr val="FFFFFF"/>
          </a:solidFill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R5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216" name="Google Shape;216;p27"/>
          <p:cNvSpPr/>
          <p:nvPr/>
        </p:nvSpPr>
        <p:spPr>
          <a:xfrm>
            <a:off x="5714800" y="2197475"/>
            <a:ext cx="285000" cy="285000"/>
          </a:xfrm>
          <a:prstGeom prst="rect">
            <a:avLst/>
          </a:prstGeom>
          <a:solidFill>
            <a:srgbClr val="FFFFFF"/>
          </a:solidFill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R4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217" name="Google Shape;217;p27"/>
          <p:cNvSpPr/>
          <p:nvPr/>
        </p:nvSpPr>
        <p:spPr>
          <a:xfrm>
            <a:off x="5714800" y="3759575"/>
            <a:ext cx="285000" cy="285000"/>
          </a:xfrm>
          <a:prstGeom prst="rect">
            <a:avLst/>
          </a:prstGeom>
          <a:solidFill>
            <a:srgbClr val="FFFFFF"/>
          </a:solidFill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R6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218" name="Google Shape;218;p27"/>
          <p:cNvSpPr/>
          <p:nvPr/>
        </p:nvSpPr>
        <p:spPr>
          <a:xfrm>
            <a:off x="5714800" y="4521575"/>
            <a:ext cx="285000" cy="285000"/>
          </a:xfrm>
          <a:prstGeom prst="rect">
            <a:avLst/>
          </a:prstGeom>
          <a:solidFill>
            <a:srgbClr val="FFFFFF"/>
          </a:solidFill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R7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219" name="Google Shape;219;p27"/>
          <p:cNvCxnSpPr>
            <a:stCxn id="210" idx="3"/>
            <a:endCxn id="216" idx="1"/>
          </p:cNvCxnSpPr>
          <p:nvPr/>
        </p:nvCxnSpPr>
        <p:spPr>
          <a:xfrm rot="10800000" flipH="1">
            <a:off x="4475800" y="2339975"/>
            <a:ext cx="1239000" cy="381000"/>
          </a:xfrm>
          <a:prstGeom prst="straightConnector1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220" name="Google Shape;220;p27"/>
          <p:cNvCxnSpPr>
            <a:stCxn id="210" idx="3"/>
            <a:endCxn id="215" idx="1"/>
          </p:cNvCxnSpPr>
          <p:nvPr/>
        </p:nvCxnSpPr>
        <p:spPr>
          <a:xfrm>
            <a:off x="4475800" y="2720975"/>
            <a:ext cx="1239000" cy="381000"/>
          </a:xfrm>
          <a:prstGeom prst="straightConnector1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221" name="Google Shape;221;p27"/>
          <p:cNvCxnSpPr>
            <a:stCxn id="212" idx="3"/>
            <a:endCxn id="217" idx="1"/>
          </p:cNvCxnSpPr>
          <p:nvPr/>
        </p:nvCxnSpPr>
        <p:spPr>
          <a:xfrm rot="10800000" flipH="1">
            <a:off x="4475800" y="3902075"/>
            <a:ext cx="1239000" cy="381000"/>
          </a:xfrm>
          <a:prstGeom prst="straightConnector1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222" name="Google Shape;222;p27"/>
          <p:cNvCxnSpPr>
            <a:stCxn id="212" idx="3"/>
            <a:endCxn id="218" idx="1"/>
          </p:cNvCxnSpPr>
          <p:nvPr/>
        </p:nvCxnSpPr>
        <p:spPr>
          <a:xfrm>
            <a:off x="4475800" y="4283075"/>
            <a:ext cx="1239000" cy="381000"/>
          </a:xfrm>
          <a:prstGeom prst="straightConnector1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223" name="Google Shape;223;p27"/>
          <p:cNvSpPr/>
          <p:nvPr/>
        </p:nvSpPr>
        <p:spPr>
          <a:xfrm>
            <a:off x="7238800" y="2016500"/>
            <a:ext cx="285000" cy="285000"/>
          </a:xfrm>
          <a:prstGeom prst="rect">
            <a:avLst/>
          </a:prstGeom>
          <a:solidFill>
            <a:srgbClr val="FFFFFF"/>
          </a:solidFill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R8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224" name="Google Shape;224;p27"/>
          <p:cNvSpPr/>
          <p:nvPr/>
        </p:nvSpPr>
        <p:spPr>
          <a:xfrm>
            <a:off x="7238800" y="2378450"/>
            <a:ext cx="285000" cy="285000"/>
          </a:xfrm>
          <a:prstGeom prst="rect">
            <a:avLst/>
          </a:prstGeom>
          <a:solidFill>
            <a:srgbClr val="FFFFFF"/>
          </a:solidFill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R9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225" name="Google Shape;225;p27"/>
          <p:cNvSpPr/>
          <p:nvPr/>
        </p:nvSpPr>
        <p:spPr>
          <a:xfrm>
            <a:off x="7238800" y="2778500"/>
            <a:ext cx="285000" cy="285000"/>
          </a:xfrm>
          <a:prstGeom prst="rect">
            <a:avLst/>
          </a:prstGeom>
          <a:solidFill>
            <a:srgbClr val="FFFFFF"/>
          </a:solidFill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>
                <a:latin typeface="Roboto"/>
                <a:ea typeface="Roboto"/>
                <a:cs typeface="Roboto"/>
                <a:sym typeface="Roboto"/>
              </a:rPr>
              <a:t>R10</a:t>
            </a:r>
            <a:endParaRPr sz="12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226" name="Google Shape;226;p27"/>
          <p:cNvSpPr/>
          <p:nvPr/>
        </p:nvSpPr>
        <p:spPr>
          <a:xfrm>
            <a:off x="7238800" y="3140450"/>
            <a:ext cx="285000" cy="285000"/>
          </a:xfrm>
          <a:prstGeom prst="rect">
            <a:avLst/>
          </a:prstGeom>
          <a:solidFill>
            <a:srgbClr val="FFFFFF"/>
          </a:solidFill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>
                <a:latin typeface="Roboto"/>
                <a:ea typeface="Roboto"/>
                <a:cs typeface="Roboto"/>
                <a:sym typeface="Roboto"/>
              </a:rPr>
              <a:t>R11</a:t>
            </a:r>
            <a:endParaRPr sz="12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227" name="Google Shape;227;p27"/>
          <p:cNvSpPr/>
          <p:nvPr/>
        </p:nvSpPr>
        <p:spPr>
          <a:xfrm>
            <a:off x="7238800" y="3578600"/>
            <a:ext cx="285000" cy="285000"/>
          </a:xfrm>
          <a:prstGeom prst="rect">
            <a:avLst/>
          </a:prstGeom>
          <a:solidFill>
            <a:srgbClr val="FFFFFF"/>
          </a:solidFill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>
                <a:latin typeface="Roboto"/>
                <a:ea typeface="Roboto"/>
                <a:cs typeface="Roboto"/>
                <a:sym typeface="Roboto"/>
              </a:rPr>
              <a:t>R12</a:t>
            </a:r>
            <a:endParaRPr sz="12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228" name="Google Shape;228;p27"/>
          <p:cNvSpPr/>
          <p:nvPr/>
        </p:nvSpPr>
        <p:spPr>
          <a:xfrm>
            <a:off x="7238800" y="3940550"/>
            <a:ext cx="285000" cy="285000"/>
          </a:xfrm>
          <a:prstGeom prst="rect">
            <a:avLst/>
          </a:prstGeom>
          <a:solidFill>
            <a:srgbClr val="FFFFFF"/>
          </a:solidFill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>
                <a:latin typeface="Roboto"/>
                <a:ea typeface="Roboto"/>
                <a:cs typeface="Roboto"/>
                <a:sym typeface="Roboto"/>
              </a:rPr>
              <a:t>R13</a:t>
            </a:r>
            <a:endParaRPr sz="12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229" name="Google Shape;229;p27"/>
          <p:cNvSpPr/>
          <p:nvPr/>
        </p:nvSpPr>
        <p:spPr>
          <a:xfrm>
            <a:off x="7238800" y="4340600"/>
            <a:ext cx="285000" cy="285000"/>
          </a:xfrm>
          <a:prstGeom prst="rect">
            <a:avLst/>
          </a:prstGeom>
          <a:solidFill>
            <a:srgbClr val="FFFFFF"/>
          </a:solidFill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>
                <a:latin typeface="Roboto"/>
                <a:ea typeface="Roboto"/>
                <a:cs typeface="Roboto"/>
                <a:sym typeface="Roboto"/>
              </a:rPr>
              <a:t>R14</a:t>
            </a:r>
            <a:endParaRPr sz="12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230" name="Google Shape;230;p27"/>
          <p:cNvSpPr/>
          <p:nvPr/>
        </p:nvSpPr>
        <p:spPr>
          <a:xfrm>
            <a:off x="7238800" y="4702550"/>
            <a:ext cx="285000" cy="285000"/>
          </a:xfrm>
          <a:prstGeom prst="rect">
            <a:avLst/>
          </a:prstGeom>
          <a:solidFill>
            <a:srgbClr val="FFFFFF"/>
          </a:solidFill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>
                <a:latin typeface="Roboto"/>
                <a:ea typeface="Roboto"/>
                <a:cs typeface="Roboto"/>
                <a:sym typeface="Roboto"/>
              </a:rPr>
              <a:t>R15</a:t>
            </a:r>
            <a:endParaRPr sz="1200"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231" name="Google Shape;231;p27"/>
          <p:cNvCxnSpPr>
            <a:stCxn id="216" idx="3"/>
            <a:endCxn id="223" idx="1"/>
          </p:cNvCxnSpPr>
          <p:nvPr/>
        </p:nvCxnSpPr>
        <p:spPr>
          <a:xfrm rot="10800000" flipH="1">
            <a:off x="5999800" y="2159075"/>
            <a:ext cx="1239000" cy="180900"/>
          </a:xfrm>
          <a:prstGeom prst="straightConnector1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232" name="Google Shape;232;p27"/>
          <p:cNvCxnSpPr>
            <a:stCxn id="216" idx="3"/>
            <a:endCxn id="224" idx="1"/>
          </p:cNvCxnSpPr>
          <p:nvPr/>
        </p:nvCxnSpPr>
        <p:spPr>
          <a:xfrm>
            <a:off x="5999800" y="2339975"/>
            <a:ext cx="1239000" cy="180900"/>
          </a:xfrm>
          <a:prstGeom prst="straightConnector1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233" name="Google Shape;233;p27"/>
          <p:cNvCxnSpPr>
            <a:stCxn id="215" idx="3"/>
            <a:endCxn id="225" idx="1"/>
          </p:cNvCxnSpPr>
          <p:nvPr/>
        </p:nvCxnSpPr>
        <p:spPr>
          <a:xfrm rot="10800000" flipH="1">
            <a:off x="5999800" y="2921075"/>
            <a:ext cx="1239000" cy="180900"/>
          </a:xfrm>
          <a:prstGeom prst="straightConnector1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234" name="Google Shape;234;p27"/>
          <p:cNvCxnSpPr>
            <a:stCxn id="215" idx="3"/>
            <a:endCxn id="226" idx="1"/>
          </p:cNvCxnSpPr>
          <p:nvPr/>
        </p:nvCxnSpPr>
        <p:spPr>
          <a:xfrm>
            <a:off x="5999800" y="3101975"/>
            <a:ext cx="1239000" cy="180900"/>
          </a:xfrm>
          <a:prstGeom prst="straightConnector1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235" name="Google Shape;235;p27"/>
          <p:cNvCxnSpPr>
            <a:stCxn id="217" idx="3"/>
            <a:endCxn id="227" idx="1"/>
          </p:cNvCxnSpPr>
          <p:nvPr/>
        </p:nvCxnSpPr>
        <p:spPr>
          <a:xfrm rot="10800000" flipH="1">
            <a:off x="5999800" y="3721175"/>
            <a:ext cx="1239000" cy="180900"/>
          </a:xfrm>
          <a:prstGeom prst="straightConnector1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236" name="Google Shape;236;p27"/>
          <p:cNvCxnSpPr>
            <a:stCxn id="217" idx="3"/>
            <a:endCxn id="228" idx="1"/>
          </p:cNvCxnSpPr>
          <p:nvPr/>
        </p:nvCxnSpPr>
        <p:spPr>
          <a:xfrm>
            <a:off x="5999800" y="3902075"/>
            <a:ext cx="1239000" cy="180900"/>
          </a:xfrm>
          <a:prstGeom prst="straightConnector1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237" name="Google Shape;237;p27"/>
          <p:cNvCxnSpPr>
            <a:stCxn id="218" idx="3"/>
            <a:endCxn id="229" idx="1"/>
          </p:cNvCxnSpPr>
          <p:nvPr/>
        </p:nvCxnSpPr>
        <p:spPr>
          <a:xfrm rot="10800000" flipH="1">
            <a:off x="5999800" y="4483175"/>
            <a:ext cx="1239000" cy="180900"/>
          </a:xfrm>
          <a:prstGeom prst="straightConnector1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238" name="Google Shape;238;p27"/>
          <p:cNvCxnSpPr>
            <a:stCxn id="218" idx="3"/>
            <a:endCxn id="230" idx="1"/>
          </p:cNvCxnSpPr>
          <p:nvPr/>
        </p:nvCxnSpPr>
        <p:spPr>
          <a:xfrm>
            <a:off x="5999800" y="4664075"/>
            <a:ext cx="1239000" cy="180900"/>
          </a:xfrm>
          <a:prstGeom prst="straightConnector1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239" name="Google Shape;239;p27"/>
          <p:cNvCxnSpPr/>
          <p:nvPr/>
        </p:nvCxnSpPr>
        <p:spPr>
          <a:xfrm rot="10800000">
            <a:off x="2003375" y="3434175"/>
            <a:ext cx="595200" cy="0"/>
          </a:xfrm>
          <a:prstGeom prst="straightConnector1">
            <a:avLst/>
          </a:prstGeom>
          <a:noFill/>
          <a:ln w="9525" cap="flat" cmpd="sng">
            <a:solidFill>
              <a:srgbClr val="0000FF"/>
            </a:solidFill>
            <a:prstDash val="solid"/>
            <a:round/>
            <a:headEnd type="none" w="med" len="med"/>
            <a:tailEnd type="triangle" w="med" len="med"/>
          </a:ln>
        </p:spPr>
      </p:cxnSp>
      <p:sp>
        <p:nvSpPr>
          <p:cNvPr id="240" name="Google Shape;240;p27"/>
          <p:cNvSpPr txBox="1"/>
          <p:nvPr/>
        </p:nvSpPr>
        <p:spPr>
          <a:xfrm>
            <a:off x="2009375" y="3257150"/>
            <a:ext cx="589200" cy="153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0000FF"/>
                </a:solidFill>
                <a:latin typeface="Roboto"/>
                <a:ea typeface="Roboto"/>
                <a:cs typeface="Roboto"/>
                <a:sym typeface="Roboto"/>
              </a:rPr>
              <a:t>A this way</a:t>
            </a:r>
            <a:endParaRPr sz="1000">
              <a:solidFill>
                <a:srgbClr val="0000FF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241" name="Google Shape;241;p27"/>
          <p:cNvSpPr/>
          <p:nvPr/>
        </p:nvSpPr>
        <p:spPr>
          <a:xfrm>
            <a:off x="2666800" y="2416700"/>
            <a:ext cx="903300" cy="433200"/>
          </a:xfrm>
          <a:prstGeom prst="roundRect">
            <a:avLst>
              <a:gd name="adj" fmla="val 16667"/>
            </a:avLst>
          </a:prstGeom>
          <a:solidFill>
            <a:srgbClr val="F4CCCC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>
                <a:latin typeface="Roboto"/>
                <a:ea typeface="Roboto"/>
                <a:cs typeface="Roboto"/>
                <a:sym typeface="Roboto"/>
              </a:rPr>
              <a:t>A is 1 away from me.</a:t>
            </a:r>
            <a:endParaRPr sz="1200"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242" name="Google Shape;242;p27"/>
          <p:cNvCxnSpPr/>
          <p:nvPr/>
        </p:nvCxnSpPr>
        <p:spPr>
          <a:xfrm rot="10800000" flipH="1">
            <a:off x="3104200" y="2776179"/>
            <a:ext cx="756900" cy="476400"/>
          </a:xfrm>
          <a:prstGeom prst="straightConnector1">
            <a:avLst/>
          </a:prstGeom>
          <a:noFill/>
          <a:ln w="19050" cap="flat" cmpd="sng">
            <a:solidFill>
              <a:schemeClr val="accent2"/>
            </a:solidFill>
            <a:prstDash val="solid"/>
            <a:round/>
            <a:headEnd type="none" w="med" len="med"/>
            <a:tailEnd type="triangle" w="med" len="med"/>
          </a:ln>
        </p:spPr>
      </p:cxnSp>
      <p:sp>
        <p:nvSpPr>
          <p:cNvPr id="243" name="Google Shape;243;p27"/>
          <p:cNvSpPr/>
          <p:nvPr/>
        </p:nvSpPr>
        <p:spPr>
          <a:xfrm>
            <a:off x="2666800" y="4169300"/>
            <a:ext cx="903300" cy="433200"/>
          </a:xfrm>
          <a:prstGeom prst="roundRect">
            <a:avLst>
              <a:gd name="adj" fmla="val 16667"/>
            </a:avLst>
          </a:prstGeom>
          <a:solidFill>
            <a:srgbClr val="F4CCCC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>
                <a:latin typeface="Roboto"/>
                <a:ea typeface="Roboto"/>
                <a:cs typeface="Roboto"/>
                <a:sym typeface="Roboto"/>
              </a:rPr>
              <a:t>A is 1 away from me.</a:t>
            </a:r>
            <a:endParaRPr sz="1200"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244" name="Google Shape;244;p27"/>
          <p:cNvCxnSpPr/>
          <p:nvPr/>
        </p:nvCxnSpPr>
        <p:spPr>
          <a:xfrm>
            <a:off x="3104200" y="3750904"/>
            <a:ext cx="756900" cy="476400"/>
          </a:xfrm>
          <a:prstGeom prst="straightConnector1">
            <a:avLst/>
          </a:prstGeom>
          <a:noFill/>
          <a:ln w="19050" cap="flat" cmpd="sng">
            <a:solidFill>
              <a:schemeClr val="accent2"/>
            </a:solidFill>
            <a:prstDash val="solid"/>
            <a:round/>
            <a:headEnd type="none" w="med" len="med"/>
            <a:tailEnd type="triangle" w="med" len="med"/>
          </a:ln>
        </p:spPr>
      </p:cxn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8A2C34ED-35C9-B6A5-38A4-43E62386583F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 smtClean="0"/>
              <a:t>3</a:t>
            </a:fld>
            <a:endParaRPr lang="en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9" name="Google Shape;249;p28"/>
          <p:cNvSpPr/>
          <p:nvPr/>
        </p:nvSpPr>
        <p:spPr>
          <a:xfrm>
            <a:off x="4074550" y="2420500"/>
            <a:ext cx="517500" cy="2063100"/>
          </a:xfrm>
          <a:prstGeom prst="roundRect">
            <a:avLst>
              <a:gd name="adj" fmla="val 16667"/>
            </a:avLst>
          </a:prstGeom>
          <a:noFill/>
          <a:ln w="19050" cap="flat" cmpd="sng">
            <a:solidFill>
              <a:schemeClr val="accent2"/>
            </a:solidFill>
            <a:prstDash val="dash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250" name="Google Shape;250;p28"/>
          <p:cNvSpPr txBox="1">
            <a:spLocks noGrp="1"/>
          </p:cNvSpPr>
          <p:nvPr>
            <p:ph type="title"/>
          </p:nvPr>
        </p:nvSpPr>
        <p:spPr>
          <a:xfrm>
            <a:off x="0" y="0"/>
            <a:ext cx="9144000" cy="39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Distance-Vector Algorithm Sketch</a:t>
            </a:r>
            <a:endParaRPr/>
          </a:p>
        </p:txBody>
      </p:sp>
      <p:sp>
        <p:nvSpPr>
          <p:cNvPr id="251" name="Google Shape;251;p28"/>
          <p:cNvSpPr txBox="1">
            <a:spLocks noGrp="1"/>
          </p:cNvSpPr>
          <p:nvPr>
            <p:ph type="body" idx="1"/>
          </p:nvPr>
        </p:nvSpPr>
        <p:spPr>
          <a:xfrm>
            <a:off x="107050" y="402200"/>
            <a:ext cx="8909700" cy="6333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One-line algorithm: If you hear about a path to a destination, tell all your neighbors.</a:t>
            </a:r>
            <a:endParaRPr/>
          </a:p>
        </p:txBody>
      </p:sp>
      <p:cxnSp>
        <p:nvCxnSpPr>
          <p:cNvPr id="252" name="Google Shape;252;p28"/>
          <p:cNvCxnSpPr>
            <a:stCxn id="253" idx="3"/>
            <a:endCxn id="254" idx="1"/>
          </p:cNvCxnSpPr>
          <p:nvPr/>
        </p:nvCxnSpPr>
        <p:spPr>
          <a:xfrm rot="10800000" flipH="1">
            <a:off x="2951800" y="2720825"/>
            <a:ext cx="1239000" cy="781200"/>
          </a:xfrm>
          <a:prstGeom prst="straightConnector1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254" name="Google Shape;254;p28"/>
          <p:cNvSpPr/>
          <p:nvPr/>
        </p:nvSpPr>
        <p:spPr>
          <a:xfrm>
            <a:off x="4190800" y="2578475"/>
            <a:ext cx="285000" cy="285000"/>
          </a:xfrm>
          <a:prstGeom prst="rect">
            <a:avLst/>
          </a:prstGeom>
          <a:solidFill>
            <a:srgbClr val="FFFFFF"/>
          </a:solidFill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R2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255" name="Google Shape;255;p28"/>
          <p:cNvSpPr/>
          <p:nvPr/>
        </p:nvSpPr>
        <p:spPr>
          <a:xfrm>
            <a:off x="1371388" y="3359525"/>
            <a:ext cx="285000" cy="285000"/>
          </a:xfrm>
          <a:prstGeom prst="ellipse">
            <a:avLst/>
          </a:prstGeom>
          <a:solidFill>
            <a:srgbClr val="FFFFFF"/>
          </a:solidFill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A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256" name="Google Shape;256;p28"/>
          <p:cNvSpPr/>
          <p:nvPr/>
        </p:nvSpPr>
        <p:spPr>
          <a:xfrm>
            <a:off x="4190800" y="4140575"/>
            <a:ext cx="285000" cy="285000"/>
          </a:xfrm>
          <a:prstGeom prst="rect">
            <a:avLst/>
          </a:prstGeom>
          <a:solidFill>
            <a:srgbClr val="FFFFFF"/>
          </a:solidFill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R3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257" name="Google Shape;257;p28"/>
          <p:cNvCxnSpPr>
            <a:stCxn id="253" idx="3"/>
            <a:endCxn id="256" idx="1"/>
          </p:cNvCxnSpPr>
          <p:nvPr/>
        </p:nvCxnSpPr>
        <p:spPr>
          <a:xfrm>
            <a:off x="2951800" y="3502025"/>
            <a:ext cx="1239000" cy="781200"/>
          </a:xfrm>
          <a:prstGeom prst="straightConnector1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253" name="Google Shape;253;p28"/>
          <p:cNvSpPr/>
          <p:nvPr/>
        </p:nvSpPr>
        <p:spPr>
          <a:xfrm>
            <a:off x="2666800" y="3359525"/>
            <a:ext cx="285000" cy="285000"/>
          </a:xfrm>
          <a:prstGeom prst="rect">
            <a:avLst/>
          </a:prstGeom>
          <a:solidFill>
            <a:srgbClr val="FFFFFF"/>
          </a:solidFill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R1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258" name="Google Shape;258;p28"/>
          <p:cNvCxnSpPr>
            <a:stCxn id="255" idx="6"/>
            <a:endCxn id="253" idx="1"/>
          </p:cNvCxnSpPr>
          <p:nvPr/>
        </p:nvCxnSpPr>
        <p:spPr>
          <a:xfrm>
            <a:off x="1656388" y="3502025"/>
            <a:ext cx="1010400" cy="0"/>
          </a:xfrm>
          <a:prstGeom prst="straightConnector1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259" name="Google Shape;259;p28"/>
          <p:cNvSpPr/>
          <p:nvPr/>
        </p:nvSpPr>
        <p:spPr>
          <a:xfrm>
            <a:off x="5714800" y="2959475"/>
            <a:ext cx="285000" cy="285000"/>
          </a:xfrm>
          <a:prstGeom prst="rect">
            <a:avLst/>
          </a:prstGeom>
          <a:solidFill>
            <a:srgbClr val="FFFFFF"/>
          </a:solidFill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R5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260" name="Google Shape;260;p28"/>
          <p:cNvSpPr/>
          <p:nvPr/>
        </p:nvSpPr>
        <p:spPr>
          <a:xfrm>
            <a:off x="5714800" y="2197475"/>
            <a:ext cx="285000" cy="285000"/>
          </a:xfrm>
          <a:prstGeom prst="rect">
            <a:avLst/>
          </a:prstGeom>
          <a:solidFill>
            <a:srgbClr val="FFFFFF"/>
          </a:solidFill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R4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261" name="Google Shape;261;p28"/>
          <p:cNvSpPr/>
          <p:nvPr/>
        </p:nvSpPr>
        <p:spPr>
          <a:xfrm>
            <a:off x="5714800" y="3759575"/>
            <a:ext cx="285000" cy="285000"/>
          </a:xfrm>
          <a:prstGeom prst="rect">
            <a:avLst/>
          </a:prstGeom>
          <a:solidFill>
            <a:srgbClr val="FFFFFF"/>
          </a:solidFill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R6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262" name="Google Shape;262;p28"/>
          <p:cNvSpPr/>
          <p:nvPr/>
        </p:nvSpPr>
        <p:spPr>
          <a:xfrm>
            <a:off x="5714800" y="4521575"/>
            <a:ext cx="285000" cy="285000"/>
          </a:xfrm>
          <a:prstGeom prst="rect">
            <a:avLst/>
          </a:prstGeom>
          <a:solidFill>
            <a:srgbClr val="FFFFFF"/>
          </a:solidFill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R7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263" name="Google Shape;263;p28"/>
          <p:cNvCxnSpPr>
            <a:stCxn id="254" idx="3"/>
            <a:endCxn id="260" idx="1"/>
          </p:cNvCxnSpPr>
          <p:nvPr/>
        </p:nvCxnSpPr>
        <p:spPr>
          <a:xfrm rot="10800000" flipH="1">
            <a:off x="4475800" y="2339975"/>
            <a:ext cx="1239000" cy="381000"/>
          </a:xfrm>
          <a:prstGeom prst="straightConnector1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264" name="Google Shape;264;p28"/>
          <p:cNvCxnSpPr>
            <a:stCxn id="254" idx="3"/>
            <a:endCxn id="259" idx="1"/>
          </p:cNvCxnSpPr>
          <p:nvPr/>
        </p:nvCxnSpPr>
        <p:spPr>
          <a:xfrm>
            <a:off x="4475800" y="2720975"/>
            <a:ext cx="1239000" cy="381000"/>
          </a:xfrm>
          <a:prstGeom prst="straightConnector1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265" name="Google Shape;265;p28"/>
          <p:cNvCxnSpPr>
            <a:stCxn id="256" idx="3"/>
            <a:endCxn id="261" idx="1"/>
          </p:cNvCxnSpPr>
          <p:nvPr/>
        </p:nvCxnSpPr>
        <p:spPr>
          <a:xfrm rot="10800000" flipH="1">
            <a:off x="4475800" y="3902075"/>
            <a:ext cx="1239000" cy="381000"/>
          </a:xfrm>
          <a:prstGeom prst="straightConnector1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266" name="Google Shape;266;p28"/>
          <p:cNvCxnSpPr>
            <a:stCxn id="256" idx="3"/>
            <a:endCxn id="262" idx="1"/>
          </p:cNvCxnSpPr>
          <p:nvPr/>
        </p:nvCxnSpPr>
        <p:spPr>
          <a:xfrm>
            <a:off x="4475800" y="4283075"/>
            <a:ext cx="1239000" cy="381000"/>
          </a:xfrm>
          <a:prstGeom prst="straightConnector1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267" name="Google Shape;267;p28"/>
          <p:cNvSpPr/>
          <p:nvPr/>
        </p:nvSpPr>
        <p:spPr>
          <a:xfrm>
            <a:off x="7238800" y="2016500"/>
            <a:ext cx="285000" cy="285000"/>
          </a:xfrm>
          <a:prstGeom prst="rect">
            <a:avLst/>
          </a:prstGeom>
          <a:solidFill>
            <a:srgbClr val="FFFFFF"/>
          </a:solidFill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R8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268" name="Google Shape;268;p28"/>
          <p:cNvSpPr/>
          <p:nvPr/>
        </p:nvSpPr>
        <p:spPr>
          <a:xfrm>
            <a:off x="7238800" y="2378450"/>
            <a:ext cx="285000" cy="285000"/>
          </a:xfrm>
          <a:prstGeom prst="rect">
            <a:avLst/>
          </a:prstGeom>
          <a:solidFill>
            <a:srgbClr val="FFFFFF"/>
          </a:solidFill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R9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269" name="Google Shape;269;p28"/>
          <p:cNvSpPr/>
          <p:nvPr/>
        </p:nvSpPr>
        <p:spPr>
          <a:xfrm>
            <a:off x="7238800" y="2778500"/>
            <a:ext cx="285000" cy="285000"/>
          </a:xfrm>
          <a:prstGeom prst="rect">
            <a:avLst/>
          </a:prstGeom>
          <a:solidFill>
            <a:srgbClr val="FFFFFF"/>
          </a:solidFill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>
                <a:latin typeface="Roboto"/>
                <a:ea typeface="Roboto"/>
                <a:cs typeface="Roboto"/>
                <a:sym typeface="Roboto"/>
              </a:rPr>
              <a:t>R10</a:t>
            </a:r>
            <a:endParaRPr sz="12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270" name="Google Shape;270;p28"/>
          <p:cNvSpPr/>
          <p:nvPr/>
        </p:nvSpPr>
        <p:spPr>
          <a:xfrm>
            <a:off x="7238800" y="3140450"/>
            <a:ext cx="285000" cy="285000"/>
          </a:xfrm>
          <a:prstGeom prst="rect">
            <a:avLst/>
          </a:prstGeom>
          <a:solidFill>
            <a:srgbClr val="FFFFFF"/>
          </a:solidFill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>
                <a:latin typeface="Roboto"/>
                <a:ea typeface="Roboto"/>
                <a:cs typeface="Roboto"/>
                <a:sym typeface="Roboto"/>
              </a:rPr>
              <a:t>R11</a:t>
            </a:r>
            <a:endParaRPr sz="12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271" name="Google Shape;271;p28"/>
          <p:cNvSpPr/>
          <p:nvPr/>
        </p:nvSpPr>
        <p:spPr>
          <a:xfrm>
            <a:off x="7238800" y="3578600"/>
            <a:ext cx="285000" cy="285000"/>
          </a:xfrm>
          <a:prstGeom prst="rect">
            <a:avLst/>
          </a:prstGeom>
          <a:solidFill>
            <a:srgbClr val="FFFFFF"/>
          </a:solidFill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>
                <a:latin typeface="Roboto"/>
                <a:ea typeface="Roboto"/>
                <a:cs typeface="Roboto"/>
                <a:sym typeface="Roboto"/>
              </a:rPr>
              <a:t>R12</a:t>
            </a:r>
            <a:endParaRPr sz="12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272" name="Google Shape;272;p28"/>
          <p:cNvSpPr/>
          <p:nvPr/>
        </p:nvSpPr>
        <p:spPr>
          <a:xfrm>
            <a:off x="7238800" y="3940550"/>
            <a:ext cx="285000" cy="285000"/>
          </a:xfrm>
          <a:prstGeom prst="rect">
            <a:avLst/>
          </a:prstGeom>
          <a:solidFill>
            <a:srgbClr val="FFFFFF"/>
          </a:solidFill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>
                <a:latin typeface="Roboto"/>
                <a:ea typeface="Roboto"/>
                <a:cs typeface="Roboto"/>
                <a:sym typeface="Roboto"/>
              </a:rPr>
              <a:t>R13</a:t>
            </a:r>
            <a:endParaRPr sz="12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273" name="Google Shape;273;p28"/>
          <p:cNvSpPr/>
          <p:nvPr/>
        </p:nvSpPr>
        <p:spPr>
          <a:xfrm>
            <a:off x="7238800" y="4340600"/>
            <a:ext cx="285000" cy="285000"/>
          </a:xfrm>
          <a:prstGeom prst="rect">
            <a:avLst/>
          </a:prstGeom>
          <a:solidFill>
            <a:srgbClr val="FFFFFF"/>
          </a:solidFill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>
                <a:latin typeface="Roboto"/>
                <a:ea typeface="Roboto"/>
                <a:cs typeface="Roboto"/>
                <a:sym typeface="Roboto"/>
              </a:rPr>
              <a:t>R14</a:t>
            </a:r>
            <a:endParaRPr sz="12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274" name="Google Shape;274;p28"/>
          <p:cNvSpPr/>
          <p:nvPr/>
        </p:nvSpPr>
        <p:spPr>
          <a:xfrm>
            <a:off x="7238800" y="4702550"/>
            <a:ext cx="285000" cy="285000"/>
          </a:xfrm>
          <a:prstGeom prst="rect">
            <a:avLst/>
          </a:prstGeom>
          <a:solidFill>
            <a:srgbClr val="FFFFFF"/>
          </a:solidFill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>
                <a:latin typeface="Roboto"/>
                <a:ea typeface="Roboto"/>
                <a:cs typeface="Roboto"/>
                <a:sym typeface="Roboto"/>
              </a:rPr>
              <a:t>R15</a:t>
            </a:r>
            <a:endParaRPr sz="1200"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275" name="Google Shape;275;p28"/>
          <p:cNvCxnSpPr>
            <a:stCxn id="260" idx="3"/>
            <a:endCxn id="267" idx="1"/>
          </p:cNvCxnSpPr>
          <p:nvPr/>
        </p:nvCxnSpPr>
        <p:spPr>
          <a:xfrm rot="10800000" flipH="1">
            <a:off x="5999800" y="2159075"/>
            <a:ext cx="1239000" cy="180900"/>
          </a:xfrm>
          <a:prstGeom prst="straightConnector1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276" name="Google Shape;276;p28"/>
          <p:cNvCxnSpPr>
            <a:stCxn id="260" idx="3"/>
            <a:endCxn id="268" idx="1"/>
          </p:cNvCxnSpPr>
          <p:nvPr/>
        </p:nvCxnSpPr>
        <p:spPr>
          <a:xfrm>
            <a:off x="5999800" y="2339975"/>
            <a:ext cx="1239000" cy="180900"/>
          </a:xfrm>
          <a:prstGeom prst="straightConnector1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277" name="Google Shape;277;p28"/>
          <p:cNvCxnSpPr>
            <a:stCxn id="259" idx="3"/>
            <a:endCxn id="269" idx="1"/>
          </p:cNvCxnSpPr>
          <p:nvPr/>
        </p:nvCxnSpPr>
        <p:spPr>
          <a:xfrm rot="10800000" flipH="1">
            <a:off x="5999800" y="2921075"/>
            <a:ext cx="1239000" cy="180900"/>
          </a:xfrm>
          <a:prstGeom prst="straightConnector1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278" name="Google Shape;278;p28"/>
          <p:cNvCxnSpPr>
            <a:stCxn id="259" idx="3"/>
            <a:endCxn id="270" idx="1"/>
          </p:cNvCxnSpPr>
          <p:nvPr/>
        </p:nvCxnSpPr>
        <p:spPr>
          <a:xfrm>
            <a:off x="5999800" y="3101975"/>
            <a:ext cx="1239000" cy="180900"/>
          </a:xfrm>
          <a:prstGeom prst="straightConnector1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279" name="Google Shape;279;p28"/>
          <p:cNvCxnSpPr>
            <a:stCxn id="261" idx="3"/>
            <a:endCxn id="271" idx="1"/>
          </p:cNvCxnSpPr>
          <p:nvPr/>
        </p:nvCxnSpPr>
        <p:spPr>
          <a:xfrm rot="10800000" flipH="1">
            <a:off x="5999800" y="3721175"/>
            <a:ext cx="1239000" cy="180900"/>
          </a:xfrm>
          <a:prstGeom prst="straightConnector1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280" name="Google Shape;280;p28"/>
          <p:cNvCxnSpPr>
            <a:stCxn id="261" idx="3"/>
            <a:endCxn id="272" idx="1"/>
          </p:cNvCxnSpPr>
          <p:nvPr/>
        </p:nvCxnSpPr>
        <p:spPr>
          <a:xfrm>
            <a:off x="5999800" y="3902075"/>
            <a:ext cx="1239000" cy="180900"/>
          </a:xfrm>
          <a:prstGeom prst="straightConnector1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281" name="Google Shape;281;p28"/>
          <p:cNvCxnSpPr>
            <a:stCxn id="262" idx="3"/>
            <a:endCxn id="273" idx="1"/>
          </p:cNvCxnSpPr>
          <p:nvPr/>
        </p:nvCxnSpPr>
        <p:spPr>
          <a:xfrm rot="10800000" flipH="1">
            <a:off x="5999800" y="4483175"/>
            <a:ext cx="1239000" cy="180900"/>
          </a:xfrm>
          <a:prstGeom prst="straightConnector1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282" name="Google Shape;282;p28"/>
          <p:cNvCxnSpPr>
            <a:stCxn id="262" idx="3"/>
            <a:endCxn id="274" idx="1"/>
          </p:cNvCxnSpPr>
          <p:nvPr/>
        </p:nvCxnSpPr>
        <p:spPr>
          <a:xfrm>
            <a:off x="5999800" y="4664075"/>
            <a:ext cx="1239000" cy="180900"/>
          </a:xfrm>
          <a:prstGeom prst="straightConnector1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283" name="Google Shape;283;p28"/>
          <p:cNvCxnSpPr/>
          <p:nvPr/>
        </p:nvCxnSpPr>
        <p:spPr>
          <a:xfrm rot="10800000">
            <a:off x="2003375" y="3434175"/>
            <a:ext cx="595200" cy="0"/>
          </a:xfrm>
          <a:prstGeom prst="straightConnector1">
            <a:avLst/>
          </a:prstGeom>
          <a:noFill/>
          <a:ln w="9525" cap="flat" cmpd="sng">
            <a:solidFill>
              <a:srgbClr val="0000FF"/>
            </a:solidFill>
            <a:prstDash val="solid"/>
            <a:round/>
            <a:headEnd type="none" w="med" len="med"/>
            <a:tailEnd type="triangle" w="med" len="med"/>
          </a:ln>
        </p:spPr>
      </p:cxnSp>
      <p:sp>
        <p:nvSpPr>
          <p:cNvPr id="284" name="Google Shape;284;p28"/>
          <p:cNvSpPr txBox="1"/>
          <p:nvPr/>
        </p:nvSpPr>
        <p:spPr>
          <a:xfrm>
            <a:off x="2009375" y="3257150"/>
            <a:ext cx="589200" cy="153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0000FF"/>
                </a:solidFill>
                <a:latin typeface="Roboto"/>
                <a:ea typeface="Roboto"/>
                <a:cs typeface="Roboto"/>
                <a:sym typeface="Roboto"/>
              </a:rPr>
              <a:t>A this way</a:t>
            </a:r>
            <a:endParaRPr sz="1000">
              <a:solidFill>
                <a:srgbClr val="0000FF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285" name="Google Shape;285;p28"/>
          <p:cNvSpPr/>
          <p:nvPr/>
        </p:nvSpPr>
        <p:spPr>
          <a:xfrm>
            <a:off x="2009375" y="1531013"/>
            <a:ext cx="2044500" cy="842700"/>
          </a:xfrm>
          <a:prstGeom prst="wedgeRoundRectCallout">
            <a:avLst>
              <a:gd name="adj1" fmla="val 43927"/>
              <a:gd name="adj2" fmla="val 70959"/>
              <a:gd name="adj3" fmla="val 0"/>
            </a:avLst>
          </a:prstGeom>
          <a:noFill/>
          <a:ln w="9525" cap="flat" cmpd="sng">
            <a:solidFill>
              <a:schemeClr val="accent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accent2"/>
                </a:solidFill>
                <a:latin typeface="Roboto"/>
                <a:ea typeface="Roboto"/>
                <a:cs typeface="Roboto"/>
                <a:sym typeface="Roboto"/>
              </a:rPr>
              <a:t>We just found a way to reach A. We should tell our neighbors.</a:t>
            </a:r>
            <a:endParaRPr>
              <a:solidFill>
                <a:schemeClr val="accent2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286" name="Google Shape;286;p28"/>
          <p:cNvCxnSpPr/>
          <p:nvPr/>
        </p:nvCxnSpPr>
        <p:spPr>
          <a:xfrm flipH="1">
            <a:off x="3474239" y="2741453"/>
            <a:ext cx="589200" cy="371700"/>
          </a:xfrm>
          <a:prstGeom prst="straightConnector1">
            <a:avLst/>
          </a:prstGeom>
          <a:noFill/>
          <a:ln w="9525" cap="flat" cmpd="sng">
            <a:solidFill>
              <a:srgbClr val="0000FF"/>
            </a:solidFill>
            <a:prstDash val="solid"/>
            <a:round/>
            <a:headEnd type="none" w="med" len="med"/>
            <a:tailEnd type="triangle" w="med" len="med"/>
          </a:ln>
        </p:spPr>
      </p:cxnSp>
      <p:sp>
        <p:nvSpPr>
          <p:cNvPr id="287" name="Google Shape;287;p28"/>
          <p:cNvSpPr txBox="1"/>
          <p:nvPr/>
        </p:nvSpPr>
        <p:spPr>
          <a:xfrm rot="-1931086">
            <a:off x="3465282" y="2744225"/>
            <a:ext cx="589129" cy="15381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0000FF"/>
                </a:solidFill>
                <a:latin typeface="Roboto"/>
                <a:ea typeface="Roboto"/>
                <a:cs typeface="Roboto"/>
                <a:sym typeface="Roboto"/>
              </a:rPr>
              <a:t>A this way</a:t>
            </a:r>
            <a:endParaRPr sz="1000">
              <a:solidFill>
                <a:srgbClr val="0000FF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288" name="Google Shape;288;p28"/>
          <p:cNvCxnSpPr/>
          <p:nvPr/>
        </p:nvCxnSpPr>
        <p:spPr>
          <a:xfrm rot="10800000">
            <a:off x="3474239" y="3894534"/>
            <a:ext cx="589200" cy="371700"/>
          </a:xfrm>
          <a:prstGeom prst="straightConnector1">
            <a:avLst/>
          </a:prstGeom>
          <a:noFill/>
          <a:ln w="9525" cap="flat" cmpd="sng">
            <a:solidFill>
              <a:srgbClr val="0000FF"/>
            </a:solidFill>
            <a:prstDash val="solid"/>
            <a:round/>
            <a:headEnd type="none" w="med" len="med"/>
            <a:tailEnd type="triangle" w="med" len="med"/>
          </a:ln>
        </p:spPr>
      </p:cxnSp>
      <p:sp>
        <p:nvSpPr>
          <p:cNvPr id="289" name="Google Shape;289;p28"/>
          <p:cNvSpPr txBox="1"/>
          <p:nvPr/>
        </p:nvSpPr>
        <p:spPr>
          <a:xfrm rot="1931086" flipH="1">
            <a:off x="3465282" y="4109644"/>
            <a:ext cx="589129" cy="15381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0000FF"/>
                </a:solidFill>
                <a:latin typeface="Roboto"/>
                <a:ea typeface="Roboto"/>
                <a:cs typeface="Roboto"/>
                <a:sym typeface="Roboto"/>
              </a:rPr>
              <a:t>A this way</a:t>
            </a:r>
            <a:endParaRPr sz="1000">
              <a:solidFill>
                <a:srgbClr val="0000FF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C11A3909-3CAC-5526-CA51-9D487AC550F8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 smtClean="0"/>
              <a:t>4</a:t>
            </a:fld>
            <a:endParaRPr lang="en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p29"/>
          <p:cNvSpPr txBox="1">
            <a:spLocks noGrp="1"/>
          </p:cNvSpPr>
          <p:nvPr>
            <p:ph type="title"/>
          </p:nvPr>
        </p:nvSpPr>
        <p:spPr>
          <a:xfrm>
            <a:off x="0" y="0"/>
            <a:ext cx="9144000" cy="39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Distance-Vector Algorithm Sketch</a:t>
            </a:r>
            <a:endParaRPr/>
          </a:p>
        </p:txBody>
      </p:sp>
      <p:sp>
        <p:nvSpPr>
          <p:cNvPr id="295" name="Google Shape;295;p29"/>
          <p:cNvSpPr txBox="1">
            <a:spLocks noGrp="1"/>
          </p:cNvSpPr>
          <p:nvPr>
            <p:ph type="body" idx="1"/>
          </p:nvPr>
        </p:nvSpPr>
        <p:spPr>
          <a:xfrm>
            <a:off x="107050" y="402200"/>
            <a:ext cx="8909700" cy="6333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One-line algorithm: If you hear about a path to a destination, tell all your neighbors.</a:t>
            </a:r>
            <a:endParaRPr/>
          </a:p>
        </p:txBody>
      </p:sp>
      <p:cxnSp>
        <p:nvCxnSpPr>
          <p:cNvPr id="296" name="Google Shape;296;p29"/>
          <p:cNvCxnSpPr>
            <a:stCxn id="297" idx="3"/>
            <a:endCxn id="298" idx="1"/>
          </p:cNvCxnSpPr>
          <p:nvPr/>
        </p:nvCxnSpPr>
        <p:spPr>
          <a:xfrm rot="10800000" flipH="1">
            <a:off x="2951800" y="2720825"/>
            <a:ext cx="1239000" cy="781200"/>
          </a:xfrm>
          <a:prstGeom prst="straightConnector1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298" name="Google Shape;298;p29"/>
          <p:cNvSpPr/>
          <p:nvPr/>
        </p:nvSpPr>
        <p:spPr>
          <a:xfrm>
            <a:off x="4190800" y="2578475"/>
            <a:ext cx="285000" cy="285000"/>
          </a:xfrm>
          <a:prstGeom prst="rect">
            <a:avLst/>
          </a:prstGeom>
          <a:solidFill>
            <a:srgbClr val="FFFFFF"/>
          </a:solidFill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R2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299" name="Google Shape;299;p29"/>
          <p:cNvSpPr/>
          <p:nvPr/>
        </p:nvSpPr>
        <p:spPr>
          <a:xfrm>
            <a:off x="1371388" y="3359525"/>
            <a:ext cx="285000" cy="285000"/>
          </a:xfrm>
          <a:prstGeom prst="ellipse">
            <a:avLst/>
          </a:prstGeom>
          <a:solidFill>
            <a:srgbClr val="FFFFFF"/>
          </a:solidFill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A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300" name="Google Shape;300;p29"/>
          <p:cNvSpPr/>
          <p:nvPr/>
        </p:nvSpPr>
        <p:spPr>
          <a:xfrm>
            <a:off x="4190800" y="4140575"/>
            <a:ext cx="285000" cy="285000"/>
          </a:xfrm>
          <a:prstGeom prst="rect">
            <a:avLst/>
          </a:prstGeom>
          <a:solidFill>
            <a:srgbClr val="FFFFFF"/>
          </a:solidFill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R3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301" name="Google Shape;301;p29"/>
          <p:cNvCxnSpPr>
            <a:stCxn id="297" idx="3"/>
            <a:endCxn id="300" idx="1"/>
          </p:cNvCxnSpPr>
          <p:nvPr/>
        </p:nvCxnSpPr>
        <p:spPr>
          <a:xfrm>
            <a:off x="2951800" y="3502025"/>
            <a:ext cx="1239000" cy="781200"/>
          </a:xfrm>
          <a:prstGeom prst="straightConnector1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297" name="Google Shape;297;p29"/>
          <p:cNvSpPr/>
          <p:nvPr/>
        </p:nvSpPr>
        <p:spPr>
          <a:xfrm>
            <a:off x="2666800" y="3359525"/>
            <a:ext cx="285000" cy="285000"/>
          </a:xfrm>
          <a:prstGeom prst="rect">
            <a:avLst/>
          </a:prstGeom>
          <a:solidFill>
            <a:srgbClr val="FFFFFF"/>
          </a:solidFill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R1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302" name="Google Shape;302;p29"/>
          <p:cNvCxnSpPr>
            <a:stCxn id="299" idx="6"/>
            <a:endCxn id="297" idx="1"/>
          </p:cNvCxnSpPr>
          <p:nvPr/>
        </p:nvCxnSpPr>
        <p:spPr>
          <a:xfrm>
            <a:off x="1656388" y="3502025"/>
            <a:ext cx="1010400" cy="0"/>
          </a:xfrm>
          <a:prstGeom prst="straightConnector1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303" name="Google Shape;303;p29"/>
          <p:cNvSpPr/>
          <p:nvPr/>
        </p:nvSpPr>
        <p:spPr>
          <a:xfrm>
            <a:off x="5714800" y="2959475"/>
            <a:ext cx="285000" cy="285000"/>
          </a:xfrm>
          <a:prstGeom prst="rect">
            <a:avLst/>
          </a:prstGeom>
          <a:solidFill>
            <a:srgbClr val="FFFFFF"/>
          </a:solidFill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R5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304" name="Google Shape;304;p29"/>
          <p:cNvSpPr/>
          <p:nvPr/>
        </p:nvSpPr>
        <p:spPr>
          <a:xfrm>
            <a:off x="5714800" y="2197475"/>
            <a:ext cx="285000" cy="285000"/>
          </a:xfrm>
          <a:prstGeom prst="rect">
            <a:avLst/>
          </a:prstGeom>
          <a:solidFill>
            <a:srgbClr val="FFFFFF"/>
          </a:solidFill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R4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305" name="Google Shape;305;p29"/>
          <p:cNvSpPr/>
          <p:nvPr/>
        </p:nvSpPr>
        <p:spPr>
          <a:xfrm>
            <a:off x="5714800" y="3759575"/>
            <a:ext cx="285000" cy="285000"/>
          </a:xfrm>
          <a:prstGeom prst="rect">
            <a:avLst/>
          </a:prstGeom>
          <a:solidFill>
            <a:srgbClr val="FFFFFF"/>
          </a:solidFill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R6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306" name="Google Shape;306;p29"/>
          <p:cNvSpPr/>
          <p:nvPr/>
        </p:nvSpPr>
        <p:spPr>
          <a:xfrm>
            <a:off x="5714800" y="4521575"/>
            <a:ext cx="285000" cy="285000"/>
          </a:xfrm>
          <a:prstGeom prst="rect">
            <a:avLst/>
          </a:prstGeom>
          <a:solidFill>
            <a:srgbClr val="FFFFFF"/>
          </a:solidFill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R7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307" name="Google Shape;307;p29"/>
          <p:cNvCxnSpPr>
            <a:stCxn id="298" idx="3"/>
            <a:endCxn id="304" idx="1"/>
          </p:cNvCxnSpPr>
          <p:nvPr/>
        </p:nvCxnSpPr>
        <p:spPr>
          <a:xfrm rot="10800000" flipH="1">
            <a:off x="4475800" y="2339975"/>
            <a:ext cx="1239000" cy="381000"/>
          </a:xfrm>
          <a:prstGeom prst="straightConnector1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308" name="Google Shape;308;p29"/>
          <p:cNvCxnSpPr>
            <a:stCxn id="298" idx="3"/>
            <a:endCxn id="303" idx="1"/>
          </p:cNvCxnSpPr>
          <p:nvPr/>
        </p:nvCxnSpPr>
        <p:spPr>
          <a:xfrm>
            <a:off x="4475800" y="2720975"/>
            <a:ext cx="1239000" cy="381000"/>
          </a:xfrm>
          <a:prstGeom prst="straightConnector1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309" name="Google Shape;309;p29"/>
          <p:cNvCxnSpPr>
            <a:stCxn id="300" idx="3"/>
            <a:endCxn id="305" idx="1"/>
          </p:cNvCxnSpPr>
          <p:nvPr/>
        </p:nvCxnSpPr>
        <p:spPr>
          <a:xfrm rot="10800000" flipH="1">
            <a:off x="4475800" y="3902075"/>
            <a:ext cx="1239000" cy="381000"/>
          </a:xfrm>
          <a:prstGeom prst="straightConnector1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310" name="Google Shape;310;p29"/>
          <p:cNvCxnSpPr>
            <a:stCxn id="300" idx="3"/>
            <a:endCxn id="306" idx="1"/>
          </p:cNvCxnSpPr>
          <p:nvPr/>
        </p:nvCxnSpPr>
        <p:spPr>
          <a:xfrm>
            <a:off x="4475800" y="4283075"/>
            <a:ext cx="1239000" cy="381000"/>
          </a:xfrm>
          <a:prstGeom prst="straightConnector1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311" name="Google Shape;311;p29"/>
          <p:cNvSpPr/>
          <p:nvPr/>
        </p:nvSpPr>
        <p:spPr>
          <a:xfrm>
            <a:off x="7238800" y="2016500"/>
            <a:ext cx="285000" cy="285000"/>
          </a:xfrm>
          <a:prstGeom prst="rect">
            <a:avLst/>
          </a:prstGeom>
          <a:solidFill>
            <a:srgbClr val="FFFFFF"/>
          </a:solidFill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R8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312" name="Google Shape;312;p29"/>
          <p:cNvSpPr/>
          <p:nvPr/>
        </p:nvSpPr>
        <p:spPr>
          <a:xfrm>
            <a:off x="7238800" y="2378450"/>
            <a:ext cx="285000" cy="285000"/>
          </a:xfrm>
          <a:prstGeom prst="rect">
            <a:avLst/>
          </a:prstGeom>
          <a:solidFill>
            <a:srgbClr val="FFFFFF"/>
          </a:solidFill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R9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313" name="Google Shape;313;p29"/>
          <p:cNvSpPr/>
          <p:nvPr/>
        </p:nvSpPr>
        <p:spPr>
          <a:xfrm>
            <a:off x="7238800" y="2778500"/>
            <a:ext cx="285000" cy="285000"/>
          </a:xfrm>
          <a:prstGeom prst="rect">
            <a:avLst/>
          </a:prstGeom>
          <a:solidFill>
            <a:srgbClr val="FFFFFF"/>
          </a:solidFill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>
                <a:latin typeface="Roboto"/>
                <a:ea typeface="Roboto"/>
                <a:cs typeface="Roboto"/>
                <a:sym typeface="Roboto"/>
              </a:rPr>
              <a:t>R10</a:t>
            </a:r>
            <a:endParaRPr sz="12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314" name="Google Shape;314;p29"/>
          <p:cNvSpPr/>
          <p:nvPr/>
        </p:nvSpPr>
        <p:spPr>
          <a:xfrm>
            <a:off x="7238800" y="3140450"/>
            <a:ext cx="285000" cy="285000"/>
          </a:xfrm>
          <a:prstGeom prst="rect">
            <a:avLst/>
          </a:prstGeom>
          <a:solidFill>
            <a:srgbClr val="FFFFFF"/>
          </a:solidFill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>
                <a:latin typeface="Roboto"/>
                <a:ea typeface="Roboto"/>
                <a:cs typeface="Roboto"/>
                <a:sym typeface="Roboto"/>
              </a:rPr>
              <a:t>R11</a:t>
            </a:r>
            <a:endParaRPr sz="12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315" name="Google Shape;315;p29"/>
          <p:cNvSpPr/>
          <p:nvPr/>
        </p:nvSpPr>
        <p:spPr>
          <a:xfrm>
            <a:off x="7238800" y="3578600"/>
            <a:ext cx="285000" cy="285000"/>
          </a:xfrm>
          <a:prstGeom prst="rect">
            <a:avLst/>
          </a:prstGeom>
          <a:solidFill>
            <a:srgbClr val="FFFFFF"/>
          </a:solidFill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>
                <a:latin typeface="Roboto"/>
                <a:ea typeface="Roboto"/>
                <a:cs typeface="Roboto"/>
                <a:sym typeface="Roboto"/>
              </a:rPr>
              <a:t>R12</a:t>
            </a:r>
            <a:endParaRPr sz="12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316" name="Google Shape;316;p29"/>
          <p:cNvSpPr/>
          <p:nvPr/>
        </p:nvSpPr>
        <p:spPr>
          <a:xfrm>
            <a:off x="7238800" y="3940550"/>
            <a:ext cx="285000" cy="285000"/>
          </a:xfrm>
          <a:prstGeom prst="rect">
            <a:avLst/>
          </a:prstGeom>
          <a:solidFill>
            <a:srgbClr val="FFFFFF"/>
          </a:solidFill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>
                <a:latin typeface="Roboto"/>
                <a:ea typeface="Roboto"/>
                <a:cs typeface="Roboto"/>
                <a:sym typeface="Roboto"/>
              </a:rPr>
              <a:t>R13</a:t>
            </a:r>
            <a:endParaRPr sz="12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317" name="Google Shape;317;p29"/>
          <p:cNvSpPr/>
          <p:nvPr/>
        </p:nvSpPr>
        <p:spPr>
          <a:xfrm>
            <a:off x="7238800" y="4340600"/>
            <a:ext cx="285000" cy="285000"/>
          </a:xfrm>
          <a:prstGeom prst="rect">
            <a:avLst/>
          </a:prstGeom>
          <a:solidFill>
            <a:srgbClr val="FFFFFF"/>
          </a:solidFill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>
                <a:latin typeface="Roboto"/>
                <a:ea typeface="Roboto"/>
                <a:cs typeface="Roboto"/>
                <a:sym typeface="Roboto"/>
              </a:rPr>
              <a:t>R14</a:t>
            </a:r>
            <a:endParaRPr sz="12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318" name="Google Shape;318;p29"/>
          <p:cNvSpPr/>
          <p:nvPr/>
        </p:nvSpPr>
        <p:spPr>
          <a:xfrm>
            <a:off x="7238800" y="4702550"/>
            <a:ext cx="285000" cy="285000"/>
          </a:xfrm>
          <a:prstGeom prst="rect">
            <a:avLst/>
          </a:prstGeom>
          <a:solidFill>
            <a:srgbClr val="FFFFFF"/>
          </a:solidFill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>
                <a:latin typeface="Roboto"/>
                <a:ea typeface="Roboto"/>
                <a:cs typeface="Roboto"/>
                <a:sym typeface="Roboto"/>
              </a:rPr>
              <a:t>R15</a:t>
            </a:r>
            <a:endParaRPr sz="1200"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319" name="Google Shape;319;p29"/>
          <p:cNvCxnSpPr>
            <a:stCxn id="304" idx="3"/>
            <a:endCxn id="311" idx="1"/>
          </p:cNvCxnSpPr>
          <p:nvPr/>
        </p:nvCxnSpPr>
        <p:spPr>
          <a:xfrm rot="10800000" flipH="1">
            <a:off x="5999800" y="2159075"/>
            <a:ext cx="1239000" cy="180900"/>
          </a:xfrm>
          <a:prstGeom prst="straightConnector1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320" name="Google Shape;320;p29"/>
          <p:cNvCxnSpPr>
            <a:stCxn id="304" idx="3"/>
            <a:endCxn id="312" idx="1"/>
          </p:cNvCxnSpPr>
          <p:nvPr/>
        </p:nvCxnSpPr>
        <p:spPr>
          <a:xfrm>
            <a:off x="5999800" y="2339975"/>
            <a:ext cx="1239000" cy="180900"/>
          </a:xfrm>
          <a:prstGeom prst="straightConnector1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321" name="Google Shape;321;p29"/>
          <p:cNvCxnSpPr>
            <a:stCxn id="303" idx="3"/>
            <a:endCxn id="313" idx="1"/>
          </p:cNvCxnSpPr>
          <p:nvPr/>
        </p:nvCxnSpPr>
        <p:spPr>
          <a:xfrm rot="10800000" flipH="1">
            <a:off x="5999800" y="2921075"/>
            <a:ext cx="1239000" cy="180900"/>
          </a:xfrm>
          <a:prstGeom prst="straightConnector1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322" name="Google Shape;322;p29"/>
          <p:cNvCxnSpPr>
            <a:stCxn id="303" idx="3"/>
            <a:endCxn id="314" idx="1"/>
          </p:cNvCxnSpPr>
          <p:nvPr/>
        </p:nvCxnSpPr>
        <p:spPr>
          <a:xfrm>
            <a:off x="5999800" y="3101975"/>
            <a:ext cx="1239000" cy="180900"/>
          </a:xfrm>
          <a:prstGeom prst="straightConnector1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323" name="Google Shape;323;p29"/>
          <p:cNvCxnSpPr>
            <a:stCxn id="305" idx="3"/>
            <a:endCxn id="315" idx="1"/>
          </p:cNvCxnSpPr>
          <p:nvPr/>
        </p:nvCxnSpPr>
        <p:spPr>
          <a:xfrm rot="10800000" flipH="1">
            <a:off x="5999800" y="3721175"/>
            <a:ext cx="1239000" cy="180900"/>
          </a:xfrm>
          <a:prstGeom prst="straightConnector1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324" name="Google Shape;324;p29"/>
          <p:cNvCxnSpPr>
            <a:stCxn id="305" idx="3"/>
            <a:endCxn id="316" idx="1"/>
          </p:cNvCxnSpPr>
          <p:nvPr/>
        </p:nvCxnSpPr>
        <p:spPr>
          <a:xfrm>
            <a:off x="5999800" y="3902075"/>
            <a:ext cx="1239000" cy="180900"/>
          </a:xfrm>
          <a:prstGeom prst="straightConnector1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325" name="Google Shape;325;p29"/>
          <p:cNvCxnSpPr>
            <a:stCxn id="306" idx="3"/>
            <a:endCxn id="317" idx="1"/>
          </p:cNvCxnSpPr>
          <p:nvPr/>
        </p:nvCxnSpPr>
        <p:spPr>
          <a:xfrm rot="10800000" flipH="1">
            <a:off x="5999800" y="4483175"/>
            <a:ext cx="1239000" cy="180900"/>
          </a:xfrm>
          <a:prstGeom prst="straightConnector1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326" name="Google Shape;326;p29"/>
          <p:cNvCxnSpPr>
            <a:stCxn id="306" idx="3"/>
            <a:endCxn id="318" idx="1"/>
          </p:cNvCxnSpPr>
          <p:nvPr/>
        </p:nvCxnSpPr>
        <p:spPr>
          <a:xfrm>
            <a:off x="5999800" y="4664075"/>
            <a:ext cx="1239000" cy="180900"/>
          </a:xfrm>
          <a:prstGeom prst="straightConnector1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327" name="Google Shape;327;p29"/>
          <p:cNvCxnSpPr/>
          <p:nvPr/>
        </p:nvCxnSpPr>
        <p:spPr>
          <a:xfrm rot="10800000">
            <a:off x="2003375" y="3434175"/>
            <a:ext cx="595200" cy="0"/>
          </a:xfrm>
          <a:prstGeom prst="straightConnector1">
            <a:avLst/>
          </a:prstGeom>
          <a:noFill/>
          <a:ln w="9525" cap="flat" cmpd="sng">
            <a:solidFill>
              <a:srgbClr val="0000FF"/>
            </a:solidFill>
            <a:prstDash val="solid"/>
            <a:round/>
            <a:headEnd type="none" w="med" len="med"/>
            <a:tailEnd type="triangle" w="med" len="med"/>
          </a:ln>
        </p:spPr>
      </p:cxnSp>
      <p:sp>
        <p:nvSpPr>
          <p:cNvPr id="328" name="Google Shape;328;p29"/>
          <p:cNvSpPr txBox="1"/>
          <p:nvPr/>
        </p:nvSpPr>
        <p:spPr>
          <a:xfrm>
            <a:off x="2009375" y="3257150"/>
            <a:ext cx="589200" cy="153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0000FF"/>
                </a:solidFill>
                <a:latin typeface="Roboto"/>
                <a:ea typeface="Roboto"/>
                <a:cs typeface="Roboto"/>
                <a:sym typeface="Roboto"/>
              </a:rPr>
              <a:t>A this way</a:t>
            </a:r>
            <a:endParaRPr sz="1000">
              <a:solidFill>
                <a:srgbClr val="0000FF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329" name="Google Shape;329;p29"/>
          <p:cNvSpPr/>
          <p:nvPr/>
        </p:nvSpPr>
        <p:spPr>
          <a:xfrm>
            <a:off x="4371650" y="1855038"/>
            <a:ext cx="903300" cy="433200"/>
          </a:xfrm>
          <a:prstGeom prst="roundRect">
            <a:avLst>
              <a:gd name="adj" fmla="val 16667"/>
            </a:avLst>
          </a:prstGeom>
          <a:solidFill>
            <a:srgbClr val="F4CCCC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>
                <a:latin typeface="Roboto"/>
                <a:ea typeface="Roboto"/>
                <a:cs typeface="Roboto"/>
                <a:sym typeface="Roboto"/>
              </a:rPr>
              <a:t>A is 2 away from me.</a:t>
            </a:r>
            <a:endParaRPr sz="1200"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330" name="Google Shape;330;p29"/>
          <p:cNvCxnSpPr/>
          <p:nvPr/>
        </p:nvCxnSpPr>
        <p:spPr>
          <a:xfrm rot="10800000" flipH="1">
            <a:off x="4658750" y="2243325"/>
            <a:ext cx="867600" cy="266400"/>
          </a:xfrm>
          <a:prstGeom prst="straightConnector1">
            <a:avLst/>
          </a:prstGeom>
          <a:noFill/>
          <a:ln w="19050" cap="flat" cmpd="sng">
            <a:solidFill>
              <a:schemeClr val="accent2"/>
            </a:solidFill>
            <a:prstDash val="solid"/>
            <a:round/>
            <a:headEnd type="none" w="med" len="med"/>
            <a:tailEnd type="triangle" w="med" len="med"/>
          </a:ln>
        </p:spPr>
      </p:cxnSp>
      <p:cxnSp>
        <p:nvCxnSpPr>
          <p:cNvPr id="331" name="Google Shape;331;p29"/>
          <p:cNvCxnSpPr/>
          <p:nvPr/>
        </p:nvCxnSpPr>
        <p:spPr>
          <a:xfrm>
            <a:off x="4658750" y="2929125"/>
            <a:ext cx="867600" cy="266400"/>
          </a:xfrm>
          <a:prstGeom prst="straightConnector1">
            <a:avLst/>
          </a:prstGeom>
          <a:noFill/>
          <a:ln w="19050" cap="flat" cmpd="sng">
            <a:solidFill>
              <a:schemeClr val="accent2"/>
            </a:solidFill>
            <a:prstDash val="solid"/>
            <a:round/>
            <a:headEnd type="none" w="med" len="med"/>
            <a:tailEnd type="triangle" w="med" len="med"/>
          </a:ln>
        </p:spPr>
      </p:cxnSp>
      <p:sp>
        <p:nvSpPr>
          <p:cNvPr id="332" name="Google Shape;332;p29"/>
          <p:cNvSpPr/>
          <p:nvPr/>
        </p:nvSpPr>
        <p:spPr>
          <a:xfrm>
            <a:off x="4371650" y="3150443"/>
            <a:ext cx="903300" cy="180900"/>
          </a:xfrm>
          <a:prstGeom prst="roundRect">
            <a:avLst>
              <a:gd name="adj" fmla="val 16667"/>
            </a:avLst>
          </a:prstGeom>
          <a:solidFill>
            <a:srgbClr val="F4CCCC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>
                <a:latin typeface="Roboto"/>
                <a:ea typeface="Roboto"/>
                <a:cs typeface="Roboto"/>
                <a:sym typeface="Roboto"/>
              </a:rPr>
              <a:t>A is 2 away.</a:t>
            </a:r>
            <a:endParaRPr sz="1200"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333" name="Google Shape;333;p29"/>
          <p:cNvCxnSpPr/>
          <p:nvPr/>
        </p:nvCxnSpPr>
        <p:spPr>
          <a:xfrm rot="10800000" flipH="1">
            <a:off x="4658750" y="3824705"/>
            <a:ext cx="867600" cy="266400"/>
          </a:xfrm>
          <a:prstGeom prst="straightConnector1">
            <a:avLst/>
          </a:prstGeom>
          <a:noFill/>
          <a:ln w="19050" cap="flat" cmpd="sng">
            <a:solidFill>
              <a:schemeClr val="accent2"/>
            </a:solidFill>
            <a:prstDash val="solid"/>
            <a:round/>
            <a:headEnd type="none" w="med" len="med"/>
            <a:tailEnd type="triangle" w="med" len="med"/>
          </a:ln>
        </p:spPr>
      </p:cxnSp>
      <p:cxnSp>
        <p:nvCxnSpPr>
          <p:cNvPr id="334" name="Google Shape;334;p29"/>
          <p:cNvCxnSpPr/>
          <p:nvPr/>
        </p:nvCxnSpPr>
        <p:spPr>
          <a:xfrm>
            <a:off x="4658750" y="4453125"/>
            <a:ext cx="867600" cy="266400"/>
          </a:xfrm>
          <a:prstGeom prst="straightConnector1">
            <a:avLst/>
          </a:prstGeom>
          <a:noFill/>
          <a:ln w="19050" cap="flat" cmpd="sng">
            <a:solidFill>
              <a:schemeClr val="accent2"/>
            </a:solidFill>
            <a:prstDash val="solid"/>
            <a:round/>
            <a:headEnd type="none" w="med" len="med"/>
            <a:tailEnd type="triangle" w="med" len="med"/>
          </a:ln>
        </p:spPr>
      </p:cxnSp>
      <p:sp>
        <p:nvSpPr>
          <p:cNvPr id="335" name="Google Shape;335;p29"/>
          <p:cNvSpPr/>
          <p:nvPr/>
        </p:nvSpPr>
        <p:spPr>
          <a:xfrm>
            <a:off x="4371650" y="3665023"/>
            <a:ext cx="903300" cy="180900"/>
          </a:xfrm>
          <a:prstGeom prst="roundRect">
            <a:avLst>
              <a:gd name="adj" fmla="val 16667"/>
            </a:avLst>
          </a:prstGeom>
          <a:solidFill>
            <a:srgbClr val="F4CCCC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>
                <a:latin typeface="Roboto"/>
                <a:ea typeface="Roboto"/>
                <a:cs typeface="Roboto"/>
                <a:sym typeface="Roboto"/>
              </a:rPr>
              <a:t>A is 2 away.</a:t>
            </a:r>
            <a:endParaRPr sz="12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336" name="Google Shape;336;p29"/>
          <p:cNvSpPr/>
          <p:nvPr/>
        </p:nvSpPr>
        <p:spPr>
          <a:xfrm>
            <a:off x="4371650" y="4674443"/>
            <a:ext cx="903300" cy="180900"/>
          </a:xfrm>
          <a:prstGeom prst="roundRect">
            <a:avLst>
              <a:gd name="adj" fmla="val 16667"/>
            </a:avLst>
          </a:prstGeom>
          <a:solidFill>
            <a:srgbClr val="F4CCCC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>
                <a:latin typeface="Roboto"/>
                <a:ea typeface="Roboto"/>
                <a:cs typeface="Roboto"/>
                <a:sym typeface="Roboto"/>
              </a:rPr>
              <a:t>A is 2 away.</a:t>
            </a:r>
            <a:endParaRPr sz="1200"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337" name="Google Shape;337;p29"/>
          <p:cNvCxnSpPr/>
          <p:nvPr/>
        </p:nvCxnSpPr>
        <p:spPr>
          <a:xfrm flipH="1">
            <a:off x="3474239" y="2741453"/>
            <a:ext cx="589200" cy="371700"/>
          </a:xfrm>
          <a:prstGeom prst="straightConnector1">
            <a:avLst/>
          </a:prstGeom>
          <a:noFill/>
          <a:ln w="9525" cap="flat" cmpd="sng">
            <a:solidFill>
              <a:srgbClr val="0000FF"/>
            </a:solidFill>
            <a:prstDash val="solid"/>
            <a:round/>
            <a:headEnd type="none" w="med" len="med"/>
            <a:tailEnd type="triangle" w="med" len="med"/>
          </a:ln>
        </p:spPr>
      </p:cxnSp>
      <p:sp>
        <p:nvSpPr>
          <p:cNvPr id="338" name="Google Shape;338;p29"/>
          <p:cNvSpPr txBox="1"/>
          <p:nvPr/>
        </p:nvSpPr>
        <p:spPr>
          <a:xfrm rot="-1931086">
            <a:off x="3465282" y="2744225"/>
            <a:ext cx="589129" cy="15381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0000FF"/>
                </a:solidFill>
                <a:latin typeface="Roboto"/>
                <a:ea typeface="Roboto"/>
                <a:cs typeface="Roboto"/>
                <a:sym typeface="Roboto"/>
              </a:rPr>
              <a:t>A this way</a:t>
            </a:r>
            <a:endParaRPr sz="1000">
              <a:solidFill>
                <a:srgbClr val="0000FF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339" name="Google Shape;339;p29"/>
          <p:cNvCxnSpPr/>
          <p:nvPr/>
        </p:nvCxnSpPr>
        <p:spPr>
          <a:xfrm rot="10800000">
            <a:off x="3474239" y="3894534"/>
            <a:ext cx="589200" cy="371700"/>
          </a:xfrm>
          <a:prstGeom prst="straightConnector1">
            <a:avLst/>
          </a:prstGeom>
          <a:noFill/>
          <a:ln w="9525" cap="flat" cmpd="sng">
            <a:solidFill>
              <a:srgbClr val="0000FF"/>
            </a:solidFill>
            <a:prstDash val="solid"/>
            <a:round/>
            <a:headEnd type="none" w="med" len="med"/>
            <a:tailEnd type="triangle" w="med" len="med"/>
          </a:ln>
        </p:spPr>
      </p:cxnSp>
      <p:sp>
        <p:nvSpPr>
          <p:cNvPr id="340" name="Google Shape;340;p29"/>
          <p:cNvSpPr txBox="1"/>
          <p:nvPr/>
        </p:nvSpPr>
        <p:spPr>
          <a:xfrm rot="1931086" flipH="1">
            <a:off x="3465282" y="4109644"/>
            <a:ext cx="589129" cy="15381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0000FF"/>
                </a:solidFill>
                <a:latin typeface="Roboto"/>
                <a:ea typeface="Roboto"/>
                <a:cs typeface="Roboto"/>
                <a:sym typeface="Roboto"/>
              </a:rPr>
              <a:t>A this way</a:t>
            </a:r>
            <a:endParaRPr sz="1000">
              <a:solidFill>
                <a:srgbClr val="0000FF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401D06F5-6998-38EB-DAE6-E93AAD72747C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 smtClean="0"/>
              <a:t>5</a:t>
            </a:fld>
            <a:endParaRPr lang="en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Google Shape;345;p30"/>
          <p:cNvSpPr/>
          <p:nvPr/>
        </p:nvSpPr>
        <p:spPr>
          <a:xfrm>
            <a:off x="5598550" y="2016500"/>
            <a:ext cx="517500" cy="3025200"/>
          </a:xfrm>
          <a:prstGeom prst="roundRect">
            <a:avLst>
              <a:gd name="adj" fmla="val 16667"/>
            </a:avLst>
          </a:prstGeom>
          <a:noFill/>
          <a:ln w="19050" cap="flat" cmpd="sng">
            <a:solidFill>
              <a:schemeClr val="accent2"/>
            </a:solidFill>
            <a:prstDash val="dash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346" name="Google Shape;346;p30"/>
          <p:cNvSpPr txBox="1">
            <a:spLocks noGrp="1"/>
          </p:cNvSpPr>
          <p:nvPr>
            <p:ph type="title"/>
          </p:nvPr>
        </p:nvSpPr>
        <p:spPr>
          <a:xfrm>
            <a:off x="0" y="0"/>
            <a:ext cx="9144000" cy="39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Distance-Vector Algorithm Sketch</a:t>
            </a:r>
            <a:endParaRPr/>
          </a:p>
        </p:txBody>
      </p:sp>
      <p:sp>
        <p:nvSpPr>
          <p:cNvPr id="347" name="Google Shape;347;p30"/>
          <p:cNvSpPr txBox="1">
            <a:spLocks noGrp="1"/>
          </p:cNvSpPr>
          <p:nvPr>
            <p:ph type="body" idx="1"/>
          </p:nvPr>
        </p:nvSpPr>
        <p:spPr>
          <a:xfrm>
            <a:off x="107050" y="402200"/>
            <a:ext cx="8909700" cy="6333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One-line algorithm: If you hear about a path to a destination, tell all your neighbors.</a:t>
            </a:r>
            <a:endParaRPr/>
          </a:p>
        </p:txBody>
      </p:sp>
      <p:cxnSp>
        <p:nvCxnSpPr>
          <p:cNvPr id="348" name="Google Shape;348;p30"/>
          <p:cNvCxnSpPr>
            <a:stCxn id="349" idx="3"/>
            <a:endCxn id="350" idx="1"/>
          </p:cNvCxnSpPr>
          <p:nvPr/>
        </p:nvCxnSpPr>
        <p:spPr>
          <a:xfrm rot="10800000" flipH="1">
            <a:off x="2951800" y="2720825"/>
            <a:ext cx="1239000" cy="781200"/>
          </a:xfrm>
          <a:prstGeom prst="straightConnector1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350" name="Google Shape;350;p30"/>
          <p:cNvSpPr/>
          <p:nvPr/>
        </p:nvSpPr>
        <p:spPr>
          <a:xfrm>
            <a:off x="4190800" y="2578475"/>
            <a:ext cx="285000" cy="285000"/>
          </a:xfrm>
          <a:prstGeom prst="rect">
            <a:avLst/>
          </a:prstGeom>
          <a:solidFill>
            <a:srgbClr val="FFFFFF"/>
          </a:solidFill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R2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351" name="Google Shape;351;p30"/>
          <p:cNvSpPr/>
          <p:nvPr/>
        </p:nvSpPr>
        <p:spPr>
          <a:xfrm>
            <a:off x="1371388" y="3359525"/>
            <a:ext cx="285000" cy="285000"/>
          </a:xfrm>
          <a:prstGeom prst="ellipse">
            <a:avLst/>
          </a:prstGeom>
          <a:solidFill>
            <a:srgbClr val="FFFFFF"/>
          </a:solidFill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A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352" name="Google Shape;352;p30"/>
          <p:cNvSpPr/>
          <p:nvPr/>
        </p:nvSpPr>
        <p:spPr>
          <a:xfrm>
            <a:off x="4190800" y="4140575"/>
            <a:ext cx="285000" cy="285000"/>
          </a:xfrm>
          <a:prstGeom prst="rect">
            <a:avLst/>
          </a:prstGeom>
          <a:solidFill>
            <a:srgbClr val="FFFFFF"/>
          </a:solidFill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R3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353" name="Google Shape;353;p30"/>
          <p:cNvCxnSpPr>
            <a:stCxn id="349" idx="3"/>
            <a:endCxn id="352" idx="1"/>
          </p:cNvCxnSpPr>
          <p:nvPr/>
        </p:nvCxnSpPr>
        <p:spPr>
          <a:xfrm>
            <a:off x="2951800" y="3502025"/>
            <a:ext cx="1239000" cy="781200"/>
          </a:xfrm>
          <a:prstGeom prst="straightConnector1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349" name="Google Shape;349;p30"/>
          <p:cNvSpPr/>
          <p:nvPr/>
        </p:nvSpPr>
        <p:spPr>
          <a:xfrm>
            <a:off x="2666800" y="3359525"/>
            <a:ext cx="285000" cy="285000"/>
          </a:xfrm>
          <a:prstGeom prst="rect">
            <a:avLst/>
          </a:prstGeom>
          <a:solidFill>
            <a:srgbClr val="FFFFFF"/>
          </a:solidFill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R1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354" name="Google Shape;354;p30"/>
          <p:cNvCxnSpPr>
            <a:stCxn id="351" idx="6"/>
            <a:endCxn id="349" idx="1"/>
          </p:cNvCxnSpPr>
          <p:nvPr/>
        </p:nvCxnSpPr>
        <p:spPr>
          <a:xfrm>
            <a:off x="1656388" y="3502025"/>
            <a:ext cx="1010400" cy="0"/>
          </a:xfrm>
          <a:prstGeom prst="straightConnector1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355" name="Google Shape;355;p30"/>
          <p:cNvSpPr/>
          <p:nvPr/>
        </p:nvSpPr>
        <p:spPr>
          <a:xfrm>
            <a:off x="5714800" y="2959475"/>
            <a:ext cx="285000" cy="285000"/>
          </a:xfrm>
          <a:prstGeom prst="rect">
            <a:avLst/>
          </a:prstGeom>
          <a:solidFill>
            <a:srgbClr val="FFFFFF"/>
          </a:solidFill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R5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356" name="Google Shape;356;p30"/>
          <p:cNvSpPr/>
          <p:nvPr/>
        </p:nvSpPr>
        <p:spPr>
          <a:xfrm>
            <a:off x="5714800" y="2197475"/>
            <a:ext cx="285000" cy="285000"/>
          </a:xfrm>
          <a:prstGeom prst="rect">
            <a:avLst/>
          </a:prstGeom>
          <a:solidFill>
            <a:srgbClr val="FFFFFF"/>
          </a:solidFill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R4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357" name="Google Shape;357;p30"/>
          <p:cNvSpPr/>
          <p:nvPr/>
        </p:nvSpPr>
        <p:spPr>
          <a:xfrm>
            <a:off x="5714800" y="3759575"/>
            <a:ext cx="285000" cy="285000"/>
          </a:xfrm>
          <a:prstGeom prst="rect">
            <a:avLst/>
          </a:prstGeom>
          <a:solidFill>
            <a:srgbClr val="FFFFFF"/>
          </a:solidFill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R6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358" name="Google Shape;358;p30"/>
          <p:cNvSpPr/>
          <p:nvPr/>
        </p:nvSpPr>
        <p:spPr>
          <a:xfrm>
            <a:off x="5714800" y="4521575"/>
            <a:ext cx="285000" cy="285000"/>
          </a:xfrm>
          <a:prstGeom prst="rect">
            <a:avLst/>
          </a:prstGeom>
          <a:solidFill>
            <a:srgbClr val="FFFFFF"/>
          </a:solidFill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R7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359" name="Google Shape;359;p30"/>
          <p:cNvCxnSpPr>
            <a:stCxn id="350" idx="3"/>
            <a:endCxn id="356" idx="1"/>
          </p:cNvCxnSpPr>
          <p:nvPr/>
        </p:nvCxnSpPr>
        <p:spPr>
          <a:xfrm rot="10800000" flipH="1">
            <a:off x="4475800" y="2339975"/>
            <a:ext cx="1239000" cy="381000"/>
          </a:xfrm>
          <a:prstGeom prst="straightConnector1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360" name="Google Shape;360;p30"/>
          <p:cNvCxnSpPr>
            <a:stCxn id="350" idx="3"/>
            <a:endCxn id="355" idx="1"/>
          </p:cNvCxnSpPr>
          <p:nvPr/>
        </p:nvCxnSpPr>
        <p:spPr>
          <a:xfrm>
            <a:off x="4475800" y="2720975"/>
            <a:ext cx="1239000" cy="381000"/>
          </a:xfrm>
          <a:prstGeom prst="straightConnector1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361" name="Google Shape;361;p30"/>
          <p:cNvCxnSpPr>
            <a:stCxn id="352" idx="3"/>
            <a:endCxn id="357" idx="1"/>
          </p:cNvCxnSpPr>
          <p:nvPr/>
        </p:nvCxnSpPr>
        <p:spPr>
          <a:xfrm rot="10800000" flipH="1">
            <a:off x="4475800" y="3902075"/>
            <a:ext cx="1239000" cy="381000"/>
          </a:xfrm>
          <a:prstGeom prst="straightConnector1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362" name="Google Shape;362;p30"/>
          <p:cNvCxnSpPr>
            <a:stCxn id="352" idx="3"/>
            <a:endCxn id="358" idx="1"/>
          </p:cNvCxnSpPr>
          <p:nvPr/>
        </p:nvCxnSpPr>
        <p:spPr>
          <a:xfrm>
            <a:off x="4475800" y="4283075"/>
            <a:ext cx="1239000" cy="381000"/>
          </a:xfrm>
          <a:prstGeom prst="straightConnector1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363" name="Google Shape;363;p30"/>
          <p:cNvSpPr/>
          <p:nvPr/>
        </p:nvSpPr>
        <p:spPr>
          <a:xfrm>
            <a:off x="7238800" y="2016500"/>
            <a:ext cx="285000" cy="285000"/>
          </a:xfrm>
          <a:prstGeom prst="rect">
            <a:avLst/>
          </a:prstGeom>
          <a:solidFill>
            <a:srgbClr val="FFFFFF"/>
          </a:solidFill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R8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364" name="Google Shape;364;p30"/>
          <p:cNvSpPr/>
          <p:nvPr/>
        </p:nvSpPr>
        <p:spPr>
          <a:xfrm>
            <a:off x="7238800" y="2378450"/>
            <a:ext cx="285000" cy="285000"/>
          </a:xfrm>
          <a:prstGeom prst="rect">
            <a:avLst/>
          </a:prstGeom>
          <a:solidFill>
            <a:srgbClr val="FFFFFF"/>
          </a:solidFill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R9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365" name="Google Shape;365;p30"/>
          <p:cNvSpPr/>
          <p:nvPr/>
        </p:nvSpPr>
        <p:spPr>
          <a:xfrm>
            <a:off x="7238800" y="2778500"/>
            <a:ext cx="285000" cy="285000"/>
          </a:xfrm>
          <a:prstGeom prst="rect">
            <a:avLst/>
          </a:prstGeom>
          <a:solidFill>
            <a:srgbClr val="FFFFFF"/>
          </a:solidFill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>
                <a:latin typeface="Roboto"/>
                <a:ea typeface="Roboto"/>
                <a:cs typeface="Roboto"/>
                <a:sym typeface="Roboto"/>
              </a:rPr>
              <a:t>R10</a:t>
            </a:r>
            <a:endParaRPr sz="12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366" name="Google Shape;366;p30"/>
          <p:cNvSpPr/>
          <p:nvPr/>
        </p:nvSpPr>
        <p:spPr>
          <a:xfrm>
            <a:off x="7238800" y="3140450"/>
            <a:ext cx="285000" cy="285000"/>
          </a:xfrm>
          <a:prstGeom prst="rect">
            <a:avLst/>
          </a:prstGeom>
          <a:solidFill>
            <a:srgbClr val="FFFFFF"/>
          </a:solidFill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>
                <a:latin typeface="Roboto"/>
                <a:ea typeface="Roboto"/>
                <a:cs typeface="Roboto"/>
                <a:sym typeface="Roboto"/>
              </a:rPr>
              <a:t>R11</a:t>
            </a:r>
            <a:endParaRPr sz="12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367" name="Google Shape;367;p30"/>
          <p:cNvSpPr/>
          <p:nvPr/>
        </p:nvSpPr>
        <p:spPr>
          <a:xfrm>
            <a:off x="7238800" y="3578600"/>
            <a:ext cx="285000" cy="285000"/>
          </a:xfrm>
          <a:prstGeom prst="rect">
            <a:avLst/>
          </a:prstGeom>
          <a:solidFill>
            <a:srgbClr val="FFFFFF"/>
          </a:solidFill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>
                <a:latin typeface="Roboto"/>
                <a:ea typeface="Roboto"/>
                <a:cs typeface="Roboto"/>
                <a:sym typeface="Roboto"/>
              </a:rPr>
              <a:t>R12</a:t>
            </a:r>
            <a:endParaRPr sz="12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368" name="Google Shape;368;p30"/>
          <p:cNvSpPr/>
          <p:nvPr/>
        </p:nvSpPr>
        <p:spPr>
          <a:xfrm>
            <a:off x="7238800" y="3940550"/>
            <a:ext cx="285000" cy="285000"/>
          </a:xfrm>
          <a:prstGeom prst="rect">
            <a:avLst/>
          </a:prstGeom>
          <a:solidFill>
            <a:srgbClr val="FFFFFF"/>
          </a:solidFill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>
                <a:latin typeface="Roboto"/>
                <a:ea typeface="Roboto"/>
                <a:cs typeface="Roboto"/>
                <a:sym typeface="Roboto"/>
              </a:rPr>
              <a:t>R13</a:t>
            </a:r>
            <a:endParaRPr sz="12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369" name="Google Shape;369;p30"/>
          <p:cNvSpPr/>
          <p:nvPr/>
        </p:nvSpPr>
        <p:spPr>
          <a:xfrm>
            <a:off x="7238800" y="4340600"/>
            <a:ext cx="285000" cy="285000"/>
          </a:xfrm>
          <a:prstGeom prst="rect">
            <a:avLst/>
          </a:prstGeom>
          <a:solidFill>
            <a:srgbClr val="FFFFFF"/>
          </a:solidFill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>
                <a:latin typeface="Roboto"/>
                <a:ea typeface="Roboto"/>
                <a:cs typeface="Roboto"/>
                <a:sym typeface="Roboto"/>
              </a:rPr>
              <a:t>R14</a:t>
            </a:r>
            <a:endParaRPr sz="12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370" name="Google Shape;370;p30"/>
          <p:cNvSpPr/>
          <p:nvPr/>
        </p:nvSpPr>
        <p:spPr>
          <a:xfrm>
            <a:off x="7238800" y="4702550"/>
            <a:ext cx="285000" cy="285000"/>
          </a:xfrm>
          <a:prstGeom prst="rect">
            <a:avLst/>
          </a:prstGeom>
          <a:solidFill>
            <a:srgbClr val="FFFFFF"/>
          </a:solidFill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>
                <a:latin typeface="Roboto"/>
                <a:ea typeface="Roboto"/>
                <a:cs typeface="Roboto"/>
                <a:sym typeface="Roboto"/>
              </a:rPr>
              <a:t>R15</a:t>
            </a:r>
            <a:endParaRPr sz="1200"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371" name="Google Shape;371;p30"/>
          <p:cNvCxnSpPr>
            <a:stCxn id="356" idx="3"/>
            <a:endCxn id="363" idx="1"/>
          </p:cNvCxnSpPr>
          <p:nvPr/>
        </p:nvCxnSpPr>
        <p:spPr>
          <a:xfrm rot="10800000" flipH="1">
            <a:off x="5999800" y="2159075"/>
            <a:ext cx="1239000" cy="180900"/>
          </a:xfrm>
          <a:prstGeom prst="straightConnector1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372" name="Google Shape;372;p30"/>
          <p:cNvCxnSpPr>
            <a:stCxn id="356" idx="3"/>
            <a:endCxn id="364" idx="1"/>
          </p:cNvCxnSpPr>
          <p:nvPr/>
        </p:nvCxnSpPr>
        <p:spPr>
          <a:xfrm>
            <a:off x="5999800" y="2339975"/>
            <a:ext cx="1239000" cy="180900"/>
          </a:xfrm>
          <a:prstGeom prst="straightConnector1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373" name="Google Shape;373;p30"/>
          <p:cNvCxnSpPr>
            <a:stCxn id="355" idx="3"/>
            <a:endCxn id="365" idx="1"/>
          </p:cNvCxnSpPr>
          <p:nvPr/>
        </p:nvCxnSpPr>
        <p:spPr>
          <a:xfrm rot="10800000" flipH="1">
            <a:off x="5999800" y="2921075"/>
            <a:ext cx="1239000" cy="180900"/>
          </a:xfrm>
          <a:prstGeom prst="straightConnector1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374" name="Google Shape;374;p30"/>
          <p:cNvCxnSpPr>
            <a:stCxn id="355" idx="3"/>
            <a:endCxn id="366" idx="1"/>
          </p:cNvCxnSpPr>
          <p:nvPr/>
        </p:nvCxnSpPr>
        <p:spPr>
          <a:xfrm>
            <a:off x="5999800" y="3101975"/>
            <a:ext cx="1239000" cy="180900"/>
          </a:xfrm>
          <a:prstGeom prst="straightConnector1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375" name="Google Shape;375;p30"/>
          <p:cNvCxnSpPr>
            <a:stCxn id="357" idx="3"/>
            <a:endCxn id="367" idx="1"/>
          </p:cNvCxnSpPr>
          <p:nvPr/>
        </p:nvCxnSpPr>
        <p:spPr>
          <a:xfrm rot="10800000" flipH="1">
            <a:off x="5999800" y="3721175"/>
            <a:ext cx="1239000" cy="180900"/>
          </a:xfrm>
          <a:prstGeom prst="straightConnector1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376" name="Google Shape;376;p30"/>
          <p:cNvCxnSpPr>
            <a:stCxn id="357" idx="3"/>
            <a:endCxn id="368" idx="1"/>
          </p:cNvCxnSpPr>
          <p:nvPr/>
        </p:nvCxnSpPr>
        <p:spPr>
          <a:xfrm>
            <a:off x="5999800" y="3902075"/>
            <a:ext cx="1239000" cy="180900"/>
          </a:xfrm>
          <a:prstGeom prst="straightConnector1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377" name="Google Shape;377;p30"/>
          <p:cNvCxnSpPr>
            <a:stCxn id="358" idx="3"/>
            <a:endCxn id="369" idx="1"/>
          </p:cNvCxnSpPr>
          <p:nvPr/>
        </p:nvCxnSpPr>
        <p:spPr>
          <a:xfrm rot="10800000" flipH="1">
            <a:off x="5999800" y="4483175"/>
            <a:ext cx="1239000" cy="180900"/>
          </a:xfrm>
          <a:prstGeom prst="straightConnector1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378" name="Google Shape;378;p30"/>
          <p:cNvCxnSpPr>
            <a:stCxn id="358" idx="3"/>
            <a:endCxn id="370" idx="1"/>
          </p:cNvCxnSpPr>
          <p:nvPr/>
        </p:nvCxnSpPr>
        <p:spPr>
          <a:xfrm>
            <a:off x="5999800" y="4664075"/>
            <a:ext cx="1239000" cy="180900"/>
          </a:xfrm>
          <a:prstGeom prst="straightConnector1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379" name="Google Shape;379;p30"/>
          <p:cNvCxnSpPr/>
          <p:nvPr/>
        </p:nvCxnSpPr>
        <p:spPr>
          <a:xfrm rot="10800000">
            <a:off x="2003375" y="3434175"/>
            <a:ext cx="595200" cy="0"/>
          </a:xfrm>
          <a:prstGeom prst="straightConnector1">
            <a:avLst/>
          </a:prstGeom>
          <a:noFill/>
          <a:ln w="9525" cap="flat" cmpd="sng">
            <a:solidFill>
              <a:srgbClr val="0000FF"/>
            </a:solidFill>
            <a:prstDash val="solid"/>
            <a:round/>
            <a:headEnd type="none" w="med" len="med"/>
            <a:tailEnd type="triangle" w="med" len="med"/>
          </a:ln>
        </p:spPr>
      </p:cxnSp>
      <p:sp>
        <p:nvSpPr>
          <p:cNvPr id="380" name="Google Shape;380;p30"/>
          <p:cNvSpPr txBox="1"/>
          <p:nvPr/>
        </p:nvSpPr>
        <p:spPr>
          <a:xfrm>
            <a:off x="2009375" y="3257150"/>
            <a:ext cx="589200" cy="153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0000FF"/>
                </a:solidFill>
                <a:latin typeface="Roboto"/>
                <a:ea typeface="Roboto"/>
                <a:cs typeface="Roboto"/>
                <a:sym typeface="Roboto"/>
              </a:rPr>
              <a:t>A this way</a:t>
            </a:r>
            <a:endParaRPr sz="1000">
              <a:solidFill>
                <a:srgbClr val="0000FF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381" name="Google Shape;381;p30"/>
          <p:cNvSpPr/>
          <p:nvPr/>
        </p:nvSpPr>
        <p:spPr>
          <a:xfrm>
            <a:off x="3602450" y="1064688"/>
            <a:ext cx="2044500" cy="842700"/>
          </a:xfrm>
          <a:prstGeom prst="wedgeRoundRectCallout">
            <a:avLst>
              <a:gd name="adj1" fmla="val 43927"/>
              <a:gd name="adj2" fmla="val 70959"/>
              <a:gd name="adj3" fmla="val 0"/>
            </a:avLst>
          </a:prstGeom>
          <a:noFill/>
          <a:ln w="9525" cap="flat" cmpd="sng">
            <a:solidFill>
              <a:schemeClr val="accent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accent2"/>
                </a:solidFill>
                <a:latin typeface="Roboto"/>
                <a:ea typeface="Roboto"/>
                <a:cs typeface="Roboto"/>
                <a:sym typeface="Roboto"/>
              </a:rPr>
              <a:t>We just found a way to reach A. We should tell our neighbors.</a:t>
            </a:r>
            <a:endParaRPr>
              <a:solidFill>
                <a:schemeClr val="accent2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382" name="Google Shape;382;p30"/>
          <p:cNvCxnSpPr/>
          <p:nvPr/>
        </p:nvCxnSpPr>
        <p:spPr>
          <a:xfrm flipH="1">
            <a:off x="4902875" y="2326325"/>
            <a:ext cx="675000" cy="208200"/>
          </a:xfrm>
          <a:prstGeom prst="straightConnector1">
            <a:avLst/>
          </a:prstGeom>
          <a:noFill/>
          <a:ln w="9525" cap="flat" cmpd="sng">
            <a:solidFill>
              <a:srgbClr val="0000FF"/>
            </a:solidFill>
            <a:prstDash val="solid"/>
            <a:round/>
            <a:headEnd type="none" w="med" len="med"/>
            <a:tailEnd type="triangle" w="med" len="med"/>
          </a:ln>
        </p:spPr>
      </p:cxnSp>
      <p:sp>
        <p:nvSpPr>
          <p:cNvPr id="383" name="Google Shape;383;p30"/>
          <p:cNvSpPr txBox="1"/>
          <p:nvPr/>
        </p:nvSpPr>
        <p:spPr>
          <a:xfrm rot="-1045209">
            <a:off x="4976223" y="2253586"/>
            <a:ext cx="589225" cy="15399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0000FF"/>
                </a:solidFill>
                <a:latin typeface="Roboto"/>
                <a:ea typeface="Roboto"/>
                <a:cs typeface="Roboto"/>
                <a:sym typeface="Roboto"/>
              </a:rPr>
              <a:t>A this way</a:t>
            </a:r>
            <a:endParaRPr sz="1000">
              <a:solidFill>
                <a:srgbClr val="0000FF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384" name="Google Shape;384;p30"/>
          <p:cNvCxnSpPr/>
          <p:nvPr/>
        </p:nvCxnSpPr>
        <p:spPr>
          <a:xfrm rot="10800000">
            <a:off x="4902875" y="2914248"/>
            <a:ext cx="675000" cy="208200"/>
          </a:xfrm>
          <a:prstGeom prst="straightConnector1">
            <a:avLst/>
          </a:prstGeom>
          <a:noFill/>
          <a:ln w="9525" cap="flat" cmpd="sng">
            <a:solidFill>
              <a:srgbClr val="0000FF"/>
            </a:solidFill>
            <a:prstDash val="solid"/>
            <a:round/>
            <a:headEnd type="none" w="med" len="med"/>
            <a:tailEnd type="triangle" w="med" len="med"/>
          </a:ln>
        </p:spPr>
      </p:cxnSp>
      <p:sp>
        <p:nvSpPr>
          <p:cNvPr id="385" name="Google Shape;385;p30"/>
          <p:cNvSpPr txBox="1"/>
          <p:nvPr/>
        </p:nvSpPr>
        <p:spPr>
          <a:xfrm rot="1045209" flipH="1">
            <a:off x="4976223" y="3041188"/>
            <a:ext cx="589225" cy="15399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0000FF"/>
                </a:solidFill>
                <a:latin typeface="Roboto"/>
                <a:ea typeface="Roboto"/>
                <a:cs typeface="Roboto"/>
                <a:sym typeface="Roboto"/>
              </a:rPr>
              <a:t>A this way</a:t>
            </a:r>
            <a:endParaRPr sz="1000">
              <a:solidFill>
                <a:srgbClr val="0000FF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386" name="Google Shape;386;p30"/>
          <p:cNvCxnSpPr/>
          <p:nvPr/>
        </p:nvCxnSpPr>
        <p:spPr>
          <a:xfrm flipH="1">
            <a:off x="4902875" y="3884931"/>
            <a:ext cx="675000" cy="208200"/>
          </a:xfrm>
          <a:prstGeom prst="straightConnector1">
            <a:avLst/>
          </a:prstGeom>
          <a:noFill/>
          <a:ln w="9525" cap="flat" cmpd="sng">
            <a:solidFill>
              <a:srgbClr val="0000FF"/>
            </a:solidFill>
            <a:prstDash val="solid"/>
            <a:round/>
            <a:headEnd type="none" w="med" len="med"/>
            <a:tailEnd type="triangle" w="med" len="med"/>
          </a:ln>
        </p:spPr>
      </p:cxnSp>
      <p:sp>
        <p:nvSpPr>
          <p:cNvPr id="387" name="Google Shape;387;p30"/>
          <p:cNvSpPr txBox="1"/>
          <p:nvPr/>
        </p:nvSpPr>
        <p:spPr>
          <a:xfrm rot="-1045209">
            <a:off x="4976223" y="3812192"/>
            <a:ext cx="589225" cy="15399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0000FF"/>
                </a:solidFill>
                <a:latin typeface="Roboto"/>
                <a:ea typeface="Roboto"/>
                <a:cs typeface="Roboto"/>
                <a:sym typeface="Roboto"/>
              </a:rPr>
              <a:t>A this way</a:t>
            </a:r>
            <a:endParaRPr sz="1000">
              <a:solidFill>
                <a:srgbClr val="0000FF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388" name="Google Shape;388;p30"/>
          <p:cNvCxnSpPr/>
          <p:nvPr/>
        </p:nvCxnSpPr>
        <p:spPr>
          <a:xfrm rot="10800000">
            <a:off x="4902875" y="4472854"/>
            <a:ext cx="675000" cy="208200"/>
          </a:xfrm>
          <a:prstGeom prst="straightConnector1">
            <a:avLst/>
          </a:prstGeom>
          <a:noFill/>
          <a:ln w="9525" cap="flat" cmpd="sng">
            <a:solidFill>
              <a:srgbClr val="0000FF"/>
            </a:solidFill>
            <a:prstDash val="solid"/>
            <a:round/>
            <a:headEnd type="none" w="med" len="med"/>
            <a:tailEnd type="triangle" w="med" len="med"/>
          </a:ln>
        </p:spPr>
      </p:cxnSp>
      <p:sp>
        <p:nvSpPr>
          <p:cNvPr id="389" name="Google Shape;389;p30"/>
          <p:cNvSpPr txBox="1"/>
          <p:nvPr/>
        </p:nvSpPr>
        <p:spPr>
          <a:xfrm rot="1045209" flipH="1">
            <a:off x="4976223" y="4599794"/>
            <a:ext cx="589225" cy="15399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0000FF"/>
                </a:solidFill>
                <a:latin typeface="Roboto"/>
                <a:ea typeface="Roboto"/>
                <a:cs typeface="Roboto"/>
                <a:sym typeface="Roboto"/>
              </a:rPr>
              <a:t>A this way</a:t>
            </a:r>
            <a:endParaRPr sz="1000">
              <a:solidFill>
                <a:srgbClr val="0000FF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390" name="Google Shape;390;p30"/>
          <p:cNvCxnSpPr/>
          <p:nvPr/>
        </p:nvCxnSpPr>
        <p:spPr>
          <a:xfrm flipH="1">
            <a:off x="3474239" y="2741453"/>
            <a:ext cx="589200" cy="371700"/>
          </a:xfrm>
          <a:prstGeom prst="straightConnector1">
            <a:avLst/>
          </a:prstGeom>
          <a:noFill/>
          <a:ln w="9525" cap="flat" cmpd="sng">
            <a:solidFill>
              <a:srgbClr val="0000FF"/>
            </a:solidFill>
            <a:prstDash val="solid"/>
            <a:round/>
            <a:headEnd type="none" w="med" len="med"/>
            <a:tailEnd type="triangle" w="med" len="med"/>
          </a:ln>
        </p:spPr>
      </p:cxnSp>
      <p:sp>
        <p:nvSpPr>
          <p:cNvPr id="391" name="Google Shape;391;p30"/>
          <p:cNvSpPr txBox="1"/>
          <p:nvPr/>
        </p:nvSpPr>
        <p:spPr>
          <a:xfrm rot="-1931086">
            <a:off x="3465282" y="2744225"/>
            <a:ext cx="589129" cy="15381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0000FF"/>
                </a:solidFill>
                <a:latin typeface="Roboto"/>
                <a:ea typeface="Roboto"/>
                <a:cs typeface="Roboto"/>
                <a:sym typeface="Roboto"/>
              </a:rPr>
              <a:t>A this way</a:t>
            </a:r>
            <a:endParaRPr sz="1000">
              <a:solidFill>
                <a:srgbClr val="0000FF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392" name="Google Shape;392;p30"/>
          <p:cNvCxnSpPr/>
          <p:nvPr/>
        </p:nvCxnSpPr>
        <p:spPr>
          <a:xfrm rot="10800000">
            <a:off x="3474239" y="3894534"/>
            <a:ext cx="589200" cy="371700"/>
          </a:xfrm>
          <a:prstGeom prst="straightConnector1">
            <a:avLst/>
          </a:prstGeom>
          <a:noFill/>
          <a:ln w="9525" cap="flat" cmpd="sng">
            <a:solidFill>
              <a:srgbClr val="0000FF"/>
            </a:solidFill>
            <a:prstDash val="solid"/>
            <a:round/>
            <a:headEnd type="none" w="med" len="med"/>
            <a:tailEnd type="triangle" w="med" len="med"/>
          </a:ln>
        </p:spPr>
      </p:cxnSp>
      <p:sp>
        <p:nvSpPr>
          <p:cNvPr id="393" name="Google Shape;393;p30"/>
          <p:cNvSpPr txBox="1"/>
          <p:nvPr/>
        </p:nvSpPr>
        <p:spPr>
          <a:xfrm rot="1931086" flipH="1">
            <a:off x="3465282" y="4109644"/>
            <a:ext cx="589129" cy="15381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0000FF"/>
                </a:solidFill>
                <a:latin typeface="Roboto"/>
                <a:ea typeface="Roboto"/>
                <a:cs typeface="Roboto"/>
                <a:sym typeface="Roboto"/>
              </a:rPr>
              <a:t>A this way</a:t>
            </a:r>
            <a:endParaRPr sz="1000">
              <a:solidFill>
                <a:srgbClr val="0000FF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AB773AA6-3BEA-67E3-C2C3-C04D169E9342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 smtClean="0"/>
              <a:t>6</a:t>
            </a:fld>
            <a:endParaRPr lang="en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8" name="Google Shape;398;p31"/>
          <p:cNvSpPr txBox="1">
            <a:spLocks noGrp="1"/>
          </p:cNvSpPr>
          <p:nvPr>
            <p:ph type="title"/>
          </p:nvPr>
        </p:nvSpPr>
        <p:spPr>
          <a:xfrm>
            <a:off x="0" y="0"/>
            <a:ext cx="9144000" cy="39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Distance-Vector Algorithm Sketch</a:t>
            </a:r>
            <a:endParaRPr/>
          </a:p>
        </p:txBody>
      </p:sp>
      <p:sp>
        <p:nvSpPr>
          <p:cNvPr id="399" name="Google Shape;399;p31"/>
          <p:cNvSpPr txBox="1">
            <a:spLocks noGrp="1"/>
          </p:cNvSpPr>
          <p:nvPr>
            <p:ph type="body" idx="1"/>
          </p:nvPr>
        </p:nvSpPr>
        <p:spPr>
          <a:xfrm>
            <a:off x="107050" y="402200"/>
            <a:ext cx="8909700" cy="6333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One-line algorithm: If you hear about a path to a destination, tell all your neighbors.</a:t>
            </a:r>
            <a:endParaRPr/>
          </a:p>
        </p:txBody>
      </p:sp>
      <p:cxnSp>
        <p:nvCxnSpPr>
          <p:cNvPr id="400" name="Google Shape;400;p31"/>
          <p:cNvCxnSpPr>
            <a:stCxn id="401" idx="3"/>
            <a:endCxn id="402" idx="1"/>
          </p:cNvCxnSpPr>
          <p:nvPr/>
        </p:nvCxnSpPr>
        <p:spPr>
          <a:xfrm rot="10800000" flipH="1">
            <a:off x="2951800" y="2720825"/>
            <a:ext cx="1239000" cy="781200"/>
          </a:xfrm>
          <a:prstGeom prst="straightConnector1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402" name="Google Shape;402;p31"/>
          <p:cNvSpPr/>
          <p:nvPr/>
        </p:nvSpPr>
        <p:spPr>
          <a:xfrm>
            <a:off x="4190800" y="2578475"/>
            <a:ext cx="285000" cy="285000"/>
          </a:xfrm>
          <a:prstGeom prst="rect">
            <a:avLst/>
          </a:prstGeom>
          <a:solidFill>
            <a:srgbClr val="FFFFFF"/>
          </a:solidFill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R2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403" name="Google Shape;403;p31"/>
          <p:cNvSpPr/>
          <p:nvPr/>
        </p:nvSpPr>
        <p:spPr>
          <a:xfrm>
            <a:off x="1371388" y="3359525"/>
            <a:ext cx="285000" cy="285000"/>
          </a:xfrm>
          <a:prstGeom prst="ellipse">
            <a:avLst/>
          </a:prstGeom>
          <a:solidFill>
            <a:srgbClr val="FFFFFF"/>
          </a:solidFill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A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404" name="Google Shape;404;p31"/>
          <p:cNvSpPr/>
          <p:nvPr/>
        </p:nvSpPr>
        <p:spPr>
          <a:xfrm>
            <a:off x="4190800" y="4140575"/>
            <a:ext cx="285000" cy="285000"/>
          </a:xfrm>
          <a:prstGeom prst="rect">
            <a:avLst/>
          </a:prstGeom>
          <a:solidFill>
            <a:srgbClr val="FFFFFF"/>
          </a:solidFill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R3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405" name="Google Shape;405;p31"/>
          <p:cNvCxnSpPr>
            <a:stCxn id="401" idx="3"/>
            <a:endCxn id="404" idx="1"/>
          </p:cNvCxnSpPr>
          <p:nvPr/>
        </p:nvCxnSpPr>
        <p:spPr>
          <a:xfrm>
            <a:off x="2951800" y="3502025"/>
            <a:ext cx="1239000" cy="781200"/>
          </a:xfrm>
          <a:prstGeom prst="straightConnector1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401" name="Google Shape;401;p31"/>
          <p:cNvSpPr/>
          <p:nvPr/>
        </p:nvSpPr>
        <p:spPr>
          <a:xfrm>
            <a:off x="2666800" y="3359525"/>
            <a:ext cx="285000" cy="285000"/>
          </a:xfrm>
          <a:prstGeom prst="rect">
            <a:avLst/>
          </a:prstGeom>
          <a:solidFill>
            <a:srgbClr val="FFFFFF"/>
          </a:solidFill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R1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406" name="Google Shape;406;p31"/>
          <p:cNvCxnSpPr>
            <a:stCxn id="403" idx="6"/>
            <a:endCxn id="401" idx="1"/>
          </p:cNvCxnSpPr>
          <p:nvPr/>
        </p:nvCxnSpPr>
        <p:spPr>
          <a:xfrm>
            <a:off x="1656388" y="3502025"/>
            <a:ext cx="1010400" cy="0"/>
          </a:xfrm>
          <a:prstGeom prst="straightConnector1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407" name="Google Shape;407;p31"/>
          <p:cNvSpPr/>
          <p:nvPr/>
        </p:nvSpPr>
        <p:spPr>
          <a:xfrm>
            <a:off x="5714800" y="2959475"/>
            <a:ext cx="285000" cy="285000"/>
          </a:xfrm>
          <a:prstGeom prst="rect">
            <a:avLst/>
          </a:prstGeom>
          <a:solidFill>
            <a:srgbClr val="FFFFFF"/>
          </a:solidFill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R5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408" name="Google Shape;408;p31"/>
          <p:cNvSpPr/>
          <p:nvPr/>
        </p:nvSpPr>
        <p:spPr>
          <a:xfrm>
            <a:off x="5714800" y="2197475"/>
            <a:ext cx="285000" cy="285000"/>
          </a:xfrm>
          <a:prstGeom prst="rect">
            <a:avLst/>
          </a:prstGeom>
          <a:solidFill>
            <a:srgbClr val="FFFFFF"/>
          </a:solidFill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R4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409" name="Google Shape;409;p31"/>
          <p:cNvSpPr/>
          <p:nvPr/>
        </p:nvSpPr>
        <p:spPr>
          <a:xfrm>
            <a:off x="5714800" y="3759575"/>
            <a:ext cx="285000" cy="285000"/>
          </a:xfrm>
          <a:prstGeom prst="rect">
            <a:avLst/>
          </a:prstGeom>
          <a:solidFill>
            <a:srgbClr val="FFFFFF"/>
          </a:solidFill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R6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410" name="Google Shape;410;p31"/>
          <p:cNvSpPr/>
          <p:nvPr/>
        </p:nvSpPr>
        <p:spPr>
          <a:xfrm>
            <a:off x="5714800" y="4521575"/>
            <a:ext cx="285000" cy="285000"/>
          </a:xfrm>
          <a:prstGeom prst="rect">
            <a:avLst/>
          </a:prstGeom>
          <a:solidFill>
            <a:srgbClr val="FFFFFF"/>
          </a:solidFill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R7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411" name="Google Shape;411;p31"/>
          <p:cNvCxnSpPr>
            <a:stCxn id="402" idx="3"/>
            <a:endCxn id="408" idx="1"/>
          </p:cNvCxnSpPr>
          <p:nvPr/>
        </p:nvCxnSpPr>
        <p:spPr>
          <a:xfrm rot="10800000" flipH="1">
            <a:off x="4475800" y="2339975"/>
            <a:ext cx="1239000" cy="381000"/>
          </a:xfrm>
          <a:prstGeom prst="straightConnector1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412" name="Google Shape;412;p31"/>
          <p:cNvCxnSpPr>
            <a:stCxn id="402" idx="3"/>
            <a:endCxn id="407" idx="1"/>
          </p:cNvCxnSpPr>
          <p:nvPr/>
        </p:nvCxnSpPr>
        <p:spPr>
          <a:xfrm>
            <a:off x="4475800" y="2720975"/>
            <a:ext cx="1239000" cy="381000"/>
          </a:xfrm>
          <a:prstGeom prst="straightConnector1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413" name="Google Shape;413;p31"/>
          <p:cNvCxnSpPr>
            <a:stCxn id="404" idx="3"/>
            <a:endCxn id="409" idx="1"/>
          </p:cNvCxnSpPr>
          <p:nvPr/>
        </p:nvCxnSpPr>
        <p:spPr>
          <a:xfrm rot="10800000" flipH="1">
            <a:off x="4475800" y="3902075"/>
            <a:ext cx="1239000" cy="381000"/>
          </a:xfrm>
          <a:prstGeom prst="straightConnector1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414" name="Google Shape;414;p31"/>
          <p:cNvCxnSpPr>
            <a:stCxn id="404" idx="3"/>
            <a:endCxn id="410" idx="1"/>
          </p:cNvCxnSpPr>
          <p:nvPr/>
        </p:nvCxnSpPr>
        <p:spPr>
          <a:xfrm>
            <a:off x="4475800" y="4283075"/>
            <a:ext cx="1239000" cy="381000"/>
          </a:xfrm>
          <a:prstGeom prst="straightConnector1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415" name="Google Shape;415;p31"/>
          <p:cNvSpPr/>
          <p:nvPr/>
        </p:nvSpPr>
        <p:spPr>
          <a:xfrm>
            <a:off x="7238800" y="2016500"/>
            <a:ext cx="285000" cy="285000"/>
          </a:xfrm>
          <a:prstGeom prst="rect">
            <a:avLst/>
          </a:prstGeom>
          <a:solidFill>
            <a:srgbClr val="FFFFFF"/>
          </a:solidFill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R8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416" name="Google Shape;416;p31"/>
          <p:cNvSpPr/>
          <p:nvPr/>
        </p:nvSpPr>
        <p:spPr>
          <a:xfrm>
            <a:off x="7238800" y="2378450"/>
            <a:ext cx="285000" cy="285000"/>
          </a:xfrm>
          <a:prstGeom prst="rect">
            <a:avLst/>
          </a:prstGeom>
          <a:solidFill>
            <a:srgbClr val="FFFFFF"/>
          </a:solidFill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R9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417" name="Google Shape;417;p31"/>
          <p:cNvSpPr/>
          <p:nvPr/>
        </p:nvSpPr>
        <p:spPr>
          <a:xfrm>
            <a:off x="7238800" y="2778500"/>
            <a:ext cx="285000" cy="285000"/>
          </a:xfrm>
          <a:prstGeom prst="rect">
            <a:avLst/>
          </a:prstGeom>
          <a:solidFill>
            <a:srgbClr val="FFFFFF"/>
          </a:solidFill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>
                <a:latin typeface="Roboto"/>
                <a:ea typeface="Roboto"/>
                <a:cs typeface="Roboto"/>
                <a:sym typeface="Roboto"/>
              </a:rPr>
              <a:t>R10</a:t>
            </a:r>
            <a:endParaRPr sz="12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418" name="Google Shape;418;p31"/>
          <p:cNvSpPr/>
          <p:nvPr/>
        </p:nvSpPr>
        <p:spPr>
          <a:xfrm>
            <a:off x="7238800" y="3140450"/>
            <a:ext cx="285000" cy="285000"/>
          </a:xfrm>
          <a:prstGeom prst="rect">
            <a:avLst/>
          </a:prstGeom>
          <a:solidFill>
            <a:srgbClr val="FFFFFF"/>
          </a:solidFill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>
                <a:latin typeface="Roboto"/>
                <a:ea typeface="Roboto"/>
                <a:cs typeface="Roboto"/>
                <a:sym typeface="Roboto"/>
              </a:rPr>
              <a:t>R11</a:t>
            </a:r>
            <a:endParaRPr sz="12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419" name="Google Shape;419;p31"/>
          <p:cNvSpPr/>
          <p:nvPr/>
        </p:nvSpPr>
        <p:spPr>
          <a:xfrm>
            <a:off x="7238800" y="3578600"/>
            <a:ext cx="285000" cy="285000"/>
          </a:xfrm>
          <a:prstGeom prst="rect">
            <a:avLst/>
          </a:prstGeom>
          <a:solidFill>
            <a:srgbClr val="FFFFFF"/>
          </a:solidFill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>
                <a:latin typeface="Roboto"/>
                <a:ea typeface="Roboto"/>
                <a:cs typeface="Roboto"/>
                <a:sym typeface="Roboto"/>
              </a:rPr>
              <a:t>R12</a:t>
            </a:r>
            <a:endParaRPr sz="12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420" name="Google Shape;420;p31"/>
          <p:cNvSpPr/>
          <p:nvPr/>
        </p:nvSpPr>
        <p:spPr>
          <a:xfrm>
            <a:off x="7238800" y="3940550"/>
            <a:ext cx="285000" cy="285000"/>
          </a:xfrm>
          <a:prstGeom prst="rect">
            <a:avLst/>
          </a:prstGeom>
          <a:solidFill>
            <a:srgbClr val="FFFFFF"/>
          </a:solidFill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>
                <a:latin typeface="Roboto"/>
                <a:ea typeface="Roboto"/>
                <a:cs typeface="Roboto"/>
                <a:sym typeface="Roboto"/>
              </a:rPr>
              <a:t>R13</a:t>
            </a:r>
            <a:endParaRPr sz="12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421" name="Google Shape;421;p31"/>
          <p:cNvSpPr/>
          <p:nvPr/>
        </p:nvSpPr>
        <p:spPr>
          <a:xfrm>
            <a:off x="7238800" y="4340600"/>
            <a:ext cx="285000" cy="285000"/>
          </a:xfrm>
          <a:prstGeom prst="rect">
            <a:avLst/>
          </a:prstGeom>
          <a:solidFill>
            <a:srgbClr val="FFFFFF"/>
          </a:solidFill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>
                <a:latin typeface="Roboto"/>
                <a:ea typeface="Roboto"/>
                <a:cs typeface="Roboto"/>
                <a:sym typeface="Roboto"/>
              </a:rPr>
              <a:t>R14</a:t>
            </a:r>
            <a:endParaRPr sz="12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422" name="Google Shape;422;p31"/>
          <p:cNvSpPr/>
          <p:nvPr/>
        </p:nvSpPr>
        <p:spPr>
          <a:xfrm>
            <a:off x="7238800" y="4702550"/>
            <a:ext cx="285000" cy="285000"/>
          </a:xfrm>
          <a:prstGeom prst="rect">
            <a:avLst/>
          </a:prstGeom>
          <a:solidFill>
            <a:srgbClr val="FFFFFF"/>
          </a:solidFill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>
                <a:latin typeface="Roboto"/>
                <a:ea typeface="Roboto"/>
                <a:cs typeface="Roboto"/>
                <a:sym typeface="Roboto"/>
              </a:rPr>
              <a:t>R15</a:t>
            </a:r>
            <a:endParaRPr sz="1200"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423" name="Google Shape;423;p31"/>
          <p:cNvCxnSpPr>
            <a:stCxn id="408" idx="3"/>
            <a:endCxn id="415" idx="1"/>
          </p:cNvCxnSpPr>
          <p:nvPr/>
        </p:nvCxnSpPr>
        <p:spPr>
          <a:xfrm rot="10800000" flipH="1">
            <a:off x="5999800" y="2159075"/>
            <a:ext cx="1239000" cy="180900"/>
          </a:xfrm>
          <a:prstGeom prst="straightConnector1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424" name="Google Shape;424;p31"/>
          <p:cNvCxnSpPr>
            <a:stCxn id="408" idx="3"/>
            <a:endCxn id="416" idx="1"/>
          </p:cNvCxnSpPr>
          <p:nvPr/>
        </p:nvCxnSpPr>
        <p:spPr>
          <a:xfrm>
            <a:off x="5999800" y="2339975"/>
            <a:ext cx="1239000" cy="180900"/>
          </a:xfrm>
          <a:prstGeom prst="straightConnector1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425" name="Google Shape;425;p31"/>
          <p:cNvCxnSpPr>
            <a:stCxn id="407" idx="3"/>
            <a:endCxn id="417" idx="1"/>
          </p:cNvCxnSpPr>
          <p:nvPr/>
        </p:nvCxnSpPr>
        <p:spPr>
          <a:xfrm rot="10800000" flipH="1">
            <a:off x="5999800" y="2921075"/>
            <a:ext cx="1239000" cy="180900"/>
          </a:xfrm>
          <a:prstGeom prst="straightConnector1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426" name="Google Shape;426;p31"/>
          <p:cNvCxnSpPr>
            <a:stCxn id="407" idx="3"/>
            <a:endCxn id="418" idx="1"/>
          </p:cNvCxnSpPr>
          <p:nvPr/>
        </p:nvCxnSpPr>
        <p:spPr>
          <a:xfrm>
            <a:off x="5999800" y="3101975"/>
            <a:ext cx="1239000" cy="180900"/>
          </a:xfrm>
          <a:prstGeom prst="straightConnector1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427" name="Google Shape;427;p31"/>
          <p:cNvCxnSpPr>
            <a:stCxn id="409" idx="3"/>
            <a:endCxn id="419" idx="1"/>
          </p:cNvCxnSpPr>
          <p:nvPr/>
        </p:nvCxnSpPr>
        <p:spPr>
          <a:xfrm rot="10800000" flipH="1">
            <a:off x="5999800" y="3721175"/>
            <a:ext cx="1239000" cy="180900"/>
          </a:xfrm>
          <a:prstGeom prst="straightConnector1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428" name="Google Shape;428;p31"/>
          <p:cNvCxnSpPr>
            <a:stCxn id="409" idx="3"/>
            <a:endCxn id="420" idx="1"/>
          </p:cNvCxnSpPr>
          <p:nvPr/>
        </p:nvCxnSpPr>
        <p:spPr>
          <a:xfrm>
            <a:off x="5999800" y="3902075"/>
            <a:ext cx="1239000" cy="180900"/>
          </a:xfrm>
          <a:prstGeom prst="straightConnector1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429" name="Google Shape;429;p31"/>
          <p:cNvCxnSpPr>
            <a:stCxn id="410" idx="3"/>
            <a:endCxn id="421" idx="1"/>
          </p:cNvCxnSpPr>
          <p:nvPr/>
        </p:nvCxnSpPr>
        <p:spPr>
          <a:xfrm rot="10800000" flipH="1">
            <a:off x="5999800" y="4483175"/>
            <a:ext cx="1239000" cy="180900"/>
          </a:xfrm>
          <a:prstGeom prst="straightConnector1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430" name="Google Shape;430;p31"/>
          <p:cNvCxnSpPr>
            <a:stCxn id="410" idx="3"/>
            <a:endCxn id="422" idx="1"/>
          </p:cNvCxnSpPr>
          <p:nvPr/>
        </p:nvCxnSpPr>
        <p:spPr>
          <a:xfrm>
            <a:off x="5999800" y="4664075"/>
            <a:ext cx="1239000" cy="180900"/>
          </a:xfrm>
          <a:prstGeom prst="straightConnector1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431" name="Google Shape;431;p31"/>
          <p:cNvCxnSpPr/>
          <p:nvPr/>
        </p:nvCxnSpPr>
        <p:spPr>
          <a:xfrm rot="10800000">
            <a:off x="2003375" y="3434175"/>
            <a:ext cx="595200" cy="0"/>
          </a:xfrm>
          <a:prstGeom prst="straightConnector1">
            <a:avLst/>
          </a:prstGeom>
          <a:noFill/>
          <a:ln w="9525" cap="flat" cmpd="sng">
            <a:solidFill>
              <a:srgbClr val="0000FF"/>
            </a:solidFill>
            <a:prstDash val="solid"/>
            <a:round/>
            <a:headEnd type="none" w="med" len="med"/>
            <a:tailEnd type="triangle" w="med" len="med"/>
          </a:ln>
        </p:spPr>
      </p:cxnSp>
      <p:sp>
        <p:nvSpPr>
          <p:cNvPr id="432" name="Google Shape;432;p31"/>
          <p:cNvSpPr txBox="1"/>
          <p:nvPr/>
        </p:nvSpPr>
        <p:spPr>
          <a:xfrm>
            <a:off x="2009375" y="3257150"/>
            <a:ext cx="589200" cy="153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0000FF"/>
                </a:solidFill>
                <a:latin typeface="Roboto"/>
                <a:ea typeface="Roboto"/>
                <a:cs typeface="Roboto"/>
                <a:sym typeface="Roboto"/>
              </a:rPr>
              <a:t>A this way</a:t>
            </a:r>
            <a:endParaRPr sz="1000">
              <a:solidFill>
                <a:srgbClr val="0000FF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433" name="Google Shape;433;p31"/>
          <p:cNvCxnSpPr/>
          <p:nvPr/>
        </p:nvCxnSpPr>
        <p:spPr>
          <a:xfrm flipH="1">
            <a:off x="4902875" y="2326325"/>
            <a:ext cx="675000" cy="208200"/>
          </a:xfrm>
          <a:prstGeom prst="straightConnector1">
            <a:avLst/>
          </a:prstGeom>
          <a:noFill/>
          <a:ln w="9525" cap="flat" cmpd="sng">
            <a:solidFill>
              <a:srgbClr val="0000FF"/>
            </a:solidFill>
            <a:prstDash val="solid"/>
            <a:round/>
            <a:headEnd type="none" w="med" len="med"/>
            <a:tailEnd type="triangle" w="med" len="med"/>
          </a:ln>
        </p:spPr>
      </p:cxnSp>
      <p:sp>
        <p:nvSpPr>
          <p:cNvPr id="434" name="Google Shape;434;p31"/>
          <p:cNvSpPr txBox="1"/>
          <p:nvPr/>
        </p:nvSpPr>
        <p:spPr>
          <a:xfrm rot="-1045209">
            <a:off x="4976223" y="2253586"/>
            <a:ext cx="589225" cy="15399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0000FF"/>
                </a:solidFill>
                <a:latin typeface="Roboto"/>
                <a:ea typeface="Roboto"/>
                <a:cs typeface="Roboto"/>
                <a:sym typeface="Roboto"/>
              </a:rPr>
              <a:t>A this way</a:t>
            </a:r>
            <a:endParaRPr sz="1000">
              <a:solidFill>
                <a:srgbClr val="0000FF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435" name="Google Shape;435;p31"/>
          <p:cNvCxnSpPr/>
          <p:nvPr/>
        </p:nvCxnSpPr>
        <p:spPr>
          <a:xfrm rot="10800000">
            <a:off x="4902875" y="2914248"/>
            <a:ext cx="675000" cy="208200"/>
          </a:xfrm>
          <a:prstGeom prst="straightConnector1">
            <a:avLst/>
          </a:prstGeom>
          <a:noFill/>
          <a:ln w="9525" cap="flat" cmpd="sng">
            <a:solidFill>
              <a:srgbClr val="0000FF"/>
            </a:solidFill>
            <a:prstDash val="solid"/>
            <a:round/>
            <a:headEnd type="none" w="med" len="med"/>
            <a:tailEnd type="triangle" w="med" len="med"/>
          </a:ln>
        </p:spPr>
      </p:cxnSp>
      <p:sp>
        <p:nvSpPr>
          <p:cNvPr id="436" name="Google Shape;436;p31"/>
          <p:cNvSpPr txBox="1"/>
          <p:nvPr/>
        </p:nvSpPr>
        <p:spPr>
          <a:xfrm rot="1045209" flipH="1">
            <a:off x="4976223" y="3041188"/>
            <a:ext cx="589225" cy="15399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0000FF"/>
                </a:solidFill>
                <a:latin typeface="Roboto"/>
                <a:ea typeface="Roboto"/>
                <a:cs typeface="Roboto"/>
                <a:sym typeface="Roboto"/>
              </a:rPr>
              <a:t>A this way</a:t>
            </a:r>
            <a:endParaRPr sz="1000">
              <a:solidFill>
                <a:srgbClr val="0000FF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437" name="Google Shape;437;p31"/>
          <p:cNvCxnSpPr/>
          <p:nvPr/>
        </p:nvCxnSpPr>
        <p:spPr>
          <a:xfrm flipH="1">
            <a:off x="4902875" y="3884931"/>
            <a:ext cx="675000" cy="208200"/>
          </a:xfrm>
          <a:prstGeom prst="straightConnector1">
            <a:avLst/>
          </a:prstGeom>
          <a:noFill/>
          <a:ln w="9525" cap="flat" cmpd="sng">
            <a:solidFill>
              <a:srgbClr val="0000FF"/>
            </a:solidFill>
            <a:prstDash val="solid"/>
            <a:round/>
            <a:headEnd type="none" w="med" len="med"/>
            <a:tailEnd type="triangle" w="med" len="med"/>
          </a:ln>
        </p:spPr>
      </p:cxnSp>
      <p:sp>
        <p:nvSpPr>
          <p:cNvPr id="438" name="Google Shape;438;p31"/>
          <p:cNvSpPr txBox="1"/>
          <p:nvPr/>
        </p:nvSpPr>
        <p:spPr>
          <a:xfrm rot="-1045209">
            <a:off x="4976223" y="3812192"/>
            <a:ext cx="589225" cy="15399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0000FF"/>
                </a:solidFill>
                <a:latin typeface="Roboto"/>
                <a:ea typeface="Roboto"/>
                <a:cs typeface="Roboto"/>
                <a:sym typeface="Roboto"/>
              </a:rPr>
              <a:t>A this way</a:t>
            </a:r>
            <a:endParaRPr sz="1000">
              <a:solidFill>
                <a:srgbClr val="0000FF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439" name="Google Shape;439;p31"/>
          <p:cNvCxnSpPr/>
          <p:nvPr/>
        </p:nvCxnSpPr>
        <p:spPr>
          <a:xfrm rot="10800000">
            <a:off x="4902875" y="4472854"/>
            <a:ext cx="675000" cy="208200"/>
          </a:xfrm>
          <a:prstGeom prst="straightConnector1">
            <a:avLst/>
          </a:prstGeom>
          <a:noFill/>
          <a:ln w="9525" cap="flat" cmpd="sng">
            <a:solidFill>
              <a:srgbClr val="0000FF"/>
            </a:solidFill>
            <a:prstDash val="solid"/>
            <a:round/>
            <a:headEnd type="none" w="med" len="med"/>
            <a:tailEnd type="triangle" w="med" len="med"/>
          </a:ln>
        </p:spPr>
      </p:cxnSp>
      <p:sp>
        <p:nvSpPr>
          <p:cNvPr id="440" name="Google Shape;440;p31"/>
          <p:cNvSpPr txBox="1"/>
          <p:nvPr/>
        </p:nvSpPr>
        <p:spPr>
          <a:xfrm rot="1045209" flipH="1">
            <a:off x="4976223" y="4599794"/>
            <a:ext cx="589225" cy="15399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0000FF"/>
                </a:solidFill>
                <a:latin typeface="Roboto"/>
                <a:ea typeface="Roboto"/>
                <a:cs typeface="Roboto"/>
                <a:sym typeface="Roboto"/>
              </a:rPr>
              <a:t>A this way</a:t>
            </a:r>
            <a:endParaRPr sz="1000">
              <a:solidFill>
                <a:srgbClr val="0000FF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441" name="Google Shape;441;p31"/>
          <p:cNvCxnSpPr/>
          <p:nvPr/>
        </p:nvCxnSpPr>
        <p:spPr>
          <a:xfrm flipH="1">
            <a:off x="3474239" y="2741453"/>
            <a:ext cx="589200" cy="371700"/>
          </a:xfrm>
          <a:prstGeom prst="straightConnector1">
            <a:avLst/>
          </a:prstGeom>
          <a:noFill/>
          <a:ln w="9525" cap="flat" cmpd="sng">
            <a:solidFill>
              <a:srgbClr val="0000FF"/>
            </a:solidFill>
            <a:prstDash val="solid"/>
            <a:round/>
            <a:headEnd type="none" w="med" len="med"/>
            <a:tailEnd type="triangle" w="med" len="med"/>
          </a:ln>
        </p:spPr>
      </p:cxnSp>
      <p:sp>
        <p:nvSpPr>
          <p:cNvPr id="442" name="Google Shape;442;p31"/>
          <p:cNvSpPr txBox="1"/>
          <p:nvPr/>
        </p:nvSpPr>
        <p:spPr>
          <a:xfrm rot="-1931086">
            <a:off x="3465282" y="2744225"/>
            <a:ext cx="589129" cy="15381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0000FF"/>
                </a:solidFill>
                <a:latin typeface="Roboto"/>
                <a:ea typeface="Roboto"/>
                <a:cs typeface="Roboto"/>
                <a:sym typeface="Roboto"/>
              </a:rPr>
              <a:t>A this way</a:t>
            </a:r>
            <a:endParaRPr sz="1000">
              <a:solidFill>
                <a:srgbClr val="0000FF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443" name="Google Shape;443;p31"/>
          <p:cNvCxnSpPr/>
          <p:nvPr/>
        </p:nvCxnSpPr>
        <p:spPr>
          <a:xfrm rot="10800000">
            <a:off x="3474239" y="3894534"/>
            <a:ext cx="589200" cy="371700"/>
          </a:xfrm>
          <a:prstGeom prst="straightConnector1">
            <a:avLst/>
          </a:prstGeom>
          <a:noFill/>
          <a:ln w="9525" cap="flat" cmpd="sng">
            <a:solidFill>
              <a:srgbClr val="0000FF"/>
            </a:solidFill>
            <a:prstDash val="solid"/>
            <a:round/>
            <a:headEnd type="none" w="med" len="med"/>
            <a:tailEnd type="triangle" w="med" len="med"/>
          </a:ln>
        </p:spPr>
      </p:cxnSp>
      <p:sp>
        <p:nvSpPr>
          <p:cNvPr id="444" name="Google Shape;444;p31"/>
          <p:cNvSpPr txBox="1"/>
          <p:nvPr/>
        </p:nvSpPr>
        <p:spPr>
          <a:xfrm rot="1931086" flipH="1">
            <a:off x="3465282" y="4109644"/>
            <a:ext cx="589129" cy="15381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0000FF"/>
                </a:solidFill>
                <a:latin typeface="Roboto"/>
                <a:ea typeface="Roboto"/>
                <a:cs typeface="Roboto"/>
                <a:sym typeface="Roboto"/>
              </a:rPr>
              <a:t>A this way</a:t>
            </a:r>
            <a:endParaRPr sz="1000">
              <a:solidFill>
                <a:srgbClr val="0000FF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445" name="Google Shape;445;p31"/>
          <p:cNvCxnSpPr/>
          <p:nvPr/>
        </p:nvCxnSpPr>
        <p:spPr>
          <a:xfrm rot="10800000" flipH="1">
            <a:off x="6248875" y="2124275"/>
            <a:ext cx="699300" cy="101400"/>
          </a:xfrm>
          <a:prstGeom prst="straightConnector1">
            <a:avLst/>
          </a:prstGeom>
          <a:noFill/>
          <a:ln w="19050" cap="flat" cmpd="sng">
            <a:solidFill>
              <a:schemeClr val="accent2"/>
            </a:solidFill>
            <a:prstDash val="solid"/>
            <a:round/>
            <a:headEnd type="none" w="med" len="med"/>
            <a:tailEnd type="triangle" w="med" len="med"/>
          </a:ln>
        </p:spPr>
      </p:cxnSp>
      <p:cxnSp>
        <p:nvCxnSpPr>
          <p:cNvPr id="446" name="Google Shape;446;p31"/>
          <p:cNvCxnSpPr/>
          <p:nvPr/>
        </p:nvCxnSpPr>
        <p:spPr>
          <a:xfrm>
            <a:off x="6248875" y="2454638"/>
            <a:ext cx="699300" cy="101400"/>
          </a:xfrm>
          <a:prstGeom prst="straightConnector1">
            <a:avLst/>
          </a:prstGeom>
          <a:noFill/>
          <a:ln w="19050" cap="flat" cmpd="sng">
            <a:solidFill>
              <a:schemeClr val="accent2"/>
            </a:solidFill>
            <a:prstDash val="solid"/>
            <a:round/>
            <a:headEnd type="none" w="med" len="med"/>
            <a:tailEnd type="triangle" w="med" len="med"/>
          </a:ln>
        </p:spPr>
      </p:cxnSp>
      <p:sp>
        <p:nvSpPr>
          <p:cNvPr id="447" name="Google Shape;447;p31"/>
          <p:cNvSpPr/>
          <p:nvPr/>
        </p:nvSpPr>
        <p:spPr>
          <a:xfrm>
            <a:off x="5929075" y="1725738"/>
            <a:ext cx="1043700" cy="323400"/>
          </a:xfrm>
          <a:prstGeom prst="roundRect">
            <a:avLst>
              <a:gd name="adj" fmla="val 16667"/>
            </a:avLst>
          </a:prstGeom>
          <a:solidFill>
            <a:srgbClr val="F4CCCC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A is 3 away.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448" name="Google Shape;448;p31"/>
          <p:cNvSpPr/>
          <p:nvPr/>
        </p:nvSpPr>
        <p:spPr>
          <a:xfrm>
            <a:off x="6146875" y="2556157"/>
            <a:ext cx="608100" cy="153900"/>
          </a:xfrm>
          <a:prstGeom prst="roundRect">
            <a:avLst>
              <a:gd name="adj" fmla="val 16667"/>
            </a:avLst>
          </a:prstGeom>
          <a:solidFill>
            <a:srgbClr val="F4CCCC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800">
                <a:latin typeface="Roboto"/>
                <a:ea typeface="Roboto"/>
                <a:cs typeface="Roboto"/>
                <a:sym typeface="Roboto"/>
              </a:rPr>
              <a:t>A is 3 away.</a:t>
            </a:r>
            <a:endParaRPr sz="8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449" name="Google Shape;449;p31"/>
          <p:cNvSpPr/>
          <p:nvPr/>
        </p:nvSpPr>
        <p:spPr>
          <a:xfrm>
            <a:off x="6146875" y="2739382"/>
            <a:ext cx="608100" cy="153900"/>
          </a:xfrm>
          <a:prstGeom prst="roundRect">
            <a:avLst>
              <a:gd name="adj" fmla="val 16667"/>
            </a:avLst>
          </a:prstGeom>
          <a:solidFill>
            <a:srgbClr val="F4CCCC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800">
                <a:latin typeface="Roboto"/>
                <a:ea typeface="Roboto"/>
                <a:cs typeface="Roboto"/>
                <a:sym typeface="Roboto"/>
              </a:rPr>
              <a:t>A is 3 away.</a:t>
            </a:r>
            <a:endParaRPr sz="800"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450" name="Google Shape;450;p31"/>
          <p:cNvCxnSpPr/>
          <p:nvPr/>
        </p:nvCxnSpPr>
        <p:spPr>
          <a:xfrm rot="10800000" flipH="1">
            <a:off x="6248875" y="2886275"/>
            <a:ext cx="699300" cy="101400"/>
          </a:xfrm>
          <a:prstGeom prst="straightConnector1">
            <a:avLst/>
          </a:prstGeom>
          <a:noFill/>
          <a:ln w="19050" cap="flat" cmpd="sng">
            <a:solidFill>
              <a:schemeClr val="accent2"/>
            </a:solidFill>
            <a:prstDash val="solid"/>
            <a:round/>
            <a:headEnd type="none" w="med" len="med"/>
            <a:tailEnd type="triangle" w="med" len="med"/>
          </a:ln>
        </p:spPr>
      </p:cxnSp>
      <p:cxnSp>
        <p:nvCxnSpPr>
          <p:cNvPr id="451" name="Google Shape;451;p31"/>
          <p:cNvCxnSpPr/>
          <p:nvPr/>
        </p:nvCxnSpPr>
        <p:spPr>
          <a:xfrm>
            <a:off x="6248875" y="3216638"/>
            <a:ext cx="699300" cy="101400"/>
          </a:xfrm>
          <a:prstGeom prst="straightConnector1">
            <a:avLst/>
          </a:prstGeom>
          <a:noFill/>
          <a:ln w="19050" cap="flat" cmpd="sng">
            <a:solidFill>
              <a:schemeClr val="accent2"/>
            </a:solidFill>
            <a:prstDash val="solid"/>
            <a:round/>
            <a:headEnd type="none" w="med" len="med"/>
            <a:tailEnd type="triangle" w="med" len="med"/>
          </a:ln>
        </p:spPr>
      </p:cxnSp>
      <p:sp>
        <p:nvSpPr>
          <p:cNvPr id="452" name="Google Shape;452;p31"/>
          <p:cNvSpPr/>
          <p:nvPr/>
        </p:nvSpPr>
        <p:spPr>
          <a:xfrm>
            <a:off x="6146875" y="3311992"/>
            <a:ext cx="608100" cy="153900"/>
          </a:xfrm>
          <a:prstGeom prst="roundRect">
            <a:avLst>
              <a:gd name="adj" fmla="val 16667"/>
            </a:avLst>
          </a:prstGeom>
          <a:solidFill>
            <a:srgbClr val="F4CCCC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800">
                <a:latin typeface="Roboto"/>
                <a:ea typeface="Roboto"/>
                <a:cs typeface="Roboto"/>
                <a:sym typeface="Roboto"/>
              </a:rPr>
              <a:t>A is 3 away.</a:t>
            </a:r>
            <a:endParaRPr sz="8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453" name="Google Shape;453;p31"/>
          <p:cNvSpPr/>
          <p:nvPr/>
        </p:nvSpPr>
        <p:spPr>
          <a:xfrm>
            <a:off x="6146875" y="3541292"/>
            <a:ext cx="608100" cy="153900"/>
          </a:xfrm>
          <a:prstGeom prst="roundRect">
            <a:avLst>
              <a:gd name="adj" fmla="val 16667"/>
            </a:avLst>
          </a:prstGeom>
          <a:solidFill>
            <a:srgbClr val="F4CCCC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800">
                <a:latin typeface="Roboto"/>
                <a:ea typeface="Roboto"/>
                <a:cs typeface="Roboto"/>
                <a:sym typeface="Roboto"/>
              </a:rPr>
              <a:t>A is 3 away.</a:t>
            </a:r>
            <a:endParaRPr sz="800"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454" name="Google Shape;454;p31"/>
          <p:cNvCxnSpPr/>
          <p:nvPr/>
        </p:nvCxnSpPr>
        <p:spPr>
          <a:xfrm rot="10800000" flipH="1">
            <a:off x="6248875" y="3688185"/>
            <a:ext cx="699300" cy="101400"/>
          </a:xfrm>
          <a:prstGeom prst="straightConnector1">
            <a:avLst/>
          </a:prstGeom>
          <a:noFill/>
          <a:ln w="19050" cap="flat" cmpd="sng">
            <a:solidFill>
              <a:schemeClr val="accent2"/>
            </a:solidFill>
            <a:prstDash val="solid"/>
            <a:round/>
            <a:headEnd type="none" w="med" len="med"/>
            <a:tailEnd type="triangle" w="med" len="med"/>
          </a:ln>
        </p:spPr>
      </p:cxnSp>
      <p:cxnSp>
        <p:nvCxnSpPr>
          <p:cNvPr id="455" name="Google Shape;455;p31"/>
          <p:cNvCxnSpPr/>
          <p:nvPr/>
        </p:nvCxnSpPr>
        <p:spPr>
          <a:xfrm>
            <a:off x="6248875" y="4018548"/>
            <a:ext cx="699300" cy="101400"/>
          </a:xfrm>
          <a:prstGeom prst="straightConnector1">
            <a:avLst/>
          </a:prstGeom>
          <a:noFill/>
          <a:ln w="19050" cap="flat" cmpd="sng">
            <a:solidFill>
              <a:schemeClr val="accent2"/>
            </a:solidFill>
            <a:prstDash val="solid"/>
            <a:round/>
            <a:headEnd type="none" w="med" len="med"/>
            <a:tailEnd type="triangle" w="med" len="med"/>
          </a:ln>
        </p:spPr>
      </p:cxnSp>
      <p:sp>
        <p:nvSpPr>
          <p:cNvPr id="456" name="Google Shape;456;p31"/>
          <p:cNvSpPr/>
          <p:nvPr/>
        </p:nvSpPr>
        <p:spPr>
          <a:xfrm>
            <a:off x="6146875" y="4113902"/>
            <a:ext cx="608100" cy="153900"/>
          </a:xfrm>
          <a:prstGeom prst="roundRect">
            <a:avLst>
              <a:gd name="adj" fmla="val 16667"/>
            </a:avLst>
          </a:prstGeom>
          <a:solidFill>
            <a:srgbClr val="F4CCCC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800">
                <a:latin typeface="Roboto"/>
                <a:ea typeface="Roboto"/>
                <a:cs typeface="Roboto"/>
                <a:sym typeface="Roboto"/>
              </a:rPr>
              <a:t>A is 3 away.</a:t>
            </a:r>
            <a:endParaRPr sz="8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457" name="Google Shape;457;p31"/>
          <p:cNvSpPr/>
          <p:nvPr/>
        </p:nvSpPr>
        <p:spPr>
          <a:xfrm>
            <a:off x="6146875" y="4303292"/>
            <a:ext cx="608100" cy="153900"/>
          </a:xfrm>
          <a:prstGeom prst="roundRect">
            <a:avLst>
              <a:gd name="adj" fmla="val 16667"/>
            </a:avLst>
          </a:prstGeom>
          <a:solidFill>
            <a:srgbClr val="F4CCCC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800">
                <a:latin typeface="Roboto"/>
                <a:ea typeface="Roboto"/>
                <a:cs typeface="Roboto"/>
                <a:sym typeface="Roboto"/>
              </a:rPr>
              <a:t>A is 3 away.</a:t>
            </a:r>
            <a:endParaRPr sz="800"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458" name="Google Shape;458;p31"/>
          <p:cNvCxnSpPr/>
          <p:nvPr/>
        </p:nvCxnSpPr>
        <p:spPr>
          <a:xfrm rot="10800000" flipH="1">
            <a:off x="6248875" y="4450185"/>
            <a:ext cx="699300" cy="101400"/>
          </a:xfrm>
          <a:prstGeom prst="straightConnector1">
            <a:avLst/>
          </a:prstGeom>
          <a:noFill/>
          <a:ln w="19050" cap="flat" cmpd="sng">
            <a:solidFill>
              <a:schemeClr val="accent2"/>
            </a:solidFill>
            <a:prstDash val="solid"/>
            <a:round/>
            <a:headEnd type="none" w="med" len="med"/>
            <a:tailEnd type="triangle" w="med" len="med"/>
          </a:ln>
        </p:spPr>
      </p:cxnSp>
      <p:cxnSp>
        <p:nvCxnSpPr>
          <p:cNvPr id="459" name="Google Shape;459;p31"/>
          <p:cNvCxnSpPr/>
          <p:nvPr/>
        </p:nvCxnSpPr>
        <p:spPr>
          <a:xfrm>
            <a:off x="6248875" y="4780548"/>
            <a:ext cx="699300" cy="101400"/>
          </a:xfrm>
          <a:prstGeom prst="straightConnector1">
            <a:avLst/>
          </a:prstGeom>
          <a:noFill/>
          <a:ln w="19050" cap="flat" cmpd="sng">
            <a:solidFill>
              <a:schemeClr val="accent2"/>
            </a:solidFill>
            <a:prstDash val="solid"/>
            <a:round/>
            <a:headEnd type="none" w="med" len="med"/>
            <a:tailEnd type="triangle" w="med" len="med"/>
          </a:ln>
        </p:spPr>
      </p:cxnSp>
      <p:sp>
        <p:nvSpPr>
          <p:cNvPr id="460" name="Google Shape;460;p31"/>
          <p:cNvSpPr/>
          <p:nvPr/>
        </p:nvSpPr>
        <p:spPr>
          <a:xfrm>
            <a:off x="6146875" y="4875902"/>
            <a:ext cx="608100" cy="153900"/>
          </a:xfrm>
          <a:prstGeom prst="roundRect">
            <a:avLst>
              <a:gd name="adj" fmla="val 16667"/>
            </a:avLst>
          </a:prstGeom>
          <a:solidFill>
            <a:srgbClr val="F4CCCC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800">
                <a:latin typeface="Roboto"/>
                <a:ea typeface="Roboto"/>
                <a:cs typeface="Roboto"/>
                <a:sym typeface="Roboto"/>
              </a:rPr>
              <a:t>A is 3 away.</a:t>
            </a:r>
            <a:endParaRPr sz="8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96CDBD64-EB91-F9BC-7D8F-75486C4FAF51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 smtClean="0"/>
              <a:t>7</a:t>
            </a:fld>
            <a:endParaRPr lang="en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4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5" name="Google Shape;465;p32"/>
          <p:cNvSpPr txBox="1">
            <a:spLocks noGrp="1"/>
          </p:cNvSpPr>
          <p:nvPr>
            <p:ph type="title"/>
          </p:nvPr>
        </p:nvSpPr>
        <p:spPr>
          <a:xfrm>
            <a:off x="0" y="0"/>
            <a:ext cx="9144000" cy="39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Distance-Vector Algorithm Sketch</a:t>
            </a:r>
            <a:endParaRPr/>
          </a:p>
        </p:txBody>
      </p:sp>
      <p:sp>
        <p:nvSpPr>
          <p:cNvPr id="466" name="Google Shape;466;p32"/>
          <p:cNvSpPr txBox="1">
            <a:spLocks noGrp="1"/>
          </p:cNvSpPr>
          <p:nvPr>
            <p:ph type="body" idx="1"/>
          </p:nvPr>
        </p:nvSpPr>
        <p:spPr>
          <a:xfrm>
            <a:off x="107050" y="402200"/>
            <a:ext cx="8909700" cy="6333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One-line algorithm: If you hear about a path to a destination, tell all your neighbors.</a:t>
            </a:r>
            <a:endParaRPr/>
          </a:p>
        </p:txBody>
      </p:sp>
      <p:cxnSp>
        <p:nvCxnSpPr>
          <p:cNvPr id="467" name="Google Shape;467;p32"/>
          <p:cNvCxnSpPr>
            <a:stCxn id="468" idx="3"/>
            <a:endCxn id="469" idx="1"/>
          </p:cNvCxnSpPr>
          <p:nvPr/>
        </p:nvCxnSpPr>
        <p:spPr>
          <a:xfrm rot="10800000" flipH="1">
            <a:off x="2951800" y="2720825"/>
            <a:ext cx="1239000" cy="781200"/>
          </a:xfrm>
          <a:prstGeom prst="straightConnector1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469" name="Google Shape;469;p32"/>
          <p:cNvSpPr/>
          <p:nvPr/>
        </p:nvSpPr>
        <p:spPr>
          <a:xfrm>
            <a:off x="4190800" y="2578475"/>
            <a:ext cx="285000" cy="285000"/>
          </a:xfrm>
          <a:prstGeom prst="rect">
            <a:avLst/>
          </a:prstGeom>
          <a:solidFill>
            <a:srgbClr val="FFFFFF"/>
          </a:solidFill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R2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470" name="Google Shape;470;p32"/>
          <p:cNvSpPr/>
          <p:nvPr/>
        </p:nvSpPr>
        <p:spPr>
          <a:xfrm>
            <a:off x="1371388" y="3359525"/>
            <a:ext cx="285000" cy="285000"/>
          </a:xfrm>
          <a:prstGeom prst="ellipse">
            <a:avLst/>
          </a:prstGeom>
          <a:solidFill>
            <a:srgbClr val="FFFFFF"/>
          </a:solidFill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A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471" name="Google Shape;471;p32"/>
          <p:cNvSpPr/>
          <p:nvPr/>
        </p:nvSpPr>
        <p:spPr>
          <a:xfrm>
            <a:off x="4190800" y="4140575"/>
            <a:ext cx="285000" cy="285000"/>
          </a:xfrm>
          <a:prstGeom prst="rect">
            <a:avLst/>
          </a:prstGeom>
          <a:solidFill>
            <a:srgbClr val="FFFFFF"/>
          </a:solidFill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R3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472" name="Google Shape;472;p32"/>
          <p:cNvCxnSpPr>
            <a:stCxn id="468" idx="3"/>
            <a:endCxn id="471" idx="1"/>
          </p:cNvCxnSpPr>
          <p:nvPr/>
        </p:nvCxnSpPr>
        <p:spPr>
          <a:xfrm>
            <a:off x="2951800" y="3502025"/>
            <a:ext cx="1239000" cy="781200"/>
          </a:xfrm>
          <a:prstGeom prst="straightConnector1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468" name="Google Shape;468;p32"/>
          <p:cNvSpPr/>
          <p:nvPr/>
        </p:nvSpPr>
        <p:spPr>
          <a:xfrm>
            <a:off x="2666800" y="3359525"/>
            <a:ext cx="285000" cy="285000"/>
          </a:xfrm>
          <a:prstGeom prst="rect">
            <a:avLst/>
          </a:prstGeom>
          <a:solidFill>
            <a:srgbClr val="FFFFFF"/>
          </a:solidFill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R1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473" name="Google Shape;473;p32"/>
          <p:cNvCxnSpPr>
            <a:stCxn id="470" idx="6"/>
            <a:endCxn id="468" idx="1"/>
          </p:cNvCxnSpPr>
          <p:nvPr/>
        </p:nvCxnSpPr>
        <p:spPr>
          <a:xfrm>
            <a:off x="1656388" y="3502025"/>
            <a:ext cx="1010400" cy="0"/>
          </a:xfrm>
          <a:prstGeom prst="straightConnector1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474" name="Google Shape;474;p32"/>
          <p:cNvSpPr/>
          <p:nvPr/>
        </p:nvSpPr>
        <p:spPr>
          <a:xfrm>
            <a:off x="5714800" y="2959475"/>
            <a:ext cx="285000" cy="285000"/>
          </a:xfrm>
          <a:prstGeom prst="rect">
            <a:avLst/>
          </a:prstGeom>
          <a:solidFill>
            <a:srgbClr val="FFFFFF"/>
          </a:solidFill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R5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475" name="Google Shape;475;p32"/>
          <p:cNvSpPr/>
          <p:nvPr/>
        </p:nvSpPr>
        <p:spPr>
          <a:xfrm>
            <a:off x="5714800" y="2197475"/>
            <a:ext cx="285000" cy="285000"/>
          </a:xfrm>
          <a:prstGeom prst="rect">
            <a:avLst/>
          </a:prstGeom>
          <a:solidFill>
            <a:srgbClr val="FFFFFF"/>
          </a:solidFill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R4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476" name="Google Shape;476;p32"/>
          <p:cNvSpPr/>
          <p:nvPr/>
        </p:nvSpPr>
        <p:spPr>
          <a:xfrm>
            <a:off x="5714800" y="3759575"/>
            <a:ext cx="285000" cy="285000"/>
          </a:xfrm>
          <a:prstGeom prst="rect">
            <a:avLst/>
          </a:prstGeom>
          <a:solidFill>
            <a:srgbClr val="FFFFFF"/>
          </a:solidFill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R6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477" name="Google Shape;477;p32"/>
          <p:cNvSpPr/>
          <p:nvPr/>
        </p:nvSpPr>
        <p:spPr>
          <a:xfrm>
            <a:off x="5714800" y="4521575"/>
            <a:ext cx="285000" cy="285000"/>
          </a:xfrm>
          <a:prstGeom prst="rect">
            <a:avLst/>
          </a:prstGeom>
          <a:solidFill>
            <a:srgbClr val="FFFFFF"/>
          </a:solidFill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R7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478" name="Google Shape;478;p32"/>
          <p:cNvCxnSpPr>
            <a:stCxn id="469" idx="3"/>
            <a:endCxn id="475" idx="1"/>
          </p:cNvCxnSpPr>
          <p:nvPr/>
        </p:nvCxnSpPr>
        <p:spPr>
          <a:xfrm rot="10800000" flipH="1">
            <a:off x="4475800" y="2339975"/>
            <a:ext cx="1239000" cy="381000"/>
          </a:xfrm>
          <a:prstGeom prst="straightConnector1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479" name="Google Shape;479;p32"/>
          <p:cNvCxnSpPr>
            <a:stCxn id="469" idx="3"/>
            <a:endCxn id="474" idx="1"/>
          </p:cNvCxnSpPr>
          <p:nvPr/>
        </p:nvCxnSpPr>
        <p:spPr>
          <a:xfrm>
            <a:off x="4475800" y="2720975"/>
            <a:ext cx="1239000" cy="381000"/>
          </a:xfrm>
          <a:prstGeom prst="straightConnector1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480" name="Google Shape;480;p32"/>
          <p:cNvCxnSpPr>
            <a:stCxn id="471" idx="3"/>
            <a:endCxn id="476" idx="1"/>
          </p:cNvCxnSpPr>
          <p:nvPr/>
        </p:nvCxnSpPr>
        <p:spPr>
          <a:xfrm rot="10800000" flipH="1">
            <a:off x="4475800" y="3902075"/>
            <a:ext cx="1239000" cy="381000"/>
          </a:xfrm>
          <a:prstGeom prst="straightConnector1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481" name="Google Shape;481;p32"/>
          <p:cNvCxnSpPr>
            <a:stCxn id="471" idx="3"/>
            <a:endCxn id="477" idx="1"/>
          </p:cNvCxnSpPr>
          <p:nvPr/>
        </p:nvCxnSpPr>
        <p:spPr>
          <a:xfrm>
            <a:off x="4475800" y="4283075"/>
            <a:ext cx="1239000" cy="381000"/>
          </a:xfrm>
          <a:prstGeom prst="straightConnector1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482" name="Google Shape;482;p32"/>
          <p:cNvSpPr/>
          <p:nvPr/>
        </p:nvSpPr>
        <p:spPr>
          <a:xfrm>
            <a:off x="7238800" y="2016500"/>
            <a:ext cx="285000" cy="285000"/>
          </a:xfrm>
          <a:prstGeom prst="rect">
            <a:avLst/>
          </a:prstGeom>
          <a:solidFill>
            <a:srgbClr val="FFFFFF"/>
          </a:solidFill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R8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483" name="Google Shape;483;p32"/>
          <p:cNvSpPr/>
          <p:nvPr/>
        </p:nvSpPr>
        <p:spPr>
          <a:xfrm>
            <a:off x="7238800" y="2378450"/>
            <a:ext cx="285000" cy="285000"/>
          </a:xfrm>
          <a:prstGeom prst="rect">
            <a:avLst/>
          </a:prstGeom>
          <a:solidFill>
            <a:srgbClr val="FFFFFF"/>
          </a:solidFill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R9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484" name="Google Shape;484;p32"/>
          <p:cNvSpPr/>
          <p:nvPr/>
        </p:nvSpPr>
        <p:spPr>
          <a:xfrm>
            <a:off x="7238800" y="2778500"/>
            <a:ext cx="285000" cy="285000"/>
          </a:xfrm>
          <a:prstGeom prst="rect">
            <a:avLst/>
          </a:prstGeom>
          <a:solidFill>
            <a:srgbClr val="FFFFFF"/>
          </a:solidFill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>
                <a:latin typeface="Roboto"/>
                <a:ea typeface="Roboto"/>
                <a:cs typeface="Roboto"/>
                <a:sym typeface="Roboto"/>
              </a:rPr>
              <a:t>R10</a:t>
            </a:r>
            <a:endParaRPr sz="12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485" name="Google Shape;485;p32"/>
          <p:cNvSpPr/>
          <p:nvPr/>
        </p:nvSpPr>
        <p:spPr>
          <a:xfrm>
            <a:off x="7238800" y="3140450"/>
            <a:ext cx="285000" cy="285000"/>
          </a:xfrm>
          <a:prstGeom prst="rect">
            <a:avLst/>
          </a:prstGeom>
          <a:solidFill>
            <a:srgbClr val="FFFFFF"/>
          </a:solidFill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>
                <a:latin typeface="Roboto"/>
                <a:ea typeface="Roboto"/>
                <a:cs typeface="Roboto"/>
                <a:sym typeface="Roboto"/>
              </a:rPr>
              <a:t>R11</a:t>
            </a:r>
            <a:endParaRPr sz="12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486" name="Google Shape;486;p32"/>
          <p:cNvSpPr/>
          <p:nvPr/>
        </p:nvSpPr>
        <p:spPr>
          <a:xfrm>
            <a:off x="7238800" y="3578600"/>
            <a:ext cx="285000" cy="285000"/>
          </a:xfrm>
          <a:prstGeom prst="rect">
            <a:avLst/>
          </a:prstGeom>
          <a:solidFill>
            <a:srgbClr val="FFFFFF"/>
          </a:solidFill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>
                <a:latin typeface="Roboto"/>
                <a:ea typeface="Roboto"/>
                <a:cs typeface="Roboto"/>
                <a:sym typeface="Roboto"/>
              </a:rPr>
              <a:t>R12</a:t>
            </a:r>
            <a:endParaRPr sz="12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487" name="Google Shape;487;p32"/>
          <p:cNvSpPr/>
          <p:nvPr/>
        </p:nvSpPr>
        <p:spPr>
          <a:xfrm>
            <a:off x="7238800" y="3940550"/>
            <a:ext cx="285000" cy="285000"/>
          </a:xfrm>
          <a:prstGeom prst="rect">
            <a:avLst/>
          </a:prstGeom>
          <a:solidFill>
            <a:srgbClr val="FFFFFF"/>
          </a:solidFill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>
                <a:latin typeface="Roboto"/>
                <a:ea typeface="Roboto"/>
                <a:cs typeface="Roboto"/>
                <a:sym typeface="Roboto"/>
              </a:rPr>
              <a:t>R13</a:t>
            </a:r>
            <a:endParaRPr sz="12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488" name="Google Shape;488;p32"/>
          <p:cNvSpPr/>
          <p:nvPr/>
        </p:nvSpPr>
        <p:spPr>
          <a:xfrm>
            <a:off x="7238800" y="4340600"/>
            <a:ext cx="285000" cy="285000"/>
          </a:xfrm>
          <a:prstGeom prst="rect">
            <a:avLst/>
          </a:prstGeom>
          <a:solidFill>
            <a:srgbClr val="FFFFFF"/>
          </a:solidFill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>
                <a:latin typeface="Roboto"/>
                <a:ea typeface="Roboto"/>
                <a:cs typeface="Roboto"/>
                <a:sym typeface="Roboto"/>
              </a:rPr>
              <a:t>R14</a:t>
            </a:r>
            <a:endParaRPr sz="12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489" name="Google Shape;489;p32"/>
          <p:cNvSpPr/>
          <p:nvPr/>
        </p:nvSpPr>
        <p:spPr>
          <a:xfrm>
            <a:off x="7238800" y="4702550"/>
            <a:ext cx="285000" cy="285000"/>
          </a:xfrm>
          <a:prstGeom prst="rect">
            <a:avLst/>
          </a:prstGeom>
          <a:solidFill>
            <a:srgbClr val="FFFFFF"/>
          </a:solidFill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>
                <a:latin typeface="Roboto"/>
                <a:ea typeface="Roboto"/>
                <a:cs typeface="Roboto"/>
                <a:sym typeface="Roboto"/>
              </a:rPr>
              <a:t>R15</a:t>
            </a:r>
            <a:endParaRPr sz="1200"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490" name="Google Shape;490;p32"/>
          <p:cNvCxnSpPr>
            <a:stCxn id="475" idx="3"/>
            <a:endCxn id="482" idx="1"/>
          </p:cNvCxnSpPr>
          <p:nvPr/>
        </p:nvCxnSpPr>
        <p:spPr>
          <a:xfrm rot="10800000" flipH="1">
            <a:off x="5999800" y="2159075"/>
            <a:ext cx="1239000" cy="180900"/>
          </a:xfrm>
          <a:prstGeom prst="straightConnector1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491" name="Google Shape;491;p32"/>
          <p:cNvCxnSpPr>
            <a:stCxn id="475" idx="3"/>
            <a:endCxn id="483" idx="1"/>
          </p:cNvCxnSpPr>
          <p:nvPr/>
        </p:nvCxnSpPr>
        <p:spPr>
          <a:xfrm>
            <a:off x="5999800" y="2339975"/>
            <a:ext cx="1239000" cy="180900"/>
          </a:xfrm>
          <a:prstGeom prst="straightConnector1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492" name="Google Shape;492;p32"/>
          <p:cNvCxnSpPr>
            <a:stCxn id="474" idx="3"/>
            <a:endCxn id="484" idx="1"/>
          </p:cNvCxnSpPr>
          <p:nvPr/>
        </p:nvCxnSpPr>
        <p:spPr>
          <a:xfrm rot="10800000" flipH="1">
            <a:off x="5999800" y="2921075"/>
            <a:ext cx="1239000" cy="180900"/>
          </a:xfrm>
          <a:prstGeom prst="straightConnector1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493" name="Google Shape;493;p32"/>
          <p:cNvCxnSpPr>
            <a:stCxn id="474" idx="3"/>
            <a:endCxn id="485" idx="1"/>
          </p:cNvCxnSpPr>
          <p:nvPr/>
        </p:nvCxnSpPr>
        <p:spPr>
          <a:xfrm>
            <a:off x="5999800" y="3101975"/>
            <a:ext cx="1239000" cy="180900"/>
          </a:xfrm>
          <a:prstGeom prst="straightConnector1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494" name="Google Shape;494;p32"/>
          <p:cNvCxnSpPr>
            <a:stCxn id="476" idx="3"/>
            <a:endCxn id="486" idx="1"/>
          </p:cNvCxnSpPr>
          <p:nvPr/>
        </p:nvCxnSpPr>
        <p:spPr>
          <a:xfrm rot="10800000" flipH="1">
            <a:off x="5999800" y="3721175"/>
            <a:ext cx="1239000" cy="180900"/>
          </a:xfrm>
          <a:prstGeom prst="straightConnector1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495" name="Google Shape;495;p32"/>
          <p:cNvCxnSpPr>
            <a:stCxn id="476" idx="3"/>
            <a:endCxn id="487" idx="1"/>
          </p:cNvCxnSpPr>
          <p:nvPr/>
        </p:nvCxnSpPr>
        <p:spPr>
          <a:xfrm>
            <a:off x="5999800" y="3902075"/>
            <a:ext cx="1239000" cy="180900"/>
          </a:xfrm>
          <a:prstGeom prst="straightConnector1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496" name="Google Shape;496;p32"/>
          <p:cNvCxnSpPr>
            <a:stCxn id="477" idx="3"/>
            <a:endCxn id="488" idx="1"/>
          </p:cNvCxnSpPr>
          <p:nvPr/>
        </p:nvCxnSpPr>
        <p:spPr>
          <a:xfrm rot="10800000" flipH="1">
            <a:off x="5999800" y="4483175"/>
            <a:ext cx="1239000" cy="180900"/>
          </a:xfrm>
          <a:prstGeom prst="straightConnector1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497" name="Google Shape;497;p32"/>
          <p:cNvCxnSpPr>
            <a:stCxn id="477" idx="3"/>
            <a:endCxn id="489" idx="1"/>
          </p:cNvCxnSpPr>
          <p:nvPr/>
        </p:nvCxnSpPr>
        <p:spPr>
          <a:xfrm>
            <a:off x="5999800" y="4664075"/>
            <a:ext cx="1239000" cy="180900"/>
          </a:xfrm>
          <a:prstGeom prst="straightConnector1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498" name="Google Shape;498;p32"/>
          <p:cNvCxnSpPr/>
          <p:nvPr/>
        </p:nvCxnSpPr>
        <p:spPr>
          <a:xfrm rot="10800000">
            <a:off x="2003375" y="3434175"/>
            <a:ext cx="595200" cy="0"/>
          </a:xfrm>
          <a:prstGeom prst="straightConnector1">
            <a:avLst/>
          </a:prstGeom>
          <a:noFill/>
          <a:ln w="9525" cap="flat" cmpd="sng">
            <a:solidFill>
              <a:srgbClr val="0000FF"/>
            </a:solidFill>
            <a:prstDash val="solid"/>
            <a:round/>
            <a:headEnd type="none" w="med" len="med"/>
            <a:tailEnd type="triangle" w="med" len="med"/>
          </a:ln>
        </p:spPr>
      </p:cxnSp>
      <p:sp>
        <p:nvSpPr>
          <p:cNvPr id="499" name="Google Shape;499;p32"/>
          <p:cNvSpPr txBox="1"/>
          <p:nvPr/>
        </p:nvSpPr>
        <p:spPr>
          <a:xfrm>
            <a:off x="2009375" y="3257150"/>
            <a:ext cx="589200" cy="153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0000FF"/>
                </a:solidFill>
                <a:latin typeface="Roboto"/>
                <a:ea typeface="Roboto"/>
                <a:cs typeface="Roboto"/>
                <a:sym typeface="Roboto"/>
              </a:rPr>
              <a:t>A this way</a:t>
            </a:r>
            <a:endParaRPr sz="1000">
              <a:solidFill>
                <a:srgbClr val="0000FF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500" name="Google Shape;500;p32"/>
          <p:cNvCxnSpPr/>
          <p:nvPr/>
        </p:nvCxnSpPr>
        <p:spPr>
          <a:xfrm flipH="1">
            <a:off x="4902875" y="2326325"/>
            <a:ext cx="675000" cy="208200"/>
          </a:xfrm>
          <a:prstGeom prst="straightConnector1">
            <a:avLst/>
          </a:prstGeom>
          <a:noFill/>
          <a:ln w="9525" cap="flat" cmpd="sng">
            <a:solidFill>
              <a:srgbClr val="0000FF"/>
            </a:solidFill>
            <a:prstDash val="solid"/>
            <a:round/>
            <a:headEnd type="none" w="med" len="med"/>
            <a:tailEnd type="triangle" w="med" len="med"/>
          </a:ln>
        </p:spPr>
      </p:cxnSp>
      <p:sp>
        <p:nvSpPr>
          <p:cNvPr id="501" name="Google Shape;501;p32"/>
          <p:cNvSpPr txBox="1"/>
          <p:nvPr/>
        </p:nvSpPr>
        <p:spPr>
          <a:xfrm rot="-1045209">
            <a:off x="4976223" y="2253586"/>
            <a:ext cx="589225" cy="15399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0000FF"/>
                </a:solidFill>
                <a:latin typeface="Roboto"/>
                <a:ea typeface="Roboto"/>
                <a:cs typeface="Roboto"/>
                <a:sym typeface="Roboto"/>
              </a:rPr>
              <a:t>A this way</a:t>
            </a:r>
            <a:endParaRPr sz="1000">
              <a:solidFill>
                <a:srgbClr val="0000FF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502" name="Google Shape;502;p32"/>
          <p:cNvCxnSpPr/>
          <p:nvPr/>
        </p:nvCxnSpPr>
        <p:spPr>
          <a:xfrm rot="10800000">
            <a:off x="4902875" y="2914248"/>
            <a:ext cx="675000" cy="208200"/>
          </a:xfrm>
          <a:prstGeom prst="straightConnector1">
            <a:avLst/>
          </a:prstGeom>
          <a:noFill/>
          <a:ln w="9525" cap="flat" cmpd="sng">
            <a:solidFill>
              <a:srgbClr val="0000FF"/>
            </a:solidFill>
            <a:prstDash val="solid"/>
            <a:round/>
            <a:headEnd type="none" w="med" len="med"/>
            <a:tailEnd type="triangle" w="med" len="med"/>
          </a:ln>
        </p:spPr>
      </p:cxnSp>
      <p:sp>
        <p:nvSpPr>
          <p:cNvPr id="503" name="Google Shape;503;p32"/>
          <p:cNvSpPr txBox="1"/>
          <p:nvPr/>
        </p:nvSpPr>
        <p:spPr>
          <a:xfrm rot="1045209" flipH="1">
            <a:off x="4976223" y="3041188"/>
            <a:ext cx="589225" cy="15399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0000FF"/>
                </a:solidFill>
                <a:latin typeface="Roboto"/>
                <a:ea typeface="Roboto"/>
                <a:cs typeface="Roboto"/>
                <a:sym typeface="Roboto"/>
              </a:rPr>
              <a:t>A this way</a:t>
            </a:r>
            <a:endParaRPr sz="1000">
              <a:solidFill>
                <a:srgbClr val="0000FF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504" name="Google Shape;504;p32"/>
          <p:cNvCxnSpPr/>
          <p:nvPr/>
        </p:nvCxnSpPr>
        <p:spPr>
          <a:xfrm flipH="1">
            <a:off x="4902875" y="3884931"/>
            <a:ext cx="675000" cy="208200"/>
          </a:xfrm>
          <a:prstGeom prst="straightConnector1">
            <a:avLst/>
          </a:prstGeom>
          <a:noFill/>
          <a:ln w="9525" cap="flat" cmpd="sng">
            <a:solidFill>
              <a:srgbClr val="0000FF"/>
            </a:solidFill>
            <a:prstDash val="solid"/>
            <a:round/>
            <a:headEnd type="none" w="med" len="med"/>
            <a:tailEnd type="triangle" w="med" len="med"/>
          </a:ln>
        </p:spPr>
      </p:cxnSp>
      <p:sp>
        <p:nvSpPr>
          <p:cNvPr id="505" name="Google Shape;505;p32"/>
          <p:cNvSpPr txBox="1"/>
          <p:nvPr/>
        </p:nvSpPr>
        <p:spPr>
          <a:xfrm rot="-1045209">
            <a:off x="4976223" y="3812192"/>
            <a:ext cx="589225" cy="15399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0000FF"/>
                </a:solidFill>
                <a:latin typeface="Roboto"/>
                <a:ea typeface="Roboto"/>
                <a:cs typeface="Roboto"/>
                <a:sym typeface="Roboto"/>
              </a:rPr>
              <a:t>A this way</a:t>
            </a:r>
            <a:endParaRPr sz="1000">
              <a:solidFill>
                <a:srgbClr val="0000FF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506" name="Google Shape;506;p32"/>
          <p:cNvCxnSpPr/>
          <p:nvPr/>
        </p:nvCxnSpPr>
        <p:spPr>
          <a:xfrm rot="10800000">
            <a:off x="4902875" y="4472854"/>
            <a:ext cx="675000" cy="208200"/>
          </a:xfrm>
          <a:prstGeom prst="straightConnector1">
            <a:avLst/>
          </a:prstGeom>
          <a:noFill/>
          <a:ln w="9525" cap="flat" cmpd="sng">
            <a:solidFill>
              <a:srgbClr val="0000FF"/>
            </a:solidFill>
            <a:prstDash val="solid"/>
            <a:round/>
            <a:headEnd type="none" w="med" len="med"/>
            <a:tailEnd type="triangle" w="med" len="med"/>
          </a:ln>
        </p:spPr>
      </p:cxnSp>
      <p:sp>
        <p:nvSpPr>
          <p:cNvPr id="507" name="Google Shape;507;p32"/>
          <p:cNvSpPr txBox="1"/>
          <p:nvPr/>
        </p:nvSpPr>
        <p:spPr>
          <a:xfrm rot="1045209" flipH="1">
            <a:off x="4976223" y="4599794"/>
            <a:ext cx="589225" cy="15399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0000FF"/>
                </a:solidFill>
                <a:latin typeface="Roboto"/>
                <a:ea typeface="Roboto"/>
                <a:cs typeface="Roboto"/>
                <a:sym typeface="Roboto"/>
              </a:rPr>
              <a:t>A this way</a:t>
            </a:r>
            <a:endParaRPr sz="1000">
              <a:solidFill>
                <a:srgbClr val="0000FF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508" name="Google Shape;508;p32"/>
          <p:cNvCxnSpPr/>
          <p:nvPr/>
        </p:nvCxnSpPr>
        <p:spPr>
          <a:xfrm flipH="1">
            <a:off x="3474239" y="2741453"/>
            <a:ext cx="589200" cy="371700"/>
          </a:xfrm>
          <a:prstGeom prst="straightConnector1">
            <a:avLst/>
          </a:prstGeom>
          <a:noFill/>
          <a:ln w="9525" cap="flat" cmpd="sng">
            <a:solidFill>
              <a:srgbClr val="0000FF"/>
            </a:solidFill>
            <a:prstDash val="solid"/>
            <a:round/>
            <a:headEnd type="none" w="med" len="med"/>
            <a:tailEnd type="triangle" w="med" len="med"/>
          </a:ln>
        </p:spPr>
      </p:cxnSp>
      <p:sp>
        <p:nvSpPr>
          <p:cNvPr id="509" name="Google Shape;509;p32"/>
          <p:cNvSpPr txBox="1"/>
          <p:nvPr/>
        </p:nvSpPr>
        <p:spPr>
          <a:xfrm rot="-1931086">
            <a:off x="3465282" y="2744225"/>
            <a:ext cx="589129" cy="15381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0000FF"/>
                </a:solidFill>
                <a:latin typeface="Roboto"/>
                <a:ea typeface="Roboto"/>
                <a:cs typeface="Roboto"/>
                <a:sym typeface="Roboto"/>
              </a:rPr>
              <a:t>A this way</a:t>
            </a:r>
            <a:endParaRPr sz="1000">
              <a:solidFill>
                <a:srgbClr val="0000FF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510" name="Google Shape;510;p32"/>
          <p:cNvCxnSpPr/>
          <p:nvPr/>
        </p:nvCxnSpPr>
        <p:spPr>
          <a:xfrm rot="10800000">
            <a:off x="3474239" y="3894534"/>
            <a:ext cx="589200" cy="371700"/>
          </a:xfrm>
          <a:prstGeom prst="straightConnector1">
            <a:avLst/>
          </a:prstGeom>
          <a:noFill/>
          <a:ln w="9525" cap="flat" cmpd="sng">
            <a:solidFill>
              <a:srgbClr val="0000FF"/>
            </a:solidFill>
            <a:prstDash val="solid"/>
            <a:round/>
            <a:headEnd type="none" w="med" len="med"/>
            <a:tailEnd type="triangle" w="med" len="med"/>
          </a:ln>
        </p:spPr>
      </p:cxnSp>
      <p:sp>
        <p:nvSpPr>
          <p:cNvPr id="511" name="Google Shape;511;p32"/>
          <p:cNvSpPr txBox="1"/>
          <p:nvPr/>
        </p:nvSpPr>
        <p:spPr>
          <a:xfrm rot="1931086" flipH="1">
            <a:off x="3465282" y="4109644"/>
            <a:ext cx="589129" cy="15381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0000FF"/>
                </a:solidFill>
                <a:latin typeface="Roboto"/>
                <a:ea typeface="Roboto"/>
                <a:cs typeface="Roboto"/>
                <a:sym typeface="Roboto"/>
              </a:rPr>
              <a:t>A this way</a:t>
            </a:r>
            <a:endParaRPr sz="1000">
              <a:solidFill>
                <a:srgbClr val="0000FF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512" name="Google Shape;512;p32"/>
          <p:cNvCxnSpPr/>
          <p:nvPr/>
        </p:nvCxnSpPr>
        <p:spPr>
          <a:xfrm flipH="1">
            <a:off x="6455775" y="2105750"/>
            <a:ext cx="728100" cy="106500"/>
          </a:xfrm>
          <a:prstGeom prst="straightConnector1">
            <a:avLst/>
          </a:prstGeom>
          <a:noFill/>
          <a:ln w="9525" cap="flat" cmpd="sng">
            <a:solidFill>
              <a:srgbClr val="0000FF"/>
            </a:solidFill>
            <a:prstDash val="solid"/>
            <a:round/>
            <a:headEnd type="none" w="med" len="med"/>
            <a:tailEnd type="triangle" w="med" len="med"/>
          </a:ln>
        </p:spPr>
      </p:cxnSp>
      <p:sp>
        <p:nvSpPr>
          <p:cNvPr id="513" name="Google Shape;513;p32"/>
          <p:cNvSpPr txBox="1"/>
          <p:nvPr/>
        </p:nvSpPr>
        <p:spPr>
          <a:xfrm rot="-505875">
            <a:off x="6544869" y="1986551"/>
            <a:ext cx="589269" cy="15400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0000FF"/>
                </a:solidFill>
                <a:latin typeface="Roboto"/>
                <a:ea typeface="Roboto"/>
                <a:cs typeface="Roboto"/>
                <a:sym typeface="Roboto"/>
              </a:rPr>
              <a:t>A this way</a:t>
            </a:r>
            <a:endParaRPr sz="1000">
              <a:solidFill>
                <a:srgbClr val="0000FF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514" name="Google Shape;514;p32"/>
          <p:cNvCxnSpPr/>
          <p:nvPr/>
        </p:nvCxnSpPr>
        <p:spPr>
          <a:xfrm rot="10800000">
            <a:off x="6455775" y="2465686"/>
            <a:ext cx="728100" cy="106500"/>
          </a:xfrm>
          <a:prstGeom prst="straightConnector1">
            <a:avLst/>
          </a:prstGeom>
          <a:noFill/>
          <a:ln w="9525" cap="flat" cmpd="sng">
            <a:solidFill>
              <a:srgbClr val="0000FF"/>
            </a:solidFill>
            <a:prstDash val="solid"/>
            <a:round/>
            <a:headEnd type="none" w="med" len="med"/>
            <a:tailEnd type="triangle" w="med" len="med"/>
          </a:ln>
        </p:spPr>
      </p:cxnSp>
      <p:sp>
        <p:nvSpPr>
          <p:cNvPr id="515" name="Google Shape;515;p32"/>
          <p:cNvSpPr txBox="1"/>
          <p:nvPr/>
        </p:nvSpPr>
        <p:spPr>
          <a:xfrm rot="505875" flipH="1">
            <a:off x="6544869" y="2537377"/>
            <a:ext cx="589269" cy="15400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0000FF"/>
                </a:solidFill>
                <a:latin typeface="Roboto"/>
                <a:ea typeface="Roboto"/>
                <a:cs typeface="Roboto"/>
                <a:sym typeface="Roboto"/>
              </a:rPr>
              <a:t>A this way</a:t>
            </a:r>
            <a:endParaRPr sz="1000">
              <a:solidFill>
                <a:srgbClr val="0000FF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516" name="Google Shape;516;p32"/>
          <p:cNvCxnSpPr/>
          <p:nvPr/>
        </p:nvCxnSpPr>
        <p:spPr>
          <a:xfrm flipH="1">
            <a:off x="6455775" y="2867750"/>
            <a:ext cx="728100" cy="106500"/>
          </a:xfrm>
          <a:prstGeom prst="straightConnector1">
            <a:avLst/>
          </a:prstGeom>
          <a:noFill/>
          <a:ln w="9525" cap="flat" cmpd="sng">
            <a:solidFill>
              <a:srgbClr val="0000FF"/>
            </a:solidFill>
            <a:prstDash val="solid"/>
            <a:round/>
            <a:headEnd type="none" w="med" len="med"/>
            <a:tailEnd type="triangle" w="med" len="med"/>
          </a:ln>
        </p:spPr>
      </p:cxnSp>
      <p:sp>
        <p:nvSpPr>
          <p:cNvPr id="517" name="Google Shape;517;p32"/>
          <p:cNvSpPr txBox="1"/>
          <p:nvPr/>
        </p:nvSpPr>
        <p:spPr>
          <a:xfrm rot="-505875">
            <a:off x="6544869" y="2748551"/>
            <a:ext cx="589269" cy="15400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0000FF"/>
                </a:solidFill>
                <a:latin typeface="Roboto"/>
                <a:ea typeface="Roboto"/>
                <a:cs typeface="Roboto"/>
                <a:sym typeface="Roboto"/>
              </a:rPr>
              <a:t>A this way</a:t>
            </a:r>
            <a:endParaRPr sz="1000">
              <a:solidFill>
                <a:srgbClr val="0000FF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518" name="Google Shape;518;p32"/>
          <p:cNvCxnSpPr/>
          <p:nvPr/>
        </p:nvCxnSpPr>
        <p:spPr>
          <a:xfrm rot="10800000">
            <a:off x="6455775" y="3227686"/>
            <a:ext cx="728100" cy="106500"/>
          </a:xfrm>
          <a:prstGeom prst="straightConnector1">
            <a:avLst/>
          </a:prstGeom>
          <a:noFill/>
          <a:ln w="9525" cap="flat" cmpd="sng">
            <a:solidFill>
              <a:srgbClr val="0000FF"/>
            </a:solidFill>
            <a:prstDash val="solid"/>
            <a:round/>
            <a:headEnd type="none" w="med" len="med"/>
            <a:tailEnd type="triangle" w="med" len="med"/>
          </a:ln>
        </p:spPr>
      </p:cxnSp>
      <p:sp>
        <p:nvSpPr>
          <p:cNvPr id="519" name="Google Shape;519;p32"/>
          <p:cNvSpPr txBox="1"/>
          <p:nvPr/>
        </p:nvSpPr>
        <p:spPr>
          <a:xfrm rot="505875" flipH="1">
            <a:off x="6544869" y="3299377"/>
            <a:ext cx="589269" cy="15400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0000FF"/>
                </a:solidFill>
                <a:latin typeface="Roboto"/>
                <a:ea typeface="Roboto"/>
                <a:cs typeface="Roboto"/>
                <a:sym typeface="Roboto"/>
              </a:rPr>
              <a:t>A this way</a:t>
            </a:r>
            <a:endParaRPr sz="1000">
              <a:solidFill>
                <a:srgbClr val="0000FF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520" name="Google Shape;520;p32"/>
          <p:cNvCxnSpPr/>
          <p:nvPr/>
        </p:nvCxnSpPr>
        <p:spPr>
          <a:xfrm flipH="1">
            <a:off x="6455775" y="3668325"/>
            <a:ext cx="728100" cy="106500"/>
          </a:xfrm>
          <a:prstGeom prst="straightConnector1">
            <a:avLst/>
          </a:prstGeom>
          <a:noFill/>
          <a:ln w="9525" cap="flat" cmpd="sng">
            <a:solidFill>
              <a:srgbClr val="0000FF"/>
            </a:solidFill>
            <a:prstDash val="solid"/>
            <a:round/>
            <a:headEnd type="none" w="med" len="med"/>
            <a:tailEnd type="triangle" w="med" len="med"/>
          </a:ln>
        </p:spPr>
      </p:cxnSp>
      <p:sp>
        <p:nvSpPr>
          <p:cNvPr id="521" name="Google Shape;521;p32"/>
          <p:cNvSpPr txBox="1"/>
          <p:nvPr/>
        </p:nvSpPr>
        <p:spPr>
          <a:xfrm rot="-505875">
            <a:off x="6544869" y="3549126"/>
            <a:ext cx="589269" cy="15400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0000FF"/>
                </a:solidFill>
                <a:latin typeface="Roboto"/>
                <a:ea typeface="Roboto"/>
                <a:cs typeface="Roboto"/>
                <a:sym typeface="Roboto"/>
              </a:rPr>
              <a:t>A this way</a:t>
            </a:r>
            <a:endParaRPr sz="1000">
              <a:solidFill>
                <a:srgbClr val="0000FF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522" name="Google Shape;522;p32"/>
          <p:cNvCxnSpPr/>
          <p:nvPr/>
        </p:nvCxnSpPr>
        <p:spPr>
          <a:xfrm rot="10800000">
            <a:off x="6455775" y="4028261"/>
            <a:ext cx="728100" cy="106500"/>
          </a:xfrm>
          <a:prstGeom prst="straightConnector1">
            <a:avLst/>
          </a:prstGeom>
          <a:noFill/>
          <a:ln w="9525" cap="flat" cmpd="sng">
            <a:solidFill>
              <a:srgbClr val="0000FF"/>
            </a:solidFill>
            <a:prstDash val="solid"/>
            <a:round/>
            <a:headEnd type="none" w="med" len="med"/>
            <a:tailEnd type="triangle" w="med" len="med"/>
          </a:ln>
        </p:spPr>
      </p:cxnSp>
      <p:sp>
        <p:nvSpPr>
          <p:cNvPr id="523" name="Google Shape;523;p32"/>
          <p:cNvSpPr txBox="1"/>
          <p:nvPr/>
        </p:nvSpPr>
        <p:spPr>
          <a:xfrm rot="505875" flipH="1">
            <a:off x="6544869" y="4099951"/>
            <a:ext cx="589269" cy="15400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0000FF"/>
                </a:solidFill>
                <a:latin typeface="Roboto"/>
                <a:ea typeface="Roboto"/>
                <a:cs typeface="Roboto"/>
                <a:sym typeface="Roboto"/>
              </a:rPr>
              <a:t>A this way</a:t>
            </a:r>
            <a:endParaRPr sz="1000">
              <a:solidFill>
                <a:srgbClr val="0000FF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524" name="Google Shape;524;p32"/>
          <p:cNvCxnSpPr/>
          <p:nvPr/>
        </p:nvCxnSpPr>
        <p:spPr>
          <a:xfrm flipH="1">
            <a:off x="6455775" y="4430325"/>
            <a:ext cx="728100" cy="106500"/>
          </a:xfrm>
          <a:prstGeom prst="straightConnector1">
            <a:avLst/>
          </a:prstGeom>
          <a:noFill/>
          <a:ln w="9525" cap="flat" cmpd="sng">
            <a:solidFill>
              <a:srgbClr val="0000FF"/>
            </a:solidFill>
            <a:prstDash val="solid"/>
            <a:round/>
            <a:headEnd type="none" w="med" len="med"/>
            <a:tailEnd type="triangle" w="med" len="med"/>
          </a:ln>
        </p:spPr>
      </p:cxnSp>
      <p:sp>
        <p:nvSpPr>
          <p:cNvPr id="525" name="Google Shape;525;p32"/>
          <p:cNvSpPr txBox="1"/>
          <p:nvPr/>
        </p:nvSpPr>
        <p:spPr>
          <a:xfrm rot="-505875">
            <a:off x="6544869" y="4311126"/>
            <a:ext cx="589269" cy="15400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0000FF"/>
                </a:solidFill>
                <a:latin typeface="Roboto"/>
                <a:ea typeface="Roboto"/>
                <a:cs typeface="Roboto"/>
                <a:sym typeface="Roboto"/>
              </a:rPr>
              <a:t>A this way</a:t>
            </a:r>
            <a:endParaRPr sz="1000">
              <a:solidFill>
                <a:srgbClr val="0000FF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526" name="Google Shape;526;p32"/>
          <p:cNvCxnSpPr/>
          <p:nvPr/>
        </p:nvCxnSpPr>
        <p:spPr>
          <a:xfrm rot="10800000">
            <a:off x="6455775" y="4790261"/>
            <a:ext cx="728100" cy="106500"/>
          </a:xfrm>
          <a:prstGeom prst="straightConnector1">
            <a:avLst/>
          </a:prstGeom>
          <a:noFill/>
          <a:ln w="9525" cap="flat" cmpd="sng">
            <a:solidFill>
              <a:srgbClr val="0000FF"/>
            </a:solidFill>
            <a:prstDash val="solid"/>
            <a:round/>
            <a:headEnd type="none" w="med" len="med"/>
            <a:tailEnd type="triangle" w="med" len="med"/>
          </a:ln>
        </p:spPr>
      </p:cxnSp>
      <p:sp>
        <p:nvSpPr>
          <p:cNvPr id="527" name="Google Shape;527;p32"/>
          <p:cNvSpPr txBox="1"/>
          <p:nvPr/>
        </p:nvSpPr>
        <p:spPr>
          <a:xfrm rot="505875" flipH="1">
            <a:off x="6544869" y="4861951"/>
            <a:ext cx="589269" cy="15400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0000FF"/>
                </a:solidFill>
                <a:latin typeface="Roboto"/>
                <a:ea typeface="Roboto"/>
                <a:cs typeface="Roboto"/>
                <a:sym typeface="Roboto"/>
              </a:rPr>
              <a:t>A this way</a:t>
            </a:r>
            <a:endParaRPr sz="1000">
              <a:solidFill>
                <a:srgbClr val="0000FF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528" name="Google Shape;528;p32"/>
          <p:cNvSpPr txBox="1"/>
          <p:nvPr/>
        </p:nvSpPr>
        <p:spPr>
          <a:xfrm>
            <a:off x="1371400" y="1429500"/>
            <a:ext cx="6152400" cy="270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27425" tIns="27425" rIns="27425" bIns="27425" anchor="t" anchorCtr="0">
            <a:sp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We did it! Everybody knows the next-hop to A now.</a:t>
            </a:r>
            <a:endParaRPr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3F379179-2EF3-109E-68AD-72E79453C337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 smtClean="0"/>
              <a:t>8</a:t>
            </a:fld>
            <a:endParaRPr lang="en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5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3" name="Google Shape;533;p33"/>
          <p:cNvSpPr txBox="1">
            <a:spLocks noGrp="1"/>
          </p:cNvSpPr>
          <p:nvPr>
            <p:ph type="title"/>
          </p:nvPr>
        </p:nvSpPr>
        <p:spPr>
          <a:xfrm>
            <a:off x="0" y="0"/>
            <a:ext cx="9144000" cy="39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Distance-Vector Algorithm Sketch – Routing vs. Forwarding</a:t>
            </a:r>
            <a:endParaRPr/>
          </a:p>
        </p:txBody>
      </p:sp>
      <p:cxnSp>
        <p:nvCxnSpPr>
          <p:cNvPr id="534" name="Google Shape;534;p33"/>
          <p:cNvCxnSpPr>
            <a:stCxn id="535" idx="3"/>
            <a:endCxn id="536" idx="1"/>
          </p:cNvCxnSpPr>
          <p:nvPr/>
        </p:nvCxnSpPr>
        <p:spPr>
          <a:xfrm rot="10800000" flipH="1">
            <a:off x="2951800" y="2720825"/>
            <a:ext cx="1239000" cy="781200"/>
          </a:xfrm>
          <a:prstGeom prst="straightConnector1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536" name="Google Shape;536;p33"/>
          <p:cNvSpPr/>
          <p:nvPr/>
        </p:nvSpPr>
        <p:spPr>
          <a:xfrm>
            <a:off x="4190800" y="2578475"/>
            <a:ext cx="285000" cy="285000"/>
          </a:xfrm>
          <a:prstGeom prst="rect">
            <a:avLst/>
          </a:prstGeom>
          <a:solidFill>
            <a:srgbClr val="FFFFFF"/>
          </a:solidFill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R2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537" name="Google Shape;537;p33"/>
          <p:cNvSpPr/>
          <p:nvPr/>
        </p:nvSpPr>
        <p:spPr>
          <a:xfrm>
            <a:off x="1371388" y="3359525"/>
            <a:ext cx="285000" cy="285000"/>
          </a:xfrm>
          <a:prstGeom prst="ellipse">
            <a:avLst/>
          </a:prstGeom>
          <a:solidFill>
            <a:srgbClr val="FFFFFF"/>
          </a:solidFill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A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538" name="Google Shape;538;p33"/>
          <p:cNvSpPr/>
          <p:nvPr/>
        </p:nvSpPr>
        <p:spPr>
          <a:xfrm>
            <a:off x="4190800" y="4140575"/>
            <a:ext cx="285000" cy="285000"/>
          </a:xfrm>
          <a:prstGeom prst="rect">
            <a:avLst/>
          </a:prstGeom>
          <a:solidFill>
            <a:srgbClr val="FFFFFF"/>
          </a:solidFill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R3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539" name="Google Shape;539;p33"/>
          <p:cNvCxnSpPr>
            <a:stCxn id="535" idx="3"/>
            <a:endCxn id="538" idx="1"/>
          </p:cNvCxnSpPr>
          <p:nvPr/>
        </p:nvCxnSpPr>
        <p:spPr>
          <a:xfrm>
            <a:off x="2951800" y="3502025"/>
            <a:ext cx="1239000" cy="781200"/>
          </a:xfrm>
          <a:prstGeom prst="straightConnector1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535" name="Google Shape;535;p33"/>
          <p:cNvSpPr/>
          <p:nvPr/>
        </p:nvSpPr>
        <p:spPr>
          <a:xfrm>
            <a:off x="2666800" y="3359525"/>
            <a:ext cx="285000" cy="285000"/>
          </a:xfrm>
          <a:prstGeom prst="rect">
            <a:avLst/>
          </a:prstGeom>
          <a:solidFill>
            <a:srgbClr val="FFFFFF"/>
          </a:solidFill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R1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540" name="Google Shape;540;p33"/>
          <p:cNvCxnSpPr>
            <a:stCxn id="537" idx="6"/>
            <a:endCxn id="535" idx="1"/>
          </p:cNvCxnSpPr>
          <p:nvPr/>
        </p:nvCxnSpPr>
        <p:spPr>
          <a:xfrm>
            <a:off x="1656388" y="3502025"/>
            <a:ext cx="1010400" cy="0"/>
          </a:xfrm>
          <a:prstGeom prst="straightConnector1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541" name="Google Shape;541;p33"/>
          <p:cNvSpPr/>
          <p:nvPr/>
        </p:nvSpPr>
        <p:spPr>
          <a:xfrm>
            <a:off x="5714800" y="2959475"/>
            <a:ext cx="285000" cy="285000"/>
          </a:xfrm>
          <a:prstGeom prst="rect">
            <a:avLst/>
          </a:prstGeom>
          <a:solidFill>
            <a:srgbClr val="FFFFFF"/>
          </a:solidFill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R5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542" name="Google Shape;542;p33"/>
          <p:cNvSpPr/>
          <p:nvPr/>
        </p:nvSpPr>
        <p:spPr>
          <a:xfrm>
            <a:off x="5714800" y="2197475"/>
            <a:ext cx="285000" cy="285000"/>
          </a:xfrm>
          <a:prstGeom prst="rect">
            <a:avLst/>
          </a:prstGeom>
          <a:solidFill>
            <a:srgbClr val="FFFFFF"/>
          </a:solidFill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R4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543" name="Google Shape;543;p33"/>
          <p:cNvSpPr/>
          <p:nvPr/>
        </p:nvSpPr>
        <p:spPr>
          <a:xfrm>
            <a:off x="5714800" y="3759575"/>
            <a:ext cx="285000" cy="285000"/>
          </a:xfrm>
          <a:prstGeom prst="rect">
            <a:avLst/>
          </a:prstGeom>
          <a:solidFill>
            <a:srgbClr val="FFFFFF"/>
          </a:solidFill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R6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544" name="Google Shape;544;p33"/>
          <p:cNvSpPr/>
          <p:nvPr/>
        </p:nvSpPr>
        <p:spPr>
          <a:xfrm>
            <a:off x="5714800" y="4521575"/>
            <a:ext cx="285000" cy="285000"/>
          </a:xfrm>
          <a:prstGeom prst="rect">
            <a:avLst/>
          </a:prstGeom>
          <a:solidFill>
            <a:srgbClr val="FFFFFF"/>
          </a:solidFill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R7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545" name="Google Shape;545;p33"/>
          <p:cNvCxnSpPr>
            <a:stCxn id="536" idx="3"/>
            <a:endCxn id="542" idx="1"/>
          </p:cNvCxnSpPr>
          <p:nvPr/>
        </p:nvCxnSpPr>
        <p:spPr>
          <a:xfrm rot="10800000" flipH="1">
            <a:off x="4475800" y="2339975"/>
            <a:ext cx="1239000" cy="381000"/>
          </a:xfrm>
          <a:prstGeom prst="straightConnector1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546" name="Google Shape;546;p33"/>
          <p:cNvCxnSpPr>
            <a:stCxn id="536" idx="3"/>
            <a:endCxn id="541" idx="1"/>
          </p:cNvCxnSpPr>
          <p:nvPr/>
        </p:nvCxnSpPr>
        <p:spPr>
          <a:xfrm>
            <a:off x="4475800" y="2720975"/>
            <a:ext cx="1239000" cy="381000"/>
          </a:xfrm>
          <a:prstGeom prst="straightConnector1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547" name="Google Shape;547;p33"/>
          <p:cNvCxnSpPr>
            <a:stCxn id="538" idx="3"/>
            <a:endCxn id="543" idx="1"/>
          </p:cNvCxnSpPr>
          <p:nvPr/>
        </p:nvCxnSpPr>
        <p:spPr>
          <a:xfrm rot="10800000" flipH="1">
            <a:off x="4475800" y="3902075"/>
            <a:ext cx="1239000" cy="381000"/>
          </a:xfrm>
          <a:prstGeom prst="straightConnector1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548" name="Google Shape;548;p33"/>
          <p:cNvCxnSpPr>
            <a:stCxn id="538" idx="3"/>
            <a:endCxn id="544" idx="1"/>
          </p:cNvCxnSpPr>
          <p:nvPr/>
        </p:nvCxnSpPr>
        <p:spPr>
          <a:xfrm>
            <a:off x="4475800" y="4283075"/>
            <a:ext cx="1239000" cy="381000"/>
          </a:xfrm>
          <a:prstGeom prst="straightConnector1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549" name="Google Shape;549;p33"/>
          <p:cNvSpPr/>
          <p:nvPr/>
        </p:nvSpPr>
        <p:spPr>
          <a:xfrm>
            <a:off x="7238800" y="2016500"/>
            <a:ext cx="285000" cy="285000"/>
          </a:xfrm>
          <a:prstGeom prst="rect">
            <a:avLst/>
          </a:prstGeom>
          <a:solidFill>
            <a:srgbClr val="FFFFFF"/>
          </a:solidFill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R8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550" name="Google Shape;550;p33"/>
          <p:cNvSpPr/>
          <p:nvPr/>
        </p:nvSpPr>
        <p:spPr>
          <a:xfrm>
            <a:off x="7238800" y="2378450"/>
            <a:ext cx="285000" cy="285000"/>
          </a:xfrm>
          <a:prstGeom prst="rect">
            <a:avLst/>
          </a:prstGeom>
          <a:solidFill>
            <a:srgbClr val="FFFFFF"/>
          </a:solidFill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R9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551" name="Google Shape;551;p33"/>
          <p:cNvSpPr/>
          <p:nvPr/>
        </p:nvSpPr>
        <p:spPr>
          <a:xfrm>
            <a:off x="7238800" y="2778500"/>
            <a:ext cx="285000" cy="285000"/>
          </a:xfrm>
          <a:prstGeom prst="rect">
            <a:avLst/>
          </a:prstGeom>
          <a:solidFill>
            <a:srgbClr val="FFFFFF"/>
          </a:solidFill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>
                <a:latin typeface="Roboto"/>
                <a:ea typeface="Roboto"/>
                <a:cs typeface="Roboto"/>
                <a:sym typeface="Roboto"/>
              </a:rPr>
              <a:t>R10</a:t>
            </a:r>
            <a:endParaRPr sz="12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552" name="Google Shape;552;p33"/>
          <p:cNvSpPr/>
          <p:nvPr/>
        </p:nvSpPr>
        <p:spPr>
          <a:xfrm>
            <a:off x="7238800" y="3140450"/>
            <a:ext cx="285000" cy="285000"/>
          </a:xfrm>
          <a:prstGeom prst="rect">
            <a:avLst/>
          </a:prstGeom>
          <a:solidFill>
            <a:srgbClr val="FFFFFF"/>
          </a:solidFill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>
                <a:latin typeface="Roboto"/>
                <a:ea typeface="Roboto"/>
                <a:cs typeface="Roboto"/>
                <a:sym typeface="Roboto"/>
              </a:rPr>
              <a:t>R11</a:t>
            </a:r>
            <a:endParaRPr sz="12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553" name="Google Shape;553;p33"/>
          <p:cNvSpPr/>
          <p:nvPr/>
        </p:nvSpPr>
        <p:spPr>
          <a:xfrm>
            <a:off x="7238800" y="3578600"/>
            <a:ext cx="285000" cy="285000"/>
          </a:xfrm>
          <a:prstGeom prst="rect">
            <a:avLst/>
          </a:prstGeom>
          <a:solidFill>
            <a:srgbClr val="FFFFFF"/>
          </a:solidFill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>
                <a:latin typeface="Roboto"/>
                <a:ea typeface="Roboto"/>
                <a:cs typeface="Roboto"/>
                <a:sym typeface="Roboto"/>
              </a:rPr>
              <a:t>R12</a:t>
            </a:r>
            <a:endParaRPr sz="12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554" name="Google Shape;554;p33"/>
          <p:cNvSpPr/>
          <p:nvPr/>
        </p:nvSpPr>
        <p:spPr>
          <a:xfrm>
            <a:off x="7238800" y="3940550"/>
            <a:ext cx="285000" cy="285000"/>
          </a:xfrm>
          <a:prstGeom prst="rect">
            <a:avLst/>
          </a:prstGeom>
          <a:solidFill>
            <a:srgbClr val="FFFFFF"/>
          </a:solidFill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>
                <a:latin typeface="Roboto"/>
                <a:ea typeface="Roboto"/>
                <a:cs typeface="Roboto"/>
                <a:sym typeface="Roboto"/>
              </a:rPr>
              <a:t>R13</a:t>
            </a:r>
            <a:endParaRPr sz="12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555" name="Google Shape;555;p33"/>
          <p:cNvSpPr/>
          <p:nvPr/>
        </p:nvSpPr>
        <p:spPr>
          <a:xfrm>
            <a:off x="7238800" y="4340600"/>
            <a:ext cx="285000" cy="285000"/>
          </a:xfrm>
          <a:prstGeom prst="rect">
            <a:avLst/>
          </a:prstGeom>
          <a:solidFill>
            <a:srgbClr val="FFFFFF"/>
          </a:solidFill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>
                <a:latin typeface="Roboto"/>
                <a:ea typeface="Roboto"/>
                <a:cs typeface="Roboto"/>
                <a:sym typeface="Roboto"/>
              </a:rPr>
              <a:t>R14</a:t>
            </a:r>
            <a:endParaRPr sz="12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556" name="Google Shape;556;p33"/>
          <p:cNvSpPr/>
          <p:nvPr/>
        </p:nvSpPr>
        <p:spPr>
          <a:xfrm>
            <a:off x="7238800" y="4702550"/>
            <a:ext cx="285000" cy="285000"/>
          </a:xfrm>
          <a:prstGeom prst="rect">
            <a:avLst/>
          </a:prstGeom>
          <a:solidFill>
            <a:srgbClr val="FFFFFF"/>
          </a:solidFill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>
                <a:latin typeface="Roboto"/>
                <a:ea typeface="Roboto"/>
                <a:cs typeface="Roboto"/>
                <a:sym typeface="Roboto"/>
              </a:rPr>
              <a:t>R15</a:t>
            </a:r>
            <a:endParaRPr sz="1200"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557" name="Google Shape;557;p33"/>
          <p:cNvCxnSpPr>
            <a:stCxn id="542" idx="3"/>
            <a:endCxn id="549" idx="1"/>
          </p:cNvCxnSpPr>
          <p:nvPr/>
        </p:nvCxnSpPr>
        <p:spPr>
          <a:xfrm rot="10800000" flipH="1">
            <a:off x="5999800" y="2159075"/>
            <a:ext cx="1239000" cy="180900"/>
          </a:xfrm>
          <a:prstGeom prst="straightConnector1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558" name="Google Shape;558;p33"/>
          <p:cNvCxnSpPr>
            <a:stCxn id="542" idx="3"/>
            <a:endCxn id="550" idx="1"/>
          </p:cNvCxnSpPr>
          <p:nvPr/>
        </p:nvCxnSpPr>
        <p:spPr>
          <a:xfrm>
            <a:off x="5999800" y="2339975"/>
            <a:ext cx="1239000" cy="180900"/>
          </a:xfrm>
          <a:prstGeom prst="straightConnector1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559" name="Google Shape;559;p33"/>
          <p:cNvCxnSpPr>
            <a:stCxn id="541" idx="3"/>
            <a:endCxn id="551" idx="1"/>
          </p:cNvCxnSpPr>
          <p:nvPr/>
        </p:nvCxnSpPr>
        <p:spPr>
          <a:xfrm rot="10800000" flipH="1">
            <a:off x="5999800" y="2921075"/>
            <a:ext cx="1239000" cy="180900"/>
          </a:xfrm>
          <a:prstGeom prst="straightConnector1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560" name="Google Shape;560;p33"/>
          <p:cNvCxnSpPr>
            <a:stCxn id="541" idx="3"/>
            <a:endCxn id="552" idx="1"/>
          </p:cNvCxnSpPr>
          <p:nvPr/>
        </p:nvCxnSpPr>
        <p:spPr>
          <a:xfrm>
            <a:off x="5999800" y="3101975"/>
            <a:ext cx="1239000" cy="180900"/>
          </a:xfrm>
          <a:prstGeom prst="straightConnector1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561" name="Google Shape;561;p33"/>
          <p:cNvCxnSpPr>
            <a:stCxn id="543" idx="3"/>
            <a:endCxn id="553" idx="1"/>
          </p:cNvCxnSpPr>
          <p:nvPr/>
        </p:nvCxnSpPr>
        <p:spPr>
          <a:xfrm rot="10800000" flipH="1">
            <a:off x="5999800" y="3721175"/>
            <a:ext cx="1239000" cy="180900"/>
          </a:xfrm>
          <a:prstGeom prst="straightConnector1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562" name="Google Shape;562;p33"/>
          <p:cNvCxnSpPr>
            <a:stCxn id="543" idx="3"/>
            <a:endCxn id="554" idx="1"/>
          </p:cNvCxnSpPr>
          <p:nvPr/>
        </p:nvCxnSpPr>
        <p:spPr>
          <a:xfrm>
            <a:off x="5999800" y="3902075"/>
            <a:ext cx="1239000" cy="180900"/>
          </a:xfrm>
          <a:prstGeom prst="straightConnector1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563" name="Google Shape;563;p33"/>
          <p:cNvCxnSpPr>
            <a:stCxn id="544" idx="3"/>
            <a:endCxn id="555" idx="1"/>
          </p:cNvCxnSpPr>
          <p:nvPr/>
        </p:nvCxnSpPr>
        <p:spPr>
          <a:xfrm rot="10800000" flipH="1">
            <a:off x="5999800" y="4483175"/>
            <a:ext cx="1239000" cy="180900"/>
          </a:xfrm>
          <a:prstGeom prst="straightConnector1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564" name="Google Shape;564;p33"/>
          <p:cNvCxnSpPr>
            <a:stCxn id="544" idx="3"/>
            <a:endCxn id="556" idx="1"/>
          </p:cNvCxnSpPr>
          <p:nvPr/>
        </p:nvCxnSpPr>
        <p:spPr>
          <a:xfrm>
            <a:off x="5999800" y="4664075"/>
            <a:ext cx="1239000" cy="180900"/>
          </a:xfrm>
          <a:prstGeom prst="straightConnector1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565" name="Google Shape;565;p33"/>
          <p:cNvCxnSpPr/>
          <p:nvPr/>
        </p:nvCxnSpPr>
        <p:spPr>
          <a:xfrm>
            <a:off x="1259851" y="1074500"/>
            <a:ext cx="6624300" cy="0"/>
          </a:xfrm>
          <a:prstGeom prst="straightConnector1">
            <a:avLst/>
          </a:prstGeom>
          <a:noFill/>
          <a:ln w="28575" cap="flat" cmpd="sng">
            <a:solidFill>
              <a:schemeClr val="accent2"/>
            </a:solidFill>
            <a:prstDash val="solid"/>
            <a:round/>
            <a:headEnd type="none" w="med" len="med"/>
            <a:tailEnd type="triangle" w="med" len="med"/>
          </a:ln>
        </p:spPr>
      </p:cxnSp>
      <p:sp>
        <p:nvSpPr>
          <p:cNvPr id="566" name="Google Shape;566;p33"/>
          <p:cNvSpPr txBox="1"/>
          <p:nvPr/>
        </p:nvSpPr>
        <p:spPr>
          <a:xfrm>
            <a:off x="1259864" y="754575"/>
            <a:ext cx="6622800" cy="270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27425" tIns="27425" rIns="27425" bIns="27425" anchor="t" anchorCtr="0">
            <a:sp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b="1">
                <a:solidFill>
                  <a:schemeClr val="accent2"/>
                </a:solidFill>
                <a:latin typeface="Roboto"/>
                <a:ea typeface="Roboto"/>
                <a:cs typeface="Roboto"/>
                <a:sym typeface="Roboto"/>
              </a:rPr>
              <a:t>Routing</a:t>
            </a:r>
            <a:r>
              <a:rPr lang="en">
                <a:solidFill>
                  <a:schemeClr val="accent2"/>
                </a:solidFill>
                <a:latin typeface="Roboto"/>
                <a:ea typeface="Roboto"/>
                <a:cs typeface="Roboto"/>
                <a:sym typeface="Roboto"/>
              </a:rPr>
              <a:t> announcements ("I can reach A") propagated </a:t>
            </a:r>
            <a:r>
              <a:rPr lang="en" i="1">
                <a:solidFill>
                  <a:schemeClr val="accent2"/>
                </a:solidFill>
                <a:latin typeface="Roboto"/>
                <a:ea typeface="Roboto"/>
                <a:cs typeface="Roboto"/>
                <a:sym typeface="Roboto"/>
              </a:rPr>
              <a:t>outward</a:t>
            </a:r>
            <a:r>
              <a:rPr lang="en">
                <a:solidFill>
                  <a:schemeClr val="accent2"/>
                </a:solidFill>
                <a:latin typeface="Roboto"/>
                <a:ea typeface="Roboto"/>
                <a:cs typeface="Roboto"/>
                <a:sym typeface="Roboto"/>
              </a:rPr>
              <a:t>, away from A.</a:t>
            </a:r>
            <a:endParaRPr>
              <a:solidFill>
                <a:schemeClr val="accent2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567" name="Google Shape;567;p33"/>
          <p:cNvCxnSpPr/>
          <p:nvPr/>
        </p:nvCxnSpPr>
        <p:spPr>
          <a:xfrm>
            <a:off x="1259851" y="1684100"/>
            <a:ext cx="6624300" cy="0"/>
          </a:xfrm>
          <a:prstGeom prst="straightConnector1">
            <a:avLst/>
          </a:prstGeom>
          <a:noFill/>
          <a:ln w="28575" cap="flat" cmpd="sng">
            <a:solidFill>
              <a:srgbClr val="0000FF"/>
            </a:solidFill>
            <a:prstDash val="solid"/>
            <a:round/>
            <a:headEnd type="triangle" w="med" len="med"/>
            <a:tailEnd type="none" w="med" len="med"/>
          </a:ln>
        </p:spPr>
      </p:cxnSp>
      <p:sp>
        <p:nvSpPr>
          <p:cNvPr id="568" name="Google Shape;568;p33"/>
          <p:cNvSpPr txBox="1"/>
          <p:nvPr/>
        </p:nvSpPr>
        <p:spPr>
          <a:xfrm>
            <a:off x="1259864" y="1364175"/>
            <a:ext cx="6622800" cy="270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27425" tIns="27425" rIns="27425" bIns="27425" anchor="t" anchorCtr="0">
            <a:sp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0000FF"/>
                </a:solidFill>
                <a:latin typeface="Roboto"/>
                <a:ea typeface="Roboto"/>
                <a:cs typeface="Roboto"/>
                <a:sym typeface="Roboto"/>
              </a:rPr>
              <a:t>When </a:t>
            </a:r>
            <a:r>
              <a:rPr lang="en" b="1">
                <a:solidFill>
                  <a:srgbClr val="0000FF"/>
                </a:solidFill>
                <a:latin typeface="Roboto"/>
                <a:ea typeface="Roboto"/>
                <a:cs typeface="Roboto"/>
                <a:sym typeface="Roboto"/>
              </a:rPr>
              <a:t>forwarding</a:t>
            </a:r>
            <a:r>
              <a:rPr lang="en">
                <a:solidFill>
                  <a:srgbClr val="0000FF"/>
                </a:solidFill>
                <a:latin typeface="Roboto"/>
                <a:ea typeface="Roboto"/>
                <a:cs typeface="Roboto"/>
                <a:sym typeface="Roboto"/>
              </a:rPr>
              <a:t> packets toward A, packets travel </a:t>
            </a:r>
            <a:r>
              <a:rPr lang="en" i="1">
                <a:solidFill>
                  <a:srgbClr val="0000FF"/>
                </a:solidFill>
                <a:latin typeface="Roboto"/>
                <a:ea typeface="Roboto"/>
                <a:cs typeface="Roboto"/>
                <a:sym typeface="Roboto"/>
              </a:rPr>
              <a:t>inward</a:t>
            </a:r>
            <a:r>
              <a:rPr lang="en">
                <a:solidFill>
                  <a:srgbClr val="0000FF"/>
                </a:solidFill>
                <a:latin typeface="Roboto"/>
                <a:ea typeface="Roboto"/>
                <a:cs typeface="Roboto"/>
                <a:sym typeface="Roboto"/>
              </a:rPr>
              <a:t>, toward A.</a:t>
            </a:r>
            <a:endParaRPr>
              <a:solidFill>
                <a:srgbClr val="0000FF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10BBA292-C42A-1991-32E2-0A5CA9D8DCDE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 smtClean="0"/>
              <a:t>9</a:t>
            </a:fld>
            <a:endParaRPr lang="en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5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73" name="Google Shape;573;p34"/>
          <p:cNvSpPr txBox="1">
            <a:spLocks noGrp="1"/>
          </p:cNvSpPr>
          <p:nvPr>
            <p:ph type="title"/>
          </p:nvPr>
        </p:nvSpPr>
        <p:spPr>
          <a:xfrm>
            <a:off x="0" y="0"/>
            <a:ext cx="9144000" cy="39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accent3"/>
                </a:solidFill>
              </a:rPr>
              <a:t>Distance-Vector Algorithm Sketch – Multiple Destinations</a:t>
            </a:r>
            <a:endParaRPr/>
          </a:p>
        </p:txBody>
      </p:sp>
      <p:sp>
        <p:nvSpPr>
          <p:cNvPr id="574" name="Google Shape;574;p34"/>
          <p:cNvSpPr txBox="1">
            <a:spLocks noGrp="1"/>
          </p:cNvSpPr>
          <p:nvPr>
            <p:ph type="body" idx="1"/>
          </p:nvPr>
        </p:nvSpPr>
        <p:spPr>
          <a:xfrm>
            <a:off x="107050" y="402200"/>
            <a:ext cx="8909700" cy="4530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"/>
              <a:t>What if there are multiple destinations?</a:t>
            </a:r>
            <a:endParaRPr/>
          </a:p>
          <a:p>
            <a:pPr marL="457200" lvl="0" indent="-342900" algn="l" rtl="0">
              <a:spcBef>
                <a:spcPts val="60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Run the same path propagation algorithm, once per destination.</a:t>
            </a:r>
            <a:endParaRPr/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Routers use </a:t>
            </a:r>
            <a:r>
              <a:rPr lang="en" b="1"/>
              <a:t>forwarding tables</a:t>
            </a:r>
            <a:r>
              <a:rPr lang="en"/>
              <a:t> to keep track of the next-hop of each destination.</a:t>
            </a:r>
            <a:endParaRPr/>
          </a:p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endParaRPr/>
          </a:p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"/>
              <a:t>We'll focus on a single destination for simplicity.</a:t>
            </a:r>
            <a:endParaRPr/>
          </a:p>
          <a:p>
            <a:pPr marL="457200" lvl="0" indent="-342900" algn="l" rtl="0">
              <a:spcBef>
                <a:spcPts val="60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But the protocol can extend to multiple destinations.</a:t>
            </a:r>
            <a:endParaRPr/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73776D89-3924-F647-1B13-D2402A4E695E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 smtClean="0"/>
              <a:t>10</a:t>
            </a:fld>
            <a:endParaRPr lang="en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5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79" name="Google Shape;579;p35"/>
          <p:cNvSpPr txBox="1">
            <a:spLocks noGrp="1"/>
          </p:cNvSpPr>
          <p:nvPr>
            <p:ph type="body" idx="1"/>
          </p:nvPr>
        </p:nvSpPr>
        <p:spPr>
          <a:xfrm>
            <a:off x="4812375" y="402200"/>
            <a:ext cx="4038000" cy="42609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" b="1">
                <a:solidFill>
                  <a:schemeClr val="accent3"/>
                </a:solidFill>
                <a:latin typeface="Roboto"/>
                <a:ea typeface="Roboto"/>
                <a:cs typeface="Roboto"/>
                <a:sym typeface="Roboto"/>
              </a:rPr>
              <a:t>Distance-Vector Correctness</a:t>
            </a:r>
            <a:endParaRPr b="1">
              <a:solidFill>
                <a:schemeClr val="accent3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457200" lvl="0" indent="-342900" algn="l" rtl="0">
              <a:spcBef>
                <a:spcPts val="600"/>
              </a:spcBef>
              <a:spcAft>
                <a:spcPts val="0"/>
              </a:spcAft>
              <a:buClr>
                <a:srgbClr val="B7B7B7"/>
              </a:buClr>
              <a:buSzPts val="1800"/>
              <a:buChar char="•"/>
            </a:pPr>
            <a:r>
              <a:rPr lang="en">
                <a:solidFill>
                  <a:srgbClr val="B7B7B7"/>
                </a:solidFill>
              </a:rPr>
              <a:t>Algorithm Sketch</a:t>
            </a:r>
            <a:endParaRPr>
              <a:solidFill>
                <a:srgbClr val="B7B7B7"/>
              </a:solidFill>
            </a:endParaRPr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800"/>
              <a:buFont typeface="Roboto"/>
              <a:buChar char="•"/>
            </a:pPr>
            <a:r>
              <a:rPr lang="en" b="1">
                <a:solidFill>
                  <a:schemeClr val="accent3"/>
                </a:solidFill>
                <a:latin typeface="Roboto"/>
                <a:ea typeface="Roboto"/>
                <a:cs typeface="Roboto"/>
                <a:sym typeface="Roboto"/>
              </a:rPr>
              <a:t>Rule 1: Bellman-Ford Updates</a:t>
            </a:r>
            <a:endParaRPr b="1">
              <a:solidFill>
                <a:schemeClr val="accent3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Clr>
                <a:srgbClr val="B7B7B7"/>
              </a:buClr>
              <a:buSzPts val="1800"/>
              <a:buChar char="•"/>
            </a:pPr>
            <a:r>
              <a:rPr lang="en">
                <a:solidFill>
                  <a:srgbClr val="B7B7B7"/>
                </a:solidFill>
              </a:rPr>
              <a:t>Bellman-Ford Demo</a:t>
            </a:r>
            <a:endParaRPr>
              <a:solidFill>
                <a:srgbClr val="B7B7B7"/>
              </a:solidFill>
            </a:endParaRPr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Clr>
                <a:srgbClr val="B7B7B7"/>
              </a:buClr>
              <a:buSzPts val="1800"/>
              <a:buChar char="•"/>
            </a:pPr>
            <a:r>
              <a:rPr lang="en">
                <a:solidFill>
                  <a:srgbClr val="B7B7B7"/>
                </a:solidFill>
              </a:rPr>
              <a:t>Rule 2: Updates From Next-Hop</a:t>
            </a:r>
            <a:endParaRPr>
              <a:solidFill>
                <a:srgbClr val="B7B7B7"/>
              </a:solidFill>
            </a:endParaRPr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Clr>
                <a:srgbClr val="B7B7B7"/>
              </a:buClr>
              <a:buSzPts val="1800"/>
              <a:buChar char="•"/>
            </a:pPr>
            <a:r>
              <a:rPr lang="en">
                <a:solidFill>
                  <a:srgbClr val="B7B7B7"/>
                </a:solidFill>
              </a:rPr>
              <a:t>Rule 3: Resending</a:t>
            </a:r>
            <a:endParaRPr>
              <a:solidFill>
                <a:srgbClr val="B7B7B7"/>
              </a:solidFill>
            </a:endParaRPr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Clr>
                <a:srgbClr val="B7B7B7"/>
              </a:buClr>
              <a:buSzPts val="1800"/>
              <a:buChar char="•"/>
            </a:pPr>
            <a:r>
              <a:rPr lang="en">
                <a:solidFill>
                  <a:srgbClr val="B7B7B7"/>
                </a:solidFill>
              </a:rPr>
              <a:t>Rule 4: Expiring</a:t>
            </a:r>
            <a:endParaRPr>
              <a:solidFill>
                <a:srgbClr val="B7B7B7"/>
              </a:solidFill>
            </a:endParaRPr>
          </a:p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">
                <a:solidFill>
                  <a:srgbClr val="B7B7B7"/>
                </a:solidFill>
              </a:rPr>
              <a:t>Distance-Vector Enhancements</a:t>
            </a:r>
            <a:endParaRPr>
              <a:solidFill>
                <a:srgbClr val="B7B7B7"/>
              </a:solidFill>
            </a:endParaRPr>
          </a:p>
          <a:p>
            <a:pPr marL="457200" lvl="0" indent="-342900" algn="l" rtl="0">
              <a:spcBef>
                <a:spcPts val="600"/>
              </a:spcBef>
              <a:spcAft>
                <a:spcPts val="0"/>
              </a:spcAft>
              <a:buClr>
                <a:srgbClr val="B7B7B7"/>
              </a:buClr>
              <a:buSzPts val="1800"/>
              <a:buChar char="•"/>
            </a:pPr>
            <a:r>
              <a:rPr lang="en">
                <a:solidFill>
                  <a:srgbClr val="B7B7B7"/>
                </a:solidFill>
              </a:rPr>
              <a:t>Rule 5: Poison Expired Routes</a:t>
            </a:r>
            <a:endParaRPr>
              <a:solidFill>
                <a:srgbClr val="B7B7B7"/>
              </a:solidFill>
            </a:endParaRPr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Clr>
                <a:srgbClr val="B7B7B7"/>
              </a:buClr>
              <a:buSzPts val="1800"/>
              <a:buChar char="•"/>
            </a:pPr>
            <a:r>
              <a:rPr lang="en">
                <a:solidFill>
                  <a:srgbClr val="B7B7B7"/>
                </a:solidFill>
              </a:rPr>
              <a:t>Rule 6A: Split Horizon</a:t>
            </a:r>
            <a:endParaRPr>
              <a:solidFill>
                <a:srgbClr val="B7B7B7"/>
              </a:solidFill>
            </a:endParaRPr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Clr>
                <a:srgbClr val="B7B7B7"/>
              </a:buClr>
              <a:buSzPts val="1800"/>
              <a:buChar char="•"/>
            </a:pPr>
            <a:r>
              <a:rPr lang="en">
                <a:solidFill>
                  <a:srgbClr val="B7B7B7"/>
                </a:solidFill>
              </a:rPr>
              <a:t>Rule 6B: Poison Reverse</a:t>
            </a:r>
            <a:endParaRPr>
              <a:solidFill>
                <a:srgbClr val="B7B7B7"/>
              </a:solidFill>
            </a:endParaRPr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Clr>
                <a:srgbClr val="B7B7B7"/>
              </a:buClr>
              <a:buSzPts val="1800"/>
              <a:buChar char="•"/>
            </a:pPr>
            <a:r>
              <a:rPr lang="en">
                <a:solidFill>
                  <a:srgbClr val="B7B7B7"/>
                </a:solidFill>
              </a:rPr>
              <a:t>Rule 7: Count To Infinity</a:t>
            </a:r>
            <a:endParaRPr>
              <a:solidFill>
                <a:srgbClr val="B7B7B7"/>
              </a:solidFill>
            </a:endParaRPr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Clr>
                <a:srgbClr val="B7B7B7"/>
              </a:buClr>
              <a:buSzPts val="1800"/>
              <a:buChar char="•"/>
            </a:pPr>
            <a:r>
              <a:rPr lang="en">
                <a:solidFill>
                  <a:srgbClr val="B7B7B7"/>
                </a:solidFill>
              </a:rPr>
              <a:t>Eventful Updates</a:t>
            </a:r>
            <a:endParaRPr>
              <a:solidFill>
                <a:srgbClr val="B7B7B7"/>
              </a:solidFill>
            </a:endParaRPr>
          </a:p>
        </p:txBody>
      </p:sp>
      <p:sp>
        <p:nvSpPr>
          <p:cNvPr id="580" name="Google Shape;580;p35"/>
          <p:cNvSpPr txBox="1">
            <a:spLocks noGrp="1"/>
          </p:cNvSpPr>
          <p:nvPr>
            <p:ph type="title"/>
          </p:nvPr>
        </p:nvSpPr>
        <p:spPr>
          <a:xfrm>
            <a:off x="177925" y="2003300"/>
            <a:ext cx="4038000" cy="20379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Rule 1: Bellman-Ford Updates</a:t>
            </a:r>
            <a:endParaRPr/>
          </a:p>
        </p:txBody>
      </p:sp>
      <p:sp>
        <p:nvSpPr>
          <p:cNvPr id="581" name="Google Shape;581;p35"/>
          <p:cNvSpPr txBox="1">
            <a:spLocks noGrp="1"/>
          </p:cNvSpPr>
          <p:nvPr>
            <p:ph type="subTitle" idx="2"/>
          </p:nvPr>
        </p:nvSpPr>
        <p:spPr>
          <a:xfrm>
            <a:off x="177925" y="4068000"/>
            <a:ext cx="41580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-US" dirty="0"/>
              <a:t>Lecture 5.2, Spring 2026</a:t>
            </a:r>
            <a:endParaRPr dirty="0"/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3F66DFF8-3BFD-8E8B-A888-44B854CA5C87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 smtClean="0"/>
              <a:t>11</a:t>
            </a:fld>
            <a:endParaRPr lang="en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5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86" name="Google Shape;586;p36"/>
          <p:cNvSpPr txBox="1">
            <a:spLocks noGrp="1"/>
          </p:cNvSpPr>
          <p:nvPr>
            <p:ph type="title"/>
          </p:nvPr>
        </p:nvSpPr>
        <p:spPr>
          <a:xfrm>
            <a:off x="0" y="0"/>
            <a:ext cx="9144000" cy="39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Multiple Paths Advertised</a:t>
            </a:r>
            <a:endParaRPr/>
          </a:p>
        </p:txBody>
      </p:sp>
      <p:sp>
        <p:nvSpPr>
          <p:cNvPr id="587" name="Google Shape;587;p36"/>
          <p:cNvSpPr txBox="1">
            <a:spLocks noGrp="1"/>
          </p:cNvSpPr>
          <p:nvPr>
            <p:ph type="body" idx="1"/>
          </p:nvPr>
        </p:nvSpPr>
        <p:spPr>
          <a:xfrm>
            <a:off x="107050" y="402200"/>
            <a:ext cx="8909700" cy="114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"/>
              <a:t>What if you hear about multiple paths to a single destination?</a:t>
            </a:r>
            <a:endParaRPr/>
          </a:p>
          <a:p>
            <a:pPr marL="457200" lvl="0" indent="-342900" algn="l" rtl="0">
              <a:spcBef>
                <a:spcPts val="60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Accept the shorter path.</a:t>
            </a:r>
            <a:endParaRPr/>
          </a:p>
        </p:txBody>
      </p:sp>
      <p:sp>
        <p:nvSpPr>
          <p:cNvPr id="588" name="Google Shape;588;p36"/>
          <p:cNvSpPr/>
          <p:nvPr/>
        </p:nvSpPr>
        <p:spPr>
          <a:xfrm>
            <a:off x="4790875" y="3264225"/>
            <a:ext cx="285000" cy="285000"/>
          </a:xfrm>
          <a:prstGeom prst="rect">
            <a:avLst/>
          </a:prstGeom>
          <a:solidFill>
            <a:srgbClr val="FFFFFF"/>
          </a:solidFill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R5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589" name="Google Shape;589;p36"/>
          <p:cNvCxnSpPr>
            <a:endCxn id="588" idx="1"/>
          </p:cNvCxnSpPr>
          <p:nvPr/>
        </p:nvCxnSpPr>
        <p:spPr>
          <a:xfrm>
            <a:off x="4348075" y="2639625"/>
            <a:ext cx="442800" cy="767100"/>
          </a:xfrm>
          <a:prstGeom prst="straightConnector1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590" name="Google Shape;590;p36"/>
          <p:cNvSpPr/>
          <p:nvPr/>
        </p:nvSpPr>
        <p:spPr>
          <a:xfrm>
            <a:off x="3495475" y="2502225"/>
            <a:ext cx="285000" cy="285000"/>
          </a:xfrm>
          <a:prstGeom prst="rect">
            <a:avLst/>
          </a:prstGeom>
          <a:solidFill>
            <a:srgbClr val="FFFFFF"/>
          </a:solidFill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R3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591" name="Google Shape;591;p36"/>
          <p:cNvCxnSpPr>
            <a:stCxn id="590" idx="3"/>
          </p:cNvCxnSpPr>
          <p:nvPr/>
        </p:nvCxnSpPr>
        <p:spPr>
          <a:xfrm>
            <a:off x="3780475" y="2644725"/>
            <a:ext cx="577500" cy="0"/>
          </a:xfrm>
          <a:prstGeom prst="straightConnector1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592" name="Google Shape;592;p36"/>
          <p:cNvCxnSpPr>
            <a:endCxn id="588" idx="1"/>
          </p:cNvCxnSpPr>
          <p:nvPr/>
        </p:nvCxnSpPr>
        <p:spPr>
          <a:xfrm rot="10800000" flipH="1">
            <a:off x="4348075" y="3406725"/>
            <a:ext cx="442800" cy="767100"/>
          </a:xfrm>
          <a:prstGeom prst="straightConnector1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593" name="Google Shape;593;p36"/>
          <p:cNvSpPr/>
          <p:nvPr/>
        </p:nvSpPr>
        <p:spPr>
          <a:xfrm>
            <a:off x="3152575" y="4026225"/>
            <a:ext cx="285000" cy="285000"/>
          </a:xfrm>
          <a:prstGeom prst="rect">
            <a:avLst/>
          </a:prstGeom>
          <a:solidFill>
            <a:srgbClr val="FFFFFF"/>
          </a:solidFill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R4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594" name="Google Shape;594;p36"/>
          <p:cNvCxnSpPr>
            <a:stCxn id="593" idx="3"/>
          </p:cNvCxnSpPr>
          <p:nvPr/>
        </p:nvCxnSpPr>
        <p:spPr>
          <a:xfrm>
            <a:off x="3437575" y="4168725"/>
            <a:ext cx="920400" cy="0"/>
          </a:xfrm>
          <a:prstGeom prst="straightConnector1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595" name="Google Shape;595;p36"/>
          <p:cNvSpPr/>
          <p:nvPr/>
        </p:nvSpPr>
        <p:spPr>
          <a:xfrm>
            <a:off x="2809675" y="2502225"/>
            <a:ext cx="285000" cy="285000"/>
          </a:xfrm>
          <a:prstGeom prst="rect">
            <a:avLst/>
          </a:prstGeom>
          <a:solidFill>
            <a:srgbClr val="FFFFFF"/>
          </a:solidFill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R2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596" name="Google Shape;596;p36"/>
          <p:cNvCxnSpPr>
            <a:stCxn id="595" idx="3"/>
            <a:endCxn id="590" idx="1"/>
          </p:cNvCxnSpPr>
          <p:nvPr/>
        </p:nvCxnSpPr>
        <p:spPr>
          <a:xfrm>
            <a:off x="3094675" y="2644725"/>
            <a:ext cx="400800" cy="0"/>
          </a:xfrm>
          <a:prstGeom prst="straightConnector1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597" name="Google Shape;597;p36"/>
          <p:cNvCxnSpPr>
            <a:endCxn id="598" idx="3"/>
          </p:cNvCxnSpPr>
          <p:nvPr/>
        </p:nvCxnSpPr>
        <p:spPr>
          <a:xfrm flipH="1">
            <a:off x="1757275" y="2639625"/>
            <a:ext cx="442800" cy="767100"/>
          </a:xfrm>
          <a:prstGeom prst="straightConnector1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599" name="Google Shape;599;p36"/>
          <p:cNvCxnSpPr>
            <a:endCxn id="598" idx="3"/>
          </p:cNvCxnSpPr>
          <p:nvPr/>
        </p:nvCxnSpPr>
        <p:spPr>
          <a:xfrm rot="10800000">
            <a:off x="1757275" y="3406725"/>
            <a:ext cx="442800" cy="767100"/>
          </a:xfrm>
          <a:prstGeom prst="straightConnector1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600" name="Google Shape;600;p36"/>
          <p:cNvCxnSpPr>
            <a:endCxn id="595" idx="1"/>
          </p:cNvCxnSpPr>
          <p:nvPr/>
        </p:nvCxnSpPr>
        <p:spPr>
          <a:xfrm>
            <a:off x="2191675" y="2644725"/>
            <a:ext cx="618000" cy="0"/>
          </a:xfrm>
          <a:prstGeom prst="straightConnector1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601" name="Google Shape;601;p36"/>
          <p:cNvCxnSpPr>
            <a:endCxn id="593" idx="1"/>
          </p:cNvCxnSpPr>
          <p:nvPr/>
        </p:nvCxnSpPr>
        <p:spPr>
          <a:xfrm>
            <a:off x="2191675" y="4168725"/>
            <a:ext cx="960900" cy="0"/>
          </a:xfrm>
          <a:prstGeom prst="straightConnector1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598" name="Google Shape;598;p36"/>
          <p:cNvSpPr/>
          <p:nvPr/>
        </p:nvSpPr>
        <p:spPr>
          <a:xfrm>
            <a:off x="1472275" y="3264225"/>
            <a:ext cx="285000" cy="285000"/>
          </a:xfrm>
          <a:prstGeom prst="rect">
            <a:avLst/>
          </a:prstGeom>
          <a:solidFill>
            <a:srgbClr val="FFFFFF"/>
          </a:solidFill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R1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602" name="Google Shape;602;p36"/>
          <p:cNvSpPr/>
          <p:nvPr/>
        </p:nvSpPr>
        <p:spPr>
          <a:xfrm>
            <a:off x="634063" y="3264225"/>
            <a:ext cx="285000" cy="285000"/>
          </a:xfrm>
          <a:prstGeom prst="ellipse">
            <a:avLst/>
          </a:prstGeom>
          <a:solidFill>
            <a:srgbClr val="FFFFFF"/>
          </a:solidFill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A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603" name="Google Shape;603;p36"/>
          <p:cNvCxnSpPr>
            <a:stCxn id="602" idx="6"/>
            <a:endCxn id="598" idx="1"/>
          </p:cNvCxnSpPr>
          <p:nvPr/>
        </p:nvCxnSpPr>
        <p:spPr>
          <a:xfrm>
            <a:off x="919063" y="3406725"/>
            <a:ext cx="553200" cy="0"/>
          </a:xfrm>
          <a:prstGeom prst="straightConnector1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604" name="Google Shape;604;p36"/>
          <p:cNvSpPr/>
          <p:nvPr/>
        </p:nvSpPr>
        <p:spPr>
          <a:xfrm>
            <a:off x="3898850" y="2568850"/>
            <a:ext cx="898150" cy="573900"/>
          </a:xfrm>
          <a:custGeom>
            <a:avLst/>
            <a:gdLst/>
            <a:ahLst/>
            <a:cxnLst/>
            <a:rect l="l" t="t" r="r" b="b"/>
            <a:pathLst>
              <a:path w="35926" h="22956" extrusionOk="0">
                <a:moveTo>
                  <a:pt x="0" y="0"/>
                </a:moveTo>
                <a:lnTo>
                  <a:pt x="22672" y="0"/>
                </a:lnTo>
                <a:lnTo>
                  <a:pt x="35926" y="22956"/>
                </a:lnTo>
              </a:path>
            </a:pathLst>
          </a:custGeom>
          <a:noFill/>
          <a:ln w="19050" cap="flat" cmpd="sng">
            <a:solidFill>
              <a:schemeClr val="accent2"/>
            </a:solidFill>
            <a:prstDash val="solid"/>
            <a:round/>
            <a:headEnd type="none" w="med" len="med"/>
            <a:tailEnd type="triangle" w="med" len="med"/>
          </a:ln>
        </p:spPr>
        <p:txBody>
          <a:bodyPr/>
          <a:lstStyle/>
          <a:p>
            <a:endParaRPr lang="en-US"/>
          </a:p>
        </p:txBody>
      </p:sp>
      <p:sp>
        <p:nvSpPr>
          <p:cNvPr id="605" name="Google Shape;605;p36"/>
          <p:cNvSpPr/>
          <p:nvPr/>
        </p:nvSpPr>
        <p:spPr>
          <a:xfrm>
            <a:off x="3583600" y="3638900"/>
            <a:ext cx="1273750" cy="620350"/>
          </a:xfrm>
          <a:custGeom>
            <a:avLst/>
            <a:gdLst/>
            <a:ahLst/>
            <a:cxnLst/>
            <a:rect l="l" t="t" r="r" b="b"/>
            <a:pathLst>
              <a:path w="50950" h="24814" extrusionOk="0">
                <a:moveTo>
                  <a:pt x="0" y="24814"/>
                </a:moveTo>
                <a:lnTo>
                  <a:pt x="36624" y="24814"/>
                </a:lnTo>
                <a:lnTo>
                  <a:pt x="50950" y="0"/>
                </a:lnTo>
              </a:path>
            </a:pathLst>
          </a:custGeom>
          <a:noFill/>
          <a:ln w="19050" cap="flat" cmpd="sng">
            <a:solidFill>
              <a:schemeClr val="accent2"/>
            </a:solidFill>
            <a:prstDash val="solid"/>
            <a:round/>
            <a:headEnd type="none" w="med" len="med"/>
            <a:tailEnd type="triangle" w="med" len="med"/>
          </a:ln>
        </p:spPr>
        <p:txBody>
          <a:bodyPr/>
          <a:lstStyle/>
          <a:p>
            <a:endParaRPr lang="en-US"/>
          </a:p>
        </p:txBody>
      </p:sp>
      <p:sp>
        <p:nvSpPr>
          <p:cNvPr id="606" name="Google Shape;606;p36"/>
          <p:cNvSpPr/>
          <p:nvPr/>
        </p:nvSpPr>
        <p:spPr>
          <a:xfrm>
            <a:off x="4056400" y="2064550"/>
            <a:ext cx="903300" cy="433200"/>
          </a:xfrm>
          <a:prstGeom prst="roundRect">
            <a:avLst>
              <a:gd name="adj" fmla="val 16667"/>
            </a:avLst>
          </a:prstGeom>
          <a:solidFill>
            <a:srgbClr val="F4CCCC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>
                <a:latin typeface="Roboto"/>
                <a:ea typeface="Roboto"/>
                <a:cs typeface="Roboto"/>
                <a:sym typeface="Roboto"/>
              </a:rPr>
              <a:t>A is 3 away from me.</a:t>
            </a:r>
            <a:endParaRPr sz="12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607" name="Google Shape;607;p36"/>
          <p:cNvSpPr/>
          <p:nvPr/>
        </p:nvSpPr>
        <p:spPr>
          <a:xfrm>
            <a:off x="4056400" y="4350550"/>
            <a:ext cx="903300" cy="433200"/>
          </a:xfrm>
          <a:prstGeom prst="roundRect">
            <a:avLst>
              <a:gd name="adj" fmla="val 16667"/>
            </a:avLst>
          </a:prstGeom>
          <a:solidFill>
            <a:srgbClr val="F4CCCC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>
                <a:latin typeface="Roboto"/>
                <a:ea typeface="Roboto"/>
                <a:cs typeface="Roboto"/>
                <a:sym typeface="Roboto"/>
              </a:rPr>
              <a:t>A is 2 away from me.</a:t>
            </a:r>
            <a:endParaRPr sz="12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608" name="Google Shape;608;p36"/>
          <p:cNvSpPr/>
          <p:nvPr/>
        </p:nvSpPr>
        <p:spPr>
          <a:xfrm>
            <a:off x="5290725" y="2639600"/>
            <a:ext cx="1382100" cy="688500"/>
          </a:xfrm>
          <a:prstGeom prst="wedgeRoundRectCallout">
            <a:avLst>
              <a:gd name="adj1" fmla="val -60451"/>
              <a:gd name="adj2" fmla="val 59041"/>
              <a:gd name="adj3" fmla="val 0"/>
            </a:avLst>
          </a:prstGeom>
          <a:noFill/>
          <a:ln w="9525" cap="flat" cmpd="sng">
            <a:solidFill>
              <a:schemeClr val="accent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accent2"/>
                </a:solidFill>
                <a:latin typeface="Roboto"/>
                <a:ea typeface="Roboto"/>
                <a:cs typeface="Roboto"/>
                <a:sym typeface="Roboto"/>
              </a:rPr>
              <a:t>I prefer what R4 is offering.</a:t>
            </a:r>
            <a:endParaRPr>
              <a:solidFill>
                <a:schemeClr val="accent2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609" name="Google Shape;609;p36"/>
          <p:cNvCxnSpPr/>
          <p:nvPr/>
        </p:nvCxnSpPr>
        <p:spPr>
          <a:xfrm flipH="1">
            <a:off x="4317075" y="3392600"/>
            <a:ext cx="349500" cy="605700"/>
          </a:xfrm>
          <a:prstGeom prst="straightConnector1">
            <a:avLst/>
          </a:prstGeom>
          <a:noFill/>
          <a:ln w="9525" cap="flat" cmpd="sng">
            <a:solidFill>
              <a:srgbClr val="0000FF"/>
            </a:solidFill>
            <a:prstDash val="solid"/>
            <a:round/>
            <a:headEnd type="none" w="med" len="med"/>
            <a:tailEnd type="triangle" w="med" len="med"/>
          </a:ln>
        </p:spPr>
      </p:cxnSp>
      <p:sp>
        <p:nvSpPr>
          <p:cNvPr id="610" name="Google Shape;610;p36"/>
          <p:cNvSpPr txBox="1"/>
          <p:nvPr/>
        </p:nvSpPr>
        <p:spPr>
          <a:xfrm rot="-3604017">
            <a:off x="4139328" y="3518986"/>
            <a:ext cx="589193" cy="15390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0000FF"/>
                </a:solidFill>
                <a:latin typeface="Roboto"/>
                <a:ea typeface="Roboto"/>
                <a:cs typeface="Roboto"/>
                <a:sym typeface="Roboto"/>
              </a:rPr>
              <a:t>A this way</a:t>
            </a:r>
            <a:endParaRPr sz="1000">
              <a:solidFill>
                <a:srgbClr val="0000FF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58455CD9-05A0-0262-4393-2FB0A5E1548E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 smtClean="0"/>
              <a:t>12</a:t>
            </a:fld>
            <a:endParaRPr lang="en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6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5" name="Google Shape;615;p37"/>
          <p:cNvSpPr txBox="1">
            <a:spLocks noGrp="1"/>
          </p:cNvSpPr>
          <p:nvPr>
            <p:ph type="title"/>
          </p:nvPr>
        </p:nvSpPr>
        <p:spPr>
          <a:xfrm>
            <a:off x="0" y="0"/>
            <a:ext cx="9144000" cy="39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Multiple Paths Advertised</a:t>
            </a:r>
            <a:endParaRPr/>
          </a:p>
        </p:txBody>
      </p:sp>
      <p:sp>
        <p:nvSpPr>
          <p:cNvPr id="616" name="Google Shape;616;p37"/>
          <p:cNvSpPr txBox="1">
            <a:spLocks noGrp="1"/>
          </p:cNvSpPr>
          <p:nvPr>
            <p:ph type="body" idx="1"/>
          </p:nvPr>
        </p:nvSpPr>
        <p:spPr>
          <a:xfrm>
            <a:off x="107050" y="402200"/>
            <a:ext cx="8909700" cy="114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"/>
              <a:t>What if you hear about multiple paths to a single destination?</a:t>
            </a:r>
            <a:endParaRPr/>
          </a:p>
          <a:p>
            <a:pPr marL="457200" lvl="0" indent="-342900" algn="l" rtl="0">
              <a:spcBef>
                <a:spcPts val="60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Accept the shorter path.</a:t>
            </a:r>
            <a:endParaRPr/>
          </a:p>
        </p:txBody>
      </p:sp>
      <p:sp>
        <p:nvSpPr>
          <p:cNvPr id="617" name="Google Shape;617;p37"/>
          <p:cNvSpPr/>
          <p:nvPr/>
        </p:nvSpPr>
        <p:spPr>
          <a:xfrm>
            <a:off x="4790875" y="3264225"/>
            <a:ext cx="285000" cy="285000"/>
          </a:xfrm>
          <a:prstGeom prst="rect">
            <a:avLst/>
          </a:prstGeom>
          <a:solidFill>
            <a:srgbClr val="FFFFFF"/>
          </a:solidFill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R5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618" name="Google Shape;618;p37"/>
          <p:cNvCxnSpPr>
            <a:endCxn id="617" idx="1"/>
          </p:cNvCxnSpPr>
          <p:nvPr/>
        </p:nvCxnSpPr>
        <p:spPr>
          <a:xfrm>
            <a:off x="4348075" y="2639625"/>
            <a:ext cx="442800" cy="767100"/>
          </a:xfrm>
          <a:prstGeom prst="straightConnector1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619" name="Google Shape;619;p37"/>
          <p:cNvSpPr/>
          <p:nvPr/>
        </p:nvSpPr>
        <p:spPr>
          <a:xfrm>
            <a:off x="3495475" y="2502225"/>
            <a:ext cx="285000" cy="285000"/>
          </a:xfrm>
          <a:prstGeom prst="rect">
            <a:avLst/>
          </a:prstGeom>
          <a:solidFill>
            <a:srgbClr val="FFFFFF"/>
          </a:solidFill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R3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620" name="Google Shape;620;p37"/>
          <p:cNvCxnSpPr>
            <a:stCxn id="619" idx="3"/>
          </p:cNvCxnSpPr>
          <p:nvPr/>
        </p:nvCxnSpPr>
        <p:spPr>
          <a:xfrm>
            <a:off x="3780475" y="2644725"/>
            <a:ext cx="577500" cy="0"/>
          </a:xfrm>
          <a:prstGeom prst="straightConnector1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621" name="Google Shape;621;p37"/>
          <p:cNvCxnSpPr>
            <a:endCxn id="617" idx="1"/>
          </p:cNvCxnSpPr>
          <p:nvPr/>
        </p:nvCxnSpPr>
        <p:spPr>
          <a:xfrm rot="10800000" flipH="1">
            <a:off x="4348075" y="3406725"/>
            <a:ext cx="442800" cy="767100"/>
          </a:xfrm>
          <a:prstGeom prst="straightConnector1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622" name="Google Shape;622;p37"/>
          <p:cNvSpPr/>
          <p:nvPr/>
        </p:nvSpPr>
        <p:spPr>
          <a:xfrm>
            <a:off x="3152575" y="4026225"/>
            <a:ext cx="285000" cy="285000"/>
          </a:xfrm>
          <a:prstGeom prst="rect">
            <a:avLst/>
          </a:prstGeom>
          <a:solidFill>
            <a:srgbClr val="FFFFFF"/>
          </a:solidFill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R4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623" name="Google Shape;623;p37"/>
          <p:cNvCxnSpPr>
            <a:stCxn id="622" idx="3"/>
          </p:cNvCxnSpPr>
          <p:nvPr/>
        </p:nvCxnSpPr>
        <p:spPr>
          <a:xfrm>
            <a:off x="3437575" y="4168725"/>
            <a:ext cx="920400" cy="0"/>
          </a:xfrm>
          <a:prstGeom prst="straightConnector1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624" name="Google Shape;624;p37"/>
          <p:cNvSpPr/>
          <p:nvPr/>
        </p:nvSpPr>
        <p:spPr>
          <a:xfrm>
            <a:off x="2809675" y="2502225"/>
            <a:ext cx="285000" cy="285000"/>
          </a:xfrm>
          <a:prstGeom prst="rect">
            <a:avLst/>
          </a:prstGeom>
          <a:solidFill>
            <a:srgbClr val="FFFFFF"/>
          </a:solidFill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R2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625" name="Google Shape;625;p37"/>
          <p:cNvCxnSpPr>
            <a:stCxn id="624" idx="3"/>
            <a:endCxn id="619" idx="1"/>
          </p:cNvCxnSpPr>
          <p:nvPr/>
        </p:nvCxnSpPr>
        <p:spPr>
          <a:xfrm>
            <a:off x="3094675" y="2644725"/>
            <a:ext cx="400800" cy="0"/>
          </a:xfrm>
          <a:prstGeom prst="straightConnector1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626" name="Google Shape;626;p37"/>
          <p:cNvCxnSpPr>
            <a:endCxn id="627" idx="3"/>
          </p:cNvCxnSpPr>
          <p:nvPr/>
        </p:nvCxnSpPr>
        <p:spPr>
          <a:xfrm flipH="1">
            <a:off x="1757275" y="2639625"/>
            <a:ext cx="442800" cy="767100"/>
          </a:xfrm>
          <a:prstGeom prst="straightConnector1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628" name="Google Shape;628;p37"/>
          <p:cNvCxnSpPr>
            <a:endCxn id="627" idx="3"/>
          </p:cNvCxnSpPr>
          <p:nvPr/>
        </p:nvCxnSpPr>
        <p:spPr>
          <a:xfrm rot="10800000">
            <a:off x="1757275" y="3406725"/>
            <a:ext cx="442800" cy="767100"/>
          </a:xfrm>
          <a:prstGeom prst="straightConnector1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629" name="Google Shape;629;p37"/>
          <p:cNvCxnSpPr>
            <a:endCxn id="624" idx="1"/>
          </p:cNvCxnSpPr>
          <p:nvPr/>
        </p:nvCxnSpPr>
        <p:spPr>
          <a:xfrm>
            <a:off x="2191675" y="2644725"/>
            <a:ext cx="618000" cy="0"/>
          </a:xfrm>
          <a:prstGeom prst="straightConnector1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630" name="Google Shape;630;p37"/>
          <p:cNvCxnSpPr>
            <a:endCxn id="622" idx="1"/>
          </p:cNvCxnSpPr>
          <p:nvPr/>
        </p:nvCxnSpPr>
        <p:spPr>
          <a:xfrm>
            <a:off x="2191675" y="4168725"/>
            <a:ext cx="960900" cy="0"/>
          </a:xfrm>
          <a:prstGeom prst="straightConnector1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627" name="Google Shape;627;p37"/>
          <p:cNvSpPr/>
          <p:nvPr/>
        </p:nvSpPr>
        <p:spPr>
          <a:xfrm>
            <a:off x="1472275" y="3264225"/>
            <a:ext cx="285000" cy="285000"/>
          </a:xfrm>
          <a:prstGeom prst="rect">
            <a:avLst/>
          </a:prstGeom>
          <a:solidFill>
            <a:srgbClr val="FFFFFF"/>
          </a:solidFill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R1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631" name="Google Shape;631;p37"/>
          <p:cNvSpPr/>
          <p:nvPr/>
        </p:nvSpPr>
        <p:spPr>
          <a:xfrm>
            <a:off x="634063" y="3264225"/>
            <a:ext cx="285000" cy="285000"/>
          </a:xfrm>
          <a:prstGeom prst="ellipse">
            <a:avLst/>
          </a:prstGeom>
          <a:solidFill>
            <a:srgbClr val="FFFFFF"/>
          </a:solidFill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A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632" name="Google Shape;632;p37"/>
          <p:cNvCxnSpPr>
            <a:stCxn id="631" idx="6"/>
            <a:endCxn id="627" idx="1"/>
          </p:cNvCxnSpPr>
          <p:nvPr/>
        </p:nvCxnSpPr>
        <p:spPr>
          <a:xfrm>
            <a:off x="919063" y="3406725"/>
            <a:ext cx="553200" cy="0"/>
          </a:xfrm>
          <a:prstGeom prst="straightConnector1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AF240784-9F10-3D1F-910D-F234E7A0E63E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 smtClean="0"/>
              <a:t>13</a:t>
            </a:fld>
            <a:endParaRPr lang="en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6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7" name="Google Shape;637;p38"/>
          <p:cNvSpPr txBox="1">
            <a:spLocks noGrp="1"/>
          </p:cNvSpPr>
          <p:nvPr>
            <p:ph type="title"/>
          </p:nvPr>
        </p:nvSpPr>
        <p:spPr>
          <a:xfrm>
            <a:off x="0" y="0"/>
            <a:ext cx="9144000" cy="39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Multiple Paths Advertised</a:t>
            </a:r>
            <a:endParaRPr/>
          </a:p>
        </p:txBody>
      </p:sp>
      <p:sp>
        <p:nvSpPr>
          <p:cNvPr id="638" name="Google Shape;638;p38"/>
          <p:cNvSpPr txBox="1">
            <a:spLocks noGrp="1"/>
          </p:cNvSpPr>
          <p:nvPr>
            <p:ph type="body" idx="1"/>
          </p:nvPr>
        </p:nvSpPr>
        <p:spPr>
          <a:xfrm>
            <a:off x="107050" y="402200"/>
            <a:ext cx="8909700" cy="14250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"/>
              <a:t>You might not hear about both paths simultaneously.</a:t>
            </a:r>
            <a:endParaRPr/>
          </a:p>
          <a:p>
            <a:pPr marL="457200" lvl="0" indent="-342900" algn="l" rtl="0">
              <a:spcBef>
                <a:spcPts val="60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In the forwarding table, record the best-known cost to a destination.</a:t>
            </a:r>
            <a:endParaRPr/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If your table doesn't have a path to a destination, accept any path you hear about.</a:t>
            </a:r>
            <a:endParaRPr/>
          </a:p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639" name="Google Shape;639;p38"/>
          <p:cNvSpPr/>
          <p:nvPr/>
        </p:nvSpPr>
        <p:spPr>
          <a:xfrm>
            <a:off x="4790875" y="3264225"/>
            <a:ext cx="285000" cy="285000"/>
          </a:xfrm>
          <a:prstGeom prst="rect">
            <a:avLst/>
          </a:prstGeom>
          <a:solidFill>
            <a:srgbClr val="FFFFFF"/>
          </a:solidFill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R5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640" name="Google Shape;640;p38"/>
          <p:cNvCxnSpPr/>
          <p:nvPr/>
        </p:nvCxnSpPr>
        <p:spPr>
          <a:xfrm>
            <a:off x="4348075" y="2639625"/>
            <a:ext cx="442800" cy="767100"/>
          </a:xfrm>
          <a:prstGeom prst="straightConnector1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641" name="Google Shape;641;p38"/>
          <p:cNvSpPr/>
          <p:nvPr/>
        </p:nvSpPr>
        <p:spPr>
          <a:xfrm>
            <a:off x="3495475" y="2502225"/>
            <a:ext cx="285000" cy="285000"/>
          </a:xfrm>
          <a:prstGeom prst="rect">
            <a:avLst/>
          </a:prstGeom>
          <a:solidFill>
            <a:srgbClr val="FFFFFF"/>
          </a:solidFill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R3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642" name="Google Shape;642;p38"/>
          <p:cNvCxnSpPr>
            <a:stCxn id="641" idx="3"/>
          </p:cNvCxnSpPr>
          <p:nvPr/>
        </p:nvCxnSpPr>
        <p:spPr>
          <a:xfrm>
            <a:off x="3780475" y="2644725"/>
            <a:ext cx="577500" cy="0"/>
          </a:xfrm>
          <a:prstGeom prst="straightConnector1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643" name="Google Shape;643;p38"/>
          <p:cNvCxnSpPr/>
          <p:nvPr/>
        </p:nvCxnSpPr>
        <p:spPr>
          <a:xfrm rot="10800000" flipH="1">
            <a:off x="4348075" y="3406725"/>
            <a:ext cx="442800" cy="767100"/>
          </a:xfrm>
          <a:prstGeom prst="straightConnector1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644" name="Google Shape;644;p38"/>
          <p:cNvSpPr/>
          <p:nvPr/>
        </p:nvSpPr>
        <p:spPr>
          <a:xfrm>
            <a:off x="3152575" y="4026225"/>
            <a:ext cx="285000" cy="285000"/>
          </a:xfrm>
          <a:prstGeom prst="rect">
            <a:avLst/>
          </a:prstGeom>
          <a:solidFill>
            <a:srgbClr val="FFFFFF"/>
          </a:solidFill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R4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645" name="Google Shape;645;p38"/>
          <p:cNvCxnSpPr>
            <a:stCxn id="644" idx="3"/>
          </p:cNvCxnSpPr>
          <p:nvPr/>
        </p:nvCxnSpPr>
        <p:spPr>
          <a:xfrm>
            <a:off x="3437575" y="4168725"/>
            <a:ext cx="920400" cy="0"/>
          </a:xfrm>
          <a:prstGeom prst="straightConnector1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646" name="Google Shape;646;p38"/>
          <p:cNvSpPr/>
          <p:nvPr/>
        </p:nvSpPr>
        <p:spPr>
          <a:xfrm>
            <a:off x="2809675" y="2502225"/>
            <a:ext cx="285000" cy="285000"/>
          </a:xfrm>
          <a:prstGeom prst="rect">
            <a:avLst/>
          </a:prstGeom>
          <a:solidFill>
            <a:srgbClr val="FFFFFF"/>
          </a:solidFill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R2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647" name="Google Shape;647;p38"/>
          <p:cNvCxnSpPr>
            <a:stCxn id="646" idx="3"/>
            <a:endCxn id="641" idx="1"/>
          </p:cNvCxnSpPr>
          <p:nvPr/>
        </p:nvCxnSpPr>
        <p:spPr>
          <a:xfrm>
            <a:off x="3094675" y="2644725"/>
            <a:ext cx="400800" cy="0"/>
          </a:xfrm>
          <a:prstGeom prst="straightConnector1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648" name="Google Shape;648;p38"/>
          <p:cNvCxnSpPr>
            <a:endCxn id="649" idx="3"/>
          </p:cNvCxnSpPr>
          <p:nvPr/>
        </p:nvCxnSpPr>
        <p:spPr>
          <a:xfrm flipH="1">
            <a:off x="1757275" y="2639625"/>
            <a:ext cx="442800" cy="767100"/>
          </a:xfrm>
          <a:prstGeom prst="straightConnector1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650" name="Google Shape;650;p38"/>
          <p:cNvCxnSpPr>
            <a:endCxn id="649" idx="3"/>
          </p:cNvCxnSpPr>
          <p:nvPr/>
        </p:nvCxnSpPr>
        <p:spPr>
          <a:xfrm rot="10800000">
            <a:off x="1757275" y="3406725"/>
            <a:ext cx="442800" cy="767100"/>
          </a:xfrm>
          <a:prstGeom prst="straightConnector1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651" name="Google Shape;651;p38"/>
          <p:cNvCxnSpPr>
            <a:endCxn id="646" idx="1"/>
          </p:cNvCxnSpPr>
          <p:nvPr/>
        </p:nvCxnSpPr>
        <p:spPr>
          <a:xfrm>
            <a:off x="2191675" y="2644725"/>
            <a:ext cx="618000" cy="0"/>
          </a:xfrm>
          <a:prstGeom prst="straightConnector1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652" name="Google Shape;652;p38"/>
          <p:cNvCxnSpPr>
            <a:endCxn id="644" idx="1"/>
          </p:cNvCxnSpPr>
          <p:nvPr/>
        </p:nvCxnSpPr>
        <p:spPr>
          <a:xfrm>
            <a:off x="2191675" y="4168725"/>
            <a:ext cx="960900" cy="0"/>
          </a:xfrm>
          <a:prstGeom prst="straightConnector1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649" name="Google Shape;649;p38"/>
          <p:cNvSpPr/>
          <p:nvPr/>
        </p:nvSpPr>
        <p:spPr>
          <a:xfrm>
            <a:off x="1472275" y="3264225"/>
            <a:ext cx="285000" cy="285000"/>
          </a:xfrm>
          <a:prstGeom prst="rect">
            <a:avLst/>
          </a:prstGeom>
          <a:solidFill>
            <a:srgbClr val="FFFFFF"/>
          </a:solidFill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R1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653" name="Google Shape;653;p38"/>
          <p:cNvSpPr/>
          <p:nvPr/>
        </p:nvSpPr>
        <p:spPr>
          <a:xfrm>
            <a:off x="634063" y="3264225"/>
            <a:ext cx="285000" cy="285000"/>
          </a:xfrm>
          <a:prstGeom prst="ellipse">
            <a:avLst/>
          </a:prstGeom>
          <a:solidFill>
            <a:srgbClr val="FFFFFF"/>
          </a:solidFill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A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654" name="Google Shape;654;p38"/>
          <p:cNvCxnSpPr>
            <a:stCxn id="653" idx="6"/>
            <a:endCxn id="649" idx="1"/>
          </p:cNvCxnSpPr>
          <p:nvPr/>
        </p:nvCxnSpPr>
        <p:spPr>
          <a:xfrm>
            <a:off x="919063" y="3406725"/>
            <a:ext cx="553200" cy="0"/>
          </a:xfrm>
          <a:prstGeom prst="straightConnector1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655" name="Google Shape;655;p38"/>
          <p:cNvSpPr/>
          <p:nvPr/>
        </p:nvSpPr>
        <p:spPr>
          <a:xfrm>
            <a:off x="3898850" y="2568850"/>
            <a:ext cx="898150" cy="573900"/>
          </a:xfrm>
          <a:custGeom>
            <a:avLst/>
            <a:gdLst/>
            <a:ahLst/>
            <a:cxnLst/>
            <a:rect l="l" t="t" r="r" b="b"/>
            <a:pathLst>
              <a:path w="35926" h="22956" extrusionOk="0">
                <a:moveTo>
                  <a:pt x="0" y="0"/>
                </a:moveTo>
                <a:lnTo>
                  <a:pt x="22672" y="0"/>
                </a:lnTo>
                <a:lnTo>
                  <a:pt x="35926" y="22956"/>
                </a:lnTo>
              </a:path>
            </a:pathLst>
          </a:custGeom>
          <a:noFill/>
          <a:ln w="19050" cap="flat" cmpd="sng">
            <a:solidFill>
              <a:schemeClr val="accent2"/>
            </a:solidFill>
            <a:prstDash val="solid"/>
            <a:round/>
            <a:headEnd type="none" w="med" len="med"/>
            <a:tailEnd type="triangle" w="med" len="med"/>
          </a:ln>
        </p:spPr>
        <p:txBody>
          <a:bodyPr/>
          <a:lstStyle/>
          <a:p>
            <a:endParaRPr lang="en-US"/>
          </a:p>
        </p:txBody>
      </p:sp>
      <p:sp>
        <p:nvSpPr>
          <p:cNvPr id="656" name="Google Shape;656;p38"/>
          <p:cNvSpPr/>
          <p:nvPr/>
        </p:nvSpPr>
        <p:spPr>
          <a:xfrm>
            <a:off x="4056400" y="2064550"/>
            <a:ext cx="903300" cy="433200"/>
          </a:xfrm>
          <a:prstGeom prst="roundRect">
            <a:avLst>
              <a:gd name="adj" fmla="val 16667"/>
            </a:avLst>
          </a:prstGeom>
          <a:solidFill>
            <a:srgbClr val="F4CCCC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>
                <a:latin typeface="Roboto"/>
                <a:ea typeface="Roboto"/>
                <a:cs typeface="Roboto"/>
                <a:sym typeface="Roboto"/>
              </a:rPr>
              <a:t>A is 3 away from me.</a:t>
            </a:r>
            <a:endParaRPr sz="1200">
              <a:latin typeface="Roboto"/>
              <a:ea typeface="Roboto"/>
              <a:cs typeface="Roboto"/>
              <a:sym typeface="Roboto"/>
            </a:endParaRPr>
          </a:p>
        </p:txBody>
      </p:sp>
      <p:graphicFrame>
        <p:nvGraphicFramePr>
          <p:cNvPr id="657" name="Google Shape;657;p38"/>
          <p:cNvGraphicFramePr/>
          <p:nvPr/>
        </p:nvGraphicFramePr>
        <p:xfrm>
          <a:off x="7110582" y="2687500"/>
          <a:ext cx="1888700" cy="688770"/>
        </p:xfrm>
        <a:graphic>
          <a:graphicData uri="http://schemas.openxmlformats.org/drawingml/2006/table">
            <a:tbl>
              <a:tblPr>
                <a:noFill/>
                <a:tableStyleId>{9827013E-C202-4D27-A2D1-B1A861925892}</a:tableStyleId>
              </a:tblPr>
              <a:tblGrid>
                <a:gridCol w="6686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6100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61005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121925">
                <a:tc gridSpan="3"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latin typeface="Roboto"/>
                          <a:ea typeface="Roboto"/>
                          <a:cs typeface="Roboto"/>
                          <a:sym typeface="Roboto"/>
                        </a:rPr>
                        <a:t>R5's Table</a:t>
                      </a:r>
                      <a:endParaRPr sz="12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21925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latin typeface="Roboto"/>
                          <a:ea typeface="Roboto"/>
                          <a:cs typeface="Roboto"/>
                          <a:sym typeface="Roboto"/>
                        </a:rPr>
                        <a:t>To:</a:t>
                      </a:r>
                      <a:endParaRPr sz="12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/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latin typeface="Roboto"/>
                          <a:ea typeface="Roboto"/>
                          <a:cs typeface="Roboto"/>
                          <a:sym typeface="Roboto"/>
                        </a:rPr>
                        <a:t>Via:</a:t>
                      </a:r>
                      <a:endParaRPr sz="12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/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latin typeface="Roboto"/>
                          <a:ea typeface="Roboto"/>
                          <a:cs typeface="Roboto"/>
                          <a:sym typeface="Roboto"/>
                        </a:rPr>
                        <a:t>Cost:</a:t>
                      </a:r>
                      <a:endParaRPr sz="12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21925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latin typeface="Roboto"/>
                          <a:ea typeface="Roboto"/>
                          <a:cs typeface="Roboto"/>
                          <a:sym typeface="Roboto"/>
                        </a:rPr>
                        <a:t>A</a:t>
                      </a:r>
                      <a:endParaRPr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/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latin typeface="Roboto"/>
                          <a:ea typeface="Roboto"/>
                          <a:cs typeface="Roboto"/>
                          <a:sym typeface="Roboto"/>
                        </a:rPr>
                        <a:t>R3</a:t>
                      </a:r>
                      <a:endParaRPr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/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latin typeface="Roboto"/>
                          <a:ea typeface="Roboto"/>
                          <a:cs typeface="Roboto"/>
                          <a:sym typeface="Roboto"/>
                        </a:rPr>
                        <a:t>4</a:t>
                      </a:r>
                      <a:endParaRPr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</a:tbl>
          </a:graphicData>
        </a:graphic>
      </p:graphicFrame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AE7320E2-7BC7-B8C2-8A90-BBB8DD31322D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 smtClean="0"/>
              <a:t>14</a:t>
            </a:fld>
            <a:endParaRPr lang="en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6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2" name="Google Shape;662;p39"/>
          <p:cNvSpPr txBox="1">
            <a:spLocks noGrp="1"/>
          </p:cNvSpPr>
          <p:nvPr>
            <p:ph type="title"/>
          </p:nvPr>
        </p:nvSpPr>
        <p:spPr>
          <a:xfrm>
            <a:off x="0" y="0"/>
            <a:ext cx="9144000" cy="39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Multiple Paths Advertised</a:t>
            </a:r>
            <a:endParaRPr/>
          </a:p>
        </p:txBody>
      </p:sp>
      <p:sp>
        <p:nvSpPr>
          <p:cNvPr id="663" name="Google Shape;663;p39"/>
          <p:cNvSpPr txBox="1">
            <a:spLocks noGrp="1"/>
          </p:cNvSpPr>
          <p:nvPr>
            <p:ph type="body" idx="1"/>
          </p:nvPr>
        </p:nvSpPr>
        <p:spPr>
          <a:xfrm>
            <a:off x="107050" y="402200"/>
            <a:ext cx="8909700" cy="16551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"/>
              <a:t>You might not hear about both paths simultaneously.</a:t>
            </a:r>
            <a:endParaRPr/>
          </a:p>
          <a:p>
            <a:pPr marL="457200" lvl="0" indent="-342900" algn="l" rtl="0">
              <a:spcBef>
                <a:spcPts val="60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In the forwarding table, record the best-known cost to a destination.</a:t>
            </a:r>
            <a:endParaRPr/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If your table doesn't have a path to a destination, accept any path you hear about.</a:t>
            </a:r>
            <a:endParaRPr/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If you hear about a better path later, update the table (next-hop and cost).</a:t>
            </a:r>
            <a:endParaRPr/>
          </a:p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664" name="Google Shape;664;p39"/>
          <p:cNvSpPr/>
          <p:nvPr/>
        </p:nvSpPr>
        <p:spPr>
          <a:xfrm>
            <a:off x="4790875" y="3264225"/>
            <a:ext cx="285000" cy="285000"/>
          </a:xfrm>
          <a:prstGeom prst="rect">
            <a:avLst/>
          </a:prstGeom>
          <a:solidFill>
            <a:srgbClr val="FFFFFF"/>
          </a:solidFill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R5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665" name="Google Shape;665;p39"/>
          <p:cNvCxnSpPr/>
          <p:nvPr/>
        </p:nvCxnSpPr>
        <p:spPr>
          <a:xfrm>
            <a:off x="4348075" y="2639625"/>
            <a:ext cx="442800" cy="767100"/>
          </a:xfrm>
          <a:prstGeom prst="straightConnector1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666" name="Google Shape;666;p39"/>
          <p:cNvSpPr/>
          <p:nvPr/>
        </p:nvSpPr>
        <p:spPr>
          <a:xfrm>
            <a:off x="3495475" y="2502225"/>
            <a:ext cx="285000" cy="285000"/>
          </a:xfrm>
          <a:prstGeom prst="rect">
            <a:avLst/>
          </a:prstGeom>
          <a:solidFill>
            <a:srgbClr val="FFFFFF"/>
          </a:solidFill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R3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667" name="Google Shape;667;p39"/>
          <p:cNvCxnSpPr>
            <a:stCxn id="666" idx="3"/>
          </p:cNvCxnSpPr>
          <p:nvPr/>
        </p:nvCxnSpPr>
        <p:spPr>
          <a:xfrm>
            <a:off x="3780475" y="2644725"/>
            <a:ext cx="577500" cy="0"/>
          </a:xfrm>
          <a:prstGeom prst="straightConnector1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668" name="Google Shape;668;p39"/>
          <p:cNvCxnSpPr/>
          <p:nvPr/>
        </p:nvCxnSpPr>
        <p:spPr>
          <a:xfrm rot="10800000" flipH="1">
            <a:off x="4348075" y="3406725"/>
            <a:ext cx="442800" cy="767100"/>
          </a:xfrm>
          <a:prstGeom prst="straightConnector1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669" name="Google Shape;669;p39"/>
          <p:cNvSpPr/>
          <p:nvPr/>
        </p:nvSpPr>
        <p:spPr>
          <a:xfrm>
            <a:off x="3152575" y="4026225"/>
            <a:ext cx="285000" cy="285000"/>
          </a:xfrm>
          <a:prstGeom prst="rect">
            <a:avLst/>
          </a:prstGeom>
          <a:solidFill>
            <a:srgbClr val="FFFFFF"/>
          </a:solidFill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R4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670" name="Google Shape;670;p39"/>
          <p:cNvCxnSpPr>
            <a:stCxn id="669" idx="3"/>
          </p:cNvCxnSpPr>
          <p:nvPr/>
        </p:nvCxnSpPr>
        <p:spPr>
          <a:xfrm>
            <a:off x="3437575" y="4168725"/>
            <a:ext cx="920400" cy="0"/>
          </a:xfrm>
          <a:prstGeom prst="straightConnector1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671" name="Google Shape;671;p39"/>
          <p:cNvSpPr/>
          <p:nvPr/>
        </p:nvSpPr>
        <p:spPr>
          <a:xfrm>
            <a:off x="2809675" y="2502225"/>
            <a:ext cx="285000" cy="285000"/>
          </a:xfrm>
          <a:prstGeom prst="rect">
            <a:avLst/>
          </a:prstGeom>
          <a:solidFill>
            <a:srgbClr val="FFFFFF"/>
          </a:solidFill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R2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672" name="Google Shape;672;p39"/>
          <p:cNvCxnSpPr>
            <a:stCxn id="671" idx="3"/>
            <a:endCxn id="666" idx="1"/>
          </p:cNvCxnSpPr>
          <p:nvPr/>
        </p:nvCxnSpPr>
        <p:spPr>
          <a:xfrm>
            <a:off x="3094675" y="2644725"/>
            <a:ext cx="400800" cy="0"/>
          </a:xfrm>
          <a:prstGeom prst="straightConnector1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673" name="Google Shape;673;p39"/>
          <p:cNvCxnSpPr>
            <a:endCxn id="674" idx="3"/>
          </p:cNvCxnSpPr>
          <p:nvPr/>
        </p:nvCxnSpPr>
        <p:spPr>
          <a:xfrm flipH="1">
            <a:off x="1757275" y="2639625"/>
            <a:ext cx="442800" cy="767100"/>
          </a:xfrm>
          <a:prstGeom prst="straightConnector1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675" name="Google Shape;675;p39"/>
          <p:cNvCxnSpPr>
            <a:endCxn id="674" idx="3"/>
          </p:cNvCxnSpPr>
          <p:nvPr/>
        </p:nvCxnSpPr>
        <p:spPr>
          <a:xfrm rot="10800000">
            <a:off x="1757275" y="3406725"/>
            <a:ext cx="442800" cy="767100"/>
          </a:xfrm>
          <a:prstGeom prst="straightConnector1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676" name="Google Shape;676;p39"/>
          <p:cNvCxnSpPr>
            <a:endCxn id="671" idx="1"/>
          </p:cNvCxnSpPr>
          <p:nvPr/>
        </p:nvCxnSpPr>
        <p:spPr>
          <a:xfrm>
            <a:off x="2191675" y="2644725"/>
            <a:ext cx="618000" cy="0"/>
          </a:xfrm>
          <a:prstGeom prst="straightConnector1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677" name="Google Shape;677;p39"/>
          <p:cNvCxnSpPr>
            <a:endCxn id="669" idx="1"/>
          </p:cNvCxnSpPr>
          <p:nvPr/>
        </p:nvCxnSpPr>
        <p:spPr>
          <a:xfrm>
            <a:off x="2191675" y="4168725"/>
            <a:ext cx="960900" cy="0"/>
          </a:xfrm>
          <a:prstGeom prst="straightConnector1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674" name="Google Shape;674;p39"/>
          <p:cNvSpPr/>
          <p:nvPr/>
        </p:nvSpPr>
        <p:spPr>
          <a:xfrm>
            <a:off x="1472275" y="3264225"/>
            <a:ext cx="285000" cy="285000"/>
          </a:xfrm>
          <a:prstGeom prst="rect">
            <a:avLst/>
          </a:prstGeom>
          <a:solidFill>
            <a:srgbClr val="FFFFFF"/>
          </a:solidFill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R1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678" name="Google Shape;678;p39"/>
          <p:cNvSpPr/>
          <p:nvPr/>
        </p:nvSpPr>
        <p:spPr>
          <a:xfrm>
            <a:off x="634063" y="3264225"/>
            <a:ext cx="285000" cy="285000"/>
          </a:xfrm>
          <a:prstGeom prst="ellipse">
            <a:avLst/>
          </a:prstGeom>
          <a:solidFill>
            <a:srgbClr val="FFFFFF"/>
          </a:solidFill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A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679" name="Google Shape;679;p39"/>
          <p:cNvCxnSpPr>
            <a:stCxn id="678" idx="6"/>
            <a:endCxn id="674" idx="1"/>
          </p:cNvCxnSpPr>
          <p:nvPr/>
        </p:nvCxnSpPr>
        <p:spPr>
          <a:xfrm>
            <a:off x="919063" y="3406725"/>
            <a:ext cx="553200" cy="0"/>
          </a:xfrm>
          <a:prstGeom prst="straightConnector1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med" len="med"/>
            <a:tailEnd type="none" w="med" len="med"/>
          </a:ln>
        </p:spPr>
      </p:cxnSp>
      <p:graphicFrame>
        <p:nvGraphicFramePr>
          <p:cNvPr id="680" name="Google Shape;680;p39"/>
          <p:cNvGraphicFramePr/>
          <p:nvPr/>
        </p:nvGraphicFramePr>
        <p:xfrm>
          <a:off x="7110582" y="2687500"/>
          <a:ext cx="1888700" cy="902130"/>
        </p:xfrm>
        <a:graphic>
          <a:graphicData uri="http://schemas.openxmlformats.org/drawingml/2006/table">
            <a:tbl>
              <a:tblPr>
                <a:noFill/>
                <a:tableStyleId>{9827013E-C202-4D27-A2D1-B1A861925892}</a:tableStyleId>
              </a:tblPr>
              <a:tblGrid>
                <a:gridCol w="6686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6100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61005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121925">
                <a:tc gridSpan="3"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latin typeface="Roboto"/>
                          <a:ea typeface="Roboto"/>
                          <a:cs typeface="Roboto"/>
                          <a:sym typeface="Roboto"/>
                        </a:rPr>
                        <a:t>R5's Table</a:t>
                      </a:r>
                      <a:endParaRPr sz="12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21925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latin typeface="Roboto"/>
                          <a:ea typeface="Roboto"/>
                          <a:cs typeface="Roboto"/>
                          <a:sym typeface="Roboto"/>
                        </a:rPr>
                        <a:t>To:</a:t>
                      </a:r>
                      <a:endParaRPr sz="12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/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latin typeface="Roboto"/>
                          <a:ea typeface="Roboto"/>
                          <a:cs typeface="Roboto"/>
                          <a:sym typeface="Roboto"/>
                        </a:rPr>
                        <a:t>Via:</a:t>
                      </a:r>
                      <a:endParaRPr sz="12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/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latin typeface="Roboto"/>
                          <a:ea typeface="Roboto"/>
                          <a:cs typeface="Roboto"/>
                          <a:sym typeface="Roboto"/>
                        </a:rPr>
                        <a:t>Cost:</a:t>
                      </a:r>
                      <a:endParaRPr sz="12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21925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latin typeface="Roboto"/>
                          <a:ea typeface="Roboto"/>
                          <a:cs typeface="Roboto"/>
                          <a:sym typeface="Roboto"/>
                        </a:rPr>
                        <a:t>A</a:t>
                      </a:r>
                      <a:endParaRPr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/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trike="sngStrike">
                          <a:latin typeface="Roboto"/>
                          <a:ea typeface="Roboto"/>
                          <a:cs typeface="Roboto"/>
                          <a:sym typeface="Roboto"/>
                        </a:rPr>
                        <a:t>R3</a:t>
                      </a:r>
                      <a:br>
                        <a:rPr lang="en">
                          <a:latin typeface="Roboto"/>
                          <a:ea typeface="Roboto"/>
                          <a:cs typeface="Roboto"/>
                          <a:sym typeface="Roboto"/>
                        </a:rPr>
                      </a:br>
                      <a:r>
                        <a:rPr lang="en" b="1">
                          <a:latin typeface="Roboto"/>
                          <a:ea typeface="Roboto"/>
                          <a:cs typeface="Roboto"/>
                          <a:sym typeface="Roboto"/>
                        </a:rPr>
                        <a:t>R4</a:t>
                      </a:r>
                      <a:endParaRPr b="1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/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trike="sngStrike">
                          <a:latin typeface="Roboto"/>
                          <a:ea typeface="Roboto"/>
                          <a:cs typeface="Roboto"/>
                          <a:sym typeface="Roboto"/>
                        </a:rPr>
                        <a:t>4</a:t>
                      </a:r>
                      <a:br>
                        <a:rPr lang="en" strike="sngStrike">
                          <a:latin typeface="Roboto"/>
                          <a:ea typeface="Roboto"/>
                          <a:cs typeface="Roboto"/>
                          <a:sym typeface="Roboto"/>
                        </a:rPr>
                      </a:br>
                      <a:r>
                        <a:rPr lang="en" b="1">
                          <a:latin typeface="Roboto"/>
                          <a:ea typeface="Roboto"/>
                          <a:cs typeface="Roboto"/>
                          <a:sym typeface="Roboto"/>
                        </a:rPr>
                        <a:t>3</a:t>
                      </a:r>
                      <a:endParaRPr b="1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</a:tbl>
          </a:graphicData>
        </a:graphic>
      </p:graphicFrame>
      <p:sp>
        <p:nvSpPr>
          <p:cNvPr id="681" name="Google Shape;681;p39"/>
          <p:cNvSpPr/>
          <p:nvPr/>
        </p:nvSpPr>
        <p:spPr>
          <a:xfrm>
            <a:off x="3583600" y="3638900"/>
            <a:ext cx="1273750" cy="620350"/>
          </a:xfrm>
          <a:custGeom>
            <a:avLst/>
            <a:gdLst/>
            <a:ahLst/>
            <a:cxnLst/>
            <a:rect l="l" t="t" r="r" b="b"/>
            <a:pathLst>
              <a:path w="50950" h="24814" extrusionOk="0">
                <a:moveTo>
                  <a:pt x="0" y="24814"/>
                </a:moveTo>
                <a:lnTo>
                  <a:pt x="36624" y="24814"/>
                </a:lnTo>
                <a:lnTo>
                  <a:pt x="50950" y="0"/>
                </a:lnTo>
              </a:path>
            </a:pathLst>
          </a:custGeom>
          <a:noFill/>
          <a:ln w="19050" cap="flat" cmpd="sng">
            <a:solidFill>
              <a:schemeClr val="accent2"/>
            </a:solidFill>
            <a:prstDash val="solid"/>
            <a:round/>
            <a:headEnd type="none" w="med" len="med"/>
            <a:tailEnd type="triangle" w="med" len="med"/>
          </a:ln>
        </p:spPr>
        <p:txBody>
          <a:bodyPr/>
          <a:lstStyle/>
          <a:p>
            <a:endParaRPr lang="en-US"/>
          </a:p>
        </p:txBody>
      </p:sp>
      <p:sp>
        <p:nvSpPr>
          <p:cNvPr id="682" name="Google Shape;682;p39"/>
          <p:cNvSpPr/>
          <p:nvPr/>
        </p:nvSpPr>
        <p:spPr>
          <a:xfrm>
            <a:off x="4056400" y="4350550"/>
            <a:ext cx="903300" cy="433200"/>
          </a:xfrm>
          <a:prstGeom prst="roundRect">
            <a:avLst>
              <a:gd name="adj" fmla="val 16667"/>
            </a:avLst>
          </a:prstGeom>
          <a:solidFill>
            <a:srgbClr val="F4CCCC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>
                <a:latin typeface="Roboto"/>
                <a:ea typeface="Roboto"/>
                <a:cs typeface="Roboto"/>
                <a:sym typeface="Roboto"/>
              </a:rPr>
              <a:t>A is 2 away from me.</a:t>
            </a:r>
            <a:endParaRPr sz="12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683" name="Google Shape;683;p39"/>
          <p:cNvSpPr/>
          <p:nvPr/>
        </p:nvSpPr>
        <p:spPr>
          <a:xfrm>
            <a:off x="5366925" y="2281350"/>
            <a:ext cx="1351500" cy="1046700"/>
          </a:xfrm>
          <a:prstGeom prst="wedgeRoundRectCallout">
            <a:avLst>
              <a:gd name="adj1" fmla="val -68383"/>
              <a:gd name="adj2" fmla="val 53869"/>
              <a:gd name="adj3" fmla="val 0"/>
            </a:avLst>
          </a:prstGeom>
          <a:noFill/>
          <a:ln w="9525" cap="flat" cmpd="sng">
            <a:solidFill>
              <a:schemeClr val="accent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accent2"/>
                </a:solidFill>
                <a:latin typeface="Roboto"/>
                <a:ea typeface="Roboto"/>
                <a:cs typeface="Roboto"/>
                <a:sym typeface="Roboto"/>
              </a:rPr>
              <a:t>I like this new path better. I'll abandon the old one.</a:t>
            </a:r>
            <a:endParaRPr>
              <a:solidFill>
                <a:schemeClr val="accent2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A9ECD8E1-84BF-B636-8AAA-FFA47FF4ECB3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 smtClean="0"/>
              <a:t>15</a:t>
            </a:fld>
            <a:endParaRPr lang="en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6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88" name="Google Shape;688;p40"/>
          <p:cNvSpPr txBox="1">
            <a:spLocks noGrp="1"/>
          </p:cNvSpPr>
          <p:nvPr>
            <p:ph type="title"/>
          </p:nvPr>
        </p:nvSpPr>
        <p:spPr>
          <a:xfrm>
            <a:off x="0" y="0"/>
            <a:ext cx="9144000" cy="39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The Distance-Vector Algorithm So Far</a:t>
            </a:r>
            <a:endParaRPr/>
          </a:p>
        </p:txBody>
      </p:sp>
      <p:sp>
        <p:nvSpPr>
          <p:cNvPr id="689" name="Google Shape;689;p40"/>
          <p:cNvSpPr txBox="1">
            <a:spLocks noGrp="1"/>
          </p:cNvSpPr>
          <p:nvPr>
            <p:ph type="body" idx="1"/>
          </p:nvPr>
        </p:nvSpPr>
        <p:spPr>
          <a:xfrm>
            <a:off x="107050" y="402200"/>
            <a:ext cx="8909700" cy="4530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"/>
              <a:t>For each destination:</a:t>
            </a:r>
            <a:endParaRPr/>
          </a:p>
          <a:p>
            <a:pPr marL="457200" lvl="0" indent="-342900" algn="l" rtl="0">
              <a:spcBef>
                <a:spcPts val="60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If you hear about a path to that destination, update table if:</a:t>
            </a:r>
            <a:endParaRPr/>
          </a:p>
          <a:p>
            <a:pPr marL="914400" lvl="1" indent="-342900" algn="l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800"/>
              <a:buChar char="○"/>
            </a:pPr>
            <a:r>
              <a:rPr lang="en">
                <a:solidFill>
                  <a:schemeClr val="accent2"/>
                </a:solidFill>
              </a:rPr>
              <a:t>The destination isn't in the table.</a:t>
            </a:r>
            <a:endParaRPr>
              <a:solidFill>
                <a:schemeClr val="accent2"/>
              </a:solidFill>
            </a:endParaRPr>
          </a:p>
          <a:p>
            <a:pPr marL="914400" lvl="1" indent="-342900" algn="l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800"/>
              <a:buChar char="○"/>
            </a:pPr>
            <a:r>
              <a:rPr lang="en">
                <a:solidFill>
                  <a:schemeClr val="accent2"/>
                </a:solidFill>
              </a:rPr>
              <a:t>The advertised cost is better than best-known cost.</a:t>
            </a:r>
            <a:endParaRPr>
              <a:solidFill>
                <a:schemeClr val="accent2"/>
              </a:solidFill>
            </a:endParaRPr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Then, tell all your neighbors.</a:t>
            </a:r>
            <a:endParaRPr/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40A9604F-2D26-272C-C3F0-27F9E2FDF4D3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 smtClean="0"/>
              <a:t>16</a:t>
            </a:fld>
            <a:endParaRPr lang="en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6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94" name="Google Shape;694;p41"/>
          <p:cNvSpPr txBox="1">
            <a:spLocks noGrp="1"/>
          </p:cNvSpPr>
          <p:nvPr>
            <p:ph type="title"/>
          </p:nvPr>
        </p:nvSpPr>
        <p:spPr>
          <a:xfrm>
            <a:off x="0" y="0"/>
            <a:ext cx="9144000" cy="39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Unequal Costs</a:t>
            </a:r>
            <a:endParaRPr/>
          </a:p>
        </p:txBody>
      </p:sp>
      <p:sp>
        <p:nvSpPr>
          <p:cNvPr id="695" name="Google Shape;695;p41"/>
          <p:cNvSpPr txBox="1">
            <a:spLocks noGrp="1"/>
          </p:cNvSpPr>
          <p:nvPr>
            <p:ph type="body" idx="1"/>
          </p:nvPr>
        </p:nvSpPr>
        <p:spPr>
          <a:xfrm>
            <a:off x="107050" y="402200"/>
            <a:ext cx="8909700" cy="18105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"/>
              <a:t>Not all link costs are 1.</a:t>
            </a:r>
            <a:endParaRPr/>
          </a:p>
          <a:p>
            <a:pPr marL="457200" lvl="0" indent="-342900" algn="l" rtl="0">
              <a:spcBef>
                <a:spcPts val="60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When a neighbor advertises a path, the cost via that path is the sum of:</a:t>
            </a:r>
            <a:endParaRPr/>
          </a:p>
          <a:p>
            <a:pPr marL="914400" lvl="1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○"/>
            </a:pPr>
            <a:r>
              <a:rPr lang="en"/>
              <a:t>Link cost from you to the neighbor.</a:t>
            </a:r>
            <a:endParaRPr/>
          </a:p>
          <a:p>
            <a:pPr marL="914400" lvl="1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○"/>
            </a:pPr>
            <a:r>
              <a:rPr lang="en"/>
              <a:t>Cost from neighbor to destination (as advertised by neighbor).</a:t>
            </a:r>
            <a:endParaRPr/>
          </a:p>
        </p:txBody>
      </p:sp>
      <p:sp>
        <p:nvSpPr>
          <p:cNvPr id="696" name="Google Shape;696;p41"/>
          <p:cNvSpPr/>
          <p:nvPr/>
        </p:nvSpPr>
        <p:spPr>
          <a:xfrm>
            <a:off x="3591425" y="3335950"/>
            <a:ext cx="285000" cy="285000"/>
          </a:xfrm>
          <a:prstGeom prst="rect">
            <a:avLst/>
          </a:prstGeom>
          <a:solidFill>
            <a:srgbClr val="FFFFFF"/>
          </a:solidFill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R3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697" name="Google Shape;697;p41"/>
          <p:cNvSpPr/>
          <p:nvPr/>
        </p:nvSpPr>
        <p:spPr>
          <a:xfrm>
            <a:off x="1984375" y="2571751"/>
            <a:ext cx="285000" cy="285000"/>
          </a:xfrm>
          <a:prstGeom prst="rect">
            <a:avLst/>
          </a:prstGeom>
          <a:solidFill>
            <a:srgbClr val="FFFFFF"/>
          </a:solidFill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R1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698" name="Google Shape;698;p41"/>
          <p:cNvCxnSpPr>
            <a:stCxn id="697" idx="3"/>
            <a:endCxn id="696" idx="1"/>
          </p:cNvCxnSpPr>
          <p:nvPr/>
        </p:nvCxnSpPr>
        <p:spPr>
          <a:xfrm>
            <a:off x="2269375" y="2714251"/>
            <a:ext cx="1322100" cy="764100"/>
          </a:xfrm>
          <a:prstGeom prst="straightConnector1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699" name="Google Shape;699;p41"/>
          <p:cNvCxnSpPr>
            <a:stCxn id="700" idx="3"/>
          </p:cNvCxnSpPr>
          <p:nvPr/>
        </p:nvCxnSpPr>
        <p:spPr>
          <a:xfrm rot="10800000" flipH="1">
            <a:off x="2269375" y="3478508"/>
            <a:ext cx="1322400" cy="762900"/>
          </a:xfrm>
          <a:prstGeom prst="straightConnector1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700" name="Google Shape;700;p41"/>
          <p:cNvSpPr/>
          <p:nvPr/>
        </p:nvSpPr>
        <p:spPr>
          <a:xfrm>
            <a:off x="1984375" y="4098908"/>
            <a:ext cx="285000" cy="285000"/>
          </a:xfrm>
          <a:prstGeom prst="rect">
            <a:avLst/>
          </a:prstGeom>
          <a:solidFill>
            <a:srgbClr val="FFFFFF"/>
          </a:solidFill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R2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701" name="Google Shape;701;p41"/>
          <p:cNvSpPr txBox="1"/>
          <p:nvPr/>
        </p:nvSpPr>
        <p:spPr>
          <a:xfrm>
            <a:off x="2758675" y="3027400"/>
            <a:ext cx="114600" cy="215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1</a:t>
            </a:r>
            <a:endParaRPr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702" name="Google Shape;702;p41"/>
          <p:cNvSpPr txBox="1"/>
          <p:nvPr/>
        </p:nvSpPr>
        <p:spPr>
          <a:xfrm>
            <a:off x="2710225" y="3667827"/>
            <a:ext cx="211500" cy="215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10</a:t>
            </a:r>
            <a:endParaRPr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703" name="Google Shape;703;p41"/>
          <p:cNvSpPr/>
          <p:nvPr/>
        </p:nvSpPr>
        <p:spPr>
          <a:xfrm>
            <a:off x="2921725" y="2363025"/>
            <a:ext cx="1206000" cy="535500"/>
          </a:xfrm>
          <a:prstGeom prst="roundRect">
            <a:avLst>
              <a:gd name="adj" fmla="val 16667"/>
            </a:avLst>
          </a:prstGeom>
          <a:solidFill>
            <a:srgbClr val="F4CCCC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A is 5 away from me.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704" name="Google Shape;704;p41"/>
          <p:cNvCxnSpPr/>
          <p:nvPr/>
        </p:nvCxnSpPr>
        <p:spPr>
          <a:xfrm>
            <a:off x="2490050" y="2690520"/>
            <a:ext cx="865200" cy="499500"/>
          </a:xfrm>
          <a:prstGeom prst="straightConnector1">
            <a:avLst/>
          </a:prstGeom>
          <a:noFill/>
          <a:ln w="19050" cap="flat" cmpd="sng">
            <a:solidFill>
              <a:schemeClr val="accent2"/>
            </a:solidFill>
            <a:prstDash val="solid"/>
            <a:round/>
            <a:headEnd type="none" w="med" len="med"/>
            <a:tailEnd type="triangle" w="med" len="med"/>
          </a:ln>
        </p:spPr>
      </p:cxnSp>
      <p:graphicFrame>
        <p:nvGraphicFramePr>
          <p:cNvPr id="705" name="Google Shape;705;p41"/>
          <p:cNvGraphicFramePr/>
          <p:nvPr/>
        </p:nvGraphicFramePr>
        <p:xfrm>
          <a:off x="4780082" y="3799600"/>
          <a:ext cx="2392175" cy="688770"/>
        </p:xfrm>
        <a:graphic>
          <a:graphicData uri="http://schemas.openxmlformats.org/drawingml/2006/table">
            <a:tbl>
              <a:tblPr>
                <a:noFill/>
                <a:tableStyleId>{9827013E-C202-4D27-A2D1-B1A861925892}</a:tableStyleId>
              </a:tblPr>
              <a:tblGrid>
                <a:gridCol w="6686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6100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11352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121925">
                <a:tc gridSpan="3"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latin typeface="Roboto"/>
                          <a:ea typeface="Roboto"/>
                          <a:cs typeface="Roboto"/>
                          <a:sym typeface="Roboto"/>
                        </a:rPr>
                        <a:t>R3's Table</a:t>
                      </a:r>
                      <a:endParaRPr sz="12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21925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latin typeface="Roboto"/>
                          <a:ea typeface="Roboto"/>
                          <a:cs typeface="Roboto"/>
                          <a:sym typeface="Roboto"/>
                        </a:rPr>
                        <a:t>To:</a:t>
                      </a:r>
                      <a:endParaRPr sz="12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/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latin typeface="Roboto"/>
                          <a:ea typeface="Roboto"/>
                          <a:cs typeface="Roboto"/>
                          <a:sym typeface="Roboto"/>
                        </a:rPr>
                        <a:t>Via:</a:t>
                      </a:r>
                      <a:endParaRPr sz="12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/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latin typeface="Roboto"/>
                          <a:ea typeface="Roboto"/>
                          <a:cs typeface="Roboto"/>
                          <a:sym typeface="Roboto"/>
                        </a:rPr>
                        <a:t>Cost:</a:t>
                      </a:r>
                      <a:endParaRPr sz="12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21925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latin typeface="Roboto"/>
                          <a:ea typeface="Roboto"/>
                          <a:cs typeface="Roboto"/>
                          <a:sym typeface="Roboto"/>
                        </a:rPr>
                        <a:t>A</a:t>
                      </a:r>
                      <a:endParaRPr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/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latin typeface="Roboto"/>
                          <a:ea typeface="Roboto"/>
                          <a:cs typeface="Roboto"/>
                          <a:sym typeface="Roboto"/>
                        </a:rPr>
                        <a:t>R1</a:t>
                      </a:r>
                      <a:endParaRPr b="1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/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latin typeface="Roboto"/>
                          <a:ea typeface="Roboto"/>
                          <a:cs typeface="Roboto"/>
                          <a:sym typeface="Roboto"/>
                        </a:rPr>
                        <a:t>1+5 = 6</a:t>
                      </a:r>
                      <a:endParaRPr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</a:tbl>
          </a:graphicData>
        </a:graphic>
      </p:graphicFrame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A7FC2D57-D83F-73CF-636B-B980F0D521E1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 smtClean="0"/>
              <a:t>17</a:t>
            </a:fld>
            <a:endParaRPr lang="en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7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0" name="Google Shape;710;p42"/>
          <p:cNvSpPr txBox="1">
            <a:spLocks noGrp="1"/>
          </p:cNvSpPr>
          <p:nvPr>
            <p:ph type="title"/>
          </p:nvPr>
        </p:nvSpPr>
        <p:spPr>
          <a:xfrm>
            <a:off x="0" y="0"/>
            <a:ext cx="9144000" cy="39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Unequal Costs</a:t>
            </a:r>
            <a:endParaRPr/>
          </a:p>
        </p:txBody>
      </p:sp>
      <p:sp>
        <p:nvSpPr>
          <p:cNvPr id="711" name="Google Shape;711;p42"/>
          <p:cNvSpPr txBox="1">
            <a:spLocks noGrp="1"/>
          </p:cNvSpPr>
          <p:nvPr>
            <p:ph type="body" idx="1"/>
          </p:nvPr>
        </p:nvSpPr>
        <p:spPr>
          <a:xfrm>
            <a:off x="107050" y="402200"/>
            <a:ext cx="8909700" cy="18105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"/>
              <a:t>Not all link costs are 1.</a:t>
            </a:r>
            <a:endParaRPr/>
          </a:p>
          <a:p>
            <a:pPr marL="457200" lvl="0" indent="-342900" algn="l" rtl="0">
              <a:spcBef>
                <a:spcPts val="60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When a neighbor advertises a path, the cost via that path is the sum of:</a:t>
            </a:r>
            <a:endParaRPr/>
          </a:p>
          <a:p>
            <a:pPr marL="914400" lvl="1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○"/>
            </a:pPr>
            <a:r>
              <a:rPr lang="en"/>
              <a:t>Link cost from you to the neighbor.</a:t>
            </a:r>
            <a:endParaRPr/>
          </a:p>
          <a:p>
            <a:pPr marL="914400" lvl="1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○"/>
            </a:pPr>
            <a:r>
              <a:rPr lang="en"/>
              <a:t>Cost from neighbor to destination (as advertised by neighbor).</a:t>
            </a:r>
            <a:endParaRPr/>
          </a:p>
        </p:txBody>
      </p:sp>
      <p:sp>
        <p:nvSpPr>
          <p:cNvPr id="712" name="Google Shape;712;p42"/>
          <p:cNvSpPr/>
          <p:nvPr/>
        </p:nvSpPr>
        <p:spPr>
          <a:xfrm>
            <a:off x="3591425" y="3335950"/>
            <a:ext cx="285000" cy="285000"/>
          </a:xfrm>
          <a:prstGeom prst="rect">
            <a:avLst/>
          </a:prstGeom>
          <a:solidFill>
            <a:srgbClr val="FFFFFF"/>
          </a:solidFill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R3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713" name="Google Shape;713;p42"/>
          <p:cNvSpPr/>
          <p:nvPr/>
        </p:nvSpPr>
        <p:spPr>
          <a:xfrm>
            <a:off x="1984375" y="2571751"/>
            <a:ext cx="285000" cy="285000"/>
          </a:xfrm>
          <a:prstGeom prst="rect">
            <a:avLst/>
          </a:prstGeom>
          <a:solidFill>
            <a:srgbClr val="FFFFFF"/>
          </a:solidFill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R1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714" name="Google Shape;714;p42"/>
          <p:cNvCxnSpPr>
            <a:stCxn id="713" idx="3"/>
            <a:endCxn id="712" idx="1"/>
          </p:cNvCxnSpPr>
          <p:nvPr/>
        </p:nvCxnSpPr>
        <p:spPr>
          <a:xfrm>
            <a:off x="2269375" y="2714251"/>
            <a:ext cx="1322100" cy="764100"/>
          </a:xfrm>
          <a:prstGeom prst="straightConnector1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715" name="Google Shape;715;p42"/>
          <p:cNvCxnSpPr>
            <a:stCxn id="716" idx="3"/>
          </p:cNvCxnSpPr>
          <p:nvPr/>
        </p:nvCxnSpPr>
        <p:spPr>
          <a:xfrm rot="10800000" flipH="1">
            <a:off x="2269375" y="3478508"/>
            <a:ext cx="1322400" cy="762900"/>
          </a:xfrm>
          <a:prstGeom prst="straightConnector1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716" name="Google Shape;716;p42"/>
          <p:cNvSpPr/>
          <p:nvPr/>
        </p:nvSpPr>
        <p:spPr>
          <a:xfrm>
            <a:off x="1984375" y="4098908"/>
            <a:ext cx="285000" cy="285000"/>
          </a:xfrm>
          <a:prstGeom prst="rect">
            <a:avLst/>
          </a:prstGeom>
          <a:solidFill>
            <a:srgbClr val="FFFFFF"/>
          </a:solidFill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R2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717" name="Google Shape;717;p42"/>
          <p:cNvSpPr txBox="1"/>
          <p:nvPr/>
        </p:nvSpPr>
        <p:spPr>
          <a:xfrm>
            <a:off x="2758675" y="3027400"/>
            <a:ext cx="114600" cy="215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1</a:t>
            </a:r>
            <a:endParaRPr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718" name="Google Shape;718;p42"/>
          <p:cNvSpPr txBox="1"/>
          <p:nvPr/>
        </p:nvSpPr>
        <p:spPr>
          <a:xfrm>
            <a:off x="2710225" y="3667827"/>
            <a:ext cx="211500" cy="215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10</a:t>
            </a:r>
            <a:endParaRPr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graphicFrame>
        <p:nvGraphicFramePr>
          <p:cNvPr id="719" name="Google Shape;719;p42"/>
          <p:cNvGraphicFramePr/>
          <p:nvPr/>
        </p:nvGraphicFramePr>
        <p:xfrm>
          <a:off x="4780082" y="3799600"/>
          <a:ext cx="2392175" cy="688770"/>
        </p:xfrm>
        <a:graphic>
          <a:graphicData uri="http://schemas.openxmlformats.org/drawingml/2006/table">
            <a:tbl>
              <a:tblPr>
                <a:noFill/>
                <a:tableStyleId>{9827013E-C202-4D27-A2D1-B1A861925892}</a:tableStyleId>
              </a:tblPr>
              <a:tblGrid>
                <a:gridCol w="6686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6100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11352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121925">
                <a:tc gridSpan="3"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latin typeface="Roboto"/>
                          <a:ea typeface="Roboto"/>
                          <a:cs typeface="Roboto"/>
                          <a:sym typeface="Roboto"/>
                        </a:rPr>
                        <a:t>R3's Table</a:t>
                      </a:r>
                      <a:endParaRPr sz="12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21925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latin typeface="Roboto"/>
                          <a:ea typeface="Roboto"/>
                          <a:cs typeface="Roboto"/>
                          <a:sym typeface="Roboto"/>
                        </a:rPr>
                        <a:t>To:</a:t>
                      </a:r>
                      <a:endParaRPr sz="12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/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latin typeface="Roboto"/>
                          <a:ea typeface="Roboto"/>
                          <a:cs typeface="Roboto"/>
                          <a:sym typeface="Roboto"/>
                        </a:rPr>
                        <a:t>Via:</a:t>
                      </a:r>
                      <a:endParaRPr sz="12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/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latin typeface="Roboto"/>
                          <a:ea typeface="Roboto"/>
                          <a:cs typeface="Roboto"/>
                          <a:sym typeface="Roboto"/>
                        </a:rPr>
                        <a:t>Cost:</a:t>
                      </a:r>
                      <a:endParaRPr sz="12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21925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latin typeface="Roboto"/>
                          <a:ea typeface="Roboto"/>
                          <a:cs typeface="Roboto"/>
                          <a:sym typeface="Roboto"/>
                        </a:rPr>
                        <a:t>A</a:t>
                      </a:r>
                      <a:endParaRPr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/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latin typeface="Roboto"/>
                          <a:ea typeface="Roboto"/>
                          <a:cs typeface="Roboto"/>
                          <a:sym typeface="Roboto"/>
                        </a:rPr>
                        <a:t>R1</a:t>
                      </a:r>
                      <a:endParaRPr b="1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/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latin typeface="Roboto"/>
                          <a:ea typeface="Roboto"/>
                          <a:cs typeface="Roboto"/>
                          <a:sym typeface="Roboto"/>
                        </a:rPr>
                        <a:t>1+5 = 6</a:t>
                      </a:r>
                      <a:endParaRPr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</a:tbl>
          </a:graphicData>
        </a:graphic>
      </p:graphicFrame>
      <p:sp>
        <p:nvSpPr>
          <p:cNvPr id="720" name="Google Shape;720;p42"/>
          <p:cNvSpPr/>
          <p:nvPr/>
        </p:nvSpPr>
        <p:spPr>
          <a:xfrm>
            <a:off x="2921725" y="4115625"/>
            <a:ext cx="1206000" cy="535500"/>
          </a:xfrm>
          <a:prstGeom prst="roundRect">
            <a:avLst>
              <a:gd name="adj" fmla="val 16667"/>
            </a:avLst>
          </a:prstGeom>
          <a:solidFill>
            <a:srgbClr val="F4CCCC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A is 3 away from me.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721" name="Google Shape;721;p42"/>
          <p:cNvCxnSpPr/>
          <p:nvPr/>
        </p:nvCxnSpPr>
        <p:spPr>
          <a:xfrm rot="10800000" flipH="1">
            <a:off x="2558725" y="3799600"/>
            <a:ext cx="796500" cy="459900"/>
          </a:xfrm>
          <a:prstGeom prst="straightConnector1">
            <a:avLst/>
          </a:prstGeom>
          <a:noFill/>
          <a:ln w="19050" cap="flat" cmpd="sng">
            <a:solidFill>
              <a:schemeClr val="accent2"/>
            </a:solidFill>
            <a:prstDash val="solid"/>
            <a:round/>
            <a:headEnd type="none" w="med" len="med"/>
            <a:tailEnd type="triangle" w="med" len="med"/>
          </a:ln>
        </p:spPr>
      </p:cxnSp>
      <p:sp>
        <p:nvSpPr>
          <p:cNvPr id="722" name="Google Shape;722;p42"/>
          <p:cNvSpPr/>
          <p:nvPr/>
        </p:nvSpPr>
        <p:spPr>
          <a:xfrm>
            <a:off x="4127725" y="2221300"/>
            <a:ext cx="2481000" cy="919500"/>
          </a:xfrm>
          <a:prstGeom prst="wedgeRoundRectCallout">
            <a:avLst>
              <a:gd name="adj1" fmla="val -64779"/>
              <a:gd name="adj2" fmla="val 59940"/>
              <a:gd name="adj3" fmla="val 0"/>
            </a:avLst>
          </a:prstGeom>
          <a:noFill/>
          <a:ln w="9525" cap="flat" cmpd="sng">
            <a:solidFill>
              <a:schemeClr val="accent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accent2"/>
                </a:solidFill>
                <a:latin typeface="Roboto"/>
                <a:ea typeface="Roboto"/>
                <a:cs typeface="Roboto"/>
                <a:sym typeface="Roboto"/>
              </a:rPr>
              <a:t>This path actually costs 10+3=13. I'll keep using the cost 6 path and reject this.</a:t>
            </a:r>
            <a:endParaRPr>
              <a:solidFill>
                <a:schemeClr val="accent2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7876EFFA-547A-A6E5-D534-3619BCC49938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 smtClean="0"/>
              <a:t>18</a:t>
            </a:fld>
            <a:endParaRPr lang="en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7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7" name="Google Shape;727;p43"/>
          <p:cNvSpPr txBox="1">
            <a:spLocks noGrp="1"/>
          </p:cNvSpPr>
          <p:nvPr>
            <p:ph type="title"/>
          </p:nvPr>
        </p:nvSpPr>
        <p:spPr>
          <a:xfrm>
            <a:off x="0" y="0"/>
            <a:ext cx="9144000" cy="39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The Distance-Vector Algorithm So Far</a:t>
            </a:r>
            <a:endParaRPr/>
          </a:p>
        </p:txBody>
      </p:sp>
      <p:sp>
        <p:nvSpPr>
          <p:cNvPr id="728" name="Google Shape;728;p43"/>
          <p:cNvSpPr txBox="1">
            <a:spLocks noGrp="1"/>
          </p:cNvSpPr>
          <p:nvPr>
            <p:ph type="body" idx="1"/>
          </p:nvPr>
        </p:nvSpPr>
        <p:spPr>
          <a:xfrm>
            <a:off x="107050" y="402200"/>
            <a:ext cx="8909700" cy="4530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"/>
              <a:t>For each destination:</a:t>
            </a:r>
            <a:endParaRPr/>
          </a:p>
          <a:p>
            <a:pPr marL="457200" lvl="0" indent="-342900" algn="l" rtl="0">
              <a:spcBef>
                <a:spcPts val="60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If you hear about a path to that destination, update table if:</a:t>
            </a:r>
            <a:endParaRPr/>
          </a:p>
          <a:p>
            <a:pPr marL="914400" lvl="1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○"/>
            </a:pPr>
            <a:r>
              <a:rPr lang="en"/>
              <a:t>The destination isn't in the table.</a:t>
            </a:r>
            <a:endParaRPr/>
          </a:p>
          <a:p>
            <a:pPr marL="914400" lvl="1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○"/>
            </a:pPr>
            <a:r>
              <a:rPr lang="en"/>
              <a:t>Advertised cost </a:t>
            </a:r>
            <a:r>
              <a:rPr lang="en">
                <a:solidFill>
                  <a:schemeClr val="accent2"/>
                </a:solidFill>
              </a:rPr>
              <a:t>+ link cost to neighbor</a:t>
            </a:r>
            <a:r>
              <a:rPr lang="en"/>
              <a:t> &lt; best-known cost. </a:t>
            </a:r>
            <a:r>
              <a:rPr lang="en" sz="1400">
                <a:solidFill>
                  <a:schemeClr val="accent3"/>
                </a:solidFill>
              </a:rPr>
              <a:t>(#1)</a:t>
            </a:r>
            <a:endParaRPr sz="1400">
              <a:solidFill>
                <a:schemeClr val="accent3"/>
              </a:solidFill>
            </a:endParaRPr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Then, tell all your neighbors.</a:t>
            </a:r>
            <a:endParaRPr/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DD934745-E66E-4408-F9C0-2B4C1DCAE944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 smtClean="0"/>
              <a:t>19</a:t>
            </a:fld>
            <a:endParaRPr lang="en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7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33" name="Google Shape;733;p44"/>
          <p:cNvSpPr txBox="1">
            <a:spLocks noGrp="1"/>
          </p:cNvSpPr>
          <p:nvPr>
            <p:ph type="title"/>
          </p:nvPr>
        </p:nvSpPr>
        <p:spPr>
          <a:xfrm>
            <a:off x="0" y="0"/>
            <a:ext cx="9144000" cy="39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Distributed Bellman-Ford Algorithm</a:t>
            </a:r>
            <a:endParaRPr/>
          </a:p>
        </p:txBody>
      </p:sp>
      <p:sp>
        <p:nvSpPr>
          <p:cNvPr id="734" name="Google Shape;734;p44"/>
          <p:cNvSpPr txBox="1">
            <a:spLocks noGrp="1"/>
          </p:cNvSpPr>
          <p:nvPr>
            <p:ph type="body" idx="1"/>
          </p:nvPr>
        </p:nvSpPr>
        <p:spPr>
          <a:xfrm>
            <a:off x="107050" y="402200"/>
            <a:ext cx="8909700" cy="44601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" dirty="0"/>
              <a:t>This operation looks familiar.</a:t>
            </a:r>
            <a:endParaRPr dirty="0"/>
          </a:p>
          <a:p>
            <a:pPr marL="457200" lvl="0" indent="-342900" algn="l" rtl="0">
              <a:spcBef>
                <a:spcPts val="600"/>
              </a:spcBef>
              <a:spcAft>
                <a:spcPts val="0"/>
              </a:spcAft>
              <a:buSzPts val="1800"/>
              <a:buChar char="●"/>
            </a:pPr>
            <a:r>
              <a:rPr lang="en" dirty="0"/>
              <a:t>"If cost to neighbor + cost from neighbor to destination &lt; best-known cost,</a:t>
            </a:r>
            <a:br>
              <a:rPr lang="en" dirty="0"/>
            </a:br>
            <a:r>
              <a:rPr lang="en" dirty="0"/>
              <a:t>accept update."</a:t>
            </a:r>
            <a:endParaRPr dirty="0"/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 dirty="0"/>
              <a:t>This is the relaxation operation in Dijkstra's shortest path algorithm!</a:t>
            </a:r>
            <a:endParaRPr dirty="0"/>
          </a:p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" b="1" dirty="0"/>
              <a:t>Bellman-Ford</a:t>
            </a:r>
            <a:r>
              <a:rPr lang="en" dirty="0"/>
              <a:t> is another relaxation-based shortest path algorithm.</a:t>
            </a:r>
            <a:endParaRPr dirty="0"/>
          </a:p>
          <a:p>
            <a:pPr marL="457200" lvl="0" indent="-342900" algn="l" rtl="0">
              <a:spcBef>
                <a:spcPts val="600"/>
              </a:spcBef>
              <a:spcAft>
                <a:spcPts val="0"/>
              </a:spcAft>
              <a:buSzPts val="1800"/>
              <a:buChar char="●"/>
            </a:pPr>
            <a:r>
              <a:rPr lang="en" dirty="0"/>
              <a:t>Relax every edge repeatedly until we get shortest paths.</a:t>
            </a:r>
            <a:endParaRPr dirty="0"/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 dirty="0"/>
              <a:t>Unlike Dijkstra's, does not require relaxing the edges in any specific order.</a:t>
            </a:r>
            <a:endParaRPr dirty="0"/>
          </a:p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" dirty="0"/>
              <a:t>Distance-vector algorithms are a </a:t>
            </a:r>
            <a:r>
              <a:rPr lang="en" i="1" dirty="0"/>
              <a:t>distributed</a:t>
            </a:r>
            <a:r>
              <a:rPr lang="en" dirty="0"/>
              <a:t>, </a:t>
            </a:r>
            <a:r>
              <a:rPr lang="en" i="1" dirty="0"/>
              <a:t>asynchronous</a:t>
            </a:r>
            <a:r>
              <a:rPr lang="en" dirty="0"/>
              <a:t> version of Bellman-Ford.</a:t>
            </a:r>
            <a:endParaRPr dirty="0"/>
          </a:p>
          <a:p>
            <a:pPr marL="457200" lvl="0" indent="-342900" algn="l" rtl="0">
              <a:spcBef>
                <a:spcPts val="600"/>
              </a:spcBef>
              <a:spcAft>
                <a:spcPts val="0"/>
              </a:spcAft>
              <a:buSzPts val="1800"/>
              <a:buChar char="●"/>
            </a:pPr>
            <a:r>
              <a:rPr lang="en" dirty="0"/>
              <a:t>Distributed: Each router relaxes its own links. No global mastermind.</a:t>
            </a:r>
            <a:endParaRPr dirty="0"/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 dirty="0"/>
              <a:t>Asynchronous: Nobody is syncing when the routers do relaxations.</a:t>
            </a:r>
            <a:endParaRPr dirty="0"/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F93E76CA-08B6-F20B-CFEB-4EC2C823534F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 smtClean="0"/>
              <a:t>20</a:t>
            </a:fld>
            <a:endParaRPr lang="en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7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39" name="Google Shape;739;p45"/>
          <p:cNvSpPr txBox="1">
            <a:spLocks noGrp="1"/>
          </p:cNvSpPr>
          <p:nvPr>
            <p:ph type="title"/>
          </p:nvPr>
        </p:nvSpPr>
        <p:spPr>
          <a:xfrm>
            <a:off x="0" y="0"/>
            <a:ext cx="9144000" cy="39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Distributed Bellman-Ford Algorithm</a:t>
            </a:r>
            <a:endParaRPr/>
          </a:p>
        </p:txBody>
      </p:sp>
      <p:sp>
        <p:nvSpPr>
          <p:cNvPr id="740" name="Google Shape;740;p45"/>
          <p:cNvSpPr txBox="1">
            <a:spLocks noGrp="1"/>
          </p:cNvSpPr>
          <p:nvPr>
            <p:ph type="body" idx="1"/>
          </p:nvPr>
        </p:nvSpPr>
        <p:spPr>
          <a:xfrm>
            <a:off x="107050" y="402200"/>
            <a:ext cx="7301400" cy="541147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" dirty="0"/>
              <a:t>The centralized Bellman-Ford algorithm for a single destination:</a:t>
            </a:r>
            <a:endParaRPr dirty="0"/>
          </a:p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endParaRPr sz="100" dirty="0"/>
          </a:p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600" dirty="0">
                <a:latin typeface="Consolas"/>
                <a:ea typeface="Consolas"/>
                <a:cs typeface="Consolas"/>
                <a:sym typeface="Consolas"/>
              </a:rPr>
              <a:t>def bellman_ford(dst, routers, links):</a:t>
            </a:r>
            <a:endParaRPr sz="1600" dirty="0"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800" dirty="0">
                <a:latin typeface="Consolas"/>
                <a:ea typeface="Consolas"/>
                <a:cs typeface="Consolas"/>
                <a:sym typeface="Consolas"/>
              </a:rPr>
              <a:t> </a:t>
            </a:r>
            <a:br>
              <a:rPr lang="en" sz="1600" dirty="0">
                <a:latin typeface="Consolas"/>
                <a:ea typeface="Consolas"/>
                <a:cs typeface="Consolas"/>
                <a:sym typeface="Consolas"/>
              </a:rPr>
            </a:br>
            <a:r>
              <a:rPr lang="en" sz="1600" dirty="0">
                <a:solidFill>
                  <a:schemeClr val="accent3"/>
                </a:solidFill>
                <a:latin typeface="Consolas"/>
                <a:ea typeface="Consolas"/>
                <a:cs typeface="Consolas"/>
                <a:sym typeface="Consolas"/>
              </a:rPr>
              <a:t>	distance = {};	nexthop  = {}</a:t>
            </a:r>
            <a:endParaRPr sz="1600" dirty="0">
              <a:solidFill>
                <a:schemeClr val="accent3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800" dirty="0">
                <a:solidFill>
                  <a:schemeClr val="accent3"/>
                </a:solidFill>
              </a:rPr>
              <a:t> </a:t>
            </a:r>
            <a:br>
              <a:rPr lang="en" sz="1600" dirty="0">
                <a:solidFill>
                  <a:schemeClr val="accent3"/>
                </a:solidFill>
                <a:latin typeface="Consolas"/>
                <a:ea typeface="Consolas"/>
                <a:cs typeface="Consolas"/>
                <a:sym typeface="Consolas"/>
              </a:rPr>
            </a:br>
            <a:r>
              <a:rPr lang="en" sz="1600" dirty="0">
                <a:solidFill>
                  <a:schemeClr val="accent3"/>
                </a:solidFill>
                <a:latin typeface="Consolas"/>
                <a:ea typeface="Consolas"/>
                <a:cs typeface="Consolas"/>
                <a:sym typeface="Consolas"/>
              </a:rPr>
              <a:t>	for r in routers:</a:t>
            </a:r>
            <a:br>
              <a:rPr lang="en" sz="1600" dirty="0">
                <a:solidFill>
                  <a:schemeClr val="accent3"/>
                </a:solidFill>
                <a:latin typeface="Consolas"/>
                <a:ea typeface="Consolas"/>
                <a:cs typeface="Consolas"/>
                <a:sym typeface="Consolas"/>
              </a:rPr>
            </a:br>
            <a:r>
              <a:rPr lang="en" sz="1600" dirty="0">
                <a:solidFill>
                  <a:schemeClr val="accent3"/>
                </a:solidFill>
                <a:latin typeface="Consolas"/>
                <a:ea typeface="Consolas"/>
                <a:cs typeface="Consolas"/>
                <a:sym typeface="Consolas"/>
              </a:rPr>
              <a:t>		distance[r] = INFINITY</a:t>
            </a:r>
            <a:br>
              <a:rPr lang="en" sz="1600" dirty="0">
                <a:solidFill>
                  <a:schemeClr val="accent3"/>
                </a:solidFill>
                <a:latin typeface="Consolas"/>
                <a:ea typeface="Consolas"/>
                <a:cs typeface="Consolas"/>
                <a:sym typeface="Consolas"/>
              </a:rPr>
            </a:br>
            <a:r>
              <a:rPr lang="en" sz="1600" dirty="0">
                <a:solidFill>
                  <a:schemeClr val="accent3"/>
                </a:solidFill>
                <a:latin typeface="Consolas"/>
                <a:ea typeface="Consolas"/>
                <a:cs typeface="Consolas"/>
                <a:sym typeface="Consolas"/>
              </a:rPr>
              <a:t>		nexthop[r]  = None</a:t>
            </a:r>
            <a:br>
              <a:rPr lang="en" sz="1600" dirty="0">
                <a:solidFill>
                  <a:schemeClr val="accent3"/>
                </a:solidFill>
                <a:latin typeface="Consolas"/>
                <a:ea typeface="Consolas"/>
                <a:cs typeface="Consolas"/>
                <a:sym typeface="Consolas"/>
              </a:rPr>
            </a:br>
            <a:r>
              <a:rPr lang="en" sz="1600" dirty="0">
                <a:solidFill>
                  <a:schemeClr val="accent3"/>
                </a:solidFill>
                <a:latin typeface="Consolas"/>
                <a:ea typeface="Consolas"/>
                <a:cs typeface="Consolas"/>
                <a:sym typeface="Consolas"/>
              </a:rPr>
              <a:t>	distance[dst] = 0</a:t>
            </a:r>
            <a:br>
              <a:rPr lang="en" sz="1600" dirty="0">
                <a:solidFill>
                  <a:schemeClr val="accent3"/>
                </a:solidFill>
                <a:latin typeface="Consolas"/>
                <a:ea typeface="Consolas"/>
                <a:cs typeface="Consolas"/>
                <a:sym typeface="Consolas"/>
              </a:rPr>
            </a:br>
            <a:r>
              <a:rPr lang="en" sz="800" dirty="0">
                <a:latin typeface="Consolas"/>
                <a:ea typeface="Consolas"/>
                <a:cs typeface="Consolas"/>
                <a:sym typeface="Consolas"/>
              </a:rPr>
              <a:t> </a:t>
            </a:r>
            <a:br>
              <a:rPr lang="en" sz="1600" dirty="0">
                <a:latin typeface="Consolas"/>
                <a:ea typeface="Consolas"/>
                <a:cs typeface="Consolas"/>
                <a:sym typeface="Consolas"/>
              </a:rPr>
            </a:br>
            <a:r>
              <a:rPr lang="en" sz="1600" dirty="0">
                <a:solidFill>
                  <a:srgbClr val="38761D"/>
                </a:solidFill>
                <a:latin typeface="Consolas"/>
                <a:ea typeface="Consolas"/>
                <a:cs typeface="Consolas"/>
                <a:sym typeface="Consolas"/>
              </a:rPr>
              <a:t>	for _ in range(len(routers)-1):</a:t>
            </a:r>
            <a:br>
              <a:rPr lang="en" sz="1600" dirty="0">
                <a:solidFill>
                  <a:srgbClr val="38761D"/>
                </a:solidFill>
                <a:latin typeface="Consolas"/>
                <a:ea typeface="Consolas"/>
                <a:cs typeface="Consolas"/>
                <a:sym typeface="Consolas"/>
              </a:rPr>
            </a:br>
            <a:r>
              <a:rPr lang="en" sz="1600" dirty="0">
                <a:solidFill>
                  <a:srgbClr val="38761D"/>
                </a:solidFill>
                <a:latin typeface="Consolas"/>
                <a:ea typeface="Consolas"/>
                <a:cs typeface="Consolas"/>
                <a:sym typeface="Consolas"/>
              </a:rPr>
              <a:t>		for (r1, r2, linkcost) in links:</a:t>
            </a:r>
            <a:endParaRPr sz="1600" dirty="0">
              <a:solidFill>
                <a:srgbClr val="38761D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800" dirty="0">
                <a:latin typeface="Consolas"/>
                <a:ea typeface="Consolas"/>
                <a:cs typeface="Consolas"/>
                <a:sym typeface="Consolas"/>
              </a:rPr>
              <a:t> </a:t>
            </a:r>
            <a:br>
              <a:rPr lang="en" sz="1600" dirty="0">
                <a:latin typeface="Consolas"/>
                <a:ea typeface="Consolas"/>
                <a:cs typeface="Consolas"/>
                <a:sym typeface="Consolas"/>
              </a:rPr>
            </a:br>
            <a:r>
              <a:rPr lang="en" sz="1600" dirty="0">
                <a:solidFill>
                  <a:schemeClr val="accent2"/>
                </a:solidFill>
                <a:latin typeface="Consolas"/>
                <a:ea typeface="Consolas"/>
                <a:cs typeface="Consolas"/>
                <a:sym typeface="Consolas"/>
              </a:rPr>
              <a:t>		if distance[r1] + linkcost &lt; distance[r2]:</a:t>
            </a:r>
            <a:br>
              <a:rPr lang="en" sz="1600" dirty="0">
                <a:solidFill>
                  <a:schemeClr val="accent2"/>
                </a:solidFill>
                <a:latin typeface="Consolas"/>
                <a:ea typeface="Consolas"/>
                <a:cs typeface="Consolas"/>
                <a:sym typeface="Consolas"/>
              </a:rPr>
            </a:br>
            <a:r>
              <a:rPr lang="en" sz="1600" dirty="0">
                <a:solidFill>
                  <a:schemeClr val="accent2"/>
                </a:solidFill>
                <a:latin typeface="Consolas"/>
                <a:ea typeface="Consolas"/>
                <a:cs typeface="Consolas"/>
                <a:sym typeface="Consolas"/>
              </a:rPr>
              <a:t>		      distance[r2] = distance[r1] + linkcost</a:t>
            </a:r>
            <a:br>
              <a:rPr lang="en" sz="1600" dirty="0">
                <a:solidFill>
                  <a:schemeClr val="accent2"/>
                </a:solidFill>
                <a:latin typeface="Consolas"/>
                <a:ea typeface="Consolas"/>
                <a:cs typeface="Consolas"/>
                <a:sym typeface="Consolas"/>
              </a:rPr>
            </a:br>
            <a:r>
              <a:rPr lang="en" sz="1600" dirty="0">
                <a:solidFill>
                  <a:schemeClr val="accent2"/>
                </a:solidFill>
                <a:latin typeface="Consolas"/>
                <a:ea typeface="Consolas"/>
                <a:cs typeface="Consolas"/>
                <a:sym typeface="Consolas"/>
              </a:rPr>
              <a:t>		      nexthop[r2] = r1</a:t>
            </a:r>
            <a:endParaRPr sz="1600" dirty="0">
              <a:solidFill>
                <a:schemeClr val="accent2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800" dirty="0">
                <a:latin typeface="Consolas"/>
                <a:ea typeface="Consolas"/>
                <a:cs typeface="Consolas"/>
                <a:sym typeface="Consolas"/>
              </a:rPr>
              <a:t> </a:t>
            </a:r>
            <a:br>
              <a:rPr lang="en" sz="1600" dirty="0">
                <a:latin typeface="Consolas"/>
                <a:ea typeface="Consolas"/>
                <a:cs typeface="Consolas"/>
                <a:sym typeface="Consolas"/>
              </a:rPr>
            </a:br>
            <a:r>
              <a:rPr lang="en" sz="1600" dirty="0">
                <a:latin typeface="Consolas"/>
                <a:ea typeface="Consolas"/>
                <a:cs typeface="Consolas"/>
                <a:sym typeface="Consolas"/>
              </a:rPr>
              <a:t>	return distance, nexthop</a:t>
            </a:r>
            <a:endParaRPr sz="1600" dirty="0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741" name="Google Shape;741;p45"/>
          <p:cNvSpPr/>
          <p:nvPr/>
        </p:nvSpPr>
        <p:spPr>
          <a:xfrm>
            <a:off x="964448" y="1338950"/>
            <a:ext cx="3600000" cy="1435200"/>
          </a:xfrm>
          <a:prstGeom prst="roundRect">
            <a:avLst>
              <a:gd name="adj" fmla="val 9435"/>
            </a:avLst>
          </a:prstGeom>
          <a:noFill/>
          <a:ln w="9525" cap="flat" cmpd="sng">
            <a:solidFill>
              <a:schemeClr val="accent3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742" name="Google Shape;742;p45"/>
          <p:cNvSpPr txBox="1"/>
          <p:nvPr/>
        </p:nvSpPr>
        <p:spPr>
          <a:xfrm>
            <a:off x="4896550" y="1169437"/>
            <a:ext cx="4020000" cy="486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27425" tIns="27425" rIns="27425" bIns="27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>
                <a:solidFill>
                  <a:schemeClr val="accent3"/>
                </a:solidFill>
                <a:latin typeface="Roboto"/>
                <a:ea typeface="Roboto"/>
                <a:cs typeface="Roboto"/>
                <a:sym typeface="Roboto"/>
              </a:rPr>
              <a:t>Everyone starts infinity away from the destination, except for the destination itself (0 away).</a:t>
            </a:r>
            <a:endParaRPr dirty="0">
              <a:solidFill>
                <a:schemeClr val="accent3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743" name="Google Shape;743;p45"/>
          <p:cNvSpPr/>
          <p:nvPr/>
        </p:nvSpPr>
        <p:spPr>
          <a:xfrm>
            <a:off x="1999150" y="3387510"/>
            <a:ext cx="4907400" cy="824400"/>
          </a:xfrm>
          <a:prstGeom prst="roundRect">
            <a:avLst>
              <a:gd name="adj" fmla="val 9435"/>
            </a:avLst>
          </a:prstGeom>
          <a:noFill/>
          <a:ln w="9525" cap="flat" cmpd="sng">
            <a:solidFill>
              <a:schemeClr val="accent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744" name="Google Shape;744;p45"/>
          <p:cNvSpPr txBox="1"/>
          <p:nvPr/>
        </p:nvSpPr>
        <p:spPr>
          <a:xfrm>
            <a:off x="6016322" y="3094295"/>
            <a:ext cx="2028000" cy="270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27425" tIns="27425" rIns="27425" bIns="27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>
                <a:solidFill>
                  <a:schemeClr val="accent2"/>
                </a:solidFill>
                <a:latin typeface="Roboto"/>
                <a:ea typeface="Roboto"/>
                <a:cs typeface="Roboto"/>
                <a:sym typeface="Roboto"/>
              </a:rPr>
              <a:t>The relaxation operation.</a:t>
            </a:r>
            <a:endParaRPr dirty="0">
              <a:solidFill>
                <a:schemeClr val="accent2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745" name="Google Shape;745;p45"/>
          <p:cNvSpPr/>
          <p:nvPr/>
        </p:nvSpPr>
        <p:spPr>
          <a:xfrm>
            <a:off x="1099678" y="2818780"/>
            <a:ext cx="4490799" cy="524100"/>
          </a:xfrm>
          <a:prstGeom prst="roundRect">
            <a:avLst>
              <a:gd name="adj" fmla="val 9435"/>
            </a:avLst>
          </a:prstGeom>
          <a:noFill/>
          <a:ln w="9525" cap="flat" cmpd="sng">
            <a:solidFill>
              <a:srgbClr val="38761D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746" name="Google Shape;746;p45"/>
          <p:cNvSpPr txBox="1"/>
          <p:nvPr/>
        </p:nvSpPr>
        <p:spPr>
          <a:xfrm>
            <a:off x="4896550" y="1728650"/>
            <a:ext cx="3915300" cy="82995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27425" tIns="27425" rIns="27425" bIns="27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altLang="zh-CN" dirty="0">
                <a:solidFill>
                  <a:srgbClr val="38761D"/>
                </a:solidFill>
                <a:latin typeface="Roboto"/>
                <a:ea typeface="Roboto"/>
                <a:cs typeface="Roboto"/>
                <a:sym typeface="Roboto"/>
              </a:rPr>
              <a:t>L</a:t>
            </a:r>
            <a:r>
              <a:rPr lang="en" dirty="0">
                <a:solidFill>
                  <a:srgbClr val="38761D"/>
                </a:solidFill>
                <a:latin typeface="Roboto"/>
                <a:ea typeface="Roboto"/>
                <a:cs typeface="Roboto"/>
                <a:sym typeface="Roboto"/>
              </a:rPr>
              <a:t>oop through nodes and relaxes repeatedly. </a:t>
            </a:r>
            <a:endParaRPr dirty="0">
              <a:solidFill>
                <a:srgbClr val="38761D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0" lvl="0" indent="0" algn="l" rtl="0">
              <a:spcBef>
                <a:spcPts val="1000"/>
              </a:spcBef>
              <a:spcAft>
                <a:spcPts val="0"/>
              </a:spcAft>
              <a:buNone/>
            </a:pPr>
            <a:r>
              <a:rPr lang="en" dirty="0">
                <a:solidFill>
                  <a:srgbClr val="38761D"/>
                </a:solidFill>
                <a:latin typeface="Roboto"/>
                <a:ea typeface="Roboto"/>
                <a:cs typeface="Roboto"/>
                <a:sym typeface="Roboto"/>
              </a:rPr>
              <a:t>In distance-vector, each router relaxes in parallel, with both directions as links between routers.</a:t>
            </a:r>
            <a:endParaRPr dirty="0">
              <a:solidFill>
                <a:srgbClr val="38761D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D2357E2E-290C-E42A-8430-735FCA13AB7B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 smtClean="0"/>
              <a:t>21</a:t>
            </a:fld>
            <a:endParaRPr lang="en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7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1" name="Google Shape;751;p46"/>
          <p:cNvSpPr txBox="1">
            <a:spLocks noGrp="1"/>
          </p:cNvSpPr>
          <p:nvPr>
            <p:ph type="body" idx="1"/>
          </p:nvPr>
        </p:nvSpPr>
        <p:spPr>
          <a:xfrm>
            <a:off x="4812375" y="402200"/>
            <a:ext cx="4038000" cy="42609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" b="1" dirty="0">
                <a:solidFill>
                  <a:schemeClr val="accent3"/>
                </a:solidFill>
                <a:latin typeface="Roboto"/>
                <a:ea typeface="Roboto"/>
                <a:cs typeface="Roboto"/>
                <a:sym typeface="Roboto"/>
              </a:rPr>
              <a:t>Distance-Vector Correctness</a:t>
            </a:r>
            <a:endParaRPr b="1" dirty="0">
              <a:solidFill>
                <a:schemeClr val="accent3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457200" lvl="0" indent="-342900" algn="l" rtl="0">
              <a:spcBef>
                <a:spcPts val="600"/>
              </a:spcBef>
              <a:spcAft>
                <a:spcPts val="0"/>
              </a:spcAft>
              <a:buClr>
                <a:srgbClr val="B7B7B7"/>
              </a:buClr>
              <a:buSzPts val="1800"/>
              <a:buChar char="•"/>
            </a:pPr>
            <a:r>
              <a:rPr lang="en" dirty="0">
                <a:solidFill>
                  <a:srgbClr val="B7B7B7"/>
                </a:solidFill>
              </a:rPr>
              <a:t>Algorithm Sketch</a:t>
            </a:r>
            <a:endParaRPr dirty="0">
              <a:solidFill>
                <a:srgbClr val="B7B7B7"/>
              </a:solidFill>
            </a:endParaRPr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Clr>
                <a:srgbClr val="B7B7B7"/>
              </a:buClr>
              <a:buSzPts val="1800"/>
              <a:buChar char="•"/>
            </a:pPr>
            <a:r>
              <a:rPr lang="en" dirty="0">
                <a:solidFill>
                  <a:srgbClr val="B7B7B7"/>
                </a:solidFill>
              </a:rPr>
              <a:t>Rule 1: Bellman-Ford Updates</a:t>
            </a:r>
            <a:endParaRPr dirty="0">
              <a:solidFill>
                <a:srgbClr val="B7B7B7"/>
              </a:solidFill>
            </a:endParaRPr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800"/>
              <a:buFont typeface="Roboto"/>
              <a:buChar char="•"/>
            </a:pPr>
            <a:r>
              <a:rPr lang="en" b="1" dirty="0">
                <a:solidFill>
                  <a:schemeClr val="accent3"/>
                </a:solidFill>
                <a:latin typeface="Roboto"/>
                <a:ea typeface="Roboto"/>
                <a:cs typeface="Roboto"/>
                <a:sym typeface="Roboto"/>
              </a:rPr>
              <a:t>Bellman-Ford Demo</a:t>
            </a:r>
            <a:endParaRPr b="1" dirty="0">
              <a:solidFill>
                <a:schemeClr val="accent3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Clr>
                <a:srgbClr val="B7B7B7"/>
              </a:buClr>
              <a:buSzPts val="1800"/>
              <a:buChar char="•"/>
            </a:pPr>
            <a:r>
              <a:rPr lang="en" dirty="0">
                <a:solidFill>
                  <a:srgbClr val="B7B7B7"/>
                </a:solidFill>
              </a:rPr>
              <a:t>Rule 2: Updates From Next-Hop</a:t>
            </a:r>
            <a:endParaRPr dirty="0">
              <a:solidFill>
                <a:srgbClr val="B7B7B7"/>
              </a:solidFill>
            </a:endParaRPr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Clr>
                <a:srgbClr val="B7B7B7"/>
              </a:buClr>
              <a:buSzPts val="1800"/>
              <a:buChar char="•"/>
            </a:pPr>
            <a:r>
              <a:rPr lang="en" dirty="0">
                <a:solidFill>
                  <a:srgbClr val="B7B7B7"/>
                </a:solidFill>
              </a:rPr>
              <a:t>Rule 3: Resending</a:t>
            </a:r>
            <a:endParaRPr dirty="0">
              <a:solidFill>
                <a:srgbClr val="B7B7B7"/>
              </a:solidFill>
            </a:endParaRPr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Clr>
                <a:srgbClr val="B7B7B7"/>
              </a:buClr>
              <a:buSzPts val="1800"/>
              <a:buChar char="•"/>
            </a:pPr>
            <a:r>
              <a:rPr lang="en" dirty="0">
                <a:solidFill>
                  <a:srgbClr val="B7B7B7"/>
                </a:solidFill>
              </a:rPr>
              <a:t>Rule 4: Expiring</a:t>
            </a:r>
            <a:endParaRPr dirty="0">
              <a:solidFill>
                <a:srgbClr val="B7B7B7"/>
              </a:solidFill>
            </a:endParaRPr>
          </a:p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" dirty="0">
                <a:solidFill>
                  <a:srgbClr val="B7B7B7"/>
                </a:solidFill>
              </a:rPr>
              <a:t>Distance-Vector Enhancements</a:t>
            </a:r>
            <a:endParaRPr dirty="0">
              <a:solidFill>
                <a:srgbClr val="B7B7B7"/>
              </a:solidFill>
            </a:endParaRPr>
          </a:p>
          <a:p>
            <a:pPr marL="457200" lvl="0" indent="-342900" algn="l" rtl="0">
              <a:spcBef>
                <a:spcPts val="600"/>
              </a:spcBef>
              <a:spcAft>
                <a:spcPts val="0"/>
              </a:spcAft>
              <a:buClr>
                <a:srgbClr val="B7B7B7"/>
              </a:buClr>
              <a:buSzPts val="1800"/>
              <a:buChar char="•"/>
            </a:pPr>
            <a:r>
              <a:rPr lang="en" dirty="0">
                <a:solidFill>
                  <a:srgbClr val="B7B7B7"/>
                </a:solidFill>
              </a:rPr>
              <a:t>Rule 5: Poison Expired Routes</a:t>
            </a:r>
            <a:endParaRPr dirty="0">
              <a:solidFill>
                <a:srgbClr val="B7B7B7"/>
              </a:solidFill>
            </a:endParaRPr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Clr>
                <a:srgbClr val="B7B7B7"/>
              </a:buClr>
              <a:buSzPts val="1800"/>
              <a:buChar char="•"/>
            </a:pPr>
            <a:r>
              <a:rPr lang="en" dirty="0">
                <a:solidFill>
                  <a:srgbClr val="B7B7B7"/>
                </a:solidFill>
              </a:rPr>
              <a:t>Rule 6A: Split Horizon</a:t>
            </a:r>
            <a:endParaRPr dirty="0">
              <a:solidFill>
                <a:srgbClr val="B7B7B7"/>
              </a:solidFill>
            </a:endParaRPr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Clr>
                <a:srgbClr val="B7B7B7"/>
              </a:buClr>
              <a:buSzPts val="1800"/>
              <a:buChar char="•"/>
            </a:pPr>
            <a:r>
              <a:rPr lang="en" dirty="0">
                <a:solidFill>
                  <a:srgbClr val="B7B7B7"/>
                </a:solidFill>
              </a:rPr>
              <a:t>Rule 6B: Poison Reverse</a:t>
            </a:r>
            <a:endParaRPr dirty="0">
              <a:solidFill>
                <a:srgbClr val="B7B7B7"/>
              </a:solidFill>
            </a:endParaRPr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Clr>
                <a:srgbClr val="B7B7B7"/>
              </a:buClr>
              <a:buSzPts val="1800"/>
              <a:buChar char="•"/>
            </a:pPr>
            <a:r>
              <a:rPr lang="en" dirty="0">
                <a:solidFill>
                  <a:srgbClr val="B7B7B7"/>
                </a:solidFill>
              </a:rPr>
              <a:t>Rule 7: Count To Infinity</a:t>
            </a:r>
            <a:endParaRPr dirty="0">
              <a:solidFill>
                <a:srgbClr val="B7B7B7"/>
              </a:solidFill>
            </a:endParaRPr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Clr>
                <a:srgbClr val="B7B7B7"/>
              </a:buClr>
              <a:buSzPts val="1800"/>
              <a:buChar char="•"/>
            </a:pPr>
            <a:r>
              <a:rPr lang="en" dirty="0">
                <a:solidFill>
                  <a:srgbClr val="B7B7B7"/>
                </a:solidFill>
              </a:rPr>
              <a:t>Eventful Updates</a:t>
            </a:r>
            <a:endParaRPr dirty="0">
              <a:solidFill>
                <a:srgbClr val="B7B7B7"/>
              </a:solidFill>
            </a:endParaRPr>
          </a:p>
        </p:txBody>
      </p:sp>
      <p:sp>
        <p:nvSpPr>
          <p:cNvPr id="752" name="Google Shape;752;p46"/>
          <p:cNvSpPr txBox="1">
            <a:spLocks noGrp="1"/>
          </p:cNvSpPr>
          <p:nvPr>
            <p:ph type="title"/>
          </p:nvPr>
        </p:nvSpPr>
        <p:spPr>
          <a:xfrm>
            <a:off x="177925" y="2003300"/>
            <a:ext cx="4038000" cy="20379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Bellman-Ford Demo</a:t>
            </a:r>
            <a:endParaRPr/>
          </a:p>
        </p:txBody>
      </p:sp>
      <p:sp>
        <p:nvSpPr>
          <p:cNvPr id="753" name="Google Shape;753;p46"/>
          <p:cNvSpPr txBox="1">
            <a:spLocks noGrp="1"/>
          </p:cNvSpPr>
          <p:nvPr>
            <p:ph type="subTitle" idx="2"/>
          </p:nvPr>
        </p:nvSpPr>
        <p:spPr>
          <a:xfrm>
            <a:off x="177925" y="4068000"/>
            <a:ext cx="41580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-US" dirty="0"/>
              <a:t>Lecture 5.2, Spring 2026</a:t>
            </a:r>
            <a:endParaRPr dirty="0"/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50BC9227-B26D-F460-CDDA-DE12AA70F5D8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 smtClean="0"/>
              <a:t>22</a:t>
            </a:fld>
            <a:endParaRPr lang="en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7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8" name="Google Shape;758;p47"/>
          <p:cNvSpPr txBox="1">
            <a:spLocks noGrp="1"/>
          </p:cNvSpPr>
          <p:nvPr>
            <p:ph type="title"/>
          </p:nvPr>
        </p:nvSpPr>
        <p:spPr>
          <a:xfrm>
            <a:off x="0" y="0"/>
            <a:ext cx="9144000" cy="39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The Distance-Vector Algorithm So Far</a:t>
            </a:r>
            <a:endParaRPr/>
          </a:p>
        </p:txBody>
      </p:sp>
      <p:sp>
        <p:nvSpPr>
          <p:cNvPr id="759" name="Google Shape;759;p47"/>
          <p:cNvSpPr txBox="1">
            <a:spLocks noGrp="1"/>
          </p:cNvSpPr>
          <p:nvPr>
            <p:ph type="body" idx="1"/>
          </p:nvPr>
        </p:nvSpPr>
        <p:spPr>
          <a:xfrm>
            <a:off x="107050" y="402200"/>
            <a:ext cx="8909700" cy="4530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">
                <a:solidFill>
                  <a:srgbClr val="000000"/>
                </a:solidFill>
              </a:rPr>
              <a:t>For each destination:</a:t>
            </a:r>
            <a:endParaRPr>
              <a:solidFill>
                <a:srgbClr val="000000"/>
              </a:solidFill>
            </a:endParaRPr>
          </a:p>
          <a:p>
            <a:pPr marL="457200" lvl="0" indent="-342900" algn="l" rtl="0">
              <a:spcBef>
                <a:spcPts val="600"/>
              </a:spcBef>
              <a:spcAft>
                <a:spcPts val="0"/>
              </a:spcAft>
              <a:buClr>
                <a:srgbClr val="000000"/>
              </a:buClr>
              <a:buSzPts val="1800"/>
              <a:buChar char="●"/>
            </a:pPr>
            <a:r>
              <a:rPr lang="en">
                <a:solidFill>
                  <a:srgbClr val="000000"/>
                </a:solidFill>
              </a:rPr>
              <a:t>If you hear </a:t>
            </a:r>
            <a:r>
              <a:rPr lang="en">
                <a:solidFill>
                  <a:schemeClr val="accent2"/>
                </a:solidFill>
              </a:rPr>
              <a:t>an advertisement</a:t>
            </a:r>
            <a:r>
              <a:rPr lang="en">
                <a:solidFill>
                  <a:srgbClr val="000000"/>
                </a:solidFill>
              </a:rPr>
              <a:t>, update table if:</a:t>
            </a:r>
            <a:endParaRPr>
              <a:solidFill>
                <a:srgbClr val="000000"/>
              </a:solidFill>
            </a:endParaRPr>
          </a:p>
          <a:p>
            <a:pPr marL="914400" lvl="1" indent="-34290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Char char="○"/>
            </a:pPr>
            <a:r>
              <a:rPr lang="en">
                <a:solidFill>
                  <a:srgbClr val="000000"/>
                </a:solidFill>
              </a:rPr>
              <a:t>The destination isn't in the table.</a:t>
            </a:r>
            <a:endParaRPr>
              <a:solidFill>
                <a:srgbClr val="000000"/>
              </a:solidFill>
            </a:endParaRPr>
          </a:p>
          <a:p>
            <a:pPr marL="914400" lvl="1" indent="-34290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Char char="○"/>
            </a:pPr>
            <a:r>
              <a:rPr lang="en"/>
              <a:t>Advertised cost + link cost to neighbor &lt; best-known cost.</a:t>
            </a:r>
            <a:r>
              <a:rPr lang="en">
                <a:solidFill>
                  <a:srgbClr val="000000"/>
                </a:solidFill>
              </a:rPr>
              <a:t> </a:t>
            </a:r>
            <a:r>
              <a:rPr lang="en" sz="1400">
                <a:solidFill>
                  <a:schemeClr val="accent3"/>
                </a:solidFill>
              </a:rPr>
              <a:t>(#1)</a:t>
            </a:r>
            <a:endParaRPr sz="1400">
              <a:solidFill>
                <a:schemeClr val="accent3"/>
              </a:solidFill>
            </a:endParaRPr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Char char="●"/>
            </a:pPr>
            <a:r>
              <a:rPr lang="en">
                <a:solidFill>
                  <a:srgbClr val="000000"/>
                </a:solidFill>
              </a:rPr>
              <a:t>Then, advertise to all your neighbors.</a:t>
            </a:r>
            <a:endParaRPr>
              <a:solidFill>
                <a:srgbClr val="000000"/>
              </a:solidFill>
            </a:endParaRPr>
          </a:p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endParaRPr>
              <a:solidFill>
                <a:srgbClr val="000000"/>
              </a:solidFill>
            </a:endParaRPr>
          </a:p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">
                <a:solidFill>
                  <a:srgbClr val="000000"/>
                </a:solidFill>
              </a:rPr>
              <a:t>Terminology note:</a:t>
            </a:r>
            <a:endParaRPr>
              <a:solidFill>
                <a:srgbClr val="000000"/>
              </a:solidFill>
            </a:endParaRPr>
          </a:p>
          <a:p>
            <a:pPr marL="457200" lvl="0" indent="-342900" algn="l" rtl="0">
              <a:spcBef>
                <a:spcPts val="600"/>
              </a:spcBef>
              <a:spcAft>
                <a:spcPts val="0"/>
              </a:spcAft>
              <a:buClr>
                <a:srgbClr val="000000"/>
              </a:buClr>
              <a:buSzPts val="1800"/>
              <a:buChar char="●"/>
            </a:pPr>
            <a:r>
              <a:rPr lang="en">
                <a:solidFill>
                  <a:srgbClr val="000000"/>
                </a:solidFill>
              </a:rPr>
              <a:t>Sending "I'm R1, and I can reach A with cost 5" is called </a:t>
            </a:r>
            <a:r>
              <a:rPr lang="en" b="1">
                <a:solidFill>
                  <a:srgbClr val="000000"/>
                </a:solidFill>
              </a:rPr>
              <a:t>announcing</a:t>
            </a:r>
            <a:r>
              <a:rPr lang="en">
                <a:solidFill>
                  <a:srgbClr val="000000"/>
                </a:solidFill>
              </a:rPr>
              <a:t> or</a:t>
            </a:r>
            <a:r>
              <a:rPr lang="en" b="1"/>
              <a:t> advertising</a:t>
            </a:r>
            <a:r>
              <a:rPr lang="en"/>
              <a:t> a route. </a:t>
            </a:r>
            <a:endParaRPr/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135DD7F8-9B88-3A37-80D9-1E9F4A08D6FC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 smtClean="0"/>
              <a:t>23</a:t>
            </a:fld>
            <a:endParaRPr lang="en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7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64" name="Google Shape;764;p48"/>
          <p:cNvSpPr txBox="1">
            <a:spLocks noGrp="1"/>
          </p:cNvSpPr>
          <p:nvPr>
            <p:ph type="title"/>
          </p:nvPr>
        </p:nvSpPr>
        <p:spPr>
          <a:xfrm>
            <a:off x="0" y="0"/>
            <a:ext cx="9144000" cy="39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Bellman-Ford Demo</a:t>
            </a:r>
            <a:endParaRPr/>
          </a:p>
        </p:txBody>
      </p:sp>
      <p:sp>
        <p:nvSpPr>
          <p:cNvPr id="765" name="Google Shape;765;p48"/>
          <p:cNvSpPr/>
          <p:nvPr/>
        </p:nvSpPr>
        <p:spPr>
          <a:xfrm>
            <a:off x="2715000" y="2877700"/>
            <a:ext cx="285000" cy="285000"/>
          </a:xfrm>
          <a:prstGeom prst="rect">
            <a:avLst/>
          </a:prstGeom>
          <a:solidFill>
            <a:srgbClr val="FFFFFF"/>
          </a:solidFill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R1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766" name="Google Shape;766;p48"/>
          <p:cNvSpPr/>
          <p:nvPr/>
        </p:nvSpPr>
        <p:spPr>
          <a:xfrm>
            <a:off x="657588" y="2877700"/>
            <a:ext cx="285000" cy="285000"/>
          </a:xfrm>
          <a:prstGeom prst="ellipse">
            <a:avLst/>
          </a:prstGeom>
          <a:solidFill>
            <a:srgbClr val="FFFFFF"/>
          </a:solidFill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A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767" name="Google Shape;767;p48"/>
          <p:cNvCxnSpPr>
            <a:stCxn id="766" idx="6"/>
            <a:endCxn id="765" idx="1"/>
          </p:cNvCxnSpPr>
          <p:nvPr/>
        </p:nvCxnSpPr>
        <p:spPr>
          <a:xfrm>
            <a:off x="942588" y="3020200"/>
            <a:ext cx="1772400" cy="0"/>
          </a:xfrm>
          <a:prstGeom prst="straightConnector1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768" name="Google Shape;768;p48"/>
          <p:cNvSpPr/>
          <p:nvPr/>
        </p:nvSpPr>
        <p:spPr>
          <a:xfrm>
            <a:off x="4772400" y="2877700"/>
            <a:ext cx="285000" cy="285000"/>
          </a:xfrm>
          <a:prstGeom prst="rect">
            <a:avLst/>
          </a:prstGeom>
          <a:solidFill>
            <a:srgbClr val="FFFFFF"/>
          </a:solidFill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R2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769" name="Google Shape;769;p48"/>
          <p:cNvCxnSpPr>
            <a:stCxn id="765" idx="3"/>
            <a:endCxn id="768" idx="1"/>
          </p:cNvCxnSpPr>
          <p:nvPr/>
        </p:nvCxnSpPr>
        <p:spPr>
          <a:xfrm>
            <a:off x="3000000" y="3020200"/>
            <a:ext cx="1772400" cy="0"/>
          </a:xfrm>
          <a:prstGeom prst="straightConnector1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770" name="Google Shape;770;p48"/>
          <p:cNvSpPr/>
          <p:nvPr/>
        </p:nvSpPr>
        <p:spPr>
          <a:xfrm>
            <a:off x="6829800" y="2877700"/>
            <a:ext cx="285000" cy="285000"/>
          </a:xfrm>
          <a:prstGeom prst="rect">
            <a:avLst/>
          </a:prstGeom>
          <a:solidFill>
            <a:srgbClr val="FFFFFF"/>
          </a:solidFill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R3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771" name="Google Shape;771;p48"/>
          <p:cNvCxnSpPr>
            <a:stCxn id="768" idx="3"/>
            <a:endCxn id="770" idx="1"/>
          </p:cNvCxnSpPr>
          <p:nvPr/>
        </p:nvCxnSpPr>
        <p:spPr>
          <a:xfrm>
            <a:off x="5057400" y="3020200"/>
            <a:ext cx="1772400" cy="0"/>
          </a:xfrm>
          <a:prstGeom prst="straightConnector1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med" len="med"/>
            <a:tailEnd type="none" w="med" len="med"/>
          </a:ln>
        </p:spPr>
      </p:cxnSp>
      <p:graphicFrame>
        <p:nvGraphicFramePr>
          <p:cNvPr id="772" name="Google Shape;772;p48"/>
          <p:cNvGraphicFramePr/>
          <p:nvPr/>
        </p:nvGraphicFramePr>
        <p:xfrm>
          <a:off x="1939744" y="3394450"/>
          <a:ext cx="1835500" cy="688770"/>
        </p:xfrm>
        <a:graphic>
          <a:graphicData uri="http://schemas.openxmlformats.org/drawingml/2006/table">
            <a:tbl>
              <a:tblPr>
                <a:noFill/>
                <a:tableStyleId>{9827013E-C202-4D27-A2D1-B1A861925892}</a:tableStyleId>
              </a:tblPr>
              <a:tblGrid>
                <a:gridCol w="5448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9707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79362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121925">
                <a:tc gridSpan="3"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latin typeface="Roboto"/>
                          <a:ea typeface="Roboto"/>
                          <a:cs typeface="Roboto"/>
                          <a:sym typeface="Roboto"/>
                        </a:rPr>
                        <a:t>R1's Table</a:t>
                      </a:r>
                      <a:endParaRPr sz="12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21925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latin typeface="Roboto"/>
                          <a:ea typeface="Roboto"/>
                          <a:cs typeface="Roboto"/>
                          <a:sym typeface="Roboto"/>
                        </a:rPr>
                        <a:t>To:</a:t>
                      </a:r>
                      <a:endParaRPr sz="12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/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latin typeface="Roboto"/>
                          <a:ea typeface="Roboto"/>
                          <a:cs typeface="Roboto"/>
                          <a:sym typeface="Roboto"/>
                        </a:rPr>
                        <a:t>Via:</a:t>
                      </a:r>
                      <a:endParaRPr sz="12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/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latin typeface="Roboto"/>
                          <a:ea typeface="Roboto"/>
                          <a:cs typeface="Roboto"/>
                          <a:sym typeface="Roboto"/>
                        </a:rPr>
                        <a:t>Cost:</a:t>
                      </a:r>
                      <a:endParaRPr sz="12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21925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/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b="1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/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</a:tbl>
          </a:graphicData>
        </a:graphic>
      </p:graphicFrame>
      <p:graphicFrame>
        <p:nvGraphicFramePr>
          <p:cNvPr id="773" name="Google Shape;773;p48"/>
          <p:cNvGraphicFramePr/>
          <p:nvPr/>
        </p:nvGraphicFramePr>
        <p:xfrm>
          <a:off x="3997144" y="3394450"/>
          <a:ext cx="1835500" cy="688770"/>
        </p:xfrm>
        <a:graphic>
          <a:graphicData uri="http://schemas.openxmlformats.org/drawingml/2006/table">
            <a:tbl>
              <a:tblPr>
                <a:noFill/>
                <a:tableStyleId>{9827013E-C202-4D27-A2D1-B1A861925892}</a:tableStyleId>
              </a:tblPr>
              <a:tblGrid>
                <a:gridCol w="5448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9707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79362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121925">
                <a:tc gridSpan="3"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latin typeface="Roboto"/>
                          <a:ea typeface="Roboto"/>
                          <a:cs typeface="Roboto"/>
                          <a:sym typeface="Roboto"/>
                        </a:rPr>
                        <a:t>R2's Table</a:t>
                      </a:r>
                      <a:endParaRPr sz="12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21925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latin typeface="Roboto"/>
                          <a:ea typeface="Roboto"/>
                          <a:cs typeface="Roboto"/>
                          <a:sym typeface="Roboto"/>
                        </a:rPr>
                        <a:t>To:</a:t>
                      </a:r>
                      <a:endParaRPr sz="12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/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latin typeface="Roboto"/>
                          <a:ea typeface="Roboto"/>
                          <a:cs typeface="Roboto"/>
                          <a:sym typeface="Roboto"/>
                        </a:rPr>
                        <a:t>Via:</a:t>
                      </a:r>
                      <a:endParaRPr sz="12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/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latin typeface="Roboto"/>
                          <a:ea typeface="Roboto"/>
                          <a:cs typeface="Roboto"/>
                          <a:sym typeface="Roboto"/>
                        </a:rPr>
                        <a:t>Cost:</a:t>
                      </a:r>
                      <a:endParaRPr sz="12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21925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/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b="1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/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</a:tbl>
          </a:graphicData>
        </a:graphic>
      </p:graphicFrame>
      <p:graphicFrame>
        <p:nvGraphicFramePr>
          <p:cNvPr id="774" name="Google Shape;774;p48"/>
          <p:cNvGraphicFramePr/>
          <p:nvPr/>
        </p:nvGraphicFramePr>
        <p:xfrm>
          <a:off x="6054544" y="3394450"/>
          <a:ext cx="1835500" cy="688770"/>
        </p:xfrm>
        <a:graphic>
          <a:graphicData uri="http://schemas.openxmlformats.org/drawingml/2006/table">
            <a:tbl>
              <a:tblPr>
                <a:noFill/>
                <a:tableStyleId>{9827013E-C202-4D27-A2D1-B1A861925892}</a:tableStyleId>
              </a:tblPr>
              <a:tblGrid>
                <a:gridCol w="5448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9707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79362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121925">
                <a:tc gridSpan="3"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latin typeface="Roboto"/>
                          <a:ea typeface="Roboto"/>
                          <a:cs typeface="Roboto"/>
                          <a:sym typeface="Roboto"/>
                        </a:rPr>
                        <a:t>R3's Table</a:t>
                      </a:r>
                      <a:endParaRPr sz="12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21925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latin typeface="Roboto"/>
                          <a:ea typeface="Roboto"/>
                          <a:cs typeface="Roboto"/>
                          <a:sym typeface="Roboto"/>
                        </a:rPr>
                        <a:t>To:</a:t>
                      </a:r>
                      <a:endParaRPr sz="12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/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latin typeface="Roboto"/>
                          <a:ea typeface="Roboto"/>
                          <a:cs typeface="Roboto"/>
                          <a:sym typeface="Roboto"/>
                        </a:rPr>
                        <a:t>Via:</a:t>
                      </a:r>
                      <a:endParaRPr sz="12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/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latin typeface="Roboto"/>
                          <a:ea typeface="Roboto"/>
                          <a:cs typeface="Roboto"/>
                          <a:sym typeface="Roboto"/>
                        </a:rPr>
                        <a:t>Cost:</a:t>
                      </a:r>
                      <a:endParaRPr sz="12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21925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/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b="1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/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</a:tbl>
          </a:graphicData>
        </a:graphic>
      </p:graphicFrame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7A53E33D-4F1F-C59E-45E1-6DD3E689BC57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 smtClean="0"/>
              <a:t>24</a:t>
            </a:fld>
            <a:endParaRPr lang="en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7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79" name="Google Shape;779;p49"/>
          <p:cNvSpPr txBox="1">
            <a:spLocks noGrp="1"/>
          </p:cNvSpPr>
          <p:nvPr>
            <p:ph type="title"/>
          </p:nvPr>
        </p:nvSpPr>
        <p:spPr>
          <a:xfrm>
            <a:off x="0" y="0"/>
            <a:ext cx="9144000" cy="39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Bellman-Ford Demo</a:t>
            </a:r>
            <a:endParaRPr/>
          </a:p>
        </p:txBody>
      </p:sp>
      <p:sp>
        <p:nvSpPr>
          <p:cNvPr id="780" name="Google Shape;780;p49"/>
          <p:cNvSpPr/>
          <p:nvPr/>
        </p:nvSpPr>
        <p:spPr>
          <a:xfrm>
            <a:off x="2715000" y="2877700"/>
            <a:ext cx="285000" cy="285000"/>
          </a:xfrm>
          <a:prstGeom prst="rect">
            <a:avLst/>
          </a:prstGeom>
          <a:solidFill>
            <a:srgbClr val="FFFFFF"/>
          </a:solidFill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R1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781" name="Google Shape;781;p49"/>
          <p:cNvSpPr/>
          <p:nvPr/>
        </p:nvSpPr>
        <p:spPr>
          <a:xfrm>
            <a:off x="657588" y="2877700"/>
            <a:ext cx="285000" cy="285000"/>
          </a:xfrm>
          <a:prstGeom prst="ellipse">
            <a:avLst/>
          </a:prstGeom>
          <a:solidFill>
            <a:srgbClr val="FFFFFF"/>
          </a:solidFill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A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782" name="Google Shape;782;p49"/>
          <p:cNvCxnSpPr>
            <a:stCxn id="781" idx="6"/>
            <a:endCxn id="780" idx="1"/>
          </p:cNvCxnSpPr>
          <p:nvPr/>
        </p:nvCxnSpPr>
        <p:spPr>
          <a:xfrm>
            <a:off x="942588" y="3020200"/>
            <a:ext cx="1772400" cy="0"/>
          </a:xfrm>
          <a:prstGeom prst="straightConnector1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783" name="Google Shape;783;p49"/>
          <p:cNvSpPr/>
          <p:nvPr/>
        </p:nvSpPr>
        <p:spPr>
          <a:xfrm>
            <a:off x="4772400" y="2877700"/>
            <a:ext cx="285000" cy="285000"/>
          </a:xfrm>
          <a:prstGeom prst="rect">
            <a:avLst/>
          </a:prstGeom>
          <a:solidFill>
            <a:srgbClr val="FFFFFF"/>
          </a:solidFill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R2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784" name="Google Shape;784;p49"/>
          <p:cNvCxnSpPr>
            <a:stCxn id="780" idx="3"/>
            <a:endCxn id="783" idx="1"/>
          </p:cNvCxnSpPr>
          <p:nvPr/>
        </p:nvCxnSpPr>
        <p:spPr>
          <a:xfrm>
            <a:off x="3000000" y="3020200"/>
            <a:ext cx="1772400" cy="0"/>
          </a:xfrm>
          <a:prstGeom prst="straightConnector1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785" name="Google Shape;785;p49"/>
          <p:cNvSpPr/>
          <p:nvPr/>
        </p:nvSpPr>
        <p:spPr>
          <a:xfrm>
            <a:off x="6829800" y="2877700"/>
            <a:ext cx="285000" cy="285000"/>
          </a:xfrm>
          <a:prstGeom prst="rect">
            <a:avLst/>
          </a:prstGeom>
          <a:solidFill>
            <a:srgbClr val="FFFFFF"/>
          </a:solidFill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R3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786" name="Google Shape;786;p49"/>
          <p:cNvCxnSpPr>
            <a:stCxn id="783" idx="3"/>
            <a:endCxn id="785" idx="1"/>
          </p:cNvCxnSpPr>
          <p:nvPr/>
        </p:nvCxnSpPr>
        <p:spPr>
          <a:xfrm>
            <a:off x="5057400" y="3020200"/>
            <a:ext cx="1772400" cy="0"/>
          </a:xfrm>
          <a:prstGeom prst="straightConnector1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med" len="med"/>
            <a:tailEnd type="none" w="med" len="med"/>
          </a:ln>
        </p:spPr>
      </p:cxnSp>
      <p:graphicFrame>
        <p:nvGraphicFramePr>
          <p:cNvPr id="787" name="Google Shape;787;p49"/>
          <p:cNvGraphicFramePr/>
          <p:nvPr/>
        </p:nvGraphicFramePr>
        <p:xfrm>
          <a:off x="1939744" y="3394450"/>
          <a:ext cx="1835500" cy="688770"/>
        </p:xfrm>
        <a:graphic>
          <a:graphicData uri="http://schemas.openxmlformats.org/drawingml/2006/table">
            <a:tbl>
              <a:tblPr>
                <a:noFill/>
                <a:tableStyleId>{9827013E-C202-4D27-A2D1-B1A861925892}</a:tableStyleId>
              </a:tblPr>
              <a:tblGrid>
                <a:gridCol w="5448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9707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79362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121925">
                <a:tc gridSpan="3"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latin typeface="Roboto"/>
                          <a:ea typeface="Roboto"/>
                          <a:cs typeface="Roboto"/>
                          <a:sym typeface="Roboto"/>
                        </a:rPr>
                        <a:t>R1's Table</a:t>
                      </a:r>
                      <a:endParaRPr sz="12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21925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latin typeface="Roboto"/>
                          <a:ea typeface="Roboto"/>
                          <a:cs typeface="Roboto"/>
                          <a:sym typeface="Roboto"/>
                        </a:rPr>
                        <a:t>To:</a:t>
                      </a:r>
                      <a:endParaRPr sz="12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/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latin typeface="Roboto"/>
                          <a:ea typeface="Roboto"/>
                          <a:cs typeface="Roboto"/>
                          <a:sym typeface="Roboto"/>
                        </a:rPr>
                        <a:t>Via:</a:t>
                      </a:r>
                      <a:endParaRPr sz="12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/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latin typeface="Roboto"/>
                          <a:ea typeface="Roboto"/>
                          <a:cs typeface="Roboto"/>
                          <a:sym typeface="Roboto"/>
                        </a:rPr>
                        <a:t>Cost:</a:t>
                      </a:r>
                      <a:endParaRPr sz="12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21925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latin typeface="Roboto"/>
                          <a:ea typeface="Roboto"/>
                          <a:cs typeface="Roboto"/>
                          <a:sym typeface="Roboto"/>
                        </a:rPr>
                        <a:t>A</a:t>
                      </a:r>
                      <a:endParaRPr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>
                    <a:solidFill>
                      <a:srgbClr val="F4CCCC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latin typeface="Roboto"/>
                          <a:ea typeface="Roboto"/>
                          <a:cs typeface="Roboto"/>
                          <a:sym typeface="Roboto"/>
                        </a:rPr>
                        <a:t>Direct</a:t>
                      </a:r>
                      <a:endParaRPr sz="12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>
                    <a:solidFill>
                      <a:srgbClr val="F4CCCC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latin typeface="Roboto"/>
                          <a:ea typeface="Roboto"/>
                          <a:cs typeface="Roboto"/>
                          <a:sym typeface="Roboto"/>
                        </a:rPr>
                        <a:t>1</a:t>
                      </a:r>
                      <a:endParaRPr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>
                    <a:solidFill>
                      <a:srgbClr val="F4CCC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</a:tbl>
          </a:graphicData>
        </a:graphic>
      </p:graphicFrame>
      <p:graphicFrame>
        <p:nvGraphicFramePr>
          <p:cNvPr id="788" name="Google Shape;788;p49"/>
          <p:cNvGraphicFramePr/>
          <p:nvPr/>
        </p:nvGraphicFramePr>
        <p:xfrm>
          <a:off x="3997144" y="3394450"/>
          <a:ext cx="1835500" cy="688770"/>
        </p:xfrm>
        <a:graphic>
          <a:graphicData uri="http://schemas.openxmlformats.org/drawingml/2006/table">
            <a:tbl>
              <a:tblPr>
                <a:noFill/>
                <a:tableStyleId>{9827013E-C202-4D27-A2D1-B1A861925892}</a:tableStyleId>
              </a:tblPr>
              <a:tblGrid>
                <a:gridCol w="5448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9707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79362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121925">
                <a:tc gridSpan="3"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latin typeface="Roboto"/>
                          <a:ea typeface="Roboto"/>
                          <a:cs typeface="Roboto"/>
                          <a:sym typeface="Roboto"/>
                        </a:rPr>
                        <a:t>R2's Table</a:t>
                      </a:r>
                      <a:endParaRPr sz="12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21925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latin typeface="Roboto"/>
                          <a:ea typeface="Roboto"/>
                          <a:cs typeface="Roboto"/>
                          <a:sym typeface="Roboto"/>
                        </a:rPr>
                        <a:t>To:</a:t>
                      </a:r>
                      <a:endParaRPr sz="12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/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latin typeface="Roboto"/>
                          <a:ea typeface="Roboto"/>
                          <a:cs typeface="Roboto"/>
                          <a:sym typeface="Roboto"/>
                        </a:rPr>
                        <a:t>Via:</a:t>
                      </a:r>
                      <a:endParaRPr sz="12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/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latin typeface="Roboto"/>
                          <a:ea typeface="Roboto"/>
                          <a:cs typeface="Roboto"/>
                          <a:sym typeface="Roboto"/>
                        </a:rPr>
                        <a:t>Cost:</a:t>
                      </a:r>
                      <a:endParaRPr sz="12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21925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/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b="1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/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</a:tbl>
          </a:graphicData>
        </a:graphic>
      </p:graphicFrame>
      <p:graphicFrame>
        <p:nvGraphicFramePr>
          <p:cNvPr id="789" name="Google Shape;789;p49"/>
          <p:cNvGraphicFramePr/>
          <p:nvPr/>
        </p:nvGraphicFramePr>
        <p:xfrm>
          <a:off x="6054544" y="3394450"/>
          <a:ext cx="1835500" cy="688770"/>
        </p:xfrm>
        <a:graphic>
          <a:graphicData uri="http://schemas.openxmlformats.org/drawingml/2006/table">
            <a:tbl>
              <a:tblPr>
                <a:noFill/>
                <a:tableStyleId>{9827013E-C202-4D27-A2D1-B1A861925892}</a:tableStyleId>
              </a:tblPr>
              <a:tblGrid>
                <a:gridCol w="5448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9707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79362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121925">
                <a:tc gridSpan="3"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latin typeface="Roboto"/>
                          <a:ea typeface="Roboto"/>
                          <a:cs typeface="Roboto"/>
                          <a:sym typeface="Roboto"/>
                        </a:rPr>
                        <a:t>R3's Table</a:t>
                      </a:r>
                      <a:endParaRPr sz="12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21925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latin typeface="Roboto"/>
                          <a:ea typeface="Roboto"/>
                          <a:cs typeface="Roboto"/>
                          <a:sym typeface="Roboto"/>
                        </a:rPr>
                        <a:t>To:</a:t>
                      </a:r>
                      <a:endParaRPr sz="12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/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latin typeface="Roboto"/>
                          <a:ea typeface="Roboto"/>
                          <a:cs typeface="Roboto"/>
                          <a:sym typeface="Roboto"/>
                        </a:rPr>
                        <a:t>Via:</a:t>
                      </a:r>
                      <a:endParaRPr sz="12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/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latin typeface="Roboto"/>
                          <a:ea typeface="Roboto"/>
                          <a:cs typeface="Roboto"/>
                          <a:sym typeface="Roboto"/>
                        </a:rPr>
                        <a:t>Cost:</a:t>
                      </a:r>
                      <a:endParaRPr sz="12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21925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/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b="1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/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</a:tbl>
          </a:graphicData>
        </a:graphic>
      </p:graphicFrame>
      <p:sp>
        <p:nvSpPr>
          <p:cNvPr id="790" name="Google Shape;790;p49"/>
          <p:cNvSpPr txBox="1"/>
          <p:nvPr/>
        </p:nvSpPr>
        <p:spPr>
          <a:xfrm>
            <a:off x="1848600" y="4266375"/>
            <a:ext cx="2017800" cy="702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27425" tIns="27425" rIns="27425" bIns="27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accent2"/>
                </a:solidFill>
                <a:latin typeface="Roboto"/>
                <a:ea typeface="Roboto"/>
                <a:cs typeface="Roboto"/>
                <a:sym typeface="Roboto"/>
              </a:rPr>
              <a:t>Static routing: Someone hard-codes R1's table to say it can reach A.</a:t>
            </a:r>
            <a:endParaRPr>
              <a:solidFill>
                <a:schemeClr val="accent2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3FDDDF46-DDDD-1A04-88CE-8423D094A602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 smtClean="0"/>
              <a:t>25</a:t>
            </a:fld>
            <a:endParaRPr lang="en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7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5" name="Google Shape;795;p50"/>
          <p:cNvSpPr txBox="1">
            <a:spLocks noGrp="1"/>
          </p:cNvSpPr>
          <p:nvPr>
            <p:ph type="title"/>
          </p:nvPr>
        </p:nvSpPr>
        <p:spPr>
          <a:xfrm>
            <a:off x="0" y="0"/>
            <a:ext cx="9144000" cy="39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Bellman-Ford Demo</a:t>
            </a:r>
            <a:endParaRPr/>
          </a:p>
        </p:txBody>
      </p:sp>
      <p:sp>
        <p:nvSpPr>
          <p:cNvPr id="796" name="Google Shape;796;p50"/>
          <p:cNvSpPr/>
          <p:nvPr/>
        </p:nvSpPr>
        <p:spPr>
          <a:xfrm>
            <a:off x="2715000" y="2877700"/>
            <a:ext cx="285000" cy="285000"/>
          </a:xfrm>
          <a:prstGeom prst="rect">
            <a:avLst/>
          </a:prstGeom>
          <a:solidFill>
            <a:srgbClr val="FFFFFF"/>
          </a:solidFill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R1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797" name="Google Shape;797;p50"/>
          <p:cNvSpPr/>
          <p:nvPr/>
        </p:nvSpPr>
        <p:spPr>
          <a:xfrm>
            <a:off x="657588" y="2877700"/>
            <a:ext cx="285000" cy="285000"/>
          </a:xfrm>
          <a:prstGeom prst="ellipse">
            <a:avLst/>
          </a:prstGeom>
          <a:solidFill>
            <a:srgbClr val="FFFFFF"/>
          </a:solidFill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A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798" name="Google Shape;798;p50"/>
          <p:cNvCxnSpPr>
            <a:stCxn id="797" idx="6"/>
            <a:endCxn id="796" idx="1"/>
          </p:cNvCxnSpPr>
          <p:nvPr/>
        </p:nvCxnSpPr>
        <p:spPr>
          <a:xfrm>
            <a:off x="942588" y="3020200"/>
            <a:ext cx="1772400" cy="0"/>
          </a:xfrm>
          <a:prstGeom prst="straightConnector1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799" name="Google Shape;799;p50"/>
          <p:cNvSpPr/>
          <p:nvPr/>
        </p:nvSpPr>
        <p:spPr>
          <a:xfrm>
            <a:off x="4772400" y="2877700"/>
            <a:ext cx="285000" cy="285000"/>
          </a:xfrm>
          <a:prstGeom prst="rect">
            <a:avLst/>
          </a:prstGeom>
          <a:solidFill>
            <a:srgbClr val="FFFFFF"/>
          </a:solidFill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R2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800" name="Google Shape;800;p50"/>
          <p:cNvCxnSpPr>
            <a:stCxn id="796" idx="3"/>
            <a:endCxn id="799" idx="1"/>
          </p:cNvCxnSpPr>
          <p:nvPr/>
        </p:nvCxnSpPr>
        <p:spPr>
          <a:xfrm>
            <a:off x="3000000" y="3020200"/>
            <a:ext cx="1772400" cy="0"/>
          </a:xfrm>
          <a:prstGeom prst="straightConnector1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801" name="Google Shape;801;p50"/>
          <p:cNvSpPr/>
          <p:nvPr/>
        </p:nvSpPr>
        <p:spPr>
          <a:xfrm>
            <a:off x="6829800" y="2877700"/>
            <a:ext cx="285000" cy="285000"/>
          </a:xfrm>
          <a:prstGeom prst="rect">
            <a:avLst/>
          </a:prstGeom>
          <a:solidFill>
            <a:srgbClr val="FFFFFF"/>
          </a:solidFill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R3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802" name="Google Shape;802;p50"/>
          <p:cNvCxnSpPr>
            <a:stCxn id="799" idx="3"/>
            <a:endCxn id="801" idx="1"/>
          </p:cNvCxnSpPr>
          <p:nvPr/>
        </p:nvCxnSpPr>
        <p:spPr>
          <a:xfrm>
            <a:off x="5057400" y="3020200"/>
            <a:ext cx="1772400" cy="0"/>
          </a:xfrm>
          <a:prstGeom prst="straightConnector1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med" len="med"/>
            <a:tailEnd type="none" w="med" len="med"/>
          </a:ln>
        </p:spPr>
      </p:cxnSp>
      <p:graphicFrame>
        <p:nvGraphicFramePr>
          <p:cNvPr id="803" name="Google Shape;803;p50"/>
          <p:cNvGraphicFramePr/>
          <p:nvPr/>
        </p:nvGraphicFramePr>
        <p:xfrm>
          <a:off x="1939744" y="3394450"/>
          <a:ext cx="1835500" cy="688770"/>
        </p:xfrm>
        <a:graphic>
          <a:graphicData uri="http://schemas.openxmlformats.org/drawingml/2006/table">
            <a:tbl>
              <a:tblPr>
                <a:noFill/>
                <a:tableStyleId>{9827013E-C202-4D27-A2D1-B1A861925892}</a:tableStyleId>
              </a:tblPr>
              <a:tblGrid>
                <a:gridCol w="5448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9707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79362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121925">
                <a:tc gridSpan="3"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latin typeface="Roboto"/>
                          <a:ea typeface="Roboto"/>
                          <a:cs typeface="Roboto"/>
                          <a:sym typeface="Roboto"/>
                        </a:rPr>
                        <a:t>R1's Table</a:t>
                      </a:r>
                      <a:endParaRPr sz="12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21925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latin typeface="Roboto"/>
                          <a:ea typeface="Roboto"/>
                          <a:cs typeface="Roboto"/>
                          <a:sym typeface="Roboto"/>
                        </a:rPr>
                        <a:t>To:</a:t>
                      </a:r>
                      <a:endParaRPr sz="12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/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latin typeface="Roboto"/>
                          <a:ea typeface="Roboto"/>
                          <a:cs typeface="Roboto"/>
                          <a:sym typeface="Roboto"/>
                        </a:rPr>
                        <a:t>Via:</a:t>
                      </a:r>
                      <a:endParaRPr sz="12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/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latin typeface="Roboto"/>
                          <a:ea typeface="Roboto"/>
                          <a:cs typeface="Roboto"/>
                          <a:sym typeface="Roboto"/>
                        </a:rPr>
                        <a:t>Cost:</a:t>
                      </a:r>
                      <a:endParaRPr sz="12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21925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latin typeface="Roboto"/>
                          <a:ea typeface="Roboto"/>
                          <a:cs typeface="Roboto"/>
                          <a:sym typeface="Roboto"/>
                        </a:rPr>
                        <a:t>A</a:t>
                      </a:r>
                      <a:endParaRPr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/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latin typeface="Roboto"/>
                          <a:ea typeface="Roboto"/>
                          <a:cs typeface="Roboto"/>
                          <a:sym typeface="Roboto"/>
                        </a:rPr>
                        <a:t>Direct</a:t>
                      </a:r>
                      <a:endParaRPr sz="12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/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latin typeface="Roboto"/>
                          <a:ea typeface="Roboto"/>
                          <a:cs typeface="Roboto"/>
                          <a:sym typeface="Roboto"/>
                        </a:rPr>
                        <a:t>1</a:t>
                      </a:r>
                      <a:endParaRPr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</a:tbl>
          </a:graphicData>
        </a:graphic>
      </p:graphicFrame>
      <p:graphicFrame>
        <p:nvGraphicFramePr>
          <p:cNvPr id="804" name="Google Shape;804;p50"/>
          <p:cNvGraphicFramePr/>
          <p:nvPr/>
        </p:nvGraphicFramePr>
        <p:xfrm>
          <a:off x="3997144" y="3394450"/>
          <a:ext cx="1835500" cy="688770"/>
        </p:xfrm>
        <a:graphic>
          <a:graphicData uri="http://schemas.openxmlformats.org/drawingml/2006/table">
            <a:tbl>
              <a:tblPr>
                <a:noFill/>
                <a:tableStyleId>{9827013E-C202-4D27-A2D1-B1A861925892}</a:tableStyleId>
              </a:tblPr>
              <a:tblGrid>
                <a:gridCol w="5448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9707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79362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121925">
                <a:tc gridSpan="3"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latin typeface="Roboto"/>
                          <a:ea typeface="Roboto"/>
                          <a:cs typeface="Roboto"/>
                          <a:sym typeface="Roboto"/>
                        </a:rPr>
                        <a:t>R2's Table</a:t>
                      </a:r>
                      <a:endParaRPr sz="12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21925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latin typeface="Roboto"/>
                          <a:ea typeface="Roboto"/>
                          <a:cs typeface="Roboto"/>
                          <a:sym typeface="Roboto"/>
                        </a:rPr>
                        <a:t>To:</a:t>
                      </a:r>
                      <a:endParaRPr sz="12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/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latin typeface="Roboto"/>
                          <a:ea typeface="Roboto"/>
                          <a:cs typeface="Roboto"/>
                          <a:sym typeface="Roboto"/>
                        </a:rPr>
                        <a:t>Via:</a:t>
                      </a:r>
                      <a:endParaRPr sz="12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/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latin typeface="Roboto"/>
                          <a:ea typeface="Roboto"/>
                          <a:cs typeface="Roboto"/>
                          <a:sym typeface="Roboto"/>
                        </a:rPr>
                        <a:t>Cost:</a:t>
                      </a:r>
                      <a:endParaRPr sz="12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21925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/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b="1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/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</a:tbl>
          </a:graphicData>
        </a:graphic>
      </p:graphicFrame>
      <p:graphicFrame>
        <p:nvGraphicFramePr>
          <p:cNvPr id="805" name="Google Shape;805;p50"/>
          <p:cNvGraphicFramePr/>
          <p:nvPr/>
        </p:nvGraphicFramePr>
        <p:xfrm>
          <a:off x="6054544" y="3394450"/>
          <a:ext cx="1835500" cy="688770"/>
        </p:xfrm>
        <a:graphic>
          <a:graphicData uri="http://schemas.openxmlformats.org/drawingml/2006/table">
            <a:tbl>
              <a:tblPr>
                <a:noFill/>
                <a:tableStyleId>{9827013E-C202-4D27-A2D1-B1A861925892}</a:tableStyleId>
              </a:tblPr>
              <a:tblGrid>
                <a:gridCol w="5448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9707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79362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121925">
                <a:tc gridSpan="3"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latin typeface="Roboto"/>
                          <a:ea typeface="Roboto"/>
                          <a:cs typeface="Roboto"/>
                          <a:sym typeface="Roboto"/>
                        </a:rPr>
                        <a:t>R3's Table</a:t>
                      </a:r>
                      <a:endParaRPr sz="12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21925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latin typeface="Roboto"/>
                          <a:ea typeface="Roboto"/>
                          <a:cs typeface="Roboto"/>
                          <a:sym typeface="Roboto"/>
                        </a:rPr>
                        <a:t>To:</a:t>
                      </a:r>
                      <a:endParaRPr sz="12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/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latin typeface="Roboto"/>
                          <a:ea typeface="Roboto"/>
                          <a:cs typeface="Roboto"/>
                          <a:sym typeface="Roboto"/>
                        </a:rPr>
                        <a:t>Via:</a:t>
                      </a:r>
                      <a:endParaRPr sz="12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/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latin typeface="Roboto"/>
                          <a:ea typeface="Roboto"/>
                          <a:cs typeface="Roboto"/>
                          <a:sym typeface="Roboto"/>
                        </a:rPr>
                        <a:t>Cost:</a:t>
                      </a:r>
                      <a:endParaRPr sz="12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21925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/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b="1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/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</a:tbl>
          </a:graphicData>
        </a:graphic>
      </p:graphicFrame>
      <p:sp>
        <p:nvSpPr>
          <p:cNvPr id="806" name="Google Shape;806;p50"/>
          <p:cNvSpPr/>
          <p:nvPr/>
        </p:nvSpPr>
        <p:spPr>
          <a:xfrm>
            <a:off x="3073800" y="2188525"/>
            <a:ext cx="2626800" cy="567600"/>
          </a:xfrm>
          <a:prstGeom prst="wedgeRoundRectCallout">
            <a:avLst>
              <a:gd name="adj1" fmla="val -59294"/>
              <a:gd name="adj2" fmla="val 55106"/>
              <a:gd name="adj3" fmla="val 0"/>
            </a:avLst>
          </a:prstGeom>
          <a:noFill/>
          <a:ln w="9525" cap="flat" cmpd="sng">
            <a:solidFill>
              <a:schemeClr val="accent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accent2"/>
                </a:solidFill>
                <a:latin typeface="Roboto"/>
                <a:ea typeface="Roboto"/>
                <a:cs typeface="Roboto"/>
                <a:sym typeface="Roboto"/>
              </a:rPr>
              <a:t>I found a way to reach A!</a:t>
            </a:r>
            <a:endParaRPr>
              <a:solidFill>
                <a:schemeClr val="accent2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accent2"/>
                </a:solidFill>
                <a:latin typeface="Roboto"/>
                <a:ea typeface="Roboto"/>
                <a:cs typeface="Roboto"/>
                <a:sym typeface="Roboto"/>
              </a:rPr>
              <a:t>Time to tell all my neighbors.</a:t>
            </a:r>
            <a:endParaRPr>
              <a:solidFill>
                <a:schemeClr val="accent2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964248FE-791F-7E5A-13ED-DCBF4AD7EC71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 smtClean="0"/>
              <a:t>26</a:t>
            </a:fld>
            <a:endParaRPr lang="en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1" name="Google Shape;811;p51"/>
          <p:cNvSpPr txBox="1">
            <a:spLocks noGrp="1"/>
          </p:cNvSpPr>
          <p:nvPr>
            <p:ph type="title"/>
          </p:nvPr>
        </p:nvSpPr>
        <p:spPr>
          <a:xfrm>
            <a:off x="0" y="0"/>
            <a:ext cx="9144000" cy="39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Bellman-Ford Demo</a:t>
            </a:r>
            <a:endParaRPr/>
          </a:p>
        </p:txBody>
      </p:sp>
      <p:sp>
        <p:nvSpPr>
          <p:cNvPr id="812" name="Google Shape;812;p51"/>
          <p:cNvSpPr/>
          <p:nvPr/>
        </p:nvSpPr>
        <p:spPr>
          <a:xfrm>
            <a:off x="2715000" y="2877700"/>
            <a:ext cx="285000" cy="285000"/>
          </a:xfrm>
          <a:prstGeom prst="rect">
            <a:avLst/>
          </a:prstGeom>
          <a:solidFill>
            <a:srgbClr val="FFFFFF"/>
          </a:solidFill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R1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813" name="Google Shape;813;p51"/>
          <p:cNvSpPr/>
          <p:nvPr/>
        </p:nvSpPr>
        <p:spPr>
          <a:xfrm>
            <a:off x="657588" y="2877700"/>
            <a:ext cx="285000" cy="285000"/>
          </a:xfrm>
          <a:prstGeom prst="ellipse">
            <a:avLst/>
          </a:prstGeom>
          <a:solidFill>
            <a:srgbClr val="FFFFFF"/>
          </a:solidFill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A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814" name="Google Shape;814;p51"/>
          <p:cNvCxnSpPr>
            <a:stCxn id="813" idx="6"/>
            <a:endCxn id="812" idx="1"/>
          </p:cNvCxnSpPr>
          <p:nvPr/>
        </p:nvCxnSpPr>
        <p:spPr>
          <a:xfrm>
            <a:off x="942588" y="3020200"/>
            <a:ext cx="1772400" cy="0"/>
          </a:xfrm>
          <a:prstGeom prst="straightConnector1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815" name="Google Shape;815;p51"/>
          <p:cNvSpPr/>
          <p:nvPr/>
        </p:nvSpPr>
        <p:spPr>
          <a:xfrm>
            <a:off x="4772400" y="2877700"/>
            <a:ext cx="285000" cy="285000"/>
          </a:xfrm>
          <a:prstGeom prst="rect">
            <a:avLst/>
          </a:prstGeom>
          <a:solidFill>
            <a:srgbClr val="FFFFFF"/>
          </a:solidFill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R2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816" name="Google Shape;816;p51"/>
          <p:cNvCxnSpPr>
            <a:stCxn id="812" idx="3"/>
            <a:endCxn id="815" idx="1"/>
          </p:cNvCxnSpPr>
          <p:nvPr/>
        </p:nvCxnSpPr>
        <p:spPr>
          <a:xfrm>
            <a:off x="3000000" y="3020200"/>
            <a:ext cx="1772400" cy="0"/>
          </a:xfrm>
          <a:prstGeom prst="straightConnector1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817" name="Google Shape;817;p51"/>
          <p:cNvSpPr/>
          <p:nvPr/>
        </p:nvSpPr>
        <p:spPr>
          <a:xfrm>
            <a:off x="6829800" y="2877700"/>
            <a:ext cx="285000" cy="285000"/>
          </a:xfrm>
          <a:prstGeom prst="rect">
            <a:avLst/>
          </a:prstGeom>
          <a:solidFill>
            <a:srgbClr val="FFFFFF"/>
          </a:solidFill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R3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818" name="Google Shape;818;p51"/>
          <p:cNvCxnSpPr>
            <a:stCxn id="815" idx="3"/>
            <a:endCxn id="817" idx="1"/>
          </p:cNvCxnSpPr>
          <p:nvPr/>
        </p:nvCxnSpPr>
        <p:spPr>
          <a:xfrm>
            <a:off x="5057400" y="3020200"/>
            <a:ext cx="1772400" cy="0"/>
          </a:xfrm>
          <a:prstGeom prst="straightConnector1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med" len="med"/>
            <a:tailEnd type="none" w="med" len="med"/>
          </a:ln>
        </p:spPr>
      </p:cxnSp>
      <p:graphicFrame>
        <p:nvGraphicFramePr>
          <p:cNvPr id="819" name="Google Shape;819;p51"/>
          <p:cNvGraphicFramePr/>
          <p:nvPr/>
        </p:nvGraphicFramePr>
        <p:xfrm>
          <a:off x="1939744" y="3394450"/>
          <a:ext cx="1835500" cy="688770"/>
        </p:xfrm>
        <a:graphic>
          <a:graphicData uri="http://schemas.openxmlformats.org/drawingml/2006/table">
            <a:tbl>
              <a:tblPr>
                <a:noFill/>
                <a:tableStyleId>{9827013E-C202-4D27-A2D1-B1A861925892}</a:tableStyleId>
              </a:tblPr>
              <a:tblGrid>
                <a:gridCol w="5448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9707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79362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121925">
                <a:tc gridSpan="3"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latin typeface="Roboto"/>
                          <a:ea typeface="Roboto"/>
                          <a:cs typeface="Roboto"/>
                          <a:sym typeface="Roboto"/>
                        </a:rPr>
                        <a:t>R1's Table</a:t>
                      </a:r>
                      <a:endParaRPr sz="12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21925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latin typeface="Roboto"/>
                          <a:ea typeface="Roboto"/>
                          <a:cs typeface="Roboto"/>
                          <a:sym typeface="Roboto"/>
                        </a:rPr>
                        <a:t>To:</a:t>
                      </a:r>
                      <a:endParaRPr sz="12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/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latin typeface="Roboto"/>
                          <a:ea typeface="Roboto"/>
                          <a:cs typeface="Roboto"/>
                          <a:sym typeface="Roboto"/>
                        </a:rPr>
                        <a:t>Via:</a:t>
                      </a:r>
                      <a:endParaRPr sz="12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/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latin typeface="Roboto"/>
                          <a:ea typeface="Roboto"/>
                          <a:cs typeface="Roboto"/>
                          <a:sym typeface="Roboto"/>
                        </a:rPr>
                        <a:t>Cost:</a:t>
                      </a:r>
                      <a:endParaRPr sz="12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21925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latin typeface="Roboto"/>
                          <a:ea typeface="Roboto"/>
                          <a:cs typeface="Roboto"/>
                          <a:sym typeface="Roboto"/>
                        </a:rPr>
                        <a:t>A</a:t>
                      </a:r>
                      <a:endParaRPr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/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latin typeface="Roboto"/>
                          <a:ea typeface="Roboto"/>
                          <a:cs typeface="Roboto"/>
                          <a:sym typeface="Roboto"/>
                        </a:rPr>
                        <a:t>Direct</a:t>
                      </a:r>
                      <a:endParaRPr sz="12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/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latin typeface="Roboto"/>
                          <a:ea typeface="Roboto"/>
                          <a:cs typeface="Roboto"/>
                          <a:sym typeface="Roboto"/>
                        </a:rPr>
                        <a:t>1</a:t>
                      </a:r>
                      <a:endParaRPr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</a:tbl>
          </a:graphicData>
        </a:graphic>
      </p:graphicFrame>
      <p:graphicFrame>
        <p:nvGraphicFramePr>
          <p:cNvPr id="820" name="Google Shape;820;p51"/>
          <p:cNvGraphicFramePr/>
          <p:nvPr/>
        </p:nvGraphicFramePr>
        <p:xfrm>
          <a:off x="3997144" y="3394450"/>
          <a:ext cx="1835500" cy="688770"/>
        </p:xfrm>
        <a:graphic>
          <a:graphicData uri="http://schemas.openxmlformats.org/drawingml/2006/table">
            <a:tbl>
              <a:tblPr>
                <a:noFill/>
                <a:tableStyleId>{9827013E-C202-4D27-A2D1-B1A861925892}</a:tableStyleId>
              </a:tblPr>
              <a:tblGrid>
                <a:gridCol w="5448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9707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79362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121925">
                <a:tc gridSpan="3"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latin typeface="Roboto"/>
                          <a:ea typeface="Roboto"/>
                          <a:cs typeface="Roboto"/>
                          <a:sym typeface="Roboto"/>
                        </a:rPr>
                        <a:t>R2's Table</a:t>
                      </a:r>
                      <a:endParaRPr sz="12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21925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latin typeface="Roboto"/>
                          <a:ea typeface="Roboto"/>
                          <a:cs typeface="Roboto"/>
                          <a:sym typeface="Roboto"/>
                        </a:rPr>
                        <a:t>To:</a:t>
                      </a:r>
                      <a:endParaRPr sz="12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/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latin typeface="Roboto"/>
                          <a:ea typeface="Roboto"/>
                          <a:cs typeface="Roboto"/>
                          <a:sym typeface="Roboto"/>
                        </a:rPr>
                        <a:t>Via:</a:t>
                      </a:r>
                      <a:endParaRPr sz="12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/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latin typeface="Roboto"/>
                          <a:ea typeface="Roboto"/>
                          <a:cs typeface="Roboto"/>
                          <a:sym typeface="Roboto"/>
                        </a:rPr>
                        <a:t>Cost:</a:t>
                      </a:r>
                      <a:endParaRPr sz="12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21925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/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b="1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/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</a:tbl>
          </a:graphicData>
        </a:graphic>
      </p:graphicFrame>
      <p:graphicFrame>
        <p:nvGraphicFramePr>
          <p:cNvPr id="821" name="Google Shape;821;p51"/>
          <p:cNvGraphicFramePr/>
          <p:nvPr/>
        </p:nvGraphicFramePr>
        <p:xfrm>
          <a:off x="6054544" y="3394450"/>
          <a:ext cx="1835500" cy="688770"/>
        </p:xfrm>
        <a:graphic>
          <a:graphicData uri="http://schemas.openxmlformats.org/drawingml/2006/table">
            <a:tbl>
              <a:tblPr>
                <a:noFill/>
                <a:tableStyleId>{9827013E-C202-4D27-A2D1-B1A861925892}</a:tableStyleId>
              </a:tblPr>
              <a:tblGrid>
                <a:gridCol w="5448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9707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79362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121925">
                <a:tc gridSpan="3"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latin typeface="Roboto"/>
                          <a:ea typeface="Roboto"/>
                          <a:cs typeface="Roboto"/>
                          <a:sym typeface="Roboto"/>
                        </a:rPr>
                        <a:t>R3's Table</a:t>
                      </a:r>
                      <a:endParaRPr sz="12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21925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latin typeface="Roboto"/>
                          <a:ea typeface="Roboto"/>
                          <a:cs typeface="Roboto"/>
                          <a:sym typeface="Roboto"/>
                        </a:rPr>
                        <a:t>To:</a:t>
                      </a:r>
                      <a:endParaRPr sz="12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/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latin typeface="Roboto"/>
                          <a:ea typeface="Roboto"/>
                          <a:cs typeface="Roboto"/>
                          <a:sym typeface="Roboto"/>
                        </a:rPr>
                        <a:t>Via:</a:t>
                      </a:r>
                      <a:endParaRPr sz="12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/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latin typeface="Roboto"/>
                          <a:ea typeface="Roboto"/>
                          <a:cs typeface="Roboto"/>
                          <a:sym typeface="Roboto"/>
                        </a:rPr>
                        <a:t>Cost:</a:t>
                      </a:r>
                      <a:endParaRPr sz="12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21925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/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b="1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/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</a:tbl>
          </a:graphicData>
        </a:graphic>
      </p:graphicFrame>
      <p:cxnSp>
        <p:nvCxnSpPr>
          <p:cNvPr id="822" name="Google Shape;822;p51"/>
          <p:cNvCxnSpPr/>
          <p:nvPr/>
        </p:nvCxnSpPr>
        <p:spPr>
          <a:xfrm>
            <a:off x="3189445" y="2918275"/>
            <a:ext cx="1393500" cy="0"/>
          </a:xfrm>
          <a:prstGeom prst="straightConnector1">
            <a:avLst/>
          </a:prstGeom>
          <a:noFill/>
          <a:ln w="19050" cap="flat" cmpd="sng">
            <a:solidFill>
              <a:schemeClr val="accent2"/>
            </a:solidFill>
            <a:prstDash val="solid"/>
            <a:round/>
            <a:headEnd type="none" w="med" len="med"/>
            <a:tailEnd type="triangle" w="med" len="med"/>
          </a:ln>
        </p:spPr>
      </p:cxnSp>
      <p:sp>
        <p:nvSpPr>
          <p:cNvPr id="823" name="Google Shape;823;p51"/>
          <p:cNvSpPr/>
          <p:nvPr/>
        </p:nvSpPr>
        <p:spPr>
          <a:xfrm>
            <a:off x="3336000" y="2082550"/>
            <a:ext cx="1100400" cy="733800"/>
          </a:xfrm>
          <a:prstGeom prst="roundRect">
            <a:avLst>
              <a:gd name="adj" fmla="val 16667"/>
            </a:avLst>
          </a:prstGeom>
          <a:solidFill>
            <a:srgbClr val="F4CCCC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I'm </a:t>
            </a:r>
            <a:r>
              <a:rPr lang="en" b="1">
                <a:latin typeface="Roboto"/>
                <a:ea typeface="Roboto"/>
                <a:cs typeface="Roboto"/>
                <a:sym typeface="Roboto"/>
              </a:rPr>
              <a:t>R1</a:t>
            </a:r>
            <a:r>
              <a:rPr lang="en">
                <a:latin typeface="Roboto"/>
                <a:ea typeface="Roboto"/>
                <a:cs typeface="Roboto"/>
                <a:sym typeface="Roboto"/>
              </a:rPr>
              <a:t>, and </a:t>
            </a:r>
            <a:r>
              <a:rPr lang="en" b="1">
                <a:latin typeface="Roboto"/>
                <a:ea typeface="Roboto"/>
                <a:cs typeface="Roboto"/>
                <a:sym typeface="Roboto"/>
              </a:rPr>
              <a:t>A</a:t>
            </a:r>
            <a:r>
              <a:rPr lang="en">
                <a:latin typeface="Roboto"/>
                <a:ea typeface="Roboto"/>
                <a:cs typeface="Roboto"/>
                <a:sym typeface="Roboto"/>
              </a:rPr>
              <a:t> is </a:t>
            </a:r>
            <a:r>
              <a:rPr lang="en" b="1">
                <a:latin typeface="Roboto"/>
                <a:ea typeface="Roboto"/>
                <a:cs typeface="Roboto"/>
                <a:sym typeface="Roboto"/>
              </a:rPr>
              <a:t>1</a:t>
            </a:r>
            <a:r>
              <a:rPr lang="en">
                <a:latin typeface="Roboto"/>
                <a:ea typeface="Roboto"/>
                <a:cs typeface="Roboto"/>
                <a:sym typeface="Roboto"/>
              </a:rPr>
              <a:t> away from me.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824" name="Google Shape;824;p51"/>
          <p:cNvSpPr/>
          <p:nvPr/>
        </p:nvSpPr>
        <p:spPr>
          <a:xfrm>
            <a:off x="5150100" y="1848800"/>
            <a:ext cx="2293200" cy="907200"/>
          </a:xfrm>
          <a:prstGeom prst="wedgeRoundRectCallout">
            <a:avLst>
              <a:gd name="adj1" fmla="val -59294"/>
              <a:gd name="adj2" fmla="val 55106"/>
              <a:gd name="adj3" fmla="val 0"/>
            </a:avLst>
          </a:prstGeom>
          <a:noFill/>
          <a:ln w="9525" cap="flat" cmpd="sng">
            <a:solidFill>
              <a:schemeClr val="accent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accent2"/>
                </a:solidFill>
                <a:latin typeface="Roboto"/>
                <a:ea typeface="Roboto"/>
                <a:cs typeface="Roboto"/>
                <a:sym typeface="Roboto"/>
              </a:rPr>
              <a:t>New advertisement!</a:t>
            </a:r>
            <a:endParaRPr>
              <a:solidFill>
                <a:schemeClr val="accent2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accent2"/>
                </a:solidFill>
                <a:latin typeface="Roboto"/>
                <a:ea typeface="Roboto"/>
                <a:cs typeface="Roboto"/>
                <a:sym typeface="Roboto"/>
              </a:rPr>
              <a:t>I don't have a way to reach A yet, so I'll accept.</a:t>
            </a:r>
            <a:endParaRPr>
              <a:solidFill>
                <a:schemeClr val="accent2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graphicFrame>
        <p:nvGraphicFramePr>
          <p:cNvPr id="825" name="Google Shape;825;p51"/>
          <p:cNvGraphicFramePr/>
          <p:nvPr/>
        </p:nvGraphicFramePr>
        <p:xfrm>
          <a:off x="3997144" y="3394450"/>
          <a:ext cx="1835500" cy="688770"/>
        </p:xfrm>
        <a:graphic>
          <a:graphicData uri="http://schemas.openxmlformats.org/drawingml/2006/table">
            <a:tbl>
              <a:tblPr>
                <a:noFill/>
                <a:tableStyleId>{9827013E-C202-4D27-A2D1-B1A861925892}</a:tableStyleId>
              </a:tblPr>
              <a:tblGrid>
                <a:gridCol w="5448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9707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79362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121925">
                <a:tc gridSpan="3"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latin typeface="Roboto"/>
                          <a:ea typeface="Roboto"/>
                          <a:cs typeface="Roboto"/>
                          <a:sym typeface="Roboto"/>
                        </a:rPr>
                        <a:t>R2's Table</a:t>
                      </a:r>
                      <a:endParaRPr sz="12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>
                    <a:solidFill>
                      <a:srgbClr val="FFFFFF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21925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latin typeface="Roboto"/>
                          <a:ea typeface="Roboto"/>
                          <a:cs typeface="Roboto"/>
                          <a:sym typeface="Roboto"/>
                        </a:rPr>
                        <a:t>To:</a:t>
                      </a:r>
                      <a:endParaRPr sz="12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latin typeface="Roboto"/>
                          <a:ea typeface="Roboto"/>
                          <a:cs typeface="Roboto"/>
                          <a:sym typeface="Roboto"/>
                        </a:rPr>
                        <a:t>Via:</a:t>
                      </a:r>
                      <a:endParaRPr sz="12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latin typeface="Roboto"/>
                          <a:ea typeface="Roboto"/>
                          <a:cs typeface="Roboto"/>
                          <a:sym typeface="Roboto"/>
                        </a:rPr>
                        <a:t>Cost:</a:t>
                      </a:r>
                      <a:endParaRPr sz="12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21925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b="1">
                          <a:latin typeface="Roboto"/>
                          <a:ea typeface="Roboto"/>
                          <a:cs typeface="Roboto"/>
                          <a:sym typeface="Roboto"/>
                        </a:rPr>
                        <a:t>A</a:t>
                      </a:r>
                      <a:endParaRPr b="1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>
                    <a:solidFill>
                      <a:srgbClr val="F4CCCC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b="1">
                          <a:latin typeface="Roboto"/>
                          <a:ea typeface="Roboto"/>
                          <a:cs typeface="Roboto"/>
                          <a:sym typeface="Roboto"/>
                        </a:rPr>
                        <a:t>R1</a:t>
                      </a:r>
                      <a:endParaRPr b="1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>
                    <a:solidFill>
                      <a:srgbClr val="F4CCCC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latin typeface="Roboto"/>
                          <a:ea typeface="Roboto"/>
                          <a:cs typeface="Roboto"/>
                          <a:sym typeface="Roboto"/>
                        </a:rPr>
                        <a:t>1+</a:t>
                      </a:r>
                      <a:r>
                        <a:rPr lang="en" b="1">
                          <a:latin typeface="Roboto"/>
                          <a:ea typeface="Roboto"/>
                          <a:cs typeface="Roboto"/>
                          <a:sym typeface="Roboto"/>
                        </a:rPr>
                        <a:t>1</a:t>
                      </a:r>
                      <a:r>
                        <a:rPr lang="en">
                          <a:latin typeface="Roboto"/>
                          <a:ea typeface="Roboto"/>
                          <a:cs typeface="Roboto"/>
                          <a:sym typeface="Roboto"/>
                        </a:rPr>
                        <a:t>=2</a:t>
                      </a:r>
                      <a:endParaRPr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>
                    <a:solidFill>
                      <a:srgbClr val="F4CCC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</a:tbl>
          </a:graphicData>
        </a:graphic>
      </p:graphicFrame>
      <p:sp>
        <p:nvSpPr>
          <p:cNvPr id="826" name="Google Shape;826;p51"/>
          <p:cNvSpPr txBox="1"/>
          <p:nvPr/>
        </p:nvSpPr>
        <p:spPr>
          <a:xfrm>
            <a:off x="3975150" y="4211200"/>
            <a:ext cx="1879500" cy="486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27425" tIns="27425" rIns="27425" bIns="27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accent2"/>
                </a:solidFill>
                <a:latin typeface="Roboto"/>
                <a:ea typeface="Roboto"/>
                <a:cs typeface="Roboto"/>
                <a:sym typeface="Roboto"/>
              </a:rPr>
              <a:t>1 (link cost to R1), plus</a:t>
            </a:r>
            <a:br>
              <a:rPr lang="en">
                <a:solidFill>
                  <a:schemeClr val="accent2"/>
                </a:solidFill>
                <a:latin typeface="Roboto"/>
                <a:ea typeface="Roboto"/>
                <a:cs typeface="Roboto"/>
                <a:sym typeface="Roboto"/>
              </a:rPr>
            </a:br>
            <a:r>
              <a:rPr lang="en">
                <a:solidFill>
                  <a:schemeClr val="accent2"/>
                </a:solidFill>
                <a:latin typeface="Roboto"/>
                <a:ea typeface="Roboto"/>
                <a:cs typeface="Roboto"/>
                <a:sym typeface="Roboto"/>
              </a:rPr>
              <a:t>1 (advertised cost).</a:t>
            </a:r>
            <a:endParaRPr>
              <a:solidFill>
                <a:schemeClr val="accent2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F345DB6F-12DF-18AF-0824-7EAD808C024D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 smtClean="0"/>
              <a:t>27</a:t>
            </a:fld>
            <a:endParaRPr lang="en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31" name="Google Shape;831;p52"/>
          <p:cNvSpPr txBox="1">
            <a:spLocks noGrp="1"/>
          </p:cNvSpPr>
          <p:nvPr>
            <p:ph type="title"/>
          </p:nvPr>
        </p:nvSpPr>
        <p:spPr>
          <a:xfrm>
            <a:off x="0" y="0"/>
            <a:ext cx="9144000" cy="39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Bellman-Ford Demo</a:t>
            </a:r>
            <a:endParaRPr/>
          </a:p>
        </p:txBody>
      </p:sp>
      <p:sp>
        <p:nvSpPr>
          <p:cNvPr id="832" name="Google Shape;832;p52"/>
          <p:cNvSpPr/>
          <p:nvPr/>
        </p:nvSpPr>
        <p:spPr>
          <a:xfrm>
            <a:off x="2715000" y="2877700"/>
            <a:ext cx="285000" cy="285000"/>
          </a:xfrm>
          <a:prstGeom prst="rect">
            <a:avLst/>
          </a:prstGeom>
          <a:solidFill>
            <a:srgbClr val="FFFFFF"/>
          </a:solidFill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R1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833" name="Google Shape;833;p52"/>
          <p:cNvSpPr/>
          <p:nvPr/>
        </p:nvSpPr>
        <p:spPr>
          <a:xfrm>
            <a:off x="657588" y="2877700"/>
            <a:ext cx="285000" cy="285000"/>
          </a:xfrm>
          <a:prstGeom prst="ellipse">
            <a:avLst/>
          </a:prstGeom>
          <a:solidFill>
            <a:srgbClr val="FFFFFF"/>
          </a:solidFill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A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834" name="Google Shape;834;p52"/>
          <p:cNvCxnSpPr>
            <a:stCxn id="833" idx="6"/>
            <a:endCxn id="832" idx="1"/>
          </p:cNvCxnSpPr>
          <p:nvPr/>
        </p:nvCxnSpPr>
        <p:spPr>
          <a:xfrm>
            <a:off x="942588" y="3020200"/>
            <a:ext cx="1772400" cy="0"/>
          </a:xfrm>
          <a:prstGeom prst="straightConnector1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835" name="Google Shape;835;p52"/>
          <p:cNvSpPr/>
          <p:nvPr/>
        </p:nvSpPr>
        <p:spPr>
          <a:xfrm>
            <a:off x="4772400" y="2877700"/>
            <a:ext cx="285000" cy="285000"/>
          </a:xfrm>
          <a:prstGeom prst="rect">
            <a:avLst/>
          </a:prstGeom>
          <a:solidFill>
            <a:srgbClr val="FFFFFF"/>
          </a:solidFill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R2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836" name="Google Shape;836;p52"/>
          <p:cNvCxnSpPr>
            <a:stCxn id="832" idx="3"/>
            <a:endCxn id="835" idx="1"/>
          </p:cNvCxnSpPr>
          <p:nvPr/>
        </p:nvCxnSpPr>
        <p:spPr>
          <a:xfrm>
            <a:off x="3000000" y="3020200"/>
            <a:ext cx="1772400" cy="0"/>
          </a:xfrm>
          <a:prstGeom prst="straightConnector1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837" name="Google Shape;837;p52"/>
          <p:cNvSpPr/>
          <p:nvPr/>
        </p:nvSpPr>
        <p:spPr>
          <a:xfrm>
            <a:off x="6829800" y="2877700"/>
            <a:ext cx="285000" cy="285000"/>
          </a:xfrm>
          <a:prstGeom prst="rect">
            <a:avLst/>
          </a:prstGeom>
          <a:solidFill>
            <a:srgbClr val="FFFFFF"/>
          </a:solidFill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R3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838" name="Google Shape;838;p52"/>
          <p:cNvCxnSpPr>
            <a:stCxn id="835" idx="3"/>
            <a:endCxn id="837" idx="1"/>
          </p:cNvCxnSpPr>
          <p:nvPr/>
        </p:nvCxnSpPr>
        <p:spPr>
          <a:xfrm>
            <a:off x="5057400" y="3020200"/>
            <a:ext cx="1772400" cy="0"/>
          </a:xfrm>
          <a:prstGeom prst="straightConnector1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med" len="med"/>
            <a:tailEnd type="none" w="med" len="med"/>
          </a:ln>
        </p:spPr>
      </p:cxnSp>
      <p:graphicFrame>
        <p:nvGraphicFramePr>
          <p:cNvPr id="839" name="Google Shape;839;p52"/>
          <p:cNvGraphicFramePr/>
          <p:nvPr/>
        </p:nvGraphicFramePr>
        <p:xfrm>
          <a:off x="1939744" y="3394450"/>
          <a:ext cx="1835500" cy="688770"/>
        </p:xfrm>
        <a:graphic>
          <a:graphicData uri="http://schemas.openxmlformats.org/drawingml/2006/table">
            <a:tbl>
              <a:tblPr>
                <a:noFill/>
                <a:tableStyleId>{9827013E-C202-4D27-A2D1-B1A861925892}</a:tableStyleId>
              </a:tblPr>
              <a:tblGrid>
                <a:gridCol w="5448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9707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79362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121925">
                <a:tc gridSpan="3"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latin typeface="Roboto"/>
                          <a:ea typeface="Roboto"/>
                          <a:cs typeface="Roboto"/>
                          <a:sym typeface="Roboto"/>
                        </a:rPr>
                        <a:t>R1's Table</a:t>
                      </a:r>
                      <a:endParaRPr sz="12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21925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latin typeface="Roboto"/>
                          <a:ea typeface="Roboto"/>
                          <a:cs typeface="Roboto"/>
                          <a:sym typeface="Roboto"/>
                        </a:rPr>
                        <a:t>To:</a:t>
                      </a:r>
                      <a:endParaRPr sz="12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/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latin typeface="Roboto"/>
                          <a:ea typeface="Roboto"/>
                          <a:cs typeface="Roboto"/>
                          <a:sym typeface="Roboto"/>
                        </a:rPr>
                        <a:t>Via:</a:t>
                      </a:r>
                      <a:endParaRPr sz="12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/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latin typeface="Roboto"/>
                          <a:ea typeface="Roboto"/>
                          <a:cs typeface="Roboto"/>
                          <a:sym typeface="Roboto"/>
                        </a:rPr>
                        <a:t>Cost:</a:t>
                      </a:r>
                      <a:endParaRPr sz="12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21925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latin typeface="Roboto"/>
                          <a:ea typeface="Roboto"/>
                          <a:cs typeface="Roboto"/>
                          <a:sym typeface="Roboto"/>
                        </a:rPr>
                        <a:t>A</a:t>
                      </a:r>
                      <a:endParaRPr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/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latin typeface="Roboto"/>
                          <a:ea typeface="Roboto"/>
                          <a:cs typeface="Roboto"/>
                          <a:sym typeface="Roboto"/>
                        </a:rPr>
                        <a:t>Direct</a:t>
                      </a:r>
                      <a:endParaRPr sz="12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/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latin typeface="Roboto"/>
                          <a:ea typeface="Roboto"/>
                          <a:cs typeface="Roboto"/>
                          <a:sym typeface="Roboto"/>
                        </a:rPr>
                        <a:t>1</a:t>
                      </a:r>
                      <a:endParaRPr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</a:tbl>
          </a:graphicData>
        </a:graphic>
      </p:graphicFrame>
      <p:graphicFrame>
        <p:nvGraphicFramePr>
          <p:cNvPr id="840" name="Google Shape;840;p52"/>
          <p:cNvGraphicFramePr/>
          <p:nvPr/>
        </p:nvGraphicFramePr>
        <p:xfrm>
          <a:off x="6054544" y="3394450"/>
          <a:ext cx="1835500" cy="688770"/>
        </p:xfrm>
        <a:graphic>
          <a:graphicData uri="http://schemas.openxmlformats.org/drawingml/2006/table">
            <a:tbl>
              <a:tblPr>
                <a:noFill/>
                <a:tableStyleId>{9827013E-C202-4D27-A2D1-B1A861925892}</a:tableStyleId>
              </a:tblPr>
              <a:tblGrid>
                <a:gridCol w="5448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9707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79362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121925">
                <a:tc gridSpan="3"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latin typeface="Roboto"/>
                          <a:ea typeface="Roboto"/>
                          <a:cs typeface="Roboto"/>
                          <a:sym typeface="Roboto"/>
                        </a:rPr>
                        <a:t>R3's Table</a:t>
                      </a:r>
                      <a:endParaRPr sz="12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21925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latin typeface="Roboto"/>
                          <a:ea typeface="Roboto"/>
                          <a:cs typeface="Roboto"/>
                          <a:sym typeface="Roboto"/>
                        </a:rPr>
                        <a:t>To:</a:t>
                      </a:r>
                      <a:endParaRPr sz="12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/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latin typeface="Roboto"/>
                          <a:ea typeface="Roboto"/>
                          <a:cs typeface="Roboto"/>
                          <a:sym typeface="Roboto"/>
                        </a:rPr>
                        <a:t>Via:</a:t>
                      </a:r>
                      <a:endParaRPr sz="12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/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latin typeface="Roboto"/>
                          <a:ea typeface="Roboto"/>
                          <a:cs typeface="Roboto"/>
                          <a:sym typeface="Roboto"/>
                        </a:rPr>
                        <a:t>Cost:</a:t>
                      </a:r>
                      <a:endParaRPr sz="12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21925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/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b="1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/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</a:tbl>
          </a:graphicData>
        </a:graphic>
      </p:graphicFrame>
      <p:sp>
        <p:nvSpPr>
          <p:cNvPr id="841" name="Google Shape;841;p52"/>
          <p:cNvSpPr/>
          <p:nvPr/>
        </p:nvSpPr>
        <p:spPr>
          <a:xfrm>
            <a:off x="5150100" y="2151975"/>
            <a:ext cx="2430000" cy="603900"/>
          </a:xfrm>
          <a:prstGeom prst="wedgeRoundRectCallout">
            <a:avLst>
              <a:gd name="adj1" fmla="val -59294"/>
              <a:gd name="adj2" fmla="val 55106"/>
              <a:gd name="adj3" fmla="val 0"/>
            </a:avLst>
          </a:prstGeom>
          <a:noFill/>
          <a:ln w="9525" cap="flat" cmpd="sng">
            <a:solidFill>
              <a:schemeClr val="accent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accent2"/>
                </a:solidFill>
                <a:latin typeface="Roboto"/>
                <a:ea typeface="Roboto"/>
                <a:cs typeface="Roboto"/>
                <a:sym typeface="Roboto"/>
              </a:rPr>
              <a:t>Time to tell everyone about my shiny new path to A.</a:t>
            </a:r>
            <a:endParaRPr>
              <a:solidFill>
                <a:schemeClr val="accent2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graphicFrame>
        <p:nvGraphicFramePr>
          <p:cNvPr id="842" name="Google Shape;842;p52"/>
          <p:cNvGraphicFramePr/>
          <p:nvPr/>
        </p:nvGraphicFramePr>
        <p:xfrm>
          <a:off x="3997144" y="3394450"/>
          <a:ext cx="1835500" cy="688770"/>
        </p:xfrm>
        <a:graphic>
          <a:graphicData uri="http://schemas.openxmlformats.org/drawingml/2006/table">
            <a:tbl>
              <a:tblPr>
                <a:noFill/>
                <a:tableStyleId>{9827013E-C202-4D27-A2D1-B1A861925892}</a:tableStyleId>
              </a:tblPr>
              <a:tblGrid>
                <a:gridCol w="5448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9707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79362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121925">
                <a:tc gridSpan="3"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latin typeface="Roboto"/>
                          <a:ea typeface="Roboto"/>
                          <a:cs typeface="Roboto"/>
                          <a:sym typeface="Roboto"/>
                        </a:rPr>
                        <a:t>R2's Table</a:t>
                      </a:r>
                      <a:endParaRPr sz="12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>
                    <a:solidFill>
                      <a:srgbClr val="FFFFFF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21925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latin typeface="Roboto"/>
                          <a:ea typeface="Roboto"/>
                          <a:cs typeface="Roboto"/>
                          <a:sym typeface="Roboto"/>
                        </a:rPr>
                        <a:t>To:</a:t>
                      </a:r>
                      <a:endParaRPr sz="12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latin typeface="Roboto"/>
                          <a:ea typeface="Roboto"/>
                          <a:cs typeface="Roboto"/>
                          <a:sym typeface="Roboto"/>
                        </a:rPr>
                        <a:t>Via:</a:t>
                      </a:r>
                      <a:endParaRPr sz="12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latin typeface="Roboto"/>
                          <a:ea typeface="Roboto"/>
                          <a:cs typeface="Roboto"/>
                          <a:sym typeface="Roboto"/>
                        </a:rPr>
                        <a:t>Cost:</a:t>
                      </a:r>
                      <a:endParaRPr sz="12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21925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latin typeface="Roboto"/>
                          <a:ea typeface="Roboto"/>
                          <a:cs typeface="Roboto"/>
                          <a:sym typeface="Roboto"/>
                        </a:rPr>
                        <a:t>A</a:t>
                      </a:r>
                      <a:endParaRPr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/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latin typeface="Roboto"/>
                          <a:ea typeface="Roboto"/>
                          <a:cs typeface="Roboto"/>
                          <a:sym typeface="Roboto"/>
                        </a:rPr>
                        <a:t>R1</a:t>
                      </a:r>
                      <a:endParaRPr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/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latin typeface="Roboto"/>
                          <a:ea typeface="Roboto"/>
                          <a:cs typeface="Roboto"/>
                          <a:sym typeface="Roboto"/>
                        </a:rPr>
                        <a:t>2</a:t>
                      </a:r>
                      <a:endParaRPr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</a:tbl>
          </a:graphicData>
        </a:graphic>
      </p:graphicFrame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58714ED8-F4BE-A07A-5AF7-841953D23461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 smtClean="0"/>
              <a:t>28</a:t>
            </a:fld>
            <a:endParaRPr lang="en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7" name="Google Shape;847;p53"/>
          <p:cNvSpPr txBox="1">
            <a:spLocks noGrp="1"/>
          </p:cNvSpPr>
          <p:nvPr>
            <p:ph type="title"/>
          </p:nvPr>
        </p:nvSpPr>
        <p:spPr>
          <a:xfrm>
            <a:off x="0" y="0"/>
            <a:ext cx="9144000" cy="39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Bellman-Ford Demo</a:t>
            </a:r>
            <a:endParaRPr/>
          </a:p>
        </p:txBody>
      </p:sp>
      <p:sp>
        <p:nvSpPr>
          <p:cNvPr id="848" name="Google Shape;848;p53"/>
          <p:cNvSpPr/>
          <p:nvPr/>
        </p:nvSpPr>
        <p:spPr>
          <a:xfrm>
            <a:off x="2715000" y="2877700"/>
            <a:ext cx="285000" cy="285000"/>
          </a:xfrm>
          <a:prstGeom prst="rect">
            <a:avLst/>
          </a:prstGeom>
          <a:solidFill>
            <a:srgbClr val="FFFFFF"/>
          </a:solidFill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R1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849" name="Google Shape;849;p53"/>
          <p:cNvSpPr/>
          <p:nvPr/>
        </p:nvSpPr>
        <p:spPr>
          <a:xfrm>
            <a:off x="657588" y="2877700"/>
            <a:ext cx="285000" cy="285000"/>
          </a:xfrm>
          <a:prstGeom prst="ellipse">
            <a:avLst/>
          </a:prstGeom>
          <a:solidFill>
            <a:srgbClr val="FFFFFF"/>
          </a:solidFill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A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850" name="Google Shape;850;p53"/>
          <p:cNvCxnSpPr>
            <a:stCxn id="849" idx="6"/>
            <a:endCxn id="848" idx="1"/>
          </p:cNvCxnSpPr>
          <p:nvPr/>
        </p:nvCxnSpPr>
        <p:spPr>
          <a:xfrm>
            <a:off x="942588" y="3020200"/>
            <a:ext cx="1772400" cy="0"/>
          </a:xfrm>
          <a:prstGeom prst="straightConnector1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851" name="Google Shape;851;p53"/>
          <p:cNvSpPr/>
          <p:nvPr/>
        </p:nvSpPr>
        <p:spPr>
          <a:xfrm>
            <a:off x="4772400" y="2877700"/>
            <a:ext cx="285000" cy="285000"/>
          </a:xfrm>
          <a:prstGeom prst="rect">
            <a:avLst/>
          </a:prstGeom>
          <a:solidFill>
            <a:srgbClr val="FFFFFF"/>
          </a:solidFill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R2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852" name="Google Shape;852;p53"/>
          <p:cNvCxnSpPr>
            <a:stCxn id="848" idx="3"/>
            <a:endCxn id="851" idx="1"/>
          </p:cNvCxnSpPr>
          <p:nvPr/>
        </p:nvCxnSpPr>
        <p:spPr>
          <a:xfrm>
            <a:off x="3000000" y="3020200"/>
            <a:ext cx="1772400" cy="0"/>
          </a:xfrm>
          <a:prstGeom prst="straightConnector1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853" name="Google Shape;853;p53"/>
          <p:cNvSpPr/>
          <p:nvPr/>
        </p:nvSpPr>
        <p:spPr>
          <a:xfrm>
            <a:off x="6829800" y="2877700"/>
            <a:ext cx="285000" cy="285000"/>
          </a:xfrm>
          <a:prstGeom prst="rect">
            <a:avLst/>
          </a:prstGeom>
          <a:solidFill>
            <a:srgbClr val="FFFFFF"/>
          </a:solidFill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R3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854" name="Google Shape;854;p53"/>
          <p:cNvCxnSpPr>
            <a:stCxn id="851" idx="3"/>
            <a:endCxn id="853" idx="1"/>
          </p:cNvCxnSpPr>
          <p:nvPr/>
        </p:nvCxnSpPr>
        <p:spPr>
          <a:xfrm>
            <a:off x="5057400" y="3020200"/>
            <a:ext cx="1772400" cy="0"/>
          </a:xfrm>
          <a:prstGeom prst="straightConnector1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med" len="med"/>
            <a:tailEnd type="none" w="med" len="med"/>
          </a:ln>
        </p:spPr>
      </p:cxnSp>
      <p:graphicFrame>
        <p:nvGraphicFramePr>
          <p:cNvPr id="855" name="Google Shape;855;p53"/>
          <p:cNvGraphicFramePr/>
          <p:nvPr/>
        </p:nvGraphicFramePr>
        <p:xfrm>
          <a:off x="1939744" y="3394450"/>
          <a:ext cx="1835500" cy="688770"/>
        </p:xfrm>
        <a:graphic>
          <a:graphicData uri="http://schemas.openxmlformats.org/drawingml/2006/table">
            <a:tbl>
              <a:tblPr>
                <a:noFill/>
                <a:tableStyleId>{9827013E-C202-4D27-A2D1-B1A861925892}</a:tableStyleId>
              </a:tblPr>
              <a:tblGrid>
                <a:gridCol w="5448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9707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79362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121925">
                <a:tc gridSpan="3"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latin typeface="Roboto"/>
                          <a:ea typeface="Roboto"/>
                          <a:cs typeface="Roboto"/>
                          <a:sym typeface="Roboto"/>
                        </a:rPr>
                        <a:t>R1's Table</a:t>
                      </a:r>
                      <a:endParaRPr sz="12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21925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latin typeface="Roboto"/>
                          <a:ea typeface="Roboto"/>
                          <a:cs typeface="Roboto"/>
                          <a:sym typeface="Roboto"/>
                        </a:rPr>
                        <a:t>To:</a:t>
                      </a:r>
                      <a:endParaRPr sz="12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/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latin typeface="Roboto"/>
                          <a:ea typeface="Roboto"/>
                          <a:cs typeface="Roboto"/>
                          <a:sym typeface="Roboto"/>
                        </a:rPr>
                        <a:t>Via:</a:t>
                      </a:r>
                      <a:endParaRPr sz="12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/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latin typeface="Roboto"/>
                          <a:ea typeface="Roboto"/>
                          <a:cs typeface="Roboto"/>
                          <a:sym typeface="Roboto"/>
                        </a:rPr>
                        <a:t>Cost:</a:t>
                      </a:r>
                      <a:endParaRPr sz="12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21925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latin typeface="Roboto"/>
                          <a:ea typeface="Roboto"/>
                          <a:cs typeface="Roboto"/>
                          <a:sym typeface="Roboto"/>
                        </a:rPr>
                        <a:t>A</a:t>
                      </a:r>
                      <a:endParaRPr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/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latin typeface="Roboto"/>
                          <a:ea typeface="Roboto"/>
                          <a:cs typeface="Roboto"/>
                          <a:sym typeface="Roboto"/>
                        </a:rPr>
                        <a:t>Direct</a:t>
                      </a:r>
                      <a:endParaRPr sz="12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/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latin typeface="Roboto"/>
                          <a:ea typeface="Roboto"/>
                          <a:cs typeface="Roboto"/>
                          <a:sym typeface="Roboto"/>
                        </a:rPr>
                        <a:t>1</a:t>
                      </a:r>
                      <a:endParaRPr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</a:tbl>
          </a:graphicData>
        </a:graphic>
      </p:graphicFrame>
      <p:graphicFrame>
        <p:nvGraphicFramePr>
          <p:cNvPr id="856" name="Google Shape;856;p53"/>
          <p:cNvGraphicFramePr/>
          <p:nvPr/>
        </p:nvGraphicFramePr>
        <p:xfrm>
          <a:off x="6054544" y="3394450"/>
          <a:ext cx="1835500" cy="688770"/>
        </p:xfrm>
        <a:graphic>
          <a:graphicData uri="http://schemas.openxmlformats.org/drawingml/2006/table">
            <a:tbl>
              <a:tblPr>
                <a:noFill/>
                <a:tableStyleId>{9827013E-C202-4D27-A2D1-B1A861925892}</a:tableStyleId>
              </a:tblPr>
              <a:tblGrid>
                <a:gridCol w="5448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9707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79362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121925">
                <a:tc gridSpan="3"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latin typeface="Roboto"/>
                          <a:ea typeface="Roboto"/>
                          <a:cs typeface="Roboto"/>
                          <a:sym typeface="Roboto"/>
                        </a:rPr>
                        <a:t>R3's Table</a:t>
                      </a:r>
                      <a:endParaRPr sz="12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21925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latin typeface="Roboto"/>
                          <a:ea typeface="Roboto"/>
                          <a:cs typeface="Roboto"/>
                          <a:sym typeface="Roboto"/>
                        </a:rPr>
                        <a:t>To:</a:t>
                      </a:r>
                      <a:endParaRPr sz="12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/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latin typeface="Roboto"/>
                          <a:ea typeface="Roboto"/>
                          <a:cs typeface="Roboto"/>
                          <a:sym typeface="Roboto"/>
                        </a:rPr>
                        <a:t>Via:</a:t>
                      </a:r>
                      <a:endParaRPr sz="12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/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latin typeface="Roboto"/>
                          <a:ea typeface="Roboto"/>
                          <a:cs typeface="Roboto"/>
                          <a:sym typeface="Roboto"/>
                        </a:rPr>
                        <a:t>Cost:</a:t>
                      </a:r>
                      <a:endParaRPr sz="12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21925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/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b="1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/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</a:tbl>
          </a:graphicData>
        </a:graphic>
      </p:graphicFrame>
      <p:graphicFrame>
        <p:nvGraphicFramePr>
          <p:cNvPr id="857" name="Google Shape;857;p53"/>
          <p:cNvGraphicFramePr/>
          <p:nvPr/>
        </p:nvGraphicFramePr>
        <p:xfrm>
          <a:off x="3997144" y="3394450"/>
          <a:ext cx="1835500" cy="688770"/>
        </p:xfrm>
        <a:graphic>
          <a:graphicData uri="http://schemas.openxmlformats.org/drawingml/2006/table">
            <a:tbl>
              <a:tblPr>
                <a:noFill/>
                <a:tableStyleId>{9827013E-C202-4D27-A2D1-B1A861925892}</a:tableStyleId>
              </a:tblPr>
              <a:tblGrid>
                <a:gridCol w="5448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9707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79362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121925">
                <a:tc gridSpan="3"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latin typeface="Roboto"/>
                          <a:ea typeface="Roboto"/>
                          <a:cs typeface="Roboto"/>
                          <a:sym typeface="Roboto"/>
                        </a:rPr>
                        <a:t>R2's Table</a:t>
                      </a:r>
                      <a:endParaRPr sz="12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>
                    <a:solidFill>
                      <a:srgbClr val="FFFFFF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21925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latin typeface="Roboto"/>
                          <a:ea typeface="Roboto"/>
                          <a:cs typeface="Roboto"/>
                          <a:sym typeface="Roboto"/>
                        </a:rPr>
                        <a:t>To:</a:t>
                      </a:r>
                      <a:endParaRPr sz="12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latin typeface="Roboto"/>
                          <a:ea typeface="Roboto"/>
                          <a:cs typeface="Roboto"/>
                          <a:sym typeface="Roboto"/>
                        </a:rPr>
                        <a:t>Via:</a:t>
                      </a:r>
                      <a:endParaRPr sz="12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latin typeface="Roboto"/>
                          <a:ea typeface="Roboto"/>
                          <a:cs typeface="Roboto"/>
                          <a:sym typeface="Roboto"/>
                        </a:rPr>
                        <a:t>Cost:</a:t>
                      </a:r>
                      <a:endParaRPr sz="12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21925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latin typeface="Roboto"/>
                          <a:ea typeface="Roboto"/>
                          <a:cs typeface="Roboto"/>
                          <a:sym typeface="Roboto"/>
                        </a:rPr>
                        <a:t>A</a:t>
                      </a:r>
                      <a:endParaRPr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/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latin typeface="Roboto"/>
                          <a:ea typeface="Roboto"/>
                          <a:cs typeface="Roboto"/>
                          <a:sym typeface="Roboto"/>
                        </a:rPr>
                        <a:t>R1</a:t>
                      </a:r>
                      <a:endParaRPr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/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latin typeface="Roboto"/>
                          <a:ea typeface="Roboto"/>
                          <a:cs typeface="Roboto"/>
                          <a:sym typeface="Roboto"/>
                        </a:rPr>
                        <a:t>2</a:t>
                      </a:r>
                      <a:endParaRPr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</a:tbl>
          </a:graphicData>
        </a:graphic>
      </p:graphicFrame>
      <p:cxnSp>
        <p:nvCxnSpPr>
          <p:cNvPr id="858" name="Google Shape;858;p53"/>
          <p:cNvCxnSpPr/>
          <p:nvPr/>
        </p:nvCxnSpPr>
        <p:spPr>
          <a:xfrm>
            <a:off x="3189445" y="2918275"/>
            <a:ext cx="1393500" cy="0"/>
          </a:xfrm>
          <a:prstGeom prst="straightConnector1">
            <a:avLst/>
          </a:prstGeom>
          <a:noFill/>
          <a:ln w="19050" cap="flat" cmpd="sng">
            <a:solidFill>
              <a:schemeClr val="accent2"/>
            </a:solidFill>
            <a:prstDash val="solid"/>
            <a:round/>
            <a:headEnd type="triangle" w="med" len="med"/>
            <a:tailEnd type="none" w="med" len="med"/>
          </a:ln>
        </p:spPr>
      </p:cxnSp>
      <p:sp>
        <p:nvSpPr>
          <p:cNvPr id="859" name="Google Shape;859;p53"/>
          <p:cNvSpPr/>
          <p:nvPr/>
        </p:nvSpPr>
        <p:spPr>
          <a:xfrm>
            <a:off x="3336000" y="2082550"/>
            <a:ext cx="1100400" cy="733800"/>
          </a:xfrm>
          <a:prstGeom prst="roundRect">
            <a:avLst>
              <a:gd name="adj" fmla="val 16667"/>
            </a:avLst>
          </a:prstGeom>
          <a:solidFill>
            <a:srgbClr val="F4CCCC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I'm </a:t>
            </a:r>
            <a:r>
              <a:rPr lang="en" b="1">
                <a:latin typeface="Roboto"/>
                <a:ea typeface="Roboto"/>
                <a:cs typeface="Roboto"/>
                <a:sym typeface="Roboto"/>
              </a:rPr>
              <a:t>R2</a:t>
            </a:r>
            <a:r>
              <a:rPr lang="en">
                <a:latin typeface="Roboto"/>
                <a:ea typeface="Roboto"/>
                <a:cs typeface="Roboto"/>
                <a:sym typeface="Roboto"/>
              </a:rPr>
              <a:t>, and </a:t>
            </a:r>
            <a:r>
              <a:rPr lang="en" b="1">
                <a:latin typeface="Roboto"/>
                <a:ea typeface="Roboto"/>
                <a:cs typeface="Roboto"/>
                <a:sym typeface="Roboto"/>
              </a:rPr>
              <a:t>A</a:t>
            </a:r>
            <a:r>
              <a:rPr lang="en">
                <a:latin typeface="Roboto"/>
                <a:ea typeface="Roboto"/>
                <a:cs typeface="Roboto"/>
                <a:sym typeface="Roboto"/>
              </a:rPr>
              <a:t> is </a:t>
            </a:r>
            <a:r>
              <a:rPr lang="en" b="1">
                <a:latin typeface="Roboto"/>
                <a:ea typeface="Roboto"/>
                <a:cs typeface="Roboto"/>
                <a:sym typeface="Roboto"/>
              </a:rPr>
              <a:t>2</a:t>
            </a:r>
            <a:r>
              <a:rPr lang="en">
                <a:latin typeface="Roboto"/>
                <a:ea typeface="Roboto"/>
                <a:cs typeface="Roboto"/>
                <a:sym typeface="Roboto"/>
              </a:rPr>
              <a:t> away from me.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860" name="Google Shape;860;p53"/>
          <p:cNvCxnSpPr/>
          <p:nvPr/>
        </p:nvCxnSpPr>
        <p:spPr>
          <a:xfrm>
            <a:off x="5246845" y="2918275"/>
            <a:ext cx="1393500" cy="0"/>
          </a:xfrm>
          <a:prstGeom prst="straightConnector1">
            <a:avLst/>
          </a:prstGeom>
          <a:noFill/>
          <a:ln w="19050" cap="flat" cmpd="sng">
            <a:solidFill>
              <a:schemeClr val="accent2"/>
            </a:solidFill>
            <a:prstDash val="solid"/>
            <a:round/>
            <a:headEnd type="none" w="med" len="med"/>
            <a:tailEnd type="triangle" w="med" len="med"/>
          </a:ln>
        </p:spPr>
      </p:cxnSp>
      <p:sp>
        <p:nvSpPr>
          <p:cNvPr id="861" name="Google Shape;861;p53"/>
          <p:cNvSpPr/>
          <p:nvPr/>
        </p:nvSpPr>
        <p:spPr>
          <a:xfrm>
            <a:off x="5393400" y="2082550"/>
            <a:ext cx="1100400" cy="733800"/>
          </a:xfrm>
          <a:prstGeom prst="roundRect">
            <a:avLst>
              <a:gd name="adj" fmla="val 16667"/>
            </a:avLst>
          </a:prstGeom>
          <a:solidFill>
            <a:srgbClr val="F4CCCC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I'm </a:t>
            </a:r>
            <a:r>
              <a:rPr lang="en" b="1">
                <a:latin typeface="Roboto"/>
                <a:ea typeface="Roboto"/>
                <a:cs typeface="Roboto"/>
                <a:sym typeface="Roboto"/>
              </a:rPr>
              <a:t>R2</a:t>
            </a:r>
            <a:r>
              <a:rPr lang="en">
                <a:latin typeface="Roboto"/>
                <a:ea typeface="Roboto"/>
                <a:cs typeface="Roboto"/>
                <a:sym typeface="Roboto"/>
              </a:rPr>
              <a:t>, and </a:t>
            </a:r>
            <a:r>
              <a:rPr lang="en" b="1">
                <a:latin typeface="Roboto"/>
                <a:ea typeface="Roboto"/>
                <a:cs typeface="Roboto"/>
                <a:sym typeface="Roboto"/>
              </a:rPr>
              <a:t>A</a:t>
            </a:r>
            <a:r>
              <a:rPr lang="en">
                <a:latin typeface="Roboto"/>
                <a:ea typeface="Roboto"/>
                <a:cs typeface="Roboto"/>
                <a:sym typeface="Roboto"/>
              </a:rPr>
              <a:t> is </a:t>
            </a:r>
            <a:r>
              <a:rPr lang="en" b="1">
                <a:latin typeface="Roboto"/>
                <a:ea typeface="Roboto"/>
                <a:cs typeface="Roboto"/>
                <a:sym typeface="Roboto"/>
              </a:rPr>
              <a:t>2</a:t>
            </a:r>
            <a:r>
              <a:rPr lang="en">
                <a:latin typeface="Roboto"/>
                <a:ea typeface="Roboto"/>
                <a:cs typeface="Roboto"/>
                <a:sym typeface="Roboto"/>
              </a:rPr>
              <a:t> away from me.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862" name="Google Shape;862;p53"/>
          <p:cNvSpPr txBox="1"/>
          <p:nvPr/>
        </p:nvSpPr>
        <p:spPr>
          <a:xfrm>
            <a:off x="2419800" y="4261775"/>
            <a:ext cx="4990200" cy="486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27425" tIns="27425" rIns="27425" bIns="27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accent2"/>
                </a:solidFill>
                <a:latin typeface="Roboto"/>
                <a:ea typeface="Roboto"/>
                <a:cs typeface="Roboto"/>
                <a:sym typeface="Roboto"/>
              </a:rPr>
              <a:t>Notice: R2's announcement doesn't include the next-hop.</a:t>
            </a:r>
            <a:br>
              <a:rPr lang="en">
                <a:solidFill>
                  <a:schemeClr val="accent2"/>
                </a:solidFill>
                <a:latin typeface="Roboto"/>
                <a:ea typeface="Roboto"/>
                <a:cs typeface="Roboto"/>
                <a:sym typeface="Roboto"/>
              </a:rPr>
            </a:br>
            <a:r>
              <a:rPr lang="en">
                <a:solidFill>
                  <a:schemeClr val="accent2"/>
                </a:solidFill>
                <a:latin typeface="Roboto"/>
                <a:ea typeface="Roboto"/>
                <a:cs typeface="Roboto"/>
                <a:sym typeface="Roboto"/>
              </a:rPr>
              <a:t>Nobody else cares </a:t>
            </a:r>
            <a:r>
              <a:rPr lang="en" i="1">
                <a:solidFill>
                  <a:schemeClr val="accent2"/>
                </a:solidFill>
                <a:latin typeface="Roboto"/>
                <a:ea typeface="Roboto"/>
                <a:cs typeface="Roboto"/>
                <a:sym typeface="Roboto"/>
              </a:rPr>
              <a:t>how</a:t>
            </a:r>
            <a:r>
              <a:rPr lang="en">
                <a:solidFill>
                  <a:schemeClr val="accent2"/>
                </a:solidFill>
                <a:latin typeface="Roboto"/>
                <a:ea typeface="Roboto"/>
                <a:cs typeface="Roboto"/>
                <a:sym typeface="Roboto"/>
              </a:rPr>
              <a:t> R2 reaches A, just that R2 </a:t>
            </a:r>
            <a:r>
              <a:rPr lang="en" i="1">
                <a:solidFill>
                  <a:schemeClr val="accent2"/>
                </a:solidFill>
                <a:latin typeface="Roboto"/>
                <a:ea typeface="Roboto"/>
                <a:cs typeface="Roboto"/>
                <a:sym typeface="Roboto"/>
              </a:rPr>
              <a:t>can</a:t>
            </a:r>
            <a:r>
              <a:rPr lang="en">
                <a:solidFill>
                  <a:schemeClr val="accent2"/>
                </a:solidFill>
                <a:latin typeface="Roboto"/>
                <a:ea typeface="Roboto"/>
                <a:cs typeface="Roboto"/>
                <a:sym typeface="Roboto"/>
              </a:rPr>
              <a:t> reach A.</a:t>
            </a:r>
            <a:endParaRPr>
              <a:solidFill>
                <a:schemeClr val="accent2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5A39B98F-0352-4A6C-BCEC-40CF7DEDB4DE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 smtClean="0"/>
              <a:t>29</a:t>
            </a:fld>
            <a:endParaRPr lang="en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7" name="Google Shape;867;p54"/>
          <p:cNvSpPr txBox="1">
            <a:spLocks noGrp="1"/>
          </p:cNvSpPr>
          <p:nvPr>
            <p:ph type="title"/>
          </p:nvPr>
        </p:nvSpPr>
        <p:spPr>
          <a:xfrm>
            <a:off x="0" y="0"/>
            <a:ext cx="9144000" cy="39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Bellman-Ford Demo</a:t>
            </a:r>
            <a:endParaRPr/>
          </a:p>
        </p:txBody>
      </p:sp>
      <p:sp>
        <p:nvSpPr>
          <p:cNvPr id="868" name="Google Shape;868;p54"/>
          <p:cNvSpPr/>
          <p:nvPr/>
        </p:nvSpPr>
        <p:spPr>
          <a:xfrm>
            <a:off x="2715000" y="2877700"/>
            <a:ext cx="285000" cy="285000"/>
          </a:xfrm>
          <a:prstGeom prst="rect">
            <a:avLst/>
          </a:prstGeom>
          <a:solidFill>
            <a:srgbClr val="FFFFFF"/>
          </a:solidFill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R1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869" name="Google Shape;869;p54"/>
          <p:cNvSpPr/>
          <p:nvPr/>
        </p:nvSpPr>
        <p:spPr>
          <a:xfrm>
            <a:off x="657588" y="2877700"/>
            <a:ext cx="285000" cy="285000"/>
          </a:xfrm>
          <a:prstGeom prst="ellipse">
            <a:avLst/>
          </a:prstGeom>
          <a:solidFill>
            <a:srgbClr val="FFFFFF"/>
          </a:solidFill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A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870" name="Google Shape;870;p54"/>
          <p:cNvCxnSpPr>
            <a:stCxn id="869" idx="6"/>
            <a:endCxn id="868" idx="1"/>
          </p:cNvCxnSpPr>
          <p:nvPr/>
        </p:nvCxnSpPr>
        <p:spPr>
          <a:xfrm>
            <a:off x="942588" y="3020200"/>
            <a:ext cx="1772400" cy="0"/>
          </a:xfrm>
          <a:prstGeom prst="straightConnector1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871" name="Google Shape;871;p54"/>
          <p:cNvSpPr/>
          <p:nvPr/>
        </p:nvSpPr>
        <p:spPr>
          <a:xfrm>
            <a:off x="4772400" y="2877700"/>
            <a:ext cx="285000" cy="285000"/>
          </a:xfrm>
          <a:prstGeom prst="rect">
            <a:avLst/>
          </a:prstGeom>
          <a:solidFill>
            <a:srgbClr val="FFFFFF"/>
          </a:solidFill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R2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872" name="Google Shape;872;p54"/>
          <p:cNvCxnSpPr>
            <a:stCxn id="868" idx="3"/>
            <a:endCxn id="871" idx="1"/>
          </p:cNvCxnSpPr>
          <p:nvPr/>
        </p:nvCxnSpPr>
        <p:spPr>
          <a:xfrm>
            <a:off x="3000000" y="3020200"/>
            <a:ext cx="1772400" cy="0"/>
          </a:xfrm>
          <a:prstGeom prst="straightConnector1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873" name="Google Shape;873;p54"/>
          <p:cNvSpPr/>
          <p:nvPr/>
        </p:nvSpPr>
        <p:spPr>
          <a:xfrm>
            <a:off x="6829800" y="2877700"/>
            <a:ext cx="285000" cy="285000"/>
          </a:xfrm>
          <a:prstGeom prst="rect">
            <a:avLst/>
          </a:prstGeom>
          <a:solidFill>
            <a:srgbClr val="FFFFFF"/>
          </a:solidFill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R3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874" name="Google Shape;874;p54"/>
          <p:cNvCxnSpPr>
            <a:stCxn id="871" idx="3"/>
            <a:endCxn id="873" idx="1"/>
          </p:cNvCxnSpPr>
          <p:nvPr/>
        </p:nvCxnSpPr>
        <p:spPr>
          <a:xfrm>
            <a:off x="5057400" y="3020200"/>
            <a:ext cx="1772400" cy="0"/>
          </a:xfrm>
          <a:prstGeom prst="straightConnector1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med" len="med"/>
            <a:tailEnd type="none" w="med" len="med"/>
          </a:ln>
        </p:spPr>
      </p:cxnSp>
      <p:graphicFrame>
        <p:nvGraphicFramePr>
          <p:cNvPr id="875" name="Google Shape;875;p54"/>
          <p:cNvGraphicFramePr/>
          <p:nvPr/>
        </p:nvGraphicFramePr>
        <p:xfrm>
          <a:off x="1939744" y="3394450"/>
          <a:ext cx="1835500" cy="688770"/>
        </p:xfrm>
        <a:graphic>
          <a:graphicData uri="http://schemas.openxmlformats.org/drawingml/2006/table">
            <a:tbl>
              <a:tblPr>
                <a:noFill/>
                <a:tableStyleId>{9827013E-C202-4D27-A2D1-B1A861925892}</a:tableStyleId>
              </a:tblPr>
              <a:tblGrid>
                <a:gridCol w="5448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9707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79362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121925">
                <a:tc gridSpan="3"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latin typeface="Roboto"/>
                          <a:ea typeface="Roboto"/>
                          <a:cs typeface="Roboto"/>
                          <a:sym typeface="Roboto"/>
                        </a:rPr>
                        <a:t>R1's Table</a:t>
                      </a:r>
                      <a:endParaRPr sz="12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21925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latin typeface="Roboto"/>
                          <a:ea typeface="Roboto"/>
                          <a:cs typeface="Roboto"/>
                          <a:sym typeface="Roboto"/>
                        </a:rPr>
                        <a:t>To:</a:t>
                      </a:r>
                      <a:endParaRPr sz="12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/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latin typeface="Roboto"/>
                          <a:ea typeface="Roboto"/>
                          <a:cs typeface="Roboto"/>
                          <a:sym typeface="Roboto"/>
                        </a:rPr>
                        <a:t>Via:</a:t>
                      </a:r>
                      <a:endParaRPr sz="12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/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latin typeface="Roboto"/>
                          <a:ea typeface="Roboto"/>
                          <a:cs typeface="Roboto"/>
                          <a:sym typeface="Roboto"/>
                        </a:rPr>
                        <a:t>Cost:</a:t>
                      </a:r>
                      <a:endParaRPr sz="12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21925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latin typeface="Roboto"/>
                          <a:ea typeface="Roboto"/>
                          <a:cs typeface="Roboto"/>
                          <a:sym typeface="Roboto"/>
                        </a:rPr>
                        <a:t>A</a:t>
                      </a:r>
                      <a:endParaRPr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/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latin typeface="Roboto"/>
                          <a:ea typeface="Roboto"/>
                          <a:cs typeface="Roboto"/>
                          <a:sym typeface="Roboto"/>
                        </a:rPr>
                        <a:t>Direct</a:t>
                      </a:r>
                      <a:endParaRPr sz="12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/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latin typeface="Roboto"/>
                          <a:ea typeface="Roboto"/>
                          <a:cs typeface="Roboto"/>
                          <a:sym typeface="Roboto"/>
                        </a:rPr>
                        <a:t>1</a:t>
                      </a:r>
                      <a:endParaRPr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</a:tbl>
          </a:graphicData>
        </a:graphic>
      </p:graphicFrame>
      <p:graphicFrame>
        <p:nvGraphicFramePr>
          <p:cNvPr id="876" name="Google Shape;876;p54"/>
          <p:cNvGraphicFramePr/>
          <p:nvPr/>
        </p:nvGraphicFramePr>
        <p:xfrm>
          <a:off x="6054544" y="3394450"/>
          <a:ext cx="1835500" cy="688770"/>
        </p:xfrm>
        <a:graphic>
          <a:graphicData uri="http://schemas.openxmlformats.org/drawingml/2006/table">
            <a:tbl>
              <a:tblPr>
                <a:noFill/>
                <a:tableStyleId>{9827013E-C202-4D27-A2D1-B1A861925892}</a:tableStyleId>
              </a:tblPr>
              <a:tblGrid>
                <a:gridCol w="5448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9707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79362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121925">
                <a:tc gridSpan="3"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latin typeface="Roboto"/>
                          <a:ea typeface="Roboto"/>
                          <a:cs typeface="Roboto"/>
                          <a:sym typeface="Roboto"/>
                        </a:rPr>
                        <a:t>R3's Table</a:t>
                      </a:r>
                      <a:endParaRPr sz="12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21925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latin typeface="Roboto"/>
                          <a:ea typeface="Roboto"/>
                          <a:cs typeface="Roboto"/>
                          <a:sym typeface="Roboto"/>
                        </a:rPr>
                        <a:t>To:</a:t>
                      </a:r>
                      <a:endParaRPr sz="12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/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latin typeface="Roboto"/>
                          <a:ea typeface="Roboto"/>
                          <a:cs typeface="Roboto"/>
                          <a:sym typeface="Roboto"/>
                        </a:rPr>
                        <a:t>Via:</a:t>
                      </a:r>
                      <a:endParaRPr sz="12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/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latin typeface="Roboto"/>
                          <a:ea typeface="Roboto"/>
                          <a:cs typeface="Roboto"/>
                          <a:sym typeface="Roboto"/>
                        </a:rPr>
                        <a:t>Cost:</a:t>
                      </a:r>
                      <a:endParaRPr sz="12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21925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/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b="1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/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</a:tbl>
          </a:graphicData>
        </a:graphic>
      </p:graphicFrame>
      <p:graphicFrame>
        <p:nvGraphicFramePr>
          <p:cNvPr id="877" name="Google Shape;877;p54"/>
          <p:cNvGraphicFramePr/>
          <p:nvPr/>
        </p:nvGraphicFramePr>
        <p:xfrm>
          <a:off x="3997144" y="3394450"/>
          <a:ext cx="1835500" cy="688770"/>
        </p:xfrm>
        <a:graphic>
          <a:graphicData uri="http://schemas.openxmlformats.org/drawingml/2006/table">
            <a:tbl>
              <a:tblPr>
                <a:noFill/>
                <a:tableStyleId>{9827013E-C202-4D27-A2D1-B1A861925892}</a:tableStyleId>
              </a:tblPr>
              <a:tblGrid>
                <a:gridCol w="5448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9707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79362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121925">
                <a:tc gridSpan="3"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latin typeface="Roboto"/>
                          <a:ea typeface="Roboto"/>
                          <a:cs typeface="Roboto"/>
                          <a:sym typeface="Roboto"/>
                        </a:rPr>
                        <a:t>R2's Table</a:t>
                      </a:r>
                      <a:endParaRPr sz="12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>
                    <a:solidFill>
                      <a:srgbClr val="FFFFFF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21925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latin typeface="Roboto"/>
                          <a:ea typeface="Roboto"/>
                          <a:cs typeface="Roboto"/>
                          <a:sym typeface="Roboto"/>
                        </a:rPr>
                        <a:t>To:</a:t>
                      </a:r>
                      <a:endParaRPr sz="12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latin typeface="Roboto"/>
                          <a:ea typeface="Roboto"/>
                          <a:cs typeface="Roboto"/>
                          <a:sym typeface="Roboto"/>
                        </a:rPr>
                        <a:t>Via:</a:t>
                      </a:r>
                      <a:endParaRPr sz="12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latin typeface="Roboto"/>
                          <a:ea typeface="Roboto"/>
                          <a:cs typeface="Roboto"/>
                          <a:sym typeface="Roboto"/>
                        </a:rPr>
                        <a:t>Cost:</a:t>
                      </a:r>
                      <a:endParaRPr sz="12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21925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latin typeface="Roboto"/>
                          <a:ea typeface="Roboto"/>
                          <a:cs typeface="Roboto"/>
                          <a:sym typeface="Roboto"/>
                        </a:rPr>
                        <a:t>A</a:t>
                      </a:r>
                      <a:endParaRPr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/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latin typeface="Roboto"/>
                          <a:ea typeface="Roboto"/>
                          <a:cs typeface="Roboto"/>
                          <a:sym typeface="Roboto"/>
                        </a:rPr>
                        <a:t>R1</a:t>
                      </a:r>
                      <a:endParaRPr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/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latin typeface="Roboto"/>
                          <a:ea typeface="Roboto"/>
                          <a:cs typeface="Roboto"/>
                          <a:sym typeface="Roboto"/>
                        </a:rPr>
                        <a:t>2</a:t>
                      </a:r>
                      <a:endParaRPr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</a:tbl>
          </a:graphicData>
        </a:graphic>
      </p:graphicFrame>
      <p:cxnSp>
        <p:nvCxnSpPr>
          <p:cNvPr id="878" name="Google Shape;878;p54"/>
          <p:cNvCxnSpPr/>
          <p:nvPr/>
        </p:nvCxnSpPr>
        <p:spPr>
          <a:xfrm>
            <a:off x="3189445" y="2918275"/>
            <a:ext cx="1393500" cy="0"/>
          </a:xfrm>
          <a:prstGeom prst="straightConnector1">
            <a:avLst/>
          </a:prstGeom>
          <a:noFill/>
          <a:ln w="19050" cap="flat" cmpd="sng">
            <a:solidFill>
              <a:schemeClr val="accent2"/>
            </a:solidFill>
            <a:prstDash val="solid"/>
            <a:round/>
            <a:headEnd type="triangle" w="med" len="med"/>
            <a:tailEnd type="none" w="med" len="med"/>
          </a:ln>
        </p:spPr>
      </p:cxnSp>
      <p:sp>
        <p:nvSpPr>
          <p:cNvPr id="879" name="Google Shape;879;p54"/>
          <p:cNvSpPr/>
          <p:nvPr/>
        </p:nvSpPr>
        <p:spPr>
          <a:xfrm>
            <a:off x="3336000" y="2082550"/>
            <a:ext cx="1100400" cy="733800"/>
          </a:xfrm>
          <a:prstGeom prst="roundRect">
            <a:avLst>
              <a:gd name="adj" fmla="val 16667"/>
            </a:avLst>
          </a:prstGeom>
          <a:solidFill>
            <a:srgbClr val="F4CCCC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I'm </a:t>
            </a:r>
            <a:r>
              <a:rPr lang="en" b="1">
                <a:latin typeface="Roboto"/>
                <a:ea typeface="Roboto"/>
                <a:cs typeface="Roboto"/>
                <a:sym typeface="Roboto"/>
              </a:rPr>
              <a:t>R2</a:t>
            </a:r>
            <a:r>
              <a:rPr lang="en">
                <a:latin typeface="Roboto"/>
                <a:ea typeface="Roboto"/>
                <a:cs typeface="Roboto"/>
                <a:sym typeface="Roboto"/>
              </a:rPr>
              <a:t>, and </a:t>
            </a:r>
            <a:r>
              <a:rPr lang="en" b="1">
                <a:latin typeface="Roboto"/>
                <a:ea typeface="Roboto"/>
                <a:cs typeface="Roboto"/>
                <a:sym typeface="Roboto"/>
              </a:rPr>
              <a:t>A</a:t>
            </a:r>
            <a:r>
              <a:rPr lang="en">
                <a:latin typeface="Roboto"/>
                <a:ea typeface="Roboto"/>
                <a:cs typeface="Roboto"/>
                <a:sym typeface="Roboto"/>
              </a:rPr>
              <a:t> is </a:t>
            </a:r>
            <a:r>
              <a:rPr lang="en" b="1">
                <a:latin typeface="Roboto"/>
                <a:ea typeface="Roboto"/>
                <a:cs typeface="Roboto"/>
                <a:sym typeface="Roboto"/>
              </a:rPr>
              <a:t>2</a:t>
            </a:r>
            <a:r>
              <a:rPr lang="en">
                <a:latin typeface="Roboto"/>
                <a:ea typeface="Roboto"/>
                <a:cs typeface="Roboto"/>
                <a:sym typeface="Roboto"/>
              </a:rPr>
              <a:t> away from me.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880" name="Google Shape;880;p54"/>
          <p:cNvCxnSpPr/>
          <p:nvPr/>
        </p:nvCxnSpPr>
        <p:spPr>
          <a:xfrm>
            <a:off x="5246845" y="2918275"/>
            <a:ext cx="1393500" cy="0"/>
          </a:xfrm>
          <a:prstGeom prst="straightConnector1">
            <a:avLst/>
          </a:prstGeom>
          <a:noFill/>
          <a:ln w="19050" cap="flat" cmpd="sng">
            <a:solidFill>
              <a:srgbClr val="D9D9D9"/>
            </a:solidFill>
            <a:prstDash val="solid"/>
            <a:round/>
            <a:headEnd type="none" w="med" len="med"/>
            <a:tailEnd type="triangle" w="med" len="med"/>
          </a:ln>
        </p:spPr>
      </p:cxnSp>
      <p:sp>
        <p:nvSpPr>
          <p:cNvPr id="881" name="Google Shape;881;p54"/>
          <p:cNvSpPr/>
          <p:nvPr/>
        </p:nvSpPr>
        <p:spPr>
          <a:xfrm>
            <a:off x="5393400" y="2082550"/>
            <a:ext cx="1100400" cy="733800"/>
          </a:xfrm>
          <a:prstGeom prst="roundRect">
            <a:avLst>
              <a:gd name="adj" fmla="val 16667"/>
            </a:avLst>
          </a:prstGeom>
          <a:solidFill>
            <a:srgbClr val="EFEFEF"/>
          </a:solidFill>
          <a:ln w="9525" cap="flat" cmpd="sng">
            <a:solidFill>
              <a:srgbClr val="D9D9D9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B7B7B7"/>
                </a:solidFill>
                <a:latin typeface="Roboto"/>
                <a:ea typeface="Roboto"/>
                <a:cs typeface="Roboto"/>
                <a:sym typeface="Roboto"/>
              </a:rPr>
              <a:t>I'm </a:t>
            </a:r>
            <a:r>
              <a:rPr lang="en" b="1">
                <a:solidFill>
                  <a:srgbClr val="B7B7B7"/>
                </a:solidFill>
                <a:latin typeface="Roboto"/>
                <a:ea typeface="Roboto"/>
                <a:cs typeface="Roboto"/>
                <a:sym typeface="Roboto"/>
              </a:rPr>
              <a:t>R2</a:t>
            </a:r>
            <a:r>
              <a:rPr lang="en">
                <a:solidFill>
                  <a:srgbClr val="B7B7B7"/>
                </a:solidFill>
                <a:latin typeface="Roboto"/>
                <a:ea typeface="Roboto"/>
                <a:cs typeface="Roboto"/>
                <a:sym typeface="Roboto"/>
              </a:rPr>
              <a:t>, and </a:t>
            </a:r>
            <a:r>
              <a:rPr lang="en" b="1">
                <a:solidFill>
                  <a:srgbClr val="B7B7B7"/>
                </a:solidFill>
                <a:latin typeface="Roboto"/>
                <a:ea typeface="Roboto"/>
                <a:cs typeface="Roboto"/>
                <a:sym typeface="Roboto"/>
              </a:rPr>
              <a:t>A</a:t>
            </a:r>
            <a:r>
              <a:rPr lang="en">
                <a:solidFill>
                  <a:srgbClr val="B7B7B7"/>
                </a:solidFill>
                <a:latin typeface="Roboto"/>
                <a:ea typeface="Roboto"/>
                <a:cs typeface="Roboto"/>
                <a:sym typeface="Roboto"/>
              </a:rPr>
              <a:t> is </a:t>
            </a:r>
            <a:r>
              <a:rPr lang="en" b="1">
                <a:solidFill>
                  <a:srgbClr val="B7B7B7"/>
                </a:solidFill>
                <a:latin typeface="Roboto"/>
                <a:ea typeface="Roboto"/>
                <a:cs typeface="Roboto"/>
                <a:sym typeface="Roboto"/>
              </a:rPr>
              <a:t>2</a:t>
            </a:r>
            <a:r>
              <a:rPr lang="en">
                <a:solidFill>
                  <a:srgbClr val="B7B7B7"/>
                </a:solidFill>
                <a:latin typeface="Roboto"/>
                <a:ea typeface="Roboto"/>
                <a:cs typeface="Roboto"/>
                <a:sym typeface="Roboto"/>
              </a:rPr>
              <a:t> away from me.</a:t>
            </a:r>
            <a:endParaRPr>
              <a:solidFill>
                <a:srgbClr val="B7B7B7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882" name="Google Shape;882;p54"/>
          <p:cNvSpPr/>
          <p:nvPr/>
        </p:nvSpPr>
        <p:spPr>
          <a:xfrm>
            <a:off x="621925" y="1375350"/>
            <a:ext cx="2514900" cy="1196400"/>
          </a:xfrm>
          <a:prstGeom prst="wedgeRoundRectCallout">
            <a:avLst>
              <a:gd name="adj1" fmla="val 37901"/>
              <a:gd name="adj2" fmla="val 68963"/>
              <a:gd name="adj3" fmla="val 0"/>
            </a:avLst>
          </a:prstGeom>
          <a:noFill/>
          <a:ln w="9525" cap="flat" cmpd="sng">
            <a:solidFill>
              <a:schemeClr val="accent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accent2"/>
                </a:solidFill>
                <a:latin typeface="Roboto"/>
                <a:ea typeface="Roboto"/>
                <a:cs typeface="Roboto"/>
                <a:sym typeface="Roboto"/>
              </a:rPr>
              <a:t>New advertisement?!</a:t>
            </a:r>
            <a:endParaRPr>
              <a:solidFill>
                <a:schemeClr val="accent2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0" lvl="0" indent="0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accent2"/>
                </a:solidFill>
                <a:latin typeface="Roboto"/>
                <a:ea typeface="Roboto"/>
                <a:cs typeface="Roboto"/>
                <a:sym typeface="Roboto"/>
              </a:rPr>
              <a:t>This new path costs 1+2=3.</a:t>
            </a:r>
            <a:endParaRPr>
              <a:solidFill>
                <a:schemeClr val="accent2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0" lvl="0" indent="0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accent2"/>
                </a:solidFill>
                <a:latin typeface="Roboto"/>
                <a:ea typeface="Roboto"/>
                <a:cs typeface="Roboto"/>
                <a:sym typeface="Roboto"/>
              </a:rPr>
              <a:t>I already have a cost 1 path.</a:t>
            </a:r>
            <a:endParaRPr>
              <a:solidFill>
                <a:schemeClr val="accent2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0" lvl="0" indent="0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accent2"/>
                </a:solidFill>
                <a:latin typeface="Roboto"/>
                <a:ea typeface="Roboto"/>
                <a:cs typeface="Roboto"/>
                <a:sym typeface="Roboto"/>
              </a:rPr>
              <a:t>No thanks.</a:t>
            </a:r>
            <a:endParaRPr>
              <a:solidFill>
                <a:schemeClr val="accent2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EDFDC601-7D2F-42ED-CB14-3F0E13068F86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 smtClean="0"/>
              <a:t>30</a:t>
            </a:fld>
            <a:endParaRPr lang="en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7" name="Google Shape;887;p55"/>
          <p:cNvSpPr txBox="1">
            <a:spLocks noGrp="1"/>
          </p:cNvSpPr>
          <p:nvPr>
            <p:ph type="title"/>
          </p:nvPr>
        </p:nvSpPr>
        <p:spPr>
          <a:xfrm>
            <a:off x="0" y="0"/>
            <a:ext cx="9144000" cy="39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Bellman-Ford Demo</a:t>
            </a:r>
            <a:endParaRPr/>
          </a:p>
        </p:txBody>
      </p:sp>
      <p:sp>
        <p:nvSpPr>
          <p:cNvPr id="888" name="Google Shape;888;p55"/>
          <p:cNvSpPr/>
          <p:nvPr/>
        </p:nvSpPr>
        <p:spPr>
          <a:xfrm>
            <a:off x="2715000" y="2877700"/>
            <a:ext cx="285000" cy="285000"/>
          </a:xfrm>
          <a:prstGeom prst="rect">
            <a:avLst/>
          </a:prstGeom>
          <a:solidFill>
            <a:srgbClr val="FFFFFF"/>
          </a:solidFill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R1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889" name="Google Shape;889;p55"/>
          <p:cNvSpPr/>
          <p:nvPr/>
        </p:nvSpPr>
        <p:spPr>
          <a:xfrm>
            <a:off x="657588" y="2877700"/>
            <a:ext cx="285000" cy="285000"/>
          </a:xfrm>
          <a:prstGeom prst="ellipse">
            <a:avLst/>
          </a:prstGeom>
          <a:solidFill>
            <a:srgbClr val="FFFFFF"/>
          </a:solidFill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A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890" name="Google Shape;890;p55"/>
          <p:cNvCxnSpPr>
            <a:stCxn id="889" idx="6"/>
            <a:endCxn id="888" idx="1"/>
          </p:cNvCxnSpPr>
          <p:nvPr/>
        </p:nvCxnSpPr>
        <p:spPr>
          <a:xfrm>
            <a:off x="942588" y="3020200"/>
            <a:ext cx="1772400" cy="0"/>
          </a:xfrm>
          <a:prstGeom prst="straightConnector1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891" name="Google Shape;891;p55"/>
          <p:cNvSpPr/>
          <p:nvPr/>
        </p:nvSpPr>
        <p:spPr>
          <a:xfrm>
            <a:off x="4772400" y="2877700"/>
            <a:ext cx="285000" cy="285000"/>
          </a:xfrm>
          <a:prstGeom prst="rect">
            <a:avLst/>
          </a:prstGeom>
          <a:solidFill>
            <a:srgbClr val="FFFFFF"/>
          </a:solidFill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R2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892" name="Google Shape;892;p55"/>
          <p:cNvCxnSpPr>
            <a:stCxn id="888" idx="3"/>
            <a:endCxn id="891" idx="1"/>
          </p:cNvCxnSpPr>
          <p:nvPr/>
        </p:nvCxnSpPr>
        <p:spPr>
          <a:xfrm>
            <a:off x="3000000" y="3020200"/>
            <a:ext cx="1772400" cy="0"/>
          </a:xfrm>
          <a:prstGeom prst="straightConnector1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893" name="Google Shape;893;p55"/>
          <p:cNvSpPr/>
          <p:nvPr/>
        </p:nvSpPr>
        <p:spPr>
          <a:xfrm>
            <a:off x="6829800" y="2877700"/>
            <a:ext cx="285000" cy="285000"/>
          </a:xfrm>
          <a:prstGeom prst="rect">
            <a:avLst/>
          </a:prstGeom>
          <a:solidFill>
            <a:srgbClr val="FFFFFF"/>
          </a:solidFill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R3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894" name="Google Shape;894;p55"/>
          <p:cNvCxnSpPr>
            <a:stCxn id="891" idx="3"/>
            <a:endCxn id="893" idx="1"/>
          </p:cNvCxnSpPr>
          <p:nvPr/>
        </p:nvCxnSpPr>
        <p:spPr>
          <a:xfrm>
            <a:off x="5057400" y="3020200"/>
            <a:ext cx="1772400" cy="0"/>
          </a:xfrm>
          <a:prstGeom prst="straightConnector1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med" len="med"/>
            <a:tailEnd type="none" w="med" len="med"/>
          </a:ln>
        </p:spPr>
      </p:cxnSp>
      <p:graphicFrame>
        <p:nvGraphicFramePr>
          <p:cNvPr id="895" name="Google Shape;895;p55"/>
          <p:cNvGraphicFramePr/>
          <p:nvPr/>
        </p:nvGraphicFramePr>
        <p:xfrm>
          <a:off x="1939744" y="3394450"/>
          <a:ext cx="1835500" cy="688770"/>
        </p:xfrm>
        <a:graphic>
          <a:graphicData uri="http://schemas.openxmlformats.org/drawingml/2006/table">
            <a:tbl>
              <a:tblPr>
                <a:noFill/>
                <a:tableStyleId>{9827013E-C202-4D27-A2D1-B1A861925892}</a:tableStyleId>
              </a:tblPr>
              <a:tblGrid>
                <a:gridCol w="5448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9707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79362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121925">
                <a:tc gridSpan="3"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latin typeface="Roboto"/>
                          <a:ea typeface="Roboto"/>
                          <a:cs typeface="Roboto"/>
                          <a:sym typeface="Roboto"/>
                        </a:rPr>
                        <a:t>R1's Table</a:t>
                      </a:r>
                      <a:endParaRPr sz="12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21925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latin typeface="Roboto"/>
                          <a:ea typeface="Roboto"/>
                          <a:cs typeface="Roboto"/>
                          <a:sym typeface="Roboto"/>
                        </a:rPr>
                        <a:t>To:</a:t>
                      </a:r>
                      <a:endParaRPr sz="12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/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latin typeface="Roboto"/>
                          <a:ea typeface="Roboto"/>
                          <a:cs typeface="Roboto"/>
                          <a:sym typeface="Roboto"/>
                        </a:rPr>
                        <a:t>Via:</a:t>
                      </a:r>
                      <a:endParaRPr sz="12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/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latin typeface="Roboto"/>
                          <a:ea typeface="Roboto"/>
                          <a:cs typeface="Roboto"/>
                          <a:sym typeface="Roboto"/>
                        </a:rPr>
                        <a:t>Cost:</a:t>
                      </a:r>
                      <a:endParaRPr sz="12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21925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latin typeface="Roboto"/>
                          <a:ea typeface="Roboto"/>
                          <a:cs typeface="Roboto"/>
                          <a:sym typeface="Roboto"/>
                        </a:rPr>
                        <a:t>A</a:t>
                      </a:r>
                      <a:endParaRPr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/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latin typeface="Roboto"/>
                          <a:ea typeface="Roboto"/>
                          <a:cs typeface="Roboto"/>
                          <a:sym typeface="Roboto"/>
                        </a:rPr>
                        <a:t>Direct</a:t>
                      </a:r>
                      <a:endParaRPr sz="12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/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latin typeface="Roboto"/>
                          <a:ea typeface="Roboto"/>
                          <a:cs typeface="Roboto"/>
                          <a:sym typeface="Roboto"/>
                        </a:rPr>
                        <a:t>1</a:t>
                      </a:r>
                      <a:endParaRPr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</a:tbl>
          </a:graphicData>
        </a:graphic>
      </p:graphicFrame>
      <p:graphicFrame>
        <p:nvGraphicFramePr>
          <p:cNvPr id="896" name="Google Shape;896;p55"/>
          <p:cNvGraphicFramePr/>
          <p:nvPr/>
        </p:nvGraphicFramePr>
        <p:xfrm>
          <a:off x="6054544" y="3394450"/>
          <a:ext cx="1835500" cy="688770"/>
        </p:xfrm>
        <a:graphic>
          <a:graphicData uri="http://schemas.openxmlformats.org/drawingml/2006/table">
            <a:tbl>
              <a:tblPr>
                <a:noFill/>
                <a:tableStyleId>{9827013E-C202-4D27-A2D1-B1A861925892}</a:tableStyleId>
              </a:tblPr>
              <a:tblGrid>
                <a:gridCol w="5448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9707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79362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121925">
                <a:tc gridSpan="3"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latin typeface="Roboto"/>
                          <a:ea typeface="Roboto"/>
                          <a:cs typeface="Roboto"/>
                          <a:sym typeface="Roboto"/>
                        </a:rPr>
                        <a:t>R3's Table</a:t>
                      </a:r>
                      <a:endParaRPr sz="12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21925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latin typeface="Roboto"/>
                          <a:ea typeface="Roboto"/>
                          <a:cs typeface="Roboto"/>
                          <a:sym typeface="Roboto"/>
                        </a:rPr>
                        <a:t>To:</a:t>
                      </a:r>
                      <a:endParaRPr sz="12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/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latin typeface="Roboto"/>
                          <a:ea typeface="Roboto"/>
                          <a:cs typeface="Roboto"/>
                          <a:sym typeface="Roboto"/>
                        </a:rPr>
                        <a:t>Via:</a:t>
                      </a:r>
                      <a:endParaRPr sz="12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/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latin typeface="Roboto"/>
                          <a:ea typeface="Roboto"/>
                          <a:cs typeface="Roboto"/>
                          <a:sym typeface="Roboto"/>
                        </a:rPr>
                        <a:t>Cost:</a:t>
                      </a:r>
                      <a:endParaRPr sz="12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21925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/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b="1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/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</a:tbl>
          </a:graphicData>
        </a:graphic>
      </p:graphicFrame>
      <p:graphicFrame>
        <p:nvGraphicFramePr>
          <p:cNvPr id="897" name="Google Shape;897;p55"/>
          <p:cNvGraphicFramePr/>
          <p:nvPr/>
        </p:nvGraphicFramePr>
        <p:xfrm>
          <a:off x="3997144" y="3394450"/>
          <a:ext cx="1835500" cy="688770"/>
        </p:xfrm>
        <a:graphic>
          <a:graphicData uri="http://schemas.openxmlformats.org/drawingml/2006/table">
            <a:tbl>
              <a:tblPr>
                <a:noFill/>
                <a:tableStyleId>{9827013E-C202-4D27-A2D1-B1A861925892}</a:tableStyleId>
              </a:tblPr>
              <a:tblGrid>
                <a:gridCol w="5448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9707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79362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121925">
                <a:tc gridSpan="3"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latin typeface="Roboto"/>
                          <a:ea typeface="Roboto"/>
                          <a:cs typeface="Roboto"/>
                          <a:sym typeface="Roboto"/>
                        </a:rPr>
                        <a:t>R2's Table</a:t>
                      </a:r>
                      <a:endParaRPr sz="12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>
                    <a:solidFill>
                      <a:srgbClr val="FFFFFF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21925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latin typeface="Roboto"/>
                          <a:ea typeface="Roboto"/>
                          <a:cs typeface="Roboto"/>
                          <a:sym typeface="Roboto"/>
                        </a:rPr>
                        <a:t>To:</a:t>
                      </a:r>
                      <a:endParaRPr sz="12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latin typeface="Roboto"/>
                          <a:ea typeface="Roboto"/>
                          <a:cs typeface="Roboto"/>
                          <a:sym typeface="Roboto"/>
                        </a:rPr>
                        <a:t>Via:</a:t>
                      </a:r>
                      <a:endParaRPr sz="12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latin typeface="Roboto"/>
                          <a:ea typeface="Roboto"/>
                          <a:cs typeface="Roboto"/>
                          <a:sym typeface="Roboto"/>
                        </a:rPr>
                        <a:t>Cost:</a:t>
                      </a:r>
                      <a:endParaRPr sz="12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21925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latin typeface="Roboto"/>
                          <a:ea typeface="Roboto"/>
                          <a:cs typeface="Roboto"/>
                          <a:sym typeface="Roboto"/>
                        </a:rPr>
                        <a:t>A</a:t>
                      </a:r>
                      <a:endParaRPr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/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latin typeface="Roboto"/>
                          <a:ea typeface="Roboto"/>
                          <a:cs typeface="Roboto"/>
                          <a:sym typeface="Roboto"/>
                        </a:rPr>
                        <a:t>R1</a:t>
                      </a:r>
                      <a:endParaRPr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/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latin typeface="Roboto"/>
                          <a:ea typeface="Roboto"/>
                          <a:cs typeface="Roboto"/>
                          <a:sym typeface="Roboto"/>
                        </a:rPr>
                        <a:t>2</a:t>
                      </a:r>
                      <a:endParaRPr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</a:tbl>
          </a:graphicData>
        </a:graphic>
      </p:graphicFrame>
      <p:cxnSp>
        <p:nvCxnSpPr>
          <p:cNvPr id="898" name="Google Shape;898;p55"/>
          <p:cNvCxnSpPr/>
          <p:nvPr/>
        </p:nvCxnSpPr>
        <p:spPr>
          <a:xfrm>
            <a:off x="3189445" y="2918275"/>
            <a:ext cx="1393500" cy="0"/>
          </a:xfrm>
          <a:prstGeom prst="straightConnector1">
            <a:avLst/>
          </a:prstGeom>
          <a:noFill/>
          <a:ln w="19050" cap="flat" cmpd="sng">
            <a:solidFill>
              <a:srgbClr val="D9D9D9"/>
            </a:solidFill>
            <a:prstDash val="solid"/>
            <a:round/>
            <a:headEnd type="triangle" w="med" len="med"/>
            <a:tailEnd type="none" w="med" len="med"/>
          </a:ln>
        </p:spPr>
      </p:cxnSp>
      <p:sp>
        <p:nvSpPr>
          <p:cNvPr id="899" name="Google Shape;899;p55"/>
          <p:cNvSpPr/>
          <p:nvPr/>
        </p:nvSpPr>
        <p:spPr>
          <a:xfrm>
            <a:off x="3336000" y="2082550"/>
            <a:ext cx="1100400" cy="733800"/>
          </a:xfrm>
          <a:prstGeom prst="roundRect">
            <a:avLst>
              <a:gd name="adj" fmla="val 16667"/>
            </a:avLst>
          </a:prstGeom>
          <a:solidFill>
            <a:srgbClr val="EFEFEF"/>
          </a:solidFill>
          <a:ln w="9525" cap="flat" cmpd="sng">
            <a:solidFill>
              <a:srgbClr val="D9D9D9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B7B7B7"/>
                </a:solidFill>
                <a:latin typeface="Roboto"/>
                <a:ea typeface="Roboto"/>
                <a:cs typeface="Roboto"/>
                <a:sym typeface="Roboto"/>
              </a:rPr>
              <a:t>I'm </a:t>
            </a:r>
            <a:r>
              <a:rPr lang="en" b="1">
                <a:solidFill>
                  <a:srgbClr val="B7B7B7"/>
                </a:solidFill>
                <a:latin typeface="Roboto"/>
                <a:ea typeface="Roboto"/>
                <a:cs typeface="Roboto"/>
                <a:sym typeface="Roboto"/>
              </a:rPr>
              <a:t>R2</a:t>
            </a:r>
            <a:r>
              <a:rPr lang="en">
                <a:solidFill>
                  <a:srgbClr val="B7B7B7"/>
                </a:solidFill>
                <a:latin typeface="Roboto"/>
                <a:ea typeface="Roboto"/>
                <a:cs typeface="Roboto"/>
                <a:sym typeface="Roboto"/>
              </a:rPr>
              <a:t>, and </a:t>
            </a:r>
            <a:r>
              <a:rPr lang="en" b="1">
                <a:solidFill>
                  <a:srgbClr val="B7B7B7"/>
                </a:solidFill>
                <a:latin typeface="Roboto"/>
                <a:ea typeface="Roboto"/>
                <a:cs typeface="Roboto"/>
                <a:sym typeface="Roboto"/>
              </a:rPr>
              <a:t>A</a:t>
            </a:r>
            <a:r>
              <a:rPr lang="en">
                <a:solidFill>
                  <a:srgbClr val="B7B7B7"/>
                </a:solidFill>
                <a:latin typeface="Roboto"/>
                <a:ea typeface="Roboto"/>
                <a:cs typeface="Roboto"/>
                <a:sym typeface="Roboto"/>
              </a:rPr>
              <a:t> is </a:t>
            </a:r>
            <a:r>
              <a:rPr lang="en" b="1">
                <a:solidFill>
                  <a:srgbClr val="B7B7B7"/>
                </a:solidFill>
                <a:latin typeface="Roboto"/>
                <a:ea typeface="Roboto"/>
                <a:cs typeface="Roboto"/>
                <a:sym typeface="Roboto"/>
              </a:rPr>
              <a:t>2</a:t>
            </a:r>
            <a:r>
              <a:rPr lang="en">
                <a:solidFill>
                  <a:srgbClr val="B7B7B7"/>
                </a:solidFill>
                <a:latin typeface="Roboto"/>
                <a:ea typeface="Roboto"/>
                <a:cs typeface="Roboto"/>
                <a:sym typeface="Roboto"/>
              </a:rPr>
              <a:t> away from me.</a:t>
            </a:r>
            <a:endParaRPr>
              <a:solidFill>
                <a:srgbClr val="B7B7B7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900" name="Google Shape;900;p55"/>
          <p:cNvSpPr/>
          <p:nvPr/>
        </p:nvSpPr>
        <p:spPr>
          <a:xfrm>
            <a:off x="6829800" y="1663775"/>
            <a:ext cx="2093100" cy="818100"/>
          </a:xfrm>
          <a:prstGeom prst="wedgeRoundRectCallout">
            <a:avLst>
              <a:gd name="adj1" fmla="val -43228"/>
              <a:gd name="adj2" fmla="val 85115"/>
              <a:gd name="adj3" fmla="val 0"/>
            </a:avLst>
          </a:prstGeom>
          <a:noFill/>
          <a:ln w="9525" cap="flat" cmpd="sng">
            <a:solidFill>
              <a:schemeClr val="accent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accent2"/>
                </a:solidFill>
                <a:latin typeface="Roboto"/>
                <a:ea typeface="Roboto"/>
                <a:cs typeface="Roboto"/>
                <a:sym typeface="Roboto"/>
              </a:rPr>
              <a:t>New advertisement?!?</a:t>
            </a:r>
            <a:endParaRPr>
              <a:solidFill>
                <a:schemeClr val="accent2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accent2"/>
                </a:solidFill>
                <a:latin typeface="Roboto"/>
                <a:ea typeface="Roboto"/>
                <a:cs typeface="Roboto"/>
                <a:sym typeface="Roboto"/>
              </a:rPr>
              <a:t>I don't have a path to A yet, so I'll accept.</a:t>
            </a:r>
            <a:endParaRPr>
              <a:solidFill>
                <a:schemeClr val="accent2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901" name="Google Shape;901;p55"/>
          <p:cNvCxnSpPr/>
          <p:nvPr/>
        </p:nvCxnSpPr>
        <p:spPr>
          <a:xfrm>
            <a:off x="5246845" y="2918275"/>
            <a:ext cx="1393500" cy="0"/>
          </a:xfrm>
          <a:prstGeom prst="straightConnector1">
            <a:avLst/>
          </a:prstGeom>
          <a:noFill/>
          <a:ln w="19050" cap="flat" cmpd="sng">
            <a:solidFill>
              <a:schemeClr val="accent2"/>
            </a:solidFill>
            <a:prstDash val="solid"/>
            <a:round/>
            <a:headEnd type="none" w="med" len="med"/>
            <a:tailEnd type="triangle" w="med" len="med"/>
          </a:ln>
        </p:spPr>
      </p:cxnSp>
      <p:sp>
        <p:nvSpPr>
          <p:cNvPr id="902" name="Google Shape;902;p55"/>
          <p:cNvSpPr/>
          <p:nvPr/>
        </p:nvSpPr>
        <p:spPr>
          <a:xfrm>
            <a:off x="5393400" y="2082550"/>
            <a:ext cx="1100400" cy="733800"/>
          </a:xfrm>
          <a:prstGeom prst="roundRect">
            <a:avLst>
              <a:gd name="adj" fmla="val 16667"/>
            </a:avLst>
          </a:prstGeom>
          <a:solidFill>
            <a:srgbClr val="F4CCCC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I'm </a:t>
            </a:r>
            <a:r>
              <a:rPr lang="en" b="1">
                <a:latin typeface="Roboto"/>
                <a:ea typeface="Roboto"/>
                <a:cs typeface="Roboto"/>
                <a:sym typeface="Roboto"/>
              </a:rPr>
              <a:t>R2</a:t>
            </a:r>
            <a:r>
              <a:rPr lang="en">
                <a:latin typeface="Roboto"/>
                <a:ea typeface="Roboto"/>
                <a:cs typeface="Roboto"/>
                <a:sym typeface="Roboto"/>
              </a:rPr>
              <a:t>, and </a:t>
            </a:r>
            <a:r>
              <a:rPr lang="en" b="1">
                <a:latin typeface="Roboto"/>
                <a:ea typeface="Roboto"/>
                <a:cs typeface="Roboto"/>
                <a:sym typeface="Roboto"/>
              </a:rPr>
              <a:t>A</a:t>
            </a:r>
            <a:r>
              <a:rPr lang="en">
                <a:latin typeface="Roboto"/>
                <a:ea typeface="Roboto"/>
                <a:cs typeface="Roboto"/>
                <a:sym typeface="Roboto"/>
              </a:rPr>
              <a:t> is </a:t>
            </a:r>
            <a:r>
              <a:rPr lang="en" b="1">
                <a:latin typeface="Roboto"/>
                <a:ea typeface="Roboto"/>
                <a:cs typeface="Roboto"/>
                <a:sym typeface="Roboto"/>
              </a:rPr>
              <a:t>2</a:t>
            </a:r>
            <a:r>
              <a:rPr lang="en">
                <a:latin typeface="Roboto"/>
                <a:ea typeface="Roboto"/>
                <a:cs typeface="Roboto"/>
                <a:sym typeface="Roboto"/>
              </a:rPr>
              <a:t> away from me.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graphicFrame>
        <p:nvGraphicFramePr>
          <p:cNvPr id="903" name="Google Shape;903;p55"/>
          <p:cNvGraphicFramePr/>
          <p:nvPr/>
        </p:nvGraphicFramePr>
        <p:xfrm>
          <a:off x="6054544" y="3394450"/>
          <a:ext cx="1835500" cy="688770"/>
        </p:xfrm>
        <a:graphic>
          <a:graphicData uri="http://schemas.openxmlformats.org/drawingml/2006/table">
            <a:tbl>
              <a:tblPr>
                <a:noFill/>
                <a:tableStyleId>{9827013E-C202-4D27-A2D1-B1A861925892}</a:tableStyleId>
              </a:tblPr>
              <a:tblGrid>
                <a:gridCol w="5448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9707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79362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121925">
                <a:tc gridSpan="3"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latin typeface="Roboto"/>
                          <a:ea typeface="Roboto"/>
                          <a:cs typeface="Roboto"/>
                          <a:sym typeface="Roboto"/>
                        </a:rPr>
                        <a:t>R3's Table</a:t>
                      </a:r>
                      <a:endParaRPr sz="12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>
                    <a:solidFill>
                      <a:srgbClr val="FFFFFF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21925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latin typeface="Roboto"/>
                          <a:ea typeface="Roboto"/>
                          <a:cs typeface="Roboto"/>
                          <a:sym typeface="Roboto"/>
                        </a:rPr>
                        <a:t>To:</a:t>
                      </a:r>
                      <a:endParaRPr sz="12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latin typeface="Roboto"/>
                          <a:ea typeface="Roboto"/>
                          <a:cs typeface="Roboto"/>
                          <a:sym typeface="Roboto"/>
                        </a:rPr>
                        <a:t>Via:</a:t>
                      </a:r>
                      <a:endParaRPr sz="12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latin typeface="Roboto"/>
                          <a:ea typeface="Roboto"/>
                          <a:cs typeface="Roboto"/>
                          <a:sym typeface="Roboto"/>
                        </a:rPr>
                        <a:t>Cost:</a:t>
                      </a:r>
                      <a:endParaRPr sz="12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21925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b="1">
                          <a:latin typeface="Roboto"/>
                          <a:ea typeface="Roboto"/>
                          <a:cs typeface="Roboto"/>
                          <a:sym typeface="Roboto"/>
                        </a:rPr>
                        <a:t>A</a:t>
                      </a:r>
                      <a:endParaRPr b="1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>
                    <a:solidFill>
                      <a:srgbClr val="F4CCCC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b="1">
                          <a:latin typeface="Roboto"/>
                          <a:ea typeface="Roboto"/>
                          <a:cs typeface="Roboto"/>
                          <a:sym typeface="Roboto"/>
                        </a:rPr>
                        <a:t>R2</a:t>
                      </a:r>
                      <a:endParaRPr b="1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>
                    <a:solidFill>
                      <a:srgbClr val="F4CCCC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latin typeface="Roboto"/>
                          <a:ea typeface="Roboto"/>
                          <a:cs typeface="Roboto"/>
                          <a:sym typeface="Roboto"/>
                        </a:rPr>
                        <a:t>1+</a:t>
                      </a:r>
                      <a:r>
                        <a:rPr lang="en" b="1">
                          <a:latin typeface="Roboto"/>
                          <a:ea typeface="Roboto"/>
                          <a:cs typeface="Roboto"/>
                          <a:sym typeface="Roboto"/>
                        </a:rPr>
                        <a:t>2</a:t>
                      </a:r>
                      <a:r>
                        <a:rPr lang="en">
                          <a:latin typeface="Roboto"/>
                          <a:ea typeface="Roboto"/>
                          <a:cs typeface="Roboto"/>
                          <a:sym typeface="Roboto"/>
                        </a:rPr>
                        <a:t>=3</a:t>
                      </a:r>
                      <a:endParaRPr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>
                    <a:solidFill>
                      <a:srgbClr val="F4CCC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</a:tbl>
          </a:graphicData>
        </a:graphic>
      </p:graphicFrame>
      <p:sp>
        <p:nvSpPr>
          <p:cNvPr id="904" name="Google Shape;904;p55"/>
          <p:cNvSpPr txBox="1"/>
          <p:nvPr/>
        </p:nvSpPr>
        <p:spPr>
          <a:xfrm>
            <a:off x="6032550" y="4211200"/>
            <a:ext cx="1879500" cy="486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27425" tIns="27425" rIns="27425" bIns="27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accent2"/>
                </a:solidFill>
                <a:latin typeface="Roboto"/>
                <a:ea typeface="Roboto"/>
                <a:cs typeface="Roboto"/>
                <a:sym typeface="Roboto"/>
              </a:rPr>
              <a:t>1 (link cost to R2), plus</a:t>
            </a:r>
            <a:br>
              <a:rPr lang="en">
                <a:solidFill>
                  <a:schemeClr val="accent2"/>
                </a:solidFill>
                <a:latin typeface="Roboto"/>
                <a:ea typeface="Roboto"/>
                <a:cs typeface="Roboto"/>
                <a:sym typeface="Roboto"/>
              </a:rPr>
            </a:br>
            <a:r>
              <a:rPr lang="en">
                <a:solidFill>
                  <a:schemeClr val="accent2"/>
                </a:solidFill>
                <a:latin typeface="Roboto"/>
                <a:ea typeface="Roboto"/>
                <a:cs typeface="Roboto"/>
                <a:sym typeface="Roboto"/>
              </a:rPr>
              <a:t>1 (advertised cost).</a:t>
            </a:r>
            <a:endParaRPr>
              <a:solidFill>
                <a:schemeClr val="accent2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130C5355-B77C-A82D-F9AB-223F100AD44A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 smtClean="0"/>
              <a:t>31</a:t>
            </a:fld>
            <a:endParaRPr lang="en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0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09" name="Google Shape;909;p56"/>
          <p:cNvSpPr txBox="1">
            <a:spLocks noGrp="1"/>
          </p:cNvSpPr>
          <p:nvPr>
            <p:ph type="title"/>
          </p:nvPr>
        </p:nvSpPr>
        <p:spPr>
          <a:xfrm>
            <a:off x="0" y="0"/>
            <a:ext cx="9144000" cy="39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Bellman-Ford Demo</a:t>
            </a:r>
            <a:endParaRPr/>
          </a:p>
        </p:txBody>
      </p:sp>
      <p:sp>
        <p:nvSpPr>
          <p:cNvPr id="910" name="Google Shape;910;p56"/>
          <p:cNvSpPr/>
          <p:nvPr/>
        </p:nvSpPr>
        <p:spPr>
          <a:xfrm>
            <a:off x="2715000" y="2877700"/>
            <a:ext cx="285000" cy="285000"/>
          </a:xfrm>
          <a:prstGeom prst="rect">
            <a:avLst/>
          </a:prstGeom>
          <a:solidFill>
            <a:srgbClr val="FFFFFF"/>
          </a:solidFill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R1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911" name="Google Shape;911;p56"/>
          <p:cNvSpPr/>
          <p:nvPr/>
        </p:nvSpPr>
        <p:spPr>
          <a:xfrm>
            <a:off x="657588" y="2877700"/>
            <a:ext cx="285000" cy="285000"/>
          </a:xfrm>
          <a:prstGeom prst="ellipse">
            <a:avLst/>
          </a:prstGeom>
          <a:solidFill>
            <a:srgbClr val="FFFFFF"/>
          </a:solidFill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A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912" name="Google Shape;912;p56"/>
          <p:cNvCxnSpPr>
            <a:stCxn id="911" idx="6"/>
            <a:endCxn id="910" idx="1"/>
          </p:cNvCxnSpPr>
          <p:nvPr/>
        </p:nvCxnSpPr>
        <p:spPr>
          <a:xfrm>
            <a:off x="942588" y="3020200"/>
            <a:ext cx="1772400" cy="0"/>
          </a:xfrm>
          <a:prstGeom prst="straightConnector1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913" name="Google Shape;913;p56"/>
          <p:cNvSpPr/>
          <p:nvPr/>
        </p:nvSpPr>
        <p:spPr>
          <a:xfrm>
            <a:off x="4772400" y="2877700"/>
            <a:ext cx="285000" cy="285000"/>
          </a:xfrm>
          <a:prstGeom prst="rect">
            <a:avLst/>
          </a:prstGeom>
          <a:solidFill>
            <a:srgbClr val="FFFFFF"/>
          </a:solidFill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R2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914" name="Google Shape;914;p56"/>
          <p:cNvCxnSpPr>
            <a:stCxn id="910" idx="3"/>
            <a:endCxn id="913" idx="1"/>
          </p:cNvCxnSpPr>
          <p:nvPr/>
        </p:nvCxnSpPr>
        <p:spPr>
          <a:xfrm>
            <a:off x="3000000" y="3020200"/>
            <a:ext cx="1772400" cy="0"/>
          </a:xfrm>
          <a:prstGeom prst="straightConnector1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915" name="Google Shape;915;p56"/>
          <p:cNvSpPr/>
          <p:nvPr/>
        </p:nvSpPr>
        <p:spPr>
          <a:xfrm>
            <a:off x="6829800" y="2877700"/>
            <a:ext cx="285000" cy="285000"/>
          </a:xfrm>
          <a:prstGeom prst="rect">
            <a:avLst/>
          </a:prstGeom>
          <a:solidFill>
            <a:srgbClr val="FFFFFF"/>
          </a:solidFill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R3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916" name="Google Shape;916;p56"/>
          <p:cNvCxnSpPr>
            <a:stCxn id="913" idx="3"/>
            <a:endCxn id="915" idx="1"/>
          </p:cNvCxnSpPr>
          <p:nvPr/>
        </p:nvCxnSpPr>
        <p:spPr>
          <a:xfrm>
            <a:off x="5057400" y="3020200"/>
            <a:ext cx="1772400" cy="0"/>
          </a:xfrm>
          <a:prstGeom prst="straightConnector1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med" len="med"/>
            <a:tailEnd type="none" w="med" len="med"/>
          </a:ln>
        </p:spPr>
      </p:cxnSp>
      <p:graphicFrame>
        <p:nvGraphicFramePr>
          <p:cNvPr id="917" name="Google Shape;917;p56"/>
          <p:cNvGraphicFramePr/>
          <p:nvPr/>
        </p:nvGraphicFramePr>
        <p:xfrm>
          <a:off x="1939744" y="3394450"/>
          <a:ext cx="1835500" cy="688770"/>
        </p:xfrm>
        <a:graphic>
          <a:graphicData uri="http://schemas.openxmlformats.org/drawingml/2006/table">
            <a:tbl>
              <a:tblPr>
                <a:noFill/>
                <a:tableStyleId>{9827013E-C202-4D27-A2D1-B1A861925892}</a:tableStyleId>
              </a:tblPr>
              <a:tblGrid>
                <a:gridCol w="5448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9707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79362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121925">
                <a:tc gridSpan="3"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latin typeface="Roboto"/>
                          <a:ea typeface="Roboto"/>
                          <a:cs typeface="Roboto"/>
                          <a:sym typeface="Roboto"/>
                        </a:rPr>
                        <a:t>R1's Table</a:t>
                      </a:r>
                      <a:endParaRPr sz="12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21925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latin typeface="Roboto"/>
                          <a:ea typeface="Roboto"/>
                          <a:cs typeface="Roboto"/>
                          <a:sym typeface="Roboto"/>
                        </a:rPr>
                        <a:t>To:</a:t>
                      </a:r>
                      <a:endParaRPr sz="12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/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latin typeface="Roboto"/>
                          <a:ea typeface="Roboto"/>
                          <a:cs typeface="Roboto"/>
                          <a:sym typeface="Roboto"/>
                        </a:rPr>
                        <a:t>Via:</a:t>
                      </a:r>
                      <a:endParaRPr sz="12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/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latin typeface="Roboto"/>
                          <a:ea typeface="Roboto"/>
                          <a:cs typeface="Roboto"/>
                          <a:sym typeface="Roboto"/>
                        </a:rPr>
                        <a:t>Cost:</a:t>
                      </a:r>
                      <a:endParaRPr sz="12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21925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latin typeface="Roboto"/>
                          <a:ea typeface="Roboto"/>
                          <a:cs typeface="Roboto"/>
                          <a:sym typeface="Roboto"/>
                        </a:rPr>
                        <a:t>A</a:t>
                      </a:r>
                      <a:endParaRPr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/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latin typeface="Roboto"/>
                          <a:ea typeface="Roboto"/>
                          <a:cs typeface="Roboto"/>
                          <a:sym typeface="Roboto"/>
                        </a:rPr>
                        <a:t>Direct</a:t>
                      </a:r>
                      <a:endParaRPr sz="12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/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latin typeface="Roboto"/>
                          <a:ea typeface="Roboto"/>
                          <a:cs typeface="Roboto"/>
                          <a:sym typeface="Roboto"/>
                        </a:rPr>
                        <a:t>1</a:t>
                      </a:r>
                      <a:endParaRPr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</a:tbl>
          </a:graphicData>
        </a:graphic>
      </p:graphicFrame>
      <p:graphicFrame>
        <p:nvGraphicFramePr>
          <p:cNvPr id="918" name="Google Shape;918;p56"/>
          <p:cNvGraphicFramePr/>
          <p:nvPr/>
        </p:nvGraphicFramePr>
        <p:xfrm>
          <a:off x="3997144" y="3394450"/>
          <a:ext cx="1835500" cy="688770"/>
        </p:xfrm>
        <a:graphic>
          <a:graphicData uri="http://schemas.openxmlformats.org/drawingml/2006/table">
            <a:tbl>
              <a:tblPr>
                <a:noFill/>
                <a:tableStyleId>{9827013E-C202-4D27-A2D1-B1A861925892}</a:tableStyleId>
              </a:tblPr>
              <a:tblGrid>
                <a:gridCol w="5448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9707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79362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121925">
                <a:tc gridSpan="3"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latin typeface="Roboto"/>
                          <a:ea typeface="Roboto"/>
                          <a:cs typeface="Roboto"/>
                          <a:sym typeface="Roboto"/>
                        </a:rPr>
                        <a:t>R2's Table</a:t>
                      </a:r>
                      <a:endParaRPr sz="12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>
                    <a:solidFill>
                      <a:srgbClr val="FFFFFF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21925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latin typeface="Roboto"/>
                          <a:ea typeface="Roboto"/>
                          <a:cs typeface="Roboto"/>
                          <a:sym typeface="Roboto"/>
                        </a:rPr>
                        <a:t>To:</a:t>
                      </a:r>
                      <a:endParaRPr sz="12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latin typeface="Roboto"/>
                          <a:ea typeface="Roboto"/>
                          <a:cs typeface="Roboto"/>
                          <a:sym typeface="Roboto"/>
                        </a:rPr>
                        <a:t>Via:</a:t>
                      </a:r>
                      <a:endParaRPr sz="12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latin typeface="Roboto"/>
                          <a:ea typeface="Roboto"/>
                          <a:cs typeface="Roboto"/>
                          <a:sym typeface="Roboto"/>
                        </a:rPr>
                        <a:t>Cost:</a:t>
                      </a:r>
                      <a:endParaRPr sz="12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21925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latin typeface="Roboto"/>
                          <a:ea typeface="Roboto"/>
                          <a:cs typeface="Roboto"/>
                          <a:sym typeface="Roboto"/>
                        </a:rPr>
                        <a:t>A</a:t>
                      </a:r>
                      <a:endParaRPr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/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latin typeface="Roboto"/>
                          <a:ea typeface="Roboto"/>
                          <a:cs typeface="Roboto"/>
                          <a:sym typeface="Roboto"/>
                        </a:rPr>
                        <a:t>R1</a:t>
                      </a:r>
                      <a:endParaRPr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/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latin typeface="Roboto"/>
                          <a:ea typeface="Roboto"/>
                          <a:cs typeface="Roboto"/>
                          <a:sym typeface="Roboto"/>
                        </a:rPr>
                        <a:t>2</a:t>
                      </a:r>
                      <a:endParaRPr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</a:tbl>
          </a:graphicData>
        </a:graphic>
      </p:graphicFrame>
      <p:sp>
        <p:nvSpPr>
          <p:cNvPr id="919" name="Google Shape;919;p56"/>
          <p:cNvSpPr/>
          <p:nvPr/>
        </p:nvSpPr>
        <p:spPr>
          <a:xfrm>
            <a:off x="5104100" y="2007450"/>
            <a:ext cx="2093100" cy="564300"/>
          </a:xfrm>
          <a:prstGeom prst="wedgeRoundRectCallout">
            <a:avLst>
              <a:gd name="adj1" fmla="val 40754"/>
              <a:gd name="adj2" fmla="val 85035"/>
              <a:gd name="adj3" fmla="val 0"/>
            </a:avLst>
          </a:prstGeom>
          <a:noFill/>
          <a:ln w="9525" cap="flat" cmpd="sng">
            <a:solidFill>
              <a:schemeClr val="accent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accent2"/>
                </a:solidFill>
                <a:latin typeface="Roboto"/>
                <a:ea typeface="Roboto"/>
                <a:cs typeface="Roboto"/>
                <a:sym typeface="Roboto"/>
              </a:rPr>
              <a:t>Time to advertise my exciting new path to A.</a:t>
            </a:r>
            <a:endParaRPr>
              <a:solidFill>
                <a:schemeClr val="accent2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graphicFrame>
        <p:nvGraphicFramePr>
          <p:cNvPr id="920" name="Google Shape;920;p56"/>
          <p:cNvGraphicFramePr/>
          <p:nvPr/>
        </p:nvGraphicFramePr>
        <p:xfrm>
          <a:off x="6054544" y="3394450"/>
          <a:ext cx="1835500" cy="688770"/>
        </p:xfrm>
        <a:graphic>
          <a:graphicData uri="http://schemas.openxmlformats.org/drawingml/2006/table">
            <a:tbl>
              <a:tblPr>
                <a:noFill/>
                <a:tableStyleId>{9827013E-C202-4D27-A2D1-B1A861925892}</a:tableStyleId>
              </a:tblPr>
              <a:tblGrid>
                <a:gridCol w="5448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9707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79362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121925">
                <a:tc gridSpan="3"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latin typeface="Roboto"/>
                          <a:ea typeface="Roboto"/>
                          <a:cs typeface="Roboto"/>
                          <a:sym typeface="Roboto"/>
                        </a:rPr>
                        <a:t>R3's Table</a:t>
                      </a:r>
                      <a:endParaRPr sz="12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21925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latin typeface="Roboto"/>
                          <a:ea typeface="Roboto"/>
                          <a:cs typeface="Roboto"/>
                          <a:sym typeface="Roboto"/>
                        </a:rPr>
                        <a:t>To:</a:t>
                      </a:r>
                      <a:endParaRPr sz="12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/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latin typeface="Roboto"/>
                          <a:ea typeface="Roboto"/>
                          <a:cs typeface="Roboto"/>
                          <a:sym typeface="Roboto"/>
                        </a:rPr>
                        <a:t>Via:</a:t>
                      </a:r>
                      <a:endParaRPr sz="12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/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latin typeface="Roboto"/>
                          <a:ea typeface="Roboto"/>
                          <a:cs typeface="Roboto"/>
                          <a:sym typeface="Roboto"/>
                        </a:rPr>
                        <a:t>Cost:</a:t>
                      </a:r>
                      <a:endParaRPr sz="12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21925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latin typeface="Roboto"/>
                          <a:ea typeface="Roboto"/>
                          <a:cs typeface="Roboto"/>
                          <a:sym typeface="Roboto"/>
                        </a:rPr>
                        <a:t>A</a:t>
                      </a:r>
                      <a:endParaRPr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/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latin typeface="Roboto"/>
                          <a:ea typeface="Roboto"/>
                          <a:cs typeface="Roboto"/>
                          <a:sym typeface="Roboto"/>
                        </a:rPr>
                        <a:t>R2</a:t>
                      </a:r>
                      <a:endParaRPr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/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latin typeface="Roboto"/>
                          <a:ea typeface="Roboto"/>
                          <a:cs typeface="Roboto"/>
                          <a:sym typeface="Roboto"/>
                        </a:rPr>
                        <a:t>3</a:t>
                      </a:r>
                      <a:endParaRPr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</a:tbl>
          </a:graphicData>
        </a:graphic>
      </p:graphicFrame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7AA5E249-E055-C0E7-AD5E-5D953F31F410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 smtClean="0"/>
              <a:t>32</a:t>
            </a:fld>
            <a:endParaRPr lang="en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5" name="Google Shape;925;p57"/>
          <p:cNvSpPr txBox="1">
            <a:spLocks noGrp="1"/>
          </p:cNvSpPr>
          <p:nvPr>
            <p:ph type="title"/>
          </p:nvPr>
        </p:nvSpPr>
        <p:spPr>
          <a:xfrm>
            <a:off x="0" y="0"/>
            <a:ext cx="9144000" cy="39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Bellman-Ford Demo</a:t>
            </a:r>
            <a:endParaRPr/>
          </a:p>
        </p:txBody>
      </p:sp>
      <p:sp>
        <p:nvSpPr>
          <p:cNvPr id="926" name="Google Shape;926;p57"/>
          <p:cNvSpPr/>
          <p:nvPr/>
        </p:nvSpPr>
        <p:spPr>
          <a:xfrm>
            <a:off x="2715000" y="2877700"/>
            <a:ext cx="285000" cy="285000"/>
          </a:xfrm>
          <a:prstGeom prst="rect">
            <a:avLst/>
          </a:prstGeom>
          <a:solidFill>
            <a:srgbClr val="FFFFFF"/>
          </a:solidFill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R1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927" name="Google Shape;927;p57"/>
          <p:cNvSpPr/>
          <p:nvPr/>
        </p:nvSpPr>
        <p:spPr>
          <a:xfrm>
            <a:off x="657588" y="2877700"/>
            <a:ext cx="285000" cy="285000"/>
          </a:xfrm>
          <a:prstGeom prst="ellipse">
            <a:avLst/>
          </a:prstGeom>
          <a:solidFill>
            <a:srgbClr val="FFFFFF"/>
          </a:solidFill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A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928" name="Google Shape;928;p57"/>
          <p:cNvCxnSpPr>
            <a:stCxn id="927" idx="6"/>
            <a:endCxn id="926" idx="1"/>
          </p:cNvCxnSpPr>
          <p:nvPr/>
        </p:nvCxnSpPr>
        <p:spPr>
          <a:xfrm>
            <a:off x="942588" y="3020200"/>
            <a:ext cx="1772400" cy="0"/>
          </a:xfrm>
          <a:prstGeom prst="straightConnector1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929" name="Google Shape;929;p57"/>
          <p:cNvSpPr/>
          <p:nvPr/>
        </p:nvSpPr>
        <p:spPr>
          <a:xfrm>
            <a:off x="4772400" y="2877700"/>
            <a:ext cx="285000" cy="285000"/>
          </a:xfrm>
          <a:prstGeom prst="rect">
            <a:avLst/>
          </a:prstGeom>
          <a:solidFill>
            <a:srgbClr val="FFFFFF"/>
          </a:solidFill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R2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930" name="Google Shape;930;p57"/>
          <p:cNvCxnSpPr>
            <a:stCxn id="926" idx="3"/>
            <a:endCxn id="929" idx="1"/>
          </p:cNvCxnSpPr>
          <p:nvPr/>
        </p:nvCxnSpPr>
        <p:spPr>
          <a:xfrm>
            <a:off x="3000000" y="3020200"/>
            <a:ext cx="1772400" cy="0"/>
          </a:xfrm>
          <a:prstGeom prst="straightConnector1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931" name="Google Shape;931;p57"/>
          <p:cNvSpPr/>
          <p:nvPr/>
        </p:nvSpPr>
        <p:spPr>
          <a:xfrm>
            <a:off x="6829800" y="2877700"/>
            <a:ext cx="285000" cy="285000"/>
          </a:xfrm>
          <a:prstGeom prst="rect">
            <a:avLst/>
          </a:prstGeom>
          <a:solidFill>
            <a:srgbClr val="FFFFFF"/>
          </a:solidFill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R3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932" name="Google Shape;932;p57"/>
          <p:cNvCxnSpPr>
            <a:stCxn id="929" idx="3"/>
            <a:endCxn id="931" idx="1"/>
          </p:cNvCxnSpPr>
          <p:nvPr/>
        </p:nvCxnSpPr>
        <p:spPr>
          <a:xfrm>
            <a:off x="5057400" y="3020200"/>
            <a:ext cx="1772400" cy="0"/>
          </a:xfrm>
          <a:prstGeom prst="straightConnector1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med" len="med"/>
            <a:tailEnd type="none" w="med" len="med"/>
          </a:ln>
        </p:spPr>
      </p:cxnSp>
      <p:graphicFrame>
        <p:nvGraphicFramePr>
          <p:cNvPr id="933" name="Google Shape;933;p57"/>
          <p:cNvGraphicFramePr/>
          <p:nvPr/>
        </p:nvGraphicFramePr>
        <p:xfrm>
          <a:off x="1939744" y="3394450"/>
          <a:ext cx="1835500" cy="688770"/>
        </p:xfrm>
        <a:graphic>
          <a:graphicData uri="http://schemas.openxmlformats.org/drawingml/2006/table">
            <a:tbl>
              <a:tblPr>
                <a:noFill/>
                <a:tableStyleId>{9827013E-C202-4D27-A2D1-B1A861925892}</a:tableStyleId>
              </a:tblPr>
              <a:tblGrid>
                <a:gridCol w="5448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9707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79362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121925">
                <a:tc gridSpan="3"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latin typeface="Roboto"/>
                          <a:ea typeface="Roboto"/>
                          <a:cs typeface="Roboto"/>
                          <a:sym typeface="Roboto"/>
                        </a:rPr>
                        <a:t>R1's Table</a:t>
                      </a:r>
                      <a:endParaRPr sz="12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21925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latin typeface="Roboto"/>
                          <a:ea typeface="Roboto"/>
                          <a:cs typeface="Roboto"/>
                          <a:sym typeface="Roboto"/>
                        </a:rPr>
                        <a:t>To:</a:t>
                      </a:r>
                      <a:endParaRPr sz="12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/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latin typeface="Roboto"/>
                          <a:ea typeface="Roboto"/>
                          <a:cs typeface="Roboto"/>
                          <a:sym typeface="Roboto"/>
                        </a:rPr>
                        <a:t>Via:</a:t>
                      </a:r>
                      <a:endParaRPr sz="12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/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latin typeface="Roboto"/>
                          <a:ea typeface="Roboto"/>
                          <a:cs typeface="Roboto"/>
                          <a:sym typeface="Roboto"/>
                        </a:rPr>
                        <a:t>Cost:</a:t>
                      </a:r>
                      <a:endParaRPr sz="12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21925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latin typeface="Roboto"/>
                          <a:ea typeface="Roboto"/>
                          <a:cs typeface="Roboto"/>
                          <a:sym typeface="Roboto"/>
                        </a:rPr>
                        <a:t>A</a:t>
                      </a:r>
                      <a:endParaRPr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/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latin typeface="Roboto"/>
                          <a:ea typeface="Roboto"/>
                          <a:cs typeface="Roboto"/>
                          <a:sym typeface="Roboto"/>
                        </a:rPr>
                        <a:t>Direct</a:t>
                      </a:r>
                      <a:endParaRPr sz="12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/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latin typeface="Roboto"/>
                          <a:ea typeface="Roboto"/>
                          <a:cs typeface="Roboto"/>
                          <a:sym typeface="Roboto"/>
                        </a:rPr>
                        <a:t>1</a:t>
                      </a:r>
                      <a:endParaRPr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</a:tbl>
          </a:graphicData>
        </a:graphic>
      </p:graphicFrame>
      <p:graphicFrame>
        <p:nvGraphicFramePr>
          <p:cNvPr id="934" name="Google Shape;934;p57"/>
          <p:cNvGraphicFramePr/>
          <p:nvPr/>
        </p:nvGraphicFramePr>
        <p:xfrm>
          <a:off x="3997144" y="3394450"/>
          <a:ext cx="1835500" cy="688770"/>
        </p:xfrm>
        <a:graphic>
          <a:graphicData uri="http://schemas.openxmlformats.org/drawingml/2006/table">
            <a:tbl>
              <a:tblPr>
                <a:noFill/>
                <a:tableStyleId>{9827013E-C202-4D27-A2D1-B1A861925892}</a:tableStyleId>
              </a:tblPr>
              <a:tblGrid>
                <a:gridCol w="5448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9707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79362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121925">
                <a:tc gridSpan="3"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latin typeface="Roboto"/>
                          <a:ea typeface="Roboto"/>
                          <a:cs typeface="Roboto"/>
                          <a:sym typeface="Roboto"/>
                        </a:rPr>
                        <a:t>R2's Table</a:t>
                      </a:r>
                      <a:endParaRPr sz="12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>
                    <a:solidFill>
                      <a:srgbClr val="FFFFFF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21925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latin typeface="Roboto"/>
                          <a:ea typeface="Roboto"/>
                          <a:cs typeface="Roboto"/>
                          <a:sym typeface="Roboto"/>
                        </a:rPr>
                        <a:t>To:</a:t>
                      </a:r>
                      <a:endParaRPr sz="12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latin typeface="Roboto"/>
                          <a:ea typeface="Roboto"/>
                          <a:cs typeface="Roboto"/>
                          <a:sym typeface="Roboto"/>
                        </a:rPr>
                        <a:t>Via:</a:t>
                      </a:r>
                      <a:endParaRPr sz="12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latin typeface="Roboto"/>
                          <a:ea typeface="Roboto"/>
                          <a:cs typeface="Roboto"/>
                          <a:sym typeface="Roboto"/>
                        </a:rPr>
                        <a:t>Cost:</a:t>
                      </a:r>
                      <a:endParaRPr sz="12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21925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latin typeface="Roboto"/>
                          <a:ea typeface="Roboto"/>
                          <a:cs typeface="Roboto"/>
                          <a:sym typeface="Roboto"/>
                        </a:rPr>
                        <a:t>A</a:t>
                      </a:r>
                      <a:endParaRPr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/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latin typeface="Roboto"/>
                          <a:ea typeface="Roboto"/>
                          <a:cs typeface="Roboto"/>
                          <a:sym typeface="Roboto"/>
                        </a:rPr>
                        <a:t>R1</a:t>
                      </a:r>
                      <a:endParaRPr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/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latin typeface="Roboto"/>
                          <a:ea typeface="Roboto"/>
                          <a:cs typeface="Roboto"/>
                          <a:sym typeface="Roboto"/>
                        </a:rPr>
                        <a:t>2</a:t>
                      </a:r>
                      <a:endParaRPr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</a:tbl>
          </a:graphicData>
        </a:graphic>
      </p:graphicFrame>
      <p:graphicFrame>
        <p:nvGraphicFramePr>
          <p:cNvPr id="935" name="Google Shape;935;p57"/>
          <p:cNvGraphicFramePr/>
          <p:nvPr/>
        </p:nvGraphicFramePr>
        <p:xfrm>
          <a:off x="6054544" y="3394450"/>
          <a:ext cx="1835500" cy="688770"/>
        </p:xfrm>
        <a:graphic>
          <a:graphicData uri="http://schemas.openxmlformats.org/drawingml/2006/table">
            <a:tbl>
              <a:tblPr>
                <a:noFill/>
                <a:tableStyleId>{9827013E-C202-4D27-A2D1-B1A861925892}</a:tableStyleId>
              </a:tblPr>
              <a:tblGrid>
                <a:gridCol w="5448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9707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79362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121925">
                <a:tc gridSpan="3"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latin typeface="Roboto"/>
                          <a:ea typeface="Roboto"/>
                          <a:cs typeface="Roboto"/>
                          <a:sym typeface="Roboto"/>
                        </a:rPr>
                        <a:t>R3's Table</a:t>
                      </a:r>
                      <a:endParaRPr sz="12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21925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latin typeface="Roboto"/>
                          <a:ea typeface="Roboto"/>
                          <a:cs typeface="Roboto"/>
                          <a:sym typeface="Roboto"/>
                        </a:rPr>
                        <a:t>To:</a:t>
                      </a:r>
                      <a:endParaRPr sz="12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/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latin typeface="Roboto"/>
                          <a:ea typeface="Roboto"/>
                          <a:cs typeface="Roboto"/>
                          <a:sym typeface="Roboto"/>
                        </a:rPr>
                        <a:t>Via:</a:t>
                      </a:r>
                      <a:endParaRPr sz="12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/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latin typeface="Roboto"/>
                          <a:ea typeface="Roboto"/>
                          <a:cs typeface="Roboto"/>
                          <a:sym typeface="Roboto"/>
                        </a:rPr>
                        <a:t>Cost:</a:t>
                      </a:r>
                      <a:endParaRPr sz="12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21925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latin typeface="Roboto"/>
                          <a:ea typeface="Roboto"/>
                          <a:cs typeface="Roboto"/>
                          <a:sym typeface="Roboto"/>
                        </a:rPr>
                        <a:t>A</a:t>
                      </a:r>
                      <a:endParaRPr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/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latin typeface="Roboto"/>
                          <a:ea typeface="Roboto"/>
                          <a:cs typeface="Roboto"/>
                          <a:sym typeface="Roboto"/>
                        </a:rPr>
                        <a:t>R2</a:t>
                      </a:r>
                      <a:endParaRPr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/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latin typeface="Roboto"/>
                          <a:ea typeface="Roboto"/>
                          <a:cs typeface="Roboto"/>
                          <a:sym typeface="Roboto"/>
                        </a:rPr>
                        <a:t>3</a:t>
                      </a:r>
                      <a:endParaRPr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</a:tbl>
          </a:graphicData>
        </a:graphic>
      </p:graphicFrame>
      <p:cxnSp>
        <p:nvCxnSpPr>
          <p:cNvPr id="936" name="Google Shape;936;p57"/>
          <p:cNvCxnSpPr/>
          <p:nvPr/>
        </p:nvCxnSpPr>
        <p:spPr>
          <a:xfrm>
            <a:off x="5246845" y="2918275"/>
            <a:ext cx="1393500" cy="0"/>
          </a:xfrm>
          <a:prstGeom prst="straightConnector1">
            <a:avLst/>
          </a:prstGeom>
          <a:noFill/>
          <a:ln w="19050" cap="flat" cmpd="sng">
            <a:solidFill>
              <a:schemeClr val="accent2"/>
            </a:solidFill>
            <a:prstDash val="solid"/>
            <a:round/>
            <a:headEnd type="triangle" w="med" len="med"/>
            <a:tailEnd type="none" w="med" len="med"/>
          </a:ln>
        </p:spPr>
      </p:cxnSp>
      <p:sp>
        <p:nvSpPr>
          <p:cNvPr id="937" name="Google Shape;937;p57"/>
          <p:cNvSpPr/>
          <p:nvPr/>
        </p:nvSpPr>
        <p:spPr>
          <a:xfrm>
            <a:off x="5393400" y="2082550"/>
            <a:ext cx="1100400" cy="733800"/>
          </a:xfrm>
          <a:prstGeom prst="roundRect">
            <a:avLst>
              <a:gd name="adj" fmla="val 16667"/>
            </a:avLst>
          </a:prstGeom>
          <a:solidFill>
            <a:srgbClr val="F4CCCC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I'm </a:t>
            </a:r>
            <a:r>
              <a:rPr lang="en" b="1">
                <a:latin typeface="Roboto"/>
                <a:ea typeface="Roboto"/>
                <a:cs typeface="Roboto"/>
                <a:sym typeface="Roboto"/>
              </a:rPr>
              <a:t>R3</a:t>
            </a:r>
            <a:r>
              <a:rPr lang="en">
                <a:latin typeface="Roboto"/>
                <a:ea typeface="Roboto"/>
                <a:cs typeface="Roboto"/>
                <a:sym typeface="Roboto"/>
              </a:rPr>
              <a:t>, and </a:t>
            </a:r>
            <a:r>
              <a:rPr lang="en" b="1">
                <a:latin typeface="Roboto"/>
                <a:ea typeface="Roboto"/>
                <a:cs typeface="Roboto"/>
                <a:sym typeface="Roboto"/>
              </a:rPr>
              <a:t>A</a:t>
            </a:r>
            <a:r>
              <a:rPr lang="en">
                <a:latin typeface="Roboto"/>
                <a:ea typeface="Roboto"/>
                <a:cs typeface="Roboto"/>
                <a:sym typeface="Roboto"/>
              </a:rPr>
              <a:t> is </a:t>
            </a:r>
            <a:r>
              <a:rPr lang="en" b="1">
                <a:latin typeface="Roboto"/>
                <a:ea typeface="Roboto"/>
                <a:cs typeface="Roboto"/>
                <a:sym typeface="Roboto"/>
              </a:rPr>
              <a:t>3</a:t>
            </a:r>
            <a:r>
              <a:rPr lang="en">
                <a:latin typeface="Roboto"/>
                <a:ea typeface="Roboto"/>
                <a:cs typeface="Roboto"/>
                <a:sym typeface="Roboto"/>
              </a:rPr>
              <a:t> away from me.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938" name="Google Shape;938;p57"/>
          <p:cNvSpPr/>
          <p:nvPr/>
        </p:nvSpPr>
        <p:spPr>
          <a:xfrm>
            <a:off x="2715000" y="1375350"/>
            <a:ext cx="2514900" cy="1196400"/>
          </a:xfrm>
          <a:prstGeom prst="wedgeRoundRectCallout">
            <a:avLst>
              <a:gd name="adj1" fmla="val 37901"/>
              <a:gd name="adj2" fmla="val 68963"/>
              <a:gd name="adj3" fmla="val 0"/>
            </a:avLst>
          </a:prstGeom>
          <a:noFill/>
          <a:ln w="9525" cap="flat" cmpd="sng">
            <a:solidFill>
              <a:schemeClr val="accent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accent2"/>
                </a:solidFill>
                <a:latin typeface="Roboto"/>
                <a:ea typeface="Roboto"/>
                <a:cs typeface="Roboto"/>
                <a:sym typeface="Roboto"/>
              </a:rPr>
              <a:t>New advertisement?!??!?!!!?</a:t>
            </a:r>
            <a:endParaRPr>
              <a:solidFill>
                <a:schemeClr val="accent2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0" lvl="0" indent="0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accent2"/>
                </a:solidFill>
                <a:latin typeface="Roboto"/>
                <a:ea typeface="Roboto"/>
                <a:cs typeface="Roboto"/>
                <a:sym typeface="Roboto"/>
              </a:rPr>
              <a:t>This new path costs 1+3=4.</a:t>
            </a:r>
            <a:endParaRPr>
              <a:solidFill>
                <a:schemeClr val="accent2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0" lvl="0" indent="0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accent2"/>
                </a:solidFill>
                <a:latin typeface="Roboto"/>
                <a:ea typeface="Roboto"/>
                <a:cs typeface="Roboto"/>
                <a:sym typeface="Roboto"/>
              </a:rPr>
              <a:t>I already have a cost 2 path.</a:t>
            </a:r>
            <a:endParaRPr>
              <a:solidFill>
                <a:schemeClr val="accent2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0" lvl="0" indent="0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accent2"/>
                </a:solidFill>
                <a:latin typeface="Roboto"/>
                <a:ea typeface="Roboto"/>
                <a:cs typeface="Roboto"/>
                <a:sym typeface="Roboto"/>
              </a:rPr>
              <a:t>No thanks.</a:t>
            </a:r>
            <a:endParaRPr>
              <a:solidFill>
                <a:schemeClr val="accent2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ACC226C7-EFF7-C7E7-7D2C-46DEC8692E92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 smtClean="0"/>
              <a:t>33</a:t>
            </a:fld>
            <a:endParaRPr lang="en"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43" name="Google Shape;943;p58"/>
          <p:cNvSpPr txBox="1">
            <a:spLocks noGrp="1"/>
          </p:cNvSpPr>
          <p:nvPr>
            <p:ph type="title"/>
          </p:nvPr>
        </p:nvSpPr>
        <p:spPr>
          <a:xfrm>
            <a:off x="0" y="0"/>
            <a:ext cx="9144000" cy="39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Bellman-Ford Demo</a:t>
            </a:r>
            <a:endParaRPr/>
          </a:p>
        </p:txBody>
      </p:sp>
      <p:sp>
        <p:nvSpPr>
          <p:cNvPr id="944" name="Google Shape;944;p58"/>
          <p:cNvSpPr/>
          <p:nvPr/>
        </p:nvSpPr>
        <p:spPr>
          <a:xfrm>
            <a:off x="2715000" y="2877700"/>
            <a:ext cx="285000" cy="285000"/>
          </a:xfrm>
          <a:prstGeom prst="rect">
            <a:avLst/>
          </a:prstGeom>
          <a:solidFill>
            <a:srgbClr val="FFFFFF"/>
          </a:solidFill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R1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945" name="Google Shape;945;p58"/>
          <p:cNvSpPr/>
          <p:nvPr/>
        </p:nvSpPr>
        <p:spPr>
          <a:xfrm>
            <a:off x="657588" y="2877700"/>
            <a:ext cx="285000" cy="285000"/>
          </a:xfrm>
          <a:prstGeom prst="ellipse">
            <a:avLst/>
          </a:prstGeom>
          <a:solidFill>
            <a:srgbClr val="FFFFFF"/>
          </a:solidFill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A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946" name="Google Shape;946;p58"/>
          <p:cNvCxnSpPr>
            <a:stCxn id="945" idx="6"/>
            <a:endCxn id="944" idx="1"/>
          </p:cNvCxnSpPr>
          <p:nvPr/>
        </p:nvCxnSpPr>
        <p:spPr>
          <a:xfrm>
            <a:off x="942588" y="3020200"/>
            <a:ext cx="1772400" cy="0"/>
          </a:xfrm>
          <a:prstGeom prst="straightConnector1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947" name="Google Shape;947;p58"/>
          <p:cNvSpPr/>
          <p:nvPr/>
        </p:nvSpPr>
        <p:spPr>
          <a:xfrm>
            <a:off x="4772400" y="2877700"/>
            <a:ext cx="285000" cy="285000"/>
          </a:xfrm>
          <a:prstGeom prst="rect">
            <a:avLst/>
          </a:prstGeom>
          <a:solidFill>
            <a:srgbClr val="FFFFFF"/>
          </a:solidFill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R2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948" name="Google Shape;948;p58"/>
          <p:cNvCxnSpPr>
            <a:stCxn id="944" idx="3"/>
            <a:endCxn id="947" idx="1"/>
          </p:cNvCxnSpPr>
          <p:nvPr/>
        </p:nvCxnSpPr>
        <p:spPr>
          <a:xfrm>
            <a:off x="3000000" y="3020200"/>
            <a:ext cx="1772400" cy="0"/>
          </a:xfrm>
          <a:prstGeom prst="straightConnector1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949" name="Google Shape;949;p58"/>
          <p:cNvSpPr/>
          <p:nvPr/>
        </p:nvSpPr>
        <p:spPr>
          <a:xfrm>
            <a:off x="6829800" y="2877700"/>
            <a:ext cx="285000" cy="285000"/>
          </a:xfrm>
          <a:prstGeom prst="rect">
            <a:avLst/>
          </a:prstGeom>
          <a:solidFill>
            <a:srgbClr val="FFFFFF"/>
          </a:solidFill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R3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950" name="Google Shape;950;p58"/>
          <p:cNvCxnSpPr>
            <a:stCxn id="947" idx="3"/>
            <a:endCxn id="949" idx="1"/>
          </p:cNvCxnSpPr>
          <p:nvPr/>
        </p:nvCxnSpPr>
        <p:spPr>
          <a:xfrm>
            <a:off x="5057400" y="3020200"/>
            <a:ext cx="1772400" cy="0"/>
          </a:xfrm>
          <a:prstGeom prst="straightConnector1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med" len="med"/>
            <a:tailEnd type="none" w="med" len="med"/>
          </a:ln>
        </p:spPr>
      </p:cxnSp>
      <p:graphicFrame>
        <p:nvGraphicFramePr>
          <p:cNvPr id="951" name="Google Shape;951;p58"/>
          <p:cNvGraphicFramePr/>
          <p:nvPr/>
        </p:nvGraphicFramePr>
        <p:xfrm>
          <a:off x="1939744" y="3394450"/>
          <a:ext cx="1835500" cy="688770"/>
        </p:xfrm>
        <a:graphic>
          <a:graphicData uri="http://schemas.openxmlformats.org/drawingml/2006/table">
            <a:tbl>
              <a:tblPr>
                <a:noFill/>
                <a:tableStyleId>{9827013E-C202-4D27-A2D1-B1A861925892}</a:tableStyleId>
              </a:tblPr>
              <a:tblGrid>
                <a:gridCol w="5448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9707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79362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121925">
                <a:tc gridSpan="3"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latin typeface="Roboto"/>
                          <a:ea typeface="Roboto"/>
                          <a:cs typeface="Roboto"/>
                          <a:sym typeface="Roboto"/>
                        </a:rPr>
                        <a:t>R1's Table</a:t>
                      </a:r>
                      <a:endParaRPr sz="12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21925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latin typeface="Roboto"/>
                          <a:ea typeface="Roboto"/>
                          <a:cs typeface="Roboto"/>
                          <a:sym typeface="Roboto"/>
                        </a:rPr>
                        <a:t>To:</a:t>
                      </a:r>
                      <a:endParaRPr sz="12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/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latin typeface="Roboto"/>
                          <a:ea typeface="Roboto"/>
                          <a:cs typeface="Roboto"/>
                          <a:sym typeface="Roboto"/>
                        </a:rPr>
                        <a:t>Via:</a:t>
                      </a:r>
                      <a:endParaRPr sz="12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/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latin typeface="Roboto"/>
                          <a:ea typeface="Roboto"/>
                          <a:cs typeface="Roboto"/>
                          <a:sym typeface="Roboto"/>
                        </a:rPr>
                        <a:t>Cost:</a:t>
                      </a:r>
                      <a:endParaRPr sz="12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21925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latin typeface="Roboto"/>
                          <a:ea typeface="Roboto"/>
                          <a:cs typeface="Roboto"/>
                          <a:sym typeface="Roboto"/>
                        </a:rPr>
                        <a:t>A</a:t>
                      </a:r>
                      <a:endParaRPr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/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latin typeface="Roboto"/>
                          <a:ea typeface="Roboto"/>
                          <a:cs typeface="Roboto"/>
                          <a:sym typeface="Roboto"/>
                        </a:rPr>
                        <a:t>Direct</a:t>
                      </a:r>
                      <a:endParaRPr sz="12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/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latin typeface="Roboto"/>
                          <a:ea typeface="Roboto"/>
                          <a:cs typeface="Roboto"/>
                          <a:sym typeface="Roboto"/>
                        </a:rPr>
                        <a:t>1</a:t>
                      </a:r>
                      <a:endParaRPr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</a:tbl>
          </a:graphicData>
        </a:graphic>
      </p:graphicFrame>
      <p:graphicFrame>
        <p:nvGraphicFramePr>
          <p:cNvPr id="952" name="Google Shape;952;p58"/>
          <p:cNvGraphicFramePr/>
          <p:nvPr/>
        </p:nvGraphicFramePr>
        <p:xfrm>
          <a:off x="3997144" y="3394450"/>
          <a:ext cx="1835500" cy="688770"/>
        </p:xfrm>
        <a:graphic>
          <a:graphicData uri="http://schemas.openxmlformats.org/drawingml/2006/table">
            <a:tbl>
              <a:tblPr>
                <a:noFill/>
                <a:tableStyleId>{9827013E-C202-4D27-A2D1-B1A861925892}</a:tableStyleId>
              </a:tblPr>
              <a:tblGrid>
                <a:gridCol w="5448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9707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79362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121925">
                <a:tc gridSpan="3"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latin typeface="Roboto"/>
                          <a:ea typeface="Roboto"/>
                          <a:cs typeface="Roboto"/>
                          <a:sym typeface="Roboto"/>
                        </a:rPr>
                        <a:t>R2's Table</a:t>
                      </a:r>
                      <a:endParaRPr sz="12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>
                    <a:solidFill>
                      <a:srgbClr val="FFFFFF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21925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latin typeface="Roboto"/>
                          <a:ea typeface="Roboto"/>
                          <a:cs typeface="Roboto"/>
                          <a:sym typeface="Roboto"/>
                        </a:rPr>
                        <a:t>To:</a:t>
                      </a:r>
                      <a:endParaRPr sz="12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latin typeface="Roboto"/>
                          <a:ea typeface="Roboto"/>
                          <a:cs typeface="Roboto"/>
                          <a:sym typeface="Roboto"/>
                        </a:rPr>
                        <a:t>Via:</a:t>
                      </a:r>
                      <a:endParaRPr sz="12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latin typeface="Roboto"/>
                          <a:ea typeface="Roboto"/>
                          <a:cs typeface="Roboto"/>
                          <a:sym typeface="Roboto"/>
                        </a:rPr>
                        <a:t>Cost:</a:t>
                      </a:r>
                      <a:endParaRPr sz="12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21925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latin typeface="Roboto"/>
                          <a:ea typeface="Roboto"/>
                          <a:cs typeface="Roboto"/>
                          <a:sym typeface="Roboto"/>
                        </a:rPr>
                        <a:t>A</a:t>
                      </a:r>
                      <a:endParaRPr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/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latin typeface="Roboto"/>
                          <a:ea typeface="Roboto"/>
                          <a:cs typeface="Roboto"/>
                          <a:sym typeface="Roboto"/>
                        </a:rPr>
                        <a:t>R1</a:t>
                      </a:r>
                      <a:endParaRPr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/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latin typeface="Roboto"/>
                          <a:ea typeface="Roboto"/>
                          <a:cs typeface="Roboto"/>
                          <a:sym typeface="Roboto"/>
                        </a:rPr>
                        <a:t>2</a:t>
                      </a:r>
                      <a:endParaRPr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</a:tbl>
          </a:graphicData>
        </a:graphic>
      </p:graphicFrame>
      <p:graphicFrame>
        <p:nvGraphicFramePr>
          <p:cNvPr id="953" name="Google Shape;953;p58"/>
          <p:cNvGraphicFramePr/>
          <p:nvPr/>
        </p:nvGraphicFramePr>
        <p:xfrm>
          <a:off x="6054544" y="3394450"/>
          <a:ext cx="1835500" cy="688770"/>
        </p:xfrm>
        <a:graphic>
          <a:graphicData uri="http://schemas.openxmlformats.org/drawingml/2006/table">
            <a:tbl>
              <a:tblPr>
                <a:noFill/>
                <a:tableStyleId>{9827013E-C202-4D27-A2D1-B1A861925892}</a:tableStyleId>
              </a:tblPr>
              <a:tblGrid>
                <a:gridCol w="5448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9707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79362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121925">
                <a:tc gridSpan="3"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latin typeface="Roboto"/>
                          <a:ea typeface="Roboto"/>
                          <a:cs typeface="Roboto"/>
                          <a:sym typeface="Roboto"/>
                        </a:rPr>
                        <a:t>R3's Table</a:t>
                      </a:r>
                      <a:endParaRPr sz="12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21925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latin typeface="Roboto"/>
                          <a:ea typeface="Roboto"/>
                          <a:cs typeface="Roboto"/>
                          <a:sym typeface="Roboto"/>
                        </a:rPr>
                        <a:t>To:</a:t>
                      </a:r>
                      <a:endParaRPr sz="12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/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latin typeface="Roboto"/>
                          <a:ea typeface="Roboto"/>
                          <a:cs typeface="Roboto"/>
                          <a:sym typeface="Roboto"/>
                        </a:rPr>
                        <a:t>Via:</a:t>
                      </a:r>
                      <a:endParaRPr sz="12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/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latin typeface="Roboto"/>
                          <a:ea typeface="Roboto"/>
                          <a:cs typeface="Roboto"/>
                          <a:sym typeface="Roboto"/>
                        </a:rPr>
                        <a:t>Cost:</a:t>
                      </a:r>
                      <a:endParaRPr sz="12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21925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latin typeface="Roboto"/>
                          <a:ea typeface="Roboto"/>
                          <a:cs typeface="Roboto"/>
                          <a:sym typeface="Roboto"/>
                        </a:rPr>
                        <a:t>A</a:t>
                      </a:r>
                      <a:endParaRPr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/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latin typeface="Roboto"/>
                          <a:ea typeface="Roboto"/>
                          <a:cs typeface="Roboto"/>
                          <a:sym typeface="Roboto"/>
                        </a:rPr>
                        <a:t>R2</a:t>
                      </a:r>
                      <a:endParaRPr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/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latin typeface="Roboto"/>
                          <a:ea typeface="Roboto"/>
                          <a:cs typeface="Roboto"/>
                          <a:sym typeface="Roboto"/>
                        </a:rPr>
                        <a:t>3</a:t>
                      </a:r>
                      <a:endParaRPr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</a:tbl>
          </a:graphicData>
        </a:graphic>
      </p:graphicFrame>
      <p:sp>
        <p:nvSpPr>
          <p:cNvPr id="954" name="Google Shape;954;p58"/>
          <p:cNvSpPr txBox="1"/>
          <p:nvPr/>
        </p:nvSpPr>
        <p:spPr>
          <a:xfrm>
            <a:off x="2903100" y="2234500"/>
            <a:ext cx="4023600" cy="270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27425" tIns="27425" rIns="27425" bIns="27425" anchor="t" anchorCtr="0">
            <a:sp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accent2"/>
                </a:solidFill>
                <a:latin typeface="Roboto"/>
                <a:ea typeface="Roboto"/>
                <a:cs typeface="Roboto"/>
                <a:sym typeface="Roboto"/>
              </a:rPr>
              <a:t>We did it! Everybody has a way to reach A now.</a:t>
            </a:r>
            <a:endParaRPr>
              <a:solidFill>
                <a:schemeClr val="accent2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955" name="Google Shape;955;p58"/>
          <p:cNvCxnSpPr/>
          <p:nvPr/>
        </p:nvCxnSpPr>
        <p:spPr>
          <a:xfrm rot="10800000">
            <a:off x="2066875" y="2955808"/>
            <a:ext cx="595200" cy="0"/>
          </a:xfrm>
          <a:prstGeom prst="straightConnector1">
            <a:avLst/>
          </a:prstGeom>
          <a:noFill/>
          <a:ln w="9525" cap="flat" cmpd="sng">
            <a:solidFill>
              <a:srgbClr val="0000FF"/>
            </a:solidFill>
            <a:prstDash val="solid"/>
            <a:round/>
            <a:headEnd type="none" w="med" len="med"/>
            <a:tailEnd type="triangle" w="med" len="med"/>
          </a:ln>
        </p:spPr>
      </p:cxnSp>
      <p:sp>
        <p:nvSpPr>
          <p:cNvPr id="956" name="Google Shape;956;p58"/>
          <p:cNvSpPr txBox="1"/>
          <p:nvPr/>
        </p:nvSpPr>
        <p:spPr>
          <a:xfrm>
            <a:off x="2072875" y="2778783"/>
            <a:ext cx="589200" cy="153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0000FF"/>
                </a:solidFill>
                <a:latin typeface="Roboto"/>
                <a:ea typeface="Roboto"/>
                <a:cs typeface="Roboto"/>
                <a:sym typeface="Roboto"/>
              </a:rPr>
              <a:t>A this way</a:t>
            </a:r>
            <a:endParaRPr sz="1000">
              <a:solidFill>
                <a:srgbClr val="0000FF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957" name="Google Shape;957;p58"/>
          <p:cNvCxnSpPr/>
          <p:nvPr/>
        </p:nvCxnSpPr>
        <p:spPr>
          <a:xfrm rot="10800000">
            <a:off x="4124275" y="2955808"/>
            <a:ext cx="595200" cy="0"/>
          </a:xfrm>
          <a:prstGeom prst="straightConnector1">
            <a:avLst/>
          </a:prstGeom>
          <a:noFill/>
          <a:ln w="9525" cap="flat" cmpd="sng">
            <a:solidFill>
              <a:srgbClr val="0000FF"/>
            </a:solidFill>
            <a:prstDash val="solid"/>
            <a:round/>
            <a:headEnd type="none" w="med" len="med"/>
            <a:tailEnd type="triangle" w="med" len="med"/>
          </a:ln>
        </p:spPr>
      </p:cxnSp>
      <p:sp>
        <p:nvSpPr>
          <p:cNvPr id="958" name="Google Shape;958;p58"/>
          <p:cNvSpPr txBox="1"/>
          <p:nvPr/>
        </p:nvSpPr>
        <p:spPr>
          <a:xfrm>
            <a:off x="4130275" y="2778783"/>
            <a:ext cx="589200" cy="153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0000FF"/>
                </a:solidFill>
                <a:latin typeface="Roboto"/>
                <a:ea typeface="Roboto"/>
                <a:cs typeface="Roboto"/>
                <a:sym typeface="Roboto"/>
              </a:rPr>
              <a:t>A this way</a:t>
            </a:r>
            <a:endParaRPr sz="1000">
              <a:solidFill>
                <a:srgbClr val="0000FF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959" name="Google Shape;959;p58"/>
          <p:cNvCxnSpPr/>
          <p:nvPr/>
        </p:nvCxnSpPr>
        <p:spPr>
          <a:xfrm rot="10800000">
            <a:off x="6181675" y="2955808"/>
            <a:ext cx="595200" cy="0"/>
          </a:xfrm>
          <a:prstGeom prst="straightConnector1">
            <a:avLst/>
          </a:prstGeom>
          <a:noFill/>
          <a:ln w="9525" cap="flat" cmpd="sng">
            <a:solidFill>
              <a:srgbClr val="0000FF"/>
            </a:solidFill>
            <a:prstDash val="solid"/>
            <a:round/>
            <a:headEnd type="none" w="med" len="med"/>
            <a:tailEnd type="triangle" w="med" len="med"/>
          </a:ln>
        </p:spPr>
      </p:cxnSp>
      <p:sp>
        <p:nvSpPr>
          <p:cNvPr id="960" name="Google Shape;960;p58"/>
          <p:cNvSpPr txBox="1"/>
          <p:nvPr/>
        </p:nvSpPr>
        <p:spPr>
          <a:xfrm>
            <a:off x="6187675" y="2778783"/>
            <a:ext cx="589200" cy="153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0000FF"/>
                </a:solidFill>
                <a:latin typeface="Roboto"/>
                <a:ea typeface="Roboto"/>
                <a:cs typeface="Roboto"/>
                <a:sym typeface="Roboto"/>
              </a:rPr>
              <a:t>A this way</a:t>
            </a:r>
            <a:endParaRPr sz="1000">
              <a:solidFill>
                <a:srgbClr val="0000FF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D422C0A9-F309-91E0-6511-920C4A516CE9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 smtClean="0"/>
              <a:t>34</a:t>
            </a:fld>
            <a:endParaRPr lang="en"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65" name="Google Shape;965;p59"/>
          <p:cNvSpPr txBox="1">
            <a:spLocks noGrp="1"/>
          </p:cNvSpPr>
          <p:nvPr>
            <p:ph type="body" idx="1"/>
          </p:nvPr>
        </p:nvSpPr>
        <p:spPr>
          <a:xfrm>
            <a:off x="4812375" y="402200"/>
            <a:ext cx="4038000" cy="42609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" b="1" dirty="0">
                <a:solidFill>
                  <a:schemeClr val="accent3"/>
                </a:solidFill>
                <a:latin typeface="Roboto"/>
                <a:ea typeface="Roboto"/>
                <a:cs typeface="Roboto"/>
                <a:sym typeface="Roboto"/>
              </a:rPr>
              <a:t>Distance-Vector Correctness</a:t>
            </a:r>
            <a:endParaRPr b="1" dirty="0">
              <a:solidFill>
                <a:schemeClr val="accent3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457200" lvl="0" indent="-342900" algn="l" rtl="0">
              <a:spcBef>
                <a:spcPts val="600"/>
              </a:spcBef>
              <a:spcAft>
                <a:spcPts val="0"/>
              </a:spcAft>
              <a:buClr>
                <a:srgbClr val="B7B7B7"/>
              </a:buClr>
              <a:buSzPts val="1800"/>
              <a:buChar char="•"/>
            </a:pPr>
            <a:r>
              <a:rPr lang="en" dirty="0">
                <a:solidFill>
                  <a:srgbClr val="B7B7B7"/>
                </a:solidFill>
              </a:rPr>
              <a:t>Algorithm Sketch</a:t>
            </a:r>
            <a:endParaRPr dirty="0">
              <a:solidFill>
                <a:srgbClr val="B7B7B7"/>
              </a:solidFill>
            </a:endParaRPr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Clr>
                <a:srgbClr val="B7B7B7"/>
              </a:buClr>
              <a:buSzPts val="1800"/>
              <a:buChar char="•"/>
            </a:pPr>
            <a:r>
              <a:rPr lang="en" dirty="0">
                <a:solidFill>
                  <a:srgbClr val="B7B7B7"/>
                </a:solidFill>
              </a:rPr>
              <a:t>Rule 1: Bellman-Ford Updates</a:t>
            </a:r>
            <a:endParaRPr dirty="0">
              <a:solidFill>
                <a:srgbClr val="B7B7B7"/>
              </a:solidFill>
            </a:endParaRPr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Clr>
                <a:srgbClr val="B7B7B7"/>
              </a:buClr>
              <a:buSzPts val="1800"/>
              <a:buChar char="•"/>
            </a:pPr>
            <a:r>
              <a:rPr lang="en" dirty="0">
                <a:solidFill>
                  <a:srgbClr val="B7B7B7"/>
                </a:solidFill>
              </a:rPr>
              <a:t>Bellman-Ford Demo</a:t>
            </a:r>
            <a:endParaRPr dirty="0">
              <a:solidFill>
                <a:srgbClr val="B7B7B7"/>
              </a:solidFill>
            </a:endParaRPr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800"/>
              <a:buFont typeface="Roboto"/>
              <a:buChar char="•"/>
            </a:pPr>
            <a:r>
              <a:rPr lang="en" b="1" dirty="0">
                <a:solidFill>
                  <a:schemeClr val="accent3"/>
                </a:solidFill>
                <a:latin typeface="Roboto"/>
                <a:ea typeface="Roboto"/>
                <a:cs typeface="Roboto"/>
                <a:sym typeface="Roboto"/>
              </a:rPr>
              <a:t>Rule 2: Updates From Next-Hop</a:t>
            </a:r>
            <a:endParaRPr b="1" dirty="0">
              <a:solidFill>
                <a:schemeClr val="accent3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Clr>
                <a:srgbClr val="B7B7B7"/>
              </a:buClr>
              <a:buSzPts val="1800"/>
              <a:buChar char="•"/>
            </a:pPr>
            <a:r>
              <a:rPr lang="en" dirty="0">
                <a:solidFill>
                  <a:srgbClr val="B7B7B7"/>
                </a:solidFill>
              </a:rPr>
              <a:t>Rule 3: Resending</a:t>
            </a:r>
            <a:endParaRPr dirty="0">
              <a:solidFill>
                <a:srgbClr val="B7B7B7"/>
              </a:solidFill>
            </a:endParaRPr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Clr>
                <a:srgbClr val="B7B7B7"/>
              </a:buClr>
              <a:buSzPts val="1800"/>
              <a:buChar char="•"/>
            </a:pPr>
            <a:r>
              <a:rPr lang="en" dirty="0">
                <a:solidFill>
                  <a:srgbClr val="B7B7B7"/>
                </a:solidFill>
              </a:rPr>
              <a:t>Rule 4: Expiring</a:t>
            </a:r>
            <a:endParaRPr dirty="0">
              <a:solidFill>
                <a:srgbClr val="B7B7B7"/>
              </a:solidFill>
            </a:endParaRPr>
          </a:p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" dirty="0">
                <a:solidFill>
                  <a:srgbClr val="B7B7B7"/>
                </a:solidFill>
              </a:rPr>
              <a:t>Distance-Vector Enhancements</a:t>
            </a:r>
            <a:endParaRPr dirty="0">
              <a:solidFill>
                <a:srgbClr val="B7B7B7"/>
              </a:solidFill>
            </a:endParaRPr>
          </a:p>
          <a:p>
            <a:pPr marL="457200" lvl="0" indent="-342900" algn="l" rtl="0">
              <a:spcBef>
                <a:spcPts val="600"/>
              </a:spcBef>
              <a:spcAft>
                <a:spcPts val="0"/>
              </a:spcAft>
              <a:buClr>
                <a:srgbClr val="B7B7B7"/>
              </a:buClr>
              <a:buSzPts val="1800"/>
              <a:buChar char="•"/>
            </a:pPr>
            <a:r>
              <a:rPr lang="en" dirty="0">
                <a:solidFill>
                  <a:srgbClr val="B7B7B7"/>
                </a:solidFill>
              </a:rPr>
              <a:t>Rule 5: Poison Expired Routes</a:t>
            </a:r>
            <a:endParaRPr dirty="0">
              <a:solidFill>
                <a:srgbClr val="B7B7B7"/>
              </a:solidFill>
            </a:endParaRPr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Clr>
                <a:srgbClr val="B7B7B7"/>
              </a:buClr>
              <a:buSzPts val="1800"/>
              <a:buChar char="•"/>
            </a:pPr>
            <a:r>
              <a:rPr lang="en" dirty="0">
                <a:solidFill>
                  <a:srgbClr val="B7B7B7"/>
                </a:solidFill>
              </a:rPr>
              <a:t>Rule 6A: Split Horizon</a:t>
            </a:r>
            <a:endParaRPr dirty="0">
              <a:solidFill>
                <a:srgbClr val="B7B7B7"/>
              </a:solidFill>
            </a:endParaRPr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Clr>
                <a:srgbClr val="B7B7B7"/>
              </a:buClr>
              <a:buSzPts val="1800"/>
              <a:buChar char="•"/>
            </a:pPr>
            <a:r>
              <a:rPr lang="en" dirty="0">
                <a:solidFill>
                  <a:srgbClr val="B7B7B7"/>
                </a:solidFill>
              </a:rPr>
              <a:t>Rule 6B: Poison Reverse</a:t>
            </a:r>
            <a:endParaRPr dirty="0">
              <a:solidFill>
                <a:srgbClr val="B7B7B7"/>
              </a:solidFill>
            </a:endParaRPr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Clr>
                <a:srgbClr val="B7B7B7"/>
              </a:buClr>
              <a:buSzPts val="1800"/>
              <a:buChar char="•"/>
            </a:pPr>
            <a:r>
              <a:rPr lang="en" dirty="0">
                <a:solidFill>
                  <a:srgbClr val="B7B7B7"/>
                </a:solidFill>
              </a:rPr>
              <a:t>Rule 7: Count To Infinity</a:t>
            </a:r>
            <a:endParaRPr dirty="0">
              <a:solidFill>
                <a:srgbClr val="B7B7B7"/>
              </a:solidFill>
            </a:endParaRPr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Clr>
                <a:srgbClr val="B7B7B7"/>
              </a:buClr>
              <a:buSzPts val="1800"/>
              <a:buChar char="•"/>
            </a:pPr>
            <a:r>
              <a:rPr lang="en" dirty="0">
                <a:solidFill>
                  <a:srgbClr val="B7B7B7"/>
                </a:solidFill>
              </a:rPr>
              <a:t>Eventful Updates</a:t>
            </a:r>
            <a:endParaRPr dirty="0">
              <a:solidFill>
                <a:srgbClr val="B7B7B7"/>
              </a:solidFill>
            </a:endParaRPr>
          </a:p>
        </p:txBody>
      </p:sp>
      <p:sp>
        <p:nvSpPr>
          <p:cNvPr id="966" name="Google Shape;966;p59"/>
          <p:cNvSpPr txBox="1">
            <a:spLocks noGrp="1"/>
          </p:cNvSpPr>
          <p:nvPr>
            <p:ph type="title"/>
          </p:nvPr>
        </p:nvSpPr>
        <p:spPr>
          <a:xfrm>
            <a:off x="177925" y="2003300"/>
            <a:ext cx="4038000" cy="20379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Rule 2: Updates from Next-Hop</a:t>
            </a:r>
            <a:endParaRPr/>
          </a:p>
        </p:txBody>
      </p:sp>
      <p:sp>
        <p:nvSpPr>
          <p:cNvPr id="967" name="Google Shape;967;p59"/>
          <p:cNvSpPr txBox="1">
            <a:spLocks noGrp="1"/>
          </p:cNvSpPr>
          <p:nvPr>
            <p:ph type="subTitle" idx="2"/>
          </p:nvPr>
        </p:nvSpPr>
        <p:spPr>
          <a:xfrm>
            <a:off x="177925" y="4068000"/>
            <a:ext cx="41580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-US" dirty="0"/>
              <a:t>Lecture 5.2, Spring 2026</a:t>
            </a:r>
            <a:endParaRPr dirty="0"/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89DB9F41-81B7-CF1A-D9ED-E4464371DFC4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 smtClean="0"/>
              <a:t>35</a:t>
            </a:fld>
            <a:endParaRPr lang="en"/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72" name="Google Shape;972;p60"/>
          <p:cNvSpPr txBox="1">
            <a:spLocks noGrp="1"/>
          </p:cNvSpPr>
          <p:nvPr>
            <p:ph type="title"/>
          </p:nvPr>
        </p:nvSpPr>
        <p:spPr>
          <a:xfrm>
            <a:off x="0" y="0"/>
            <a:ext cx="9144000" cy="39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Updates From the Current Next-Hop</a:t>
            </a:r>
            <a:endParaRPr/>
          </a:p>
        </p:txBody>
      </p:sp>
      <p:sp>
        <p:nvSpPr>
          <p:cNvPr id="973" name="Google Shape;973;p60"/>
          <p:cNvSpPr txBox="1">
            <a:spLocks noGrp="1"/>
          </p:cNvSpPr>
          <p:nvPr>
            <p:ph type="body" idx="1"/>
          </p:nvPr>
        </p:nvSpPr>
        <p:spPr>
          <a:xfrm>
            <a:off x="107050" y="402200"/>
            <a:ext cx="8909700" cy="18999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"/>
              <a:t>Recall our routing challenges: Topology can change.</a:t>
            </a:r>
            <a:endParaRPr/>
          </a:p>
          <a:p>
            <a:pPr marL="457200" lvl="0" indent="-342900" algn="l" rtl="0">
              <a:spcBef>
                <a:spcPts val="60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So far: We update if we get a better path (or if we didn't have a path before).</a:t>
            </a:r>
            <a:endParaRPr/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Fix: If our current next hop sends us an announcement, accept it,</a:t>
            </a:r>
            <a:br>
              <a:rPr lang="en"/>
            </a:br>
            <a:r>
              <a:rPr lang="en" i="1"/>
              <a:t>even if the path is worse</a:t>
            </a:r>
            <a:r>
              <a:rPr lang="en"/>
              <a:t>.</a:t>
            </a:r>
            <a:endParaRPr/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This lets the next-hop notify us if the topology changed.</a:t>
            </a:r>
            <a:endParaRPr/>
          </a:p>
        </p:txBody>
      </p:sp>
      <p:sp>
        <p:nvSpPr>
          <p:cNvPr id="974" name="Google Shape;974;p60"/>
          <p:cNvSpPr/>
          <p:nvPr/>
        </p:nvSpPr>
        <p:spPr>
          <a:xfrm>
            <a:off x="3591425" y="3488350"/>
            <a:ext cx="285000" cy="285000"/>
          </a:xfrm>
          <a:prstGeom prst="rect">
            <a:avLst/>
          </a:prstGeom>
          <a:solidFill>
            <a:srgbClr val="FFFFFF"/>
          </a:solidFill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R3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975" name="Google Shape;975;p60"/>
          <p:cNvSpPr/>
          <p:nvPr/>
        </p:nvSpPr>
        <p:spPr>
          <a:xfrm>
            <a:off x="1984375" y="2724151"/>
            <a:ext cx="285000" cy="285000"/>
          </a:xfrm>
          <a:prstGeom prst="rect">
            <a:avLst/>
          </a:prstGeom>
          <a:solidFill>
            <a:srgbClr val="FFFFFF"/>
          </a:solidFill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R1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976" name="Google Shape;976;p60"/>
          <p:cNvCxnSpPr>
            <a:stCxn id="975" idx="3"/>
            <a:endCxn id="974" idx="1"/>
          </p:cNvCxnSpPr>
          <p:nvPr/>
        </p:nvCxnSpPr>
        <p:spPr>
          <a:xfrm>
            <a:off x="2269375" y="2866651"/>
            <a:ext cx="1322100" cy="764100"/>
          </a:xfrm>
          <a:prstGeom prst="straightConnector1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977" name="Google Shape;977;p60"/>
          <p:cNvCxnSpPr>
            <a:stCxn id="978" idx="3"/>
          </p:cNvCxnSpPr>
          <p:nvPr/>
        </p:nvCxnSpPr>
        <p:spPr>
          <a:xfrm rot="10800000" flipH="1">
            <a:off x="2269375" y="3630908"/>
            <a:ext cx="1322400" cy="762900"/>
          </a:xfrm>
          <a:prstGeom prst="straightConnector1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978" name="Google Shape;978;p60"/>
          <p:cNvSpPr/>
          <p:nvPr/>
        </p:nvSpPr>
        <p:spPr>
          <a:xfrm>
            <a:off x="1984375" y="4251308"/>
            <a:ext cx="285000" cy="285000"/>
          </a:xfrm>
          <a:prstGeom prst="rect">
            <a:avLst/>
          </a:prstGeom>
          <a:solidFill>
            <a:srgbClr val="FFFFFF"/>
          </a:solidFill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R2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graphicFrame>
        <p:nvGraphicFramePr>
          <p:cNvPr id="979" name="Google Shape;979;p60"/>
          <p:cNvGraphicFramePr/>
          <p:nvPr/>
        </p:nvGraphicFramePr>
        <p:xfrm>
          <a:off x="6380282" y="3266200"/>
          <a:ext cx="2392175" cy="688770"/>
        </p:xfrm>
        <a:graphic>
          <a:graphicData uri="http://schemas.openxmlformats.org/drawingml/2006/table">
            <a:tbl>
              <a:tblPr>
                <a:noFill/>
                <a:tableStyleId>{9827013E-C202-4D27-A2D1-B1A861925892}</a:tableStyleId>
              </a:tblPr>
              <a:tblGrid>
                <a:gridCol w="6686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6100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11352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121925">
                <a:tc gridSpan="3"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latin typeface="Roboto"/>
                          <a:ea typeface="Roboto"/>
                          <a:cs typeface="Roboto"/>
                          <a:sym typeface="Roboto"/>
                        </a:rPr>
                        <a:t>R3's Table</a:t>
                      </a:r>
                      <a:endParaRPr sz="12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21925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latin typeface="Roboto"/>
                          <a:ea typeface="Roboto"/>
                          <a:cs typeface="Roboto"/>
                          <a:sym typeface="Roboto"/>
                        </a:rPr>
                        <a:t>To:</a:t>
                      </a:r>
                      <a:endParaRPr sz="12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/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latin typeface="Roboto"/>
                          <a:ea typeface="Roboto"/>
                          <a:cs typeface="Roboto"/>
                          <a:sym typeface="Roboto"/>
                        </a:rPr>
                        <a:t>Via:</a:t>
                      </a:r>
                      <a:endParaRPr sz="12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/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latin typeface="Roboto"/>
                          <a:ea typeface="Roboto"/>
                          <a:cs typeface="Roboto"/>
                          <a:sym typeface="Roboto"/>
                        </a:rPr>
                        <a:t>Cost:</a:t>
                      </a:r>
                      <a:endParaRPr sz="12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21925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/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b="1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/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</a:tbl>
          </a:graphicData>
        </a:graphic>
      </p:graphicFrame>
      <p:cxnSp>
        <p:nvCxnSpPr>
          <p:cNvPr id="980" name="Google Shape;980;p60"/>
          <p:cNvCxnSpPr/>
          <p:nvPr/>
        </p:nvCxnSpPr>
        <p:spPr>
          <a:xfrm rot="10800000" flipH="1">
            <a:off x="2558725" y="3952000"/>
            <a:ext cx="796500" cy="459900"/>
          </a:xfrm>
          <a:prstGeom prst="straightConnector1">
            <a:avLst/>
          </a:prstGeom>
          <a:noFill/>
          <a:ln w="19050" cap="flat" cmpd="sng">
            <a:solidFill>
              <a:schemeClr val="accent2"/>
            </a:solidFill>
            <a:prstDash val="solid"/>
            <a:round/>
            <a:headEnd type="none" w="med" len="med"/>
            <a:tailEnd type="triangle" w="med" len="med"/>
          </a:ln>
        </p:spPr>
      </p:cxnSp>
      <p:graphicFrame>
        <p:nvGraphicFramePr>
          <p:cNvPr id="981" name="Google Shape;981;p60"/>
          <p:cNvGraphicFramePr/>
          <p:nvPr/>
        </p:nvGraphicFramePr>
        <p:xfrm>
          <a:off x="6380282" y="3266200"/>
          <a:ext cx="2392175" cy="688770"/>
        </p:xfrm>
        <a:graphic>
          <a:graphicData uri="http://schemas.openxmlformats.org/drawingml/2006/table">
            <a:tbl>
              <a:tblPr>
                <a:noFill/>
                <a:tableStyleId>{9827013E-C202-4D27-A2D1-B1A861925892}</a:tableStyleId>
              </a:tblPr>
              <a:tblGrid>
                <a:gridCol w="6686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6100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11352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121925">
                <a:tc gridSpan="3"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latin typeface="Roboto"/>
                          <a:ea typeface="Roboto"/>
                          <a:cs typeface="Roboto"/>
                          <a:sym typeface="Roboto"/>
                        </a:rPr>
                        <a:t>R3's Table</a:t>
                      </a:r>
                      <a:endParaRPr sz="12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>
                    <a:solidFill>
                      <a:srgbClr val="FFFFFF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21925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latin typeface="Roboto"/>
                          <a:ea typeface="Roboto"/>
                          <a:cs typeface="Roboto"/>
                          <a:sym typeface="Roboto"/>
                        </a:rPr>
                        <a:t>To:</a:t>
                      </a:r>
                      <a:endParaRPr sz="12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latin typeface="Roboto"/>
                          <a:ea typeface="Roboto"/>
                          <a:cs typeface="Roboto"/>
                          <a:sym typeface="Roboto"/>
                        </a:rPr>
                        <a:t>Via:</a:t>
                      </a:r>
                      <a:endParaRPr sz="12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latin typeface="Roboto"/>
                          <a:ea typeface="Roboto"/>
                          <a:cs typeface="Roboto"/>
                          <a:sym typeface="Roboto"/>
                        </a:rPr>
                        <a:t>Cost:</a:t>
                      </a:r>
                      <a:endParaRPr sz="12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21925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b="1">
                          <a:latin typeface="Roboto"/>
                          <a:ea typeface="Roboto"/>
                          <a:cs typeface="Roboto"/>
                          <a:sym typeface="Roboto"/>
                        </a:rPr>
                        <a:t>A</a:t>
                      </a:r>
                      <a:endParaRPr b="1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>
                    <a:solidFill>
                      <a:srgbClr val="F4CCCC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b="1">
                          <a:latin typeface="Roboto"/>
                          <a:ea typeface="Roboto"/>
                          <a:cs typeface="Roboto"/>
                          <a:sym typeface="Roboto"/>
                        </a:rPr>
                        <a:t>R2</a:t>
                      </a:r>
                      <a:endParaRPr b="1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>
                    <a:solidFill>
                      <a:srgbClr val="F4CCCC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latin typeface="Roboto"/>
                          <a:ea typeface="Roboto"/>
                          <a:cs typeface="Roboto"/>
                          <a:sym typeface="Roboto"/>
                        </a:rPr>
                        <a:t>1+</a:t>
                      </a:r>
                      <a:r>
                        <a:rPr lang="en" b="1">
                          <a:latin typeface="Roboto"/>
                          <a:ea typeface="Roboto"/>
                          <a:cs typeface="Roboto"/>
                          <a:sym typeface="Roboto"/>
                        </a:rPr>
                        <a:t>3</a:t>
                      </a:r>
                      <a:r>
                        <a:rPr lang="en">
                          <a:latin typeface="Roboto"/>
                          <a:ea typeface="Roboto"/>
                          <a:cs typeface="Roboto"/>
                          <a:sym typeface="Roboto"/>
                        </a:rPr>
                        <a:t> = 4</a:t>
                      </a:r>
                      <a:endParaRPr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>
                    <a:solidFill>
                      <a:srgbClr val="F4CCC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</a:tbl>
          </a:graphicData>
        </a:graphic>
      </p:graphicFrame>
      <p:sp>
        <p:nvSpPr>
          <p:cNvPr id="982" name="Google Shape;982;p60"/>
          <p:cNvSpPr/>
          <p:nvPr/>
        </p:nvSpPr>
        <p:spPr>
          <a:xfrm>
            <a:off x="2899775" y="4251300"/>
            <a:ext cx="1100400" cy="733800"/>
          </a:xfrm>
          <a:prstGeom prst="roundRect">
            <a:avLst>
              <a:gd name="adj" fmla="val 16667"/>
            </a:avLst>
          </a:prstGeom>
          <a:solidFill>
            <a:srgbClr val="F4CCCC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I'm </a:t>
            </a:r>
            <a:r>
              <a:rPr lang="en" b="1">
                <a:latin typeface="Roboto"/>
                <a:ea typeface="Roboto"/>
                <a:cs typeface="Roboto"/>
                <a:sym typeface="Roboto"/>
              </a:rPr>
              <a:t>R2</a:t>
            </a:r>
            <a:r>
              <a:rPr lang="en">
                <a:latin typeface="Roboto"/>
                <a:ea typeface="Roboto"/>
                <a:cs typeface="Roboto"/>
                <a:sym typeface="Roboto"/>
              </a:rPr>
              <a:t>, and </a:t>
            </a:r>
            <a:r>
              <a:rPr lang="en" b="1">
                <a:latin typeface="Roboto"/>
                <a:ea typeface="Roboto"/>
                <a:cs typeface="Roboto"/>
                <a:sym typeface="Roboto"/>
              </a:rPr>
              <a:t>A</a:t>
            </a:r>
            <a:r>
              <a:rPr lang="en">
                <a:latin typeface="Roboto"/>
                <a:ea typeface="Roboto"/>
                <a:cs typeface="Roboto"/>
                <a:sym typeface="Roboto"/>
              </a:rPr>
              <a:t> is </a:t>
            </a:r>
            <a:r>
              <a:rPr lang="en" b="1">
                <a:latin typeface="Roboto"/>
                <a:ea typeface="Roboto"/>
                <a:cs typeface="Roboto"/>
                <a:sym typeface="Roboto"/>
              </a:rPr>
              <a:t>3</a:t>
            </a:r>
            <a:r>
              <a:rPr lang="en">
                <a:latin typeface="Roboto"/>
                <a:ea typeface="Roboto"/>
                <a:cs typeface="Roboto"/>
                <a:sym typeface="Roboto"/>
              </a:rPr>
              <a:t> away from me.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983" name="Google Shape;983;p60"/>
          <p:cNvSpPr/>
          <p:nvPr/>
        </p:nvSpPr>
        <p:spPr>
          <a:xfrm>
            <a:off x="4166625" y="3094938"/>
            <a:ext cx="1892100" cy="535800"/>
          </a:xfrm>
          <a:prstGeom prst="wedgeRoundRectCallout">
            <a:avLst>
              <a:gd name="adj1" fmla="val -59294"/>
              <a:gd name="adj2" fmla="val 55106"/>
              <a:gd name="adj3" fmla="val 0"/>
            </a:avLst>
          </a:prstGeom>
          <a:noFill/>
          <a:ln w="9525" cap="flat" cmpd="sng">
            <a:solidFill>
              <a:schemeClr val="accent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accent2"/>
                </a:solidFill>
                <a:latin typeface="Roboto"/>
                <a:ea typeface="Roboto"/>
                <a:cs typeface="Roboto"/>
                <a:sym typeface="Roboto"/>
              </a:rPr>
              <a:t>A wasn't in my table. Accept!</a:t>
            </a:r>
            <a:endParaRPr>
              <a:solidFill>
                <a:schemeClr val="accent2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AD05186C-6C53-8DA0-9D9D-3E061F0168FA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 smtClean="0"/>
              <a:t>36</a:t>
            </a:fld>
            <a:endParaRPr lang="en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8" name="Google Shape;988;p61"/>
          <p:cNvSpPr txBox="1">
            <a:spLocks noGrp="1"/>
          </p:cNvSpPr>
          <p:nvPr>
            <p:ph type="title"/>
          </p:nvPr>
        </p:nvSpPr>
        <p:spPr>
          <a:xfrm>
            <a:off x="0" y="0"/>
            <a:ext cx="9144000" cy="39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Updates From the Current Next-Hop</a:t>
            </a:r>
            <a:endParaRPr/>
          </a:p>
        </p:txBody>
      </p:sp>
      <p:sp>
        <p:nvSpPr>
          <p:cNvPr id="989" name="Google Shape;989;p61"/>
          <p:cNvSpPr txBox="1">
            <a:spLocks noGrp="1"/>
          </p:cNvSpPr>
          <p:nvPr>
            <p:ph type="body" idx="1"/>
          </p:nvPr>
        </p:nvSpPr>
        <p:spPr>
          <a:xfrm>
            <a:off x="107050" y="402200"/>
            <a:ext cx="8909700" cy="18999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"/>
              <a:t>Recall our routing challenges: Topology can change.</a:t>
            </a:r>
            <a:endParaRPr/>
          </a:p>
          <a:p>
            <a:pPr marL="457200" lvl="0" indent="-342900" algn="l" rtl="0">
              <a:spcBef>
                <a:spcPts val="60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So far: We update if we get a better path (or if we didn't have a path before).</a:t>
            </a:r>
            <a:endParaRPr/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Fix: If our current next hop sends us an announcement, accept it,</a:t>
            </a:r>
            <a:br>
              <a:rPr lang="en"/>
            </a:br>
            <a:r>
              <a:rPr lang="en" i="1"/>
              <a:t>even if the path is worse</a:t>
            </a:r>
            <a:r>
              <a:rPr lang="en"/>
              <a:t>.</a:t>
            </a:r>
            <a:endParaRPr/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This lets the next-hop notify us if the topology changed.</a:t>
            </a:r>
            <a:endParaRPr/>
          </a:p>
        </p:txBody>
      </p:sp>
      <p:sp>
        <p:nvSpPr>
          <p:cNvPr id="990" name="Google Shape;990;p61"/>
          <p:cNvSpPr/>
          <p:nvPr/>
        </p:nvSpPr>
        <p:spPr>
          <a:xfrm>
            <a:off x="3591425" y="3488350"/>
            <a:ext cx="285000" cy="285000"/>
          </a:xfrm>
          <a:prstGeom prst="rect">
            <a:avLst/>
          </a:prstGeom>
          <a:solidFill>
            <a:srgbClr val="FFFFFF"/>
          </a:solidFill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R3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991" name="Google Shape;991;p61"/>
          <p:cNvSpPr/>
          <p:nvPr/>
        </p:nvSpPr>
        <p:spPr>
          <a:xfrm>
            <a:off x="1984375" y="2724151"/>
            <a:ext cx="285000" cy="285000"/>
          </a:xfrm>
          <a:prstGeom prst="rect">
            <a:avLst/>
          </a:prstGeom>
          <a:solidFill>
            <a:srgbClr val="FFFFFF"/>
          </a:solidFill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R1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992" name="Google Shape;992;p61"/>
          <p:cNvCxnSpPr>
            <a:stCxn id="991" idx="3"/>
            <a:endCxn id="990" idx="1"/>
          </p:cNvCxnSpPr>
          <p:nvPr/>
        </p:nvCxnSpPr>
        <p:spPr>
          <a:xfrm>
            <a:off x="2269375" y="2866651"/>
            <a:ext cx="1322100" cy="764100"/>
          </a:xfrm>
          <a:prstGeom prst="straightConnector1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993" name="Google Shape;993;p61"/>
          <p:cNvCxnSpPr>
            <a:stCxn id="994" idx="3"/>
          </p:cNvCxnSpPr>
          <p:nvPr/>
        </p:nvCxnSpPr>
        <p:spPr>
          <a:xfrm rot="10800000" flipH="1">
            <a:off x="2269375" y="3630908"/>
            <a:ext cx="1322400" cy="762900"/>
          </a:xfrm>
          <a:prstGeom prst="straightConnector1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994" name="Google Shape;994;p61"/>
          <p:cNvSpPr/>
          <p:nvPr/>
        </p:nvSpPr>
        <p:spPr>
          <a:xfrm>
            <a:off x="1984375" y="4251308"/>
            <a:ext cx="285000" cy="285000"/>
          </a:xfrm>
          <a:prstGeom prst="rect">
            <a:avLst/>
          </a:prstGeom>
          <a:solidFill>
            <a:srgbClr val="FFFFFF"/>
          </a:solidFill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R2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graphicFrame>
        <p:nvGraphicFramePr>
          <p:cNvPr id="995" name="Google Shape;995;p61"/>
          <p:cNvGraphicFramePr/>
          <p:nvPr/>
        </p:nvGraphicFramePr>
        <p:xfrm>
          <a:off x="6380282" y="3266200"/>
          <a:ext cx="2392175" cy="688770"/>
        </p:xfrm>
        <a:graphic>
          <a:graphicData uri="http://schemas.openxmlformats.org/drawingml/2006/table">
            <a:tbl>
              <a:tblPr>
                <a:noFill/>
                <a:tableStyleId>{9827013E-C202-4D27-A2D1-B1A861925892}</a:tableStyleId>
              </a:tblPr>
              <a:tblGrid>
                <a:gridCol w="6686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6100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11352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121925">
                <a:tc gridSpan="3"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latin typeface="Roboto"/>
                          <a:ea typeface="Roboto"/>
                          <a:cs typeface="Roboto"/>
                          <a:sym typeface="Roboto"/>
                        </a:rPr>
                        <a:t>R3's Table</a:t>
                      </a:r>
                      <a:endParaRPr sz="12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21925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latin typeface="Roboto"/>
                          <a:ea typeface="Roboto"/>
                          <a:cs typeface="Roboto"/>
                          <a:sym typeface="Roboto"/>
                        </a:rPr>
                        <a:t>To:</a:t>
                      </a:r>
                      <a:endParaRPr sz="12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/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latin typeface="Roboto"/>
                          <a:ea typeface="Roboto"/>
                          <a:cs typeface="Roboto"/>
                          <a:sym typeface="Roboto"/>
                        </a:rPr>
                        <a:t>Via:</a:t>
                      </a:r>
                      <a:endParaRPr sz="12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/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latin typeface="Roboto"/>
                          <a:ea typeface="Roboto"/>
                          <a:cs typeface="Roboto"/>
                          <a:sym typeface="Roboto"/>
                        </a:rPr>
                        <a:t>Cost:</a:t>
                      </a:r>
                      <a:endParaRPr sz="12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21925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latin typeface="Roboto"/>
                          <a:ea typeface="Roboto"/>
                          <a:cs typeface="Roboto"/>
                          <a:sym typeface="Roboto"/>
                        </a:rPr>
                        <a:t>A</a:t>
                      </a:r>
                      <a:endParaRPr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/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latin typeface="Roboto"/>
                          <a:ea typeface="Roboto"/>
                          <a:cs typeface="Roboto"/>
                          <a:sym typeface="Roboto"/>
                        </a:rPr>
                        <a:t>R2</a:t>
                      </a:r>
                      <a:endParaRPr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/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latin typeface="Roboto"/>
                          <a:ea typeface="Roboto"/>
                          <a:cs typeface="Roboto"/>
                          <a:sym typeface="Roboto"/>
                        </a:rPr>
                        <a:t>4</a:t>
                      </a:r>
                      <a:endParaRPr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</a:tbl>
          </a:graphicData>
        </a:graphic>
      </p:graphicFrame>
      <p:sp>
        <p:nvSpPr>
          <p:cNvPr id="996" name="Google Shape;996;p61"/>
          <p:cNvSpPr/>
          <p:nvPr/>
        </p:nvSpPr>
        <p:spPr>
          <a:xfrm>
            <a:off x="2996075" y="2357250"/>
            <a:ext cx="1100400" cy="733800"/>
          </a:xfrm>
          <a:prstGeom prst="roundRect">
            <a:avLst>
              <a:gd name="adj" fmla="val 16667"/>
            </a:avLst>
          </a:prstGeom>
          <a:solidFill>
            <a:srgbClr val="F4CCCC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I'm </a:t>
            </a:r>
            <a:r>
              <a:rPr lang="en" b="1">
                <a:latin typeface="Roboto"/>
                <a:ea typeface="Roboto"/>
                <a:cs typeface="Roboto"/>
                <a:sym typeface="Roboto"/>
              </a:rPr>
              <a:t>R1</a:t>
            </a:r>
            <a:r>
              <a:rPr lang="en">
                <a:latin typeface="Roboto"/>
                <a:ea typeface="Roboto"/>
                <a:cs typeface="Roboto"/>
                <a:sym typeface="Roboto"/>
              </a:rPr>
              <a:t>, and </a:t>
            </a:r>
            <a:r>
              <a:rPr lang="en" b="1">
                <a:latin typeface="Roboto"/>
                <a:ea typeface="Roboto"/>
                <a:cs typeface="Roboto"/>
                <a:sym typeface="Roboto"/>
              </a:rPr>
              <a:t>A</a:t>
            </a:r>
            <a:r>
              <a:rPr lang="en">
                <a:latin typeface="Roboto"/>
                <a:ea typeface="Roboto"/>
                <a:cs typeface="Roboto"/>
                <a:sym typeface="Roboto"/>
              </a:rPr>
              <a:t> is </a:t>
            </a:r>
            <a:r>
              <a:rPr lang="en" b="1">
                <a:latin typeface="Roboto"/>
                <a:ea typeface="Roboto"/>
                <a:cs typeface="Roboto"/>
                <a:sym typeface="Roboto"/>
              </a:rPr>
              <a:t>8</a:t>
            </a:r>
            <a:r>
              <a:rPr lang="en">
                <a:latin typeface="Roboto"/>
                <a:ea typeface="Roboto"/>
                <a:cs typeface="Roboto"/>
                <a:sym typeface="Roboto"/>
              </a:rPr>
              <a:t> away from me.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997" name="Google Shape;997;p61"/>
          <p:cNvSpPr/>
          <p:nvPr/>
        </p:nvSpPr>
        <p:spPr>
          <a:xfrm>
            <a:off x="4166625" y="3094950"/>
            <a:ext cx="2083500" cy="535800"/>
          </a:xfrm>
          <a:prstGeom prst="wedgeRoundRectCallout">
            <a:avLst>
              <a:gd name="adj1" fmla="val -59294"/>
              <a:gd name="adj2" fmla="val 55106"/>
              <a:gd name="adj3" fmla="val 0"/>
            </a:avLst>
          </a:prstGeom>
          <a:noFill/>
          <a:ln w="9525" cap="flat" cmpd="sng">
            <a:solidFill>
              <a:schemeClr val="accent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accent2"/>
                </a:solidFill>
                <a:latin typeface="Roboto"/>
                <a:ea typeface="Roboto"/>
                <a:cs typeface="Roboto"/>
                <a:sym typeface="Roboto"/>
              </a:rPr>
              <a:t>1+8=9 is worse than 4.</a:t>
            </a:r>
            <a:endParaRPr>
              <a:solidFill>
                <a:schemeClr val="accent2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accent2"/>
                </a:solidFill>
                <a:latin typeface="Roboto"/>
                <a:ea typeface="Roboto"/>
                <a:cs typeface="Roboto"/>
                <a:sym typeface="Roboto"/>
              </a:rPr>
              <a:t>Reject!</a:t>
            </a:r>
            <a:endParaRPr>
              <a:solidFill>
                <a:schemeClr val="accent2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998" name="Google Shape;998;p61"/>
          <p:cNvCxnSpPr/>
          <p:nvPr/>
        </p:nvCxnSpPr>
        <p:spPr>
          <a:xfrm>
            <a:off x="2490050" y="2842920"/>
            <a:ext cx="865200" cy="499500"/>
          </a:xfrm>
          <a:prstGeom prst="straightConnector1">
            <a:avLst/>
          </a:prstGeom>
          <a:noFill/>
          <a:ln w="19050" cap="flat" cmpd="sng">
            <a:solidFill>
              <a:schemeClr val="accent2"/>
            </a:solidFill>
            <a:prstDash val="solid"/>
            <a:round/>
            <a:headEnd type="none" w="med" len="med"/>
            <a:tailEnd type="triangle" w="med" len="med"/>
          </a:ln>
        </p:spPr>
      </p:cxn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201A5647-8E99-584C-5AB2-E8A22554B2E0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 smtClean="0"/>
              <a:t>37</a:t>
            </a:fld>
            <a:endParaRPr lang="en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9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9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0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3" name="Google Shape;1003;p62"/>
          <p:cNvSpPr txBox="1">
            <a:spLocks noGrp="1"/>
          </p:cNvSpPr>
          <p:nvPr>
            <p:ph type="title"/>
          </p:nvPr>
        </p:nvSpPr>
        <p:spPr>
          <a:xfrm>
            <a:off x="0" y="0"/>
            <a:ext cx="9144000" cy="39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Updates From the Current Next-Hop</a:t>
            </a:r>
            <a:endParaRPr/>
          </a:p>
        </p:txBody>
      </p:sp>
      <p:sp>
        <p:nvSpPr>
          <p:cNvPr id="1004" name="Google Shape;1004;p62"/>
          <p:cNvSpPr txBox="1">
            <a:spLocks noGrp="1"/>
          </p:cNvSpPr>
          <p:nvPr>
            <p:ph type="body" idx="1"/>
          </p:nvPr>
        </p:nvSpPr>
        <p:spPr>
          <a:xfrm>
            <a:off x="107050" y="402200"/>
            <a:ext cx="8909700" cy="18999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"/>
              <a:t>Recall our routing challenges: Topology can change.</a:t>
            </a:r>
            <a:endParaRPr/>
          </a:p>
          <a:p>
            <a:pPr marL="457200" lvl="0" indent="-342900" algn="l" rtl="0">
              <a:spcBef>
                <a:spcPts val="60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So far: We update if we get a better path (or if we didn't have a path before).</a:t>
            </a:r>
            <a:endParaRPr/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Fix: If our current next hop sends us an announcement, accept it,</a:t>
            </a:r>
            <a:br>
              <a:rPr lang="en"/>
            </a:br>
            <a:r>
              <a:rPr lang="en" i="1"/>
              <a:t>even if the path is worse</a:t>
            </a:r>
            <a:r>
              <a:rPr lang="en"/>
              <a:t>.</a:t>
            </a:r>
            <a:endParaRPr/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This lets the next-hop notify us if the topology changed.</a:t>
            </a:r>
            <a:endParaRPr/>
          </a:p>
        </p:txBody>
      </p:sp>
      <p:sp>
        <p:nvSpPr>
          <p:cNvPr id="1005" name="Google Shape;1005;p62"/>
          <p:cNvSpPr/>
          <p:nvPr/>
        </p:nvSpPr>
        <p:spPr>
          <a:xfrm>
            <a:off x="3591425" y="3488350"/>
            <a:ext cx="285000" cy="285000"/>
          </a:xfrm>
          <a:prstGeom prst="rect">
            <a:avLst/>
          </a:prstGeom>
          <a:solidFill>
            <a:srgbClr val="FFFFFF"/>
          </a:solidFill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R3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006" name="Google Shape;1006;p62"/>
          <p:cNvSpPr/>
          <p:nvPr/>
        </p:nvSpPr>
        <p:spPr>
          <a:xfrm>
            <a:off x="1984375" y="2724151"/>
            <a:ext cx="285000" cy="285000"/>
          </a:xfrm>
          <a:prstGeom prst="rect">
            <a:avLst/>
          </a:prstGeom>
          <a:solidFill>
            <a:srgbClr val="FFFFFF"/>
          </a:solidFill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R1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1007" name="Google Shape;1007;p62"/>
          <p:cNvCxnSpPr>
            <a:stCxn id="1006" idx="3"/>
            <a:endCxn id="1005" idx="1"/>
          </p:cNvCxnSpPr>
          <p:nvPr/>
        </p:nvCxnSpPr>
        <p:spPr>
          <a:xfrm>
            <a:off x="2269375" y="2866651"/>
            <a:ext cx="1322100" cy="764100"/>
          </a:xfrm>
          <a:prstGeom prst="straightConnector1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1008" name="Google Shape;1008;p62"/>
          <p:cNvCxnSpPr>
            <a:stCxn id="1009" idx="3"/>
          </p:cNvCxnSpPr>
          <p:nvPr/>
        </p:nvCxnSpPr>
        <p:spPr>
          <a:xfrm rot="10800000" flipH="1">
            <a:off x="2269375" y="3630908"/>
            <a:ext cx="1322400" cy="762900"/>
          </a:xfrm>
          <a:prstGeom prst="straightConnector1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1009" name="Google Shape;1009;p62"/>
          <p:cNvSpPr/>
          <p:nvPr/>
        </p:nvSpPr>
        <p:spPr>
          <a:xfrm>
            <a:off x="1984375" y="4251308"/>
            <a:ext cx="285000" cy="285000"/>
          </a:xfrm>
          <a:prstGeom prst="rect">
            <a:avLst/>
          </a:prstGeom>
          <a:solidFill>
            <a:srgbClr val="FFFFFF"/>
          </a:solidFill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R2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1010" name="Google Shape;1010;p62"/>
          <p:cNvCxnSpPr/>
          <p:nvPr/>
        </p:nvCxnSpPr>
        <p:spPr>
          <a:xfrm rot="10800000" flipH="1">
            <a:off x="2558725" y="3952000"/>
            <a:ext cx="796500" cy="459900"/>
          </a:xfrm>
          <a:prstGeom prst="straightConnector1">
            <a:avLst/>
          </a:prstGeom>
          <a:noFill/>
          <a:ln w="19050" cap="flat" cmpd="sng">
            <a:solidFill>
              <a:schemeClr val="accent2"/>
            </a:solidFill>
            <a:prstDash val="solid"/>
            <a:round/>
            <a:headEnd type="none" w="med" len="med"/>
            <a:tailEnd type="triangle" w="med" len="med"/>
          </a:ln>
        </p:spPr>
      </p:cxnSp>
      <p:sp>
        <p:nvSpPr>
          <p:cNvPr id="1011" name="Google Shape;1011;p62"/>
          <p:cNvSpPr/>
          <p:nvPr/>
        </p:nvSpPr>
        <p:spPr>
          <a:xfrm>
            <a:off x="2899775" y="4251300"/>
            <a:ext cx="1100400" cy="733800"/>
          </a:xfrm>
          <a:prstGeom prst="roundRect">
            <a:avLst>
              <a:gd name="adj" fmla="val 16667"/>
            </a:avLst>
          </a:prstGeom>
          <a:solidFill>
            <a:srgbClr val="F4CCCC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I'm </a:t>
            </a:r>
            <a:r>
              <a:rPr lang="en" b="1">
                <a:latin typeface="Roboto"/>
                <a:ea typeface="Roboto"/>
                <a:cs typeface="Roboto"/>
                <a:sym typeface="Roboto"/>
              </a:rPr>
              <a:t>R2</a:t>
            </a:r>
            <a:r>
              <a:rPr lang="en">
                <a:latin typeface="Roboto"/>
                <a:ea typeface="Roboto"/>
                <a:cs typeface="Roboto"/>
                <a:sym typeface="Roboto"/>
              </a:rPr>
              <a:t>, and </a:t>
            </a:r>
            <a:r>
              <a:rPr lang="en" b="1">
                <a:latin typeface="Roboto"/>
                <a:ea typeface="Roboto"/>
                <a:cs typeface="Roboto"/>
                <a:sym typeface="Roboto"/>
              </a:rPr>
              <a:t>A</a:t>
            </a:r>
            <a:r>
              <a:rPr lang="en">
                <a:latin typeface="Roboto"/>
                <a:ea typeface="Roboto"/>
                <a:cs typeface="Roboto"/>
                <a:sym typeface="Roboto"/>
              </a:rPr>
              <a:t> is </a:t>
            </a:r>
            <a:r>
              <a:rPr lang="en" b="1">
                <a:latin typeface="Roboto"/>
                <a:ea typeface="Roboto"/>
                <a:cs typeface="Roboto"/>
                <a:sym typeface="Roboto"/>
              </a:rPr>
              <a:t>8</a:t>
            </a:r>
            <a:r>
              <a:rPr lang="en">
                <a:latin typeface="Roboto"/>
                <a:ea typeface="Roboto"/>
                <a:cs typeface="Roboto"/>
                <a:sym typeface="Roboto"/>
              </a:rPr>
              <a:t> away from me.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012" name="Google Shape;1012;p62"/>
          <p:cNvSpPr/>
          <p:nvPr/>
        </p:nvSpPr>
        <p:spPr>
          <a:xfrm>
            <a:off x="4166625" y="3094938"/>
            <a:ext cx="1892100" cy="535800"/>
          </a:xfrm>
          <a:prstGeom prst="wedgeRoundRectCallout">
            <a:avLst>
              <a:gd name="adj1" fmla="val -59294"/>
              <a:gd name="adj2" fmla="val 55106"/>
              <a:gd name="adj3" fmla="val 0"/>
            </a:avLst>
          </a:prstGeom>
          <a:noFill/>
          <a:ln w="9525" cap="flat" cmpd="sng">
            <a:solidFill>
              <a:schemeClr val="accent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accent2"/>
                </a:solidFill>
                <a:latin typeface="Roboto"/>
                <a:ea typeface="Roboto"/>
                <a:cs typeface="Roboto"/>
                <a:sym typeface="Roboto"/>
              </a:rPr>
              <a:t>R2 is the next-hop. Accept!</a:t>
            </a:r>
            <a:endParaRPr>
              <a:solidFill>
                <a:schemeClr val="accent2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graphicFrame>
        <p:nvGraphicFramePr>
          <p:cNvPr id="1013" name="Google Shape;1013;p62"/>
          <p:cNvGraphicFramePr/>
          <p:nvPr/>
        </p:nvGraphicFramePr>
        <p:xfrm>
          <a:off x="6380282" y="3266200"/>
          <a:ext cx="2392175" cy="688770"/>
        </p:xfrm>
        <a:graphic>
          <a:graphicData uri="http://schemas.openxmlformats.org/drawingml/2006/table">
            <a:tbl>
              <a:tblPr>
                <a:noFill/>
                <a:tableStyleId>{9827013E-C202-4D27-A2D1-B1A861925892}</a:tableStyleId>
              </a:tblPr>
              <a:tblGrid>
                <a:gridCol w="6686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6100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11352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121925">
                <a:tc gridSpan="3"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latin typeface="Roboto"/>
                          <a:ea typeface="Roboto"/>
                          <a:cs typeface="Roboto"/>
                          <a:sym typeface="Roboto"/>
                        </a:rPr>
                        <a:t>R3's Table</a:t>
                      </a:r>
                      <a:endParaRPr sz="12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21925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latin typeface="Roboto"/>
                          <a:ea typeface="Roboto"/>
                          <a:cs typeface="Roboto"/>
                          <a:sym typeface="Roboto"/>
                        </a:rPr>
                        <a:t>To:</a:t>
                      </a:r>
                      <a:endParaRPr sz="12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/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latin typeface="Roboto"/>
                          <a:ea typeface="Roboto"/>
                          <a:cs typeface="Roboto"/>
                          <a:sym typeface="Roboto"/>
                        </a:rPr>
                        <a:t>Via:</a:t>
                      </a:r>
                      <a:endParaRPr sz="12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/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latin typeface="Roboto"/>
                          <a:ea typeface="Roboto"/>
                          <a:cs typeface="Roboto"/>
                          <a:sym typeface="Roboto"/>
                        </a:rPr>
                        <a:t>Cost:</a:t>
                      </a:r>
                      <a:endParaRPr sz="12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21925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latin typeface="Roboto"/>
                          <a:ea typeface="Roboto"/>
                          <a:cs typeface="Roboto"/>
                          <a:sym typeface="Roboto"/>
                        </a:rPr>
                        <a:t>A</a:t>
                      </a:r>
                      <a:endParaRPr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/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latin typeface="Roboto"/>
                          <a:ea typeface="Roboto"/>
                          <a:cs typeface="Roboto"/>
                          <a:sym typeface="Roboto"/>
                        </a:rPr>
                        <a:t>R2</a:t>
                      </a:r>
                      <a:endParaRPr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/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latin typeface="Roboto"/>
                          <a:ea typeface="Roboto"/>
                          <a:cs typeface="Roboto"/>
                          <a:sym typeface="Roboto"/>
                        </a:rPr>
                        <a:t>4</a:t>
                      </a:r>
                      <a:endParaRPr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</a:tbl>
          </a:graphicData>
        </a:graphic>
      </p:graphicFrame>
      <p:graphicFrame>
        <p:nvGraphicFramePr>
          <p:cNvPr id="1014" name="Google Shape;1014;p62"/>
          <p:cNvGraphicFramePr/>
          <p:nvPr/>
        </p:nvGraphicFramePr>
        <p:xfrm>
          <a:off x="6380282" y="3266200"/>
          <a:ext cx="2392175" cy="688770"/>
        </p:xfrm>
        <a:graphic>
          <a:graphicData uri="http://schemas.openxmlformats.org/drawingml/2006/table">
            <a:tbl>
              <a:tblPr>
                <a:noFill/>
                <a:tableStyleId>{9827013E-C202-4D27-A2D1-B1A861925892}</a:tableStyleId>
              </a:tblPr>
              <a:tblGrid>
                <a:gridCol w="6686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6100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11352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121925">
                <a:tc gridSpan="3"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latin typeface="Roboto"/>
                          <a:ea typeface="Roboto"/>
                          <a:cs typeface="Roboto"/>
                          <a:sym typeface="Roboto"/>
                        </a:rPr>
                        <a:t>R3's Table</a:t>
                      </a:r>
                      <a:endParaRPr sz="12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>
                    <a:solidFill>
                      <a:srgbClr val="FFFFFF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21925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latin typeface="Roboto"/>
                          <a:ea typeface="Roboto"/>
                          <a:cs typeface="Roboto"/>
                          <a:sym typeface="Roboto"/>
                        </a:rPr>
                        <a:t>To:</a:t>
                      </a:r>
                      <a:endParaRPr sz="12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latin typeface="Roboto"/>
                          <a:ea typeface="Roboto"/>
                          <a:cs typeface="Roboto"/>
                          <a:sym typeface="Roboto"/>
                        </a:rPr>
                        <a:t>Via:</a:t>
                      </a:r>
                      <a:endParaRPr sz="12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latin typeface="Roboto"/>
                          <a:ea typeface="Roboto"/>
                          <a:cs typeface="Roboto"/>
                          <a:sym typeface="Roboto"/>
                        </a:rPr>
                        <a:t>Cost:</a:t>
                      </a:r>
                      <a:endParaRPr sz="12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21925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b="1">
                          <a:latin typeface="Roboto"/>
                          <a:ea typeface="Roboto"/>
                          <a:cs typeface="Roboto"/>
                          <a:sym typeface="Roboto"/>
                        </a:rPr>
                        <a:t>A</a:t>
                      </a:r>
                      <a:endParaRPr b="1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>
                    <a:solidFill>
                      <a:srgbClr val="F4CCCC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b="1">
                          <a:latin typeface="Roboto"/>
                          <a:ea typeface="Roboto"/>
                          <a:cs typeface="Roboto"/>
                          <a:sym typeface="Roboto"/>
                        </a:rPr>
                        <a:t>R2</a:t>
                      </a:r>
                      <a:endParaRPr b="1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>
                    <a:solidFill>
                      <a:srgbClr val="F4CCCC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latin typeface="Roboto"/>
                          <a:ea typeface="Roboto"/>
                          <a:cs typeface="Roboto"/>
                          <a:sym typeface="Roboto"/>
                        </a:rPr>
                        <a:t>1+</a:t>
                      </a:r>
                      <a:r>
                        <a:rPr lang="en" b="1">
                          <a:latin typeface="Roboto"/>
                          <a:ea typeface="Roboto"/>
                          <a:cs typeface="Roboto"/>
                          <a:sym typeface="Roboto"/>
                        </a:rPr>
                        <a:t>8</a:t>
                      </a:r>
                      <a:r>
                        <a:rPr lang="en">
                          <a:latin typeface="Roboto"/>
                          <a:ea typeface="Roboto"/>
                          <a:cs typeface="Roboto"/>
                          <a:sym typeface="Roboto"/>
                        </a:rPr>
                        <a:t>=9</a:t>
                      </a:r>
                      <a:endParaRPr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>
                    <a:solidFill>
                      <a:srgbClr val="F4CCC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</a:tbl>
          </a:graphicData>
        </a:graphic>
      </p:graphicFrame>
      <p:sp>
        <p:nvSpPr>
          <p:cNvPr id="1015" name="Google Shape;1015;p62"/>
          <p:cNvSpPr/>
          <p:nvPr/>
        </p:nvSpPr>
        <p:spPr>
          <a:xfrm>
            <a:off x="4074475" y="4449300"/>
            <a:ext cx="3921900" cy="535800"/>
          </a:xfrm>
          <a:prstGeom prst="roundRect">
            <a:avLst>
              <a:gd name="adj" fmla="val 16667"/>
            </a:avLst>
          </a:prstGeom>
          <a:solidFill>
            <a:srgbClr val="F4CCCC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Hi, it's </a:t>
            </a:r>
            <a:r>
              <a:rPr lang="en" b="1">
                <a:latin typeface="Roboto"/>
                <a:ea typeface="Roboto"/>
                <a:cs typeface="Roboto"/>
                <a:sym typeface="Roboto"/>
              </a:rPr>
              <a:t>R2</a:t>
            </a:r>
            <a:r>
              <a:rPr lang="en">
                <a:latin typeface="Roboto"/>
                <a:ea typeface="Roboto"/>
                <a:cs typeface="Roboto"/>
                <a:sym typeface="Roboto"/>
              </a:rPr>
              <a:t> again. I know I said A is 3 away from me earlier, but that's changed. Now </a:t>
            </a:r>
            <a:r>
              <a:rPr lang="en" b="1">
                <a:latin typeface="Roboto"/>
                <a:ea typeface="Roboto"/>
                <a:cs typeface="Roboto"/>
                <a:sym typeface="Roboto"/>
              </a:rPr>
              <a:t>A</a:t>
            </a:r>
            <a:r>
              <a:rPr lang="en">
                <a:latin typeface="Roboto"/>
                <a:ea typeface="Roboto"/>
                <a:cs typeface="Roboto"/>
                <a:sym typeface="Roboto"/>
              </a:rPr>
              <a:t> is </a:t>
            </a:r>
            <a:r>
              <a:rPr lang="en" b="1">
                <a:latin typeface="Roboto"/>
                <a:ea typeface="Roboto"/>
                <a:cs typeface="Roboto"/>
                <a:sym typeface="Roboto"/>
              </a:rPr>
              <a:t>8</a:t>
            </a:r>
            <a:r>
              <a:rPr lang="en">
                <a:latin typeface="Roboto"/>
                <a:ea typeface="Roboto"/>
                <a:cs typeface="Roboto"/>
                <a:sym typeface="Roboto"/>
              </a:rPr>
              <a:t> away.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016" name="Google Shape;1016;p62"/>
          <p:cNvSpPr txBox="1"/>
          <p:nvPr/>
        </p:nvSpPr>
        <p:spPr>
          <a:xfrm>
            <a:off x="4074475" y="4185575"/>
            <a:ext cx="3335400" cy="270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27425" tIns="27425" rIns="27425" bIns="27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What R2 is really saying: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AA088656-143B-368B-188F-B2D531D94EFE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 smtClean="0"/>
              <a:t>38</a:t>
            </a:fld>
            <a:endParaRPr lang="en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0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1" name="Google Shape;1021;p63"/>
          <p:cNvSpPr txBox="1">
            <a:spLocks noGrp="1"/>
          </p:cNvSpPr>
          <p:nvPr>
            <p:ph type="title"/>
          </p:nvPr>
        </p:nvSpPr>
        <p:spPr>
          <a:xfrm>
            <a:off x="0" y="0"/>
            <a:ext cx="9144000" cy="39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Convergence</a:t>
            </a:r>
            <a:endParaRPr/>
          </a:p>
        </p:txBody>
      </p:sp>
      <p:sp>
        <p:nvSpPr>
          <p:cNvPr id="1022" name="Google Shape;1022;p63"/>
          <p:cNvSpPr txBox="1">
            <a:spLocks noGrp="1"/>
          </p:cNvSpPr>
          <p:nvPr>
            <p:ph type="body" idx="1"/>
          </p:nvPr>
        </p:nvSpPr>
        <p:spPr>
          <a:xfrm>
            <a:off x="107050" y="402200"/>
            <a:ext cx="8909700" cy="4530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"/>
              <a:t>If the network never changes:</a:t>
            </a:r>
            <a:endParaRPr/>
          </a:p>
          <a:p>
            <a:pPr marL="457200" lvl="0" indent="-342900" algn="l" rtl="0">
              <a:spcBef>
                <a:spcPts val="60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After running this protocol for some time, it will </a:t>
            </a:r>
            <a:r>
              <a:rPr lang="en" b="1"/>
              <a:t>converge</a:t>
            </a:r>
            <a:r>
              <a:rPr lang="en"/>
              <a:t>.</a:t>
            </a:r>
            <a:endParaRPr/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Everyone's forwarding table has the least-cost next hop.</a:t>
            </a:r>
            <a:endParaRPr/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All future announcements will be rejected.</a:t>
            </a:r>
            <a:endParaRPr/>
          </a:p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"/>
              <a:t>If a change happens (e.g. a link goes down):</a:t>
            </a:r>
            <a:endParaRPr/>
          </a:p>
          <a:p>
            <a:pPr marL="457200" lvl="0" indent="-342900" algn="l" rtl="0">
              <a:spcBef>
                <a:spcPts val="60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Some new announcements are sent.</a:t>
            </a:r>
            <a:endParaRPr/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Some forwarding tables are updated.</a:t>
            </a:r>
            <a:endParaRPr/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Eventually, we converge again to the new routing state.</a:t>
            </a:r>
            <a:endParaRPr/>
          </a:p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"/>
              <a:t>The network topology is constantly changing, so routers run the protocol </a:t>
            </a:r>
            <a:r>
              <a:rPr lang="en" i="1"/>
              <a:t>indefinitely</a:t>
            </a:r>
            <a:r>
              <a:rPr lang="en"/>
              <a:t>.</a:t>
            </a:r>
            <a:endParaRPr/>
          </a:p>
          <a:p>
            <a:pPr marL="457200" lvl="0" indent="-342900" algn="l" rtl="0">
              <a:spcBef>
                <a:spcPts val="600"/>
              </a:spcBef>
              <a:spcAft>
                <a:spcPts val="0"/>
              </a:spcAft>
              <a:buSzPts val="1800"/>
              <a:buChar char="●"/>
            </a:pPr>
            <a:r>
              <a:rPr lang="en" b="1"/>
              <a:t>Steady-state</a:t>
            </a:r>
            <a:r>
              <a:rPr lang="en"/>
              <a:t> occurs when the network has converged.</a:t>
            </a:r>
            <a:endParaRPr/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In steady-state, everything stays the same until the next topology change.</a:t>
            </a:r>
            <a:endParaRPr/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8CC38B21-44B6-777D-A4AD-EBF7EBAB65AC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 smtClean="0"/>
              <a:t>39</a:t>
            </a:fld>
            <a:endParaRPr lang="en"/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0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7" name="Google Shape;1027;p64"/>
          <p:cNvSpPr txBox="1">
            <a:spLocks noGrp="1"/>
          </p:cNvSpPr>
          <p:nvPr>
            <p:ph type="title"/>
          </p:nvPr>
        </p:nvSpPr>
        <p:spPr>
          <a:xfrm>
            <a:off x="0" y="0"/>
            <a:ext cx="9144000" cy="39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The Distance-Vector Algorithm So Far</a:t>
            </a:r>
            <a:endParaRPr/>
          </a:p>
        </p:txBody>
      </p:sp>
      <p:sp>
        <p:nvSpPr>
          <p:cNvPr id="1028" name="Google Shape;1028;p64"/>
          <p:cNvSpPr txBox="1">
            <a:spLocks noGrp="1"/>
          </p:cNvSpPr>
          <p:nvPr>
            <p:ph type="body" idx="1"/>
          </p:nvPr>
        </p:nvSpPr>
        <p:spPr>
          <a:xfrm>
            <a:off x="107050" y="402200"/>
            <a:ext cx="8909700" cy="4530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">
                <a:solidFill>
                  <a:srgbClr val="000000"/>
                </a:solidFill>
              </a:rPr>
              <a:t>For each destination:</a:t>
            </a:r>
            <a:endParaRPr>
              <a:solidFill>
                <a:srgbClr val="000000"/>
              </a:solidFill>
            </a:endParaRPr>
          </a:p>
          <a:p>
            <a:pPr marL="457200" lvl="0" indent="-342900" algn="l" rtl="0">
              <a:spcBef>
                <a:spcPts val="60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If you hear an advertisement, update table if:</a:t>
            </a:r>
            <a:endParaRPr/>
          </a:p>
          <a:p>
            <a:pPr marL="914400" lvl="1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○"/>
            </a:pPr>
            <a:r>
              <a:rPr lang="en"/>
              <a:t>The destination isn't in the table.</a:t>
            </a:r>
            <a:endParaRPr/>
          </a:p>
          <a:p>
            <a:pPr marL="914400" lvl="1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○"/>
            </a:pPr>
            <a:r>
              <a:rPr lang="en"/>
              <a:t>Advertised cost + link cost to neighbor &lt; best-known cost. </a:t>
            </a:r>
            <a:r>
              <a:rPr lang="en" sz="1400">
                <a:solidFill>
                  <a:schemeClr val="accent3"/>
                </a:solidFill>
              </a:rPr>
              <a:t>(#1)</a:t>
            </a:r>
            <a:endParaRPr sz="1400">
              <a:solidFill>
                <a:schemeClr val="accent3"/>
              </a:solidFill>
            </a:endParaRPr>
          </a:p>
          <a:p>
            <a:pPr marL="914400" lvl="1" indent="-342900" algn="l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800"/>
              <a:buChar char="○"/>
            </a:pPr>
            <a:r>
              <a:rPr lang="en">
                <a:solidFill>
                  <a:schemeClr val="accent2"/>
                </a:solidFill>
              </a:rPr>
              <a:t>The advertisement is from current next-hop. </a:t>
            </a:r>
            <a:r>
              <a:rPr lang="en" sz="1400">
                <a:solidFill>
                  <a:schemeClr val="accent3"/>
                </a:solidFill>
              </a:rPr>
              <a:t>(#2)</a:t>
            </a:r>
            <a:endParaRPr sz="1400">
              <a:solidFill>
                <a:schemeClr val="accent3"/>
              </a:solidFill>
            </a:endParaRPr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Char char="●"/>
            </a:pPr>
            <a:r>
              <a:rPr lang="en">
                <a:solidFill>
                  <a:srgbClr val="000000"/>
                </a:solidFill>
              </a:rPr>
              <a:t>Then, advertise to all your neighbors.</a:t>
            </a:r>
            <a:endParaRPr>
              <a:solidFill>
                <a:srgbClr val="000000"/>
              </a:solidFill>
            </a:endParaRPr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DFDB5911-482C-1424-68FE-3B17A240478D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 smtClean="0"/>
              <a:t>40</a:t>
            </a:fld>
            <a:endParaRPr lang="en"/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0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3" name="Google Shape;1033;p65"/>
          <p:cNvSpPr txBox="1">
            <a:spLocks noGrp="1"/>
          </p:cNvSpPr>
          <p:nvPr>
            <p:ph type="body" idx="1"/>
          </p:nvPr>
        </p:nvSpPr>
        <p:spPr>
          <a:xfrm>
            <a:off x="4812375" y="402200"/>
            <a:ext cx="4038000" cy="42609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" b="1" dirty="0">
                <a:solidFill>
                  <a:schemeClr val="accent3"/>
                </a:solidFill>
                <a:latin typeface="Roboto"/>
                <a:ea typeface="Roboto"/>
                <a:cs typeface="Roboto"/>
                <a:sym typeface="Roboto"/>
              </a:rPr>
              <a:t>Distance-Vector Correctness</a:t>
            </a:r>
            <a:endParaRPr b="1" dirty="0">
              <a:solidFill>
                <a:schemeClr val="accent3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457200" lvl="0" indent="-342900" algn="l" rtl="0">
              <a:spcBef>
                <a:spcPts val="600"/>
              </a:spcBef>
              <a:spcAft>
                <a:spcPts val="0"/>
              </a:spcAft>
              <a:buClr>
                <a:srgbClr val="B7B7B7"/>
              </a:buClr>
              <a:buSzPts val="1800"/>
              <a:buChar char="•"/>
            </a:pPr>
            <a:r>
              <a:rPr lang="en" dirty="0">
                <a:solidFill>
                  <a:srgbClr val="B7B7B7"/>
                </a:solidFill>
              </a:rPr>
              <a:t>Algorithm Sketch</a:t>
            </a:r>
            <a:endParaRPr dirty="0">
              <a:solidFill>
                <a:srgbClr val="B7B7B7"/>
              </a:solidFill>
            </a:endParaRPr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Clr>
                <a:srgbClr val="B7B7B7"/>
              </a:buClr>
              <a:buSzPts val="1800"/>
              <a:buChar char="•"/>
            </a:pPr>
            <a:r>
              <a:rPr lang="en" dirty="0">
                <a:solidFill>
                  <a:srgbClr val="B7B7B7"/>
                </a:solidFill>
              </a:rPr>
              <a:t>Rule 1: Bellman-Ford Updates</a:t>
            </a:r>
            <a:endParaRPr dirty="0">
              <a:solidFill>
                <a:srgbClr val="B7B7B7"/>
              </a:solidFill>
            </a:endParaRPr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Clr>
                <a:srgbClr val="B7B7B7"/>
              </a:buClr>
              <a:buSzPts val="1800"/>
              <a:buChar char="•"/>
            </a:pPr>
            <a:r>
              <a:rPr lang="en" dirty="0">
                <a:solidFill>
                  <a:srgbClr val="B7B7B7"/>
                </a:solidFill>
              </a:rPr>
              <a:t>Bellman-Ford Demo</a:t>
            </a:r>
            <a:endParaRPr dirty="0">
              <a:solidFill>
                <a:srgbClr val="B7B7B7"/>
              </a:solidFill>
            </a:endParaRPr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Clr>
                <a:srgbClr val="B7B7B7"/>
              </a:buClr>
              <a:buSzPts val="1800"/>
              <a:buChar char="•"/>
            </a:pPr>
            <a:r>
              <a:rPr lang="en" dirty="0">
                <a:solidFill>
                  <a:srgbClr val="B7B7B7"/>
                </a:solidFill>
              </a:rPr>
              <a:t>Rule 2: Updates From Next-Hop</a:t>
            </a:r>
            <a:endParaRPr dirty="0">
              <a:solidFill>
                <a:srgbClr val="B7B7B7"/>
              </a:solidFill>
            </a:endParaRPr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800"/>
              <a:buFont typeface="Roboto"/>
              <a:buChar char="•"/>
            </a:pPr>
            <a:r>
              <a:rPr lang="en" b="1" dirty="0">
                <a:solidFill>
                  <a:schemeClr val="accent3"/>
                </a:solidFill>
                <a:latin typeface="Roboto"/>
                <a:ea typeface="Roboto"/>
                <a:cs typeface="Roboto"/>
                <a:sym typeface="Roboto"/>
              </a:rPr>
              <a:t>Rule 3: Resending</a:t>
            </a:r>
            <a:endParaRPr dirty="0">
              <a:solidFill>
                <a:srgbClr val="B7B7B7"/>
              </a:solidFill>
            </a:endParaRPr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Clr>
                <a:srgbClr val="B7B7B7"/>
              </a:buClr>
              <a:buSzPts val="1800"/>
              <a:buChar char="•"/>
            </a:pPr>
            <a:r>
              <a:rPr lang="en" dirty="0">
                <a:solidFill>
                  <a:srgbClr val="B7B7B7"/>
                </a:solidFill>
              </a:rPr>
              <a:t>Rule 4: Expiring</a:t>
            </a:r>
            <a:endParaRPr b="1" dirty="0">
              <a:solidFill>
                <a:schemeClr val="accent3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" dirty="0">
                <a:solidFill>
                  <a:srgbClr val="B7B7B7"/>
                </a:solidFill>
              </a:rPr>
              <a:t>Distance-Vector Enhancements</a:t>
            </a:r>
            <a:endParaRPr dirty="0">
              <a:solidFill>
                <a:srgbClr val="B7B7B7"/>
              </a:solidFill>
            </a:endParaRPr>
          </a:p>
          <a:p>
            <a:pPr marL="457200" lvl="0" indent="-342900" algn="l" rtl="0">
              <a:spcBef>
                <a:spcPts val="600"/>
              </a:spcBef>
              <a:spcAft>
                <a:spcPts val="0"/>
              </a:spcAft>
              <a:buClr>
                <a:srgbClr val="B7B7B7"/>
              </a:buClr>
              <a:buSzPts val="1800"/>
              <a:buChar char="•"/>
            </a:pPr>
            <a:r>
              <a:rPr lang="en" dirty="0">
                <a:solidFill>
                  <a:srgbClr val="B7B7B7"/>
                </a:solidFill>
              </a:rPr>
              <a:t>Rule 5: Poison Expired Routes</a:t>
            </a:r>
            <a:endParaRPr dirty="0">
              <a:solidFill>
                <a:srgbClr val="B7B7B7"/>
              </a:solidFill>
            </a:endParaRPr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Clr>
                <a:srgbClr val="B7B7B7"/>
              </a:buClr>
              <a:buSzPts val="1800"/>
              <a:buChar char="•"/>
            </a:pPr>
            <a:r>
              <a:rPr lang="en" dirty="0">
                <a:solidFill>
                  <a:srgbClr val="B7B7B7"/>
                </a:solidFill>
              </a:rPr>
              <a:t>Rule 6A: Split Horizon</a:t>
            </a:r>
            <a:endParaRPr dirty="0">
              <a:solidFill>
                <a:srgbClr val="B7B7B7"/>
              </a:solidFill>
            </a:endParaRPr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Clr>
                <a:srgbClr val="B7B7B7"/>
              </a:buClr>
              <a:buSzPts val="1800"/>
              <a:buChar char="•"/>
            </a:pPr>
            <a:r>
              <a:rPr lang="en" dirty="0">
                <a:solidFill>
                  <a:srgbClr val="B7B7B7"/>
                </a:solidFill>
              </a:rPr>
              <a:t>Rule 6B: Poison Reverse</a:t>
            </a:r>
            <a:endParaRPr dirty="0">
              <a:solidFill>
                <a:srgbClr val="B7B7B7"/>
              </a:solidFill>
            </a:endParaRPr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Clr>
                <a:srgbClr val="B7B7B7"/>
              </a:buClr>
              <a:buSzPts val="1800"/>
              <a:buChar char="•"/>
            </a:pPr>
            <a:r>
              <a:rPr lang="en" dirty="0">
                <a:solidFill>
                  <a:srgbClr val="B7B7B7"/>
                </a:solidFill>
              </a:rPr>
              <a:t>Rule 7: Count To Infinity</a:t>
            </a:r>
            <a:endParaRPr dirty="0">
              <a:solidFill>
                <a:srgbClr val="B7B7B7"/>
              </a:solidFill>
            </a:endParaRPr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Clr>
                <a:srgbClr val="B7B7B7"/>
              </a:buClr>
              <a:buSzPts val="1800"/>
              <a:buChar char="•"/>
            </a:pPr>
            <a:r>
              <a:rPr lang="en" dirty="0">
                <a:solidFill>
                  <a:srgbClr val="B7B7B7"/>
                </a:solidFill>
              </a:rPr>
              <a:t>Eventful Updates</a:t>
            </a:r>
            <a:endParaRPr dirty="0">
              <a:solidFill>
                <a:srgbClr val="B7B7B7"/>
              </a:solidFill>
            </a:endParaRPr>
          </a:p>
        </p:txBody>
      </p:sp>
      <p:sp>
        <p:nvSpPr>
          <p:cNvPr id="1034" name="Google Shape;1034;p65"/>
          <p:cNvSpPr txBox="1">
            <a:spLocks noGrp="1"/>
          </p:cNvSpPr>
          <p:nvPr>
            <p:ph type="title"/>
          </p:nvPr>
        </p:nvSpPr>
        <p:spPr>
          <a:xfrm>
            <a:off x="177925" y="2003300"/>
            <a:ext cx="4038000" cy="20379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Rule 3: Resending</a:t>
            </a:r>
            <a:endParaRPr/>
          </a:p>
        </p:txBody>
      </p:sp>
      <p:sp>
        <p:nvSpPr>
          <p:cNvPr id="1035" name="Google Shape;1035;p65"/>
          <p:cNvSpPr txBox="1">
            <a:spLocks noGrp="1"/>
          </p:cNvSpPr>
          <p:nvPr>
            <p:ph type="subTitle" idx="2"/>
          </p:nvPr>
        </p:nvSpPr>
        <p:spPr>
          <a:xfrm>
            <a:off x="177925" y="4068000"/>
            <a:ext cx="41580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-US" dirty="0"/>
              <a:t>Lecture 5.2, Spring 2026</a:t>
            </a:r>
            <a:endParaRPr dirty="0"/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8277E2F2-4FDA-B1B0-2AE5-903B51B9E3B6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 smtClean="0"/>
              <a:t>41</a:t>
            </a:fld>
            <a:endParaRPr lang="en"/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0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0" name="Google Shape;1040;p66"/>
          <p:cNvSpPr txBox="1">
            <a:spLocks noGrp="1"/>
          </p:cNvSpPr>
          <p:nvPr>
            <p:ph type="title"/>
          </p:nvPr>
        </p:nvSpPr>
        <p:spPr>
          <a:xfrm>
            <a:off x="0" y="0"/>
            <a:ext cx="9144000" cy="39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Ensuring Reliability</a:t>
            </a:r>
            <a:endParaRPr/>
          </a:p>
        </p:txBody>
      </p:sp>
      <p:sp>
        <p:nvSpPr>
          <p:cNvPr id="1041" name="Google Shape;1041;p66"/>
          <p:cNvSpPr txBox="1">
            <a:spLocks noGrp="1"/>
          </p:cNvSpPr>
          <p:nvPr>
            <p:ph type="body" idx="1"/>
          </p:nvPr>
        </p:nvSpPr>
        <p:spPr>
          <a:xfrm>
            <a:off x="107050" y="402200"/>
            <a:ext cx="8909700" cy="1889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"/>
              <a:t>Recall our routing challenges: Packets can get dropped.</a:t>
            </a:r>
            <a:endParaRPr/>
          </a:p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"/>
              <a:t>Solution: Resend advertisements every </a:t>
            </a:r>
            <a:r>
              <a:rPr lang="en" i="1"/>
              <a:t>X</a:t>
            </a:r>
            <a:r>
              <a:rPr lang="en"/>
              <a:t> seconds.</a:t>
            </a:r>
            <a:endParaRPr/>
          </a:p>
          <a:p>
            <a:pPr marL="457200" lvl="0" indent="-342900" algn="l" rtl="0">
              <a:spcBef>
                <a:spcPts val="600"/>
              </a:spcBef>
              <a:spcAft>
                <a:spcPts val="0"/>
              </a:spcAft>
              <a:buSzPts val="1800"/>
              <a:buChar char="●"/>
            </a:pPr>
            <a:r>
              <a:rPr lang="en" i="1"/>
              <a:t>X</a:t>
            </a:r>
            <a:r>
              <a:rPr lang="en"/>
              <a:t> is the "advertisement interval."</a:t>
            </a:r>
            <a:endParaRPr/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This should work eventually, assuming the link is functional (&gt;0% delivery rate).</a:t>
            </a:r>
            <a:endParaRPr/>
          </a:p>
        </p:txBody>
      </p:sp>
      <p:sp>
        <p:nvSpPr>
          <p:cNvPr id="1042" name="Google Shape;1042;p66"/>
          <p:cNvSpPr/>
          <p:nvPr/>
        </p:nvSpPr>
        <p:spPr>
          <a:xfrm>
            <a:off x="2715000" y="3715900"/>
            <a:ext cx="285000" cy="285000"/>
          </a:xfrm>
          <a:prstGeom prst="rect">
            <a:avLst/>
          </a:prstGeom>
          <a:solidFill>
            <a:srgbClr val="FFFFFF"/>
          </a:solidFill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R1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043" name="Google Shape;1043;p66"/>
          <p:cNvSpPr/>
          <p:nvPr/>
        </p:nvSpPr>
        <p:spPr>
          <a:xfrm>
            <a:off x="657588" y="3715900"/>
            <a:ext cx="285000" cy="285000"/>
          </a:xfrm>
          <a:prstGeom prst="ellipse">
            <a:avLst/>
          </a:prstGeom>
          <a:solidFill>
            <a:srgbClr val="FFFFFF"/>
          </a:solidFill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A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1044" name="Google Shape;1044;p66"/>
          <p:cNvCxnSpPr>
            <a:stCxn id="1043" idx="6"/>
            <a:endCxn id="1042" idx="1"/>
          </p:cNvCxnSpPr>
          <p:nvPr/>
        </p:nvCxnSpPr>
        <p:spPr>
          <a:xfrm>
            <a:off x="942588" y="3858400"/>
            <a:ext cx="1772400" cy="0"/>
          </a:xfrm>
          <a:prstGeom prst="straightConnector1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1045" name="Google Shape;1045;p66"/>
          <p:cNvSpPr/>
          <p:nvPr/>
        </p:nvSpPr>
        <p:spPr>
          <a:xfrm>
            <a:off x="4772400" y="3715900"/>
            <a:ext cx="285000" cy="285000"/>
          </a:xfrm>
          <a:prstGeom prst="rect">
            <a:avLst/>
          </a:prstGeom>
          <a:solidFill>
            <a:srgbClr val="FFFFFF"/>
          </a:solidFill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R2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1046" name="Google Shape;1046;p66"/>
          <p:cNvCxnSpPr>
            <a:stCxn id="1042" idx="3"/>
            <a:endCxn id="1045" idx="1"/>
          </p:cNvCxnSpPr>
          <p:nvPr/>
        </p:nvCxnSpPr>
        <p:spPr>
          <a:xfrm>
            <a:off x="3000000" y="3858400"/>
            <a:ext cx="1772400" cy="0"/>
          </a:xfrm>
          <a:prstGeom prst="straightConnector1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1047" name="Google Shape;1047;p66"/>
          <p:cNvSpPr/>
          <p:nvPr/>
        </p:nvSpPr>
        <p:spPr>
          <a:xfrm>
            <a:off x="6829800" y="3715900"/>
            <a:ext cx="285000" cy="285000"/>
          </a:xfrm>
          <a:prstGeom prst="rect">
            <a:avLst/>
          </a:prstGeom>
          <a:solidFill>
            <a:srgbClr val="FFFFFF"/>
          </a:solidFill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R3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1048" name="Google Shape;1048;p66"/>
          <p:cNvCxnSpPr>
            <a:stCxn id="1045" idx="3"/>
            <a:endCxn id="1047" idx="1"/>
          </p:cNvCxnSpPr>
          <p:nvPr/>
        </p:nvCxnSpPr>
        <p:spPr>
          <a:xfrm>
            <a:off x="5057400" y="3858400"/>
            <a:ext cx="1772400" cy="0"/>
          </a:xfrm>
          <a:prstGeom prst="straightConnector1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med" len="med"/>
            <a:tailEnd type="none" w="med" len="med"/>
          </a:ln>
        </p:spPr>
      </p:cxnSp>
      <p:graphicFrame>
        <p:nvGraphicFramePr>
          <p:cNvPr id="1049" name="Google Shape;1049;p66"/>
          <p:cNvGraphicFramePr/>
          <p:nvPr/>
        </p:nvGraphicFramePr>
        <p:xfrm>
          <a:off x="1939744" y="4232650"/>
          <a:ext cx="1835500" cy="688770"/>
        </p:xfrm>
        <a:graphic>
          <a:graphicData uri="http://schemas.openxmlformats.org/drawingml/2006/table">
            <a:tbl>
              <a:tblPr>
                <a:noFill/>
                <a:tableStyleId>{9827013E-C202-4D27-A2D1-B1A861925892}</a:tableStyleId>
              </a:tblPr>
              <a:tblGrid>
                <a:gridCol w="5448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9707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79362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121925">
                <a:tc gridSpan="3"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latin typeface="Roboto"/>
                          <a:ea typeface="Roboto"/>
                          <a:cs typeface="Roboto"/>
                          <a:sym typeface="Roboto"/>
                        </a:rPr>
                        <a:t>R1's Table</a:t>
                      </a:r>
                      <a:endParaRPr sz="12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21925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latin typeface="Roboto"/>
                          <a:ea typeface="Roboto"/>
                          <a:cs typeface="Roboto"/>
                          <a:sym typeface="Roboto"/>
                        </a:rPr>
                        <a:t>To:</a:t>
                      </a:r>
                      <a:endParaRPr sz="12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/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latin typeface="Roboto"/>
                          <a:ea typeface="Roboto"/>
                          <a:cs typeface="Roboto"/>
                          <a:sym typeface="Roboto"/>
                        </a:rPr>
                        <a:t>Via:</a:t>
                      </a:r>
                      <a:endParaRPr sz="12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/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latin typeface="Roboto"/>
                          <a:ea typeface="Roboto"/>
                          <a:cs typeface="Roboto"/>
                          <a:sym typeface="Roboto"/>
                        </a:rPr>
                        <a:t>Cost:</a:t>
                      </a:r>
                      <a:endParaRPr sz="12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21925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latin typeface="Roboto"/>
                          <a:ea typeface="Roboto"/>
                          <a:cs typeface="Roboto"/>
                          <a:sym typeface="Roboto"/>
                        </a:rPr>
                        <a:t>A</a:t>
                      </a:r>
                      <a:endParaRPr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/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latin typeface="Roboto"/>
                          <a:ea typeface="Roboto"/>
                          <a:cs typeface="Roboto"/>
                          <a:sym typeface="Roboto"/>
                        </a:rPr>
                        <a:t>Direct</a:t>
                      </a:r>
                      <a:endParaRPr sz="12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/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latin typeface="Roboto"/>
                          <a:ea typeface="Roboto"/>
                          <a:cs typeface="Roboto"/>
                          <a:sym typeface="Roboto"/>
                        </a:rPr>
                        <a:t>1</a:t>
                      </a:r>
                      <a:endParaRPr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</a:tbl>
          </a:graphicData>
        </a:graphic>
      </p:graphicFrame>
      <p:graphicFrame>
        <p:nvGraphicFramePr>
          <p:cNvPr id="1050" name="Google Shape;1050;p66"/>
          <p:cNvGraphicFramePr/>
          <p:nvPr/>
        </p:nvGraphicFramePr>
        <p:xfrm>
          <a:off x="3997144" y="4232650"/>
          <a:ext cx="1835500" cy="688770"/>
        </p:xfrm>
        <a:graphic>
          <a:graphicData uri="http://schemas.openxmlformats.org/drawingml/2006/table">
            <a:tbl>
              <a:tblPr>
                <a:noFill/>
                <a:tableStyleId>{9827013E-C202-4D27-A2D1-B1A861925892}</a:tableStyleId>
              </a:tblPr>
              <a:tblGrid>
                <a:gridCol w="5448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9707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79362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121925">
                <a:tc gridSpan="3"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latin typeface="Roboto"/>
                          <a:ea typeface="Roboto"/>
                          <a:cs typeface="Roboto"/>
                          <a:sym typeface="Roboto"/>
                        </a:rPr>
                        <a:t>R2's Table</a:t>
                      </a:r>
                      <a:endParaRPr sz="12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21925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latin typeface="Roboto"/>
                          <a:ea typeface="Roboto"/>
                          <a:cs typeface="Roboto"/>
                          <a:sym typeface="Roboto"/>
                        </a:rPr>
                        <a:t>To:</a:t>
                      </a:r>
                      <a:endParaRPr sz="12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/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latin typeface="Roboto"/>
                          <a:ea typeface="Roboto"/>
                          <a:cs typeface="Roboto"/>
                          <a:sym typeface="Roboto"/>
                        </a:rPr>
                        <a:t>Via:</a:t>
                      </a:r>
                      <a:endParaRPr sz="12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/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latin typeface="Roboto"/>
                          <a:ea typeface="Roboto"/>
                          <a:cs typeface="Roboto"/>
                          <a:sym typeface="Roboto"/>
                        </a:rPr>
                        <a:t>Cost:</a:t>
                      </a:r>
                      <a:endParaRPr sz="12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21925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/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b="1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/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</a:tbl>
          </a:graphicData>
        </a:graphic>
      </p:graphicFrame>
      <p:graphicFrame>
        <p:nvGraphicFramePr>
          <p:cNvPr id="1051" name="Google Shape;1051;p66"/>
          <p:cNvGraphicFramePr/>
          <p:nvPr/>
        </p:nvGraphicFramePr>
        <p:xfrm>
          <a:off x="6054544" y="4232650"/>
          <a:ext cx="1835500" cy="688770"/>
        </p:xfrm>
        <a:graphic>
          <a:graphicData uri="http://schemas.openxmlformats.org/drawingml/2006/table">
            <a:tbl>
              <a:tblPr>
                <a:noFill/>
                <a:tableStyleId>{9827013E-C202-4D27-A2D1-B1A861925892}</a:tableStyleId>
              </a:tblPr>
              <a:tblGrid>
                <a:gridCol w="5448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9707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79362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121925">
                <a:tc gridSpan="3"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latin typeface="Roboto"/>
                          <a:ea typeface="Roboto"/>
                          <a:cs typeface="Roboto"/>
                          <a:sym typeface="Roboto"/>
                        </a:rPr>
                        <a:t>R3's Table</a:t>
                      </a:r>
                      <a:endParaRPr sz="12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21925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latin typeface="Roboto"/>
                          <a:ea typeface="Roboto"/>
                          <a:cs typeface="Roboto"/>
                          <a:sym typeface="Roboto"/>
                        </a:rPr>
                        <a:t>To:</a:t>
                      </a:r>
                      <a:endParaRPr sz="12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/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latin typeface="Roboto"/>
                          <a:ea typeface="Roboto"/>
                          <a:cs typeface="Roboto"/>
                          <a:sym typeface="Roboto"/>
                        </a:rPr>
                        <a:t>Via:</a:t>
                      </a:r>
                      <a:endParaRPr sz="12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/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latin typeface="Roboto"/>
                          <a:ea typeface="Roboto"/>
                          <a:cs typeface="Roboto"/>
                          <a:sym typeface="Roboto"/>
                        </a:rPr>
                        <a:t>Cost:</a:t>
                      </a:r>
                      <a:endParaRPr sz="12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21925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/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b="1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/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</a:tbl>
          </a:graphicData>
        </a:graphic>
      </p:graphicFrame>
      <p:cxnSp>
        <p:nvCxnSpPr>
          <p:cNvPr id="1052" name="Google Shape;1052;p66"/>
          <p:cNvCxnSpPr/>
          <p:nvPr/>
        </p:nvCxnSpPr>
        <p:spPr>
          <a:xfrm>
            <a:off x="3189445" y="3756475"/>
            <a:ext cx="1393500" cy="0"/>
          </a:xfrm>
          <a:prstGeom prst="straightConnector1">
            <a:avLst/>
          </a:prstGeom>
          <a:noFill/>
          <a:ln w="19050" cap="flat" cmpd="sng">
            <a:solidFill>
              <a:srgbClr val="D9D9D9"/>
            </a:solidFill>
            <a:prstDash val="solid"/>
            <a:round/>
            <a:headEnd type="none" w="med" len="med"/>
            <a:tailEnd type="triangle" w="med" len="med"/>
          </a:ln>
        </p:spPr>
      </p:cxnSp>
      <p:sp>
        <p:nvSpPr>
          <p:cNvPr id="1053" name="Google Shape;1053;p66"/>
          <p:cNvSpPr/>
          <p:nvPr/>
        </p:nvSpPr>
        <p:spPr>
          <a:xfrm>
            <a:off x="3336000" y="2920750"/>
            <a:ext cx="1100400" cy="733800"/>
          </a:xfrm>
          <a:prstGeom prst="roundRect">
            <a:avLst>
              <a:gd name="adj" fmla="val 16667"/>
            </a:avLst>
          </a:prstGeom>
          <a:solidFill>
            <a:srgbClr val="EFEFEF"/>
          </a:solidFill>
          <a:ln w="9525" cap="flat" cmpd="sng">
            <a:solidFill>
              <a:srgbClr val="B7B7B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B7B7B7"/>
                </a:solidFill>
                <a:latin typeface="Roboto"/>
                <a:ea typeface="Roboto"/>
                <a:cs typeface="Roboto"/>
                <a:sym typeface="Roboto"/>
              </a:rPr>
              <a:t>I'm </a:t>
            </a:r>
            <a:r>
              <a:rPr lang="en" b="1">
                <a:solidFill>
                  <a:srgbClr val="B7B7B7"/>
                </a:solidFill>
                <a:latin typeface="Roboto"/>
                <a:ea typeface="Roboto"/>
                <a:cs typeface="Roboto"/>
                <a:sym typeface="Roboto"/>
              </a:rPr>
              <a:t>R1</a:t>
            </a:r>
            <a:r>
              <a:rPr lang="en">
                <a:solidFill>
                  <a:srgbClr val="B7B7B7"/>
                </a:solidFill>
                <a:latin typeface="Roboto"/>
                <a:ea typeface="Roboto"/>
                <a:cs typeface="Roboto"/>
                <a:sym typeface="Roboto"/>
              </a:rPr>
              <a:t>, and </a:t>
            </a:r>
            <a:r>
              <a:rPr lang="en" b="1">
                <a:solidFill>
                  <a:srgbClr val="B7B7B7"/>
                </a:solidFill>
                <a:latin typeface="Roboto"/>
                <a:ea typeface="Roboto"/>
                <a:cs typeface="Roboto"/>
                <a:sym typeface="Roboto"/>
              </a:rPr>
              <a:t>A</a:t>
            </a:r>
            <a:r>
              <a:rPr lang="en">
                <a:solidFill>
                  <a:srgbClr val="B7B7B7"/>
                </a:solidFill>
                <a:latin typeface="Roboto"/>
                <a:ea typeface="Roboto"/>
                <a:cs typeface="Roboto"/>
                <a:sym typeface="Roboto"/>
              </a:rPr>
              <a:t> is </a:t>
            </a:r>
            <a:r>
              <a:rPr lang="en" b="1">
                <a:solidFill>
                  <a:srgbClr val="B7B7B7"/>
                </a:solidFill>
                <a:latin typeface="Roboto"/>
                <a:ea typeface="Roboto"/>
                <a:cs typeface="Roboto"/>
                <a:sym typeface="Roboto"/>
              </a:rPr>
              <a:t>1</a:t>
            </a:r>
            <a:r>
              <a:rPr lang="en">
                <a:solidFill>
                  <a:srgbClr val="B7B7B7"/>
                </a:solidFill>
                <a:latin typeface="Roboto"/>
                <a:ea typeface="Roboto"/>
                <a:cs typeface="Roboto"/>
                <a:sym typeface="Roboto"/>
              </a:rPr>
              <a:t> away from me.</a:t>
            </a:r>
            <a:endParaRPr>
              <a:solidFill>
                <a:srgbClr val="B7B7B7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054" name="Google Shape;1054;p66"/>
          <p:cNvSpPr/>
          <p:nvPr/>
        </p:nvSpPr>
        <p:spPr>
          <a:xfrm>
            <a:off x="5150100" y="3058513"/>
            <a:ext cx="1892100" cy="535800"/>
          </a:xfrm>
          <a:prstGeom prst="wedgeRoundRectCallout">
            <a:avLst>
              <a:gd name="adj1" fmla="val -59294"/>
              <a:gd name="adj2" fmla="val 55106"/>
              <a:gd name="adj3" fmla="val 0"/>
            </a:avLst>
          </a:prstGeom>
          <a:noFill/>
          <a:ln w="9525" cap="flat" cmpd="sng">
            <a:solidFill>
              <a:schemeClr val="accent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accent2"/>
                </a:solidFill>
                <a:latin typeface="Roboto"/>
                <a:ea typeface="Roboto"/>
                <a:cs typeface="Roboto"/>
                <a:sym typeface="Roboto"/>
              </a:rPr>
              <a:t>Huh? Did someone say something?</a:t>
            </a:r>
            <a:endParaRPr>
              <a:solidFill>
                <a:schemeClr val="accent2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055" name="Google Shape;1055;p66"/>
          <p:cNvSpPr txBox="1"/>
          <p:nvPr/>
        </p:nvSpPr>
        <p:spPr>
          <a:xfrm rot="-2700000">
            <a:off x="3433510" y="3136822"/>
            <a:ext cx="905380" cy="30165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27425" tIns="27425" rIns="27425" bIns="27425" anchor="t" anchorCtr="0">
            <a:sp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600" b="1">
                <a:latin typeface="Roboto"/>
                <a:ea typeface="Roboto"/>
                <a:cs typeface="Roboto"/>
                <a:sym typeface="Roboto"/>
              </a:rPr>
              <a:t>Dropped!</a:t>
            </a:r>
            <a:endParaRPr sz="1600" b="1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2437DBA0-25F1-0432-2261-74289BBAB6AB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 smtClean="0"/>
              <a:t>42</a:t>
            </a:fld>
            <a:endParaRPr lang="en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5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5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5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0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60" name="Google Shape;1060;p67"/>
          <p:cNvSpPr txBox="1">
            <a:spLocks noGrp="1"/>
          </p:cNvSpPr>
          <p:nvPr>
            <p:ph type="title"/>
          </p:nvPr>
        </p:nvSpPr>
        <p:spPr>
          <a:xfrm>
            <a:off x="0" y="0"/>
            <a:ext cx="9144000" cy="39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The Distance-Vector Algorithm So Far</a:t>
            </a:r>
            <a:endParaRPr/>
          </a:p>
        </p:txBody>
      </p:sp>
      <p:sp>
        <p:nvSpPr>
          <p:cNvPr id="1061" name="Google Shape;1061;p67"/>
          <p:cNvSpPr txBox="1">
            <a:spLocks noGrp="1"/>
          </p:cNvSpPr>
          <p:nvPr>
            <p:ph type="body" idx="1"/>
          </p:nvPr>
        </p:nvSpPr>
        <p:spPr>
          <a:xfrm>
            <a:off x="107050" y="402200"/>
            <a:ext cx="8909700" cy="4530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For each destination:</a:t>
            </a:r>
            <a:endParaRPr/>
          </a:p>
          <a:p>
            <a:pPr marL="457200" lvl="0" indent="-342900" algn="l" rtl="0">
              <a:spcBef>
                <a:spcPts val="60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If you hear an advertisement, update table if:</a:t>
            </a:r>
            <a:endParaRPr/>
          </a:p>
          <a:p>
            <a:pPr marL="914400" lvl="1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○"/>
            </a:pPr>
            <a:r>
              <a:rPr lang="en"/>
              <a:t>The destination isn't in the table.</a:t>
            </a:r>
            <a:endParaRPr/>
          </a:p>
          <a:p>
            <a:pPr marL="914400" lvl="1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○"/>
            </a:pPr>
            <a:r>
              <a:rPr lang="en"/>
              <a:t>Advertised cost + link cost to neighbor &lt; best-known cost. </a:t>
            </a:r>
            <a:r>
              <a:rPr lang="en" sz="1400">
                <a:solidFill>
                  <a:schemeClr val="accent3"/>
                </a:solidFill>
              </a:rPr>
              <a:t>(#1)</a:t>
            </a:r>
            <a:endParaRPr sz="1400">
              <a:solidFill>
                <a:schemeClr val="accent3"/>
              </a:solidFill>
            </a:endParaRPr>
          </a:p>
          <a:p>
            <a:pPr marL="914400" lvl="1" indent="-34290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Char char="○"/>
            </a:pPr>
            <a:r>
              <a:rPr lang="en">
                <a:solidFill>
                  <a:srgbClr val="000000"/>
                </a:solidFill>
              </a:rPr>
              <a:t>The advertisement is from current next-hop. </a:t>
            </a:r>
            <a:r>
              <a:rPr lang="en" sz="1400">
                <a:solidFill>
                  <a:schemeClr val="accent3"/>
                </a:solidFill>
              </a:rPr>
              <a:t>(#2)</a:t>
            </a:r>
            <a:endParaRPr sz="1400">
              <a:solidFill>
                <a:schemeClr val="accent3"/>
              </a:solidFill>
            </a:endParaRPr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Advertise to all your neighbors </a:t>
            </a:r>
            <a:r>
              <a:rPr lang="en">
                <a:solidFill>
                  <a:schemeClr val="accent2"/>
                </a:solidFill>
              </a:rPr>
              <a:t>when the table updates, and periodically. </a:t>
            </a:r>
            <a:r>
              <a:rPr lang="en" sz="1400">
                <a:solidFill>
                  <a:schemeClr val="accent3"/>
                </a:solidFill>
              </a:rPr>
              <a:t>(#3)</a:t>
            </a:r>
            <a:endParaRPr sz="1400">
              <a:solidFill>
                <a:schemeClr val="accent3"/>
              </a:solidFill>
            </a:endParaRPr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3EC9C871-3ACA-5016-406F-98E1B18E1303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 smtClean="0"/>
              <a:t>43</a:t>
            </a:fld>
            <a:endParaRPr lang="en"/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0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66" name="Google Shape;1066;p68"/>
          <p:cNvSpPr txBox="1">
            <a:spLocks noGrp="1"/>
          </p:cNvSpPr>
          <p:nvPr>
            <p:ph type="body" idx="1"/>
          </p:nvPr>
        </p:nvSpPr>
        <p:spPr>
          <a:xfrm>
            <a:off x="4812375" y="402200"/>
            <a:ext cx="4038000" cy="42609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" b="1" dirty="0">
                <a:solidFill>
                  <a:schemeClr val="accent3"/>
                </a:solidFill>
                <a:latin typeface="Roboto"/>
                <a:ea typeface="Roboto"/>
                <a:cs typeface="Roboto"/>
                <a:sym typeface="Roboto"/>
              </a:rPr>
              <a:t>Distance-Vector Correctness</a:t>
            </a:r>
            <a:endParaRPr b="1" dirty="0">
              <a:solidFill>
                <a:schemeClr val="accent3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457200" lvl="0" indent="-342900" algn="l" rtl="0">
              <a:spcBef>
                <a:spcPts val="600"/>
              </a:spcBef>
              <a:spcAft>
                <a:spcPts val="0"/>
              </a:spcAft>
              <a:buClr>
                <a:srgbClr val="B7B7B7"/>
              </a:buClr>
              <a:buSzPts val="1800"/>
              <a:buChar char="•"/>
            </a:pPr>
            <a:r>
              <a:rPr lang="en" dirty="0">
                <a:solidFill>
                  <a:srgbClr val="B7B7B7"/>
                </a:solidFill>
              </a:rPr>
              <a:t>Algorithm Sketch</a:t>
            </a:r>
            <a:endParaRPr dirty="0">
              <a:solidFill>
                <a:srgbClr val="B7B7B7"/>
              </a:solidFill>
            </a:endParaRPr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Clr>
                <a:srgbClr val="B7B7B7"/>
              </a:buClr>
              <a:buSzPts val="1800"/>
              <a:buChar char="•"/>
            </a:pPr>
            <a:r>
              <a:rPr lang="en" dirty="0">
                <a:solidFill>
                  <a:srgbClr val="B7B7B7"/>
                </a:solidFill>
              </a:rPr>
              <a:t>Rule 1: Bellman-Ford Updates</a:t>
            </a:r>
            <a:endParaRPr dirty="0">
              <a:solidFill>
                <a:srgbClr val="B7B7B7"/>
              </a:solidFill>
            </a:endParaRPr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Clr>
                <a:srgbClr val="B7B7B7"/>
              </a:buClr>
              <a:buSzPts val="1800"/>
              <a:buChar char="•"/>
            </a:pPr>
            <a:r>
              <a:rPr lang="en" dirty="0">
                <a:solidFill>
                  <a:srgbClr val="B7B7B7"/>
                </a:solidFill>
              </a:rPr>
              <a:t>Bellman-Ford Demo</a:t>
            </a:r>
            <a:endParaRPr dirty="0">
              <a:solidFill>
                <a:srgbClr val="B7B7B7"/>
              </a:solidFill>
            </a:endParaRPr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Clr>
                <a:srgbClr val="B7B7B7"/>
              </a:buClr>
              <a:buSzPts val="1800"/>
              <a:buChar char="•"/>
            </a:pPr>
            <a:r>
              <a:rPr lang="en" dirty="0">
                <a:solidFill>
                  <a:srgbClr val="B7B7B7"/>
                </a:solidFill>
              </a:rPr>
              <a:t>Rule 2: Updates From Next-Hop</a:t>
            </a:r>
            <a:endParaRPr dirty="0">
              <a:solidFill>
                <a:srgbClr val="B7B7B7"/>
              </a:solidFill>
            </a:endParaRPr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Clr>
                <a:srgbClr val="B7B7B7"/>
              </a:buClr>
              <a:buSzPts val="1800"/>
              <a:buChar char="•"/>
            </a:pPr>
            <a:r>
              <a:rPr lang="en" dirty="0">
                <a:solidFill>
                  <a:srgbClr val="B7B7B7"/>
                </a:solidFill>
              </a:rPr>
              <a:t>Rule 3: Resending</a:t>
            </a:r>
            <a:endParaRPr dirty="0">
              <a:solidFill>
                <a:srgbClr val="B7B7B7"/>
              </a:solidFill>
            </a:endParaRPr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800"/>
              <a:buFont typeface="Roboto"/>
              <a:buChar char="•"/>
            </a:pPr>
            <a:r>
              <a:rPr lang="en" b="1" dirty="0">
                <a:solidFill>
                  <a:schemeClr val="accent3"/>
                </a:solidFill>
                <a:latin typeface="Roboto"/>
                <a:ea typeface="Roboto"/>
                <a:cs typeface="Roboto"/>
                <a:sym typeface="Roboto"/>
              </a:rPr>
              <a:t>Rule 4: Expiring</a:t>
            </a:r>
            <a:endParaRPr b="1" dirty="0">
              <a:solidFill>
                <a:schemeClr val="accent3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" dirty="0">
                <a:solidFill>
                  <a:srgbClr val="B7B7B7"/>
                </a:solidFill>
              </a:rPr>
              <a:t>Distance-Vector Enhancements</a:t>
            </a:r>
            <a:endParaRPr dirty="0">
              <a:solidFill>
                <a:srgbClr val="B7B7B7"/>
              </a:solidFill>
            </a:endParaRPr>
          </a:p>
          <a:p>
            <a:pPr marL="457200" lvl="0" indent="-342900" algn="l" rtl="0">
              <a:spcBef>
                <a:spcPts val="600"/>
              </a:spcBef>
              <a:spcAft>
                <a:spcPts val="0"/>
              </a:spcAft>
              <a:buClr>
                <a:srgbClr val="B7B7B7"/>
              </a:buClr>
              <a:buSzPts val="1800"/>
              <a:buChar char="•"/>
            </a:pPr>
            <a:r>
              <a:rPr lang="en" dirty="0">
                <a:solidFill>
                  <a:srgbClr val="B7B7B7"/>
                </a:solidFill>
              </a:rPr>
              <a:t>Rule 5: Poison Expired Routes</a:t>
            </a:r>
            <a:endParaRPr dirty="0">
              <a:solidFill>
                <a:srgbClr val="B7B7B7"/>
              </a:solidFill>
            </a:endParaRPr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Clr>
                <a:srgbClr val="B7B7B7"/>
              </a:buClr>
              <a:buSzPts val="1800"/>
              <a:buChar char="•"/>
            </a:pPr>
            <a:r>
              <a:rPr lang="en" dirty="0">
                <a:solidFill>
                  <a:srgbClr val="B7B7B7"/>
                </a:solidFill>
              </a:rPr>
              <a:t>Rule 6A: Split Horizon</a:t>
            </a:r>
            <a:endParaRPr dirty="0">
              <a:solidFill>
                <a:srgbClr val="B7B7B7"/>
              </a:solidFill>
            </a:endParaRPr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Clr>
                <a:srgbClr val="B7B7B7"/>
              </a:buClr>
              <a:buSzPts val="1800"/>
              <a:buChar char="•"/>
            </a:pPr>
            <a:r>
              <a:rPr lang="en" dirty="0">
                <a:solidFill>
                  <a:srgbClr val="B7B7B7"/>
                </a:solidFill>
              </a:rPr>
              <a:t>Rule 6B: Poison Reverse</a:t>
            </a:r>
            <a:endParaRPr dirty="0">
              <a:solidFill>
                <a:srgbClr val="B7B7B7"/>
              </a:solidFill>
            </a:endParaRPr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Clr>
                <a:srgbClr val="B7B7B7"/>
              </a:buClr>
              <a:buSzPts val="1800"/>
              <a:buChar char="•"/>
            </a:pPr>
            <a:r>
              <a:rPr lang="en" dirty="0">
                <a:solidFill>
                  <a:srgbClr val="B7B7B7"/>
                </a:solidFill>
              </a:rPr>
              <a:t>Rule 7: Count To Infinity</a:t>
            </a:r>
            <a:endParaRPr dirty="0">
              <a:solidFill>
                <a:srgbClr val="B7B7B7"/>
              </a:solidFill>
            </a:endParaRPr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Clr>
                <a:srgbClr val="B7B7B7"/>
              </a:buClr>
              <a:buSzPts val="1800"/>
              <a:buChar char="•"/>
            </a:pPr>
            <a:r>
              <a:rPr lang="en" dirty="0">
                <a:solidFill>
                  <a:srgbClr val="B7B7B7"/>
                </a:solidFill>
              </a:rPr>
              <a:t>Eventful Updates</a:t>
            </a:r>
            <a:endParaRPr dirty="0">
              <a:solidFill>
                <a:srgbClr val="B7B7B7"/>
              </a:solidFill>
            </a:endParaRPr>
          </a:p>
        </p:txBody>
      </p:sp>
      <p:sp>
        <p:nvSpPr>
          <p:cNvPr id="1067" name="Google Shape;1067;p68"/>
          <p:cNvSpPr txBox="1">
            <a:spLocks noGrp="1"/>
          </p:cNvSpPr>
          <p:nvPr>
            <p:ph type="title"/>
          </p:nvPr>
        </p:nvSpPr>
        <p:spPr>
          <a:xfrm>
            <a:off x="177925" y="2003300"/>
            <a:ext cx="4038000" cy="20379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Rule 4: Expiring</a:t>
            </a:r>
            <a:endParaRPr/>
          </a:p>
        </p:txBody>
      </p:sp>
      <p:sp>
        <p:nvSpPr>
          <p:cNvPr id="1068" name="Google Shape;1068;p68"/>
          <p:cNvSpPr txBox="1">
            <a:spLocks noGrp="1"/>
          </p:cNvSpPr>
          <p:nvPr>
            <p:ph type="subTitle" idx="2"/>
          </p:nvPr>
        </p:nvSpPr>
        <p:spPr>
          <a:xfrm>
            <a:off x="177925" y="4068000"/>
            <a:ext cx="41580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-US" dirty="0"/>
              <a:t>Lecture 5.2, Spring 2026</a:t>
            </a:r>
            <a:endParaRPr dirty="0"/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6E05F820-F8BE-644D-EE63-F0CE606E0CF5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 smtClean="0"/>
              <a:t>44</a:t>
            </a:fld>
            <a:endParaRPr lang="en"/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0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3" name="Google Shape;1073;p69"/>
          <p:cNvSpPr txBox="1">
            <a:spLocks noGrp="1"/>
          </p:cNvSpPr>
          <p:nvPr>
            <p:ph type="title"/>
          </p:nvPr>
        </p:nvSpPr>
        <p:spPr>
          <a:xfrm>
            <a:off x="0" y="0"/>
            <a:ext cx="9144000" cy="39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Handling Failures</a:t>
            </a:r>
            <a:endParaRPr/>
          </a:p>
        </p:txBody>
      </p:sp>
      <p:sp>
        <p:nvSpPr>
          <p:cNvPr id="1074" name="Google Shape;1074;p69"/>
          <p:cNvSpPr txBox="1">
            <a:spLocks noGrp="1"/>
          </p:cNvSpPr>
          <p:nvPr>
            <p:ph type="body" idx="1"/>
          </p:nvPr>
        </p:nvSpPr>
        <p:spPr>
          <a:xfrm>
            <a:off x="107050" y="402200"/>
            <a:ext cx="8909700" cy="243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" dirty="0"/>
              <a:t>Recall our routing challenges: Links and routers can fail.</a:t>
            </a:r>
            <a:endParaRPr dirty="0"/>
          </a:p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" dirty="0"/>
              <a:t>Solution: Each route has a finite </a:t>
            </a:r>
            <a:r>
              <a:rPr lang="en" b="1" dirty="0"/>
              <a:t>time to </a:t>
            </a:r>
            <a:r>
              <a:rPr lang="en" b="1"/>
              <a:t>live (TTL)</a:t>
            </a:r>
            <a:r>
              <a:rPr lang="en"/>
              <a:t>.</a:t>
            </a:r>
            <a:endParaRPr dirty="0"/>
          </a:p>
          <a:p>
            <a:pPr marL="457200" lvl="0" indent="-342900" algn="l" rtl="0">
              <a:spcBef>
                <a:spcPts val="600"/>
              </a:spcBef>
              <a:spcAft>
                <a:spcPts val="0"/>
              </a:spcAft>
              <a:buSzPts val="1800"/>
              <a:buChar char="●"/>
            </a:pPr>
            <a:r>
              <a:rPr lang="en" dirty="0"/>
              <a:t>Periodic advertisements help us confirm that a route still exists.</a:t>
            </a:r>
            <a:endParaRPr dirty="0"/>
          </a:p>
          <a:p>
            <a:pPr marL="914400" lvl="1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○"/>
            </a:pPr>
            <a:r>
              <a:rPr lang="en" dirty="0"/>
              <a:t>When we get an advertisement, reset ("recharge") </a:t>
            </a:r>
            <a:r>
              <a:rPr lang="en"/>
              <a:t>the TTL.</a:t>
            </a:r>
            <a:endParaRPr dirty="0"/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 dirty="0"/>
              <a:t>If a link goes down, we stop getting periodic updates, and </a:t>
            </a:r>
            <a:r>
              <a:rPr lang="en"/>
              <a:t>the TTL </a:t>
            </a:r>
            <a:r>
              <a:rPr lang="en" dirty="0"/>
              <a:t>will expire.</a:t>
            </a:r>
            <a:endParaRPr dirty="0"/>
          </a:p>
          <a:p>
            <a:pPr marL="914400" lvl="1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○"/>
            </a:pPr>
            <a:r>
              <a:rPr lang="en" dirty="0"/>
              <a:t>If </a:t>
            </a:r>
            <a:r>
              <a:rPr lang="en"/>
              <a:t>the TTL </a:t>
            </a:r>
            <a:r>
              <a:rPr lang="en" dirty="0"/>
              <a:t>expires, delete the entry from the table.</a:t>
            </a:r>
            <a:endParaRPr dirty="0"/>
          </a:p>
        </p:txBody>
      </p:sp>
      <p:sp>
        <p:nvSpPr>
          <p:cNvPr id="1075" name="Google Shape;1075;p69"/>
          <p:cNvSpPr/>
          <p:nvPr/>
        </p:nvSpPr>
        <p:spPr>
          <a:xfrm>
            <a:off x="2774913" y="3884850"/>
            <a:ext cx="285000" cy="285000"/>
          </a:xfrm>
          <a:prstGeom prst="rect">
            <a:avLst/>
          </a:prstGeom>
          <a:solidFill>
            <a:srgbClr val="FFFFFF"/>
          </a:solidFill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R3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1076" name="Google Shape;1076;p69"/>
          <p:cNvCxnSpPr>
            <a:stCxn id="1077" idx="3"/>
            <a:endCxn id="1075" idx="1"/>
          </p:cNvCxnSpPr>
          <p:nvPr/>
        </p:nvCxnSpPr>
        <p:spPr>
          <a:xfrm rot="10800000" flipH="1">
            <a:off x="1224263" y="4027408"/>
            <a:ext cx="1550700" cy="900"/>
          </a:xfrm>
          <a:prstGeom prst="straightConnector1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1077" name="Google Shape;1077;p69"/>
          <p:cNvSpPr/>
          <p:nvPr/>
        </p:nvSpPr>
        <p:spPr>
          <a:xfrm>
            <a:off x="939263" y="3885808"/>
            <a:ext cx="285000" cy="285000"/>
          </a:xfrm>
          <a:prstGeom prst="rect">
            <a:avLst/>
          </a:prstGeom>
          <a:solidFill>
            <a:srgbClr val="FFFFFF"/>
          </a:solidFill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R2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078" name="Google Shape;1078;p69"/>
          <p:cNvSpPr/>
          <p:nvPr/>
        </p:nvSpPr>
        <p:spPr>
          <a:xfrm>
            <a:off x="3350125" y="3491450"/>
            <a:ext cx="2061900" cy="535800"/>
          </a:xfrm>
          <a:prstGeom prst="wedgeRoundRectCallout">
            <a:avLst>
              <a:gd name="adj1" fmla="val -59294"/>
              <a:gd name="adj2" fmla="val 55106"/>
              <a:gd name="adj3" fmla="val 0"/>
            </a:avLst>
          </a:prstGeom>
          <a:noFill/>
          <a:ln w="9525" cap="flat" cmpd="sng">
            <a:solidFill>
              <a:schemeClr val="accent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accent2"/>
                </a:solidFill>
                <a:latin typeface="Roboto"/>
                <a:ea typeface="Roboto"/>
                <a:cs typeface="Roboto"/>
                <a:sym typeface="Roboto"/>
              </a:rPr>
              <a:t>Didn't have a path to A. Accept!</a:t>
            </a:r>
            <a:endParaRPr>
              <a:solidFill>
                <a:schemeClr val="accent2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graphicFrame>
        <p:nvGraphicFramePr>
          <p:cNvPr id="1079" name="Google Shape;1079;p69"/>
          <p:cNvGraphicFramePr/>
          <p:nvPr/>
        </p:nvGraphicFramePr>
        <p:xfrm>
          <a:off x="5563769" y="3662700"/>
          <a:ext cx="2392150" cy="688770"/>
        </p:xfrm>
        <a:graphic>
          <a:graphicData uri="http://schemas.openxmlformats.org/drawingml/2006/table">
            <a:tbl>
              <a:tblPr>
                <a:noFill/>
                <a:tableStyleId>{9827013E-C202-4D27-A2D1-B1A861925892}</a:tableStyleId>
              </a:tblPr>
              <a:tblGrid>
                <a:gridCol w="45622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1627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05185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4678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121925">
                <a:tc gridSpan="4"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 dirty="0">
                          <a:latin typeface="Roboto"/>
                          <a:ea typeface="Roboto"/>
                          <a:cs typeface="Roboto"/>
                          <a:sym typeface="Roboto"/>
                        </a:rPr>
                        <a:t>R3's Table</a:t>
                      </a:r>
                      <a:endParaRPr sz="1200" dirty="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21925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latin typeface="Roboto"/>
                          <a:ea typeface="Roboto"/>
                          <a:cs typeface="Roboto"/>
                          <a:sym typeface="Roboto"/>
                        </a:rPr>
                        <a:t>To:</a:t>
                      </a:r>
                      <a:endParaRPr sz="12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/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latin typeface="Roboto"/>
                          <a:ea typeface="Roboto"/>
                          <a:cs typeface="Roboto"/>
                          <a:sym typeface="Roboto"/>
                        </a:rPr>
                        <a:t>Via:</a:t>
                      </a:r>
                      <a:endParaRPr sz="12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/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latin typeface="Roboto"/>
                          <a:ea typeface="Roboto"/>
                          <a:cs typeface="Roboto"/>
                          <a:sym typeface="Roboto"/>
                        </a:rPr>
                        <a:t>Cost:</a:t>
                      </a:r>
                      <a:endParaRPr sz="12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/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latin typeface="Roboto"/>
                          <a:ea typeface="Roboto"/>
                          <a:cs typeface="Roboto"/>
                          <a:sym typeface="Roboto"/>
                        </a:rPr>
                        <a:t>TTL:</a:t>
                      </a:r>
                      <a:endParaRPr sz="1200" dirty="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21925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/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/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/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</a:tbl>
          </a:graphicData>
        </a:graphic>
      </p:graphicFrame>
      <p:cxnSp>
        <p:nvCxnSpPr>
          <p:cNvPr id="1080" name="Google Shape;1080;p69"/>
          <p:cNvCxnSpPr/>
          <p:nvPr/>
        </p:nvCxnSpPr>
        <p:spPr>
          <a:xfrm>
            <a:off x="1466525" y="4170800"/>
            <a:ext cx="1066200" cy="0"/>
          </a:xfrm>
          <a:prstGeom prst="straightConnector1">
            <a:avLst/>
          </a:prstGeom>
          <a:noFill/>
          <a:ln w="19050" cap="flat" cmpd="sng">
            <a:solidFill>
              <a:schemeClr val="accent2"/>
            </a:solidFill>
            <a:prstDash val="solid"/>
            <a:round/>
            <a:headEnd type="none" w="med" len="med"/>
            <a:tailEnd type="triangle" w="med" len="med"/>
          </a:ln>
        </p:spPr>
      </p:cxnSp>
      <p:sp>
        <p:nvSpPr>
          <p:cNvPr id="1081" name="Google Shape;1081;p69"/>
          <p:cNvSpPr/>
          <p:nvPr/>
        </p:nvSpPr>
        <p:spPr>
          <a:xfrm>
            <a:off x="1270925" y="4313300"/>
            <a:ext cx="1457400" cy="494700"/>
          </a:xfrm>
          <a:prstGeom prst="roundRect">
            <a:avLst>
              <a:gd name="adj" fmla="val 16667"/>
            </a:avLst>
          </a:prstGeom>
          <a:solidFill>
            <a:srgbClr val="F4CCCC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27425" tIns="27425" rIns="27425" bIns="27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I'm </a:t>
            </a:r>
            <a:r>
              <a:rPr lang="en" b="1">
                <a:latin typeface="Roboto"/>
                <a:ea typeface="Roboto"/>
                <a:cs typeface="Roboto"/>
                <a:sym typeface="Roboto"/>
              </a:rPr>
              <a:t>R2</a:t>
            </a:r>
            <a:r>
              <a:rPr lang="en">
                <a:latin typeface="Roboto"/>
                <a:ea typeface="Roboto"/>
                <a:cs typeface="Roboto"/>
                <a:sym typeface="Roboto"/>
              </a:rPr>
              <a:t>, and </a:t>
            </a:r>
            <a:r>
              <a:rPr lang="en" b="1">
                <a:latin typeface="Roboto"/>
                <a:ea typeface="Roboto"/>
                <a:cs typeface="Roboto"/>
                <a:sym typeface="Roboto"/>
              </a:rPr>
              <a:t>A</a:t>
            </a:r>
            <a:r>
              <a:rPr lang="en">
                <a:latin typeface="Roboto"/>
                <a:ea typeface="Roboto"/>
                <a:cs typeface="Roboto"/>
                <a:sym typeface="Roboto"/>
              </a:rPr>
              <a:t> is </a:t>
            </a:r>
            <a:r>
              <a:rPr lang="en" b="1">
                <a:latin typeface="Roboto"/>
                <a:ea typeface="Roboto"/>
                <a:cs typeface="Roboto"/>
                <a:sym typeface="Roboto"/>
              </a:rPr>
              <a:t>5</a:t>
            </a:r>
            <a:r>
              <a:rPr lang="en">
                <a:latin typeface="Roboto"/>
                <a:ea typeface="Roboto"/>
                <a:cs typeface="Roboto"/>
                <a:sym typeface="Roboto"/>
              </a:rPr>
              <a:t> away from me.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graphicFrame>
        <p:nvGraphicFramePr>
          <p:cNvPr id="1082" name="Google Shape;1082;p69"/>
          <p:cNvGraphicFramePr/>
          <p:nvPr/>
        </p:nvGraphicFramePr>
        <p:xfrm>
          <a:off x="5563769" y="3662700"/>
          <a:ext cx="2392150" cy="688770"/>
        </p:xfrm>
        <a:graphic>
          <a:graphicData uri="http://schemas.openxmlformats.org/drawingml/2006/table">
            <a:tbl>
              <a:tblPr>
                <a:noFill/>
                <a:tableStyleId>{9827013E-C202-4D27-A2D1-B1A861925892}</a:tableStyleId>
              </a:tblPr>
              <a:tblGrid>
                <a:gridCol w="45622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1627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05185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4678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121925">
                <a:tc gridSpan="4"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 dirty="0">
                          <a:latin typeface="Roboto"/>
                          <a:ea typeface="Roboto"/>
                          <a:cs typeface="Roboto"/>
                          <a:sym typeface="Roboto"/>
                        </a:rPr>
                        <a:t>R3's Table</a:t>
                      </a:r>
                      <a:endParaRPr sz="1200" dirty="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>
                    <a:solidFill>
                      <a:srgbClr val="FFFFFF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21925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latin typeface="Roboto"/>
                          <a:ea typeface="Roboto"/>
                          <a:cs typeface="Roboto"/>
                          <a:sym typeface="Roboto"/>
                        </a:rPr>
                        <a:t>To:</a:t>
                      </a:r>
                      <a:endParaRPr sz="12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latin typeface="Roboto"/>
                          <a:ea typeface="Roboto"/>
                          <a:cs typeface="Roboto"/>
                          <a:sym typeface="Roboto"/>
                        </a:rPr>
                        <a:t>Via:</a:t>
                      </a:r>
                      <a:endParaRPr sz="12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latin typeface="Roboto"/>
                          <a:ea typeface="Roboto"/>
                          <a:cs typeface="Roboto"/>
                          <a:sym typeface="Roboto"/>
                        </a:rPr>
                        <a:t>Cost:</a:t>
                      </a:r>
                      <a:endParaRPr sz="12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latin typeface="Roboto"/>
                          <a:ea typeface="Roboto"/>
                          <a:cs typeface="Roboto"/>
                          <a:sym typeface="Roboto"/>
                        </a:rPr>
                        <a:t>TTL:</a:t>
                      </a:r>
                      <a:endParaRPr sz="1200" dirty="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21925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b="1">
                          <a:latin typeface="Roboto"/>
                          <a:ea typeface="Roboto"/>
                          <a:cs typeface="Roboto"/>
                          <a:sym typeface="Roboto"/>
                        </a:rPr>
                        <a:t>A</a:t>
                      </a:r>
                      <a:endParaRPr b="1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>
                    <a:solidFill>
                      <a:srgbClr val="F4CCCC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b="1">
                          <a:latin typeface="Roboto"/>
                          <a:ea typeface="Roboto"/>
                          <a:cs typeface="Roboto"/>
                          <a:sym typeface="Roboto"/>
                        </a:rPr>
                        <a:t>R2</a:t>
                      </a:r>
                      <a:endParaRPr b="1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>
                    <a:solidFill>
                      <a:srgbClr val="F4CCCC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latin typeface="Roboto"/>
                          <a:ea typeface="Roboto"/>
                          <a:cs typeface="Roboto"/>
                          <a:sym typeface="Roboto"/>
                        </a:rPr>
                        <a:t>6</a:t>
                      </a:r>
                      <a:endParaRPr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>
                    <a:solidFill>
                      <a:srgbClr val="F4CCCC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latin typeface="Roboto"/>
                          <a:ea typeface="Roboto"/>
                          <a:cs typeface="Roboto"/>
                          <a:sym typeface="Roboto"/>
                        </a:rPr>
                        <a:t>11</a:t>
                      </a:r>
                      <a:endParaRPr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>
                    <a:solidFill>
                      <a:srgbClr val="F4CCC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</a:tbl>
          </a:graphicData>
        </a:graphic>
      </p:graphicFrame>
      <p:sp>
        <p:nvSpPr>
          <p:cNvPr id="1083" name="Google Shape;1083;p69"/>
          <p:cNvSpPr txBox="1"/>
          <p:nvPr/>
        </p:nvSpPr>
        <p:spPr>
          <a:xfrm>
            <a:off x="6406750" y="3323475"/>
            <a:ext cx="706200" cy="270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27425" tIns="27425" rIns="27425" bIns="27425" anchor="t" anchorCtr="0">
            <a:sp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t = 0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084" name="Google Shape;1084;p69"/>
          <p:cNvSpPr txBox="1"/>
          <p:nvPr/>
        </p:nvSpPr>
        <p:spPr>
          <a:xfrm>
            <a:off x="5313100" y="4419775"/>
            <a:ext cx="2893500" cy="486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27425" tIns="27425" rIns="27425" bIns="27425" anchor="t" anchorCtr="0">
            <a:sp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Need another confirmation of this route in the next 11 seconds.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085" name="Google Shape;1085;p69"/>
          <p:cNvSpPr/>
          <p:nvPr/>
        </p:nvSpPr>
        <p:spPr>
          <a:xfrm>
            <a:off x="253463" y="3885800"/>
            <a:ext cx="285000" cy="285000"/>
          </a:xfrm>
          <a:prstGeom prst="ellipse">
            <a:avLst/>
          </a:prstGeom>
          <a:solidFill>
            <a:srgbClr val="FFFFFF"/>
          </a:solidFill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A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1086" name="Google Shape;1086;p69"/>
          <p:cNvCxnSpPr>
            <a:stCxn id="1085" idx="6"/>
            <a:endCxn id="1077" idx="1"/>
          </p:cNvCxnSpPr>
          <p:nvPr/>
        </p:nvCxnSpPr>
        <p:spPr>
          <a:xfrm>
            <a:off x="538463" y="4028300"/>
            <a:ext cx="400800" cy="0"/>
          </a:xfrm>
          <a:prstGeom prst="straightConnector1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F86E26FC-854F-F571-8708-D3263F89ADA0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 smtClean="0"/>
              <a:t>45</a:t>
            </a:fld>
            <a:endParaRPr lang="en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0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91" name="Google Shape;1091;p70"/>
          <p:cNvSpPr txBox="1">
            <a:spLocks noGrp="1"/>
          </p:cNvSpPr>
          <p:nvPr>
            <p:ph type="title"/>
          </p:nvPr>
        </p:nvSpPr>
        <p:spPr>
          <a:xfrm>
            <a:off x="0" y="0"/>
            <a:ext cx="9144000" cy="39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Handling Failures</a:t>
            </a:r>
            <a:endParaRPr/>
          </a:p>
        </p:txBody>
      </p:sp>
      <p:sp>
        <p:nvSpPr>
          <p:cNvPr id="1092" name="Google Shape;1092;p70"/>
          <p:cNvSpPr txBox="1">
            <a:spLocks noGrp="1"/>
          </p:cNvSpPr>
          <p:nvPr>
            <p:ph type="body" idx="1"/>
          </p:nvPr>
        </p:nvSpPr>
        <p:spPr>
          <a:xfrm>
            <a:off x="107050" y="402200"/>
            <a:ext cx="8909700" cy="243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" dirty="0"/>
              <a:t>Recall our routing challenges: Links and routers can fail.</a:t>
            </a:r>
            <a:endParaRPr dirty="0"/>
          </a:p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" dirty="0"/>
              <a:t>Solution: Each route has a finite </a:t>
            </a:r>
            <a:r>
              <a:rPr lang="en" b="1" dirty="0"/>
              <a:t>time to </a:t>
            </a:r>
            <a:r>
              <a:rPr lang="en" b="1"/>
              <a:t>live (TTL)</a:t>
            </a:r>
            <a:r>
              <a:rPr lang="en"/>
              <a:t>.</a:t>
            </a:r>
            <a:endParaRPr dirty="0"/>
          </a:p>
          <a:p>
            <a:pPr marL="457200" lvl="0" indent="-342900" algn="l" rtl="0">
              <a:spcBef>
                <a:spcPts val="600"/>
              </a:spcBef>
              <a:spcAft>
                <a:spcPts val="0"/>
              </a:spcAft>
              <a:buSzPts val="1800"/>
              <a:buChar char="●"/>
            </a:pPr>
            <a:r>
              <a:rPr lang="en" dirty="0"/>
              <a:t>Periodic advertisements help us confirm that a route still exists.</a:t>
            </a:r>
            <a:endParaRPr dirty="0"/>
          </a:p>
          <a:p>
            <a:pPr marL="914400" lvl="1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○"/>
            </a:pPr>
            <a:r>
              <a:rPr lang="en" dirty="0"/>
              <a:t>When we get an advertisement, reset ("recharge") </a:t>
            </a:r>
            <a:r>
              <a:rPr lang="en"/>
              <a:t>the TTL.</a:t>
            </a:r>
            <a:endParaRPr dirty="0"/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 dirty="0"/>
              <a:t>If a link goes down, we stop getting periodic updates, and </a:t>
            </a:r>
            <a:r>
              <a:rPr lang="en"/>
              <a:t>the TTL </a:t>
            </a:r>
            <a:r>
              <a:rPr lang="en" dirty="0"/>
              <a:t>will expire.</a:t>
            </a:r>
            <a:endParaRPr dirty="0"/>
          </a:p>
          <a:p>
            <a:pPr marL="914400" lvl="1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○"/>
            </a:pPr>
            <a:r>
              <a:rPr lang="en" dirty="0"/>
              <a:t>If </a:t>
            </a:r>
            <a:r>
              <a:rPr lang="en"/>
              <a:t>the TTL </a:t>
            </a:r>
            <a:r>
              <a:rPr lang="en" dirty="0"/>
              <a:t>expires, delete the entry from the table.</a:t>
            </a:r>
            <a:endParaRPr dirty="0"/>
          </a:p>
        </p:txBody>
      </p:sp>
      <p:graphicFrame>
        <p:nvGraphicFramePr>
          <p:cNvPr id="1093" name="Google Shape;1093;p70"/>
          <p:cNvGraphicFramePr/>
          <p:nvPr/>
        </p:nvGraphicFramePr>
        <p:xfrm>
          <a:off x="5563769" y="3662700"/>
          <a:ext cx="2392150" cy="688770"/>
        </p:xfrm>
        <a:graphic>
          <a:graphicData uri="http://schemas.openxmlformats.org/drawingml/2006/table">
            <a:tbl>
              <a:tblPr>
                <a:noFill/>
                <a:tableStyleId>{9827013E-C202-4D27-A2D1-B1A861925892}</a:tableStyleId>
              </a:tblPr>
              <a:tblGrid>
                <a:gridCol w="45622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1627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05185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4678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121925">
                <a:tc gridSpan="4"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 dirty="0">
                          <a:latin typeface="Roboto"/>
                          <a:ea typeface="Roboto"/>
                          <a:cs typeface="Roboto"/>
                          <a:sym typeface="Roboto"/>
                        </a:rPr>
                        <a:t>R3's Table</a:t>
                      </a:r>
                      <a:endParaRPr sz="1200" dirty="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21925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latin typeface="Roboto"/>
                          <a:ea typeface="Roboto"/>
                          <a:cs typeface="Roboto"/>
                          <a:sym typeface="Roboto"/>
                        </a:rPr>
                        <a:t>To:</a:t>
                      </a:r>
                      <a:endParaRPr sz="12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/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latin typeface="Roboto"/>
                          <a:ea typeface="Roboto"/>
                          <a:cs typeface="Roboto"/>
                          <a:sym typeface="Roboto"/>
                        </a:rPr>
                        <a:t>Via:</a:t>
                      </a:r>
                      <a:endParaRPr sz="12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/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latin typeface="Roboto"/>
                          <a:ea typeface="Roboto"/>
                          <a:cs typeface="Roboto"/>
                          <a:sym typeface="Roboto"/>
                        </a:rPr>
                        <a:t>Cost:</a:t>
                      </a:r>
                      <a:endParaRPr sz="12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/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latin typeface="Roboto"/>
                          <a:ea typeface="Roboto"/>
                          <a:cs typeface="Roboto"/>
                          <a:sym typeface="Roboto"/>
                        </a:rPr>
                        <a:t>TTL:</a:t>
                      </a:r>
                      <a:endParaRPr sz="1200" dirty="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21925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latin typeface="Roboto"/>
                          <a:ea typeface="Roboto"/>
                          <a:cs typeface="Roboto"/>
                          <a:sym typeface="Roboto"/>
                        </a:rPr>
                        <a:t>A</a:t>
                      </a:r>
                      <a:endParaRPr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/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latin typeface="Roboto"/>
                          <a:ea typeface="Roboto"/>
                          <a:cs typeface="Roboto"/>
                          <a:sym typeface="Roboto"/>
                        </a:rPr>
                        <a:t>R2</a:t>
                      </a:r>
                      <a:endParaRPr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/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latin typeface="Roboto"/>
                          <a:ea typeface="Roboto"/>
                          <a:cs typeface="Roboto"/>
                          <a:sym typeface="Roboto"/>
                        </a:rPr>
                        <a:t>6</a:t>
                      </a:r>
                      <a:endParaRPr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/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b="1">
                          <a:latin typeface="Roboto"/>
                          <a:ea typeface="Roboto"/>
                          <a:cs typeface="Roboto"/>
                          <a:sym typeface="Roboto"/>
                        </a:rPr>
                        <a:t>10</a:t>
                      </a:r>
                      <a:endParaRPr b="1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</a:tbl>
          </a:graphicData>
        </a:graphic>
      </p:graphicFrame>
      <p:sp>
        <p:nvSpPr>
          <p:cNvPr id="1094" name="Google Shape;1094;p70"/>
          <p:cNvSpPr txBox="1"/>
          <p:nvPr/>
        </p:nvSpPr>
        <p:spPr>
          <a:xfrm>
            <a:off x="6406750" y="3323475"/>
            <a:ext cx="706200" cy="270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27425" tIns="27425" rIns="27425" bIns="27425" anchor="t" anchorCtr="0">
            <a:sp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t = </a:t>
            </a:r>
            <a:r>
              <a:rPr lang="en" b="1">
                <a:latin typeface="Roboto"/>
                <a:ea typeface="Roboto"/>
                <a:cs typeface="Roboto"/>
                <a:sym typeface="Roboto"/>
              </a:rPr>
              <a:t>1</a:t>
            </a:r>
            <a:endParaRPr b="1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095" name="Google Shape;1095;p70"/>
          <p:cNvSpPr txBox="1"/>
          <p:nvPr/>
        </p:nvSpPr>
        <p:spPr>
          <a:xfrm>
            <a:off x="6406750" y="3323475"/>
            <a:ext cx="706200" cy="2709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spcFirstLastPara="1" wrap="square" lIns="27425" tIns="27425" rIns="27425" bIns="27425" anchor="t" anchorCtr="0">
            <a:sp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t = </a:t>
            </a:r>
            <a:r>
              <a:rPr lang="en" b="1">
                <a:latin typeface="Roboto"/>
                <a:ea typeface="Roboto"/>
                <a:cs typeface="Roboto"/>
                <a:sym typeface="Roboto"/>
              </a:rPr>
              <a:t>2</a:t>
            </a:r>
            <a:endParaRPr b="1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096" name="Google Shape;1096;p70"/>
          <p:cNvSpPr txBox="1"/>
          <p:nvPr/>
        </p:nvSpPr>
        <p:spPr>
          <a:xfrm>
            <a:off x="7496325" y="4110050"/>
            <a:ext cx="449700" cy="2319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b="1">
                <a:latin typeface="Roboto"/>
                <a:ea typeface="Roboto"/>
                <a:cs typeface="Roboto"/>
                <a:sym typeface="Roboto"/>
              </a:rPr>
              <a:t>9</a:t>
            </a:r>
            <a:endParaRPr b="1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097" name="Google Shape;1097;p70"/>
          <p:cNvSpPr txBox="1"/>
          <p:nvPr/>
        </p:nvSpPr>
        <p:spPr>
          <a:xfrm>
            <a:off x="6406750" y="3323475"/>
            <a:ext cx="706200" cy="2709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spcFirstLastPara="1" wrap="square" lIns="27425" tIns="27425" rIns="27425" bIns="27425" anchor="t" anchorCtr="0">
            <a:sp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t = </a:t>
            </a:r>
            <a:r>
              <a:rPr lang="en" b="1">
                <a:latin typeface="Roboto"/>
                <a:ea typeface="Roboto"/>
                <a:cs typeface="Roboto"/>
                <a:sym typeface="Roboto"/>
              </a:rPr>
              <a:t>3</a:t>
            </a:r>
            <a:endParaRPr b="1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098" name="Google Shape;1098;p70"/>
          <p:cNvSpPr txBox="1"/>
          <p:nvPr/>
        </p:nvSpPr>
        <p:spPr>
          <a:xfrm>
            <a:off x="7496325" y="4110050"/>
            <a:ext cx="449700" cy="2319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b="1">
                <a:latin typeface="Roboto"/>
                <a:ea typeface="Roboto"/>
                <a:cs typeface="Roboto"/>
                <a:sym typeface="Roboto"/>
              </a:rPr>
              <a:t>8</a:t>
            </a:r>
            <a:endParaRPr b="1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099" name="Google Shape;1099;p70"/>
          <p:cNvSpPr txBox="1"/>
          <p:nvPr/>
        </p:nvSpPr>
        <p:spPr>
          <a:xfrm>
            <a:off x="6406750" y="3323475"/>
            <a:ext cx="706200" cy="2709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spcFirstLastPara="1" wrap="square" lIns="27425" tIns="27425" rIns="27425" bIns="27425" anchor="t" anchorCtr="0">
            <a:sp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t = </a:t>
            </a:r>
            <a:r>
              <a:rPr lang="en" b="1">
                <a:latin typeface="Roboto"/>
                <a:ea typeface="Roboto"/>
                <a:cs typeface="Roboto"/>
                <a:sym typeface="Roboto"/>
              </a:rPr>
              <a:t>4</a:t>
            </a:r>
            <a:endParaRPr b="1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100" name="Google Shape;1100;p70"/>
          <p:cNvSpPr txBox="1"/>
          <p:nvPr/>
        </p:nvSpPr>
        <p:spPr>
          <a:xfrm>
            <a:off x="7496325" y="4110050"/>
            <a:ext cx="449700" cy="2319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b="1">
                <a:latin typeface="Roboto"/>
                <a:ea typeface="Roboto"/>
                <a:cs typeface="Roboto"/>
                <a:sym typeface="Roboto"/>
              </a:rPr>
              <a:t>7</a:t>
            </a:r>
            <a:endParaRPr b="1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101" name="Google Shape;1101;p70"/>
          <p:cNvSpPr/>
          <p:nvPr/>
        </p:nvSpPr>
        <p:spPr>
          <a:xfrm>
            <a:off x="2774913" y="3884850"/>
            <a:ext cx="285000" cy="285000"/>
          </a:xfrm>
          <a:prstGeom prst="rect">
            <a:avLst/>
          </a:prstGeom>
          <a:solidFill>
            <a:srgbClr val="FFFFFF"/>
          </a:solidFill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R3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1102" name="Google Shape;1102;p70"/>
          <p:cNvCxnSpPr>
            <a:stCxn id="1103" idx="3"/>
            <a:endCxn id="1101" idx="1"/>
          </p:cNvCxnSpPr>
          <p:nvPr/>
        </p:nvCxnSpPr>
        <p:spPr>
          <a:xfrm rot="10800000" flipH="1">
            <a:off x="1224263" y="4027408"/>
            <a:ext cx="1550700" cy="900"/>
          </a:xfrm>
          <a:prstGeom prst="straightConnector1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1103" name="Google Shape;1103;p70"/>
          <p:cNvSpPr/>
          <p:nvPr/>
        </p:nvSpPr>
        <p:spPr>
          <a:xfrm>
            <a:off x="939263" y="3885808"/>
            <a:ext cx="285000" cy="285000"/>
          </a:xfrm>
          <a:prstGeom prst="rect">
            <a:avLst/>
          </a:prstGeom>
          <a:solidFill>
            <a:srgbClr val="FFFFFF"/>
          </a:solidFill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R2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104" name="Google Shape;1104;p70"/>
          <p:cNvSpPr/>
          <p:nvPr/>
        </p:nvSpPr>
        <p:spPr>
          <a:xfrm>
            <a:off x="253463" y="3885800"/>
            <a:ext cx="285000" cy="285000"/>
          </a:xfrm>
          <a:prstGeom prst="ellipse">
            <a:avLst/>
          </a:prstGeom>
          <a:solidFill>
            <a:srgbClr val="FFFFFF"/>
          </a:solidFill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A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1105" name="Google Shape;1105;p70"/>
          <p:cNvCxnSpPr>
            <a:stCxn id="1104" idx="6"/>
            <a:endCxn id="1103" idx="1"/>
          </p:cNvCxnSpPr>
          <p:nvPr/>
        </p:nvCxnSpPr>
        <p:spPr>
          <a:xfrm>
            <a:off x="538463" y="4028300"/>
            <a:ext cx="400800" cy="0"/>
          </a:xfrm>
          <a:prstGeom prst="straightConnector1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037C602B-9DF1-6592-8F19-53F0786BC4A5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 smtClean="0"/>
              <a:t>46</a:t>
            </a:fld>
            <a:endParaRPr lang="en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9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9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9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9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9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0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0" name="Google Shape;1110;p71"/>
          <p:cNvSpPr txBox="1">
            <a:spLocks noGrp="1"/>
          </p:cNvSpPr>
          <p:nvPr>
            <p:ph type="title"/>
          </p:nvPr>
        </p:nvSpPr>
        <p:spPr>
          <a:xfrm>
            <a:off x="0" y="0"/>
            <a:ext cx="9144000" cy="39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Handling Failures</a:t>
            </a:r>
            <a:endParaRPr/>
          </a:p>
        </p:txBody>
      </p:sp>
      <p:sp>
        <p:nvSpPr>
          <p:cNvPr id="1111" name="Google Shape;1111;p71"/>
          <p:cNvSpPr txBox="1">
            <a:spLocks noGrp="1"/>
          </p:cNvSpPr>
          <p:nvPr>
            <p:ph type="body" idx="1"/>
          </p:nvPr>
        </p:nvSpPr>
        <p:spPr>
          <a:xfrm>
            <a:off x="107050" y="402200"/>
            <a:ext cx="8909700" cy="243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" dirty="0"/>
              <a:t>Recall our routing challenges: Links and routers can fail.</a:t>
            </a:r>
            <a:endParaRPr dirty="0"/>
          </a:p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" dirty="0"/>
              <a:t>Solution: Each route has a finite </a:t>
            </a:r>
            <a:r>
              <a:rPr lang="en" b="1" dirty="0"/>
              <a:t>time to </a:t>
            </a:r>
            <a:r>
              <a:rPr lang="en" b="1"/>
              <a:t>live (TTL)</a:t>
            </a:r>
            <a:r>
              <a:rPr lang="en"/>
              <a:t>.</a:t>
            </a:r>
            <a:endParaRPr dirty="0"/>
          </a:p>
          <a:p>
            <a:pPr marL="457200" lvl="0" indent="-342900" algn="l" rtl="0">
              <a:spcBef>
                <a:spcPts val="600"/>
              </a:spcBef>
              <a:spcAft>
                <a:spcPts val="0"/>
              </a:spcAft>
              <a:buSzPts val="1800"/>
              <a:buChar char="●"/>
            </a:pPr>
            <a:r>
              <a:rPr lang="en" dirty="0"/>
              <a:t>Periodic advertisements help us confirm that a route still exists.</a:t>
            </a:r>
            <a:endParaRPr dirty="0"/>
          </a:p>
          <a:p>
            <a:pPr marL="914400" lvl="1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○"/>
            </a:pPr>
            <a:r>
              <a:rPr lang="en" dirty="0"/>
              <a:t>When we get an advertisement, reset ("recharge") </a:t>
            </a:r>
            <a:r>
              <a:rPr lang="en"/>
              <a:t>the TTL.</a:t>
            </a:r>
            <a:endParaRPr dirty="0"/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 dirty="0"/>
              <a:t>If a link goes down, we stop getting periodic updates, and </a:t>
            </a:r>
            <a:r>
              <a:rPr lang="en"/>
              <a:t>the TTL </a:t>
            </a:r>
            <a:r>
              <a:rPr lang="en" dirty="0"/>
              <a:t>will expire.</a:t>
            </a:r>
            <a:endParaRPr dirty="0"/>
          </a:p>
          <a:p>
            <a:pPr marL="914400" lvl="1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○"/>
            </a:pPr>
            <a:r>
              <a:rPr lang="en" dirty="0"/>
              <a:t>If </a:t>
            </a:r>
            <a:r>
              <a:rPr lang="en"/>
              <a:t>the TTL </a:t>
            </a:r>
            <a:r>
              <a:rPr lang="en" dirty="0"/>
              <a:t>expires, delete the entry from the table.</a:t>
            </a:r>
            <a:endParaRPr dirty="0"/>
          </a:p>
        </p:txBody>
      </p:sp>
      <p:graphicFrame>
        <p:nvGraphicFramePr>
          <p:cNvPr id="1112" name="Google Shape;1112;p71"/>
          <p:cNvGraphicFramePr/>
          <p:nvPr/>
        </p:nvGraphicFramePr>
        <p:xfrm>
          <a:off x="5563769" y="3662700"/>
          <a:ext cx="2392150" cy="688770"/>
        </p:xfrm>
        <a:graphic>
          <a:graphicData uri="http://schemas.openxmlformats.org/drawingml/2006/table">
            <a:tbl>
              <a:tblPr>
                <a:noFill/>
                <a:tableStyleId>{9827013E-C202-4D27-A2D1-B1A861925892}</a:tableStyleId>
              </a:tblPr>
              <a:tblGrid>
                <a:gridCol w="45622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1627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05185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4678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121925">
                <a:tc gridSpan="4"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 dirty="0">
                          <a:latin typeface="Roboto"/>
                          <a:ea typeface="Roboto"/>
                          <a:cs typeface="Roboto"/>
                          <a:sym typeface="Roboto"/>
                        </a:rPr>
                        <a:t>R3's Table</a:t>
                      </a:r>
                      <a:endParaRPr sz="1200" dirty="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21925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latin typeface="Roboto"/>
                          <a:ea typeface="Roboto"/>
                          <a:cs typeface="Roboto"/>
                          <a:sym typeface="Roboto"/>
                        </a:rPr>
                        <a:t>To:</a:t>
                      </a:r>
                      <a:endParaRPr sz="12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/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latin typeface="Roboto"/>
                          <a:ea typeface="Roboto"/>
                          <a:cs typeface="Roboto"/>
                          <a:sym typeface="Roboto"/>
                        </a:rPr>
                        <a:t>Via:</a:t>
                      </a:r>
                      <a:endParaRPr sz="12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/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latin typeface="Roboto"/>
                          <a:ea typeface="Roboto"/>
                          <a:cs typeface="Roboto"/>
                          <a:sym typeface="Roboto"/>
                        </a:rPr>
                        <a:t>Cost:</a:t>
                      </a:r>
                      <a:endParaRPr sz="12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/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latin typeface="Roboto"/>
                          <a:ea typeface="Roboto"/>
                          <a:cs typeface="Roboto"/>
                          <a:sym typeface="Roboto"/>
                        </a:rPr>
                        <a:t>TTL:</a:t>
                      </a:r>
                      <a:endParaRPr sz="1200" dirty="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21925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latin typeface="Roboto"/>
                          <a:ea typeface="Roboto"/>
                          <a:cs typeface="Roboto"/>
                          <a:sym typeface="Roboto"/>
                        </a:rPr>
                        <a:t>A</a:t>
                      </a:r>
                      <a:endParaRPr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/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latin typeface="Roboto"/>
                          <a:ea typeface="Roboto"/>
                          <a:cs typeface="Roboto"/>
                          <a:sym typeface="Roboto"/>
                        </a:rPr>
                        <a:t>R2</a:t>
                      </a:r>
                      <a:endParaRPr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/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latin typeface="Roboto"/>
                          <a:ea typeface="Roboto"/>
                          <a:cs typeface="Roboto"/>
                          <a:sym typeface="Roboto"/>
                        </a:rPr>
                        <a:t>6</a:t>
                      </a:r>
                      <a:endParaRPr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/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b="1">
                          <a:latin typeface="Roboto"/>
                          <a:ea typeface="Roboto"/>
                          <a:cs typeface="Roboto"/>
                          <a:sym typeface="Roboto"/>
                        </a:rPr>
                        <a:t>11</a:t>
                      </a:r>
                      <a:endParaRPr b="1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</a:tbl>
          </a:graphicData>
        </a:graphic>
      </p:graphicFrame>
      <p:sp>
        <p:nvSpPr>
          <p:cNvPr id="1113" name="Google Shape;1113;p71"/>
          <p:cNvSpPr txBox="1"/>
          <p:nvPr/>
        </p:nvSpPr>
        <p:spPr>
          <a:xfrm>
            <a:off x="6406750" y="3323475"/>
            <a:ext cx="706200" cy="270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27425" tIns="27425" rIns="27425" bIns="27425" anchor="t" anchorCtr="0">
            <a:sp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t = </a:t>
            </a:r>
            <a:r>
              <a:rPr lang="en" b="1">
                <a:latin typeface="Roboto"/>
                <a:ea typeface="Roboto"/>
                <a:cs typeface="Roboto"/>
                <a:sym typeface="Roboto"/>
              </a:rPr>
              <a:t>5</a:t>
            </a:r>
            <a:endParaRPr b="1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114" name="Google Shape;1114;p71"/>
          <p:cNvSpPr txBox="1"/>
          <p:nvPr/>
        </p:nvSpPr>
        <p:spPr>
          <a:xfrm>
            <a:off x="5313100" y="4419775"/>
            <a:ext cx="2893500" cy="486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27425" tIns="27425" rIns="27425" bIns="27425" anchor="t" anchorCtr="0">
            <a:sp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>
                <a:latin typeface="Roboto"/>
                <a:ea typeface="Roboto"/>
                <a:cs typeface="Roboto"/>
                <a:sym typeface="Roboto"/>
              </a:rPr>
              <a:t>We got a confirmation!</a:t>
            </a:r>
            <a:br>
              <a:rPr lang="en" dirty="0">
                <a:latin typeface="Roboto"/>
                <a:ea typeface="Roboto"/>
                <a:cs typeface="Roboto"/>
                <a:sym typeface="Roboto"/>
              </a:rPr>
            </a:br>
            <a:r>
              <a:rPr lang="en">
                <a:latin typeface="Roboto"/>
                <a:ea typeface="Roboto"/>
                <a:cs typeface="Roboto"/>
                <a:sym typeface="Roboto"/>
              </a:rPr>
              <a:t>Reset TTL </a:t>
            </a:r>
            <a:r>
              <a:rPr lang="en" dirty="0">
                <a:latin typeface="Roboto"/>
                <a:ea typeface="Roboto"/>
                <a:cs typeface="Roboto"/>
                <a:sym typeface="Roboto"/>
              </a:rPr>
              <a:t>back to 11.</a:t>
            </a:r>
            <a:endParaRPr dirty="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115" name="Google Shape;1115;p71"/>
          <p:cNvSpPr/>
          <p:nvPr/>
        </p:nvSpPr>
        <p:spPr>
          <a:xfrm>
            <a:off x="1047875" y="4313300"/>
            <a:ext cx="1903500" cy="494700"/>
          </a:xfrm>
          <a:prstGeom prst="roundRect">
            <a:avLst>
              <a:gd name="adj" fmla="val 16667"/>
            </a:avLst>
          </a:prstGeom>
          <a:solidFill>
            <a:srgbClr val="F4CCCC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27425" tIns="27425" rIns="27425" bIns="27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I'm still </a:t>
            </a:r>
            <a:r>
              <a:rPr lang="en" b="1">
                <a:latin typeface="Roboto"/>
                <a:ea typeface="Roboto"/>
                <a:cs typeface="Roboto"/>
                <a:sym typeface="Roboto"/>
              </a:rPr>
              <a:t>R2</a:t>
            </a:r>
            <a:r>
              <a:rPr lang="en">
                <a:latin typeface="Roboto"/>
                <a:ea typeface="Roboto"/>
                <a:cs typeface="Roboto"/>
                <a:sym typeface="Roboto"/>
              </a:rPr>
              <a:t>, and </a:t>
            </a:r>
            <a:r>
              <a:rPr lang="en" b="1">
                <a:latin typeface="Roboto"/>
                <a:ea typeface="Roboto"/>
                <a:cs typeface="Roboto"/>
                <a:sym typeface="Roboto"/>
              </a:rPr>
              <a:t>A</a:t>
            </a:r>
            <a:r>
              <a:rPr lang="en">
                <a:latin typeface="Roboto"/>
                <a:ea typeface="Roboto"/>
                <a:cs typeface="Roboto"/>
                <a:sym typeface="Roboto"/>
              </a:rPr>
              <a:t> is still </a:t>
            </a:r>
            <a:r>
              <a:rPr lang="en" b="1">
                <a:latin typeface="Roboto"/>
                <a:ea typeface="Roboto"/>
                <a:cs typeface="Roboto"/>
                <a:sym typeface="Roboto"/>
              </a:rPr>
              <a:t>5</a:t>
            </a:r>
            <a:r>
              <a:rPr lang="en">
                <a:latin typeface="Roboto"/>
                <a:ea typeface="Roboto"/>
                <a:cs typeface="Roboto"/>
                <a:sym typeface="Roboto"/>
              </a:rPr>
              <a:t> away from me.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1116" name="Google Shape;1116;p71"/>
          <p:cNvCxnSpPr/>
          <p:nvPr/>
        </p:nvCxnSpPr>
        <p:spPr>
          <a:xfrm>
            <a:off x="1466525" y="4170800"/>
            <a:ext cx="1066200" cy="0"/>
          </a:xfrm>
          <a:prstGeom prst="straightConnector1">
            <a:avLst/>
          </a:prstGeom>
          <a:noFill/>
          <a:ln w="19050" cap="flat" cmpd="sng">
            <a:solidFill>
              <a:schemeClr val="accent2"/>
            </a:solidFill>
            <a:prstDash val="solid"/>
            <a:round/>
            <a:headEnd type="none" w="med" len="med"/>
            <a:tailEnd type="triangle" w="med" len="med"/>
          </a:ln>
        </p:spPr>
      </p:cxnSp>
      <p:sp>
        <p:nvSpPr>
          <p:cNvPr id="1117" name="Google Shape;1117;p71"/>
          <p:cNvSpPr/>
          <p:nvPr/>
        </p:nvSpPr>
        <p:spPr>
          <a:xfrm>
            <a:off x="2774913" y="3884850"/>
            <a:ext cx="285000" cy="285000"/>
          </a:xfrm>
          <a:prstGeom prst="rect">
            <a:avLst/>
          </a:prstGeom>
          <a:solidFill>
            <a:srgbClr val="FFFFFF"/>
          </a:solidFill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R3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1118" name="Google Shape;1118;p71"/>
          <p:cNvCxnSpPr>
            <a:stCxn id="1119" idx="3"/>
            <a:endCxn id="1117" idx="1"/>
          </p:cNvCxnSpPr>
          <p:nvPr/>
        </p:nvCxnSpPr>
        <p:spPr>
          <a:xfrm rot="10800000" flipH="1">
            <a:off x="1224263" y="4027408"/>
            <a:ext cx="1550700" cy="900"/>
          </a:xfrm>
          <a:prstGeom prst="straightConnector1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1119" name="Google Shape;1119;p71"/>
          <p:cNvSpPr/>
          <p:nvPr/>
        </p:nvSpPr>
        <p:spPr>
          <a:xfrm>
            <a:off x="939263" y="3885808"/>
            <a:ext cx="285000" cy="285000"/>
          </a:xfrm>
          <a:prstGeom prst="rect">
            <a:avLst/>
          </a:prstGeom>
          <a:solidFill>
            <a:srgbClr val="FFFFFF"/>
          </a:solidFill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R2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120" name="Google Shape;1120;p71"/>
          <p:cNvSpPr/>
          <p:nvPr/>
        </p:nvSpPr>
        <p:spPr>
          <a:xfrm>
            <a:off x="253463" y="3885800"/>
            <a:ext cx="285000" cy="285000"/>
          </a:xfrm>
          <a:prstGeom prst="ellipse">
            <a:avLst/>
          </a:prstGeom>
          <a:solidFill>
            <a:srgbClr val="FFFFFF"/>
          </a:solidFill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A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1121" name="Google Shape;1121;p71"/>
          <p:cNvCxnSpPr>
            <a:stCxn id="1120" idx="6"/>
            <a:endCxn id="1119" idx="1"/>
          </p:cNvCxnSpPr>
          <p:nvPr/>
        </p:nvCxnSpPr>
        <p:spPr>
          <a:xfrm>
            <a:off x="538463" y="4028300"/>
            <a:ext cx="400800" cy="0"/>
          </a:xfrm>
          <a:prstGeom prst="straightConnector1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5EF57112-2340-B591-17DE-E22E89312122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 smtClean="0"/>
              <a:t>47</a:t>
            </a:fld>
            <a:endParaRPr lang="en"/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6" name="Google Shape;1126;p72"/>
          <p:cNvSpPr txBox="1">
            <a:spLocks noGrp="1"/>
          </p:cNvSpPr>
          <p:nvPr>
            <p:ph type="title"/>
          </p:nvPr>
        </p:nvSpPr>
        <p:spPr>
          <a:xfrm>
            <a:off x="0" y="0"/>
            <a:ext cx="9144000" cy="39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Handling Failures</a:t>
            </a:r>
            <a:endParaRPr/>
          </a:p>
        </p:txBody>
      </p:sp>
      <p:sp>
        <p:nvSpPr>
          <p:cNvPr id="1127" name="Google Shape;1127;p72"/>
          <p:cNvSpPr txBox="1">
            <a:spLocks noGrp="1"/>
          </p:cNvSpPr>
          <p:nvPr>
            <p:ph type="body" idx="1"/>
          </p:nvPr>
        </p:nvSpPr>
        <p:spPr>
          <a:xfrm>
            <a:off x="107050" y="402200"/>
            <a:ext cx="8909700" cy="243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" dirty="0"/>
              <a:t>Recall our routing challenges: Links and routers can fail.</a:t>
            </a:r>
            <a:endParaRPr dirty="0"/>
          </a:p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" dirty="0"/>
              <a:t>Solution: Each route has a finite </a:t>
            </a:r>
            <a:r>
              <a:rPr lang="en" b="1" dirty="0"/>
              <a:t>time to </a:t>
            </a:r>
            <a:r>
              <a:rPr lang="en" b="1"/>
              <a:t>live (TTL)</a:t>
            </a:r>
            <a:r>
              <a:rPr lang="en"/>
              <a:t>.</a:t>
            </a:r>
            <a:endParaRPr dirty="0"/>
          </a:p>
          <a:p>
            <a:pPr marL="457200" lvl="0" indent="-342900" algn="l" rtl="0">
              <a:spcBef>
                <a:spcPts val="600"/>
              </a:spcBef>
              <a:spcAft>
                <a:spcPts val="0"/>
              </a:spcAft>
              <a:buSzPts val="1800"/>
              <a:buChar char="●"/>
            </a:pPr>
            <a:r>
              <a:rPr lang="en" dirty="0"/>
              <a:t>Periodic advertisements help us confirm that a route still exists.</a:t>
            </a:r>
            <a:endParaRPr dirty="0"/>
          </a:p>
          <a:p>
            <a:pPr marL="914400" lvl="1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○"/>
            </a:pPr>
            <a:r>
              <a:rPr lang="en" dirty="0"/>
              <a:t>When we get an advertisement, reset ("recharge") </a:t>
            </a:r>
            <a:r>
              <a:rPr lang="en"/>
              <a:t>the TTL.</a:t>
            </a:r>
            <a:endParaRPr dirty="0"/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 dirty="0"/>
              <a:t>If a link goes down, we stop getting periodic updates, and </a:t>
            </a:r>
            <a:r>
              <a:rPr lang="en"/>
              <a:t>the TTL </a:t>
            </a:r>
            <a:r>
              <a:rPr lang="en" dirty="0"/>
              <a:t>will expire.</a:t>
            </a:r>
            <a:endParaRPr dirty="0"/>
          </a:p>
          <a:p>
            <a:pPr marL="914400" lvl="1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○"/>
            </a:pPr>
            <a:r>
              <a:rPr lang="en" dirty="0"/>
              <a:t>If </a:t>
            </a:r>
            <a:r>
              <a:rPr lang="en"/>
              <a:t>the TTL </a:t>
            </a:r>
            <a:r>
              <a:rPr lang="en" dirty="0"/>
              <a:t>expires, delete the entry from the table.</a:t>
            </a:r>
            <a:endParaRPr dirty="0"/>
          </a:p>
        </p:txBody>
      </p:sp>
      <p:graphicFrame>
        <p:nvGraphicFramePr>
          <p:cNvPr id="1128" name="Google Shape;1128;p72"/>
          <p:cNvGraphicFramePr/>
          <p:nvPr/>
        </p:nvGraphicFramePr>
        <p:xfrm>
          <a:off x="5563769" y="3662700"/>
          <a:ext cx="2392150" cy="688770"/>
        </p:xfrm>
        <a:graphic>
          <a:graphicData uri="http://schemas.openxmlformats.org/drawingml/2006/table">
            <a:tbl>
              <a:tblPr>
                <a:noFill/>
                <a:tableStyleId>{9827013E-C202-4D27-A2D1-B1A861925892}</a:tableStyleId>
              </a:tblPr>
              <a:tblGrid>
                <a:gridCol w="45622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1627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05185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4678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121925">
                <a:tc gridSpan="4"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 dirty="0">
                          <a:latin typeface="Roboto"/>
                          <a:ea typeface="Roboto"/>
                          <a:cs typeface="Roboto"/>
                          <a:sym typeface="Roboto"/>
                        </a:rPr>
                        <a:t>R3's Table</a:t>
                      </a:r>
                      <a:endParaRPr sz="1200" dirty="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21925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latin typeface="Roboto"/>
                          <a:ea typeface="Roboto"/>
                          <a:cs typeface="Roboto"/>
                          <a:sym typeface="Roboto"/>
                        </a:rPr>
                        <a:t>To:</a:t>
                      </a:r>
                      <a:endParaRPr sz="12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/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latin typeface="Roboto"/>
                          <a:ea typeface="Roboto"/>
                          <a:cs typeface="Roboto"/>
                          <a:sym typeface="Roboto"/>
                        </a:rPr>
                        <a:t>Via:</a:t>
                      </a:r>
                      <a:endParaRPr sz="12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/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latin typeface="Roboto"/>
                          <a:ea typeface="Roboto"/>
                          <a:cs typeface="Roboto"/>
                          <a:sym typeface="Roboto"/>
                        </a:rPr>
                        <a:t>Cost:</a:t>
                      </a:r>
                      <a:endParaRPr sz="12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/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latin typeface="Roboto"/>
                          <a:ea typeface="Roboto"/>
                          <a:cs typeface="Roboto"/>
                          <a:sym typeface="Roboto"/>
                        </a:rPr>
                        <a:t>TTL:</a:t>
                      </a:r>
                      <a:endParaRPr sz="1200" dirty="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21925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latin typeface="Roboto"/>
                          <a:ea typeface="Roboto"/>
                          <a:cs typeface="Roboto"/>
                          <a:sym typeface="Roboto"/>
                        </a:rPr>
                        <a:t>A</a:t>
                      </a:r>
                      <a:endParaRPr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/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latin typeface="Roboto"/>
                          <a:ea typeface="Roboto"/>
                          <a:cs typeface="Roboto"/>
                          <a:sym typeface="Roboto"/>
                        </a:rPr>
                        <a:t>R2</a:t>
                      </a:r>
                      <a:endParaRPr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/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latin typeface="Roboto"/>
                          <a:ea typeface="Roboto"/>
                          <a:cs typeface="Roboto"/>
                          <a:sym typeface="Roboto"/>
                        </a:rPr>
                        <a:t>6</a:t>
                      </a:r>
                      <a:endParaRPr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/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b="1">
                          <a:latin typeface="Roboto"/>
                          <a:ea typeface="Roboto"/>
                          <a:cs typeface="Roboto"/>
                          <a:sym typeface="Roboto"/>
                        </a:rPr>
                        <a:t>10</a:t>
                      </a:r>
                      <a:endParaRPr b="1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</a:tbl>
          </a:graphicData>
        </a:graphic>
      </p:graphicFrame>
      <p:sp>
        <p:nvSpPr>
          <p:cNvPr id="1129" name="Google Shape;1129;p72"/>
          <p:cNvSpPr txBox="1"/>
          <p:nvPr/>
        </p:nvSpPr>
        <p:spPr>
          <a:xfrm>
            <a:off x="6406750" y="3323475"/>
            <a:ext cx="706200" cy="270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27425" tIns="27425" rIns="27425" bIns="27425" anchor="t" anchorCtr="0">
            <a:sp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t = </a:t>
            </a:r>
            <a:r>
              <a:rPr lang="en" b="1">
                <a:latin typeface="Roboto"/>
                <a:ea typeface="Roboto"/>
                <a:cs typeface="Roboto"/>
                <a:sym typeface="Roboto"/>
              </a:rPr>
              <a:t>6</a:t>
            </a:r>
            <a:endParaRPr b="1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130" name="Google Shape;1130;p72"/>
          <p:cNvSpPr txBox="1"/>
          <p:nvPr/>
        </p:nvSpPr>
        <p:spPr>
          <a:xfrm>
            <a:off x="7496325" y="4110050"/>
            <a:ext cx="449700" cy="2319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b="1">
                <a:latin typeface="Roboto"/>
                <a:ea typeface="Roboto"/>
                <a:cs typeface="Roboto"/>
                <a:sym typeface="Roboto"/>
              </a:rPr>
              <a:t>9</a:t>
            </a:r>
            <a:endParaRPr b="1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131" name="Google Shape;1131;p72"/>
          <p:cNvSpPr txBox="1"/>
          <p:nvPr/>
        </p:nvSpPr>
        <p:spPr>
          <a:xfrm>
            <a:off x="6406750" y="3323475"/>
            <a:ext cx="706200" cy="2709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spcFirstLastPara="1" wrap="square" lIns="27425" tIns="27425" rIns="27425" bIns="27425" anchor="t" anchorCtr="0">
            <a:sp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t = </a:t>
            </a:r>
            <a:r>
              <a:rPr lang="en" b="1">
                <a:latin typeface="Roboto"/>
                <a:ea typeface="Roboto"/>
                <a:cs typeface="Roboto"/>
                <a:sym typeface="Roboto"/>
              </a:rPr>
              <a:t>7</a:t>
            </a:r>
            <a:endParaRPr b="1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132" name="Google Shape;1132;p72"/>
          <p:cNvSpPr txBox="1"/>
          <p:nvPr/>
        </p:nvSpPr>
        <p:spPr>
          <a:xfrm>
            <a:off x="7496325" y="4110050"/>
            <a:ext cx="449700" cy="2319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b="1">
                <a:latin typeface="Roboto"/>
                <a:ea typeface="Roboto"/>
                <a:cs typeface="Roboto"/>
                <a:sym typeface="Roboto"/>
              </a:rPr>
              <a:t>8</a:t>
            </a:r>
            <a:endParaRPr b="1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133" name="Google Shape;1133;p72"/>
          <p:cNvSpPr txBox="1"/>
          <p:nvPr/>
        </p:nvSpPr>
        <p:spPr>
          <a:xfrm>
            <a:off x="6406750" y="3323475"/>
            <a:ext cx="706200" cy="2709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spcFirstLastPara="1" wrap="square" lIns="27425" tIns="27425" rIns="27425" bIns="27425" anchor="t" anchorCtr="0">
            <a:sp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t = </a:t>
            </a:r>
            <a:r>
              <a:rPr lang="en" b="1">
                <a:latin typeface="Roboto"/>
                <a:ea typeface="Roboto"/>
                <a:cs typeface="Roboto"/>
                <a:sym typeface="Roboto"/>
              </a:rPr>
              <a:t>8</a:t>
            </a:r>
            <a:endParaRPr b="1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134" name="Google Shape;1134;p72"/>
          <p:cNvSpPr txBox="1"/>
          <p:nvPr/>
        </p:nvSpPr>
        <p:spPr>
          <a:xfrm>
            <a:off x="7496325" y="4110050"/>
            <a:ext cx="449700" cy="2319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b="1">
                <a:latin typeface="Roboto"/>
                <a:ea typeface="Roboto"/>
                <a:cs typeface="Roboto"/>
                <a:sym typeface="Roboto"/>
              </a:rPr>
              <a:t>7</a:t>
            </a:r>
            <a:endParaRPr b="1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135" name="Google Shape;1135;p72"/>
          <p:cNvSpPr txBox="1"/>
          <p:nvPr/>
        </p:nvSpPr>
        <p:spPr>
          <a:xfrm>
            <a:off x="6406750" y="3323475"/>
            <a:ext cx="706200" cy="2709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spcFirstLastPara="1" wrap="square" lIns="27425" tIns="27425" rIns="27425" bIns="27425" anchor="t" anchorCtr="0">
            <a:sp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t = </a:t>
            </a:r>
            <a:r>
              <a:rPr lang="en" b="1">
                <a:latin typeface="Roboto"/>
                <a:ea typeface="Roboto"/>
                <a:cs typeface="Roboto"/>
                <a:sym typeface="Roboto"/>
              </a:rPr>
              <a:t>9</a:t>
            </a:r>
            <a:endParaRPr b="1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136" name="Google Shape;1136;p72"/>
          <p:cNvSpPr txBox="1"/>
          <p:nvPr/>
        </p:nvSpPr>
        <p:spPr>
          <a:xfrm>
            <a:off x="450125" y="4209000"/>
            <a:ext cx="577500" cy="702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27425" tIns="27425" rIns="27425" bIns="27425" anchor="t" anchorCtr="0">
            <a:sp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accent2"/>
                </a:solidFill>
                <a:latin typeface="Roboto"/>
                <a:ea typeface="Roboto"/>
                <a:cs typeface="Roboto"/>
                <a:sym typeface="Roboto"/>
              </a:rPr>
              <a:t>Link goes down!</a:t>
            </a:r>
            <a:endParaRPr>
              <a:solidFill>
                <a:schemeClr val="accent2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137" name="Google Shape;1137;p72"/>
          <p:cNvSpPr txBox="1"/>
          <p:nvPr/>
        </p:nvSpPr>
        <p:spPr>
          <a:xfrm>
            <a:off x="7496325" y="4110050"/>
            <a:ext cx="449700" cy="2319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b="1">
                <a:latin typeface="Roboto"/>
                <a:ea typeface="Roboto"/>
                <a:cs typeface="Roboto"/>
                <a:sym typeface="Roboto"/>
              </a:rPr>
              <a:t>6</a:t>
            </a:r>
            <a:endParaRPr b="1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138" name="Google Shape;1138;p72"/>
          <p:cNvSpPr txBox="1"/>
          <p:nvPr/>
        </p:nvSpPr>
        <p:spPr>
          <a:xfrm>
            <a:off x="6406750" y="3323475"/>
            <a:ext cx="706200" cy="2709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spcFirstLastPara="1" wrap="square" lIns="27425" tIns="27425" rIns="27425" bIns="27425" anchor="t" anchorCtr="0">
            <a:sp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t = </a:t>
            </a:r>
            <a:r>
              <a:rPr lang="en" b="1">
                <a:latin typeface="Roboto"/>
                <a:ea typeface="Roboto"/>
                <a:cs typeface="Roboto"/>
                <a:sym typeface="Roboto"/>
              </a:rPr>
              <a:t>10</a:t>
            </a:r>
            <a:endParaRPr b="1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139" name="Google Shape;1139;p72"/>
          <p:cNvSpPr txBox="1"/>
          <p:nvPr/>
        </p:nvSpPr>
        <p:spPr>
          <a:xfrm>
            <a:off x="7496325" y="4110050"/>
            <a:ext cx="449700" cy="2319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b="1">
                <a:latin typeface="Roboto"/>
                <a:ea typeface="Roboto"/>
                <a:cs typeface="Roboto"/>
                <a:sym typeface="Roboto"/>
              </a:rPr>
              <a:t>5</a:t>
            </a:r>
            <a:endParaRPr b="1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140" name="Google Shape;1140;p72"/>
          <p:cNvSpPr txBox="1"/>
          <p:nvPr/>
        </p:nvSpPr>
        <p:spPr>
          <a:xfrm>
            <a:off x="6406750" y="3323475"/>
            <a:ext cx="706200" cy="2709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spcFirstLastPara="1" wrap="square" lIns="27425" tIns="27425" rIns="27425" bIns="27425" anchor="t" anchorCtr="0">
            <a:sp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t = </a:t>
            </a:r>
            <a:r>
              <a:rPr lang="en" b="1">
                <a:latin typeface="Roboto"/>
                <a:ea typeface="Roboto"/>
                <a:cs typeface="Roboto"/>
                <a:sym typeface="Roboto"/>
              </a:rPr>
              <a:t>11</a:t>
            </a:r>
            <a:endParaRPr b="1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141" name="Google Shape;1141;p72"/>
          <p:cNvSpPr txBox="1"/>
          <p:nvPr/>
        </p:nvSpPr>
        <p:spPr>
          <a:xfrm>
            <a:off x="7496325" y="4110050"/>
            <a:ext cx="449700" cy="2319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b="1">
                <a:latin typeface="Roboto"/>
                <a:ea typeface="Roboto"/>
                <a:cs typeface="Roboto"/>
                <a:sym typeface="Roboto"/>
              </a:rPr>
              <a:t>4</a:t>
            </a:r>
            <a:endParaRPr b="1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142" name="Google Shape;1142;p72"/>
          <p:cNvSpPr txBox="1"/>
          <p:nvPr/>
        </p:nvSpPr>
        <p:spPr>
          <a:xfrm>
            <a:off x="6406750" y="3323475"/>
            <a:ext cx="706200" cy="2709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spcFirstLastPara="1" wrap="square" lIns="27425" tIns="27425" rIns="27425" bIns="27425" anchor="t" anchorCtr="0">
            <a:sp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t = </a:t>
            </a:r>
            <a:r>
              <a:rPr lang="en" b="1">
                <a:latin typeface="Roboto"/>
                <a:ea typeface="Roboto"/>
                <a:cs typeface="Roboto"/>
                <a:sym typeface="Roboto"/>
              </a:rPr>
              <a:t>12</a:t>
            </a:r>
            <a:endParaRPr b="1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143" name="Google Shape;1143;p72"/>
          <p:cNvSpPr txBox="1"/>
          <p:nvPr/>
        </p:nvSpPr>
        <p:spPr>
          <a:xfrm>
            <a:off x="7496325" y="4110050"/>
            <a:ext cx="449700" cy="2319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b="1">
                <a:latin typeface="Roboto"/>
                <a:ea typeface="Roboto"/>
                <a:cs typeface="Roboto"/>
                <a:sym typeface="Roboto"/>
              </a:rPr>
              <a:t>3</a:t>
            </a:r>
            <a:endParaRPr b="1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144" name="Google Shape;1144;p72"/>
          <p:cNvSpPr txBox="1"/>
          <p:nvPr/>
        </p:nvSpPr>
        <p:spPr>
          <a:xfrm>
            <a:off x="6406750" y="3323475"/>
            <a:ext cx="706200" cy="2709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spcFirstLastPara="1" wrap="square" lIns="27425" tIns="27425" rIns="27425" bIns="27425" anchor="t" anchorCtr="0">
            <a:sp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t = </a:t>
            </a:r>
            <a:r>
              <a:rPr lang="en" b="1">
                <a:latin typeface="Roboto"/>
                <a:ea typeface="Roboto"/>
                <a:cs typeface="Roboto"/>
                <a:sym typeface="Roboto"/>
              </a:rPr>
              <a:t>13</a:t>
            </a:r>
            <a:endParaRPr b="1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145" name="Google Shape;1145;p72"/>
          <p:cNvSpPr txBox="1"/>
          <p:nvPr/>
        </p:nvSpPr>
        <p:spPr>
          <a:xfrm>
            <a:off x="7496325" y="4110050"/>
            <a:ext cx="449700" cy="2319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b="1">
                <a:latin typeface="Roboto"/>
                <a:ea typeface="Roboto"/>
                <a:cs typeface="Roboto"/>
                <a:sym typeface="Roboto"/>
              </a:rPr>
              <a:t>2</a:t>
            </a:r>
            <a:endParaRPr b="1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146" name="Google Shape;1146;p72"/>
          <p:cNvSpPr txBox="1"/>
          <p:nvPr/>
        </p:nvSpPr>
        <p:spPr>
          <a:xfrm>
            <a:off x="6406750" y="3323475"/>
            <a:ext cx="706200" cy="2709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spcFirstLastPara="1" wrap="square" lIns="27425" tIns="27425" rIns="27425" bIns="27425" anchor="t" anchorCtr="0">
            <a:sp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t = </a:t>
            </a:r>
            <a:r>
              <a:rPr lang="en" b="1">
                <a:latin typeface="Roboto"/>
                <a:ea typeface="Roboto"/>
                <a:cs typeface="Roboto"/>
                <a:sym typeface="Roboto"/>
              </a:rPr>
              <a:t>14</a:t>
            </a:r>
            <a:endParaRPr b="1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147" name="Google Shape;1147;p72"/>
          <p:cNvSpPr txBox="1"/>
          <p:nvPr/>
        </p:nvSpPr>
        <p:spPr>
          <a:xfrm>
            <a:off x="7496325" y="4110050"/>
            <a:ext cx="449700" cy="2319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b="1">
                <a:latin typeface="Roboto"/>
                <a:ea typeface="Roboto"/>
                <a:cs typeface="Roboto"/>
                <a:sym typeface="Roboto"/>
              </a:rPr>
              <a:t>1</a:t>
            </a:r>
            <a:endParaRPr b="1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148" name="Google Shape;1148;p72"/>
          <p:cNvSpPr txBox="1"/>
          <p:nvPr/>
        </p:nvSpPr>
        <p:spPr>
          <a:xfrm>
            <a:off x="6406750" y="3323475"/>
            <a:ext cx="706200" cy="2709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spcFirstLastPara="1" wrap="square" lIns="27425" tIns="27425" rIns="27425" bIns="27425" anchor="t" anchorCtr="0">
            <a:sp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t = </a:t>
            </a:r>
            <a:r>
              <a:rPr lang="en" b="1">
                <a:latin typeface="Roboto"/>
                <a:ea typeface="Roboto"/>
                <a:cs typeface="Roboto"/>
                <a:sym typeface="Roboto"/>
              </a:rPr>
              <a:t>15</a:t>
            </a:r>
            <a:endParaRPr b="1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149" name="Google Shape;1149;p72"/>
          <p:cNvSpPr/>
          <p:nvPr/>
        </p:nvSpPr>
        <p:spPr>
          <a:xfrm>
            <a:off x="2774913" y="3884850"/>
            <a:ext cx="285000" cy="285000"/>
          </a:xfrm>
          <a:prstGeom prst="rect">
            <a:avLst/>
          </a:prstGeom>
          <a:solidFill>
            <a:srgbClr val="FFFFFF"/>
          </a:solidFill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R3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1150" name="Google Shape;1150;p72"/>
          <p:cNvCxnSpPr>
            <a:stCxn id="1151" idx="3"/>
            <a:endCxn id="1149" idx="1"/>
          </p:cNvCxnSpPr>
          <p:nvPr/>
        </p:nvCxnSpPr>
        <p:spPr>
          <a:xfrm rot="10800000" flipH="1">
            <a:off x="1224263" y="4027408"/>
            <a:ext cx="1550700" cy="900"/>
          </a:xfrm>
          <a:prstGeom prst="straightConnector1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1151" name="Google Shape;1151;p72"/>
          <p:cNvSpPr/>
          <p:nvPr/>
        </p:nvSpPr>
        <p:spPr>
          <a:xfrm>
            <a:off x="939263" y="3885808"/>
            <a:ext cx="285000" cy="285000"/>
          </a:xfrm>
          <a:prstGeom prst="rect">
            <a:avLst/>
          </a:prstGeom>
          <a:solidFill>
            <a:srgbClr val="FFFFFF"/>
          </a:solidFill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R2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152" name="Google Shape;1152;p72"/>
          <p:cNvSpPr/>
          <p:nvPr/>
        </p:nvSpPr>
        <p:spPr>
          <a:xfrm>
            <a:off x="253463" y="3885800"/>
            <a:ext cx="285000" cy="285000"/>
          </a:xfrm>
          <a:prstGeom prst="ellipse">
            <a:avLst/>
          </a:prstGeom>
          <a:solidFill>
            <a:srgbClr val="FFFFFF"/>
          </a:solidFill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A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1153" name="Google Shape;1153;p72"/>
          <p:cNvCxnSpPr>
            <a:stCxn id="1152" idx="6"/>
            <a:endCxn id="1151" idx="1"/>
          </p:cNvCxnSpPr>
          <p:nvPr/>
        </p:nvCxnSpPr>
        <p:spPr>
          <a:xfrm>
            <a:off x="538463" y="4028300"/>
            <a:ext cx="400800" cy="0"/>
          </a:xfrm>
          <a:prstGeom prst="straightConnector1">
            <a:avLst/>
          </a:prstGeom>
          <a:noFill/>
          <a:ln w="19050" cap="flat" cmpd="sng">
            <a:solidFill>
              <a:schemeClr val="accent2"/>
            </a:solidFill>
            <a:prstDash val="dash"/>
            <a:round/>
            <a:headEnd type="none" w="med" len="med"/>
            <a:tailEnd type="none" w="med" len="med"/>
          </a:ln>
        </p:spPr>
      </p:cxn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1BADB5FA-DA6D-2B1F-CF8D-17BA28A22D37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 smtClean="0"/>
              <a:t>48</a:t>
            </a:fld>
            <a:endParaRPr lang="en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indefinite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5" fill="hold">
                      <p:stCondLst>
                        <p:cond delay="indefinite"/>
                      </p:stCondLst>
                      <p:childTnLst>
                        <p:par>
                          <p:cTn id="46" fill="hold">
                            <p:stCondLst>
                              <p:cond delay="0"/>
                            </p:stCondLst>
                            <p:childTnLst>
                              <p:par>
                                <p:cTn id="4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4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8" name="Google Shape;1158;p73"/>
          <p:cNvSpPr txBox="1">
            <a:spLocks noGrp="1"/>
          </p:cNvSpPr>
          <p:nvPr>
            <p:ph type="title"/>
          </p:nvPr>
        </p:nvSpPr>
        <p:spPr>
          <a:xfrm>
            <a:off x="0" y="0"/>
            <a:ext cx="9144000" cy="39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Handling Failures</a:t>
            </a:r>
            <a:endParaRPr/>
          </a:p>
        </p:txBody>
      </p:sp>
      <p:sp>
        <p:nvSpPr>
          <p:cNvPr id="1159" name="Google Shape;1159;p73"/>
          <p:cNvSpPr txBox="1">
            <a:spLocks noGrp="1"/>
          </p:cNvSpPr>
          <p:nvPr>
            <p:ph type="body" idx="1"/>
          </p:nvPr>
        </p:nvSpPr>
        <p:spPr>
          <a:xfrm>
            <a:off x="107050" y="402200"/>
            <a:ext cx="8909700" cy="371515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" sz="1400" dirty="0"/>
              <a:t>Recall our routing challenges: Links and routers can fail.</a:t>
            </a:r>
            <a:endParaRPr sz="1400" dirty="0"/>
          </a:p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" sz="1400" dirty="0"/>
              <a:t>Solution: Each route has a finite </a:t>
            </a:r>
            <a:r>
              <a:rPr lang="en" sz="1400" b="1" dirty="0"/>
              <a:t>time to live (TTL)</a:t>
            </a:r>
            <a:r>
              <a:rPr lang="en" sz="1400" dirty="0"/>
              <a:t>.</a:t>
            </a:r>
            <a:endParaRPr sz="1400" dirty="0"/>
          </a:p>
          <a:p>
            <a:pPr marL="457200" lvl="0" indent="-342900" algn="l" rtl="0">
              <a:spcBef>
                <a:spcPts val="600"/>
              </a:spcBef>
              <a:spcAft>
                <a:spcPts val="0"/>
              </a:spcAft>
              <a:buSzPts val="1800"/>
              <a:buChar char="●"/>
            </a:pPr>
            <a:r>
              <a:rPr lang="en" sz="1400" dirty="0"/>
              <a:t>Periodic advertisements help us confirm that a route still exists.</a:t>
            </a:r>
            <a:endParaRPr sz="1400" dirty="0"/>
          </a:p>
          <a:p>
            <a:pPr marL="914400" lvl="1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○"/>
            </a:pPr>
            <a:r>
              <a:rPr lang="en" sz="1400" dirty="0"/>
              <a:t>When we get an advertisement, reset ("recharge") the TTL.</a:t>
            </a:r>
            <a:endParaRPr sz="1400" dirty="0"/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 sz="1400" dirty="0"/>
              <a:t>If a link goes down, we stop getting periodic updates, and the TTL will expire.</a:t>
            </a:r>
            <a:endParaRPr sz="1400" dirty="0"/>
          </a:p>
          <a:p>
            <a:pPr marL="914400" lvl="1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○"/>
            </a:pPr>
            <a:r>
              <a:rPr lang="en" sz="1400" dirty="0"/>
              <a:t>If the TTL expires, delete the expired stale entry from the table.</a:t>
            </a:r>
          </a:p>
          <a:p>
            <a:pPr marL="0" lvl="0" indent="0">
              <a:buNone/>
            </a:pPr>
            <a:r>
              <a:rPr lang="en-US" sz="1400" dirty="0"/>
              <a:t>Routers maintain multiple timers:</a:t>
            </a:r>
          </a:p>
          <a:p>
            <a:pPr lvl="0"/>
            <a:r>
              <a:rPr lang="en-US" sz="1400" dirty="0"/>
              <a:t>Advertisement interval: How long before we advertise routes to neighbors.</a:t>
            </a:r>
          </a:p>
          <a:p>
            <a:pPr lvl="1">
              <a:spcBef>
                <a:spcPts val="0"/>
              </a:spcBef>
            </a:pPr>
            <a:r>
              <a:rPr lang="en-US" sz="1400" dirty="0"/>
              <a:t>One timer for all entries in the table.</a:t>
            </a:r>
          </a:p>
          <a:p>
            <a:pPr lvl="0">
              <a:spcBef>
                <a:spcPts val="0"/>
              </a:spcBef>
            </a:pPr>
            <a:r>
              <a:rPr lang="en-US" sz="1400" dirty="0"/>
              <a:t>TTL: How long before we expire a route.</a:t>
            </a:r>
          </a:p>
          <a:p>
            <a:pPr lvl="1">
              <a:spcBef>
                <a:spcPts val="0"/>
              </a:spcBef>
            </a:pPr>
            <a:r>
              <a:rPr lang="en-US" sz="1400" dirty="0"/>
              <a:t>Each table entry has its own TTL</a:t>
            </a:r>
          </a:p>
        </p:txBody>
      </p:sp>
      <p:graphicFrame>
        <p:nvGraphicFramePr>
          <p:cNvPr id="1160" name="Google Shape;1160;p73"/>
          <p:cNvGraphicFramePr/>
          <p:nvPr>
            <p:extLst>
              <p:ext uri="{D42A27DB-BD31-4B8C-83A1-F6EECF244321}">
                <p14:modId xmlns:p14="http://schemas.microsoft.com/office/powerpoint/2010/main" val="2078297602"/>
              </p:ext>
            </p:extLst>
          </p:nvPr>
        </p:nvGraphicFramePr>
        <p:xfrm>
          <a:off x="5779361" y="3575532"/>
          <a:ext cx="2392150" cy="688770"/>
        </p:xfrm>
        <a:graphic>
          <a:graphicData uri="http://schemas.openxmlformats.org/drawingml/2006/table">
            <a:tbl>
              <a:tblPr>
                <a:noFill/>
                <a:tableStyleId>{9827013E-C202-4D27-A2D1-B1A861925892}</a:tableStyleId>
              </a:tblPr>
              <a:tblGrid>
                <a:gridCol w="45622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1627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05185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4678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121925">
                <a:tc gridSpan="4"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 dirty="0">
                          <a:latin typeface="Roboto"/>
                          <a:ea typeface="Roboto"/>
                          <a:cs typeface="Roboto"/>
                          <a:sym typeface="Roboto"/>
                        </a:rPr>
                        <a:t>R3's Table</a:t>
                      </a:r>
                      <a:endParaRPr sz="1200" dirty="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21925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latin typeface="Roboto"/>
                          <a:ea typeface="Roboto"/>
                          <a:cs typeface="Roboto"/>
                          <a:sym typeface="Roboto"/>
                        </a:rPr>
                        <a:t>To:</a:t>
                      </a:r>
                      <a:endParaRPr sz="12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/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latin typeface="Roboto"/>
                          <a:ea typeface="Roboto"/>
                          <a:cs typeface="Roboto"/>
                          <a:sym typeface="Roboto"/>
                        </a:rPr>
                        <a:t>Via:</a:t>
                      </a:r>
                      <a:endParaRPr sz="12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/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latin typeface="Roboto"/>
                          <a:ea typeface="Roboto"/>
                          <a:cs typeface="Roboto"/>
                          <a:sym typeface="Roboto"/>
                        </a:rPr>
                        <a:t>Cost:</a:t>
                      </a:r>
                      <a:endParaRPr sz="12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/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latin typeface="Roboto"/>
                          <a:ea typeface="Roboto"/>
                          <a:cs typeface="Roboto"/>
                          <a:sym typeface="Roboto"/>
                        </a:rPr>
                        <a:t>TTL:</a:t>
                      </a:r>
                      <a:endParaRPr sz="1200" dirty="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21925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latin typeface="Roboto"/>
                          <a:ea typeface="Roboto"/>
                          <a:cs typeface="Roboto"/>
                          <a:sym typeface="Roboto"/>
                        </a:rPr>
                        <a:t>A</a:t>
                      </a:r>
                      <a:endParaRPr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/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latin typeface="Roboto"/>
                          <a:ea typeface="Roboto"/>
                          <a:cs typeface="Roboto"/>
                          <a:sym typeface="Roboto"/>
                        </a:rPr>
                        <a:t>R2</a:t>
                      </a:r>
                      <a:endParaRPr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/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latin typeface="Roboto"/>
                          <a:ea typeface="Roboto"/>
                          <a:cs typeface="Roboto"/>
                          <a:sym typeface="Roboto"/>
                        </a:rPr>
                        <a:t>6</a:t>
                      </a:r>
                      <a:endParaRPr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/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b="1">
                          <a:latin typeface="Roboto"/>
                          <a:ea typeface="Roboto"/>
                          <a:cs typeface="Roboto"/>
                          <a:sym typeface="Roboto"/>
                        </a:rPr>
                        <a:t>0</a:t>
                      </a:r>
                      <a:endParaRPr b="1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</a:tbl>
          </a:graphicData>
        </a:graphic>
      </p:graphicFrame>
      <p:sp>
        <p:nvSpPr>
          <p:cNvPr id="1161" name="Google Shape;1161;p73"/>
          <p:cNvSpPr txBox="1"/>
          <p:nvPr/>
        </p:nvSpPr>
        <p:spPr>
          <a:xfrm>
            <a:off x="6622342" y="3236307"/>
            <a:ext cx="706200" cy="270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27425" tIns="27425" rIns="27425" bIns="27425" anchor="t" anchorCtr="0">
            <a:sp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t = </a:t>
            </a:r>
            <a:r>
              <a:rPr lang="en" b="1">
                <a:latin typeface="Roboto"/>
                <a:ea typeface="Roboto"/>
                <a:cs typeface="Roboto"/>
                <a:sym typeface="Roboto"/>
              </a:rPr>
              <a:t>16</a:t>
            </a:r>
            <a:endParaRPr b="1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162" name="Google Shape;1162;p73"/>
          <p:cNvSpPr txBox="1"/>
          <p:nvPr/>
        </p:nvSpPr>
        <p:spPr>
          <a:xfrm>
            <a:off x="5528692" y="4332607"/>
            <a:ext cx="2893500" cy="270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27425" tIns="27425" rIns="27425" bIns="27425" anchor="t" anchorCtr="0">
            <a:sp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accent2"/>
                </a:solidFill>
                <a:latin typeface="Roboto"/>
                <a:ea typeface="Roboto"/>
                <a:cs typeface="Roboto"/>
                <a:sym typeface="Roboto"/>
              </a:rPr>
              <a:t>Timeout! Delete expired entry.</a:t>
            </a:r>
            <a:endParaRPr>
              <a:solidFill>
                <a:schemeClr val="accent2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1163" name="Google Shape;1163;p73"/>
          <p:cNvCxnSpPr/>
          <p:nvPr/>
        </p:nvCxnSpPr>
        <p:spPr>
          <a:xfrm>
            <a:off x="5718817" y="4146707"/>
            <a:ext cx="2648100" cy="0"/>
          </a:xfrm>
          <a:prstGeom prst="straightConnector1">
            <a:avLst/>
          </a:prstGeom>
          <a:noFill/>
          <a:ln w="19050" cap="flat" cmpd="sng">
            <a:solidFill>
              <a:schemeClr val="accent2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1164" name="Google Shape;1164;p73"/>
          <p:cNvSpPr txBox="1"/>
          <p:nvPr/>
        </p:nvSpPr>
        <p:spPr>
          <a:xfrm>
            <a:off x="665717" y="4121832"/>
            <a:ext cx="577500" cy="702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27425" tIns="27425" rIns="27425" bIns="27425" anchor="t" anchorCtr="0">
            <a:sp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accent2"/>
                </a:solidFill>
                <a:latin typeface="Roboto"/>
                <a:ea typeface="Roboto"/>
                <a:cs typeface="Roboto"/>
                <a:sym typeface="Roboto"/>
              </a:rPr>
              <a:t>Link goes down!</a:t>
            </a:r>
            <a:endParaRPr>
              <a:solidFill>
                <a:schemeClr val="accent2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165" name="Google Shape;1165;p73"/>
          <p:cNvSpPr/>
          <p:nvPr/>
        </p:nvSpPr>
        <p:spPr>
          <a:xfrm>
            <a:off x="2990505" y="3797682"/>
            <a:ext cx="285000" cy="285000"/>
          </a:xfrm>
          <a:prstGeom prst="rect">
            <a:avLst/>
          </a:prstGeom>
          <a:solidFill>
            <a:srgbClr val="FFFFFF"/>
          </a:solidFill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R3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1166" name="Google Shape;1166;p73"/>
          <p:cNvCxnSpPr>
            <a:stCxn id="1167" idx="3"/>
            <a:endCxn id="1165" idx="1"/>
          </p:cNvCxnSpPr>
          <p:nvPr/>
        </p:nvCxnSpPr>
        <p:spPr>
          <a:xfrm rot="10800000" flipH="1">
            <a:off x="1439855" y="3940240"/>
            <a:ext cx="1550700" cy="900"/>
          </a:xfrm>
          <a:prstGeom prst="straightConnector1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1167" name="Google Shape;1167;p73"/>
          <p:cNvSpPr/>
          <p:nvPr/>
        </p:nvSpPr>
        <p:spPr>
          <a:xfrm>
            <a:off x="1154855" y="3798640"/>
            <a:ext cx="285000" cy="285000"/>
          </a:xfrm>
          <a:prstGeom prst="rect">
            <a:avLst/>
          </a:prstGeom>
          <a:solidFill>
            <a:srgbClr val="FFFFFF"/>
          </a:solidFill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R2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168" name="Google Shape;1168;p73"/>
          <p:cNvSpPr/>
          <p:nvPr/>
        </p:nvSpPr>
        <p:spPr>
          <a:xfrm>
            <a:off x="469055" y="3798632"/>
            <a:ext cx="285000" cy="285000"/>
          </a:xfrm>
          <a:prstGeom prst="ellipse">
            <a:avLst/>
          </a:prstGeom>
          <a:solidFill>
            <a:srgbClr val="FFFFFF"/>
          </a:solidFill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A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1169" name="Google Shape;1169;p73"/>
          <p:cNvCxnSpPr>
            <a:stCxn id="1168" idx="6"/>
            <a:endCxn id="1167" idx="1"/>
          </p:cNvCxnSpPr>
          <p:nvPr/>
        </p:nvCxnSpPr>
        <p:spPr>
          <a:xfrm>
            <a:off x="754055" y="3941132"/>
            <a:ext cx="400800" cy="0"/>
          </a:xfrm>
          <a:prstGeom prst="straightConnector1">
            <a:avLst/>
          </a:prstGeom>
          <a:noFill/>
          <a:ln w="19050" cap="flat" cmpd="sng">
            <a:solidFill>
              <a:schemeClr val="accent2"/>
            </a:solidFill>
            <a:prstDash val="dash"/>
            <a:round/>
            <a:headEnd type="none" w="med" len="med"/>
            <a:tailEnd type="none" w="med" len="med"/>
          </a:ln>
        </p:spPr>
      </p:cxn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076F2525-2813-01E4-6866-2E41A70D9062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 smtClean="0"/>
              <a:t>49</a:t>
            </a:fld>
            <a:endParaRPr lang="en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1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0" name="Google Shape;2160;p136"/>
          <p:cNvSpPr txBox="1">
            <a:spLocks noGrp="1"/>
          </p:cNvSpPr>
          <p:nvPr>
            <p:ph type="title"/>
          </p:nvPr>
        </p:nvSpPr>
        <p:spPr>
          <a:xfrm>
            <a:off x="0" y="0"/>
            <a:ext cx="9144000" cy="39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Summary: Distance-Vector Rules</a:t>
            </a:r>
            <a:endParaRPr/>
          </a:p>
        </p:txBody>
      </p:sp>
      <p:sp>
        <p:nvSpPr>
          <p:cNvPr id="2161" name="Google Shape;2161;p136"/>
          <p:cNvSpPr txBox="1">
            <a:spLocks noGrp="1"/>
          </p:cNvSpPr>
          <p:nvPr>
            <p:ph type="body" idx="1"/>
          </p:nvPr>
        </p:nvSpPr>
        <p:spPr>
          <a:xfrm>
            <a:off x="107050" y="402200"/>
            <a:ext cx="8909700" cy="4530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" b="1" dirty="0"/>
              <a:t>1. Bellman-Ford Updates</a:t>
            </a:r>
            <a:r>
              <a:rPr lang="en" dirty="0"/>
              <a:t>: Accept if </a:t>
            </a:r>
            <a:r>
              <a:rPr lang="en" sz="1500" dirty="0"/>
              <a:t>advertised cost + link cost to neighbor &lt; best-known cost.</a:t>
            </a:r>
            <a:endParaRPr sz="1500" dirty="0"/>
          </a:p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" b="1" dirty="0"/>
              <a:t>2. Updates From Next-Hop</a:t>
            </a:r>
            <a:r>
              <a:rPr lang="en" dirty="0"/>
              <a:t>: Accept if advertisement is from next hop.</a:t>
            </a:r>
            <a:endParaRPr dirty="0"/>
          </a:p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" b="1" dirty="0"/>
              <a:t>3. Resending</a:t>
            </a:r>
            <a:r>
              <a:rPr lang="en" dirty="0"/>
              <a:t>: Advertise periodically.</a:t>
            </a:r>
            <a:endParaRPr dirty="0"/>
          </a:p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" b="1" dirty="0"/>
              <a:t>4. Expiring</a:t>
            </a:r>
            <a:r>
              <a:rPr lang="en" dirty="0"/>
              <a:t>: Expire an entry if TTL runs out.</a:t>
            </a:r>
          </a:p>
          <a:p>
            <a:pPr marL="0" lvl="0" indent="0">
              <a:buNone/>
            </a:pPr>
            <a:r>
              <a:rPr lang="en" b="1" dirty="0"/>
              <a:t>The Distance-Vector Algorithm</a:t>
            </a:r>
            <a:r>
              <a:rPr lang="en-US" b="1" dirty="0"/>
              <a:t>:</a:t>
            </a:r>
            <a:endParaRPr lang="en" b="1" dirty="0"/>
          </a:p>
          <a:p>
            <a:pPr marL="0" lvl="0" indent="0">
              <a:buSzPts val="1100"/>
              <a:buNone/>
            </a:pPr>
            <a:r>
              <a:rPr lang="en-US" dirty="0"/>
              <a:t>For each destination:</a:t>
            </a:r>
          </a:p>
          <a:p>
            <a:pPr lvl="0"/>
            <a:r>
              <a:rPr lang="en-US" dirty="0"/>
              <a:t>If you hear an advertisement, update table </a:t>
            </a:r>
            <a:r>
              <a:rPr lang="en-US" dirty="0">
                <a:solidFill>
                  <a:schemeClr val="accent2"/>
                </a:solidFill>
              </a:rPr>
              <a:t>and reset TTL </a:t>
            </a:r>
            <a:r>
              <a:rPr lang="en-US" dirty="0"/>
              <a:t>if:</a:t>
            </a:r>
          </a:p>
          <a:p>
            <a:pPr lvl="1">
              <a:spcBef>
                <a:spcPts val="0"/>
              </a:spcBef>
            </a:pPr>
            <a:r>
              <a:rPr lang="en-US" dirty="0"/>
              <a:t>The destination isn't in the table.</a:t>
            </a:r>
          </a:p>
          <a:p>
            <a:pPr lvl="1">
              <a:spcBef>
                <a:spcPts val="0"/>
              </a:spcBef>
            </a:pPr>
            <a:r>
              <a:rPr lang="en-US" dirty="0"/>
              <a:t>Advertised cost + link cost to neighbor &lt; best-known cost. </a:t>
            </a:r>
            <a:r>
              <a:rPr lang="en-US" sz="1400" dirty="0">
                <a:solidFill>
                  <a:schemeClr val="accent3"/>
                </a:solidFill>
              </a:rPr>
              <a:t>(#1)</a:t>
            </a:r>
          </a:p>
          <a:p>
            <a:pPr lvl="1">
              <a:spcBef>
                <a:spcPts val="0"/>
              </a:spcBef>
            </a:pPr>
            <a:r>
              <a:rPr lang="en-US" dirty="0"/>
              <a:t>The advertisement is from current next-hop. </a:t>
            </a:r>
            <a:r>
              <a:rPr lang="en-US" sz="1400" dirty="0">
                <a:solidFill>
                  <a:schemeClr val="accent3"/>
                </a:solidFill>
              </a:rPr>
              <a:t>(#2)</a:t>
            </a:r>
          </a:p>
          <a:p>
            <a:pPr lvl="0">
              <a:spcBef>
                <a:spcPts val="0"/>
              </a:spcBef>
              <a:buClr>
                <a:srgbClr val="000000"/>
              </a:buClr>
            </a:pPr>
            <a:r>
              <a:rPr lang="en-US" dirty="0">
                <a:solidFill>
                  <a:srgbClr val="000000"/>
                </a:solidFill>
              </a:rPr>
              <a:t>Advertise to all your neighbors when the table updates, and periodically. </a:t>
            </a:r>
            <a:r>
              <a:rPr lang="en-US" sz="1400" dirty="0">
                <a:solidFill>
                  <a:schemeClr val="accent3"/>
                </a:solidFill>
              </a:rPr>
              <a:t>(#3)</a:t>
            </a:r>
          </a:p>
          <a:p>
            <a:pPr lvl="0">
              <a:spcBef>
                <a:spcPts val="0"/>
              </a:spcBef>
              <a:buClr>
                <a:schemeClr val="accent2"/>
              </a:buClr>
            </a:pPr>
            <a:r>
              <a:rPr lang="en-US" dirty="0">
                <a:solidFill>
                  <a:schemeClr val="accent2"/>
                </a:solidFill>
              </a:rPr>
              <a:t>If a table entry expires, delete it. </a:t>
            </a:r>
            <a:r>
              <a:rPr lang="en-US" sz="1400" dirty="0">
                <a:solidFill>
                  <a:schemeClr val="accent3"/>
                </a:solidFill>
              </a:rPr>
              <a:t>(#4)</a:t>
            </a:r>
            <a:endParaRPr lang="en-US" dirty="0">
              <a:solidFill>
                <a:srgbClr val="000000"/>
              </a:solidFill>
            </a:endParaRPr>
          </a:p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endParaRPr dirty="0"/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4C21DA91-4444-58D9-C417-E6C0E56EDA3E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 smtClean="0"/>
              <a:t>50</a:t>
            </a:fld>
            <a:endParaRPr lang="en"/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6" name="Google Shape;1186;p76"/>
          <p:cNvSpPr txBox="1">
            <a:spLocks noGrp="1"/>
          </p:cNvSpPr>
          <p:nvPr>
            <p:ph type="body" idx="1"/>
          </p:nvPr>
        </p:nvSpPr>
        <p:spPr>
          <a:xfrm>
            <a:off x="4812375" y="402200"/>
            <a:ext cx="4038000" cy="42609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" dirty="0">
                <a:solidFill>
                  <a:srgbClr val="B7B7B7"/>
                </a:solidFill>
              </a:rPr>
              <a:t>Distance-Vector Correctness</a:t>
            </a:r>
            <a:endParaRPr dirty="0">
              <a:solidFill>
                <a:srgbClr val="B7B7B7"/>
              </a:solidFill>
            </a:endParaRPr>
          </a:p>
          <a:p>
            <a:pPr marL="457200" lvl="0" indent="-342900" algn="l" rtl="0">
              <a:spcBef>
                <a:spcPts val="600"/>
              </a:spcBef>
              <a:spcAft>
                <a:spcPts val="0"/>
              </a:spcAft>
              <a:buClr>
                <a:srgbClr val="B7B7B7"/>
              </a:buClr>
              <a:buSzPts val="1800"/>
              <a:buChar char="•"/>
            </a:pPr>
            <a:r>
              <a:rPr lang="en" dirty="0">
                <a:solidFill>
                  <a:srgbClr val="B7B7B7"/>
                </a:solidFill>
              </a:rPr>
              <a:t>Algorithm Sketch</a:t>
            </a:r>
            <a:endParaRPr dirty="0">
              <a:solidFill>
                <a:srgbClr val="B7B7B7"/>
              </a:solidFill>
            </a:endParaRPr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Clr>
                <a:srgbClr val="B7B7B7"/>
              </a:buClr>
              <a:buSzPts val="1800"/>
              <a:buChar char="•"/>
            </a:pPr>
            <a:r>
              <a:rPr lang="en" dirty="0">
                <a:solidFill>
                  <a:srgbClr val="B7B7B7"/>
                </a:solidFill>
              </a:rPr>
              <a:t>Rule 1: Bellman-Ford Updates</a:t>
            </a:r>
            <a:endParaRPr dirty="0">
              <a:solidFill>
                <a:srgbClr val="B7B7B7"/>
              </a:solidFill>
            </a:endParaRPr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Clr>
                <a:srgbClr val="B7B7B7"/>
              </a:buClr>
              <a:buSzPts val="1800"/>
              <a:buChar char="•"/>
            </a:pPr>
            <a:r>
              <a:rPr lang="en" dirty="0">
                <a:solidFill>
                  <a:srgbClr val="B7B7B7"/>
                </a:solidFill>
              </a:rPr>
              <a:t>Bellman-Ford Demo</a:t>
            </a:r>
            <a:endParaRPr dirty="0">
              <a:solidFill>
                <a:srgbClr val="B7B7B7"/>
              </a:solidFill>
            </a:endParaRPr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Clr>
                <a:srgbClr val="B7B7B7"/>
              </a:buClr>
              <a:buSzPts val="1800"/>
              <a:buChar char="•"/>
            </a:pPr>
            <a:r>
              <a:rPr lang="en" dirty="0">
                <a:solidFill>
                  <a:srgbClr val="B7B7B7"/>
                </a:solidFill>
              </a:rPr>
              <a:t>Rule 2: Updates From Next-Hop</a:t>
            </a:r>
            <a:endParaRPr dirty="0">
              <a:solidFill>
                <a:srgbClr val="B7B7B7"/>
              </a:solidFill>
            </a:endParaRPr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Clr>
                <a:srgbClr val="B7B7B7"/>
              </a:buClr>
              <a:buSzPts val="1800"/>
              <a:buChar char="•"/>
            </a:pPr>
            <a:r>
              <a:rPr lang="en" dirty="0">
                <a:solidFill>
                  <a:srgbClr val="B7B7B7"/>
                </a:solidFill>
              </a:rPr>
              <a:t>Rule 3: Resending</a:t>
            </a:r>
            <a:endParaRPr dirty="0">
              <a:solidFill>
                <a:srgbClr val="B7B7B7"/>
              </a:solidFill>
            </a:endParaRPr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Clr>
                <a:srgbClr val="B7B7B7"/>
              </a:buClr>
              <a:buSzPts val="1800"/>
              <a:buChar char="•"/>
            </a:pPr>
            <a:r>
              <a:rPr lang="en" dirty="0">
                <a:solidFill>
                  <a:srgbClr val="B7B7B7"/>
                </a:solidFill>
              </a:rPr>
              <a:t>Rule 4: Expiring</a:t>
            </a:r>
            <a:endParaRPr dirty="0">
              <a:solidFill>
                <a:srgbClr val="B7B7B7"/>
              </a:solidFill>
            </a:endParaRPr>
          </a:p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" b="1" dirty="0">
                <a:solidFill>
                  <a:schemeClr val="accent3"/>
                </a:solidFill>
                <a:latin typeface="Roboto"/>
                <a:ea typeface="Roboto"/>
                <a:cs typeface="Roboto"/>
                <a:sym typeface="Roboto"/>
              </a:rPr>
              <a:t>Distance-Vector Enhancements</a:t>
            </a:r>
            <a:endParaRPr b="1" dirty="0">
              <a:solidFill>
                <a:schemeClr val="accent3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457200" lvl="0" indent="-342900" algn="l" rtl="0">
              <a:spcBef>
                <a:spcPts val="600"/>
              </a:spcBef>
              <a:spcAft>
                <a:spcPts val="0"/>
              </a:spcAft>
              <a:buClr>
                <a:schemeClr val="accent3"/>
              </a:buClr>
              <a:buSzPts val="1800"/>
              <a:buFont typeface="Roboto"/>
              <a:buChar char="•"/>
            </a:pPr>
            <a:r>
              <a:rPr lang="en" b="1" dirty="0">
                <a:solidFill>
                  <a:schemeClr val="accent3"/>
                </a:solidFill>
                <a:latin typeface="Roboto"/>
                <a:ea typeface="Roboto"/>
                <a:cs typeface="Roboto"/>
                <a:sym typeface="Roboto"/>
              </a:rPr>
              <a:t>Rule 5: Poison Expired Routes</a:t>
            </a:r>
            <a:endParaRPr b="1" dirty="0">
              <a:solidFill>
                <a:schemeClr val="accent3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Clr>
                <a:srgbClr val="B7B7B7"/>
              </a:buClr>
              <a:buSzPts val="1800"/>
              <a:buChar char="•"/>
            </a:pPr>
            <a:r>
              <a:rPr lang="en" dirty="0">
                <a:solidFill>
                  <a:srgbClr val="B7B7B7"/>
                </a:solidFill>
              </a:rPr>
              <a:t>Rule 6A: Split Horizon</a:t>
            </a:r>
            <a:endParaRPr dirty="0">
              <a:solidFill>
                <a:srgbClr val="B7B7B7"/>
              </a:solidFill>
            </a:endParaRPr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Clr>
                <a:srgbClr val="B7B7B7"/>
              </a:buClr>
              <a:buSzPts val="1800"/>
              <a:buChar char="•"/>
            </a:pPr>
            <a:r>
              <a:rPr lang="en" dirty="0">
                <a:solidFill>
                  <a:srgbClr val="B7B7B7"/>
                </a:solidFill>
              </a:rPr>
              <a:t>Rule 6B: Poison Reverse</a:t>
            </a:r>
            <a:endParaRPr dirty="0">
              <a:solidFill>
                <a:srgbClr val="B7B7B7"/>
              </a:solidFill>
            </a:endParaRPr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Clr>
                <a:srgbClr val="B7B7B7"/>
              </a:buClr>
              <a:buSzPts val="1800"/>
              <a:buChar char="•"/>
            </a:pPr>
            <a:r>
              <a:rPr lang="en" dirty="0">
                <a:solidFill>
                  <a:srgbClr val="B7B7B7"/>
                </a:solidFill>
              </a:rPr>
              <a:t>Rule 7: Count To Infinity</a:t>
            </a:r>
            <a:endParaRPr dirty="0">
              <a:solidFill>
                <a:srgbClr val="B7B7B7"/>
              </a:solidFill>
            </a:endParaRPr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Clr>
                <a:srgbClr val="B7B7B7"/>
              </a:buClr>
              <a:buSzPts val="1800"/>
              <a:buChar char="•"/>
            </a:pPr>
            <a:r>
              <a:rPr lang="en" dirty="0">
                <a:solidFill>
                  <a:srgbClr val="B7B7B7"/>
                </a:solidFill>
              </a:rPr>
              <a:t>Eventful Updates</a:t>
            </a:r>
            <a:endParaRPr dirty="0">
              <a:solidFill>
                <a:srgbClr val="B7B7B7"/>
              </a:solidFill>
            </a:endParaRPr>
          </a:p>
        </p:txBody>
      </p:sp>
      <p:sp>
        <p:nvSpPr>
          <p:cNvPr id="1187" name="Google Shape;1187;p76"/>
          <p:cNvSpPr txBox="1">
            <a:spLocks noGrp="1"/>
          </p:cNvSpPr>
          <p:nvPr>
            <p:ph type="title"/>
          </p:nvPr>
        </p:nvSpPr>
        <p:spPr>
          <a:xfrm>
            <a:off x="177925" y="2003300"/>
            <a:ext cx="4038000" cy="20379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Rule 5: Poison Expired Routes</a:t>
            </a:r>
            <a:endParaRPr/>
          </a:p>
        </p:txBody>
      </p:sp>
      <p:sp>
        <p:nvSpPr>
          <p:cNvPr id="1188" name="Google Shape;1188;p76"/>
          <p:cNvSpPr txBox="1">
            <a:spLocks noGrp="1"/>
          </p:cNvSpPr>
          <p:nvPr>
            <p:ph type="subTitle" idx="2"/>
          </p:nvPr>
        </p:nvSpPr>
        <p:spPr>
          <a:xfrm>
            <a:off x="177925" y="4068000"/>
            <a:ext cx="41580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-US" dirty="0"/>
              <a:t>Lecture 5.2, Spring 2026</a:t>
            </a:r>
            <a:endParaRPr dirty="0"/>
          </a:p>
        </p:txBody>
      </p:sp>
    </p:spTree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3" name="Google Shape;1193;p77"/>
          <p:cNvSpPr txBox="1">
            <a:spLocks noGrp="1"/>
          </p:cNvSpPr>
          <p:nvPr>
            <p:ph type="title"/>
          </p:nvPr>
        </p:nvSpPr>
        <p:spPr>
          <a:xfrm>
            <a:off x="0" y="0"/>
            <a:ext cx="9144000" cy="39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accent3"/>
                </a:solidFill>
              </a:rPr>
              <a:t>Route Expiry is Slow</a:t>
            </a:r>
            <a:endParaRPr/>
          </a:p>
        </p:txBody>
      </p:sp>
      <p:sp>
        <p:nvSpPr>
          <p:cNvPr id="1194" name="Google Shape;1194;p77"/>
          <p:cNvSpPr txBox="1">
            <a:spLocks noGrp="1"/>
          </p:cNvSpPr>
          <p:nvPr>
            <p:ph type="body" idx="1"/>
          </p:nvPr>
        </p:nvSpPr>
        <p:spPr>
          <a:xfrm>
            <a:off x="107050" y="402200"/>
            <a:ext cx="8909700" cy="243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dirty="0"/>
              <a:t>Waiting for routes to expire is slow. Let's watch the demo again.</a:t>
            </a:r>
            <a:endParaRPr dirty="0"/>
          </a:p>
          <a:p>
            <a:pPr marL="457200" lvl="0" indent="-342900" algn="l" rtl="0">
              <a:spcBef>
                <a:spcPts val="600"/>
              </a:spcBef>
              <a:spcAft>
                <a:spcPts val="0"/>
              </a:spcAft>
              <a:buSzPts val="1800"/>
              <a:buChar char="●"/>
            </a:pPr>
            <a:r>
              <a:rPr lang="en" dirty="0"/>
              <a:t>R1 is offering a new path to A, but R3 has to wait for the old </a:t>
            </a:r>
            <a:r>
              <a:rPr lang="en-US" dirty="0"/>
              <a:t>broken</a:t>
            </a:r>
            <a:r>
              <a:rPr lang="en" dirty="0"/>
              <a:t> route to expire before accepting the new path.</a:t>
            </a:r>
            <a:endParaRPr dirty="0"/>
          </a:p>
        </p:txBody>
      </p:sp>
      <p:graphicFrame>
        <p:nvGraphicFramePr>
          <p:cNvPr id="1195" name="Google Shape;1195;p77"/>
          <p:cNvGraphicFramePr/>
          <p:nvPr/>
        </p:nvGraphicFramePr>
        <p:xfrm>
          <a:off x="5563769" y="3662700"/>
          <a:ext cx="2392150" cy="688770"/>
        </p:xfrm>
        <a:graphic>
          <a:graphicData uri="http://schemas.openxmlformats.org/drawingml/2006/table">
            <a:tbl>
              <a:tblPr>
                <a:noFill/>
              </a:tblPr>
              <a:tblGrid>
                <a:gridCol w="45622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1627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05185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4678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121925">
                <a:tc gridSpan="4"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latin typeface="Roboto"/>
                          <a:ea typeface="Roboto"/>
                          <a:cs typeface="Roboto"/>
                          <a:sym typeface="Roboto"/>
                        </a:rPr>
                        <a:t>R3's Table</a:t>
                      </a:r>
                      <a:endParaRPr sz="12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21925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latin typeface="Roboto"/>
                          <a:ea typeface="Roboto"/>
                          <a:cs typeface="Roboto"/>
                          <a:sym typeface="Roboto"/>
                        </a:rPr>
                        <a:t>To:</a:t>
                      </a:r>
                      <a:endParaRPr sz="12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/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latin typeface="Roboto"/>
                          <a:ea typeface="Roboto"/>
                          <a:cs typeface="Roboto"/>
                          <a:sym typeface="Roboto"/>
                        </a:rPr>
                        <a:t>Via:</a:t>
                      </a:r>
                      <a:endParaRPr sz="12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/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latin typeface="Roboto"/>
                          <a:ea typeface="Roboto"/>
                          <a:cs typeface="Roboto"/>
                          <a:sym typeface="Roboto"/>
                        </a:rPr>
                        <a:t>Cost:</a:t>
                      </a:r>
                      <a:endParaRPr sz="12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/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latin typeface="Roboto"/>
                          <a:ea typeface="Roboto"/>
                          <a:cs typeface="Roboto"/>
                          <a:sym typeface="Roboto"/>
                        </a:rPr>
                        <a:t>TTL:</a:t>
                      </a:r>
                      <a:endParaRPr sz="12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21925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latin typeface="Roboto"/>
                          <a:ea typeface="Roboto"/>
                          <a:cs typeface="Roboto"/>
                          <a:sym typeface="Roboto"/>
                        </a:rPr>
                        <a:t>A</a:t>
                      </a:r>
                      <a:endParaRPr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/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latin typeface="Roboto"/>
                          <a:ea typeface="Roboto"/>
                          <a:cs typeface="Roboto"/>
                          <a:sym typeface="Roboto"/>
                        </a:rPr>
                        <a:t>R2</a:t>
                      </a:r>
                      <a:endParaRPr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/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latin typeface="Roboto"/>
                          <a:ea typeface="Roboto"/>
                          <a:cs typeface="Roboto"/>
                          <a:sym typeface="Roboto"/>
                        </a:rPr>
                        <a:t>2</a:t>
                      </a:r>
                      <a:endParaRPr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/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b="1">
                          <a:latin typeface="Roboto"/>
                          <a:ea typeface="Roboto"/>
                          <a:cs typeface="Roboto"/>
                          <a:sym typeface="Roboto"/>
                        </a:rPr>
                        <a:t>13</a:t>
                      </a:r>
                      <a:endParaRPr b="1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</a:tbl>
          </a:graphicData>
        </a:graphic>
      </p:graphicFrame>
      <p:sp>
        <p:nvSpPr>
          <p:cNvPr id="1196" name="Google Shape;1196;p77"/>
          <p:cNvSpPr txBox="1"/>
          <p:nvPr/>
        </p:nvSpPr>
        <p:spPr>
          <a:xfrm>
            <a:off x="6406750" y="3323475"/>
            <a:ext cx="706200" cy="2709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spcFirstLastPara="1" wrap="square" lIns="27425" tIns="27425" rIns="27425" bIns="27425" anchor="t" anchorCtr="0">
            <a:sp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t = </a:t>
            </a:r>
            <a:r>
              <a:rPr lang="en" b="1">
                <a:latin typeface="Roboto"/>
                <a:ea typeface="Roboto"/>
                <a:cs typeface="Roboto"/>
                <a:sym typeface="Roboto"/>
              </a:rPr>
              <a:t>3</a:t>
            </a:r>
            <a:endParaRPr b="1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197" name="Google Shape;1197;p77"/>
          <p:cNvSpPr txBox="1"/>
          <p:nvPr/>
        </p:nvSpPr>
        <p:spPr>
          <a:xfrm>
            <a:off x="7496325" y="4110050"/>
            <a:ext cx="449700" cy="2319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b="1">
                <a:latin typeface="Roboto"/>
                <a:ea typeface="Roboto"/>
                <a:cs typeface="Roboto"/>
                <a:sym typeface="Roboto"/>
              </a:rPr>
              <a:t>12</a:t>
            </a:r>
            <a:endParaRPr b="1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198" name="Google Shape;1198;p77"/>
          <p:cNvSpPr/>
          <p:nvPr/>
        </p:nvSpPr>
        <p:spPr>
          <a:xfrm>
            <a:off x="2774913" y="3884850"/>
            <a:ext cx="285000" cy="285000"/>
          </a:xfrm>
          <a:prstGeom prst="rect">
            <a:avLst/>
          </a:prstGeom>
          <a:solidFill>
            <a:srgbClr val="FFFFFF"/>
          </a:solidFill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R3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1199" name="Google Shape;1199;p77"/>
          <p:cNvCxnSpPr>
            <a:stCxn id="1200" idx="3"/>
            <a:endCxn id="1198" idx="1"/>
          </p:cNvCxnSpPr>
          <p:nvPr/>
        </p:nvCxnSpPr>
        <p:spPr>
          <a:xfrm rot="10800000" flipH="1">
            <a:off x="1224263" y="4027408"/>
            <a:ext cx="1550700" cy="900"/>
          </a:xfrm>
          <a:prstGeom prst="straightConnector1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1200" name="Google Shape;1200;p77"/>
          <p:cNvSpPr/>
          <p:nvPr/>
        </p:nvSpPr>
        <p:spPr>
          <a:xfrm>
            <a:off x="939263" y="3885808"/>
            <a:ext cx="285000" cy="285000"/>
          </a:xfrm>
          <a:prstGeom prst="rect">
            <a:avLst/>
          </a:prstGeom>
          <a:solidFill>
            <a:srgbClr val="FFFFFF"/>
          </a:solidFill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R2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201" name="Google Shape;1201;p77"/>
          <p:cNvSpPr/>
          <p:nvPr/>
        </p:nvSpPr>
        <p:spPr>
          <a:xfrm>
            <a:off x="939263" y="3047608"/>
            <a:ext cx="285000" cy="285000"/>
          </a:xfrm>
          <a:prstGeom prst="rect">
            <a:avLst/>
          </a:prstGeom>
          <a:solidFill>
            <a:srgbClr val="FFFFFF"/>
          </a:solidFill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R1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1202" name="Google Shape;1202;p77"/>
          <p:cNvCxnSpPr>
            <a:stCxn id="1201" idx="3"/>
            <a:endCxn id="1198" idx="1"/>
          </p:cNvCxnSpPr>
          <p:nvPr/>
        </p:nvCxnSpPr>
        <p:spPr>
          <a:xfrm>
            <a:off x="1224263" y="3190108"/>
            <a:ext cx="1550700" cy="837300"/>
          </a:xfrm>
          <a:prstGeom prst="straightConnector1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1203" name="Google Shape;1203;p77"/>
          <p:cNvSpPr/>
          <p:nvPr/>
        </p:nvSpPr>
        <p:spPr>
          <a:xfrm>
            <a:off x="253463" y="3885800"/>
            <a:ext cx="285000" cy="285000"/>
          </a:xfrm>
          <a:prstGeom prst="ellipse">
            <a:avLst/>
          </a:prstGeom>
          <a:solidFill>
            <a:srgbClr val="FFFFFF"/>
          </a:solidFill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A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1204" name="Google Shape;1204;p77"/>
          <p:cNvCxnSpPr>
            <a:stCxn id="1203" idx="6"/>
            <a:endCxn id="1200" idx="1"/>
          </p:cNvCxnSpPr>
          <p:nvPr/>
        </p:nvCxnSpPr>
        <p:spPr>
          <a:xfrm>
            <a:off x="538463" y="4028300"/>
            <a:ext cx="400800" cy="0"/>
          </a:xfrm>
          <a:prstGeom prst="straightConnector1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1205" name="Google Shape;1205;p77"/>
          <p:cNvCxnSpPr>
            <a:stCxn id="1203" idx="0"/>
            <a:endCxn id="1201" idx="1"/>
          </p:cNvCxnSpPr>
          <p:nvPr/>
        </p:nvCxnSpPr>
        <p:spPr>
          <a:xfrm rot="10800000" flipH="1">
            <a:off x="395963" y="3190100"/>
            <a:ext cx="543300" cy="695700"/>
          </a:xfrm>
          <a:prstGeom prst="straightConnector1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1206" name="Google Shape;1206;p77"/>
          <p:cNvSpPr txBox="1"/>
          <p:nvPr/>
        </p:nvSpPr>
        <p:spPr>
          <a:xfrm>
            <a:off x="4997650" y="2776700"/>
            <a:ext cx="3524400" cy="270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27425" tIns="27425" rIns="27425" bIns="27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Assume that by t=3, R3 knows a route to A.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207" name="Google Shape;1207;p77"/>
          <p:cNvSpPr txBox="1"/>
          <p:nvPr/>
        </p:nvSpPr>
        <p:spPr>
          <a:xfrm>
            <a:off x="6406750" y="3323475"/>
            <a:ext cx="706200" cy="2709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spcFirstLastPara="1" wrap="square" lIns="27425" tIns="27425" rIns="27425" bIns="27425" anchor="t" anchorCtr="0">
            <a:sp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t = </a:t>
            </a:r>
            <a:r>
              <a:rPr lang="en" b="1">
                <a:latin typeface="Roboto"/>
                <a:ea typeface="Roboto"/>
                <a:cs typeface="Roboto"/>
                <a:sym typeface="Roboto"/>
              </a:rPr>
              <a:t>4</a:t>
            </a:r>
            <a:endParaRPr b="1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208" name="Google Shape;1208;p77"/>
          <p:cNvSpPr txBox="1"/>
          <p:nvPr/>
        </p:nvSpPr>
        <p:spPr>
          <a:xfrm>
            <a:off x="7496325" y="4110050"/>
            <a:ext cx="449700" cy="2319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b="1">
                <a:latin typeface="Roboto"/>
                <a:ea typeface="Roboto"/>
                <a:cs typeface="Roboto"/>
                <a:sym typeface="Roboto"/>
              </a:rPr>
              <a:t>11</a:t>
            </a:r>
            <a:endParaRPr b="1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209" name="Google Shape;1209;p77"/>
          <p:cNvSpPr txBox="1"/>
          <p:nvPr/>
        </p:nvSpPr>
        <p:spPr>
          <a:xfrm>
            <a:off x="6406750" y="3323475"/>
            <a:ext cx="706200" cy="2709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spcFirstLastPara="1" wrap="square" lIns="27425" tIns="27425" rIns="27425" bIns="27425" anchor="t" anchorCtr="0">
            <a:sp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t = </a:t>
            </a:r>
            <a:r>
              <a:rPr lang="en" b="1">
                <a:latin typeface="Roboto"/>
                <a:ea typeface="Roboto"/>
                <a:cs typeface="Roboto"/>
                <a:sym typeface="Roboto"/>
              </a:rPr>
              <a:t>5</a:t>
            </a:r>
            <a:endParaRPr b="1">
              <a:latin typeface="Roboto"/>
              <a:ea typeface="Roboto"/>
              <a:cs typeface="Roboto"/>
              <a:sym typeface="Roboto"/>
            </a:endParaRP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0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9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0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0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4" name="Google Shape;1214;p78"/>
          <p:cNvSpPr txBox="1">
            <a:spLocks noGrp="1"/>
          </p:cNvSpPr>
          <p:nvPr>
            <p:ph type="title"/>
          </p:nvPr>
        </p:nvSpPr>
        <p:spPr>
          <a:xfrm>
            <a:off x="0" y="0"/>
            <a:ext cx="9144000" cy="39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accent3"/>
                </a:solidFill>
              </a:rPr>
              <a:t>Route Expiry is Slow</a:t>
            </a:r>
            <a:endParaRPr/>
          </a:p>
        </p:txBody>
      </p:sp>
      <p:sp>
        <p:nvSpPr>
          <p:cNvPr id="1215" name="Google Shape;1215;p78"/>
          <p:cNvSpPr txBox="1">
            <a:spLocks noGrp="1"/>
          </p:cNvSpPr>
          <p:nvPr>
            <p:ph type="body" idx="1"/>
          </p:nvPr>
        </p:nvSpPr>
        <p:spPr>
          <a:xfrm>
            <a:off x="107050" y="402200"/>
            <a:ext cx="8909700" cy="13485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" dirty="0"/>
              <a:t>Waiting for routes to expire is slow. Let's watch the demo again.</a:t>
            </a:r>
            <a:endParaRPr dirty="0"/>
          </a:p>
          <a:p>
            <a:pPr marL="457200" lvl="0" indent="-342900" algn="l" rtl="0">
              <a:spcBef>
                <a:spcPts val="600"/>
              </a:spcBef>
              <a:spcAft>
                <a:spcPts val="0"/>
              </a:spcAft>
              <a:buSzPts val="1800"/>
              <a:buChar char="●"/>
            </a:pPr>
            <a:r>
              <a:rPr lang="en" dirty="0"/>
              <a:t>R1 is offering a new path to A, but R3 has to wait for the old </a:t>
            </a:r>
            <a:r>
              <a:rPr lang="en-US" dirty="0"/>
              <a:t>broken</a:t>
            </a:r>
            <a:r>
              <a:rPr lang="en" dirty="0"/>
              <a:t> route to expire before accepting the new path.</a:t>
            </a:r>
            <a:endParaRPr dirty="0"/>
          </a:p>
        </p:txBody>
      </p:sp>
      <p:graphicFrame>
        <p:nvGraphicFramePr>
          <p:cNvPr id="1216" name="Google Shape;1216;p78"/>
          <p:cNvGraphicFramePr/>
          <p:nvPr/>
        </p:nvGraphicFramePr>
        <p:xfrm>
          <a:off x="5563769" y="3662700"/>
          <a:ext cx="2392150" cy="688770"/>
        </p:xfrm>
        <a:graphic>
          <a:graphicData uri="http://schemas.openxmlformats.org/drawingml/2006/table">
            <a:tbl>
              <a:tblPr>
                <a:noFill/>
              </a:tblPr>
              <a:tblGrid>
                <a:gridCol w="45622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1627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05185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4678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121925">
                <a:tc gridSpan="4"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latin typeface="Roboto"/>
                          <a:ea typeface="Roboto"/>
                          <a:cs typeface="Roboto"/>
                          <a:sym typeface="Roboto"/>
                        </a:rPr>
                        <a:t>R3's Table</a:t>
                      </a:r>
                      <a:endParaRPr sz="12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21925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latin typeface="Roboto"/>
                          <a:ea typeface="Roboto"/>
                          <a:cs typeface="Roboto"/>
                          <a:sym typeface="Roboto"/>
                        </a:rPr>
                        <a:t>To:</a:t>
                      </a:r>
                      <a:endParaRPr sz="12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/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latin typeface="Roboto"/>
                          <a:ea typeface="Roboto"/>
                          <a:cs typeface="Roboto"/>
                          <a:sym typeface="Roboto"/>
                        </a:rPr>
                        <a:t>Via:</a:t>
                      </a:r>
                      <a:endParaRPr sz="12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/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latin typeface="Roboto"/>
                          <a:ea typeface="Roboto"/>
                          <a:cs typeface="Roboto"/>
                          <a:sym typeface="Roboto"/>
                        </a:rPr>
                        <a:t>Cost:</a:t>
                      </a:r>
                      <a:endParaRPr sz="12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/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latin typeface="Roboto"/>
                          <a:ea typeface="Roboto"/>
                          <a:cs typeface="Roboto"/>
                          <a:sym typeface="Roboto"/>
                        </a:rPr>
                        <a:t>TTL:</a:t>
                      </a:r>
                      <a:endParaRPr sz="12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21925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latin typeface="Roboto"/>
                          <a:ea typeface="Roboto"/>
                          <a:cs typeface="Roboto"/>
                          <a:sym typeface="Roboto"/>
                        </a:rPr>
                        <a:t>R2</a:t>
                      </a:r>
                      <a:endParaRPr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/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latin typeface="Roboto"/>
                          <a:ea typeface="Roboto"/>
                          <a:cs typeface="Roboto"/>
                          <a:sym typeface="Roboto"/>
                        </a:rPr>
                        <a:t>A</a:t>
                      </a:r>
                      <a:endParaRPr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/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latin typeface="Roboto"/>
                          <a:ea typeface="Roboto"/>
                          <a:cs typeface="Roboto"/>
                          <a:sym typeface="Roboto"/>
                        </a:rPr>
                        <a:t>2</a:t>
                      </a:r>
                      <a:endParaRPr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/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b="1">
                          <a:latin typeface="Roboto"/>
                          <a:ea typeface="Roboto"/>
                          <a:cs typeface="Roboto"/>
                          <a:sym typeface="Roboto"/>
                        </a:rPr>
                        <a:t>10</a:t>
                      </a:r>
                      <a:endParaRPr b="1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</a:tbl>
          </a:graphicData>
        </a:graphic>
      </p:graphicFrame>
      <p:sp>
        <p:nvSpPr>
          <p:cNvPr id="1217" name="Google Shape;1217;p78"/>
          <p:cNvSpPr txBox="1"/>
          <p:nvPr/>
        </p:nvSpPr>
        <p:spPr>
          <a:xfrm>
            <a:off x="6406750" y="3323475"/>
            <a:ext cx="706200" cy="270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27425" tIns="27425" rIns="27425" bIns="27425" anchor="t" anchorCtr="0">
            <a:sp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t = </a:t>
            </a:r>
            <a:r>
              <a:rPr lang="en" b="1">
                <a:latin typeface="Roboto"/>
                <a:ea typeface="Roboto"/>
                <a:cs typeface="Roboto"/>
                <a:sym typeface="Roboto"/>
              </a:rPr>
              <a:t>6</a:t>
            </a:r>
            <a:endParaRPr b="1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218" name="Google Shape;1218;p78"/>
          <p:cNvSpPr txBox="1"/>
          <p:nvPr/>
        </p:nvSpPr>
        <p:spPr>
          <a:xfrm>
            <a:off x="4219450" y="1785000"/>
            <a:ext cx="4363500" cy="1348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27425" tIns="27425" rIns="27425" bIns="27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>
                <a:latin typeface="Roboto"/>
                <a:ea typeface="Roboto"/>
                <a:cs typeface="Roboto"/>
                <a:sym typeface="Roboto"/>
              </a:rPr>
              <a:t>Pause right here.</a:t>
            </a:r>
            <a:endParaRPr dirty="0">
              <a:latin typeface="Roboto"/>
              <a:ea typeface="Roboto"/>
              <a:cs typeface="Roboto"/>
              <a:sym typeface="Roboto"/>
            </a:endParaRPr>
          </a:p>
          <a:p>
            <a:pPr marL="457200" lvl="0" indent="-317500" algn="l" rtl="0">
              <a:spcBef>
                <a:spcPts val="0"/>
              </a:spcBef>
              <a:spcAft>
                <a:spcPts val="0"/>
              </a:spcAft>
              <a:buSzPts val="1400"/>
              <a:buFont typeface="Roboto"/>
              <a:buChar char="●"/>
            </a:pPr>
            <a:r>
              <a:rPr lang="en" dirty="0">
                <a:latin typeface="Roboto"/>
                <a:ea typeface="Roboto"/>
                <a:cs typeface="Roboto"/>
                <a:sym typeface="Roboto"/>
              </a:rPr>
              <a:t>At this point, we know the path via R2 is </a:t>
            </a:r>
            <a:r>
              <a:rPr lang="en-US" dirty="0">
                <a:latin typeface="Roboto"/>
                <a:ea typeface="Roboto"/>
                <a:cs typeface="Roboto"/>
                <a:sym typeface="Roboto"/>
              </a:rPr>
              <a:t>broken</a:t>
            </a:r>
            <a:r>
              <a:rPr lang="en" dirty="0">
                <a:latin typeface="Roboto"/>
                <a:ea typeface="Roboto"/>
                <a:cs typeface="Roboto"/>
                <a:sym typeface="Roboto"/>
              </a:rPr>
              <a:t>.</a:t>
            </a:r>
            <a:endParaRPr dirty="0">
              <a:latin typeface="Roboto"/>
              <a:ea typeface="Roboto"/>
              <a:cs typeface="Roboto"/>
              <a:sym typeface="Roboto"/>
            </a:endParaRPr>
          </a:p>
          <a:p>
            <a:pPr marL="457200" lvl="0" indent="-317500" algn="l" rtl="0">
              <a:spcBef>
                <a:spcPts val="0"/>
              </a:spcBef>
              <a:spcAft>
                <a:spcPts val="0"/>
              </a:spcAft>
              <a:buSzPts val="1400"/>
              <a:buFont typeface="Roboto"/>
              <a:buChar char="●"/>
            </a:pPr>
            <a:r>
              <a:rPr lang="en" dirty="0">
                <a:latin typeface="Roboto"/>
                <a:ea typeface="Roboto"/>
                <a:cs typeface="Roboto"/>
                <a:sym typeface="Roboto"/>
              </a:rPr>
              <a:t>But R3 won't know until the timeout 10s later.</a:t>
            </a:r>
            <a:endParaRPr dirty="0">
              <a:latin typeface="Roboto"/>
              <a:ea typeface="Roboto"/>
              <a:cs typeface="Roboto"/>
              <a:sym typeface="Roboto"/>
            </a:endParaRPr>
          </a:p>
          <a:p>
            <a:pPr marL="457200" lvl="0" indent="-317500" algn="l" rtl="0">
              <a:spcBef>
                <a:spcPts val="0"/>
              </a:spcBef>
              <a:spcAft>
                <a:spcPts val="0"/>
              </a:spcAft>
              <a:buSzPts val="1400"/>
              <a:buFont typeface="Roboto"/>
              <a:buChar char="●"/>
            </a:pPr>
            <a:r>
              <a:rPr lang="en" dirty="0">
                <a:latin typeface="Roboto"/>
                <a:ea typeface="Roboto"/>
                <a:cs typeface="Roboto"/>
                <a:sym typeface="Roboto"/>
              </a:rPr>
              <a:t>If R3 knew now, it could accept the new path. Instead, R3 rejects the new path, thinking the </a:t>
            </a:r>
            <a:r>
              <a:rPr lang="en-US" dirty="0">
                <a:latin typeface="Roboto"/>
                <a:ea typeface="Roboto"/>
                <a:cs typeface="Roboto"/>
                <a:sym typeface="Roboto"/>
              </a:rPr>
              <a:t>broken</a:t>
            </a:r>
            <a:r>
              <a:rPr lang="en" dirty="0">
                <a:latin typeface="Roboto"/>
                <a:ea typeface="Roboto"/>
                <a:cs typeface="Roboto"/>
                <a:sym typeface="Roboto"/>
              </a:rPr>
              <a:t> path is still valid.</a:t>
            </a:r>
            <a:endParaRPr dirty="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219" name="Google Shape;1219;p78"/>
          <p:cNvSpPr txBox="1"/>
          <p:nvPr/>
        </p:nvSpPr>
        <p:spPr>
          <a:xfrm>
            <a:off x="467225" y="4170800"/>
            <a:ext cx="543300" cy="702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27425" tIns="27425" rIns="27425" bIns="27425" anchor="t" anchorCtr="0">
            <a:sp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accent2"/>
                </a:solidFill>
                <a:latin typeface="Roboto"/>
                <a:ea typeface="Roboto"/>
                <a:cs typeface="Roboto"/>
                <a:sym typeface="Roboto"/>
              </a:rPr>
              <a:t>Link goes down!</a:t>
            </a:r>
            <a:endParaRPr>
              <a:solidFill>
                <a:schemeClr val="accent2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220" name="Google Shape;1220;p78"/>
          <p:cNvSpPr/>
          <p:nvPr/>
        </p:nvSpPr>
        <p:spPr>
          <a:xfrm>
            <a:off x="3350125" y="3491450"/>
            <a:ext cx="2061900" cy="535800"/>
          </a:xfrm>
          <a:prstGeom prst="wedgeRoundRectCallout">
            <a:avLst>
              <a:gd name="adj1" fmla="val -59294"/>
              <a:gd name="adj2" fmla="val 55106"/>
              <a:gd name="adj3" fmla="val 0"/>
            </a:avLst>
          </a:prstGeom>
          <a:noFill/>
          <a:ln w="9525" cap="flat" cmpd="sng">
            <a:solidFill>
              <a:schemeClr val="accent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accent2"/>
                </a:solidFill>
                <a:latin typeface="Roboto"/>
                <a:ea typeface="Roboto"/>
                <a:cs typeface="Roboto"/>
                <a:sym typeface="Roboto"/>
              </a:rPr>
              <a:t>No thanks, I already have a cost 2 path.</a:t>
            </a:r>
            <a:endParaRPr>
              <a:solidFill>
                <a:schemeClr val="accent2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1221" name="Google Shape;1221;p78"/>
          <p:cNvCxnSpPr/>
          <p:nvPr/>
        </p:nvCxnSpPr>
        <p:spPr>
          <a:xfrm>
            <a:off x="1544750" y="3211375"/>
            <a:ext cx="900900" cy="486600"/>
          </a:xfrm>
          <a:prstGeom prst="straightConnector1">
            <a:avLst/>
          </a:prstGeom>
          <a:noFill/>
          <a:ln w="19050" cap="flat" cmpd="sng">
            <a:solidFill>
              <a:schemeClr val="accent2"/>
            </a:solidFill>
            <a:prstDash val="solid"/>
            <a:round/>
            <a:headEnd type="none" w="med" len="med"/>
            <a:tailEnd type="triangle" w="med" len="med"/>
          </a:ln>
        </p:spPr>
      </p:cxnSp>
      <p:sp>
        <p:nvSpPr>
          <p:cNvPr id="1222" name="Google Shape;1222;p78"/>
          <p:cNvSpPr/>
          <p:nvPr/>
        </p:nvSpPr>
        <p:spPr>
          <a:xfrm>
            <a:off x="2025375" y="2942750"/>
            <a:ext cx="1457400" cy="494700"/>
          </a:xfrm>
          <a:prstGeom prst="roundRect">
            <a:avLst>
              <a:gd name="adj" fmla="val 16667"/>
            </a:avLst>
          </a:prstGeom>
          <a:solidFill>
            <a:srgbClr val="F4CCCC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27425" tIns="27425" rIns="27425" bIns="27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I'm </a:t>
            </a:r>
            <a:r>
              <a:rPr lang="en" b="1">
                <a:latin typeface="Roboto"/>
                <a:ea typeface="Roboto"/>
                <a:cs typeface="Roboto"/>
                <a:sym typeface="Roboto"/>
              </a:rPr>
              <a:t>R1</a:t>
            </a:r>
            <a:r>
              <a:rPr lang="en">
                <a:latin typeface="Roboto"/>
                <a:ea typeface="Roboto"/>
                <a:cs typeface="Roboto"/>
                <a:sym typeface="Roboto"/>
              </a:rPr>
              <a:t>, and </a:t>
            </a:r>
            <a:r>
              <a:rPr lang="en" b="1">
                <a:latin typeface="Roboto"/>
                <a:ea typeface="Roboto"/>
                <a:cs typeface="Roboto"/>
                <a:sym typeface="Roboto"/>
              </a:rPr>
              <a:t>A</a:t>
            </a:r>
            <a:r>
              <a:rPr lang="en">
                <a:latin typeface="Roboto"/>
                <a:ea typeface="Roboto"/>
                <a:cs typeface="Roboto"/>
                <a:sym typeface="Roboto"/>
              </a:rPr>
              <a:t> is </a:t>
            </a:r>
            <a:r>
              <a:rPr lang="en" b="1">
                <a:latin typeface="Roboto"/>
                <a:ea typeface="Roboto"/>
                <a:cs typeface="Roboto"/>
                <a:sym typeface="Roboto"/>
              </a:rPr>
              <a:t>1</a:t>
            </a:r>
            <a:r>
              <a:rPr lang="en">
                <a:latin typeface="Roboto"/>
                <a:ea typeface="Roboto"/>
                <a:cs typeface="Roboto"/>
                <a:sym typeface="Roboto"/>
              </a:rPr>
              <a:t> away from me.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223" name="Google Shape;1223;p78"/>
          <p:cNvSpPr/>
          <p:nvPr/>
        </p:nvSpPr>
        <p:spPr>
          <a:xfrm>
            <a:off x="2774913" y="3884850"/>
            <a:ext cx="285000" cy="285000"/>
          </a:xfrm>
          <a:prstGeom prst="rect">
            <a:avLst/>
          </a:prstGeom>
          <a:solidFill>
            <a:srgbClr val="FFFFFF"/>
          </a:solidFill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R3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1224" name="Google Shape;1224;p78"/>
          <p:cNvCxnSpPr>
            <a:stCxn id="1225" idx="3"/>
            <a:endCxn id="1223" idx="1"/>
          </p:cNvCxnSpPr>
          <p:nvPr/>
        </p:nvCxnSpPr>
        <p:spPr>
          <a:xfrm rot="10800000" flipH="1">
            <a:off x="1224263" y="4027408"/>
            <a:ext cx="1550700" cy="900"/>
          </a:xfrm>
          <a:prstGeom prst="straightConnector1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1225" name="Google Shape;1225;p78"/>
          <p:cNvSpPr/>
          <p:nvPr/>
        </p:nvSpPr>
        <p:spPr>
          <a:xfrm>
            <a:off x="939263" y="3885808"/>
            <a:ext cx="285000" cy="285000"/>
          </a:xfrm>
          <a:prstGeom prst="rect">
            <a:avLst/>
          </a:prstGeom>
          <a:solidFill>
            <a:srgbClr val="FFFFFF"/>
          </a:solidFill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R2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226" name="Google Shape;1226;p78"/>
          <p:cNvSpPr/>
          <p:nvPr/>
        </p:nvSpPr>
        <p:spPr>
          <a:xfrm>
            <a:off x="939263" y="3047608"/>
            <a:ext cx="285000" cy="285000"/>
          </a:xfrm>
          <a:prstGeom prst="rect">
            <a:avLst/>
          </a:prstGeom>
          <a:solidFill>
            <a:srgbClr val="FFFFFF"/>
          </a:solidFill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R1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1227" name="Google Shape;1227;p78"/>
          <p:cNvCxnSpPr>
            <a:stCxn id="1226" idx="3"/>
            <a:endCxn id="1223" idx="1"/>
          </p:cNvCxnSpPr>
          <p:nvPr/>
        </p:nvCxnSpPr>
        <p:spPr>
          <a:xfrm>
            <a:off x="1224263" y="3190108"/>
            <a:ext cx="1550700" cy="837300"/>
          </a:xfrm>
          <a:prstGeom prst="straightConnector1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1228" name="Google Shape;1228;p78"/>
          <p:cNvSpPr/>
          <p:nvPr/>
        </p:nvSpPr>
        <p:spPr>
          <a:xfrm>
            <a:off x="253463" y="3885800"/>
            <a:ext cx="285000" cy="285000"/>
          </a:xfrm>
          <a:prstGeom prst="ellipse">
            <a:avLst/>
          </a:prstGeom>
          <a:solidFill>
            <a:srgbClr val="FFFFFF"/>
          </a:solidFill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A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1229" name="Google Shape;1229;p78"/>
          <p:cNvCxnSpPr>
            <a:stCxn id="1228" idx="6"/>
            <a:endCxn id="1225" idx="1"/>
          </p:cNvCxnSpPr>
          <p:nvPr/>
        </p:nvCxnSpPr>
        <p:spPr>
          <a:xfrm>
            <a:off x="538463" y="4028300"/>
            <a:ext cx="400800" cy="0"/>
          </a:xfrm>
          <a:prstGeom prst="straightConnector1">
            <a:avLst/>
          </a:prstGeom>
          <a:noFill/>
          <a:ln w="19050" cap="flat" cmpd="sng">
            <a:solidFill>
              <a:schemeClr val="accent2"/>
            </a:solidFill>
            <a:prstDash val="dash"/>
            <a:round/>
            <a:headEnd type="none" w="med" len="med"/>
            <a:tailEnd type="none" w="med" len="med"/>
          </a:ln>
        </p:spPr>
      </p:cxnSp>
      <p:cxnSp>
        <p:nvCxnSpPr>
          <p:cNvPr id="1230" name="Google Shape;1230;p78"/>
          <p:cNvCxnSpPr>
            <a:stCxn id="1228" idx="0"/>
            <a:endCxn id="1226" idx="1"/>
          </p:cNvCxnSpPr>
          <p:nvPr/>
        </p:nvCxnSpPr>
        <p:spPr>
          <a:xfrm rot="10800000" flipH="1">
            <a:off x="395963" y="3190100"/>
            <a:ext cx="543300" cy="695700"/>
          </a:xfrm>
          <a:prstGeom prst="straightConnector1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med" len="med"/>
            <a:tailEnd type="none" w="med" len="med"/>
          </a:ln>
        </p:spPr>
      </p:cxn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2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235" name="Google Shape;1235;p79"/>
          <p:cNvGraphicFramePr/>
          <p:nvPr/>
        </p:nvGraphicFramePr>
        <p:xfrm>
          <a:off x="5563769" y="3662700"/>
          <a:ext cx="2392150" cy="688770"/>
        </p:xfrm>
        <a:graphic>
          <a:graphicData uri="http://schemas.openxmlformats.org/drawingml/2006/table">
            <a:tbl>
              <a:tblPr>
                <a:noFill/>
              </a:tblPr>
              <a:tblGrid>
                <a:gridCol w="45622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1627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05185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4678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121925">
                <a:tc gridSpan="4"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latin typeface="Roboto"/>
                          <a:ea typeface="Roboto"/>
                          <a:cs typeface="Roboto"/>
                          <a:sym typeface="Roboto"/>
                        </a:rPr>
                        <a:t>R3's Table</a:t>
                      </a:r>
                      <a:endParaRPr sz="12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21925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latin typeface="Roboto"/>
                          <a:ea typeface="Roboto"/>
                          <a:cs typeface="Roboto"/>
                          <a:sym typeface="Roboto"/>
                        </a:rPr>
                        <a:t>To:</a:t>
                      </a:r>
                      <a:endParaRPr sz="12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/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latin typeface="Roboto"/>
                          <a:ea typeface="Roboto"/>
                          <a:cs typeface="Roboto"/>
                          <a:sym typeface="Roboto"/>
                        </a:rPr>
                        <a:t>Via:</a:t>
                      </a:r>
                      <a:endParaRPr sz="12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/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latin typeface="Roboto"/>
                          <a:ea typeface="Roboto"/>
                          <a:cs typeface="Roboto"/>
                          <a:sym typeface="Roboto"/>
                        </a:rPr>
                        <a:t>Cost:</a:t>
                      </a:r>
                      <a:endParaRPr sz="12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/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latin typeface="Roboto"/>
                          <a:ea typeface="Roboto"/>
                          <a:cs typeface="Roboto"/>
                          <a:sym typeface="Roboto"/>
                        </a:rPr>
                        <a:t>TTL:</a:t>
                      </a:r>
                      <a:endParaRPr sz="12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21925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latin typeface="Roboto"/>
                          <a:ea typeface="Roboto"/>
                          <a:cs typeface="Roboto"/>
                          <a:sym typeface="Roboto"/>
                        </a:rPr>
                        <a:t>R2</a:t>
                      </a:r>
                      <a:endParaRPr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/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latin typeface="Roboto"/>
                          <a:ea typeface="Roboto"/>
                          <a:cs typeface="Roboto"/>
                          <a:sym typeface="Roboto"/>
                        </a:rPr>
                        <a:t>A</a:t>
                      </a:r>
                      <a:endParaRPr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/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latin typeface="Roboto"/>
                          <a:ea typeface="Roboto"/>
                          <a:cs typeface="Roboto"/>
                          <a:sym typeface="Roboto"/>
                        </a:rPr>
                        <a:t>2</a:t>
                      </a:r>
                      <a:endParaRPr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/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b="1">
                          <a:latin typeface="Roboto"/>
                          <a:ea typeface="Roboto"/>
                          <a:cs typeface="Roboto"/>
                          <a:sym typeface="Roboto"/>
                        </a:rPr>
                        <a:t>9</a:t>
                      </a:r>
                      <a:endParaRPr b="1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</a:tbl>
          </a:graphicData>
        </a:graphic>
      </p:graphicFrame>
      <p:sp>
        <p:nvSpPr>
          <p:cNvPr id="1236" name="Google Shape;1236;p79"/>
          <p:cNvSpPr txBox="1"/>
          <p:nvPr/>
        </p:nvSpPr>
        <p:spPr>
          <a:xfrm>
            <a:off x="7496325" y="4110050"/>
            <a:ext cx="449700" cy="2319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b="1">
                <a:latin typeface="Roboto"/>
                <a:ea typeface="Roboto"/>
                <a:cs typeface="Roboto"/>
                <a:sym typeface="Roboto"/>
              </a:rPr>
              <a:t>8</a:t>
            </a:r>
            <a:endParaRPr b="1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237" name="Google Shape;1237;p79"/>
          <p:cNvSpPr txBox="1"/>
          <p:nvPr/>
        </p:nvSpPr>
        <p:spPr>
          <a:xfrm>
            <a:off x="7496325" y="4110050"/>
            <a:ext cx="449700" cy="2319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b="1">
                <a:latin typeface="Roboto"/>
                <a:ea typeface="Roboto"/>
                <a:cs typeface="Roboto"/>
                <a:sym typeface="Roboto"/>
              </a:rPr>
              <a:t>7</a:t>
            </a:r>
            <a:endParaRPr b="1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238" name="Google Shape;1238;p79"/>
          <p:cNvSpPr txBox="1"/>
          <p:nvPr/>
        </p:nvSpPr>
        <p:spPr>
          <a:xfrm>
            <a:off x="7496325" y="4110050"/>
            <a:ext cx="449700" cy="2319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b="1">
                <a:latin typeface="Roboto"/>
                <a:ea typeface="Roboto"/>
                <a:cs typeface="Roboto"/>
                <a:sym typeface="Roboto"/>
              </a:rPr>
              <a:t>6</a:t>
            </a:r>
            <a:endParaRPr b="1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239" name="Google Shape;1239;p79"/>
          <p:cNvSpPr txBox="1"/>
          <p:nvPr/>
        </p:nvSpPr>
        <p:spPr>
          <a:xfrm>
            <a:off x="6406750" y="3323475"/>
            <a:ext cx="706200" cy="2709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spcFirstLastPara="1" wrap="square" lIns="27425" tIns="27425" rIns="27425" bIns="27425" anchor="t" anchorCtr="0">
            <a:sp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t = </a:t>
            </a:r>
            <a:r>
              <a:rPr lang="en" b="1">
                <a:latin typeface="Roboto"/>
                <a:ea typeface="Roboto"/>
                <a:cs typeface="Roboto"/>
                <a:sym typeface="Roboto"/>
              </a:rPr>
              <a:t>7</a:t>
            </a:r>
            <a:endParaRPr b="1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240" name="Google Shape;1240;p79"/>
          <p:cNvSpPr txBox="1"/>
          <p:nvPr/>
        </p:nvSpPr>
        <p:spPr>
          <a:xfrm>
            <a:off x="6406750" y="3323475"/>
            <a:ext cx="706200" cy="2709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spcFirstLastPara="1" wrap="square" lIns="27425" tIns="27425" rIns="27425" bIns="27425" anchor="t" anchorCtr="0">
            <a:sp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t = </a:t>
            </a:r>
            <a:r>
              <a:rPr lang="en" b="1">
                <a:latin typeface="Roboto"/>
                <a:ea typeface="Roboto"/>
                <a:cs typeface="Roboto"/>
                <a:sym typeface="Roboto"/>
              </a:rPr>
              <a:t>8</a:t>
            </a:r>
            <a:endParaRPr b="1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241" name="Google Shape;1241;p79"/>
          <p:cNvSpPr txBox="1"/>
          <p:nvPr/>
        </p:nvSpPr>
        <p:spPr>
          <a:xfrm>
            <a:off x="6406750" y="3323475"/>
            <a:ext cx="706200" cy="2709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spcFirstLastPara="1" wrap="square" lIns="27425" tIns="27425" rIns="27425" bIns="27425" anchor="t" anchorCtr="0">
            <a:sp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t = </a:t>
            </a:r>
            <a:r>
              <a:rPr lang="en" b="1">
                <a:latin typeface="Roboto"/>
                <a:ea typeface="Roboto"/>
                <a:cs typeface="Roboto"/>
                <a:sym typeface="Roboto"/>
              </a:rPr>
              <a:t>9</a:t>
            </a:r>
            <a:endParaRPr b="1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242" name="Google Shape;1242;p79"/>
          <p:cNvSpPr txBox="1"/>
          <p:nvPr/>
        </p:nvSpPr>
        <p:spPr>
          <a:xfrm>
            <a:off x="6406750" y="3323475"/>
            <a:ext cx="706200" cy="2709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spcFirstLastPara="1" wrap="square" lIns="27425" tIns="27425" rIns="27425" bIns="27425" anchor="t" anchorCtr="0">
            <a:sp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t = </a:t>
            </a:r>
            <a:r>
              <a:rPr lang="en" b="1">
                <a:latin typeface="Roboto"/>
                <a:ea typeface="Roboto"/>
                <a:cs typeface="Roboto"/>
                <a:sym typeface="Roboto"/>
              </a:rPr>
              <a:t>10</a:t>
            </a:r>
            <a:endParaRPr b="1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243" name="Google Shape;1243;p79"/>
          <p:cNvSpPr txBox="1">
            <a:spLocks noGrp="1"/>
          </p:cNvSpPr>
          <p:nvPr>
            <p:ph type="title"/>
          </p:nvPr>
        </p:nvSpPr>
        <p:spPr>
          <a:xfrm>
            <a:off x="0" y="0"/>
            <a:ext cx="9144000" cy="39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accent3"/>
                </a:solidFill>
              </a:rPr>
              <a:t>Route Expiry is Slow</a:t>
            </a:r>
            <a:endParaRPr/>
          </a:p>
        </p:txBody>
      </p:sp>
      <p:sp>
        <p:nvSpPr>
          <p:cNvPr id="1244" name="Google Shape;1244;p79"/>
          <p:cNvSpPr txBox="1">
            <a:spLocks noGrp="1"/>
          </p:cNvSpPr>
          <p:nvPr>
            <p:ph type="body" idx="1"/>
          </p:nvPr>
        </p:nvSpPr>
        <p:spPr>
          <a:xfrm>
            <a:off x="107050" y="402200"/>
            <a:ext cx="8909700" cy="243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" dirty="0"/>
              <a:t>Waiting for routes to expire is slow. Let's watch the demo again.</a:t>
            </a:r>
            <a:endParaRPr dirty="0"/>
          </a:p>
          <a:p>
            <a:pPr marL="457200" lvl="0" indent="-342900" algn="l" rtl="0">
              <a:spcBef>
                <a:spcPts val="600"/>
              </a:spcBef>
              <a:spcAft>
                <a:spcPts val="0"/>
              </a:spcAft>
              <a:buSzPts val="1800"/>
              <a:buChar char="●"/>
            </a:pPr>
            <a:r>
              <a:rPr lang="en" dirty="0"/>
              <a:t>R1 is offering a new path to A, but R3 has to wait for the old </a:t>
            </a:r>
            <a:r>
              <a:rPr lang="en-US" dirty="0"/>
              <a:t>broken</a:t>
            </a:r>
            <a:r>
              <a:rPr lang="en" dirty="0"/>
              <a:t> route to expire before accepting the new path.</a:t>
            </a:r>
            <a:endParaRPr dirty="0"/>
          </a:p>
        </p:txBody>
      </p:sp>
      <p:sp>
        <p:nvSpPr>
          <p:cNvPr id="1245" name="Google Shape;1245;p79"/>
          <p:cNvSpPr/>
          <p:nvPr/>
        </p:nvSpPr>
        <p:spPr>
          <a:xfrm>
            <a:off x="2774913" y="3884850"/>
            <a:ext cx="285000" cy="285000"/>
          </a:xfrm>
          <a:prstGeom prst="rect">
            <a:avLst/>
          </a:prstGeom>
          <a:solidFill>
            <a:srgbClr val="FFFFFF"/>
          </a:solidFill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R3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1246" name="Google Shape;1246;p79"/>
          <p:cNvCxnSpPr>
            <a:stCxn id="1247" idx="3"/>
            <a:endCxn id="1245" idx="1"/>
          </p:cNvCxnSpPr>
          <p:nvPr/>
        </p:nvCxnSpPr>
        <p:spPr>
          <a:xfrm rot="10800000" flipH="1">
            <a:off x="1224263" y="4027408"/>
            <a:ext cx="1550700" cy="900"/>
          </a:xfrm>
          <a:prstGeom prst="straightConnector1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1247" name="Google Shape;1247;p79"/>
          <p:cNvSpPr/>
          <p:nvPr/>
        </p:nvSpPr>
        <p:spPr>
          <a:xfrm>
            <a:off x="939263" y="3885808"/>
            <a:ext cx="285000" cy="285000"/>
          </a:xfrm>
          <a:prstGeom prst="rect">
            <a:avLst/>
          </a:prstGeom>
          <a:solidFill>
            <a:srgbClr val="FFFFFF"/>
          </a:solidFill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R2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248" name="Google Shape;1248;p79"/>
          <p:cNvSpPr/>
          <p:nvPr/>
        </p:nvSpPr>
        <p:spPr>
          <a:xfrm>
            <a:off x="939263" y="3047608"/>
            <a:ext cx="285000" cy="285000"/>
          </a:xfrm>
          <a:prstGeom prst="rect">
            <a:avLst/>
          </a:prstGeom>
          <a:solidFill>
            <a:srgbClr val="FFFFFF"/>
          </a:solidFill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R1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1249" name="Google Shape;1249;p79"/>
          <p:cNvCxnSpPr>
            <a:stCxn id="1248" idx="3"/>
            <a:endCxn id="1245" idx="1"/>
          </p:cNvCxnSpPr>
          <p:nvPr/>
        </p:nvCxnSpPr>
        <p:spPr>
          <a:xfrm>
            <a:off x="1224263" y="3190108"/>
            <a:ext cx="1550700" cy="837300"/>
          </a:xfrm>
          <a:prstGeom prst="straightConnector1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1250" name="Google Shape;1250;p79"/>
          <p:cNvSpPr/>
          <p:nvPr/>
        </p:nvSpPr>
        <p:spPr>
          <a:xfrm>
            <a:off x="253463" y="3885800"/>
            <a:ext cx="285000" cy="285000"/>
          </a:xfrm>
          <a:prstGeom prst="ellipse">
            <a:avLst/>
          </a:prstGeom>
          <a:solidFill>
            <a:srgbClr val="FFFFFF"/>
          </a:solidFill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A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1251" name="Google Shape;1251;p79"/>
          <p:cNvCxnSpPr>
            <a:stCxn id="1250" idx="6"/>
            <a:endCxn id="1247" idx="1"/>
          </p:cNvCxnSpPr>
          <p:nvPr/>
        </p:nvCxnSpPr>
        <p:spPr>
          <a:xfrm>
            <a:off x="538463" y="4028300"/>
            <a:ext cx="400800" cy="0"/>
          </a:xfrm>
          <a:prstGeom prst="straightConnector1">
            <a:avLst/>
          </a:prstGeom>
          <a:noFill/>
          <a:ln w="19050" cap="flat" cmpd="sng">
            <a:solidFill>
              <a:schemeClr val="accent2"/>
            </a:solidFill>
            <a:prstDash val="dash"/>
            <a:round/>
            <a:headEnd type="none" w="med" len="med"/>
            <a:tailEnd type="none" w="med" len="med"/>
          </a:ln>
        </p:spPr>
      </p:cxnSp>
      <p:cxnSp>
        <p:nvCxnSpPr>
          <p:cNvPr id="1252" name="Google Shape;1252;p79"/>
          <p:cNvCxnSpPr>
            <a:stCxn id="1250" idx="0"/>
            <a:endCxn id="1248" idx="1"/>
          </p:cNvCxnSpPr>
          <p:nvPr/>
        </p:nvCxnSpPr>
        <p:spPr>
          <a:xfrm rot="10800000" flipH="1">
            <a:off x="395963" y="3190100"/>
            <a:ext cx="543300" cy="695700"/>
          </a:xfrm>
          <a:prstGeom prst="straightConnector1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med" len="med"/>
            <a:tailEnd type="none" w="med" len="med"/>
          </a:ln>
        </p:spPr>
      </p:cxn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7" name="Google Shape;1257;p80"/>
          <p:cNvSpPr txBox="1">
            <a:spLocks noGrp="1"/>
          </p:cNvSpPr>
          <p:nvPr>
            <p:ph type="title"/>
          </p:nvPr>
        </p:nvSpPr>
        <p:spPr>
          <a:xfrm>
            <a:off x="0" y="0"/>
            <a:ext cx="9144000" cy="39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accent3"/>
                </a:solidFill>
              </a:rPr>
              <a:t>Route Expiry is Slow</a:t>
            </a:r>
            <a:endParaRPr/>
          </a:p>
        </p:txBody>
      </p:sp>
      <p:sp>
        <p:nvSpPr>
          <p:cNvPr id="1258" name="Google Shape;1258;p80"/>
          <p:cNvSpPr txBox="1">
            <a:spLocks noGrp="1"/>
          </p:cNvSpPr>
          <p:nvPr>
            <p:ph type="body" idx="1"/>
          </p:nvPr>
        </p:nvSpPr>
        <p:spPr>
          <a:xfrm>
            <a:off x="107050" y="402200"/>
            <a:ext cx="8909700" cy="13485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" dirty="0"/>
              <a:t>Waiting for routes to expire is slow. Let's watch the demo again.</a:t>
            </a:r>
            <a:endParaRPr dirty="0"/>
          </a:p>
          <a:p>
            <a:pPr marL="457200" lvl="0" indent="-342900" algn="l" rtl="0">
              <a:spcBef>
                <a:spcPts val="600"/>
              </a:spcBef>
              <a:spcAft>
                <a:spcPts val="0"/>
              </a:spcAft>
              <a:buSzPts val="1800"/>
              <a:buChar char="●"/>
            </a:pPr>
            <a:r>
              <a:rPr lang="en" dirty="0"/>
              <a:t>R1 is offering a new path to A, but R3 has to wait for the old </a:t>
            </a:r>
            <a:r>
              <a:rPr lang="en-US" dirty="0"/>
              <a:t>broken</a:t>
            </a:r>
            <a:r>
              <a:rPr lang="en" dirty="0"/>
              <a:t> route to expire before accepting the new path.</a:t>
            </a:r>
            <a:endParaRPr dirty="0"/>
          </a:p>
        </p:txBody>
      </p:sp>
      <p:graphicFrame>
        <p:nvGraphicFramePr>
          <p:cNvPr id="1259" name="Google Shape;1259;p80"/>
          <p:cNvGraphicFramePr/>
          <p:nvPr/>
        </p:nvGraphicFramePr>
        <p:xfrm>
          <a:off x="5563769" y="3662700"/>
          <a:ext cx="2392150" cy="688770"/>
        </p:xfrm>
        <a:graphic>
          <a:graphicData uri="http://schemas.openxmlformats.org/drawingml/2006/table">
            <a:tbl>
              <a:tblPr>
                <a:noFill/>
              </a:tblPr>
              <a:tblGrid>
                <a:gridCol w="45622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1627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05185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4678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121925">
                <a:tc gridSpan="4"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latin typeface="Roboto"/>
                          <a:ea typeface="Roboto"/>
                          <a:cs typeface="Roboto"/>
                          <a:sym typeface="Roboto"/>
                        </a:rPr>
                        <a:t>R3's Table</a:t>
                      </a:r>
                      <a:endParaRPr sz="12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21925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latin typeface="Roboto"/>
                          <a:ea typeface="Roboto"/>
                          <a:cs typeface="Roboto"/>
                          <a:sym typeface="Roboto"/>
                        </a:rPr>
                        <a:t>To:</a:t>
                      </a:r>
                      <a:endParaRPr sz="12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/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latin typeface="Roboto"/>
                          <a:ea typeface="Roboto"/>
                          <a:cs typeface="Roboto"/>
                          <a:sym typeface="Roboto"/>
                        </a:rPr>
                        <a:t>Via:</a:t>
                      </a:r>
                      <a:endParaRPr sz="12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/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latin typeface="Roboto"/>
                          <a:ea typeface="Roboto"/>
                          <a:cs typeface="Roboto"/>
                          <a:sym typeface="Roboto"/>
                        </a:rPr>
                        <a:t>Cost:</a:t>
                      </a:r>
                      <a:endParaRPr sz="12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/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latin typeface="Roboto"/>
                          <a:ea typeface="Roboto"/>
                          <a:cs typeface="Roboto"/>
                          <a:sym typeface="Roboto"/>
                        </a:rPr>
                        <a:t>TTL:</a:t>
                      </a:r>
                      <a:endParaRPr sz="12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21925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latin typeface="Roboto"/>
                          <a:ea typeface="Roboto"/>
                          <a:cs typeface="Roboto"/>
                          <a:sym typeface="Roboto"/>
                        </a:rPr>
                        <a:t>R2</a:t>
                      </a:r>
                      <a:endParaRPr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/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latin typeface="Roboto"/>
                          <a:ea typeface="Roboto"/>
                          <a:cs typeface="Roboto"/>
                          <a:sym typeface="Roboto"/>
                        </a:rPr>
                        <a:t>A</a:t>
                      </a:r>
                      <a:endParaRPr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/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latin typeface="Roboto"/>
                          <a:ea typeface="Roboto"/>
                          <a:cs typeface="Roboto"/>
                          <a:sym typeface="Roboto"/>
                        </a:rPr>
                        <a:t>2</a:t>
                      </a:r>
                      <a:endParaRPr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/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b="1">
                          <a:latin typeface="Roboto"/>
                          <a:ea typeface="Roboto"/>
                          <a:cs typeface="Roboto"/>
                          <a:sym typeface="Roboto"/>
                        </a:rPr>
                        <a:t>5</a:t>
                      </a:r>
                      <a:endParaRPr b="1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</a:tbl>
          </a:graphicData>
        </a:graphic>
      </p:graphicFrame>
      <p:sp>
        <p:nvSpPr>
          <p:cNvPr id="1260" name="Google Shape;1260;p80"/>
          <p:cNvSpPr txBox="1"/>
          <p:nvPr/>
        </p:nvSpPr>
        <p:spPr>
          <a:xfrm>
            <a:off x="6406750" y="3323475"/>
            <a:ext cx="706200" cy="270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27425" tIns="27425" rIns="27425" bIns="27425" anchor="t" anchorCtr="0">
            <a:sp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t = </a:t>
            </a:r>
            <a:r>
              <a:rPr lang="en" b="1">
                <a:latin typeface="Roboto"/>
                <a:ea typeface="Roboto"/>
                <a:cs typeface="Roboto"/>
                <a:sym typeface="Roboto"/>
              </a:rPr>
              <a:t>11</a:t>
            </a:r>
            <a:endParaRPr b="1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261" name="Google Shape;1261;p80"/>
          <p:cNvSpPr txBox="1"/>
          <p:nvPr/>
        </p:nvSpPr>
        <p:spPr>
          <a:xfrm>
            <a:off x="4219450" y="1785000"/>
            <a:ext cx="4363500" cy="486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27425" tIns="27425" rIns="27425" bIns="27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>
                <a:latin typeface="Roboto"/>
                <a:ea typeface="Roboto"/>
                <a:cs typeface="Roboto"/>
                <a:sym typeface="Roboto"/>
              </a:rPr>
              <a:t>Again, R3 is forced to reject this new path, because it's still waiting for the </a:t>
            </a:r>
            <a:r>
              <a:rPr lang="en-US" dirty="0">
                <a:latin typeface="Roboto"/>
                <a:ea typeface="Roboto"/>
                <a:cs typeface="Roboto"/>
                <a:sym typeface="Roboto"/>
              </a:rPr>
              <a:t>broken</a:t>
            </a:r>
            <a:r>
              <a:rPr lang="en" dirty="0">
                <a:latin typeface="Roboto"/>
                <a:ea typeface="Roboto"/>
                <a:cs typeface="Roboto"/>
                <a:sym typeface="Roboto"/>
              </a:rPr>
              <a:t> path to time out.</a:t>
            </a:r>
            <a:endParaRPr dirty="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262" name="Google Shape;1262;p80"/>
          <p:cNvSpPr/>
          <p:nvPr/>
        </p:nvSpPr>
        <p:spPr>
          <a:xfrm>
            <a:off x="3350125" y="3491450"/>
            <a:ext cx="2061900" cy="535800"/>
          </a:xfrm>
          <a:prstGeom prst="wedgeRoundRectCallout">
            <a:avLst>
              <a:gd name="adj1" fmla="val -59294"/>
              <a:gd name="adj2" fmla="val 55106"/>
              <a:gd name="adj3" fmla="val 0"/>
            </a:avLst>
          </a:prstGeom>
          <a:noFill/>
          <a:ln w="9525" cap="flat" cmpd="sng">
            <a:solidFill>
              <a:schemeClr val="accent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accent2"/>
                </a:solidFill>
                <a:latin typeface="Roboto"/>
                <a:ea typeface="Roboto"/>
                <a:cs typeface="Roboto"/>
                <a:sym typeface="Roboto"/>
              </a:rPr>
              <a:t>No thanks, I already have a cost 2 path.</a:t>
            </a:r>
            <a:endParaRPr>
              <a:solidFill>
                <a:schemeClr val="accent2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1263" name="Google Shape;1263;p80"/>
          <p:cNvCxnSpPr/>
          <p:nvPr/>
        </p:nvCxnSpPr>
        <p:spPr>
          <a:xfrm>
            <a:off x="1544750" y="3211375"/>
            <a:ext cx="900900" cy="486600"/>
          </a:xfrm>
          <a:prstGeom prst="straightConnector1">
            <a:avLst/>
          </a:prstGeom>
          <a:noFill/>
          <a:ln w="19050" cap="flat" cmpd="sng">
            <a:solidFill>
              <a:schemeClr val="accent2"/>
            </a:solidFill>
            <a:prstDash val="solid"/>
            <a:round/>
            <a:headEnd type="none" w="med" len="med"/>
            <a:tailEnd type="triangle" w="med" len="med"/>
          </a:ln>
        </p:spPr>
      </p:cxnSp>
      <p:sp>
        <p:nvSpPr>
          <p:cNvPr id="1264" name="Google Shape;1264;p80"/>
          <p:cNvSpPr/>
          <p:nvPr/>
        </p:nvSpPr>
        <p:spPr>
          <a:xfrm>
            <a:off x="2025375" y="2942750"/>
            <a:ext cx="1457400" cy="494700"/>
          </a:xfrm>
          <a:prstGeom prst="roundRect">
            <a:avLst>
              <a:gd name="adj" fmla="val 16667"/>
            </a:avLst>
          </a:prstGeom>
          <a:solidFill>
            <a:srgbClr val="F4CCCC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27425" tIns="27425" rIns="27425" bIns="27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I'm </a:t>
            </a:r>
            <a:r>
              <a:rPr lang="en" b="1">
                <a:latin typeface="Roboto"/>
                <a:ea typeface="Roboto"/>
                <a:cs typeface="Roboto"/>
                <a:sym typeface="Roboto"/>
              </a:rPr>
              <a:t>R1</a:t>
            </a:r>
            <a:r>
              <a:rPr lang="en">
                <a:latin typeface="Roboto"/>
                <a:ea typeface="Roboto"/>
                <a:cs typeface="Roboto"/>
                <a:sym typeface="Roboto"/>
              </a:rPr>
              <a:t>, and </a:t>
            </a:r>
            <a:r>
              <a:rPr lang="en" b="1">
                <a:latin typeface="Roboto"/>
                <a:ea typeface="Roboto"/>
                <a:cs typeface="Roboto"/>
                <a:sym typeface="Roboto"/>
              </a:rPr>
              <a:t>A</a:t>
            </a:r>
            <a:r>
              <a:rPr lang="en">
                <a:latin typeface="Roboto"/>
                <a:ea typeface="Roboto"/>
                <a:cs typeface="Roboto"/>
                <a:sym typeface="Roboto"/>
              </a:rPr>
              <a:t> is </a:t>
            </a:r>
            <a:r>
              <a:rPr lang="en" b="1">
                <a:latin typeface="Roboto"/>
                <a:ea typeface="Roboto"/>
                <a:cs typeface="Roboto"/>
                <a:sym typeface="Roboto"/>
              </a:rPr>
              <a:t>1</a:t>
            </a:r>
            <a:r>
              <a:rPr lang="en">
                <a:latin typeface="Roboto"/>
                <a:ea typeface="Roboto"/>
                <a:cs typeface="Roboto"/>
                <a:sym typeface="Roboto"/>
              </a:rPr>
              <a:t> away from me.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265" name="Google Shape;1265;p80"/>
          <p:cNvSpPr/>
          <p:nvPr/>
        </p:nvSpPr>
        <p:spPr>
          <a:xfrm>
            <a:off x="2774913" y="3884850"/>
            <a:ext cx="285000" cy="285000"/>
          </a:xfrm>
          <a:prstGeom prst="rect">
            <a:avLst/>
          </a:prstGeom>
          <a:solidFill>
            <a:srgbClr val="FFFFFF"/>
          </a:solidFill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R3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1266" name="Google Shape;1266;p80"/>
          <p:cNvCxnSpPr>
            <a:stCxn id="1267" idx="3"/>
            <a:endCxn id="1265" idx="1"/>
          </p:cNvCxnSpPr>
          <p:nvPr/>
        </p:nvCxnSpPr>
        <p:spPr>
          <a:xfrm rot="10800000" flipH="1">
            <a:off x="1224263" y="4027408"/>
            <a:ext cx="1550700" cy="900"/>
          </a:xfrm>
          <a:prstGeom prst="straightConnector1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1267" name="Google Shape;1267;p80"/>
          <p:cNvSpPr/>
          <p:nvPr/>
        </p:nvSpPr>
        <p:spPr>
          <a:xfrm>
            <a:off x="939263" y="3885808"/>
            <a:ext cx="285000" cy="285000"/>
          </a:xfrm>
          <a:prstGeom prst="rect">
            <a:avLst/>
          </a:prstGeom>
          <a:solidFill>
            <a:srgbClr val="FFFFFF"/>
          </a:solidFill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R2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268" name="Google Shape;1268;p80"/>
          <p:cNvSpPr/>
          <p:nvPr/>
        </p:nvSpPr>
        <p:spPr>
          <a:xfrm>
            <a:off x="939263" y="3047608"/>
            <a:ext cx="285000" cy="285000"/>
          </a:xfrm>
          <a:prstGeom prst="rect">
            <a:avLst/>
          </a:prstGeom>
          <a:solidFill>
            <a:srgbClr val="FFFFFF"/>
          </a:solidFill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R1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1269" name="Google Shape;1269;p80"/>
          <p:cNvCxnSpPr>
            <a:stCxn id="1268" idx="3"/>
            <a:endCxn id="1265" idx="1"/>
          </p:cNvCxnSpPr>
          <p:nvPr/>
        </p:nvCxnSpPr>
        <p:spPr>
          <a:xfrm>
            <a:off x="1224263" y="3190108"/>
            <a:ext cx="1550700" cy="837300"/>
          </a:xfrm>
          <a:prstGeom prst="straightConnector1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1270" name="Google Shape;1270;p80"/>
          <p:cNvSpPr/>
          <p:nvPr/>
        </p:nvSpPr>
        <p:spPr>
          <a:xfrm>
            <a:off x="253463" y="3885800"/>
            <a:ext cx="285000" cy="285000"/>
          </a:xfrm>
          <a:prstGeom prst="ellipse">
            <a:avLst/>
          </a:prstGeom>
          <a:solidFill>
            <a:srgbClr val="FFFFFF"/>
          </a:solidFill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A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1271" name="Google Shape;1271;p80"/>
          <p:cNvCxnSpPr>
            <a:stCxn id="1270" idx="6"/>
            <a:endCxn id="1267" idx="1"/>
          </p:cNvCxnSpPr>
          <p:nvPr/>
        </p:nvCxnSpPr>
        <p:spPr>
          <a:xfrm>
            <a:off x="538463" y="4028300"/>
            <a:ext cx="400800" cy="0"/>
          </a:xfrm>
          <a:prstGeom prst="straightConnector1">
            <a:avLst/>
          </a:prstGeom>
          <a:noFill/>
          <a:ln w="19050" cap="flat" cmpd="sng">
            <a:solidFill>
              <a:schemeClr val="accent2"/>
            </a:solidFill>
            <a:prstDash val="dash"/>
            <a:round/>
            <a:headEnd type="none" w="med" len="med"/>
            <a:tailEnd type="none" w="med" len="med"/>
          </a:ln>
        </p:spPr>
      </p:cxnSp>
      <p:cxnSp>
        <p:nvCxnSpPr>
          <p:cNvPr id="1272" name="Google Shape;1272;p80"/>
          <p:cNvCxnSpPr>
            <a:stCxn id="1270" idx="0"/>
            <a:endCxn id="1268" idx="1"/>
          </p:cNvCxnSpPr>
          <p:nvPr/>
        </p:nvCxnSpPr>
        <p:spPr>
          <a:xfrm rot="10800000" flipH="1">
            <a:off x="395963" y="3190100"/>
            <a:ext cx="543300" cy="695700"/>
          </a:xfrm>
          <a:prstGeom prst="straightConnector1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med" len="med"/>
            <a:tailEnd type="none" w="med" len="med"/>
          </a:ln>
        </p:spPr>
      </p:cxn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2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277" name="Google Shape;1277;p81"/>
          <p:cNvGraphicFramePr/>
          <p:nvPr/>
        </p:nvGraphicFramePr>
        <p:xfrm>
          <a:off x="5563769" y="3662700"/>
          <a:ext cx="2392150" cy="688770"/>
        </p:xfrm>
        <a:graphic>
          <a:graphicData uri="http://schemas.openxmlformats.org/drawingml/2006/table">
            <a:tbl>
              <a:tblPr>
                <a:noFill/>
              </a:tblPr>
              <a:tblGrid>
                <a:gridCol w="45622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1627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05185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4678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121925">
                <a:tc gridSpan="4"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latin typeface="Roboto"/>
                          <a:ea typeface="Roboto"/>
                          <a:cs typeface="Roboto"/>
                          <a:sym typeface="Roboto"/>
                        </a:rPr>
                        <a:t>R3's Table</a:t>
                      </a:r>
                      <a:endParaRPr sz="12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21925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latin typeface="Roboto"/>
                          <a:ea typeface="Roboto"/>
                          <a:cs typeface="Roboto"/>
                          <a:sym typeface="Roboto"/>
                        </a:rPr>
                        <a:t>To:</a:t>
                      </a:r>
                      <a:endParaRPr sz="12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/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latin typeface="Roboto"/>
                          <a:ea typeface="Roboto"/>
                          <a:cs typeface="Roboto"/>
                          <a:sym typeface="Roboto"/>
                        </a:rPr>
                        <a:t>Via:</a:t>
                      </a:r>
                      <a:endParaRPr sz="12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/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latin typeface="Roboto"/>
                          <a:ea typeface="Roboto"/>
                          <a:cs typeface="Roboto"/>
                          <a:sym typeface="Roboto"/>
                        </a:rPr>
                        <a:t>Cost:</a:t>
                      </a:r>
                      <a:endParaRPr sz="12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/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latin typeface="Roboto"/>
                          <a:ea typeface="Roboto"/>
                          <a:cs typeface="Roboto"/>
                          <a:sym typeface="Roboto"/>
                        </a:rPr>
                        <a:t>TTL:</a:t>
                      </a:r>
                      <a:endParaRPr sz="12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21925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latin typeface="Roboto"/>
                          <a:ea typeface="Roboto"/>
                          <a:cs typeface="Roboto"/>
                          <a:sym typeface="Roboto"/>
                        </a:rPr>
                        <a:t>R2</a:t>
                      </a:r>
                      <a:endParaRPr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/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latin typeface="Roboto"/>
                          <a:ea typeface="Roboto"/>
                          <a:cs typeface="Roboto"/>
                          <a:sym typeface="Roboto"/>
                        </a:rPr>
                        <a:t>A</a:t>
                      </a:r>
                      <a:endParaRPr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/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latin typeface="Roboto"/>
                          <a:ea typeface="Roboto"/>
                          <a:cs typeface="Roboto"/>
                          <a:sym typeface="Roboto"/>
                        </a:rPr>
                        <a:t>2</a:t>
                      </a:r>
                      <a:endParaRPr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/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b="1">
                          <a:latin typeface="Roboto"/>
                          <a:ea typeface="Roboto"/>
                          <a:cs typeface="Roboto"/>
                          <a:sym typeface="Roboto"/>
                        </a:rPr>
                        <a:t>4</a:t>
                      </a:r>
                      <a:endParaRPr b="1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</a:tbl>
          </a:graphicData>
        </a:graphic>
      </p:graphicFrame>
      <p:sp>
        <p:nvSpPr>
          <p:cNvPr id="1278" name="Google Shape;1278;p81"/>
          <p:cNvSpPr txBox="1"/>
          <p:nvPr/>
        </p:nvSpPr>
        <p:spPr>
          <a:xfrm>
            <a:off x="7496325" y="4110050"/>
            <a:ext cx="449700" cy="2319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b="1">
                <a:latin typeface="Roboto"/>
                <a:ea typeface="Roboto"/>
                <a:cs typeface="Roboto"/>
                <a:sym typeface="Roboto"/>
              </a:rPr>
              <a:t>3</a:t>
            </a:r>
            <a:endParaRPr b="1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279" name="Google Shape;1279;p81"/>
          <p:cNvSpPr txBox="1"/>
          <p:nvPr/>
        </p:nvSpPr>
        <p:spPr>
          <a:xfrm>
            <a:off x="7496325" y="4110050"/>
            <a:ext cx="449700" cy="2319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b="1">
                <a:latin typeface="Roboto"/>
                <a:ea typeface="Roboto"/>
                <a:cs typeface="Roboto"/>
                <a:sym typeface="Roboto"/>
              </a:rPr>
              <a:t>2</a:t>
            </a:r>
            <a:endParaRPr b="1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280" name="Google Shape;1280;p81"/>
          <p:cNvSpPr txBox="1"/>
          <p:nvPr/>
        </p:nvSpPr>
        <p:spPr>
          <a:xfrm>
            <a:off x="7496325" y="4110050"/>
            <a:ext cx="449700" cy="2319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b="1">
                <a:latin typeface="Roboto"/>
                <a:ea typeface="Roboto"/>
                <a:cs typeface="Roboto"/>
                <a:sym typeface="Roboto"/>
              </a:rPr>
              <a:t>1</a:t>
            </a:r>
            <a:endParaRPr b="1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281" name="Google Shape;1281;p81"/>
          <p:cNvSpPr txBox="1"/>
          <p:nvPr/>
        </p:nvSpPr>
        <p:spPr>
          <a:xfrm>
            <a:off x="6406750" y="3323475"/>
            <a:ext cx="706200" cy="2709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spcFirstLastPara="1" wrap="square" lIns="27425" tIns="27425" rIns="27425" bIns="27425" anchor="t" anchorCtr="0">
            <a:sp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t = </a:t>
            </a:r>
            <a:r>
              <a:rPr lang="en" b="1">
                <a:latin typeface="Roboto"/>
                <a:ea typeface="Roboto"/>
                <a:cs typeface="Roboto"/>
                <a:sym typeface="Roboto"/>
              </a:rPr>
              <a:t>12</a:t>
            </a:r>
            <a:endParaRPr b="1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282" name="Google Shape;1282;p81"/>
          <p:cNvSpPr txBox="1"/>
          <p:nvPr/>
        </p:nvSpPr>
        <p:spPr>
          <a:xfrm>
            <a:off x="6406750" y="3323475"/>
            <a:ext cx="706200" cy="2709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spcFirstLastPara="1" wrap="square" lIns="27425" tIns="27425" rIns="27425" bIns="27425" anchor="t" anchorCtr="0">
            <a:sp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t = </a:t>
            </a:r>
            <a:r>
              <a:rPr lang="en" b="1">
                <a:latin typeface="Roboto"/>
                <a:ea typeface="Roboto"/>
                <a:cs typeface="Roboto"/>
                <a:sym typeface="Roboto"/>
              </a:rPr>
              <a:t>13</a:t>
            </a:r>
            <a:endParaRPr b="1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283" name="Google Shape;1283;p81"/>
          <p:cNvSpPr txBox="1"/>
          <p:nvPr/>
        </p:nvSpPr>
        <p:spPr>
          <a:xfrm>
            <a:off x="6406750" y="3323475"/>
            <a:ext cx="706200" cy="2709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spcFirstLastPara="1" wrap="square" lIns="27425" tIns="27425" rIns="27425" bIns="27425" anchor="t" anchorCtr="0">
            <a:sp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t = </a:t>
            </a:r>
            <a:r>
              <a:rPr lang="en" b="1">
                <a:latin typeface="Roboto"/>
                <a:ea typeface="Roboto"/>
                <a:cs typeface="Roboto"/>
                <a:sym typeface="Roboto"/>
              </a:rPr>
              <a:t>14</a:t>
            </a:r>
            <a:endParaRPr b="1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284" name="Google Shape;1284;p81"/>
          <p:cNvSpPr txBox="1"/>
          <p:nvPr/>
        </p:nvSpPr>
        <p:spPr>
          <a:xfrm>
            <a:off x="6406750" y="3323475"/>
            <a:ext cx="706200" cy="2709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spcFirstLastPara="1" wrap="square" lIns="27425" tIns="27425" rIns="27425" bIns="27425" anchor="t" anchorCtr="0">
            <a:sp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t = </a:t>
            </a:r>
            <a:r>
              <a:rPr lang="en" b="1">
                <a:latin typeface="Roboto"/>
                <a:ea typeface="Roboto"/>
                <a:cs typeface="Roboto"/>
                <a:sym typeface="Roboto"/>
              </a:rPr>
              <a:t>15</a:t>
            </a:r>
            <a:endParaRPr b="1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285" name="Google Shape;1285;p81"/>
          <p:cNvSpPr txBox="1">
            <a:spLocks noGrp="1"/>
          </p:cNvSpPr>
          <p:nvPr>
            <p:ph type="title"/>
          </p:nvPr>
        </p:nvSpPr>
        <p:spPr>
          <a:xfrm>
            <a:off x="0" y="0"/>
            <a:ext cx="9144000" cy="39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accent3"/>
                </a:solidFill>
              </a:rPr>
              <a:t>Route Expiry is Slow</a:t>
            </a:r>
            <a:endParaRPr/>
          </a:p>
        </p:txBody>
      </p:sp>
      <p:sp>
        <p:nvSpPr>
          <p:cNvPr id="1286" name="Google Shape;1286;p81"/>
          <p:cNvSpPr txBox="1">
            <a:spLocks noGrp="1"/>
          </p:cNvSpPr>
          <p:nvPr>
            <p:ph type="body" idx="1"/>
          </p:nvPr>
        </p:nvSpPr>
        <p:spPr>
          <a:xfrm>
            <a:off x="107050" y="402200"/>
            <a:ext cx="8909700" cy="243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" dirty="0"/>
              <a:t>Waiting for routes to expire is slow. Let's watch the demo again.</a:t>
            </a:r>
            <a:endParaRPr dirty="0"/>
          </a:p>
          <a:p>
            <a:pPr marL="457200" lvl="0" indent="-342900" algn="l" rtl="0">
              <a:spcBef>
                <a:spcPts val="600"/>
              </a:spcBef>
              <a:spcAft>
                <a:spcPts val="0"/>
              </a:spcAft>
              <a:buSzPts val="1800"/>
              <a:buChar char="●"/>
            </a:pPr>
            <a:r>
              <a:rPr lang="en" dirty="0"/>
              <a:t>R1 is offering a new path to A, but R3 has to wait for the old </a:t>
            </a:r>
            <a:r>
              <a:rPr lang="en-US" dirty="0"/>
              <a:t>broken</a:t>
            </a:r>
            <a:r>
              <a:rPr lang="en" dirty="0"/>
              <a:t> route to expire before accepting the new path.</a:t>
            </a:r>
            <a:endParaRPr dirty="0"/>
          </a:p>
        </p:txBody>
      </p:sp>
      <p:sp>
        <p:nvSpPr>
          <p:cNvPr id="1287" name="Google Shape;1287;p81"/>
          <p:cNvSpPr/>
          <p:nvPr/>
        </p:nvSpPr>
        <p:spPr>
          <a:xfrm>
            <a:off x="2774913" y="3884850"/>
            <a:ext cx="285000" cy="285000"/>
          </a:xfrm>
          <a:prstGeom prst="rect">
            <a:avLst/>
          </a:prstGeom>
          <a:solidFill>
            <a:srgbClr val="FFFFFF"/>
          </a:solidFill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R3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1288" name="Google Shape;1288;p81"/>
          <p:cNvCxnSpPr>
            <a:stCxn id="1289" idx="3"/>
            <a:endCxn id="1287" idx="1"/>
          </p:cNvCxnSpPr>
          <p:nvPr/>
        </p:nvCxnSpPr>
        <p:spPr>
          <a:xfrm rot="10800000" flipH="1">
            <a:off x="1224263" y="4027408"/>
            <a:ext cx="1550700" cy="900"/>
          </a:xfrm>
          <a:prstGeom prst="straightConnector1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1289" name="Google Shape;1289;p81"/>
          <p:cNvSpPr/>
          <p:nvPr/>
        </p:nvSpPr>
        <p:spPr>
          <a:xfrm>
            <a:off x="939263" y="3885808"/>
            <a:ext cx="285000" cy="285000"/>
          </a:xfrm>
          <a:prstGeom prst="rect">
            <a:avLst/>
          </a:prstGeom>
          <a:solidFill>
            <a:srgbClr val="FFFFFF"/>
          </a:solidFill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R2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290" name="Google Shape;1290;p81"/>
          <p:cNvSpPr/>
          <p:nvPr/>
        </p:nvSpPr>
        <p:spPr>
          <a:xfrm>
            <a:off x="939263" y="3047608"/>
            <a:ext cx="285000" cy="285000"/>
          </a:xfrm>
          <a:prstGeom prst="rect">
            <a:avLst/>
          </a:prstGeom>
          <a:solidFill>
            <a:srgbClr val="FFFFFF"/>
          </a:solidFill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R1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1291" name="Google Shape;1291;p81"/>
          <p:cNvCxnSpPr>
            <a:stCxn id="1290" idx="3"/>
            <a:endCxn id="1287" idx="1"/>
          </p:cNvCxnSpPr>
          <p:nvPr/>
        </p:nvCxnSpPr>
        <p:spPr>
          <a:xfrm>
            <a:off x="1224263" y="3190108"/>
            <a:ext cx="1550700" cy="837300"/>
          </a:xfrm>
          <a:prstGeom prst="straightConnector1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1292" name="Google Shape;1292;p81"/>
          <p:cNvSpPr/>
          <p:nvPr/>
        </p:nvSpPr>
        <p:spPr>
          <a:xfrm>
            <a:off x="253463" y="3885800"/>
            <a:ext cx="285000" cy="285000"/>
          </a:xfrm>
          <a:prstGeom prst="ellipse">
            <a:avLst/>
          </a:prstGeom>
          <a:solidFill>
            <a:srgbClr val="FFFFFF"/>
          </a:solidFill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A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1293" name="Google Shape;1293;p81"/>
          <p:cNvCxnSpPr>
            <a:stCxn id="1292" idx="6"/>
            <a:endCxn id="1289" idx="1"/>
          </p:cNvCxnSpPr>
          <p:nvPr/>
        </p:nvCxnSpPr>
        <p:spPr>
          <a:xfrm>
            <a:off x="538463" y="4028300"/>
            <a:ext cx="400800" cy="0"/>
          </a:xfrm>
          <a:prstGeom prst="straightConnector1">
            <a:avLst/>
          </a:prstGeom>
          <a:noFill/>
          <a:ln w="19050" cap="flat" cmpd="sng">
            <a:solidFill>
              <a:schemeClr val="accent2"/>
            </a:solidFill>
            <a:prstDash val="dash"/>
            <a:round/>
            <a:headEnd type="none" w="med" len="med"/>
            <a:tailEnd type="none" w="med" len="med"/>
          </a:ln>
        </p:spPr>
      </p:cxnSp>
      <p:cxnSp>
        <p:nvCxnSpPr>
          <p:cNvPr id="1294" name="Google Shape;1294;p81"/>
          <p:cNvCxnSpPr>
            <a:stCxn id="1292" idx="0"/>
            <a:endCxn id="1290" idx="1"/>
          </p:cNvCxnSpPr>
          <p:nvPr/>
        </p:nvCxnSpPr>
        <p:spPr>
          <a:xfrm rot="10800000" flipH="1">
            <a:off x="395963" y="3190100"/>
            <a:ext cx="543300" cy="695700"/>
          </a:xfrm>
          <a:prstGeom prst="straightConnector1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med" len="med"/>
            <a:tailEnd type="none" w="med" len="med"/>
          </a:ln>
        </p:spPr>
      </p:cxn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7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2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9" name="Google Shape;1299;p82"/>
          <p:cNvSpPr txBox="1">
            <a:spLocks noGrp="1"/>
          </p:cNvSpPr>
          <p:nvPr>
            <p:ph type="title"/>
          </p:nvPr>
        </p:nvSpPr>
        <p:spPr>
          <a:xfrm>
            <a:off x="0" y="0"/>
            <a:ext cx="9144000" cy="39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accent3"/>
                </a:solidFill>
              </a:rPr>
              <a:t>Route Expiry is Slow</a:t>
            </a:r>
            <a:endParaRPr/>
          </a:p>
        </p:txBody>
      </p:sp>
      <p:sp>
        <p:nvSpPr>
          <p:cNvPr id="1300" name="Google Shape;1300;p82"/>
          <p:cNvSpPr txBox="1">
            <a:spLocks noGrp="1"/>
          </p:cNvSpPr>
          <p:nvPr>
            <p:ph type="body" idx="1"/>
          </p:nvPr>
        </p:nvSpPr>
        <p:spPr>
          <a:xfrm>
            <a:off x="107050" y="402200"/>
            <a:ext cx="8909700" cy="243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" dirty="0"/>
              <a:t>Waiting for routes to expire is slow. Let's watch the demo again.</a:t>
            </a:r>
            <a:endParaRPr dirty="0"/>
          </a:p>
          <a:p>
            <a:pPr marL="457200" lvl="0" indent="-342900" algn="l" rtl="0">
              <a:spcBef>
                <a:spcPts val="600"/>
              </a:spcBef>
              <a:spcAft>
                <a:spcPts val="0"/>
              </a:spcAft>
              <a:buSzPts val="1800"/>
              <a:buChar char="●"/>
            </a:pPr>
            <a:r>
              <a:rPr lang="en" dirty="0"/>
              <a:t>R1 is offering a new path to A, but R3 has to wait for the old </a:t>
            </a:r>
            <a:r>
              <a:rPr lang="en-US" dirty="0"/>
              <a:t>broken</a:t>
            </a:r>
            <a:r>
              <a:rPr lang="en" dirty="0"/>
              <a:t> route to expire before accepting the new path.</a:t>
            </a:r>
            <a:endParaRPr dirty="0"/>
          </a:p>
        </p:txBody>
      </p:sp>
      <p:graphicFrame>
        <p:nvGraphicFramePr>
          <p:cNvPr id="1301" name="Google Shape;1301;p82"/>
          <p:cNvGraphicFramePr/>
          <p:nvPr/>
        </p:nvGraphicFramePr>
        <p:xfrm>
          <a:off x="5563769" y="3662700"/>
          <a:ext cx="2392150" cy="688770"/>
        </p:xfrm>
        <a:graphic>
          <a:graphicData uri="http://schemas.openxmlformats.org/drawingml/2006/table">
            <a:tbl>
              <a:tblPr>
                <a:noFill/>
              </a:tblPr>
              <a:tblGrid>
                <a:gridCol w="45622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1627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05185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4678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121925">
                <a:tc gridSpan="4"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latin typeface="Roboto"/>
                          <a:ea typeface="Roboto"/>
                          <a:cs typeface="Roboto"/>
                          <a:sym typeface="Roboto"/>
                        </a:rPr>
                        <a:t>R3's Table</a:t>
                      </a:r>
                      <a:endParaRPr sz="12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21925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latin typeface="Roboto"/>
                          <a:ea typeface="Roboto"/>
                          <a:cs typeface="Roboto"/>
                          <a:sym typeface="Roboto"/>
                        </a:rPr>
                        <a:t>To:</a:t>
                      </a:r>
                      <a:endParaRPr sz="12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/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latin typeface="Roboto"/>
                          <a:ea typeface="Roboto"/>
                          <a:cs typeface="Roboto"/>
                          <a:sym typeface="Roboto"/>
                        </a:rPr>
                        <a:t>Via:</a:t>
                      </a:r>
                      <a:endParaRPr sz="12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/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latin typeface="Roboto"/>
                          <a:ea typeface="Roboto"/>
                          <a:cs typeface="Roboto"/>
                          <a:sym typeface="Roboto"/>
                        </a:rPr>
                        <a:t>Cost:</a:t>
                      </a:r>
                      <a:endParaRPr sz="12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/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latin typeface="Roboto"/>
                          <a:ea typeface="Roboto"/>
                          <a:cs typeface="Roboto"/>
                          <a:sym typeface="Roboto"/>
                        </a:rPr>
                        <a:t>TTL:</a:t>
                      </a:r>
                      <a:endParaRPr sz="12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21925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latin typeface="Roboto"/>
                          <a:ea typeface="Roboto"/>
                          <a:cs typeface="Roboto"/>
                          <a:sym typeface="Roboto"/>
                        </a:rPr>
                        <a:t>R2</a:t>
                      </a:r>
                      <a:endParaRPr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/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latin typeface="Roboto"/>
                          <a:ea typeface="Roboto"/>
                          <a:cs typeface="Roboto"/>
                          <a:sym typeface="Roboto"/>
                        </a:rPr>
                        <a:t>A</a:t>
                      </a:r>
                      <a:endParaRPr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/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latin typeface="Roboto"/>
                          <a:ea typeface="Roboto"/>
                          <a:cs typeface="Roboto"/>
                          <a:sym typeface="Roboto"/>
                        </a:rPr>
                        <a:t>2</a:t>
                      </a:r>
                      <a:endParaRPr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/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b="1">
                          <a:latin typeface="Roboto"/>
                          <a:ea typeface="Roboto"/>
                          <a:cs typeface="Roboto"/>
                          <a:sym typeface="Roboto"/>
                        </a:rPr>
                        <a:t>0</a:t>
                      </a:r>
                      <a:endParaRPr b="1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</a:tbl>
          </a:graphicData>
        </a:graphic>
      </p:graphicFrame>
      <p:sp>
        <p:nvSpPr>
          <p:cNvPr id="1302" name="Google Shape;1302;p82"/>
          <p:cNvSpPr txBox="1"/>
          <p:nvPr/>
        </p:nvSpPr>
        <p:spPr>
          <a:xfrm>
            <a:off x="6406750" y="3323475"/>
            <a:ext cx="706200" cy="270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27425" tIns="27425" rIns="27425" bIns="27425" anchor="t" anchorCtr="0">
            <a:sp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t = </a:t>
            </a:r>
            <a:r>
              <a:rPr lang="en" b="1">
                <a:latin typeface="Roboto"/>
                <a:ea typeface="Roboto"/>
                <a:cs typeface="Roboto"/>
                <a:sym typeface="Roboto"/>
              </a:rPr>
              <a:t>16</a:t>
            </a:r>
            <a:endParaRPr b="1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303" name="Google Shape;1303;p82"/>
          <p:cNvSpPr txBox="1"/>
          <p:nvPr/>
        </p:nvSpPr>
        <p:spPr>
          <a:xfrm>
            <a:off x="5313100" y="4419775"/>
            <a:ext cx="2893500" cy="270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27425" tIns="27425" rIns="27425" bIns="27425" anchor="t" anchorCtr="0">
            <a:sp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accent2"/>
                </a:solidFill>
                <a:latin typeface="Roboto"/>
                <a:ea typeface="Roboto"/>
                <a:cs typeface="Roboto"/>
                <a:sym typeface="Roboto"/>
              </a:rPr>
              <a:t>Timeout! Delete expired entry.</a:t>
            </a:r>
            <a:endParaRPr>
              <a:solidFill>
                <a:schemeClr val="accent2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1304" name="Google Shape;1304;p82"/>
          <p:cNvCxnSpPr/>
          <p:nvPr/>
        </p:nvCxnSpPr>
        <p:spPr>
          <a:xfrm>
            <a:off x="5503225" y="4233875"/>
            <a:ext cx="2648100" cy="0"/>
          </a:xfrm>
          <a:prstGeom prst="straightConnector1">
            <a:avLst/>
          </a:prstGeom>
          <a:noFill/>
          <a:ln w="19050" cap="flat" cmpd="sng">
            <a:solidFill>
              <a:schemeClr val="accent2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1305" name="Google Shape;1305;p82"/>
          <p:cNvSpPr/>
          <p:nvPr/>
        </p:nvSpPr>
        <p:spPr>
          <a:xfrm>
            <a:off x="2774913" y="3884850"/>
            <a:ext cx="285000" cy="285000"/>
          </a:xfrm>
          <a:prstGeom prst="rect">
            <a:avLst/>
          </a:prstGeom>
          <a:solidFill>
            <a:srgbClr val="FFFFFF"/>
          </a:solidFill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R3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1306" name="Google Shape;1306;p82"/>
          <p:cNvCxnSpPr>
            <a:stCxn id="1307" idx="3"/>
            <a:endCxn id="1305" idx="1"/>
          </p:cNvCxnSpPr>
          <p:nvPr/>
        </p:nvCxnSpPr>
        <p:spPr>
          <a:xfrm rot="10800000" flipH="1">
            <a:off x="1224263" y="4027408"/>
            <a:ext cx="1550700" cy="900"/>
          </a:xfrm>
          <a:prstGeom prst="straightConnector1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1307" name="Google Shape;1307;p82"/>
          <p:cNvSpPr/>
          <p:nvPr/>
        </p:nvSpPr>
        <p:spPr>
          <a:xfrm>
            <a:off x="939263" y="3885808"/>
            <a:ext cx="285000" cy="285000"/>
          </a:xfrm>
          <a:prstGeom prst="rect">
            <a:avLst/>
          </a:prstGeom>
          <a:solidFill>
            <a:srgbClr val="FFFFFF"/>
          </a:solidFill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R2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308" name="Google Shape;1308;p82"/>
          <p:cNvSpPr/>
          <p:nvPr/>
        </p:nvSpPr>
        <p:spPr>
          <a:xfrm>
            <a:off x="939263" y="3047608"/>
            <a:ext cx="285000" cy="285000"/>
          </a:xfrm>
          <a:prstGeom prst="rect">
            <a:avLst/>
          </a:prstGeom>
          <a:solidFill>
            <a:srgbClr val="FFFFFF"/>
          </a:solidFill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R1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1309" name="Google Shape;1309;p82"/>
          <p:cNvCxnSpPr>
            <a:stCxn id="1308" idx="3"/>
            <a:endCxn id="1305" idx="1"/>
          </p:cNvCxnSpPr>
          <p:nvPr/>
        </p:nvCxnSpPr>
        <p:spPr>
          <a:xfrm>
            <a:off x="1224263" y="3190108"/>
            <a:ext cx="1550700" cy="837300"/>
          </a:xfrm>
          <a:prstGeom prst="straightConnector1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1310" name="Google Shape;1310;p82"/>
          <p:cNvSpPr/>
          <p:nvPr/>
        </p:nvSpPr>
        <p:spPr>
          <a:xfrm>
            <a:off x="253463" y="3885800"/>
            <a:ext cx="285000" cy="285000"/>
          </a:xfrm>
          <a:prstGeom prst="ellipse">
            <a:avLst/>
          </a:prstGeom>
          <a:solidFill>
            <a:srgbClr val="FFFFFF"/>
          </a:solidFill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A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1311" name="Google Shape;1311;p82"/>
          <p:cNvCxnSpPr>
            <a:stCxn id="1310" idx="6"/>
            <a:endCxn id="1307" idx="1"/>
          </p:cNvCxnSpPr>
          <p:nvPr/>
        </p:nvCxnSpPr>
        <p:spPr>
          <a:xfrm>
            <a:off x="538463" y="4028300"/>
            <a:ext cx="400800" cy="0"/>
          </a:xfrm>
          <a:prstGeom prst="straightConnector1">
            <a:avLst/>
          </a:prstGeom>
          <a:noFill/>
          <a:ln w="19050" cap="flat" cmpd="sng">
            <a:solidFill>
              <a:schemeClr val="accent2"/>
            </a:solidFill>
            <a:prstDash val="dash"/>
            <a:round/>
            <a:headEnd type="none" w="med" len="med"/>
            <a:tailEnd type="none" w="med" len="med"/>
          </a:ln>
        </p:spPr>
      </p:cxnSp>
      <p:cxnSp>
        <p:nvCxnSpPr>
          <p:cNvPr id="1312" name="Google Shape;1312;p82"/>
          <p:cNvCxnSpPr>
            <a:stCxn id="1310" idx="0"/>
            <a:endCxn id="1308" idx="1"/>
          </p:cNvCxnSpPr>
          <p:nvPr/>
        </p:nvCxnSpPr>
        <p:spPr>
          <a:xfrm rot="10800000" flipH="1">
            <a:off x="395963" y="3190100"/>
            <a:ext cx="543300" cy="695700"/>
          </a:xfrm>
          <a:prstGeom prst="straightConnector1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1313" name="Google Shape;1313;p82"/>
          <p:cNvSpPr/>
          <p:nvPr/>
        </p:nvSpPr>
        <p:spPr>
          <a:xfrm>
            <a:off x="3350125" y="3491450"/>
            <a:ext cx="2061900" cy="535800"/>
          </a:xfrm>
          <a:prstGeom prst="wedgeRoundRectCallout">
            <a:avLst>
              <a:gd name="adj1" fmla="val -59294"/>
              <a:gd name="adj2" fmla="val 55106"/>
              <a:gd name="adj3" fmla="val 0"/>
            </a:avLst>
          </a:prstGeom>
          <a:noFill/>
          <a:ln w="9525" cap="flat" cmpd="sng">
            <a:solidFill>
              <a:schemeClr val="accent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accent2"/>
                </a:solidFill>
                <a:latin typeface="Roboto"/>
                <a:ea typeface="Roboto"/>
                <a:cs typeface="Roboto"/>
                <a:sym typeface="Roboto"/>
              </a:rPr>
              <a:t>Sure, I'll accept, my old path just expired.</a:t>
            </a:r>
            <a:endParaRPr>
              <a:solidFill>
                <a:schemeClr val="accent2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1314" name="Google Shape;1314;p82"/>
          <p:cNvCxnSpPr/>
          <p:nvPr/>
        </p:nvCxnSpPr>
        <p:spPr>
          <a:xfrm>
            <a:off x="1544750" y="3211375"/>
            <a:ext cx="900900" cy="486600"/>
          </a:xfrm>
          <a:prstGeom prst="straightConnector1">
            <a:avLst/>
          </a:prstGeom>
          <a:noFill/>
          <a:ln w="19050" cap="flat" cmpd="sng">
            <a:solidFill>
              <a:schemeClr val="accent2"/>
            </a:solidFill>
            <a:prstDash val="solid"/>
            <a:round/>
            <a:headEnd type="none" w="med" len="med"/>
            <a:tailEnd type="triangle" w="med" len="med"/>
          </a:ln>
        </p:spPr>
      </p:cxnSp>
      <p:sp>
        <p:nvSpPr>
          <p:cNvPr id="1315" name="Google Shape;1315;p82"/>
          <p:cNvSpPr/>
          <p:nvPr/>
        </p:nvSpPr>
        <p:spPr>
          <a:xfrm>
            <a:off x="2025375" y="2942750"/>
            <a:ext cx="1457400" cy="494700"/>
          </a:xfrm>
          <a:prstGeom prst="roundRect">
            <a:avLst>
              <a:gd name="adj" fmla="val 16667"/>
            </a:avLst>
          </a:prstGeom>
          <a:solidFill>
            <a:srgbClr val="F4CCCC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27425" tIns="27425" rIns="27425" bIns="27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I'm </a:t>
            </a:r>
            <a:r>
              <a:rPr lang="en" b="1">
                <a:latin typeface="Roboto"/>
                <a:ea typeface="Roboto"/>
                <a:cs typeface="Roboto"/>
                <a:sym typeface="Roboto"/>
              </a:rPr>
              <a:t>R1</a:t>
            </a:r>
            <a:r>
              <a:rPr lang="en">
                <a:latin typeface="Roboto"/>
                <a:ea typeface="Roboto"/>
                <a:cs typeface="Roboto"/>
                <a:sym typeface="Roboto"/>
              </a:rPr>
              <a:t>, and </a:t>
            </a:r>
            <a:r>
              <a:rPr lang="en" b="1">
                <a:latin typeface="Roboto"/>
                <a:ea typeface="Roboto"/>
                <a:cs typeface="Roboto"/>
                <a:sym typeface="Roboto"/>
              </a:rPr>
              <a:t>A</a:t>
            </a:r>
            <a:r>
              <a:rPr lang="en">
                <a:latin typeface="Roboto"/>
                <a:ea typeface="Roboto"/>
                <a:cs typeface="Roboto"/>
                <a:sym typeface="Roboto"/>
              </a:rPr>
              <a:t> is </a:t>
            </a:r>
            <a:r>
              <a:rPr lang="en" b="1">
                <a:latin typeface="Roboto"/>
                <a:ea typeface="Roboto"/>
                <a:cs typeface="Roboto"/>
                <a:sym typeface="Roboto"/>
              </a:rPr>
              <a:t>1</a:t>
            </a:r>
            <a:r>
              <a:rPr lang="en">
                <a:latin typeface="Roboto"/>
                <a:ea typeface="Roboto"/>
                <a:cs typeface="Roboto"/>
                <a:sym typeface="Roboto"/>
              </a:rPr>
              <a:t> away from me.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316" name="Google Shape;1316;p82"/>
          <p:cNvSpPr txBox="1"/>
          <p:nvPr/>
        </p:nvSpPr>
        <p:spPr>
          <a:xfrm>
            <a:off x="4981450" y="2166000"/>
            <a:ext cx="3268800" cy="702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27425" tIns="27425" rIns="27425" bIns="27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>
                <a:latin typeface="Roboto"/>
                <a:ea typeface="Roboto"/>
                <a:cs typeface="Roboto"/>
                <a:sym typeface="Roboto"/>
              </a:rPr>
              <a:t>Can we alert R3 of the failure </a:t>
            </a:r>
            <a:r>
              <a:rPr lang="en" i="1" dirty="0">
                <a:latin typeface="Roboto"/>
                <a:ea typeface="Roboto"/>
                <a:cs typeface="Roboto"/>
                <a:sym typeface="Roboto"/>
              </a:rPr>
              <a:t>sooner</a:t>
            </a:r>
            <a:r>
              <a:rPr lang="en" dirty="0">
                <a:latin typeface="Roboto"/>
                <a:ea typeface="Roboto"/>
                <a:cs typeface="Roboto"/>
                <a:sym typeface="Roboto"/>
              </a:rPr>
              <a:t>, so it can delete the old </a:t>
            </a:r>
            <a:r>
              <a:rPr lang="en-US" dirty="0">
                <a:latin typeface="Roboto"/>
                <a:ea typeface="Roboto"/>
                <a:cs typeface="Roboto"/>
                <a:sym typeface="Roboto"/>
              </a:rPr>
              <a:t>broken</a:t>
            </a:r>
            <a:r>
              <a:rPr lang="en" dirty="0">
                <a:latin typeface="Roboto"/>
                <a:ea typeface="Roboto"/>
                <a:cs typeface="Roboto"/>
                <a:sym typeface="Roboto"/>
              </a:rPr>
              <a:t> path earlier (and start accepting new paths)?</a:t>
            </a:r>
            <a:endParaRPr dirty="0">
              <a:latin typeface="Roboto"/>
              <a:ea typeface="Roboto"/>
              <a:cs typeface="Roboto"/>
              <a:sym typeface="Roboto"/>
            </a:endParaRP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0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0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3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21" name="Google Shape;1321;p83"/>
          <p:cNvSpPr txBox="1">
            <a:spLocks noGrp="1"/>
          </p:cNvSpPr>
          <p:nvPr>
            <p:ph type="title"/>
          </p:nvPr>
        </p:nvSpPr>
        <p:spPr>
          <a:xfrm>
            <a:off x="0" y="0"/>
            <a:ext cx="9144000" cy="39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accent3"/>
                </a:solidFill>
              </a:rPr>
              <a:t>Poison for Fast Route Expiry</a:t>
            </a:r>
            <a:endParaRPr/>
          </a:p>
        </p:txBody>
      </p:sp>
      <p:sp>
        <p:nvSpPr>
          <p:cNvPr id="1322" name="Google Shape;1322;p83"/>
          <p:cNvSpPr txBox="1">
            <a:spLocks noGrp="1"/>
          </p:cNvSpPr>
          <p:nvPr>
            <p:ph type="body" idx="1"/>
          </p:nvPr>
        </p:nvSpPr>
        <p:spPr>
          <a:xfrm>
            <a:off x="107050" y="402200"/>
            <a:ext cx="8909700" cy="4530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" dirty="0"/>
              <a:t>Waiting for routes to expire is slow.</a:t>
            </a:r>
            <a:endParaRPr dirty="0"/>
          </a:p>
          <a:p>
            <a:pPr marL="457200" lvl="0" indent="-342900" algn="l" rtl="0">
              <a:spcBef>
                <a:spcPts val="600"/>
              </a:spcBef>
              <a:spcAft>
                <a:spcPts val="0"/>
              </a:spcAft>
              <a:buSzPts val="1800"/>
              <a:buChar char="●"/>
            </a:pPr>
            <a:r>
              <a:rPr lang="en" dirty="0"/>
              <a:t>You keep a </a:t>
            </a:r>
            <a:r>
              <a:rPr lang="en-US" dirty="0"/>
              <a:t>broken</a:t>
            </a:r>
            <a:r>
              <a:rPr lang="en" dirty="0"/>
              <a:t> path in the forwarding table for a long time.</a:t>
            </a:r>
            <a:endParaRPr dirty="0"/>
          </a:p>
          <a:p>
            <a:pPr marL="914400" lvl="1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○"/>
            </a:pPr>
            <a:r>
              <a:rPr lang="en" dirty="0"/>
              <a:t>Packets might get lost during this time.</a:t>
            </a:r>
            <a:endParaRPr dirty="0"/>
          </a:p>
          <a:p>
            <a:pPr marL="914400" lvl="1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○"/>
            </a:pPr>
            <a:r>
              <a:rPr lang="en" dirty="0"/>
              <a:t>You might advertise that </a:t>
            </a:r>
            <a:r>
              <a:rPr lang="en-US" dirty="0"/>
              <a:t>broken</a:t>
            </a:r>
            <a:r>
              <a:rPr lang="en" dirty="0"/>
              <a:t> route to other people.</a:t>
            </a:r>
            <a:endParaRPr dirty="0"/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 dirty="0"/>
              <a:t>You might reject new paths, thinking the </a:t>
            </a:r>
            <a:r>
              <a:rPr lang="en-US" dirty="0"/>
              <a:t>broken</a:t>
            </a:r>
            <a:r>
              <a:rPr lang="en" dirty="0"/>
              <a:t> path is still valid.</a:t>
            </a:r>
            <a:endParaRPr dirty="0"/>
          </a:p>
          <a:p>
            <a:pPr marL="914400" lvl="1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○"/>
            </a:pPr>
            <a:r>
              <a:rPr lang="en" dirty="0"/>
              <a:t>Could have converged on a better path earlier.</a:t>
            </a:r>
            <a:endParaRPr dirty="0"/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 dirty="0"/>
              <a:t>Key problem: When something fails, nobody's reporting it.</a:t>
            </a:r>
            <a:endParaRPr dirty="0"/>
          </a:p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" dirty="0"/>
              <a:t>Solution: </a:t>
            </a:r>
            <a:r>
              <a:rPr lang="en" b="1" dirty="0"/>
              <a:t>Poison</a:t>
            </a:r>
            <a:r>
              <a:rPr lang="en" dirty="0"/>
              <a:t>.</a:t>
            </a:r>
            <a:endParaRPr dirty="0"/>
          </a:p>
          <a:p>
            <a:pPr marL="457200" lvl="0" indent="-342900" algn="l" rtl="0">
              <a:spcBef>
                <a:spcPts val="600"/>
              </a:spcBef>
              <a:spcAft>
                <a:spcPts val="0"/>
              </a:spcAft>
              <a:buSzPts val="1800"/>
              <a:buChar char="●"/>
            </a:pPr>
            <a:r>
              <a:rPr lang="en" dirty="0"/>
              <a:t>Explicitly advertise that a path is </a:t>
            </a:r>
            <a:r>
              <a:rPr lang="en-US" dirty="0"/>
              <a:t>broken</a:t>
            </a:r>
            <a:r>
              <a:rPr lang="en" dirty="0"/>
              <a:t>.</a:t>
            </a:r>
            <a:endParaRPr dirty="0"/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 dirty="0"/>
              <a:t>A path with cost infinity represents a </a:t>
            </a:r>
            <a:r>
              <a:rPr lang="en-US" dirty="0"/>
              <a:t>broken</a:t>
            </a:r>
            <a:r>
              <a:rPr lang="en" dirty="0"/>
              <a:t> path.</a:t>
            </a:r>
            <a:endParaRPr dirty="0"/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 dirty="0"/>
              <a:t>This path propagates just like any other path.</a:t>
            </a:r>
            <a:endParaRPr dirty="0"/>
          </a:p>
          <a:p>
            <a:pPr marL="914400" lvl="1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○"/>
            </a:pPr>
            <a:r>
              <a:rPr lang="en" dirty="0"/>
              <a:t>Routers accept the poison path to invalidate the route.</a:t>
            </a:r>
            <a:endParaRPr dirty="0"/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 dirty="0"/>
              <a:t>Can be much faster than waiting for timeouts!</a:t>
            </a:r>
            <a:endParaRPr dirty="0"/>
          </a:p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endParaRPr dirty="0"/>
          </a:p>
        </p:txBody>
      </p:sp>
    </p:spTree>
  </p:cSld>
  <p:clrMapOvr>
    <a:masterClrMapping/>
  </p:clrMapOvr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3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27" name="Google Shape;1327;p84"/>
          <p:cNvSpPr txBox="1">
            <a:spLocks noGrp="1"/>
          </p:cNvSpPr>
          <p:nvPr>
            <p:ph type="title"/>
          </p:nvPr>
        </p:nvSpPr>
        <p:spPr>
          <a:xfrm>
            <a:off x="0" y="0"/>
            <a:ext cx="9144000" cy="39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accent3"/>
                </a:solidFill>
              </a:rPr>
              <a:t>Poison for Fast Route Expiry</a:t>
            </a:r>
            <a:endParaRPr/>
          </a:p>
        </p:txBody>
      </p:sp>
      <p:sp>
        <p:nvSpPr>
          <p:cNvPr id="1328" name="Google Shape;1328;p84"/>
          <p:cNvSpPr txBox="1">
            <a:spLocks noGrp="1"/>
          </p:cNvSpPr>
          <p:nvPr>
            <p:ph type="body" idx="1"/>
          </p:nvPr>
        </p:nvSpPr>
        <p:spPr>
          <a:xfrm>
            <a:off x="107050" y="402200"/>
            <a:ext cx="8909700" cy="243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" dirty="0"/>
              <a:t>Poison lets us detect </a:t>
            </a:r>
            <a:r>
              <a:rPr lang="en-US" dirty="0"/>
              <a:t>broken</a:t>
            </a:r>
            <a:r>
              <a:rPr lang="en" dirty="0"/>
              <a:t> routes faster. Let's watch the demo again.</a:t>
            </a:r>
            <a:endParaRPr dirty="0"/>
          </a:p>
        </p:txBody>
      </p:sp>
      <p:graphicFrame>
        <p:nvGraphicFramePr>
          <p:cNvPr id="1329" name="Google Shape;1329;p84"/>
          <p:cNvGraphicFramePr/>
          <p:nvPr/>
        </p:nvGraphicFramePr>
        <p:xfrm>
          <a:off x="5563769" y="3662700"/>
          <a:ext cx="2392150" cy="688770"/>
        </p:xfrm>
        <a:graphic>
          <a:graphicData uri="http://schemas.openxmlformats.org/drawingml/2006/table">
            <a:tbl>
              <a:tblPr>
                <a:noFill/>
              </a:tblPr>
              <a:tblGrid>
                <a:gridCol w="45622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1627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05185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4678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121925">
                <a:tc gridSpan="4"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latin typeface="Roboto"/>
                          <a:ea typeface="Roboto"/>
                          <a:cs typeface="Roboto"/>
                          <a:sym typeface="Roboto"/>
                        </a:rPr>
                        <a:t>R3's Table</a:t>
                      </a:r>
                      <a:endParaRPr sz="12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21925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latin typeface="Roboto"/>
                          <a:ea typeface="Roboto"/>
                          <a:cs typeface="Roboto"/>
                          <a:sym typeface="Roboto"/>
                        </a:rPr>
                        <a:t>To:</a:t>
                      </a:r>
                      <a:endParaRPr sz="12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/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latin typeface="Roboto"/>
                          <a:ea typeface="Roboto"/>
                          <a:cs typeface="Roboto"/>
                          <a:sym typeface="Roboto"/>
                        </a:rPr>
                        <a:t>Via:</a:t>
                      </a:r>
                      <a:endParaRPr sz="12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/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latin typeface="Roboto"/>
                          <a:ea typeface="Roboto"/>
                          <a:cs typeface="Roboto"/>
                          <a:sym typeface="Roboto"/>
                        </a:rPr>
                        <a:t>Cost:</a:t>
                      </a:r>
                      <a:endParaRPr sz="12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/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latin typeface="Roboto"/>
                          <a:ea typeface="Roboto"/>
                          <a:cs typeface="Roboto"/>
                          <a:sym typeface="Roboto"/>
                        </a:rPr>
                        <a:t>TTL:</a:t>
                      </a:r>
                      <a:endParaRPr sz="12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21925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latin typeface="Roboto"/>
                          <a:ea typeface="Roboto"/>
                          <a:cs typeface="Roboto"/>
                          <a:sym typeface="Roboto"/>
                        </a:rPr>
                        <a:t>A</a:t>
                      </a:r>
                      <a:endParaRPr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/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latin typeface="Roboto"/>
                          <a:ea typeface="Roboto"/>
                          <a:cs typeface="Roboto"/>
                          <a:sym typeface="Roboto"/>
                        </a:rPr>
                        <a:t>R2</a:t>
                      </a:r>
                      <a:endParaRPr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/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latin typeface="Roboto"/>
                          <a:ea typeface="Roboto"/>
                          <a:cs typeface="Roboto"/>
                          <a:sym typeface="Roboto"/>
                        </a:rPr>
                        <a:t>2</a:t>
                      </a:r>
                      <a:endParaRPr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/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b="1">
                          <a:latin typeface="Roboto"/>
                          <a:ea typeface="Roboto"/>
                          <a:cs typeface="Roboto"/>
                          <a:sym typeface="Roboto"/>
                        </a:rPr>
                        <a:t>13</a:t>
                      </a:r>
                      <a:endParaRPr b="1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</a:tbl>
          </a:graphicData>
        </a:graphic>
      </p:graphicFrame>
      <p:sp>
        <p:nvSpPr>
          <p:cNvPr id="1330" name="Google Shape;1330;p84"/>
          <p:cNvSpPr txBox="1"/>
          <p:nvPr/>
        </p:nvSpPr>
        <p:spPr>
          <a:xfrm>
            <a:off x="6406750" y="3323475"/>
            <a:ext cx="706200" cy="2709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spcFirstLastPara="1" wrap="square" lIns="27425" tIns="27425" rIns="27425" bIns="27425" anchor="t" anchorCtr="0">
            <a:sp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t = </a:t>
            </a:r>
            <a:r>
              <a:rPr lang="en" b="1">
                <a:latin typeface="Roboto"/>
                <a:ea typeface="Roboto"/>
                <a:cs typeface="Roboto"/>
                <a:sym typeface="Roboto"/>
              </a:rPr>
              <a:t>3</a:t>
            </a:r>
            <a:endParaRPr b="1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331" name="Google Shape;1331;p84"/>
          <p:cNvSpPr txBox="1"/>
          <p:nvPr/>
        </p:nvSpPr>
        <p:spPr>
          <a:xfrm>
            <a:off x="7496325" y="4110050"/>
            <a:ext cx="449700" cy="2319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b="1">
                <a:latin typeface="Roboto"/>
                <a:ea typeface="Roboto"/>
                <a:cs typeface="Roboto"/>
                <a:sym typeface="Roboto"/>
              </a:rPr>
              <a:t>12</a:t>
            </a:r>
            <a:endParaRPr b="1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332" name="Google Shape;1332;p84"/>
          <p:cNvSpPr/>
          <p:nvPr/>
        </p:nvSpPr>
        <p:spPr>
          <a:xfrm>
            <a:off x="2774913" y="3884850"/>
            <a:ext cx="285000" cy="285000"/>
          </a:xfrm>
          <a:prstGeom prst="rect">
            <a:avLst/>
          </a:prstGeom>
          <a:solidFill>
            <a:srgbClr val="FFFFFF"/>
          </a:solidFill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R3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1333" name="Google Shape;1333;p84"/>
          <p:cNvCxnSpPr>
            <a:stCxn id="1334" idx="3"/>
            <a:endCxn id="1332" idx="1"/>
          </p:cNvCxnSpPr>
          <p:nvPr/>
        </p:nvCxnSpPr>
        <p:spPr>
          <a:xfrm rot="10800000" flipH="1">
            <a:off x="1224263" y="4027408"/>
            <a:ext cx="1550700" cy="900"/>
          </a:xfrm>
          <a:prstGeom prst="straightConnector1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1334" name="Google Shape;1334;p84"/>
          <p:cNvSpPr/>
          <p:nvPr/>
        </p:nvSpPr>
        <p:spPr>
          <a:xfrm>
            <a:off x="939263" y="3885808"/>
            <a:ext cx="285000" cy="285000"/>
          </a:xfrm>
          <a:prstGeom prst="rect">
            <a:avLst/>
          </a:prstGeom>
          <a:solidFill>
            <a:srgbClr val="FFFFFF"/>
          </a:solidFill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R2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335" name="Google Shape;1335;p84"/>
          <p:cNvSpPr/>
          <p:nvPr/>
        </p:nvSpPr>
        <p:spPr>
          <a:xfrm>
            <a:off x="939263" y="3047608"/>
            <a:ext cx="285000" cy="285000"/>
          </a:xfrm>
          <a:prstGeom prst="rect">
            <a:avLst/>
          </a:prstGeom>
          <a:solidFill>
            <a:srgbClr val="FFFFFF"/>
          </a:solidFill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R1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1336" name="Google Shape;1336;p84"/>
          <p:cNvCxnSpPr>
            <a:stCxn id="1335" idx="3"/>
            <a:endCxn id="1332" idx="1"/>
          </p:cNvCxnSpPr>
          <p:nvPr/>
        </p:nvCxnSpPr>
        <p:spPr>
          <a:xfrm>
            <a:off x="1224263" y="3190108"/>
            <a:ext cx="1550700" cy="837300"/>
          </a:xfrm>
          <a:prstGeom prst="straightConnector1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1337" name="Google Shape;1337;p84"/>
          <p:cNvSpPr/>
          <p:nvPr/>
        </p:nvSpPr>
        <p:spPr>
          <a:xfrm>
            <a:off x="253463" y="3885800"/>
            <a:ext cx="285000" cy="285000"/>
          </a:xfrm>
          <a:prstGeom prst="ellipse">
            <a:avLst/>
          </a:prstGeom>
          <a:solidFill>
            <a:srgbClr val="FFFFFF"/>
          </a:solidFill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A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1338" name="Google Shape;1338;p84"/>
          <p:cNvCxnSpPr>
            <a:stCxn id="1337" idx="6"/>
            <a:endCxn id="1334" idx="1"/>
          </p:cNvCxnSpPr>
          <p:nvPr/>
        </p:nvCxnSpPr>
        <p:spPr>
          <a:xfrm>
            <a:off x="538463" y="4028300"/>
            <a:ext cx="400800" cy="0"/>
          </a:xfrm>
          <a:prstGeom prst="straightConnector1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1339" name="Google Shape;1339;p84"/>
          <p:cNvCxnSpPr>
            <a:stCxn id="1337" idx="0"/>
            <a:endCxn id="1335" idx="1"/>
          </p:cNvCxnSpPr>
          <p:nvPr/>
        </p:nvCxnSpPr>
        <p:spPr>
          <a:xfrm rot="10800000" flipH="1">
            <a:off x="395963" y="3190100"/>
            <a:ext cx="543300" cy="695700"/>
          </a:xfrm>
          <a:prstGeom prst="straightConnector1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1340" name="Google Shape;1340;p84"/>
          <p:cNvSpPr txBox="1"/>
          <p:nvPr/>
        </p:nvSpPr>
        <p:spPr>
          <a:xfrm>
            <a:off x="4997650" y="2776700"/>
            <a:ext cx="3524400" cy="270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27425" tIns="27425" rIns="27425" bIns="27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Assume that by t=3, R3 knows a route to A.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341" name="Google Shape;1341;p84"/>
          <p:cNvSpPr txBox="1"/>
          <p:nvPr/>
        </p:nvSpPr>
        <p:spPr>
          <a:xfrm>
            <a:off x="6406750" y="3323475"/>
            <a:ext cx="706200" cy="2709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spcFirstLastPara="1" wrap="square" lIns="27425" tIns="27425" rIns="27425" bIns="27425" anchor="t" anchorCtr="0">
            <a:sp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t = </a:t>
            </a:r>
            <a:r>
              <a:rPr lang="en" b="1">
                <a:latin typeface="Roboto"/>
                <a:ea typeface="Roboto"/>
                <a:cs typeface="Roboto"/>
                <a:sym typeface="Roboto"/>
              </a:rPr>
              <a:t>4</a:t>
            </a:r>
            <a:endParaRPr b="1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342" name="Google Shape;1342;p84"/>
          <p:cNvSpPr txBox="1"/>
          <p:nvPr/>
        </p:nvSpPr>
        <p:spPr>
          <a:xfrm>
            <a:off x="7496325" y="4110050"/>
            <a:ext cx="449700" cy="2319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b="1">
                <a:latin typeface="Roboto"/>
                <a:ea typeface="Roboto"/>
                <a:cs typeface="Roboto"/>
                <a:sym typeface="Roboto"/>
              </a:rPr>
              <a:t>11</a:t>
            </a:r>
            <a:endParaRPr b="1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343" name="Google Shape;1343;p84"/>
          <p:cNvSpPr txBox="1"/>
          <p:nvPr/>
        </p:nvSpPr>
        <p:spPr>
          <a:xfrm>
            <a:off x="6406750" y="3323475"/>
            <a:ext cx="706200" cy="2709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spcFirstLastPara="1" wrap="square" lIns="27425" tIns="27425" rIns="27425" bIns="27425" anchor="t" anchorCtr="0">
            <a:sp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t = </a:t>
            </a:r>
            <a:r>
              <a:rPr lang="en" b="1">
                <a:latin typeface="Roboto"/>
                <a:ea typeface="Roboto"/>
                <a:cs typeface="Roboto"/>
                <a:sym typeface="Roboto"/>
              </a:rPr>
              <a:t>5</a:t>
            </a:r>
            <a:endParaRPr b="1">
              <a:latin typeface="Roboto"/>
              <a:ea typeface="Roboto"/>
              <a:cs typeface="Roboto"/>
              <a:sym typeface="Roboto"/>
            </a:endParaRP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3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348" name="Google Shape;1348;p85"/>
          <p:cNvGraphicFramePr/>
          <p:nvPr/>
        </p:nvGraphicFramePr>
        <p:xfrm>
          <a:off x="5563769" y="3662700"/>
          <a:ext cx="2392150" cy="688770"/>
        </p:xfrm>
        <a:graphic>
          <a:graphicData uri="http://schemas.openxmlformats.org/drawingml/2006/table">
            <a:tbl>
              <a:tblPr>
                <a:noFill/>
              </a:tblPr>
              <a:tblGrid>
                <a:gridCol w="45622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1627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05185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4678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121925">
                <a:tc gridSpan="4"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latin typeface="Roboto"/>
                          <a:ea typeface="Roboto"/>
                          <a:cs typeface="Roboto"/>
                          <a:sym typeface="Roboto"/>
                        </a:rPr>
                        <a:t>R3's Table</a:t>
                      </a:r>
                      <a:endParaRPr sz="12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>
                    <a:solidFill>
                      <a:srgbClr val="FFFFFF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21925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latin typeface="Roboto"/>
                          <a:ea typeface="Roboto"/>
                          <a:cs typeface="Roboto"/>
                          <a:sym typeface="Roboto"/>
                        </a:rPr>
                        <a:t>To:</a:t>
                      </a:r>
                      <a:endParaRPr sz="12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latin typeface="Roboto"/>
                          <a:ea typeface="Roboto"/>
                          <a:cs typeface="Roboto"/>
                          <a:sym typeface="Roboto"/>
                        </a:rPr>
                        <a:t>Via:</a:t>
                      </a:r>
                      <a:endParaRPr sz="12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latin typeface="Roboto"/>
                          <a:ea typeface="Roboto"/>
                          <a:cs typeface="Roboto"/>
                          <a:sym typeface="Roboto"/>
                        </a:rPr>
                        <a:t>Cost:</a:t>
                      </a:r>
                      <a:endParaRPr sz="12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latin typeface="Roboto"/>
                          <a:ea typeface="Roboto"/>
                          <a:cs typeface="Roboto"/>
                          <a:sym typeface="Roboto"/>
                        </a:rPr>
                        <a:t>TTL:</a:t>
                      </a:r>
                      <a:endParaRPr sz="12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21925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latin typeface="Roboto"/>
                          <a:ea typeface="Roboto"/>
                          <a:cs typeface="Roboto"/>
                          <a:sym typeface="Roboto"/>
                        </a:rPr>
                        <a:t>A</a:t>
                      </a:r>
                      <a:endParaRPr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latin typeface="Roboto"/>
                          <a:ea typeface="Roboto"/>
                          <a:cs typeface="Roboto"/>
                          <a:sym typeface="Roboto"/>
                        </a:rPr>
                        <a:t>R2</a:t>
                      </a:r>
                      <a:endParaRPr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latin typeface="Roboto"/>
                          <a:ea typeface="Roboto"/>
                          <a:cs typeface="Roboto"/>
                          <a:sym typeface="Roboto"/>
                        </a:rPr>
                        <a:t>2</a:t>
                      </a:r>
                      <a:endParaRPr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b="1">
                          <a:latin typeface="Roboto"/>
                          <a:ea typeface="Roboto"/>
                          <a:cs typeface="Roboto"/>
                          <a:sym typeface="Roboto"/>
                        </a:rPr>
                        <a:t>10</a:t>
                      </a:r>
                      <a:endParaRPr b="1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</a:tbl>
          </a:graphicData>
        </a:graphic>
      </p:graphicFrame>
      <p:sp>
        <p:nvSpPr>
          <p:cNvPr id="1349" name="Google Shape;1349;p85"/>
          <p:cNvSpPr txBox="1">
            <a:spLocks noGrp="1"/>
          </p:cNvSpPr>
          <p:nvPr>
            <p:ph type="title"/>
          </p:nvPr>
        </p:nvSpPr>
        <p:spPr>
          <a:xfrm>
            <a:off x="0" y="0"/>
            <a:ext cx="9144000" cy="39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accent3"/>
                </a:solidFill>
              </a:rPr>
              <a:t>Poison for Fast Route Expiry</a:t>
            </a:r>
            <a:endParaRPr/>
          </a:p>
        </p:txBody>
      </p:sp>
      <p:sp>
        <p:nvSpPr>
          <p:cNvPr id="1350" name="Google Shape;1350;p85"/>
          <p:cNvSpPr txBox="1">
            <a:spLocks noGrp="1"/>
          </p:cNvSpPr>
          <p:nvPr>
            <p:ph type="body" idx="1"/>
          </p:nvPr>
        </p:nvSpPr>
        <p:spPr>
          <a:xfrm>
            <a:off x="107050" y="402200"/>
            <a:ext cx="8909700" cy="13485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" dirty="0"/>
              <a:t>Poison lets us detect </a:t>
            </a:r>
            <a:r>
              <a:rPr lang="en-US" dirty="0"/>
              <a:t>broken</a:t>
            </a:r>
            <a:r>
              <a:rPr lang="en" dirty="0"/>
              <a:t> routes faster. Let's watch the demo again.</a:t>
            </a:r>
            <a:endParaRPr dirty="0"/>
          </a:p>
        </p:txBody>
      </p:sp>
      <p:sp>
        <p:nvSpPr>
          <p:cNvPr id="1351" name="Google Shape;1351;p85"/>
          <p:cNvSpPr txBox="1"/>
          <p:nvPr/>
        </p:nvSpPr>
        <p:spPr>
          <a:xfrm>
            <a:off x="6406750" y="3323475"/>
            <a:ext cx="706200" cy="270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27425" tIns="27425" rIns="27425" bIns="27425" anchor="t" anchorCtr="0">
            <a:sp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t = </a:t>
            </a:r>
            <a:r>
              <a:rPr lang="en" b="1">
                <a:latin typeface="Roboto"/>
                <a:ea typeface="Roboto"/>
                <a:cs typeface="Roboto"/>
                <a:sym typeface="Roboto"/>
              </a:rPr>
              <a:t>6</a:t>
            </a:r>
            <a:endParaRPr b="1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352" name="Google Shape;1352;p85"/>
          <p:cNvSpPr txBox="1"/>
          <p:nvPr/>
        </p:nvSpPr>
        <p:spPr>
          <a:xfrm>
            <a:off x="4397500" y="4455575"/>
            <a:ext cx="4078500" cy="486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27425" tIns="27425" rIns="27425" bIns="27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>
                <a:latin typeface="Roboto"/>
                <a:ea typeface="Roboto"/>
                <a:cs typeface="Roboto"/>
                <a:sym typeface="Roboto"/>
              </a:rPr>
              <a:t>R3 updates the table to indicate the path is </a:t>
            </a:r>
            <a:r>
              <a:rPr lang="en-US" dirty="0">
                <a:latin typeface="Roboto"/>
                <a:ea typeface="Roboto"/>
                <a:cs typeface="Roboto"/>
                <a:sym typeface="Roboto"/>
              </a:rPr>
              <a:t>broken</a:t>
            </a:r>
            <a:r>
              <a:rPr lang="en" dirty="0">
                <a:latin typeface="Roboto"/>
                <a:ea typeface="Roboto"/>
                <a:cs typeface="Roboto"/>
                <a:sym typeface="Roboto"/>
              </a:rPr>
              <a:t>. TTL recharges, just like any other update.</a:t>
            </a:r>
            <a:endParaRPr dirty="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353" name="Google Shape;1353;p85"/>
          <p:cNvSpPr txBox="1"/>
          <p:nvPr/>
        </p:nvSpPr>
        <p:spPr>
          <a:xfrm>
            <a:off x="467225" y="4170800"/>
            <a:ext cx="543300" cy="702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27425" tIns="27425" rIns="27425" bIns="27425" anchor="t" anchorCtr="0">
            <a:sp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accent2"/>
                </a:solidFill>
                <a:latin typeface="Roboto"/>
                <a:ea typeface="Roboto"/>
                <a:cs typeface="Roboto"/>
                <a:sym typeface="Roboto"/>
              </a:rPr>
              <a:t>Link goes down!</a:t>
            </a:r>
            <a:endParaRPr>
              <a:solidFill>
                <a:schemeClr val="accent2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354" name="Google Shape;1354;p85"/>
          <p:cNvSpPr/>
          <p:nvPr/>
        </p:nvSpPr>
        <p:spPr>
          <a:xfrm>
            <a:off x="3350125" y="3491450"/>
            <a:ext cx="1805700" cy="535800"/>
          </a:xfrm>
          <a:prstGeom prst="wedgeRoundRectCallout">
            <a:avLst>
              <a:gd name="adj1" fmla="val -59294"/>
              <a:gd name="adj2" fmla="val 55106"/>
              <a:gd name="adj3" fmla="val 0"/>
            </a:avLst>
          </a:prstGeom>
          <a:noFill/>
          <a:ln w="9525" cap="flat" cmpd="sng">
            <a:solidFill>
              <a:schemeClr val="accent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>
                <a:solidFill>
                  <a:schemeClr val="accent2"/>
                </a:solidFill>
                <a:latin typeface="Roboto"/>
                <a:ea typeface="Roboto"/>
                <a:cs typeface="Roboto"/>
                <a:sym typeface="Roboto"/>
              </a:rPr>
              <a:t>Looks like the path via R2 is </a:t>
            </a:r>
            <a:r>
              <a:rPr lang="en-US" dirty="0">
                <a:solidFill>
                  <a:schemeClr val="accent2"/>
                </a:solidFill>
                <a:latin typeface="Roboto"/>
                <a:ea typeface="Roboto"/>
                <a:cs typeface="Roboto"/>
                <a:sym typeface="Roboto"/>
              </a:rPr>
              <a:t>broken</a:t>
            </a:r>
            <a:r>
              <a:rPr lang="en" dirty="0">
                <a:solidFill>
                  <a:schemeClr val="accent2"/>
                </a:solidFill>
                <a:latin typeface="Roboto"/>
                <a:ea typeface="Roboto"/>
                <a:cs typeface="Roboto"/>
                <a:sym typeface="Roboto"/>
              </a:rPr>
              <a:t>.</a:t>
            </a:r>
            <a:endParaRPr dirty="0">
              <a:solidFill>
                <a:schemeClr val="accent2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355" name="Google Shape;1355;p85"/>
          <p:cNvSpPr/>
          <p:nvPr/>
        </p:nvSpPr>
        <p:spPr>
          <a:xfrm>
            <a:off x="2774913" y="3884850"/>
            <a:ext cx="285000" cy="285000"/>
          </a:xfrm>
          <a:prstGeom prst="rect">
            <a:avLst/>
          </a:prstGeom>
          <a:solidFill>
            <a:srgbClr val="FFFFFF"/>
          </a:solidFill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R3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1356" name="Google Shape;1356;p85"/>
          <p:cNvCxnSpPr>
            <a:stCxn id="1357" idx="3"/>
            <a:endCxn id="1355" idx="1"/>
          </p:cNvCxnSpPr>
          <p:nvPr/>
        </p:nvCxnSpPr>
        <p:spPr>
          <a:xfrm rot="10800000" flipH="1">
            <a:off x="1224263" y="4027408"/>
            <a:ext cx="1550700" cy="900"/>
          </a:xfrm>
          <a:prstGeom prst="straightConnector1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1357" name="Google Shape;1357;p85"/>
          <p:cNvSpPr/>
          <p:nvPr/>
        </p:nvSpPr>
        <p:spPr>
          <a:xfrm>
            <a:off x="939263" y="3885808"/>
            <a:ext cx="285000" cy="285000"/>
          </a:xfrm>
          <a:prstGeom prst="rect">
            <a:avLst/>
          </a:prstGeom>
          <a:solidFill>
            <a:srgbClr val="FFFFFF"/>
          </a:solidFill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R2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358" name="Google Shape;1358;p85"/>
          <p:cNvSpPr/>
          <p:nvPr/>
        </p:nvSpPr>
        <p:spPr>
          <a:xfrm>
            <a:off x="939263" y="3047608"/>
            <a:ext cx="285000" cy="285000"/>
          </a:xfrm>
          <a:prstGeom prst="rect">
            <a:avLst/>
          </a:prstGeom>
          <a:solidFill>
            <a:srgbClr val="FFFFFF"/>
          </a:solidFill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R1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1359" name="Google Shape;1359;p85"/>
          <p:cNvCxnSpPr>
            <a:stCxn id="1358" idx="3"/>
            <a:endCxn id="1355" idx="1"/>
          </p:cNvCxnSpPr>
          <p:nvPr/>
        </p:nvCxnSpPr>
        <p:spPr>
          <a:xfrm>
            <a:off x="1224263" y="3190108"/>
            <a:ext cx="1550700" cy="837300"/>
          </a:xfrm>
          <a:prstGeom prst="straightConnector1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1360" name="Google Shape;1360;p85"/>
          <p:cNvSpPr/>
          <p:nvPr/>
        </p:nvSpPr>
        <p:spPr>
          <a:xfrm>
            <a:off x="253463" y="3885800"/>
            <a:ext cx="285000" cy="285000"/>
          </a:xfrm>
          <a:prstGeom prst="ellipse">
            <a:avLst/>
          </a:prstGeom>
          <a:solidFill>
            <a:srgbClr val="FFFFFF"/>
          </a:solidFill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A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1361" name="Google Shape;1361;p85"/>
          <p:cNvCxnSpPr>
            <a:stCxn id="1360" idx="6"/>
            <a:endCxn id="1357" idx="1"/>
          </p:cNvCxnSpPr>
          <p:nvPr/>
        </p:nvCxnSpPr>
        <p:spPr>
          <a:xfrm>
            <a:off x="538463" y="4028300"/>
            <a:ext cx="400800" cy="0"/>
          </a:xfrm>
          <a:prstGeom prst="straightConnector1">
            <a:avLst/>
          </a:prstGeom>
          <a:noFill/>
          <a:ln w="19050" cap="flat" cmpd="sng">
            <a:solidFill>
              <a:schemeClr val="accent2"/>
            </a:solidFill>
            <a:prstDash val="dash"/>
            <a:round/>
            <a:headEnd type="none" w="med" len="med"/>
            <a:tailEnd type="none" w="med" len="med"/>
          </a:ln>
        </p:spPr>
      </p:cxnSp>
      <p:cxnSp>
        <p:nvCxnSpPr>
          <p:cNvPr id="1362" name="Google Shape;1362;p85"/>
          <p:cNvCxnSpPr>
            <a:stCxn id="1360" idx="0"/>
            <a:endCxn id="1358" idx="1"/>
          </p:cNvCxnSpPr>
          <p:nvPr/>
        </p:nvCxnSpPr>
        <p:spPr>
          <a:xfrm rot="10800000" flipH="1">
            <a:off x="395963" y="3190100"/>
            <a:ext cx="543300" cy="695700"/>
          </a:xfrm>
          <a:prstGeom prst="straightConnector1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1363" name="Google Shape;1363;p85"/>
          <p:cNvSpPr/>
          <p:nvPr/>
        </p:nvSpPr>
        <p:spPr>
          <a:xfrm>
            <a:off x="1224275" y="4313300"/>
            <a:ext cx="1550700" cy="494700"/>
          </a:xfrm>
          <a:prstGeom prst="roundRect">
            <a:avLst>
              <a:gd name="adj" fmla="val 16667"/>
            </a:avLst>
          </a:prstGeom>
          <a:solidFill>
            <a:srgbClr val="F4CCCC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27425" tIns="27425" rIns="27425" bIns="27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I'm </a:t>
            </a:r>
            <a:r>
              <a:rPr lang="en" b="1">
                <a:latin typeface="Roboto"/>
                <a:ea typeface="Roboto"/>
                <a:cs typeface="Roboto"/>
                <a:sym typeface="Roboto"/>
              </a:rPr>
              <a:t>R2</a:t>
            </a:r>
            <a:r>
              <a:rPr lang="en">
                <a:latin typeface="Roboto"/>
                <a:ea typeface="Roboto"/>
                <a:cs typeface="Roboto"/>
                <a:sym typeface="Roboto"/>
              </a:rPr>
              <a:t>, and </a:t>
            </a:r>
            <a:r>
              <a:rPr lang="en" b="1">
                <a:latin typeface="Roboto"/>
                <a:ea typeface="Roboto"/>
                <a:cs typeface="Roboto"/>
                <a:sym typeface="Roboto"/>
              </a:rPr>
              <a:t>A</a:t>
            </a:r>
            <a:r>
              <a:rPr lang="en">
                <a:latin typeface="Roboto"/>
                <a:ea typeface="Roboto"/>
                <a:cs typeface="Roboto"/>
                <a:sym typeface="Roboto"/>
              </a:rPr>
              <a:t> is</a:t>
            </a:r>
            <a:br>
              <a:rPr lang="en">
                <a:latin typeface="Roboto"/>
                <a:ea typeface="Roboto"/>
                <a:cs typeface="Roboto"/>
                <a:sym typeface="Roboto"/>
              </a:rPr>
            </a:br>
            <a:r>
              <a:rPr lang="en" b="1">
                <a:latin typeface="Roboto"/>
                <a:ea typeface="Roboto"/>
                <a:cs typeface="Roboto"/>
                <a:sym typeface="Roboto"/>
              </a:rPr>
              <a:t>∞</a:t>
            </a:r>
            <a:r>
              <a:rPr lang="en">
                <a:latin typeface="Roboto"/>
                <a:ea typeface="Roboto"/>
                <a:cs typeface="Roboto"/>
                <a:sym typeface="Roboto"/>
              </a:rPr>
              <a:t> away from me.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1364" name="Google Shape;1364;p85"/>
          <p:cNvCxnSpPr/>
          <p:nvPr/>
        </p:nvCxnSpPr>
        <p:spPr>
          <a:xfrm>
            <a:off x="1466525" y="4170800"/>
            <a:ext cx="1066200" cy="0"/>
          </a:xfrm>
          <a:prstGeom prst="straightConnector1">
            <a:avLst/>
          </a:prstGeom>
          <a:noFill/>
          <a:ln w="19050" cap="flat" cmpd="sng">
            <a:solidFill>
              <a:schemeClr val="accent2"/>
            </a:solidFill>
            <a:prstDash val="solid"/>
            <a:round/>
            <a:headEnd type="none" w="med" len="med"/>
            <a:tailEnd type="triangle" w="med" len="med"/>
          </a:ln>
        </p:spPr>
      </p:cxnSp>
      <p:graphicFrame>
        <p:nvGraphicFramePr>
          <p:cNvPr id="1365" name="Google Shape;1365;p85"/>
          <p:cNvGraphicFramePr/>
          <p:nvPr/>
        </p:nvGraphicFramePr>
        <p:xfrm>
          <a:off x="5563769" y="3662700"/>
          <a:ext cx="2392150" cy="688770"/>
        </p:xfrm>
        <a:graphic>
          <a:graphicData uri="http://schemas.openxmlformats.org/drawingml/2006/table">
            <a:tbl>
              <a:tblPr>
                <a:noFill/>
              </a:tblPr>
              <a:tblGrid>
                <a:gridCol w="45622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1627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05185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4678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121925">
                <a:tc gridSpan="4"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latin typeface="Roboto"/>
                          <a:ea typeface="Roboto"/>
                          <a:cs typeface="Roboto"/>
                          <a:sym typeface="Roboto"/>
                        </a:rPr>
                        <a:t>R3's Table</a:t>
                      </a:r>
                      <a:endParaRPr sz="12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>
                    <a:solidFill>
                      <a:srgbClr val="FFFFFF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21925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latin typeface="Roboto"/>
                          <a:ea typeface="Roboto"/>
                          <a:cs typeface="Roboto"/>
                          <a:sym typeface="Roboto"/>
                        </a:rPr>
                        <a:t>To:</a:t>
                      </a:r>
                      <a:endParaRPr sz="12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latin typeface="Roboto"/>
                          <a:ea typeface="Roboto"/>
                          <a:cs typeface="Roboto"/>
                          <a:sym typeface="Roboto"/>
                        </a:rPr>
                        <a:t>Via:</a:t>
                      </a:r>
                      <a:endParaRPr sz="12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latin typeface="Roboto"/>
                          <a:ea typeface="Roboto"/>
                          <a:cs typeface="Roboto"/>
                          <a:sym typeface="Roboto"/>
                        </a:rPr>
                        <a:t>Cost:</a:t>
                      </a:r>
                      <a:endParaRPr sz="12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latin typeface="Roboto"/>
                          <a:ea typeface="Roboto"/>
                          <a:cs typeface="Roboto"/>
                          <a:sym typeface="Roboto"/>
                        </a:rPr>
                        <a:t>TTL:</a:t>
                      </a:r>
                      <a:endParaRPr sz="12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21925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b="1">
                          <a:latin typeface="Roboto"/>
                          <a:ea typeface="Roboto"/>
                          <a:cs typeface="Roboto"/>
                          <a:sym typeface="Roboto"/>
                        </a:rPr>
                        <a:t>A</a:t>
                      </a:r>
                      <a:endParaRPr b="1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>
                    <a:solidFill>
                      <a:srgbClr val="F4CCCC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b="1">
                          <a:latin typeface="Roboto"/>
                          <a:ea typeface="Roboto"/>
                          <a:cs typeface="Roboto"/>
                          <a:sym typeface="Roboto"/>
                        </a:rPr>
                        <a:t>R2</a:t>
                      </a:r>
                      <a:endParaRPr b="1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>
                    <a:solidFill>
                      <a:srgbClr val="F4CCCC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b="1">
                          <a:latin typeface="Roboto"/>
                          <a:ea typeface="Roboto"/>
                          <a:cs typeface="Roboto"/>
                          <a:sym typeface="Roboto"/>
                        </a:rPr>
                        <a:t>∞</a:t>
                      </a:r>
                      <a:endParaRPr b="1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>
                    <a:solidFill>
                      <a:srgbClr val="F4CCCC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b="1">
                          <a:latin typeface="Roboto"/>
                          <a:ea typeface="Roboto"/>
                          <a:cs typeface="Roboto"/>
                          <a:sym typeface="Roboto"/>
                        </a:rPr>
                        <a:t>16</a:t>
                      </a:r>
                      <a:endParaRPr b="1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>
                    <a:solidFill>
                      <a:srgbClr val="F4CCC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</a:tbl>
          </a:graphicData>
        </a:graphic>
      </p:graphicFrame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3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370" name="Google Shape;1370;p86"/>
          <p:cNvGraphicFramePr/>
          <p:nvPr/>
        </p:nvGraphicFramePr>
        <p:xfrm>
          <a:off x="5563769" y="3662700"/>
          <a:ext cx="2392150" cy="688770"/>
        </p:xfrm>
        <a:graphic>
          <a:graphicData uri="http://schemas.openxmlformats.org/drawingml/2006/table">
            <a:tbl>
              <a:tblPr>
                <a:noFill/>
              </a:tblPr>
              <a:tblGrid>
                <a:gridCol w="45622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1627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05185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4678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121925">
                <a:tc gridSpan="4"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latin typeface="Roboto"/>
                          <a:ea typeface="Roboto"/>
                          <a:cs typeface="Roboto"/>
                          <a:sym typeface="Roboto"/>
                        </a:rPr>
                        <a:t>R3's Table</a:t>
                      </a:r>
                      <a:endParaRPr sz="12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>
                    <a:solidFill>
                      <a:srgbClr val="FFFFFF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21925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latin typeface="Roboto"/>
                          <a:ea typeface="Roboto"/>
                          <a:cs typeface="Roboto"/>
                          <a:sym typeface="Roboto"/>
                        </a:rPr>
                        <a:t>To:</a:t>
                      </a:r>
                      <a:endParaRPr sz="12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latin typeface="Roboto"/>
                          <a:ea typeface="Roboto"/>
                          <a:cs typeface="Roboto"/>
                          <a:sym typeface="Roboto"/>
                        </a:rPr>
                        <a:t>Via:</a:t>
                      </a:r>
                      <a:endParaRPr sz="12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latin typeface="Roboto"/>
                          <a:ea typeface="Roboto"/>
                          <a:cs typeface="Roboto"/>
                          <a:sym typeface="Roboto"/>
                        </a:rPr>
                        <a:t>Cost:</a:t>
                      </a:r>
                      <a:endParaRPr sz="12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latin typeface="Roboto"/>
                          <a:ea typeface="Roboto"/>
                          <a:cs typeface="Roboto"/>
                          <a:sym typeface="Roboto"/>
                        </a:rPr>
                        <a:t>TTL:</a:t>
                      </a:r>
                      <a:endParaRPr sz="12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21925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latin typeface="Roboto"/>
                          <a:ea typeface="Roboto"/>
                          <a:cs typeface="Roboto"/>
                          <a:sym typeface="Roboto"/>
                        </a:rPr>
                        <a:t>A</a:t>
                      </a:r>
                      <a:endParaRPr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latin typeface="Roboto"/>
                          <a:ea typeface="Roboto"/>
                          <a:cs typeface="Roboto"/>
                          <a:sym typeface="Roboto"/>
                        </a:rPr>
                        <a:t>R2</a:t>
                      </a:r>
                      <a:endParaRPr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latin typeface="Roboto"/>
                          <a:ea typeface="Roboto"/>
                          <a:cs typeface="Roboto"/>
                          <a:sym typeface="Roboto"/>
                        </a:rPr>
                        <a:t>∞</a:t>
                      </a:r>
                      <a:endParaRPr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latin typeface="Roboto"/>
                          <a:ea typeface="Roboto"/>
                          <a:cs typeface="Roboto"/>
                          <a:sym typeface="Roboto"/>
                        </a:rPr>
                        <a:t>16</a:t>
                      </a:r>
                      <a:endParaRPr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</a:tbl>
          </a:graphicData>
        </a:graphic>
      </p:graphicFrame>
      <p:graphicFrame>
        <p:nvGraphicFramePr>
          <p:cNvPr id="1371" name="Google Shape;1371;p86"/>
          <p:cNvGraphicFramePr/>
          <p:nvPr/>
        </p:nvGraphicFramePr>
        <p:xfrm>
          <a:off x="5563769" y="3662700"/>
          <a:ext cx="2392150" cy="688770"/>
        </p:xfrm>
        <a:graphic>
          <a:graphicData uri="http://schemas.openxmlformats.org/drawingml/2006/table">
            <a:tbl>
              <a:tblPr>
                <a:noFill/>
              </a:tblPr>
              <a:tblGrid>
                <a:gridCol w="45622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1627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05185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4678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121925">
                <a:tc gridSpan="4"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latin typeface="Roboto"/>
                          <a:ea typeface="Roboto"/>
                          <a:cs typeface="Roboto"/>
                          <a:sym typeface="Roboto"/>
                        </a:rPr>
                        <a:t>R3's Table</a:t>
                      </a:r>
                      <a:endParaRPr sz="12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>
                    <a:solidFill>
                      <a:srgbClr val="FFFFFF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21925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latin typeface="Roboto"/>
                          <a:ea typeface="Roboto"/>
                          <a:cs typeface="Roboto"/>
                          <a:sym typeface="Roboto"/>
                        </a:rPr>
                        <a:t>To:</a:t>
                      </a:r>
                      <a:endParaRPr sz="12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latin typeface="Roboto"/>
                          <a:ea typeface="Roboto"/>
                          <a:cs typeface="Roboto"/>
                          <a:sym typeface="Roboto"/>
                        </a:rPr>
                        <a:t>Via:</a:t>
                      </a:r>
                      <a:endParaRPr sz="12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latin typeface="Roboto"/>
                          <a:ea typeface="Roboto"/>
                          <a:cs typeface="Roboto"/>
                          <a:sym typeface="Roboto"/>
                        </a:rPr>
                        <a:t>Cost:</a:t>
                      </a:r>
                      <a:endParaRPr sz="12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latin typeface="Roboto"/>
                          <a:ea typeface="Roboto"/>
                          <a:cs typeface="Roboto"/>
                          <a:sym typeface="Roboto"/>
                        </a:rPr>
                        <a:t>TTL:</a:t>
                      </a:r>
                      <a:endParaRPr sz="12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21925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b="1">
                          <a:latin typeface="Roboto"/>
                          <a:ea typeface="Roboto"/>
                          <a:cs typeface="Roboto"/>
                          <a:sym typeface="Roboto"/>
                        </a:rPr>
                        <a:t>A</a:t>
                      </a:r>
                      <a:endParaRPr b="1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>
                    <a:solidFill>
                      <a:srgbClr val="F4CCCC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b="1">
                          <a:latin typeface="Roboto"/>
                          <a:ea typeface="Roboto"/>
                          <a:cs typeface="Roboto"/>
                          <a:sym typeface="Roboto"/>
                        </a:rPr>
                        <a:t>R1</a:t>
                      </a:r>
                      <a:endParaRPr b="1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>
                    <a:solidFill>
                      <a:srgbClr val="F4CCCC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b="1">
                          <a:latin typeface="Roboto"/>
                          <a:ea typeface="Roboto"/>
                          <a:cs typeface="Roboto"/>
                          <a:sym typeface="Roboto"/>
                        </a:rPr>
                        <a:t>2</a:t>
                      </a:r>
                      <a:endParaRPr b="1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>
                    <a:solidFill>
                      <a:srgbClr val="F4CCCC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b="1">
                          <a:latin typeface="Roboto"/>
                          <a:ea typeface="Roboto"/>
                          <a:cs typeface="Roboto"/>
                          <a:sym typeface="Roboto"/>
                        </a:rPr>
                        <a:t>16</a:t>
                      </a:r>
                      <a:endParaRPr b="1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>
                    <a:solidFill>
                      <a:srgbClr val="F4CCC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</a:tbl>
          </a:graphicData>
        </a:graphic>
      </p:graphicFrame>
      <p:sp>
        <p:nvSpPr>
          <p:cNvPr id="1372" name="Google Shape;1372;p86"/>
          <p:cNvSpPr txBox="1">
            <a:spLocks noGrp="1"/>
          </p:cNvSpPr>
          <p:nvPr>
            <p:ph type="title"/>
          </p:nvPr>
        </p:nvSpPr>
        <p:spPr>
          <a:xfrm>
            <a:off x="0" y="0"/>
            <a:ext cx="9144000" cy="39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accent3"/>
                </a:solidFill>
              </a:rPr>
              <a:t>Poison for Fast Route Expiry</a:t>
            </a:r>
            <a:endParaRPr/>
          </a:p>
        </p:txBody>
      </p:sp>
      <p:sp>
        <p:nvSpPr>
          <p:cNvPr id="1373" name="Google Shape;1373;p86"/>
          <p:cNvSpPr txBox="1">
            <a:spLocks noGrp="1"/>
          </p:cNvSpPr>
          <p:nvPr>
            <p:ph type="body" idx="1"/>
          </p:nvPr>
        </p:nvSpPr>
        <p:spPr>
          <a:xfrm>
            <a:off x="107050" y="402200"/>
            <a:ext cx="8909700" cy="13485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" dirty="0"/>
              <a:t>Poison lets us detect </a:t>
            </a:r>
            <a:r>
              <a:rPr lang="en-US" dirty="0"/>
              <a:t>broken</a:t>
            </a:r>
            <a:r>
              <a:rPr lang="en" dirty="0"/>
              <a:t> routes faster. Let's watch the demo again.</a:t>
            </a:r>
            <a:endParaRPr dirty="0"/>
          </a:p>
        </p:txBody>
      </p:sp>
      <p:sp>
        <p:nvSpPr>
          <p:cNvPr id="1374" name="Google Shape;1374;p86"/>
          <p:cNvSpPr txBox="1"/>
          <p:nvPr/>
        </p:nvSpPr>
        <p:spPr>
          <a:xfrm>
            <a:off x="6406750" y="3323475"/>
            <a:ext cx="706200" cy="270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27425" tIns="27425" rIns="27425" bIns="27425" anchor="t" anchorCtr="0">
            <a:sp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t = </a:t>
            </a:r>
            <a:r>
              <a:rPr lang="en" b="1">
                <a:latin typeface="Roboto"/>
                <a:ea typeface="Roboto"/>
                <a:cs typeface="Roboto"/>
                <a:sym typeface="Roboto"/>
              </a:rPr>
              <a:t>6</a:t>
            </a:r>
            <a:endParaRPr b="1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375" name="Google Shape;1375;p86"/>
          <p:cNvSpPr txBox="1"/>
          <p:nvPr/>
        </p:nvSpPr>
        <p:spPr>
          <a:xfrm>
            <a:off x="4219450" y="1785000"/>
            <a:ext cx="4363500" cy="486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27425" tIns="27425" rIns="27425" bIns="27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R3 was able to accept the new route way earlier!</a:t>
            </a:r>
            <a:endParaRPr>
              <a:latin typeface="Roboto"/>
              <a:ea typeface="Roboto"/>
              <a:cs typeface="Roboto"/>
              <a:sym typeface="Roboto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t=6 with poison, t=16 without poison.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376" name="Google Shape;1376;p86"/>
          <p:cNvSpPr txBox="1"/>
          <p:nvPr/>
        </p:nvSpPr>
        <p:spPr>
          <a:xfrm>
            <a:off x="467225" y="4170800"/>
            <a:ext cx="543300" cy="702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27425" tIns="27425" rIns="27425" bIns="27425" anchor="t" anchorCtr="0">
            <a:sp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accent2"/>
                </a:solidFill>
                <a:latin typeface="Roboto"/>
                <a:ea typeface="Roboto"/>
                <a:cs typeface="Roboto"/>
                <a:sym typeface="Roboto"/>
              </a:rPr>
              <a:t>Link goes down!</a:t>
            </a:r>
            <a:endParaRPr>
              <a:solidFill>
                <a:schemeClr val="accent2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377" name="Google Shape;1377;p86"/>
          <p:cNvSpPr/>
          <p:nvPr/>
        </p:nvSpPr>
        <p:spPr>
          <a:xfrm>
            <a:off x="3350125" y="3491450"/>
            <a:ext cx="2061900" cy="535800"/>
          </a:xfrm>
          <a:prstGeom prst="wedgeRoundRectCallout">
            <a:avLst>
              <a:gd name="adj1" fmla="val -59294"/>
              <a:gd name="adj2" fmla="val 55106"/>
              <a:gd name="adj3" fmla="val 0"/>
            </a:avLst>
          </a:prstGeom>
          <a:noFill/>
          <a:ln w="9525" cap="flat" cmpd="sng">
            <a:solidFill>
              <a:schemeClr val="accent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accent2"/>
                </a:solidFill>
                <a:latin typeface="Roboto"/>
                <a:ea typeface="Roboto"/>
                <a:cs typeface="Roboto"/>
                <a:sym typeface="Roboto"/>
              </a:rPr>
              <a:t>Sure, I'll accept, that's better than infinity.</a:t>
            </a:r>
            <a:endParaRPr>
              <a:solidFill>
                <a:schemeClr val="accent2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1378" name="Google Shape;1378;p86"/>
          <p:cNvCxnSpPr/>
          <p:nvPr/>
        </p:nvCxnSpPr>
        <p:spPr>
          <a:xfrm>
            <a:off x="1544750" y="3211375"/>
            <a:ext cx="900900" cy="486600"/>
          </a:xfrm>
          <a:prstGeom prst="straightConnector1">
            <a:avLst/>
          </a:prstGeom>
          <a:noFill/>
          <a:ln w="19050" cap="flat" cmpd="sng">
            <a:solidFill>
              <a:schemeClr val="accent2"/>
            </a:solidFill>
            <a:prstDash val="solid"/>
            <a:round/>
            <a:headEnd type="none" w="med" len="med"/>
            <a:tailEnd type="triangle" w="med" len="med"/>
          </a:ln>
        </p:spPr>
      </p:cxnSp>
      <p:sp>
        <p:nvSpPr>
          <p:cNvPr id="1379" name="Google Shape;1379;p86"/>
          <p:cNvSpPr/>
          <p:nvPr/>
        </p:nvSpPr>
        <p:spPr>
          <a:xfrm>
            <a:off x="2025375" y="2942750"/>
            <a:ext cx="1457400" cy="494700"/>
          </a:xfrm>
          <a:prstGeom prst="roundRect">
            <a:avLst>
              <a:gd name="adj" fmla="val 16667"/>
            </a:avLst>
          </a:prstGeom>
          <a:solidFill>
            <a:srgbClr val="F4CCCC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27425" tIns="27425" rIns="27425" bIns="27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I'm </a:t>
            </a:r>
            <a:r>
              <a:rPr lang="en" b="1">
                <a:latin typeface="Roboto"/>
                <a:ea typeface="Roboto"/>
                <a:cs typeface="Roboto"/>
                <a:sym typeface="Roboto"/>
              </a:rPr>
              <a:t>R1</a:t>
            </a:r>
            <a:r>
              <a:rPr lang="en">
                <a:latin typeface="Roboto"/>
                <a:ea typeface="Roboto"/>
                <a:cs typeface="Roboto"/>
                <a:sym typeface="Roboto"/>
              </a:rPr>
              <a:t>, and </a:t>
            </a:r>
            <a:r>
              <a:rPr lang="en" b="1">
                <a:latin typeface="Roboto"/>
                <a:ea typeface="Roboto"/>
                <a:cs typeface="Roboto"/>
                <a:sym typeface="Roboto"/>
              </a:rPr>
              <a:t>A</a:t>
            </a:r>
            <a:r>
              <a:rPr lang="en">
                <a:latin typeface="Roboto"/>
                <a:ea typeface="Roboto"/>
                <a:cs typeface="Roboto"/>
                <a:sym typeface="Roboto"/>
              </a:rPr>
              <a:t> is </a:t>
            </a:r>
            <a:r>
              <a:rPr lang="en" b="1">
                <a:latin typeface="Roboto"/>
                <a:ea typeface="Roboto"/>
                <a:cs typeface="Roboto"/>
                <a:sym typeface="Roboto"/>
              </a:rPr>
              <a:t>1</a:t>
            </a:r>
            <a:r>
              <a:rPr lang="en">
                <a:latin typeface="Roboto"/>
                <a:ea typeface="Roboto"/>
                <a:cs typeface="Roboto"/>
                <a:sym typeface="Roboto"/>
              </a:rPr>
              <a:t> away from me.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380" name="Google Shape;1380;p86"/>
          <p:cNvSpPr/>
          <p:nvPr/>
        </p:nvSpPr>
        <p:spPr>
          <a:xfrm>
            <a:off x="2774913" y="3884850"/>
            <a:ext cx="285000" cy="285000"/>
          </a:xfrm>
          <a:prstGeom prst="rect">
            <a:avLst/>
          </a:prstGeom>
          <a:solidFill>
            <a:srgbClr val="FFFFFF"/>
          </a:solidFill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R3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1381" name="Google Shape;1381;p86"/>
          <p:cNvCxnSpPr>
            <a:stCxn id="1382" idx="3"/>
            <a:endCxn id="1380" idx="1"/>
          </p:cNvCxnSpPr>
          <p:nvPr/>
        </p:nvCxnSpPr>
        <p:spPr>
          <a:xfrm rot="10800000" flipH="1">
            <a:off x="1224263" y="4027408"/>
            <a:ext cx="1550700" cy="900"/>
          </a:xfrm>
          <a:prstGeom prst="straightConnector1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1382" name="Google Shape;1382;p86"/>
          <p:cNvSpPr/>
          <p:nvPr/>
        </p:nvSpPr>
        <p:spPr>
          <a:xfrm>
            <a:off x="939263" y="3885808"/>
            <a:ext cx="285000" cy="285000"/>
          </a:xfrm>
          <a:prstGeom prst="rect">
            <a:avLst/>
          </a:prstGeom>
          <a:solidFill>
            <a:srgbClr val="FFFFFF"/>
          </a:solidFill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R2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383" name="Google Shape;1383;p86"/>
          <p:cNvSpPr/>
          <p:nvPr/>
        </p:nvSpPr>
        <p:spPr>
          <a:xfrm>
            <a:off x="939263" y="3047608"/>
            <a:ext cx="285000" cy="285000"/>
          </a:xfrm>
          <a:prstGeom prst="rect">
            <a:avLst/>
          </a:prstGeom>
          <a:solidFill>
            <a:srgbClr val="FFFFFF"/>
          </a:solidFill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R1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1384" name="Google Shape;1384;p86"/>
          <p:cNvCxnSpPr>
            <a:stCxn id="1383" idx="3"/>
            <a:endCxn id="1380" idx="1"/>
          </p:cNvCxnSpPr>
          <p:nvPr/>
        </p:nvCxnSpPr>
        <p:spPr>
          <a:xfrm>
            <a:off x="1224263" y="3190108"/>
            <a:ext cx="1550700" cy="837300"/>
          </a:xfrm>
          <a:prstGeom prst="straightConnector1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1385" name="Google Shape;1385;p86"/>
          <p:cNvSpPr/>
          <p:nvPr/>
        </p:nvSpPr>
        <p:spPr>
          <a:xfrm>
            <a:off x="253463" y="3885800"/>
            <a:ext cx="285000" cy="285000"/>
          </a:xfrm>
          <a:prstGeom prst="ellipse">
            <a:avLst/>
          </a:prstGeom>
          <a:solidFill>
            <a:srgbClr val="FFFFFF"/>
          </a:solidFill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A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1386" name="Google Shape;1386;p86"/>
          <p:cNvCxnSpPr>
            <a:stCxn id="1385" idx="6"/>
            <a:endCxn id="1382" idx="1"/>
          </p:cNvCxnSpPr>
          <p:nvPr/>
        </p:nvCxnSpPr>
        <p:spPr>
          <a:xfrm>
            <a:off x="538463" y="4028300"/>
            <a:ext cx="400800" cy="0"/>
          </a:xfrm>
          <a:prstGeom prst="straightConnector1">
            <a:avLst/>
          </a:prstGeom>
          <a:noFill/>
          <a:ln w="19050" cap="flat" cmpd="sng">
            <a:solidFill>
              <a:schemeClr val="accent2"/>
            </a:solidFill>
            <a:prstDash val="dash"/>
            <a:round/>
            <a:headEnd type="none" w="med" len="med"/>
            <a:tailEnd type="none" w="med" len="med"/>
          </a:ln>
        </p:spPr>
      </p:cxnSp>
      <p:cxnSp>
        <p:nvCxnSpPr>
          <p:cNvPr id="1387" name="Google Shape;1387;p86"/>
          <p:cNvCxnSpPr>
            <a:stCxn id="1385" idx="0"/>
            <a:endCxn id="1383" idx="1"/>
          </p:cNvCxnSpPr>
          <p:nvPr/>
        </p:nvCxnSpPr>
        <p:spPr>
          <a:xfrm rot="10800000" flipH="1">
            <a:off x="395963" y="3190100"/>
            <a:ext cx="543300" cy="695700"/>
          </a:xfrm>
          <a:prstGeom prst="straightConnector1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med" len="med"/>
            <a:tailEnd type="none" w="med" len="med"/>
          </a:ln>
        </p:spPr>
      </p:cxn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3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2" name="Google Shape;1392;p87"/>
          <p:cNvSpPr txBox="1">
            <a:spLocks noGrp="1"/>
          </p:cNvSpPr>
          <p:nvPr>
            <p:ph type="title"/>
          </p:nvPr>
        </p:nvSpPr>
        <p:spPr>
          <a:xfrm>
            <a:off x="0" y="0"/>
            <a:ext cx="9144000" cy="39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accent3"/>
                </a:solidFill>
              </a:rPr>
              <a:t>Accepting and Advertising Poison</a:t>
            </a:r>
            <a:endParaRPr/>
          </a:p>
        </p:txBody>
      </p:sp>
      <p:sp>
        <p:nvSpPr>
          <p:cNvPr id="1393" name="Google Shape;1393;p87"/>
          <p:cNvSpPr txBox="1">
            <a:spLocks noGrp="1"/>
          </p:cNvSpPr>
          <p:nvPr>
            <p:ph type="body" idx="1"/>
          </p:nvPr>
        </p:nvSpPr>
        <p:spPr>
          <a:xfrm>
            <a:off x="107050" y="402200"/>
            <a:ext cx="8909700" cy="4530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"/>
              <a:t>Where does poison come from?</a:t>
            </a:r>
            <a:endParaRPr/>
          </a:p>
          <a:p>
            <a:pPr marL="457200" lvl="0" indent="-342900" algn="l" rtl="0">
              <a:spcBef>
                <a:spcPts val="60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One of your routes times out.</a:t>
            </a:r>
            <a:endParaRPr/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You notice a local failure, e.g. one of your links goes down.</a:t>
            </a:r>
            <a:endParaRPr/>
          </a:p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endParaRPr/>
          </a:p>
          <a:p>
            <a:pPr marL="0" lvl="0" indent="0" algn="l" rtl="0"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When one of those occurs:</a:t>
            </a:r>
            <a:endParaRPr/>
          </a:p>
          <a:p>
            <a:pPr marL="457200" lvl="0" indent="-342900" algn="l" rtl="0">
              <a:spcBef>
                <a:spcPts val="60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Poison the entry: Set cost to infinity, reset TTL.</a:t>
            </a:r>
            <a:endParaRPr/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Advertise the poison to your neighbors.</a:t>
            </a:r>
            <a:endParaRPr/>
          </a:p>
        </p:txBody>
      </p:sp>
    </p:spTree>
  </p:cSld>
  <p:clrMapOvr>
    <a:masterClrMapping/>
  </p:clrMapOvr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3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8" name="Google Shape;1398;p88"/>
          <p:cNvSpPr txBox="1">
            <a:spLocks noGrp="1"/>
          </p:cNvSpPr>
          <p:nvPr>
            <p:ph type="title"/>
          </p:nvPr>
        </p:nvSpPr>
        <p:spPr>
          <a:xfrm>
            <a:off x="0" y="0"/>
            <a:ext cx="9144000" cy="39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accent3"/>
                </a:solidFill>
              </a:rPr>
              <a:t>Accepting and Advertising Poison</a:t>
            </a:r>
            <a:endParaRPr/>
          </a:p>
        </p:txBody>
      </p:sp>
      <p:sp>
        <p:nvSpPr>
          <p:cNvPr id="1399" name="Google Shape;1399;p88"/>
          <p:cNvSpPr txBox="1">
            <a:spLocks noGrp="1"/>
          </p:cNvSpPr>
          <p:nvPr>
            <p:ph type="body" idx="1"/>
          </p:nvPr>
        </p:nvSpPr>
        <p:spPr>
          <a:xfrm>
            <a:off x="107050" y="402200"/>
            <a:ext cx="8909700" cy="3863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" dirty="0"/>
              <a:t>When you get a poison advertisement from the current next-hop:</a:t>
            </a:r>
            <a:endParaRPr dirty="0"/>
          </a:p>
          <a:p>
            <a:pPr marL="457200" lvl="0" indent="-342900" algn="l" rtl="0">
              <a:spcBef>
                <a:spcPts val="600"/>
              </a:spcBef>
              <a:spcAft>
                <a:spcPts val="0"/>
              </a:spcAft>
              <a:buSzPts val="1800"/>
              <a:buChar char="●"/>
            </a:pPr>
            <a:r>
              <a:rPr lang="en" dirty="0"/>
              <a:t>Accept it, even if you have a better path.</a:t>
            </a:r>
            <a:endParaRPr dirty="0"/>
          </a:p>
          <a:p>
            <a:pPr marL="914400" lvl="1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○"/>
            </a:pPr>
            <a:r>
              <a:rPr lang="en" dirty="0"/>
              <a:t>Because the next-hop is telling you that the route no longer exists.</a:t>
            </a:r>
            <a:endParaRPr dirty="0"/>
          </a:p>
          <a:p>
            <a:pPr marL="914400" lvl="1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○"/>
            </a:pPr>
            <a:r>
              <a:rPr lang="en" dirty="0"/>
              <a:t>Similar to Rule #2: accept worse paths from current next-hop.</a:t>
            </a:r>
            <a:endParaRPr dirty="0"/>
          </a:p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endParaRPr dirty="0"/>
          </a:p>
          <a:p>
            <a:pPr marL="0" lvl="0" indent="0" algn="l" rtl="0"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dirty="0"/>
              <a:t>When you update the table with a poison route:</a:t>
            </a:r>
            <a:endParaRPr dirty="0"/>
          </a:p>
          <a:p>
            <a:pPr marL="457200" lvl="0" indent="-342900" algn="l" rtl="0">
              <a:spcBef>
                <a:spcPts val="600"/>
              </a:spcBef>
              <a:spcAft>
                <a:spcPts val="0"/>
              </a:spcAft>
              <a:buSzPts val="1800"/>
              <a:buChar char="●"/>
            </a:pPr>
            <a:r>
              <a:rPr lang="en" dirty="0"/>
              <a:t>Reset the TTL, just like any other table update.</a:t>
            </a:r>
            <a:endParaRPr dirty="0"/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 dirty="0"/>
              <a:t>Advertise the poison to your neighbors, so they also know about the </a:t>
            </a:r>
            <a:r>
              <a:rPr lang="en-US" dirty="0"/>
              <a:t>broken</a:t>
            </a:r>
            <a:r>
              <a:rPr lang="en" dirty="0"/>
              <a:t> route.</a:t>
            </a:r>
            <a:endParaRPr dirty="0"/>
          </a:p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endParaRPr dirty="0"/>
          </a:p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" dirty="0"/>
              <a:t>Don't forward packets along a poisoned route.</a:t>
            </a:r>
            <a:endParaRPr dirty="0"/>
          </a:p>
        </p:txBody>
      </p:sp>
      <p:graphicFrame>
        <p:nvGraphicFramePr>
          <p:cNvPr id="1400" name="Google Shape;1400;p88"/>
          <p:cNvGraphicFramePr/>
          <p:nvPr/>
        </p:nvGraphicFramePr>
        <p:xfrm>
          <a:off x="1288844" y="4274500"/>
          <a:ext cx="1835500" cy="469340"/>
        </p:xfrm>
        <a:graphic>
          <a:graphicData uri="http://schemas.openxmlformats.org/drawingml/2006/table">
            <a:tbl>
              <a:tblPr>
                <a:noFill/>
              </a:tblPr>
              <a:tblGrid>
                <a:gridCol w="5448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9707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79362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121925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latin typeface="Roboto"/>
                          <a:ea typeface="Roboto"/>
                          <a:cs typeface="Roboto"/>
                          <a:sym typeface="Roboto"/>
                        </a:rPr>
                        <a:t>To:</a:t>
                      </a:r>
                      <a:endParaRPr sz="12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latin typeface="Roboto"/>
                          <a:ea typeface="Roboto"/>
                          <a:cs typeface="Roboto"/>
                          <a:sym typeface="Roboto"/>
                        </a:rPr>
                        <a:t>Via:</a:t>
                      </a:r>
                      <a:endParaRPr sz="12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latin typeface="Roboto"/>
                          <a:ea typeface="Roboto"/>
                          <a:cs typeface="Roboto"/>
                          <a:sym typeface="Roboto"/>
                        </a:rPr>
                        <a:t>Cost:</a:t>
                      </a:r>
                      <a:endParaRPr sz="12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21925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latin typeface="Roboto"/>
                          <a:ea typeface="Roboto"/>
                          <a:cs typeface="Roboto"/>
                          <a:sym typeface="Roboto"/>
                        </a:rPr>
                        <a:t>A</a:t>
                      </a:r>
                      <a:endParaRPr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latin typeface="Roboto"/>
                          <a:ea typeface="Roboto"/>
                          <a:cs typeface="Roboto"/>
                          <a:sym typeface="Roboto"/>
                        </a:rPr>
                        <a:t>R1</a:t>
                      </a:r>
                      <a:endParaRPr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solidFill>
                            <a:schemeClr val="dk1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∞</a:t>
                      </a:r>
                      <a:endParaRPr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  <p:cxnSp>
        <p:nvCxnSpPr>
          <p:cNvPr id="1401" name="Google Shape;1401;p88"/>
          <p:cNvCxnSpPr/>
          <p:nvPr/>
        </p:nvCxnSpPr>
        <p:spPr>
          <a:xfrm rot="10800000">
            <a:off x="3293000" y="4493925"/>
            <a:ext cx="590400" cy="0"/>
          </a:xfrm>
          <a:prstGeom prst="straightConnector1">
            <a:avLst/>
          </a:prstGeom>
          <a:noFill/>
          <a:ln w="9525" cap="flat" cmpd="sng">
            <a:solidFill>
              <a:schemeClr val="dk2"/>
            </a:solidFill>
            <a:prstDash val="solid"/>
            <a:round/>
            <a:headEnd type="none" w="med" len="med"/>
            <a:tailEnd type="triangle" w="med" len="med"/>
          </a:ln>
        </p:spPr>
      </p:cxnSp>
      <p:sp>
        <p:nvSpPr>
          <p:cNvPr id="1402" name="Google Shape;1402;p88"/>
          <p:cNvSpPr txBox="1"/>
          <p:nvPr/>
        </p:nvSpPr>
        <p:spPr>
          <a:xfrm>
            <a:off x="3927375" y="4358475"/>
            <a:ext cx="1661100" cy="270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27425" tIns="27425" rIns="27425" bIns="27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Don't forward to R1.</a:t>
            </a:r>
            <a:endParaRPr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</p:spTree>
  </p:cSld>
  <p:clrMapOvr>
    <a:masterClrMapping/>
  </p:clrMapOvr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4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7" name="Google Shape;1407;p89"/>
          <p:cNvSpPr txBox="1">
            <a:spLocks noGrp="1"/>
          </p:cNvSpPr>
          <p:nvPr>
            <p:ph type="title"/>
          </p:nvPr>
        </p:nvSpPr>
        <p:spPr>
          <a:xfrm>
            <a:off x="0" y="0"/>
            <a:ext cx="9144000" cy="39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The Distance-Vector Algorithm So Far</a:t>
            </a:r>
            <a:endParaRPr/>
          </a:p>
        </p:txBody>
      </p:sp>
      <p:sp>
        <p:nvSpPr>
          <p:cNvPr id="1408" name="Google Shape;1408;p89"/>
          <p:cNvSpPr txBox="1">
            <a:spLocks noGrp="1"/>
          </p:cNvSpPr>
          <p:nvPr>
            <p:ph type="body" idx="1"/>
          </p:nvPr>
        </p:nvSpPr>
        <p:spPr>
          <a:xfrm>
            <a:off x="107050" y="402200"/>
            <a:ext cx="8909700" cy="4530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For each destination:</a:t>
            </a:r>
            <a:endParaRPr/>
          </a:p>
          <a:p>
            <a:pPr marL="457200" lvl="0" indent="-342900" algn="l" rtl="0">
              <a:spcBef>
                <a:spcPts val="600"/>
              </a:spcBef>
              <a:spcAft>
                <a:spcPts val="0"/>
              </a:spcAft>
              <a:buClr>
                <a:srgbClr val="000000"/>
              </a:buClr>
              <a:buSzPts val="1800"/>
              <a:buChar char="●"/>
            </a:pPr>
            <a:r>
              <a:rPr lang="en">
                <a:solidFill>
                  <a:srgbClr val="000000"/>
                </a:solidFill>
              </a:rPr>
              <a:t>If you hear an advertisement, update table and reset TTL if:</a:t>
            </a:r>
            <a:endParaRPr>
              <a:solidFill>
                <a:srgbClr val="000000"/>
              </a:solidFill>
            </a:endParaRPr>
          </a:p>
          <a:p>
            <a:pPr marL="914400" lvl="1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○"/>
            </a:pPr>
            <a:r>
              <a:rPr lang="en"/>
              <a:t>The destination isn't in the table.</a:t>
            </a:r>
            <a:endParaRPr/>
          </a:p>
          <a:p>
            <a:pPr marL="914400" lvl="1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○"/>
            </a:pPr>
            <a:r>
              <a:rPr lang="en"/>
              <a:t>Advertised cost + link cost to neighbor &lt; best-known cost. </a:t>
            </a:r>
            <a:r>
              <a:rPr lang="en" sz="1400">
                <a:solidFill>
                  <a:schemeClr val="accent3"/>
                </a:solidFill>
              </a:rPr>
              <a:t>(#1)</a:t>
            </a:r>
            <a:endParaRPr sz="1400">
              <a:solidFill>
                <a:schemeClr val="accent3"/>
              </a:solidFill>
            </a:endParaRPr>
          </a:p>
          <a:p>
            <a:pPr marL="914400" lvl="1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○"/>
            </a:pPr>
            <a:r>
              <a:rPr lang="en"/>
              <a:t>The advertisement is from current next-hop. </a:t>
            </a:r>
            <a:r>
              <a:rPr lang="en" sz="1400">
                <a:solidFill>
                  <a:schemeClr val="accent3"/>
                </a:solidFill>
              </a:rPr>
              <a:t>(#2)</a:t>
            </a:r>
            <a:br>
              <a:rPr lang="en"/>
            </a:br>
            <a:r>
              <a:rPr lang="en">
                <a:solidFill>
                  <a:schemeClr val="accent2"/>
                </a:solidFill>
              </a:rPr>
              <a:t>Includes poison advertisements. </a:t>
            </a:r>
            <a:r>
              <a:rPr lang="en" sz="1400">
                <a:solidFill>
                  <a:schemeClr val="accent3"/>
                </a:solidFill>
              </a:rPr>
              <a:t>(#5)</a:t>
            </a:r>
            <a:endParaRPr sz="1400">
              <a:solidFill>
                <a:schemeClr val="accent3"/>
              </a:solidFill>
            </a:endParaRPr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Advertise to all your neighbors when the table updates, and periodically. </a:t>
            </a:r>
            <a:r>
              <a:rPr lang="en" sz="1400">
                <a:solidFill>
                  <a:schemeClr val="accent3"/>
                </a:solidFill>
              </a:rPr>
              <a:t>(#3)</a:t>
            </a:r>
            <a:endParaRPr sz="1400">
              <a:solidFill>
                <a:schemeClr val="accent3"/>
              </a:solidFill>
            </a:endParaRPr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Char char="●"/>
            </a:pPr>
            <a:r>
              <a:rPr lang="en">
                <a:solidFill>
                  <a:srgbClr val="000000"/>
                </a:solidFill>
              </a:rPr>
              <a:t>If a table entry expires, </a:t>
            </a:r>
            <a:r>
              <a:rPr lang="en">
                <a:solidFill>
                  <a:schemeClr val="accent2"/>
                </a:solidFill>
              </a:rPr>
              <a:t>make the entry poison and advertise it</a:t>
            </a:r>
            <a:r>
              <a:rPr lang="en">
                <a:solidFill>
                  <a:srgbClr val="000000"/>
                </a:solidFill>
              </a:rPr>
              <a:t>. </a:t>
            </a:r>
            <a:r>
              <a:rPr lang="en" sz="1400">
                <a:solidFill>
                  <a:schemeClr val="accent3"/>
                </a:solidFill>
              </a:rPr>
              <a:t>(#4, #5)</a:t>
            </a:r>
            <a:endParaRPr sz="1400">
              <a:solidFill>
                <a:schemeClr val="accent3"/>
              </a:solidFill>
            </a:endParaRPr>
          </a:p>
        </p:txBody>
      </p:sp>
    </p:spTree>
  </p:cSld>
  <p:clrMapOvr>
    <a:masterClrMapping/>
  </p:clrMapOvr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4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3" name="Google Shape;1413;p90"/>
          <p:cNvSpPr txBox="1">
            <a:spLocks noGrp="1"/>
          </p:cNvSpPr>
          <p:nvPr>
            <p:ph type="title"/>
          </p:nvPr>
        </p:nvSpPr>
        <p:spPr>
          <a:xfrm>
            <a:off x="177925" y="2003300"/>
            <a:ext cx="4038000" cy="20379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Rule 6A:</a:t>
            </a:r>
            <a:br>
              <a:rPr lang="en"/>
            </a:br>
            <a:r>
              <a:rPr lang="en"/>
              <a:t>Split Horizon</a:t>
            </a:r>
            <a:endParaRPr/>
          </a:p>
        </p:txBody>
      </p:sp>
      <p:sp>
        <p:nvSpPr>
          <p:cNvPr id="1414" name="Google Shape;1414;p90"/>
          <p:cNvSpPr txBox="1">
            <a:spLocks noGrp="1"/>
          </p:cNvSpPr>
          <p:nvPr>
            <p:ph type="body" idx="1"/>
          </p:nvPr>
        </p:nvSpPr>
        <p:spPr>
          <a:xfrm>
            <a:off x="4812375" y="402200"/>
            <a:ext cx="4038000" cy="42609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">
                <a:solidFill>
                  <a:srgbClr val="B7B7B7"/>
                </a:solidFill>
              </a:rPr>
              <a:t>Distance-Vector Correctness</a:t>
            </a:r>
            <a:endParaRPr>
              <a:solidFill>
                <a:srgbClr val="B7B7B7"/>
              </a:solidFill>
            </a:endParaRPr>
          </a:p>
          <a:p>
            <a:pPr marL="457200" lvl="0" indent="-342900" algn="l" rtl="0">
              <a:spcBef>
                <a:spcPts val="600"/>
              </a:spcBef>
              <a:spcAft>
                <a:spcPts val="0"/>
              </a:spcAft>
              <a:buClr>
                <a:srgbClr val="B7B7B7"/>
              </a:buClr>
              <a:buSzPts val="1800"/>
              <a:buChar char="•"/>
            </a:pPr>
            <a:r>
              <a:rPr lang="en">
                <a:solidFill>
                  <a:srgbClr val="B7B7B7"/>
                </a:solidFill>
              </a:rPr>
              <a:t>Algorithm Sketch</a:t>
            </a:r>
            <a:endParaRPr>
              <a:solidFill>
                <a:srgbClr val="B7B7B7"/>
              </a:solidFill>
            </a:endParaRPr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Clr>
                <a:srgbClr val="B7B7B7"/>
              </a:buClr>
              <a:buSzPts val="1800"/>
              <a:buChar char="•"/>
            </a:pPr>
            <a:r>
              <a:rPr lang="en">
                <a:solidFill>
                  <a:srgbClr val="B7B7B7"/>
                </a:solidFill>
              </a:rPr>
              <a:t>Rule 1: Bellman-Ford Updates</a:t>
            </a:r>
            <a:endParaRPr>
              <a:solidFill>
                <a:srgbClr val="B7B7B7"/>
              </a:solidFill>
            </a:endParaRPr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Clr>
                <a:srgbClr val="B7B7B7"/>
              </a:buClr>
              <a:buSzPts val="1800"/>
              <a:buChar char="•"/>
            </a:pPr>
            <a:r>
              <a:rPr lang="en">
                <a:solidFill>
                  <a:srgbClr val="B7B7B7"/>
                </a:solidFill>
              </a:rPr>
              <a:t>Bellman-Ford Demo</a:t>
            </a:r>
            <a:endParaRPr>
              <a:solidFill>
                <a:srgbClr val="B7B7B7"/>
              </a:solidFill>
            </a:endParaRPr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Clr>
                <a:srgbClr val="B7B7B7"/>
              </a:buClr>
              <a:buSzPts val="1800"/>
              <a:buChar char="•"/>
            </a:pPr>
            <a:r>
              <a:rPr lang="en">
                <a:solidFill>
                  <a:srgbClr val="B7B7B7"/>
                </a:solidFill>
              </a:rPr>
              <a:t>Rule 2: Updates From Next-Hop</a:t>
            </a:r>
            <a:endParaRPr>
              <a:solidFill>
                <a:srgbClr val="B7B7B7"/>
              </a:solidFill>
            </a:endParaRPr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Clr>
                <a:srgbClr val="B7B7B7"/>
              </a:buClr>
              <a:buSzPts val="1800"/>
              <a:buChar char="•"/>
            </a:pPr>
            <a:r>
              <a:rPr lang="en">
                <a:solidFill>
                  <a:srgbClr val="B7B7B7"/>
                </a:solidFill>
              </a:rPr>
              <a:t>Rule 3: Resending</a:t>
            </a:r>
            <a:endParaRPr>
              <a:solidFill>
                <a:srgbClr val="B7B7B7"/>
              </a:solidFill>
            </a:endParaRPr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Clr>
                <a:srgbClr val="B7B7B7"/>
              </a:buClr>
              <a:buSzPts val="1800"/>
              <a:buChar char="•"/>
            </a:pPr>
            <a:r>
              <a:rPr lang="en">
                <a:solidFill>
                  <a:srgbClr val="B7B7B7"/>
                </a:solidFill>
              </a:rPr>
              <a:t>Rule 4: Expiring</a:t>
            </a:r>
            <a:endParaRPr>
              <a:solidFill>
                <a:srgbClr val="B7B7B7"/>
              </a:solidFill>
            </a:endParaRPr>
          </a:p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" b="1">
                <a:solidFill>
                  <a:schemeClr val="accent3"/>
                </a:solidFill>
                <a:latin typeface="Roboto"/>
                <a:ea typeface="Roboto"/>
                <a:cs typeface="Roboto"/>
                <a:sym typeface="Roboto"/>
              </a:rPr>
              <a:t>Distance-Vector Enhancements</a:t>
            </a:r>
            <a:endParaRPr b="1">
              <a:solidFill>
                <a:schemeClr val="accent3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457200" lvl="0" indent="-342900" algn="l" rtl="0">
              <a:spcBef>
                <a:spcPts val="600"/>
              </a:spcBef>
              <a:spcAft>
                <a:spcPts val="0"/>
              </a:spcAft>
              <a:buClr>
                <a:srgbClr val="B7B7B7"/>
              </a:buClr>
              <a:buSzPts val="1800"/>
              <a:buChar char="•"/>
            </a:pPr>
            <a:r>
              <a:rPr lang="en">
                <a:solidFill>
                  <a:srgbClr val="B7B7B7"/>
                </a:solidFill>
              </a:rPr>
              <a:t>Rule 5: Poison Expired Routes</a:t>
            </a:r>
            <a:endParaRPr>
              <a:solidFill>
                <a:srgbClr val="B7B7B7"/>
              </a:solidFill>
            </a:endParaRPr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800"/>
              <a:buFont typeface="Roboto"/>
              <a:buChar char="•"/>
            </a:pPr>
            <a:r>
              <a:rPr lang="en" b="1">
                <a:solidFill>
                  <a:schemeClr val="accent3"/>
                </a:solidFill>
                <a:latin typeface="Roboto"/>
                <a:ea typeface="Roboto"/>
                <a:cs typeface="Roboto"/>
                <a:sym typeface="Roboto"/>
              </a:rPr>
              <a:t>Rule 6A: Split Horizon</a:t>
            </a:r>
            <a:endParaRPr b="1">
              <a:solidFill>
                <a:schemeClr val="accent3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Clr>
                <a:srgbClr val="B7B7B7"/>
              </a:buClr>
              <a:buSzPts val="1800"/>
              <a:buChar char="•"/>
            </a:pPr>
            <a:r>
              <a:rPr lang="en">
                <a:solidFill>
                  <a:srgbClr val="B7B7B7"/>
                </a:solidFill>
              </a:rPr>
              <a:t>Rule 6B: Poison Reverse</a:t>
            </a:r>
            <a:endParaRPr>
              <a:solidFill>
                <a:srgbClr val="B7B7B7"/>
              </a:solidFill>
            </a:endParaRPr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Clr>
                <a:srgbClr val="B7B7B7"/>
              </a:buClr>
              <a:buSzPts val="1800"/>
              <a:buChar char="•"/>
            </a:pPr>
            <a:r>
              <a:rPr lang="en">
                <a:solidFill>
                  <a:srgbClr val="B7B7B7"/>
                </a:solidFill>
              </a:rPr>
              <a:t>Rule 7: Count To Infinity</a:t>
            </a:r>
            <a:endParaRPr>
              <a:solidFill>
                <a:srgbClr val="B7B7B7"/>
              </a:solidFill>
            </a:endParaRPr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Clr>
                <a:srgbClr val="B7B7B7"/>
              </a:buClr>
              <a:buSzPts val="1800"/>
              <a:buChar char="•"/>
            </a:pPr>
            <a:r>
              <a:rPr lang="en">
                <a:solidFill>
                  <a:srgbClr val="B7B7B7"/>
                </a:solidFill>
              </a:rPr>
              <a:t>Eventful Updates</a:t>
            </a:r>
            <a:endParaRPr>
              <a:solidFill>
                <a:srgbClr val="B7B7B7"/>
              </a:solidFill>
            </a:endParaRPr>
          </a:p>
        </p:txBody>
      </p:sp>
      <p:sp>
        <p:nvSpPr>
          <p:cNvPr id="1415" name="Google Shape;1415;p90"/>
          <p:cNvSpPr txBox="1">
            <a:spLocks noGrp="1"/>
          </p:cNvSpPr>
          <p:nvPr>
            <p:ph type="subTitle" idx="2"/>
          </p:nvPr>
        </p:nvSpPr>
        <p:spPr>
          <a:xfrm>
            <a:off x="177925" y="4068000"/>
            <a:ext cx="41580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-US" dirty="0"/>
              <a:t>Lecture 5.2, Spring 2026</a:t>
            </a:r>
            <a:endParaRPr dirty="0"/>
          </a:p>
        </p:txBody>
      </p:sp>
    </p:spTree>
  </p:cSld>
  <p:clrMapOvr>
    <a:masterClrMapping/>
  </p:clrMapOvr>
</p:sld>
</file>

<file path=ppt/slides/slide6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4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0" name="Google Shape;1420;p91"/>
          <p:cNvSpPr txBox="1">
            <a:spLocks noGrp="1"/>
          </p:cNvSpPr>
          <p:nvPr>
            <p:ph type="title"/>
          </p:nvPr>
        </p:nvSpPr>
        <p:spPr>
          <a:xfrm>
            <a:off x="0" y="0"/>
            <a:ext cx="9144000" cy="39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Split Horizon – The Problem</a:t>
            </a:r>
            <a:endParaRPr/>
          </a:p>
        </p:txBody>
      </p:sp>
      <p:sp>
        <p:nvSpPr>
          <p:cNvPr id="1421" name="Google Shape;1421;p91"/>
          <p:cNvSpPr/>
          <p:nvPr/>
        </p:nvSpPr>
        <p:spPr>
          <a:xfrm>
            <a:off x="2715000" y="3715900"/>
            <a:ext cx="285000" cy="285000"/>
          </a:xfrm>
          <a:prstGeom prst="rect">
            <a:avLst/>
          </a:prstGeom>
          <a:solidFill>
            <a:srgbClr val="FFFFFF"/>
          </a:solidFill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R1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422" name="Google Shape;1422;p91"/>
          <p:cNvSpPr/>
          <p:nvPr/>
        </p:nvSpPr>
        <p:spPr>
          <a:xfrm>
            <a:off x="657588" y="3715900"/>
            <a:ext cx="285000" cy="285000"/>
          </a:xfrm>
          <a:prstGeom prst="ellipse">
            <a:avLst/>
          </a:prstGeom>
          <a:solidFill>
            <a:srgbClr val="FFFFFF"/>
          </a:solidFill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A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1423" name="Google Shape;1423;p91"/>
          <p:cNvCxnSpPr>
            <a:stCxn id="1422" idx="6"/>
            <a:endCxn id="1421" idx="1"/>
          </p:cNvCxnSpPr>
          <p:nvPr/>
        </p:nvCxnSpPr>
        <p:spPr>
          <a:xfrm>
            <a:off x="942588" y="3858400"/>
            <a:ext cx="1772400" cy="0"/>
          </a:xfrm>
          <a:prstGeom prst="straightConnector1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1424" name="Google Shape;1424;p91"/>
          <p:cNvSpPr/>
          <p:nvPr/>
        </p:nvSpPr>
        <p:spPr>
          <a:xfrm>
            <a:off x="4772400" y="3715900"/>
            <a:ext cx="285000" cy="285000"/>
          </a:xfrm>
          <a:prstGeom prst="rect">
            <a:avLst/>
          </a:prstGeom>
          <a:solidFill>
            <a:srgbClr val="FFFFFF"/>
          </a:solidFill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R2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1425" name="Google Shape;1425;p91"/>
          <p:cNvCxnSpPr>
            <a:stCxn id="1421" idx="3"/>
            <a:endCxn id="1424" idx="1"/>
          </p:cNvCxnSpPr>
          <p:nvPr/>
        </p:nvCxnSpPr>
        <p:spPr>
          <a:xfrm>
            <a:off x="3000000" y="3858400"/>
            <a:ext cx="1772400" cy="0"/>
          </a:xfrm>
          <a:prstGeom prst="straightConnector1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1426" name="Google Shape;1426;p91"/>
          <p:cNvSpPr/>
          <p:nvPr/>
        </p:nvSpPr>
        <p:spPr>
          <a:xfrm>
            <a:off x="6829800" y="3715900"/>
            <a:ext cx="285000" cy="285000"/>
          </a:xfrm>
          <a:prstGeom prst="rect">
            <a:avLst/>
          </a:prstGeom>
          <a:solidFill>
            <a:srgbClr val="FFFFFF"/>
          </a:solidFill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R3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1427" name="Google Shape;1427;p91"/>
          <p:cNvCxnSpPr>
            <a:stCxn id="1424" idx="3"/>
            <a:endCxn id="1426" idx="1"/>
          </p:cNvCxnSpPr>
          <p:nvPr/>
        </p:nvCxnSpPr>
        <p:spPr>
          <a:xfrm>
            <a:off x="5057400" y="3858400"/>
            <a:ext cx="1772400" cy="0"/>
          </a:xfrm>
          <a:prstGeom prst="straightConnector1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med" len="med"/>
            <a:tailEnd type="none" w="med" len="med"/>
          </a:ln>
        </p:spPr>
      </p:cxnSp>
      <p:graphicFrame>
        <p:nvGraphicFramePr>
          <p:cNvPr id="1428" name="Google Shape;1428;p91"/>
          <p:cNvGraphicFramePr/>
          <p:nvPr/>
        </p:nvGraphicFramePr>
        <p:xfrm>
          <a:off x="1939744" y="4232650"/>
          <a:ext cx="1835500" cy="688770"/>
        </p:xfrm>
        <a:graphic>
          <a:graphicData uri="http://schemas.openxmlformats.org/drawingml/2006/table">
            <a:tbl>
              <a:tblPr>
                <a:noFill/>
              </a:tblPr>
              <a:tblGrid>
                <a:gridCol w="5448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9707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79362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121925">
                <a:tc gridSpan="3"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latin typeface="Roboto"/>
                          <a:ea typeface="Roboto"/>
                          <a:cs typeface="Roboto"/>
                          <a:sym typeface="Roboto"/>
                        </a:rPr>
                        <a:t>R1's Table</a:t>
                      </a:r>
                      <a:endParaRPr sz="12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21925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latin typeface="Roboto"/>
                          <a:ea typeface="Roboto"/>
                          <a:cs typeface="Roboto"/>
                          <a:sym typeface="Roboto"/>
                        </a:rPr>
                        <a:t>To:</a:t>
                      </a:r>
                      <a:endParaRPr sz="12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/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latin typeface="Roboto"/>
                          <a:ea typeface="Roboto"/>
                          <a:cs typeface="Roboto"/>
                          <a:sym typeface="Roboto"/>
                        </a:rPr>
                        <a:t>Via:</a:t>
                      </a:r>
                      <a:endParaRPr sz="12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/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latin typeface="Roboto"/>
                          <a:ea typeface="Roboto"/>
                          <a:cs typeface="Roboto"/>
                          <a:sym typeface="Roboto"/>
                        </a:rPr>
                        <a:t>Cost:</a:t>
                      </a:r>
                      <a:endParaRPr sz="12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21925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latin typeface="Roboto"/>
                          <a:ea typeface="Roboto"/>
                          <a:cs typeface="Roboto"/>
                          <a:sym typeface="Roboto"/>
                        </a:rPr>
                        <a:t>A</a:t>
                      </a:r>
                      <a:endParaRPr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/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latin typeface="Roboto"/>
                          <a:ea typeface="Roboto"/>
                          <a:cs typeface="Roboto"/>
                          <a:sym typeface="Roboto"/>
                        </a:rPr>
                        <a:t>Direct</a:t>
                      </a:r>
                      <a:endParaRPr sz="12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/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latin typeface="Roboto"/>
                          <a:ea typeface="Roboto"/>
                          <a:cs typeface="Roboto"/>
                          <a:sym typeface="Roboto"/>
                        </a:rPr>
                        <a:t>1</a:t>
                      </a:r>
                      <a:endParaRPr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</a:tbl>
          </a:graphicData>
        </a:graphic>
      </p:graphicFrame>
      <p:graphicFrame>
        <p:nvGraphicFramePr>
          <p:cNvPr id="1429" name="Google Shape;1429;p91"/>
          <p:cNvGraphicFramePr/>
          <p:nvPr/>
        </p:nvGraphicFramePr>
        <p:xfrm>
          <a:off x="3997144" y="4232650"/>
          <a:ext cx="1835500" cy="688770"/>
        </p:xfrm>
        <a:graphic>
          <a:graphicData uri="http://schemas.openxmlformats.org/drawingml/2006/table">
            <a:tbl>
              <a:tblPr>
                <a:noFill/>
              </a:tblPr>
              <a:tblGrid>
                <a:gridCol w="5448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9707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79362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121925">
                <a:tc gridSpan="3"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latin typeface="Roboto"/>
                          <a:ea typeface="Roboto"/>
                          <a:cs typeface="Roboto"/>
                          <a:sym typeface="Roboto"/>
                        </a:rPr>
                        <a:t>R2's Table</a:t>
                      </a:r>
                      <a:endParaRPr sz="12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>
                    <a:solidFill>
                      <a:srgbClr val="FFFFFF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21925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latin typeface="Roboto"/>
                          <a:ea typeface="Roboto"/>
                          <a:cs typeface="Roboto"/>
                          <a:sym typeface="Roboto"/>
                        </a:rPr>
                        <a:t>To:</a:t>
                      </a:r>
                      <a:endParaRPr sz="12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latin typeface="Roboto"/>
                          <a:ea typeface="Roboto"/>
                          <a:cs typeface="Roboto"/>
                          <a:sym typeface="Roboto"/>
                        </a:rPr>
                        <a:t>Via:</a:t>
                      </a:r>
                      <a:endParaRPr sz="12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latin typeface="Roboto"/>
                          <a:ea typeface="Roboto"/>
                          <a:cs typeface="Roboto"/>
                          <a:sym typeface="Roboto"/>
                        </a:rPr>
                        <a:t>Cost:</a:t>
                      </a:r>
                      <a:endParaRPr sz="12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21925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latin typeface="Roboto"/>
                          <a:ea typeface="Roboto"/>
                          <a:cs typeface="Roboto"/>
                          <a:sym typeface="Roboto"/>
                        </a:rPr>
                        <a:t>A</a:t>
                      </a:r>
                      <a:endParaRPr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/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latin typeface="Roboto"/>
                          <a:ea typeface="Roboto"/>
                          <a:cs typeface="Roboto"/>
                          <a:sym typeface="Roboto"/>
                        </a:rPr>
                        <a:t>R1</a:t>
                      </a:r>
                      <a:endParaRPr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/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latin typeface="Roboto"/>
                          <a:ea typeface="Roboto"/>
                          <a:cs typeface="Roboto"/>
                          <a:sym typeface="Roboto"/>
                        </a:rPr>
                        <a:t>2</a:t>
                      </a:r>
                      <a:endParaRPr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</a:tbl>
          </a:graphicData>
        </a:graphic>
      </p:graphicFrame>
      <p:graphicFrame>
        <p:nvGraphicFramePr>
          <p:cNvPr id="1430" name="Google Shape;1430;p91"/>
          <p:cNvGraphicFramePr/>
          <p:nvPr/>
        </p:nvGraphicFramePr>
        <p:xfrm>
          <a:off x="6054544" y="4232650"/>
          <a:ext cx="1835500" cy="688770"/>
        </p:xfrm>
        <a:graphic>
          <a:graphicData uri="http://schemas.openxmlformats.org/drawingml/2006/table">
            <a:tbl>
              <a:tblPr>
                <a:noFill/>
              </a:tblPr>
              <a:tblGrid>
                <a:gridCol w="5448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9707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79362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121925">
                <a:tc gridSpan="3"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latin typeface="Roboto"/>
                          <a:ea typeface="Roboto"/>
                          <a:cs typeface="Roboto"/>
                          <a:sym typeface="Roboto"/>
                        </a:rPr>
                        <a:t>R3's Table</a:t>
                      </a:r>
                      <a:endParaRPr sz="12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21925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latin typeface="Roboto"/>
                          <a:ea typeface="Roboto"/>
                          <a:cs typeface="Roboto"/>
                          <a:sym typeface="Roboto"/>
                        </a:rPr>
                        <a:t>To:</a:t>
                      </a:r>
                      <a:endParaRPr sz="12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/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latin typeface="Roboto"/>
                          <a:ea typeface="Roboto"/>
                          <a:cs typeface="Roboto"/>
                          <a:sym typeface="Roboto"/>
                        </a:rPr>
                        <a:t>Via:</a:t>
                      </a:r>
                      <a:endParaRPr sz="12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/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latin typeface="Roboto"/>
                          <a:ea typeface="Roboto"/>
                          <a:cs typeface="Roboto"/>
                          <a:sym typeface="Roboto"/>
                        </a:rPr>
                        <a:t>Cost:</a:t>
                      </a:r>
                      <a:endParaRPr sz="12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21925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latin typeface="Roboto"/>
                          <a:ea typeface="Roboto"/>
                          <a:cs typeface="Roboto"/>
                          <a:sym typeface="Roboto"/>
                        </a:rPr>
                        <a:t>A</a:t>
                      </a:r>
                      <a:endParaRPr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/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latin typeface="Roboto"/>
                          <a:ea typeface="Roboto"/>
                          <a:cs typeface="Roboto"/>
                          <a:sym typeface="Roboto"/>
                        </a:rPr>
                        <a:t>R2</a:t>
                      </a:r>
                      <a:endParaRPr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/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latin typeface="Roboto"/>
                          <a:ea typeface="Roboto"/>
                          <a:cs typeface="Roboto"/>
                          <a:sym typeface="Roboto"/>
                        </a:rPr>
                        <a:t>3</a:t>
                      </a:r>
                      <a:endParaRPr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</a:tbl>
          </a:graphicData>
        </a:graphic>
      </p:graphicFrame>
      <p:sp>
        <p:nvSpPr>
          <p:cNvPr id="1431" name="Google Shape;1431;p91"/>
          <p:cNvSpPr txBox="1"/>
          <p:nvPr/>
        </p:nvSpPr>
        <p:spPr>
          <a:xfrm>
            <a:off x="657600" y="2738925"/>
            <a:ext cx="6438900" cy="486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27425" tIns="27425" rIns="27425" bIns="27425" anchor="t" anchorCtr="0">
            <a:sp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We ran the algorithm for some time, and we converged to this steady-state.</a:t>
            </a:r>
            <a:endParaRPr>
              <a:latin typeface="Roboto"/>
              <a:ea typeface="Roboto"/>
              <a:cs typeface="Roboto"/>
              <a:sym typeface="Roboto"/>
            </a:endParaRPr>
          </a:p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All subsequent advertisements will be rejected.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</p:spTree>
  </p:cSld>
  <p:clrMapOvr>
    <a:masterClrMapping/>
  </p:clrMapOvr>
</p:sld>
</file>

<file path=ppt/slides/slide6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4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6" name="Google Shape;1436;p92"/>
          <p:cNvSpPr txBox="1">
            <a:spLocks noGrp="1"/>
          </p:cNvSpPr>
          <p:nvPr>
            <p:ph type="title"/>
          </p:nvPr>
        </p:nvSpPr>
        <p:spPr>
          <a:xfrm>
            <a:off x="0" y="0"/>
            <a:ext cx="9144000" cy="39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Split Horizon – The Problem</a:t>
            </a:r>
            <a:endParaRPr/>
          </a:p>
        </p:txBody>
      </p:sp>
      <p:sp>
        <p:nvSpPr>
          <p:cNvPr id="1437" name="Google Shape;1437;p92"/>
          <p:cNvSpPr/>
          <p:nvPr/>
        </p:nvSpPr>
        <p:spPr>
          <a:xfrm>
            <a:off x="2715000" y="3715900"/>
            <a:ext cx="285000" cy="285000"/>
          </a:xfrm>
          <a:prstGeom prst="rect">
            <a:avLst/>
          </a:prstGeom>
          <a:solidFill>
            <a:srgbClr val="FFFFFF"/>
          </a:solidFill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R1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438" name="Google Shape;1438;p92"/>
          <p:cNvSpPr/>
          <p:nvPr/>
        </p:nvSpPr>
        <p:spPr>
          <a:xfrm>
            <a:off x="657588" y="3715900"/>
            <a:ext cx="285000" cy="285000"/>
          </a:xfrm>
          <a:prstGeom prst="ellipse">
            <a:avLst/>
          </a:prstGeom>
          <a:solidFill>
            <a:srgbClr val="FFFFFF"/>
          </a:solidFill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A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1439" name="Google Shape;1439;p92"/>
          <p:cNvCxnSpPr>
            <a:stCxn id="1438" idx="6"/>
            <a:endCxn id="1437" idx="1"/>
          </p:cNvCxnSpPr>
          <p:nvPr/>
        </p:nvCxnSpPr>
        <p:spPr>
          <a:xfrm>
            <a:off x="942588" y="3858400"/>
            <a:ext cx="1772400" cy="0"/>
          </a:xfrm>
          <a:prstGeom prst="straightConnector1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1440" name="Google Shape;1440;p92"/>
          <p:cNvSpPr/>
          <p:nvPr/>
        </p:nvSpPr>
        <p:spPr>
          <a:xfrm>
            <a:off x="4772400" y="3715900"/>
            <a:ext cx="285000" cy="285000"/>
          </a:xfrm>
          <a:prstGeom prst="rect">
            <a:avLst/>
          </a:prstGeom>
          <a:solidFill>
            <a:srgbClr val="FFFFFF"/>
          </a:solidFill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R2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1441" name="Google Shape;1441;p92"/>
          <p:cNvCxnSpPr>
            <a:stCxn id="1437" idx="3"/>
            <a:endCxn id="1440" idx="1"/>
          </p:cNvCxnSpPr>
          <p:nvPr/>
        </p:nvCxnSpPr>
        <p:spPr>
          <a:xfrm>
            <a:off x="3000000" y="3858400"/>
            <a:ext cx="1772400" cy="0"/>
          </a:xfrm>
          <a:prstGeom prst="straightConnector1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1442" name="Google Shape;1442;p92"/>
          <p:cNvSpPr/>
          <p:nvPr/>
        </p:nvSpPr>
        <p:spPr>
          <a:xfrm>
            <a:off x="6829800" y="3715900"/>
            <a:ext cx="285000" cy="285000"/>
          </a:xfrm>
          <a:prstGeom prst="rect">
            <a:avLst/>
          </a:prstGeom>
          <a:solidFill>
            <a:srgbClr val="FFFFFF"/>
          </a:solidFill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R3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1443" name="Google Shape;1443;p92"/>
          <p:cNvCxnSpPr>
            <a:stCxn id="1440" idx="3"/>
            <a:endCxn id="1442" idx="1"/>
          </p:cNvCxnSpPr>
          <p:nvPr/>
        </p:nvCxnSpPr>
        <p:spPr>
          <a:xfrm>
            <a:off x="5057400" y="3858400"/>
            <a:ext cx="1772400" cy="0"/>
          </a:xfrm>
          <a:prstGeom prst="straightConnector1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med" len="med"/>
            <a:tailEnd type="none" w="med" len="med"/>
          </a:ln>
        </p:spPr>
      </p:cxnSp>
      <p:graphicFrame>
        <p:nvGraphicFramePr>
          <p:cNvPr id="1444" name="Google Shape;1444;p92"/>
          <p:cNvGraphicFramePr/>
          <p:nvPr/>
        </p:nvGraphicFramePr>
        <p:xfrm>
          <a:off x="1939744" y="4232650"/>
          <a:ext cx="1835500" cy="688770"/>
        </p:xfrm>
        <a:graphic>
          <a:graphicData uri="http://schemas.openxmlformats.org/drawingml/2006/table">
            <a:tbl>
              <a:tblPr>
                <a:noFill/>
              </a:tblPr>
              <a:tblGrid>
                <a:gridCol w="5448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9707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79362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121925">
                <a:tc gridSpan="3"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latin typeface="Roboto"/>
                          <a:ea typeface="Roboto"/>
                          <a:cs typeface="Roboto"/>
                          <a:sym typeface="Roboto"/>
                        </a:rPr>
                        <a:t>R1's Table</a:t>
                      </a:r>
                      <a:endParaRPr sz="12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21925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latin typeface="Roboto"/>
                          <a:ea typeface="Roboto"/>
                          <a:cs typeface="Roboto"/>
                          <a:sym typeface="Roboto"/>
                        </a:rPr>
                        <a:t>To:</a:t>
                      </a:r>
                      <a:endParaRPr sz="12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/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latin typeface="Roboto"/>
                          <a:ea typeface="Roboto"/>
                          <a:cs typeface="Roboto"/>
                          <a:sym typeface="Roboto"/>
                        </a:rPr>
                        <a:t>Via:</a:t>
                      </a:r>
                      <a:endParaRPr sz="12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/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latin typeface="Roboto"/>
                          <a:ea typeface="Roboto"/>
                          <a:cs typeface="Roboto"/>
                          <a:sym typeface="Roboto"/>
                        </a:rPr>
                        <a:t>Cost:</a:t>
                      </a:r>
                      <a:endParaRPr sz="12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21925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latin typeface="Roboto"/>
                          <a:ea typeface="Roboto"/>
                          <a:cs typeface="Roboto"/>
                          <a:sym typeface="Roboto"/>
                        </a:rPr>
                        <a:t>A</a:t>
                      </a:r>
                      <a:endParaRPr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/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latin typeface="Roboto"/>
                          <a:ea typeface="Roboto"/>
                          <a:cs typeface="Roboto"/>
                          <a:sym typeface="Roboto"/>
                        </a:rPr>
                        <a:t>Direct</a:t>
                      </a:r>
                      <a:endParaRPr sz="12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/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latin typeface="Roboto"/>
                          <a:ea typeface="Roboto"/>
                          <a:cs typeface="Roboto"/>
                          <a:sym typeface="Roboto"/>
                        </a:rPr>
                        <a:t>1</a:t>
                      </a:r>
                      <a:endParaRPr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</a:tbl>
          </a:graphicData>
        </a:graphic>
      </p:graphicFrame>
      <p:graphicFrame>
        <p:nvGraphicFramePr>
          <p:cNvPr id="1445" name="Google Shape;1445;p92"/>
          <p:cNvGraphicFramePr/>
          <p:nvPr/>
        </p:nvGraphicFramePr>
        <p:xfrm>
          <a:off x="3997144" y="4232650"/>
          <a:ext cx="1835500" cy="688770"/>
        </p:xfrm>
        <a:graphic>
          <a:graphicData uri="http://schemas.openxmlformats.org/drawingml/2006/table">
            <a:tbl>
              <a:tblPr>
                <a:noFill/>
              </a:tblPr>
              <a:tblGrid>
                <a:gridCol w="5448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9707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79362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121925">
                <a:tc gridSpan="3"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latin typeface="Roboto"/>
                          <a:ea typeface="Roboto"/>
                          <a:cs typeface="Roboto"/>
                          <a:sym typeface="Roboto"/>
                        </a:rPr>
                        <a:t>R2's Table</a:t>
                      </a:r>
                      <a:endParaRPr sz="12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>
                    <a:solidFill>
                      <a:srgbClr val="FFFFFF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21925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latin typeface="Roboto"/>
                          <a:ea typeface="Roboto"/>
                          <a:cs typeface="Roboto"/>
                          <a:sym typeface="Roboto"/>
                        </a:rPr>
                        <a:t>To:</a:t>
                      </a:r>
                      <a:endParaRPr sz="12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latin typeface="Roboto"/>
                          <a:ea typeface="Roboto"/>
                          <a:cs typeface="Roboto"/>
                          <a:sym typeface="Roboto"/>
                        </a:rPr>
                        <a:t>Via:</a:t>
                      </a:r>
                      <a:endParaRPr sz="12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latin typeface="Roboto"/>
                          <a:ea typeface="Roboto"/>
                          <a:cs typeface="Roboto"/>
                          <a:sym typeface="Roboto"/>
                        </a:rPr>
                        <a:t>Cost:</a:t>
                      </a:r>
                      <a:endParaRPr sz="12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21925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latin typeface="Roboto"/>
                          <a:ea typeface="Roboto"/>
                          <a:cs typeface="Roboto"/>
                          <a:sym typeface="Roboto"/>
                        </a:rPr>
                        <a:t>A</a:t>
                      </a:r>
                      <a:endParaRPr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/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latin typeface="Roboto"/>
                          <a:ea typeface="Roboto"/>
                          <a:cs typeface="Roboto"/>
                          <a:sym typeface="Roboto"/>
                        </a:rPr>
                        <a:t>R1</a:t>
                      </a:r>
                      <a:endParaRPr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/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latin typeface="Roboto"/>
                          <a:ea typeface="Roboto"/>
                          <a:cs typeface="Roboto"/>
                          <a:sym typeface="Roboto"/>
                        </a:rPr>
                        <a:t>2</a:t>
                      </a:r>
                      <a:endParaRPr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</a:tbl>
          </a:graphicData>
        </a:graphic>
      </p:graphicFrame>
      <p:graphicFrame>
        <p:nvGraphicFramePr>
          <p:cNvPr id="1446" name="Google Shape;1446;p92"/>
          <p:cNvGraphicFramePr/>
          <p:nvPr/>
        </p:nvGraphicFramePr>
        <p:xfrm>
          <a:off x="6054544" y="4232650"/>
          <a:ext cx="1835500" cy="688770"/>
        </p:xfrm>
        <a:graphic>
          <a:graphicData uri="http://schemas.openxmlformats.org/drawingml/2006/table">
            <a:tbl>
              <a:tblPr>
                <a:noFill/>
              </a:tblPr>
              <a:tblGrid>
                <a:gridCol w="5448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9707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79362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121925">
                <a:tc gridSpan="3"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latin typeface="Roboto"/>
                          <a:ea typeface="Roboto"/>
                          <a:cs typeface="Roboto"/>
                          <a:sym typeface="Roboto"/>
                        </a:rPr>
                        <a:t>R3's Table</a:t>
                      </a:r>
                      <a:endParaRPr sz="12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21925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latin typeface="Roboto"/>
                          <a:ea typeface="Roboto"/>
                          <a:cs typeface="Roboto"/>
                          <a:sym typeface="Roboto"/>
                        </a:rPr>
                        <a:t>To:</a:t>
                      </a:r>
                      <a:endParaRPr sz="12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/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latin typeface="Roboto"/>
                          <a:ea typeface="Roboto"/>
                          <a:cs typeface="Roboto"/>
                          <a:sym typeface="Roboto"/>
                        </a:rPr>
                        <a:t>Via:</a:t>
                      </a:r>
                      <a:endParaRPr sz="12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/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latin typeface="Roboto"/>
                          <a:ea typeface="Roboto"/>
                          <a:cs typeface="Roboto"/>
                          <a:sym typeface="Roboto"/>
                        </a:rPr>
                        <a:t>Cost:</a:t>
                      </a:r>
                      <a:endParaRPr sz="12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21925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latin typeface="Roboto"/>
                          <a:ea typeface="Roboto"/>
                          <a:cs typeface="Roboto"/>
                          <a:sym typeface="Roboto"/>
                        </a:rPr>
                        <a:t>A</a:t>
                      </a:r>
                      <a:endParaRPr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/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latin typeface="Roboto"/>
                          <a:ea typeface="Roboto"/>
                          <a:cs typeface="Roboto"/>
                          <a:sym typeface="Roboto"/>
                        </a:rPr>
                        <a:t>R2</a:t>
                      </a:r>
                      <a:endParaRPr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/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latin typeface="Roboto"/>
                          <a:ea typeface="Roboto"/>
                          <a:cs typeface="Roboto"/>
                          <a:sym typeface="Roboto"/>
                        </a:rPr>
                        <a:t>3</a:t>
                      </a:r>
                      <a:endParaRPr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</a:tbl>
          </a:graphicData>
        </a:graphic>
      </p:graphicFrame>
      <p:cxnSp>
        <p:nvCxnSpPr>
          <p:cNvPr id="1447" name="Google Shape;1447;p92"/>
          <p:cNvCxnSpPr/>
          <p:nvPr/>
        </p:nvCxnSpPr>
        <p:spPr>
          <a:xfrm>
            <a:off x="5246845" y="3680275"/>
            <a:ext cx="1393500" cy="0"/>
          </a:xfrm>
          <a:prstGeom prst="straightConnector1">
            <a:avLst/>
          </a:prstGeom>
          <a:noFill/>
          <a:ln w="19050" cap="flat" cmpd="sng">
            <a:solidFill>
              <a:schemeClr val="accent2"/>
            </a:solidFill>
            <a:prstDash val="solid"/>
            <a:round/>
            <a:headEnd type="triangle" w="med" len="med"/>
            <a:tailEnd type="none" w="med" len="med"/>
          </a:ln>
        </p:spPr>
      </p:cxnSp>
      <p:sp>
        <p:nvSpPr>
          <p:cNvPr id="1448" name="Google Shape;1448;p92"/>
          <p:cNvSpPr/>
          <p:nvPr/>
        </p:nvSpPr>
        <p:spPr>
          <a:xfrm>
            <a:off x="5393400" y="2844550"/>
            <a:ext cx="1100400" cy="733800"/>
          </a:xfrm>
          <a:prstGeom prst="roundRect">
            <a:avLst>
              <a:gd name="adj" fmla="val 16667"/>
            </a:avLst>
          </a:prstGeom>
          <a:solidFill>
            <a:srgbClr val="F4CCCC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I'm </a:t>
            </a:r>
            <a:r>
              <a:rPr lang="en" b="1">
                <a:latin typeface="Roboto"/>
                <a:ea typeface="Roboto"/>
                <a:cs typeface="Roboto"/>
                <a:sym typeface="Roboto"/>
              </a:rPr>
              <a:t>R3</a:t>
            </a:r>
            <a:r>
              <a:rPr lang="en">
                <a:latin typeface="Roboto"/>
                <a:ea typeface="Roboto"/>
                <a:cs typeface="Roboto"/>
                <a:sym typeface="Roboto"/>
              </a:rPr>
              <a:t>, and </a:t>
            </a:r>
            <a:r>
              <a:rPr lang="en" b="1">
                <a:latin typeface="Roboto"/>
                <a:ea typeface="Roboto"/>
                <a:cs typeface="Roboto"/>
                <a:sym typeface="Roboto"/>
              </a:rPr>
              <a:t>A</a:t>
            </a:r>
            <a:r>
              <a:rPr lang="en">
                <a:latin typeface="Roboto"/>
                <a:ea typeface="Roboto"/>
                <a:cs typeface="Roboto"/>
                <a:sym typeface="Roboto"/>
              </a:rPr>
              <a:t> is </a:t>
            </a:r>
            <a:r>
              <a:rPr lang="en" b="1">
                <a:latin typeface="Roboto"/>
                <a:ea typeface="Roboto"/>
                <a:cs typeface="Roboto"/>
                <a:sym typeface="Roboto"/>
              </a:rPr>
              <a:t>3</a:t>
            </a:r>
            <a:r>
              <a:rPr lang="en">
                <a:latin typeface="Roboto"/>
                <a:ea typeface="Roboto"/>
                <a:cs typeface="Roboto"/>
                <a:sym typeface="Roboto"/>
              </a:rPr>
              <a:t> away from me.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449" name="Google Shape;1449;p92"/>
          <p:cNvSpPr/>
          <p:nvPr/>
        </p:nvSpPr>
        <p:spPr>
          <a:xfrm>
            <a:off x="2888650" y="2780200"/>
            <a:ext cx="2341200" cy="553800"/>
          </a:xfrm>
          <a:prstGeom prst="wedgeRoundRectCallout">
            <a:avLst>
              <a:gd name="adj1" fmla="val 37452"/>
              <a:gd name="adj2" fmla="val 89210"/>
              <a:gd name="adj3" fmla="val 0"/>
            </a:avLst>
          </a:prstGeom>
          <a:noFill/>
          <a:ln w="9525" cap="flat" cmpd="sng">
            <a:solidFill>
              <a:schemeClr val="accent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accent2"/>
                </a:solidFill>
                <a:latin typeface="Roboto"/>
                <a:ea typeface="Roboto"/>
                <a:cs typeface="Roboto"/>
                <a:sym typeface="Roboto"/>
              </a:rPr>
              <a:t>Rejected. I have cost 2, and you're offering cost 1+3=4.</a:t>
            </a:r>
            <a:endParaRPr>
              <a:solidFill>
                <a:schemeClr val="accent2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</p:spTree>
  </p:cSld>
  <p:clrMapOvr>
    <a:masterClrMapping/>
  </p:clrMapOvr>
</p:sld>
</file>

<file path=ppt/slides/slide6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4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454" name="Google Shape;1454;p93"/>
          <p:cNvGraphicFramePr/>
          <p:nvPr/>
        </p:nvGraphicFramePr>
        <p:xfrm>
          <a:off x="3997144" y="4232650"/>
          <a:ext cx="1835500" cy="688770"/>
        </p:xfrm>
        <a:graphic>
          <a:graphicData uri="http://schemas.openxmlformats.org/drawingml/2006/table">
            <a:tbl>
              <a:tblPr>
                <a:noFill/>
              </a:tblPr>
              <a:tblGrid>
                <a:gridCol w="5448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9707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79362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121925">
                <a:tc gridSpan="3"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latin typeface="Roboto"/>
                          <a:ea typeface="Roboto"/>
                          <a:cs typeface="Roboto"/>
                          <a:sym typeface="Roboto"/>
                        </a:rPr>
                        <a:t>R2's Table</a:t>
                      </a:r>
                      <a:endParaRPr sz="12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>
                    <a:solidFill>
                      <a:srgbClr val="FFFFFF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21925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latin typeface="Roboto"/>
                          <a:ea typeface="Roboto"/>
                          <a:cs typeface="Roboto"/>
                          <a:sym typeface="Roboto"/>
                        </a:rPr>
                        <a:t>To:</a:t>
                      </a:r>
                      <a:endParaRPr sz="12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latin typeface="Roboto"/>
                          <a:ea typeface="Roboto"/>
                          <a:cs typeface="Roboto"/>
                          <a:sym typeface="Roboto"/>
                        </a:rPr>
                        <a:t>Via:</a:t>
                      </a:r>
                      <a:endParaRPr sz="12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latin typeface="Roboto"/>
                          <a:ea typeface="Roboto"/>
                          <a:cs typeface="Roboto"/>
                          <a:sym typeface="Roboto"/>
                        </a:rPr>
                        <a:t>Cost:</a:t>
                      </a:r>
                      <a:endParaRPr sz="12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21925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latin typeface="Roboto"/>
                          <a:ea typeface="Roboto"/>
                          <a:cs typeface="Roboto"/>
                          <a:sym typeface="Roboto"/>
                        </a:rPr>
                        <a:t>A</a:t>
                      </a:r>
                      <a:endParaRPr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latin typeface="Roboto"/>
                          <a:ea typeface="Roboto"/>
                          <a:cs typeface="Roboto"/>
                          <a:sym typeface="Roboto"/>
                        </a:rPr>
                        <a:t>R1</a:t>
                      </a:r>
                      <a:endParaRPr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latin typeface="Roboto"/>
                          <a:ea typeface="Roboto"/>
                          <a:cs typeface="Roboto"/>
                          <a:sym typeface="Roboto"/>
                        </a:rPr>
                        <a:t>2</a:t>
                      </a:r>
                      <a:endParaRPr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</a:tbl>
          </a:graphicData>
        </a:graphic>
      </p:graphicFrame>
      <p:cxnSp>
        <p:nvCxnSpPr>
          <p:cNvPr id="1455" name="Google Shape;1455;p93"/>
          <p:cNvCxnSpPr>
            <a:stCxn id="1456" idx="3"/>
            <a:endCxn id="1457" idx="1"/>
          </p:cNvCxnSpPr>
          <p:nvPr/>
        </p:nvCxnSpPr>
        <p:spPr>
          <a:xfrm>
            <a:off x="3000000" y="3858400"/>
            <a:ext cx="1772400" cy="0"/>
          </a:xfrm>
          <a:prstGeom prst="straightConnector1">
            <a:avLst/>
          </a:prstGeom>
          <a:noFill/>
          <a:ln w="19050" cap="flat" cmpd="sng">
            <a:solidFill>
              <a:srgbClr val="D9D9D9"/>
            </a:solidFill>
            <a:prstDash val="dash"/>
            <a:round/>
            <a:headEnd type="none" w="med" len="med"/>
            <a:tailEnd type="none" w="med" len="med"/>
          </a:ln>
        </p:spPr>
      </p:cxnSp>
      <p:sp>
        <p:nvSpPr>
          <p:cNvPr id="1458" name="Google Shape;1458;p93"/>
          <p:cNvSpPr txBox="1">
            <a:spLocks noGrp="1"/>
          </p:cNvSpPr>
          <p:nvPr>
            <p:ph type="title"/>
          </p:nvPr>
        </p:nvSpPr>
        <p:spPr>
          <a:xfrm>
            <a:off x="0" y="0"/>
            <a:ext cx="9144000" cy="39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Split Horizon – The Problem</a:t>
            </a:r>
            <a:endParaRPr/>
          </a:p>
        </p:txBody>
      </p:sp>
      <p:sp>
        <p:nvSpPr>
          <p:cNvPr id="1456" name="Google Shape;1456;p93"/>
          <p:cNvSpPr/>
          <p:nvPr/>
        </p:nvSpPr>
        <p:spPr>
          <a:xfrm>
            <a:off x="2715000" y="3715900"/>
            <a:ext cx="285000" cy="285000"/>
          </a:xfrm>
          <a:prstGeom prst="rect">
            <a:avLst/>
          </a:prstGeom>
          <a:solidFill>
            <a:srgbClr val="FFFFFF"/>
          </a:solidFill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R1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459" name="Google Shape;1459;p93"/>
          <p:cNvSpPr/>
          <p:nvPr/>
        </p:nvSpPr>
        <p:spPr>
          <a:xfrm>
            <a:off x="657588" y="3715900"/>
            <a:ext cx="285000" cy="285000"/>
          </a:xfrm>
          <a:prstGeom prst="ellipse">
            <a:avLst/>
          </a:prstGeom>
          <a:solidFill>
            <a:srgbClr val="FFFFFF"/>
          </a:solidFill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A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1460" name="Google Shape;1460;p93"/>
          <p:cNvCxnSpPr>
            <a:stCxn id="1459" idx="6"/>
            <a:endCxn id="1456" idx="1"/>
          </p:cNvCxnSpPr>
          <p:nvPr/>
        </p:nvCxnSpPr>
        <p:spPr>
          <a:xfrm>
            <a:off x="942588" y="3858400"/>
            <a:ext cx="1772400" cy="0"/>
          </a:xfrm>
          <a:prstGeom prst="straightConnector1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1457" name="Google Shape;1457;p93"/>
          <p:cNvSpPr/>
          <p:nvPr/>
        </p:nvSpPr>
        <p:spPr>
          <a:xfrm>
            <a:off x="4772400" y="3715900"/>
            <a:ext cx="285000" cy="285000"/>
          </a:xfrm>
          <a:prstGeom prst="rect">
            <a:avLst/>
          </a:prstGeom>
          <a:solidFill>
            <a:srgbClr val="FFFFFF"/>
          </a:solidFill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R2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461" name="Google Shape;1461;p93"/>
          <p:cNvSpPr/>
          <p:nvPr/>
        </p:nvSpPr>
        <p:spPr>
          <a:xfrm>
            <a:off x="6829800" y="3715900"/>
            <a:ext cx="285000" cy="285000"/>
          </a:xfrm>
          <a:prstGeom prst="rect">
            <a:avLst/>
          </a:prstGeom>
          <a:solidFill>
            <a:srgbClr val="FFFFFF"/>
          </a:solidFill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R3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1462" name="Google Shape;1462;p93"/>
          <p:cNvCxnSpPr>
            <a:stCxn id="1457" idx="3"/>
            <a:endCxn id="1461" idx="1"/>
          </p:cNvCxnSpPr>
          <p:nvPr/>
        </p:nvCxnSpPr>
        <p:spPr>
          <a:xfrm>
            <a:off x="5057400" y="3858400"/>
            <a:ext cx="1772400" cy="0"/>
          </a:xfrm>
          <a:prstGeom prst="straightConnector1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med" len="med"/>
            <a:tailEnd type="none" w="med" len="med"/>
          </a:ln>
        </p:spPr>
      </p:cxnSp>
      <p:graphicFrame>
        <p:nvGraphicFramePr>
          <p:cNvPr id="1463" name="Google Shape;1463;p93"/>
          <p:cNvGraphicFramePr/>
          <p:nvPr/>
        </p:nvGraphicFramePr>
        <p:xfrm>
          <a:off x="1939744" y="4232650"/>
          <a:ext cx="1835500" cy="688770"/>
        </p:xfrm>
        <a:graphic>
          <a:graphicData uri="http://schemas.openxmlformats.org/drawingml/2006/table">
            <a:tbl>
              <a:tblPr>
                <a:noFill/>
              </a:tblPr>
              <a:tblGrid>
                <a:gridCol w="5448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9707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79362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121925">
                <a:tc gridSpan="3"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latin typeface="Roboto"/>
                          <a:ea typeface="Roboto"/>
                          <a:cs typeface="Roboto"/>
                          <a:sym typeface="Roboto"/>
                        </a:rPr>
                        <a:t>R1's Table</a:t>
                      </a:r>
                      <a:endParaRPr sz="12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21925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latin typeface="Roboto"/>
                          <a:ea typeface="Roboto"/>
                          <a:cs typeface="Roboto"/>
                          <a:sym typeface="Roboto"/>
                        </a:rPr>
                        <a:t>To:</a:t>
                      </a:r>
                      <a:endParaRPr sz="12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/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latin typeface="Roboto"/>
                          <a:ea typeface="Roboto"/>
                          <a:cs typeface="Roboto"/>
                          <a:sym typeface="Roboto"/>
                        </a:rPr>
                        <a:t>Via:</a:t>
                      </a:r>
                      <a:endParaRPr sz="12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/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latin typeface="Roboto"/>
                          <a:ea typeface="Roboto"/>
                          <a:cs typeface="Roboto"/>
                          <a:sym typeface="Roboto"/>
                        </a:rPr>
                        <a:t>Cost:</a:t>
                      </a:r>
                      <a:endParaRPr sz="12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21925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latin typeface="Roboto"/>
                          <a:ea typeface="Roboto"/>
                          <a:cs typeface="Roboto"/>
                          <a:sym typeface="Roboto"/>
                        </a:rPr>
                        <a:t>A</a:t>
                      </a:r>
                      <a:endParaRPr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/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latin typeface="Roboto"/>
                          <a:ea typeface="Roboto"/>
                          <a:cs typeface="Roboto"/>
                          <a:sym typeface="Roboto"/>
                        </a:rPr>
                        <a:t>Direct</a:t>
                      </a:r>
                      <a:endParaRPr sz="12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/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latin typeface="Roboto"/>
                          <a:ea typeface="Roboto"/>
                          <a:cs typeface="Roboto"/>
                          <a:sym typeface="Roboto"/>
                        </a:rPr>
                        <a:t>1</a:t>
                      </a:r>
                      <a:endParaRPr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</a:tbl>
          </a:graphicData>
        </a:graphic>
      </p:graphicFrame>
      <p:graphicFrame>
        <p:nvGraphicFramePr>
          <p:cNvPr id="1464" name="Google Shape;1464;p93"/>
          <p:cNvGraphicFramePr/>
          <p:nvPr/>
        </p:nvGraphicFramePr>
        <p:xfrm>
          <a:off x="3997144" y="4232650"/>
          <a:ext cx="1835500" cy="688770"/>
        </p:xfrm>
        <a:graphic>
          <a:graphicData uri="http://schemas.openxmlformats.org/drawingml/2006/table">
            <a:tbl>
              <a:tblPr>
                <a:noFill/>
              </a:tblPr>
              <a:tblGrid>
                <a:gridCol w="5448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9707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79362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121925">
                <a:tc gridSpan="3"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latin typeface="Roboto"/>
                          <a:ea typeface="Roboto"/>
                          <a:cs typeface="Roboto"/>
                          <a:sym typeface="Roboto"/>
                        </a:rPr>
                        <a:t>R2's Table</a:t>
                      </a:r>
                      <a:endParaRPr sz="12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>
                    <a:solidFill>
                      <a:srgbClr val="FFFFFF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21925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latin typeface="Roboto"/>
                          <a:ea typeface="Roboto"/>
                          <a:cs typeface="Roboto"/>
                          <a:sym typeface="Roboto"/>
                        </a:rPr>
                        <a:t>To:</a:t>
                      </a:r>
                      <a:endParaRPr sz="12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latin typeface="Roboto"/>
                          <a:ea typeface="Roboto"/>
                          <a:cs typeface="Roboto"/>
                          <a:sym typeface="Roboto"/>
                        </a:rPr>
                        <a:t>Via:</a:t>
                      </a:r>
                      <a:endParaRPr sz="12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latin typeface="Roboto"/>
                          <a:ea typeface="Roboto"/>
                          <a:cs typeface="Roboto"/>
                          <a:sym typeface="Roboto"/>
                        </a:rPr>
                        <a:t>Cost:</a:t>
                      </a:r>
                      <a:endParaRPr sz="12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21925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>
                    <a:solidFill>
                      <a:srgbClr val="F4CCCC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>
                    <a:solidFill>
                      <a:srgbClr val="F4CCCC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>
                    <a:solidFill>
                      <a:srgbClr val="F4CCC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</a:tbl>
          </a:graphicData>
        </a:graphic>
      </p:graphicFrame>
      <p:graphicFrame>
        <p:nvGraphicFramePr>
          <p:cNvPr id="1465" name="Google Shape;1465;p93"/>
          <p:cNvGraphicFramePr/>
          <p:nvPr/>
        </p:nvGraphicFramePr>
        <p:xfrm>
          <a:off x="6054544" y="4232650"/>
          <a:ext cx="1835500" cy="688770"/>
        </p:xfrm>
        <a:graphic>
          <a:graphicData uri="http://schemas.openxmlformats.org/drawingml/2006/table">
            <a:tbl>
              <a:tblPr>
                <a:noFill/>
              </a:tblPr>
              <a:tblGrid>
                <a:gridCol w="5448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9707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79362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121925">
                <a:tc gridSpan="3"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latin typeface="Roboto"/>
                          <a:ea typeface="Roboto"/>
                          <a:cs typeface="Roboto"/>
                          <a:sym typeface="Roboto"/>
                        </a:rPr>
                        <a:t>R3's Table</a:t>
                      </a:r>
                      <a:endParaRPr sz="12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21925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latin typeface="Roboto"/>
                          <a:ea typeface="Roboto"/>
                          <a:cs typeface="Roboto"/>
                          <a:sym typeface="Roboto"/>
                        </a:rPr>
                        <a:t>To:</a:t>
                      </a:r>
                      <a:endParaRPr sz="12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/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latin typeface="Roboto"/>
                          <a:ea typeface="Roboto"/>
                          <a:cs typeface="Roboto"/>
                          <a:sym typeface="Roboto"/>
                        </a:rPr>
                        <a:t>Via:</a:t>
                      </a:r>
                      <a:endParaRPr sz="12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/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latin typeface="Roboto"/>
                          <a:ea typeface="Roboto"/>
                          <a:cs typeface="Roboto"/>
                          <a:sym typeface="Roboto"/>
                        </a:rPr>
                        <a:t>Cost:</a:t>
                      </a:r>
                      <a:endParaRPr sz="12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21925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latin typeface="Roboto"/>
                          <a:ea typeface="Roboto"/>
                          <a:cs typeface="Roboto"/>
                          <a:sym typeface="Roboto"/>
                        </a:rPr>
                        <a:t>A</a:t>
                      </a:r>
                      <a:endParaRPr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/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latin typeface="Roboto"/>
                          <a:ea typeface="Roboto"/>
                          <a:cs typeface="Roboto"/>
                          <a:sym typeface="Roboto"/>
                        </a:rPr>
                        <a:t>R2</a:t>
                      </a:r>
                      <a:endParaRPr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/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latin typeface="Roboto"/>
                          <a:ea typeface="Roboto"/>
                          <a:cs typeface="Roboto"/>
                          <a:sym typeface="Roboto"/>
                        </a:rPr>
                        <a:t>3</a:t>
                      </a:r>
                      <a:endParaRPr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</a:tbl>
          </a:graphicData>
        </a:graphic>
      </p:graphicFrame>
      <p:sp>
        <p:nvSpPr>
          <p:cNvPr id="1466" name="Google Shape;1466;p93"/>
          <p:cNvSpPr txBox="1"/>
          <p:nvPr/>
        </p:nvSpPr>
        <p:spPr>
          <a:xfrm>
            <a:off x="657600" y="2738925"/>
            <a:ext cx="6438900" cy="486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27425" tIns="27425" rIns="27425" bIns="27425" anchor="t" anchorCtr="0">
            <a:sp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A link goes down, and R2's entry expires (no more updates from R1).</a:t>
            </a:r>
            <a:endParaRPr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What happens now?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4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1471" name="Google Shape;1471;p94"/>
          <p:cNvCxnSpPr>
            <a:stCxn id="1472" idx="3"/>
            <a:endCxn id="1473" idx="1"/>
          </p:cNvCxnSpPr>
          <p:nvPr/>
        </p:nvCxnSpPr>
        <p:spPr>
          <a:xfrm>
            <a:off x="3000000" y="3858400"/>
            <a:ext cx="1772400" cy="0"/>
          </a:xfrm>
          <a:prstGeom prst="straightConnector1">
            <a:avLst/>
          </a:prstGeom>
          <a:noFill/>
          <a:ln w="19050" cap="flat" cmpd="sng">
            <a:solidFill>
              <a:srgbClr val="D9D9D9"/>
            </a:solidFill>
            <a:prstDash val="dash"/>
            <a:round/>
            <a:headEnd type="none" w="med" len="med"/>
            <a:tailEnd type="none" w="med" len="med"/>
          </a:ln>
        </p:spPr>
      </p:cxnSp>
      <p:sp>
        <p:nvSpPr>
          <p:cNvPr id="1474" name="Google Shape;1474;p94"/>
          <p:cNvSpPr txBox="1">
            <a:spLocks noGrp="1"/>
          </p:cNvSpPr>
          <p:nvPr>
            <p:ph type="title"/>
          </p:nvPr>
        </p:nvSpPr>
        <p:spPr>
          <a:xfrm>
            <a:off x="0" y="0"/>
            <a:ext cx="9144000" cy="39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Split Horizon – The Problem</a:t>
            </a:r>
            <a:endParaRPr/>
          </a:p>
        </p:txBody>
      </p:sp>
      <p:sp>
        <p:nvSpPr>
          <p:cNvPr id="1472" name="Google Shape;1472;p94"/>
          <p:cNvSpPr/>
          <p:nvPr/>
        </p:nvSpPr>
        <p:spPr>
          <a:xfrm>
            <a:off x="2715000" y="3715900"/>
            <a:ext cx="285000" cy="285000"/>
          </a:xfrm>
          <a:prstGeom prst="rect">
            <a:avLst/>
          </a:prstGeom>
          <a:solidFill>
            <a:srgbClr val="FFFFFF"/>
          </a:solidFill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R1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475" name="Google Shape;1475;p94"/>
          <p:cNvSpPr/>
          <p:nvPr/>
        </p:nvSpPr>
        <p:spPr>
          <a:xfrm>
            <a:off x="657588" y="3715900"/>
            <a:ext cx="285000" cy="285000"/>
          </a:xfrm>
          <a:prstGeom prst="ellipse">
            <a:avLst/>
          </a:prstGeom>
          <a:solidFill>
            <a:srgbClr val="FFFFFF"/>
          </a:solidFill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A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1476" name="Google Shape;1476;p94"/>
          <p:cNvCxnSpPr>
            <a:stCxn id="1475" idx="6"/>
            <a:endCxn id="1472" idx="1"/>
          </p:cNvCxnSpPr>
          <p:nvPr/>
        </p:nvCxnSpPr>
        <p:spPr>
          <a:xfrm>
            <a:off x="942588" y="3858400"/>
            <a:ext cx="1772400" cy="0"/>
          </a:xfrm>
          <a:prstGeom prst="straightConnector1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1473" name="Google Shape;1473;p94"/>
          <p:cNvSpPr/>
          <p:nvPr/>
        </p:nvSpPr>
        <p:spPr>
          <a:xfrm>
            <a:off x="4772400" y="3715900"/>
            <a:ext cx="285000" cy="285000"/>
          </a:xfrm>
          <a:prstGeom prst="rect">
            <a:avLst/>
          </a:prstGeom>
          <a:solidFill>
            <a:srgbClr val="FFFFFF"/>
          </a:solidFill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R2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477" name="Google Shape;1477;p94"/>
          <p:cNvSpPr/>
          <p:nvPr/>
        </p:nvSpPr>
        <p:spPr>
          <a:xfrm>
            <a:off x="6829800" y="3715900"/>
            <a:ext cx="285000" cy="285000"/>
          </a:xfrm>
          <a:prstGeom prst="rect">
            <a:avLst/>
          </a:prstGeom>
          <a:solidFill>
            <a:srgbClr val="FFFFFF"/>
          </a:solidFill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R3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1478" name="Google Shape;1478;p94"/>
          <p:cNvCxnSpPr>
            <a:stCxn id="1473" idx="3"/>
            <a:endCxn id="1477" idx="1"/>
          </p:cNvCxnSpPr>
          <p:nvPr/>
        </p:nvCxnSpPr>
        <p:spPr>
          <a:xfrm>
            <a:off x="5057400" y="3858400"/>
            <a:ext cx="1772400" cy="0"/>
          </a:xfrm>
          <a:prstGeom prst="straightConnector1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med" len="med"/>
            <a:tailEnd type="none" w="med" len="med"/>
          </a:ln>
        </p:spPr>
      </p:cxnSp>
      <p:graphicFrame>
        <p:nvGraphicFramePr>
          <p:cNvPr id="1479" name="Google Shape;1479;p94"/>
          <p:cNvGraphicFramePr/>
          <p:nvPr/>
        </p:nvGraphicFramePr>
        <p:xfrm>
          <a:off x="1939744" y="4232650"/>
          <a:ext cx="1835500" cy="688770"/>
        </p:xfrm>
        <a:graphic>
          <a:graphicData uri="http://schemas.openxmlformats.org/drawingml/2006/table">
            <a:tbl>
              <a:tblPr>
                <a:noFill/>
              </a:tblPr>
              <a:tblGrid>
                <a:gridCol w="5448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9707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79362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121925">
                <a:tc gridSpan="3"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latin typeface="Roboto"/>
                          <a:ea typeface="Roboto"/>
                          <a:cs typeface="Roboto"/>
                          <a:sym typeface="Roboto"/>
                        </a:rPr>
                        <a:t>R1's Table</a:t>
                      </a:r>
                      <a:endParaRPr sz="12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21925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latin typeface="Roboto"/>
                          <a:ea typeface="Roboto"/>
                          <a:cs typeface="Roboto"/>
                          <a:sym typeface="Roboto"/>
                        </a:rPr>
                        <a:t>To:</a:t>
                      </a:r>
                      <a:endParaRPr sz="12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/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latin typeface="Roboto"/>
                          <a:ea typeface="Roboto"/>
                          <a:cs typeface="Roboto"/>
                          <a:sym typeface="Roboto"/>
                        </a:rPr>
                        <a:t>Via:</a:t>
                      </a:r>
                      <a:endParaRPr sz="12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/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latin typeface="Roboto"/>
                          <a:ea typeface="Roboto"/>
                          <a:cs typeface="Roboto"/>
                          <a:sym typeface="Roboto"/>
                        </a:rPr>
                        <a:t>Cost:</a:t>
                      </a:r>
                      <a:endParaRPr sz="12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21925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latin typeface="Roboto"/>
                          <a:ea typeface="Roboto"/>
                          <a:cs typeface="Roboto"/>
                          <a:sym typeface="Roboto"/>
                        </a:rPr>
                        <a:t>A</a:t>
                      </a:r>
                      <a:endParaRPr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/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latin typeface="Roboto"/>
                          <a:ea typeface="Roboto"/>
                          <a:cs typeface="Roboto"/>
                          <a:sym typeface="Roboto"/>
                        </a:rPr>
                        <a:t>Direct</a:t>
                      </a:r>
                      <a:endParaRPr sz="12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/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latin typeface="Roboto"/>
                          <a:ea typeface="Roboto"/>
                          <a:cs typeface="Roboto"/>
                          <a:sym typeface="Roboto"/>
                        </a:rPr>
                        <a:t>1</a:t>
                      </a:r>
                      <a:endParaRPr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</a:tbl>
          </a:graphicData>
        </a:graphic>
      </p:graphicFrame>
      <p:graphicFrame>
        <p:nvGraphicFramePr>
          <p:cNvPr id="1480" name="Google Shape;1480;p94"/>
          <p:cNvGraphicFramePr/>
          <p:nvPr/>
        </p:nvGraphicFramePr>
        <p:xfrm>
          <a:off x="3997144" y="4232650"/>
          <a:ext cx="1835500" cy="688770"/>
        </p:xfrm>
        <a:graphic>
          <a:graphicData uri="http://schemas.openxmlformats.org/drawingml/2006/table">
            <a:tbl>
              <a:tblPr>
                <a:noFill/>
              </a:tblPr>
              <a:tblGrid>
                <a:gridCol w="5448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9707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79362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121925">
                <a:tc gridSpan="3"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latin typeface="Roboto"/>
                          <a:ea typeface="Roboto"/>
                          <a:cs typeface="Roboto"/>
                          <a:sym typeface="Roboto"/>
                        </a:rPr>
                        <a:t>R2's Table</a:t>
                      </a:r>
                      <a:endParaRPr sz="12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>
                    <a:solidFill>
                      <a:srgbClr val="FFFFFF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21925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latin typeface="Roboto"/>
                          <a:ea typeface="Roboto"/>
                          <a:cs typeface="Roboto"/>
                          <a:sym typeface="Roboto"/>
                        </a:rPr>
                        <a:t>To:</a:t>
                      </a:r>
                      <a:endParaRPr sz="12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latin typeface="Roboto"/>
                          <a:ea typeface="Roboto"/>
                          <a:cs typeface="Roboto"/>
                          <a:sym typeface="Roboto"/>
                        </a:rPr>
                        <a:t>Via:</a:t>
                      </a:r>
                      <a:endParaRPr sz="12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latin typeface="Roboto"/>
                          <a:ea typeface="Roboto"/>
                          <a:cs typeface="Roboto"/>
                          <a:sym typeface="Roboto"/>
                        </a:rPr>
                        <a:t>Cost:</a:t>
                      </a:r>
                      <a:endParaRPr sz="12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21925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/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/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</a:tbl>
          </a:graphicData>
        </a:graphic>
      </p:graphicFrame>
      <p:graphicFrame>
        <p:nvGraphicFramePr>
          <p:cNvPr id="1481" name="Google Shape;1481;p94"/>
          <p:cNvGraphicFramePr/>
          <p:nvPr/>
        </p:nvGraphicFramePr>
        <p:xfrm>
          <a:off x="6054544" y="4232650"/>
          <a:ext cx="1835500" cy="688770"/>
        </p:xfrm>
        <a:graphic>
          <a:graphicData uri="http://schemas.openxmlformats.org/drawingml/2006/table">
            <a:tbl>
              <a:tblPr>
                <a:noFill/>
              </a:tblPr>
              <a:tblGrid>
                <a:gridCol w="5448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9707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79362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121925">
                <a:tc gridSpan="3"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latin typeface="Roboto"/>
                          <a:ea typeface="Roboto"/>
                          <a:cs typeface="Roboto"/>
                          <a:sym typeface="Roboto"/>
                        </a:rPr>
                        <a:t>R3's Table</a:t>
                      </a:r>
                      <a:endParaRPr sz="12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21925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latin typeface="Roboto"/>
                          <a:ea typeface="Roboto"/>
                          <a:cs typeface="Roboto"/>
                          <a:sym typeface="Roboto"/>
                        </a:rPr>
                        <a:t>To:</a:t>
                      </a:r>
                      <a:endParaRPr sz="12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/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latin typeface="Roboto"/>
                          <a:ea typeface="Roboto"/>
                          <a:cs typeface="Roboto"/>
                          <a:sym typeface="Roboto"/>
                        </a:rPr>
                        <a:t>Via:</a:t>
                      </a:r>
                      <a:endParaRPr sz="12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/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latin typeface="Roboto"/>
                          <a:ea typeface="Roboto"/>
                          <a:cs typeface="Roboto"/>
                          <a:sym typeface="Roboto"/>
                        </a:rPr>
                        <a:t>Cost:</a:t>
                      </a:r>
                      <a:endParaRPr sz="12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21925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latin typeface="Roboto"/>
                          <a:ea typeface="Roboto"/>
                          <a:cs typeface="Roboto"/>
                          <a:sym typeface="Roboto"/>
                        </a:rPr>
                        <a:t>A</a:t>
                      </a:r>
                      <a:endParaRPr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/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latin typeface="Roboto"/>
                          <a:ea typeface="Roboto"/>
                          <a:cs typeface="Roboto"/>
                          <a:sym typeface="Roboto"/>
                        </a:rPr>
                        <a:t>R2</a:t>
                      </a:r>
                      <a:endParaRPr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/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latin typeface="Roboto"/>
                          <a:ea typeface="Roboto"/>
                          <a:cs typeface="Roboto"/>
                          <a:sym typeface="Roboto"/>
                        </a:rPr>
                        <a:t>3</a:t>
                      </a:r>
                      <a:endParaRPr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</a:tbl>
          </a:graphicData>
        </a:graphic>
      </p:graphicFrame>
      <p:cxnSp>
        <p:nvCxnSpPr>
          <p:cNvPr id="1482" name="Google Shape;1482;p94"/>
          <p:cNvCxnSpPr/>
          <p:nvPr/>
        </p:nvCxnSpPr>
        <p:spPr>
          <a:xfrm>
            <a:off x="5246845" y="3756475"/>
            <a:ext cx="1393500" cy="0"/>
          </a:xfrm>
          <a:prstGeom prst="straightConnector1">
            <a:avLst/>
          </a:prstGeom>
          <a:noFill/>
          <a:ln w="19050" cap="flat" cmpd="sng">
            <a:solidFill>
              <a:schemeClr val="accent2"/>
            </a:solidFill>
            <a:prstDash val="solid"/>
            <a:round/>
            <a:headEnd type="triangle" w="med" len="med"/>
            <a:tailEnd type="none" w="med" len="med"/>
          </a:ln>
        </p:spPr>
      </p:cxnSp>
      <p:sp>
        <p:nvSpPr>
          <p:cNvPr id="1483" name="Google Shape;1483;p94"/>
          <p:cNvSpPr/>
          <p:nvPr/>
        </p:nvSpPr>
        <p:spPr>
          <a:xfrm>
            <a:off x="5393400" y="2920750"/>
            <a:ext cx="1100400" cy="733800"/>
          </a:xfrm>
          <a:prstGeom prst="roundRect">
            <a:avLst>
              <a:gd name="adj" fmla="val 16667"/>
            </a:avLst>
          </a:prstGeom>
          <a:solidFill>
            <a:srgbClr val="F4CCCC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I'm </a:t>
            </a:r>
            <a:r>
              <a:rPr lang="en" b="1">
                <a:latin typeface="Roboto"/>
                <a:ea typeface="Roboto"/>
                <a:cs typeface="Roboto"/>
                <a:sym typeface="Roboto"/>
              </a:rPr>
              <a:t>R3</a:t>
            </a:r>
            <a:r>
              <a:rPr lang="en">
                <a:latin typeface="Roboto"/>
                <a:ea typeface="Roboto"/>
                <a:cs typeface="Roboto"/>
                <a:sym typeface="Roboto"/>
              </a:rPr>
              <a:t>, and </a:t>
            </a:r>
            <a:r>
              <a:rPr lang="en" b="1">
                <a:latin typeface="Roboto"/>
                <a:ea typeface="Roboto"/>
                <a:cs typeface="Roboto"/>
                <a:sym typeface="Roboto"/>
              </a:rPr>
              <a:t>A</a:t>
            </a:r>
            <a:r>
              <a:rPr lang="en">
                <a:latin typeface="Roboto"/>
                <a:ea typeface="Roboto"/>
                <a:cs typeface="Roboto"/>
                <a:sym typeface="Roboto"/>
              </a:rPr>
              <a:t> is </a:t>
            </a:r>
            <a:r>
              <a:rPr lang="en" b="1">
                <a:latin typeface="Roboto"/>
                <a:ea typeface="Roboto"/>
                <a:cs typeface="Roboto"/>
                <a:sym typeface="Roboto"/>
              </a:rPr>
              <a:t>3</a:t>
            </a:r>
            <a:r>
              <a:rPr lang="en">
                <a:latin typeface="Roboto"/>
                <a:ea typeface="Roboto"/>
                <a:cs typeface="Roboto"/>
                <a:sym typeface="Roboto"/>
              </a:rPr>
              <a:t> away from me.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484" name="Google Shape;1484;p94"/>
          <p:cNvSpPr/>
          <p:nvPr/>
        </p:nvSpPr>
        <p:spPr>
          <a:xfrm>
            <a:off x="2888650" y="2856400"/>
            <a:ext cx="2341200" cy="553800"/>
          </a:xfrm>
          <a:prstGeom prst="wedgeRoundRectCallout">
            <a:avLst>
              <a:gd name="adj1" fmla="val 37452"/>
              <a:gd name="adj2" fmla="val 89210"/>
              <a:gd name="adj3" fmla="val 0"/>
            </a:avLst>
          </a:prstGeom>
          <a:noFill/>
          <a:ln w="9525" cap="flat" cmpd="sng">
            <a:solidFill>
              <a:schemeClr val="accent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accent2"/>
                </a:solidFill>
                <a:latin typeface="Roboto"/>
                <a:ea typeface="Roboto"/>
                <a:cs typeface="Roboto"/>
                <a:sym typeface="Roboto"/>
              </a:rPr>
              <a:t>My table's empty, so that sounds good to me.</a:t>
            </a:r>
            <a:endParaRPr>
              <a:solidFill>
                <a:schemeClr val="accent2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graphicFrame>
        <p:nvGraphicFramePr>
          <p:cNvPr id="1485" name="Google Shape;1485;p94"/>
          <p:cNvGraphicFramePr/>
          <p:nvPr/>
        </p:nvGraphicFramePr>
        <p:xfrm>
          <a:off x="3997144" y="4232650"/>
          <a:ext cx="1835500" cy="688770"/>
        </p:xfrm>
        <a:graphic>
          <a:graphicData uri="http://schemas.openxmlformats.org/drawingml/2006/table">
            <a:tbl>
              <a:tblPr>
                <a:noFill/>
              </a:tblPr>
              <a:tblGrid>
                <a:gridCol w="5448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9707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79362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121925">
                <a:tc gridSpan="3"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latin typeface="Roboto"/>
                          <a:ea typeface="Roboto"/>
                          <a:cs typeface="Roboto"/>
                          <a:sym typeface="Roboto"/>
                        </a:rPr>
                        <a:t>R2's Table</a:t>
                      </a:r>
                      <a:endParaRPr sz="12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>
                    <a:solidFill>
                      <a:srgbClr val="FFFFFF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21925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latin typeface="Roboto"/>
                          <a:ea typeface="Roboto"/>
                          <a:cs typeface="Roboto"/>
                          <a:sym typeface="Roboto"/>
                        </a:rPr>
                        <a:t>To:</a:t>
                      </a:r>
                      <a:endParaRPr sz="12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latin typeface="Roboto"/>
                          <a:ea typeface="Roboto"/>
                          <a:cs typeface="Roboto"/>
                          <a:sym typeface="Roboto"/>
                        </a:rPr>
                        <a:t>Via:</a:t>
                      </a:r>
                      <a:endParaRPr sz="12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latin typeface="Roboto"/>
                          <a:ea typeface="Roboto"/>
                          <a:cs typeface="Roboto"/>
                          <a:sym typeface="Roboto"/>
                        </a:rPr>
                        <a:t>Cost:</a:t>
                      </a:r>
                      <a:endParaRPr sz="12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21925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latin typeface="Roboto"/>
                          <a:ea typeface="Roboto"/>
                          <a:cs typeface="Roboto"/>
                          <a:sym typeface="Roboto"/>
                        </a:rPr>
                        <a:t>A</a:t>
                      </a:r>
                      <a:endParaRPr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>
                    <a:solidFill>
                      <a:srgbClr val="F4CCCC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latin typeface="Roboto"/>
                          <a:ea typeface="Roboto"/>
                          <a:cs typeface="Roboto"/>
                          <a:sym typeface="Roboto"/>
                        </a:rPr>
                        <a:t>R3</a:t>
                      </a:r>
                      <a:endParaRPr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>
                    <a:solidFill>
                      <a:srgbClr val="F4CCCC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latin typeface="Roboto"/>
                          <a:ea typeface="Roboto"/>
                          <a:cs typeface="Roboto"/>
                          <a:sym typeface="Roboto"/>
                        </a:rPr>
                        <a:t>4</a:t>
                      </a:r>
                      <a:endParaRPr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>
                    <a:solidFill>
                      <a:srgbClr val="F4CCC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</a:tbl>
          </a:graphicData>
        </a:graphic>
      </p:graphicFrame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4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1490" name="Google Shape;1490;p95"/>
          <p:cNvCxnSpPr>
            <a:stCxn id="1491" idx="3"/>
            <a:endCxn id="1492" idx="1"/>
          </p:cNvCxnSpPr>
          <p:nvPr/>
        </p:nvCxnSpPr>
        <p:spPr>
          <a:xfrm>
            <a:off x="3000000" y="3858400"/>
            <a:ext cx="1772400" cy="0"/>
          </a:xfrm>
          <a:prstGeom prst="straightConnector1">
            <a:avLst/>
          </a:prstGeom>
          <a:noFill/>
          <a:ln w="19050" cap="flat" cmpd="sng">
            <a:solidFill>
              <a:srgbClr val="D9D9D9"/>
            </a:solidFill>
            <a:prstDash val="dash"/>
            <a:round/>
            <a:headEnd type="none" w="med" len="med"/>
            <a:tailEnd type="none" w="med" len="med"/>
          </a:ln>
        </p:spPr>
      </p:cxnSp>
      <p:graphicFrame>
        <p:nvGraphicFramePr>
          <p:cNvPr id="1493" name="Google Shape;1493;p95"/>
          <p:cNvGraphicFramePr/>
          <p:nvPr/>
        </p:nvGraphicFramePr>
        <p:xfrm>
          <a:off x="3997144" y="4232650"/>
          <a:ext cx="1835500" cy="688770"/>
        </p:xfrm>
        <a:graphic>
          <a:graphicData uri="http://schemas.openxmlformats.org/drawingml/2006/table">
            <a:tbl>
              <a:tblPr>
                <a:noFill/>
              </a:tblPr>
              <a:tblGrid>
                <a:gridCol w="5448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9707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79362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121925">
                <a:tc gridSpan="3"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latin typeface="Roboto"/>
                          <a:ea typeface="Roboto"/>
                          <a:cs typeface="Roboto"/>
                          <a:sym typeface="Roboto"/>
                        </a:rPr>
                        <a:t>R2's Table</a:t>
                      </a:r>
                      <a:endParaRPr sz="12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>
                    <a:solidFill>
                      <a:srgbClr val="FFFFFF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21925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latin typeface="Roboto"/>
                          <a:ea typeface="Roboto"/>
                          <a:cs typeface="Roboto"/>
                          <a:sym typeface="Roboto"/>
                        </a:rPr>
                        <a:t>To:</a:t>
                      </a:r>
                      <a:endParaRPr sz="12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latin typeface="Roboto"/>
                          <a:ea typeface="Roboto"/>
                          <a:cs typeface="Roboto"/>
                          <a:sym typeface="Roboto"/>
                        </a:rPr>
                        <a:t>Via:</a:t>
                      </a:r>
                      <a:endParaRPr sz="12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latin typeface="Roboto"/>
                          <a:ea typeface="Roboto"/>
                          <a:cs typeface="Roboto"/>
                          <a:sym typeface="Roboto"/>
                        </a:rPr>
                        <a:t>Cost:</a:t>
                      </a:r>
                      <a:endParaRPr sz="12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21925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latin typeface="Roboto"/>
                          <a:ea typeface="Roboto"/>
                          <a:cs typeface="Roboto"/>
                          <a:sym typeface="Roboto"/>
                        </a:rPr>
                        <a:t>A</a:t>
                      </a:r>
                      <a:endParaRPr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latin typeface="Roboto"/>
                          <a:ea typeface="Roboto"/>
                          <a:cs typeface="Roboto"/>
                          <a:sym typeface="Roboto"/>
                        </a:rPr>
                        <a:t>R3</a:t>
                      </a:r>
                      <a:endParaRPr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latin typeface="Roboto"/>
                          <a:ea typeface="Roboto"/>
                          <a:cs typeface="Roboto"/>
                          <a:sym typeface="Roboto"/>
                        </a:rPr>
                        <a:t>4</a:t>
                      </a:r>
                      <a:endParaRPr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</a:tbl>
          </a:graphicData>
        </a:graphic>
      </p:graphicFrame>
      <p:sp>
        <p:nvSpPr>
          <p:cNvPr id="1494" name="Google Shape;1494;p95"/>
          <p:cNvSpPr txBox="1">
            <a:spLocks noGrp="1"/>
          </p:cNvSpPr>
          <p:nvPr>
            <p:ph type="title"/>
          </p:nvPr>
        </p:nvSpPr>
        <p:spPr>
          <a:xfrm>
            <a:off x="0" y="0"/>
            <a:ext cx="9144000" cy="39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Split Horizon – The Problem</a:t>
            </a:r>
            <a:endParaRPr/>
          </a:p>
        </p:txBody>
      </p:sp>
      <p:sp>
        <p:nvSpPr>
          <p:cNvPr id="1491" name="Google Shape;1491;p95"/>
          <p:cNvSpPr/>
          <p:nvPr/>
        </p:nvSpPr>
        <p:spPr>
          <a:xfrm>
            <a:off x="2715000" y="3715900"/>
            <a:ext cx="285000" cy="285000"/>
          </a:xfrm>
          <a:prstGeom prst="rect">
            <a:avLst/>
          </a:prstGeom>
          <a:solidFill>
            <a:srgbClr val="FFFFFF"/>
          </a:solidFill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R1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495" name="Google Shape;1495;p95"/>
          <p:cNvSpPr/>
          <p:nvPr/>
        </p:nvSpPr>
        <p:spPr>
          <a:xfrm>
            <a:off x="657588" y="3715900"/>
            <a:ext cx="285000" cy="285000"/>
          </a:xfrm>
          <a:prstGeom prst="ellipse">
            <a:avLst/>
          </a:prstGeom>
          <a:solidFill>
            <a:srgbClr val="FFFFFF"/>
          </a:solidFill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A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1496" name="Google Shape;1496;p95"/>
          <p:cNvCxnSpPr>
            <a:stCxn id="1495" idx="6"/>
            <a:endCxn id="1491" idx="1"/>
          </p:cNvCxnSpPr>
          <p:nvPr/>
        </p:nvCxnSpPr>
        <p:spPr>
          <a:xfrm>
            <a:off x="942588" y="3858400"/>
            <a:ext cx="1772400" cy="0"/>
          </a:xfrm>
          <a:prstGeom prst="straightConnector1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1492" name="Google Shape;1492;p95"/>
          <p:cNvSpPr/>
          <p:nvPr/>
        </p:nvSpPr>
        <p:spPr>
          <a:xfrm>
            <a:off x="4772400" y="3715900"/>
            <a:ext cx="285000" cy="285000"/>
          </a:xfrm>
          <a:prstGeom prst="rect">
            <a:avLst/>
          </a:prstGeom>
          <a:solidFill>
            <a:srgbClr val="FFFFFF"/>
          </a:solidFill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R2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497" name="Google Shape;1497;p95"/>
          <p:cNvSpPr/>
          <p:nvPr/>
        </p:nvSpPr>
        <p:spPr>
          <a:xfrm>
            <a:off x="6829800" y="3715900"/>
            <a:ext cx="285000" cy="285000"/>
          </a:xfrm>
          <a:prstGeom prst="rect">
            <a:avLst/>
          </a:prstGeom>
          <a:solidFill>
            <a:srgbClr val="FFFFFF"/>
          </a:solidFill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R3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1498" name="Google Shape;1498;p95"/>
          <p:cNvCxnSpPr>
            <a:stCxn id="1492" idx="3"/>
            <a:endCxn id="1497" idx="1"/>
          </p:cNvCxnSpPr>
          <p:nvPr/>
        </p:nvCxnSpPr>
        <p:spPr>
          <a:xfrm>
            <a:off x="5057400" y="3858400"/>
            <a:ext cx="1772400" cy="0"/>
          </a:xfrm>
          <a:prstGeom prst="straightConnector1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med" len="med"/>
            <a:tailEnd type="none" w="med" len="med"/>
          </a:ln>
        </p:spPr>
      </p:cxnSp>
      <p:graphicFrame>
        <p:nvGraphicFramePr>
          <p:cNvPr id="1499" name="Google Shape;1499;p95"/>
          <p:cNvGraphicFramePr/>
          <p:nvPr/>
        </p:nvGraphicFramePr>
        <p:xfrm>
          <a:off x="1939744" y="4232650"/>
          <a:ext cx="1835500" cy="688770"/>
        </p:xfrm>
        <a:graphic>
          <a:graphicData uri="http://schemas.openxmlformats.org/drawingml/2006/table">
            <a:tbl>
              <a:tblPr>
                <a:noFill/>
              </a:tblPr>
              <a:tblGrid>
                <a:gridCol w="5448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9707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79362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121925">
                <a:tc gridSpan="3"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latin typeface="Roboto"/>
                          <a:ea typeface="Roboto"/>
                          <a:cs typeface="Roboto"/>
                          <a:sym typeface="Roboto"/>
                        </a:rPr>
                        <a:t>R1's Table</a:t>
                      </a:r>
                      <a:endParaRPr sz="12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21925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latin typeface="Roboto"/>
                          <a:ea typeface="Roboto"/>
                          <a:cs typeface="Roboto"/>
                          <a:sym typeface="Roboto"/>
                        </a:rPr>
                        <a:t>To:</a:t>
                      </a:r>
                      <a:endParaRPr sz="12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/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latin typeface="Roboto"/>
                          <a:ea typeface="Roboto"/>
                          <a:cs typeface="Roboto"/>
                          <a:sym typeface="Roboto"/>
                        </a:rPr>
                        <a:t>Via:</a:t>
                      </a:r>
                      <a:endParaRPr sz="12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/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latin typeface="Roboto"/>
                          <a:ea typeface="Roboto"/>
                          <a:cs typeface="Roboto"/>
                          <a:sym typeface="Roboto"/>
                        </a:rPr>
                        <a:t>Cost:</a:t>
                      </a:r>
                      <a:endParaRPr sz="12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21925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latin typeface="Roboto"/>
                          <a:ea typeface="Roboto"/>
                          <a:cs typeface="Roboto"/>
                          <a:sym typeface="Roboto"/>
                        </a:rPr>
                        <a:t>A</a:t>
                      </a:r>
                      <a:endParaRPr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/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latin typeface="Roboto"/>
                          <a:ea typeface="Roboto"/>
                          <a:cs typeface="Roboto"/>
                          <a:sym typeface="Roboto"/>
                        </a:rPr>
                        <a:t>Direct</a:t>
                      </a:r>
                      <a:endParaRPr sz="12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/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latin typeface="Roboto"/>
                          <a:ea typeface="Roboto"/>
                          <a:cs typeface="Roboto"/>
                          <a:sym typeface="Roboto"/>
                        </a:rPr>
                        <a:t>1</a:t>
                      </a:r>
                      <a:endParaRPr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</a:tbl>
          </a:graphicData>
        </a:graphic>
      </p:graphicFrame>
      <p:graphicFrame>
        <p:nvGraphicFramePr>
          <p:cNvPr id="1500" name="Google Shape;1500;p95"/>
          <p:cNvGraphicFramePr/>
          <p:nvPr/>
        </p:nvGraphicFramePr>
        <p:xfrm>
          <a:off x="6054544" y="4232650"/>
          <a:ext cx="1835500" cy="688770"/>
        </p:xfrm>
        <a:graphic>
          <a:graphicData uri="http://schemas.openxmlformats.org/drawingml/2006/table">
            <a:tbl>
              <a:tblPr>
                <a:noFill/>
              </a:tblPr>
              <a:tblGrid>
                <a:gridCol w="5448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9707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79362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121925">
                <a:tc gridSpan="3"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latin typeface="Roboto"/>
                          <a:ea typeface="Roboto"/>
                          <a:cs typeface="Roboto"/>
                          <a:sym typeface="Roboto"/>
                        </a:rPr>
                        <a:t>R3's Table</a:t>
                      </a:r>
                      <a:endParaRPr sz="12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21925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latin typeface="Roboto"/>
                          <a:ea typeface="Roboto"/>
                          <a:cs typeface="Roboto"/>
                          <a:sym typeface="Roboto"/>
                        </a:rPr>
                        <a:t>To:</a:t>
                      </a:r>
                      <a:endParaRPr sz="12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/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latin typeface="Roboto"/>
                          <a:ea typeface="Roboto"/>
                          <a:cs typeface="Roboto"/>
                          <a:sym typeface="Roboto"/>
                        </a:rPr>
                        <a:t>Via:</a:t>
                      </a:r>
                      <a:endParaRPr sz="12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/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latin typeface="Roboto"/>
                          <a:ea typeface="Roboto"/>
                          <a:cs typeface="Roboto"/>
                          <a:sym typeface="Roboto"/>
                        </a:rPr>
                        <a:t>Cost:</a:t>
                      </a:r>
                      <a:endParaRPr sz="12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21925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latin typeface="Roboto"/>
                          <a:ea typeface="Roboto"/>
                          <a:cs typeface="Roboto"/>
                          <a:sym typeface="Roboto"/>
                        </a:rPr>
                        <a:t>A</a:t>
                      </a:r>
                      <a:endParaRPr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/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latin typeface="Roboto"/>
                          <a:ea typeface="Roboto"/>
                          <a:cs typeface="Roboto"/>
                          <a:sym typeface="Roboto"/>
                        </a:rPr>
                        <a:t>R2</a:t>
                      </a:r>
                      <a:endParaRPr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/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latin typeface="Roboto"/>
                          <a:ea typeface="Roboto"/>
                          <a:cs typeface="Roboto"/>
                          <a:sym typeface="Roboto"/>
                        </a:rPr>
                        <a:t>3</a:t>
                      </a:r>
                      <a:endParaRPr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</a:tbl>
          </a:graphicData>
        </a:graphic>
      </p:graphicFrame>
      <p:cxnSp>
        <p:nvCxnSpPr>
          <p:cNvPr id="1501" name="Google Shape;1501;p95"/>
          <p:cNvCxnSpPr/>
          <p:nvPr/>
        </p:nvCxnSpPr>
        <p:spPr>
          <a:xfrm rot="10800000">
            <a:off x="5114875" y="3794008"/>
            <a:ext cx="595200" cy="0"/>
          </a:xfrm>
          <a:prstGeom prst="straightConnector1">
            <a:avLst/>
          </a:prstGeom>
          <a:noFill/>
          <a:ln w="9525" cap="flat" cmpd="sng">
            <a:solidFill>
              <a:srgbClr val="0000FF"/>
            </a:solidFill>
            <a:prstDash val="solid"/>
            <a:round/>
            <a:headEnd type="triangle" w="med" len="med"/>
            <a:tailEnd type="none" w="med" len="med"/>
          </a:ln>
        </p:spPr>
      </p:cxnSp>
      <p:sp>
        <p:nvSpPr>
          <p:cNvPr id="1502" name="Google Shape;1502;p95"/>
          <p:cNvSpPr txBox="1"/>
          <p:nvPr/>
        </p:nvSpPr>
        <p:spPr>
          <a:xfrm>
            <a:off x="5120875" y="3616983"/>
            <a:ext cx="589200" cy="153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0000FF"/>
                </a:solidFill>
                <a:latin typeface="Roboto"/>
                <a:ea typeface="Roboto"/>
                <a:cs typeface="Roboto"/>
                <a:sym typeface="Roboto"/>
              </a:rPr>
              <a:t>A this way</a:t>
            </a:r>
            <a:endParaRPr sz="1000">
              <a:solidFill>
                <a:srgbClr val="0000FF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1503" name="Google Shape;1503;p95"/>
          <p:cNvCxnSpPr/>
          <p:nvPr/>
        </p:nvCxnSpPr>
        <p:spPr>
          <a:xfrm rot="10800000">
            <a:off x="6181675" y="3794008"/>
            <a:ext cx="595200" cy="0"/>
          </a:xfrm>
          <a:prstGeom prst="straightConnector1">
            <a:avLst/>
          </a:prstGeom>
          <a:noFill/>
          <a:ln w="9525" cap="flat" cmpd="sng">
            <a:solidFill>
              <a:srgbClr val="0000FF"/>
            </a:solidFill>
            <a:prstDash val="solid"/>
            <a:round/>
            <a:headEnd type="none" w="med" len="med"/>
            <a:tailEnd type="triangle" w="med" len="med"/>
          </a:ln>
        </p:spPr>
      </p:cxnSp>
      <p:sp>
        <p:nvSpPr>
          <p:cNvPr id="1504" name="Google Shape;1504;p95"/>
          <p:cNvSpPr txBox="1"/>
          <p:nvPr/>
        </p:nvSpPr>
        <p:spPr>
          <a:xfrm>
            <a:off x="6187675" y="3616983"/>
            <a:ext cx="589200" cy="153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0000FF"/>
                </a:solidFill>
                <a:latin typeface="Roboto"/>
                <a:ea typeface="Roboto"/>
                <a:cs typeface="Roboto"/>
                <a:sym typeface="Roboto"/>
              </a:rPr>
              <a:t>A this way</a:t>
            </a:r>
            <a:endParaRPr sz="1000">
              <a:solidFill>
                <a:srgbClr val="0000FF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505" name="Google Shape;1505;p95"/>
          <p:cNvSpPr txBox="1"/>
          <p:nvPr/>
        </p:nvSpPr>
        <p:spPr>
          <a:xfrm>
            <a:off x="4855650" y="3084450"/>
            <a:ext cx="2175900" cy="270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27425" tIns="27425" rIns="27425" bIns="27425" anchor="t" anchorCtr="0">
            <a:sp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We made a routing loop!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</p:spTree>
  </p:cSld>
  <p:clrMapOvr>
    <a:masterClrMapping/>
  </p:clrMapOvr>
</p:sld>
</file>

<file path=ppt/slides/slide7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5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1510" name="Google Shape;1510;p96"/>
          <p:cNvCxnSpPr>
            <a:stCxn id="1511" idx="3"/>
            <a:endCxn id="1512" idx="1"/>
          </p:cNvCxnSpPr>
          <p:nvPr/>
        </p:nvCxnSpPr>
        <p:spPr>
          <a:xfrm>
            <a:off x="3000000" y="3858400"/>
            <a:ext cx="1772400" cy="0"/>
          </a:xfrm>
          <a:prstGeom prst="straightConnector1">
            <a:avLst/>
          </a:prstGeom>
          <a:noFill/>
          <a:ln w="19050" cap="flat" cmpd="sng">
            <a:solidFill>
              <a:srgbClr val="D9D9D9"/>
            </a:solidFill>
            <a:prstDash val="dash"/>
            <a:round/>
            <a:headEnd type="none" w="med" len="med"/>
            <a:tailEnd type="none" w="med" len="med"/>
          </a:ln>
        </p:spPr>
      </p:cxnSp>
      <p:sp>
        <p:nvSpPr>
          <p:cNvPr id="1513" name="Google Shape;1513;p96"/>
          <p:cNvSpPr txBox="1">
            <a:spLocks noGrp="1"/>
          </p:cNvSpPr>
          <p:nvPr>
            <p:ph type="title"/>
          </p:nvPr>
        </p:nvSpPr>
        <p:spPr>
          <a:xfrm>
            <a:off x="0" y="0"/>
            <a:ext cx="9144000" cy="39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Split Horizon – The Problem</a:t>
            </a:r>
            <a:endParaRPr/>
          </a:p>
        </p:txBody>
      </p:sp>
      <p:sp>
        <p:nvSpPr>
          <p:cNvPr id="1511" name="Google Shape;1511;p96"/>
          <p:cNvSpPr/>
          <p:nvPr/>
        </p:nvSpPr>
        <p:spPr>
          <a:xfrm>
            <a:off x="2715000" y="3715900"/>
            <a:ext cx="285000" cy="285000"/>
          </a:xfrm>
          <a:prstGeom prst="rect">
            <a:avLst/>
          </a:prstGeom>
          <a:solidFill>
            <a:srgbClr val="FFFFFF"/>
          </a:solidFill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R1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514" name="Google Shape;1514;p96"/>
          <p:cNvSpPr/>
          <p:nvPr/>
        </p:nvSpPr>
        <p:spPr>
          <a:xfrm>
            <a:off x="657588" y="3715900"/>
            <a:ext cx="285000" cy="285000"/>
          </a:xfrm>
          <a:prstGeom prst="ellipse">
            <a:avLst/>
          </a:prstGeom>
          <a:solidFill>
            <a:srgbClr val="FFFFFF"/>
          </a:solidFill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A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1515" name="Google Shape;1515;p96"/>
          <p:cNvCxnSpPr>
            <a:stCxn id="1514" idx="6"/>
            <a:endCxn id="1511" idx="1"/>
          </p:cNvCxnSpPr>
          <p:nvPr/>
        </p:nvCxnSpPr>
        <p:spPr>
          <a:xfrm>
            <a:off x="942588" y="3858400"/>
            <a:ext cx="1772400" cy="0"/>
          </a:xfrm>
          <a:prstGeom prst="straightConnector1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1512" name="Google Shape;1512;p96"/>
          <p:cNvSpPr/>
          <p:nvPr/>
        </p:nvSpPr>
        <p:spPr>
          <a:xfrm>
            <a:off x="4772400" y="3715900"/>
            <a:ext cx="285000" cy="285000"/>
          </a:xfrm>
          <a:prstGeom prst="rect">
            <a:avLst/>
          </a:prstGeom>
          <a:solidFill>
            <a:srgbClr val="FFFFFF"/>
          </a:solidFill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R2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516" name="Google Shape;1516;p96"/>
          <p:cNvSpPr/>
          <p:nvPr/>
        </p:nvSpPr>
        <p:spPr>
          <a:xfrm>
            <a:off x="6829800" y="3715900"/>
            <a:ext cx="285000" cy="285000"/>
          </a:xfrm>
          <a:prstGeom prst="rect">
            <a:avLst/>
          </a:prstGeom>
          <a:solidFill>
            <a:srgbClr val="FFFFFF"/>
          </a:solidFill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R3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1517" name="Google Shape;1517;p96"/>
          <p:cNvCxnSpPr>
            <a:stCxn id="1512" idx="3"/>
            <a:endCxn id="1516" idx="1"/>
          </p:cNvCxnSpPr>
          <p:nvPr/>
        </p:nvCxnSpPr>
        <p:spPr>
          <a:xfrm>
            <a:off x="5057400" y="3858400"/>
            <a:ext cx="1772400" cy="0"/>
          </a:xfrm>
          <a:prstGeom prst="straightConnector1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med" len="med"/>
            <a:tailEnd type="none" w="med" len="med"/>
          </a:ln>
        </p:spPr>
      </p:cxnSp>
      <p:graphicFrame>
        <p:nvGraphicFramePr>
          <p:cNvPr id="1518" name="Google Shape;1518;p96"/>
          <p:cNvGraphicFramePr/>
          <p:nvPr/>
        </p:nvGraphicFramePr>
        <p:xfrm>
          <a:off x="1939744" y="4232650"/>
          <a:ext cx="1835500" cy="688770"/>
        </p:xfrm>
        <a:graphic>
          <a:graphicData uri="http://schemas.openxmlformats.org/drawingml/2006/table">
            <a:tbl>
              <a:tblPr>
                <a:noFill/>
              </a:tblPr>
              <a:tblGrid>
                <a:gridCol w="5448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9707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79362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121925">
                <a:tc gridSpan="3"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latin typeface="Roboto"/>
                          <a:ea typeface="Roboto"/>
                          <a:cs typeface="Roboto"/>
                          <a:sym typeface="Roboto"/>
                        </a:rPr>
                        <a:t>R1's Table</a:t>
                      </a:r>
                      <a:endParaRPr sz="12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21925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latin typeface="Roboto"/>
                          <a:ea typeface="Roboto"/>
                          <a:cs typeface="Roboto"/>
                          <a:sym typeface="Roboto"/>
                        </a:rPr>
                        <a:t>To:</a:t>
                      </a:r>
                      <a:endParaRPr sz="12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/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latin typeface="Roboto"/>
                          <a:ea typeface="Roboto"/>
                          <a:cs typeface="Roboto"/>
                          <a:sym typeface="Roboto"/>
                        </a:rPr>
                        <a:t>Via:</a:t>
                      </a:r>
                      <a:endParaRPr sz="12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/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latin typeface="Roboto"/>
                          <a:ea typeface="Roboto"/>
                          <a:cs typeface="Roboto"/>
                          <a:sym typeface="Roboto"/>
                        </a:rPr>
                        <a:t>Cost:</a:t>
                      </a:r>
                      <a:endParaRPr sz="12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21925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latin typeface="Roboto"/>
                          <a:ea typeface="Roboto"/>
                          <a:cs typeface="Roboto"/>
                          <a:sym typeface="Roboto"/>
                        </a:rPr>
                        <a:t>A</a:t>
                      </a:r>
                      <a:endParaRPr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/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latin typeface="Roboto"/>
                          <a:ea typeface="Roboto"/>
                          <a:cs typeface="Roboto"/>
                          <a:sym typeface="Roboto"/>
                        </a:rPr>
                        <a:t>Direct</a:t>
                      </a:r>
                      <a:endParaRPr sz="12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/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latin typeface="Roboto"/>
                          <a:ea typeface="Roboto"/>
                          <a:cs typeface="Roboto"/>
                          <a:sym typeface="Roboto"/>
                        </a:rPr>
                        <a:t>1</a:t>
                      </a:r>
                      <a:endParaRPr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</a:tbl>
          </a:graphicData>
        </a:graphic>
      </p:graphicFrame>
      <p:graphicFrame>
        <p:nvGraphicFramePr>
          <p:cNvPr id="1519" name="Google Shape;1519;p96"/>
          <p:cNvGraphicFramePr/>
          <p:nvPr/>
        </p:nvGraphicFramePr>
        <p:xfrm>
          <a:off x="3997144" y="4232650"/>
          <a:ext cx="1835500" cy="688770"/>
        </p:xfrm>
        <a:graphic>
          <a:graphicData uri="http://schemas.openxmlformats.org/drawingml/2006/table">
            <a:tbl>
              <a:tblPr>
                <a:noFill/>
              </a:tblPr>
              <a:tblGrid>
                <a:gridCol w="5448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9707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79362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121925">
                <a:tc gridSpan="3"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latin typeface="Roboto"/>
                          <a:ea typeface="Roboto"/>
                          <a:cs typeface="Roboto"/>
                          <a:sym typeface="Roboto"/>
                        </a:rPr>
                        <a:t>R2's Table</a:t>
                      </a:r>
                      <a:endParaRPr sz="12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>
                    <a:solidFill>
                      <a:srgbClr val="FFFFFF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21925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latin typeface="Roboto"/>
                          <a:ea typeface="Roboto"/>
                          <a:cs typeface="Roboto"/>
                          <a:sym typeface="Roboto"/>
                        </a:rPr>
                        <a:t>To:</a:t>
                      </a:r>
                      <a:endParaRPr sz="12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latin typeface="Roboto"/>
                          <a:ea typeface="Roboto"/>
                          <a:cs typeface="Roboto"/>
                          <a:sym typeface="Roboto"/>
                        </a:rPr>
                        <a:t>Via:</a:t>
                      </a:r>
                      <a:endParaRPr sz="12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latin typeface="Roboto"/>
                          <a:ea typeface="Roboto"/>
                          <a:cs typeface="Roboto"/>
                          <a:sym typeface="Roboto"/>
                        </a:rPr>
                        <a:t>Cost:</a:t>
                      </a:r>
                      <a:endParaRPr sz="12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21925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/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/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</a:tbl>
          </a:graphicData>
        </a:graphic>
      </p:graphicFrame>
      <p:graphicFrame>
        <p:nvGraphicFramePr>
          <p:cNvPr id="1520" name="Google Shape;1520;p96"/>
          <p:cNvGraphicFramePr/>
          <p:nvPr/>
        </p:nvGraphicFramePr>
        <p:xfrm>
          <a:off x="6054544" y="4232650"/>
          <a:ext cx="1835500" cy="688770"/>
        </p:xfrm>
        <a:graphic>
          <a:graphicData uri="http://schemas.openxmlformats.org/drawingml/2006/table">
            <a:tbl>
              <a:tblPr>
                <a:noFill/>
              </a:tblPr>
              <a:tblGrid>
                <a:gridCol w="5448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9707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79362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121925">
                <a:tc gridSpan="3"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latin typeface="Roboto"/>
                          <a:ea typeface="Roboto"/>
                          <a:cs typeface="Roboto"/>
                          <a:sym typeface="Roboto"/>
                        </a:rPr>
                        <a:t>R3's Table</a:t>
                      </a:r>
                      <a:endParaRPr sz="12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21925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latin typeface="Roboto"/>
                          <a:ea typeface="Roboto"/>
                          <a:cs typeface="Roboto"/>
                          <a:sym typeface="Roboto"/>
                        </a:rPr>
                        <a:t>To:</a:t>
                      </a:r>
                      <a:endParaRPr sz="12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/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latin typeface="Roboto"/>
                          <a:ea typeface="Roboto"/>
                          <a:cs typeface="Roboto"/>
                          <a:sym typeface="Roboto"/>
                        </a:rPr>
                        <a:t>Via:</a:t>
                      </a:r>
                      <a:endParaRPr sz="12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/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latin typeface="Roboto"/>
                          <a:ea typeface="Roboto"/>
                          <a:cs typeface="Roboto"/>
                          <a:sym typeface="Roboto"/>
                        </a:rPr>
                        <a:t>Cost:</a:t>
                      </a:r>
                      <a:endParaRPr sz="12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21925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latin typeface="Roboto"/>
                          <a:ea typeface="Roboto"/>
                          <a:cs typeface="Roboto"/>
                          <a:sym typeface="Roboto"/>
                        </a:rPr>
                        <a:t>A</a:t>
                      </a:r>
                      <a:endParaRPr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/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latin typeface="Roboto"/>
                          <a:ea typeface="Roboto"/>
                          <a:cs typeface="Roboto"/>
                          <a:sym typeface="Roboto"/>
                        </a:rPr>
                        <a:t>R2</a:t>
                      </a:r>
                      <a:endParaRPr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/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latin typeface="Roboto"/>
                          <a:ea typeface="Roboto"/>
                          <a:cs typeface="Roboto"/>
                          <a:sym typeface="Roboto"/>
                        </a:rPr>
                        <a:t>3</a:t>
                      </a:r>
                      <a:endParaRPr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</a:tbl>
          </a:graphicData>
        </a:graphic>
      </p:graphicFrame>
      <p:cxnSp>
        <p:nvCxnSpPr>
          <p:cNvPr id="1521" name="Google Shape;1521;p96"/>
          <p:cNvCxnSpPr/>
          <p:nvPr/>
        </p:nvCxnSpPr>
        <p:spPr>
          <a:xfrm>
            <a:off x="5246845" y="3756475"/>
            <a:ext cx="1393500" cy="0"/>
          </a:xfrm>
          <a:prstGeom prst="straightConnector1">
            <a:avLst/>
          </a:prstGeom>
          <a:noFill/>
          <a:ln w="19050" cap="flat" cmpd="sng">
            <a:solidFill>
              <a:schemeClr val="accent2"/>
            </a:solidFill>
            <a:prstDash val="solid"/>
            <a:round/>
            <a:headEnd type="triangle" w="med" len="med"/>
            <a:tailEnd type="none" w="med" len="med"/>
          </a:ln>
        </p:spPr>
      </p:cxnSp>
      <p:sp>
        <p:nvSpPr>
          <p:cNvPr id="1522" name="Google Shape;1522;p96"/>
          <p:cNvSpPr/>
          <p:nvPr/>
        </p:nvSpPr>
        <p:spPr>
          <a:xfrm>
            <a:off x="5393400" y="2920750"/>
            <a:ext cx="1100400" cy="733800"/>
          </a:xfrm>
          <a:prstGeom prst="roundRect">
            <a:avLst>
              <a:gd name="adj" fmla="val 16667"/>
            </a:avLst>
          </a:prstGeom>
          <a:solidFill>
            <a:srgbClr val="F4CCCC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I'm </a:t>
            </a:r>
            <a:r>
              <a:rPr lang="en" b="1">
                <a:latin typeface="Roboto"/>
                <a:ea typeface="Roboto"/>
                <a:cs typeface="Roboto"/>
                <a:sym typeface="Roboto"/>
              </a:rPr>
              <a:t>R3</a:t>
            </a:r>
            <a:r>
              <a:rPr lang="en">
                <a:latin typeface="Roboto"/>
                <a:ea typeface="Roboto"/>
                <a:cs typeface="Roboto"/>
                <a:sym typeface="Roboto"/>
              </a:rPr>
              <a:t>, and </a:t>
            </a:r>
            <a:r>
              <a:rPr lang="en" b="1">
                <a:latin typeface="Roboto"/>
                <a:ea typeface="Roboto"/>
                <a:cs typeface="Roboto"/>
                <a:sym typeface="Roboto"/>
              </a:rPr>
              <a:t>A</a:t>
            </a:r>
            <a:r>
              <a:rPr lang="en">
                <a:latin typeface="Roboto"/>
                <a:ea typeface="Roboto"/>
                <a:cs typeface="Roboto"/>
                <a:sym typeface="Roboto"/>
              </a:rPr>
              <a:t> is </a:t>
            </a:r>
            <a:r>
              <a:rPr lang="en" b="1">
                <a:latin typeface="Roboto"/>
                <a:ea typeface="Roboto"/>
                <a:cs typeface="Roboto"/>
                <a:sym typeface="Roboto"/>
              </a:rPr>
              <a:t>3</a:t>
            </a:r>
            <a:r>
              <a:rPr lang="en">
                <a:latin typeface="Roboto"/>
                <a:ea typeface="Roboto"/>
                <a:cs typeface="Roboto"/>
                <a:sym typeface="Roboto"/>
              </a:rPr>
              <a:t> away from me.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523" name="Google Shape;1523;p96"/>
          <p:cNvSpPr/>
          <p:nvPr/>
        </p:nvSpPr>
        <p:spPr>
          <a:xfrm>
            <a:off x="2888650" y="2856400"/>
            <a:ext cx="2341200" cy="553800"/>
          </a:xfrm>
          <a:prstGeom prst="wedgeRoundRectCallout">
            <a:avLst>
              <a:gd name="adj1" fmla="val 37452"/>
              <a:gd name="adj2" fmla="val 89210"/>
              <a:gd name="adj3" fmla="val 0"/>
            </a:avLst>
          </a:prstGeom>
          <a:noFill/>
          <a:ln w="9525" cap="flat" cmpd="sng">
            <a:solidFill>
              <a:schemeClr val="accent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accent2"/>
                </a:solidFill>
                <a:latin typeface="Roboto"/>
                <a:ea typeface="Roboto"/>
                <a:cs typeface="Roboto"/>
                <a:sym typeface="Roboto"/>
              </a:rPr>
              <a:t>My table's empty, so that sounds good to me.</a:t>
            </a:r>
            <a:endParaRPr>
              <a:solidFill>
                <a:schemeClr val="accent2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graphicFrame>
        <p:nvGraphicFramePr>
          <p:cNvPr id="1524" name="Google Shape;1524;p96"/>
          <p:cNvGraphicFramePr/>
          <p:nvPr/>
        </p:nvGraphicFramePr>
        <p:xfrm>
          <a:off x="3997144" y="4232650"/>
          <a:ext cx="1835500" cy="688770"/>
        </p:xfrm>
        <a:graphic>
          <a:graphicData uri="http://schemas.openxmlformats.org/drawingml/2006/table">
            <a:tbl>
              <a:tblPr>
                <a:noFill/>
              </a:tblPr>
              <a:tblGrid>
                <a:gridCol w="5448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9707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79362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121925">
                <a:tc gridSpan="3"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latin typeface="Roboto"/>
                          <a:ea typeface="Roboto"/>
                          <a:cs typeface="Roboto"/>
                          <a:sym typeface="Roboto"/>
                        </a:rPr>
                        <a:t>R2's Table</a:t>
                      </a:r>
                      <a:endParaRPr sz="12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>
                    <a:solidFill>
                      <a:srgbClr val="FFFFFF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21925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latin typeface="Roboto"/>
                          <a:ea typeface="Roboto"/>
                          <a:cs typeface="Roboto"/>
                          <a:sym typeface="Roboto"/>
                        </a:rPr>
                        <a:t>To:</a:t>
                      </a:r>
                      <a:endParaRPr sz="12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latin typeface="Roboto"/>
                          <a:ea typeface="Roboto"/>
                          <a:cs typeface="Roboto"/>
                          <a:sym typeface="Roboto"/>
                        </a:rPr>
                        <a:t>Via:</a:t>
                      </a:r>
                      <a:endParaRPr sz="12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latin typeface="Roboto"/>
                          <a:ea typeface="Roboto"/>
                          <a:cs typeface="Roboto"/>
                          <a:sym typeface="Roboto"/>
                        </a:rPr>
                        <a:t>Cost:</a:t>
                      </a:r>
                      <a:endParaRPr sz="12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21925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latin typeface="Roboto"/>
                          <a:ea typeface="Roboto"/>
                          <a:cs typeface="Roboto"/>
                          <a:sym typeface="Roboto"/>
                        </a:rPr>
                        <a:t>A</a:t>
                      </a:r>
                      <a:endParaRPr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>
                    <a:solidFill>
                      <a:srgbClr val="F4CCCC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latin typeface="Roboto"/>
                          <a:ea typeface="Roboto"/>
                          <a:cs typeface="Roboto"/>
                          <a:sym typeface="Roboto"/>
                        </a:rPr>
                        <a:t>R3</a:t>
                      </a:r>
                      <a:endParaRPr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>
                    <a:solidFill>
                      <a:srgbClr val="F4CCCC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latin typeface="Roboto"/>
                          <a:ea typeface="Roboto"/>
                          <a:cs typeface="Roboto"/>
                          <a:sym typeface="Roboto"/>
                        </a:rPr>
                        <a:t>4</a:t>
                      </a:r>
                      <a:endParaRPr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>
                    <a:solidFill>
                      <a:srgbClr val="F4CCC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</a:tbl>
          </a:graphicData>
        </a:graphic>
      </p:graphicFrame>
      <p:sp>
        <p:nvSpPr>
          <p:cNvPr id="1525" name="Google Shape;1525;p96"/>
          <p:cNvSpPr txBox="1">
            <a:spLocks noGrp="1"/>
          </p:cNvSpPr>
          <p:nvPr>
            <p:ph type="body" idx="1"/>
          </p:nvPr>
        </p:nvSpPr>
        <p:spPr>
          <a:xfrm>
            <a:off x="107050" y="402200"/>
            <a:ext cx="8909700" cy="2238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"/>
              <a:t>Problem ("me" = R2):</a:t>
            </a:r>
            <a:endParaRPr/>
          </a:p>
          <a:p>
            <a:pPr marL="457200" lvl="0" indent="-342900" algn="l" rtl="0">
              <a:spcBef>
                <a:spcPts val="60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I gave R3 a path via me, and R3 accepted.</a:t>
            </a:r>
            <a:endParaRPr/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Then, R3 turned around and gave me that same path.</a:t>
            </a:r>
            <a:endParaRPr/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I'm being offered a path that goes through myself!</a:t>
            </a:r>
            <a:endParaRPr/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Normally, I would never accept, because a path with a loop is longer.</a:t>
            </a:r>
            <a:endParaRPr/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But if I lost my earlier route, I might accept and create a loop.</a:t>
            </a:r>
            <a:endParaRPr/>
          </a:p>
        </p:txBody>
      </p:sp>
    </p:spTree>
  </p:cSld>
  <p:clrMapOvr>
    <a:masterClrMapping/>
  </p:clrMapOvr>
</p:sld>
</file>

<file path=ppt/slides/slide7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5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0" name="Google Shape;1530;p97"/>
          <p:cNvSpPr txBox="1">
            <a:spLocks noGrp="1"/>
          </p:cNvSpPr>
          <p:nvPr>
            <p:ph type="title"/>
          </p:nvPr>
        </p:nvSpPr>
        <p:spPr>
          <a:xfrm>
            <a:off x="0" y="0"/>
            <a:ext cx="9144000" cy="39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accent3"/>
                </a:solidFill>
              </a:rPr>
              <a:t>Split Horizon – The Problem</a:t>
            </a:r>
            <a:endParaRPr/>
          </a:p>
        </p:txBody>
      </p:sp>
      <p:sp>
        <p:nvSpPr>
          <p:cNvPr id="1531" name="Google Shape;1531;p97"/>
          <p:cNvSpPr txBox="1">
            <a:spLocks noGrp="1"/>
          </p:cNvSpPr>
          <p:nvPr>
            <p:ph type="body" idx="1"/>
          </p:nvPr>
        </p:nvSpPr>
        <p:spPr>
          <a:xfrm>
            <a:off x="107050" y="402200"/>
            <a:ext cx="8909700" cy="4530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" dirty="0"/>
              <a:t>The split horizon problem: When I give someone a path, they advertise it back to me.</a:t>
            </a:r>
            <a:endParaRPr dirty="0"/>
          </a:p>
          <a:p>
            <a:pPr marL="457200" lvl="0" indent="-342900" algn="l" rtl="0">
              <a:spcBef>
                <a:spcPts val="600"/>
              </a:spcBef>
              <a:spcAft>
                <a:spcPts val="0"/>
              </a:spcAft>
              <a:buSzPts val="1800"/>
              <a:buChar char="●"/>
            </a:pPr>
            <a:r>
              <a:rPr lang="en" dirty="0"/>
              <a:t>Path goes from me → them → me.</a:t>
            </a:r>
            <a:endParaRPr dirty="0"/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 dirty="0"/>
              <a:t>Path with extra loop is always longer, so I'd never accept.</a:t>
            </a:r>
            <a:endParaRPr dirty="0"/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 dirty="0"/>
              <a:t>But if I lost my earlier routes, I might accept, since I might not realize the path is going through me.</a:t>
            </a:r>
            <a:endParaRPr dirty="0"/>
          </a:p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" dirty="0"/>
              <a:t>Solution: Don't advertise a path back to the router that gave it to you.</a:t>
            </a:r>
            <a:endParaRPr dirty="0"/>
          </a:p>
          <a:p>
            <a:pPr marL="457200" lvl="0" indent="-342900" algn="l" rtl="0">
              <a:spcBef>
                <a:spcPts val="600"/>
              </a:spcBef>
              <a:spcAft>
                <a:spcPts val="0"/>
              </a:spcAft>
              <a:buSzPts val="1800"/>
              <a:buChar char="●"/>
            </a:pPr>
            <a:r>
              <a:rPr lang="en" dirty="0"/>
              <a:t>R2 advertises a path-to-A to R3.</a:t>
            </a:r>
            <a:endParaRPr dirty="0"/>
          </a:p>
          <a:p>
            <a:pPr lvl="0">
              <a:spcBef>
                <a:spcPts val="0"/>
              </a:spcBef>
            </a:pPr>
            <a:r>
              <a:rPr lang="en" dirty="0"/>
              <a:t>R3 can advertise that path-to-A to everybody </a:t>
            </a:r>
            <a:r>
              <a:rPr lang="en" i="1" dirty="0"/>
              <a:t>except R2</a:t>
            </a:r>
            <a:r>
              <a:rPr lang="en" dirty="0"/>
              <a:t>, its next-hop on the path-to-A.</a:t>
            </a:r>
            <a:endParaRPr dirty="0"/>
          </a:p>
        </p:txBody>
      </p:sp>
    </p:spTree>
  </p:cSld>
  <p:clrMapOvr>
    <a:masterClrMapping/>
  </p:clrMapOvr>
</p:sld>
</file>

<file path=ppt/slides/slide7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5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6" name="Google Shape;1536;p98"/>
          <p:cNvSpPr txBox="1">
            <a:spLocks noGrp="1"/>
          </p:cNvSpPr>
          <p:nvPr>
            <p:ph type="title"/>
          </p:nvPr>
        </p:nvSpPr>
        <p:spPr>
          <a:xfrm>
            <a:off x="0" y="0"/>
            <a:ext cx="9144000" cy="39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The Distance-Vector Algorithm So Far</a:t>
            </a:r>
            <a:endParaRPr/>
          </a:p>
        </p:txBody>
      </p:sp>
      <p:sp>
        <p:nvSpPr>
          <p:cNvPr id="1537" name="Google Shape;1537;p98"/>
          <p:cNvSpPr txBox="1">
            <a:spLocks noGrp="1"/>
          </p:cNvSpPr>
          <p:nvPr>
            <p:ph type="body" idx="1"/>
          </p:nvPr>
        </p:nvSpPr>
        <p:spPr>
          <a:xfrm>
            <a:off x="107050" y="402200"/>
            <a:ext cx="8909700" cy="4530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dirty="0">
                <a:solidFill>
                  <a:srgbClr val="000000"/>
                </a:solidFill>
              </a:rPr>
              <a:t>For each destination:</a:t>
            </a:r>
            <a:endParaRPr dirty="0">
              <a:solidFill>
                <a:srgbClr val="000000"/>
              </a:solidFill>
            </a:endParaRPr>
          </a:p>
          <a:p>
            <a:pPr marL="457200" lvl="0" indent="-342900" algn="l" rtl="0">
              <a:spcBef>
                <a:spcPts val="600"/>
              </a:spcBef>
              <a:spcAft>
                <a:spcPts val="0"/>
              </a:spcAft>
              <a:buClr>
                <a:srgbClr val="000000"/>
              </a:buClr>
              <a:buSzPts val="1800"/>
              <a:buChar char="●"/>
            </a:pPr>
            <a:r>
              <a:rPr lang="en" dirty="0">
                <a:solidFill>
                  <a:srgbClr val="000000"/>
                </a:solidFill>
              </a:rPr>
              <a:t>If you hear an advertisement, update table and reset TTL if:</a:t>
            </a:r>
            <a:endParaRPr dirty="0">
              <a:solidFill>
                <a:srgbClr val="000000"/>
              </a:solidFill>
            </a:endParaRPr>
          </a:p>
          <a:p>
            <a:pPr marL="914400" lvl="1" indent="-34290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Char char="○"/>
            </a:pPr>
            <a:r>
              <a:rPr lang="en" dirty="0">
                <a:solidFill>
                  <a:srgbClr val="000000"/>
                </a:solidFill>
              </a:rPr>
              <a:t>The destination isn't in the table.</a:t>
            </a:r>
            <a:endParaRPr dirty="0">
              <a:solidFill>
                <a:srgbClr val="000000"/>
              </a:solidFill>
            </a:endParaRPr>
          </a:p>
          <a:p>
            <a:pPr marL="914400" lvl="1" indent="-34290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Char char="○"/>
            </a:pPr>
            <a:r>
              <a:rPr lang="en" dirty="0"/>
              <a:t>Advertised cost + link cost to neighbor &lt; best-known cost. </a:t>
            </a:r>
            <a:r>
              <a:rPr lang="en" sz="1400" dirty="0">
                <a:solidFill>
                  <a:schemeClr val="accent3"/>
                </a:solidFill>
              </a:rPr>
              <a:t>(#1)</a:t>
            </a:r>
            <a:endParaRPr sz="1400" dirty="0">
              <a:solidFill>
                <a:schemeClr val="accent3"/>
              </a:solidFill>
            </a:endParaRPr>
          </a:p>
          <a:p>
            <a:pPr marL="914400" lvl="1" indent="-34290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Char char="○"/>
            </a:pPr>
            <a:r>
              <a:rPr lang="en" dirty="0">
                <a:solidFill>
                  <a:srgbClr val="000000"/>
                </a:solidFill>
              </a:rPr>
              <a:t>The advertisement is from current next-hop. </a:t>
            </a:r>
            <a:r>
              <a:rPr lang="en" sz="1400" dirty="0">
                <a:solidFill>
                  <a:schemeClr val="accent3"/>
                </a:solidFill>
              </a:rPr>
              <a:t>(#2)</a:t>
            </a:r>
            <a:br>
              <a:rPr lang="en" dirty="0">
                <a:solidFill>
                  <a:srgbClr val="000000"/>
                </a:solidFill>
              </a:rPr>
            </a:br>
            <a:r>
              <a:rPr lang="en" dirty="0">
                <a:solidFill>
                  <a:srgbClr val="000000"/>
                </a:solidFill>
              </a:rPr>
              <a:t>Includes poison advertisements. </a:t>
            </a:r>
            <a:r>
              <a:rPr lang="en" sz="1400" dirty="0">
                <a:solidFill>
                  <a:schemeClr val="accent3"/>
                </a:solidFill>
              </a:rPr>
              <a:t>(#5)</a:t>
            </a:r>
            <a:endParaRPr sz="1400" dirty="0">
              <a:solidFill>
                <a:schemeClr val="accent3"/>
              </a:solidFill>
            </a:endParaRPr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Char char="●"/>
            </a:pPr>
            <a:r>
              <a:rPr lang="en" dirty="0">
                <a:solidFill>
                  <a:srgbClr val="000000"/>
                </a:solidFill>
              </a:rPr>
              <a:t>Advertise to all your neighbors when the table updates, and periodically. </a:t>
            </a:r>
            <a:r>
              <a:rPr lang="en" sz="1400" dirty="0">
                <a:solidFill>
                  <a:schemeClr val="accent3"/>
                </a:solidFill>
              </a:rPr>
              <a:t>(#3)</a:t>
            </a:r>
            <a:endParaRPr sz="1400" dirty="0">
              <a:solidFill>
                <a:schemeClr val="accent3"/>
              </a:solidFill>
            </a:endParaRPr>
          </a:p>
          <a:p>
            <a:pPr marL="914400" lvl="1" indent="-342900" algn="l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800"/>
              <a:buChar char="○"/>
            </a:pPr>
            <a:r>
              <a:rPr lang="en" dirty="0">
                <a:solidFill>
                  <a:schemeClr val="accent2"/>
                </a:solidFill>
              </a:rPr>
              <a:t>But don't advertise it back to the next-hop. </a:t>
            </a:r>
            <a:r>
              <a:rPr lang="en" sz="1400" dirty="0">
                <a:solidFill>
                  <a:schemeClr val="accent3"/>
                </a:solidFill>
              </a:rPr>
              <a:t>(#6A)</a:t>
            </a:r>
            <a:endParaRPr sz="1400" dirty="0">
              <a:solidFill>
                <a:schemeClr val="accent3"/>
              </a:solidFill>
            </a:endParaRPr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Char char="●"/>
            </a:pPr>
            <a:r>
              <a:rPr lang="en" dirty="0">
                <a:solidFill>
                  <a:srgbClr val="000000"/>
                </a:solidFill>
              </a:rPr>
              <a:t>If a table entry expires, make the entry poison and advertise it. </a:t>
            </a:r>
            <a:r>
              <a:rPr lang="en" sz="1400" dirty="0">
                <a:solidFill>
                  <a:schemeClr val="accent3"/>
                </a:solidFill>
              </a:rPr>
              <a:t>(#4, #5)</a:t>
            </a:r>
            <a:endParaRPr sz="1400" dirty="0">
              <a:solidFill>
                <a:schemeClr val="accent3"/>
              </a:solidFill>
            </a:endParaRPr>
          </a:p>
        </p:txBody>
      </p:sp>
    </p:spTree>
  </p:cSld>
  <p:clrMapOvr>
    <a:masterClrMapping/>
  </p:clrMapOvr>
</p:sld>
</file>

<file path=ppt/slides/slide7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5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2" name="Google Shape;1542;p99"/>
          <p:cNvSpPr txBox="1">
            <a:spLocks noGrp="1"/>
          </p:cNvSpPr>
          <p:nvPr>
            <p:ph type="title"/>
          </p:nvPr>
        </p:nvSpPr>
        <p:spPr>
          <a:xfrm>
            <a:off x="177925" y="2003300"/>
            <a:ext cx="4038000" cy="20379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Rule 6B:</a:t>
            </a:r>
            <a:br>
              <a:rPr lang="en"/>
            </a:br>
            <a:r>
              <a:rPr lang="en"/>
              <a:t>Poison Reverse</a:t>
            </a:r>
            <a:endParaRPr/>
          </a:p>
        </p:txBody>
      </p:sp>
      <p:sp>
        <p:nvSpPr>
          <p:cNvPr id="1543" name="Google Shape;1543;p99"/>
          <p:cNvSpPr txBox="1">
            <a:spLocks noGrp="1"/>
          </p:cNvSpPr>
          <p:nvPr>
            <p:ph type="body" idx="1"/>
          </p:nvPr>
        </p:nvSpPr>
        <p:spPr>
          <a:xfrm>
            <a:off x="4812375" y="402200"/>
            <a:ext cx="4038000" cy="42609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" dirty="0">
                <a:solidFill>
                  <a:srgbClr val="B7B7B7"/>
                </a:solidFill>
              </a:rPr>
              <a:t>Distance-Vector Correctness</a:t>
            </a:r>
            <a:endParaRPr dirty="0">
              <a:solidFill>
                <a:srgbClr val="B7B7B7"/>
              </a:solidFill>
            </a:endParaRPr>
          </a:p>
          <a:p>
            <a:pPr marL="457200" lvl="0" indent="-342900" algn="l" rtl="0">
              <a:spcBef>
                <a:spcPts val="600"/>
              </a:spcBef>
              <a:spcAft>
                <a:spcPts val="0"/>
              </a:spcAft>
              <a:buClr>
                <a:srgbClr val="B7B7B7"/>
              </a:buClr>
              <a:buSzPts val="1800"/>
              <a:buChar char="•"/>
            </a:pPr>
            <a:r>
              <a:rPr lang="en" dirty="0">
                <a:solidFill>
                  <a:srgbClr val="B7B7B7"/>
                </a:solidFill>
              </a:rPr>
              <a:t>Algorithm Sketch</a:t>
            </a:r>
            <a:endParaRPr dirty="0">
              <a:solidFill>
                <a:srgbClr val="B7B7B7"/>
              </a:solidFill>
            </a:endParaRPr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Clr>
                <a:srgbClr val="B7B7B7"/>
              </a:buClr>
              <a:buSzPts val="1800"/>
              <a:buChar char="•"/>
            </a:pPr>
            <a:r>
              <a:rPr lang="en" dirty="0">
                <a:solidFill>
                  <a:srgbClr val="B7B7B7"/>
                </a:solidFill>
              </a:rPr>
              <a:t>Rule 1: Bellman-Ford Updates</a:t>
            </a:r>
            <a:endParaRPr dirty="0">
              <a:solidFill>
                <a:srgbClr val="B7B7B7"/>
              </a:solidFill>
            </a:endParaRPr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Clr>
                <a:srgbClr val="B7B7B7"/>
              </a:buClr>
              <a:buSzPts val="1800"/>
              <a:buChar char="•"/>
            </a:pPr>
            <a:r>
              <a:rPr lang="en" dirty="0">
                <a:solidFill>
                  <a:srgbClr val="B7B7B7"/>
                </a:solidFill>
              </a:rPr>
              <a:t>Bellman-Ford Demo</a:t>
            </a:r>
            <a:endParaRPr dirty="0">
              <a:solidFill>
                <a:srgbClr val="B7B7B7"/>
              </a:solidFill>
            </a:endParaRPr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Clr>
                <a:srgbClr val="B7B7B7"/>
              </a:buClr>
              <a:buSzPts val="1800"/>
              <a:buChar char="•"/>
            </a:pPr>
            <a:r>
              <a:rPr lang="en" dirty="0">
                <a:solidFill>
                  <a:srgbClr val="B7B7B7"/>
                </a:solidFill>
              </a:rPr>
              <a:t>Rule 2: Updates From Next-Hop</a:t>
            </a:r>
            <a:endParaRPr dirty="0">
              <a:solidFill>
                <a:srgbClr val="B7B7B7"/>
              </a:solidFill>
            </a:endParaRPr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Clr>
                <a:srgbClr val="B7B7B7"/>
              </a:buClr>
              <a:buSzPts val="1800"/>
              <a:buChar char="•"/>
            </a:pPr>
            <a:r>
              <a:rPr lang="en" dirty="0">
                <a:solidFill>
                  <a:srgbClr val="B7B7B7"/>
                </a:solidFill>
              </a:rPr>
              <a:t>Rule 3: Resending</a:t>
            </a:r>
            <a:endParaRPr dirty="0">
              <a:solidFill>
                <a:srgbClr val="B7B7B7"/>
              </a:solidFill>
            </a:endParaRPr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Clr>
                <a:srgbClr val="B7B7B7"/>
              </a:buClr>
              <a:buSzPts val="1800"/>
              <a:buChar char="•"/>
            </a:pPr>
            <a:r>
              <a:rPr lang="en" dirty="0">
                <a:solidFill>
                  <a:srgbClr val="B7B7B7"/>
                </a:solidFill>
              </a:rPr>
              <a:t>Rule 4: Expiring</a:t>
            </a:r>
            <a:endParaRPr dirty="0">
              <a:solidFill>
                <a:srgbClr val="B7B7B7"/>
              </a:solidFill>
            </a:endParaRPr>
          </a:p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" b="1" dirty="0">
                <a:solidFill>
                  <a:schemeClr val="accent3"/>
                </a:solidFill>
                <a:latin typeface="Roboto"/>
                <a:ea typeface="Roboto"/>
                <a:cs typeface="Roboto"/>
                <a:sym typeface="Roboto"/>
              </a:rPr>
              <a:t>Distance-Vector Enhancements</a:t>
            </a:r>
            <a:endParaRPr b="1" dirty="0">
              <a:solidFill>
                <a:schemeClr val="accent3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457200" lvl="0" indent="-342900" algn="l" rtl="0">
              <a:spcBef>
                <a:spcPts val="600"/>
              </a:spcBef>
              <a:spcAft>
                <a:spcPts val="0"/>
              </a:spcAft>
              <a:buClr>
                <a:srgbClr val="B7B7B7"/>
              </a:buClr>
              <a:buSzPts val="1800"/>
              <a:buChar char="•"/>
            </a:pPr>
            <a:r>
              <a:rPr lang="en" dirty="0">
                <a:solidFill>
                  <a:srgbClr val="B7B7B7"/>
                </a:solidFill>
              </a:rPr>
              <a:t>Rule 5: Poison Expired Routes</a:t>
            </a:r>
            <a:endParaRPr dirty="0">
              <a:solidFill>
                <a:srgbClr val="B7B7B7"/>
              </a:solidFill>
            </a:endParaRPr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Clr>
                <a:srgbClr val="B7B7B7"/>
              </a:buClr>
              <a:buSzPts val="1800"/>
              <a:buChar char="•"/>
            </a:pPr>
            <a:r>
              <a:rPr lang="en" dirty="0">
                <a:solidFill>
                  <a:srgbClr val="B7B7B7"/>
                </a:solidFill>
              </a:rPr>
              <a:t>Rule 6A: Split Horizon</a:t>
            </a:r>
            <a:endParaRPr dirty="0">
              <a:solidFill>
                <a:srgbClr val="B7B7B7"/>
              </a:solidFill>
            </a:endParaRPr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800"/>
              <a:buFont typeface="Roboto"/>
              <a:buChar char="•"/>
            </a:pPr>
            <a:r>
              <a:rPr lang="en" b="1" dirty="0">
                <a:solidFill>
                  <a:schemeClr val="accent3"/>
                </a:solidFill>
                <a:latin typeface="Roboto"/>
                <a:ea typeface="Roboto"/>
                <a:cs typeface="Roboto"/>
                <a:sym typeface="Roboto"/>
              </a:rPr>
              <a:t>Rule 6B: Poison Reverse</a:t>
            </a:r>
            <a:endParaRPr b="1" dirty="0">
              <a:solidFill>
                <a:schemeClr val="accent3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Clr>
                <a:srgbClr val="B7B7B7"/>
              </a:buClr>
              <a:buSzPts val="1800"/>
              <a:buChar char="•"/>
            </a:pPr>
            <a:r>
              <a:rPr lang="en" dirty="0">
                <a:solidFill>
                  <a:srgbClr val="B7B7B7"/>
                </a:solidFill>
              </a:rPr>
              <a:t>Rule 7: Count To Infinity</a:t>
            </a:r>
            <a:endParaRPr dirty="0">
              <a:solidFill>
                <a:srgbClr val="B7B7B7"/>
              </a:solidFill>
            </a:endParaRPr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Clr>
                <a:srgbClr val="B7B7B7"/>
              </a:buClr>
              <a:buSzPts val="1800"/>
              <a:buChar char="•"/>
            </a:pPr>
            <a:r>
              <a:rPr lang="en" dirty="0">
                <a:solidFill>
                  <a:srgbClr val="B7B7B7"/>
                </a:solidFill>
              </a:rPr>
              <a:t>Eventful Updates</a:t>
            </a:r>
            <a:endParaRPr dirty="0">
              <a:solidFill>
                <a:srgbClr val="B7B7B7"/>
              </a:solidFill>
            </a:endParaRPr>
          </a:p>
        </p:txBody>
      </p:sp>
      <p:sp>
        <p:nvSpPr>
          <p:cNvPr id="1544" name="Google Shape;1544;p99"/>
          <p:cNvSpPr txBox="1">
            <a:spLocks noGrp="1"/>
          </p:cNvSpPr>
          <p:nvPr>
            <p:ph type="subTitle" idx="2"/>
          </p:nvPr>
        </p:nvSpPr>
        <p:spPr>
          <a:xfrm>
            <a:off x="177925" y="4068000"/>
            <a:ext cx="41580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-US" dirty="0"/>
              <a:t>Lecture 5.2, Spring 2026</a:t>
            </a:r>
            <a:endParaRPr dirty="0"/>
          </a:p>
        </p:txBody>
      </p:sp>
    </p:spTree>
  </p:cSld>
  <p:clrMapOvr>
    <a:masterClrMapping/>
  </p:clrMapOvr>
</p:sld>
</file>

<file path=ppt/slides/slide7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5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9" name="Google Shape;1549;p100"/>
          <p:cNvSpPr txBox="1">
            <a:spLocks noGrp="1"/>
          </p:cNvSpPr>
          <p:nvPr>
            <p:ph type="title"/>
          </p:nvPr>
        </p:nvSpPr>
        <p:spPr>
          <a:xfrm>
            <a:off x="0" y="0"/>
            <a:ext cx="9144000" cy="39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Poison Reverse</a:t>
            </a:r>
            <a:endParaRPr/>
          </a:p>
        </p:txBody>
      </p:sp>
      <p:sp>
        <p:nvSpPr>
          <p:cNvPr id="1550" name="Google Shape;1550;p100"/>
          <p:cNvSpPr txBox="1">
            <a:spLocks noGrp="1"/>
          </p:cNvSpPr>
          <p:nvPr>
            <p:ph type="body" idx="1"/>
          </p:nvPr>
        </p:nvSpPr>
        <p:spPr>
          <a:xfrm>
            <a:off x="107050" y="402200"/>
            <a:ext cx="8909700" cy="4530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" dirty="0"/>
              <a:t>Split horizon: If R1 gave me a route, don't advertise it to R1.</a:t>
            </a:r>
            <a:endParaRPr dirty="0"/>
          </a:p>
          <a:p>
            <a:pPr marL="457200" lvl="0" indent="-342900" algn="l" rtl="0">
              <a:spcBef>
                <a:spcPts val="600"/>
              </a:spcBef>
              <a:spcAft>
                <a:spcPts val="0"/>
              </a:spcAft>
              <a:buSzPts val="1800"/>
              <a:buChar char="●"/>
            </a:pPr>
            <a:r>
              <a:rPr lang="en" dirty="0"/>
              <a:t>Don't tell R1 anything.</a:t>
            </a:r>
          </a:p>
          <a:p>
            <a:pPr lvl="0"/>
            <a:r>
              <a:rPr lang="en-US" dirty="0"/>
              <a:t>Never advertise a route back to the next-hop neighbor that you learned it from.</a:t>
            </a:r>
            <a:endParaRPr dirty="0"/>
          </a:p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" dirty="0"/>
              <a:t>Poison reverse: If R1 gave me a route, advertise poison back to R1.</a:t>
            </a:r>
            <a:endParaRPr dirty="0"/>
          </a:p>
          <a:p>
            <a:pPr marL="457200" lvl="0" indent="-342900" algn="l" rtl="0">
              <a:spcBef>
                <a:spcPts val="600"/>
              </a:spcBef>
              <a:spcAft>
                <a:spcPts val="0"/>
              </a:spcAft>
              <a:buSzPts val="1800"/>
              <a:buChar char="●"/>
            </a:pPr>
            <a:r>
              <a:rPr lang="en" dirty="0"/>
              <a:t>Explicitly tell R1: "Do not forward packets to me.“</a:t>
            </a:r>
          </a:p>
          <a:p>
            <a:pPr lvl="0"/>
            <a:r>
              <a:rPr lang="en-US" dirty="0"/>
              <a:t>Advertise the route back to the next-hop neighbor, but with infinite cost.</a:t>
            </a:r>
            <a:endParaRPr dirty="0"/>
          </a:p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endParaRPr dirty="0"/>
          </a:p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" dirty="0"/>
              <a:t>Poison reverse is an alternative way to avoid routing loops.</a:t>
            </a:r>
            <a:endParaRPr dirty="0"/>
          </a:p>
        </p:txBody>
      </p:sp>
    </p:spTree>
  </p:cSld>
  <p:clrMapOvr>
    <a:masterClrMapping/>
  </p:clrMapOvr>
</p:sld>
</file>

<file path=ppt/slides/slide7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5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55" name="Google Shape;1555;p101"/>
          <p:cNvSpPr txBox="1">
            <a:spLocks noGrp="1"/>
          </p:cNvSpPr>
          <p:nvPr>
            <p:ph type="title"/>
          </p:nvPr>
        </p:nvSpPr>
        <p:spPr>
          <a:xfrm>
            <a:off x="0" y="0"/>
            <a:ext cx="9144000" cy="39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Poison Reverse vs. Split Horizon</a:t>
            </a:r>
            <a:endParaRPr/>
          </a:p>
        </p:txBody>
      </p:sp>
      <p:sp>
        <p:nvSpPr>
          <p:cNvPr id="1556" name="Google Shape;1556;p101"/>
          <p:cNvSpPr/>
          <p:nvPr/>
        </p:nvSpPr>
        <p:spPr>
          <a:xfrm>
            <a:off x="1978634" y="1378649"/>
            <a:ext cx="285000" cy="285000"/>
          </a:xfrm>
          <a:prstGeom prst="rect">
            <a:avLst/>
          </a:prstGeom>
          <a:solidFill>
            <a:srgbClr val="FFFFFF"/>
          </a:solidFill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R2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1557" name="Google Shape;1557;p101"/>
          <p:cNvCxnSpPr>
            <a:stCxn id="1558" idx="3"/>
            <a:endCxn id="1556" idx="1"/>
          </p:cNvCxnSpPr>
          <p:nvPr/>
        </p:nvCxnSpPr>
        <p:spPr>
          <a:xfrm>
            <a:off x="613334" y="1521149"/>
            <a:ext cx="1365300" cy="0"/>
          </a:xfrm>
          <a:prstGeom prst="straightConnector1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1559" name="Google Shape;1559;p101"/>
          <p:cNvCxnSpPr/>
          <p:nvPr/>
        </p:nvCxnSpPr>
        <p:spPr>
          <a:xfrm>
            <a:off x="743884" y="1419224"/>
            <a:ext cx="1045200" cy="0"/>
          </a:xfrm>
          <a:prstGeom prst="straightConnector1">
            <a:avLst/>
          </a:prstGeom>
          <a:noFill/>
          <a:ln w="19050" cap="flat" cmpd="sng">
            <a:solidFill>
              <a:schemeClr val="accent2"/>
            </a:solidFill>
            <a:prstDash val="solid"/>
            <a:round/>
            <a:headEnd type="none" w="med" len="med"/>
            <a:tailEnd type="triangle" w="med" len="med"/>
          </a:ln>
        </p:spPr>
      </p:cxnSp>
      <p:sp>
        <p:nvSpPr>
          <p:cNvPr id="1560" name="Google Shape;1560;p101"/>
          <p:cNvSpPr/>
          <p:nvPr/>
        </p:nvSpPr>
        <p:spPr>
          <a:xfrm>
            <a:off x="841734" y="782399"/>
            <a:ext cx="781200" cy="534900"/>
          </a:xfrm>
          <a:prstGeom prst="roundRect">
            <a:avLst>
              <a:gd name="adj" fmla="val 16667"/>
            </a:avLst>
          </a:prstGeom>
          <a:solidFill>
            <a:srgbClr val="F4CCCC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I can reach A.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1561" name="Google Shape;1561;p101"/>
          <p:cNvCxnSpPr>
            <a:stCxn id="1556" idx="3"/>
          </p:cNvCxnSpPr>
          <p:nvPr/>
        </p:nvCxnSpPr>
        <p:spPr>
          <a:xfrm rot="10800000" flipH="1">
            <a:off x="2263634" y="865049"/>
            <a:ext cx="656100" cy="656100"/>
          </a:xfrm>
          <a:prstGeom prst="straightConnector1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1562" name="Google Shape;1562;p101"/>
          <p:cNvCxnSpPr>
            <a:stCxn id="1556" idx="3"/>
          </p:cNvCxnSpPr>
          <p:nvPr/>
        </p:nvCxnSpPr>
        <p:spPr>
          <a:xfrm rot="10800000" flipH="1">
            <a:off x="2263634" y="1308449"/>
            <a:ext cx="793800" cy="212700"/>
          </a:xfrm>
          <a:prstGeom prst="straightConnector1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1563" name="Google Shape;1563;p101"/>
          <p:cNvCxnSpPr>
            <a:stCxn id="1556" idx="3"/>
          </p:cNvCxnSpPr>
          <p:nvPr/>
        </p:nvCxnSpPr>
        <p:spPr>
          <a:xfrm>
            <a:off x="2263634" y="1521149"/>
            <a:ext cx="756900" cy="202800"/>
          </a:xfrm>
          <a:prstGeom prst="straightConnector1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1564" name="Google Shape;1564;p101"/>
          <p:cNvCxnSpPr>
            <a:stCxn id="1556" idx="3"/>
          </p:cNvCxnSpPr>
          <p:nvPr/>
        </p:nvCxnSpPr>
        <p:spPr>
          <a:xfrm>
            <a:off x="2263634" y="1521149"/>
            <a:ext cx="638400" cy="638400"/>
          </a:xfrm>
          <a:prstGeom prst="straightConnector1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1565" name="Google Shape;1565;p101"/>
          <p:cNvSpPr txBox="1"/>
          <p:nvPr/>
        </p:nvSpPr>
        <p:spPr>
          <a:xfrm>
            <a:off x="613409" y="388799"/>
            <a:ext cx="3318600" cy="461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Split Horizon:</a:t>
            </a:r>
            <a:endParaRPr sz="180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1566" name="Google Shape;1566;p101"/>
          <p:cNvCxnSpPr>
            <a:stCxn id="1567" idx="3"/>
            <a:endCxn id="1568" idx="1"/>
          </p:cNvCxnSpPr>
          <p:nvPr/>
        </p:nvCxnSpPr>
        <p:spPr>
          <a:xfrm>
            <a:off x="5197434" y="1521149"/>
            <a:ext cx="1365300" cy="0"/>
          </a:xfrm>
          <a:prstGeom prst="straightConnector1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1569" name="Google Shape;1569;p101"/>
          <p:cNvCxnSpPr/>
          <p:nvPr/>
        </p:nvCxnSpPr>
        <p:spPr>
          <a:xfrm>
            <a:off x="5327984" y="1420424"/>
            <a:ext cx="1045200" cy="0"/>
          </a:xfrm>
          <a:prstGeom prst="straightConnector1">
            <a:avLst/>
          </a:prstGeom>
          <a:noFill/>
          <a:ln w="19050" cap="flat" cmpd="sng">
            <a:solidFill>
              <a:schemeClr val="accent2"/>
            </a:solidFill>
            <a:prstDash val="solid"/>
            <a:round/>
            <a:headEnd type="none" w="med" len="med"/>
            <a:tailEnd type="triangle" w="med" len="med"/>
          </a:ln>
        </p:spPr>
      </p:cxnSp>
      <p:sp>
        <p:nvSpPr>
          <p:cNvPr id="1570" name="Google Shape;1570;p101"/>
          <p:cNvSpPr/>
          <p:nvPr/>
        </p:nvSpPr>
        <p:spPr>
          <a:xfrm>
            <a:off x="5425834" y="783599"/>
            <a:ext cx="781200" cy="534900"/>
          </a:xfrm>
          <a:prstGeom prst="roundRect">
            <a:avLst>
              <a:gd name="adj" fmla="val 16667"/>
            </a:avLst>
          </a:prstGeom>
          <a:solidFill>
            <a:srgbClr val="F4CCCC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I can reach A.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571" name="Google Shape;1571;p101"/>
          <p:cNvSpPr txBox="1"/>
          <p:nvPr/>
        </p:nvSpPr>
        <p:spPr>
          <a:xfrm>
            <a:off x="5197434" y="388799"/>
            <a:ext cx="3318600" cy="461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Poison Reverse:</a:t>
            </a:r>
            <a:endParaRPr sz="180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568" name="Google Shape;1568;p101"/>
          <p:cNvSpPr/>
          <p:nvPr/>
        </p:nvSpPr>
        <p:spPr>
          <a:xfrm>
            <a:off x="6562734" y="1378649"/>
            <a:ext cx="285000" cy="285000"/>
          </a:xfrm>
          <a:prstGeom prst="rect">
            <a:avLst/>
          </a:prstGeom>
          <a:solidFill>
            <a:srgbClr val="FFFFFF"/>
          </a:solidFill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R2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1572" name="Google Shape;1572;p101"/>
          <p:cNvCxnSpPr>
            <a:stCxn id="1568" idx="3"/>
          </p:cNvCxnSpPr>
          <p:nvPr/>
        </p:nvCxnSpPr>
        <p:spPr>
          <a:xfrm rot="10800000" flipH="1">
            <a:off x="6847734" y="865049"/>
            <a:ext cx="656100" cy="656100"/>
          </a:xfrm>
          <a:prstGeom prst="straightConnector1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1573" name="Google Shape;1573;p101"/>
          <p:cNvCxnSpPr>
            <a:stCxn id="1568" idx="3"/>
          </p:cNvCxnSpPr>
          <p:nvPr/>
        </p:nvCxnSpPr>
        <p:spPr>
          <a:xfrm rot="10800000" flipH="1">
            <a:off x="6847734" y="1308449"/>
            <a:ext cx="793800" cy="212700"/>
          </a:xfrm>
          <a:prstGeom prst="straightConnector1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1574" name="Google Shape;1574;p101"/>
          <p:cNvCxnSpPr>
            <a:stCxn id="1568" idx="3"/>
          </p:cNvCxnSpPr>
          <p:nvPr/>
        </p:nvCxnSpPr>
        <p:spPr>
          <a:xfrm>
            <a:off x="6847734" y="1521149"/>
            <a:ext cx="756900" cy="202800"/>
          </a:xfrm>
          <a:prstGeom prst="straightConnector1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1575" name="Google Shape;1575;p101"/>
          <p:cNvCxnSpPr>
            <a:stCxn id="1568" idx="3"/>
          </p:cNvCxnSpPr>
          <p:nvPr/>
        </p:nvCxnSpPr>
        <p:spPr>
          <a:xfrm>
            <a:off x="6847734" y="1521149"/>
            <a:ext cx="638400" cy="638400"/>
          </a:xfrm>
          <a:prstGeom prst="straightConnector1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1576" name="Google Shape;1576;p101"/>
          <p:cNvSpPr/>
          <p:nvPr/>
        </p:nvSpPr>
        <p:spPr>
          <a:xfrm>
            <a:off x="1978622" y="2823726"/>
            <a:ext cx="285000" cy="285000"/>
          </a:xfrm>
          <a:prstGeom prst="rect">
            <a:avLst/>
          </a:prstGeom>
          <a:solidFill>
            <a:srgbClr val="FFFFFF"/>
          </a:solidFill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R2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1577" name="Google Shape;1577;p101"/>
          <p:cNvCxnSpPr>
            <a:stCxn id="1578" idx="3"/>
            <a:endCxn id="1576" idx="1"/>
          </p:cNvCxnSpPr>
          <p:nvPr/>
        </p:nvCxnSpPr>
        <p:spPr>
          <a:xfrm>
            <a:off x="613322" y="2966226"/>
            <a:ext cx="1365300" cy="0"/>
          </a:xfrm>
          <a:prstGeom prst="straightConnector1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1579" name="Google Shape;1579;p101"/>
          <p:cNvCxnSpPr/>
          <p:nvPr/>
        </p:nvCxnSpPr>
        <p:spPr>
          <a:xfrm rot="10800000" flipH="1">
            <a:off x="2448884" y="2283851"/>
            <a:ext cx="386400" cy="386400"/>
          </a:xfrm>
          <a:prstGeom prst="straightConnector1">
            <a:avLst/>
          </a:prstGeom>
          <a:noFill/>
          <a:ln w="19050" cap="flat" cmpd="sng">
            <a:solidFill>
              <a:schemeClr val="accent2"/>
            </a:solidFill>
            <a:prstDash val="solid"/>
            <a:round/>
            <a:headEnd type="none" w="med" len="med"/>
            <a:tailEnd type="triangle" w="med" len="med"/>
          </a:ln>
        </p:spPr>
      </p:cxnSp>
      <p:cxnSp>
        <p:nvCxnSpPr>
          <p:cNvPr id="1580" name="Google Shape;1580;p101"/>
          <p:cNvCxnSpPr>
            <a:stCxn id="1576" idx="3"/>
          </p:cNvCxnSpPr>
          <p:nvPr/>
        </p:nvCxnSpPr>
        <p:spPr>
          <a:xfrm rot="10800000" flipH="1">
            <a:off x="2263622" y="2310126"/>
            <a:ext cx="656100" cy="656100"/>
          </a:xfrm>
          <a:prstGeom prst="straightConnector1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1581" name="Google Shape;1581;p101"/>
          <p:cNvCxnSpPr>
            <a:stCxn id="1576" idx="3"/>
          </p:cNvCxnSpPr>
          <p:nvPr/>
        </p:nvCxnSpPr>
        <p:spPr>
          <a:xfrm rot="10800000" flipH="1">
            <a:off x="2263622" y="2753526"/>
            <a:ext cx="793800" cy="212700"/>
          </a:xfrm>
          <a:prstGeom prst="straightConnector1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1582" name="Google Shape;1582;p101"/>
          <p:cNvCxnSpPr>
            <a:stCxn id="1576" idx="3"/>
          </p:cNvCxnSpPr>
          <p:nvPr/>
        </p:nvCxnSpPr>
        <p:spPr>
          <a:xfrm>
            <a:off x="2263622" y="2966226"/>
            <a:ext cx="756900" cy="202800"/>
          </a:xfrm>
          <a:prstGeom prst="straightConnector1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1583" name="Google Shape;1583;p101"/>
          <p:cNvCxnSpPr>
            <a:stCxn id="1576" idx="3"/>
          </p:cNvCxnSpPr>
          <p:nvPr/>
        </p:nvCxnSpPr>
        <p:spPr>
          <a:xfrm>
            <a:off x="2263622" y="2966226"/>
            <a:ext cx="638400" cy="638400"/>
          </a:xfrm>
          <a:prstGeom prst="straightConnector1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1584" name="Google Shape;1584;p101"/>
          <p:cNvCxnSpPr/>
          <p:nvPr/>
        </p:nvCxnSpPr>
        <p:spPr>
          <a:xfrm rot="10800000" flipH="1">
            <a:off x="2500672" y="2690826"/>
            <a:ext cx="496500" cy="132900"/>
          </a:xfrm>
          <a:prstGeom prst="straightConnector1">
            <a:avLst/>
          </a:prstGeom>
          <a:noFill/>
          <a:ln w="19050" cap="flat" cmpd="sng">
            <a:solidFill>
              <a:schemeClr val="accent2"/>
            </a:solidFill>
            <a:prstDash val="solid"/>
            <a:round/>
            <a:headEnd type="none" w="med" len="med"/>
            <a:tailEnd type="triangle" w="med" len="med"/>
          </a:ln>
        </p:spPr>
      </p:cxnSp>
      <p:cxnSp>
        <p:nvCxnSpPr>
          <p:cNvPr id="1585" name="Google Shape;1585;p101"/>
          <p:cNvCxnSpPr/>
          <p:nvPr/>
        </p:nvCxnSpPr>
        <p:spPr>
          <a:xfrm>
            <a:off x="2517922" y="2967426"/>
            <a:ext cx="462000" cy="123900"/>
          </a:xfrm>
          <a:prstGeom prst="straightConnector1">
            <a:avLst/>
          </a:prstGeom>
          <a:noFill/>
          <a:ln w="19050" cap="flat" cmpd="sng">
            <a:solidFill>
              <a:schemeClr val="accent2"/>
            </a:solidFill>
            <a:prstDash val="solid"/>
            <a:round/>
            <a:headEnd type="none" w="med" len="med"/>
            <a:tailEnd type="triangle" w="med" len="med"/>
          </a:ln>
        </p:spPr>
      </p:cxnSp>
      <p:sp>
        <p:nvSpPr>
          <p:cNvPr id="1586" name="Google Shape;1586;p101"/>
          <p:cNvSpPr/>
          <p:nvPr/>
        </p:nvSpPr>
        <p:spPr>
          <a:xfrm>
            <a:off x="3150722" y="2310126"/>
            <a:ext cx="781200" cy="534900"/>
          </a:xfrm>
          <a:prstGeom prst="roundRect">
            <a:avLst>
              <a:gd name="adj" fmla="val 16667"/>
            </a:avLst>
          </a:prstGeom>
          <a:solidFill>
            <a:srgbClr val="F4CCCC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I can reach A.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1587" name="Google Shape;1587;p101"/>
          <p:cNvCxnSpPr/>
          <p:nvPr/>
        </p:nvCxnSpPr>
        <p:spPr>
          <a:xfrm>
            <a:off x="2519084" y="3108726"/>
            <a:ext cx="319800" cy="319800"/>
          </a:xfrm>
          <a:prstGeom prst="straightConnector1">
            <a:avLst/>
          </a:prstGeom>
          <a:noFill/>
          <a:ln w="19050" cap="flat" cmpd="sng">
            <a:solidFill>
              <a:schemeClr val="accent2"/>
            </a:solidFill>
            <a:prstDash val="solid"/>
            <a:round/>
            <a:headEnd type="none" w="med" len="med"/>
            <a:tailEnd type="triangle" w="med" len="med"/>
          </a:ln>
        </p:spPr>
      </p:cxnSp>
      <p:sp>
        <p:nvSpPr>
          <p:cNvPr id="1588" name="Google Shape;1588;p101"/>
          <p:cNvSpPr/>
          <p:nvPr/>
        </p:nvSpPr>
        <p:spPr>
          <a:xfrm>
            <a:off x="6562722" y="2845701"/>
            <a:ext cx="285000" cy="285000"/>
          </a:xfrm>
          <a:prstGeom prst="rect">
            <a:avLst/>
          </a:prstGeom>
          <a:solidFill>
            <a:srgbClr val="FFFFFF"/>
          </a:solidFill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R2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1589" name="Google Shape;1589;p101"/>
          <p:cNvCxnSpPr>
            <a:stCxn id="1590" idx="3"/>
            <a:endCxn id="1588" idx="1"/>
          </p:cNvCxnSpPr>
          <p:nvPr/>
        </p:nvCxnSpPr>
        <p:spPr>
          <a:xfrm>
            <a:off x="5197422" y="2988201"/>
            <a:ext cx="1365300" cy="0"/>
          </a:xfrm>
          <a:prstGeom prst="straightConnector1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1591" name="Google Shape;1591;p101"/>
          <p:cNvCxnSpPr/>
          <p:nvPr/>
        </p:nvCxnSpPr>
        <p:spPr>
          <a:xfrm rot="10800000" flipH="1">
            <a:off x="7032984" y="2305826"/>
            <a:ext cx="386400" cy="386400"/>
          </a:xfrm>
          <a:prstGeom prst="straightConnector1">
            <a:avLst/>
          </a:prstGeom>
          <a:noFill/>
          <a:ln w="19050" cap="flat" cmpd="sng">
            <a:solidFill>
              <a:schemeClr val="accent2"/>
            </a:solidFill>
            <a:prstDash val="solid"/>
            <a:round/>
            <a:headEnd type="none" w="med" len="med"/>
            <a:tailEnd type="triangle" w="med" len="med"/>
          </a:ln>
        </p:spPr>
      </p:cxnSp>
      <p:cxnSp>
        <p:nvCxnSpPr>
          <p:cNvPr id="1592" name="Google Shape;1592;p101"/>
          <p:cNvCxnSpPr>
            <a:stCxn id="1588" idx="3"/>
          </p:cNvCxnSpPr>
          <p:nvPr/>
        </p:nvCxnSpPr>
        <p:spPr>
          <a:xfrm rot="10800000" flipH="1">
            <a:off x="6847722" y="2332101"/>
            <a:ext cx="656100" cy="656100"/>
          </a:xfrm>
          <a:prstGeom prst="straightConnector1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1593" name="Google Shape;1593;p101"/>
          <p:cNvCxnSpPr>
            <a:stCxn id="1588" idx="3"/>
          </p:cNvCxnSpPr>
          <p:nvPr/>
        </p:nvCxnSpPr>
        <p:spPr>
          <a:xfrm rot="10800000" flipH="1">
            <a:off x="6847722" y="2775501"/>
            <a:ext cx="793800" cy="212700"/>
          </a:xfrm>
          <a:prstGeom prst="straightConnector1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1594" name="Google Shape;1594;p101"/>
          <p:cNvCxnSpPr>
            <a:stCxn id="1588" idx="3"/>
          </p:cNvCxnSpPr>
          <p:nvPr/>
        </p:nvCxnSpPr>
        <p:spPr>
          <a:xfrm>
            <a:off x="6847722" y="2988201"/>
            <a:ext cx="756900" cy="202800"/>
          </a:xfrm>
          <a:prstGeom prst="straightConnector1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1595" name="Google Shape;1595;p101"/>
          <p:cNvCxnSpPr>
            <a:stCxn id="1588" idx="3"/>
          </p:cNvCxnSpPr>
          <p:nvPr/>
        </p:nvCxnSpPr>
        <p:spPr>
          <a:xfrm>
            <a:off x="6847722" y="2988201"/>
            <a:ext cx="638400" cy="638400"/>
          </a:xfrm>
          <a:prstGeom prst="straightConnector1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1596" name="Google Shape;1596;p101"/>
          <p:cNvCxnSpPr/>
          <p:nvPr/>
        </p:nvCxnSpPr>
        <p:spPr>
          <a:xfrm rot="10800000" flipH="1">
            <a:off x="7084772" y="2712801"/>
            <a:ext cx="496500" cy="132900"/>
          </a:xfrm>
          <a:prstGeom prst="straightConnector1">
            <a:avLst/>
          </a:prstGeom>
          <a:noFill/>
          <a:ln w="19050" cap="flat" cmpd="sng">
            <a:solidFill>
              <a:schemeClr val="accent2"/>
            </a:solidFill>
            <a:prstDash val="solid"/>
            <a:round/>
            <a:headEnd type="none" w="med" len="med"/>
            <a:tailEnd type="triangle" w="med" len="med"/>
          </a:ln>
        </p:spPr>
      </p:cxnSp>
      <p:cxnSp>
        <p:nvCxnSpPr>
          <p:cNvPr id="1597" name="Google Shape;1597;p101"/>
          <p:cNvCxnSpPr/>
          <p:nvPr/>
        </p:nvCxnSpPr>
        <p:spPr>
          <a:xfrm>
            <a:off x="7102022" y="2989401"/>
            <a:ext cx="462000" cy="123900"/>
          </a:xfrm>
          <a:prstGeom prst="straightConnector1">
            <a:avLst/>
          </a:prstGeom>
          <a:noFill/>
          <a:ln w="19050" cap="flat" cmpd="sng">
            <a:solidFill>
              <a:schemeClr val="accent2"/>
            </a:solidFill>
            <a:prstDash val="solid"/>
            <a:round/>
            <a:headEnd type="none" w="med" len="med"/>
            <a:tailEnd type="triangle" w="med" len="med"/>
          </a:ln>
        </p:spPr>
      </p:cxnSp>
      <p:sp>
        <p:nvSpPr>
          <p:cNvPr id="1598" name="Google Shape;1598;p101"/>
          <p:cNvSpPr/>
          <p:nvPr/>
        </p:nvSpPr>
        <p:spPr>
          <a:xfrm>
            <a:off x="7734822" y="2332101"/>
            <a:ext cx="781200" cy="534900"/>
          </a:xfrm>
          <a:prstGeom prst="roundRect">
            <a:avLst>
              <a:gd name="adj" fmla="val 16667"/>
            </a:avLst>
          </a:prstGeom>
          <a:solidFill>
            <a:srgbClr val="F4CCCC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I can reach A.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1599" name="Google Shape;1599;p101"/>
          <p:cNvCxnSpPr/>
          <p:nvPr/>
        </p:nvCxnSpPr>
        <p:spPr>
          <a:xfrm>
            <a:off x="7103184" y="3130701"/>
            <a:ext cx="319800" cy="319800"/>
          </a:xfrm>
          <a:prstGeom prst="straightConnector1">
            <a:avLst/>
          </a:prstGeom>
          <a:noFill/>
          <a:ln w="19050" cap="flat" cmpd="sng">
            <a:solidFill>
              <a:schemeClr val="accent2"/>
            </a:solidFill>
            <a:prstDash val="solid"/>
            <a:round/>
            <a:headEnd type="none" w="med" len="med"/>
            <a:tailEnd type="triangle" w="med" len="med"/>
          </a:ln>
        </p:spPr>
      </p:cxnSp>
      <p:cxnSp>
        <p:nvCxnSpPr>
          <p:cNvPr id="1600" name="Google Shape;1600;p101"/>
          <p:cNvCxnSpPr/>
          <p:nvPr/>
        </p:nvCxnSpPr>
        <p:spPr>
          <a:xfrm>
            <a:off x="5327972" y="2865501"/>
            <a:ext cx="1045200" cy="0"/>
          </a:xfrm>
          <a:prstGeom prst="straightConnector1">
            <a:avLst/>
          </a:prstGeom>
          <a:noFill/>
          <a:ln w="19050" cap="flat" cmpd="sng">
            <a:solidFill>
              <a:schemeClr val="accent2"/>
            </a:solidFill>
            <a:prstDash val="solid"/>
            <a:round/>
            <a:headEnd type="triangle" w="med" len="med"/>
            <a:tailEnd type="none" w="med" len="med"/>
          </a:ln>
        </p:spPr>
      </p:cxnSp>
      <p:sp>
        <p:nvSpPr>
          <p:cNvPr id="1601" name="Google Shape;1601;p101"/>
          <p:cNvSpPr/>
          <p:nvPr/>
        </p:nvSpPr>
        <p:spPr>
          <a:xfrm>
            <a:off x="5425822" y="2228676"/>
            <a:ext cx="781200" cy="534900"/>
          </a:xfrm>
          <a:prstGeom prst="roundRect">
            <a:avLst>
              <a:gd name="adj" fmla="val 16667"/>
            </a:avLst>
          </a:prstGeom>
          <a:solidFill>
            <a:srgbClr val="F4CCCC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I </a:t>
            </a:r>
            <a:r>
              <a:rPr lang="en" b="1">
                <a:latin typeface="Roboto"/>
                <a:ea typeface="Roboto"/>
                <a:cs typeface="Roboto"/>
                <a:sym typeface="Roboto"/>
              </a:rPr>
              <a:t>cannot</a:t>
            </a:r>
            <a:r>
              <a:rPr lang="en">
                <a:latin typeface="Roboto"/>
                <a:ea typeface="Roboto"/>
                <a:cs typeface="Roboto"/>
                <a:sym typeface="Roboto"/>
              </a:rPr>
              <a:t> reach A.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602" name="Google Shape;1602;p101"/>
          <p:cNvSpPr txBox="1"/>
          <p:nvPr/>
        </p:nvSpPr>
        <p:spPr>
          <a:xfrm>
            <a:off x="536535" y="3535906"/>
            <a:ext cx="3318600" cy="61552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Don't advertise anything back to R1.</a:t>
            </a:r>
          </a:p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dirty="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603" name="Google Shape;1603;p101"/>
          <p:cNvSpPr txBox="1"/>
          <p:nvPr/>
        </p:nvSpPr>
        <p:spPr>
          <a:xfrm>
            <a:off x="5151251" y="3611803"/>
            <a:ext cx="3318600" cy="400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Explicitly advertise poison back to R1.</a:t>
            </a:r>
            <a:endParaRPr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558" name="Google Shape;1558;p101"/>
          <p:cNvSpPr/>
          <p:nvPr/>
        </p:nvSpPr>
        <p:spPr>
          <a:xfrm>
            <a:off x="328334" y="1378649"/>
            <a:ext cx="285000" cy="285000"/>
          </a:xfrm>
          <a:prstGeom prst="rect">
            <a:avLst/>
          </a:prstGeom>
          <a:solidFill>
            <a:srgbClr val="FFFFFF"/>
          </a:solidFill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R1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567" name="Google Shape;1567;p101"/>
          <p:cNvSpPr/>
          <p:nvPr/>
        </p:nvSpPr>
        <p:spPr>
          <a:xfrm>
            <a:off x="4912434" y="1378649"/>
            <a:ext cx="285000" cy="285000"/>
          </a:xfrm>
          <a:prstGeom prst="rect">
            <a:avLst/>
          </a:prstGeom>
          <a:solidFill>
            <a:srgbClr val="FFFFFF"/>
          </a:solidFill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R1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578" name="Google Shape;1578;p101"/>
          <p:cNvSpPr/>
          <p:nvPr/>
        </p:nvSpPr>
        <p:spPr>
          <a:xfrm>
            <a:off x="328322" y="2823726"/>
            <a:ext cx="285000" cy="285000"/>
          </a:xfrm>
          <a:prstGeom prst="rect">
            <a:avLst/>
          </a:prstGeom>
          <a:solidFill>
            <a:srgbClr val="FFFFFF"/>
          </a:solidFill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R1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590" name="Google Shape;1590;p101"/>
          <p:cNvSpPr/>
          <p:nvPr/>
        </p:nvSpPr>
        <p:spPr>
          <a:xfrm>
            <a:off x="4912422" y="2845701"/>
            <a:ext cx="285000" cy="285000"/>
          </a:xfrm>
          <a:prstGeom prst="rect">
            <a:avLst/>
          </a:prstGeom>
          <a:solidFill>
            <a:srgbClr val="FFFFFF"/>
          </a:solidFill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R1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1604" name="Google Shape;1604;p101"/>
          <p:cNvCxnSpPr/>
          <p:nvPr/>
        </p:nvCxnSpPr>
        <p:spPr>
          <a:xfrm>
            <a:off x="4376350" y="506275"/>
            <a:ext cx="0" cy="4428000"/>
          </a:xfrm>
          <a:prstGeom prst="straightConnector1">
            <a:avLst/>
          </a:prstGeom>
          <a:noFill/>
          <a:ln w="9525" cap="flat" cmpd="sng">
            <a:solidFill>
              <a:schemeClr val="dk2"/>
            </a:solidFill>
            <a:prstDash val="solid"/>
            <a:round/>
            <a:headEnd type="none" w="med" len="med"/>
            <a:tailEnd type="none" w="med" len="med"/>
          </a:ln>
        </p:spPr>
      </p:cxnSp>
      <p:graphicFrame>
        <p:nvGraphicFramePr>
          <p:cNvPr id="3" name="Table 2">
            <a:extLst>
              <a:ext uri="{FF2B5EF4-FFF2-40B4-BE49-F238E27FC236}">
                <a16:creationId xmlns:a16="http://schemas.microsoft.com/office/drawing/2014/main" id="{FDE34F05-6619-023D-7325-19F6D2E605D1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239747251"/>
              </p:ext>
            </p:extLst>
          </p:nvPr>
        </p:nvGraphicFramePr>
        <p:xfrm>
          <a:off x="1818125" y="3985148"/>
          <a:ext cx="5116449" cy="1066800"/>
        </p:xfrm>
        <a:graphic>
          <a:graphicData uri="http://schemas.openxmlformats.org/drawingml/2006/table">
            <a:tbl>
              <a:tblPr>
                <a:tableStyleId>{5940675A-B579-460E-94D1-54222C63F5DA}</a:tableStyleId>
              </a:tblPr>
              <a:tblGrid>
                <a:gridCol w="1358079">
                  <a:extLst>
                    <a:ext uri="{9D8B030D-6E8A-4147-A177-3AD203B41FA5}">
                      <a16:colId xmlns:a16="http://schemas.microsoft.com/office/drawing/2014/main" val="2207423621"/>
                    </a:ext>
                  </a:extLst>
                </a:gridCol>
                <a:gridCol w="1808227">
                  <a:extLst>
                    <a:ext uri="{9D8B030D-6E8A-4147-A177-3AD203B41FA5}">
                      <a16:colId xmlns:a16="http://schemas.microsoft.com/office/drawing/2014/main" val="3800485958"/>
                    </a:ext>
                  </a:extLst>
                </a:gridCol>
                <a:gridCol w="1950143">
                  <a:extLst>
                    <a:ext uri="{9D8B030D-6E8A-4147-A177-3AD203B41FA5}">
                      <a16:colId xmlns:a16="http://schemas.microsoft.com/office/drawing/2014/main" val="545631288"/>
                    </a:ext>
                  </a:extLst>
                </a:gridCol>
              </a:tblGrid>
              <a:tr h="30480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200"/>
                        <a:t>Technique</a:t>
                      </a: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200" dirty="0"/>
                        <a:t>What R2 tells R1 about A</a:t>
                      </a: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200" dirty="0"/>
                        <a:t>Philosophy</a:t>
                      </a: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141150931"/>
                  </a:ext>
                </a:extLst>
              </a:tr>
              <a:tr h="30480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200"/>
                        <a:t>Split Horizon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200"/>
                        <a:t>Says </a:t>
                      </a:r>
                      <a:r>
                        <a:rPr lang="en-US" sz="1200" b="1"/>
                        <a:t>nothing</a:t>
                      </a:r>
                      <a:endParaRPr lang="en-US" sz="120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200" dirty="0"/>
                        <a:t>Silence avoids confusion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563234839"/>
                  </a:ext>
                </a:extLst>
              </a:tr>
              <a:tr h="30480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200"/>
                        <a:t>Poison Reverse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200" dirty="0"/>
                        <a:t>Says </a:t>
                      </a:r>
                      <a:r>
                        <a:rPr lang="en-US" sz="1200" b="1" dirty="0"/>
                        <a:t>∞ (unreachable)</a:t>
                      </a:r>
                      <a:endParaRPr 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200" dirty="0"/>
                        <a:t>Explicit warning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580562555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7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60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09" name="Google Shape;1609;p102"/>
          <p:cNvSpPr txBox="1">
            <a:spLocks noGrp="1"/>
          </p:cNvSpPr>
          <p:nvPr>
            <p:ph type="title"/>
          </p:nvPr>
        </p:nvSpPr>
        <p:spPr>
          <a:xfrm>
            <a:off x="0" y="0"/>
            <a:ext cx="9144000" cy="39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Poison Reverse</a:t>
            </a:r>
            <a:endParaRPr/>
          </a:p>
        </p:txBody>
      </p:sp>
      <p:sp>
        <p:nvSpPr>
          <p:cNvPr id="1610" name="Google Shape;1610;p102"/>
          <p:cNvSpPr/>
          <p:nvPr/>
        </p:nvSpPr>
        <p:spPr>
          <a:xfrm>
            <a:off x="2715000" y="3715900"/>
            <a:ext cx="285000" cy="285000"/>
          </a:xfrm>
          <a:prstGeom prst="rect">
            <a:avLst/>
          </a:prstGeom>
          <a:solidFill>
            <a:srgbClr val="FFFFFF"/>
          </a:solidFill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R1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611" name="Google Shape;1611;p102"/>
          <p:cNvSpPr/>
          <p:nvPr/>
        </p:nvSpPr>
        <p:spPr>
          <a:xfrm>
            <a:off x="657588" y="3715900"/>
            <a:ext cx="285000" cy="285000"/>
          </a:xfrm>
          <a:prstGeom prst="ellipse">
            <a:avLst/>
          </a:prstGeom>
          <a:solidFill>
            <a:srgbClr val="FFFFFF"/>
          </a:solidFill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A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1612" name="Google Shape;1612;p102"/>
          <p:cNvCxnSpPr>
            <a:stCxn id="1611" idx="6"/>
            <a:endCxn id="1610" idx="1"/>
          </p:cNvCxnSpPr>
          <p:nvPr/>
        </p:nvCxnSpPr>
        <p:spPr>
          <a:xfrm>
            <a:off x="942588" y="3858400"/>
            <a:ext cx="1772400" cy="0"/>
          </a:xfrm>
          <a:prstGeom prst="straightConnector1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1613" name="Google Shape;1613;p102"/>
          <p:cNvSpPr/>
          <p:nvPr/>
        </p:nvSpPr>
        <p:spPr>
          <a:xfrm>
            <a:off x="4772400" y="3715900"/>
            <a:ext cx="285000" cy="285000"/>
          </a:xfrm>
          <a:prstGeom prst="rect">
            <a:avLst/>
          </a:prstGeom>
          <a:solidFill>
            <a:srgbClr val="FFFFFF"/>
          </a:solidFill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R2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1614" name="Google Shape;1614;p102"/>
          <p:cNvCxnSpPr>
            <a:stCxn id="1610" idx="3"/>
            <a:endCxn id="1613" idx="1"/>
          </p:cNvCxnSpPr>
          <p:nvPr/>
        </p:nvCxnSpPr>
        <p:spPr>
          <a:xfrm>
            <a:off x="3000000" y="3858400"/>
            <a:ext cx="1772400" cy="0"/>
          </a:xfrm>
          <a:prstGeom prst="straightConnector1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1615" name="Google Shape;1615;p102"/>
          <p:cNvSpPr/>
          <p:nvPr/>
        </p:nvSpPr>
        <p:spPr>
          <a:xfrm>
            <a:off x="6829800" y="3715900"/>
            <a:ext cx="285000" cy="285000"/>
          </a:xfrm>
          <a:prstGeom prst="rect">
            <a:avLst/>
          </a:prstGeom>
          <a:solidFill>
            <a:srgbClr val="FFFFFF"/>
          </a:solidFill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R3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1616" name="Google Shape;1616;p102"/>
          <p:cNvCxnSpPr>
            <a:stCxn id="1613" idx="3"/>
            <a:endCxn id="1615" idx="1"/>
          </p:cNvCxnSpPr>
          <p:nvPr/>
        </p:nvCxnSpPr>
        <p:spPr>
          <a:xfrm>
            <a:off x="5057400" y="3858400"/>
            <a:ext cx="1772400" cy="0"/>
          </a:xfrm>
          <a:prstGeom prst="straightConnector1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med" len="med"/>
            <a:tailEnd type="none" w="med" len="med"/>
          </a:ln>
        </p:spPr>
      </p:cxnSp>
      <p:graphicFrame>
        <p:nvGraphicFramePr>
          <p:cNvPr id="1617" name="Google Shape;1617;p102"/>
          <p:cNvGraphicFramePr/>
          <p:nvPr/>
        </p:nvGraphicFramePr>
        <p:xfrm>
          <a:off x="1939744" y="4232650"/>
          <a:ext cx="1835500" cy="688770"/>
        </p:xfrm>
        <a:graphic>
          <a:graphicData uri="http://schemas.openxmlformats.org/drawingml/2006/table">
            <a:tbl>
              <a:tblPr>
                <a:noFill/>
              </a:tblPr>
              <a:tblGrid>
                <a:gridCol w="5448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9707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79362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121925">
                <a:tc gridSpan="3"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latin typeface="Roboto"/>
                          <a:ea typeface="Roboto"/>
                          <a:cs typeface="Roboto"/>
                          <a:sym typeface="Roboto"/>
                        </a:rPr>
                        <a:t>R1's Table</a:t>
                      </a:r>
                      <a:endParaRPr sz="12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21925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latin typeface="Roboto"/>
                          <a:ea typeface="Roboto"/>
                          <a:cs typeface="Roboto"/>
                          <a:sym typeface="Roboto"/>
                        </a:rPr>
                        <a:t>To:</a:t>
                      </a:r>
                      <a:endParaRPr sz="12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/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latin typeface="Roboto"/>
                          <a:ea typeface="Roboto"/>
                          <a:cs typeface="Roboto"/>
                          <a:sym typeface="Roboto"/>
                        </a:rPr>
                        <a:t>Via:</a:t>
                      </a:r>
                      <a:endParaRPr sz="12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/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latin typeface="Roboto"/>
                          <a:ea typeface="Roboto"/>
                          <a:cs typeface="Roboto"/>
                          <a:sym typeface="Roboto"/>
                        </a:rPr>
                        <a:t>Cost:</a:t>
                      </a:r>
                      <a:endParaRPr sz="12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21925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latin typeface="Roboto"/>
                          <a:ea typeface="Roboto"/>
                          <a:cs typeface="Roboto"/>
                          <a:sym typeface="Roboto"/>
                        </a:rPr>
                        <a:t>A</a:t>
                      </a:r>
                      <a:endParaRPr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/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latin typeface="Roboto"/>
                          <a:ea typeface="Roboto"/>
                          <a:cs typeface="Roboto"/>
                          <a:sym typeface="Roboto"/>
                        </a:rPr>
                        <a:t>Direct</a:t>
                      </a:r>
                      <a:endParaRPr sz="12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/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latin typeface="Roboto"/>
                          <a:ea typeface="Roboto"/>
                          <a:cs typeface="Roboto"/>
                          <a:sym typeface="Roboto"/>
                        </a:rPr>
                        <a:t>1</a:t>
                      </a:r>
                      <a:endParaRPr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</a:tbl>
          </a:graphicData>
        </a:graphic>
      </p:graphicFrame>
      <p:graphicFrame>
        <p:nvGraphicFramePr>
          <p:cNvPr id="1618" name="Google Shape;1618;p102"/>
          <p:cNvGraphicFramePr/>
          <p:nvPr/>
        </p:nvGraphicFramePr>
        <p:xfrm>
          <a:off x="3997144" y="4232650"/>
          <a:ext cx="1835500" cy="688770"/>
        </p:xfrm>
        <a:graphic>
          <a:graphicData uri="http://schemas.openxmlformats.org/drawingml/2006/table">
            <a:tbl>
              <a:tblPr>
                <a:noFill/>
              </a:tblPr>
              <a:tblGrid>
                <a:gridCol w="5448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9707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79362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121925">
                <a:tc gridSpan="3"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latin typeface="Roboto"/>
                          <a:ea typeface="Roboto"/>
                          <a:cs typeface="Roboto"/>
                          <a:sym typeface="Roboto"/>
                        </a:rPr>
                        <a:t>R2's Table</a:t>
                      </a:r>
                      <a:endParaRPr sz="12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>
                    <a:solidFill>
                      <a:srgbClr val="FFFFFF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21925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latin typeface="Roboto"/>
                          <a:ea typeface="Roboto"/>
                          <a:cs typeface="Roboto"/>
                          <a:sym typeface="Roboto"/>
                        </a:rPr>
                        <a:t>To:</a:t>
                      </a:r>
                      <a:endParaRPr sz="12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latin typeface="Roboto"/>
                          <a:ea typeface="Roboto"/>
                          <a:cs typeface="Roboto"/>
                          <a:sym typeface="Roboto"/>
                        </a:rPr>
                        <a:t>Via:</a:t>
                      </a:r>
                      <a:endParaRPr sz="12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latin typeface="Roboto"/>
                          <a:ea typeface="Roboto"/>
                          <a:cs typeface="Roboto"/>
                          <a:sym typeface="Roboto"/>
                        </a:rPr>
                        <a:t>Cost:</a:t>
                      </a:r>
                      <a:endParaRPr sz="12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21925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latin typeface="Roboto"/>
                          <a:ea typeface="Roboto"/>
                          <a:cs typeface="Roboto"/>
                          <a:sym typeface="Roboto"/>
                        </a:rPr>
                        <a:t>A</a:t>
                      </a:r>
                      <a:endParaRPr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/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latin typeface="Roboto"/>
                          <a:ea typeface="Roboto"/>
                          <a:cs typeface="Roboto"/>
                          <a:sym typeface="Roboto"/>
                        </a:rPr>
                        <a:t>R1</a:t>
                      </a:r>
                      <a:endParaRPr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/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latin typeface="Roboto"/>
                          <a:ea typeface="Roboto"/>
                          <a:cs typeface="Roboto"/>
                          <a:sym typeface="Roboto"/>
                        </a:rPr>
                        <a:t>2</a:t>
                      </a:r>
                      <a:endParaRPr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</a:tbl>
          </a:graphicData>
        </a:graphic>
      </p:graphicFrame>
      <p:graphicFrame>
        <p:nvGraphicFramePr>
          <p:cNvPr id="1619" name="Google Shape;1619;p102"/>
          <p:cNvGraphicFramePr/>
          <p:nvPr/>
        </p:nvGraphicFramePr>
        <p:xfrm>
          <a:off x="6054544" y="4232650"/>
          <a:ext cx="1835500" cy="688770"/>
        </p:xfrm>
        <a:graphic>
          <a:graphicData uri="http://schemas.openxmlformats.org/drawingml/2006/table">
            <a:tbl>
              <a:tblPr>
                <a:noFill/>
              </a:tblPr>
              <a:tblGrid>
                <a:gridCol w="5448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9707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79362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121925">
                <a:tc gridSpan="3"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latin typeface="Roboto"/>
                          <a:ea typeface="Roboto"/>
                          <a:cs typeface="Roboto"/>
                          <a:sym typeface="Roboto"/>
                        </a:rPr>
                        <a:t>R3's Table</a:t>
                      </a:r>
                      <a:endParaRPr sz="12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21925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latin typeface="Roboto"/>
                          <a:ea typeface="Roboto"/>
                          <a:cs typeface="Roboto"/>
                          <a:sym typeface="Roboto"/>
                        </a:rPr>
                        <a:t>To:</a:t>
                      </a:r>
                      <a:endParaRPr sz="12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/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latin typeface="Roboto"/>
                          <a:ea typeface="Roboto"/>
                          <a:cs typeface="Roboto"/>
                          <a:sym typeface="Roboto"/>
                        </a:rPr>
                        <a:t>Via:</a:t>
                      </a:r>
                      <a:endParaRPr sz="12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/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latin typeface="Roboto"/>
                          <a:ea typeface="Roboto"/>
                          <a:cs typeface="Roboto"/>
                          <a:sym typeface="Roboto"/>
                        </a:rPr>
                        <a:t>Cost:</a:t>
                      </a:r>
                      <a:endParaRPr sz="12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21925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latin typeface="Roboto"/>
                          <a:ea typeface="Roboto"/>
                          <a:cs typeface="Roboto"/>
                          <a:sym typeface="Roboto"/>
                        </a:rPr>
                        <a:t>A</a:t>
                      </a:r>
                      <a:endParaRPr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/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latin typeface="Roboto"/>
                          <a:ea typeface="Roboto"/>
                          <a:cs typeface="Roboto"/>
                          <a:sym typeface="Roboto"/>
                        </a:rPr>
                        <a:t>R2</a:t>
                      </a:r>
                      <a:endParaRPr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/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latin typeface="Roboto"/>
                          <a:ea typeface="Roboto"/>
                          <a:cs typeface="Roboto"/>
                          <a:sym typeface="Roboto"/>
                        </a:rPr>
                        <a:t>3</a:t>
                      </a:r>
                      <a:endParaRPr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</a:tbl>
          </a:graphicData>
        </a:graphic>
      </p:graphicFrame>
      <p:sp>
        <p:nvSpPr>
          <p:cNvPr id="1620" name="Google Shape;1620;p102"/>
          <p:cNvSpPr txBox="1"/>
          <p:nvPr/>
        </p:nvSpPr>
        <p:spPr>
          <a:xfrm>
            <a:off x="657600" y="2738925"/>
            <a:ext cx="6438900" cy="486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27425" tIns="27425" rIns="27425" bIns="27425" anchor="t" anchorCtr="0">
            <a:sp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Let's watch the demo again, but with poison reverse this time.</a:t>
            </a:r>
            <a:endParaRPr>
              <a:latin typeface="Roboto"/>
              <a:ea typeface="Roboto"/>
              <a:cs typeface="Roboto"/>
              <a:sym typeface="Roboto"/>
            </a:endParaRPr>
          </a:p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As before, we first reach steady state.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</p:spTree>
  </p:cSld>
  <p:clrMapOvr>
    <a:masterClrMapping/>
  </p:clrMapOvr>
</p:sld>
</file>

<file path=ppt/slides/slide7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6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625" name="Google Shape;1625;p103"/>
          <p:cNvGraphicFramePr/>
          <p:nvPr/>
        </p:nvGraphicFramePr>
        <p:xfrm>
          <a:off x="3997144" y="4232650"/>
          <a:ext cx="1835500" cy="688770"/>
        </p:xfrm>
        <a:graphic>
          <a:graphicData uri="http://schemas.openxmlformats.org/drawingml/2006/table">
            <a:tbl>
              <a:tblPr>
                <a:noFill/>
              </a:tblPr>
              <a:tblGrid>
                <a:gridCol w="5448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9707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79362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121925">
                <a:tc gridSpan="3"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latin typeface="Roboto"/>
                          <a:ea typeface="Roboto"/>
                          <a:cs typeface="Roboto"/>
                          <a:sym typeface="Roboto"/>
                        </a:rPr>
                        <a:t>R2's Table</a:t>
                      </a:r>
                      <a:endParaRPr sz="12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>
                    <a:solidFill>
                      <a:srgbClr val="FFFFFF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21925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latin typeface="Roboto"/>
                          <a:ea typeface="Roboto"/>
                          <a:cs typeface="Roboto"/>
                          <a:sym typeface="Roboto"/>
                        </a:rPr>
                        <a:t>To:</a:t>
                      </a:r>
                      <a:endParaRPr sz="12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latin typeface="Roboto"/>
                          <a:ea typeface="Roboto"/>
                          <a:cs typeface="Roboto"/>
                          <a:sym typeface="Roboto"/>
                        </a:rPr>
                        <a:t>Via:</a:t>
                      </a:r>
                      <a:endParaRPr sz="12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latin typeface="Roboto"/>
                          <a:ea typeface="Roboto"/>
                          <a:cs typeface="Roboto"/>
                          <a:sym typeface="Roboto"/>
                        </a:rPr>
                        <a:t>Cost:</a:t>
                      </a:r>
                      <a:endParaRPr sz="12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21925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latin typeface="Roboto"/>
                          <a:ea typeface="Roboto"/>
                          <a:cs typeface="Roboto"/>
                          <a:sym typeface="Roboto"/>
                        </a:rPr>
                        <a:t>A</a:t>
                      </a:r>
                      <a:endParaRPr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latin typeface="Roboto"/>
                          <a:ea typeface="Roboto"/>
                          <a:cs typeface="Roboto"/>
                          <a:sym typeface="Roboto"/>
                        </a:rPr>
                        <a:t>R1</a:t>
                      </a:r>
                      <a:endParaRPr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latin typeface="Roboto"/>
                          <a:ea typeface="Roboto"/>
                          <a:cs typeface="Roboto"/>
                          <a:sym typeface="Roboto"/>
                        </a:rPr>
                        <a:t>2</a:t>
                      </a:r>
                      <a:endParaRPr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</a:tbl>
          </a:graphicData>
        </a:graphic>
      </p:graphicFrame>
      <p:cxnSp>
        <p:nvCxnSpPr>
          <p:cNvPr id="1626" name="Google Shape;1626;p103"/>
          <p:cNvCxnSpPr>
            <a:stCxn id="1627" idx="3"/>
            <a:endCxn id="1628" idx="1"/>
          </p:cNvCxnSpPr>
          <p:nvPr/>
        </p:nvCxnSpPr>
        <p:spPr>
          <a:xfrm>
            <a:off x="3000000" y="3858400"/>
            <a:ext cx="1772400" cy="0"/>
          </a:xfrm>
          <a:prstGeom prst="straightConnector1">
            <a:avLst/>
          </a:prstGeom>
          <a:noFill/>
          <a:ln w="19050" cap="flat" cmpd="sng">
            <a:solidFill>
              <a:srgbClr val="D9D9D9"/>
            </a:solidFill>
            <a:prstDash val="dash"/>
            <a:round/>
            <a:headEnd type="none" w="med" len="med"/>
            <a:tailEnd type="none" w="med" len="med"/>
          </a:ln>
        </p:spPr>
      </p:cxnSp>
      <p:sp>
        <p:nvSpPr>
          <p:cNvPr id="1629" name="Google Shape;1629;p103"/>
          <p:cNvSpPr txBox="1">
            <a:spLocks noGrp="1"/>
          </p:cNvSpPr>
          <p:nvPr>
            <p:ph type="title"/>
          </p:nvPr>
        </p:nvSpPr>
        <p:spPr>
          <a:xfrm>
            <a:off x="0" y="0"/>
            <a:ext cx="9144000" cy="39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accent3"/>
                </a:solidFill>
              </a:rPr>
              <a:t>Poison Reverse</a:t>
            </a:r>
            <a:endParaRPr/>
          </a:p>
        </p:txBody>
      </p:sp>
      <p:sp>
        <p:nvSpPr>
          <p:cNvPr id="1627" name="Google Shape;1627;p103"/>
          <p:cNvSpPr/>
          <p:nvPr/>
        </p:nvSpPr>
        <p:spPr>
          <a:xfrm>
            <a:off x="2715000" y="3715900"/>
            <a:ext cx="285000" cy="285000"/>
          </a:xfrm>
          <a:prstGeom prst="rect">
            <a:avLst/>
          </a:prstGeom>
          <a:solidFill>
            <a:srgbClr val="FFFFFF"/>
          </a:solidFill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R1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630" name="Google Shape;1630;p103"/>
          <p:cNvSpPr/>
          <p:nvPr/>
        </p:nvSpPr>
        <p:spPr>
          <a:xfrm>
            <a:off x="657588" y="3715900"/>
            <a:ext cx="285000" cy="285000"/>
          </a:xfrm>
          <a:prstGeom prst="ellipse">
            <a:avLst/>
          </a:prstGeom>
          <a:solidFill>
            <a:srgbClr val="FFFFFF"/>
          </a:solidFill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A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1631" name="Google Shape;1631;p103"/>
          <p:cNvCxnSpPr>
            <a:stCxn id="1630" idx="6"/>
            <a:endCxn id="1627" idx="1"/>
          </p:cNvCxnSpPr>
          <p:nvPr/>
        </p:nvCxnSpPr>
        <p:spPr>
          <a:xfrm>
            <a:off x="942588" y="3858400"/>
            <a:ext cx="1772400" cy="0"/>
          </a:xfrm>
          <a:prstGeom prst="straightConnector1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1628" name="Google Shape;1628;p103"/>
          <p:cNvSpPr/>
          <p:nvPr/>
        </p:nvSpPr>
        <p:spPr>
          <a:xfrm>
            <a:off x="4772400" y="3715900"/>
            <a:ext cx="285000" cy="285000"/>
          </a:xfrm>
          <a:prstGeom prst="rect">
            <a:avLst/>
          </a:prstGeom>
          <a:solidFill>
            <a:srgbClr val="FFFFFF"/>
          </a:solidFill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R2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632" name="Google Shape;1632;p103"/>
          <p:cNvSpPr/>
          <p:nvPr/>
        </p:nvSpPr>
        <p:spPr>
          <a:xfrm>
            <a:off x="6829800" y="3715900"/>
            <a:ext cx="285000" cy="285000"/>
          </a:xfrm>
          <a:prstGeom prst="rect">
            <a:avLst/>
          </a:prstGeom>
          <a:solidFill>
            <a:srgbClr val="FFFFFF"/>
          </a:solidFill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R3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1633" name="Google Shape;1633;p103"/>
          <p:cNvCxnSpPr>
            <a:stCxn id="1628" idx="3"/>
            <a:endCxn id="1632" idx="1"/>
          </p:cNvCxnSpPr>
          <p:nvPr/>
        </p:nvCxnSpPr>
        <p:spPr>
          <a:xfrm>
            <a:off x="5057400" y="3858400"/>
            <a:ext cx="1772400" cy="0"/>
          </a:xfrm>
          <a:prstGeom prst="straightConnector1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med" len="med"/>
            <a:tailEnd type="none" w="med" len="med"/>
          </a:ln>
        </p:spPr>
      </p:cxnSp>
      <p:graphicFrame>
        <p:nvGraphicFramePr>
          <p:cNvPr id="1634" name="Google Shape;1634;p103"/>
          <p:cNvGraphicFramePr/>
          <p:nvPr/>
        </p:nvGraphicFramePr>
        <p:xfrm>
          <a:off x="1939744" y="4232650"/>
          <a:ext cx="1835500" cy="688770"/>
        </p:xfrm>
        <a:graphic>
          <a:graphicData uri="http://schemas.openxmlformats.org/drawingml/2006/table">
            <a:tbl>
              <a:tblPr>
                <a:noFill/>
              </a:tblPr>
              <a:tblGrid>
                <a:gridCol w="5448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9707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79362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121925">
                <a:tc gridSpan="3"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latin typeface="Roboto"/>
                          <a:ea typeface="Roboto"/>
                          <a:cs typeface="Roboto"/>
                          <a:sym typeface="Roboto"/>
                        </a:rPr>
                        <a:t>R1's Table</a:t>
                      </a:r>
                      <a:endParaRPr sz="12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21925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latin typeface="Roboto"/>
                          <a:ea typeface="Roboto"/>
                          <a:cs typeface="Roboto"/>
                          <a:sym typeface="Roboto"/>
                        </a:rPr>
                        <a:t>To:</a:t>
                      </a:r>
                      <a:endParaRPr sz="12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/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latin typeface="Roboto"/>
                          <a:ea typeface="Roboto"/>
                          <a:cs typeface="Roboto"/>
                          <a:sym typeface="Roboto"/>
                        </a:rPr>
                        <a:t>Via:</a:t>
                      </a:r>
                      <a:endParaRPr sz="12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/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latin typeface="Roboto"/>
                          <a:ea typeface="Roboto"/>
                          <a:cs typeface="Roboto"/>
                          <a:sym typeface="Roboto"/>
                        </a:rPr>
                        <a:t>Cost:</a:t>
                      </a:r>
                      <a:endParaRPr sz="12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21925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latin typeface="Roboto"/>
                          <a:ea typeface="Roboto"/>
                          <a:cs typeface="Roboto"/>
                          <a:sym typeface="Roboto"/>
                        </a:rPr>
                        <a:t>A</a:t>
                      </a:r>
                      <a:endParaRPr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/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latin typeface="Roboto"/>
                          <a:ea typeface="Roboto"/>
                          <a:cs typeface="Roboto"/>
                          <a:sym typeface="Roboto"/>
                        </a:rPr>
                        <a:t>Direct</a:t>
                      </a:r>
                      <a:endParaRPr sz="12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/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latin typeface="Roboto"/>
                          <a:ea typeface="Roboto"/>
                          <a:cs typeface="Roboto"/>
                          <a:sym typeface="Roboto"/>
                        </a:rPr>
                        <a:t>1</a:t>
                      </a:r>
                      <a:endParaRPr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</a:tbl>
          </a:graphicData>
        </a:graphic>
      </p:graphicFrame>
      <p:graphicFrame>
        <p:nvGraphicFramePr>
          <p:cNvPr id="1635" name="Google Shape;1635;p103"/>
          <p:cNvGraphicFramePr/>
          <p:nvPr/>
        </p:nvGraphicFramePr>
        <p:xfrm>
          <a:off x="3997144" y="4232650"/>
          <a:ext cx="1835500" cy="688770"/>
        </p:xfrm>
        <a:graphic>
          <a:graphicData uri="http://schemas.openxmlformats.org/drawingml/2006/table">
            <a:tbl>
              <a:tblPr>
                <a:noFill/>
              </a:tblPr>
              <a:tblGrid>
                <a:gridCol w="5448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9707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79362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121925">
                <a:tc gridSpan="3"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latin typeface="Roboto"/>
                          <a:ea typeface="Roboto"/>
                          <a:cs typeface="Roboto"/>
                          <a:sym typeface="Roboto"/>
                        </a:rPr>
                        <a:t>R2's Table</a:t>
                      </a:r>
                      <a:endParaRPr sz="12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>
                    <a:solidFill>
                      <a:srgbClr val="FFFFFF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21925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latin typeface="Roboto"/>
                          <a:ea typeface="Roboto"/>
                          <a:cs typeface="Roboto"/>
                          <a:sym typeface="Roboto"/>
                        </a:rPr>
                        <a:t>To:</a:t>
                      </a:r>
                      <a:endParaRPr sz="12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latin typeface="Roboto"/>
                          <a:ea typeface="Roboto"/>
                          <a:cs typeface="Roboto"/>
                          <a:sym typeface="Roboto"/>
                        </a:rPr>
                        <a:t>Via:</a:t>
                      </a:r>
                      <a:endParaRPr sz="12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latin typeface="Roboto"/>
                          <a:ea typeface="Roboto"/>
                          <a:cs typeface="Roboto"/>
                          <a:sym typeface="Roboto"/>
                        </a:rPr>
                        <a:t>Cost:</a:t>
                      </a:r>
                      <a:endParaRPr sz="12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21925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>
                    <a:solidFill>
                      <a:srgbClr val="F4CCCC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>
                    <a:solidFill>
                      <a:srgbClr val="F4CCCC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>
                    <a:solidFill>
                      <a:srgbClr val="F4CCC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</a:tbl>
          </a:graphicData>
        </a:graphic>
      </p:graphicFrame>
      <p:graphicFrame>
        <p:nvGraphicFramePr>
          <p:cNvPr id="1636" name="Google Shape;1636;p103"/>
          <p:cNvGraphicFramePr/>
          <p:nvPr/>
        </p:nvGraphicFramePr>
        <p:xfrm>
          <a:off x="6054544" y="4232650"/>
          <a:ext cx="1835500" cy="688770"/>
        </p:xfrm>
        <a:graphic>
          <a:graphicData uri="http://schemas.openxmlformats.org/drawingml/2006/table">
            <a:tbl>
              <a:tblPr>
                <a:noFill/>
              </a:tblPr>
              <a:tblGrid>
                <a:gridCol w="5448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9707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79362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121925">
                <a:tc gridSpan="3"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latin typeface="Roboto"/>
                          <a:ea typeface="Roboto"/>
                          <a:cs typeface="Roboto"/>
                          <a:sym typeface="Roboto"/>
                        </a:rPr>
                        <a:t>R3's Table</a:t>
                      </a:r>
                      <a:endParaRPr sz="12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21925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latin typeface="Roboto"/>
                          <a:ea typeface="Roboto"/>
                          <a:cs typeface="Roboto"/>
                          <a:sym typeface="Roboto"/>
                        </a:rPr>
                        <a:t>To:</a:t>
                      </a:r>
                      <a:endParaRPr sz="12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/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latin typeface="Roboto"/>
                          <a:ea typeface="Roboto"/>
                          <a:cs typeface="Roboto"/>
                          <a:sym typeface="Roboto"/>
                        </a:rPr>
                        <a:t>Via:</a:t>
                      </a:r>
                      <a:endParaRPr sz="12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/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latin typeface="Roboto"/>
                          <a:ea typeface="Roboto"/>
                          <a:cs typeface="Roboto"/>
                          <a:sym typeface="Roboto"/>
                        </a:rPr>
                        <a:t>Cost:</a:t>
                      </a:r>
                      <a:endParaRPr sz="12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21925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latin typeface="Roboto"/>
                          <a:ea typeface="Roboto"/>
                          <a:cs typeface="Roboto"/>
                          <a:sym typeface="Roboto"/>
                        </a:rPr>
                        <a:t>A</a:t>
                      </a:r>
                      <a:endParaRPr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/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latin typeface="Roboto"/>
                          <a:ea typeface="Roboto"/>
                          <a:cs typeface="Roboto"/>
                          <a:sym typeface="Roboto"/>
                        </a:rPr>
                        <a:t>R2</a:t>
                      </a:r>
                      <a:endParaRPr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/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latin typeface="Roboto"/>
                          <a:ea typeface="Roboto"/>
                          <a:cs typeface="Roboto"/>
                          <a:sym typeface="Roboto"/>
                        </a:rPr>
                        <a:t>3</a:t>
                      </a:r>
                      <a:endParaRPr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</a:tbl>
          </a:graphicData>
        </a:graphic>
      </p:graphicFrame>
      <p:sp>
        <p:nvSpPr>
          <p:cNvPr id="1637" name="Google Shape;1637;p103"/>
          <p:cNvSpPr txBox="1"/>
          <p:nvPr/>
        </p:nvSpPr>
        <p:spPr>
          <a:xfrm>
            <a:off x="657600" y="2738925"/>
            <a:ext cx="6438900" cy="486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27425" tIns="27425" rIns="27425" bIns="27425" anchor="t" anchorCtr="0">
            <a:sp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A link goes down, and R2's entry expires (no more updates from R1).</a:t>
            </a:r>
            <a:endParaRPr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What happens now?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6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1642" name="Google Shape;1642;p104"/>
          <p:cNvCxnSpPr>
            <a:stCxn id="1643" idx="3"/>
            <a:endCxn id="1644" idx="1"/>
          </p:cNvCxnSpPr>
          <p:nvPr/>
        </p:nvCxnSpPr>
        <p:spPr>
          <a:xfrm>
            <a:off x="3000000" y="3858400"/>
            <a:ext cx="1772400" cy="0"/>
          </a:xfrm>
          <a:prstGeom prst="straightConnector1">
            <a:avLst/>
          </a:prstGeom>
          <a:noFill/>
          <a:ln w="19050" cap="flat" cmpd="sng">
            <a:solidFill>
              <a:srgbClr val="D9D9D9"/>
            </a:solidFill>
            <a:prstDash val="dash"/>
            <a:round/>
            <a:headEnd type="none" w="med" len="med"/>
            <a:tailEnd type="none" w="med" len="med"/>
          </a:ln>
        </p:spPr>
      </p:cxnSp>
      <p:sp>
        <p:nvSpPr>
          <p:cNvPr id="1645" name="Google Shape;1645;p104"/>
          <p:cNvSpPr txBox="1">
            <a:spLocks noGrp="1"/>
          </p:cNvSpPr>
          <p:nvPr>
            <p:ph type="title"/>
          </p:nvPr>
        </p:nvSpPr>
        <p:spPr>
          <a:xfrm>
            <a:off x="0" y="0"/>
            <a:ext cx="9144000" cy="39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accent3"/>
                </a:solidFill>
              </a:rPr>
              <a:t>Poison Reverse</a:t>
            </a:r>
            <a:endParaRPr/>
          </a:p>
        </p:txBody>
      </p:sp>
      <p:sp>
        <p:nvSpPr>
          <p:cNvPr id="1643" name="Google Shape;1643;p104"/>
          <p:cNvSpPr/>
          <p:nvPr/>
        </p:nvSpPr>
        <p:spPr>
          <a:xfrm>
            <a:off x="2715000" y="3715900"/>
            <a:ext cx="285000" cy="285000"/>
          </a:xfrm>
          <a:prstGeom prst="rect">
            <a:avLst/>
          </a:prstGeom>
          <a:solidFill>
            <a:srgbClr val="FFFFFF"/>
          </a:solidFill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R1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646" name="Google Shape;1646;p104"/>
          <p:cNvSpPr/>
          <p:nvPr/>
        </p:nvSpPr>
        <p:spPr>
          <a:xfrm>
            <a:off x="657588" y="3715900"/>
            <a:ext cx="285000" cy="285000"/>
          </a:xfrm>
          <a:prstGeom prst="ellipse">
            <a:avLst/>
          </a:prstGeom>
          <a:solidFill>
            <a:srgbClr val="FFFFFF"/>
          </a:solidFill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A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1647" name="Google Shape;1647;p104"/>
          <p:cNvCxnSpPr>
            <a:stCxn id="1646" idx="6"/>
            <a:endCxn id="1643" idx="1"/>
          </p:cNvCxnSpPr>
          <p:nvPr/>
        </p:nvCxnSpPr>
        <p:spPr>
          <a:xfrm>
            <a:off x="942588" y="3858400"/>
            <a:ext cx="1772400" cy="0"/>
          </a:xfrm>
          <a:prstGeom prst="straightConnector1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1644" name="Google Shape;1644;p104"/>
          <p:cNvSpPr/>
          <p:nvPr/>
        </p:nvSpPr>
        <p:spPr>
          <a:xfrm>
            <a:off x="4772400" y="3715900"/>
            <a:ext cx="285000" cy="285000"/>
          </a:xfrm>
          <a:prstGeom prst="rect">
            <a:avLst/>
          </a:prstGeom>
          <a:solidFill>
            <a:srgbClr val="FFFFFF"/>
          </a:solidFill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R2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648" name="Google Shape;1648;p104"/>
          <p:cNvSpPr/>
          <p:nvPr/>
        </p:nvSpPr>
        <p:spPr>
          <a:xfrm>
            <a:off x="6829800" y="3715900"/>
            <a:ext cx="285000" cy="285000"/>
          </a:xfrm>
          <a:prstGeom prst="rect">
            <a:avLst/>
          </a:prstGeom>
          <a:solidFill>
            <a:srgbClr val="FFFFFF"/>
          </a:solidFill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R3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1649" name="Google Shape;1649;p104"/>
          <p:cNvCxnSpPr>
            <a:stCxn id="1644" idx="3"/>
            <a:endCxn id="1648" idx="1"/>
          </p:cNvCxnSpPr>
          <p:nvPr/>
        </p:nvCxnSpPr>
        <p:spPr>
          <a:xfrm>
            <a:off x="5057400" y="3858400"/>
            <a:ext cx="1772400" cy="0"/>
          </a:xfrm>
          <a:prstGeom prst="straightConnector1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med" len="med"/>
            <a:tailEnd type="none" w="med" len="med"/>
          </a:ln>
        </p:spPr>
      </p:cxnSp>
      <p:graphicFrame>
        <p:nvGraphicFramePr>
          <p:cNvPr id="1650" name="Google Shape;1650;p104"/>
          <p:cNvGraphicFramePr/>
          <p:nvPr/>
        </p:nvGraphicFramePr>
        <p:xfrm>
          <a:off x="1939744" y="4232650"/>
          <a:ext cx="1835500" cy="688770"/>
        </p:xfrm>
        <a:graphic>
          <a:graphicData uri="http://schemas.openxmlformats.org/drawingml/2006/table">
            <a:tbl>
              <a:tblPr>
                <a:noFill/>
              </a:tblPr>
              <a:tblGrid>
                <a:gridCol w="5448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9707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79362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121925">
                <a:tc gridSpan="3"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latin typeface="Roboto"/>
                          <a:ea typeface="Roboto"/>
                          <a:cs typeface="Roboto"/>
                          <a:sym typeface="Roboto"/>
                        </a:rPr>
                        <a:t>R1's Table</a:t>
                      </a:r>
                      <a:endParaRPr sz="12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21925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latin typeface="Roboto"/>
                          <a:ea typeface="Roboto"/>
                          <a:cs typeface="Roboto"/>
                          <a:sym typeface="Roboto"/>
                        </a:rPr>
                        <a:t>To:</a:t>
                      </a:r>
                      <a:endParaRPr sz="12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/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latin typeface="Roboto"/>
                          <a:ea typeface="Roboto"/>
                          <a:cs typeface="Roboto"/>
                          <a:sym typeface="Roboto"/>
                        </a:rPr>
                        <a:t>Via:</a:t>
                      </a:r>
                      <a:endParaRPr sz="12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/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latin typeface="Roboto"/>
                          <a:ea typeface="Roboto"/>
                          <a:cs typeface="Roboto"/>
                          <a:sym typeface="Roboto"/>
                        </a:rPr>
                        <a:t>Cost:</a:t>
                      </a:r>
                      <a:endParaRPr sz="12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21925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latin typeface="Roboto"/>
                          <a:ea typeface="Roboto"/>
                          <a:cs typeface="Roboto"/>
                          <a:sym typeface="Roboto"/>
                        </a:rPr>
                        <a:t>A</a:t>
                      </a:r>
                      <a:endParaRPr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/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latin typeface="Roboto"/>
                          <a:ea typeface="Roboto"/>
                          <a:cs typeface="Roboto"/>
                          <a:sym typeface="Roboto"/>
                        </a:rPr>
                        <a:t>Direct</a:t>
                      </a:r>
                      <a:endParaRPr sz="12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/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latin typeface="Roboto"/>
                          <a:ea typeface="Roboto"/>
                          <a:cs typeface="Roboto"/>
                          <a:sym typeface="Roboto"/>
                        </a:rPr>
                        <a:t>1</a:t>
                      </a:r>
                      <a:endParaRPr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</a:tbl>
          </a:graphicData>
        </a:graphic>
      </p:graphicFrame>
      <p:graphicFrame>
        <p:nvGraphicFramePr>
          <p:cNvPr id="1651" name="Google Shape;1651;p104"/>
          <p:cNvGraphicFramePr/>
          <p:nvPr/>
        </p:nvGraphicFramePr>
        <p:xfrm>
          <a:off x="3997144" y="4232650"/>
          <a:ext cx="1835500" cy="688770"/>
        </p:xfrm>
        <a:graphic>
          <a:graphicData uri="http://schemas.openxmlformats.org/drawingml/2006/table">
            <a:tbl>
              <a:tblPr>
                <a:noFill/>
              </a:tblPr>
              <a:tblGrid>
                <a:gridCol w="5448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9707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79362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121925">
                <a:tc gridSpan="3"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latin typeface="Roboto"/>
                          <a:ea typeface="Roboto"/>
                          <a:cs typeface="Roboto"/>
                          <a:sym typeface="Roboto"/>
                        </a:rPr>
                        <a:t>R2's Table</a:t>
                      </a:r>
                      <a:endParaRPr sz="12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>
                    <a:solidFill>
                      <a:srgbClr val="FFFFFF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21925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latin typeface="Roboto"/>
                          <a:ea typeface="Roboto"/>
                          <a:cs typeface="Roboto"/>
                          <a:sym typeface="Roboto"/>
                        </a:rPr>
                        <a:t>To:</a:t>
                      </a:r>
                      <a:endParaRPr sz="12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latin typeface="Roboto"/>
                          <a:ea typeface="Roboto"/>
                          <a:cs typeface="Roboto"/>
                          <a:sym typeface="Roboto"/>
                        </a:rPr>
                        <a:t>Via:</a:t>
                      </a:r>
                      <a:endParaRPr sz="12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latin typeface="Roboto"/>
                          <a:ea typeface="Roboto"/>
                          <a:cs typeface="Roboto"/>
                          <a:sym typeface="Roboto"/>
                        </a:rPr>
                        <a:t>Cost:</a:t>
                      </a:r>
                      <a:endParaRPr sz="12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21925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/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/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</a:tbl>
          </a:graphicData>
        </a:graphic>
      </p:graphicFrame>
      <p:graphicFrame>
        <p:nvGraphicFramePr>
          <p:cNvPr id="1652" name="Google Shape;1652;p104"/>
          <p:cNvGraphicFramePr/>
          <p:nvPr/>
        </p:nvGraphicFramePr>
        <p:xfrm>
          <a:off x="6054544" y="4232650"/>
          <a:ext cx="1835500" cy="688770"/>
        </p:xfrm>
        <a:graphic>
          <a:graphicData uri="http://schemas.openxmlformats.org/drawingml/2006/table">
            <a:tbl>
              <a:tblPr>
                <a:noFill/>
              </a:tblPr>
              <a:tblGrid>
                <a:gridCol w="5448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9707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79362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121925">
                <a:tc gridSpan="3"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latin typeface="Roboto"/>
                          <a:ea typeface="Roboto"/>
                          <a:cs typeface="Roboto"/>
                          <a:sym typeface="Roboto"/>
                        </a:rPr>
                        <a:t>R3's Table</a:t>
                      </a:r>
                      <a:endParaRPr sz="12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21925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latin typeface="Roboto"/>
                          <a:ea typeface="Roboto"/>
                          <a:cs typeface="Roboto"/>
                          <a:sym typeface="Roboto"/>
                        </a:rPr>
                        <a:t>To:</a:t>
                      </a:r>
                      <a:endParaRPr sz="12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/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latin typeface="Roboto"/>
                          <a:ea typeface="Roboto"/>
                          <a:cs typeface="Roboto"/>
                          <a:sym typeface="Roboto"/>
                        </a:rPr>
                        <a:t>Via:</a:t>
                      </a:r>
                      <a:endParaRPr sz="12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/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latin typeface="Roboto"/>
                          <a:ea typeface="Roboto"/>
                          <a:cs typeface="Roboto"/>
                          <a:sym typeface="Roboto"/>
                        </a:rPr>
                        <a:t>Cost:</a:t>
                      </a:r>
                      <a:endParaRPr sz="12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21925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latin typeface="Roboto"/>
                          <a:ea typeface="Roboto"/>
                          <a:cs typeface="Roboto"/>
                          <a:sym typeface="Roboto"/>
                        </a:rPr>
                        <a:t>A</a:t>
                      </a:r>
                      <a:endParaRPr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/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latin typeface="Roboto"/>
                          <a:ea typeface="Roboto"/>
                          <a:cs typeface="Roboto"/>
                          <a:sym typeface="Roboto"/>
                        </a:rPr>
                        <a:t>R2</a:t>
                      </a:r>
                      <a:endParaRPr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/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latin typeface="Roboto"/>
                          <a:ea typeface="Roboto"/>
                          <a:cs typeface="Roboto"/>
                          <a:sym typeface="Roboto"/>
                        </a:rPr>
                        <a:t>3</a:t>
                      </a:r>
                      <a:endParaRPr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</a:tbl>
          </a:graphicData>
        </a:graphic>
      </p:graphicFrame>
      <p:cxnSp>
        <p:nvCxnSpPr>
          <p:cNvPr id="1653" name="Google Shape;1653;p104"/>
          <p:cNvCxnSpPr/>
          <p:nvPr/>
        </p:nvCxnSpPr>
        <p:spPr>
          <a:xfrm>
            <a:off x="5246845" y="3756475"/>
            <a:ext cx="1393500" cy="0"/>
          </a:xfrm>
          <a:prstGeom prst="straightConnector1">
            <a:avLst/>
          </a:prstGeom>
          <a:noFill/>
          <a:ln w="19050" cap="flat" cmpd="sng">
            <a:solidFill>
              <a:schemeClr val="accent2"/>
            </a:solidFill>
            <a:prstDash val="solid"/>
            <a:round/>
            <a:headEnd type="triangle" w="med" len="med"/>
            <a:tailEnd type="none" w="med" len="med"/>
          </a:ln>
        </p:spPr>
      </p:cxnSp>
      <p:sp>
        <p:nvSpPr>
          <p:cNvPr id="1654" name="Google Shape;1654;p104"/>
          <p:cNvSpPr/>
          <p:nvPr/>
        </p:nvSpPr>
        <p:spPr>
          <a:xfrm>
            <a:off x="5393400" y="2920750"/>
            <a:ext cx="1100400" cy="733800"/>
          </a:xfrm>
          <a:prstGeom prst="roundRect">
            <a:avLst>
              <a:gd name="adj" fmla="val 16667"/>
            </a:avLst>
          </a:prstGeom>
          <a:solidFill>
            <a:srgbClr val="F4CCCC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I'm </a:t>
            </a:r>
            <a:r>
              <a:rPr lang="en" b="1">
                <a:latin typeface="Roboto"/>
                <a:ea typeface="Roboto"/>
                <a:cs typeface="Roboto"/>
                <a:sym typeface="Roboto"/>
              </a:rPr>
              <a:t>R3</a:t>
            </a:r>
            <a:r>
              <a:rPr lang="en">
                <a:latin typeface="Roboto"/>
                <a:ea typeface="Roboto"/>
                <a:cs typeface="Roboto"/>
                <a:sym typeface="Roboto"/>
              </a:rPr>
              <a:t>, and </a:t>
            </a:r>
            <a:r>
              <a:rPr lang="en" b="1">
                <a:latin typeface="Roboto"/>
                <a:ea typeface="Roboto"/>
                <a:cs typeface="Roboto"/>
                <a:sym typeface="Roboto"/>
              </a:rPr>
              <a:t>A</a:t>
            </a:r>
            <a:r>
              <a:rPr lang="en">
                <a:latin typeface="Roboto"/>
                <a:ea typeface="Roboto"/>
                <a:cs typeface="Roboto"/>
                <a:sym typeface="Roboto"/>
              </a:rPr>
              <a:t> is </a:t>
            </a:r>
            <a:r>
              <a:rPr lang="en" b="1">
                <a:latin typeface="Roboto"/>
                <a:ea typeface="Roboto"/>
                <a:cs typeface="Roboto"/>
                <a:sym typeface="Roboto"/>
              </a:rPr>
              <a:t>∞</a:t>
            </a:r>
            <a:r>
              <a:rPr lang="en">
                <a:latin typeface="Roboto"/>
                <a:ea typeface="Roboto"/>
                <a:cs typeface="Roboto"/>
                <a:sym typeface="Roboto"/>
              </a:rPr>
              <a:t> away from me.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655" name="Google Shape;1655;p104"/>
          <p:cNvSpPr/>
          <p:nvPr/>
        </p:nvSpPr>
        <p:spPr>
          <a:xfrm>
            <a:off x="2888650" y="2856400"/>
            <a:ext cx="2341200" cy="553800"/>
          </a:xfrm>
          <a:prstGeom prst="wedgeRoundRectCallout">
            <a:avLst>
              <a:gd name="adj1" fmla="val 37452"/>
              <a:gd name="adj2" fmla="val 89210"/>
              <a:gd name="adj3" fmla="val 0"/>
            </a:avLst>
          </a:prstGeom>
          <a:noFill/>
          <a:ln w="9525" cap="flat" cmpd="sng">
            <a:solidFill>
              <a:schemeClr val="accent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accent2"/>
                </a:solidFill>
                <a:latin typeface="Roboto"/>
                <a:ea typeface="Roboto"/>
                <a:cs typeface="Roboto"/>
                <a:sym typeface="Roboto"/>
              </a:rPr>
              <a:t>My table's empty, so that sounds good to me.</a:t>
            </a:r>
            <a:endParaRPr>
              <a:solidFill>
                <a:schemeClr val="accent2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graphicFrame>
        <p:nvGraphicFramePr>
          <p:cNvPr id="1656" name="Google Shape;1656;p104"/>
          <p:cNvGraphicFramePr/>
          <p:nvPr/>
        </p:nvGraphicFramePr>
        <p:xfrm>
          <a:off x="3997144" y="4232650"/>
          <a:ext cx="1835500" cy="688770"/>
        </p:xfrm>
        <a:graphic>
          <a:graphicData uri="http://schemas.openxmlformats.org/drawingml/2006/table">
            <a:tbl>
              <a:tblPr>
                <a:noFill/>
              </a:tblPr>
              <a:tblGrid>
                <a:gridCol w="5448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9707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79362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121925">
                <a:tc gridSpan="3"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latin typeface="Roboto"/>
                          <a:ea typeface="Roboto"/>
                          <a:cs typeface="Roboto"/>
                          <a:sym typeface="Roboto"/>
                        </a:rPr>
                        <a:t>R2's Table</a:t>
                      </a:r>
                      <a:endParaRPr sz="12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>
                    <a:solidFill>
                      <a:srgbClr val="FFFFFF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21925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latin typeface="Roboto"/>
                          <a:ea typeface="Roboto"/>
                          <a:cs typeface="Roboto"/>
                          <a:sym typeface="Roboto"/>
                        </a:rPr>
                        <a:t>To:</a:t>
                      </a:r>
                      <a:endParaRPr sz="12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latin typeface="Roboto"/>
                          <a:ea typeface="Roboto"/>
                          <a:cs typeface="Roboto"/>
                          <a:sym typeface="Roboto"/>
                        </a:rPr>
                        <a:t>Via:</a:t>
                      </a:r>
                      <a:endParaRPr sz="12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latin typeface="Roboto"/>
                          <a:ea typeface="Roboto"/>
                          <a:cs typeface="Roboto"/>
                          <a:sym typeface="Roboto"/>
                        </a:rPr>
                        <a:t>Cost:</a:t>
                      </a:r>
                      <a:endParaRPr sz="12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21925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b="1">
                          <a:latin typeface="Roboto"/>
                          <a:ea typeface="Roboto"/>
                          <a:cs typeface="Roboto"/>
                          <a:sym typeface="Roboto"/>
                        </a:rPr>
                        <a:t>A</a:t>
                      </a:r>
                      <a:endParaRPr b="1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>
                    <a:solidFill>
                      <a:srgbClr val="F4CCCC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b="1">
                          <a:latin typeface="Roboto"/>
                          <a:ea typeface="Roboto"/>
                          <a:cs typeface="Roboto"/>
                          <a:sym typeface="Roboto"/>
                        </a:rPr>
                        <a:t>R3</a:t>
                      </a:r>
                      <a:endParaRPr b="1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>
                    <a:solidFill>
                      <a:srgbClr val="F4CCCC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b="1">
                          <a:latin typeface="Roboto"/>
                          <a:ea typeface="Roboto"/>
                          <a:cs typeface="Roboto"/>
                          <a:sym typeface="Roboto"/>
                        </a:rPr>
                        <a:t>∞</a:t>
                      </a:r>
                      <a:endParaRPr b="1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>
                    <a:solidFill>
                      <a:srgbClr val="F4CCC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</a:tbl>
          </a:graphicData>
        </a:graphic>
      </p:graphicFrame>
      <p:sp>
        <p:nvSpPr>
          <p:cNvPr id="1657" name="Google Shape;1657;p104"/>
          <p:cNvSpPr txBox="1">
            <a:spLocks noGrp="1"/>
          </p:cNvSpPr>
          <p:nvPr>
            <p:ph type="body" idx="1"/>
          </p:nvPr>
        </p:nvSpPr>
        <p:spPr>
          <a:xfrm>
            <a:off x="107050" y="402200"/>
            <a:ext cx="8909700" cy="12381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"/>
              <a:t>R2's table now explicitly says: Do not send packets to R3.</a:t>
            </a:r>
            <a:endParaRPr/>
          </a:p>
          <a:p>
            <a:pPr marL="457200" lvl="0" indent="-342900" algn="l" rtl="0">
              <a:spcBef>
                <a:spcPts val="60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Because R3 would just send the packet back to R2.</a:t>
            </a:r>
            <a:endParaRPr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5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5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6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62" name="Google Shape;1662;p105"/>
          <p:cNvSpPr txBox="1">
            <a:spLocks noGrp="1"/>
          </p:cNvSpPr>
          <p:nvPr>
            <p:ph type="title"/>
          </p:nvPr>
        </p:nvSpPr>
        <p:spPr>
          <a:xfrm>
            <a:off x="0" y="0"/>
            <a:ext cx="9144000" cy="39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Poison Reverse vs. Split Horizon</a:t>
            </a:r>
            <a:endParaRPr/>
          </a:p>
        </p:txBody>
      </p:sp>
      <p:sp>
        <p:nvSpPr>
          <p:cNvPr id="1663" name="Google Shape;1663;p105"/>
          <p:cNvSpPr txBox="1">
            <a:spLocks noGrp="1"/>
          </p:cNvSpPr>
          <p:nvPr>
            <p:ph type="body" idx="1"/>
          </p:nvPr>
        </p:nvSpPr>
        <p:spPr>
          <a:xfrm>
            <a:off x="107050" y="402200"/>
            <a:ext cx="8909700" cy="18015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"/>
              <a:t>Suppose we end up with a routing loop somehow.</a:t>
            </a:r>
            <a:endParaRPr/>
          </a:p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"/>
              <a:t>Split horizon: No poison is sent.</a:t>
            </a:r>
            <a:endParaRPr/>
          </a:p>
          <a:p>
            <a:pPr marL="457200" lvl="0" indent="-342900" algn="l" rtl="0">
              <a:spcBef>
                <a:spcPts val="60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Loop stays until the routes expire.</a:t>
            </a:r>
            <a:endParaRPr/>
          </a:p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endParaRPr/>
          </a:p>
        </p:txBody>
      </p:sp>
      <p:graphicFrame>
        <p:nvGraphicFramePr>
          <p:cNvPr id="1664" name="Google Shape;1664;p105"/>
          <p:cNvGraphicFramePr/>
          <p:nvPr/>
        </p:nvGraphicFramePr>
        <p:xfrm>
          <a:off x="2043944" y="4126825"/>
          <a:ext cx="1835500" cy="688770"/>
        </p:xfrm>
        <a:graphic>
          <a:graphicData uri="http://schemas.openxmlformats.org/drawingml/2006/table">
            <a:tbl>
              <a:tblPr>
                <a:noFill/>
              </a:tblPr>
              <a:tblGrid>
                <a:gridCol w="5448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9707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79362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121925">
                <a:tc gridSpan="3"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latin typeface="Roboto"/>
                          <a:ea typeface="Roboto"/>
                          <a:cs typeface="Roboto"/>
                          <a:sym typeface="Roboto"/>
                        </a:rPr>
                        <a:t>R2's Table</a:t>
                      </a:r>
                      <a:endParaRPr sz="12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>
                    <a:solidFill>
                      <a:srgbClr val="FFFFFF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21925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latin typeface="Roboto"/>
                          <a:ea typeface="Roboto"/>
                          <a:cs typeface="Roboto"/>
                          <a:sym typeface="Roboto"/>
                        </a:rPr>
                        <a:t>To:</a:t>
                      </a:r>
                      <a:endParaRPr sz="12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latin typeface="Roboto"/>
                          <a:ea typeface="Roboto"/>
                          <a:cs typeface="Roboto"/>
                          <a:sym typeface="Roboto"/>
                        </a:rPr>
                        <a:t>Via:</a:t>
                      </a:r>
                      <a:endParaRPr sz="12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latin typeface="Roboto"/>
                          <a:ea typeface="Roboto"/>
                          <a:cs typeface="Roboto"/>
                          <a:sym typeface="Roboto"/>
                        </a:rPr>
                        <a:t>Cost:</a:t>
                      </a:r>
                      <a:endParaRPr sz="12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21925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latin typeface="Roboto"/>
                          <a:ea typeface="Roboto"/>
                          <a:cs typeface="Roboto"/>
                          <a:sym typeface="Roboto"/>
                        </a:rPr>
                        <a:t>A</a:t>
                      </a:r>
                      <a:endParaRPr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latin typeface="Roboto"/>
                          <a:ea typeface="Roboto"/>
                          <a:cs typeface="Roboto"/>
                          <a:sym typeface="Roboto"/>
                        </a:rPr>
                        <a:t>R3</a:t>
                      </a:r>
                      <a:endParaRPr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latin typeface="Roboto"/>
                          <a:ea typeface="Roboto"/>
                          <a:cs typeface="Roboto"/>
                          <a:sym typeface="Roboto"/>
                        </a:rPr>
                        <a:t>4</a:t>
                      </a:r>
                      <a:endParaRPr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</a:tbl>
          </a:graphicData>
        </a:graphic>
      </p:graphicFrame>
      <p:sp>
        <p:nvSpPr>
          <p:cNvPr id="1665" name="Google Shape;1665;p105"/>
          <p:cNvSpPr/>
          <p:nvPr/>
        </p:nvSpPr>
        <p:spPr>
          <a:xfrm>
            <a:off x="2819200" y="3610075"/>
            <a:ext cx="285000" cy="285000"/>
          </a:xfrm>
          <a:prstGeom prst="rect">
            <a:avLst/>
          </a:prstGeom>
          <a:solidFill>
            <a:srgbClr val="FFFFFF"/>
          </a:solidFill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R2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666" name="Google Shape;1666;p105"/>
          <p:cNvSpPr/>
          <p:nvPr/>
        </p:nvSpPr>
        <p:spPr>
          <a:xfrm>
            <a:off x="6019600" y="3610075"/>
            <a:ext cx="285000" cy="285000"/>
          </a:xfrm>
          <a:prstGeom prst="rect">
            <a:avLst/>
          </a:prstGeom>
          <a:solidFill>
            <a:srgbClr val="FFFFFF"/>
          </a:solidFill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R3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1667" name="Google Shape;1667;p105"/>
          <p:cNvCxnSpPr>
            <a:stCxn id="1665" idx="3"/>
            <a:endCxn id="1666" idx="1"/>
          </p:cNvCxnSpPr>
          <p:nvPr/>
        </p:nvCxnSpPr>
        <p:spPr>
          <a:xfrm>
            <a:off x="3104200" y="3752575"/>
            <a:ext cx="2915400" cy="0"/>
          </a:xfrm>
          <a:prstGeom prst="straightConnector1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med" len="med"/>
            <a:tailEnd type="none" w="med" len="med"/>
          </a:ln>
        </p:spPr>
      </p:cxnSp>
      <p:graphicFrame>
        <p:nvGraphicFramePr>
          <p:cNvPr id="1668" name="Google Shape;1668;p105"/>
          <p:cNvGraphicFramePr/>
          <p:nvPr/>
        </p:nvGraphicFramePr>
        <p:xfrm>
          <a:off x="5244344" y="4126825"/>
          <a:ext cx="1835500" cy="688770"/>
        </p:xfrm>
        <a:graphic>
          <a:graphicData uri="http://schemas.openxmlformats.org/drawingml/2006/table">
            <a:tbl>
              <a:tblPr>
                <a:noFill/>
              </a:tblPr>
              <a:tblGrid>
                <a:gridCol w="5448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9707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79362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121925">
                <a:tc gridSpan="3"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latin typeface="Roboto"/>
                          <a:ea typeface="Roboto"/>
                          <a:cs typeface="Roboto"/>
                          <a:sym typeface="Roboto"/>
                        </a:rPr>
                        <a:t>R3's Table</a:t>
                      </a:r>
                      <a:endParaRPr sz="12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21925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latin typeface="Roboto"/>
                          <a:ea typeface="Roboto"/>
                          <a:cs typeface="Roboto"/>
                          <a:sym typeface="Roboto"/>
                        </a:rPr>
                        <a:t>To:</a:t>
                      </a:r>
                      <a:endParaRPr sz="12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/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latin typeface="Roboto"/>
                          <a:ea typeface="Roboto"/>
                          <a:cs typeface="Roboto"/>
                          <a:sym typeface="Roboto"/>
                        </a:rPr>
                        <a:t>Via:</a:t>
                      </a:r>
                      <a:endParaRPr sz="12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/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latin typeface="Roboto"/>
                          <a:ea typeface="Roboto"/>
                          <a:cs typeface="Roboto"/>
                          <a:sym typeface="Roboto"/>
                        </a:rPr>
                        <a:t>Cost:</a:t>
                      </a:r>
                      <a:endParaRPr sz="12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21925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latin typeface="Roboto"/>
                          <a:ea typeface="Roboto"/>
                          <a:cs typeface="Roboto"/>
                          <a:sym typeface="Roboto"/>
                        </a:rPr>
                        <a:t>A</a:t>
                      </a:r>
                      <a:endParaRPr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/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latin typeface="Roboto"/>
                          <a:ea typeface="Roboto"/>
                          <a:cs typeface="Roboto"/>
                          <a:sym typeface="Roboto"/>
                        </a:rPr>
                        <a:t>R2</a:t>
                      </a:r>
                      <a:endParaRPr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/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latin typeface="Roboto"/>
                          <a:ea typeface="Roboto"/>
                          <a:cs typeface="Roboto"/>
                          <a:sym typeface="Roboto"/>
                        </a:rPr>
                        <a:t>3</a:t>
                      </a:r>
                      <a:endParaRPr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</a:tbl>
          </a:graphicData>
        </a:graphic>
      </p:graphicFrame>
      <p:sp>
        <p:nvSpPr>
          <p:cNvPr id="1669" name="Google Shape;1669;p105"/>
          <p:cNvSpPr/>
          <p:nvPr/>
        </p:nvSpPr>
        <p:spPr>
          <a:xfrm>
            <a:off x="696600" y="2957025"/>
            <a:ext cx="2054400" cy="552900"/>
          </a:xfrm>
          <a:prstGeom prst="wedgeRoundRectCallout">
            <a:avLst>
              <a:gd name="adj1" fmla="val 59886"/>
              <a:gd name="adj2" fmla="val 52885"/>
              <a:gd name="adj3" fmla="val 0"/>
            </a:avLst>
          </a:prstGeom>
          <a:noFill/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I got this route from R3, so don't send it to R3.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670" name="Google Shape;1670;p105"/>
          <p:cNvSpPr/>
          <p:nvPr/>
        </p:nvSpPr>
        <p:spPr>
          <a:xfrm>
            <a:off x="6286225" y="2957025"/>
            <a:ext cx="2054400" cy="552900"/>
          </a:xfrm>
          <a:prstGeom prst="wedgeRoundRectCallout">
            <a:avLst>
              <a:gd name="adj1" fmla="val -58083"/>
              <a:gd name="adj2" fmla="val 50276"/>
              <a:gd name="adj3" fmla="val 0"/>
            </a:avLst>
          </a:prstGeom>
          <a:noFill/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I got this route from R2, so don't send it to R2.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</p:spTree>
  </p:cSld>
  <p:clrMapOvr>
    <a:masterClrMapping/>
  </p:clrMapOvr>
</p:sld>
</file>

<file path=ppt/slides/slide8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6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5" name="Google Shape;1675;p106"/>
          <p:cNvSpPr txBox="1">
            <a:spLocks noGrp="1"/>
          </p:cNvSpPr>
          <p:nvPr>
            <p:ph type="title"/>
          </p:nvPr>
        </p:nvSpPr>
        <p:spPr>
          <a:xfrm>
            <a:off x="0" y="0"/>
            <a:ext cx="9144000" cy="39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Poison Reverse vs. Split Horizon</a:t>
            </a:r>
            <a:endParaRPr/>
          </a:p>
        </p:txBody>
      </p:sp>
      <p:sp>
        <p:nvSpPr>
          <p:cNvPr id="1676" name="Google Shape;1676;p106"/>
          <p:cNvSpPr txBox="1">
            <a:spLocks noGrp="1"/>
          </p:cNvSpPr>
          <p:nvPr>
            <p:ph type="body" idx="1"/>
          </p:nvPr>
        </p:nvSpPr>
        <p:spPr>
          <a:xfrm>
            <a:off x="107050" y="402200"/>
            <a:ext cx="8909700" cy="21045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"/>
              <a:t>Suppose we end up with a routing loop somehow.</a:t>
            </a:r>
            <a:endParaRPr/>
          </a:p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"/>
              <a:t>Poison reverse: R3 explicitly sends poison back to R2.</a:t>
            </a:r>
            <a:endParaRPr/>
          </a:p>
          <a:p>
            <a:pPr marL="457200" lvl="0" indent="-342900" algn="l" rtl="0">
              <a:spcBef>
                <a:spcPts val="60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Loop is immediately eliminated!</a:t>
            </a:r>
            <a:endParaRPr/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Faster than split horizon.</a:t>
            </a:r>
            <a:endParaRPr/>
          </a:p>
        </p:txBody>
      </p:sp>
      <p:graphicFrame>
        <p:nvGraphicFramePr>
          <p:cNvPr id="1677" name="Google Shape;1677;p106"/>
          <p:cNvGraphicFramePr/>
          <p:nvPr/>
        </p:nvGraphicFramePr>
        <p:xfrm>
          <a:off x="2043944" y="4126825"/>
          <a:ext cx="1835500" cy="688770"/>
        </p:xfrm>
        <a:graphic>
          <a:graphicData uri="http://schemas.openxmlformats.org/drawingml/2006/table">
            <a:tbl>
              <a:tblPr>
                <a:noFill/>
              </a:tblPr>
              <a:tblGrid>
                <a:gridCol w="5448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9707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79362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121925">
                <a:tc gridSpan="3"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latin typeface="Roboto"/>
                          <a:ea typeface="Roboto"/>
                          <a:cs typeface="Roboto"/>
                          <a:sym typeface="Roboto"/>
                        </a:rPr>
                        <a:t>R2's Table</a:t>
                      </a:r>
                      <a:endParaRPr sz="12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>
                    <a:solidFill>
                      <a:srgbClr val="FFFFFF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21925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latin typeface="Roboto"/>
                          <a:ea typeface="Roboto"/>
                          <a:cs typeface="Roboto"/>
                          <a:sym typeface="Roboto"/>
                        </a:rPr>
                        <a:t>To:</a:t>
                      </a:r>
                      <a:endParaRPr sz="12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latin typeface="Roboto"/>
                          <a:ea typeface="Roboto"/>
                          <a:cs typeface="Roboto"/>
                          <a:sym typeface="Roboto"/>
                        </a:rPr>
                        <a:t>Via:</a:t>
                      </a:r>
                      <a:endParaRPr sz="12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latin typeface="Roboto"/>
                          <a:ea typeface="Roboto"/>
                          <a:cs typeface="Roboto"/>
                          <a:sym typeface="Roboto"/>
                        </a:rPr>
                        <a:t>Cost:</a:t>
                      </a:r>
                      <a:endParaRPr sz="12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21925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latin typeface="Roboto"/>
                          <a:ea typeface="Roboto"/>
                          <a:cs typeface="Roboto"/>
                          <a:sym typeface="Roboto"/>
                        </a:rPr>
                        <a:t>A</a:t>
                      </a:r>
                      <a:endParaRPr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latin typeface="Roboto"/>
                          <a:ea typeface="Roboto"/>
                          <a:cs typeface="Roboto"/>
                          <a:sym typeface="Roboto"/>
                        </a:rPr>
                        <a:t>R3</a:t>
                      </a:r>
                      <a:endParaRPr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latin typeface="Roboto"/>
                          <a:ea typeface="Roboto"/>
                          <a:cs typeface="Roboto"/>
                          <a:sym typeface="Roboto"/>
                        </a:rPr>
                        <a:t>4</a:t>
                      </a:r>
                      <a:endParaRPr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</a:tbl>
          </a:graphicData>
        </a:graphic>
      </p:graphicFrame>
      <p:sp>
        <p:nvSpPr>
          <p:cNvPr id="1678" name="Google Shape;1678;p106"/>
          <p:cNvSpPr/>
          <p:nvPr/>
        </p:nvSpPr>
        <p:spPr>
          <a:xfrm>
            <a:off x="2819200" y="3610075"/>
            <a:ext cx="285000" cy="285000"/>
          </a:xfrm>
          <a:prstGeom prst="rect">
            <a:avLst/>
          </a:prstGeom>
          <a:solidFill>
            <a:srgbClr val="FFFFFF"/>
          </a:solidFill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R2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679" name="Google Shape;1679;p106"/>
          <p:cNvSpPr/>
          <p:nvPr/>
        </p:nvSpPr>
        <p:spPr>
          <a:xfrm>
            <a:off x="6019600" y="3610075"/>
            <a:ext cx="285000" cy="285000"/>
          </a:xfrm>
          <a:prstGeom prst="rect">
            <a:avLst/>
          </a:prstGeom>
          <a:solidFill>
            <a:srgbClr val="FFFFFF"/>
          </a:solidFill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R3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1680" name="Google Shape;1680;p106"/>
          <p:cNvCxnSpPr>
            <a:stCxn id="1678" idx="3"/>
            <a:endCxn id="1679" idx="1"/>
          </p:cNvCxnSpPr>
          <p:nvPr/>
        </p:nvCxnSpPr>
        <p:spPr>
          <a:xfrm>
            <a:off x="3104200" y="3752575"/>
            <a:ext cx="2915400" cy="0"/>
          </a:xfrm>
          <a:prstGeom prst="straightConnector1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med" len="med"/>
            <a:tailEnd type="none" w="med" len="med"/>
          </a:ln>
        </p:spPr>
      </p:cxnSp>
      <p:graphicFrame>
        <p:nvGraphicFramePr>
          <p:cNvPr id="1681" name="Google Shape;1681;p106"/>
          <p:cNvGraphicFramePr/>
          <p:nvPr/>
        </p:nvGraphicFramePr>
        <p:xfrm>
          <a:off x="5244344" y="4126825"/>
          <a:ext cx="1835500" cy="688770"/>
        </p:xfrm>
        <a:graphic>
          <a:graphicData uri="http://schemas.openxmlformats.org/drawingml/2006/table">
            <a:tbl>
              <a:tblPr>
                <a:noFill/>
              </a:tblPr>
              <a:tblGrid>
                <a:gridCol w="5448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9707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79362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121925">
                <a:tc gridSpan="3"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latin typeface="Roboto"/>
                          <a:ea typeface="Roboto"/>
                          <a:cs typeface="Roboto"/>
                          <a:sym typeface="Roboto"/>
                        </a:rPr>
                        <a:t>R3's Table</a:t>
                      </a:r>
                      <a:endParaRPr sz="12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21925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latin typeface="Roboto"/>
                          <a:ea typeface="Roboto"/>
                          <a:cs typeface="Roboto"/>
                          <a:sym typeface="Roboto"/>
                        </a:rPr>
                        <a:t>To:</a:t>
                      </a:r>
                      <a:endParaRPr sz="12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/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latin typeface="Roboto"/>
                          <a:ea typeface="Roboto"/>
                          <a:cs typeface="Roboto"/>
                          <a:sym typeface="Roboto"/>
                        </a:rPr>
                        <a:t>Via:</a:t>
                      </a:r>
                      <a:endParaRPr sz="12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/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latin typeface="Roboto"/>
                          <a:ea typeface="Roboto"/>
                          <a:cs typeface="Roboto"/>
                          <a:sym typeface="Roboto"/>
                        </a:rPr>
                        <a:t>Cost:</a:t>
                      </a:r>
                      <a:endParaRPr sz="12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21925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latin typeface="Roboto"/>
                          <a:ea typeface="Roboto"/>
                          <a:cs typeface="Roboto"/>
                          <a:sym typeface="Roboto"/>
                        </a:rPr>
                        <a:t>A</a:t>
                      </a:r>
                      <a:endParaRPr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/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latin typeface="Roboto"/>
                          <a:ea typeface="Roboto"/>
                          <a:cs typeface="Roboto"/>
                          <a:sym typeface="Roboto"/>
                        </a:rPr>
                        <a:t>R2</a:t>
                      </a:r>
                      <a:endParaRPr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/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latin typeface="Roboto"/>
                          <a:ea typeface="Roboto"/>
                          <a:cs typeface="Roboto"/>
                          <a:sym typeface="Roboto"/>
                        </a:rPr>
                        <a:t>3</a:t>
                      </a:r>
                      <a:endParaRPr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</a:tbl>
          </a:graphicData>
        </a:graphic>
      </p:graphicFrame>
      <p:cxnSp>
        <p:nvCxnSpPr>
          <p:cNvPr id="1682" name="Google Shape;1682;p106"/>
          <p:cNvCxnSpPr/>
          <p:nvPr/>
        </p:nvCxnSpPr>
        <p:spPr>
          <a:xfrm>
            <a:off x="4561045" y="3658950"/>
            <a:ext cx="1393500" cy="0"/>
          </a:xfrm>
          <a:prstGeom prst="straightConnector1">
            <a:avLst/>
          </a:prstGeom>
          <a:noFill/>
          <a:ln w="19050" cap="flat" cmpd="sng">
            <a:solidFill>
              <a:schemeClr val="accent2"/>
            </a:solidFill>
            <a:prstDash val="solid"/>
            <a:round/>
            <a:headEnd type="triangle" w="med" len="med"/>
            <a:tailEnd type="none" w="med" len="med"/>
          </a:ln>
        </p:spPr>
      </p:cxnSp>
      <p:sp>
        <p:nvSpPr>
          <p:cNvPr id="1683" name="Google Shape;1683;p106"/>
          <p:cNvSpPr/>
          <p:nvPr/>
        </p:nvSpPr>
        <p:spPr>
          <a:xfrm>
            <a:off x="4707600" y="2823225"/>
            <a:ext cx="1100400" cy="733800"/>
          </a:xfrm>
          <a:prstGeom prst="roundRect">
            <a:avLst>
              <a:gd name="adj" fmla="val 16667"/>
            </a:avLst>
          </a:prstGeom>
          <a:solidFill>
            <a:srgbClr val="F4CCCC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I'm </a:t>
            </a:r>
            <a:r>
              <a:rPr lang="en" b="1">
                <a:latin typeface="Roboto"/>
                <a:ea typeface="Roboto"/>
                <a:cs typeface="Roboto"/>
                <a:sym typeface="Roboto"/>
              </a:rPr>
              <a:t>R3</a:t>
            </a:r>
            <a:r>
              <a:rPr lang="en">
                <a:latin typeface="Roboto"/>
                <a:ea typeface="Roboto"/>
                <a:cs typeface="Roboto"/>
                <a:sym typeface="Roboto"/>
              </a:rPr>
              <a:t>, and </a:t>
            </a:r>
            <a:r>
              <a:rPr lang="en" b="1">
                <a:latin typeface="Roboto"/>
                <a:ea typeface="Roboto"/>
                <a:cs typeface="Roboto"/>
                <a:sym typeface="Roboto"/>
              </a:rPr>
              <a:t>A</a:t>
            </a:r>
            <a:r>
              <a:rPr lang="en">
                <a:latin typeface="Roboto"/>
                <a:ea typeface="Roboto"/>
                <a:cs typeface="Roboto"/>
                <a:sym typeface="Roboto"/>
              </a:rPr>
              <a:t> is </a:t>
            </a:r>
            <a:r>
              <a:rPr lang="en" b="1">
                <a:latin typeface="Roboto"/>
                <a:ea typeface="Roboto"/>
                <a:cs typeface="Roboto"/>
                <a:sym typeface="Roboto"/>
              </a:rPr>
              <a:t>∞</a:t>
            </a:r>
            <a:r>
              <a:rPr lang="en">
                <a:latin typeface="Roboto"/>
                <a:ea typeface="Roboto"/>
                <a:cs typeface="Roboto"/>
                <a:sym typeface="Roboto"/>
              </a:rPr>
              <a:t> away from me.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684" name="Google Shape;1684;p106"/>
          <p:cNvSpPr/>
          <p:nvPr/>
        </p:nvSpPr>
        <p:spPr>
          <a:xfrm>
            <a:off x="1026275" y="2955900"/>
            <a:ext cx="1724700" cy="553800"/>
          </a:xfrm>
          <a:prstGeom prst="wedgeRoundRectCallout">
            <a:avLst>
              <a:gd name="adj1" fmla="val 59886"/>
              <a:gd name="adj2" fmla="val 52885"/>
              <a:gd name="adj3" fmla="val 0"/>
            </a:avLst>
          </a:prstGeom>
          <a:noFill/>
          <a:ln w="9525" cap="flat" cmpd="sng">
            <a:solidFill>
              <a:schemeClr val="accent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accent2"/>
                </a:solidFill>
                <a:latin typeface="Roboto"/>
                <a:ea typeface="Roboto"/>
                <a:cs typeface="Roboto"/>
                <a:sym typeface="Roboto"/>
              </a:rPr>
              <a:t>R3 is my next-hop, so I accept.</a:t>
            </a:r>
            <a:endParaRPr>
              <a:solidFill>
                <a:schemeClr val="accent2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graphicFrame>
        <p:nvGraphicFramePr>
          <p:cNvPr id="1685" name="Google Shape;1685;p106"/>
          <p:cNvGraphicFramePr/>
          <p:nvPr/>
        </p:nvGraphicFramePr>
        <p:xfrm>
          <a:off x="2043944" y="4126825"/>
          <a:ext cx="1835500" cy="688770"/>
        </p:xfrm>
        <a:graphic>
          <a:graphicData uri="http://schemas.openxmlformats.org/drawingml/2006/table">
            <a:tbl>
              <a:tblPr>
                <a:noFill/>
              </a:tblPr>
              <a:tblGrid>
                <a:gridCol w="5448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9707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79362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121925">
                <a:tc gridSpan="3"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latin typeface="Roboto"/>
                          <a:ea typeface="Roboto"/>
                          <a:cs typeface="Roboto"/>
                          <a:sym typeface="Roboto"/>
                        </a:rPr>
                        <a:t>R2's Table</a:t>
                      </a:r>
                      <a:endParaRPr sz="12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>
                    <a:solidFill>
                      <a:srgbClr val="FFFFFF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21925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latin typeface="Roboto"/>
                          <a:ea typeface="Roboto"/>
                          <a:cs typeface="Roboto"/>
                          <a:sym typeface="Roboto"/>
                        </a:rPr>
                        <a:t>To:</a:t>
                      </a:r>
                      <a:endParaRPr sz="12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latin typeface="Roboto"/>
                          <a:ea typeface="Roboto"/>
                          <a:cs typeface="Roboto"/>
                          <a:sym typeface="Roboto"/>
                        </a:rPr>
                        <a:t>Via:</a:t>
                      </a:r>
                      <a:endParaRPr sz="12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latin typeface="Roboto"/>
                          <a:ea typeface="Roboto"/>
                          <a:cs typeface="Roboto"/>
                          <a:sym typeface="Roboto"/>
                        </a:rPr>
                        <a:t>Cost:</a:t>
                      </a:r>
                      <a:endParaRPr sz="12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21925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b="1">
                          <a:latin typeface="Roboto"/>
                          <a:ea typeface="Roboto"/>
                          <a:cs typeface="Roboto"/>
                          <a:sym typeface="Roboto"/>
                        </a:rPr>
                        <a:t>A</a:t>
                      </a:r>
                      <a:endParaRPr b="1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>
                    <a:solidFill>
                      <a:srgbClr val="F4CCCC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b="1">
                          <a:latin typeface="Roboto"/>
                          <a:ea typeface="Roboto"/>
                          <a:cs typeface="Roboto"/>
                          <a:sym typeface="Roboto"/>
                        </a:rPr>
                        <a:t>R3</a:t>
                      </a:r>
                      <a:endParaRPr b="1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>
                    <a:solidFill>
                      <a:srgbClr val="F4CCCC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lang="en" b="1">
                          <a:solidFill>
                            <a:schemeClr val="dk1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∞</a:t>
                      </a:r>
                      <a:endParaRPr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>
                    <a:solidFill>
                      <a:srgbClr val="F4CCC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</a:tbl>
          </a:graphicData>
        </a:graphic>
      </p:graphicFrame>
      <p:sp>
        <p:nvSpPr>
          <p:cNvPr id="1686" name="Google Shape;1686;p106"/>
          <p:cNvSpPr/>
          <p:nvPr/>
        </p:nvSpPr>
        <p:spPr>
          <a:xfrm>
            <a:off x="6286225" y="2957025"/>
            <a:ext cx="2054400" cy="552900"/>
          </a:xfrm>
          <a:prstGeom prst="wedgeRoundRectCallout">
            <a:avLst>
              <a:gd name="adj1" fmla="val -58083"/>
              <a:gd name="adj2" fmla="val 50276"/>
              <a:gd name="adj3" fmla="val 0"/>
            </a:avLst>
          </a:prstGeom>
          <a:noFill/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I got this route from R2, so send poison to R2.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7A94682-D978-92CA-8223-F5DB8238E90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Rule 5: Poison Expired Routes vs. </a:t>
            </a:r>
            <a:r>
              <a:rPr lang="en-US"/>
              <a:t>Rule 6B: Poison Reverse</a:t>
            </a:r>
            <a:br>
              <a:rPr lang="en-US"/>
            </a:br>
            <a:endParaRPr lang="en-US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6E68C109-0918-3A9B-296E-E2A024E77A3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Rule 5: Poison Expired Routes vs. Rule 6B: Poison Reverse</a:t>
            </a:r>
          </a:p>
          <a:p>
            <a:r>
              <a:rPr lang="en-US" dirty="0"/>
              <a:t>They sound similar, but we can think of one of them as being “honest” while the other one is “lying.” </a:t>
            </a:r>
          </a:p>
          <a:p>
            <a:r>
              <a:rPr lang="en-US" dirty="0"/>
              <a:t>Poisoned reverse encourages routers to tell a white lie. With poisoned reverse, we tell a neighbor that we have no path to a certain destination if our path goes through that neighbor. Since we actually do have a path, our message is not strictly true. </a:t>
            </a:r>
          </a:p>
          <a:p>
            <a:r>
              <a:rPr lang="en-US" dirty="0"/>
              <a:t>On the other hand, poisoning an expired route happens when a link goes down, and we actually lose our path to some destination. Thus, we’re telling the truth when we advertise a distance of infinity to this destination (given that an infinitely long path is equivalent to no path).</a:t>
            </a:r>
          </a:p>
          <a:p>
            <a:endParaRPr lang="en-US" dirty="0"/>
          </a:p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2D213DB-5503-3B3D-747D-00B1905A1111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 smtClean="0"/>
              <a:t>82</a:t>
            </a:fld>
            <a:endParaRPr lang="en"/>
          </a:p>
        </p:txBody>
      </p:sp>
    </p:spTree>
    <p:extLst>
      <p:ext uri="{BB962C8B-B14F-4D97-AF65-F5344CB8AC3E}">
        <p14:creationId xmlns:p14="http://schemas.microsoft.com/office/powerpoint/2010/main" val="107044331"/>
      </p:ext>
    </p:extLst>
  </p:cSld>
  <p:clrMapOvr>
    <a:masterClrMapping/>
  </p:clrMapOvr>
</p:sld>
</file>

<file path=ppt/slides/slide8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6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91" name="Google Shape;1691;p107"/>
          <p:cNvSpPr txBox="1">
            <a:spLocks noGrp="1"/>
          </p:cNvSpPr>
          <p:nvPr>
            <p:ph type="title"/>
          </p:nvPr>
        </p:nvSpPr>
        <p:spPr>
          <a:xfrm>
            <a:off x="0" y="0"/>
            <a:ext cx="9144000" cy="39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The Distance-Vector Algorithm So Far</a:t>
            </a:r>
            <a:endParaRPr/>
          </a:p>
        </p:txBody>
      </p:sp>
      <p:sp>
        <p:nvSpPr>
          <p:cNvPr id="1692" name="Google Shape;1692;p107"/>
          <p:cNvSpPr txBox="1">
            <a:spLocks noGrp="1"/>
          </p:cNvSpPr>
          <p:nvPr>
            <p:ph type="body" idx="1"/>
          </p:nvPr>
        </p:nvSpPr>
        <p:spPr>
          <a:xfrm>
            <a:off x="107050" y="402200"/>
            <a:ext cx="8909700" cy="4530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For each destination:</a:t>
            </a:r>
            <a:endParaRPr/>
          </a:p>
          <a:p>
            <a:pPr marL="457200" lvl="0" indent="-342900" algn="l" rtl="0">
              <a:spcBef>
                <a:spcPts val="60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If you hear an advertisement, update table and reset TTL if:</a:t>
            </a:r>
            <a:endParaRPr/>
          </a:p>
          <a:p>
            <a:pPr marL="914400" lvl="1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○"/>
            </a:pPr>
            <a:r>
              <a:rPr lang="en"/>
              <a:t>The destination isn't in the table.</a:t>
            </a:r>
            <a:endParaRPr/>
          </a:p>
          <a:p>
            <a:pPr marL="914400" lvl="1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○"/>
            </a:pPr>
            <a:r>
              <a:rPr lang="en"/>
              <a:t>Advertised cost + link cost to neighbor &lt; best-known cost. </a:t>
            </a:r>
            <a:r>
              <a:rPr lang="en" sz="1400">
                <a:solidFill>
                  <a:schemeClr val="accent3"/>
                </a:solidFill>
              </a:rPr>
              <a:t>(#1)</a:t>
            </a:r>
            <a:endParaRPr sz="1400">
              <a:solidFill>
                <a:schemeClr val="accent3"/>
              </a:solidFill>
            </a:endParaRPr>
          </a:p>
          <a:p>
            <a:pPr marL="914400" lvl="1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○"/>
            </a:pPr>
            <a:r>
              <a:rPr lang="en"/>
              <a:t>The advertisement is from current next-hop. </a:t>
            </a:r>
            <a:r>
              <a:rPr lang="en" sz="1400">
                <a:solidFill>
                  <a:schemeClr val="accent3"/>
                </a:solidFill>
              </a:rPr>
              <a:t>(#2)</a:t>
            </a:r>
            <a:br>
              <a:rPr lang="en"/>
            </a:br>
            <a:r>
              <a:rPr lang="en"/>
              <a:t>Includes poison advertisements. </a:t>
            </a:r>
            <a:r>
              <a:rPr lang="en" sz="1400">
                <a:solidFill>
                  <a:schemeClr val="accent3"/>
                </a:solidFill>
              </a:rPr>
              <a:t>(#5)</a:t>
            </a:r>
            <a:endParaRPr sz="1400">
              <a:solidFill>
                <a:schemeClr val="accent3"/>
              </a:solidFill>
            </a:endParaRPr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Advertise to all your neighbors when the table updates, and periodically. </a:t>
            </a:r>
            <a:r>
              <a:rPr lang="en" sz="1400">
                <a:solidFill>
                  <a:schemeClr val="accent3"/>
                </a:solidFill>
              </a:rPr>
              <a:t>(#3)</a:t>
            </a:r>
            <a:endParaRPr sz="1400">
              <a:solidFill>
                <a:schemeClr val="accent3"/>
              </a:solidFill>
            </a:endParaRPr>
          </a:p>
          <a:p>
            <a:pPr marL="914400" lvl="1" indent="-34290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Char char="○"/>
            </a:pPr>
            <a:r>
              <a:rPr lang="en">
                <a:solidFill>
                  <a:srgbClr val="000000"/>
                </a:solidFill>
              </a:rPr>
              <a:t>But don't advertise back to the next-hop. </a:t>
            </a:r>
            <a:r>
              <a:rPr lang="en" sz="1400">
                <a:solidFill>
                  <a:schemeClr val="accent3"/>
                </a:solidFill>
              </a:rPr>
              <a:t>(#6A)</a:t>
            </a:r>
            <a:endParaRPr sz="1400">
              <a:solidFill>
                <a:schemeClr val="accent3"/>
              </a:solidFill>
            </a:endParaRPr>
          </a:p>
          <a:p>
            <a:pPr marL="914400" lvl="1" indent="-342900" algn="l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800"/>
              <a:buChar char="○"/>
            </a:pPr>
            <a:r>
              <a:rPr lang="en">
                <a:solidFill>
                  <a:schemeClr val="accent2"/>
                </a:solidFill>
              </a:rPr>
              <a:t>...Or, advertise poison back to the next-hop. </a:t>
            </a:r>
            <a:r>
              <a:rPr lang="en" sz="1400">
                <a:solidFill>
                  <a:schemeClr val="accent3"/>
                </a:solidFill>
              </a:rPr>
              <a:t>(#6B)</a:t>
            </a:r>
            <a:endParaRPr sz="1400">
              <a:solidFill>
                <a:schemeClr val="accent3"/>
              </a:solidFill>
            </a:endParaRPr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If a table entry expires, make the entry poison and advertise it. </a:t>
            </a:r>
            <a:r>
              <a:rPr lang="en" sz="1400">
                <a:solidFill>
                  <a:schemeClr val="accent3"/>
                </a:solidFill>
              </a:rPr>
              <a:t>(#4, #5)</a:t>
            </a:r>
            <a:endParaRPr sz="1400">
              <a:solidFill>
                <a:schemeClr val="accent3"/>
              </a:solidFill>
            </a:endParaRPr>
          </a:p>
        </p:txBody>
      </p:sp>
    </p:spTree>
  </p:cSld>
  <p:clrMapOvr>
    <a:masterClrMapping/>
  </p:clrMapOvr>
</p:sld>
</file>

<file path=ppt/slides/slide8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6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97" name="Google Shape;1697;p108"/>
          <p:cNvSpPr txBox="1">
            <a:spLocks noGrp="1"/>
          </p:cNvSpPr>
          <p:nvPr>
            <p:ph type="title"/>
          </p:nvPr>
        </p:nvSpPr>
        <p:spPr>
          <a:xfrm>
            <a:off x="177925" y="2003300"/>
            <a:ext cx="4038000" cy="20379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Rule 7: Count to Infinity</a:t>
            </a:r>
            <a:endParaRPr/>
          </a:p>
        </p:txBody>
      </p:sp>
      <p:sp>
        <p:nvSpPr>
          <p:cNvPr id="1698" name="Google Shape;1698;p108"/>
          <p:cNvSpPr txBox="1">
            <a:spLocks noGrp="1"/>
          </p:cNvSpPr>
          <p:nvPr>
            <p:ph type="body" idx="1"/>
          </p:nvPr>
        </p:nvSpPr>
        <p:spPr>
          <a:xfrm>
            <a:off x="4812375" y="402200"/>
            <a:ext cx="4038000" cy="42609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">
                <a:solidFill>
                  <a:srgbClr val="B7B7B7"/>
                </a:solidFill>
              </a:rPr>
              <a:t>Distance-Vector Correctness</a:t>
            </a:r>
            <a:endParaRPr>
              <a:solidFill>
                <a:srgbClr val="B7B7B7"/>
              </a:solidFill>
            </a:endParaRPr>
          </a:p>
          <a:p>
            <a:pPr marL="457200" lvl="0" indent="-342900" algn="l" rtl="0">
              <a:spcBef>
                <a:spcPts val="600"/>
              </a:spcBef>
              <a:spcAft>
                <a:spcPts val="0"/>
              </a:spcAft>
              <a:buClr>
                <a:srgbClr val="B7B7B7"/>
              </a:buClr>
              <a:buSzPts val="1800"/>
              <a:buChar char="•"/>
            </a:pPr>
            <a:r>
              <a:rPr lang="en">
                <a:solidFill>
                  <a:srgbClr val="B7B7B7"/>
                </a:solidFill>
              </a:rPr>
              <a:t>Algorithm Sketch</a:t>
            </a:r>
            <a:endParaRPr>
              <a:solidFill>
                <a:srgbClr val="B7B7B7"/>
              </a:solidFill>
            </a:endParaRPr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Clr>
                <a:srgbClr val="B7B7B7"/>
              </a:buClr>
              <a:buSzPts val="1800"/>
              <a:buChar char="•"/>
            </a:pPr>
            <a:r>
              <a:rPr lang="en">
                <a:solidFill>
                  <a:srgbClr val="B7B7B7"/>
                </a:solidFill>
              </a:rPr>
              <a:t>Rule 1: Bellman-Ford Updates</a:t>
            </a:r>
            <a:endParaRPr>
              <a:solidFill>
                <a:srgbClr val="B7B7B7"/>
              </a:solidFill>
            </a:endParaRPr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Clr>
                <a:srgbClr val="B7B7B7"/>
              </a:buClr>
              <a:buSzPts val="1800"/>
              <a:buChar char="•"/>
            </a:pPr>
            <a:r>
              <a:rPr lang="en">
                <a:solidFill>
                  <a:srgbClr val="B7B7B7"/>
                </a:solidFill>
              </a:rPr>
              <a:t>Bellman-Ford Demo</a:t>
            </a:r>
            <a:endParaRPr>
              <a:solidFill>
                <a:srgbClr val="B7B7B7"/>
              </a:solidFill>
            </a:endParaRPr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Clr>
                <a:srgbClr val="B7B7B7"/>
              </a:buClr>
              <a:buSzPts val="1800"/>
              <a:buChar char="•"/>
            </a:pPr>
            <a:r>
              <a:rPr lang="en">
                <a:solidFill>
                  <a:srgbClr val="B7B7B7"/>
                </a:solidFill>
              </a:rPr>
              <a:t>Rule 2: Updates From Next-Hop</a:t>
            </a:r>
            <a:endParaRPr>
              <a:solidFill>
                <a:srgbClr val="B7B7B7"/>
              </a:solidFill>
            </a:endParaRPr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Clr>
                <a:srgbClr val="B7B7B7"/>
              </a:buClr>
              <a:buSzPts val="1800"/>
              <a:buChar char="•"/>
            </a:pPr>
            <a:r>
              <a:rPr lang="en">
                <a:solidFill>
                  <a:srgbClr val="B7B7B7"/>
                </a:solidFill>
              </a:rPr>
              <a:t>Rule 3: Resending</a:t>
            </a:r>
            <a:endParaRPr>
              <a:solidFill>
                <a:srgbClr val="B7B7B7"/>
              </a:solidFill>
            </a:endParaRPr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Clr>
                <a:srgbClr val="B7B7B7"/>
              </a:buClr>
              <a:buSzPts val="1800"/>
              <a:buChar char="•"/>
            </a:pPr>
            <a:r>
              <a:rPr lang="en">
                <a:solidFill>
                  <a:srgbClr val="B7B7B7"/>
                </a:solidFill>
              </a:rPr>
              <a:t>Rule 4: Expiring</a:t>
            </a:r>
            <a:endParaRPr>
              <a:solidFill>
                <a:srgbClr val="B7B7B7"/>
              </a:solidFill>
            </a:endParaRPr>
          </a:p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" b="1">
                <a:solidFill>
                  <a:schemeClr val="accent3"/>
                </a:solidFill>
                <a:latin typeface="Roboto"/>
                <a:ea typeface="Roboto"/>
                <a:cs typeface="Roboto"/>
                <a:sym typeface="Roboto"/>
              </a:rPr>
              <a:t>Distance-Vector Enhancements</a:t>
            </a:r>
            <a:endParaRPr b="1">
              <a:solidFill>
                <a:schemeClr val="accent3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457200" lvl="0" indent="-342900" algn="l" rtl="0">
              <a:spcBef>
                <a:spcPts val="600"/>
              </a:spcBef>
              <a:spcAft>
                <a:spcPts val="0"/>
              </a:spcAft>
              <a:buClr>
                <a:srgbClr val="B7B7B7"/>
              </a:buClr>
              <a:buSzPts val="1800"/>
              <a:buChar char="•"/>
            </a:pPr>
            <a:r>
              <a:rPr lang="en">
                <a:solidFill>
                  <a:srgbClr val="B7B7B7"/>
                </a:solidFill>
              </a:rPr>
              <a:t>Rule 5: Poison Expired Routes</a:t>
            </a:r>
            <a:endParaRPr>
              <a:solidFill>
                <a:srgbClr val="B7B7B7"/>
              </a:solidFill>
            </a:endParaRPr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Clr>
                <a:srgbClr val="B7B7B7"/>
              </a:buClr>
              <a:buSzPts val="1800"/>
              <a:buChar char="•"/>
            </a:pPr>
            <a:r>
              <a:rPr lang="en">
                <a:solidFill>
                  <a:srgbClr val="B7B7B7"/>
                </a:solidFill>
              </a:rPr>
              <a:t>Rule 6A: Split Horizon</a:t>
            </a:r>
            <a:endParaRPr>
              <a:solidFill>
                <a:srgbClr val="B7B7B7"/>
              </a:solidFill>
            </a:endParaRPr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Clr>
                <a:srgbClr val="B7B7B7"/>
              </a:buClr>
              <a:buSzPts val="1800"/>
              <a:buChar char="•"/>
            </a:pPr>
            <a:r>
              <a:rPr lang="en">
                <a:solidFill>
                  <a:srgbClr val="B7B7B7"/>
                </a:solidFill>
              </a:rPr>
              <a:t>Rule 6B: Poison Reverse</a:t>
            </a:r>
            <a:endParaRPr>
              <a:solidFill>
                <a:srgbClr val="B7B7B7"/>
              </a:solidFill>
            </a:endParaRPr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800"/>
              <a:buFont typeface="Roboto"/>
              <a:buChar char="•"/>
            </a:pPr>
            <a:r>
              <a:rPr lang="en" b="1">
                <a:solidFill>
                  <a:schemeClr val="accent3"/>
                </a:solidFill>
                <a:latin typeface="Roboto"/>
                <a:ea typeface="Roboto"/>
                <a:cs typeface="Roboto"/>
                <a:sym typeface="Roboto"/>
              </a:rPr>
              <a:t>Rule 7: Count To Infinity</a:t>
            </a:r>
            <a:endParaRPr b="1">
              <a:solidFill>
                <a:schemeClr val="accent3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Clr>
                <a:srgbClr val="B7B7B7"/>
              </a:buClr>
              <a:buSzPts val="1800"/>
              <a:buChar char="•"/>
            </a:pPr>
            <a:r>
              <a:rPr lang="en">
                <a:solidFill>
                  <a:srgbClr val="B7B7B7"/>
                </a:solidFill>
              </a:rPr>
              <a:t>Eventful Updates</a:t>
            </a:r>
            <a:endParaRPr>
              <a:solidFill>
                <a:srgbClr val="B7B7B7"/>
              </a:solidFill>
            </a:endParaRPr>
          </a:p>
        </p:txBody>
      </p:sp>
      <p:sp>
        <p:nvSpPr>
          <p:cNvPr id="1699" name="Google Shape;1699;p108"/>
          <p:cNvSpPr txBox="1">
            <a:spLocks noGrp="1"/>
          </p:cNvSpPr>
          <p:nvPr>
            <p:ph type="subTitle" idx="2"/>
          </p:nvPr>
        </p:nvSpPr>
        <p:spPr>
          <a:xfrm>
            <a:off x="177925" y="4068000"/>
            <a:ext cx="41580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-US" dirty="0"/>
              <a:t>Lecture 5.2, Spring 2026</a:t>
            </a:r>
            <a:endParaRPr dirty="0"/>
          </a:p>
        </p:txBody>
      </p:sp>
    </p:spTree>
  </p:cSld>
  <p:clrMapOvr>
    <a:masterClrMapping/>
  </p:clrMapOvr>
</p:sld>
</file>

<file path=ppt/slides/slide8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7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4" name="Google Shape;1704;p109"/>
          <p:cNvSpPr txBox="1">
            <a:spLocks noGrp="1"/>
          </p:cNvSpPr>
          <p:nvPr>
            <p:ph type="title"/>
          </p:nvPr>
        </p:nvSpPr>
        <p:spPr>
          <a:xfrm>
            <a:off x="0" y="0"/>
            <a:ext cx="9144000" cy="39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Count to Infinity – The Problem</a:t>
            </a:r>
            <a:endParaRPr/>
          </a:p>
        </p:txBody>
      </p:sp>
      <p:sp>
        <p:nvSpPr>
          <p:cNvPr id="1705" name="Google Shape;1705;p109"/>
          <p:cNvSpPr txBox="1">
            <a:spLocks noGrp="1"/>
          </p:cNvSpPr>
          <p:nvPr>
            <p:ph type="body" idx="1"/>
          </p:nvPr>
        </p:nvSpPr>
        <p:spPr>
          <a:xfrm>
            <a:off x="107050" y="402200"/>
            <a:ext cx="8909700" cy="4530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"/>
              <a:t>Split horizon (or poison reverse) helps us avoid length-2 loops.</a:t>
            </a:r>
            <a:endParaRPr/>
          </a:p>
          <a:p>
            <a:pPr marL="457200" lvl="0" indent="-342900" algn="l" rtl="0">
              <a:spcBef>
                <a:spcPts val="60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R1 forwards to R2.</a:t>
            </a:r>
            <a:endParaRPr/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R2 forwards to R1.</a:t>
            </a:r>
            <a:endParaRPr/>
          </a:p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endParaRPr/>
          </a:p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"/>
              <a:t>But we can still get routing loops with 3 or more routers.</a:t>
            </a:r>
            <a:endParaRPr/>
          </a:p>
        </p:txBody>
      </p:sp>
    </p:spTree>
  </p:cSld>
  <p:clrMapOvr>
    <a:masterClrMapping/>
  </p:clrMapOvr>
</p:sld>
</file>

<file path=ppt/slides/slide8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7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10" name="Google Shape;1710;p110"/>
          <p:cNvSpPr txBox="1">
            <a:spLocks noGrp="1"/>
          </p:cNvSpPr>
          <p:nvPr>
            <p:ph type="title"/>
          </p:nvPr>
        </p:nvSpPr>
        <p:spPr>
          <a:xfrm>
            <a:off x="0" y="0"/>
            <a:ext cx="9144000" cy="39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accent3"/>
                </a:solidFill>
              </a:rPr>
              <a:t>Count to Infinity – The Problem</a:t>
            </a:r>
            <a:endParaRPr/>
          </a:p>
        </p:txBody>
      </p:sp>
      <p:sp>
        <p:nvSpPr>
          <p:cNvPr id="1711" name="Google Shape;1711;p110"/>
          <p:cNvSpPr txBox="1">
            <a:spLocks noGrp="1"/>
          </p:cNvSpPr>
          <p:nvPr>
            <p:ph type="body" idx="1"/>
          </p:nvPr>
        </p:nvSpPr>
        <p:spPr>
          <a:xfrm>
            <a:off x="107050" y="402200"/>
            <a:ext cx="8909700" cy="1079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"/>
              <a:t>Suppose the tables reach steady-state.</a:t>
            </a:r>
            <a:endParaRPr/>
          </a:p>
        </p:txBody>
      </p:sp>
      <p:sp>
        <p:nvSpPr>
          <p:cNvPr id="1712" name="Google Shape;1712;p110"/>
          <p:cNvSpPr/>
          <p:nvPr/>
        </p:nvSpPr>
        <p:spPr>
          <a:xfrm>
            <a:off x="3051363" y="3494775"/>
            <a:ext cx="285000" cy="285000"/>
          </a:xfrm>
          <a:prstGeom prst="ellipse">
            <a:avLst/>
          </a:prstGeom>
          <a:solidFill>
            <a:srgbClr val="FFFFFF"/>
          </a:solidFill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A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1713" name="Google Shape;1713;p110"/>
          <p:cNvCxnSpPr>
            <a:stCxn id="1714" idx="1"/>
            <a:endCxn id="1712" idx="6"/>
          </p:cNvCxnSpPr>
          <p:nvPr/>
        </p:nvCxnSpPr>
        <p:spPr>
          <a:xfrm rot="10800000">
            <a:off x="3336375" y="3637275"/>
            <a:ext cx="400800" cy="0"/>
          </a:xfrm>
          <a:prstGeom prst="straightConnector1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med" len="med"/>
            <a:tailEnd type="none" w="med" len="med"/>
          </a:ln>
        </p:spPr>
      </p:cxnSp>
      <p:graphicFrame>
        <p:nvGraphicFramePr>
          <p:cNvPr id="1715" name="Google Shape;1715;p110"/>
          <p:cNvGraphicFramePr/>
          <p:nvPr/>
        </p:nvGraphicFramePr>
        <p:xfrm>
          <a:off x="990319" y="3292900"/>
          <a:ext cx="1835500" cy="688770"/>
        </p:xfrm>
        <a:graphic>
          <a:graphicData uri="http://schemas.openxmlformats.org/drawingml/2006/table">
            <a:tbl>
              <a:tblPr>
                <a:noFill/>
              </a:tblPr>
              <a:tblGrid>
                <a:gridCol w="5448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9707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79362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121925">
                <a:tc gridSpan="3"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latin typeface="Roboto"/>
                          <a:ea typeface="Roboto"/>
                          <a:cs typeface="Roboto"/>
                          <a:sym typeface="Roboto"/>
                        </a:rPr>
                        <a:t>R3's Table</a:t>
                      </a:r>
                      <a:endParaRPr sz="12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21925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latin typeface="Roboto"/>
                          <a:ea typeface="Roboto"/>
                          <a:cs typeface="Roboto"/>
                          <a:sym typeface="Roboto"/>
                        </a:rPr>
                        <a:t>To:</a:t>
                      </a:r>
                      <a:endParaRPr sz="12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/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latin typeface="Roboto"/>
                          <a:ea typeface="Roboto"/>
                          <a:cs typeface="Roboto"/>
                          <a:sym typeface="Roboto"/>
                        </a:rPr>
                        <a:t>Via:</a:t>
                      </a:r>
                      <a:endParaRPr sz="12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/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latin typeface="Roboto"/>
                          <a:ea typeface="Roboto"/>
                          <a:cs typeface="Roboto"/>
                          <a:sym typeface="Roboto"/>
                        </a:rPr>
                        <a:t>Cost:</a:t>
                      </a:r>
                      <a:endParaRPr sz="12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21925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latin typeface="Roboto"/>
                          <a:ea typeface="Roboto"/>
                          <a:cs typeface="Roboto"/>
                          <a:sym typeface="Roboto"/>
                        </a:rPr>
                        <a:t>A</a:t>
                      </a:r>
                      <a:endParaRPr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/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latin typeface="Roboto"/>
                          <a:ea typeface="Roboto"/>
                          <a:cs typeface="Roboto"/>
                          <a:sym typeface="Roboto"/>
                        </a:rPr>
                        <a:t>Direct</a:t>
                      </a:r>
                      <a:endParaRPr sz="12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/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latin typeface="Roboto"/>
                          <a:ea typeface="Roboto"/>
                          <a:cs typeface="Roboto"/>
                          <a:sym typeface="Roboto"/>
                        </a:rPr>
                        <a:t>1</a:t>
                      </a:r>
                      <a:endParaRPr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</a:tbl>
          </a:graphicData>
        </a:graphic>
      </p:graphicFrame>
      <p:graphicFrame>
        <p:nvGraphicFramePr>
          <p:cNvPr id="1716" name="Google Shape;1716;p110"/>
          <p:cNvGraphicFramePr/>
          <p:nvPr/>
        </p:nvGraphicFramePr>
        <p:xfrm>
          <a:off x="6318169" y="2544150"/>
          <a:ext cx="1835500" cy="688770"/>
        </p:xfrm>
        <a:graphic>
          <a:graphicData uri="http://schemas.openxmlformats.org/drawingml/2006/table">
            <a:tbl>
              <a:tblPr>
                <a:noFill/>
              </a:tblPr>
              <a:tblGrid>
                <a:gridCol w="5448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9707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79362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121925">
                <a:tc gridSpan="3"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latin typeface="Roboto"/>
                          <a:ea typeface="Roboto"/>
                          <a:cs typeface="Roboto"/>
                          <a:sym typeface="Roboto"/>
                        </a:rPr>
                        <a:t>R1's Table</a:t>
                      </a:r>
                      <a:endParaRPr sz="12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21925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latin typeface="Roboto"/>
                          <a:ea typeface="Roboto"/>
                          <a:cs typeface="Roboto"/>
                          <a:sym typeface="Roboto"/>
                        </a:rPr>
                        <a:t>To:</a:t>
                      </a:r>
                      <a:endParaRPr sz="12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/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latin typeface="Roboto"/>
                          <a:ea typeface="Roboto"/>
                          <a:cs typeface="Roboto"/>
                          <a:sym typeface="Roboto"/>
                        </a:rPr>
                        <a:t>Via:</a:t>
                      </a:r>
                      <a:endParaRPr sz="12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/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latin typeface="Roboto"/>
                          <a:ea typeface="Roboto"/>
                          <a:cs typeface="Roboto"/>
                          <a:sym typeface="Roboto"/>
                        </a:rPr>
                        <a:t>Cost:</a:t>
                      </a:r>
                      <a:endParaRPr sz="12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21925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latin typeface="Roboto"/>
                          <a:ea typeface="Roboto"/>
                          <a:cs typeface="Roboto"/>
                          <a:sym typeface="Roboto"/>
                        </a:rPr>
                        <a:t>A</a:t>
                      </a:r>
                      <a:endParaRPr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/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latin typeface="Roboto"/>
                          <a:ea typeface="Roboto"/>
                          <a:cs typeface="Roboto"/>
                          <a:sym typeface="Roboto"/>
                        </a:rPr>
                        <a:t>R3</a:t>
                      </a:r>
                      <a:endParaRPr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/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latin typeface="Roboto"/>
                          <a:ea typeface="Roboto"/>
                          <a:cs typeface="Roboto"/>
                          <a:sym typeface="Roboto"/>
                        </a:rPr>
                        <a:t>2</a:t>
                      </a:r>
                      <a:endParaRPr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</a:tbl>
          </a:graphicData>
        </a:graphic>
      </p:graphicFrame>
      <p:graphicFrame>
        <p:nvGraphicFramePr>
          <p:cNvPr id="1717" name="Google Shape;1717;p110"/>
          <p:cNvGraphicFramePr/>
          <p:nvPr/>
        </p:nvGraphicFramePr>
        <p:xfrm>
          <a:off x="6318169" y="4054900"/>
          <a:ext cx="1835500" cy="688770"/>
        </p:xfrm>
        <a:graphic>
          <a:graphicData uri="http://schemas.openxmlformats.org/drawingml/2006/table">
            <a:tbl>
              <a:tblPr>
                <a:noFill/>
              </a:tblPr>
              <a:tblGrid>
                <a:gridCol w="5448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9707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79362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121925">
                <a:tc gridSpan="3"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latin typeface="Roboto"/>
                          <a:ea typeface="Roboto"/>
                          <a:cs typeface="Roboto"/>
                          <a:sym typeface="Roboto"/>
                        </a:rPr>
                        <a:t>R2's Table</a:t>
                      </a:r>
                      <a:endParaRPr sz="12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21925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latin typeface="Roboto"/>
                          <a:ea typeface="Roboto"/>
                          <a:cs typeface="Roboto"/>
                          <a:sym typeface="Roboto"/>
                        </a:rPr>
                        <a:t>To:</a:t>
                      </a:r>
                      <a:endParaRPr sz="12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/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latin typeface="Roboto"/>
                          <a:ea typeface="Roboto"/>
                          <a:cs typeface="Roboto"/>
                          <a:sym typeface="Roboto"/>
                        </a:rPr>
                        <a:t>Via:</a:t>
                      </a:r>
                      <a:endParaRPr sz="12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/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latin typeface="Roboto"/>
                          <a:ea typeface="Roboto"/>
                          <a:cs typeface="Roboto"/>
                          <a:sym typeface="Roboto"/>
                        </a:rPr>
                        <a:t>Cost:</a:t>
                      </a:r>
                      <a:endParaRPr sz="12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21925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latin typeface="Roboto"/>
                          <a:ea typeface="Roboto"/>
                          <a:cs typeface="Roboto"/>
                          <a:sym typeface="Roboto"/>
                        </a:rPr>
                        <a:t>A</a:t>
                      </a:r>
                      <a:endParaRPr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/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latin typeface="Roboto"/>
                          <a:ea typeface="Roboto"/>
                          <a:cs typeface="Roboto"/>
                          <a:sym typeface="Roboto"/>
                        </a:rPr>
                        <a:t>R3</a:t>
                      </a:r>
                      <a:endParaRPr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/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latin typeface="Roboto"/>
                          <a:ea typeface="Roboto"/>
                          <a:cs typeface="Roboto"/>
                          <a:sym typeface="Roboto"/>
                        </a:rPr>
                        <a:t>2</a:t>
                      </a:r>
                      <a:endParaRPr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</a:tbl>
          </a:graphicData>
        </a:graphic>
      </p:graphicFrame>
      <p:sp>
        <p:nvSpPr>
          <p:cNvPr id="1718" name="Google Shape;1718;p110"/>
          <p:cNvSpPr/>
          <p:nvPr/>
        </p:nvSpPr>
        <p:spPr>
          <a:xfrm>
            <a:off x="5261175" y="2780457"/>
            <a:ext cx="285000" cy="285000"/>
          </a:xfrm>
          <a:prstGeom prst="rect">
            <a:avLst/>
          </a:prstGeom>
          <a:solidFill>
            <a:srgbClr val="FFFFFF"/>
          </a:solidFill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R1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1719" name="Google Shape;1719;p110"/>
          <p:cNvCxnSpPr>
            <a:stCxn id="1718" idx="2"/>
            <a:endCxn id="1720" idx="0"/>
          </p:cNvCxnSpPr>
          <p:nvPr/>
        </p:nvCxnSpPr>
        <p:spPr>
          <a:xfrm>
            <a:off x="5403675" y="3065457"/>
            <a:ext cx="0" cy="1144800"/>
          </a:xfrm>
          <a:prstGeom prst="straightConnector1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1720" name="Google Shape;1720;p110"/>
          <p:cNvSpPr/>
          <p:nvPr/>
        </p:nvSpPr>
        <p:spPr>
          <a:xfrm>
            <a:off x="5261175" y="4210229"/>
            <a:ext cx="285000" cy="285000"/>
          </a:xfrm>
          <a:prstGeom prst="rect">
            <a:avLst/>
          </a:prstGeom>
          <a:solidFill>
            <a:srgbClr val="FFFFFF"/>
          </a:solidFill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R2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714" name="Google Shape;1714;p110"/>
          <p:cNvSpPr/>
          <p:nvPr/>
        </p:nvSpPr>
        <p:spPr>
          <a:xfrm>
            <a:off x="3737175" y="3494775"/>
            <a:ext cx="285000" cy="285000"/>
          </a:xfrm>
          <a:prstGeom prst="rect">
            <a:avLst/>
          </a:prstGeom>
          <a:solidFill>
            <a:srgbClr val="FFFFFF"/>
          </a:solidFill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R3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1721" name="Google Shape;1721;p110"/>
          <p:cNvCxnSpPr>
            <a:stCxn id="1718" idx="1"/>
            <a:endCxn id="1714" idx="3"/>
          </p:cNvCxnSpPr>
          <p:nvPr/>
        </p:nvCxnSpPr>
        <p:spPr>
          <a:xfrm flipH="1">
            <a:off x="4022175" y="2922957"/>
            <a:ext cx="1239000" cy="714300"/>
          </a:xfrm>
          <a:prstGeom prst="straightConnector1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1722" name="Google Shape;1722;p110"/>
          <p:cNvCxnSpPr>
            <a:stCxn id="1720" idx="1"/>
            <a:endCxn id="1714" idx="3"/>
          </p:cNvCxnSpPr>
          <p:nvPr/>
        </p:nvCxnSpPr>
        <p:spPr>
          <a:xfrm rot="10800000">
            <a:off x="4022175" y="3637229"/>
            <a:ext cx="1239000" cy="715500"/>
          </a:xfrm>
          <a:prstGeom prst="straightConnector1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med" len="med"/>
            <a:tailEnd type="none" w="med" len="med"/>
          </a:ln>
        </p:spPr>
      </p:cxnSp>
    </p:spTree>
  </p:cSld>
  <p:clrMapOvr>
    <a:masterClrMapping/>
  </p:clrMapOvr>
</p:sld>
</file>

<file path=ppt/slides/slide8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7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27" name="Google Shape;1727;p111"/>
          <p:cNvSpPr/>
          <p:nvPr/>
        </p:nvSpPr>
        <p:spPr>
          <a:xfrm>
            <a:off x="3057875" y="2610050"/>
            <a:ext cx="1431300" cy="437100"/>
          </a:xfrm>
          <a:prstGeom prst="roundRect">
            <a:avLst>
              <a:gd name="adj" fmla="val 16667"/>
            </a:avLst>
          </a:prstGeom>
          <a:solidFill>
            <a:srgbClr val="EFEFEF"/>
          </a:solidFill>
          <a:ln w="9525" cap="flat" cmpd="sng">
            <a:solidFill>
              <a:srgbClr val="B7B7B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27425" tIns="27425" rIns="27425" bIns="27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>
                <a:solidFill>
                  <a:srgbClr val="B7B7B7"/>
                </a:solidFill>
                <a:latin typeface="Roboto"/>
                <a:ea typeface="Roboto"/>
                <a:cs typeface="Roboto"/>
                <a:sym typeface="Roboto"/>
              </a:rPr>
              <a:t>I'm </a:t>
            </a:r>
            <a:r>
              <a:rPr lang="en" sz="1200" b="1">
                <a:solidFill>
                  <a:srgbClr val="B7B7B7"/>
                </a:solidFill>
                <a:latin typeface="Roboto"/>
                <a:ea typeface="Roboto"/>
                <a:cs typeface="Roboto"/>
                <a:sym typeface="Roboto"/>
              </a:rPr>
              <a:t>R3</a:t>
            </a:r>
            <a:r>
              <a:rPr lang="en" sz="1200">
                <a:solidFill>
                  <a:srgbClr val="B7B7B7"/>
                </a:solidFill>
                <a:latin typeface="Roboto"/>
                <a:ea typeface="Roboto"/>
                <a:cs typeface="Roboto"/>
                <a:sym typeface="Roboto"/>
              </a:rPr>
              <a:t>, and </a:t>
            </a:r>
            <a:r>
              <a:rPr lang="en" sz="1200" b="1">
                <a:solidFill>
                  <a:srgbClr val="B7B7B7"/>
                </a:solidFill>
                <a:latin typeface="Roboto"/>
                <a:ea typeface="Roboto"/>
                <a:cs typeface="Roboto"/>
                <a:sym typeface="Roboto"/>
              </a:rPr>
              <a:t>A</a:t>
            </a:r>
            <a:r>
              <a:rPr lang="en" sz="1200">
                <a:solidFill>
                  <a:srgbClr val="B7B7B7"/>
                </a:solidFill>
                <a:latin typeface="Roboto"/>
                <a:ea typeface="Roboto"/>
                <a:cs typeface="Roboto"/>
                <a:sym typeface="Roboto"/>
              </a:rPr>
              <a:t> is</a:t>
            </a:r>
            <a:br>
              <a:rPr lang="en" sz="1200">
                <a:solidFill>
                  <a:srgbClr val="B7B7B7"/>
                </a:solidFill>
                <a:latin typeface="Roboto"/>
                <a:ea typeface="Roboto"/>
                <a:cs typeface="Roboto"/>
                <a:sym typeface="Roboto"/>
              </a:rPr>
            </a:br>
            <a:r>
              <a:rPr lang="en" sz="1200" b="1">
                <a:solidFill>
                  <a:srgbClr val="B7B7B7"/>
                </a:solidFill>
                <a:latin typeface="Roboto"/>
                <a:ea typeface="Roboto"/>
                <a:cs typeface="Roboto"/>
                <a:sym typeface="Roboto"/>
              </a:rPr>
              <a:t>∞</a:t>
            </a:r>
            <a:r>
              <a:rPr lang="en" sz="1200">
                <a:solidFill>
                  <a:srgbClr val="B7B7B7"/>
                </a:solidFill>
                <a:latin typeface="Roboto"/>
                <a:ea typeface="Roboto"/>
                <a:cs typeface="Roboto"/>
                <a:sym typeface="Roboto"/>
              </a:rPr>
              <a:t> away from me.</a:t>
            </a:r>
            <a:endParaRPr sz="1200">
              <a:solidFill>
                <a:srgbClr val="B7B7B7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1728" name="Google Shape;1728;p111"/>
          <p:cNvCxnSpPr>
            <a:stCxn id="1729" idx="1"/>
            <a:endCxn id="1730" idx="6"/>
          </p:cNvCxnSpPr>
          <p:nvPr/>
        </p:nvCxnSpPr>
        <p:spPr>
          <a:xfrm rot="10800000">
            <a:off x="3336375" y="3637275"/>
            <a:ext cx="400800" cy="0"/>
          </a:xfrm>
          <a:prstGeom prst="straightConnector1">
            <a:avLst/>
          </a:prstGeom>
          <a:noFill/>
          <a:ln w="19050" cap="flat" cmpd="sng">
            <a:solidFill>
              <a:srgbClr val="D9D9D9"/>
            </a:solidFill>
            <a:prstDash val="dash"/>
            <a:round/>
            <a:headEnd type="none" w="med" len="med"/>
            <a:tailEnd type="none" w="med" len="med"/>
          </a:ln>
        </p:spPr>
      </p:cxnSp>
      <p:sp>
        <p:nvSpPr>
          <p:cNvPr id="1731" name="Google Shape;1731;p111"/>
          <p:cNvSpPr txBox="1">
            <a:spLocks noGrp="1"/>
          </p:cNvSpPr>
          <p:nvPr>
            <p:ph type="title"/>
          </p:nvPr>
        </p:nvSpPr>
        <p:spPr>
          <a:xfrm>
            <a:off x="0" y="0"/>
            <a:ext cx="9144000" cy="39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accent3"/>
                </a:solidFill>
              </a:rPr>
              <a:t>Count to Infinity – The Problem</a:t>
            </a:r>
            <a:endParaRPr/>
          </a:p>
        </p:txBody>
      </p:sp>
      <p:sp>
        <p:nvSpPr>
          <p:cNvPr id="1732" name="Google Shape;1732;p111"/>
          <p:cNvSpPr txBox="1">
            <a:spLocks noGrp="1"/>
          </p:cNvSpPr>
          <p:nvPr>
            <p:ph type="body" idx="1"/>
          </p:nvPr>
        </p:nvSpPr>
        <p:spPr>
          <a:xfrm>
            <a:off x="107050" y="402200"/>
            <a:ext cx="8909700" cy="14433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"/>
              <a:t>Link goes down! A now unreachable.</a:t>
            </a:r>
            <a:endParaRPr/>
          </a:p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"/>
              <a:t>R3 updates table and sends poison.</a:t>
            </a:r>
            <a:endParaRPr/>
          </a:p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"/>
              <a:t>Poison reaches R2, but not R1!</a:t>
            </a:r>
            <a:endParaRPr/>
          </a:p>
        </p:txBody>
      </p:sp>
      <p:sp>
        <p:nvSpPr>
          <p:cNvPr id="1733" name="Google Shape;1733;p111"/>
          <p:cNvSpPr/>
          <p:nvPr/>
        </p:nvSpPr>
        <p:spPr>
          <a:xfrm>
            <a:off x="5261175" y="2780457"/>
            <a:ext cx="285000" cy="285000"/>
          </a:xfrm>
          <a:prstGeom prst="rect">
            <a:avLst/>
          </a:prstGeom>
          <a:solidFill>
            <a:srgbClr val="FFFFFF"/>
          </a:solidFill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R1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1734" name="Google Shape;1734;p111"/>
          <p:cNvCxnSpPr>
            <a:stCxn id="1733" idx="2"/>
            <a:endCxn id="1735" idx="0"/>
          </p:cNvCxnSpPr>
          <p:nvPr/>
        </p:nvCxnSpPr>
        <p:spPr>
          <a:xfrm>
            <a:off x="5403675" y="3065457"/>
            <a:ext cx="0" cy="1144800"/>
          </a:xfrm>
          <a:prstGeom prst="straightConnector1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1735" name="Google Shape;1735;p111"/>
          <p:cNvSpPr/>
          <p:nvPr/>
        </p:nvSpPr>
        <p:spPr>
          <a:xfrm>
            <a:off x="5261175" y="4210229"/>
            <a:ext cx="285000" cy="285000"/>
          </a:xfrm>
          <a:prstGeom prst="rect">
            <a:avLst/>
          </a:prstGeom>
          <a:solidFill>
            <a:srgbClr val="FFFFFF"/>
          </a:solidFill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R2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729" name="Google Shape;1729;p111"/>
          <p:cNvSpPr/>
          <p:nvPr/>
        </p:nvSpPr>
        <p:spPr>
          <a:xfrm>
            <a:off x="3737175" y="3494775"/>
            <a:ext cx="285000" cy="285000"/>
          </a:xfrm>
          <a:prstGeom prst="rect">
            <a:avLst/>
          </a:prstGeom>
          <a:solidFill>
            <a:srgbClr val="FFFFFF"/>
          </a:solidFill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R3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1736" name="Google Shape;1736;p111"/>
          <p:cNvCxnSpPr>
            <a:stCxn id="1733" idx="1"/>
            <a:endCxn id="1729" idx="3"/>
          </p:cNvCxnSpPr>
          <p:nvPr/>
        </p:nvCxnSpPr>
        <p:spPr>
          <a:xfrm flipH="1">
            <a:off x="4022175" y="2922957"/>
            <a:ext cx="1239000" cy="714300"/>
          </a:xfrm>
          <a:prstGeom prst="straightConnector1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1737" name="Google Shape;1737;p111"/>
          <p:cNvCxnSpPr>
            <a:stCxn id="1735" idx="1"/>
            <a:endCxn id="1729" idx="3"/>
          </p:cNvCxnSpPr>
          <p:nvPr/>
        </p:nvCxnSpPr>
        <p:spPr>
          <a:xfrm rot="10800000">
            <a:off x="4022175" y="3637229"/>
            <a:ext cx="1239000" cy="715500"/>
          </a:xfrm>
          <a:prstGeom prst="straightConnector1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1730" name="Google Shape;1730;p111"/>
          <p:cNvSpPr/>
          <p:nvPr/>
        </p:nvSpPr>
        <p:spPr>
          <a:xfrm>
            <a:off x="3051363" y="3494775"/>
            <a:ext cx="285000" cy="285000"/>
          </a:xfrm>
          <a:prstGeom prst="ellipse">
            <a:avLst/>
          </a:prstGeom>
          <a:solidFill>
            <a:srgbClr val="FFFFFF"/>
          </a:solidFill>
          <a:ln w="19050" cap="flat" cmpd="sng">
            <a:solidFill>
              <a:srgbClr val="D9D9D9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D9D9D9"/>
                </a:solidFill>
                <a:latin typeface="Roboto"/>
                <a:ea typeface="Roboto"/>
                <a:cs typeface="Roboto"/>
                <a:sym typeface="Roboto"/>
              </a:rPr>
              <a:t>A</a:t>
            </a:r>
            <a:endParaRPr>
              <a:solidFill>
                <a:srgbClr val="D9D9D9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graphicFrame>
        <p:nvGraphicFramePr>
          <p:cNvPr id="1738" name="Google Shape;1738;p111"/>
          <p:cNvGraphicFramePr/>
          <p:nvPr/>
        </p:nvGraphicFramePr>
        <p:xfrm>
          <a:off x="990319" y="3292900"/>
          <a:ext cx="1835500" cy="688770"/>
        </p:xfrm>
        <a:graphic>
          <a:graphicData uri="http://schemas.openxmlformats.org/drawingml/2006/table">
            <a:tbl>
              <a:tblPr>
                <a:noFill/>
              </a:tblPr>
              <a:tblGrid>
                <a:gridCol w="5448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9707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79362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121925">
                <a:tc gridSpan="3"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latin typeface="Roboto"/>
                          <a:ea typeface="Roboto"/>
                          <a:cs typeface="Roboto"/>
                          <a:sym typeface="Roboto"/>
                        </a:rPr>
                        <a:t>R3's Table</a:t>
                      </a:r>
                      <a:endParaRPr sz="12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21925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latin typeface="Roboto"/>
                          <a:ea typeface="Roboto"/>
                          <a:cs typeface="Roboto"/>
                          <a:sym typeface="Roboto"/>
                        </a:rPr>
                        <a:t>To:</a:t>
                      </a:r>
                      <a:endParaRPr sz="12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/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latin typeface="Roboto"/>
                          <a:ea typeface="Roboto"/>
                          <a:cs typeface="Roboto"/>
                          <a:sym typeface="Roboto"/>
                        </a:rPr>
                        <a:t>Via:</a:t>
                      </a:r>
                      <a:endParaRPr sz="12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/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latin typeface="Roboto"/>
                          <a:ea typeface="Roboto"/>
                          <a:cs typeface="Roboto"/>
                          <a:sym typeface="Roboto"/>
                        </a:rPr>
                        <a:t>Cost:</a:t>
                      </a:r>
                      <a:endParaRPr sz="12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21925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latin typeface="Roboto"/>
                          <a:ea typeface="Roboto"/>
                          <a:cs typeface="Roboto"/>
                          <a:sym typeface="Roboto"/>
                        </a:rPr>
                        <a:t>A</a:t>
                      </a:r>
                      <a:endParaRPr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/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latin typeface="Roboto"/>
                          <a:ea typeface="Roboto"/>
                          <a:cs typeface="Roboto"/>
                          <a:sym typeface="Roboto"/>
                        </a:rPr>
                        <a:t>Direct</a:t>
                      </a:r>
                      <a:endParaRPr sz="12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/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latin typeface="Roboto"/>
                          <a:ea typeface="Roboto"/>
                          <a:cs typeface="Roboto"/>
                          <a:sym typeface="Roboto"/>
                        </a:rPr>
                        <a:t>1</a:t>
                      </a:r>
                      <a:endParaRPr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</a:tbl>
          </a:graphicData>
        </a:graphic>
      </p:graphicFrame>
      <p:graphicFrame>
        <p:nvGraphicFramePr>
          <p:cNvPr id="1739" name="Google Shape;1739;p111"/>
          <p:cNvGraphicFramePr/>
          <p:nvPr/>
        </p:nvGraphicFramePr>
        <p:xfrm>
          <a:off x="6318169" y="2544150"/>
          <a:ext cx="1835500" cy="688770"/>
        </p:xfrm>
        <a:graphic>
          <a:graphicData uri="http://schemas.openxmlformats.org/drawingml/2006/table">
            <a:tbl>
              <a:tblPr>
                <a:noFill/>
              </a:tblPr>
              <a:tblGrid>
                <a:gridCol w="5448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9707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79362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121925">
                <a:tc gridSpan="3"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latin typeface="Roboto"/>
                          <a:ea typeface="Roboto"/>
                          <a:cs typeface="Roboto"/>
                          <a:sym typeface="Roboto"/>
                        </a:rPr>
                        <a:t>R1's Table</a:t>
                      </a:r>
                      <a:endParaRPr sz="12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21925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latin typeface="Roboto"/>
                          <a:ea typeface="Roboto"/>
                          <a:cs typeface="Roboto"/>
                          <a:sym typeface="Roboto"/>
                        </a:rPr>
                        <a:t>To:</a:t>
                      </a:r>
                      <a:endParaRPr sz="12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/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latin typeface="Roboto"/>
                          <a:ea typeface="Roboto"/>
                          <a:cs typeface="Roboto"/>
                          <a:sym typeface="Roboto"/>
                        </a:rPr>
                        <a:t>Via:</a:t>
                      </a:r>
                      <a:endParaRPr sz="12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/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latin typeface="Roboto"/>
                          <a:ea typeface="Roboto"/>
                          <a:cs typeface="Roboto"/>
                          <a:sym typeface="Roboto"/>
                        </a:rPr>
                        <a:t>Cost:</a:t>
                      </a:r>
                      <a:endParaRPr sz="12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21925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latin typeface="Roboto"/>
                          <a:ea typeface="Roboto"/>
                          <a:cs typeface="Roboto"/>
                          <a:sym typeface="Roboto"/>
                        </a:rPr>
                        <a:t>A</a:t>
                      </a:r>
                      <a:endParaRPr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/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latin typeface="Roboto"/>
                          <a:ea typeface="Roboto"/>
                          <a:cs typeface="Roboto"/>
                          <a:sym typeface="Roboto"/>
                        </a:rPr>
                        <a:t>R3</a:t>
                      </a:r>
                      <a:endParaRPr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/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latin typeface="Roboto"/>
                          <a:ea typeface="Roboto"/>
                          <a:cs typeface="Roboto"/>
                          <a:sym typeface="Roboto"/>
                        </a:rPr>
                        <a:t>2</a:t>
                      </a:r>
                      <a:endParaRPr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</a:tbl>
          </a:graphicData>
        </a:graphic>
      </p:graphicFrame>
      <p:graphicFrame>
        <p:nvGraphicFramePr>
          <p:cNvPr id="1740" name="Google Shape;1740;p111"/>
          <p:cNvGraphicFramePr/>
          <p:nvPr/>
        </p:nvGraphicFramePr>
        <p:xfrm>
          <a:off x="6318169" y="4054900"/>
          <a:ext cx="1835500" cy="688770"/>
        </p:xfrm>
        <a:graphic>
          <a:graphicData uri="http://schemas.openxmlformats.org/drawingml/2006/table">
            <a:tbl>
              <a:tblPr>
                <a:noFill/>
              </a:tblPr>
              <a:tblGrid>
                <a:gridCol w="5448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9707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79362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121925">
                <a:tc gridSpan="3"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latin typeface="Roboto"/>
                          <a:ea typeface="Roboto"/>
                          <a:cs typeface="Roboto"/>
                          <a:sym typeface="Roboto"/>
                        </a:rPr>
                        <a:t>R2's Table</a:t>
                      </a:r>
                      <a:endParaRPr sz="12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21925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latin typeface="Roboto"/>
                          <a:ea typeface="Roboto"/>
                          <a:cs typeface="Roboto"/>
                          <a:sym typeface="Roboto"/>
                        </a:rPr>
                        <a:t>To:</a:t>
                      </a:r>
                      <a:endParaRPr sz="12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/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latin typeface="Roboto"/>
                          <a:ea typeface="Roboto"/>
                          <a:cs typeface="Roboto"/>
                          <a:sym typeface="Roboto"/>
                        </a:rPr>
                        <a:t>Via:</a:t>
                      </a:r>
                      <a:endParaRPr sz="12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/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latin typeface="Roboto"/>
                          <a:ea typeface="Roboto"/>
                          <a:cs typeface="Roboto"/>
                          <a:sym typeface="Roboto"/>
                        </a:rPr>
                        <a:t>Cost:</a:t>
                      </a:r>
                      <a:endParaRPr sz="12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21925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latin typeface="Roboto"/>
                          <a:ea typeface="Roboto"/>
                          <a:cs typeface="Roboto"/>
                          <a:sym typeface="Roboto"/>
                        </a:rPr>
                        <a:t>A</a:t>
                      </a:r>
                      <a:endParaRPr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/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latin typeface="Roboto"/>
                          <a:ea typeface="Roboto"/>
                          <a:cs typeface="Roboto"/>
                          <a:sym typeface="Roboto"/>
                        </a:rPr>
                        <a:t>R3</a:t>
                      </a:r>
                      <a:endParaRPr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/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latin typeface="Roboto"/>
                          <a:ea typeface="Roboto"/>
                          <a:cs typeface="Roboto"/>
                          <a:sym typeface="Roboto"/>
                        </a:rPr>
                        <a:t>2</a:t>
                      </a:r>
                      <a:endParaRPr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</a:tbl>
          </a:graphicData>
        </a:graphic>
      </p:graphicFrame>
      <p:graphicFrame>
        <p:nvGraphicFramePr>
          <p:cNvPr id="1741" name="Google Shape;1741;p111"/>
          <p:cNvGraphicFramePr/>
          <p:nvPr/>
        </p:nvGraphicFramePr>
        <p:xfrm>
          <a:off x="990319" y="3292900"/>
          <a:ext cx="1835500" cy="688770"/>
        </p:xfrm>
        <a:graphic>
          <a:graphicData uri="http://schemas.openxmlformats.org/drawingml/2006/table">
            <a:tbl>
              <a:tblPr>
                <a:noFill/>
              </a:tblPr>
              <a:tblGrid>
                <a:gridCol w="5448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9707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79362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121925">
                <a:tc gridSpan="3"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latin typeface="Roboto"/>
                          <a:ea typeface="Roboto"/>
                          <a:cs typeface="Roboto"/>
                          <a:sym typeface="Roboto"/>
                        </a:rPr>
                        <a:t>R3's Table</a:t>
                      </a:r>
                      <a:endParaRPr sz="12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>
                    <a:solidFill>
                      <a:srgbClr val="FFFFFF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21925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latin typeface="Roboto"/>
                          <a:ea typeface="Roboto"/>
                          <a:cs typeface="Roboto"/>
                          <a:sym typeface="Roboto"/>
                        </a:rPr>
                        <a:t>To:</a:t>
                      </a:r>
                      <a:endParaRPr sz="12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latin typeface="Roboto"/>
                          <a:ea typeface="Roboto"/>
                          <a:cs typeface="Roboto"/>
                          <a:sym typeface="Roboto"/>
                        </a:rPr>
                        <a:t>Via:</a:t>
                      </a:r>
                      <a:endParaRPr sz="12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latin typeface="Roboto"/>
                          <a:ea typeface="Roboto"/>
                          <a:cs typeface="Roboto"/>
                          <a:sym typeface="Roboto"/>
                        </a:rPr>
                        <a:t>Cost:</a:t>
                      </a:r>
                      <a:endParaRPr sz="12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21925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b="1">
                          <a:latin typeface="Roboto"/>
                          <a:ea typeface="Roboto"/>
                          <a:cs typeface="Roboto"/>
                          <a:sym typeface="Roboto"/>
                        </a:rPr>
                        <a:t>A</a:t>
                      </a:r>
                      <a:endParaRPr b="1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>
                    <a:solidFill>
                      <a:srgbClr val="F4CCCC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 b="1">
                          <a:latin typeface="Roboto"/>
                          <a:ea typeface="Roboto"/>
                          <a:cs typeface="Roboto"/>
                          <a:sym typeface="Roboto"/>
                        </a:rPr>
                        <a:t>Direct</a:t>
                      </a:r>
                      <a:endParaRPr sz="1200" b="1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>
                    <a:solidFill>
                      <a:srgbClr val="F4CCCC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b="1">
                          <a:latin typeface="Roboto"/>
                          <a:ea typeface="Roboto"/>
                          <a:cs typeface="Roboto"/>
                          <a:sym typeface="Roboto"/>
                        </a:rPr>
                        <a:t>∞</a:t>
                      </a:r>
                      <a:endParaRPr b="1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>
                    <a:solidFill>
                      <a:srgbClr val="F4CCC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</a:tbl>
          </a:graphicData>
        </a:graphic>
      </p:graphicFrame>
      <p:sp>
        <p:nvSpPr>
          <p:cNvPr id="1742" name="Google Shape;1742;p111"/>
          <p:cNvSpPr/>
          <p:nvPr/>
        </p:nvSpPr>
        <p:spPr>
          <a:xfrm>
            <a:off x="3057875" y="4210250"/>
            <a:ext cx="1431300" cy="437100"/>
          </a:xfrm>
          <a:prstGeom prst="roundRect">
            <a:avLst>
              <a:gd name="adj" fmla="val 16667"/>
            </a:avLst>
          </a:prstGeom>
          <a:solidFill>
            <a:srgbClr val="F4CCCC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27425" tIns="27425" rIns="27425" bIns="27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>
                <a:latin typeface="Roboto"/>
                <a:ea typeface="Roboto"/>
                <a:cs typeface="Roboto"/>
                <a:sym typeface="Roboto"/>
              </a:rPr>
              <a:t>I'm </a:t>
            </a:r>
            <a:r>
              <a:rPr lang="en" sz="1200" b="1">
                <a:latin typeface="Roboto"/>
                <a:ea typeface="Roboto"/>
                <a:cs typeface="Roboto"/>
                <a:sym typeface="Roboto"/>
              </a:rPr>
              <a:t>R3</a:t>
            </a:r>
            <a:r>
              <a:rPr lang="en" sz="1200">
                <a:latin typeface="Roboto"/>
                <a:ea typeface="Roboto"/>
                <a:cs typeface="Roboto"/>
                <a:sym typeface="Roboto"/>
              </a:rPr>
              <a:t>, and </a:t>
            </a:r>
            <a:r>
              <a:rPr lang="en" sz="1200" b="1">
                <a:latin typeface="Roboto"/>
                <a:ea typeface="Roboto"/>
                <a:cs typeface="Roboto"/>
                <a:sym typeface="Roboto"/>
              </a:rPr>
              <a:t>A</a:t>
            </a:r>
            <a:r>
              <a:rPr lang="en" sz="1200">
                <a:latin typeface="Roboto"/>
                <a:ea typeface="Roboto"/>
                <a:cs typeface="Roboto"/>
                <a:sym typeface="Roboto"/>
              </a:rPr>
              <a:t> is</a:t>
            </a:r>
            <a:br>
              <a:rPr lang="en" sz="1200">
                <a:latin typeface="Roboto"/>
                <a:ea typeface="Roboto"/>
                <a:cs typeface="Roboto"/>
                <a:sym typeface="Roboto"/>
              </a:rPr>
            </a:br>
            <a:r>
              <a:rPr lang="en" sz="1200" b="1">
                <a:latin typeface="Roboto"/>
                <a:ea typeface="Roboto"/>
                <a:cs typeface="Roboto"/>
                <a:sym typeface="Roboto"/>
              </a:rPr>
              <a:t>∞</a:t>
            </a:r>
            <a:r>
              <a:rPr lang="en" sz="1200">
                <a:latin typeface="Roboto"/>
                <a:ea typeface="Roboto"/>
                <a:cs typeface="Roboto"/>
                <a:sym typeface="Roboto"/>
              </a:rPr>
              <a:t> away from me.</a:t>
            </a:r>
            <a:endParaRPr sz="1200"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1743" name="Google Shape;1743;p111"/>
          <p:cNvCxnSpPr/>
          <p:nvPr/>
        </p:nvCxnSpPr>
        <p:spPr>
          <a:xfrm>
            <a:off x="4115675" y="3883550"/>
            <a:ext cx="953100" cy="550200"/>
          </a:xfrm>
          <a:prstGeom prst="straightConnector1">
            <a:avLst/>
          </a:prstGeom>
          <a:noFill/>
          <a:ln w="19050" cap="flat" cmpd="sng">
            <a:solidFill>
              <a:schemeClr val="accent2"/>
            </a:solidFill>
            <a:prstDash val="solid"/>
            <a:round/>
            <a:headEnd type="none" w="med" len="med"/>
            <a:tailEnd type="triangle" w="med" len="med"/>
          </a:ln>
        </p:spPr>
      </p:cxnSp>
      <p:sp>
        <p:nvSpPr>
          <p:cNvPr id="1744" name="Google Shape;1744;p111"/>
          <p:cNvSpPr txBox="1"/>
          <p:nvPr/>
        </p:nvSpPr>
        <p:spPr>
          <a:xfrm rot="-899921">
            <a:off x="3320851" y="2695145"/>
            <a:ext cx="905343" cy="30156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27425" tIns="27425" rIns="27425" bIns="27425" anchor="t" anchorCtr="0">
            <a:sp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600" b="1">
                <a:latin typeface="Roboto"/>
                <a:ea typeface="Roboto"/>
                <a:cs typeface="Roboto"/>
                <a:sym typeface="Roboto"/>
              </a:rPr>
              <a:t>Dropped!</a:t>
            </a:r>
            <a:endParaRPr sz="1600" b="1"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1745" name="Google Shape;1745;p111"/>
          <p:cNvCxnSpPr/>
          <p:nvPr/>
        </p:nvCxnSpPr>
        <p:spPr>
          <a:xfrm rot="10800000" flipH="1">
            <a:off x="4115675" y="2842818"/>
            <a:ext cx="953100" cy="550200"/>
          </a:xfrm>
          <a:prstGeom prst="straightConnector1">
            <a:avLst/>
          </a:prstGeom>
          <a:noFill/>
          <a:ln w="19050" cap="flat" cmpd="sng">
            <a:solidFill>
              <a:srgbClr val="D9D9D9"/>
            </a:solidFill>
            <a:prstDash val="solid"/>
            <a:round/>
            <a:headEnd type="none" w="med" len="med"/>
            <a:tailEnd type="triangle" w="med" len="med"/>
          </a:ln>
        </p:spPr>
      </p:cxnSp>
      <p:graphicFrame>
        <p:nvGraphicFramePr>
          <p:cNvPr id="1746" name="Google Shape;1746;p111"/>
          <p:cNvGraphicFramePr/>
          <p:nvPr/>
        </p:nvGraphicFramePr>
        <p:xfrm>
          <a:off x="6318169" y="4054900"/>
          <a:ext cx="1835500" cy="688770"/>
        </p:xfrm>
        <a:graphic>
          <a:graphicData uri="http://schemas.openxmlformats.org/drawingml/2006/table">
            <a:tbl>
              <a:tblPr>
                <a:noFill/>
              </a:tblPr>
              <a:tblGrid>
                <a:gridCol w="5448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9707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79362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121925">
                <a:tc gridSpan="3"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latin typeface="Roboto"/>
                          <a:ea typeface="Roboto"/>
                          <a:cs typeface="Roboto"/>
                          <a:sym typeface="Roboto"/>
                        </a:rPr>
                        <a:t>R2's Table</a:t>
                      </a:r>
                      <a:endParaRPr sz="12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>
                    <a:solidFill>
                      <a:srgbClr val="FFFFFF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21925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latin typeface="Roboto"/>
                          <a:ea typeface="Roboto"/>
                          <a:cs typeface="Roboto"/>
                          <a:sym typeface="Roboto"/>
                        </a:rPr>
                        <a:t>To:</a:t>
                      </a:r>
                      <a:endParaRPr sz="12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latin typeface="Roboto"/>
                          <a:ea typeface="Roboto"/>
                          <a:cs typeface="Roboto"/>
                          <a:sym typeface="Roboto"/>
                        </a:rPr>
                        <a:t>Via:</a:t>
                      </a:r>
                      <a:endParaRPr sz="12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latin typeface="Roboto"/>
                          <a:ea typeface="Roboto"/>
                          <a:cs typeface="Roboto"/>
                          <a:sym typeface="Roboto"/>
                        </a:rPr>
                        <a:t>Cost:</a:t>
                      </a:r>
                      <a:endParaRPr sz="12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21925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b="1">
                          <a:latin typeface="Roboto"/>
                          <a:ea typeface="Roboto"/>
                          <a:cs typeface="Roboto"/>
                          <a:sym typeface="Roboto"/>
                        </a:rPr>
                        <a:t>A</a:t>
                      </a:r>
                      <a:endParaRPr b="1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>
                    <a:solidFill>
                      <a:srgbClr val="F4CCCC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b="1">
                          <a:latin typeface="Roboto"/>
                          <a:ea typeface="Roboto"/>
                          <a:cs typeface="Roboto"/>
                          <a:sym typeface="Roboto"/>
                        </a:rPr>
                        <a:t>R3</a:t>
                      </a:r>
                      <a:endParaRPr b="1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>
                    <a:solidFill>
                      <a:srgbClr val="F4CCCC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lang="en" b="1">
                          <a:solidFill>
                            <a:schemeClr val="dk1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∞</a:t>
                      </a:r>
                      <a:endParaRPr b="1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>
                    <a:solidFill>
                      <a:srgbClr val="F4CCC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</a:tbl>
          </a:graphicData>
        </a:graphic>
      </p:graphicFrame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7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1751" name="Google Shape;1751;p112"/>
          <p:cNvCxnSpPr>
            <a:stCxn id="1752" idx="1"/>
            <a:endCxn id="1753" idx="6"/>
          </p:cNvCxnSpPr>
          <p:nvPr/>
        </p:nvCxnSpPr>
        <p:spPr>
          <a:xfrm rot="10800000">
            <a:off x="3336375" y="3637275"/>
            <a:ext cx="400800" cy="0"/>
          </a:xfrm>
          <a:prstGeom prst="straightConnector1">
            <a:avLst/>
          </a:prstGeom>
          <a:noFill/>
          <a:ln w="19050" cap="flat" cmpd="sng">
            <a:solidFill>
              <a:srgbClr val="D9D9D9"/>
            </a:solidFill>
            <a:prstDash val="dash"/>
            <a:round/>
            <a:headEnd type="none" w="med" len="med"/>
            <a:tailEnd type="none" w="med" len="med"/>
          </a:ln>
        </p:spPr>
      </p:cxnSp>
      <p:sp>
        <p:nvSpPr>
          <p:cNvPr id="1754" name="Google Shape;1754;p112"/>
          <p:cNvSpPr txBox="1">
            <a:spLocks noGrp="1"/>
          </p:cNvSpPr>
          <p:nvPr>
            <p:ph type="title"/>
          </p:nvPr>
        </p:nvSpPr>
        <p:spPr>
          <a:xfrm>
            <a:off x="0" y="0"/>
            <a:ext cx="9144000" cy="39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accent3"/>
                </a:solidFill>
              </a:rPr>
              <a:t>Count to Infinity – The Problem</a:t>
            </a:r>
            <a:endParaRPr/>
          </a:p>
        </p:txBody>
      </p:sp>
      <p:sp>
        <p:nvSpPr>
          <p:cNvPr id="1755" name="Google Shape;1755;p112"/>
          <p:cNvSpPr txBox="1">
            <a:spLocks noGrp="1"/>
          </p:cNvSpPr>
          <p:nvPr>
            <p:ph type="body" idx="1"/>
          </p:nvPr>
        </p:nvSpPr>
        <p:spPr>
          <a:xfrm>
            <a:off x="107050" y="402200"/>
            <a:ext cx="8909700" cy="1079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"/>
              <a:t>At this point, R3 and R2 know A is unreachable.</a:t>
            </a:r>
            <a:endParaRPr/>
          </a:p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"/>
              <a:t>But R1 still thinks there's a path to A!</a:t>
            </a:r>
            <a:endParaRPr/>
          </a:p>
        </p:txBody>
      </p:sp>
      <p:sp>
        <p:nvSpPr>
          <p:cNvPr id="1753" name="Google Shape;1753;p112"/>
          <p:cNvSpPr/>
          <p:nvPr/>
        </p:nvSpPr>
        <p:spPr>
          <a:xfrm>
            <a:off x="3051363" y="3494775"/>
            <a:ext cx="285000" cy="285000"/>
          </a:xfrm>
          <a:prstGeom prst="ellipse">
            <a:avLst/>
          </a:prstGeom>
          <a:solidFill>
            <a:srgbClr val="FFFFFF"/>
          </a:solidFill>
          <a:ln w="19050" cap="flat" cmpd="sng">
            <a:solidFill>
              <a:srgbClr val="D9D9D9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D9D9D9"/>
                </a:solidFill>
                <a:latin typeface="Roboto"/>
                <a:ea typeface="Roboto"/>
                <a:cs typeface="Roboto"/>
                <a:sym typeface="Roboto"/>
              </a:rPr>
              <a:t>A</a:t>
            </a:r>
            <a:endParaRPr>
              <a:solidFill>
                <a:srgbClr val="D9D9D9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756" name="Google Shape;1756;p112"/>
          <p:cNvSpPr/>
          <p:nvPr/>
        </p:nvSpPr>
        <p:spPr>
          <a:xfrm>
            <a:off x="5261175" y="2780457"/>
            <a:ext cx="285000" cy="285000"/>
          </a:xfrm>
          <a:prstGeom prst="rect">
            <a:avLst/>
          </a:prstGeom>
          <a:solidFill>
            <a:srgbClr val="FFFFFF"/>
          </a:solidFill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R1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1757" name="Google Shape;1757;p112"/>
          <p:cNvCxnSpPr>
            <a:stCxn id="1756" idx="2"/>
            <a:endCxn id="1758" idx="0"/>
          </p:cNvCxnSpPr>
          <p:nvPr/>
        </p:nvCxnSpPr>
        <p:spPr>
          <a:xfrm>
            <a:off x="5403675" y="3065457"/>
            <a:ext cx="0" cy="1144800"/>
          </a:xfrm>
          <a:prstGeom prst="straightConnector1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1758" name="Google Shape;1758;p112"/>
          <p:cNvSpPr/>
          <p:nvPr/>
        </p:nvSpPr>
        <p:spPr>
          <a:xfrm>
            <a:off x="5261175" y="4210229"/>
            <a:ext cx="285000" cy="285000"/>
          </a:xfrm>
          <a:prstGeom prst="rect">
            <a:avLst/>
          </a:prstGeom>
          <a:solidFill>
            <a:srgbClr val="FFFFFF"/>
          </a:solidFill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R2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752" name="Google Shape;1752;p112"/>
          <p:cNvSpPr/>
          <p:nvPr/>
        </p:nvSpPr>
        <p:spPr>
          <a:xfrm>
            <a:off x="3737175" y="3494775"/>
            <a:ext cx="285000" cy="285000"/>
          </a:xfrm>
          <a:prstGeom prst="rect">
            <a:avLst/>
          </a:prstGeom>
          <a:solidFill>
            <a:srgbClr val="FFFFFF"/>
          </a:solidFill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R3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1759" name="Google Shape;1759;p112"/>
          <p:cNvCxnSpPr>
            <a:stCxn id="1756" idx="1"/>
            <a:endCxn id="1752" idx="3"/>
          </p:cNvCxnSpPr>
          <p:nvPr/>
        </p:nvCxnSpPr>
        <p:spPr>
          <a:xfrm flipH="1">
            <a:off x="4022175" y="2922957"/>
            <a:ext cx="1239000" cy="714300"/>
          </a:xfrm>
          <a:prstGeom prst="straightConnector1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1760" name="Google Shape;1760;p112"/>
          <p:cNvCxnSpPr>
            <a:stCxn id="1758" idx="1"/>
            <a:endCxn id="1752" idx="3"/>
          </p:cNvCxnSpPr>
          <p:nvPr/>
        </p:nvCxnSpPr>
        <p:spPr>
          <a:xfrm rot="10800000">
            <a:off x="4022175" y="3637229"/>
            <a:ext cx="1239000" cy="715500"/>
          </a:xfrm>
          <a:prstGeom prst="straightConnector1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med" len="med"/>
            <a:tailEnd type="none" w="med" len="med"/>
          </a:ln>
        </p:spPr>
      </p:cxnSp>
      <p:graphicFrame>
        <p:nvGraphicFramePr>
          <p:cNvPr id="1761" name="Google Shape;1761;p112"/>
          <p:cNvGraphicFramePr/>
          <p:nvPr/>
        </p:nvGraphicFramePr>
        <p:xfrm>
          <a:off x="990319" y="3292900"/>
          <a:ext cx="1835500" cy="688770"/>
        </p:xfrm>
        <a:graphic>
          <a:graphicData uri="http://schemas.openxmlformats.org/drawingml/2006/table">
            <a:tbl>
              <a:tblPr>
                <a:noFill/>
              </a:tblPr>
              <a:tblGrid>
                <a:gridCol w="5448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9707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79362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121925">
                <a:tc gridSpan="3"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latin typeface="Roboto"/>
                          <a:ea typeface="Roboto"/>
                          <a:cs typeface="Roboto"/>
                          <a:sym typeface="Roboto"/>
                        </a:rPr>
                        <a:t>R3's Table</a:t>
                      </a:r>
                      <a:endParaRPr sz="12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>
                    <a:solidFill>
                      <a:srgbClr val="FFFFFF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21925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latin typeface="Roboto"/>
                          <a:ea typeface="Roboto"/>
                          <a:cs typeface="Roboto"/>
                          <a:sym typeface="Roboto"/>
                        </a:rPr>
                        <a:t>To:</a:t>
                      </a:r>
                      <a:endParaRPr sz="12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latin typeface="Roboto"/>
                          <a:ea typeface="Roboto"/>
                          <a:cs typeface="Roboto"/>
                          <a:sym typeface="Roboto"/>
                        </a:rPr>
                        <a:t>Via:</a:t>
                      </a:r>
                      <a:endParaRPr sz="12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latin typeface="Roboto"/>
                          <a:ea typeface="Roboto"/>
                          <a:cs typeface="Roboto"/>
                          <a:sym typeface="Roboto"/>
                        </a:rPr>
                        <a:t>Cost:</a:t>
                      </a:r>
                      <a:endParaRPr sz="12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21925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latin typeface="Roboto"/>
                          <a:ea typeface="Roboto"/>
                          <a:cs typeface="Roboto"/>
                          <a:sym typeface="Roboto"/>
                        </a:rPr>
                        <a:t>A</a:t>
                      </a:r>
                      <a:endParaRPr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latin typeface="Roboto"/>
                          <a:ea typeface="Roboto"/>
                          <a:cs typeface="Roboto"/>
                          <a:sym typeface="Roboto"/>
                        </a:rPr>
                        <a:t>Direct</a:t>
                      </a:r>
                      <a:endParaRPr sz="12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latin typeface="Roboto"/>
                          <a:ea typeface="Roboto"/>
                          <a:cs typeface="Roboto"/>
                          <a:sym typeface="Roboto"/>
                        </a:rPr>
                        <a:t>∞</a:t>
                      </a:r>
                      <a:endParaRPr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</a:tbl>
          </a:graphicData>
        </a:graphic>
      </p:graphicFrame>
      <p:graphicFrame>
        <p:nvGraphicFramePr>
          <p:cNvPr id="1762" name="Google Shape;1762;p112"/>
          <p:cNvGraphicFramePr/>
          <p:nvPr/>
        </p:nvGraphicFramePr>
        <p:xfrm>
          <a:off x="6318169" y="2544150"/>
          <a:ext cx="1835500" cy="688770"/>
        </p:xfrm>
        <a:graphic>
          <a:graphicData uri="http://schemas.openxmlformats.org/drawingml/2006/table">
            <a:tbl>
              <a:tblPr>
                <a:noFill/>
              </a:tblPr>
              <a:tblGrid>
                <a:gridCol w="5448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9707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79362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121925">
                <a:tc gridSpan="3"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latin typeface="Roboto"/>
                          <a:ea typeface="Roboto"/>
                          <a:cs typeface="Roboto"/>
                          <a:sym typeface="Roboto"/>
                        </a:rPr>
                        <a:t>R1's Table</a:t>
                      </a:r>
                      <a:endParaRPr sz="12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21925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latin typeface="Roboto"/>
                          <a:ea typeface="Roboto"/>
                          <a:cs typeface="Roboto"/>
                          <a:sym typeface="Roboto"/>
                        </a:rPr>
                        <a:t>To:</a:t>
                      </a:r>
                      <a:endParaRPr sz="12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/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latin typeface="Roboto"/>
                          <a:ea typeface="Roboto"/>
                          <a:cs typeface="Roboto"/>
                          <a:sym typeface="Roboto"/>
                        </a:rPr>
                        <a:t>Via:</a:t>
                      </a:r>
                      <a:endParaRPr sz="12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/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latin typeface="Roboto"/>
                          <a:ea typeface="Roboto"/>
                          <a:cs typeface="Roboto"/>
                          <a:sym typeface="Roboto"/>
                        </a:rPr>
                        <a:t>Cost:</a:t>
                      </a:r>
                      <a:endParaRPr sz="12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21925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latin typeface="Roboto"/>
                          <a:ea typeface="Roboto"/>
                          <a:cs typeface="Roboto"/>
                          <a:sym typeface="Roboto"/>
                        </a:rPr>
                        <a:t>A</a:t>
                      </a:r>
                      <a:endParaRPr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/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latin typeface="Roboto"/>
                          <a:ea typeface="Roboto"/>
                          <a:cs typeface="Roboto"/>
                          <a:sym typeface="Roboto"/>
                        </a:rPr>
                        <a:t>R3</a:t>
                      </a:r>
                      <a:endParaRPr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/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latin typeface="Roboto"/>
                          <a:ea typeface="Roboto"/>
                          <a:cs typeface="Roboto"/>
                          <a:sym typeface="Roboto"/>
                        </a:rPr>
                        <a:t>2</a:t>
                      </a:r>
                      <a:endParaRPr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</a:tbl>
          </a:graphicData>
        </a:graphic>
      </p:graphicFrame>
      <p:graphicFrame>
        <p:nvGraphicFramePr>
          <p:cNvPr id="1763" name="Google Shape;1763;p112"/>
          <p:cNvGraphicFramePr/>
          <p:nvPr/>
        </p:nvGraphicFramePr>
        <p:xfrm>
          <a:off x="6318169" y="4054900"/>
          <a:ext cx="1835500" cy="688770"/>
        </p:xfrm>
        <a:graphic>
          <a:graphicData uri="http://schemas.openxmlformats.org/drawingml/2006/table">
            <a:tbl>
              <a:tblPr>
                <a:noFill/>
              </a:tblPr>
              <a:tblGrid>
                <a:gridCol w="5448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9707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79362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121925">
                <a:tc gridSpan="3"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latin typeface="Roboto"/>
                          <a:ea typeface="Roboto"/>
                          <a:cs typeface="Roboto"/>
                          <a:sym typeface="Roboto"/>
                        </a:rPr>
                        <a:t>R2's Table</a:t>
                      </a:r>
                      <a:endParaRPr sz="12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>
                    <a:solidFill>
                      <a:srgbClr val="FFFFFF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21925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latin typeface="Roboto"/>
                          <a:ea typeface="Roboto"/>
                          <a:cs typeface="Roboto"/>
                          <a:sym typeface="Roboto"/>
                        </a:rPr>
                        <a:t>To:</a:t>
                      </a:r>
                      <a:endParaRPr sz="12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latin typeface="Roboto"/>
                          <a:ea typeface="Roboto"/>
                          <a:cs typeface="Roboto"/>
                          <a:sym typeface="Roboto"/>
                        </a:rPr>
                        <a:t>Via:</a:t>
                      </a:r>
                      <a:endParaRPr sz="12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latin typeface="Roboto"/>
                          <a:ea typeface="Roboto"/>
                          <a:cs typeface="Roboto"/>
                          <a:sym typeface="Roboto"/>
                        </a:rPr>
                        <a:t>Cost:</a:t>
                      </a:r>
                      <a:endParaRPr sz="12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21925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latin typeface="Roboto"/>
                          <a:ea typeface="Roboto"/>
                          <a:cs typeface="Roboto"/>
                          <a:sym typeface="Roboto"/>
                        </a:rPr>
                        <a:t>A</a:t>
                      </a:r>
                      <a:endParaRPr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latin typeface="Roboto"/>
                          <a:ea typeface="Roboto"/>
                          <a:cs typeface="Roboto"/>
                          <a:sym typeface="Roboto"/>
                        </a:rPr>
                        <a:t>R3</a:t>
                      </a:r>
                      <a:endParaRPr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solidFill>
                            <a:schemeClr val="dk1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∞</a:t>
                      </a:r>
                      <a:endParaRPr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8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7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1768" name="Google Shape;1768;p113"/>
          <p:cNvCxnSpPr>
            <a:stCxn id="1769" idx="1"/>
            <a:endCxn id="1770" idx="6"/>
          </p:cNvCxnSpPr>
          <p:nvPr/>
        </p:nvCxnSpPr>
        <p:spPr>
          <a:xfrm rot="10800000">
            <a:off x="3336375" y="3637275"/>
            <a:ext cx="400800" cy="0"/>
          </a:xfrm>
          <a:prstGeom prst="straightConnector1">
            <a:avLst/>
          </a:prstGeom>
          <a:noFill/>
          <a:ln w="19050" cap="flat" cmpd="sng">
            <a:solidFill>
              <a:srgbClr val="D9D9D9"/>
            </a:solidFill>
            <a:prstDash val="dash"/>
            <a:round/>
            <a:headEnd type="none" w="med" len="med"/>
            <a:tailEnd type="none" w="med" len="med"/>
          </a:ln>
        </p:spPr>
      </p:cxnSp>
      <p:sp>
        <p:nvSpPr>
          <p:cNvPr id="1771" name="Google Shape;1771;p113"/>
          <p:cNvSpPr txBox="1">
            <a:spLocks noGrp="1"/>
          </p:cNvSpPr>
          <p:nvPr>
            <p:ph type="title"/>
          </p:nvPr>
        </p:nvSpPr>
        <p:spPr>
          <a:xfrm>
            <a:off x="0" y="0"/>
            <a:ext cx="9144000" cy="39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accent3"/>
                </a:solidFill>
              </a:rPr>
              <a:t>Count to Infinity – The Problem</a:t>
            </a:r>
            <a:endParaRPr/>
          </a:p>
        </p:txBody>
      </p:sp>
      <p:sp>
        <p:nvSpPr>
          <p:cNvPr id="1772" name="Google Shape;1772;p113"/>
          <p:cNvSpPr txBox="1">
            <a:spLocks noGrp="1"/>
          </p:cNvSpPr>
          <p:nvPr>
            <p:ph type="body" idx="1"/>
          </p:nvPr>
        </p:nvSpPr>
        <p:spPr>
          <a:xfrm>
            <a:off x="107050" y="402200"/>
            <a:ext cx="8909700" cy="1079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"/>
              <a:t>R1 announces it can reach A.</a:t>
            </a:r>
            <a:endParaRPr/>
          </a:p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"/>
              <a:t>Split horizon: R1's path came from R3, so don't tell R3.</a:t>
            </a:r>
            <a:endParaRPr/>
          </a:p>
        </p:txBody>
      </p:sp>
      <p:sp>
        <p:nvSpPr>
          <p:cNvPr id="1770" name="Google Shape;1770;p113"/>
          <p:cNvSpPr/>
          <p:nvPr/>
        </p:nvSpPr>
        <p:spPr>
          <a:xfrm>
            <a:off x="3051363" y="3494775"/>
            <a:ext cx="285000" cy="285000"/>
          </a:xfrm>
          <a:prstGeom prst="ellipse">
            <a:avLst/>
          </a:prstGeom>
          <a:solidFill>
            <a:srgbClr val="FFFFFF"/>
          </a:solidFill>
          <a:ln w="19050" cap="flat" cmpd="sng">
            <a:solidFill>
              <a:srgbClr val="D9D9D9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D9D9D9"/>
                </a:solidFill>
                <a:latin typeface="Roboto"/>
                <a:ea typeface="Roboto"/>
                <a:cs typeface="Roboto"/>
                <a:sym typeface="Roboto"/>
              </a:rPr>
              <a:t>A</a:t>
            </a:r>
            <a:endParaRPr>
              <a:solidFill>
                <a:srgbClr val="D9D9D9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773" name="Google Shape;1773;p113"/>
          <p:cNvSpPr/>
          <p:nvPr/>
        </p:nvSpPr>
        <p:spPr>
          <a:xfrm>
            <a:off x="5261175" y="2780457"/>
            <a:ext cx="285000" cy="285000"/>
          </a:xfrm>
          <a:prstGeom prst="rect">
            <a:avLst/>
          </a:prstGeom>
          <a:solidFill>
            <a:srgbClr val="FFFFFF"/>
          </a:solidFill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R1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1774" name="Google Shape;1774;p113"/>
          <p:cNvCxnSpPr>
            <a:stCxn id="1773" idx="2"/>
            <a:endCxn id="1775" idx="0"/>
          </p:cNvCxnSpPr>
          <p:nvPr/>
        </p:nvCxnSpPr>
        <p:spPr>
          <a:xfrm>
            <a:off x="5403675" y="3065457"/>
            <a:ext cx="0" cy="1144800"/>
          </a:xfrm>
          <a:prstGeom prst="straightConnector1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1775" name="Google Shape;1775;p113"/>
          <p:cNvSpPr/>
          <p:nvPr/>
        </p:nvSpPr>
        <p:spPr>
          <a:xfrm>
            <a:off x="5261175" y="4210229"/>
            <a:ext cx="285000" cy="285000"/>
          </a:xfrm>
          <a:prstGeom prst="rect">
            <a:avLst/>
          </a:prstGeom>
          <a:solidFill>
            <a:srgbClr val="FFFFFF"/>
          </a:solidFill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R2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769" name="Google Shape;1769;p113"/>
          <p:cNvSpPr/>
          <p:nvPr/>
        </p:nvSpPr>
        <p:spPr>
          <a:xfrm>
            <a:off x="3737175" y="3494775"/>
            <a:ext cx="285000" cy="285000"/>
          </a:xfrm>
          <a:prstGeom prst="rect">
            <a:avLst/>
          </a:prstGeom>
          <a:solidFill>
            <a:srgbClr val="FFFFFF"/>
          </a:solidFill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R3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1776" name="Google Shape;1776;p113"/>
          <p:cNvCxnSpPr>
            <a:stCxn id="1773" idx="1"/>
            <a:endCxn id="1769" idx="3"/>
          </p:cNvCxnSpPr>
          <p:nvPr/>
        </p:nvCxnSpPr>
        <p:spPr>
          <a:xfrm flipH="1">
            <a:off x="4022175" y="2922957"/>
            <a:ext cx="1239000" cy="714300"/>
          </a:xfrm>
          <a:prstGeom prst="straightConnector1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1777" name="Google Shape;1777;p113"/>
          <p:cNvCxnSpPr>
            <a:stCxn id="1775" idx="1"/>
            <a:endCxn id="1769" idx="3"/>
          </p:cNvCxnSpPr>
          <p:nvPr/>
        </p:nvCxnSpPr>
        <p:spPr>
          <a:xfrm rot="10800000">
            <a:off x="4022175" y="3637229"/>
            <a:ext cx="1239000" cy="715500"/>
          </a:xfrm>
          <a:prstGeom prst="straightConnector1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med" len="med"/>
            <a:tailEnd type="none" w="med" len="med"/>
          </a:ln>
        </p:spPr>
      </p:cxnSp>
      <p:graphicFrame>
        <p:nvGraphicFramePr>
          <p:cNvPr id="1778" name="Google Shape;1778;p113"/>
          <p:cNvGraphicFramePr/>
          <p:nvPr/>
        </p:nvGraphicFramePr>
        <p:xfrm>
          <a:off x="990319" y="3292900"/>
          <a:ext cx="1835500" cy="688770"/>
        </p:xfrm>
        <a:graphic>
          <a:graphicData uri="http://schemas.openxmlformats.org/drawingml/2006/table">
            <a:tbl>
              <a:tblPr>
                <a:noFill/>
              </a:tblPr>
              <a:tblGrid>
                <a:gridCol w="5448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9707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79362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121925">
                <a:tc gridSpan="3"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latin typeface="Roboto"/>
                          <a:ea typeface="Roboto"/>
                          <a:cs typeface="Roboto"/>
                          <a:sym typeface="Roboto"/>
                        </a:rPr>
                        <a:t>R3's Table</a:t>
                      </a:r>
                      <a:endParaRPr sz="12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>
                    <a:solidFill>
                      <a:srgbClr val="FFFFFF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21925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latin typeface="Roboto"/>
                          <a:ea typeface="Roboto"/>
                          <a:cs typeface="Roboto"/>
                          <a:sym typeface="Roboto"/>
                        </a:rPr>
                        <a:t>To:</a:t>
                      </a:r>
                      <a:endParaRPr sz="12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latin typeface="Roboto"/>
                          <a:ea typeface="Roboto"/>
                          <a:cs typeface="Roboto"/>
                          <a:sym typeface="Roboto"/>
                        </a:rPr>
                        <a:t>Via:</a:t>
                      </a:r>
                      <a:endParaRPr sz="12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latin typeface="Roboto"/>
                          <a:ea typeface="Roboto"/>
                          <a:cs typeface="Roboto"/>
                          <a:sym typeface="Roboto"/>
                        </a:rPr>
                        <a:t>Cost:</a:t>
                      </a:r>
                      <a:endParaRPr sz="12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21925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latin typeface="Roboto"/>
                          <a:ea typeface="Roboto"/>
                          <a:cs typeface="Roboto"/>
                          <a:sym typeface="Roboto"/>
                        </a:rPr>
                        <a:t>A</a:t>
                      </a:r>
                      <a:endParaRPr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latin typeface="Roboto"/>
                          <a:ea typeface="Roboto"/>
                          <a:cs typeface="Roboto"/>
                          <a:sym typeface="Roboto"/>
                        </a:rPr>
                        <a:t>Direct</a:t>
                      </a:r>
                      <a:endParaRPr sz="12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latin typeface="Roboto"/>
                          <a:ea typeface="Roboto"/>
                          <a:cs typeface="Roboto"/>
                          <a:sym typeface="Roboto"/>
                        </a:rPr>
                        <a:t>∞</a:t>
                      </a:r>
                      <a:endParaRPr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</a:tbl>
          </a:graphicData>
        </a:graphic>
      </p:graphicFrame>
      <p:graphicFrame>
        <p:nvGraphicFramePr>
          <p:cNvPr id="1779" name="Google Shape;1779;p113"/>
          <p:cNvGraphicFramePr/>
          <p:nvPr/>
        </p:nvGraphicFramePr>
        <p:xfrm>
          <a:off x="6318169" y="2544150"/>
          <a:ext cx="1835500" cy="688770"/>
        </p:xfrm>
        <a:graphic>
          <a:graphicData uri="http://schemas.openxmlformats.org/drawingml/2006/table">
            <a:tbl>
              <a:tblPr>
                <a:noFill/>
              </a:tblPr>
              <a:tblGrid>
                <a:gridCol w="5448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9707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79362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121925">
                <a:tc gridSpan="3"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latin typeface="Roboto"/>
                          <a:ea typeface="Roboto"/>
                          <a:cs typeface="Roboto"/>
                          <a:sym typeface="Roboto"/>
                        </a:rPr>
                        <a:t>R1's Table</a:t>
                      </a:r>
                      <a:endParaRPr sz="12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21925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latin typeface="Roboto"/>
                          <a:ea typeface="Roboto"/>
                          <a:cs typeface="Roboto"/>
                          <a:sym typeface="Roboto"/>
                        </a:rPr>
                        <a:t>To:</a:t>
                      </a:r>
                      <a:endParaRPr sz="12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/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latin typeface="Roboto"/>
                          <a:ea typeface="Roboto"/>
                          <a:cs typeface="Roboto"/>
                          <a:sym typeface="Roboto"/>
                        </a:rPr>
                        <a:t>Via:</a:t>
                      </a:r>
                      <a:endParaRPr sz="12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/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latin typeface="Roboto"/>
                          <a:ea typeface="Roboto"/>
                          <a:cs typeface="Roboto"/>
                          <a:sym typeface="Roboto"/>
                        </a:rPr>
                        <a:t>Cost:</a:t>
                      </a:r>
                      <a:endParaRPr sz="12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21925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latin typeface="Roboto"/>
                          <a:ea typeface="Roboto"/>
                          <a:cs typeface="Roboto"/>
                          <a:sym typeface="Roboto"/>
                        </a:rPr>
                        <a:t>A</a:t>
                      </a:r>
                      <a:endParaRPr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/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latin typeface="Roboto"/>
                          <a:ea typeface="Roboto"/>
                          <a:cs typeface="Roboto"/>
                          <a:sym typeface="Roboto"/>
                        </a:rPr>
                        <a:t>R3</a:t>
                      </a:r>
                      <a:endParaRPr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/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latin typeface="Roboto"/>
                          <a:ea typeface="Roboto"/>
                          <a:cs typeface="Roboto"/>
                          <a:sym typeface="Roboto"/>
                        </a:rPr>
                        <a:t>2</a:t>
                      </a:r>
                      <a:endParaRPr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</a:tbl>
          </a:graphicData>
        </a:graphic>
      </p:graphicFrame>
      <p:graphicFrame>
        <p:nvGraphicFramePr>
          <p:cNvPr id="1780" name="Google Shape;1780;p113"/>
          <p:cNvGraphicFramePr/>
          <p:nvPr/>
        </p:nvGraphicFramePr>
        <p:xfrm>
          <a:off x="6318169" y="4054900"/>
          <a:ext cx="1835500" cy="688770"/>
        </p:xfrm>
        <a:graphic>
          <a:graphicData uri="http://schemas.openxmlformats.org/drawingml/2006/table">
            <a:tbl>
              <a:tblPr>
                <a:noFill/>
              </a:tblPr>
              <a:tblGrid>
                <a:gridCol w="5448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9707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79362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121925">
                <a:tc gridSpan="3"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latin typeface="Roboto"/>
                          <a:ea typeface="Roboto"/>
                          <a:cs typeface="Roboto"/>
                          <a:sym typeface="Roboto"/>
                        </a:rPr>
                        <a:t>R2's Table</a:t>
                      </a:r>
                      <a:endParaRPr sz="12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>
                    <a:solidFill>
                      <a:srgbClr val="FFFFFF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21925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latin typeface="Roboto"/>
                          <a:ea typeface="Roboto"/>
                          <a:cs typeface="Roboto"/>
                          <a:sym typeface="Roboto"/>
                        </a:rPr>
                        <a:t>To:</a:t>
                      </a:r>
                      <a:endParaRPr sz="12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latin typeface="Roboto"/>
                          <a:ea typeface="Roboto"/>
                          <a:cs typeface="Roboto"/>
                          <a:sym typeface="Roboto"/>
                        </a:rPr>
                        <a:t>Via:</a:t>
                      </a:r>
                      <a:endParaRPr sz="12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latin typeface="Roboto"/>
                          <a:ea typeface="Roboto"/>
                          <a:cs typeface="Roboto"/>
                          <a:sym typeface="Roboto"/>
                        </a:rPr>
                        <a:t>Cost:</a:t>
                      </a:r>
                      <a:endParaRPr sz="12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21925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latin typeface="Roboto"/>
                          <a:ea typeface="Roboto"/>
                          <a:cs typeface="Roboto"/>
                          <a:sym typeface="Roboto"/>
                        </a:rPr>
                        <a:t>A</a:t>
                      </a:r>
                      <a:endParaRPr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latin typeface="Roboto"/>
                          <a:ea typeface="Roboto"/>
                          <a:cs typeface="Roboto"/>
                          <a:sym typeface="Roboto"/>
                        </a:rPr>
                        <a:t>R3</a:t>
                      </a:r>
                      <a:endParaRPr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solidFill>
                            <a:schemeClr val="dk1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∞</a:t>
                      </a:r>
                      <a:endParaRPr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</a:tbl>
          </a:graphicData>
        </a:graphic>
      </p:graphicFrame>
      <p:sp>
        <p:nvSpPr>
          <p:cNvPr id="1781" name="Google Shape;1781;p113"/>
          <p:cNvSpPr/>
          <p:nvPr/>
        </p:nvSpPr>
        <p:spPr>
          <a:xfrm>
            <a:off x="5733600" y="3425350"/>
            <a:ext cx="1431300" cy="437100"/>
          </a:xfrm>
          <a:prstGeom prst="roundRect">
            <a:avLst>
              <a:gd name="adj" fmla="val 16667"/>
            </a:avLst>
          </a:prstGeom>
          <a:solidFill>
            <a:srgbClr val="F4CCCC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27425" tIns="27425" rIns="27425" bIns="27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>
                <a:latin typeface="Roboto"/>
                <a:ea typeface="Roboto"/>
                <a:cs typeface="Roboto"/>
                <a:sym typeface="Roboto"/>
              </a:rPr>
              <a:t>I'm </a:t>
            </a:r>
            <a:r>
              <a:rPr lang="en" sz="1200" b="1">
                <a:latin typeface="Roboto"/>
                <a:ea typeface="Roboto"/>
                <a:cs typeface="Roboto"/>
                <a:sym typeface="Roboto"/>
              </a:rPr>
              <a:t>R1</a:t>
            </a:r>
            <a:r>
              <a:rPr lang="en" sz="1200">
                <a:latin typeface="Roboto"/>
                <a:ea typeface="Roboto"/>
                <a:cs typeface="Roboto"/>
                <a:sym typeface="Roboto"/>
              </a:rPr>
              <a:t>, and </a:t>
            </a:r>
            <a:r>
              <a:rPr lang="en" sz="1200" b="1">
                <a:latin typeface="Roboto"/>
                <a:ea typeface="Roboto"/>
                <a:cs typeface="Roboto"/>
                <a:sym typeface="Roboto"/>
              </a:rPr>
              <a:t>A</a:t>
            </a:r>
            <a:r>
              <a:rPr lang="en" sz="1200">
                <a:latin typeface="Roboto"/>
                <a:ea typeface="Roboto"/>
                <a:cs typeface="Roboto"/>
                <a:sym typeface="Roboto"/>
              </a:rPr>
              <a:t> is</a:t>
            </a:r>
            <a:br>
              <a:rPr lang="en" sz="1200">
                <a:latin typeface="Roboto"/>
                <a:ea typeface="Roboto"/>
                <a:cs typeface="Roboto"/>
                <a:sym typeface="Roboto"/>
              </a:rPr>
            </a:br>
            <a:r>
              <a:rPr lang="en" sz="1200" b="1">
                <a:latin typeface="Roboto"/>
                <a:ea typeface="Roboto"/>
                <a:cs typeface="Roboto"/>
                <a:sym typeface="Roboto"/>
              </a:rPr>
              <a:t>2</a:t>
            </a:r>
            <a:r>
              <a:rPr lang="en" sz="1200">
                <a:latin typeface="Roboto"/>
                <a:ea typeface="Roboto"/>
                <a:cs typeface="Roboto"/>
                <a:sym typeface="Roboto"/>
              </a:rPr>
              <a:t> away from me.</a:t>
            </a:r>
            <a:endParaRPr sz="1200"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1782" name="Google Shape;1782;p113"/>
          <p:cNvCxnSpPr/>
          <p:nvPr/>
        </p:nvCxnSpPr>
        <p:spPr>
          <a:xfrm>
            <a:off x="5569575" y="3172442"/>
            <a:ext cx="0" cy="922800"/>
          </a:xfrm>
          <a:prstGeom prst="straightConnector1">
            <a:avLst/>
          </a:prstGeom>
          <a:noFill/>
          <a:ln w="19050" cap="flat" cmpd="sng">
            <a:solidFill>
              <a:schemeClr val="accent2"/>
            </a:solidFill>
            <a:prstDash val="solid"/>
            <a:round/>
            <a:headEnd type="none" w="med" len="med"/>
            <a:tailEnd type="triangle" w="med" len="med"/>
          </a:ln>
        </p:spPr>
      </p:cxnSp>
      <p:graphicFrame>
        <p:nvGraphicFramePr>
          <p:cNvPr id="1783" name="Google Shape;1783;p113"/>
          <p:cNvGraphicFramePr/>
          <p:nvPr/>
        </p:nvGraphicFramePr>
        <p:xfrm>
          <a:off x="6318169" y="4054900"/>
          <a:ext cx="1835500" cy="688770"/>
        </p:xfrm>
        <a:graphic>
          <a:graphicData uri="http://schemas.openxmlformats.org/drawingml/2006/table">
            <a:tbl>
              <a:tblPr>
                <a:noFill/>
              </a:tblPr>
              <a:tblGrid>
                <a:gridCol w="5448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9707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79362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121925">
                <a:tc gridSpan="3"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latin typeface="Roboto"/>
                          <a:ea typeface="Roboto"/>
                          <a:cs typeface="Roboto"/>
                          <a:sym typeface="Roboto"/>
                        </a:rPr>
                        <a:t>R2's Table</a:t>
                      </a:r>
                      <a:endParaRPr sz="12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>
                    <a:solidFill>
                      <a:srgbClr val="FFFFFF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21925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latin typeface="Roboto"/>
                          <a:ea typeface="Roboto"/>
                          <a:cs typeface="Roboto"/>
                          <a:sym typeface="Roboto"/>
                        </a:rPr>
                        <a:t>To:</a:t>
                      </a:r>
                      <a:endParaRPr sz="12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latin typeface="Roboto"/>
                          <a:ea typeface="Roboto"/>
                          <a:cs typeface="Roboto"/>
                          <a:sym typeface="Roboto"/>
                        </a:rPr>
                        <a:t>Via:</a:t>
                      </a:r>
                      <a:endParaRPr sz="12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latin typeface="Roboto"/>
                          <a:ea typeface="Roboto"/>
                          <a:cs typeface="Roboto"/>
                          <a:sym typeface="Roboto"/>
                        </a:rPr>
                        <a:t>Cost:</a:t>
                      </a:r>
                      <a:endParaRPr sz="12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21925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b="1">
                          <a:latin typeface="Roboto"/>
                          <a:ea typeface="Roboto"/>
                          <a:cs typeface="Roboto"/>
                          <a:sym typeface="Roboto"/>
                        </a:rPr>
                        <a:t>A</a:t>
                      </a:r>
                      <a:endParaRPr b="1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>
                    <a:solidFill>
                      <a:srgbClr val="F4CCCC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b="1">
                          <a:latin typeface="Roboto"/>
                          <a:ea typeface="Roboto"/>
                          <a:cs typeface="Roboto"/>
                          <a:sym typeface="Roboto"/>
                        </a:rPr>
                        <a:t>R1</a:t>
                      </a:r>
                      <a:endParaRPr b="1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>
                    <a:solidFill>
                      <a:srgbClr val="F4CCCC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b="1">
                          <a:solidFill>
                            <a:schemeClr val="dk1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3</a:t>
                      </a:r>
                      <a:endParaRPr b="1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>
                    <a:solidFill>
                      <a:srgbClr val="F4CCC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</a:tbl>
          </a:graphicData>
        </a:graphic>
      </p:graphicFrame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7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1788" name="Google Shape;1788;p114"/>
          <p:cNvCxnSpPr>
            <a:stCxn id="1789" idx="1"/>
            <a:endCxn id="1790" idx="6"/>
          </p:cNvCxnSpPr>
          <p:nvPr/>
        </p:nvCxnSpPr>
        <p:spPr>
          <a:xfrm rot="10800000">
            <a:off x="3336375" y="3637275"/>
            <a:ext cx="400800" cy="0"/>
          </a:xfrm>
          <a:prstGeom prst="straightConnector1">
            <a:avLst/>
          </a:prstGeom>
          <a:noFill/>
          <a:ln w="19050" cap="flat" cmpd="sng">
            <a:solidFill>
              <a:srgbClr val="D9D9D9"/>
            </a:solidFill>
            <a:prstDash val="dash"/>
            <a:round/>
            <a:headEnd type="none" w="med" len="med"/>
            <a:tailEnd type="none" w="med" len="med"/>
          </a:ln>
        </p:spPr>
      </p:cxnSp>
      <p:sp>
        <p:nvSpPr>
          <p:cNvPr id="1791" name="Google Shape;1791;p114"/>
          <p:cNvSpPr txBox="1">
            <a:spLocks noGrp="1"/>
          </p:cNvSpPr>
          <p:nvPr>
            <p:ph type="title"/>
          </p:nvPr>
        </p:nvSpPr>
        <p:spPr>
          <a:xfrm>
            <a:off x="0" y="0"/>
            <a:ext cx="9144000" cy="39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accent3"/>
                </a:solidFill>
              </a:rPr>
              <a:t>Count to Infinity – The Problem</a:t>
            </a:r>
            <a:endParaRPr/>
          </a:p>
        </p:txBody>
      </p:sp>
      <p:sp>
        <p:nvSpPr>
          <p:cNvPr id="1792" name="Google Shape;1792;p114"/>
          <p:cNvSpPr txBox="1">
            <a:spLocks noGrp="1"/>
          </p:cNvSpPr>
          <p:nvPr>
            <p:ph type="body" idx="1"/>
          </p:nvPr>
        </p:nvSpPr>
        <p:spPr>
          <a:xfrm>
            <a:off x="107050" y="402200"/>
            <a:ext cx="8909700" cy="1079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"/>
              <a:t>R2 announces it can reach A.</a:t>
            </a:r>
            <a:endParaRPr/>
          </a:p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"/>
              <a:t>Split horizon: R2's path came from R1, so don't tell R1.</a:t>
            </a:r>
            <a:endParaRPr/>
          </a:p>
        </p:txBody>
      </p:sp>
      <p:sp>
        <p:nvSpPr>
          <p:cNvPr id="1790" name="Google Shape;1790;p114"/>
          <p:cNvSpPr/>
          <p:nvPr/>
        </p:nvSpPr>
        <p:spPr>
          <a:xfrm>
            <a:off x="3051363" y="3494775"/>
            <a:ext cx="285000" cy="285000"/>
          </a:xfrm>
          <a:prstGeom prst="ellipse">
            <a:avLst/>
          </a:prstGeom>
          <a:solidFill>
            <a:srgbClr val="FFFFFF"/>
          </a:solidFill>
          <a:ln w="19050" cap="flat" cmpd="sng">
            <a:solidFill>
              <a:srgbClr val="D9D9D9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D9D9D9"/>
                </a:solidFill>
                <a:latin typeface="Roboto"/>
                <a:ea typeface="Roboto"/>
                <a:cs typeface="Roboto"/>
                <a:sym typeface="Roboto"/>
              </a:rPr>
              <a:t>A</a:t>
            </a:r>
            <a:endParaRPr>
              <a:solidFill>
                <a:srgbClr val="D9D9D9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793" name="Google Shape;1793;p114"/>
          <p:cNvSpPr/>
          <p:nvPr/>
        </p:nvSpPr>
        <p:spPr>
          <a:xfrm>
            <a:off x="5261175" y="2780457"/>
            <a:ext cx="285000" cy="285000"/>
          </a:xfrm>
          <a:prstGeom prst="rect">
            <a:avLst/>
          </a:prstGeom>
          <a:solidFill>
            <a:srgbClr val="FFFFFF"/>
          </a:solidFill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R1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1794" name="Google Shape;1794;p114"/>
          <p:cNvCxnSpPr>
            <a:stCxn id="1793" idx="2"/>
            <a:endCxn id="1795" idx="0"/>
          </p:cNvCxnSpPr>
          <p:nvPr/>
        </p:nvCxnSpPr>
        <p:spPr>
          <a:xfrm>
            <a:off x="5403675" y="3065457"/>
            <a:ext cx="0" cy="1144800"/>
          </a:xfrm>
          <a:prstGeom prst="straightConnector1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1795" name="Google Shape;1795;p114"/>
          <p:cNvSpPr/>
          <p:nvPr/>
        </p:nvSpPr>
        <p:spPr>
          <a:xfrm>
            <a:off x="5261175" y="4210229"/>
            <a:ext cx="285000" cy="285000"/>
          </a:xfrm>
          <a:prstGeom prst="rect">
            <a:avLst/>
          </a:prstGeom>
          <a:solidFill>
            <a:srgbClr val="FFFFFF"/>
          </a:solidFill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R2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789" name="Google Shape;1789;p114"/>
          <p:cNvSpPr/>
          <p:nvPr/>
        </p:nvSpPr>
        <p:spPr>
          <a:xfrm>
            <a:off x="3737175" y="3494775"/>
            <a:ext cx="285000" cy="285000"/>
          </a:xfrm>
          <a:prstGeom prst="rect">
            <a:avLst/>
          </a:prstGeom>
          <a:solidFill>
            <a:srgbClr val="FFFFFF"/>
          </a:solidFill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R3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1796" name="Google Shape;1796;p114"/>
          <p:cNvCxnSpPr>
            <a:stCxn id="1793" idx="1"/>
            <a:endCxn id="1789" idx="3"/>
          </p:cNvCxnSpPr>
          <p:nvPr/>
        </p:nvCxnSpPr>
        <p:spPr>
          <a:xfrm flipH="1">
            <a:off x="4022175" y="2922957"/>
            <a:ext cx="1239000" cy="714300"/>
          </a:xfrm>
          <a:prstGeom prst="straightConnector1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1797" name="Google Shape;1797;p114"/>
          <p:cNvCxnSpPr>
            <a:stCxn id="1795" idx="1"/>
            <a:endCxn id="1789" idx="3"/>
          </p:cNvCxnSpPr>
          <p:nvPr/>
        </p:nvCxnSpPr>
        <p:spPr>
          <a:xfrm rot="10800000">
            <a:off x="4022175" y="3637229"/>
            <a:ext cx="1239000" cy="715500"/>
          </a:xfrm>
          <a:prstGeom prst="straightConnector1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med" len="med"/>
            <a:tailEnd type="none" w="med" len="med"/>
          </a:ln>
        </p:spPr>
      </p:cxnSp>
      <p:graphicFrame>
        <p:nvGraphicFramePr>
          <p:cNvPr id="1798" name="Google Shape;1798;p114"/>
          <p:cNvGraphicFramePr/>
          <p:nvPr/>
        </p:nvGraphicFramePr>
        <p:xfrm>
          <a:off x="990319" y="3292900"/>
          <a:ext cx="1835500" cy="688770"/>
        </p:xfrm>
        <a:graphic>
          <a:graphicData uri="http://schemas.openxmlformats.org/drawingml/2006/table">
            <a:tbl>
              <a:tblPr>
                <a:noFill/>
              </a:tblPr>
              <a:tblGrid>
                <a:gridCol w="5448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9707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79362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121925">
                <a:tc gridSpan="3"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latin typeface="Roboto"/>
                          <a:ea typeface="Roboto"/>
                          <a:cs typeface="Roboto"/>
                          <a:sym typeface="Roboto"/>
                        </a:rPr>
                        <a:t>R3's Table</a:t>
                      </a:r>
                      <a:endParaRPr sz="12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>
                    <a:solidFill>
                      <a:srgbClr val="FFFFFF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21925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latin typeface="Roboto"/>
                          <a:ea typeface="Roboto"/>
                          <a:cs typeface="Roboto"/>
                          <a:sym typeface="Roboto"/>
                        </a:rPr>
                        <a:t>To:</a:t>
                      </a:r>
                      <a:endParaRPr sz="12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latin typeface="Roboto"/>
                          <a:ea typeface="Roboto"/>
                          <a:cs typeface="Roboto"/>
                          <a:sym typeface="Roboto"/>
                        </a:rPr>
                        <a:t>Via:</a:t>
                      </a:r>
                      <a:endParaRPr sz="12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latin typeface="Roboto"/>
                          <a:ea typeface="Roboto"/>
                          <a:cs typeface="Roboto"/>
                          <a:sym typeface="Roboto"/>
                        </a:rPr>
                        <a:t>Cost:</a:t>
                      </a:r>
                      <a:endParaRPr sz="12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21925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latin typeface="Roboto"/>
                          <a:ea typeface="Roboto"/>
                          <a:cs typeface="Roboto"/>
                          <a:sym typeface="Roboto"/>
                        </a:rPr>
                        <a:t>A</a:t>
                      </a:r>
                      <a:endParaRPr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latin typeface="Roboto"/>
                          <a:ea typeface="Roboto"/>
                          <a:cs typeface="Roboto"/>
                          <a:sym typeface="Roboto"/>
                        </a:rPr>
                        <a:t>Direct</a:t>
                      </a:r>
                      <a:endParaRPr sz="12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latin typeface="Roboto"/>
                          <a:ea typeface="Roboto"/>
                          <a:cs typeface="Roboto"/>
                          <a:sym typeface="Roboto"/>
                        </a:rPr>
                        <a:t>∞</a:t>
                      </a:r>
                      <a:endParaRPr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</a:tbl>
          </a:graphicData>
        </a:graphic>
      </p:graphicFrame>
      <p:graphicFrame>
        <p:nvGraphicFramePr>
          <p:cNvPr id="1799" name="Google Shape;1799;p114"/>
          <p:cNvGraphicFramePr/>
          <p:nvPr/>
        </p:nvGraphicFramePr>
        <p:xfrm>
          <a:off x="6318169" y="2544150"/>
          <a:ext cx="1835500" cy="688770"/>
        </p:xfrm>
        <a:graphic>
          <a:graphicData uri="http://schemas.openxmlformats.org/drawingml/2006/table">
            <a:tbl>
              <a:tblPr>
                <a:noFill/>
              </a:tblPr>
              <a:tblGrid>
                <a:gridCol w="5448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9707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79362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121925">
                <a:tc gridSpan="3"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latin typeface="Roboto"/>
                          <a:ea typeface="Roboto"/>
                          <a:cs typeface="Roboto"/>
                          <a:sym typeface="Roboto"/>
                        </a:rPr>
                        <a:t>R1's Table</a:t>
                      </a:r>
                      <a:endParaRPr sz="12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21925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latin typeface="Roboto"/>
                          <a:ea typeface="Roboto"/>
                          <a:cs typeface="Roboto"/>
                          <a:sym typeface="Roboto"/>
                        </a:rPr>
                        <a:t>To:</a:t>
                      </a:r>
                      <a:endParaRPr sz="12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/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latin typeface="Roboto"/>
                          <a:ea typeface="Roboto"/>
                          <a:cs typeface="Roboto"/>
                          <a:sym typeface="Roboto"/>
                        </a:rPr>
                        <a:t>Via:</a:t>
                      </a:r>
                      <a:endParaRPr sz="12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/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latin typeface="Roboto"/>
                          <a:ea typeface="Roboto"/>
                          <a:cs typeface="Roboto"/>
                          <a:sym typeface="Roboto"/>
                        </a:rPr>
                        <a:t>Cost:</a:t>
                      </a:r>
                      <a:endParaRPr sz="12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21925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latin typeface="Roboto"/>
                          <a:ea typeface="Roboto"/>
                          <a:cs typeface="Roboto"/>
                          <a:sym typeface="Roboto"/>
                        </a:rPr>
                        <a:t>A</a:t>
                      </a:r>
                      <a:endParaRPr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/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latin typeface="Roboto"/>
                          <a:ea typeface="Roboto"/>
                          <a:cs typeface="Roboto"/>
                          <a:sym typeface="Roboto"/>
                        </a:rPr>
                        <a:t>R3</a:t>
                      </a:r>
                      <a:endParaRPr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/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latin typeface="Roboto"/>
                          <a:ea typeface="Roboto"/>
                          <a:cs typeface="Roboto"/>
                          <a:sym typeface="Roboto"/>
                        </a:rPr>
                        <a:t>2</a:t>
                      </a:r>
                      <a:endParaRPr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</a:tbl>
          </a:graphicData>
        </a:graphic>
      </p:graphicFrame>
      <p:graphicFrame>
        <p:nvGraphicFramePr>
          <p:cNvPr id="1800" name="Google Shape;1800;p114"/>
          <p:cNvGraphicFramePr/>
          <p:nvPr/>
        </p:nvGraphicFramePr>
        <p:xfrm>
          <a:off x="6318169" y="4054900"/>
          <a:ext cx="1835500" cy="688770"/>
        </p:xfrm>
        <a:graphic>
          <a:graphicData uri="http://schemas.openxmlformats.org/drawingml/2006/table">
            <a:tbl>
              <a:tblPr>
                <a:noFill/>
              </a:tblPr>
              <a:tblGrid>
                <a:gridCol w="5448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9707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79362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121925">
                <a:tc gridSpan="3"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latin typeface="Roboto"/>
                          <a:ea typeface="Roboto"/>
                          <a:cs typeface="Roboto"/>
                          <a:sym typeface="Roboto"/>
                        </a:rPr>
                        <a:t>R2's Table</a:t>
                      </a:r>
                      <a:endParaRPr sz="12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>
                    <a:solidFill>
                      <a:srgbClr val="FFFFFF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21925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latin typeface="Roboto"/>
                          <a:ea typeface="Roboto"/>
                          <a:cs typeface="Roboto"/>
                          <a:sym typeface="Roboto"/>
                        </a:rPr>
                        <a:t>To:</a:t>
                      </a:r>
                      <a:endParaRPr sz="12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latin typeface="Roboto"/>
                          <a:ea typeface="Roboto"/>
                          <a:cs typeface="Roboto"/>
                          <a:sym typeface="Roboto"/>
                        </a:rPr>
                        <a:t>Via:</a:t>
                      </a:r>
                      <a:endParaRPr sz="12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latin typeface="Roboto"/>
                          <a:ea typeface="Roboto"/>
                          <a:cs typeface="Roboto"/>
                          <a:sym typeface="Roboto"/>
                        </a:rPr>
                        <a:t>Cost:</a:t>
                      </a:r>
                      <a:endParaRPr sz="12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21925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latin typeface="Roboto"/>
                          <a:ea typeface="Roboto"/>
                          <a:cs typeface="Roboto"/>
                          <a:sym typeface="Roboto"/>
                        </a:rPr>
                        <a:t>A</a:t>
                      </a:r>
                      <a:endParaRPr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latin typeface="Roboto"/>
                          <a:ea typeface="Roboto"/>
                          <a:cs typeface="Roboto"/>
                          <a:sym typeface="Roboto"/>
                        </a:rPr>
                        <a:t>R1</a:t>
                      </a:r>
                      <a:endParaRPr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solidFill>
                            <a:schemeClr val="dk1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3</a:t>
                      </a:r>
                      <a:endParaRPr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</a:tbl>
          </a:graphicData>
        </a:graphic>
      </p:graphicFrame>
      <p:sp>
        <p:nvSpPr>
          <p:cNvPr id="1801" name="Google Shape;1801;p114"/>
          <p:cNvSpPr/>
          <p:nvPr/>
        </p:nvSpPr>
        <p:spPr>
          <a:xfrm>
            <a:off x="3057875" y="4210250"/>
            <a:ext cx="1431300" cy="437100"/>
          </a:xfrm>
          <a:prstGeom prst="roundRect">
            <a:avLst>
              <a:gd name="adj" fmla="val 16667"/>
            </a:avLst>
          </a:prstGeom>
          <a:solidFill>
            <a:srgbClr val="F4CCCC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27425" tIns="27425" rIns="27425" bIns="27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>
                <a:latin typeface="Roboto"/>
                <a:ea typeface="Roboto"/>
                <a:cs typeface="Roboto"/>
                <a:sym typeface="Roboto"/>
              </a:rPr>
              <a:t>I'm </a:t>
            </a:r>
            <a:r>
              <a:rPr lang="en" sz="1200" b="1">
                <a:latin typeface="Roboto"/>
                <a:ea typeface="Roboto"/>
                <a:cs typeface="Roboto"/>
                <a:sym typeface="Roboto"/>
              </a:rPr>
              <a:t>R2</a:t>
            </a:r>
            <a:r>
              <a:rPr lang="en" sz="1200">
                <a:latin typeface="Roboto"/>
                <a:ea typeface="Roboto"/>
                <a:cs typeface="Roboto"/>
                <a:sym typeface="Roboto"/>
              </a:rPr>
              <a:t>, and </a:t>
            </a:r>
            <a:r>
              <a:rPr lang="en" sz="1200" b="1">
                <a:latin typeface="Roboto"/>
                <a:ea typeface="Roboto"/>
                <a:cs typeface="Roboto"/>
                <a:sym typeface="Roboto"/>
              </a:rPr>
              <a:t>A</a:t>
            </a:r>
            <a:r>
              <a:rPr lang="en" sz="1200">
                <a:latin typeface="Roboto"/>
                <a:ea typeface="Roboto"/>
                <a:cs typeface="Roboto"/>
                <a:sym typeface="Roboto"/>
              </a:rPr>
              <a:t> is</a:t>
            </a:r>
            <a:br>
              <a:rPr lang="en" sz="1200">
                <a:latin typeface="Roboto"/>
                <a:ea typeface="Roboto"/>
                <a:cs typeface="Roboto"/>
                <a:sym typeface="Roboto"/>
              </a:rPr>
            </a:br>
            <a:r>
              <a:rPr lang="en" sz="1200" b="1">
                <a:latin typeface="Roboto"/>
                <a:ea typeface="Roboto"/>
                <a:cs typeface="Roboto"/>
                <a:sym typeface="Roboto"/>
              </a:rPr>
              <a:t>3</a:t>
            </a:r>
            <a:r>
              <a:rPr lang="en" sz="1200">
                <a:latin typeface="Roboto"/>
                <a:ea typeface="Roboto"/>
                <a:cs typeface="Roboto"/>
                <a:sym typeface="Roboto"/>
              </a:rPr>
              <a:t> away from me.</a:t>
            </a:r>
            <a:endParaRPr sz="1200"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1802" name="Google Shape;1802;p114"/>
          <p:cNvCxnSpPr/>
          <p:nvPr/>
        </p:nvCxnSpPr>
        <p:spPr>
          <a:xfrm>
            <a:off x="4115675" y="3883550"/>
            <a:ext cx="953100" cy="550200"/>
          </a:xfrm>
          <a:prstGeom prst="straightConnector1">
            <a:avLst/>
          </a:prstGeom>
          <a:noFill/>
          <a:ln w="19050" cap="flat" cmpd="sng">
            <a:solidFill>
              <a:schemeClr val="accent2"/>
            </a:solidFill>
            <a:prstDash val="solid"/>
            <a:round/>
            <a:headEnd type="triangle" w="med" len="med"/>
            <a:tailEnd type="none" w="med" len="med"/>
          </a:ln>
        </p:spPr>
      </p:cxnSp>
      <p:graphicFrame>
        <p:nvGraphicFramePr>
          <p:cNvPr id="1803" name="Google Shape;1803;p114"/>
          <p:cNvGraphicFramePr/>
          <p:nvPr/>
        </p:nvGraphicFramePr>
        <p:xfrm>
          <a:off x="990319" y="3292900"/>
          <a:ext cx="1835500" cy="688770"/>
        </p:xfrm>
        <a:graphic>
          <a:graphicData uri="http://schemas.openxmlformats.org/drawingml/2006/table">
            <a:tbl>
              <a:tblPr>
                <a:noFill/>
              </a:tblPr>
              <a:tblGrid>
                <a:gridCol w="5448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9707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79362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121925">
                <a:tc gridSpan="3"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latin typeface="Roboto"/>
                          <a:ea typeface="Roboto"/>
                          <a:cs typeface="Roboto"/>
                          <a:sym typeface="Roboto"/>
                        </a:rPr>
                        <a:t>R3's Table</a:t>
                      </a:r>
                      <a:endParaRPr sz="12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>
                    <a:solidFill>
                      <a:srgbClr val="FFFFFF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21925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latin typeface="Roboto"/>
                          <a:ea typeface="Roboto"/>
                          <a:cs typeface="Roboto"/>
                          <a:sym typeface="Roboto"/>
                        </a:rPr>
                        <a:t>To:</a:t>
                      </a:r>
                      <a:endParaRPr sz="12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latin typeface="Roboto"/>
                          <a:ea typeface="Roboto"/>
                          <a:cs typeface="Roboto"/>
                          <a:sym typeface="Roboto"/>
                        </a:rPr>
                        <a:t>Via:</a:t>
                      </a:r>
                      <a:endParaRPr sz="12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latin typeface="Roboto"/>
                          <a:ea typeface="Roboto"/>
                          <a:cs typeface="Roboto"/>
                          <a:sym typeface="Roboto"/>
                        </a:rPr>
                        <a:t>Cost:</a:t>
                      </a:r>
                      <a:endParaRPr sz="12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21925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b="1">
                          <a:latin typeface="Roboto"/>
                          <a:ea typeface="Roboto"/>
                          <a:cs typeface="Roboto"/>
                          <a:sym typeface="Roboto"/>
                        </a:rPr>
                        <a:t>A</a:t>
                      </a:r>
                      <a:endParaRPr b="1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>
                    <a:solidFill>
                      <a:srgbClr val="F4CCCC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b="1">
                          <a:latin typeface="Roboto"/>
                          <a:ea typeface="Roboto"/>
                          <a:cs typeface="Roboto"/>
                          <a:sym typeface="Roboto"/>
                        </a:rPr>
                        <a:t>R2</a:t>
                      </a:r>
                      <a:endParaRPr b="1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>
                    <a:solidFill>
                      <a:srgbClr val="F4CCCC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b="1">
                          <a:latin typeface="Roboto"/>
                          <a:ea typeface="Roboto"/>
                          <a:cs typeface="Roboto"/>
                          <a:sym typeface="Roboto"/>
                        </a:rPr>
                        <a:t>4</a:t>
                      </a:r>
                      <a:endParaRPr b="1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>
                    <a:solidFill>
                      <a:srgbClr val="F4CCC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</a:tbl>
          </a:graphicData>
        </a:graphic>
      </p:graphicFrame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8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1808" name="Google Shape;1808;p115"/>
          <p:cNvCxnSpPr>
            <a:stCxn id="1809" idx="1"/>
            <a:endCxn id="1810" idx="6"/>
          </p:cNvCxnSpPr>
          <p:nvPr/>
        </p:nvCxnSpPr>
        <p:spPr>
          <a:xfrm rot="10800000">
            <a:off x="3336375" y="3637275"/>
            <a:ext cx="400800" cy="0"/>
          </a:xfrm>
          <a:prstGeom prst="straightConnector1">
            <a:avLst/>
          </a:prstGeom>
          <a:noFill/>
          <a:ln w="19050" cap="flat" cmpd="sng">
            <a:solidFill>
              <a:srgbClr val="D9D9D9"/>
            </a:solidFill>
            <a:prstDash val="dash"/>
            <a:round/>
            <a:headEnd type="none" w="med" len="med"/>
            <a:tailEnd type="none" w="med" len="med"/>
          </a:ln>
        </p:spPr>
      </p:cxnSp>
      <p:sp>
        <p:nvSpPr>
          <p:cNvPr id="1811" name="Google Shape;1811;p115"/>
          <p:cNvSpPr txBox="1">
            <a:spLocks noGrp="1"/>
          </p:cNvSpPr>
          <p:nvPr>
            <p:ph type="title"/>
          </p:nvPr>
        </p:nvSpPr>
        <p:spPr>
          <a:xfrm>
            <a:off x="0" y="0"/>
            <a:ext cx="9144000" cy="39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accent3"/>
                </a:solidFill>
              </a:rPr>
              <a:t>Count to Infinity – The Problem</a:t>
            </a:r>
            <a:endParaRPr/>
          </a:p>
        </p:txBody>
      </p:sp>
      <p:sp>
        <p:nvSpPr>
          <p:cNvPr id="1812" name="Google Shape;1812;p115"/>
          <p:cNvSpPr txBox="1">
            <a:spLocks noGrp="1"/>
          </p:cNvSpPr>
          <p:nvPr>
            <p:ph type="body" idx="1"/>
          </p:nvPr>
        </p:nvSpPr>
        <p:spPr>
          <a:xfrm>
            <a:off x="107050" y="402200"/>
            <a:ext cx="8909700" cy="1079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"/>
              <a:t>R3 announces it can reach A.</a:t>
            </a:r>
            <a:endParaRPr/>
          </a:p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"/>
              <a:t>Split horizon: R3's path came from R2, so don't tell R2.</a:t>
            </a:r>
            <a:endParaRPr/>
          </a:p>
        </p:txBody>
      </p:sp>
      <p:sp>
        <p:nvSpPr>
          <p:cNvPr id="1810" name="Google Shape;1810;p115"/>
          <p:cNvSpPr/>
          <p:nvPr/>
        </p:nvSpPr>
        <p:spPr>
          <a:xfrm>
            <a:off x="3051363" y="3494775"/>
            <a:ext cx="285000" cy="285000"/>
          </a:xfrm>
          <a:prstGeom prst="ellipse">
            <a:avLst/>
          </a:prstGeom>
          <a:solidFill>
            <a:srgbClr val="FFFFFF"/>
          </a:solidFill>
          <a:ln w="19050" cap="flat" cmpd="sng">
            <a:solidFill>
              <a:srgbClr val="D9D9D9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D9D9D9"/>
                </a:solidFill>
                <a:latin typeface="Roboto"/>
                <a:ea typeface="Roboto"/>
                <a:cs typeface="Roboto"/>
                <a:sym typeface="Roboto"/>
              </a:rPr>
              <a:t>A</a:t>
            </a:r>
            <a:endParaRPr>
              <a:solidFill>
                <a:srgbClr val="D9D9D9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813" name="Google Shape;1813;p115"/>
          <p:cNvSpPr/>
          <p:nvPr/>
        </p:nvSpPr>
        <p:spPr>
          <a:xfrm>
            <a:off x="5261175" y="2780457"/>
            <a:ext cx="285000" cy="285000"/>
          </a:xfrm>
          <a:prstGeom prst="rect">
            <a:avLst/>
          </a:prstGeom>
          <a:solidFill>
            <a:srgbClr val="FFFFFF"/>
          </a:solidFill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R1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1814" name="Google Shape;1814;p115"/>
          <p:cNvCxnSpPr>
            <a:stCxn id="1813" idx="2"/>
            <a:endCxn id="1815" idx="0"/>
          </p:cNvCxnSpPr>
          <p:nvPr/>
        </p:nvCxnSpPr>
        <p:spPr>
          <a:xfrm>
            <a:off x="5403675" y="3065457"/>
            <a:ext cx="0" cy="1144800"/>
          </a:xfrm>
          <a:prstGeom prst="straightConnector1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1815" name="Google Shape;1815;p115"/>
          <p:cNvSpPr/>
          <p:nvPr/>
        </p:nvSpPr>
        <p:spPr>
          <a:xfrm>
            <a:off x="5261175" y="4210229"/>
            <a:ext cx="285000" cy="285000"/>
          </a:xfrm>
          <a:prstGeom prst="rect">
            <a:avLst/>
          </a:prstGeom>
          <a:solidFill>
            <a:srgbClr val="FFFFFF"/>
          </a:solidFill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R2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809" name="Google Shape;1809;p115"/>
          <p:cNvSpPr/>
          <p:nvPr/>
        </p:nvSpPr>
        <p:spPr>
          <a:xfrm>
            <a:off x="3737175" y="3494775"/>
            <a:ext cx="285000" cy="285000"/>
          </a:xfrm>
          <a:prstGeom prst="rect">
            <a:avLst/>
          </a:prstGeom>
          <a:solidFill>
            <a:srgbClr val="FFFFFF"/>
          </a:solidFill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R3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1816" name="Google Shape;1816;p115"/>
          <p:cNvCxnSpPr>
            <a:stCxn id="1813" idx="1"/>
            <a:endCxn id="1809" idx="3"/>
          </p:cNvCxnSpPr>
          <p:nvPr/>
        </p:nvCxnSpPr>
        <p:spPr>
          <a:xfrm flipH="1">
            <a:off x="4022175" y="2922957"/>
            <a:ext cx="1239000" cy="714300"/>
          </a:xfrm>
          <a:prstGeom prst="straightConnector1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1817" name="Google Shape;1817;p115"/>
          <p:cNvCxnSpPr>
            <a:stCxn id="1815" idx="1"/>
            <a:endCxn id="1809" idx="3"/>
          </p:cNvCxnSpPr>
          <p:nvPr/>
        </p:nvCxnSpPr>
        <p:spPr>
          <a:xfrm rot="10800000">
            <a:off x="4022175" y="3637229"/>
            <a:ext cx="1239000" cy="715500"/>
          </a:xfrm>
          <a:prstGeom prst="straightConnector1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med" len="med"/>
            <a:tailEnd type="none" w="med" len="med"/>
          </a:ln>
        </p:spPr>
      </p:cxnSp>
      <p:graphicFrame>
        <p:nvGraphicFramePr>
          <p:cNvPr id="1818" name="Google Shape;1818;p115"/>
          <p:cNvGraphicFramePr/>
          <p:nvPr/>
        </p:nvGraphicFramePr>
        <p:xfrm>
          <a:off x="990319" y="3292900"/>
          <a:ext cx="1835500" cy="688770"/>
        </p:xfrm>
        <a:graphic>
          <a:graphicData uri="http://schemas.openxmlformats.org/drawingml/2006/table">
            <a:tbl>
              <a:tblPr>
                <a:noFill/>
              </a:tblPr>
              <a:tblGrid>
                <a:gridCol w="5448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9707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79362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121925">
                <a:tc gridSpan="3"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latin typeface="Roboto"/>
                          <a:ea typeface="Roboto"/>
                          <a:cs typeface="Roboto"/>
                          <a:sym typeface="Roboto"/>
                        </a:rPr>
                        <a:t>R3's Table</a:t>
                      </a:r>
                      <a:endParaRPr sz="12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>
                    <a:solidFill>
                      <a:srgbClr val="FFFFFF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21925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latin typeface="Roboto"/>
                          <a:ea typeface="Roboto"/>
                          <a:cs typeface="Roboto"/>
                          <a:sym typeface="Roboto"/>
                        </a:rPr>
                        <a:t>To:</a:t>
                      </a:r>
                      <a:endParaRPr sz="12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latin typeface="Roboto"/>
                          <a:ea typeface="Roboto"/>
                          <a:cs typeface="Roboto"/>
                          <a:sym typeface="Roboto"/>
                        </a:rPr>
                        <a:t>Via:</a:t>
                      </a:r>
                      <a:endParaRPr sz="12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latin typeface="Roboto"/>
                          <a:ea typeface="Roboto"/>
                          <a:cs typeface="Roboto"/>
                          <a:sym typeface="Roboto"/>
                        </a:rPr>
                        <a:t>Cost:</a:t>
                      </a:r>
                      <a:endParaRPr sz="12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21925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latin typeface="Roboto"/>
                          <a:ea typeface="Roboto"/>
                          <a:cs typeface="Roboto"/>
                          <a:sym typeface="Roboto"/>
                        </a:rPr>
                        <a:t>A</a:t>
                      </a:r>
                      <a:endParaRPr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latin typeface="Roboto"/>
                          <a:ea typeface="Roboto"/>
                          <a:cs typeface="Roboto"/>
                          <a:sym typeface="Roboto"/>
                        </a:rPr>
                        <a:t>R2</a:t>
                      </a:r>
                      <a:endParaRPr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latin typeface="Roboto"/>
                          <a:ea typeface="Roboto"/>
                          <a:cs typeface="Roboto"/>
                          <a:sym typeface="Roboto"/>
                        </a:rPr>
                        <a:t>4</a:t>
                      </a:r>
                      <a:endParaRPr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</a:tbl>
          </a:graphicData>
        </a:graphic>
      </p:graphicFrame>
      <p:graphicFrame>
        <p:nvGraphicFramePr>
          <p:cNvPr id="1819" name="Google Shape;1819;p115"/>
          <p:cNvGraphicFramePr/>
          <p:nvPr/>
        </p:nvGraphicFramePr>
        <p:xfrm>
          <a:off x="6318169" y="2544150"/>
          <a:ext cx="1835500" cy="688770"/>
        </p:xfrm>
        <a:graphic>
          <a:graphicData uri="http://schemas.openxmlformats.org/drawingml/2006/table">
            <a:tbl>
              <a:tblPr>
                <a:noFill/>
              </a:tblPr>
              <a:tblGrid>
                <a:gridCol w="5448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9707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79362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121925">
                <a:tc gridSpan="3"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latin typeface="Roboto"/>
                          <a:ea typeface="Roboto"/>
                          <a:cs typeface="Roboto"/>
                          <a:sym typeface="Roboto"/>
                        </a:rPr>
                        <a:t>R1's Table</a:t>
                      </a:r>
                      <a:endParaRPr sz="12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>
                    <a:solidFill>
                      <a:srgbClr val="FFFFFF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21925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latin typeface="Roboto"/>
                          <a:ea typeface="Roboto"/>
                          <a:cs typeface="Roboto"/>
                          <a:sym typeface="Roboto"/>
                        </a:rPr>
                        <a:t>To:</a:t>
                      </a:r>
                      <a:endParaRPr sz="12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latin typeface="Roboto"/>
                          <a:ea typeface="Roboto"/>
                          <a:cs typeface="Roboto"/>
                          <a:sym typeface="Roboto"/>
                        </a:rPr>
                        <a:t>Via:</a:t>
                      </a:r>
                      <a:endParaRPr sz="12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latin typeface="Roboto"/>
                          <a:ea typeface="Roboto"/>
                          <a:cs typeface="Roboto"/>
                          <a:sym typeface="Roboto"/>
                        </a:rPr>
                        <a:t>Cost:</a:t>
                      </a:r>
                      <a:endParaRPr sz="12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21925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latin typeface="Roboto"/>
                          <a:ea typeface="Roboto"/>
                          <a:cs typeface="Roboto"/>
                          <a:sym typeface="Roboto"/>
                        </a:rPr>
                        <a:t>A</a:t>
                      </a:r>
                      <a:endParaRPr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latin typeface="Roboto"/>
                          <a:ea typeface="Roboto"/>
                          <a:cs typeface="Roboto"/>
                          <a:sym typeface="Roboto"/>
                        </a:rPr>
                        <a:t>R3</a:t>
                      </a:r>
                      <a:endParaRPr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latin typeface="Roboto"/>
                          <a:ea typeface="Roboto"/>
                          <a:cs typeface="Roboto"/>
                          <a:sym typeface="Roboto"/>
                        </a:rPr>
                        <a:t>2</a:t>
                      </a:r>
                      <a:endParaRPr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</a:tbl>
          </a:graphicData>
        </a:graphic>
      </p:graphicFrame>
      <p:graphicFrame>
        <p:nvGraphicFramePr>
          <p:cNvPr id="1820" name="Google Shape;1820;p115"/>
          <p:cNvGraphicFramePr/>
          <p:nvPr/>
        </p:nvGraphicFramePr>
        <p:xfrm>
          <a:off x="6318169" y="4054900"/>
          <a:ext cx="1835500" cy="688770"/>
        </p:xfrm>
        <a:graphic>
          <a:graphicData uri="http://schemas.openxmlformats.org/drawingml/2006/table">
            <a:tbl>
              <a:tblPr>
                <a:noFill/>
              </a:tblPr>
              <a:tblGrid>
                <a:gridCol w="5448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9707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79362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121925">
                <a:tc gridSpan="3"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latin typeface="Roboto"/>
                          <a:ea typeface="Roboto"/>
                          <a:cs typeface="Roboto"/>
                          <a:sym typeface="Roboto"/>
                        </a:rPr>
                        <a:t>R2's Table</a:t>
                      </a:r>
                      <a:endParaRPr sz="12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>
                    <a:solidFill>
                      <a:srgbClr val="FFFFFF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21925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latin typeface="Roboto"/>
                          <a:ea typeface="Roboto"/>
                          <a:cs typeface="Roboto"/>
                          <a:sym typeface="Roboto"/>
                        </a:rPr>
                        <a:t>To:</a:t>
                      </a:r>
                      <a:endParaRPr sz="12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latin typeface="Roboto"/>
                          <a:ea typeface="Roboto"/>
                          <a:cs typeface="Roboto"/>
                          <a:sym typeface="Roboto"/>
                        </a:rPr>
                        <a:t>Via:</a:t>
                      </a:r>
                      <a:endParaRPr sz="12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latin typeface="Roboto"/>
                          <a:ea typeface="Roboto"/>
                          <a:cs typeface="Roboto"/>
                          <a:sym typeface="Roboto"/>
                        </a:rPr>
                        <a:t>Cost:</a:t>
                      </a:r>
                      <a:endParaRPr sz="12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21925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latin typeface="Roboto"/>
                          <a:ea typeface="Roboto"/>
                          <a:cs typeface="Roboto"/>
                          <a:sym typeface="Roboto"/>
                        </a:rPr>
                        <a:t>A</a:t>
                      </a:r>
                      <a:endParaRPr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latin typeface="Roboto"/>
                          <a:ea typeface="Roboto"/>
                          <a:cs typeface="Roboto"/>
                          <a:sym typeface="Roboto"/>
                        </a:rPr>
                        <a:t>R1</a:t>
                      </a:r>
                      <a:endParaRPr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solidFill>
                            <a:schemeClr val="dk1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3</a:t>
                      </a:r>
                      <a:endParaRPr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</a:tbl>
          </a:graphicData>
        </a:graphic>
      </p:graphicFrame>
      <p:sp>
        <p:nvSpPr>
          <p:cNvPr id="1821" name="Google Shape;1821;p115"/>
          <p:cNvSpPr/>
          <p:nvPr/>
        </p:nvSpPr>
        <p:spPr>
          <a:xfrm>
            <a:off x="3057875" y="2610050"/>
            <a:ext cx="1431300" cy="437100"/>
          </a:xfrm>
          <a:prstGeom prst="roundRect">
            <a:avLst>
              <a:gd name="adj" fmla="val 16667"/>
            </a:avLst>
          </a:prstGeom>
          <a:solidFill>
            <a:srgbClr val="F4CCCC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27425" tIns="27425" rIns="27425" bIns="27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>
                <a:latin typeface="Roboto"/>
                <a:ea typeface="Roboto"/>
                <a:cs typeface="Roboto"/>
                <a:sym typeface="Roboto"/>
              </a:rPr>
              <a:t>I'm </a:t>
            </a:r>
            <a:r>
              <a:rPr lang="en" sz="1200" b="1">
                <a:latin typeface="Roboto"/>
                <a:ea typeface="Roboto"/>
                <a:cs typeface="Roboto"/>
                <a:sym typeface="Roboto"/>
              </a:rPr>
              <a:t>R3</a:t>
            </a:r>
            <a:r>
              <a:rPr lang="en" sz="1200">
                <a:latin typeface="Roboto"/>
                <a:ea typeface="Roboto"/>
                <a:cs typeface="Roboto"/>
                <a:sym typeface="Roboto"/>
              </a:rPr>
              <a:t>, and </a:t>
            </a:r>
            <a:r>
              <a:rPr lang="en" sz="1200" b="1">
                <a:latin typeface="Roboto"/>
                <a:ea typeface="Roboto"/>
                <a:cs typeface="Roboto"/>
                <a:sym typeface="Roboto"/>
              </a:rPr>
              <a:t>A</a:t>
            </a:r>
            <a:r>
              <a:rPr lang="en" sz="1200">
                <a:latin typeface="Roboto"/>
                <a:ea typeface="Roboto"/>
                <a:cs typeface="Roboto"/>
                <a:sym typeface="Roboto"/>
              </a:rPr>
              <a:t> is</a:t>
            </a:r>
            <a:br>
              <a:rPr lang="en" sz="1200">
                <a:latin typeface="Roboto"/>
                <a:ea typeface="Roboto"/>
                <a:cs typeface="Roboto"/>
                <a:sym typeface="Roboto"/>
              </a:rPr>
            </a:br>
            <a:r>
              <a:rPr lang="en" sz="1200" b="1">
                <a:latin typeface="Roboto"/>
                <a:ea typeface="Roboto"/>
                <a:cs typeface="Roboto"/>
                <a:sym typeface="Roboto"/>
              </a:rPr>
              <a:t>4</a:t>
            </a:r>
            <a:r>
              <a:rPr lang="en" sz="1200">
                <a:latin typeface="Roboto"/>
                <a:ea typeface="Roboto"/>
                <a:cs typeface="Roboto"/>
                <a:sym typeface="Roboto"/>
              </a:rPr>
              <a:t> away from me.</a:t>
            </a:r>
            <a:endParaRPr sz="1200"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1822" name="Google Shape;1822;p115"/>
          <p:cNvCxnSpPr/>
          <p:nvPr/>
        </p:nvCxnSpPr>
        <p:spPr>
          <a:xfrm rot="10800000" flipH="1">
            <a:off x="4115675" y="2831869"/>
            <a:ext cx="953100" cy="550200"/>
          </a:xfrm>
          <a:prstGeom prst="straightConnector1">
            <a:avLst/>
          </a:prstGeom>
          <a:noFill/>
          <a:ln w="19050" cap="flat" cmpd="sng">
            <a:solidFill>
              <a:schemeClr val="accent2"/>
            </a:solidFill>
            <a:prstDash val="solid"/>
            <a:round/>
            <a:headEnd type="none" w="med" len="med"/>
            <a:tailEnd type="triangle" w="med" len="med"/>
          </a:ln>
        </p:spPr>
      </p:cxnSp>
      <p:graphicFrame>
        <p:nvGraphicFramePr>
          <p:cNvPr id="1823" name="Google Shape;1823;p115"/>
          <p:cNvGraphicFramePr/>
          <p:nvPr/>
        </p:nvGraphicFramePr>
        <p:xfrm>
          <a:off x="6318169" y="2544150"/>
          <a:ext cx="1835500" cy="688770"/>
        </p:xfrm>
        <a:graphic>
          <a:graphicData uri="http://schemas.openxmlformats.org/drawingml/2006/table">
            <a:tbl>
              <a:tblPr>
                <a:noFill/>
              </a:tblPr>
              <a:tblGrid>
                <a:gridCol w="5448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9707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79362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121925">
                <a:tc gridSpan="3"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latin typeface="Roboto"/>
                          <a:ea typeface="Roboto"/>
                          <a:cs typeface="Roboto"/>
                          <a:sym typeface="Roboto"/>
                        </a:rPr>
                        <a:t>R1's Table</a:t>
                      </a:r>
                      <a:endParaRPr sz="12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>
                    <a:solidFill>
                      <a:srgbClr val="FFFFFF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21925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latin typeface="Roboto"/>
                          <a:ea typeface="Roboto"/>
                          <a:cs typeface="Roboto"/>
                          <a:sym typeface="Roboto"/>
                        </a:rPr>
                        <a:t>To:</a:t>
                      </a:r>
                      <a:endParaRPr sz="12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latin typeface="Roboto"/>
                          <a:ea typeface="Roboto"/>
                          <a:cs typeface="Roboto"/>
                          <a:sym typeface="Roboto"/>
                        </a:rPr>
                        <a:t>Via:</a:t>
                      </a:r>
                      <a:endParaRPr sz="12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latin typeface="Roboto"/>
                          <a:ea typeface="Roboto"/>
                          <a:cs typeface="Roboto"/>
                          <a:sym typeface="Roboto"/>
                        </a:rPr>
                        <a:t>Cost:</a:t>
                      </a:r>
                      <a:endParaRPr sz="12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21925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b="1">
                          <a:latin typeface="Roboto"/>
                          <a:ea typeface="Roboto"/>
                          <a:cs typeface="Roboto"/>
                          <a:sym typeface="Roboto"/>
                        </a:rPr>
                        <a:t>A</a:t>
                      </a:r>
                      <a:endParaRPr b="1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>
                    <a:solidFill>
                      <a:srgbClr val="F4CCCC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b="1">
                          <a:latin typeface="Roboto"/>
                          <a:ea typeface="Roboto"/>
                          <a:cs typeface="Roboto"/>
                          <a:sym typeface="Roboto"/>
                        </a:rPr>
                        <a:t>R3</a:t>
                      </a:r>
                      <a:endParaRPr b="1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>
                    <a:solidFill>
                      <a:srgbClr val="F4CCCC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b="1">
                          <a:latin typeface="Roboto"/>
                          <a:ea typeface="Roboto"/>
                          <a:cs typeface="Roboto"/>
                          <a:sym typeface="Roboto"/>
                        </a:rPr>
                        <a:t>5</a:t>
                      </a:r>
                      <a:endParaRPr b="1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>
                    <a:solidFill>
                      <a:srgbClr val="F4CCC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</a:tbl>
          </a:graphicData>
        </a:graphic>
      </p:graphicFrame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8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1828" name="Google Shape;1828;p116"/>
          <p:cNvCxnSpPr>
            <a:stCxn id="1829" idx="1"/>
            <a:endCxn id="1830" idx="6"/>
          </p:cNvCxnSpPr>
          <p:nvPr/>
        </p:nvCxnSpPr>
        <p:spPr>
          <a:xfrm rot="10800000">
            <a:off x="3336375" y="3637275"/>
            <a:ext cx="400800" cy="0"/>
          </a:xfrm>
          <a:prstGeom prst="straightConnector1">
            <a:avLst/>
          </a:prstGeom>
          <a:noFill/>
          <a:ln w="19050" cap="flat" cmpd="sng">
            <a:solidFill>
              <a:srgbClr val="D9D9D9"/>
            </a:solidFill>
            <a:prstDash val="dash"/>
            <a:round/>
            <a:headEnd type="none" w="med" len="med"/>
            <a:tailEnd type="none" w="med" len="med"/>
          </a:ln>
        </p:spPr>
      </p:cxnSp>
      <p:sp>
        <p:nvSpPr>
          <p:cNvPr id="1831" name="Google Shape;1831;p116"/>
          <p:cNvSpPr txBox="1">
            <a:spLocks noGrp="1"/>
          </p:cNvSpPr>
          <p:nvPr>
            <p:ph type="title"/>
          </p:nvPr>
        </p:nvSpPr>
        <p:spPr>
          <a:xfrm>
            <a:off x="0" y="0"/>
            <a:ext cx="9144000" cy="39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accent3"/>
                </a:solidFill>
              </a:rPr>
              <a:t>Count to Infinity – The Problem</a:t>
            </a:r>
            <a:endParaRPr/>
          </a:p>
        </p:txBody>
      </p:sp>
      <p:sp>
        <p:nvSpPr>
          <p:cNvPr id="1832" name="Google Shape;1832;p116"/>
          <p:cNvSpPr txBox="1">
            <a:spLocks noGrp="1"/>
          </p:cNvSpPr>
          <p:nvPr>
            <p:ph type="body" idx="1"/>
          </p:nvPr>
        </p:nvSpPr>
        <p:spPr>
          <a:xfrm>
            <a:off x="107050" y="402200"/>
            <a:ext cx="8909700" cy="1079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"/>
              <a:t>We keep advertising in a cycle, and costs keep increasing!</a:t>
            </a:r>
            <a:endParaRPr/>
          </a:p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"/>
              <a:t>Split horizon can't save us.</a:t>
            </a:r>
            <a:endParaRPr/>
          </a:p>
        </p:txBody>
      </p:sp>
      <p:sp>
        <p:nvSpPr>
          <p:cNvPr id="1830" name="Google Shape;1830;p116"/>
          <p:cNvSpPr/>
          <p:nvPr/>
        </p:nvSpPr>
        <p:spPr>
          <a:xfrm>
            <a:off x="3051363" y="3494775"/>
            <a:ext cx="285000" cy="285000"/>
          </a:xfrm>
          <a:prstGeom prst="ellipse">
            <a:avLst/>
          </a:prstGeom>
          <a:solidFill>
            <a:srgbClr val="FFFFFF"/>
          </a:solidFill>
          <a:ln w="19050" cap="flat" cmpd="sng">
            <a:solidFill>
              <a:srgbClr val="D9D9D9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D9D9D9"/>
                </a:solidFill>
                <a:latin typeface="Roboto"/>
                <a:ea typeface="Roboto"/>
                <a:cs typeface="Roboto"/>
                <a:sym typeface="Roboto"/>
              </a:rPr>
              <a:t>A</a:t>
            </a:r>
            <a:endParaRPr>
              <a:solidFill>
                <a:srgbClr val="D9D9D9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833" name="Google Shape;1833;p116"/>
          <p:cNvSpPr/>
          <p:nvPr/>
        </p:nvSpPr>
        <p:spPr>
          <a:xfrm>
            <a:off x="5261175" y="2780457"/>
            <a:ext cx="285000" cy="285000"/>
          </a:xfrm>
          <a:prstGeom prst="rect">
            <a:avLst/>
          </a:prstGeom>
          <a:solidFill>
            <a:srgbClr val="FFFFFF"/>
          </a:solidFill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R1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1834" name="Google Shape;1834;p116"/>
          <p:cNvCxnSpPr>
            <a:stCxn id="1833" idx="2"/>
            <a:endCxn id="1835" idx="0"/>
          </p:cNvCxnSpPr>
          <p:nvPr/>
        </p:nvCxnSpPr>
        <p:spPr>
          <a:xfrm>
            <a:off x="5403675" y="3065457"/>
            <a:ext cx="0" cy="1144800"/>
          </a:xfrm>
          <a:prstGeom prst="straightConnector1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1835" name="Google Shape;1835;p116"/>
          <p:cNvSpPr/>
          <p:nvPr/>
        </p:nvSpPr>
        <p:spPr>
          <a:xfrm>
            <a:off x="5261175" y="4210229"/>
            <a:ext cx="285000" cy="285000"/>
          </a:xfrm>
          <a:prstGeom prst="rect">
            <a:avLst/>
          </a:prstGeom>
          <a:solidFill>
            <a:srgbClr val="FFFFFF"/>
          </a:solidFill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R2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829" name="Google Shape;1829;p116"/>
          <p:cNvSpPr/>
          <p:nvPr/>
        </p:nvSpPr>
        <p:spPr>
          <a:xfrm>
            <a:off x="3737175" y="3494775"/>
            <a:ext cx="285000" cy="285000"/>
          </a:xfrm>
          <a:prstGeom prst="rect">
            <a:avLst/>
          </a:prstGeom>
          <a:solidFill>
            <a:srgbClr val="FFFFFF"/>
          </a:solidFill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R3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1836" name="Google Shape;1836;p116"/>
          <p:cNvCxnSpPr>
            <a:stCxn id="1833" idx="1"/>
            <a:endCxn id="1829" idx="3"/>
          </p:cNvCxnSpPr>
          <p:nvPr/>
        </p:nvCxnSpPr>
        <p:spPr>
          <a:xfrm flipH="1">
            <a:off x="4022175" y="2922957"/>
            <a:ext cx="1239000" cy="714300"/>
          </a:xfrm>
          <a:prstGeom prst="straightConnector1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1837" name="Google Shape;1837;p116"/>
          <p:cNvCxnSpPr>
            <a:stCxn id="1835" idx="1"/>
            <a:endCxn id="1829" idx="3"/>
          </p:cNvCxnSpPr>
          <p:nvPr/>
        </p:nvCxnSpPr>
        <p:spPr>
          <a:xfrm rot="10800000">
            <a:off x="4022175" y="3637229"/>
            <a:ext cx="1239000" cy="715500"/>
          </a:xfrm>
          <a:prstGeom prst="straightConnector1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med" len="med"/>
            <a:tailEnd type="none" w="med" len="med"/>
          </a:ln>
        </p:spPr>
      </p:cxnSp>
      <p:graphicFrame>
        <p:nvGraphicFramePr>
          <p:cNvPr id="1838" name="Google Shape;1838;p116"/>
          <p:cNvGraphicFramePr/>
          <p:nvPr/>
        </p:nvGraphicFramePr>
        <p:xfrm>
          <a:off x="990319" y="3292900"/>
          <a:ext cx="1835500" cy="688770"/>
        </p:xfrm>
        <a:graphic>
          <a:graphicData uri="http://schemas.openxmlformats.org/drawingml/2006/table">
            <a:tbl>
              <a:tblPr>
                <a:noFill/>
              </a:tblPr>
              <a:tblGrid>
                <a:gridCol w="5448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9707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79362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121925">
                <a:tc gridSpan="3"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latin typeface="Roboto"/>
                          <a:ea typeface="Roboto"/>
                          <a:cs typeface="Roboto"/>
                          <a:sym typeface="Roboto"/>
                        </a:rPr>
                        <a:t>R3's Table</a:t>
                      </a:r>
                      <a:endParaRPr sz="12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>
                    <a:solidFill>
                      <a:srgbClr val="FFFFFF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21925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latin typeface="Roboto"/>
                          <a:ea typeface="Roboto"/>
                          <a:cs typeface="Roboto"/>
                          <a:sym typeface="Roboto"/>
                        </a:rPr>
                        <a:t>To:</a:t>
                      </a:r>
                      <a:endParaRPr sz="12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latin typeface="Roboto"/>
                          <a:ea typeface="Roboto"/>
                          <a:cs typeface="Roboto"/>
                          <a:sym typeface="Roboto"/>
                        </a:rPr>
                        <a:t>Via:</a:t>
                      </a:r>
                      <a:endParaRPr sz="12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latin typeface="Roboto"/>
                          <a:ea typeface="Roboto"/>
                          <a:cs typeface="Roboto"/>
                          <a:sym typeface="Roboto"/>
                        </a:rPr>
                        <a:t>Cost:</a:t>
                      </a:r>
                      <a:endParaRPr sz="12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21925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latin typeface="Roboto"/>
                          <a:ea typeface="Roboto"/>
                          <a:cs typeface="Roboto"/>
                          <a:sym typeface="Roboto"/>
                        </a:rPr>
                        <a:t>A</a:t>
                      </a:r>
                      <a:endParaRPr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latin typeface="Roboto"/>
                          <a:ea typeface="Roboto"/>
                          <a:cs typeface="Roboto"/>
                          <a:sym typeface="Roboto"/>
                        </a:rPr>
                        <a:t>R2</a:t>
                      </a:r>
                      <a:endParaRPr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latin typeface="Roboto"/>
                          <a:ea typeface="Roboto"/>
                          <a:cs typeface="Roboto"/>
                          <a:sym typeface="Roboto"/>
                        </a:rPr>
                        <a:t>4</a:t>
                      </a:r>
                      <a:endParaRPr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</a:tbl>
          </a:graphicData>
        </a:graphic>
      </p:graphicFrame>
      <p:graphicFrame>
        <p:nvGraphicFramePr>
          <p:cNvPr id="1839" name="Google Shape;1839;p116"/>
          <p:cNvGraphicFramePr/>
          <p:nvPr/>
        </p:nvGraphicFramePr>
        <p:xfrm>
          <a:off x="6318169" y="2544150"/>
          <a:ext cx="1835500" cy="688770"/>
        </p:xfrm>
        <a:graphic>
          <a:graphicData uri="http://schemas.openxmlformats.org/drawingml/2006/table">
            <a:tbl>
              <a:tblPr>
                <a:noFill/>
              </a:tblPr>
              <a:tblGrid>
                <a:gridCol w="5448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9707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79362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121925">
                <a:tc gridSpan="3"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latin typeface="Roboto"/>
                          <a:ea typeface="Roboto"/>
                          <a:cs typeface="Roboto"/>
                          <a:sym typeface="Roboto"/>
                        </a:rPr>
                        <a:t>R1's Table</a:t>
                      </a:r>
                      <a:endParaRPr sz="12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>
                    <a:solidFill>
                      <a:srgbClr val="FFFFFF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21925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latin typeface="Roboto"/>
                          <a:ea typeface="Roboto"/>
                          <a:cs typeface="Roboto"/>
                          <a:sym typeface="Roboto"/>
                        </a:rPr>
                        <a:t>To:</a:t>
                      </a:r>
                      <a:endParaRPr sz="12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latin typeface="Roboto"/>
                          <a:ea typeface="Roboto"/>
                          <a:cs typeface="Roboto"/>
                          <a:sym typeface="Roboto"/>
                        </a:rPr>
                        <a:t>Via:</a:t>
                      </a:r>
                      <a:endParaRPr sz="12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latin typeface="Roboto"/>
                          <a:ea typeface="Roboto"/>
                          <a:cs typeface="Roboto"/>
                          <a:sym typeface="Roboto"/>
                        </a:rPr>
                        <a:t>Cost:</a:t>
                      </a:r>
                      <a:endParaRPr sz="12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21925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latin typeface="Roboto"/>
                          <a:ea typeface="Roboto"/>
                          <a:cs typeface="Roboto"/>
                          <a:sym typeface="Roboto"/>
                        </a:rPr>
                        <a:t>A</a:t>
                      </a:r>
                      <a:endParaRPr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latin typeface="Roboto"/>
                          <a:ea typeface="Roboto"/>
                          <a:cs typeface="Roboto"/>
                          <a:sym typeface="Roboto"/>
                        </a:rPr>
                        <a:t>R3</a:t>
                      </a:r>
                      <a:endParaRPr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latin typeface="Roboto"/>
                          <a:ea typeface="Roboto"/>
                          <a:cs typeface="Roboto"/>
                          <a:sym typeface="Roboto"/>
                        </a:rPr>
                        <a:t>5</a:t>
                      </a:r>
                      <a:endParaRPr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</a:tbl>
          </a:graphicData>
        </a:graphic>
      </p:graphicFrame>
      <p:graphicFrame>
        <p:nvGraphicFramePr>
          <p:cNvPr id="1840" name="Google Shape;1840;p116"/>
          <p:cNvGraphicFramePr/>
          <p:nvPr/>
        </p:nvGraphicFramePr>
        <p:xfrm>
          <a:off x="6318169" y="4054900"/>
          <a:ext cx="1835500" cy="688770"/>
        </p:xfrm>
        <a:graphic>
          <a:graphicData uri="http://schemas.openxmlformats.org/drawingml/2006/table">
            <a:tbl>
              <a:tblPr>
                <a:noFill/>
              </a:tblPr>
              <a:tblGrid>
                <a:gridCol w="5448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9707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79362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121925">
                <a:tc gridSpan="3"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latin typeface="Roboto"/>
                          <a:ea typeface="Roboto"/>
                          <a:cs typeface="Roboto"/>
                          <a:sym typeface="Roboto"/>
                        </a:rPr>
                        <a:t>R2's Table</a:t>
                      </a:r>
                      <a:endParaRPr sz="12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>
                    <a:solidFill>
                      <a:srgbClr val="FFFFFF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21925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latin typeface="Roboto"/>
                          <a:ea typeface="Roboto"/>
                          <a:cs typeface="Roboto"/>
                          <a:sym typeface="Roboto"/>
                        </a:rPr>
                        <a:t>To:</a:t>
                      </a:r>
                      <a:endParaRPr sz="12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latin typeface="Roboto"/>
                          <a:ea typeface="Roboto"/>
                          <a:cs typeface="Roboto"/>
                          <a:sym typeface="Roboto"/>
                        </a:rPr>
                        <a:t>Via:</a:t>
                      </a:r>
                      <a:endParaRPr sz="12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latin typeface="Roboto"/>
                          <a:ea typeface="Roboto"/>
                          <a:cs typeface="Roboto"/>
                          <a:sym typeface="Roboto"/>
                        </a:rPr>
                        <a:t>Cost:</a:t>
                      </a:r>
                      <a:endParaRPr sz="12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21925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latin typeface="Roboto"/>
                          <a:ea typeface="Roboto"/>
                          <a:cs typeface="Roboto"/>
                          <a:sym typeface="Roboto"/>
                        </a:rPr>
                        <a:t>A</a:t>
                      </a:r>
                      <a:endParaRPr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latin typeface="Roboto"/>
                          <a:ea typeface="Roboto"/>
                          <a:cs typeface="Roboto"/>
                          <a:sym typeface="Roboto"/>
                        </a:rPr>
                        <a:t>R1</a:t>
                      </a:r>
                      <a:endParaRPr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solidFill>
                            <a:schemeClr val="dk1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3</a:t>
                      </a:r>
                      <a:endParaRPr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</a:tbl>
          </a:graphicData>
        </a:graphic>
      </p:graphicFrame>
      <p:sp>
        <p:nvSpPr>
          <p:cNvPr id="1841" name="Google Shape;1841;p116"/>
          <p:cNvSpPr/>
          <p:nvPr/>
        </p:nvSpPr>
        <p:spPr>
          <a:xfrm>
            <a:off x="5733600" y="3425350"/>
            <a:ext cx="1431300" cy="437100"/>
          </a:xfrm>
          <a:prstGeom prst="roundRect">
            <a:avLst>
              <a:gd name="adj" fmla="val 16667"/>
            </a:avLst>
          </a:prstGeom>
          <a:solidFill>
            <a:srgbClr val="F4CCCC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27425" tIns="27425" rIns="27425" bIns="27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>
                <a:latin typeface="Roboto"/>
                <a:ea typeface="Roboto"/>
                <a:cs typeface="Roboto"/>
                <a:sym typeface="Roboto"/>
              </a:rPr>
              <a:t>I'm </a:t>
            </a:r>
            <a:r>
              <a:rPr lang="en" sz="1200" b="1">
                <a:latin typeface="Roboto"/>
                <a:ea typeface="Roboto"/>
                <a:cs typeface="Roboto"/>
                <a:sym typeface="Roboto"/>
              </a:rPr>
              <a:t>R1</a:t>
            </a:r>
            <a:r>
              <a:rPr lang="en" sz="1200">
                <a:latin typeface="Roboto"/>
                <a:ea typeface="Roboto"/>
                <a:cs typeface="Roboto"/>
                <a:sym typeface="Roboto"/>
              </a:rPr>
              <a:t>, and </a:t>
            </a:r>
            <a:r>
              <a:rPr lang="en" sz="1200" b="1">
                <a:latin typeface="Roboto"/>
                <a:ea typeface="Roboto"/>
                <a:cs typeface="Roboto"/>
                <a:sym typeface="Roboto"/>
              </a:rPr>
              <a:t>A</a:t>
            </a:r>
            <a:r>
              <a:rPr lang="en" sz="1200">
                <a:latin typeface="Roboto"/>
                <a:ea typeface="Roboto"/>
                <a:cs typeface="Roboto"/>
                <a:sym typeface="Roboto"/>
              </a:rPr>
              <a:t> is</a:t>
            </a:r>
            <a:br>
              <a:rPr lang="en" sz="1200">
                <a:latin typeface="Roboto"/>
                <a:ea typeface="Roboto"/>
                <a:cs typeface="Roboto"/>
                <a:sym typeface="Roboto"/>
              </a:rPr>
            </a:br>
            <a:r>
              <a:rPr lang="en" sz="1200" b="1">
                <a:latin typeface="Roboto"/>
                <a:ea typeface="Roboto"/>
                <a:cs typeface="Roboto"/>
                <a:sym typeface="Roboto"/>
              </a:rPr>
              <a:t>5</a:t>
            </a:r>
            <a:r>
              <a:rPr lang="en" sz="1200">
                <a:latin typeface="Roboto"/>
                <a:ea typeface="Roboto"/>
                <a:cs typeface="Roboto"/>
                <a:sym typeface="Roboto"/>
              </a:rPr>
              <a:t> away from me.</a:t>
            </a:r>
            <a:endParaRPr sz="1200"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1842" name="Google Shape;1842;p116"/>
          <p:cNvCxnSpPr/>
          <p:nvPr/>
        </p:nvCxnSpPr>
        <p:spPr>
          <a:xfrm>
            <a:off x="5569575" y="3172442"/>
            <a:ext cx="0" cy="922800"/>
          </a:xfrm>
          <a:prstGeom prst="straightConnector1">
            <a:avLst/>
          </a:prstGeom>
          <a:noFill/>
          <a:ln w="19050" cap="flat" cmpd="sng">
            <a:solidFill>
              <a:schemeClr val="accent2"/>
            </a:solidFill>
            <a:prstDash val="solid"/>
            <a:round/>
            <a:headEnd type="none" w="med" len="med"/>
            <a:tailEnd type="triangle" w="med" len="med"/>
          </a:ln>
        </p:spPr>
      </p:cxnSp>
      <p:graphicFrame>
        <p:nvGraphicFramePr>
          <p:cNvPr id="1843" name="Google Shape;1843;p116"/>
          <p:cNvGraphicFramePr/>
          <p:nvPr/>
        </p:nvGraphicFramePr>
        <p:xfrm>
          <a:off x="6318169" y="4054900"/>
          <a:ext cx="1835500" cy="688770"/>
        </p:xfrm>
        <a:graphic>
          <a:graphicData uri="http://schemas.openxmlformats.org/drawingml/2006/table">
            <a:tbl>
              <a:tblPr>
                <a:noFill/>
              </a:tblPr>
              <a:tblGrid>
                <a:gridCol w="5448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9707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79362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121925">
                <a:tc gridSpan="3"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latin typeface="Roboto"/>
                          <a:ea typeface="Roboto"/>
                          <a:cs typeface="Roboto"/>
                          <a:sym typeface="Roboto"/>
                        </a:rPr>
                        <a:t>R2's Table</a:t>
                      </a:r>
                      <a:endParaRPr sz="12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>
                    <a:solidFill>
                      <a:srgbClr val="FFFFFF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21925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latin typeface="Roboto"/>
                          <a:ea typeface="Roboto"/>
                          <a:cs typeface="Roboto"/>
                          <a:sym typeface="Roboto"/>
                        </a:rPr>
                        <a:t>To:</a:t>
                      </a:r>
                      <a:endParaRPr sz="12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latin typeface="Roboto"/>
                          <a:ea typeface="Roboto"/>
                          <a:cs typeface="Roboto"/>
                          <a:sym typeface="Roboto"/>
                        </a:rPr>
                        <a:t>Via:</a:t>
                      </a:r>
                      <a:endParaRPr sz="12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latin typeface="Roboto"/>
                          <a:ea typeface="Roboto"/>
                          <a:cs typeface="Roboto"/>
                          <a:sym typeface="Roboto"/>
                        </a:rPr>
                        <a:t>Cost:</a:t>
                      </a:r>
                      <a:endParaRPr sz="12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21925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b="1">
                          <a:latin typeface="Roboto"/>
                          <a:ea typeface="Roboto"/>
                          <a:cs typeface="Roboto"/>
                          <a:sym typeface="Roboto"/>
                        </a:rPr>
                        <a:t>A</a:t>
                      </a:r>
                      <a:endParaRPr b="1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>
                    <a:solidFill>
                      <a:srgbClr val="F4CCCC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b="1">
                          <a:latin typeface="Roboto"/>
                          <a:ea typeface="Roboto"/>
                          <a:cs typeface="Roboto"/>
                          <a:sym typeface="Roboto"/>
                        </a:rPr>
                        <a:t>R1</a:t>
                      </a:r>
                      <a:endParaRPr b="1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>
                    <a:solidFill>
                      <a:srgbClr val="F4CCCC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b="1">
                          <a:solidFill>
                            <a:schemeClr val="dk1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6</a:t>
                      </a:r>
                      <a:endParaRPr b="1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>
                    <a:solidFill>
                      <a:srgbClr val="F4CCC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</a:tbl>
          </a:graphicData>
        </a:graphic>
      </p:graphicFrame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8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1848" name="Google Shape;1848;p117"/>
          <p:cNvCxnSpPr>
            <a:stCxn id="1849" idx="1"/>
            <a:endCxn id="1850" idx="6"/>
          </p:cNvCxnSpPr>
          <p:nvPr/>
        </p:nvCxnSpPr>
        <p:spPr>
          <a:xfrm rot="10800000">
            <a:off x="3336375" y="3637275"/>
            <a:ext cx="400800" cy="0"/>
          </a:xfrm>
          <a:prstGeom prst="straightConnector1">
            <a:avLst/>
          </a:prstGeom>
          <a:noFill/>
          <a:ln w="19050" cap="flat" cmpd="sng">
            <a:solidFill>
              <a:srgbClr val="D9D9D9"/>
            </a:solidFill>
            <a:prstDash val="dash"/>
            <a:round/>
            <a:headEnd type="none" w="med" len="med"/>
            <a:tailEnd type="none" w="med" len="med"/>
          </a:ln>
        </p:spPr>
      </p:cxnSp>
      <p:sp>
        <p:nvSpPr>
          <p:cNvPr id="1851" name="Google Shape;1851;p117"/>
          <p:cNvSpPr txBox="1">
            <a:spLocks noGrp="1"/>
          </p:cNvSpPr>
          <p:nvPr>
            <p:ph type="title"/>
          </p:nvPr>
        </p:nvSpPr>
        <p:spPr>
          <a:xfrm>
            <a:off x="0" y="0"/>
            <a:ext cx="9144000" cy="39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accent3"/>
                </a:solidFill>
              </a:rPr>
              <a:t>Count to Infinity – The Problem</a:t>
            </a:r>
            <a:endParaRPr/>
          </a:p>
        </p:txBody>
      </p:sp>
      <p:sp>
        <p:nvSpPr>
          <p:cNvPr id="1852" name="Google Shape;1852;p117"/>
          <p:cNvSpPr txBox="1">
            <a:spLocks noGrp="1"/>
          </p:cNvSpPr>
          <p:nvPr>
            <p:ph type="body" idx="1"/>
          </p:nvPr>
        </p:nvSpPr>
        <p:spPr>
          <a:xfrm>
            <a:off x="107050" y="402200"/>
            <a:ext cx="8909700" cy="1079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"/>
              <a:t>We keep advertising in a cycle, and costs keep increasing!</a:t>
            </a:r>
            <a:endParaRPr/>
          </a:p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"/>
              <a:t>Split horizon can't save us.</a:t>
            </a:r>
            <a:endParaRPr/>
          </a:p>
        </p:txBody>
      </p:sp>
      <p:sp>
        <p:nvSpPr>
          <p:cNvPr id="1850" name="Google Shape;1850;p117"/>
          <p:cNvSpPr/>
          <p:nvPr/>
        </p:nvSpPr>
        <p:spPr>
          <a:xfrm>
            <a:off x="3051363" y="3494775"/>
            <a:ext cx="285000" cy="285000"/>
          </a:xfrm>
          <a:prstGeom prst="ellipse">
            <a:avLst/>
          </a:prstGeom>
          <a:solidFill>
            <a:srgbClr val="FFFFFF"/>
          </a:solidFill>
          <a:ln w="19050" cap="flat" cmpd="sng">
            <a:solidFill>
              <a:srgbClr val="D9D9D9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D9D9D9"/>
                </a:solidFill>
                <a:latin typeface="Roboto"/>
                <a:ea typeface="Roboto"/>
                <a:cs typeface="Roboto"/>
                <a:sym typeface="Roboto"/>
              </a:rPr>
              <a:t>A</a:t>
            </a:r>
            <a:endParaRPr>
              <a:solidFill>
                <a:srgbClr val="D9D9D9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853" name="Google Shape;1853;p117"/>
          <p:cNvSpPr/>
          <p:nvPr/>
        </p:nvSpPr>
        <p:spPr>
          <a:xfrm>
            <a:off x="5261175" y="2780457"/>
            <a:ext cx="285000" cy="285000"/>
          </a:xfrm>
          <a:prstGeom prst="rect">
            <a:avLst/>
          </a:prstGeom>
          <a:solidFill>
            <a:srgbClr val="FFFFFF"/>
          </a:solidFill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R1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1854" name="Google Shape;1854;p117"/>
          <p:cNvCxnSpPr>
            <a:stCxn id="1853" idx="2"/>
            <a:endCxn id="1855" idx="0"/>
          </p:cNvCxnSpPr>
          <p:nvPr/>
        </p:nvCxnSpPr>
        <p:spPr>
          <a:xfrm>
            <a:off x="5403675" y="3065457"/>
            <a:ext cx="0" cy="1144800"/>
          </a:xfrm>
          <a:prstGeom prst="straightConnector1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1855" name="Google Shape;1855;p117"/>
          <p:cNvSpPr/>
          <p:nvPr/>
        </p:nvSpPr>
        <p:spPr>
          <a:xfrm>
            <a:off x="5261175" y="4210229"/>
            <a:ext cx="285000" cy="285000"/>
          </a:xfrm>
          <a:prstGeom prst="rect">
            <a:avLst/>
          </a:prstGeom>
          <a:solidFill>
            <a:srgbClr val="FFFFFF"/>
          </a:solidFill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R2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849" name="Google Shape;1849;p117"/>
          <p:cNvSpPr/>
          <p:nvPr/>
        </p:nvSpPr>
        <p:spPr>
          <a:xfrm>
            <a:off x="3737175" y="3494775"/>
            <a:ext cx="285000" cy="285000"/>
          </a:xfrm>
          <a:prstGeom prst="rect">
            <a:avLst/>
          </a:prstGeom>
          <a:solidFill>
            <a:srgbClr val="FFFFFF"/>
          </a:solidFill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R3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1856" name="Google Shape;1856;p117"/>
          <p:cNvCxnSpPr>
            <a:stCxn id="1853" idx="1"/>
            <a:endCxn id="1849" idx="3"/>
          </p:cNvCxnSpPr>
          <p:nvPr/>
        </p:nvCxnSpPr>
        <p:spPr>
          <a:xfrm flipH="1">
            <a:off x="4022175" y="2922957"/>
            <a:ext cx="1239000" cy="714300"/>
          </a:xfrm>
          <a:prstGeom prst="straightConnector1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1857" name="Google Shape;1857;p117"/>
          <p:cNvCxnSpPr>
            <a:stCxn id="1855" idx="1"/>
            <a:endCxn id="1849" idx="3"/>
          </p:cNvCxnSpPr>
          <p:nvPr/>
        </p:nvCxnSpPr>
        <p:spPr>
          <a:xfrm rot="10800000">
            <a:off x="4022175" y="3637229"/>
            <a:ext cx="1239000" cy="715500"/>
          </a:xfrm>
          <a:prstGeom prst="straightConnector1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med" len="med"/>
            <a:tailEnd type="none" w="med" len="med"/>
          </a:ln>
        </p:spPr>
      </p:cxnSp>
      <p:graphicFrame>
        <p:nvGraphicFramePr>
          <p:cNvPr id="1858" name="Google Shape;1858;p117"/>
          <p:cNvGraphicFramePr/>
          <p:nvPr/>
        </p:nvGraphicFramePr>
        <p:xfrm>
          <a:off x="990319" y="3292900"/>
          <a:ext cx="1835500" cy="688770"/>
        </p:xfrm>
        <a:graphic>
          <a:graphicData uri="http://schemas.openxmlformats.org/drawingml/2006/table">
            <a:tbl>
              <a:tblPr>
                <a:noFill/>
              </a:tblPr>
              <a:tblGrid>
                <a:gridCol w="5448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9707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79362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121925">
                <a:tc gridSpan="3"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latin typeface="Roboto"/>
                          <a:ea typeface="Roboto"/>
                          <a:cs typeface="Roboto"/>
                          <a:sym typeface="Roboto"/>
                        </a:rPr>
                        <a:t>R3's Table</a:t>
                      </a:r>
                      <a:endParaRPr sz="12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>
                    <a:solidFill>
                      <a:srgbClr val="FFFFFF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21925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latin typeface="Roboto"/>
                          <a:ea typeface="Roboto"/>
                          <a:cs typeface="Roboto"/>
                          <a:sym typeface="Roboto"/>
                        </a:rPr>
                        <a:t>To:</a:t>
                      </a:r>
                      <a:endParaRPr sz="12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latin typeface="Roboto"/>
                          <a:ea typeface="Roboto"/>
                          <a:cs typeface="Roboto"/>
                          <a:sym typeface="Roboto"/>
                        </a:rPr>
                        <a:t>Via:</a:t>
                      </a:r>
                      <a:endParaRPr sz="12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latin typeface="Roboto"/>
                          <a:ea typeface="Roboto"/>
                          <a:cs typeface="Roboto"/>
                          <a:sym typeface="Roboto"/>
                        </a:rPr>
                        <a:t>Cost:</a:t>
                      </a:r>
                      <a:endParaRPr sz="12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21925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latin typeface="Roboto"/>
                          <a:ea typeface="Roboto"/>
                          <a:cs typeface="Roboto"/>
                          <a:sym typeface="Roboto"/>
                        </a:rPr>
                        <a:t>A</a:t>
                      </a:r>
                      <a:endParaRPr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latin typeface="Roboto"/>
                          <a:ea typeface="Roboto"/>
                          <a:cs typeface="Roboto"/>
                          <a:sym typeface="Roboto"/>
                        </a:rPr>
                        <a:t>R2</a:t>
                      </a:r>
                      <a:endParaRPr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latin typeface="Roboto"/>
                          <a:ea typeface="Roboto"/>
                          <a:cs typeface="Roboto"/>
                          <a:sym typeface="Roboto"/>
                        </a:rPr>
                        <a:t>4</a:t>
                      </a:r>
                      <a:endParaRPr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</a:tbl>
          </a:graphicData>
        </a:graphic>
      </p:graphicFrame>
      <p:graphicFrame>
        <p:nvGraphicFramePr>
          <p:cNvPr id="1859" name="Google Shape;1859;p117"/>
          <p:cNvGraphicFramePr/>
          <p:nvPr/>
        </p:nvGraphicFramePr>
        <p:xfrm>
          <a:off x="6318169" y="2544150"/>
          <a:ext cx="1835500" cy="688770"/>
        </p:xfrm>
        <a:graphic>
          <a:graphicData uri="http://schemas.openxmlformats.org/drawingml/2006/table">
            <a:tbl>
              <a:tblPr>
                <a:noFill/>
              </a:tblPr>
              <a:tblGrid>
                <a:gridCol w="5448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9707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79362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121925">
                <a:tc gridSpan="3"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latin typeface="Roboto"/>
                          <a:ea typeface="Roboto"/>
                          <a:cs typeface="Roboto"/>
                          <a:sym typeface="Roboto"/>
                        </a:rPr>
                        <a:t>R1's Table</a:t>
                      </a:r>
                      <a:endParaRPr sz="12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>
                    <a:solidFill>
                      <a:srgbClr val="FFFFFF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21925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latin typeface="Roboto"/>
                          <a:ea typeface="Roboto"/>
                          <a:cs typeface="Roboto"/>
                          <a:sym typeface="Roboto"/>
                        </a:rPr>
                        <a:t>To:</a:t>
                      </a:r>
                      <a:endParaRPr sz="12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latin typeface="Roboto"/>
                          <a:ea typeface="Roboto"/>
                          <a:cs typeface="Roboto"/>
                          <a:sym typeface="Roboto"/>
                        </a:rPr>
                        <a:t>Via:</a:t>
                      </a:r>
                      <a:endParaRPr sz="12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latin typeface="Roboto"/>
                          <a:ea typeface="Roboto"/>
                          <a:cs typeface="Roboto"/>
                          <a:sym typeface="Roboto"/>
                        </a:rPr>
                        <a:t>Cost:</a:t>
                      </a:r>
                      <a:endParaRPr sz="12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21925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latin typeface="Roboto"/>
                          <a:ea typeface="Roboto"/>
                          <a:cs typeface="Roboto"/>
                          <a:sym typeface="Roboto"/>
                        </a:rPr>
                        <a:t>A</a:t>
                      </a:r>
                      <a:endParaRPr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latin typeface="Roboto"/>
                          <a:ea typeface="Roboto"/>
                          <a:cs typeface="Roboto"/>
                          <a:sym typeface="Roboto"/>
                        </a:rPr>
                        <a:t>R3</a:t>
                      </a:r>
                      <a:endParaRPr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latin typeface="Roboto"/>
                          <a:ea typeface="Roboto"/>
                          <a:cs typeface="Roboto"/>
                          <a:sym typeface="Roboto"/>
                        </a:rPr>
                        <a:t>5</a:t>
                      </a:r>
                      <a:endParaRPr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</a:tbl>
          </a:graphicData>
        </a:graphic>
      </p:graphicFrame>
      <p:graphicFrame>
        <p:nvGraphicFramePr>
          <p:cNvPr id="1860" name="Google Shape;1860;p117"/>
          <p:cNvGraphicFramePr/>
          <p:nvPr/>
        </p:nvGraphicFramePr>
        <p:xfrm>
          <a:off x="6318169" y="4054900"/>
          <a:ext cx="1835500" cy="688770"/>
        </p:xfrm>
        <a:graphic>
          <a:graphicData uri="http://schemas.openxmlformats.org/drawingml/2006/table">
            <a:tbl>
              <a:tblPr>
                <a:noFill/>
              </a:tblPr>
              <a:tblGrid>
                <a:gridCol w="5448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9707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79362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121925">
                <a:tc gridSpan="3"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latin typeface="Roboto"/>
                          <a:ea typeface="Roboto"/>
                          <a:cs typeface="Roboto"/>
                          <a:sym typeface="Roboto"/>
                        </a:rPr>
                        <a:t>R2's Table</a:t>
                      </a:r>
                      <a:endParaRPr sz="12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>
                    <a:solidFill>
                      <a:srgbClr val="FFFFFF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21925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latin typeface="Roboto"/>
                          <a:ea typeface="Roboto"/>
                          <a:cs typeface="Roboto"/>
                          <a:sym typeface="Roboto"/>
                        </a:rPr>
                        <a:t>To:</a:t>
                      </a:r>
                      <a:endParaRPr sz="12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latin typeface="Roboto"/>
                          <a:ea typeface="Roboto"/>
                          <a:cs typeface="Roboto"/>
                          <a:sym typeface="Roboto"/>
                        </a:rPr>
                        <a:t>Via:</a:t>
                      </a:r>
                      <a:endParaRPr sz="12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latin typeface="Roboto"/>
                          <a:ea typeface="Roboto"/>
                          <a:cs typeface="Roboto"/>
                          <a:sym typeface="Roboto"/>
                        </a:rPr>
                        <a:t>Cost:</a:t>
                      </a:r>
                      <a:endParaRPr sz="12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21925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latin typeface="Roboto"/>
                          <a:ea typeface="Roboto"/>
                          <a:cs typeface="Roboto"/>
                          <a:sym typeface="Roboto"/>
                        </a:rPr>
                        <a:t>A</a:t>
                      </a:r>
                      <a:endParaRPr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latin typeface="Roboto"/>
                          <a:ea typeface="Roboto"/>
                          <a:cs typeface="Roboto"/>
                          <a:sym typeface="Roboto"/>
                        </a:rPr>
                        <a:t>R1</a:t>
                      </a:r>
                      <a:endParaRPr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solidFill>
                            <a:schemeClr val="dk1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6</a:t>
                      </a:r>
                      <a:endParaRPr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</a:tbl>
          </a:graphicData>
        </a:graphic>
      </p:graphicFrame>
      <p:sp>
        <p:nvSpPr>
          <p:cNvPr id="1861" name="Google Shape;1861;p117"/>
          <p:cNvSpPr/>
          <p:nvPr/>
        </p:nvSpPr>
        <p:spPr>
          <a:xfrm>
            <a:off x="3057875" y="4210250"/>
            <a:ext cx="1431300" cy="437100"/>
          </a:xfrm>
          <a:prstGeom prst="roundRect">
            <a:avLst>
              <a:gd name="adj" fmla="val 16667"/>
            </a:avLst>
          </a:prstGeom>
          <a:solidFill>
            <a:srgbClr val="F4CCCC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27425" tIns="27425" rIns="27425" bIns="27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>
                <a:latin typeface="Roboto"/>
                <a:ea typeface="Roboto"/>
                <a:cs typeface="Roboto"/>
                <a:sym typeface="Roboto"/>
              </a:rPr>
              <a:t>I'm </a:t>
            </a:r>
            <a:r>
              <a:rPr lang="en" sz="1200" b="1">
                <a:latin typeface="Roboto"/>
                <a:ea typeface="Roboto"/>
                <a:cs typeface="Roboto"/>
                <a:sym typeface="Roboto"/>
              </a:rPr>
              <a:t>R2</a:t>
            </a:r>
            <a:r>
              <a:rPr lang="en" sz="1200">
                <a:latin typeface="Roboto"/>
                <a:ea typeface="Roboto"/>
                <a:cs typeface="Roboto"/>
                <a:sym typeface="Roboto"/>
              </a:rPr>
              <a:t>, and </a:t>
            </a:r>
            <a:r>
              <a:rPr lang="en" sz="1200" b="1">
                <a:latin typeface="Roboto"/>
                <a:ea typeface="Roboto"/>
                <a:cs typeface="Roboto"/>
                <a:sym typeface="Roboto"/>
              </a:rPr>
              <a:t>A</a:t>
            </a:r>
            <a:r>
              <a:rPr lang="en" sz="1200">
                <a:latin typeface="Roboto"/>
                <a:ea typeface="Roboto"/>
                <a:cs typeface="Roboto"/>
                <a:sym typeface="Roboto"/>
              </a:rPr>
              <a:t> is</a:t>
            </a:r>
            <a:br>
              <a:rPr lang="en" sz="1200">
                <a:latin typeface="Roboto"/>
                <a:ea typeface="Roboto"/>
                <a:cs typeface="Roboto"/>
                <a:sym typeface="Roboto"/>
              </a:rPr>
            </a:br>
            <a:r>
              <a:rPr lang="en" sz="1200" b="1">
                <a:latin typeface="Roboto"/>
                <a:ea typeface="Roboto"/>
                <a:cs typeface="Roboto"/>
                <a:sym typeface="Roboto"/>
              </a:rPr>
              <a:t>6</a:t>
            </a:r>
            <a:r>
              <a:rPr lang="en" sz="1200">
                <a:latin typeface="Roboto"/>
                <a:ea typeface="Roboto"/>
                <a:cs typeface="Roboto"/>
                <a:sym typeface="Roboto"/>
              </a:rPr>
              <a:t> away from me.</a:t>
            </a:r>
            <a:endParaRPr sz="1200"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1862" name="Google Shape;1862;p117"/>
          <p:cNvCxnSpPr/>
          <p:nvPr/>
        </p:nvCxnSpPr>
        <p:spPr>
          <a:xfrm>
            <a:off x="4115675" y="3883550"/>
            <a:ext cx="953100" cy="550200"/>
          </a:xfrm>
          <a:prstGeom prst="straightConnector1">
            <a:avLst/>
          </a:prstGeom>
          <a:noFill/>
          <a:ln w="19050" cap="flat" cmpd="sng">
            <a:solidFill>
              <a:schemeClr val="accent2"/>
            </a:solidFill>
            <a:prstDash val="solid"/>
            <a:round/>
            <a:headEnd type="triangle" w="med" len="med"/>
            <a:tailEnd type="none" w="med" len="med"/>
          </a:ln>
        </p:spPr>
      </p:cxnSp>
      <p:graphicFrame>
        <p:nvGraphicFramePr>
          <p:cNvPr id="1863" name="Google Shape;1863;p117"/>
          <p:cNvGraphicFramePr/>
          <p:nvPr/>
        </p:nvGraphicFramePr>
        <p:xfrm>
          <a:off x="990319" y="3292900"/>
          <a:ext cx="1835500" cy="688770"/>
        </p:xfrm>
        <a:graphic>
          <a:graphicData uri="http://schemas.openxmlformats.org/drawingml/2006/table">
            <a:tbl>
              <a:tblPr>
                <a:noFill/>
              </a:tblPr>
              <a:tblGrid>
                <a:gridCol w="5448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9707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79362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121925">
                <a:tc gridSpan="3"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latin typeface="Roboto"/>
                          <a:ea typeface="Roboto"/>
                          <a:cs typeface="Roboto"/>
                          <a:sym typeface="Roboto"/>
                        </a:rPr>
                        <a:t>R3's Table</a:t>
                      </a:r>
                      <a:endParaRPr sz="12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>
                    <a:solidFill>
                      <a:srgbClr val="FFFFFF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21925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latin typeface="Roboto"/>
                          <a:ea typeface="Roboto"/>
                          <a:cs typeface="Roboto"/>
                          <a:sym typeface="Roboto"/>
                        </a:rPr>
                        <a:t>To:</a:t>
                      </a:r>
                      <a:endParaRPr sz="12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latin typeface="Roboto"/>
                          <a:ea typeface="Roboto"/>
                          <a:cs typeface="Roboto"/>
                          <a:sym typeface="Roboto"/>
                        </a:rPr>
                        <a:t>Via:</a:t>
                      </a:r>
                      <a:endParaRPr sz="12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latin typeface="Roboto"/>
                          <a:ea typeface="Roboto"/>
                          <a:cs typeface="Roboto"/>
                          <a:sym typeface="Roboto"/>
                        </a:rPr>
                        <a:t>Cost:</a:t>
                      </a:r>
                      <a:endParaRPr sz="12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21925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b="1">
                          <a:latin typeface="Roboto"/>
                          <a:ea typeface="Roboto"/>
                          <a:cs typeface="Roboto"/>
                          <a:sym typeface="Roboto"/>
                        </a:rPr>
                        <a:t>A</a:t>
                      </a:r>
                      <a:endParaRPr b="1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>
                    <a:solidFill>
                      <a:srgbClr val="F4CCCC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b="1">
                          <a:latin typeface="Roboto"/>
                          <a:ea typeface="Roboto"/>
                          <a:cs typeface="Roboto"/>
                          <a:sym typeface="Roboto"/>
                        </a:rPr>
                        <a:t>R2</a:t>
                      </a:r>
                      <a:endParaRPr b="1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>
                    <a:solidFill>
                      <a:srgbClr val="F4CCCC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b="1">
                          <a:latin typeface="Roboto"/>
                          <a:ea typeface="Roboto"/>
                          <a:cs typeface="Roboto"/>
                          <a:sym typeface="Roboto"/>
                        </a:rPr>
                        <a:t>7</a:t>
                      </a:r>
                      <a:endParaRPr b="1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>
                    <a:solidFill>
                      <a:srgbClr val="F4CCC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</a:tbl>
          </a:graphicData>
        </a:graphic>
      </p:graphicFrame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8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1868" name="Google Shape;1868;p118"/>
          <p:cNvCxnSpPr>
            <a:stCxn id="1869" idx="1"/>
            <a:endCxn id="1870" idx="6"/>
          </p:cNvCxnSpPr>
          <p:nvPr/>
        </p:nvCxnSpPr>
        <p:spPr>
          <a:xfrm rot="10800000">
            <a:off x="3336375" y="3637275"/>
            <a:ext cx="400800" cy="0"/>
          </a:xfrm>
          <a:prstGeom prst="straightConnector1">
            <a:avLst/>
          </a:prstGeom>
          <a:noFill/>
          <a:ln w="19050" cap="flat" cmpd="sng">
            <a:solidFill>
              <a:srgbClr val="D9D9D9"/>
            </a:solidFill>
            <a:prstDash val="dash"/>
            <a:round/>
            <a:headEnd type="none" w="med" len="med"/>
            <a:tailEnd type="none" w="med" len="med"/>
          </a:ln>
        </p:spPr>
      </p:cxnSp>
      <p:sp>
        <p:nvSpPr>
          <p:cNvPr id="1871" name="Google Shape;1871;p118"/>
          <p:cNvSpPr txBox="1">
            <a:spLocks noGrp="1"/>
          </p:cNvSpPr>
          <p:nvPr>
            <p:ph type="title"/>
          </p:nvPr>
        </p:nvSpPr>
        <p:spPr>
          <a:xfrm>
            <a:off x="0" y="0"/>
            <a:ext cx="9144000" cy="39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accent3"/>
                </a:solidFill>
              </a:rPr>
              <a:t>Count to Infinity – The Problem</a:t>
            </a:r>
            <a:endParaRPr/>
          </a:p>
        </p:txBody>
      </p:sp>
      <p:sp>
        <p:nvSpPr>
          <p:cNvPr id="1872" name="Google Shape;1872;p118"/>
          <p:cNvSpPr txBox="1">
            <a:spLocks noGrp="1"/>
          </p:cNvSpPr>
          <p:nvPr>
            <p:ph type="body" idx="1"/>
          </p:nvPr>
        </p:nvSpPr>
        <p:spPr>
          <a:xfrm>
            <a:off x="107050" y="402200"/>
            <a:ext cx="8909700" cy="1079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"/>
              <a:t>We keep advertising in a cycle, and costs keep increasing!</a:t>
            </a:r>
            <a:endParaRPr/>
          </a:p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"/>
              <a:t>Split horizon can't save us.</a:t>
            </a:r>
            <a:endParaRPr/>
          </a:p>
        </p:txBody>
      </p:sp>
      <p:sp>
        <p:nvSpPr>
          <p:cNvPr id="1870" name="Google Shape;1870;p118"/>
          <p:cNvSpPr/>
          <p:nvPr/>
        </p:nvSpPr>
        <p:spPr>
          <a:xfrm>
            <a:off x="3051363" y="3494775"/>
            <a:ext cx="285000" cy="285000"/>
          </a:xfrm>
          <a:prstGeom prst="ellipse">
            <a:avLst/>
          </a:prstGeom>
          <a:solidFill>
            <a:srgbClr val="FFFFFF"/>
          </a:solidFill>
          <a:ln w="19050" cap="flat" cmpd="sng">
            <a:solidFill>
              <a:srgbClr val="D9D9D9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D9D9D9"/>
                </a:solidFill>
                <a:latin typeface="Roboto"/>
                <a:ea typeface="Roboto"/>
                <a:cs typeface="Roboto"/>
                <a:sym typeface="Roboto"/>
              </a:rPr>
              <a:t>A</a:t>
            </a:r>
            <a:endParaRPr>
              <a:solidFill>
                <a:srgbClr val="D9D9D9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873" name="Google Shape;1873;p118"/>
          <p:cNvSpPr/>
          <p:nvPr/>
        </p:nvSpPr>
        <p:spPr>
          <a:xfrm>
            <a:off x="5261175" y="2780457"/>
            <a:ext cx="285000" cy="285000"/>
          </a:xfrm>
          <a:prstGeom prst="rect">
            <a:avLst/>
          </a:prstGeom>
          <a:solidFill>
            <a:srgbClr val="FFFFFF"/>
          </a:solidFill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R1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1874" name="Google Shape;1874;p118"/>
          <p:cNvCxnSpPr>
            <a:stCxn id="1873" idx="2"/>
            <a:endCxn id="1875" idx="0"/>
          </p:cNvCxnSpPr>
          <p:nvPr/>
        </p:nvCxnSpPr>
        <p:spPr>
          <a:xfrm>
            <a:off x="5403675" y="3065457"/>
            <a:ext cx="0" cy="1144800"/>
          </a:xfrm>
          <a:prstGeom prst="straightConnector1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1875" name="Google Shape;1875;p118"/>
          <p:cNvSpPr/>
          <p:nvPr/>
        </p:nvSpPr>
        <p:spPr>
          <a:xfrm>
            <a:off x="5261175" y="4210229"/>
            <a:ext cx="285000" cy="285000"/>
          </a:xfrm>
          <a:prstGeom prst="rect">
            <a:avLst/>
          </a:prstGeom>
          <a:solidFill>
            <a:srgbClr val="FFFFFF"/>
          </a:solidFill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R2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869" name="Google Shape;1869;p118"/>
          <p:cNvSpPr/>
          <p:nvPr/>
        </p:nvSpPr>
        <p:spPr>
          <a:xfrm>
            <a:off x="3737175" y="3494775"/>
            <a:ext cx="285000" cy="285000"/>
          </a:xfrm>
          <a:prstGeom prst="rect">
            <a:avLst/>
          </a:prstGeom>
          <a:solidFill>
            <a:srgbClr val="FFFFFF"/>
          </a:solidFill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R3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1876" name="Google Shape;1876;p118"/>
          <p:cNvCxnSpPr>
            <a:stCxn id="1873" idx="1"/>
            <a:endCxn id="1869" idx="3"/>
          </p:cNvCxnSpPr>
          <p:nvPr/>
        </p:nvCxnSpPr>
        <p:spPr>
          <a:xfrm flipH="1">
            <a:off x="4022175" y="2922957"/>
            <a:ext cx="1239000" cy="714300"/>
          </a:xfrm>
          <a:prstGeom prst="straightConnector1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1877" name="Google Shape;1877;p118"/>
          <p:cNvCxnSpPr>
            <a:stCxn id="1875" idx="1"/>
            <a:endCxn id="1869" idx="3"/>
          </p:cNvCxnSpPr>
          <p:nvPr/>
        </p:nvCxnSpPr>
        <p:spPr>
          <a:xfrm rot="10800000">
            <a:off x="4022175" y="3637229"/>
            <a:ext cx="1239000" cy="715500"/>
          </a:xfrm>
          <a:prstGeom prst="straightConnector1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med" len="med"/>
            <a:tailEnd type="none" w="med" len="med"/>
          </a:ln>
        </p:spPr>
      </p:cxnSp>
      <p:graphicFrame>
        <p:nvGraphicFramePr>
          <p:cNvPr id="1878" name="Google Shape;1878;p118"/>
          <p:cNvGraphicFramePr/>
          <p:nvPr/>
        </p:nvGraphicFramePr>
        <p:xfrm>
          <a:off x="990319" y="3292900"/>
          <a:ext cx="1835500" cy="688770"/>
        </p:xfrm>
        <a:graphic>
          <a:graphicData uri="http://schemas.openxmlformats.org/drawingml/2006/table">
            <a:tbl>
              <a:tblPr>
                <a:noFill/>
              </a:tblPr>
              <a:tblGrid>
                <a:gridCol w="5448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9707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79362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121925">
                <a:tc gridSpan="3"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latin typeface="Roboto"/>
                          <a:ea typeface="Roboto"/>
                          <a:cs typeface="Roboto"/>
                          <a:sym typeface="Roboto"/>
                        </a:rPr>
                        <a:t>R3's Table</a:t>
                      </a:r>
                      <a:endParaRPr sz="12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>
                    <a:solidFill>
                      <a:srgbClr val="FFFFFF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21925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latin typeface="Roboto"/>
                          <a:ea typeface="Roboto"/>
                          <a:cs typeface="Roboto"/>
                          <a:sym typeface="Roboto"/>
                        </a:rPr>
                        <a:t>To:</a:t>
                      </a:r>
                      <a:endParaRPr sz="12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latin typeface="Roboto"/>
                          <a:ea typeface="Roboto"/>
                          <a:cs typeface="Roboto"/>
                          <a:sym typeface="Roboto"/>
                        </a:rPr>
                        <a:t>Via:</a:t>
                      </a:r>
                      <a:endParaRPr sz="12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latin typeface="Roboto"/>
                          <a:ea typeface="Roboto"/>
                          <a:cs typeface="Roboto"/>
                          <a:sym typeface="Roboto"/>
                        </a:rPr>
                        <a:t>Cost:</a:t>
                      </a:r>
                      <a:endParaRPr sz="12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21925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latin typeface="Roboto"/>
                          <a:ea typeface="Roboto"/>
                          <a:cs typeface="Roboto"/>
                          <a:sym typeface="Roboto"/>
                        </a:rPr>
                        <a:t>A</a:t>
                      </a:r>
                      <a:endParaRPr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latin typeface="Roboto"/>
                          <a:ea typeface="Roboto"/>
                          <a:cs typeface="Roboto"/>
                          <a:sym typeface="Roboto"/>
                        </a:rPr>
                        <a:t>R2</a:t>
                      </a:r>
                      <a:endParaRPr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latin typeface="Roboto"/>
                          <a:ea typeface="Roboto"/>
                          <a:cs typeface="Roboto"/>
                          <a:sym typeface="Roboto"/>
                        </a:rPr>
                        <a:t>7</a:t>
                      </a:r>
                      <a:endParaRPr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</a:tbl>
          </a:graphicData>
        </a:graphic>
      </p:graphicFrame>
      <p:graphicFrame>
        <p:nvGraphicFramePr>
          <p:cNvPr id="1879" name="Google Shape;1879;p118"/>
          <p:cNvGraphicFramePr/>
          <p:nvPr/>
        </p:nvGraphicFramePr>
        <p:xfrm>
          <a:off x="6318169" y="2544150"/>
          <a:ext cx="1835500" cy="688770"/>
        </p:xfrm>
        <a:graphic>
          <a:graphicData uri="http://schemas.openxmlformats.org/drawingml/2006/table">
            <a:tbl>
              <a:tblPr>
                <a:noFill/>
              </a:tblPr>
              <a:tblGrid>
                <a:gridCol w="5448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9707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79362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121925">
                <a:tc gridSpan="3"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latin typeface="Roboto"/>
                          <a:ea typeface="Roboto"/>
                          <a:cs typeface="Roboto"/>
                          <a:sym typeface="Roboto"/>
                        </a:rPr>
                        <a:t>R1's Table</a:t>
                      </a:r>
                      <a:endParaRPr sz="12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>
                    <a:solidFill>
                      <a:srgbClr val="FFFFFF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21925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latin typeface="Roboto"/>
                          <a:ea typeface="Roboto"/>
                          <a:cs typeface="Roboto"/>
                          <a:sym typeface="Roboto"/>
                        </a:rPr>
                        <a:t>To:</a:t>
                      </a:r>
                      <a:endParaRPr sz="12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latin typeface="Roboto"/>
                          <a:ea typeface="Roboto"/>
                          <a:cs typeface="Roboto"/>
                          <a:sym typeface="Roboto"/>
                        </a:rPr>
                        <a:t>Via:</a:t>
                      </a:r>
                      <a:endParaRPr sz="12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latin typeface="Roboto"/>
                          <a:ea typeface="Roboto"/>
                          <a:cs typeface="Roboto"/>
                          <a:sym typeface="Roboto"/>
                        </a:rPr>
                        <a:t>Cost:</a:t>
                      </a:r>
                      <a:endParaRPr sz="12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21925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latin typeface="Roboto"/>
                          <a:ea typeface="Roboto"/>
                          <a:cs typeface="Roboto"/>
                          <a:sym typeface="Roboto"/>
                        </a:rPr>
                        <a:t>A</a:t>
                      </a:r>
                      <a:endParaRPr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latin typeface="Roboto"/>
                          <a:ea typeface="Roboto"/>
                          <a:cs typeface="Roboto"/>
                          <a:sym typeface="Roboto"/>
                        </a:rPr>
                        <a:t>R3</a:t>
                      </a:r>
                      <a:endParaRPr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latin typeface="Roboto"/>
                          <a:ea typeface="Roboto"/>
                          <a:cs typeface="Roboto"/>
                          <a:sym typeface="Roboto"/>
                        </a:rPr>
                        <a:t>5</a:t>
                      </a:r>
                      <a:endParaRPr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</a:tbl>
          </a:graphicData>
        </a:graphic>
      </p:graphicFrame>
      <p:graphicFrame>
        <p:nvGraphicFramePr>
          <p:cNvPr id="1880" name="Google Shape;1880;p118"/>
          <p:cNvGraphicFramePr/>
          <p:nvPr/>
        </p:nvGraphicFramePr>
        <p:xfrm>
          <a:off x="6318169" y="4054900"/>
          <a:ext cx="1835500" cy="688770"/>
        </p:xfrm>
        <a:graphic>
          <a:graphicData uri="http://schemas.openxmlformats.org/drawingml/2006/table">
            <a:tbl>
              <a:tblPr>
                <a:noFill/>
              </a:tblPr>
              <a:tblGrid>
                <a:gridCol w="5448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9707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79362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121925">
                <a:tc gridSpan="3"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latin typeface="Roboto"/>
                          <a:ea typeface="Roboto"/>
                          <a:cs typeface="Roboto"/>
                          <a:sym typeface="Roboto"/>
                        </a:rPr>
                        <a:t>R2's Table</a:t>
                      </a:r>
                      <a:endParaRPr sz="12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>
                    <a:solidFill>
                      <a:srgbClr val="FFFFFF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21925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latin typeface="Roboto"/>
                          <a:ea typeface="Roboto"/>
                          <a:cs typeface="Roboto"/>
                          <a:sym typeface="Roboto"/>
                        </a:rPr>
                        <a:t>To:</a:t>
                      </a:r>
                      <a:endParaRPr sz="12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latin typeface="Roboto"/>
                          <a:ea typeface="Roboto"/>
                          <a:cs typeface="Roboto"/>
                          <a:sym typeface="Roboto"/>
                        </a:rPr>
                        <a:t>Via:</a:t>
                      </a:r>
                      <a:endParaRPr sz="12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latin typeface="Roboto"/>
                          <a:ea typeface="Roboto"/>
                          <a:cs typeface="Roboto"/>
                          <a:sym typeface="Roboto"/>
                        </a:rPr>
                        <a:t>Cost:</a:t>
                      </a:r>
                      <a:endParaRPr sz="12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21925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latin typeface="Roboto"/>
                          <a:ea typeface="Roboto"/>
                          <a:cs typeface="Roboto"/>
                          <a:sym typeface="Roboto"/>
                        </a:rPr>
                        <a:t>A</a:t>
                      </a:r>
                      <a:endParaRPr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latin typeface="Roboto"/>
                          <a:ea typeface="Roboto"/>
                          <a:cs typeface="Roboto"/>
                          <a:sym typeface="Roboto"/>
                        </a:rPr>
                        <a:t>R1</a:t>
                      </a:r>
                      <a:endParaRPr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solidFill>
                            <a:schemeClr val="dk1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6</a:t>
                      </a:r>
                      <a:endParaRPr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</a:tbl>
          </a:graphicData>
        </a:graphic>
      </p:graphicFrame>
      <p:sp>
        <p:nvSpPr>
          <p:cNvPr id="1881" name="Google Shape;1881;p118"/>
          <p:cNvSpPr/>
          <p:nvPr/>
        </p:nvSpPr>
        <p:spPr>
          <a:xfrm>
            <a:off x="3057875" y="2610050"/>
            <a:ext cx="1431300" cy="437100"/>
          </a:xfrm>
          <a:prstGeom prst="roundRect">
            <a:avLst>
              <a:gd name="adj" fmla="val 16667"/>
            </a:avLst>
          </a:prstGeom>
          <a:solidFill>
            <a:srgbClr val="F4CCCC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27425" tIns="27425" rIns="27425" bIns="27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>
                <a:latin typeface="Roboto"/>
                <a:ea typeface="Roboto"/>
                <a:cs typeface="Roboto"/>
                <a:sym typeface="Roboto"/>
              </a:rPr>
              <a:t>I'm </a:t>
            </a:r>
            <a:r>
              <a:rPr lang="en" sz="1200" b="1">
                <a:latin typeface="Roboto"/>
                <a:ea typeface="Roboto"/>
                <a:cs typeface="Roboto"/>
                <a:sym typeface="Roboto"/>
              </a:rPr>
              <a:t>R3</a:t>
            </a:r>
            <a:r>
              <a:rPr lang="en" sz="1200">
                <a:latin typeface="Roboto"/>
                <a:ea typeface="Roboto"/>
                <a:cs typeface="Roboto"/>
                <a:sym typeface="Roboto"/>
              </a:rPr>
              <a:t>, and </a:t>
            </a:r>
            <a:r>
              <a:rPr lang="en" sz="1200" b="1">
                <a:latin typeface="Roboto"/>
                <a:ea typeface="Roboto"/>
                <a:cs typeface="Roboto"/>
                <a:sym typeface="Roboto"/>
              </a:rPr>
              <a:t>A</a:t>
            </a:r>
            <a:r>
              <a:rPr lang="en" sz="1200">
                <a:latin typeface="Roboto"/>
                <a:ea typeface="Roboto"/>
                <a:cs typeface="Roboto"/>
                <a:sym typeface="Roboto"/>
              </a:rPr>
              <a:t> is</a:t>
            </a:r>
            <a:br>
              <a:rPr lang="en" sz="1200">
                <a:latin typeface="Roboto"/>
                <a:ea typeface="Roboto"/>
                <a:cs typeface="Roboto"/>
                <a:sym typeface="Roboto"/>
              </a:rPr>
            </a:br>
            <a:r>
              <a:rPr lang="en" sz="1200" b="1">
                <a:latin typeface="Roboto"/>
                <a:ea typeface="Roboto"/>
                <a:cs typeface="Roboto"/>
                <a:sym typeface="Roboto"/>
              </a:rPr>
              <a:t>7</a:t>
            </a:r>
            <a:r>
              <a:rPr lang="en" sz="1200">
                <a:latin typeface="Roboto"/>
                <a:ea typeface="Roboto"/>
                <a:cs typeface="Roboto"/>
                <a:sym typeface="Roboto"/>
              </a:rPr>
              <a:t> away from me.</a:t>
            </a:r>
            <a:endParaRPr sz="1200"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1882" name="Google Shape;1882;p118"/>
          <p:cNvCxnSpPr/>
          <p:nvPr/>
        </p:nvCxnSpPr>
        <p:spPr>
          <a:xfrm rot="10800000" flipH="1">
            <a:off x="4115675" y="2831869"/>
            <a:ext cx="953100" cy="550200"/>
          </a:xfrm>
          <a:prstGeom prst="straightConnector1">
            <a:avLst/>
          </a:prstGeom>
          <a:noFill/>
          <a:ln w="19050" cap="flat" cmpd="sng">
            <a:solidFill>
              <a:schemeClr val="accent2"/>
            </a:solidFill>
            <a:prstDash val="solid"/>
            <a:round/>
            <a:headEnd type="none" w="med" len="med"/>
            <a:tailEnd type="triangle" w="med" len="med"/>
          </a:ln>
        </p:spPr>
      </p:cxnSp>
      <p:graphicFrame>
        <p:nvGraphicFramePr>
          <p:cNvPr id="1883" name="Google Shape;1883;p118"/>
          <p:cNvGraphicFramePr/>
          <p:nvPr/>
        </p:nvGraphicFramePr>
        <p:xfrm>
          <a:off x="6318169" y="2544150"/>
          <a:ext cx="1835500" cy="688770"/>
        </p:xfrm>
        <a:graphic>
          <a:graphicData uri="http://schemas.openxmlformats.org/drawingml/2006/table">
            <a:tbl>
              <a:tblPr>
                <a:noFill/>
              </a:tblPr>
              <a:tblGrid>
                <a:gridCol w="5448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9707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79362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121925">
                <a:tc gridSpan="3"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latin typeface="Roboto"/>
                          <a:ea typeface="Roboto"/>
                          <a:cs typeface="Roboto"/>
                          <a:sym typeface="Roboto"/>
                        </a:rPr>
                        <a:t>R1's Table</a:t>
                      </a:r>
                      <a:endParaRPr sz="12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>
                    <a:solidFill>
                      <a:srgbClr val="FFFFFF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21925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latin typeface="Roboto"/>
                          <a:ea typeface="Roboto"/>
                          <a:cs typeface="Roboto"/>
                          <a:sym typeface="Roboto"/>
                        </a:rPr>
                        <a:t>To:</a:t>
                      </a:r>
                      <a:endParaRPr sz="12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latin typeface="Roboto"/>
                          <a:ea typeface="Roboto"/>
                          <a:cs typeface="Roboto"/>
                          <a:sym typeface="Roboto"/>
                        </a:rPr>
                        <a:t>Via:</a:t>
                      </a:r>
                      <a:endParaRPr sz="12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latin typeface="Roboto"/>
                          <a:ea typeface="Roboto"/>
                          <a:cs typeface="Roboto"/>
                          <a:sym typeface="Roboto"/>
                        </a:rPr>
                        <a:t>Cost:</a:t>
                      </a:r>
                      <a:endParaRPr sz="12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21925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b="1">
                          <a:latin typeface="Roboto"/>
                          <a:ea typeface="Roboto"/>
                          <a:cs typeface="Roboto"/>
                          <a:sym typeface="Roboto"/>
                        </a:rPr>
                        <a:t>A</a:t>
                      </a:r>
                      <a:endParaRPr b="1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>
                    <a:solidFill>
                      <a:srgbClr val="F4CCCC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b="1">
                          <a:latin typeface="Roboto"/>
                          <a:ea typeface="Roboto"/>
                          <a:cs typeface="Roboto"/>
                          <a:sym typeface="Roboto"/>
                        </a:rPr>
                        <a:t>R3</a:t>
                      </a:r>
                      <a:endParaRPr b="1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>
                    <a:solidFill>
                      <a:srgbClr val="F4CCCC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b="1">
                          <a:latin typeface="Roboto"/>
                          <a:ea typeface="Roboto"/>
                          <a:cs typeface="Roboto"/>
                          <a:sym typeface="Roboto"/>
                        </a:rPr>
                        <a:t>8</a:t>
                      </a:r>
                      <a:endParaRPr b="1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>
                    <a:solidFill>
                      <a:srgbClr val="F4CCC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</a:tbl>
          </a:graphicData>
        </a:graphic>
      </p:graphicFrame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8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1888" name="Google Shape;1888;p119"/>
          <p:cNvCxnSpPr>
            <a:stCxn id="1889" idx="1"/>
            <a:endCxn id="1890" idx="6"/>
          </p:cNvCxnSpPr>
          <p:nvPr/>
        </p:nvCxnSpPr>
        <p:spPr>
          <a:xfrm rot="10800000">
            <a:off x="3336375" y="3637275"/>
            <a:ext cx="400800" cy="0"/>
          </a:xfrm>
          <a:prstGeom prst="straightConnector1">
            <a:avLst/>
          </a:prstGeom>
          <a:noFill/>
          <a:ln w="19050" cap="flat" cmpd="sng">
            <a:solidFill>
              <a:srgbClr val="D9D9D9"/>
            </a:solidFill>
            <a:prstDash val="dash"/>
            <a:round/>
            <a:headEnd type="none" w="med" len="med"/>
            <a:tailEnd type="none" w="med" len="med"/>
          </a:ln>
        </p:spPr>
      </p:cxnSp>
      <p:sp>
        <p:nvSpPr>
          <p:cNvPr id="1891" name="Google Shape;1891;p119"/>
          <p:cNvSpPr txBox="1">
            <a:spLocks noGrp="1"/>
          </p:cNvSpPr>
          <p:nvPr>
            <p:ph type="title"/>
          </p:nvPr>
        </p:nvSpPr>
        <p:spPr>
          <a:xfrm>
            <a:off x="0" y="0"/>
            <a:ext cx="9144000" cy="39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accent3"/>
                </a:solidFill>
              </a:rPr>
              <a:t>Count to Infinity – The Problem</a:t>
            </a:r>
            <a:endParaRPr/>
          </a:p>
        </p:txBody>
      </p:sp>
      <p:sp>
        <p:nvSpPr>
          <p:cNvPr id="1892" name="Google Shape;1892;p119"/>
          <p:cNvSpPr txBox="1">
            <a:spLocks noGrp="1"/>
          </p:cNvSpPr>
          <p:nvPr>
            <p:ph type="body" idx="1"/>
          </p:nvPr>
        </p:nvSpPr>
        <p:spPr>
          <a:xfrm>
            <a:off x="107050" y="402200"/>
            <a:ext cx="8909700" cy="1079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"/>
              <a:t>We keep advertising in a cycle, and costs keep increasing!</a:t>
            </a:r>
            <a:endParaRPr/>
          </a:p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"/>
              <a:t>Split horizon can't save us.</a:t>
            </a:r>
            <a:endParaRPr/>
          </a:p>
        </p:txBody>
      </p:sp>
      <p:sp>
        <p:nvSpPr>
          <p:cNvPr id="1890" name="Google Shape;1890;p119"/>
          <p:cNvSpPr/>
          <p:nvPr/>
        </p:nvSpPr>
        <p:spPr>
          <a:xfrm>
            <a:off x="3051363" y="3494775"/>
            <a:ext cx="285000" cy="285000"/>
          </a:xfrm>
          <a:prstGeom prst="ellipse">
            <a:avLst/>
          </a:prstGeom>
          <a:solidFill>
            <a:srgbClr val="FFFFFF"/>
          </a:solidFill>
          <a:ln w="19050" cap="flat" cmpd="sng">
            <a:solidFill>
              <a:srgbClr val="D9D9D9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D9D9D9"/>
                </a:solidFill>
                <a:latin typeface="Roboto"/>
                <a:ea typeface="Roboto"/>
                <a:cs typeface="Roboto"/>
                <a:sym typeface="Roboto"/>
              </a:rPr>
              <a:t>A</a:t>
            </a:r>
            <a:endParaRPr>
              <a:solidFill>
                <a:srgbClr val="D9D9D9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893" name="Google Shape;1893;p119"/>
          <p:cNvSpPr/>
          <p:nvPr/>
        </p:nvSpPr>
        <p:spPr>
          <a:xfrm>
            <a:off x="5261175" y="2780457"/>
            <a:ext cx="285000" cy="285000"/>
          </a:xfrm>
          <a:prstGeom prst="rect">
            <a:avLst/>
          </a:prstGeom>
          <a:solidFill>
            <a:srgbClr val="FFFFFF"/>
          </a:solidFill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R1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1894" name="Google Shape;1894;p119"/>
          <p:cNvCxnSpPr>
            <a:stCxn id="1893" idx="2"/>
            <a:endCxn id="1895" idx="0"/>
          </p:cNvCxnSpPr>
          <p:nvPr/>
        </p:nvCxnSpPr>
        <p:spPr>
          <a:xfrm>
            <a:off x="5403675" y="3065457"/>
            <a:ext cx="0" cy="1144800"/>
          </a:xfrm>
          <a:prstGeom prst="straightConnector1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1895" name="Google Shape;1895;p119"/>
          <p:cNvSpPr/>
          <p:nvPr/>
        </p:nvSpPr>
        <p:spPr>
          <a:xfrm>
            <a:off x="5261175" y="4210229"/>
            <a:ext cx="285000" cy="285000"/>
          </a:xfrm>
          <a:prstGeom prst="rect">
            <a:avLst/>
          </a:prstGeom>
          <a:solidFill>
            <a:srgbClr val="FFFFFF"/>
          </a:solidFill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R2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889" name="Google Shape;1889;p119"/>
          <p:cNvSpPr/>
          <p:nvPr/>
        </p:nvSpPr>
        <p:spPr>
          <a:xfrm>
            <a:off x="3737175" y="3494775"/>
            <a:ext cx="285000" cy="285000"/>
          </a:xfrm>
          <a:prstGeom prst="rect">
            <a:avLst/>
          </a:prstGeom>
          <a:solidFill>
            <a:srgbClr val="FFFFFF"/>
          </a:solidFill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R3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1896" name="Google Shape;1896;p119"/>
          <p:cNvCxnSpPr>
            <a:stCxn id="1893" idx="1"/>
            <a:endCxn id="1889" idx="3"/>
          </p:cNvCxnSpPr>
          <p:nvPr/>
        </p:nvCxnSpPr>
        <p:spPr>
          <a:xfrm flipH="1">
            <a:off x="4022175" y="2922957"/>
            <a:ext cx="1239000" cy="714300"/>
          </a:xfrm>
          <a:prstGeom prst="straightConnector1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1897" name="Google Shape;1897;p119"/>
          <p:cNvCxnSpPr>
            <a:stCxn id="1895" idx="1"/>
            <a:endCxn id="1889" idx="3"/>
          </p:cNvCxnSpPr>
          <p:nvPr/>
        </p:nvCxnSpPr>
        <p:spPr>
          <a:xfrm rot="10800000">
            <a:off x="4022175" y="3637229"/>
            <a:ext cx="1239000" cy="715500"/>
          </a:xfrm>
          <a:prstGeom prst="straightConnector1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med" len="med"/>
            <a:tailEnd type="none" w="med" len="med"/>
          </a:ln>
        </p:spPr>
      </p:cxnSp>
      <p:graphicFrame>
        <p:nvGraphicFramePr>
          <p:cNvPr id="1898" name="Google Shape;1898;p119"/>
          <p:cNvGraphicFramePr/>
          <p:nvPr/>
        </p:nvGraphicFramePr>
        <p:xfrm>
          <a:off x="990319" y="3292900"/>
          <a:ext cx="1835500" cy="688770"/>
        </p:xfrm>
        <a:graphic>
          <a:graphicData uri="http://schemas.openxmlformats.org/drawingml/2006/table">
            <a:tbl>
              <a:tblPr>
                <a:noFill/>
              </a:tblPr>
              <a:tblGrid>
                <a:gridCol w="5448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9707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79362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121925">
                <a:tc gridSpan="3"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latin typeface="Roboto"/>
                          <a:ea typeface="Roboto"/>
                          <a:cs typeface="Roboto"/>
                          <a:sym typeface="Roboto"/>
                        </a:rPr>
                        <a:t>R3's Table</a:t>
                      </a:r>
                      <a:endParaRPr sz="12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>
                    <a:solidFill>
                      <a:srgbClr val="FFFFFF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21925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latin typeface="Roboto"/>
                          <a:ea typeface="Roboto"/>
                          <a:cs typeface="Roboto"/>
                          <a:sym typeface="Roboto"/>
                        </a:rPr>
                        <a:t>To:</a:t>
                      </a:r>
                      <a:endParaRPr sz="12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latin typeface="Roboto"/>
                          <a:ea typeface="Roboto"/>
                          <a:cs typeface="Roboto"/>
                          <a:sym typeface="Roboto"/>
                        </a:rPr>
                        <a:t>Via:</a:t>
                      </a:r>
                      <a:endParaRPr sz="12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latin typeface="Roboto"/>
                          <a:ea typeface="Roboto"/>
                          <a:cs typeface="Roboto"/>
                          <a:sym typeface="Roboto"/>
                        </a:rPr>
                        <a:t>Cost:</a:t>
                      </a:r>
                      <a:endParaRPr sz="12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21925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latin typeface="Roboto"/>
                          <a:ea typeface="Roboto"/>
                          <a:cs typeface="Roboto"/>
                          <a:sym typeface="Roboto"/>
                        </a:rPr>
                        <a:t>A</a:t>
                      </a:r>
                      <a:endParaRPr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latin typeface="Roboto"/>
                          <a:ea typeface="Roboto"/>
                          <a:cs typeface="Roboto"/>
                          <a:sym typeface="Roboto"/>
                        </a:rPr>
                        <a:t>R2</a:t>
                      </a:r>
                      <a:endParaRPr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latin typeface="Roboto"/>
                          <a:ea typeface="Roboto"/>
                          <a:cs typeface="Roboto"/>
                          <a:sym typeface="Roboto"/>
                        </a:rPr>
                        <a:t>7</a:t>
                      </a:r>
                      <a:endParaRPr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</a:tbl>
          </a:graphicData>
        </a:graphic>
      </p:graphicFrame>
      <p:graphicFrame>
        <p:nvGraphicFramePr>
          <p:cNvPr id="1899" name="Google Shape;1899;p119"/>
          <p:cNvGraphicFramePr/>
          <p:nvPr/>
        </p:nvGraphicFramePr>
        <p:xfrm>
          <a:off x="6318169" y="2544150"/>
          <a:ext cx="1835500" cy="688770"/>
        </p:xfrm>
        <a:graphic>
          <a:graphicData uri="http://schemas.openxmlformats.org/drawingml/2006/table">
            <a:tbl>
              <a:tblPr>
                <a:noFill/>
              </a:tblPr>
              <a:tblGrid>
                <a:gridCol w="5448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9707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79362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121925">
                <a:tc gridSpan="3"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latin typeface="Roboto"/>
                          <a:ea typeface="Roboto"/>
                          <a:cs typeface="Roboto"/>
                          <a:sym typeface="Roboto"/>
                        </a:rPr>
                        <a:t>R1's Table</a:t>
                      </a:r>
                      <a:endParaRPr sz="12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>
                    <a:solidFill>
                      <a:srgbClr val="FFFFFF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21925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latin typeface="Roboto"/>
                          <a:ea typeface="Roboto"/>
                          <a:cs typeface="Roboto"/>
                          <a:sym typeface="Roboto"/>
                        </a:rPr>
                        <a:t>To:</a:t>
                      </a:r>
                      <a:endParaRPr sz="12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latin typeface="Roboto"/>
                          <a:ea typeface="Roboto"/>
                          <a:cs typeface="Roboto"/>
                          <a:sym typeface="Roboto"/>
                        </a:rPr>
                        <a:t>Via:</a:t>
                      </a:r>
                      <a:endParaRPr sz="12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latin typeface="Roboto"/>
                          <a:ea typeface="Roboto"/>
                          <a:cs typeface="Roboto"/>
                          <a:sym typeface="Roboto"/>
                        </a:rPr>
                        <a:t>Cost:</a:t>
                      </a:r>
                      <a:endParaRPr sz="12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21925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latin typeface="Roboto"/>
                          <a:ea typeface="Roboto"/>
                          <a:cs typeface="Roboto"/>
                          <a:sym typeface="Roboto"/>
                        </a:rPr>
                        <a:t>A</a:t>
                      </a:r>
                      <a:endParaRPr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latin typeface="Roboto"/>
                          <a:ea typeface="Roboto"/>
                          <a:cs typeface="Roboto"/>
                          <a:sym typeface="Roboto"/>
                        </a:rPr>
                        <a:t>R3</a:t>
                      </a:r>
                      <a:endParaRPr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latin typeface="Roboto"/>
                          <a:ea typeface="Roboto"/>
                          <a:cs typeface="Roboto"/>
                          <a:sym typeface="Roboto"/>
                        </a:rPr>
                        <a:t>8</a:t>
                      </a:r>
                      <a:endParaRPr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</a:tbl>
          </a:graphicData>
        </a:graphic>
      </p:graphicFrame>
      <p:graphicFrame>
        <p:nvGraphicFramePr>
          <p:cNvPr id="1900" name="Google Shape;1900;p119"/>
          <p:cNvGraphicFramePr/>
          <p:nvPr/>
        </p:nvGraphicFramePr>
        <p:xfrm>
          <a:off x="6318169" y="4054900"/>
          <a:ext cx="1835500" cy="688770"/>
        </p:xfrm>
        <a:graphic>
          <a:graphicData uri="http://schemas.openxmlformats.org/drawingml/2006/table">
            <a:tbl>
              <a:tblPr>
                <a:noFill/>
              </a:tblPr>
              <a:tblGrid>
                <a:gridCol w="5448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9707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79362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121925">
                <a:tc gridSpan="3"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latin typeface="Roboto"/>
                          <a:ea typeface="Roboto"/>
                          <a:cs typeface="Roboto"/>
                          <a:sym typeface="Roboto"/>
                        </a:rPr>
                        <a:t>R2's Table</a:t>
                      </a:r>
                      <a:endParaRPr sz="12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>
                    <a:solidFill>
                      <a:srgbClr val="FFFFFF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21925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latin typeface="Roboto"/>
                          <a:ea typeface="Roboto"/>
                          <a:cs typeface="Roboto"/>
                          <a:sym typeface="Roboto"/>
                        </a:rPr>
                        <a:t>To:</a:t>
                      </a:r>
                      <a:endParaRPr sz="12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latin typeface="Roboto"/>
                          <a:ea typeface="Roboto"/>
                          <a:cs typeface="Roboto"/>
                          <a:sym typeface="Roboto"/>
                        </a:rPr>
                        <a:t>Via:</a:t>
                      </a:r>
                      <a:endParaRPr sz="12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latin typeface="Roboto"/>
                          <a:ea typeface="Roboto"/>
                          <a:cs typeface="Roboto"/>
                          <a:sym typeface="Roboto"/>
                        </a:rPr>
                        <a:t>Cost:</a:t>
                      </a:r>
                      <a:endParaRPr sz="12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21925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latin typeface="Roboto"/>
                          <a:ea typeface="Roboto"/>
                          <a:cs typeface="Roboto"/>
                          <a:sym typeface="Roboto"/>
                        </a:rPr>
                        <a:t>A</a:t>
                      </a:r>
                      <a:endParaRPr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latin typeface="Roboto"/>
                          <a:ea typeface="Roboto"/>
                          <a:cs typeface="Roboto"/>
                          <a:sym typeface="Roboto"/>
                        </a:rPr>
                        <a:t>R1</a:t>
                      </a:r>
                      <a:endParaRPr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solidFill>
                            <a:schemeClr val="dk1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6</a:t>
                      </a:r>
                      <a:endParaRPr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</a:tbl>
          </a:graphicData>
        </a:graphic>
      </p:graphicFrame>
      <p:sp>
        <p:nvSpPr>
          <p:cNvPr id="1901" name="Google Shape;1901;p119"/>
          <p:cNvSpPr/>
          <p:nvPr/>
        </p:nvSpPr>
        <p:spPr>
          <a:xfrm>
            <a:off x="5733600" y="3425350"/>
            <a:ext cx="1431300" cy="437100"/>
          </a:xfrm>
          <a:prstGeom prst="roundRect">
            <a:avLst>
              <a:gd name="adj" fmla="val 16667"/>
            </a:avLst>
          </a:prstGeom>
          <a:solidFill>
            <a:srgbClr val="F4CCCC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27425" tIns="27425" rIns="27425" bIns="27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>
                <a:latin typeface="Roboto"/>
                <a:ea typeface="Roboto"/>
                <a:cs typeface="Roboto"/>
                <a:sym typeface="Roboto"/>
              </a:rPr>
              <a:t>I'm </a:t>
            </a:r>
            <a:r>
              <a:rPr lang="en" sz="1200" b="1">
                <a:latin typeface="Roboto"/>
                <a:ea typeface="Roboto"/>
                <a:cs typeface="Roboto"/>
                <a:sym typeface="Roboto"/>
              </a:rPr>
              <a:t>R1</a:t>
            </a:r>
            <a:r>
              <a:rPr lang="en" sz="1200">
                <a:latin typeface="Roboto"/>
                <a:ea typeface="Roboto"/>
                <a:cs typeface="Roboto"/>
                <a:sym typeface="Roboto"/>
              </a:rPr>
              <a:t>, and </a:t>
            </a:r>
            <a:r>
              <a:rPr lang="en" sz="1200" b="1">
                <a:latin typeface="Roboto"/>
                <a:ea typeface="Roboto"/>
                <a:cs typeface="Roboto"/>
                <a:sym typeface="Roboto"/>
              </a:rPr>
              <a:t>A</a:t>
            </a:r>
            <a:r>
              <a:rPr lang="en" sz="1200">
                <a:latin typeface="Roboto"/>
                <a:ea typeface="Roboto"/>
                <a:cs typeface="Roboto"/>
                <a:sym typeface="Roboto"/>
              </a:rPr>
              <a:t> is</a:t>
            </a:r>
            <a:br>
              <a:rPr lang="en" sz="1200">
                <a:latin typeface="Roboto"/>
                <a:ea typeface="Roboto"/>
                <a:cs typeface="Roboto"/>
                <a:sym typeface="Roboto"/>
              </a:rPr>
            </a:br>
            <a:r>
              <a:rPr lang="en" sz="1200" b="1">
                <a:latin typeface="Roboto"/>
                <a:ea typeface="Roboto"/>
                <a:cs typeface="Roboto"/>
                <a:sym typeface="Roboto"/>
              </a:rPr>
              <a:t>8</a:t>
            </a:r>
            <a:r>
              <a:rPr lang="en" sz="1200">
                <a:latin typeface="Roboto"/>
                <a:ea typeface="Roboto"/>
                <a:cs typeface="Roboto"/>
                <a:sym typeface="Roboto"/>
              </a:rPr>
              <a:t> away from me.</a:t>
            </a:r>
            <a:endParaRPr sz="1200"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1902" name="Google Shape;1902;p119"/>
          <p:cNvCxnSpPr/>
          <p:nvPr/>
        </p:nvCxnSpPr>
        <p:spPr>
          <a:xfrm>
            <a:off x="5569575" y="3172442"/>
            <a:ext cx="0" cy="922800"/>
          </a:xfrm>
          <a:prstGeom prst="straightConnector1">
            <a:avLst/>
          </a:prstGeom>
          <a:noFill/>
          <a:ln w="19050" cap="flat" cmpd="sng">
            <a:solidFill>
              <a:schemeClr val="accent2"/>
            </a:solidFill>
            <a:prstDash val="solid"/>
            <a:round/>
            <a:headEnd type="none" w="med" len="med"/>
            <a:tailEnd type="triangle" w="med" len="med"/>
          </a:ln>
        </p:spPr>
      </p:cxnSp>
      <p:graphicFrame>
        <p:nvGraphicFramePr>
          <p:cNvPr id="1903" name="Google Shape;1903;p119"/>
          <p:cNvGraphicFramePr/>
          <p:nvPr/>
        </p:nvGraphicFramePr>
        <p:xfrm>
          <a:off x="6318169" y="4054900"/>
          <a:ext cx="1835500" cy="688770"/>
        </p:xfrm>
        <a:graphic>
          <a:graphicData uri="http://schemas.openxmlformats.org/drawingml/2006/table">
            <a:tbl>
              <a:tblPr>
                <a:noFill/>
              </a:tblPr>
              <a:tblGrid>
                <a:gridCol w="5448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9707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79362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121925">
                <a:tc gridSpan="3"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latin typeface="Roboto"/>
                          <a:ea typeface="Roboto"/>
                          <a:cs typeface="Roboto"/>
                          <a:sym typeface="Roboto"/>
                        </a:rPr>
                        <a:t>R2's Table</a:t>
                      </a:r>
                      <a:endParaRPr sz="12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>
                    <a:solidFill>
                      <a:srgbClr val="FFFFFF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21925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latin typeface="Roboto"/>
                          <a:ea typeface="Roboto"/>
                          <a:cs typeface="Roboto"/>
                          <a:sym typeface="Roboto"/>
                        </a:rPr>
                        <a:t>To:</a:t>
                      </a:r>
                      <a:endParaRPr sz="12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latin typeface="Roboto"/>
                          <a:ea typeface="Roboto"/>
                          <a:cs typeface="Roboto"/>
                          <a:sym typeface="Roboto"/>
                        </a:rPr>
                        <a:t>Via:</a:t>
                      </a:r>
                      <a:endParaRPr sz="12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latin typeface="Roboto"/>
                          <a:ea typeface="Roboto"/>
                          <a:cs typeface="Roboto"/>
                          <a:sym typeface="Roboto"/>
                        </a:rPr>
                        <a:t>Cost:</a:t>
                      </a:r>
                      <a:endParaRPr sz="12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21925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b="1">
                          <a:latin typeface="Roboto"/>
                          <a:ea typeface="Roboto"/>
                          <a:cs typeface="Roboto"/>
                          <a:sym typeface="Roboto"/>
                        </a:rPr>
                        <a:t>A</a:t>
                      </a:r>
                      <a:endParaRPr b="1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>
                    <a:solidFill>
                      <a:srgbClr val="F4CCCC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b="1">
                          <a:latin typeface="Roboto"/>
                          <a:ea typeface="Roboto"/>
                          <a:cs typeface="Roboto"/>
                          <a:sym typeface="Roboto"/>
                        </a:rPr>
                        <a:t>R1</a:t>
                      </a:r>
                      <a:endParaRPr b="1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>
                    <a:solidFill>
                      <a:srgbClr val="F4CCCC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b="1">
                          <a:solidFill>
                            <a:schemeClr val="dk1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9</a:t>
                      </a:r>
                      <a:endParaRPr b="1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>
                    <a:solidFill>
                      <a:srgbClr val="F4CCC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</a:tbl>
          </a:graphicData>
        </a:graphic>
      </p:graphicFrame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0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0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0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9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1908" name="Google Shape;1908;p120"/>
          <p:cNvCxnSpPr>
            <a:stCxn id="1909" idx="1"/>
            <a:endCxn id="1910" idx="6"/>
          </p:cNvCxnSpPr>
          <p:nvPr/>
        </p:nvCxnSpPr>
        <p:spPr>
          <a:xfrm rot="10800000">
            <a:off x="3336375" y="3637275"/>
            <a:ext cx="400800" cy="0"/>
          </a:xfrm>
          <a:prstGeom prst="straightConnector1">
            <a:avLst/>
          </a:prstGeom>
          <a:noFill/>
          <a:ln w="19050" cap="flat" cmpd="sng">
            <a:solidFill>
              <a:srgbClr val="D9D9D9"/>
            </a:solidFill>
            <a:prstDash val="dash"/>
            <a:round/>
            <a:headEnd type="none" w="med" len="med"/>
            <a:tailEnd type="none" w="med" len="med"/>
          </a:ln>
        </p:spPr>
      </p:cxnSp>
      <p:sp>
        <p:nvSpPr>
          <p:cNvPr id="1911" name="Google Shape;1911;p120"/>
          <p:cNvSpPr txBox="1">
            <a:spLocks noGrp="1"/>
          </p:cNvSpPr>
          <p:nvPr>
            <p:ph type="title"/>
          </p:nvPr>
        </p:nvSpPr>
        <p:spPr>
          <a:xfrm>
            <a:off x="0" y="0"/>
            <a:ext cx="9144000" cy="39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accent3"/>
                </a:solidFill>
              </a:rPr>
              <a:t>Count to Infinity – The Problem</a:t>
            </a:r>
            <a:endParaRPr/>
          </a:p>
        </p:txBody>
      </p:sp>
      <p:sp>
        <p:nvSpPr>
          <p:cNvPr id="1912" name="Google Shape;1912;p120"/>
          <p:cNvSpPr txBox="1">
            <a:spLocks noGrp="1"/>
          </p:cNvSpPr>
          <p:nvPr>
            <p:ph type="body" idx="1"/>
          </p:nvPr>
        </p:nvSpPr>
        <p:spPr>
          <a:xfrm>
            <a:off x="107050" y="402200"/>
            <a:ext cx="8909700" cy="1079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"/>
              <a:t>We keep advertising in a cycle, and costs keep increasing!</a:t>
            </a:r>
            <a:endParaRPr/>
          </a:p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"/>
              <a:t>Split horizon can't save us.</a:t>
            </a:r>
            <a:endParaRPr/>
          </a:p>
        </p:txBody>
      </p:sp>
      <p:sp>
        <p:nvSpPr>
          <p:cNvPr id="1910" name="Google Shape;1910;p120"/>
          <p:cNvSpPr/>
          <p:nvPr/>
        </p:nvSpPr>
        <p:spPr>
          <a:xfrm>
            <a:off x="3051363" y="3494775"/>
            <a:ext cx="285000" cy="285000"/>
          </a:xfrm>
          <a:prstGeom prst="ellipse">
            <a:avLst/>
          </a:prstGeom>
          <a:solidFill>
            <a:srgbClr val="FFFFFF"/>
          </a:solidFill>
          <a:ln w="19050" cap="flat" cmpd="sng">
            <a:solidFill>
              <a:srgbClr val="D9D9D9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D9D9D9"/>
                </a:solidFill>
                <a:latin typeface="Roboto"/>
                <a:ea typeface="Roboto"/>
                <a:cs typeface="Roboto"/>
                <a:sym typeface="Roboto"/>
              </a:rPr>
              <a:t>A</a:t>
            </a:r>
            <a:endParaRPr>
              <a:solidFill>
                <a:srgbClr val="D9D9D9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913" name="Google Shape;1913;p120"/>
          <p:cNvSpPr/>
          <p:nvPr/>
        </p:nvSpPr>
        <p:spPr>
          <a:xfrm>
            <a:off x="5261175" y="2780457"/>
            <a:ext cx="285000" cy="285000"/>
          </a:xfrm>
          <a:prstGeom prst="rect">
            <a:avLst/>
          </a:prstGeom>
          <a:solidFill>
            <a:srgbClr val="FFFFFF"/>
          </a:solidFill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R1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1914" name="Google Shape;1914;p120"/>
          <p:cNvCxnSpPr>
            <a:stCxn id="1913" idx="2"/>
            <a:endCxn id="1915" idx="0"/>
          </p:cNvCxnSpPr>
          <p:nvPr/>
        </p:nvCxnSpPr>
        <p:spPr>
          <a:xfrm>
            <a:off x="5403675" y="3065457"/>
            <a:ext cx="0" cy="1144800"/>
          </a:xfrm>
          <a:prstGeom prst="straightConnector1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1915" name="Google Shape;1915;p120"/>
          <p:cNvSpPr/>
          <p:nvPr/>
        </p:nvSpPr>
        <p:spPr>
          <a:xfrm>
            <a:off x="5261175" y="4210229"/>
            <a:ext cx="285000" cy="285000"/>
          </a:xfrm>
          <a:prstGeom prst="rect">
            <a:avLst/>
          </a:prstGeom>
          <a:solidFill>
            <a:srgbClr val="FFFFFF"/>
          </a:solidFill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R2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909" name="Google Shape;1909;p120"/>
          <p:cNvSpPr/>
          <p:nvPr/>
        </p:nvSpPr>
        <p:spPr>
          <a:xfrm>
            <a:off x="3737175" y="3494775"/>
            <a:ext cx="285000" cy="285000"/>
          </a:xfrm>
          <a:prstGeom prst="rect">
            <a:avLst/>
          </a:prstGeom>
          <a:solidFill>
            <a:srgbClr val="FFFFFF"/>
          </a:solidFill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R3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1916" name="Google Shape;1916;p120"/>
          <p:cNvCxnSpPr>
            <a:stCxn id="1913" idx="1"/>
            <a:endCxn id="1909" idx="3"/>
          </p:cNvCxnSpPr>
          <p:nvPr/>
        </p:nvCxnSpPr>
        <p:spPr>
          <a:xfrm flipH="1">
            <a:off x="4022175" y="2922957"/>
            <a:ext cx="1239000" cy="714300"/>
          </a:xfrm>
          <a:prstGeom prst="straightConnector1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1917" name="Google Shape;1917;p120"/>
          <p:cNvCxnSpPr>
            <a:stCxn id="1915" idx="1"/>
            <a:endCxn id="1909" idx="3"/>
          </p:cNvCxnSpPr>
          <p:nvPr/>
        </p:nvCxnSpPr>
        <p:spPr>
          <a:xfrm rot="10800000">
            <a:off x="4022175" y="3637229"/>
            <a:ext cx="1239000" cy="715500"/>
          </a:xfrm>
          <a:prstGeom prst="straightConnector1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med" len="med"/>
            <a:tailEnd type="none" w="med" len="med"/>
          </a:ln>
        </p:spPr>
      </p:cxnSp>
      <p:graphicFrame>
        <p:nvGraphicFramePr>
          <p:cNvPr id="1918" name="Google Shape;1918;p120"/>
          <p:cNvGraphicFramePr/>
          <p:nvPr/>
        </p:nvGraphicFramePr>
        <p:xfrm>
          <a:off x="990319" y="3292900"/>
          <a:ext cx="1835500" cy="688770"/>
        </p:xfrm>
        <a:graphic>
          <a:graphicData uri="http://schemas.openxmlformats.org/drawingml/2006/table">
            <a:tbl>
              <a:tblPr>
                <a:noFill/>
              </a:tblPr>
              <a:tblGrid>
                <a:gridCol w="5448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9707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79362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121925">
                <a:tc gridSpan="3"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latin typeface="Roboto"/>
                          <a:ea typeface="Roboto"/>
                          <a:cs typeface="Roboto"/>
                          <a:sym typeface="Roboto"/>
                        </a:rPr>
                        <a:t>R3's Table</a:t>
                      </a:r>
                      <a:endParaRPr sz="12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>
                    <a:solidFill>
                      <a:srgbClr val="FFFFFF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21925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latin typeface="Roboto"/>
                          <a:ea typeface="Roboto"/>
                          <a:cs typeface="Roboto"/>
                          <a:sym typeface="Roboto"/>
                        </a:rPr>
                        <a:t>To:</a:t>
                      </a:r>
                      <a:endParaRPr sz="12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latin typeface="Roboto"/>
                          <a:ea typeface="Roboto"/>
                          <a:cs typeface="Roboto"/>
                          <a:sym typeface="Roboto"/>
                        </a:rPr>
                        <a:t>Via:</a:t>
                      </a:r>
                      <a:endParaRPr sz="12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latin typeface="Roboto"/>
                          <a:ea typeface="Roboto"/>
                          <a:cs typeface="Roboto"/>
                          <a:sym typeface="Roboto"/>
                        </a:rPr>
                        <a:t>Cost:</a:t>
                      </a:r>
                      <a:endParaRPr sz="12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21925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latin typeface="Roboto"/>
                          <a:ea typeface="Roboto"/>
                          <a:cs typeface="Roboto"/>
                          <a:sym typeface="Roboto"/>
                        </a:rPr>
                        <a:t>A</a:t>
                      </a:r>
                      <a:endParaRPr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latin typeface="Roboto"/>
                          <a:ea typeface="Roboto"/>
                          <a:cs typeface="Roboto"/>
                          <a:sym typeface="Roboto"/>
                        </a:rPr>
                        <a:t>R2</a:t>
                      </a:r>
                      <a:endParaRPr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latin typeface="Roboto"/>
                          <a:ea typeface="Roboto"/>
                          <a:cs typeface="Roboto"/>
                          <a:sym typeface="Roboto"/>
                        </a:rPr>
                        <a:t>7</a:t>
                      </a:r>
                      <a:endParaRPr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</a:tbl>
          </a:graphicData>
        </a:graphic>
      </p:graphicFrame>
      <p:graphicFrame>
        <p:nvGraphicFramePr>
          <p:cNvPr id="1919" name="Google Shape;1919;p120"/>
          <p:cNvGraphicFramePr/>
          <p:nvPr/>
        </p:nvGraphicFramePr>
        <p:xfrm>
          <a:off x="6318169" y="2544150"/>
          <a:ext cx="1835500" cy="688770"/>
        </p:xfrm>
        <a:graphic>
          <a:graphicData uri="http://schemas.openxmlformats.org/drawingml/2006/table">
            <a:tbl>
              <a:tblPr>
                <a:noFill/>
              </a:tblPr>
              <a:tblGrid>
                <a:gridCol w="5448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9707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79362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121925">
                <a:tc gridSpan="3"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latin typeface="Roboto"/>
                          <a:ea typeface="Roboto"/>
                          <a:cs typeface="Roboto"/>
                          <a:sym typeface="Roboto"/>
                        </a:rPr>
                        <a:t>R1's Table</a:t>
                      </a:r>
                      <a:endParaRPr sz="12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>
                    <a:solidFill>
                      <a:srgbClr val="FFFFFF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21925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latin typeface="Roboto"/>
                          <a:ea typeface="Roboto"/>
                          <a:cs typeface="Roboto"/>
                          <a:sym typeface="Roboto"/>
                        </a:rPr>
                        <a:t>To:</a:t>
                      </a:r>
                      <a:endParaRPr sz="12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latin typeface="Roboto"/>
                          <a:ea typeface="Roboto"/>
                          <a:cs typeface="Roboto"/>
                          <a:sym typeface="Roboto"/>
                        </a:rPr>
                        <a:t>Via:</a:t>
                      </a:r>
                      <a:endParaRPr sz="12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latin typeface="Roboto"/>
                          <a:ea typeface="Roboto"/>
                          <a:cs typeface="Roboto"/>
                          <a:sym typeface="Roboto"/>
                        </a:rPr>
                        <a:t>Cost:</a:t>
                      </a:r>
                      <a:endParaRPr sz="12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21925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latin typeface="Roboto"/>
                          <a:ea typeface="Roboto"/>
                          <a:cs typeface="Roboto"/>
                          <a:sym typeface="Roboto"/>
                        </a:rPr>
                        <a:t>A</a:t>
                      </a:r>
                      <a:endParaRPr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latin typeface="Roboto"/>
                          <a:ea typeface="Roboto"/>
                          <a:cs typeface="Roboto"/>
                          <a:sym typeface="Roboto"/>
                        </a:rPr>
                        <a:t>R3</a:t>
                      </a:r>
                      <a:endParaRPr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latin typeface="Roboto"/>
                          <a:ea typeface="Roboto"/>
                          <a:cs typeface="Roboto"/>
                          <a:sym typeface="Roboto"/>
                        </a:rPr>
                        <a:t>8</a:t>
                      </a:r>
                      <a:endParaRPr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</a:tbl>
          </a:graphicData>
        </a:graphic>
      </p:graphicFrame>
      <p:graphicFrame>
        <p:nvGraphicFramePr>
          <p:cNvPr id="1920" name="Google Shape;1920;p120"/>
          <p:cNvGraphicFramePr/>
          <p:nvPr/>
        </p:nvGraphicFramePr>
        <p:xfrm>
          <a:off x="6318169" y="4054900"/>
          <a:ext cx="1835500" cy="688770"/>
        </p:xfrm>
        <a:graphic>
          <a:graphicData uri="http://schemas.openxmlformats.org/drawingml/2006/table">
            <a:tbl>
              <a:tblPr>
                <a:noFill/>
              </a:tblPr>
              <a:tblGrid>
                <a:gridCol w="5448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9707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79362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121925">
                <a:tc gridSpan="3"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latin typeface="Roboto"/>
                          <a:ea typeface="Roboto"/>
                          <a:cs typeface="Roboto"/>
                          <a:sym typeface="Roboto"/>
                        </a:rPr>
                        <a:t>R2's Table</a:t>
                      </a:r>
                      <a:endParaRPr sz="12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>
                    <a:solidFill>
                      <a:srgbClr val="FFFFFF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21925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latin typeface="Roboto"/>
                          <a:ea typeface="Roboto"/>
                          <a:cs typeface="Roboto"/>
                          <a:sym typeface="Roboto"/>
                        </a:rPr>
                        <a:t>To:</a:t>
                      </a:r>
                      <a:endParaRPr sz="12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latin typeface="Roboto"/>
                          <a:ea typeface="Roboto"/>
                          <a:cs typeface="Roboto"/>
                          <a:sym typeface="Roboto"/>
                        </a:rPr>
                        <a:t>Via:</a:t>
                      </a:r>
                      <a:endParaRPr sz="12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latin typeface="Roboto"/>
                          <a:ea typeface="Roboto"/>
                          <a:cs typeface="Roboto"/>
                          <a:sym typeface="Roboto"/>
                        </a:rPr>
                        <a:t>Cost:</a:t>
                      </a:r>
                      <a:endParaRPr sz="12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21925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latin typeface="Roboto"/>
                          <a:ea typeface="Roboto"/>
                          <a:cs typeface="Roboto"/>
                          <a:sym typeface="Roboto"/>
                        </a:rPr>
                        <a:t>A</a:t>
                      </a:r>
                      <a:endParaRPr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latin typeface="Roboto"/>
                          <a:ea typeface="Roboto"/>
                          <a:cs typeface="Roboto"/>
                          <a:sym typeface="Roboto"/>
                        </a:rPr>
                        <a:t>R1</a:t>
                      </a:r>
                      <a:endParaRPr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solidFill>
                            <a:schemeClr val="dk1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9</a:t>
                      </a:r>
                      <a:endParaRPr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</a:tbl>
          </a:graphicData>
        </a:graphic>
      </p:graphicFrame>
      <p:sp>
        <p:nvSpPr>
          <p:cNvPr id="1921" name="Google Shape;1921;p120"/>
          <p:cNvSpPr/>
          <p:nvPr/>
        </p:nvSpPr>
        <p:spPr>
          <a:xfrm>
            <a:off x="3057875" y="4210250"/>
            <a:ext cx="1431300" cy="437100"/>
          </a:xfrm>
          <a:prstGeom prst="roundRect">
            <a:avLst>
              <a:gd name="adj" fmla="val 16667"/>
            </a:avLst>
          </a:prstGeom>
          <a:solidFill>
            <a:srgbClr val="F4CCCC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27425" tIns="27425" rIns="27425" bIns="27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>
                <a:latin typeface="Roboto"/>
                <a:ea typeface="Roboto"/>
                <a:cs typeface="Roboto"/>
                <a:sym typeface="Roboto"/>
              </a:rPr>
              <a:t>I'm </a:t>
            </a:r>
            <a:r>
              <a:rPr lang="en" sz="1200" b="1">
                <a:latin typeface="Roboto"/>
                <a:ea typeface="Roboto"/>
                <a:cs typeface="Roboto"/>
                <a:sym typeface="Roboto"/>
              </a:rPr>
              <a:t>R2</a:t>
            </a:r>
            <a:r>
              <a:rPr lang="en" sz="1200">
                <a:latin typeface="Roboto"/>
                <a:ea typeface="Roboto"/>
                <a:cs typeface="Roboto"/>
                <a:sym typeface="Roboto"/>
              </a:rPr>
              <a:t>, and </a:t>
            </a:r>
            <a:r>
              <a:rPr lang="en" sz="1200" b="1">
                <a:latin typeface="Roboto"/>
                <a:ea typeface="Roboto"/>
                <a:cs typeface="Roboto"/>
                <a:sym typeface="Roboto"/>
              </a:rPr>
              <a:t>A</a:t>
            </a:r>
            <a:r>
              <a:rPr lang="en" sz="1200">
                <a:latin typeface="Roboto"/>
                <a:ea typeface="Roboto"/>
                <a:cs typeface="Roboto"/>
                <a:sym typeface="Roboto"/>
              </a:rPr>
              <a:t> is</a:t>
            </a:r>
            <a:br>
              <a:rPr lang="en" sz="1200">
                <a:latin typeface="Roboto"/>
                <a:ea typeface="Roboto"/>
                <a:cs typeface="Roboto"/>
                <a:sym typeface="Roboto"/>
              </a:rPr>
            </a:br>
            <a:r>
              <a:rPr lang="en" sz="1200" b="1">
                <a:latin typeface="Roboto"/>
                <a:ea typeface="Roboto"/>
                <a:cs typeface="Roboto"/>
                <a:sym typeface="Roboto"/>
              </a:rPr>
              <a:t>9</a:t>
            </a:r>
            <a:r>
              <a:rPr lang="en" sz="1200">
                <a:latin typeface="Roboto"/>
                <a:ea typeface="Roboto"/>
                <a:cs typeface="Roboto"/>
                <a:sym typeface="Roboto"/>
              </a:rPr>
              <a:t> away from me.</a:t>
            </a:r>
            <a:endParaRPr sz="1200"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1922" name="Google Shape;1922;p120"/>
          <p:cNvCxnSpPr/>
          <p:nvPr/>
        </p:nvCxnSpPr>
        <p:spPr>
          <a:xfrm>
            <a:off x="4115675" y="3883550"/>
            <a:ext cx="953100" cy="550200"/>
          </a:xfrm>
          <a:prstGeom prst="straightConnector1">
            <a:avLst/>
          </a:prstGeom>
          <a:noFill/>
          <a:ln w="19050" cap="flat" cmpd="sng">
            <a:solidFill>
              <a:schemeClr val="accent2"/>
            </a:solidFill>
            <a:prstDash val="solid"/>
            <a:round/>
            <a:headEnd type="triangle" w="med" len="med"/>
            <a:tailEnd type="none" w="med" len="med"/>
          </a:ln>
        </p:spPr>
      </p:cxnSp>
      <p:graphicFrame>
        <p:nvGraphicFramePr>
          <p:cNvPr id="1923" name="Google Shape;1923;p120"/>
          <p:cNvGraphicFramePr/>
          <p:nvPr/>
        </p:nvGraphicFramePr>
        <p:xfrm>
          <a:off x="990319" y="3292900"/>
          <a:ext cx="1835500" cy="688770"/>
        </p:xfrm>
        <a:graphic>
          <a:graphicData uri="http://schemas.openxmlformats.org/drawingml/2006/table">
            <a:tbl>
              <a:tblPr>
                <a:noFill/>
              </a:tblPr>
              <a:tblGrid>
                <a:gridCol w="5448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9707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79362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121925">
                <a:tc gridSpan="3"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latin typeface="Roboto"/>
                          <a:ea typeface="Roboto"/>
                          <a:cs typeface="Roboto"/>
                          <a:sym typeface="Roboto"/>
                        </a:rPr>
                        <a:t>R3's Table</a:t>
                      </a:r>
                      <a:endParaRPr sz="12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>
                    <a:solidFill>
                      <a:srgbClr val="FFFFFF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21925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latin typeface="Roboto"/>
                          <a:ea typeface="Roboto"/>
                          <a:cs typeface="Roboto"/>
                          <a:sym typeface="Roboto"/>
                        </a:rPr>
                        <a:t>To:</a:t>
                      </a:r>
                      <a:endParaRPr sz="12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latin typeface="Roboto"/>
                          <a:ea typeface="Roboto"/>
                          <a:cs typeface="Roboto"/>
                          <a:sym typeface="Roboto"/>
                        </a:rPr>
                        <a:t>Via:</a:t>
                      </a:r>
                      <a:endParaRPr sz="12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latin typeface="Roboto"/>
                          <a:ea typeface="Roboto"/>
                          <a:cs typeface="Roboto"/>
                          <a:sym typeface="Roboto"/>
                        </a:rPr>
                        <a:t>Cost:</a:t>
                      </a:r>
                      <a:endParaRPr sz="12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21925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b="1">
                          <a:latin typeface="Roboto"/>
                          <a:ea typeface="Roboto"/>
                          <a:cs typeface="Roboto"/>
                          <a:sym typeface="Roboto"/>
                        </a:rPr>
                        <a:t>A</a:t>
                      </a:r>
                      <a:endParaRPr b="1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>
                    <a:solidFill>
                      <a:srgbClr val="F4CCCC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b="1">
                          <a:latin typeface="Roboto"/>
                          <a:ea typeface="Roboto"/>
                          <a:cs typeface="Roboto"/>
                          <a:sym typeface="Roboto"/>
                        </a:rPr>
                        <a:t>R2</a:t>
                      </a:r>
                      <a:endParaRPr b="1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>
                    <a:solidFill>
                      <a:srgbClr val="F4CCCC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b="1">
                          <a:latin typeface="Roboto"/>
                          <a:ea typeface="Roboto"/>
                          <a:cs typeface="Roboto"/>
                          <a:sym typeface="Roboto"/>
                        </a:rPr>
                        <a:t>10</a:t>
                      </a:r>
                      <a:endParaRPr b="1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>
                    <a:solidFill>
                      <a:srgbClr val="F4CCC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</a:tbl>
          </a:graphicData>
        </a:graphic>
      </p:graphicFrame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9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1928" name="Google Shape;1928;p121"/>
          <p:cNvCxnSpPr>
            <a:stCxn id="1929" idx="1"/>
            <a:endCxn id="1930" idx="6"/>
          </p:cNvCxnSpPr>
          <p:nvPr/>
        </p:nvCxnSpPr>
        <p:spPr>
          <a:xfrm rot="10800000">
            <a:off x="3336375" y="3637275"/>
            <a:ext cx="400800" cy="0"/>
          </a:xfrm>
          <a:prstGeom prst="straightConnector1">
            <a:avLst/>
          </a:prstGeom>
          <a:noFill/>
          <a:ln w="19050" cap="flat" cmpd="sng">
            <a:solidFill>
              <a:srgbClr val="D9D9D9"/>
            </a:solidFill>
            <a:prstDash val="dash"/>
            <a:round/>
            <a:headEnd type="none" w="med" len="med"/>
            <a:tailEnd type="none" w="med" len="med"/>
          </a:ln>
        </p:spPr>
      </p:cxnSp>
      <p:sp>
        <p:nvSpPr>
          <p:cNvPr id="1931" name="Google Shape;1931;p121"/>
          <p:cNvSpPr txBox="1">
            <a:spLocks noGrp="1"/>
          </p:cNvSpPr>
          <p:nvPr>
            <p:ph type="title"/>
          </p:nvPr>
        </p:nvSpPr>
        <p:spPr>
          <a:xfrm>
            <a:off x="0" y="0"/>
            <a:ext cx="9144000" cy="39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accent3"/>
                </a:solidFill>
              </a:rPr>
              <a:t>Count to Infinity – The Problem</a:t>
            </a:r>
            <a:endParaRPr/>
          </a:p>
        </p:txBody>
      </p:sp>
      <p:sp>
        <p:nvSpPr>
          <p:cNvPr id="1932" name="Google Shape;1932;p121"/>
          <p:cNvSpPr txBox="1">
            <a:spLocks noGrp="1"/>
          </p:cNvSpPr>
          <p:nvPr>
            <p:ph type="body" idx="1"/>
          </p:nvPr>
        </p:nvSpPr>
        <p:spPr>
          <a:xfrm>
            <a:off x="107050" y="402200"/>
            <a:ext cx="8909700" cy="1079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"/>
              <a:t>We keep advertising in a cycle, and costs keep increasing!</a:t>
            </a:r>
            <a:endParaRPr/>
          </a:p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"/>
              <a:t>Split horizon can't save us.</a:t>
            </a:r>
            <a:endParaRPr/>
          </a:p>
        </p:txBody>
      </p:sp>
      <p:sp>
        <p:nvSpPr>
          <p:cNvPr id="1930" name="Google Shape;1930;p121"/>
          <p:cNvSpPr/>
          <p:nvPr/>
        </p:nvSpPr>
        <p:spPr>
          <a:xfrm>
            <a:off x="3051363" y="3494775"/>
            <a:ext cx="285000" cy="285000"/>
          </a:xfrm>
          <a:prstGeom prst="ellipse">
            <a:avLst/>
          </a:prstGeom>
          <a:solidFill>
            <a:srgbClr val="FFFFFF"/>
          </a:solidFill>
          <a:ln w="19050" cap="flat" cmpd="sng">
            <a:solidFill>
              <a:srgbClr val="D9D9D9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D9D9D9"/>
                </a:solidFill>
                <a:latin typeface="Roboto"/>
                <a:ea typeface="Roboto"/>
                <a:cs typeface="Roboto"/>
                <a:sym typeface="Roboto"/>
              </a:rPr>
              <a:t>A</a:t>
            </a:r>
            <a:endParaRPr>
              <a:solidFill>
                <a:srgbClr val="D9D9D9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933" name="Google Shape;1933;p121"/>
          <p:cNvSpPr/>
          <p:nvPr/>
        </p:nvSpPr>
        <p:spPr>
          <a:xfrm>
            <a:off x="5261175" y="2780457"/>
            <a:ext cx="285000" cy="285000"/>
          </a:xfrm>
          <a:prstGeom prst="rect">
            <a:avLst/>
          </a:prstGeom>
          <a:solidFill>
            <a:srgbClr val="FFFFFF"/>
          </a:solidFill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R1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1934" name="Google Shape;1934;p121"/>
          <p:cNvCxnSpPr>
            <a:stCxn id="1933" idx="2"/>
            <a:endCxn id="1935" idx="0"/>
          </p:cNvCxnSpPr>
          <p:nvPr/>
        </p:nvCxnSpPr>
        <p:spPr>
          <a:xfrm>
            <a:off x="5403675" y="3065457"/>
            <a:ext cx="0" cy="1144800"/>
          </a:xfrm>
          <a:prstGeom prst="straightConnector1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1935" name="Google Shape;1935;p121"/>
          <p:cNvSpPr/>
          <p:nvPr/>
        </p:nvSpPr>
        <p:spPr>
          <a:xfrm>
            <a:off x="5261175" y="4210229"/>
            <a:ext cx="285000" cy="285000"/>
          </a:xfrm>
          <a:prstGeom prst="rect">
            <a:avLst/>
          </a:prstGeom>
          <a:solidFill>
            <a:srgbClr val="FFFFFF"/>
          </a:solidFill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R2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929" name="Google Shape;1929;p121"/>
          <p:cNvSpPr/>
          <p:nvPr/>
        </p:nvSpPr>
        <p:spPr>
          <a:xfrm>
            <a:off x="3737175" y="3494775"/>
            <a:ext cx="285000" cy="285000"/>
          </a:xfrm>
          <a:prstGeom prst="rect">
            <a:avLst/>
          </a:prstGeom>
          <a:solidFill>
            <a:srgbClr val="FFFFFF"/>
          </a:solidFill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R3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1936" name="Google Shape;1936;p121"/>
          <p:cNvCxnSpPr>
            <a:stCxn id="1933" idx="1"/>
            <a:endCxn id="1929" idx="3"/>
          </p:cNvCxnSpPr>
          <p:nvPr/>
        </p:nvCxnSpPr>
        <p:spPr>
          <a:xfrm flipH="1">
            <a:off x="4022175" y="2922957"/>
            <a:ext cx="1239000" cy="714300"/>
          </a:xfrm>
          <a:prstGeom prst="straightConnector1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1937" name="Google Shape;1937;p121"/>
          <p:cNvCxnSpPr>
            <a:stCxn id="1935" idx="1"/>
            <a:endCxn id="1929" idx="3"/>
          </p:cNvCxnSpPr>
          <p:nvPr/>
        </p:nvCxnSpPr>
        <p:spPr>
          <a:xfrm rot="10800000">
            <a:off x="4022175" y="3637229"/>
            <a:ext cx="1239000" cy="715500"/>
          </a:xfrm>
          <a:prstGeom prst="straightConnector1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med" len="med"/>
            <a:tailEnd type="none" w="med" len="med"/>
          </a:ln>
        </p:spPr>
      </p:cxnSp>
      <p:graphicFrame>
        <p:nvGraphicFramePr>
          <p:cNvPr id="1938" name="Google Shape;1938;p121"/>
          <p:cNvGraphicFramePr/>
          <p:nvPr/>
        </p:nvGraphicFramePr>
        <p:xfrm>
          <a:off x="990319" y="3292900"/>
          <a:ext cx="1835500" cy="688770"/>
        </p:xfrm>
        <a:graphic>
          <a:graphicData uri="http://schemas.openxmlformats.org/drawingml/2006/table">
            <a:tbl>
              <a:tblPr>
                <a:noFill/>
              </a:tblPr>
              <a:tblGrid>
                <a:gridCol w="5448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9707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79362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121925">
                <a:tc gridSpan="3"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latin typeface="Roboto"/>
                          <a:ea typeface="Roboto"/>
                          <a:cs typeface="Roboto"/>
                          <a:sym typeface="Roboto"/>
                        </a:rPr>
                        <a:t>R3's Table</a:t>
                      </a:r>
                      <a:endParaRPr sz="12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>
                    <a:solidFill>
                      <a:srgbClr val="FFFFFF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21925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latin typeface="Roboto"/>
                          <a:ea typeface="Roboto"/>
                          <a:cs typeface="Roboto"/>
                          <a:sym typeface="Roboto"/>
                        </a:rPr>
                        <a:t>To:</a:t>
                      </a:r>
                      <a:endParaRPr sz="12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latin typeface="Roboto"/>
                          <a:ea typeface="Roboto"/>
                          <a:cs typeface="Roboto"/>
                          <a:sym typeface="Roboto"/>
                        </a:rPr>
                        <a:t>Via:</a:t>
                      </a:r>
                      <a:endParaRPr sz="12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latin typeface="Roboto"/>
                          <a:ea typeface="Roboto"/>
                          <a:cs typeface="Roboto"/>
                          <a:sym typeface="Roboto"/>
                        </a:rPr>
                        <a:t>Cost:</a:t>
                      </a:r>
                      <a:endParaRPr sz="12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21925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latin typeface="Roboto"/>
                          <a:ea typeface="Roboto"/>
                          <a:cs typeface="Roboto"/>
                          <a:sym typeface="Roboto"/>
                        </a:rPr>
                        <a:t>A</a:t>
                      </a:r>
                      <a:endParaRPr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latin typeface="Roboto"/>
                          <a:ea typeface="Roboto"/>
                          <a:cs typeface="Roboto"/>
                          <a:sym typeface="Roboto"/>
                        </a:rPr>
                        <a:t>R2</a:t>
                      </a:r>
                      <a:endParaRPr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latin typeface="Roboto"/>
                          <a:ea typeface="Roboto"/>
                          <a:cs typeface="Roboto"/>
                          <a:sym typeface="Roboto"/>
                        </a:rPr>
                        <a:t>10</a:t>
                      </a:r>
                      <a:endParaRPr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</a:tbl>
          </a:graphicData>
        </a:graphic>
      </p:graphicFrame>
      <p:graphicFrame>
        <p:nvGraphicFramePr>
          <p:cNvPr id="1939" name="Google Shape;1939;p121"/>
          <p:cNvGraphicFramePr/>
          <p:nvPr/>
        </p:nvGraphicFramePr>
        <p:xfrm>
          <a:off x="6318169" y="2544150"/>
          <a:ext cx="1835500" cy="688770"/>
        </p:xfrm>
        <a:graphic>
          <a:graphicData uri="http://schemas.openxmlformats.org/drawingml/2006/table">
            <a:tbl>
              <a:tblPr>
                <a:noFill/>
              </a:tblPr>
              <a:tblGrid>
                <a:gridCol w="5448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9707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79362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121925">
                <a:tc gridSpan="3"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latin typeface="Roboto"/>
                          <a:ea typeface="Roboto"/>
                          <a:cs typeface="Roboto"/>
                          <a:sym typeface="Roboto"/>
                        </a:rPr>
                        <a:t>R1's Table</a:t>
                      </a:r>
                      <a:endParaRPr sz="12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>
                    <a:solidFill>
                      <a:srgbClr val="FFFFFF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21925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latin typeface="Roboto"/>
                          <a:ea typeface="Roboto"/>
                          <a:cs typeface="Roboto"/>
                          <a:sym typeface="Roboto"/>
                        </a:rPr>
                        <a:t>To:</a:t>
                      </a:r>
                      <a:endParaRPr sz="12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latin typeface="Roboto"/>
                          <a:ea typeface="Roboto"/>
                          <a:cs typeface="Roboto"/>
                          <a:sym typeface="Roboto"/>
                        </a:rPr>
                        <a:t>Via:</a:t>
                      </a:r>
                      <a:endParaRPr sz="12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latin typeface="Roboto"/>
                          <a:ea typeface="Roboto"/>
                          <a:cs typeface="Roboto"/>
                          <a:sym typeface="Roboto"/>
                        </a:rPr>
                        <a:t>Cost:</a:t>
                      </a:r>
                      <a:endParaRPr sz="12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21925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latin typeface="Roboto"/>
                          <a:ea typeface="Roboto"/>
                          <a:cs typeface="Roboto"/>
                          <a:sym typeface="Roboto"/>
                        </a:rPr>
                        <a:t>A</a:t>
                      </a:r>
                      <a:endParaRPr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latin typeface="Roboto"/>
                          <a:ea typeface="Roboto"/>
                          <a:cs typeface="Roboto"/>
                          <a:sym typeface="Roboto"/>
                        </a:rPr>
                        <a:t>R3</a:t>
                      </a:r>
                      <a:endParaRPr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latin typeface="Roboto"/>
                          <a:ea typeface="Roboto"/>
                          <a:cs typeface="Roboto"/>
                          <a:sym typeface="Roboto"/>
                        </a:rPr>
                        <a:t>8</a:t>
                      </a:r>
                      <a:endParaRPr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</a:tbl>
          </a:graphicData>
        </a:graphic>
      </p:graphicFrame>
      <p:graphicFrame>
        <p:nvGraphicFramePr>
          <p:cNvPr id="1940" name="Google Shape;1940;p121"/>
          <p:cNvGraphicFramePr/>
          <p:nvPr/>
        </p:nvGraphicFramePr>
        <p:xfrm>
          <a:off x="6318169" y="4054900"/>
          <a:ext cx="1835500" cy="688770"/>
        </p:xfrm>
        <a:graphic>
          <a:graphicData uri="http://schemas.openxmlformats.org/drawingml/2006/table">
            <a:tbl>
              <a:tblPr>
                <a:noFill/>
              </a:tblPr>
              <a:tblGrid>
                <a:gridCol w="5448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9707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79362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121925">
                <a:tc gridSpan="3"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latin typeface="Roboto"/>
                          <a:ea typeface="Roboto"/>
                          <a:cs typeface="Roboto"/>
                          <a:sym typeface="Roboto"/>
                        </a:rPr>
                        <a:t>R2's Table</a:t>
                      </a:r>
                      <a:endParaRPr sz="12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>
                    <a:solidFill>
                      <a:srgbClr val="FFFFFF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21925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latin typeface="Roboto"/>
                          <a:ea typeface="Roboto"/>
                          <a:cs typeface="Roboto"/>
                          <a:sym typeface="Roboto"/>
                        </a:rPr>
                        <a:t>To:</a:t>
                      </a:r>
                      <a:endParaRPr sz="12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latin typeface="Roboto"/>
                          <a:ea typeface="Roboto"/>
                          <a:cs typeface="Roboto"/>
                          <a:sym typeface="Roboto"/>
                        </a:rPr>
                        <a:t>Via:</a:t>
                      </a:r>
                      <a:endParaRPr sz="12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latin typeface="Roboto"/>
                          <a:ea typeface="Roboto"/>
                          <a:cs typeface="Roboto"/>
                          <a:sym typeface="Roboto"/>
                        </a:rPr>
                        <a:t>Cost:</a:t>
                      </a:r>
                      <a:endParaRPr sz="12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21925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latin typeface="Roboto"/>
                          <a:ea typeface="Roboto"/>
                          <a:cs typeface="Roboto"/>
                          <a:sym typeface="Roboto"/>
                        </a:rPr>
                        <a:t>A</a:t>
                      </a:r>
                      <a:endParaRPr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latin typeface="Roboto"/>
                          <a:ea typeface="Roboto"/>
                          <a:cs typeface="Roboto"/>
                          <a:sym typeface="Roboto"/>
                        </a:rPr>
                        <a:t>R1</a:t>
                      </a:r>
                      <a:endParaRPr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solidFill>
                            <a:schemeClr val="dk1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9</a:t>
                      </a:r>
                      <a:endParaRPr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</a:tbl>
          </a:graphicData>
        </a:graphic>
      </p:graphicFrame>
      <p:sp>
        <p:nvSpPr>
          <p:cNvPr id="1941" name="Google Shape;1941;p121"/>
          <p:cNvSpPr/>
          <p:nvPr/>
        </p:nvSpPr>
        <p:spPr>
          <a:xfrm>
            <a:off x="3057875" y="2610050"/>
            <a:ext cx="1431300" cy="437100"/>
          </a:xfrm>
          <a:prstGeom prst="roundRect">
            <a:avLst>
              <a:gd name="adj" fmla="val 16667"/>
            </a:avLst>
          </a:prstGeom>
          <a:solidFill>
            <a:srgbClr val="F4CCCC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27425" tIns="27425" rIns="27425" bIns="27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>
                <a:latin typeface="Roboto"/>
                <a:ea typeface="Roboto"/>
                <a:cs typeface="Roboto"/>
                <a:sym typeface="Roboto"/>
              </a:rPr>
              <a:t>I'm </a:t>
            </a:r>
            <a:r>
              <a:rPr lang="en" sz="1200" b="1">
                <a:latin typeface="Roboto"/>
                <a:ea typeface="Roboto"/>
                <a:cs typeface="Roboto"/>
                <a:sym typeface="Roboto"/>
              </a:rPr>
              <a:t>R3</a:t>
            </a:r>
            <a:r>
              <a:rPr lang="en" sz="1200">
                <a:latin typeface="Roboto"/>
                <a:ea typeface="Roboto"/>
                <a:cs typeface="Roboto"/>
                <a:sym typeface="Roboto"/>
              </a:rPr>
              <a:t>, and </a:t>
            </a:r>
            <a:r>
              <a:rPr lang="en" sz="1200" b="1">
                <a:latin typeface="Roboto"/>
                <a:ea typeface="Roboto"/>
                <a:cs typeface="Roboto"/>
                <a:sym typeface="Roboto"/>
              </a:rPr>
              <a:t>A</a:t>
            </a:r>
            <a:r>
              <a:rPr lang="en" sz="1200">
                <a:latin typeface="Roboto"/>
                <a:ea typeface="Roboto"/>
                <a:cs typeface="Roboto"/>
                <a:sym typeface="Roboto"/>
              </a:rPr>
              <a:t> is</a:t>
            </a:r>
            <a:br>
              <a:rPr lang="en" sz="1200">
                <a:latin typeface="Roboto"/>
                <a:ea typeface="Roboto"/>
                <a:cs typeface="Roboto"/>
                <a:sym typeface="Roboto"/>
              </a:rPr>
            </a:br>
            <a:r>
              <a:rPr lang="en" sz="1200" b="1">
                <a:latin typeface="Roboto"/>
                <a:ea typeface="Roboto"/>
                <a:cs typeface="Roboto"/>
                <a:sym typeface="Roboto"/>
              </a:rPr>
              <a:t>10</a:t>
            </a:r>
            <a:r>
              <a:rPr lang="en" sz="1200">
                <a:latin typeface="Roboto"/>
                <a:ea typeface="Roboto"/>
                <a:cs typeface="Roboto"/>
                <a:sym typeface="Roboto"/>
              </a:rPr>
              <a:t> away from me.</a:t>
            </a:r>
            <a:endParaRPr sz="1200"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1942" name="Google Shape;1942;p121"/>
          <p:cNvCxnSpPr/>
          <p:nvPr/>
        </p:nvCxnSpPr>
        <p:spPr>
          <a:xfrm rot="10800000" flipH="1">
            <a:off x="4115675" y="2831869"/>
            <a:ext cx="953100" cy="550200"/>
          </a:xfrm>
          <a:prstGeom prst="straightConnector1">
            <a:avLst/>
          </a:prstGeom>
          <a:noFill/>
          <a:ln w="19050" cap="flat" cmpd="sng">
            <a:solidFill>
              <a:schemeClr val="accent2"/>
            </a:solidFill>
            <a:prstDash val="solid"/>
            <a:round/>
            <a:headEnd type="none" w="med" len="med"/>
            <a:tailEnd type="triangle" w="med" len="med"/>
          </a:ln>
        </p:spPr>
      </p:cxnSp>
      <p:graphicFrame>
        <p:nvGraphicFramePr>
          <p:cNvPr id="1943" name="Google Shape;1943;p121"/>
          <p:cNvGraphicFramePr/>
          <p:nvPr/>
        </p:nvGraphicFramePr>
        <p:xfrm>
          <a:off x="6318169" y="2544150"/>
          <a:ext cx="1835500" cy="688770"/>
        </p:xfrm>
        <a:graphic>
          <a:graphicData uri="http://schemas.openxmlformats.org/drawingml/2006/table">
            <a:tbl>
              <a:tblPr>
                <a:noFill/>
              </a:tblPr>
              <a:tblGrid>
                <a:gridCol w="5448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9707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79362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121925">
                <a:tc gridSpan="3"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latin typeface="Roboto"/>
                          <a:ea typeface="Roboto"/>
                          <a:cs typeface="Roboto"/>
                          <a:sym typeface="Roboto"/>
                        </a:rPr>
                        <a:t>R1's Table</a:t>
                      </a:r>
                      <a:endParaRPr sz="12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>
                    <a:solidFill>
                      <a:srgbClr val="FFFFFF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21925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latin typeface="Roboto"/>
                          <a:ea typeface="Roboto"/>
                          <a:cs typeface="Roboto"/>
                          <a:sym typeface="Roboto"/>
                        </a:rPr>
                        <a:t>To:</a:t>
                      </a:r>
                      <a:endParaRPr sz="12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latin typeface="Roboto"/>
                          <a:ea typeface="Roboto"/>
                          <a:cs typeface="Roboto"/>
                          <a:sym typeface="Roboto"/>
                        </a:rPr>
                        <a:t>Via:</a:t>
                      </a:r>
                      <a:endParaRPr sz="12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latin typeface="Roboto"/>
                          <a:ea typeface="Roboto"/>
                          <a:cs typeface="Roboto"/>
                          <a:sym typeface="Roboto"/>
                        </a:rPr>
                        <a:t>Cost:</a:t>
                      </a:r>
                      <a:endParaRPr sz="12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21925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b="1">
                          <a:latin typeface="Roboto"/>
                          <a:ea typeface="Roboto"/>
                          <a:cs typeface="Roboto"/>
                          <a:sym typeface="Roboto"/>
                        </a:rPr>
                        <a:t>A</a:t>
                      </a:r>
                      <a:endParaRPr b="1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>
                    <a:solidFill>
                      <a:srgbClr val="F4CCCC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b="1">
                          <a:latin typeface="Roboto"/>
                          <a:ea typeface="Roboto"/>
                          <a:cs typeface="Roboto"/>
                          <a:sym typeface="Roboto"/>
                        </a:rPr>
                        <a:t>R3</a:t>
                      </a:r>
                      <a:endParaRPr b="1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>
                    <a:solidFill>
                      <a:srgbClr val="F4CCCC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b="1">
                          <a:latin typeface="Roboto"/>
                          <a:ea typeface="Roboto"/>
                          <a:cs typeface="Roboto"/>
                          <a:sym typeface="Roboto"/>
                        </a:rPr>
                        <a:t>11</a:t>
                      </a:r>
                      <a:endParaRPr b="1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>
                    <a:solidFill>
                      <a:srgbClr val="F4CCC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</a:tbl>
          </a:graphicData>
        </a:graphic>
      </p:graphicFrame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9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48" name="Google Shape;1948;p122"/>
          <p:cNvSpPr txBox="1">
            <a:spLocks noGrp="1"/>
          </p:cNvSpPr>
          <p:nvPr>
            <p:ph type="title"/>
          </p:nvPr>
        </p:nvSpPr>
        <p:spPr>
          <a:xfrm>
            <a:off x="0" y="0"/>
            <a:ext cx="9144000" cy="39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Count to Infinity – The Problem</a:t>
            </a:r>
            <a:endParaRPr/>
          </a:p>
        </p:txBody>
      </p:sp>
      <p:sp>
        <p:nvSpPr>
          <p:cNvPr id="1949" name="Google Shape;1949;p122"/>
          <p:cNvSpPr txBox="1">
            <a:spLocks noGrp="1"/>
          </p:cNvSpPr>
          <p:nvPr>
            <p:ph type="body" idx="1"/>
          </p:nvPr>
        </p:nvSpPr>
        <p:spPr>
          <a:xfrm>
            <a:off x="107050" y="402200"/>
            <a:ext cx="8909700" cy="20490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" dirty="0"/>
              <a:t>The problem, restated:</a:t>
            </a:r>
            <a:endParaRPr dirty="0"/>
          </a:p>
          <a:p>
            <a:pPr marL="457200" lvl="0" indent="-342900" algn="l" rtl="0">
              <a:spcBef>
                <a:spcPts val="600"/>
              </a:spcBef>
              <a:spcAft>
                <a:spcPts val="0"/>
              </a:spcAft>
              <a:buSzPts val="1800"/>
              <a:buChar char="●"/>
            </a:pPr>
            <a:r>
              <a:rPr lang="en" dirty="0"/>
              <a:t>Poison wasn't propagated properly. A router had a </a:t>
            </a:r>
            <a:r>
              <a:rPr lang="en-US" dirty="0"/>
              <a:t>broken</a:t>
            </a:r>
            <a:r>
              <a:rPr lang="en" dirty="0"/>
              <a:t> path.</a:t>
            </a:r>
            <a:endParaRPr dirty="0"/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-US" dirty="0"/>
              <a:t>broken</a:t>
            </a:r>
            <a:r>
              <a:rPr lang="en" dirty="0"/>
              <a:t> path is advertised in a loop.</a:t>
            </a:r>
            <a:endParaRPr dirty="0"/>
          </a:p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" dirty="0"/>
              <a:t>Split horizon won't save us.</a:t>
            </a:r>
            <a:endParaRPr dirty="0"/>
          </a:p>
          <a:p>
            <a:pPr marL="457200" lvl="0" indent="-342900" algn="l" rtl="0">
              <a:spcBef>
                <a:spcPts val="600"/>
              </a:spcBef>
              <a:spcAft>
                <a:spcPts val="0"/>
              </a:spcAft>
              <a:buSzPts val="1800"/>
              <a:buChar char="●"/>
            </a:pPr>
            <a:r>
              <a:rPr lang="en" dirty="0"/>
              <a:t>We're never advertising a path back to the next-hop.</a:t>
            </a:r>
            <a:endParaRPr dirty="0"/>
          </a:p>
        </p:txBody>
      </p:sp>
      <p:sp>
        <p:nvSpPr>
          <p:cNvPr id="1950" name="Google Shape;1950;p122"/>
          <p:cNvSpPr/>
          <p:nvPr/>
        </p:nvSpPr>
        <p:spPr>
          <a:xfrm>
            <a:off x="5261175" y="2780457"/>
            <a:ext cx="285000" cy="285000"/>
          </a:xfrm>
          <a:prstGeom prst="rect">
            <a:avLst/>
          </a:prstGeom>
          <a:solidFill>
            <a:srgbClr val="FFFFFF"/>
          </a:solidFill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R1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1951" name="Google Shape;1951;p122"/>
          <p:cNvCxnSpPr>
            <a:stCxn id="1950" idx="2"/>
            <a:endCxn id="1952" idx="0"/>
          </p:cNvCxnSpPr>
          <p:nvPr/>
        </p:nvCxnSpPr>
        <p:spPr>
          <a:xfrm>
            <a:off x="5403675" y="3065457"/>
            <a:ext cx="0" cy="1144800"/>
          </a:xfrm>
          <a:prstGeom prst="straightConnector1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1952" name="Google Shape;1952;p122"/>
          <p:cNvSpPr/>
          <p:nvPr/>
        </p:nvSpPr>
        <p:spPr>
          <a:xfrm>
            <a:off x="5261175" y="4210229"/>
            <a:ext cx="285000" cy="285000"/>
          </a:xfrm>
          <a:prstGeom prst="rect">
            <a:avLst/>
          </a:prstGeom>
          <a:solidFill>
            <a:srgbClr val="FFFFFF"/>
          </a:solidFill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R2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953" name="Google Shape;1953;p122"/>
          <p:cNvSpPr/>
          <p:nvPr/>
        </p:nvSpPr>
        <p:spPr>
          <a:xfrm>
            <a:off x="3737175" y="3494775"/>
            <a:ext cx="285000" cy="285000"/>
          </a:xfrm>
          <a:prstGeom prst="rect">
            <a:avLst/>
          </a:prstGeom>
          <a:solidFill>
            <a:srgbClr val="FFFFFF"/>
          </a:solidFill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R3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1954" name="Google Shape;1954;p122"/>
          <p:cNvCxnSpPr>
            <a:stCxn id="1950" idx="1"/>
            <a:endCxn id="1953" idx="3"/>
          </p:cNvCxnSpPr>
          <p:nvPr/>
        </p:nvCxnSpPr>
        <p:spPr>
          <a:xfrm flipH="1">
            <a:off x="4022175" y="2922957"/>
            <a:ext cx="1239000" cy="714300"/>
          </a:xfrm>
          <a:prstGeom prst="straightConnector1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1955" name="Google Shape;1955;p122"/>
          <p:cNvCxnSpPr>
            <a:stCxn id="1952" idx="1"/>
            <a:endCxn id="1953" idx="3"/>
          </p:cNvCxnSpPr>
          <p:nvPr/>
        </p:nvCxnSpPr>
        <p:spPr>
          <a:xfrm rot="10800000">
            <a:off x="4022175" y="3637229"/>
            <a:ext cx="1239000" cy="715500"/>
          </a:xfrm>
          <a:prstGeom prst="straightConnector1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1956" name="Google Shape;1956;p122"/>
          <p:cNvCxnSpPr/>
          <p:nvPr/>
        </p:nvCxnSpPr>
        <p:spPr>
          <a:xfrm rot="10800000" flipH="1">
            <a:off x="4115675" y="2831869"/>
            <a:ext cx="953100" cy="550200"/>
          </a:xfrm>
          <a:prstGeom prst="straightConnector1">
            <a:avLst/>
          </a:prstGeom>
          <a:noFill/>
          <a:ln w="19050" cap="flat" cmpd="sng">
            <a:solidFill>
              <a:schemeClr val="accent2"/>
            </a:solidFill>
            <a:prstDash val="solid"/>
            <a:round/>
            <a:headEnd type="none" w="med" len="med"/>
            <a:tailEnd type="triangle" w="med" len="med"/>
          </a:ln>
        </p:spPr>
      </p:cxnSp>
      <p:cxnSp>
        <p:nvCxnSpPr>
          <p:cNvPr id="1957" name="Google Shape;1957;p122"/>
          <p:cNvCxnSpPr/>
          <p:nvPr/>
        </p:nvCxnSpPr>
        <p:spPr>
          <a:xfrm>
            <a:off x="4115675" y="3883550"/>
            <a:ext cx="953100" cy="550200"/>
          </a:xfrm>
          <a:prstGeom prst="straightConnector1">
            <a:avLst/>
          </a:prstGeom>
          <a:noFill/>
          <a:ln w="19050" cap="flat" cmpd="sng">
            <a:solidFill>
              <a:schemeClr val="accent2"/>
            </a:solidFill>
            <a:prstDash val="solid"/>
            <a:round/>
            <a:headEnd type="triangle" w="med" len="med"/>
            <a:tailEnd type="none" w="med" len="med"/>
          </a:ln>
        </p:spPr>
      </p:cxnSp>
      <p:cxnSp>
        <p:nvCxnSpPr>
          <p:cNvPr id="1958" name="Google Shape;1958;p122"/>
          <p:cNvCxnSpPr/>
          <p:nvPr/>
        </p:nvCxnSpPr>
        <p:spPr>
          <a:xfrm>
            <a:off x="5569575" y="3172442"/>
            <a:ext cx="0" cy="922800"/>
          </a:xfrm>
          <a:prstGeom prst="straightConnector1">
            <a:avLst/>
          </a:prstGeom>
          <a:noFill/>
          <a:ln w="19050" cap="flat" cmpd="sng">
            <a:solidFill>
              <a:schemeClr val="accent2"/>
            </a:solidFill>
            <a:prstDash val="solid"/>
            <a:round/>
            <a:headEnd type="none" w="med" len="med"/>
            <a:tailEnd type="triangle" w="med" len="med"/>
          </a:ln>
        </p:spPr>
      </p:cxnSp>
      <p:sp>
        <p:nvSpPr>
          <p:cNvPr id="1959" name="Google Shape;1959;p122"/>
          <p:cNvSpPr/>
          <p:nvPr/>
        </p:nvSpPr>
        <p:spPr>
          <a:xfrm>
            <a:off x="5735475" y="3221850"/>
            <a:ext cx="232200" cy="223200"/>
          </a:xfrm>
          <a:prstGeom prst="roundRect">
            <a:avLst>
              <a:gd name="adj" fmla="val 16667"/>
            </a:avLst>
          </a:prstGeom>
          <a:solidFill>
            <a:srgbClr val="F4CCCC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27425" tIns="27425" rIns="27425" bIns="27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>
                <a:latin typeface="Roboto"/>
                <a:ea typeface="Roboto"/>
                <a:cs typeface="Roboto"/>
                <a:sym typeface="Roboto"/>
              </a:rPr>
              <a:t>2</a:t>
            </a:r>
            <a:endParaRPr sz="12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960" name="Google Shape;1960;p122"/>
          <p:cNvSpPr/>
          <p:nvPr/>
        </p:nvSpPr>
        <p:spPr>
          <a:xfrm>
            <a:off x="5735475" y="3526650"/>
            <a:ext cx="232200" cy="223200"/>
          </a:xfrm>
          <a:prstGeom prst="roundRect">
            <a:avLst>
              <a:gd name="adj" fmla="val 16667"/>
            </a:avLst>
          </a:prstGeom>
          <a:solidFill>
            <a:srgbClr val="F4CCCC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27425" tIns="27425" rIns="27425" bIns="27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>
                <a:latin typeface="Roboto"/>
                <a:ea typeface="Roboto"/>
                <a:cs typeface="Roboto"/>
                <a:sym typeface="Roboto"/>
              </a:rPr>
              <a:t>5</a:t>
            </a:r>
            <a:endParaRPr sz="12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961" name="Google Shape;1961;p122"/>
          <p:cNvSpPr/>
          <p:nvPr/>
        </p:nvSpPr>
        <p:spPr>
          <a:xfrm>
            <a:off x="5735475" y="3831450"/>
            <a:ext cx="232200" cy="223200"/>
          </a:xfrm>
          <a:prstGeom prst="roundRect">
            <a:avLst>
              <a:gd name="adj" fmla="val 16667"/>
            </a:avLst>
          </a:prstGeom>
          <a:solidFill>
            <a:srgbClr val="F4CCCC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27425" tIns="27425" rIns="27425" bIns="27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>
                <a:latin typeface="Roboto"/>
                <a:ea typeface="Roboto"/>
                <a:cs typeface="Roboto"/>
                <a:sym typeface="Roboto"/>
              </a:rPr>
              <a:t>8</a:t>
            </a:r>
            <a:endParaRPr sz="12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962" name="Google Shape;1962;p122"/>
          <p:cNvSpPr/>
          <p:nvPr/>
        </p:nvSpPr>
        <p:spPr>
          <a:xfrm>
            <a:off x="4643350" y="4413675"/>
            <a:ext cx="232200" cy="223200"/>
          </a:xfrm>
          <a:prstGeom prst="roundRect">
            <a:avLst>
              <a:gd name="adj" fmla="val 16667"/>
            </a:avLst>
          </a:prstGeom>
          <a:solidFill>
            <a:srgbClr val="F4CCCC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27425" tIns="27425" rIns="27425" bIns="27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>
                <a:latin typeface="Roboto"/>
                <a:ea typeface="Roboto"/>
                <a:cs typeface="Roboto"/>
                <a:sym typeface="Roboto"/>
              </a:rPr>
              <a:t>3</a:t>
            </a:r>
            <a:endParaRPr sz="12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963" name="Google Shape;1963;p122"/>
          <p:cNvSpPr/>
          <p:nvPr/>
        </p:nvSpPr>
        <p:spPr>
          <a:xfrm>
            <a:off x="4338550" y="4261275"/>
            <a:ext cx="232200" cy="223200"/>
          </a:xfrm>
          <a:prstGeom prst="roundRect">
            <a:avLst>
              <a:gd name="adj" fmla="val 16667"/>
            </a:avLst>
          </a:prstGeom>
          <a:solidFill>
            <a:srgbClr val="F4CCCC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27425" tIns="27425" rIns="27425" bIns="27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>
                <a:latin typeface="Roboto"/>
                <a:ea typeface="Roboto"/>
                <a:cs typeface="Roboto"/>
                <a:sym typeface="Roboto"/>
              </a:rPr>
              <a:t>6</a:t>
            </a:r>
            <a:endParaRPr sz="12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964" name="Google Shape;1964;p122"/>
          <p:cNvSpPr/>
          <p:nvPr/>
        </p:nvSpPr>
        <p:spPr>
          <a:xfrm>
            <a:off x="4033750" y="4108875"/>
            <a:ext cx="232200" cy="223200"/>
          </a:xfrm>
          <a:prstGeom prst="roundRect">
            <a:avLst>
              <a:gd name="adj" fmla="val 16667"/>
            </a:avLst>
          </a:prstGeom>
          <a:solidFill>
            <a:srgbClr val="F4CCCC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27425" tIns="27425" rIns="27425" bIns="27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>
                <a:latin typeface="Roboto"/>
                <a:ea typeface="Roboto"/>
                <a:cs typeface="Roboto"/>
                <a:sym typeface="Roboto"/>
              </a:rPr>
              <a:t>9</a:t>
            </a:r>
            <a:endParaRPr sz="12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965" name="Google Shape;1965;p122"/>
          <p:cNvSpPr/>
          <p:nvPr/>
        </p:nvSpPr>
        <p:spPr>
          <a:xfrm>
            <a:off x="4643350" y="2661075"/>
            <a:ext cx="232200" cy="223200"/>
          </a:xfrm>
          <a:prstGeom prst="roundRect">
            <a:avLst>
              <a:gd name="adj" fmla="val 16667"/>
            </a:avLst>
          </a:prstGeom>
          <a:solidFill>
            <a:srgbClr val="F4CCCC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>
                <a:latin typeface="Roboto"/>
                <a:ea typeface="Roboto"/>
                <a:cs typeface="Roboto"/>
                <a:sym typeface="Roboto"/>
              </a:rPr>
              <a:t>10</a:t>
            </a:r>
            <a:endParaRPr sz="12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966" name="Google Shape;1966;p122"/>
          <p:cNvSpPr/>
          <p:nvPr/>
        </p:nvSpPr>
        <p:spPr>
          <a:xfrm>
            <a:off x="4338550" y="2813475"/>
            <a:ext cx="232200" cy="223200"/>
          </a:xfrm>
          <a:prstGeom prst="roundRect">
            <a:avLst>
              <a:gd name="adj" fmla="val 16667"/>
            </a:avLst>
          </a:prstGeom>
          <a:solidFill>
            <a:srgbClr val="F4CCCC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27425" tIns="27425" rIns="27425" bIns="27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>
                <a:latin typeface="Roboto"/>
                <a:ea typeface="Roboto"/>
                <a:cs typeface="Roboto"/>
                <a:sym typeface="Roboto"/>
              </a:rPr>
              <a:t>7</a:t>
            </a:r>
            <a:endParaRPr sz="12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967" name="Google Shape;1967;p122"/>
          <p:cNvSpPr/>
          <p:nvPr/>
        </p:nvSpPr>
        <p:spPr>
          <a:xfrm>
            <a:off x="4033750" y="2965875"/>
            <a:ext cx="232200" cy="223200"/>
          </a:xfrm>
          <a:prstGeom prst="roundRect">
            <a:avLst>
              <a:gd name="adj" fmla="val 16667"/>
            </a:avLst>
          </a:prstGeom>
          <a:solidFill>
            <a:srgbClr val="F4CCCC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27425" tIns="27425" rIns="27425" bIns="27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>
                <a:latin typeface="Roboto"/>
                <a:ea typeface="Roboto"/>
                <a:cs typeface="Roboto"/>
                <a:sym typeface="Roboto"/>
              </a:rPr>
              <a:t>4</a:t>
            </a:r>
            <a:endParaRPr sz="1200">
              <a:latin typeface="Roboto"/>
              <a:ea typeface="Roboto"/>
              <a:cs typeface="Roboto"/>
              <a:sym typeface="Roboto"/>
            </a:endParaRP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6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6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9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72" name="Google Shape;1972;p123"/>
          <p:cNvSpPr txBox="1">
            <a:spLocks noGrp="1"/>
          </p:cNvSpPr>
          <p:nvPr>
            <p:ph type="title"/>
          </p:nvPr>
        </p:nvSpPr>
        <p:spPr>
          <a:xfrm>
            <a:off x="0" y="0"/>
            <a:ext cx="9144000" cy="39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Count to Infinity – Solution</a:t>
            </a:r>
            <a:endParaRPr/>
          </a:p>
        </p:txBody>
      </p:sp>
      <p:sp>
        <p:nvSpPr>
          <p:cNvPr id="1973" name="Google Shape;1973;p123"/>
          <p:cNvSpPr txBox="1">
            <a:spLocks noGrp="1"/>
          </p:cNvSpPr>
          <p:nvPr>
            <p:ph type="body" idx="1"/>
          </p:nvPr>
        </p:nvSpPr>
        <p:spPr>
          <a:xfrm>
            <a:off x="107050" y="402200"/>
            <a:ext cx="8909700" cy="4530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" dirty="0"/>
              <a:t>Solution: Enforce a maximum cost.</a:t>
            </a:r>
            <a:endParaRPr dirty="0"/>
          </a:p>
          <a:p>
            <a:pPr marL="457200" lvl="0" indent="-342900" algn="l" rtl="0">
              <a:spcBef>
                <a:spcPts val="600"/>
              </a:spcBef>
              <a:spcAft>
                <a:spcPts val="0"/>
              </a:spcAft>
              <a:buSzPts val="1800"/>
              <a:buChar char="●"/>
            </a:pPr>
            <a:r>
              <a:rPr lang="en" dirty="0"/>
              <a:t>15 is a common choice.</a:t>
            </a:r>
            <a:endParaRPr dirty="0"/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 dirty="0"/>
              <a:t>All numbers ≥ 16 are considered infinity.</a:t>
            </a:r>
            <a:endParaRPr dirty="0"/>
          </a:p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endParaRPr dirty="0"/>
          </a:p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" dirty="0"/>
              <a:t>Result:</a:t>
            </a:r>
            <a:endParaRPr dirty="0"/>
          </a:p>
          <a:p>
            <a:pPr marL="457200" lvl="0" indent="-342900" algn="l" rtl="0">
              <a:spcBef>
                <a:spcPts val="600"/>
              </a:spcBef>
              <a:spcAft>
                <a:spcPts val="0"/>
              </a:spcAft>
              <a:buSzPts val="1800"/>
              <a:buChar char="●"/>
            </a:pPr>
            <a:r>
              <a:rPr lang="en" dirty="0"/>
              <a:t>Loop will stop when all costs reach 16.</a:t>
            </a:r>
            <a:endParaRPr dirty="0"/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-US" dirty="0"/>
              <a:t>broken</a:t>
            </a:r>
            <a:r>
              <a:rPr lang="en" dirty="0"/>
              <a:t> path will expire, or get replaced by another non-infinite-cost path.</a:t>
            </a:r>
            <a:endParaRPr dirty="0"/>
          </a:p>
        </p:txBody>
      </p:sp>
    </p:spTree>
  </p:cSld>
  <p:clrMapOvr>
    <a:masterClrMapping/>
  </p:clrMapOvr>
</p:sld>
</file>

<file path=ppt/slides/slide10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9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1978" name="Google Shape;1978;p124"/>
          <p:cNvCxnSpPr>
            <a:stCxn id="1979" idx="1"/>
            <a:endCxn id="1980" idx="6"/>
          </p:cNvCxnSpPr>
          <p:nvPr/>
        </p:nvCxnSpPr>
        <p:spPr>
          <a:xfrm rot="10800000">
            <a:off x="3336375" y="3637275"/>
            <a:ext cx="400800" cy="0"/>
          </a:xfrm>
          <a:prstGeom prst="straightConnector1">
            <a:avLst/>
          </a:prstGeom>
          <a:noFill/>
          <a:ln w="19050" cap="flat" cmpd="sng">
            <a:solidFill>
              <a:srgbClr val="D9D9D9"/>
            </a:solidFill>
            <a:prstDash val="dash"/>
            <a:round/>
            <a:headEnd type="none" w="med" len="med"/>
            <a:tailEnd type="none" w="med" len="med"/>
          </a:ln>
        </p:spPr>
      </p:cxnSp>
      <p:sp>
        <p:nvSpPr>
          <p:cNvPr id="1981" name="Google Shape;1981;p124"/>
          <p:cNvSpPr txBox="1">
            <a:spLocks noGrp="1"/>
          </p:cNvSpPr>
          <p:nvPr>
            <p:ph type="title"/>
          </p:nvPr>
        </p:nvSpPr>
        <p:spPr>
          <a:xfrm>
            <a:off x="0" y="0"/>
            <a:ext cx="9144000" cy="39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accent3"/>
                </a:solidFill>
              </a:rPr>
              <a:t>Count to Infinity – Solution</a:t>
            </a:r>
            <a:endParaRPr/>
          </a:p>
        </p:txBody>
      </p:sp>
      <p:sp>
        <p:nvSpPr>
          <p:cNvPr id="1982" name="Google Shape;1982;p124"/>
          <p:cNvSpPr txBox="1">
            <a:spLocks noGrp="1"/>
          </p:cNvSpPr>
          <p:nvPr>
            <p:ph type="body" idx="1"/>
          </p:nvPr>
        </p:nvSpPr>
        <p:spPr>
          <a:xfrm>
            <a:off x="107050" y="402200"/>
            <a:ext cx="8909700" cy="1079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"/>
              <a:t>All numbers ≥ 16 are considered infinity.</a:t>
            </a:r>
            <a:endParaRPr/>
          </a:p>
        </p:txBody>
      </p:sp>
      <p:sp>
        <p:nvSpPr>
          <p:cNvPr id="1980" name="Google Shape;1980;p124"/>
          <p:cNvSpPr/>
          <p:nvPr/>
        </p:nvSpPr>
        <p:spPr>
          <a:xfrm>
            <a:off x="3051363" y="3494775"/>
            <a:ext cx="285000" cy="285000"/>
          </a:xfrm>
          <a:prstGeom prst="ellipse">
            <a:avLst/>
          </a:prstGeom>
          <a:solidFill>
            <a:srgbClr val="FFFFFF"/>
          </a:solidFill>
          <a:ln w="19050" cap="flat" cmpd="sng">
            <a:solidFill>
              <a:srgbClr val="D9D9D9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D9D9D9"/>
                </a:solidFill>
                <a:latin typeface="Roboto"/>
                <a:ea typeface="Roboto"/>
                <a:cs typeface="Roboto"/>
                <a:sym typeface="Roboto"/>
              </a:rPr>
              <a:t>A</a:t>
            </a:r>
            <a:endParaRPr>
              <a:solidFill>
                <a:srgbClr val="D9D9D9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983" name="Google Shape;1983;p124"/>
          <p:cNvSpPr/>
          <p:nvPr/>
        </p:nvSpPr>
        <p:spPr>
          <a:xfrm>
            <a:off x="5261175" y="2780457"/>
            <a:ext cx="285000" cy="285000"/>
          </a:xfrm>
          <a:prstGeom prst="rect">
            <a:avLst/>
          </a:prstGeom>
          <a:solidFill>
            <a:srgbClr val="FFFFFF"/>
          </a:solidFill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R1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1984" name="Google Shape;1984;p124"/>
          <p:cNvCxnSpPr>
            <a:stCxn id="1983" idx="2"/>
            <a:endCxn id="1985" idx="0"/>
          </p:cNvCxnSpPr>
          <p:nvPr/>
        </p:nvCxnSpPr>
        <p:spPr>
          <a:xfrm>
            <a:off x="5403675" y="3065457"/>
            <a:ext cx="0" cy="1144800"/>
          </a:xfrm>
          <a:prstGeom prst="straightConnector1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1985" name="Google Shape;1985;p124"/>
          <p:cNvSpPr/>
          <p:nvPr/>
        </p:nvSpPr>
        <p:spPr>
          <a:xfrm>
            <a:off x="5261175" y="4210229"/>
            <a:ext cx="285000" cy="285000"/>
          </a:xfrm>
          <a:prstGeom prst="rect">
            <a:avLst/>
          </a:prstGeom>
          <a:solidFill>
            <a:srgbClr val="FFFFFF"/>
          </a:solidFill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R2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979" name="Google Shape;1979;p124"/>
          <p:cNvSpPr/>
          <p:nvPr/>
        </p:nvSpPr>
        <p:spPr>
          <a:xfrm>
            <a:off x="3737175" y="3494775"/>
            <a:ext cx="285000" cy="285000"/>
          </a:xfrm>
          <a:prstGeom prst="rect">
            <a:avLst/>
          </a:prstGeom>
          <a:solidFill>
            <a:srgbClr val="FFFFFF"/>
          </a:solidFill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R3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1986" name="Google Shape;1986;p124"/>
          <p:cNvCxnSpPr>
            <a:stCxn id="1983" idx="1"/>
            <a:endCxn id="1979" idx="3"/>
          </p:cNvCxnSpPr>
          <p:nvPr/>
        </p:nvCxnSpPr>
        <p:spPr>
          <a:xfrm flipH="1">
            <a:off x="4022175" y="2922957"/>
            <a:ext cx="1239000" cy="714300"/>
          </a:xfrm>
          <a:prstGeom prst="straightConnector1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1987" name="Google Shape;1987;p124"/>
          <p:cNvCxnSpPr>
            <a:stCxn id="1985" idx="1"/>
            <a:endCxn id="1979" idx="3"/>
          </p:cNvCxnSpPr>
          <p:nvPr/>
        </p:nvCxnSpPr>
        <p:spPr>
          <a:xfrm rot="10800000">
            <a:off x="4022175" y="3637229"/>
            <a:ext cx="1239000" cy="715500"/>
          </a:xfrm>
          <a:prstGeom prst="straightConnector1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med" len="med"/>
            <a:tailEnd type="none" w="med" len="med"/>
          </a:ln>
        </p:spPr>
      </p:cxnSp>
      <p:graphicFrame>
        <p:nvGraphicFramePr>
          <p:cNvPr id="1988" name="Google Shape;1988;p124"/>
          <p:cNvGraphicFramePr/>
          <p:nvPr/>
        </p:nvGraphicFramePr>
        <p:xfrm>
          <a:off x="990319" y="3292900"/>
          <a:ext cx="1835500" cy="688770"/>
        </p:xfrm>
        <a:graphic>
          <a:graphicData uri="http://schemas.openxmlformats.org/drawingml/2006/table">
            <a:tbl>
              <a:tblPr>
                <a:noFill/>
              </a:tblPr>
              <a:tblGrid>
                <a:gridCol w="5448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9707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79362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121925">
                <a:tc gridSpan="3"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latin typeface="Roboto"/>
                          <a:ea typeface="Roboto"/>
                          <a:cs typeface="Roboto"/>
                          <a:sym typeface="Roboto"/>
                        </a:rPr>
                        <a:t>R3's Table</a:t>
                      </a:r>
                      <a:endParaRPr sz="12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>
                    <a:solidFill>
                      <a:srgbClr val="FFFFFF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21925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latin typeface="Roboto"/>
                          <a:ea typeface="Roboto"/>
                          <a:cs typeface="Roboto"/>
                          <a:sym typeface="Roboto"/>
                        </a:rPr>
                        <a:t>To:</a:t>
                      </a:r>
                      <a:endParaRPr sz="12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latin typeface="Roboto"/>
                          <a:ea typeface="Roboto"/>
                          <a:cs typeface="Roboto"/>
                          <a:sym typeface="Roboto"/>
                        </a:rPr>
                        <a:t>Via:</a:t>
                      </a:r>
                      <a:endParaRPr sz="12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latin typeface="Roboto"/>
                          <a:ea typeface="Roboto"/>
                          <a:cs typeface="Roboto"/>
                          <a:sym typeface="Roboto"/>
                        </a:rPr>
                        <a:t>Cost:</a:t>
                      </a:r>
                      <a:endParaRPr sz="12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21925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latin typeface="Roboto"/>
                          <a:ea typeface="Roboto"/>
                          <a:cs typeface="Roboto"/>
                          <a:sym typeface="Roboto"/>
                        </a:rPr>
                        <a:t>A</a:t>
                      </a:r>
                      <a:endParaRPr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latin typeface="Roboto"/>
                          <a:ea typeface="Roboto"/>
                          <a:cs typeface="Roboto"/>
                          <a:sym typeface="Roboto"/>
                        </a:rPr>
                        <a:t>R2</a:t>
                      </a:r>
                      <a:endParaRPr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latin typeface="Roboto"/>
                          <a:ea typeface="Roboto"/>
                          <a:cs typeface="Roboto"/>
                          <a:sym typeface="Roboto"/>
                        </a:rPr>
                        <a:t>10</a:t>
                      </a:r>
                      <a:endParaRPr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</a:tbl>
          </a:graphicData>
        </a:graphic>
      </p:graphicFrame>
      <p:graphicFrame>
        <p:nvGraphicFramePr>
          <p:cNvPr id="1989" name="Google Shape;1989;p124"/>
          <p:cNvGraphicFramePr/>
          <p:nvPr/>
        </p:nvGraphicFramePr>
        <p:xfrm>
          <a:off x="6318169" y="2544150"/>
          <a:ext cx="1835500" cy="688770"/>
        </p:xfrm>
        <a:graphic>
          <a:graphicData uri="http://schemas.openxmlformats.org/drawingml/2006/table">
            <a:tbl>
              <a:tblPr>
                <a:noFill/>
              </a:tblPr>
              <a:tblGrid>
                <a:gridCol w="5448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9707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79362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121925">
                <a:tc gridSpan="3"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latin typeface="Roboto"/>
                          <a:ea typeface="Roboto"/>
                          <a:cs typeface="Roboto"/>
                          <a:sym typeface="Roboto"/>
                        </a:rPr>
                        <a:t>R1's Table</a:t>
                      </a:r>
                      <a:endParaRPr sz="12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>
                    <a:solidFill>
                      <a:srgbClr val="FFFFFF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21925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latin typeface="Roboto"/>
                          <a:ea typeface="Roboto"/>
                          <a:cs typeface="Roboto"/>
                          <a:sym typeface="Roboto"/>
                        </a:rPr>
                        <a:t>To:</a:t>
                      </a:r>
                      <a:endParaRPr sz="12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latin typeface="Roboto"/>
                          <a:ea typeface="Roboto"/>
                          <a:cs typeface="Roboto"/>
                          <a:sym typeface="Roboto"/>
                        </a:rPr>
                        <a:t>Via:</a:t>
                      </a:r>
                      <a:endParaRPr sz="12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latin typeface="Roboto"/>
                          <a:ea typeface="Roboto"/>
                          <a:cs typeface="Roboto"/>
                          <a:sym typeface="Roboto"/>
                        </a:rPr>
                        <a:t>Cost:</a:t>
                      </a:r>
                      <a:endParaRPr sz="12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21925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latin typeface="Roboto"/>
                          <a:ea typeface="Roboto"/>
                          <a:cs typeface="Roboto"/>
                          <a:sym typeface="Roboto"/>
                        </a:rPr>
                        <a:t>A</a:t>
                      </a:r>
                      <a:endParaRPr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latin typeface="Roboto"/>
                          <a:ea typeface="Roboto"/>
                          <a:cs typeface="Roboto"/>
                          <a:sym typeface="Roboto"/>
                        </a:rPr>
                        <a:t>R3</a:t>
                      </a:r>
                      <a:endParaRPr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latin typeface="Roboto"/>
                          <a:ea typeface="Roboto"/>
                          <a:cs typeface="Roboto"/>
                          <a:sym typeface="Roboto"/>
                        </a:rPr>
                        <a:t>11</a:t>
                      </a:r>
                      <a:endParaRPr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</a:tbl>
          </a:graphicData>
        </a:graphic>
      </p:graphicFrame>
      <p:graphicFrame>
        <p:nvGraphicFramePr>
          <p:cNvPr id="1990" name="Google Shape;1990;p124"/>
          <p:cNvGraphicFramePr/>
          <p:nvPr/>
        </p:nvGraphicFramePr>
        <p:xfrm>
          <a:off x="6318169" y="4054900"/>
          <a:ext cx="1835500" cy="688770"/>
        </p:xfrm>
        <a:graphic>
          <a:graphicData uri="http://schemas.openxmlformats.org/drawingml/2006/table">
            <a:tbl>
              <a:tblPr>
                <a:noFill/>
              </a:tblPr>
              <a:tblGrid>
                <a:gridCol w="5448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9707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79362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121925">
                <a:tc gridSpan="3"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latin typeface="Roboto"/>
                          <a:ea typeface="Roboto"/>
                          <a:cs typeface="Roboto"/>
                          <a:sym typeface="Roboto"/>
                        </a:rPr>
                        <a:t>R2's Table</a:t>
                      </a:r>
                      <a:endParaRPr sz="12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>
                    <a:solidFill>
                      <a:srgbClr val="FFFFFF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21925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latin typeface="Roboto"/>
                          <a:ea typeface="Roboto"/>
                          <a:cs typeface="Roboto"/>
                          <a:sym typeface="Roboto"/>
                        </a:rPr>
                        <a:t>To:</a:t>
                      </a:r>
                      <a:endParaRPr sz="12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latin typeface="Roboto"/>
                          <a:ea typeface="Roboto"/>
                          <a:cs typeface="Roboto"/>
                          <a:sym typeface="Roboto"/>
                        </a:rPr>
                        <a:t>Via:</a:t>
                      </a:r>
                      <a:endParaRPr sz="12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latin typeface="Roboto"/>
                          <a:ea typeface="Roboto"/>
                          <a:cs typeface="Roboto"/>
                          <a:sym typeface="Roboto"/>
                        </a:rPr>
                        <a:t>Cost:</a:t>
                      </a:r>
                      <a:endParaRPr sz="12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21925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latin typeface="Roboto"/>
                          <a:ea typeface="Roboto"/>
                          <a:cs typeface="Roboto"/>
                          <a:sym typeface="Roboto"/>
                        </a:rPr>
                        <a:t>A</a:t>
                      </a:r>
                      <a:endParaRPr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latin typeface="Roboto"/>
                          <a:ea typeface="Roboto"/>
                          <a:cs typeface="Roboto"/>
                          <a:sym typeface="Roboto"/>
                        </a:rPr>
                        <a:t>R1</a:t>
                      </a:r>
                      <a:endParaRPr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solidFill>
                            <a:schemeClr val="dk1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9</a:t>
                      </a:r>
                      <a:endParaRPr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</a:tbl>
          </a:graphicData>
        </a:graphic>
      </p:graphicFrame>
      <p:sp>
        <p:nvSpPr>
          <p:cNvPr id="1991" name="Google Shape;1991;p124"/>
          <p:cNvSpPr/>
          <p:nvPr/>
        </p:nvSpPr>
        <p:spPr>
          <a:xfrm>
            <a:off x="5733600" y="3425350"/>
            <a:ext cx="1431300" cy="437100"/>
          </a:xfrm>
          <a:prstGeom prst="roundRect">
            <a:avLst>
              <a:gd name="adj" fmla="val 16667"/>
            </a:avLst>
          </a:prstGeom>
          <a:solidFill>
            <a:srgbClr val="F4CCCC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27425" tIns="27425" rIns="27425" bIns="27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>
                <a:latin typeface="Roboto"/>
                <a:ea typeface="Roboto"/>
                <a:cs typeface="Roboto"/>
                <a:sym typeface="Roboto"/>
              </a:rPr>
              <a:t>I'm </a:t>
            </a:r>
            <a:r>
              <a:rPr lang="en" sz="1200" b="1">
                <a:latin typeface="Roboto"/>
                <a:ea typeface="Roboto"/>
                <a:cs typeface="Roboto"/>
                <a:sym typeface="Roboto"/>
              </a:rPr>
              <a:t>R1</a:t>
            </a:r>
            <a:r>
              <a:rPr lang="en" sz="1200">
                <a:latin typeface="Roboto"/>
                <a:ea typeface="Roboto"/>
                <a:cs typeface="Roboto"/>
                <a:sym typeface="Roboto"/>
              </a:rPr>
              <a:t>, and </a:t>
            </a:r>
            <a:r>
              <a:rPr lang="en" sz="1200" b="1">
                <a:latin typeface="Roboto"/>
                <a:ea typeface="Roboto"/>
                <a:cs typeface="Roboto"/>
                <a:sym typeface="Roboto"/>
              </a:rPr>
              <a:t>A</a:t>
            </a:r>
            <a:r>
              <a:rPr lang="en" sz="1200">
                <a:latin typeface="Roboto"/>
                <a:ea typeface="Roboto"/>
                <a:cs typeface="Roboto"/>
                <a:sym typeface="Roboto"/>
              </a:rPr>
              <a:t> is</a:t>
            </a:r>
            <a:br>
              <a:rPr lang="en" sz="1200">
                <a:latin typeface="Roboto"/>
                <a:ea typeface="Roboto"/>
                <a:cs typeface="Roboto"/>
                <a:sym typeface="Roboto"/>
              </a:rPr>
            </a:br>
            <a:r>
              <a:rPr lang="en" sz="1200" b="1">
                <a:latin typeface="Roboto"/>
                <a:ea typeface="Roboto"/>
                <a:cs typeface="Roboto"/>
                <a:sym typeface="Roboto"/>
              </a:rPr>
              <a:t>11</a:t>
            </a:r>
            <a:r>
              <a:rPr lang="en" sz="1200">
                <a:latin typeface="Roboto"/>
                <a:ea typeface="Roboto"/>
                <a:cs typeface="Roboto"/>
                <a:sym typeface="Roboto"/>
              </a:rPr>
              <a:t> away from me.</a:t>
            </a:r>
            <a:endParaRPr sz="1200"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1992" name="Google Shape;1992;p124"/>
          <p:cNvCxnSpPr/>
          <p:nvPr/>
        </p:nvCxnSpPr>
        <p:spPr>
          <a:xfrm>
            <a:off x="5569575" y="3172442"/>
            <a:ext cx="0" cy="922800"/>
          </a:xfrm>
          <a:prstGeom prst="straightConnector1">
            <a:avLst/>
          </a:prstGeom>
          <a:noFill/>
          <a:ln w="19050" cap="flat" cmpd="sng">
            <a:solidFill>
              <a:schemeClr val="accent2"/>
            </a:solidFill>
            <a:prstDash val="solid"/>
            <a:round/>
            <a:headEnd type="none" w="med" len="med"/>
            <a:tailEnd type="triangle" w="med" len="med"/>
          </a:ln>
        </p:spPr>
      </p:cxnSp>
      <p:graphicFrame>
        <p:nvGraphicFramePr>
          <p:cNvPr id="1993" name="Google Shape;1993;p124"/>
          <p:cNvGraphicFramePr/>
          <p:nvPr/>
        </p:nvGraphicFramePr>
        <p:xfrm>
          <a:off x="6318169" y="4054900"/>
          <a:ext cx="1835500" cy="688770"/>
        </p:xfrm>
        <a:graphic>
          <a:graphicData uri="http://schemas.openxmlformats.org/drawingml/2006/table">
            <a:tbl>
              <a:tblPr>
                <a:noFill/>
              </a:tblPr>
              <a:tblGrid>
                <a:gridCol w="5448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9707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79362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121925">
                <a:tc gridSpan="3"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latin typeface="Roboto"/>
                          <a:ea typeface="Roboto"/>
                          <a:cs typeface="Roboto"/>
                          <a:sym typeface="Roboto"/>
                        </a:rPr>
                        <a:t>R2's Table</a:t>
                      </a:r>
                      <a:endParaRPr sz="12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>
                    <a:solidFill>
                      <a:srgbClr val="FFFFFF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21925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latin typeface="Roboto"/>
                          <a:ea typeface="Roboto"/>
                          <a:cs typeface="Roboto"/>
                          <a:sym typeface="Roboto"/>
                        </a:rPr>
                        <a:t>To:</a:t>
                      </a:r>
                      <a:endParaRPr sz="12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latin typeface="Roboto"/>
                          <a:ea typeface="Roboto"/>
                          <a:cs typeface="Roboto"/>
                          <a:sym typeface="Roboto"/>
                        </a:rPr>
                        <a:t>Via:</a:t>
                      </a:r>
                      <a:endParaRPr sz="12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latin typeface="Roboto"/>
                          <a:ea typeface="Roboto"/>
                          <a:cs typeface="Roboto"/>
                          <a:sym typeface="Roboto"/>
                        </a:rPr>
                        <a:t>Cost:</a:t>
                      </a:r>
                      <a:endParaRPr sz="12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21925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b="1">
                          <a:latin typeface="Roboto"/>
                          <a:ea typeface="Roboto"/>
                          <a:cs typeface="Roboto"/>
                          <a:sym typeface="Roboto"/>
                        </a:rPr>
                        <a:t>A</a:t>
                      </a:r>
                      <a:endParaRPr b="1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>
                    <a:solidFill>
                      <a:srgbClr val="F4CCCC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b="1">
                          <a:latin typeface="Roboto"/>
                          <a:ea typeface="Roboto"/>
                          <a:cs typeface="Roboto"/>
                          <a:sym typeface="Roboto"/>
                        </a:rPr>
                        <a:t>R1</a:t>
                      </a:r>
                      <a:endParaRPr b="1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>
                    <a:solidFill>
                      <a:srgbClr val="F4CCCC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b="1">
                          <a:solidFill>
                            <a:schemeClr val="dk1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12</a:t>
                      </a:r>
                      <a:endParaRPr b="1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>
                    <a:solidFill>
                      <a:srgbClr val="F4CCC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</a:tbl>
          </a:graphicData>
        </a:graphic>
      </p:graphicFrame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9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9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1998" name="Google Shape;1998;p125"/>
          <p:cNvCxnSpPr>
            <a:stCxn id="1999" idx="1"/>
            <a:endCxn id="2000" idx="6"/>
          </p:cNvCxnSpPr>
          <p:nvPr/>
        </p:nvCxnSpPr>
        <p:spPr>
          <a:xfrm rot="10800000">
            <a:off x="3336375" y="3637275"/>
            <a:ext cx="400800" cy="0"/>
          </a:xfrm>
          <a:prstGeom prst="straightConnector1">
            <a:avLst/>
          </a:prstGeom>
          <a:noFill/>
          <a:ln w="19050" cap="flat" cmpd="sng">
            <a:solidFill>
              <a:srgbClr val="D9D9D9"/>
            </a:solidFill>
            <a:prstDash val="dash"/>
            <a:round/>
            <a:headEnd type="none" w="med" len="med"/>
            <a:tailEnd type="none" w="med" len="med"/>
          </a:ln>
        </p:spPr>
      </p:cxnSp>
      <p:sp>
        <p:nvSpPr>
          <p:cNvPr id="2001" name="Google Shape;2001;p125"/>
          <p:cNvSpPr txBox="1">
            <a:spLocks noGrp="1"/>
          </p:cNvSpPr>
          <p:nvPr>
            <p:ph type="title"/>
          </p:nvPr>
        </p:nvSpPr>
        <p:spPr>
          <a:xfrm>
            <a:off x="0" y="0"/>
            <a:ext cx="9144000" cy="39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accent3"/>
                </a:solidFill>
              </a:rPr>
              <a:t>Count to Infinity – Solution</a:t>
            </a:r>
            <a:endParaRPr/>
          </a:p>
        </p:txBody>
      </p:sp>
      <p:sp>
        <p:nvSpPr>
          <p:cNvPr id="2002" name="Google Shape;2002;p125"/>
          <p:cNvSpPr txBox="1">
            <a:spLocks noGrp="1"/>
          </p:cNvSpPr>
          <p:nvPr>
            <p:ph type="body" idx="1"/>
          </p:nvPr>
        </p:nvSpPr>
        <p:spPr>
          <a:xfrm>
            <a:off x="107050" y="402200"/>
            <a:ext cx="8909700" cy="1079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All numbers ≥ 16 are considered infinity.</a:t>
            </a:r>
            <a:endParaRPr/>
          </a:p>
        </p:txBody>
      </p:sp>
      <p:sp>
        <p:nvSpPr>
          <p:cNvPr id="2000" name="Google Shape;2000;p125"/>
          <p:cNvSpPr/>
          <p:nvPr/>
        </p:nvSpPr>
        <p:spPr>
          <a:xfrm>
            <a:off x="3051363" y="3494775"/>
            <a:ext cx="285000" cy="285000"/>
          </a:xfrm>
          <a:prstGeom prst="ellipse">
            <a:avLst/>
          </a:prstGeom>
          <a:solidFill>
            <a:srgbClr val="FFFFFF"/>
          </a:solidFill>
          <a:ln w="19050" cap="flat" cmpd="sng">
            <a:solidFill>
              <a:srgbClr val="D9D9D9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D9D9D9"/>
                </a:solidFill>
                <a:latin typeface="Roboto"/>
                <a:ea typeface="Roboto"/>
                <a:cs typeface="Roboto"/>
                <a:sym typeface="Roboto"/>
              </a:rPr>
              <a:t>A</a:t>
            </a:r>
            <a:endParaRPr>
              <a:solidFill>
                <a:srgbClr val="D9D9D9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2003" name="Google Shape;2003;p125"/>
          <p:cNvSpPr/>
          <p:nvPr/>
        </p:nvSpPr>
        <p:spPr>
          <a:xfrm>
            <a:off x="5261175" y="2780457"/>
            <a:ext cx="285000" cy="285000"/>
          </a:xfrm>
          <a:prstGeom prst="rect">
            <a:avLst/>
          </a:prstGeom>
          <a:solidFill>
            <a:srgbClr val="FFFFFF"/>
          </a:solidFill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R1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2004" name="Google Shape;2004;p125"/>
          <p:cNvCxnSpPr>
            <a:stCxn id="2003" idx="2"/>
            <a:endCxn id="2005" idx="0"/>
          </p:cNvCxnSpPr>
          <p:nvPr/>
        </p:nvCxnSpPr>
        <p:spPr>
          <a:xfrm>
            <a:off x="5403675" y="3065457"/>
            <a:ext cx="0" cy="1144800"/>
          </a:xfrm>
          <a:prstGeom prst="straightConnector1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2005" name="Google Shape;2005;p125"/>
          <p:cNvSpPr/>
          <p:nvPr/>
        </p:nvSpPr>
        <p:spPr>
          <a:xfrm>
            <a:off x="5261175" y="4210229"/>
            <a:ext cx="285000" cy="285000"/>
          </a:xfrm>
          <a:prstGeom prst="rect">
            <a:avLst/>
          </a:prstGeom>
          <a:solidFill>
            <a:srgbClr val="FFFFFF"/>
          </a:solidFill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R2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999" name="Google Shape;1999;p125"/>
          <p:cNvSpPr/>
          <p:nvPr/>
        </p:nvSpPr>
        <p:spPr>
          <a:xfrm>
            <a:off x="3737175" y="3494775"/>
            <a:ext cx="285000" cy="285000"/>
          </a:xfrm>
          <a:prstGeom prst="rect">
            <a:avLst/>
          </a:prstGeom>
          <a:solidFill>
            <a:srgbClr val="FFFFFF"/>
          </a:solidFill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R3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2006" name="Google Shape;2006;p125"/>
          <p:cNvCxnSpPr>
            <a:stCxn id="2003" idx="1"/>
            <a:endCxn id="1999" idx="3"/>
          </p:cNvCxnSpPr>
          <p:nvPr/>
        </p:nvCxnSpPr>
        <p:spPr>
          <a:xfrm flipH="1">
            <a:off x="4022175" y="2922957"/>
            <a:ext cx="1239000" cy="714300"/>
          </a:xfrm>
          <a:prstGeom prst="straightConnector1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2007" name="Google Shape;2007;p125"/>
          <p:cNvCxnSpPr>
            <a:stCxn id="2005" idx="1"/>
            <a:endCxn id="1999" idx="3"/>
          </p:cNvCxnSpPr>
          <p:nvPr/>
        </p:nvCxnSpPr>
        <p:spPr>
          <a:xfrm rot="10800000">
            <a:off x="4022175" y="3637229"/>
            <a:ext cx="1239000" cy="715500"/>
          </a:xfrm>
          <a:prstGeom prst="straightConnector1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med" len="med"/>
            <a:tailEnd type="none" w="med" len="med"/>
          </a:ln>
        </p:spPr>
      </p:cxnSp>
      <p:graphicFrame>
        <p:nvGraphicFramePr>
          <p:cNvPr id="2008" name="Google Shape;2008;p125"/>
          <p:cNvGraphicFramePr/>
          <p:nvPr/>
        </p:nvGraphicFramePr>
        <p:xfrm>
          <a:off x="990319" y="3292900"/>
          <a:ext cx="1835500" cy="688770"/>
        </p:xfrm>
        <a:graphic>
          <a:graphicData uri="http://schemas.openxmlformats.org/drawingml/2006/table">
            <a:tbl>
              <a:tblPr>
                <a:noFill/>
              </a:tblPr>
              <a:tblGrid>
                <a:gridCol w="5448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9707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79362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121925">
                <a:tc gridSpan="3"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latin typeface="Roboto"/>
                          <a:ea typeface="Roboto"/>
                          <a:cs typeface="Roboto"/>
                          <a:sym typeface="Roboto"/>
                        </a:rPr>
                        <a:t>R3's Table</a:t>
                      </a:r>
                      <a:endParaRPr sz="12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>
                    <a:solidFill>
                      <a:srgbClr val="FFFFFF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21925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latin typeface="Roboto"/>
                          <a:ea typeface="Roboto"/>
                          <a:cs typeface="Roboto"/>
                          <a:sym typeface="Roboto"/>
                        </a:rPr>
                        <a:t>To:</a:t>
                      </a:r>
                      <a:endParaRPr sz="12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latin typeface="Roboto"/>
                          <a:ea typeface="Roboto"/>
                          <a:cs typeface="Roboto"/>
                          <a:sym typeface="Roboto"/>
                        </a:rPr>
                        <a:t>Via:</a:t>
                      </a:r>
                      <a:endParaRPr sz="12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latin typeface="Roboto"/>
                          <a:ea typeface="Roboto"/>
                          <a:cs typeface="Roboto"/>
                          <a:sym typeface="Roboto"/>
                        </a:rPr>
                        <a:t>Cost:</a:t>
                      </a:r>
                      <a:endParaRPr sz="12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21925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latin typeface="Roboto"/>
                          <a:ea typeface="Roboto"/>
                          <a:cs typeface="Roboto"/>
                          <a:sym typeface="Roboto"/>
                        </a:rPr>
                        <a:t>A</a:t>
                      </a:r>
                      <a:endParaRPr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latin typeface="Roboto"/>
                          <a:ea typeface="Roboto"/>
                          <a:cs typeface="Roboto"/>
                          <a:sym typeface="Roboto"/>
                        </a:rPr>
                        <a:t>R2</a:t>
                      </a:r>
                      <a:endParaRPr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latin typeface="Roboto"/>
                          <a:ea typeface="Roboto"/>
                          <a:cs typeface="Roboto"/>
                          <a:sym typeface="Roboto"/>
                        </a:rPr>
                        <a:t>10</a:t>
                      </a:r>
                      <a:endParaRPr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</a:tbl>
          </a:graphicData>
        </a:graphic>
      </p:graphicFrame>
      <p:graphicFrame>
        <p:nvGraphicFramePr>
          <p:cNvPr id="2009" name="Google Shape;2009;p125"/>
          <p:cNvGraphicFramePr/>
          <p:nvPr/>
        </p:nvGraphicFramePr>
        <p:xfrm>
          <a:off x="6318169" y="2544150"/>
          <a:ext cx="1835500" cy="688770"/>
        </p:xfrm>
        <a:graphic>
          <a:graphicData uri="http://schemas.openxmlformats.org/drawingml/2006/table">
            <a:tbl>
              <a:tblPr>
                <a:noFill/>
              </a:tblPr>
              <a:tblGrid>
                <a:gridCol w="5448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9707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79362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121925">
                <a:tc gridSpan="3"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latin typeface="Roboto"/>
                          <a:ea typeface="Roboto"/>
                          <a:cs typeface="Roboto"/>
                          <a:sym typeface="Roboto"/>
                        </a:rPr>
                        <a:t>R1's Table</a:t>
                      </a:r>
                      <a:endParaRPr sz="12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>
                    <a:solidFill>
                      <a:srgbClr val="FFFFFF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21925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latin typeface="Roboto"/>
                          <a:ea typeface="Roboto"/>
                          <a:cs typeface="Roboto"/>
                          <a:sym typeface="Roboto"/>
                        </a:rPr>
                        <a:t>To:</a:t>
                      </a:r>
                      <a:endParaRPr sz="12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latin typeface="Roboto"/>
                          <a:ea typeface="Roboto"/>
                          <a:cs typeface="Roboto"/>
                          <a:sym typeface="Roboto"/>
                        </a:rPr>
                        <a:t>Via:</a:t>
                      </a:r>
                      <a:endParaRPr sz="12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latin typeface="Roboto"/>
                          <a:ea typeface="Roboto"/>
                          <a:cs typeface="Roboto"/>
                          <a:sym typeface="Roboto"/>
                        </a:rPr>
                        <a:t>Cost:</a:t>
                      </a:r>
                      <a:endParaRPr sz="12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21925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latin typeface="Roboto"/>
                          <a:ea typeface="Roboto"/>
                          <a:cs typeface="Roboto"/>
                          <a:sym typeface="Roboto"/>
                        </a:rPr>
                        <a:t>A</a:t>
                      </a:r>
                      <a:endParaRPr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latin typeface="Roboto"/>
                          <a:ea typeface="Roboto"/>
                          <a:cs typeface="Roboto"/>
                          <a:sym typeface="Roboto"/>
                        </a:rPr>
                        <a:t>R3</a:t>
                      </a:r>
                      <a:endParaRPr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latin typeface="Roboto"/>
                          <a:ea typeface="Roboto"/>
                          <a:cs typeface="Roboto"/>
                          <a:sym typeface="Roboto"/>
                        </a:rPr>
                        <a:t>11</a:t>
                      </a:r>
                      <a:endParaRPr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</a:tbl>
          </a:graphicData>
        </a:graphic>
      </p:graphicFrame>
      <p:graphicFrame>
        <p:nvGraphicFramePr>
          <p:cNvPr id="2010" name="Google Shape;2010;p125"/>
          <p:cNvGraphicFramePr/>
          <p:nvPr/>
        </p:nvGraphicFramePr>
        <p:xfrm>
          <a:off x="6318169" y="4054900"/>
          <a:ext cx="1835500" cy="688770"/>
        </p:xfrm>
        <a:graphic>
          <a:graphicData uri="http://schemas.openxmlformats.org/drawingml/2006/table">
            <a:tbl>
              <a:tblPr>
                <a:noFill/>
              </a:tblPr>
              <a:tblGrid>
                <a:gridCol w="5448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9707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79362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121925">
                <a:tc gridSpan="3"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latin typeface="Roboto"/>
                          <a:ea typeface="Roboto"/>
                          <a:cs typeface="Roboto"/>
                          <a:sym typeface="Roboto"/>
                        </a:rPr>
                        <a:t>R2's Table</a:t>
                      </a:r>
                      <a:endParaRPr sz="12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>
                    <a:solidFill>
                      <a:srgbClr val="FFFFFF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21925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latin typeface="Roboto"/>
                          <a:ea typeface="Roboto"/>
                          <a:cs typeface="Roboto"/>
                          <a:sym typeface="Roboto"/>
                        </a:rPr>
                        <a:t>To:</a:t>
                      </a:r>
                      <a:endParaRPr sz="12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latin typeface="Roboto"/>
                          <a:ea typeface="Roboto"/>
                          <a:cs typeface="Roboto"/>
                          <a:sym typeface="Roboto"/>
                        </a:rPr>
                        <a:t>Via:</a:t>
                      </a:r>
                      <a:endParaRPr sz="12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latin typeface="Roboto"/>
                          <a:ea typeface="Roboto"/>
                          <a:cs typeface="Roboto"/>
                          <a:sym typeface="Roboto"/>
                        </a:rPr>
                        <a:t>Cost:</a:t>
                      </a:r>
                      <a:endParaRPr sz="12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21925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latin typeface="Roboto"/>
                          <a:ea typeface="Roboto"/>
                          <a:cs typeface="Roboto"/>
                          <a:sym typeface="Roboto"/>
                        </a:rPr>
                        <a:t>A</a:t>
                      </a:r>
                      <a:endParaRPr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latin typeface="Roboto"/>
                          <a:ea typeface="Roboto"/>
                          <a:cs typeface="Roboto"/>
                          <a:sym typeface="Roboto"/>
                        </a:rPr>
                        <a:t>R1</a:t>
                      </a:r>
                      <a:endParaRPr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solidFill>
                            <a:schemeClr val="dk1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12</a:t>
                      </a:r>
                      <a:endParaRPr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</a:tbl>
          </a:graphicData>
        </a:graphic>
      </p:graphicFrame>
      <p:sp>
        <p:nvSpPr>
          <p:cNvPr id="2011" name="Google Shape;2011;p125"/>
          <p:cNvSpPr/>
          <p:nvPr/>
        </p:nvSpPr>
        <p:spPr>
          <a:xfrm>
            <a:off x="3057875" y="4210250"/>
            <a:ext cx="1431300" cy="437100"/>
          </a:xfrm>
          <a:prstGeom prst="roundRect">
            <a:avLst>
              <a:gd name="adj" fmla="val 16667"/>
            </a:avLst>
          </a:prstGeom>
          <a:solidFill>
            <a:srgbClr val="F4CCCC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27425" tIns="27425" rIns="27425" bIns="27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>
                <a:latin typeface="Roboto"/>
                <a:ea typeface="Roboto"/>
                <a:cs typeface="Roboto"/>
                <a:sym typeface="Roboto"/>
              </a:rPr>
              <a:t>I'm </a:t>
            </a:r>
            <a:r>
              <a:rPr lang="en" sz="1200" b="1">
                <a:latin typeface="Roboto"/>
                <a:ea typeface="Roboto"/>
                <a:cs typeface="Roboto"/>
                <a:sym typeface="Roboto"/>
              </a:rPr>
              <a:t>R2</a:t>
            </a:r>
            <a:r>
              <a:rPr lang="en" sz="1200">
                <a:latin typeface="Roboto"/>
                <a:ea typeface="Roboto"/>
                <a:cs typeface="Roboto"/>
                <a:sym typeface="Roboto"/>
              </a:rPr>
              <a:t>, and </a:t>
            </a:r>
            <a:r>
              <a:rPr lang="en" sz="1200" b="1">
                <a:latin typeface="Roboto"/>
                <a:ea typeface="Roboto"/>
                <a:cs typeface="Roboto"/>
                <a:sym typeface="Roboto"/>
              </a:rPr>
              <a:t>A</a:t>
            </a:r>
            <a:r>
              <a:rPr lang="en" sz="1200">
                <a:latin typeface="Roboto"/>
                <a:ea typeface="Roboto"/>
                <a:cs typeface="Roboto"/>
                <a:sym typeface="Roboto"/>
              </a:rPr>
              <a:t> is</a:t>
            </a:r>
            <a:br>
              <a:rPr lang="en" sz="1200">
                <a:latin typeface="Roboto"/>
                <a:ea typeface="Roboto"/>
                <a:cs typeface="Roboto"/>
                <a:sym typeface="Roboto"/>
              </a:rPr>
            </a:br>
            <a:r>
              <a:rPr lang="en" sz="1200" b="1">
                <a:latin typeface="Roboto"/>
                <a:ea typeface="Roboto"/>
                <a:cs typeface="Roboto"/>
                <a:sym typeface="Roboto"/>
              </a:rPr>
              <a:t>12</a:t>
            </a:r>
            <a:r>
              <a:rPr lang="en" sz="1200">
                <a:latin typeface="Roboto"/>
                <a:ea typeface="Roboto"/>
                <a:cs typeface="Roboto"/>
                <a:sym typeface="Roboto"/>
              </a:rPr>
              <a:t> away from me.</a:t>
            </a:r>
            <a:endParaRPr sz="1200"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2012" name="Google Shape;2012;p125"/>
          <p:cNvCxnSpPr/>
          <p:nvPr/>
        </p:nvCxnSpPr>
        <p:spPr>
          <a:xfrm>
            <a:off x="4115675" y="3883550"/>
            <a:ext cx="953100" cy="550200"/>
          </a:xfrm>
          <a:prstGeom prst="straightConnector1">
            <a:avLst/>
          </a:prstGeom>
          <a:noFill/>
          <a:ln w="19050" cap="flat" cmpd="sng">
            <a:solidFill>
              <a:schemeClr val="accent2"/>
            </a:solidFill>
            <a:prstDash val="solid"/>
            <a:round/>
            <a:headEnd type="triangle" w="med" len="med"/>
            <a:tailEnd type="none" w="med" len="med"/>
          </a:ln>
        </p:spPr>
      </p:cxnSp>
      <p:graphicFrame>
        <p:nvGraphicFramePr>
          <p:cNvPr id="2013" name="Google Shape;2013;p125"/>
          <p:cNvGraphicFramePr/>
          <p:nvPr/>
        </p:nvGraphicFramePr>
        <p:xfrm>
          <a:off x="990319" y="3292900"/>
          <a:ext cx="1835500" cy="688770"/>
        </p:xfrm>
        <a:graphic>
          <a:graphicData uri="http://schemas.openxmlformats.org/drawingml/2006/table">
            <a:tbl>
              <a:tblPr>
                <a:noFill/>
              </a:tblPr>
              <a:tblGrid>
                <a:gridCol w="5448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9707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79362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121925">
                <a:tc gridSpan="3"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latin typeface="Roboto"/>
                          <a:ea typeface="Roboto"/>
                          <a:cs typeface="Roboto"/>
                          <a:sym typeface="Roboto"/>
                        </a:rPr>
                        <a:t>R3's Table</a:t>
                      </a:r>
                      <a:endParaRPr sz="12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>
                    <a:solidFill>
                      <a:srgbClr val="FFFFFF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21925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latin typeface="Roboto"/>
                          <a:ea typeface="Roboto"/>
                          <a:cs typeface="Roboto"/>
                          <a:sym typeface="Roboto"/>
                        </a:rPr>
                        <a:t>To:</a:t>
                      </a:r>
                      <a:endParaRPr sz="12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latin typeface="Roboto"/>
                          <a:ea typeface="Roboto"/>
                          <a:cs typeface="Roboto"/>
                          <a:sym typeface="Roboto"/>
                        </a:rPr>
                        <a:t>Via:</a:t>
                      </a:r>
                      <a:endParaRPr sz="12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latin typeface="Roboto"/>
                          <a:ea typeface="Roboto"/>
                          <a:cs typeface="Roboto"/>
                          <a:sym typeface="Roboto"/>
                        </a:rPr>
                        <a:t>Cost:</a:t>
                      </a:r>
                      <a:endParaRPr sz="12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21925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b="1">
                          <a:latin typeface="Roboto"/>
                          <a:ea typeface="Roboto"/>
                          <a:cs typeface="Roboto"/>
                          <a:sym typeface="Roboto"/>
                        </a:rPr>
                        <a:t>A</a:t>
                      </a:r>
                      <a:endParaRPr b="1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>
                    <a:solidFill>
                      <a:srgbClr val="F4CCCC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b="1">
                          <a:latin typeface="Roboto"/>
                          <a:ea typeface="Roboto"/>
                          <a:cs typeface="Roboto"/>
                          <a:sym typeface="Roboto"/>
                        </a:rPr>
                        <a:t>R2</a:t>
                      </a:r>
                      <a:endParaRPr b="1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>
                    <a:solidFill>
                      <a:srgbClr val="F4CCCC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b="1">
                          <a:latin typeface="Roboto"/>
                          <a:ea typeface="Roboto"/>
                          <a:cs typeface="Roboto"/>
                          <a:sym typeface="Roboto"/>
                        </a:rPr>
                        <a:t>13</a:t>
                      </a:r>
                      <a:endParaRPr b="1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>
                    <a:solidFill>
                      <a:srgbClr val="F4CCC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</a:tbl>
          </a:graphicData>
        </a:graphic>
      </p:graphicFrame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0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2018" name="Google Shape;2018;p126"/>
          <p:cNvCxnSpPr>
            <a:stCxn id="2019" idx="1"/>
            <a:endCxn id="2020" idx="6"/>
          </p:cNvCxnSpPr>
          <p:nvPr/>
        </p:nvCxnSpPr>
        <p:spPr>
          <a:xfrm rot="10800000">
            <a:off x="3336375" y="3637275"/>
            <a:ext cx="400800" cy="0"/>
          </a:xfrm>
          <a:prstGeom prst="straightConnector1">
            <a:avLst/>
          </a:prstGeom>
          <a:noFill/>
          <a:ln w="19050" cap="flat" cmpd="sng">
            <a:solidFill>
              <a:srgbClr val="D9D9D9"/>
            </a:solidFill>
            <a:prstDash val="dash"/>
            <a:round/>
            <a:headEnd type="none" w="med" len="med"/>
            <a:tailEnd type="none" w="med" len="med"/>
          </a:ln>
        </p:spPr>
      </p:cxnSp>
      <p:sp>
        <p:nvSpPr>
          <p:cNvPr id="2021" name="Google Shape;2021;p126"/>
          <p:cNvSpPr txBox="1">
            <a:spLocks noGrp="1"/>
          </p:cNvSpPr>
          <p:nvPr>
            <p:ph type="title"/>
          </p:nvPr>
        </p:nvSpPr>
        <p:spPr>
          <a:xfrm>
            <a:off x="0" y="0"/>
            <a:ext cx="9144000" cy="39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accent3"/>
                </a:solidFill>
              </a:rPr>
              <a:t>Count to Infinity – Solution</a:t>
            </a:r>
            <a:endParaRPr/>
          </a:p>
        </p:txBody>
      </p:sp>
      <p:sp>
        <p:nvSpPr>
          <p:cNvPr id="2022" name="Google Shape;2022;p126"/>
          <p:cNvSpPr txBox="1">
            <a:spLocks noGrp="1"/>
          </p:cNvSpPr>
          <p:nvPr>
            <p:ph type="body" idx="1"/>
          </p:nvPr>
        </p:nvSpPr>
        <p:spPr>
          <a:xfrm>
            <a:off x="107050" y="402200"/>
            <a:ext cx="8909700" cy="1079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All numbers ≥ 16 are considered infinity.</a:t>
            </a:r>
            <a:endParaRPr/>
          </a:p>
        </p:txBody>
      </p:sp>
      <p:sp>
        <p:nvSpPr>
          <p:cNvPr id="2020" name="Google Shape;2020;p126"/>
          <p:cNvSpPr/>
          <p:nvPr/>
        </p:nvSpPr>
        <p:spPr>
          <a:xfrm>
            <a:off x="3051363" y="3494775"/>
            <a:ext cx="285000" cy="285000"/>
          </a:xfrm>
          <a:prstGeom prst="ellipse">
            <a:avLst/>
          </a:prstGeom>
          <a:solidFill>
            <a:srgbClr val="FFFFFF"/>
          </a:solidFill>
          <a:ln w="19050" cap="flat" cmpd="sng">
            <a:solidFill>
              <a:srgbClr val="D9D9D9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D9D9D9"/>
                </a:solidFill>
                <a:latin typeface="Roboto"/>
                <a:ea typeface="Roboto"/>
                <a:cs typeface="Roboto"/>
                <a:sym typeface="Roboto"/>
              </a:rPr>
              <a:t>A</a:t>
            </a:r>
            <a:endParaRPr>
              <a:solidFill>
                <a:srgbClr val="D9D9D9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2023" name="Google Shape;2023;p126"/>
          <p:cNvSpPr/>
          <p:nvPr/>
        </p:nvSpPr>
        <p:spPr>
          <a:xfrm>
            <a:off x="5261175" y="2780457"/>
            <a:ext cx="285000" cy="285000"/>
          </a:xfrm>
          <a:prstGeom prst="rect">
            <a:avLst/>
          </a:prstGeom>
          <a:solidFill>
            <a:srgbClr val="FFFFFF"/>
          </a:solidFill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R1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2024" name="Google Shape;2024;p126"/>
          <p:cNvCxnSpPr>
            <a:stCxn id="2023" idx="2"/>
            <a:endCxn id="2025" idx="0"/>
          </p:cNvCxnSpPr>
          <p:nvPr/>
        </p:nvCxnSpPr>
        <p:spPr>
          <a:xfrm>
            <a:off x="5403675" y="3065457"/>
            <a:ext cx="0" cy="1144800"/>
          </a:xfrm>
          <a:prstGeom prst="straightConnector1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2025" name="Google Shape;2025;p126"/>
          <p:cNvSpPr/>
          <p:nvPr/>
        </p:nvSpPr>
        <p:spPr>
          <a:xfrm>
            <a:off x="5261175" y="4210229"/>
            <a:ext cx="285000" cy="285000"/>
          </a:xfrm>
          <a:prstGeom prst="rect">
            <a:avLst/>
          </a:prstGeom>
          <a:solidFill>
            <a:srgbClr val="FFFFFF"/>
          </a:solidFill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R2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2019" name="Google Shape;2019;p126"/>
          <p:cNvSpPr/>
          <p:nvPr/>
        </p:nvSpPr>
        <p:spPr>
          <a:xfrm>
            <a:off x="3737175" y="3494775"/>
            <a:ext cx="285000" cy="285000"/>
          </a:xfrm>
          <a:prstGeom prst="rect">
            <a:avLst/>
          </a:prstGeom>
          <a:solidFill>
            <a:srgbClr val="FFFFFF"/>
          </a:solidFill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R3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2026" name="Google Shape;2026;p126"/>
          <p:cNvCxnSpPr>
            <a:stCxn id="2023" idx="1"/>
            <a:endCxn id="2019" idx="3"/>
          </p:cNvCxnSpPr>
          <p:nvPr/>
        </p:nvCxnSpPr>
        <p:spPr>
          <a:xfrm flipH="1">
            <a:off x="4022175" y="2922957"/>
            <a:ext cx="1239000" cy="714300"/>
          </a:xfrm>
          <a:prstGeom prst="straightConnector1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2027" name="Google Shape;2027;p126"/>
          <p:cNvCxnSpPr>
            <a:stCxn id="2025" idx="1"/>
            <a:endCxn id="2019" idx="3"/>
          </p:cNvCxnSpPr>
          <p:nvPr/>
        </p:nvCxnSpPr>
        <p:spPr>
          <a:xfrm rot="10800000">
            <a:off x="4022175" y="3637229"/>
            <a:ext cx="1239000" cy="715500"/>
          </a:xfrm>
          <a:prstGeom prst="straightConnector1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med" len="med"/>
            <a:tailEnd type="none" w="med" len="med"/>
          </a:ln>
        </p:spPr>
      </p:cxnSp>
      <p:graphicFrame>
        <p:nvGraphicFramePr>
          <p:cNvPr id="2028" name="Google Shape;2028;p126"/>
          <p:cNvGraphicFramePr/>
          <p:nvPr/>
        </p:nvGraphicFramePr>
        <p:xfrm>
          <a:off x="990319" y="3292900"/>
          <a:ext cx="1835500" cy="688770"/>
        </p:xfrm>
        <a:graphic>
          <a:graphicData uri="http://schemas.openxmlformats.org/drawingml/2006/table">
            <a:tbl>
              <a:tblPr>
                <a:noFill/>
              </a:tblPr>
              <a:tblGrid>
                <a:gridCol w="5448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9707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79362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121925">
                <a:tc gridSpan="3"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latin typeface="Roboto"/>
                          <a:ea typeface="Roboto"/>
                          <a:cs typeface="Roboto"/>
                          <a:sym typeface="Roboto"/>
                        </a:rPr>
                        <a:t>R3's Table</a:t>
                      </a:r>
                      <a:endParaRPr sz="12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>
                    <a:solidFill>
                      <a:srgbClr val="FFFFFF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21925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latin typeface="Roboto"/>
                          <a:ea typeface="Roboto"/>
                          <a:cs typeface="Roboto"/>
                          <a:sym typeface="Roboto"/>
                        </a:rPr>
                        <a:t>To:</a:t>
                      </a:r>
                      <a:endParaRPr sz="12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latin typeface="Roboto"/>
                          <a:ea typeface="Roboto"/>
                          <a:cs typeface="Roboto"/>
                          <a:sym typeface="Roboto"/>
                        </a:rPr>
                        <a:t>Via:</a:t>
                      </a:r>
                      <a:endParaRPr sz="12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latin typeface="Roboto"/>
                          <a:ea typeface="Roboto"/>
                          <a:cs typeface="Roboto"/>
                          <a:sym typeface="Roboto"/>
                        </a:rPr>
                        <a:t>Cost:</a:t>
                      </a:r>
                      <a:endParaRPr sz="12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21925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latin typeface="Roboto"/>
                          <a:ea typeface="Roboto"/>
                          <a:cs typeface="Roboto"/>
                          <a:sym typeface="Roboto"/>
                        </a:rPr>
                        <a:t>A</a:t>
                      </a:r>
                      <a:endParaRPr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latin typeface="Roboto"/>
                          <a:ea typeface="Roboto"/>
                          <a:cs typeface="Roboto"/>
                          <a:sym typeface="Roboto"/>
                        </a:rPr>
                        <a:t>R2</a:t>
                      </a:r>
                      <a:endParaRPr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latin typeface="Roboto"/>
                          <a:ea typeface="Roboto"/>
                          <a:cs typeface="Roboto"/>
                          <a:sym typeface="Roboto"/>
                        </a:rPr>
                        <a:t>13</a:t>
                      </a:r>
                      <a:endParaRPr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</a:tbl>
          </a:graphicData>
        </a:graphic>
      </p:graphicFrame>
      <p:graphicFrame>
        <p:nvGraphicFramePr>
          <p:cNvPr id="2029" name="Google Shape;2029;p126"/>
          <p:cNvGraphicFramePr/>
          <p:nvPr/>
        </p:nvGraphicFramePr>
        <p:xfrm>
          <a:off x="6318169" y="2544150"/>
          <a:ext cx="1835500" cy="688770"/>
        </p:xfrm>
        <a:graphic>
          <a:graphicData uri="http://schemas.openxmlformats.org/drawingml/2006/table">
            <a:tbl>
              <a:tblPr>
                <a:noFill/>
              </a:tblPr>
              <a:tblGrid>
                <a:gridCol w="5448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9707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79362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121925">
                <a:tc gridSpan="3"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latin typeface="Roboto"/>
                          <a:ea typeface="Roboto"/>
                          <a:cs typeface="Roboto"/>
                          <a:sym typeface="Roboto"/>
                        </a:rPr>
                        <a:t>R1's Table</a:t>
                      </a:r>
                      <a:endParaRPr sz="12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>
                    <a:solidFill>
                      <a:srgbClr val="FFFFFF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21925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latin typeface="Roboto"/>
                          <a:ea typeface="Roboto"/>
                          <a:cs typeface="Roboto"/>
                          <a:sym typeface="Roboto"/>
                        </a:rPr>
                        <a:t>To:</a:t>
                      </a:r>
                      <a:endParaRPr sz="12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latin typeface="Roboto"/>
                          <a:ea typeface="Roboto"/>
                          <a:cs typeface="Roboto"/>
                          <a:sym typeface="Roboto"/>
                        </a:rPr>
                        <a:t>Via:</a:t>
                      </a:r>
                      <a:endParaRPr sz="12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latin typeface="Roboto"/>
                          <a:ea typeface="Roboto"/>
                          <a:cs typeface="Roboto"/>
                          <a:sym typeface="Roboto"/>
                        </a:rPr>
                        <a:t>Cost:</a:t>
                      </a:r>
                      <a:endParaRPr sz="12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21925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latin typeface="Roboto"/>
                          <a:ea typeface="Roboto"/>
                          <a:cs typeface="Roboto"/>
                          <a:sym typeface="Roboto"/>
                        </a:rPr>
                        <a:t>A</a:t>
                      </a:r>
                      <a:endParaRPr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latin typeface="Roboto"/>
                          <a:ea typeface="Roboto"/>
                          <a:cs typeface="Roboto"/>
                          <a:sym typeface="Roboto"/>
                        </a:rPr>
                        <a:t>R3</a:t>
                      </a:r>
                      <a:endParaRPr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latin typeface="Roboto"/>
                          <a:ea typeface="Roboto"/>
                          <a:cs typeface="Roboto"/>
                          <a:sym typeface="Roboto"/>
                        </a:rPr>
                        <a:t>11</a:t>
                      </a:r>
                      <a:endParaRPr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</a:tbl>
          </a:graphicData>
        </a:graphic>
      </p:graphicFrame>
      <p:graphicFrame>
        <p:nvGraphicFramePr>
          <p:cNvPr id="2030" name="Google Shape;2030;p126"/>
          <p:cNvGraphicFramePr/>
          <p:nvPr/>
        </p:nvGraphicFramePr>
        <p:xfrm>
          <a:off x="6318169" y="4054900"/>
          <a:ext cx="1835500" cy="688770"/>
        </p:xfrm>
        <a:graphic>
          <a:graphicData uri="http://schemas.openxmlformats.org/drawingml/2006/table">
            <a:tbl>
              <a:tblPr>
                <a:noFill/>
              </a:tblPr>
              <a:tblGrid>
                <a:gridCol w="5448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9707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79362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121925">
                <a:tc gridSpan="3"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latin typeface="Roboto"/>
                          <a:ea typeface="Roboto"/>
                          <a:cs typeface="Roboto"/>
                          <a:sym typeface="Roboto"/>
                        </a:rPr>
                        <a:t>R2's Table</a:t>
                      </a:r>
                      <a:endParaRPr sz="12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>
                    <a:solidFill>
                      <a:srgbClr val="FFFFFF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21925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latin typeface="Roboto"/>
                          <a:ea typeface="Roboto"/>
                          <a:cs typeface="Roboto"/>
                          <a:sym typeface="Roboto"/>
                        </a:rPr>
                        <a:t>To:</a:t>
                      </a:r>
                      <a:endParaRPr sz="12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latin typeface="Roboto"/>
                          <a:ea typeface="Roboto"/>
                          <a:cs typeface="Roboto"/>
                          <a:sym typeface="Roboto"/>
                        </a:rPr>
                        <a:t>Via:</a:t>
                      </a:r>
                      <a:endParaRPr sz="12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latin typeface="Roboto"/>
                          <a:ea typeface="Roboto"/>
                          <a:cs typeface="Roboto"/>
                          <a:sym typeface="Roboto"/>
                        </a:rPr>
                        <a:t>Cost:</a:t>
                      </a:r>
                      <a:endParaRPr sz="12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21925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latin typeface="Roboto"/>
                          <a:ea typeface="Roboto"/>
                          <a:cs typeface="Roboto"/>
                          <a:sym typeface="Roboto"/>
                        </a:rPr>
                        <a:t>A</a:t>
                      </a:r>
                      <a:endParaRPr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latin typeface="Roboto"/>
                          <a:ea typeface="Roboto"/>
                          <a:cs typeface="Roboto"/>
                          <a:sym typeface="Roboto"/>
                        </a:rPr>
                        <a:t>R1</a:t>
                      </a:r>
                      <a:endParaRPr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solidFill>
                            <a:schemeClr val="dk1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12</a:t>
                      </a:r>
                      <a:endParaRPr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</a:tbl>
          </a:graphicData>
        </a:graphic>
      </p:graphicFrame>
      <p:sp>
        <p:nvSpPr>
          <p:cNvPr id="2031" name="Google Shape;2031;p126"/>
          <p:cNvSpPr/>
          <p:nvPr/>
        </p:nvSpPr>
        <p:spPr>
          <a:xfrm>
            <a:off x="3057875" y="2610050"/>
            <a:ext cx="1431300" cy="437100"/>
          </a:xfrm>
          <a:prstGeom prst="roundRect">
            <a:avLst>
              <a:gd name="adj" fmla="val 16667"/>
            </a:avLst>
          </a:prstGeom>
          <a:solidFill>
            <a:srgbClr val="F4CCCC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27425" tIns="27425" rIns="27425" bIns="27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>
                <a:latin typeface="Roboto"/>
                <a:ea typeface="Roboto"/>
                <a:cs typeface="Roboto"/>
                <a:sym typeface="Roboto"/>
              </a:rPr>
              <a:t>I'm </a:t>
            </a:r>
            <a:r>
              <a:rPr lang="en" sz="1200" b="1">
                <a:latin typeface="Roboto"/>
                <a:ea typeface="Roboto"/>
                <a:cs typeface="Roboto"/>
                <a:sym typeface="Roboto"/>
              </a:rPr>
              <a:t>R3</a:t>
            </a:r>
            <a:r>
              <a:rPr lang="en" sz="1200">
                <a:latin typeface="Roboto"/>
                <a:ea typeface="Roboto"/>
                <a:cs typeface="Roboto"/>
                <a:sym typeface="Roboto"/>
              </a:rPr>
              <a:t>, and </a:t>
            </a:r>
            <a:r>
              <a:rPr lang="en" sz="1200" b="1">
                <a:latin typeface="Roboto"/>
                <a:ea typeface="Roboto"/>
                <a:cs typeface="Roboto"/>
                <a:sym typeface="Roboto"/>
              </a:rPr>
              <a:t>A</a:t>
            </a:r>
            <a:r>
              <a:rPr lang="en" sz="1200">
                <a:latin typeface="Roboto"/>
                <a:ea typeface="Roboto"/>
                <a:cs typeface="Roboto"/>
                <a:sym typeface="Roboto"/>
              </a:rPr>
              <a:t> is</a:t>
            </a:r>
            <a:br>
              <a:rPr lang="en" sz="1200">
                <a:latin typeface="Roboto"/>
                <a:ea typeface="Roboto"/>
                <a:cs typeface="Roboto"/>
                <a:sym typeface="Roboto"/>
              </a:rPr>
            </a:br>
            <a:r>
              <a:rPr lang="en" sz="1200" b="1">
                <a:latin typeface="Roboto"/>
                <a:ea typeface="Roboto"/>
                <a:cs typeface="Roboto"/>
                <a:sym typeface="Roboto"/>
              </a:rPr>
              <a:t>13</a:t>
            </a:r>
            <a:r>
              <a:rPr lang="en" sz="1200">
                <a:latin typeface="Roboto"/>
                <a:ea typeface="Roboto"/>
                <a:cs typeface="Roboto"/>
                <a:sym typeface="Roboto"/>
              </a:rPr>
              <a:t> away from me.</a:t>
            </a:r>
            <a:endParaRPr sz="1200"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2032" name="Google Shape;2032;p126"/>
          <p:cNvCxnSpPr/>
          <p:nvPr/>
        </p:nvCxnSpPr>
        <p:spPr>
          <a:xfrm rot="10800000" flipH="1">
            <a:off x="4115675" y="2831869"/>
            <a:ext cx="953100" cy="550200"/>
          </a:xfrm>
          <a:prstGeom prst="straightConnector1">
            <a:avLst/>
          </a:prstGeom>
          <a:noFill/>
          <a:ln w="19050" cap="flat" cmpd="sng">
            <a:solidFill>
              <a:schemeClr val="accent2"/>
            </a:solidFill>
            <a:prstDash val="solid"/>
            <a:round/>
            <a:headEnd type="none" w="med" len="med"/>
            <a:tailEnd type="triangle" w="med" len="med"/>
          </a:ln>
        </p:spPr>
      </p:cxnSp>
      <p:graphicFrame>
        <p:nvGraphicFramePr>
          <p:cNvPr id="2033" name="Google Shape;2033;p126"/>
          <p:cNvGraphicFramePr/>
          <p:nvPr/>
        </p:nvGraphicFramePr>
        <p:xfrm>
          <a:off x="6318169" y="2544150"/>
          <a:ext cx="1835500" cy="688770"/>
        </p:xfrm>
        <a:graphic>
          <a:graphicData uri="http://schemas.openxmlformats.org/drawingml/2006/table">
            <a:tbl>
              <a:tblPr>
                <a:noFill/>
              </a:tblPr>
              <a:tblGrid>
                <a:gridCol w="5448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9707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79362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121925">
                <a:tc gridSpan="3"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latin typeface="Roboto"/>
                          <a:ea typeface="Roboto"/>
                          <a:cs typeface="Roboto"/>
                          <a:sym typeface="Roboto"/>
                        </a:rPr>
                        <a:t>R1's Table</a:t>
                      </a:r>
                      <a:endParaRPr sz="12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>
                    <a:solidFill>
                      <a:srgbClr val="FFFFFF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21925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latin typeface="Roboto"/>
                          <a:ea typeface="Roboto"/>
                          <a:cs typeface="Roboto"/>
                          <a:sym typeface="Roboto"/>
                        </a:rPr>
                        <a:t>To:</a:t>
                      </a:r>
                      <a:endParaRPr sz="12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latin typeface="Roboto"/>
                          <a:ea typeface="Roboto"/>
                          <a:cs typeface="Roboto"/>
                          <a:sym typeface="Roboto"/>
                        </a:rPr>
                        <a:t>Via:</a:t>
                      </a:r>
                      <a:endParaRPr sz="12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latin typeface="Roboto"/>
                          <a:ea typeface="Roboto"/>
                          <a:cs typeface="Roboto"/>
                          <a:sym typeface="Roboto"/>
                        </a:rPr>
                        <a:t>Cost:</a:t>
                      </a:r>
                      <a:endParaRPr sz="12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21925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b="1">
                          <a:latin typeface="Roboto"/>
                          <a:ea typeface="Roboto"/>
                          <a:cs typeface="Roboto"/>
                          <a:sym typeface="Roboto"/>
                        </a:rPr>
                        <a:t>A</a:t>
                      </a:r>
                      <a:endParaRPr b="1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>
                    <a:solidFill>
                      <a:srgbClr val="F4CCCC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b="1">
                          <a:latin typeface="Roboto"/>
                          <a:ea typeface="Roboto"/>
                          <a:cs typeface="Roboto"/>
                          <a:sym typeface="Roboto"/>
                        </a:rPr>
                        <a:t>R3</a:t>
                      </a:r>
                      <a:endParaRPr b="1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>
                    <a:solidFill>
                      <a:srgbClr val="F4CCCC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b="1">
                          <a:latin typeface="Roboto"/>
                          <a:ea typeface="Roboto"/>
                          <a:cs typeface="Roboto"/>
                          <a:sym typeface="Roboto"/>
                        </a:rPr>
                        <a:t>14</a:t>
                      </a:r>
                      <a:endParaRPr b="1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>
                    <a:solidFill>
                      <a:srgbClr val="F4CCC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</a:tbl>
          </a:graphicData>
        </a:graphic>
      </p:graphicFrame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0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2038" name="Google Shape;2038;p127"/>
          <p:cNvCxnSpPr>
            <a:stCxn id="2039" idx="1"/>
            <a:endCxn id="2040" idx="6"/>
          </p:cNvCxnSpPr>
          <p:nvPr/>
        </p:nvCxnSpPr>
        <p:spPr>
          <a:xfrm rot="10800000">
            <a:off x="3336375" y="3637275"/>
            <a:ext cx="400800" cy="0"/>
          </a:xfrm>
          <a:prstGeom prst="straightConnector1">
            <a:avLst/>
          </a:prstGeom>
          <a:noFill/>
          <a:ln w="19050" cap="flat" cmpd="sng">
            <a:solidFill>
              <a:srgbClr val="D9D9D9"/>
            </a:solidFill>
            <a:prstDash val="dash"/>
            <a:round/>
            <a:headEnd type="none" w="med" len="med"/>
            <a:tailEnd type="none" w="med" len="med"/>
          </a:ln>
        </p:spPr>
      </p:cxnSp>
      <p:sp>
        <p:nvSpPr>
          <p:cNvPr id="2041" name="Google Shape;2041;p127"/>
          <p:cNvSpPr txBox="1">
            <a:spLocks noGrp="1"/>
          </p:cNvSpPr>
          <p:nvPr>
            <p:ph type="title"/>
          </p:nvPr>
        </p:nvSpPr>
        <p:spPr>
          <a:xfrm>
            <a:off x="0" y="0"/>
            <a:ext cx="9144000" cy="39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accent3"/>
                </a:solidFill>
              </a:rPr>
              <a:t>Count to Infinity – Solution</a:t>
            </a:r>
            <a:endParaRPr/>
          </a:p>
        </p:txBody>
      </p:sp>
      <p:sp>
        <p:nvSpPr>
          <p:cNvPr id="2042" name="Google Shape;2042;p127"/>
          <p:cNvSpPr txBox="1">
            <a:spLocks noGrp="1"/>
          </p:cNvSpPr>
          <p:nvPr>
            <p:ph type="body" idx="1"/>
          </p:nvPr>
        </p:nvSpPr>
        <p:spPr>
          <a:xfrm>
            <a:off x="107050" y="402200"/>
            <a:ext cx="8909700" cy="1079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"/>
              <a:t>All numbers ≥ 16 are considered infinity.</a:t>
            </a:r>
            <a:endParaRPr/>
          </a:p>
        </p:txBody>
      </p:sp>
      <p:sp>
        <p:nvSpPr>
          <p:cNvPr id="2040" name="Google Shape;2040;p127"/>
          <p:cNvSpPr/>
          <p:nvPr/>
        </p:nvSpPr>
        <p:spPr>
          <a:xfrm>
            <a:off x="3051363" y="3494775"/>
            <a:ext cx="285000" cy="285000"/>
          </a:xfrm>
          <a:prstGeom prst="ellipse">
            <a:avLst/>
          </a:prstGeom>
          <a:solidFill>
            <a:srgbClr val="FFFFFF"/>
          </a:solidFill>
          <a:ln w="19050" cap="flat" cmpd="sng">
            <a:solidFill>
              <a:srgbClr val="D9D9D9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D9D9D9"/>
                </a:solidFill>
                <a:latin typeface="Roboto"/>
                <a:ea typeface="Roboto"/>
                <a:cs typeface="Roboto"/>
                <a:sym typeface="Roboto"/>
              </a:rPr>
              <a:t>A</a:t>
            </a:r>
            <a:endParaRPr>
              <a:solidFill>
                <a:srgbClr val="D9D9D9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2043" name="Google Shape;2043;p127"/>
          <p:cNvSpPr/>
          <p:nvPr/>
        </p:nvSpPr>
        <p:spPr>
          <a:xfrm>
            <a:off x="5261175" y="2780457"/>
            <a:ext cx="285000" cy="285000"/>
          </a:xfrm>
          <a:prstGeom prst="rect">
            <a:avLst/>
          </a:prstGeom>
          <a:solidFill>
            <a:srgbClr val="FFFFFF"/>
          </a:solidFill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R1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2044" name="Google Shape;2044;p127"/>
          <p:cNvCxnSpPr>
            <a:stCxn id="2043" idx="2"/>
            <a:endCxn id="2045" idx="0"/>
          </p:cNvCxnSpPr>
          <p:nvPr/>
        </p:nvCxnSpPr>
        <p:spPr>
          <a:xfrm>
            <a:off x="5403675" y="3065457"/>
            <a:ext cx="0" cy="1144800"/>
          </a:xfrm>
          <a:prstGeom prst="straightConnector1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2045" name="Google Shape;2045;p127"/>
          <p:cNvSpPr/>
          <p:nvPr/>
        </p:nvSpPr>
        <p:spPr>
          <a:xfrm>
            <a:off x="5261175" y="4210229"/>
            <a:ext cx="285000" cy="285000"/>
          </a:xfrm>
          <a:prstGeom prst="rect">
            <a:avLst/>
          </a:prstGeom>
          <a:solidFill>
            <a:srgbClr val="FFFFFF"/>
          </a:solidFill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R2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2039" name="Google Shape;2039;p127"/>
          <p:cNvSpPr/>
          <p:nvPr/>
        </p:nvSpPr>
        <p:spPr>
          <a:xfrm>
            <a:off x="3737175" y="3494775"/>
            <a:ext cx="285000" cy="285000"/>
          </a:xfrm>
          <a:prstGeom prst="rect">
            <a:avLst/>
          </a:prstGeom>
          <a:solidFill>
            <a:srgbClr val="FFFFFF"/>
          </a:solidFill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R3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2046" name="Google Shape;2046;p127"/>
          <p:cNvCxnSpPr>
            <a:stCxn id="2043" idx="1"/>
            <a:endCxn id="2039" idx="3"/>
          </p:cNvCxnSpPr>
          <p:nvPr/>
        </p:nvCxnSpPr>
        <p:spPr>
          <a:xfrm flipH="1">
            <a:off x="4022175" y="2922957"/>
            <a:ext cx="1239000" cy="714300"/>
          </a:xfrm>
          <a:prstGeom prst="straightConnector1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2047" name="Google Shape;2047;p127"/>
          <p:cNvCxnSpPr>
            <a:stCxn id="2045" idx="1"/>
            <a:endCxn id="2039" idx="3"/>
          </p:cNvCxnSpPr>
          <p:nvPr/>
        </p:nvCxnSpPr>
        <p:spPr>
          <a:xfrm rot="10800000">
            <a:off x="4022175" y="3637229"/>
            <a:ext cx="1239000" cy="715500"/>
          </a:xfrm>
          <a:prstGeom prst="straightConnector1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med" len="med"/>
            <a:tailEnd type="none" w="med" len="med"/>
          </a:ln>
        </p:spPr>
      </p:cxnSp>
      <p:graphicFrame>
        <p:nvGraphicFramePr>
          <p:cNvPr id="2048" name="Google Shape;2048;p127"/>
          <p:cNvGraphicFramePr/>
          <p:nvPr/>
        </p:nvGraphicFramePr>
        <p:xfrm>
          <a:off x="990319" y="3292900"/>
          <a:ext cx="1835500" cy="688770"/>
        </p:xfrm>
        <a:graphic>
          <a:graphicData uri="http://schemas.openxmlformats.org/drawingml/2006/table">
            <a:tbl>
              <a:tblPr>
                <a:noFill/>
              </a:tblPr>
              <a:tblGrid>
                <a:gridCol w="5448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9707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79362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121925">
                <a:tc gridSpan="3"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latin typeface="Roboto"/>
                          <a:ea typeface="Roboto"/>
                          <a:cs typeface="Roboto"/>
                          <a:sym typeface="Roboto"/>
                        </a:rPr>
                        <a:t>R3's Table</a:t>
                      </a:r>
                      <a:endParaRPr sz="12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>
                    <a:solidFill>
                      <a:srgbClr val="FFFFFF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21925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latin typeface="Roboto"/>
                          <a:ea typeface="Roboto"/>
                          <a:cs typeface="Roboto"/>
                          <a:sym typeface="Roboto"/>
                        </a:rPr>
                        <a:t>To:</a:t>
                      </a:r>
                      <a:endParaRPr sz="12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latin typeface="Roboto"/>
                          <a:ea typeface="Roboto"/>
                          <a:cs typeface="Roboto"/>
                          <a:sym typeface="Roboto"/>
                        </a:rPr>
                        <a:t>Via:</a:t>
                      </a:r>
                      <a:endParaRPr sz="12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latin typeface="Roboto"/>
                          <a:ea typeface="Roboto"/>
                          <a:cs typeface="Roboto"/>
                          <a:sym typeface="Roboto"/>
                        </a:rPr>
                        <a:t>Cost:</a:t>
                      </a:r>
                      <a:endParaRPr sz="12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21925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latin typeface="Roboto"/>
                          <a:ea typeface="Roboto"/>
                          <a:cs typeface="Roboto"/>
                          <a:sym typeface="Roboto"/>
                        </a:rPr>
                        <a:t>A</a:t>
                      </a:r>
                      <a:endParaRPr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latin typeface="Roboto"/>
                          <a:ea typeface="Roboto"/>
                          <a:cs typeface="Roboto"/>
                          <a:sym typeface="Roboto"/>
                        </a:rPr>
                        <a:t>R2</a:t>
                      </a:r>
                      <a:endParaRPr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latin typeface="Roboto"/>
                          <a:ea typeface="Roboto"/>
                          <a:cs typeface="Roboto"/>
                          <a:sym typeface="Roboto"/>
                        </a:rPr>
                        <a:t>13</a:t>
                      </a:r>
                      <a:endParaRPr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</a:tbl>
          </a:graphicData>
        </a:graphic>
      </p:graphicFrame>
      <p:graphicFrame>
        <p:nvGraphicFramePr>
          <p:cNvPr id="2049" name="Google Shape;2049;p127"/>
          <p:cNvGraphicFramePr/>
          <p:nvPr/>
        </p:nvGraphicFramePr>
        <p:xfrm>
          <a:off x="6318169" y="2544150"/>
          <a:ext cx="1835500" cy="688770"/>
        </p:xfrm>
        <a:graphic>
          <a:graphicData uri="http://schemas.openxmlformats.org/drawingml/2006/table">
            <a:tbl>
              <a:tblPr>
                <a:noFill/>
              </a:tblPr>
              <a:tblGrid>
                <a:gridCol w="5448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9707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79362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121925">
                <a:tc gridSpan="3"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latin typeface="Roboto"/>
                          <a:ea typeface="Roboto"/>
                          <a:cs typeface="Roboto"/>
                          <a:sym typeface="Roboto"/>
                        </a:rPr>
                        <a:t>R1's Table</a:t>
                      </a:r>
                      <a:endParaRPr sz="12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>
                    <a:solidFill>
                      <a:srgbClr val="FFFFFF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21925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latin typeface="Roboto"/>
                          <a:ea typeface="Roboto"/>
                          <a:cs typeface="Roboto"/>
                          <a:sym typeface="Roboto"/>
                        </a:rPr>
                        <a:t>To:</a:t>
                      </a:r>
                      <a:endParaRPr sz="12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latin typeface="Roboto"/>
                          <a:ea typeface="Roboto"/>
                          <a:cs typeface="Roboto"/>
                          <a:sym typeface="Roboto"/>
                        </a:rPr>
                        <a:t>Via:</a:t>
                      </a:r>
                      <a:endParaRPr sz="12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latin typeface="Roboto"/>
                          <a:ea typeface="Roboto"/>
                          <a:cs typeface="Roboto"/>
                          <a:sym typeface="Roboto"/>
                        </a:rPr>
                        <a:t>Cost:</a:t>
                      </a:r>
                      <a:endParaRPr sz="12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21925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latin typeface="Roboto"/>
                          <a:ea typeface="Roboto"/>
                          <a:cs typeface="Roboto"/>
                          <a:sym typeface="Roboto"/>
                        </a:rPr>
                        <a:t>A</a:t>
                      </a:r>
                      <a:endParaRPr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latin typeface="Roboto"/>
                          <a:ea typeface="Roboto"/>
                          <a:cs typeface="Roboto"/>
                          <a:sym typeface="Roboto"/>
                        </a:rPr>
                        <a:t>R3</a:t>
                      </a:r>
                      <a:endParaRPr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latin typeface="Roboto"/>
                          <a:ea typeface="Roboto"/>
                          <a:cs typeface="Roboto"/>
                          <a:sym typeface="Roboto"/>
                        </a:rPr>
                        <a:t>14</a:t>
                      </a:r>
                      <a:endParaRPr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</a:tbl>
          </a:graphicData>
        </a:graphic>
      </p:graphicFrame>
      <p:graphicFrame>
        <p:nvGraphicFramePr>
          <p:cNvPr id="2050" name="Google Shape;2050;p127"/>
          <p:cNvGraphicFramePr/>
          <p:nvPr/>
        </p:nvGraphicFramePr>
        <p:xfrm>
          <a:off x="6318169" y="4054900"/>
          <a:ext cx="1835500" cy="688770"/>
        </p:xfrm>
        <a:graphic>
          <a:graphicData uri="http://schemas.openxmlformats.org/drawingml/2006/table">
            <a:tbl>
              <a:tblPr>
                <a:noFill/>
              </a:tblPr>
              <a:tblGrid>
                <a:gridCol w="5448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9707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79362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121925">
                <a:tc gridSpan="3"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latin typeface="Roboto"/>
                          <a:ea typeface="Roboto"/>
                          <a:cs typeface="Roboto"/>
                          <a:sym typeface="Roboto"/>
                        </a:rPr>
                        <a:t>R2's Table</a:t>
                      </a:r>
                      <a:endParaRPr sz="12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>
                    <a:solidFill>
                      <a:srgbClr val="FFFFFF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21925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latin typeface="Roboto"/>
                          <a:ea typeface="Roboto"/>
                          <a:cs typeface="Roboto"/>
                          <a:sym typeface="Roboto"/>
                        </a:rPr>
                        <a:t>To:</a:t>
                      </a:r>
                      <a:endParaRPr sz="12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latin typeface="Roboto"/>
                          <a:ea typeface="Roboto"/>
                          <a:cs typeface="Roboto"/>
                          <a:sym typeface="Roboto"/>
                        </a:rPr>
                        <a:t>Via:</a:t>
                      </a:r>
                      <a:endParaRPr sz="12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latin typeface="Roboto"/>
                          <a:ea typeface="Roboto"/>
                          <a:cs typeface="Roboto"/>
                          <a:sym typeface="Roboto"/>
                        </a:rPr>
                        <a:t>Cost:</a:t>
                      </a:r>
                      <a:endParaRPr sz="12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21925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latin typeface="Roboto"/>
                          <a:ea typeface="Roboto"/>
                          <a:cs typeface="Roboto"/>
                          <a:sym typeface="Roboto"/>
                        </a:rPr>
                        <a:t>A</a:t>
                      </a:r>
                      <a:endParaRPr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latin typeface="Roboto"/>
                          <a:ea typeface="Roboto"/>
                          <a:cs typeface="Roboto"/>
                          <a:sym typeface="Roboto"/>
                        </a:rPr>
                        <a:t>R1</a:t>
                      </a:r>
                      <a:endParaRPr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solidFill>
                            <a:schemeClr val="dk1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12</a:t>
                      </a:r>
                      <a:endParaRPr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</a:tbl>
          </a:graphicData>
        </a:graphic>
      </p:graphicFrame>
      <p:sp>
        <p:nvSpPr>
          <p:cNvPr id="2051" name="Google Shape;2051;p127"/>
          <p:cNvSpPr/>
          <p:nvPr/>
        </p:nvSpPr>
        <p:spPr>
          <a:xfrm>
            <a:off x="5733600" y="3425350"/>
            <a:ext cx="1431300" cy="437100"/>
          </a:xfrm>
          <a:prstGeom prst="roundRect">
            <a:avLst>
              <a:gd name="adj" fmla="val 16667"/>
            </a:avLst>
          </a:prstGeom>
          <a:solidFill>
            <a:srgbClr val="F4CCCC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27425" tIns="27425" rIns="27425" bIns="27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>
                <a:latin typeface="Roboto"/>
                <a:ea typeface="Roboto"/>
                <a:cs typeface="Roboto"/>
                <a:sym typeface="Roboto"/>
              </a:rPr>
              <a:t>I'm </a:t>
            </a:r>
            <a:r>
              <a:rPr lang="en" sz="1200" b="1">
                <a:latin typeface="Roboto"/>
                <a:ea typeface="Roboto"/>
                <a:cs typeface="Roboto"/>
                <a:sym typeface="Roboto"/>
              </a:rPr>
              <a:t>R1</a:t>
            </a:r>
            <a:r>
              <a:rPr lang="en" sz="1200">
                <a:latin typeface="Roboto"/>
                <a:ea typeface="Roboto"/>
                <a:cs typeface="Roboto"/>
                <a:sym typeface="Roboto"/>
              </a:rPr>
              <a:t>, and </a:t>
            </a:r>
            <a:r>
              <a:rPr lang="en" sz="1200" b="1">
                <a:latin typeface="Roboto"/>
                <a:ea typeface="Roboto"/>
                <a:cs typeface="Roboto"/>
                <a:sym typeface="Roboto"/>
              </a:rPr>
              <a:t>A</a:t>
            </a:r>
            <a:r>
              <a:rPr lang="en" sz="1200">
                <a:latin typeface="Roboto"/>
                <a:ea typeface="Roboto"/>
                <a:cs typeface="Roboto"/>
                <a:sym typeface="Roboto"/>
              </a:rPr>
              <a:t> is</a:t>
            </a:r>
            <a:br>
              <a:rPr lang="en" sz="1200">
                <a:latin typeface="Roboto"/>
                <a:ea typeface="Roboto"/>
                <a:cs typeface="Roboto"/>
                <a:sym typeface="Roboto"/>
              </a:rPr>
            </a:br>
            <a:r>
              <a:rPr lang="en" sz="1200" b="1">
                <a:latin typeface="Roboto"/>
                <a:ea typeface="Roboto"/>
                <a:cs typeface="Roboto"/>
                <a:sym typeface="Roboto"/>
              </a:rPr>
              <a:t>14</a:t>
            </a:r>
            <a:r>
              <a:rPr lang="en" sz="1200">
                <a:latin typeface="Roboto"/>
                <a:ea typeface="Roboto"/>
                <a:cs typeface="Roboto"/>
                <a:sym typeface="Roboto"/>
              </a:rPr>
              <a:t> away from me.</a:t>
            </a:r>
            <a:endParaRPr sz="1200"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2052" name="Google Shape;2052;p127"/>
          <p:cNvCxnSpPr/>
          <p:nvPr/>
        </p:nvCxnSpPr>
        <p:spPr>
          <a:xfrm>
            <a:off x="5569575" y="3172442"/>
            <a:ext cx="0" cy="922800"/>
          </a:xfrm>
          <a:prstGeom prst="straightConnector1">
            <a:avLst/>
          </a:prstGeom>
          <a:noFill/>
          <a:ln w="19050" cap="flat" cmpd="sng">
            <a:solidFill>
              <a:schemeClr val="accent2"/>
            </a:solidFill>
            <a:prstDash val="solid"/>
            <a:round/>
            <a:headEnd type="none" w="med" len="med"/>
            <a:tailEnd type="triangle" w="med" len="med"/>
          </a:ln>
        </p:spPr>
      </p:cxnSp>
      <p:graphicFrame>
        <p:nvGraphicFramePr>
          <p:cNvPr id="2053" name="Google Shape;2053;p127"/>
          <p:cNvGraphicFramePr/>
          <p:nvPr/>
        </p:nvGraphicFramePr>
        <p:xfrm>
          <a:off x="6318169" y="4054900"/>
          <a:ext cx="1835500" cy="688770"/>
        </p:xfrm>
        <a:graphic>
          <a:graphicData uri="http://schemas.openxmlformats.org/drawingml/2006/table">
            <a:tbl>
              <a:tblPr>
                <a:noFill/>
              </a:tblPr>
              <a:tblGrid>
                <a:gridCol w="5448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9707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79362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121925">
                <a:tc gridSpan="3"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latin typeface="Roboto"/>
                          <a:ea typeface="Roboto"/>
                          <a:cs typeface="Roboto"/>
                          <a:sym typeface="Roboto"/>
                        </a:rPr>
                        <a:t>R2's Table</a:t>
                      </a:r>
                      <a:endParaRPr sz="12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>
                    <a:solidFill>
                      <a:srgbClr val="FFFFFF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21925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latin typeface="Roboto"/>
                          <a:ea typeface="Roboto"/>
                          <a:cs typeface="Roboto"/>
                          <a:sym typeface="Roboto"/>
                        </a:rPr>
                        <a:t>To:</a:t>
                      </a:r>
                      <a:endParaRPr sz="12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latin typeface="Roboto"/>
                          <a:ea typeface="Roboto"/>
                          <a:cs typeface="Roboto"/>
                          <a:sym typeface="Roboto"/>
                        </a:rPr>
                        <a:t>Via:</a:t>
                      </a:r>
                      <a:endParaRPr sz="12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latin typeface="Roboto"/>
                          <a:ea typeface="Roboto"/>
                          <a:cs typeface="Roboto"/>
                          <a:sym typeface="Roboto"/>
                        </a:rPr>
                        <a:t>Cost:</a:t>
                      </a:r>
                      <a:endParaRPr sz="12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21925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b="1">
                          <a:latin typeface="Roboto"/>
                          <a:ea typeface="Roboto"/>
                          <a:cs typeface="Roboto"/>
                          <a:sym typeface="Roboto"/>
                        </a:rPr>
                        <a:t>A</a:t>
                      </a:r>
                      <a:endParaRPr b="1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>
                    <a:solidFill>
                      <a:srgbClr val="F4CCCC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b="1">
                          <a:latin typeface="Roboto"/>
                          <a:ea typeface="Roboto"/>
                          <a:cs typeface="Roboto"/>
                          <a:sym typeface="Roboto"/>
                        </a:rPr>
                        <a:t>R1</a:t>
                      </a:r>
                      <a:endParaRPr b="1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>
                    <a:solidFill>
                      <a:srgbClr val="F4CCCC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b="1">
                          <a:solidFill>
                            <a:schemeClr val="dk1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15</a:t>
                      </a:r>
                      <a:endParaRPr b="1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>
                    <a:solidFill>
                      <a:srgbClr val="F4CCC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</a:tbl>
          </a:graphicData>
        </a:graphic>
      </p:graphicFrame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0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2058" name="Google Shape;2058;p128"/>
          <p:cNvCxnSpPr>
            <a:stCxn id="2059" idx="1"/>
            <a:endCxn id="2060" idx="6"/>
          </p:cNvCxnSpPr>
          <p:nvPr/>
        </p:nvCxnSpPr>
        <p:spPr>
          <a:xfrm rot="10800000">
            <a:off x="3336375" y="3637275"/>
            <a:ext cx="400800" cy="0"/>
          </a:xfrm>
          <a:prstGeom prst="straightConnector1">
            <a:avLst/>
          </a:prstGeom>
          <a:noFill/>
          <a:ln w="19050" cap="flat" cmpd="sng">
            <a:solidFill>
              <a:srgbClr val="D9D9D9"/>
            </a:solidFill>
            <a:prstDash val="dash"/>
            <a:round/>
            <a:headEnd type="none" w="med" len="med"/>
            <a:tailEnd type="none" w="med" len="med"/>
          </a:ln>
        </p:spPr>
      </p:cxnSp>
      <p:sp>
        <p:nvSpPr>
          <p:cNvPr id="2061" name="Google Shape;2061;p128"/>
          <p:cNvSpPr txBox="1">
            <a:spLocks noGrp="1"/>
          </p:cNvSpPr>
          <p:nvPr>
            <p:ph type="title"/>
          </p:nvPr>
        </p:nvSpPr>
        <p:spPr>
          <a:xfrm>
            <a:off x="0" y="0"/>
            <a:ext cx="9144000" cy="39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accent3"/>
                </a:solidFill>
              </a:rPr>
              <a:t>Count to Infinity – Solution</a:t>
            </a:r>
            <a:endParaRPr/>
          </a:p>
        </p:txBody>
      </p:sp>
      <p:sp>
        <p:nvSpPr>
          <p:cNvPr id="2062" name="Google Shape;2062;p128"/>
          <p:cNvSpPr txBox="1">
            <a:spLocks noGrp="1"/>
          </p:cNvSpPr>
          <p:nvPr>
            <p:ph type="body" idx="1"/>
          </p:nvPr>
        </p:nvSpPr>
        <p:spPr>
          <a:xfrm>
            <a:off x="107050" y="402200"/>
            <a:ext cx="8909700" cy="1079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"/>
              <a:t>All numbers ≥ 16 are considered infinity.</a:t>
            </a:r>
            <a:endParaRPr/>
          </a:p>
        </p:txBody>
      </p:sp>
      <p:sp>
        <p:nvSpPr>
          <p:cNvPr id="2060" name="Google Shape;2060;p128"/>
          <p:cNvSpPr/>
          <p:nvPr/>
        </p:nvSpPr>
        <p:spPr>
          <a:xfrm>
            <a:off x="3051363" y="3494775"/>
            <a:ext cx="285000" cy="285000"/>
          </a:xfrm>
          <a:prstGeom prst="ellipse">
            <a:avLst/>
          </a:prstGeom>
          <a:solidFill>
            <a:srgbClr val="FFFFFF"/>
          </a:solidFill>
          <a:ln w="19050" cap="flat" cmpd="sng">
            <a:solidFill>
              <a:srgbClr val="D9D9D9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D9D9D9"/>
                </a:solidFill>
                <a:latin typeface="Roboto"/>
                <a:ea typeface="Roboto"/>
                <a:cs typeface="Roboto"/>
                <a:sym typeface="Roboto"/>
              </a:rPr>
              <a:t>A</a:t>
            </a:r>
            <a:endParaRPr>
              <a:solidFill>
                <a:srgbClr val="D9D9D9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2063" name="Google Shape;2063;p128"/>
          <p:cNvSpPr/>
          <p:nvPr/>
        </p:nvSpPr>
        <p:spPr>
          <a:xfrm>
            <a:off x="5261175" y="2780457"/>
            <a:ext cx="285000" cy="285000"/>
          </a:xfrm>
          <a:prstGeom prst="rect">
            <a:avLst/>
          </a:prstGeom>
          <a:solidFill>
            <a:srgbClr val="FFFFFF"/>
          </a:solidFill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R1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2064" name="Google Shape;2064;p128"/>
          <p:cNvCxnSpPr>
            <a:stCxn id="2063" idx="2"/>
            <a:endCxn id="2065" idx="0"/>
          </p:cNvCxnSpPr>
          <p:nvPr/>
        </p:nvCxnSpPr>
        <p:spPr>
          <a:xfrm>
            <a:off x="5403675" y="3065457"/>
            <a:ext cx="0" cy="1144800"/>
          </a:xfrm>
          <a:prstGeom prst="straightConnector1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2065" name="Google Shape;2065;p128"/>
          <p:cNvSpPr/>
          <p:nvPr/>
        </p:nvSpPr>
        <p:spPr>
          <a:xfrm>
            <a:off x="5261175" y="4210229"/>
            <a:ext cx="285000" cy="285000"/>
          </a:xfrm>
          <a:prstGeom prst="rect">
            <a:avLst/>
          </a:prstGeom>
          <a:solidFill>
            <a:srgbClr val="FFFFFF"/>
          </a:solidFill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R2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2059" name="Google Shape;2059;p128"/>
          <p:cNvSpPr/>
          <p:nvPr/>
        </p:nvSpPr>
        <p:spPr>
          <a:xfrm>
            <a:off x="3737175" y="3494775"/>
            <a:ext cx="285000" cy="285000"/>
          </a:xfrm>
          <a:prstGeom prst="rect">
            <a:avLst/>
          </a:prstGeom>
          <a:solidFill>
            <a:srgbClr val="FFFFFF"/>
          </a:solidFill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R3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2066" name="Google Shape;2066;p128"/>
          <p:cNvCxnSpPr>
            <a:stCxn id="2063" idx="1"/>
            <a:endCxn id="2059" idx="3"/>
          </p:cNvCxnSpPr>
          <p:nvPr/>
        </p:nvCxnSpPr>
        <p:spPr>
          <a:xfrm flipH="1">
            <a:off x="4022175" y="2922957"/>
            <a:ext cx="1239000" cy="714300"/>
          </a:xfrm>
          <a:prstGeom prst="straightConnector1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2067" name="Google Shape;2067;p128"/>
          <p:cNvCxnSpPr>
            <a:stCxn id="2065" idx="1"/>
            <a:endCxn id="2059" idx="3"/>
          </p:cNvCxnSpPr>
          <p:nvPr/>
        </p:nvCxnSpPr>
        <p:spPr>
          <a:xfrm rot="10800000">
            <a:off x="4022175" y="3637229"/>
            <a:ext cx="1239000" cy="715500"/>
          </a:xfrm>
          <a:prstGeom prst="straightConnector1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med" len="med"/>
            <a:tailEnd type="none" w="med" len="med"/>
          </a:ln>
        </p:spPr>
      </p:cxnSp>
      <p:graphicFrame>
        <p:nvGraphicFramePr>
          <p:cNvPr id="2068" name="Google Shape;2068;p128"/>
          <p:cNvGraphicFramePr/>
          <p:nvPr/>
        </p:nvGraphicFramePr>
        <p:xfrm>
          <a:off x="990319" y="3292900"/>
          <a:ext cx="1835500" cy="688770"/>
        </p:xfrm>
        <a:graphic>
          <a:graphicData uri="http://schemas.openxmlformats.org/drawingml/2006/table">
            <a:tbl>
              <a:tblPr>
                <a:noFill/>
              </a:tblPr>
              <a:tblGrid>
                <a:gridCol w="5448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9707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79362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121925">
                <a:tc gridSpan="3"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latin typeface="Roboto"/>
                          <a:ea typeface="Roboto"/>
                          <a:cs typeface="Roboto"/>
                          <a:sym typeface="Roboto"/>
                        </a:rPr>
                        <a:t>R3's Table</a:t>
                      </a:r>
                      <a:endParaRPr sz="12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>
                    <a:solidFill>
                      <a:srgbClr val="FFFFFF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21925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latin typeface="Roboto"/>
                          <a:ea typeface="Roboto"/>
                          <a:cs typeface="Roboto"/>
                          <a:sym typeface="Roboto"/>
                        </a:rPr>
                        <a:t>To:</a:t>
                      </a:r>
                      <a:endParaRPr sz="12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latin typeface="Roboto"/>
                          <a:ea typeface="Roboto"/>
                          <a:cs typeface="Roboto"/>
                          <a:sym typeface="Roboto"/>
                        </a:rPr>
                        <a:t>Via:</a:t>
                      </a:r>
                      <a:endParaRPr sz="12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latin typeface="Roboto"/>
                          <a:ea typeface="Roboto"/>
                          <a:cs typeface="Roboto"/>
                          <a:sym typeface="Roboto"/>
                        </a:rPr>
                        <a:t>Cost:</a:t>
                      </a:r>
                      <a:endParaRPr sz="12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21925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latin typeface="Roboto"/>
                          <a:ea typeface="Roboto"/>
                          <a:cs typeface="Roboto"/>
                          <a:sym typeface="Roboto"/>
                        </a:rPr>
                        <a:t>A</a:t>
                      </a:r>
                      <a:endParaRPr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latin typeface="Roboto"/>
                          <a:ea typeface="Roboto"/>
                          <a:cs typeface="Roboto"/>
                          <a:sym typeface="Roboto"/>
                        </a:rPr>
                        <a:t>R2</a:t>
                      </a:r>
                      <a:endParaRPr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latin typeface="Roboto"/>
                          <a:ea typeface="Roboto"/>
                          <a:cs typeface="Roboto"/>
                          <a:sym typeface="Roboto"/>
                        </a:rPr>
                        <a:t>13</a:t>
                      </a:r>
                      <a:endParaRPr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</a:tbl>
          </a:graphicData>
        </a:graphic>
      </p:graphicFrame>
      <p:graphicFrame>
        <p:nvGraphicFramePr>
          <p:cNvPr id="2069" name="Google Shape;2069;p128"/>
          <p:cNvGraphicFramePr/>
          <p:nvPr/>
        </p:nvGraphicFramePr>
        <p:xfrm>
          <a:off x="6318169" y="2544150"/>
          <a:ext cx="1835500" cy="688770"/>
        </p:xfrm>
        <a:graphic>
          <a:graphicData uri="http://schemas.openxmlformats.org/drawingml/2006/table">
            <a:tbl>
              <a:tblPr>
                <a:noFill/>
              </a:tblPr>
              <a:tblGrid>
                <a:gridCol w="5448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9707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79362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121925">
                <a:tc gridSpan="3"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latin typeface="Roboto"/>
                          <a:ea typeface="Roboto"/>
                          <a:cs typeface="Roboto"/>
                          <a:sym typeface="Roboto"/>
                        </a:rPr>
                        <a:t>R1's Table</a:t>
                      </a:r>
                      <a:endParaRPr sz="12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>
                    <a:solidFill>
                      <a:srgbClr val="FFFFFF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21925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latin typeface="Roboto"/>
                          <a:ea typeface="Roboto"/>
                          <a:cs typeface="Roboto"/>
                          <a:sym typeface="Roboto"/>
                        </a:rPr>
                        <a:t>To:</a:t>
                      </a:r>
                      <a:endParaRPr sz="12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latin typeface="Roboto"/>
                          <a:ea typeface="Roboto"/>
                          <a:cs typeface="Roboto"/>
                          <a:sym typeface="Roboto"/>
                        </a:rPr>
                        <a:t>Via:</a:t>
                      </a:r>
                      <a:endParaRPr sz="12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latin typeface="Roboto"/>
                          <a:ea typeface="Roboto"/>
                          <a:cs typeface="Roboto"/>
                          <a:sym typeface="Roboto"/>
                        </a:rPr>
                        <a:t>Cost:</a:t>
                      </a:r>
                      <a:endParaRPr sz="12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21925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latin typeface="Roboto"/>
                          <a:ea typeface="Roboto"/>
                          <a:cs typeface="Roboto"/>
                          <a:sym typeface="Roboto"/>
                        </a:rPr>
                        <a:t>A</a:t>
                      </a:r>
                      <a:endParaRPr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latin typeface="Roboto"/>
                          <a:ea typeface="Roboto"/>
                          <a:cs typeface="Roboto"/>
                          <a:sym typeface="Roboto"/>
                        </a:rPr>
                        <a:t>R3</a:t>
                      </a:r>
                      <a:endParaRPr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latin typeface="Roboto"/>
                          <a:ea typeface="Roboto"/>
                          <a:cs typeface="Roboto"/>
                          <a:sym typeface="Roboto"/>
                        </a:rPr>
                        <a:t>14</a:t>
                      </a:r>
                      <a:endParaRPr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</a:tbl>
          </a:graphicData>
        </a:graphic>
      </p:graphicFrame>
      <p:graphicFrame>
        <p:nvGraphicFramePr>
          <p:cNvPr id="2070" name="Google Shape;2070;p128"/>
          <p:cNvGraphicFramePr/>
          <p:nvPr/>
        </p:nvGraphicFramePr>
        <p:xfrm>
          <a:off x="6318169" y="4054900"/>
          <a:ext cx="1835500" cy="688770"/>
        </p:xfrm>
        <a:graphic>
          <a:graphicData uri="http://schemas.openxmlformats.org/drawingml/2006/table">
            <a:tbl>
              <a:tblPr>
                <a:noFill/>
              </a:tblPr>
              <a:tblGrid>
                <a:gridCol w="5448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9707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79362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121925">
                <a:tc gridSpan="3"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latin typeface="Roboto"/>
                          <a:ea typeface="Roboto"/>
                          <a:cs typeface="Roboto"/>
                          <a:sym typeface="Roboto"/>
                        </a:rPr>
                        <a:t>R2's Table</a:t>
                      </a:r>
                      <a:endParaRPr sz="12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>
                    <a:solidFill>
                      <a:srgbClr val="FFFFFF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21925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latin typeface="Roboto"/>
                          <a:ea typeface="Roboto"/>
                          <a:cs typeface="Roboto"/>
                          <a:sym typeface="Roboto"/>
                        </a:rPr>
                        <a:t>To:</a:t>
                      </a:r>
                      <a:endParaRPr sz="12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latin typeface="Roboto"/>
                          <a:ea typeface="Roboto"/>
                          <a:cs typeface="Roboto"/>
                          <a:sym typeface="Roboto"/>
                        </a:rPr>
                        <a:t>Via:</a:t>
                      </a:r>
                      <a:endParaRPr sz="12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latin typeface="Roboto"/>
                          <a:ea typeface="Roboto"/>
                          <a:cs typeface="Roboto"/>
                          <a:sym typeface="Roboto"/>
                        </a:rPr>
                        <a:t>Cost:</a:t>
                      </a:r>
                      <a:endParaRPr sz="12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21925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latin typeface="Roboto"/>
                          <a:ea typeface="Roboto"/>
                          <a:cs typeface="Roboto"/>
                          <a:sym typeface="Roboto"/>
                        </a:rPr>
                        <a:t>A</a:t>
                      </a:r>
                      <a:endParaRPr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latin typeface="Roboto"/>
                          <a:ea typeface="Roboto"/>
                          <a:cs typeface="Roboto"/>
                          <a:sym typeface="Roboto"/>
                        </a:rPr>
                        <a:t>R1</a:t>
                      </a:r>
                      <a:endParaRPr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solidFill>
                            <a:schemeClr val="dk1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15</a:t>
                      </a:r>
                      <a:endParaRPr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</a:tbl>
          </a:graphicData>
        </a:graphic>
      </p:graphicFrame>
      <p:cxnSp>
        <p:nvCxnSpPr>
          <p:cNvPr id="2071" name="Google Shape;2071;p128"/>
          <p:cNvCxnSpPr/>
          <p:nvPr/>
        </p:nvCxnSpPr>
        <p:spPr>
          <a:xfrm>
            <a:off x="4115675" y="3883550"/>
            <a:ext cx="953100" cy="550200"/>
          </a:xfrm>
          <a:prstGeom prst="straightConnector1">
            <a:avLst/>
          </a:prstGeom>
          <a:noFill/>
          <a:ln w="19050" cap="flat" cmpd="sng">
            <a:solidFill>
              <a:schemeClr val="accent2"/>
            </a:solidFill>
            <a:prstDash val="solid"/>
            <a:round/>
            <a:headEnd type="triangle" w="med" len="med"/>
            <a:tailEnd type="none" w="med" len="med"/>
          </a:ln>
        </p:spPr>
      </p:cxnSp>
      <p:graphicFrame>
        <p:nvGraphicFramePr>
          <p:cNvPr id="2072" name="Google Shape;2072;p128"/>
          <p:cNvGraphicFramePr/>
          <p:nvPr/>
        </p:nvGraphicFramePr>
        <p:xfrm>
          <a:off x="990319" y="3292900"/>
          <a:ext cx="1835500" cy="688770"/>
        </p:xfrm>
        <a:graphic>
          <a:graphicData uri="http://schemas.openxmlformats.org/drawingml/2006/table">
            <a:tbl>
              <a:tblPr>
                <a:noFill/>
              </a:tblPr>
              <a:tblGrid>
                <a:gridCol w="5448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9707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79362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121925">
                <a:tc gridSpan="3"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latin typeface="Roboto"/>
                          <a:ea typeface="Roboto"/>
                          <a:cs typeface="Roboto"/>
                          <a:sym typeface="Roboto"/>
                        </a:rPr>
                        <a:t>R3's Table</a:t>
                      </a:r>
                      <a:endParaRPr sz="12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>
                    <a:solidFill>
                      <a:srgbClr val="FFFFFF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21925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latin typeface="Roboto"/>
                          <a:ea typeface="Roboto"/>
                          <a:cs typeface="Roboto"/>
                          <a:sym typeface="Roboto"/>
                        </a:rPr>
                        <a:t>To:</a:t>
                      </a:r>
                      <a:endParaRPr sz="12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latin typeface="Roboto"/>
                          <a:ea typeface="Roboto"/>
                          <a:cs typeface="Roboto"/>
                          <a:sym typeface="Roboto"/>
                        </a:rPr>
                        <a:t>Via:</a:t>
                      </a:r>
                      <a:endParaRPr sz="12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latin typeface="Roboto"/>
                          <a:ea typeface="Roboto"/>
                          <a:cs typeface="Roboto"/>
                          <a:sym typeface="Roboto"/>
                        </a:rPr>
                        <a:t>Cost:</a:t>
                      </a:r>
                      <a:endParaRPr sz="12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21925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b="1">
                          <a:latin typeface="Roboto"/>
                          <a:ea typeface="Roboto"/>
                          <a:cs typeface="Roboto"/>
                          <a:sym typeface="Roboto"/>
                        </a:rPr>
                        <a:t>A</a:t>
                      </a:r>
                      <a:endParaRPr b="1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>
                    <a:solidFill>
                      <a:srgbClr val="F4CCCC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b="1">
                          <a:latin typeface="Roboto"/>
                          <a:ea typeface="Roboto"/>
                          <a:cs typeface="Roboto"/>
                          <a:sym typeface="Roboto"/>
                        </a:rPr>
                        <a:t>R2</a:t>
                      </a:r>
                      <a:endParaRPr b="1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>
                    <a:solidFill>
                      <a:srgbClr val="F4CCCC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b="1" strike="sngStrike">
                          <a:solidFill>
                            <a:schemeClr val="dk1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16</a:t>
                      </a:r>
                      <a:r>
                        <a:rPr lang="en" b="1">
                          <a:solidFill>
                            <a:schemeClr val="dk1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 ∞</a:t>
                      </a:r>
                      <a:endParaRPr b="1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>
                    <a:solidFill>
                      <a:srgbClr val="F4CCC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</a:tbl>
          </a:graphicData>
        </a:graphic>
      </p:graphicFrame>
      <p:sp>
        <p:nvSpPr>
          <p:cNvPr id="2073" name="Google Shape;2073;p128"/>
          <p:cNvSpPr/>
          <p:nvPr/>
        </p:nvSpPr>
        <p:spPr>
          <a:xfrm>
            <a:off x="3057875" y="4210250"/>
            <a:ext cx="1431300" cy="437100"/>
          </a:xfrm>
          <a:prstGeom prst="roundRect">
            <a:avLst>
              <a:gd name="adj" fmla="val 16667"/>
            </a:avLst>
          </a:prstGeom>
          <a:solidFill>
            <a:srgbClr val="F4CCCC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27425" tIns="27425" rIns="27425" bIns="27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>
                <a:latin typeface="Roboto"/>
                <a:ea typeface="Roboto"/>
                <a:cs typeface="Roboto"/>
                <a:sym typeface="Roboto"/>
              </a:rPr>
              <a:t>I'm </a:t>
            </a:r>
            <a:r>
              <a:rPr lang="en" sz="1200" b="1">
                <a:latin typeface="Roboto"/>
                <a:ea typeface="Roboto"/>
                <a:cs typeface="Roboto"/>
                <a:sym typeface="Roboto"/>
              </a:rPr>
              <a:t>R2</a:t>
            </a:r>
            <a:r>
              <a:rPr lang="en" sz="1200">
                <a:latin typeface="Roboto"/>
                <a:ea typeface="Roboto"/>
                <a:cs typeface="Roboto"/>
                <a:sym typeface="Roboto"/>
              </a:rPr>
              <a:t>, and </a:t>
            </a:r>
            <a:r>
              <a:rPr lang="en" sz="1200" b="1">
                <a:latin typeface="Roboto"/>
                <a:ea typeface="Roboto"/>
                <a:cs typeface="Roboto"/>
                <a:sym typeface="Roboto"/>
              </a:rPr>
              <a:t>A</a:t>
            </a:r>
            <a:r>
              <a:rPr lang="en" sz="1200">
                <a:latin typeface="Roboto"/>
                <a:ea typeface="Roboto"/>
                <a:cs typeface="Roboto"/>
                <a:sym typeface="Roboto"/>
              </a:rPr>
              <a:t> is</a:t>
            </a:r>
            <a:br>
              <a:rPr lang="en" sz="1200">
                <a:latin typeface="Roboto"/>
                <a:ea typeface="Roboto"/>
                <a:cs typeface="Roboto"/>
                <a:sym typeface="Roboto"/>
              </a:rPr>
            </a:br>
            <a:r>
              <a:rPr lang="en" sz="1200" b="1">
                <a:latin typeface="Roboto"/>
                <a:ea typeface="Roboto"/>
                <a:cs typeface="Roboto"/>
                <a:sym typeface="Roboto"/>
              </a:rPr>
              <a:t>15</a:t>
            </a:r>
            <a:r>
              <a:rPr lang="en" sz="1200">
                <a:latin typeface="Roboto"/>
                <a:ea typeface="Roboto"/>
                <a:cs typeface="Roboto"/>
                <a:sym typeface="Roboto"/>
              </a:rPr>
              <a:t> away from me.</a:t>
            </a:r>
            <a:endParaRPr sz="1200">
              <a:latin typeface="Roboto"/>
              <a:ea typeface="Roboto"/>
              <a:cs typeface="Roboto"/>
              <a:sym typeface="Roboto"/>
            </a:endParaRP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7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7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0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2078" name="Google Shape;2078;p129"/>
          <p:cNvCxnSpPr>
            <a:stCxn id="2079" idx="1"/>
            <a:endCxn id="2080" idx="6"/>
          </p:cNvCxnSpPr>
          <p:nvPr/>
        </p:nvCxnSpPr>
        <p:spPr>
          <a:xfrm rot="10800000">
            <a:off x="3336375" y="3637275"/>
            <a:ext cx="400800" cy="0"/>
          </a:xfrm>
          <a:prstGeom prst="straightConnector1">
            <a:avLst/>
          </a:prstGeom>
          <a:noFill/>
          <a:ln w="19050" cap="flat" cmpd="sng">
            <a:solidFill>
              <a:srgbClr val="D9D9D9"/>
            </a:solidFill>
            <a:prstDash val="dash"/>
            <a:round/>
            <a:headEnd type="none" w="med" len="med"/>
            <a:tailEnd type="none" w="med" len="med"/>
          </a:ln>
        </p:spPr>
      </p:cxnSp>
      <p:sp>
        <p:nvSpPr>
          <p:cNvPr id="2081" name="Google Shape;2081;p129"/>
          <p:cNvSpPr txBox="1">
            <a:spLocks noGrp="1"/>
          </p:cNvSpPr>
          <p:nvPr>
            <p:ph type="title"/>
          </p:nvPr>
        </p:nvSpPr>
        <p:spPr>
          <a:xfrm>
            <a:off x="0" y="0"/>
            <a:ext cx="9144000" cy="39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accent3"/>
                </a:solidFill>
              </a:rPr>
              <a:t>Count to Infinity – Solution</a:t>
            </a:r>
            <a:endParaRPr/>
          </a:p>
        </p:txBody>
      </p:sp>
      <p:sp>
        <p:nvSpPr>
          <p:cNvPr id="2082" name="Google Shape;2082;p129"/>
          <p:cNvSpPr txBox="1">
            <a:spLocks noGrp="1"/>
          </p:cNvSpPr>
          <p:nvPr>
            <p:ph type="body" idx="1"/>
          </p:nvPr>
        </p:nvSpPr>
        <p:spPr>
          <a:xfrm>
            <a:off x="107050" y="402200"/>
            <a:ext cx="8909700" cy="1079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"/>
              <a:t>All numbers ≥ 16 are considered infinity.</a:t>
            </a:r>
            <a:endParaRPr/>
          </a:p>
        </p:txBody>
      </p:sp>
      <p:sp>
        <p:nvSpPr>
          <p:cNvPr id="2080" name="Google Shape;2080;p129"/>
          <p:cNvSpPr/>
          <p:nvPr/>
        </p:nvSpPr>
        <p:spPr>
          <a:xfrm>
            <a:off x="3051363" y="3494775"/>
            <a:ext cx="285000" cy="285000"/>
          </a:xfrm>
          <a:prstGeom prst="ellipse">
            <a:avLst/>
          </a:prstGeom>
          <a:solidFill>
            <a:srgbClr val="FFFFFF"/>
          </a:solidFill>
          <a:ln w="19050" cap="flat" cmpd="sng">
            <a:solidFill>
              <a:srgbClr val="D9D9D9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D9D9D9"/>
                </a:solidFill>
                <a:latin typeface="Roboto"/>
                <a:ea typeface="Roboto"/>
                <a:cs typeface="Roboto"/>
                <a:sym typeface="Roboto"/>
              </a:rPr>
              <a:t>A</a:t>
            </a:r>
            <a:endParaRPr>
              <a:solidFill>
                <a:srgbClr val="D9D9D9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2083" name="Google Shape;2083;p129"/>
          <p:cNvSpPr/>
          <p:nvPr/>
        </p:nvSpPr>
        <p:spPr>
          <a:xfrm>
            <a:off x="5261175" y="2780457"/>
            <a:ext cx="285000" cy="285000"/>
          </a:xfrm>
          <a:prstGeom prst="rect">
            <a:avLst/>
          </a:prstGeom>
          <a:solidFill>
            <a:srgbClr val="FFFFFF"/>
          </a:solidFill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R1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2084" name="Google Shape;2084;p129"/>
          <p:cNvCxnSpPr>
            <a:stCxn id="2083" idx="2"/>
            <a:endCxn id="2085" idx="0"/>
          </p:cNvCxnSpPr>
          <p:nvPr/>
        </p:nvCxnSpPr>
        <p:spPr>
          <a:xfrm>
            <a:off x="5403675" y="3065457"/>
            <a:ext cx="0" cy="1144800"/>
          </a:xfrm>
          <a:prstGeom prst="straightConnector1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2085" name="Google Shape;2085;p129"/>
          <p:cNvSpPr/>
          <p:nvPr/>
        </p:nvSpPr>
        <p:spPr>
          <a:xfrm>
            <a:off x="5261175" y="4210229"/>
            <a:ext cx="285000" cy="285000"/>
          </a:xfrm>
          <a:prstGeom prst="rect">
            <a:avLst/>
          </a:prstGeom>
          <a:solidFill>
            <a:srgbClr val="FFFFFF"/>
          </a:solidFill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R2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2079" name="Google Shape;2079;p129"/>
          <p:cNvSpPr/>
          <p:nvPr/>
        </p:nvSpPr>
        <p:spPr>
          <a:xfrm>
            <a:off x="3737175" y="3494775"/>
            <a:ext cx="285000" cy="285000"/>
          </a:xfrm>
          <a:prstGeom prst="rect">
            <a:avLst/>
          </a:prstGeom>
          <a:solidFill>
            <a:srgbClr val="FFFFFF"/>
          </a:solidFill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R3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2086" name="Google Shape;2086;p129"/>
          <p:cNvCxnSpPr>
            <a:stCxn id="2083" idx="1"/>
            <a:endCxn id="2079" idx="3"/>
          </p:cNvCxnSpPr>
          <p:nvPr/>
        </p:nvCxnSpPr>
        <p:spPr>
          <a:xfrm flipH="1">
            <a:off x="4022175" y="2922957"/>
            <a:ext cx="1239000" cy="714300"/>
          </a:xfrm>
          <a:prstGeom prst="straightConnector1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2087" name="Google Shape;2087;p129"/>
          <p:cNvCxnSpPr>
            <a:stCxn id="2085" idx="1"/>
            <a:endCxn id="2079" idx="3"/>
          </p:cNvCxnSpPr>
          <p:nvPr/>
        </p:nvCxnSpPr>
        <p:spPr>
          <a:xfrm rot="10800000">
            <a:off x="4022175" y="3637229"/>
            <a:ext cx="1239000" cy="715500"/>
          </a:xfrm>
          <a:prstGeom prst="straightConnector1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med" len="med"/>
            <a:tailEnd type="none" w="med" len="med"/>
          </a:ln>
        </p:spPr>
      </p:cxnSp>
      <p:graphicFrame>
        <p:nvGraphicFramePr>
          <p:cNvPr id="2088" name="Google Shape;2088;p129"/>
          <p:cNvGraphicFramePr/>
          <p:nvPr/>
        </p:nvGraphicFramePr>
        <p:xfrm>
          <a:off x="990319" y="3292900"/>
          <a:ext cx="1835500" cy="688770"/>
        </p:xfrm>
        <a:graphic>
          <a:graphicData uri="http://schemas.openxmlformats.org/drawingml/2006/table">
            <a:tbl>
              <a:tblPr>
                <a:noFill/>
              </a:tblPr>
              <a:tblGrid>
                <a:gridCol w="5448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9707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79362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121925">
                <a:tc gridSpan="3"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latin typeface="Roboto"/>
                          <a:ea typeface="Roboto"/>
                          <a:cs typeface="Roboto"/>
                          <a:sym typeface="Roboto"/>
                        </a:rPr>
                        <a:t>R3's Table</a:t>
                      </a:r>
                      <a:endParaRPr sz="12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>
                    <a:solidFill>
                      <a:srgbClr val="FFFFFF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21925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latin typeface="Roboto"/>
                          <a:ea typeface="Roboto"/>
                          <a:cs typeface="Roboto"/>
                          <a:sym typeface="Roboto"/>
                        </a:rPr>
                        <a:t>To:</a:t>
                      </a:r>
                      <a:endParaRPr sz="12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latin typeface="Roboto"/>
                          <a:ea typeface="Roboto"/>
                          <a:cs typeface="Roboto"/>
                          <a:sym typeface="Roboto"/>
                        </a:rPr>
                        <a:t>Via:</a:t>
                      </a:r>
                      <a:endParaRPr sz="12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latin typeface="Roboto"/>
                          <a:ea typeface="Roboto"/>
                          <a:cs typeface="Roboto"/>
                          <a:sym typeface="Roboto"/>
                        </a:rPr>
                        <a:t>Cost:</a:t>
                      </a:r>
                      <a:endParaRPr sz="12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21925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latin typeface="Roboto"/>
                          <a:ea typeface="Roboto"/>
                          <a:cs typeface="Roboto"/>
                          <a:sym typeface="Roboto"/>
                        </a:rPr>
                        <a:t>A</a:t>
                      </a:r>
                      <a:endParaRPr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latin typeface="Roboto"/>
                          <a:ea typeface="Roboto"/>
                          <a:cs typeface="Roboto"/>
                          <a:sym typeface="Roboto"/>
                        </a:rPr>
                        <a:t>R2</a:t>
                      </a:r>
                      <a:endParaRPr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latin typeface="Roboto"/>
                          <a:ea typeface="Roboto"/>
                          <a:cs typeface="Roboto"/>
                          <a:sym typeface="Roboto"/>
                        </a:rPr>
                        <a:t>∞</a:t>
                      </a:r>
                      <a:endParaRPr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</a:tbl>
          </a:graphicData>
        </a:graphic>
      </p:graphicFrame>
      <p:graphicFrame>
        <p:nvGraphicFramePr>
          <p:cNvPr id="2089" name="Google Shape;2089;p129"/>
          <p:cNvGraphicFramePr/>
          <p:nvPr/>
        </p:nvGraphicFramePr>
        <p:xfrm>
          <a:off x="6318169" y="2544150"/>
          <a:ext cx="1835500" cy="688770"/>
        </p:xfrm>
        <a:graphic>
          <a:graphicData uri="http://schemas.openxmlformats.org/drawingml/2006/table">
            <a:tbl>
              <a:tblPr>
                <a:noFill/>
              </a:tblPr>
              <a:tblGrid>
                <a:gridCol w="5448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9707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79362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121925">
                <a:tc gridSpan="3"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latin typeface="Roboto"/>
                          <a:ea typeface="Roboto"/>
                          <a:cs typeface="Roboto"/>
                          <a:sym typeface="Roboto"/>
                        </a:rPr>
                        <a:t>R1's Table</a:t>
                      </a:r>
                      <a:endParaRPr sz="12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>
                    <a:solidFill>
                      <a:srgbClr val="FFFFFF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21925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latin typeface="Roboto"/>
                          <a:ea typeface="Roboto"/>
                          <a:cs typeface="Roboto"/>
                          <a:sym typeface="Roboto"/>
                        </a:rPr>
                        <a:t>To:</a:t>
                      </a:r>
                      <a:endParaRPr sz="12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latin typeface="Roboto"/>
                          <a:ea typeface="Roboto"/>
                          <a:cs typeface="Roboto"/>
                          <a:sym typeface="Roboto"/>
                        </a:rPr>
                        <a:t>Via:</a:t>
                      </a:r>
                      <a:endParaRPr sz="12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latin typeface="Roboto"/>
                          <a:ea typeface="Roboto"/>
                          <a:cs typeface="Roboto"/>
                          <a:sym typeface="Roboto"/>
                        </a:rPr>
                        <a:t>Cost:</a:t>
                      </a:r>
                      <a:endParaRPr sz="12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21925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latin typeface="Roboto"/>
                          <a:ea typeface="Roboto"/>
                          <a:cs typeface="Roboto"/>
                          <a:sym typeface="Roboto"/>
                        </a:rPr>
                        <a:t>A</a:t>
                      </a:r>
                      <a:endParaRPr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latin typeface="Roboto"/>
                          <a:ea typeface="Roboto"/>
                          <a:cs typeface="Roboto"/>
                          <a:sym typeface="Roboto"/>
                        </a:rPr>
                        <a:t>R3</a:t>
                      </a:r>
                      <a:endParaRPr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latin typeface="Roboto"/>
                          <a:ea typeface="Roboto"/>
                          <a:cs typeface="Roboto"/>
                          <a:sym typeface="Roboto"/>
                        </a:rPr>
                        <a:t>14</a:t>
                      </a:r>
                      <a:endParaRPr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</a:tbl>
          </a:graphicData>
        </a:graphic>
      </p:graphicFrame>
      <p:graphicFrame>
        <p:nvGraphicFramePr>
          <p:cNvPr id="2090" name="Google Shape;2090;p129"/>
          <p:cNvGraphicFramePr/>
          <p:nvPr/>
        </p:nvGraphicFramePr>
        <p:xfrm>
          <a:off x="6318169" y="4054900"/>
          <a:ext cx="1835500" cy="688770"/>
        </p:xfrm>
        <a:graphic>
          <a:graphicData uri="http://schemas.openxmlformats.org/drawingml/2006/table">
            <a:tbl>
              <a:tblPr>
                <a:noFill/>
              </a:tblPr>
              <a:tblGrid>
                <a:gridCol w="5448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9707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79362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121925">
                <a:tc gridSpan="3"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latin typeface="Roboto"/>
                          <a:ea typeface="Roboto"/>
                          <a:cs typeface="Roboto"/>
                          <a:sym typeface="Roboto"/>
                        </a:rPr>
                        <a:t>R2's Table</a:t>
                      </a:r>
                      <a:endParaRPr sz="12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>
                    <a:solidFill>
                      <a:srgbClr val="FFFFFF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21925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latin typeface="Roboto"/>
                          <a:ea typeface="Roboto"/>
                          <a:cs typeface="Roboto"/>
                          <a:sym typeface="Roboto"/>
                        </a:rPr>
                        <a:t>To:</a:t>
                      </a:r>
                      <a:endParaRPr sz="12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latin typeface="Roboto"/>
                          <a:ea typeface="Roboto"/>
                          <a:cs typeface="Roboto"/>
                          <a:sym typeface="Roboto"/>
                        </a:rPr>
                        <a:t>Via:</a:t>
                      </a:r>
                      <a:endParaRPr sz="12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latin typeface="Roboto"/>
                          <a:ea typeface="Roboto"/>
                          <a:cs typeface="Roboto"/>
                          <a:sym typeface="Roboto"/>
                        </a:rPr>
                        <a:t>Cost:</a:t>
                      </a:r>
                      <a:endParaRPr sz="12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21925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latin typeface="Roboto"/>
                          <a:ea typeface="Roboto"/>
                          <a:cs typeface="Roboto"/>
                          <a:sym typeface="Roboto"/>
                        </a:rPr>
                        <a:t>A</a:t>
                      </a:r>
                      <a:endParaRPr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latin typeface="Roboto"/>
                          <a:ea typeface="Roboto"/>
                          <a:cs typeface="Roboto"/>
                          <a:sym typeface="Roboto"/>
                        </a:rPr>
                        <a:t>R1</a:t>
                      </a:r>
                      <a:endParaRPr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solidFill>
                            <a:schemeClr val="dk1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15</a:t>
                      </a:r>
                      <a:endParaRPr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</a:tbl>
          </a:graphicData>
        </a:graphic>
      </p:graphicFrame>
      <p:sp>
        <p:nvSpPr>
          <p:cNvPr id="2091" name="Google Shape;2091;p129"/>
          <p:cNvSpPr/>
          <p:nvPr/>
        </p:nvSpPr>
        <p:spPr>
          <a:xfrm>
            <a:off x="3057875" y="2610050"/>
            <a:ext cx="1431300" cy="437100"/>
          </a:xfrm>
          <a:prstGeom prst="roundRect">
            <a:avLst>
              <a:gd name="adj" fmla="val 16667"/>
            </a:avLst>
          </a:prstGeom>
          <a:solidFill>
            <a:srgbClr val="F4CCCC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27425" tIns="27425" rIns="27425" bIns="27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>
                <a:latin typeface="Roboto"/>
                <a:ea typeface="Roboto"/>
                <a:cs typeface="Roboto"/>
                <a:sym typeface="Roboto"/>
              </a:rPr>
              <a:t>I'm </a:t>
            </a:r>
            <a:r>
              <a:rPr lang="en" sz="1200" b="1">
                <a:latin typeface="Roboto"/>
                <a:ea typeface="Roboto"/>
                <a:cs typeface="Roboto"/>
                <a:sym typeface="Roboto"/>
              </a:rPr>
              <a:t>R3</a:t>
            </a:r>
            <a:r>
              <a:rPr lang="en" sz="1200">
                <a:latin typeface="Roboto"/>
                <a:ea typeface="Roboto"/>
                <a:cs typeface="Roboto"/>
                <a:sym typeface="Roboto"/>
              </a:rPr>
              <a:t>, and </a:t>
            </a:r>
            <a:r>
              <a:rPr lang="en" sz="1200" b="1">
                <a:latin typeface="Roboto"/>
                <a:ea typeface="Roboto"/>
                <a:cs typeface="Roboto"/>
                <a:sym typeface="Roboto"/>
              </a:rPr>
              <a:t>A</a:t>
            </a:r>
            <a:r>
              <a:rPr lang="en" sz="1200">
                <a:latin typeface="Roboto"/>
                <a:ea typeface="Roboto"/>
                <a:cs typeface="Roboto"/>
                <a:sym typeface="Roboto"/>
              </a:rPr>
              <a:t> is</a:t>
            </a:r>
            <a:br>
              <a:rPr lang="en" sz="1200">
                <a:latin typeface="Roboto"/>
                <a:ea typeface="Roboto"/>
                <a:cs typeface="Roboto"/>
                <a:sym typeface="Roboto"/>
              </a:rPr>
            </a:br>
            <a:r>
              <a:rPr lang="en" sz="1200" b="1">
                <a:latin typeface="Roboto"/>
                <a:ea typeface="Roboto"/>
                <a:cs typeface="Roboto"/>
                <a:sym typeface="Roboto"/>
              </a:rPr>
              <a:t>∞</a:t>
            </a:r>
            <a:r>
              <a:rPr lang="en" sz="1200">
                <a:latin typeface="Roboto"/>
                <a:ea typeface="Roboto"/>
                <a:cs typeface="Roboto"/>
                <a:sym typeface="Roboto"/>
              </a:rPr>
              <a:t> away from me.</a:t>
            </a:r>
            <a:endParaRPr sz="1200"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2092" name="Google Shape;2092;p129"/>
          <p:cNvCxnSpPr/>
          <p:nvPr/>
        </p:nvCxnSpPr>
        <p:spPr>
          <a:xfrm rot="10800000" flipH="1">
            <a:off x="4115675" y="2831869"/>
            <a:ext cx="953100" cy="550200"/>
          </a:xfrm>
          <a:prstGeom prst="straightConnector1">
            <a:avLst/>
          </a:prstGeom>
          <a:noFill/>
          <a:ln w="19050" cap="flat" cmpd="sng">
            <a:solidFill>
              <a:schemeClr val="accent2"/>
            </a:solidFill>
            <a:prstDash val="solid"/>
            <a:round/>
            <a:headEnd type="none" w="med" len="med"/>
            <a:tailEnd type="triangle" w="med" len="med"/>
          </a:ln>
        </p:spPr>
      </p:cxnSp>
      <p:graphicFrame>
        <p:nvGraphicFramePr>
          <p:cNvPr id="2093" name="Google Shape;2093;p129"/>
          <p:cNvGraphicFramePr/>
          <p:nvPr/>
        </p:nvGraphicFramePr>
        <p:xfrm>
          <a:off x="6318169" y="2544150"/>
          <a:ext cx="1835500" cy="688770"/>
        </p:xfrm>
        <a:graphic>
          <a:graphicData uri="http://schemas.openxmlformats.org/drawingml/2006/table">
            <a:tbl>
              <a:tblPr>
                <a:noFill/>
              </a:tblPr>
              <a:tblGrid>
                <a:gridCol w="5448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9707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79362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121925">
                <a:tc gridSpan="3"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latin typeface="Roboto"/>
                          <a:ea typeface="Roboto"/>
                          <a:cs typeface="Roboto"/>
                          <a:sym typeface="Roboto"/>
                        </a:rPr>
                        <a:t>R1's Table</a:t>
                      </a:r>
                      <a:endParaRPr sz="12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>
                    <a:solidFill>
                      <a:srgbClr val="FFFFFF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21925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latin typeface="Roboto"/>
                          <a:ea typeface="Roboto"/>
                          <a:cs typeface="Roboto"/>
                          <a:sym typeface="Roboto"/>
                        </a:rPr>
                        <a:t>To:</a:t>
                      </a:r>
                      <a:endParaRPr sz="12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latin typeface="Roboto"/>
                          <a:ea typeface="Roboto"/>
                          <a:cs typeface="Roboto"/>
                          <a:sym typeface="Roboto"/>
                        </a:rPr>
                        <a:t>Via:</a:t>
                      </a:r>
                      <a:endParaRPr sz="12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latin typeface="Roboto"/>
                          <a:ea typeface="Roboto"/>
                          <a:cs typeface="Roboto"/>
                          <a:sym typeface="Roboto"/>
                        </a:rPr>
                        <a:t>Cost:</a:t>
                      </a:r>
                      <a:endParaRPr sz="12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21925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b="1">
                          <a:latin typeface="Roboto"/>
                          <a:ea typeface="Roboto"/>
                          <a:cs typeface="Roboto"/>
                          <a:sym typeface="Roboto"/>
                        </a:rPr>
                        <a:t>A</a:t>
                      </a:r>
                      <a:endParaRPr b="1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>
                    <a:solidFill>
                      <a:srgbClr val="F4CCCC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b="1">
                          <a:latin typeface="Roboto"/>
                          <a:ea typeface="Roboto"/>
                          <a:cs typeface="Roboto"/>
                          <a:sym typeface="Roboto"/>
                        </a:rPr>
                        <a:t>R3</a:t>
                      </a:r>
                      <a:endParaRPr b="1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>
                    <a:solidFill>
                      <a:srgbClr val="F4CCCC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b="1">
                          <a:latin typeface="Roboto"/>
                          <a:ea typeface="Roboto"/>
                          <a:cs typeface="Roboto"/>
                          <a:sym typeface="Roboto"/>
                        </a:rPr>
                        <a:t>∞</a:t>
                      </a:r>
                      <a:endParaRPr b="1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>
                    <a:solidFill>
                      <a:srgbClr val="F4CCC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</a:tbl>
          </a:graphicData>
        </a:graphic>
      </p:graphicFrame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9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0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2098" name="Google Shape;2098;p130"/>
          <p:cNvCxnSpPr>
            <a:stCxn id="2099" idx="1"/>
            <a:endCxn id="2100" idx="6"/>
          </p:cNvCxnSpPr>
          <p:nvPr/>
        </p:nvCxnSpPr>
        <p:spPr>
          <a:xfrm rot="10800000">
            <a:off x="3336375" y="3637275"/>
            <a:ext cx="400800" cy="0"/>
          </a:xfrm>
          <a:prstGeom prst="straightConnector1">
            <a:avLst/>
          </a:prstGeom>
          <a:noFill/>
          <a:ln w="19050" cap="flat" cmpd="sng">
            <a:solidFill>
              <a:srgbClr val="D9D9D9"/>
            </a:solidFill>
            <a:prstDash val="dash"/>
            <a:round/>
            <a:headEnd type="none" w="med" len="med"/>
            <a:tailEnd type="none" w="med" len="med"/>
          </a:ln>
        </p:spPr>
      </p:cxnSp>
      <p:sp>
        <p:nvSpPr>
          <p:cNvPr id="2101" name="Google Shape;2101;p130"/>
          <p:cNvSpPr txBox="1">
            <a:spLocks noGrp="1"/>
          </p:cNvSpPr>
          <p:nvPr>
            <p:ph type="title"/>
          </p:nvPr>
        </p:nvSpPr>
        <p:spPr>
          <a:xfrm>
            <a:off x="0" y="0"/>
            <a:ext cx="9144000" cy="39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accent3"/>
                </a:solidFill>
              </a:rPr>
              <a:t>Count to Infinity – Solution</a:t>
            </a:r>
            <a:endParaRPr/>
          </a:p>
        </p:txBody>
      </p:sp>
      <p:sp>
        <p:nvSpPr>
          <p:cNvPr id="2102" name="Google Shape;2102;p130"/>
          <p:cNvSpPr txBox="1">
            <a:spLocks noGrp="1"/>
          </p:cNvSpPr>
          <p:nvPr>
            <p:ph type="body" idx="1"/>
          </p:nvPr>
        </p:nvSpPr>
        <p:spPr>
          <a:xfrm>
            <a:off x="107050" y="402200"/>
            <a:ext cx="8909700" cy="1079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"/>
              <a:t>All numbers ≥ 16 are considered infinity.</a:t>
            </a:r>
            <a:endParaRPr/>
          </a:p>
        </p:txBody>
      </p:sp>
      <p:sp>
        <p:nvSpPr>
          <p:cNvPr id="2100" name="Google Shape;2100;p130"/>
          <p:cNvSpPr/>
          <p:nvPr/>
        </p:nvSpPr>
        <p:spPr>
          <a:xfrm>
            <a:off x="3051363" y="3494775"/>
            <a:ext cx="285000" cy="285000"/>
          </a:xfrm>
          <a:prstGeom prst="ellipse">
            <a:avLst/>
          </a:prstGeom>
          <a:solidFill>
            <a:srgbClr val="FFFFFF"/>
          </a:solidFill>
          <a:ln w="19050" cap="flat" cmpd="sng">
            <a:solidFill>
              <a:srgbClr val="D9D9D9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D9D9D9"/>
                </a:solidFill>
                <a:latin typeface="Roboto"/>
                <a:ea typeface="Roboto"/>
                <a:cs typeface="Roboto"/>
                <a:sym typeface="Roboto"/>
              </a:rPr>
              <a:t>A</a:t>
            </a:r>
            <a:endParaRPr>
              <a:solidFill>
                <a:srgbClr val="D9D9D9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2103" name="Google Shape;2103;p130"/>
          <p:cNvSpPr/>
          <p:nvPr/>
        </p:nvSpPr>
        <p:spPr>
          <a:xfrm>
            <a:off x="5261175" y="2780457"/>
            <a:ext cx="285000" cy="285000"/>
          </a:xfrm>
          <a:prstGeom prst="rect">
            <a:avLst/>
          </a:prstGeom>
          <a:solidFill>
            <a:srgbClr val="FFFFFF"/>
          </a:solidFill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R1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2104" name="Google Shape;2104;p130"/>
          <p:cNvCxnSpPr>
            <a:stCxn id="2103" idx="2"/>
            <a:endCxn id="2105" idx="0"/>
          </p:cNvCxnSpPr>
          <p:nvPr/>
        </p:nvCxnSpPr>
        <p:spPr>
          <a:xfrm>
            <a:off x="5403675" y="3065457"/>
            <a:ext cx="0" cy="1144800"/>
          </a:xfrm>
          <a:prstGeom prst="straightConnector1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2105" name="Google Shape;2105;p130"/>
          <p:cNvSpPr/>
          <p:nvPr/>
        </p:nvSpPr>
        <p:spPr>
          <a:xfrm>
            <a:off x="5261175" y="4210229"/>
            <a:ext cx="285000" cy="285000"/>
          </a:xfrm>
          <a:prstGeom prst="rect">
            <a:avLst/>
          </a:prstGeom>
          <a:solidFill>
            <a:srgbClr val="FFFFFF"/>
          </a:solidFill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R2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2099" name="Google Shape;2099;p130"/>
          <p:cNvSpPr/>
          <p:nvPr/>
        </p:nvSpPr>
        <p:spPr>
          <a:xfrm>
            <a:off x="3737175" y="3494775"/>
            <a:ext cx="285000" cy="285000"/>
          </a:xfrm>
          <a:prstGeom prst="rect">
            <a:avLst/>
          </a:prstGeom>
          <a:solidFill>
            <a:srgbClr val="FFFFFF"/>
          </a:solidFill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R3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2106" name="Google Shape;2106;p130"/>
          <p:cNvCxnSpPr>
            <a:stCxn id="2103" idx="1"/>
            <a:endCxn id="2099" idx="3"/>
          </p:cNvCxnSpPr>
          <p:nvPr/>
        </p:nvCxnSpPr>
        <p:spPr>
          <a:xfrm flipH="1">
            <a:off x="4022175" y="2922957"/>
            <a:ext cx="1239000" cy="714300"/>
          </a:xfrm>
          <a:prstGeom prst="straightConnector1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2107" name="Google Shape;2107;p130"/>
          <p:cNvCxnSpPr>
            <a:stCxn id="2105" idx="1"/>
            <a:endCxn id="2099" idx="3"/>
          </p:cNvCxnSpPr>
          <p:nvPr/>
        </p:nvCxnSpPr>
        <p:spPr>
          <a:xfrm rot="10800000">
            <a:off x="4022175" y="3637229"/>
            <a:ext cx="1239000" cy="715500"/>
          </a:xfrm>
          <a:prstGeom prst="straightConnector1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med" len="med"/>
            <a:tailEnd type="none" w="med" len="med"/>
          </a:ln>
        </p:spPr>
      </p:cxnSp>
      <p:graphicFrame>
        <p:nvGraphicFramePr>
          <p:cNvPr id="2108" name="Google Shape;2108;p130"/>
          <p:cNvGraphicFramePr/>
          <p:nvPr/>
        </p:nvGraphicFramePr>
        <p:xfrm>
          <a:off x="990319" y="3292900"/>
          <a:ext cx="1835500" cy="688770"/>
        </p:xfrm>
        <a:graphic>
          <a:graphicData uri="http://schemas.openxmlformats.org/drawingml/2006/table">
            <a:tbl>
              <a:tblPr>
                <a:noFill/>
              </a:tblPr>
              <a:tblGrid>
                <a:gridCol w="5448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9707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79362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121925">
                <a:tc gridSpan="3"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latin typeface="Roboto"/>
                          <a:ea typeface="Roboto"/>
                          <a:cs typeface="Roboto"/>
                          <a:sym typeface="Roboto"/>
                        </a:rPr>
                        <a:t>R3's Table</a:t>
                      </a:r>
                      <a:endParaRPr sz="12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>
                    <a:solidFill>
                      <a:srgbClr val="FFFFFF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21925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latin typeface="Roboto"/>
                          <a:ea typeface="Roboto"/>
                          <a:cs typeface="Roboto"/>
                          <a:sym typeface="Roboto"/>
                        </a:rPr>
                        <a:t>To:</a:t>
                      </a:r>
                      <a:endParaRPr sz="12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latin typeface="Roboto"/>
                          <a:ea typeface="Roboto"/>
                          <a:cs typeface="Roboto"/>
                          <a:sym typeface="Roboto"/>
                        </a:rPr>
                        <a:t>Via:</a:t>
                      </a:r>
                      <a:endParaRPr sz="12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latin typeface="Roboto"/>
                          <a:ea typeface="Roboto"/>
                          <a:cs typeface="Roboto"/>
                          <a:sym typeface="Roboto"/>
                        </a:rPr>
                        <a:t>Cost:</a:t>
                      </a:r>
                      <a:endParaRPr sz="12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21925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latin typeface="Roboto"/>
                          <a:ea typeface="Roboto"/>
                          <a:cs typeface="Roboto"/>
                          <a:sym typeface="Roboto"/>
                        </a:rPr>
                        <a:t>A</a:t>
                      </a:r>
                      <a:endParaRPr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latin typeface="Roboto"/>
                          <a:ea typeface="Roboto"/>
                          <a:cs typeface="Roboto"/>
                          <a:sym typeface="Roboto"/>
                        </a:rPr>
                        <a:t>R2</a:t>
                      </a:r>
                      <a:endParaRPr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latin typeface="Roboto"/>
                          <a:ea typeface="Roboto"/>
                          <a:cs typeface="Roboto"/>
                          <a:sym typeface="Roboto"/>
                        </a:rPr>
                        <a:t>∞</a:t>
                      </a:r>
                      <a:endParaRPr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</a:tbl>
          </a:graphicData>
        </a:graphic>
      </p:graphicFrame>
      <p:graphicFrame>
        <p:nvGraphicFramePr>
          <p:cNvPr id="2109" name="Google Shape;2109;p130"/>
          <p:cNvGraphicFramePr/>
          <p:nvPr/>
        </p:nvGraphicFramePr>
        <p:xfrm>
          <a:off x="6318169" y="2544150"/>
          <a:ext cx="1835500" cy="688770"/>
        </p:xfrm>
        <a:graphic>
          <a:graphicData uri="http://schemas.openxmlformats.org/drawingml/2006/table">
            <a:tbl>
              <a:tblPr>
                <a:noFill/>
              </a:tblPr>
              <a:tblGrid>
                <a:gridCol w="5448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9707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79362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121925">
                <a:tc gridSpan="3"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latin typeface="Roboto"/>
                          <a:ea typeface="Roboto"/>
                          <a:cs typeface="Roboto"/>
                          <a:sym typeface="Roboto"/>
                        </a:rPr>
                        <a:t>R1's Table</a:t>
                      </a:r>
                      <a:endParaRPr sz="12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>
                    <a:solidFill>
                      <a:srgbClr val="FFFFFF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21925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latin typeface="Roboto"/>
                          <a:ea typeface="Roboto"/>
                          <a:cs typeface="Roboto"/>
                          <a:sym typeface="Roboto"/>
                        </a:rPr>
                        <a:t>To:</a:t>
                      </a:r>
                      <a:endParaRPr sz="12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latin typeface="Roboto"/>
                          <a:ea typeface="Roboto"/>
                          <a:cs typeface="Roboto"/>
                          <a:sym typeface="Roboto"/>
                        </a:rPr>
                        <a:t>Via:</a:t>
                      </a:r>
                      <a:endParaRPr sz="12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latin typeface="Roboto"/>
                          <a:ea typeface="Roboto"/>
                          <a:cs typeface="Roboto"/>
                          <a:sym typeface="Roboto"/>
                        </a:rPr>
                        <a:t>Cost:</a:t>
                      </a:r>
                      <a:endParaRPr sz="12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21925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latin typeface="Roboto"/>
                          <a:ea typeface="Roboto"/>
                          <a:cs typeface="Roboto"/>
                          <a:sym typeface="Roboto"/>
                        </a:rPr>
                        <a:t>A</a:t>
                      </a:r>
                      <a:endParaRPr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latin typeface="Roboto"/>
                          <a:ea typeface="Roboto"/>
                          <a:cs typeface="Roboto"/>
                          <a:sym typeface="Roboto"/>
                        </a:rPr>
                        <a:t>R3</a:t>
                      </a:r>
                      <a:endParaRPr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latin typeface="Roboto"/>
                          <a:ea typeface="Roboto"/>
                          <a:cs typeface="Roboto"/>
                          <a:sym typeface="Roboto"/>
                        </a:rPr>
                        <a:t>∞</a:t>
                      </a:r>
                      <a:endParaRPr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</a:tbl>
          </a:graphicData>
        </a:graphic>
      </p:graphicFrame>
      <p:graphicFrame>
        <p:nvGraphicFramePr>
          <p:cNvPr id="2110" name="Google Shape;2110;p130"/>
          <p:cNvGraphicFramePr/>
          <p:nvPr/>
        </p:nvGraphicFramePr>
        <p:xfrm>
          <a:off x="6318169" y="4054900"/>
          <a:ext cx="1835500" cy="688770"/>
        </p:xfrm>
        <a:graphic>
          <a:graphicData uri="http://schemas.openxmlformats.org/drawingml/2006/table">
            <a:tbl>
              <a:tblPr>
                <a:noFill/>
              </a:tblPr>
              <a:tblGrid>
                <a:gridCol w="5448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9707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79362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121925">
                <a:tc gridSpan="3"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latin typeface="Roboto"/>
                          <a:ea typeface="Roboto"/>
                          <a:cs typeface="Roboto"/>
                          <a:sym typeface="Roboto"/>
                        </a:rPr>
                        <a:t>R2's Table</a:t>
                      </a:r>
                      <a:endParaRPr sz="12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>
                    <a:solidFill>
                      <a:srgbClr val="FFFFFF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21925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latin typeface="Roboto"/>
                          <a:ea typeface="Roboto"/>
                          <a:cs typeface="Roboto"/>
                          <a:sym typeface="Roboto"/>
                        </a:rPr>
                        <a:t>To:</a:t>
                      </a:r>
                      <a:endParaRPr sz="12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latin typeface="Roboto"/>
                          <a:ea typeface="Roboto"/>
                          <a:cs typeface="Roboto"/>
                          <a:sym typeface="Roboto"/>
                        </a:rPr>
                        <a:t>Via:</a:t>
                      </a:r>
                      <a:endParaRPr sz="12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latin typeface="Roboto"/>
                          <a:ea typeface="Roboto"/>
                          <a:cs typeface="Roboto"/>
                          <a:sym typeface="Roboto"/>
                        </a:rPr>
                        <a:t>Cost:</a:t>
                      </a:r>
                      <a:endParaRPr sz="12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21925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latin typeface="Roboto"/>
                          <a:ea typeface="Roboto"/>
                          <a:cs typeface="Roboto"/>
                          <a:sym typeface="Roboto"/>
                        </a:rPr>
                        <a:t>A</a:t>
                      </a:r>
                      <a:endParaRPr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latin typeface="Roboto"/>
                          <a:ea typeface="Roboto"/>
                          <a:cs typeface="Roboto"/>
                          <a:sym typeface="Roboto"/>
                        </a:rPr>
                        <a:t>R1</a:t>
                      </a:r>
                      <a:endParaRPr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solidFill>
                            <a:schemeClr val="dk1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15</a:t>
                      </a:r>
                      <a:endParaRPr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</a:tbl>
          </a:graphicData>
        </a:graphic>
      </p:graphicFrame>
      <p:sp>
        <p:nvSpPr>
          <p:cNvPr id="2111" name="Google Shape;2111;p130"/>
          <p:cNvSpPr/>
          <p:nvPr/>
        </p:nvSpPr>
        <p:spPr>
          <a:xfrm>
            <a:off x="5733600" y="3425350"/>
            <a:ext cx="1431300" cy="437100"/>
          </a:xfrm>
          <a:prstGeom prst="roundRect">
            <a:avLst>
              <a:gd name="adj" fmla="val 16667"/>
            </a:avLst>
          </a:prstGeom>
          <a:solidFill>
            <a:srgbClr val="F4CCCC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27425" tIns="27425" rIns="27425" bIns="27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>
                <a:latin typeface="Roboto"/>
                <a:ea typeface="Roboto"/>
                <a:cs typeface="Roboto"/>
                <a:sym typeface="Roboto"/>
              </a:rPr>
              <a:t>I'm </a:t>
            </a:r>
            <a:r>
              <a:rPr lang="en" sz="1200" b="1">
                <a:latin typeface="Roboto"/>
                <a:ea typeface="Roboto"/>
                <a:cs typeface="Roboto"/>
                <a:sym typeface="Roboto"/>
              </a:rPr>
              <a:t>R1</a:t>
            </a:r>
            <a:r>
              <a:rPr lang="en" sz="1200">
                <a:latin typeface="Roboto"/>
                <a:ea typeface="Roboto"/>
                <a:cs typeface="Roboto"/>
                <a:sym typeface="Roboto"/>
              </a:rPr>
              <a:t>, and </a:t>
            </a:r>
            <a:r>
              <a:rPr lang="en" sz="1200" b="1">
                <a:latin typeface="Roboto"/>
                <a:ea typeface="Roboto"/>
                <a:cs typeface="Roboto"/>
                <a:sym typeface="Roboto"/>
              </a:rPr>
              <a:t>A</a:t>
            </a:r>
            <a:r>
              <a:rPr lang="en" sz="1200">
                <a:latin typeface="Roboto"/>
                <a:ea typeface="Roboto"/>
                <a:cs typeface="Roboto"/>
                <a:sym typeface="Roboto"/>
              </a:rPr>
              <a:t> is</a:t>
            </a:r>
            <a:br>
              <a:rPr lang="en" sz="1200">
                <a:latin typeface="Roboto"/>
                <a:ea typeface="Roboto"/>
                <a:cs typeface="Roboto"/>
                <a:sym typeface="Roboto"/>
              </a:rPr>
            </a:br>
            <a:r>
              <a:rPr lang="en" sz="1200" b="1">
                <a:latin typeface="Roboto"/>
                <a:ea typeface="Roboto"/>
                <a:cs typeface="Roboto"/>
                <a:sym typeface="Roboto"/>
              </a:rPr>
              <a:t>∞</a:t>
            </a:r>
            <a:r>
              <a:rPr lang="en" sz="1200">
                <a:latin typeface="Roboto"/>
                <a:ea typeface="Roboto"/>
                <a:cs typeface="Roboto"/>
                <a:sym typeface="Roboto"/>
              </a:rPr>
              <a:t> away from me.</a:t>
            </a:r>
            <a:endParaRPr sz="1200"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2112" name="Google Shape;2112;p130"/>
          <p:cNvCxnSpPr/>
          <p:nvPr/>
        </p:nvCxnSpPr>
        <p:spPr>
          <a:xfrm>
            <a:off x="5569575" y="3172442"/>
            <a:ext cx="0" cy="922800"/>
          </a:xfrm>
          <a:prstGeom prst="straightConnector1">
            <a:avLst/>
          </a:prstGeom>
          <a:noFill/>
          <a:ln w="19050" cap="flat" cmpd="sng">
            <a:solidFill>
              <a:schemeClr val="accent2"/>
            </a:solidFill>
            <a:prstDash val="solid"/>
            <a:round/>
            <a:headEnd type="none" w="med" len="med"/>
            <a:tailEnd type="triangle" w="med" len="med"/>
          </a:ln>
        </p:spPr>
      </p:cxnSp>
      <p:graphicFrame>
        <p:nvGraphicFramePr>
          <p:cNvPr id="2113" name="Google Shape;2113;p130"/>
          <p:cNvGraphicFramePr/>
          <p:nvPr/>
        </p:nvGraphicFramePr>
        <p:xfrm>
          <a:off x="6318169" y="4054900"/>
          <a:ext cx="1835500" cy="688770"/>
        </p:xfrm>
        <a:graphic>
          <a:graphicData uri="http://schemas.openxmlformats.org/drawingml/2006/table">
            <a:tbl>
              <a:tblPr>
                <a:noFill/>
              </a:tblPr>
              <a:tblGrid>
                <a:gridCol w="5448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9707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79362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121925">
                <a:tc gridSpan="3"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latin typeface="Roboto"/>
                          <a:ea typeface="Roboto"/>
                          <a:cs typeface="Roboto"/>
                          <a:sym typeface="Roboto"/>
                        </a:rPr>
                        <a:t>R2's Table</a:t>
                      </a:r>
                      <a:endParaRPr sz="12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>
                    <a:solidFill>
                      <a:srgbClr val="FFFFFF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21925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latin typeface="Roboto"/>
                          <a:ea typeface="Roboto"/>
                          <a:cs typeface="Roboto"/>
                          <a:sym typeface="Roboto"/>
                        </a:rPr>
                        <a:t>To:</a:t>
                      </a:r>
                      <a:endParaRPr sz="12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latin typeface="Roboto"/>
                          <a:ea typeface="Roboto"/>
                          <a:cs typeface="Roboto"/>
                          <a:sym typeface="Roboto"/>
                        </a:rPr>
                        <a:t>Via:</a:t>
                      </a:r>
                      <a:endParaRPr sz="12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latin typeface="Roboto"/>
                          <a:ea typeface="Roboto"/>
                          <a:cs typeface="Roboto"/>
                          <a:sym typeface="Roboto"/>
                        </a:rPr>
                        <a:t>Cost:</a:t>
                      </a:r>
                      <a:endParaRPr sz="12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21925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b="1">
                          <a:latin typeface="Roboto"/>
                          <a:ea typeface="Roboto"/>
                          <a:cs typeface="Roboto"/>
                          <a:sym typeface="Roboto"/>
                        </a:rPr>
                        <a:t>A</a:t>
                      </a:r>
                      <a:endParaRPr b="1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>
                    <a:solidFill>
                      <a:srgbClr val="F4CCCC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b="1">
                          <a:latin typeface="Roboto"/>
                          <a:ea typeface="Roboto"/>
                          <a:cs typeface="Roboto"/>
                          <a:sym typeface="Roboto"/>
                        </a:rPr>
                        <a:t>R1</a:t>
                      </a:r>
                      <a:endParaRPr b="1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>
                    <a:solidFill>
                      <a:srgbClr val="F4CCCC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b="1">
                          <a:solidFill>
                            <a:schemeClr val="dk1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∞</a:t>
                      </a:r>
                      <a:endParaRPr b="1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>
                    <a:solidFill>
                      <a:srgbClr val="F4CCC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</a:tbl>
          </a:graphicData>
        </a:graphic>
      </p:graphicFrame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2118" name="Google Shape;2118;p131"/>
          <p:cNvCxnSpPr>
            <a:stCxn id="2119" idx="1"/>
            <a:endCxn id="2120" idx="6"/>
          </p:cNvCxnSpPr>
          <p:nvPr/>
        </p:nvCxnSpPr>
        <p:spPr>
          <a:xfrm rot="10800000">
            <a:off x="3336375" y="3637275"/>
            <a:ext cx="400800" cy="0"/>
          </a:xfrm>
          <a:prstGeom prst="straightConnector1">
            <a:avLst/>
          </a:prstGeom>
          <a:noFill/>
          <a:ln w="19050" cap="flat" cmpd="sng">
            <a:solidFill>
              <a:srgbClr val="D9D9D9"/>
            </a:solidFill>
            <a:prstDash val="dash"/>
            <a:round/>
            <a:headEnd type="none" w="med" len="med"/>
            <a:tailEnd type="none" w="med" len="med"/>
          </a:ln>
        </p:spPr>
      </p:cxnSp>
      <p:sp>
        <p:nvSpPr>
          <p:cNvPr id="2121" name="Google Shape;2121;p131"/>
          <p:cNvSpPr txBox="1">
            <a:spLocks noGrp="1"/>
          </p:cNvSpPr>
          <p:nvPr>
            <p:ph type="title"/>
          </p:nvPr>
        </p:nvSpPr>
        <p:spPr>
          <a:xfrm>
            <a:off x="0" y="0"/>
            <a:ext cx="9144000" cy="39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accent3"/>
                </a:solidFill>
              </a:rPr>
              <a:t>Count to Infinity – Solution</a:t>
            </a:r>
            <a:endParaRPr/>
          </a:p>
        </p:txBody>
      </p:sp>
      <p:sp>
        <p:nvSpPr>
          <p:cNvPr id="2122" name="Google Shape;2122;p131"/>
          <p:cNvSpPr txBox="1">
            <a:spLocks noGrp="1"/>
          </p:cNvSpPr>
          <p:nvPr>
            <p:ph type="body" idx="1"/>
          </p:nvPr>
        </p:nvSpPr>
        <p:spPr>
          <a:xfrm>
            <a:off x="107050" y="402200"/>
            <a:ext cx="8909700" cy="1990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"/>
              <a:t>We've reached steady state!</a:t>
            </a:r>
            <a:endParaRPr/>
          </a:p>
          <a:p>
            <a:pPr marL="457200" lvl="0" indent="-342900" algn="l" rtl="0">
              <a:spcBef>
                <a:spcPts val="60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Future advertisements won't change the tables.</a:t>
            </a:r>
            <a:endParaRPr/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Routes for A will soon expire.</a:t>
            </a:r>
            <a:endParaRPr/>
          </a:p>
          <a:p>
            <a:pPr marL="914400" lvl="1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○"/>
            </a:pPr>
            <a:r>
              <a:rPr lang="en"/>
              <a:t>Or, if another route to A appears, it'll replace the infinite-cost entry.</a:t>
            </a:r>
            <a:endParaRPr/>
          </a:p>
        </p:txBody>
      </p:sp>
      <p:sp>
        <p:nvSpPr>
          <p:cNvPr id="2120" name="Google Shape;2120;p131"/>
          <p:cNvSpPr/>
          <p:nvPr/>
        </p:nvSpPr>
        <p:spPr>
          <a:xfrm>
            <a:off x="3051363" y="3494775"/>
            <a:ext cx="285000" cy="285000"/>
          </a:xfrm>
          <a:prstGeom prst="ellipse">
            <a:avLst/>
          </a:prstGeom>
          <a:solidFill>
            <a:srgbClr val="FFFFFF"/>
          </a:solidFill>
          <a:ln w="19050" cap="flat" cmpd="sng">
            <a:solidFill>
              <a:srgbClr val="D9D9D9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D9D9D9"/>
                </a:solidFill>
                <a:latin typeface="Roboto"/>
                <a:ea typeface="Roboto"/>
                <a:cs typeface="Roboto"/>
                <a:sym typeface="Roboto"/>
              </a:rPr>
              <a:t>A</a:t>
            </a:r>
            <a:endParaRPr>
              <a:solidFill>
                <a:srgbClr val="D9D9D9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2123" name="Google Shape;2123;p131"/>
          <p:cNvSpPr/>
          <p:nvPr/>
        </p:nvSpPr>
        <p:spPr>
          <a:xfrm>
            <a:off x="5261175" y="2780457"/>
            <a:ext cx="285000" cy="285000"/>
          </a:xfrm>
          <a:prstGeom prst="rect">
            <a:avLst/>
          </a:prstGeom>
          <a:solidFill>
            <a:srgbClr val="FFFFFF"/>
          </a:solidFill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R1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2124" name="Google Shape;2124;p131"/>
          <p:cNvCxnSpPr>
            <a:stCxn id="2123" idx="2"/>
            <a:endCxn id="2125" idx="0"/>
          </p:cNvCxnSpPr>
          <p:nvPr/>
        </p:nvCxnSpPr>
        <p:spPr>
          <a:xfrm>
            <a:off x="5403675" y="3065457"/>
            <a:ext cx="0" cy="1144800"/>
          </a:xfrm>
          <a:prstGeom prst="straightConnector1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2125" name="Google Shape;2125;p131"/>
          <p:cNvSpPr/>
          <p:nvPr/>
        </p:nvSpPr>
        <p:spPr>
          <a:xfrm>
            <a:off x="5261175" y="4210229"/>
            <a:ext cx="285000" cy="285000"/>
          </a:xfrm>
          <a:prstGeom prst="rect">
            <a:avLst/>
          </a:prstGeom>
          <a:solidFill>
            <a:srgbClr val="FFFFFF"/>
          </a:solidFill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R2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2119" name="Google Shape;2119;p131"/>
          <p:cNvSpPr/>
          <p:nvPr/>
        </p:nvSpPr>
        <p:spPr>
          <a:xfrm>
            <a:off x="3737175" y="3494775"/>
            <a:ext cx="285000" cy="285000"/>
          </a:xfrm>
          <a:prstGeom prst="rect">
            <a:avLst/>
          </a:prstGeom>
          <a:solidFill>
            <a:srgbClr val="FFFFFF"/>
          </a:solidFill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R3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2126" name="Google Shape;2126;p131"/>
          <p:cNvCxnSpPr>
            <a:stCxn id="2123" idx="1"/>
            <a:endCxn id="2119" idx="3"/>
          </p:cNvCxnSpPr>
          <p:nvPr/>
        </p:nvCxnSpPr>
        <p:spPr>
          <a:xfrm flipH="1">
            <a:off x="4022175" y="2922957"/>
            <a:ext cx="1239000" cy="714300"/>
          </a:xfrm>
          <a:prstGeom prst="straightConnector1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2127" name="Google Shape;2127;p131"/>
          <p:cNvCxnSpPr>
            <a:stCxn id="2125" idx="1"/>
            <a:endCxn id="2119" idx="3"/>
          </p:cNvCxnSpPr>
          <p:nvPr/>
        </p:nvCxnSpPr>
        <p:spPr>
          <a:xfrm rot="10800000">
            <a:off x="4022175" y="3637229"/>
            <a:ext cx="1239000" cy="715500"/>
          </a:xfrm>
          <a:prstGeom prst="straightConnector1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med" len="med"/>
            <a:tailEnd type="none" w="med" len="med"/>
          </a:ln>
        </p:spPr>
      </p:cxnSp>
      <p:graphicFrame>
        <p:nvGraphicFramePr>
          <p:cNvPr id="2128" name="Google Shape;2128;p131"/>
          <p:cNvGraphicFramePr/>
          <p:nvPr/>
        </p:nvGraphicFramePr>
        <p:xfrm>
          <a:off x="990319" y="3292900"/>
          <a:ext cx="1835500" cy="688770"/>
        </p:xfrm>
        <a:graphic>
          <a:graphicData uri="http://schemas.openxmlformats.org/drawingml/2006/table">
            <a:tbl>
              <a:tblPr>
                <a:noFill/>
              </a:tblPr>
              <a:tblGrid>
                <a:gridCol w="5448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9707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79362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121925">
                <a:tc gridSpan="3"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latin typeface="Roboto"/>
                          <a:ea typeface="Roboto"/>
                          <a:cs typeface="Roboto"/>
                          <a:sym typeface="Roboto"/>
                        </a:rPr>
                        <a:t>R3's Table</a:t>
                      </a:r>
                      <a:endParaRPr sz="12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>
                    <a:solidFill>
                      <a:srgbClr val="FFFFFF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21925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latin typeface="Roboto"/>
                          <a:ea typeface="Roboto"/>
                          <a:cs typeface="Roboto"/>
                          <a:sym typeface="Roboto"/>
                        </a:rPr>
                        <a:t>To:</a:t>
                      </a:r>
                      <a:endParaRPr sz="12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latin typeface="Roboto"/>
                          <a:ea typeface="Roboto"/>
                          <a:cs typeface="Roboto"/>
                          <a:sym typeface="Roboto"/>
                        </a:rPr>
                        <a:t>Via:</a:t>
                      </a:r>
                      <a:endParaRPr sz="12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latin typeface="Roboto"/>
                          <a:ea typeface="Roboto"/>
                          <a:cs typeface="Roboto"/>
                          <a:sym typeface="Roboto"/>
                        </a:rPr>
                        <a:t>Cost:</a:t>
                      </a:r>
                      <a:endParaRPr sz="12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21925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latin typeface="Roboto"/>
                          <a:ea typeface="Roboto"/>
                          <a:cs typeface="Roboto"/>
                          <a:sym typeface="Roboto"/>
                        </a:rPr>
                        <a:t>A</a:t>
                      </a:r>
                      <a:endParaRPr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latin typeface="Roboto"/>
                          <a:ea typeface="Roboto"/>
                          <a:cs typeface="Roboto"/>
                          <a:sym typeface="Roboto"/>
                        </a:rPr>
                        <a:t>R2</a:t>
                      </a:r>
                      <a:endParaRPr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latin typeface="Roboto"/>
                          <a:ea typeface="Roboto"/>
                          <a:cs typeface="Roboto"/>
                          <a:sym typeface="Roboto"/>
                        </a:rPr>
                        <a:t>∞</a:t>
                      </a:r>
                      <a:endParaRPr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</a:tbl>
          </a:graphicData>
        </a:graphic>
      </p:graphicFrame>
      <p:graphicFrame>
        <p:nvGraphicFramePr>
          <p:cNvPr id="2129" name="Google Shape;2129;p131"/>
          <p:cNvGraphicFramePr/>
          <p:nvPr/>
        </p:nvGraphicFramePr>
        <p:xfrm>
          <a:off x="6318169" y="2544150"/>
          <a:ext cx="1835500" cy="688770"/>
        </p:xfrm>
        <a:graphic>
          <a:graphicData uri="http://schemas.openxmlformats.org/drawingml/2006/table">
            <a:tbl>
              <a:tblPr>
                <a:noFill/>
              </a:tblPr>
              <a:tblGrid>
                <a:gridCol w="5448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9707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79362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121925">
                <a:tc gridSpan="3"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latin typeface="Roboto"/>
                          <a:ea typeface="Roboto"/>
                          <a:cs typeface="Roboto"/>
                          <a:sym typeface="Roboto"/>
                        </a:rPr>
                        <a:t>R1's Table</a:t>
                      </a:r>
                      <a:endParaRPr sz="12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>
                    <a:solidFill>
                      <a:srgbClr val="FFFFFF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21925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latin typeface="Roboto"/>
                          <a:ea typeface="Roboto"/>
                          <a:cs typeface="Roboto"/>
                          <a:sym typeface="Roboto"/>
                        </a:rPr>
                        <a:t>To:</a:t>
                      </a:r>
                      <a:endParaRPr sz="12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latin typeface="Roboto"/>
                          <a:ea typeface="Roboto"/>
                          <a:cs typeface="Roboto"/>
                          <a:sym typeface="Roboto"/>
                        </a:rPr>
                        <a:t>Via:</a:t>
                      </a:r>
                      <a:endParaRPr sz="12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latin typeface="Roboto"/>
                          <a:ea typeface="Roboto"/>
                          <a:cs typeface="Roboto"/>
                          <a:sym typeface="Roboto"/>
                        </a:rPr>
                        <a:t>Cost:</a:t>
                      </a:r>
                      <a:endParaRPr sz="12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21925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latin typeface="Roboto"/>
                          <a:ea typeface="Roboto"/>
                          <a:cs typeface="Roboto"/>
                          <a:sym typeface="Roboto"/>
                        </a:rPr>
                        <a:t>A</a:t>
                      </a:r>
                      <a:endParaRPr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latin typeface="Roboto"/>
                          <a:ea typeface="Roboto"/>
                          <a:cs typeface="Roboto"/>
                          <a:sym typeface="Roboto"/>
                        </a:rPr>
                        <a:t>R3</a:t>
                      </a:r>
                      <a:endParaRPr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latin typeface="Roboto"/>
                          <a:ea typeface="Roboto"/>
                          <a:cs typeface="Roboto"/>
                          <a:sym typeface="Roboto"/>
                        </a:rPr>
                        <a:t>∞</a:t>
                      </a:r>
                      <a:endParaRPr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</a:tbl>
          </a:graphicData>
        </a:graphic>
      </p:graphicFrame>
      <p:graphicFrame>
        <p:nvGraphicFramePr>
          <p:cNvPr id="2130" name="Google Shape;2130;p131"/>
          <p:cNvGraphicFramePr/>
          <p:nvPr/>
        </p:nvGraphicFramePr>
        <p:xfrm>
          <a:off x="6318169" y="4054900"/>
          <a:ext cx="1835500" cy="688770"/>
        </p:xfrm>
        <a:graphic>
          <a:graphicData uri="http://schemas.openxmlformats.org/drawingml/2006/table">
            <a:tbl>
              <a:tblPr>
                <a:noFill/>
              </a:tblPr>
              <a:tblGrid>
                <a:gridCol w="5448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9707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79362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121925">
                <a:tc gridSpan="3"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latin typeface="Roboto"/>
                          <a:ea typeface="Roboto"/>
                          <a:cs typeface="Roboto"/>
                          <a:sym typeface="Roboto"/>
                        </a:rPr>
                        <a:t>R2's Table</a:t>
                      </a:r>
                      <a:endParaRPr sz="12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>
                    <a:solidFill>
                      <a:srgbClr val="FFFFFF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21925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latin typeface="Roboto"/>
                          <a:ea typeface="Roboto"/>
                          <a:cs typeface="Roboto"/>
                          <a:sym typeface="Roboto"/>
                        </a:rPr>
                        <a:t>To:</a:t>
                      </a:r>
                      <a:endParaRPr sz="12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latin typeface="Roboto"/>
                          <a:ea typeface="Roboto"/>
                          <a:cs typeface="Roboto"/>
                          <a:sym typeface="Roboto"/>
                        </a:rPr>
                        <a:t>Via:</a:t>
                      </a:r>
                      <a:endParaRPr sz="12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latin typeface="Roboto"/>
                          <a:ea typeface="Roboto"/>
                          <a:cs typeface="Roboto"/>
                          <a:sym typeface="Roboto"/>
                        </a:rPr>
                        <a:t>Cost:</a:t>
                      </a:r>
                      <a:endParaRPr sz="12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21925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latin typeface="Roboto"/>
                          <a:ea typeface="Roboto"/>
                          <a:cs typeface="Roboto"/>
                          <a:sym typeface="Roboto"/>
                        </a:rPr>
                        <a:t>A</a:t>
                      </a:r>
                      <a:endParaRPr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latin typeface="Roboto"/>
                          <a:ea typeface="Roboto"/>
                          <a:cs typeface="Roboto"/>
                          <a:sym typeface="Roboto"/>
                        </a:rPr>
                        <a:t>R1</a:t>
                      </a:r>
                      <a:endParaRPr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solidFill>
                            <a:schemeClr val="dk1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∞</a:t>
                      </a:r>
                      <a:endParaRPr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10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1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35" name="Google Shape;2135;p132"/>
          <p:cNvSpPr txBox="1">
            <a:spLocks noGrp="1"/>
          </p:cNvSpPr>
          <p:nvPr>
            <p:ph type="title"/>
          </p:nvPr>
        </p:nvSpPr>
        <p:spPr>
          <a:xfrm>
            <a:off x="0" y="0"/>
            <a:ext cx="9144000" cy="39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The Distance-Vector Algorithm So Far</a:t>
            </a:r>
            <a:endParaRPr/>
          </a:p>
        </p:txBody>
      </p:sp>
      <p:sp>
        <p:nvSpPr>
          <p:cNvPr id="2136" name="Google Shape;2136;p132"/>
          <p:cNvSpPr txBox="1">
            <a:spLocks noGrp="1"/>
          </p:cNvSpPr>
          <p:nvPr>
            <p:ph type="body" idx="1"/>
          </p:nvPr>
        </p:nvSpPr>
        <p:spPr>
          <a:xfrm>
            <a:off x="107050" y="402200"/>
            <a:ext cx="8909700" cy="4530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For each destination:</a:t>
            </a:r>
            <a:endParaRPr/>
          </a:p>
          <a:p>
            <a:pPr marL="457200" lvl="0" indent="-342900" algn="l" rtl="0">
              <a:spcBef>
                <a:spcPts val="60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If you hear an advertisement, update table and reset TTL if:</a:t>
            </a:r>
            <a:endParaRPr/>
          </a:p>
          <a:p>
            <a:pPr marL="914400" lvl="1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○"/>
            </a:pPr>
            <a:r>
              <a:rPr lang="en"/>
              <a:t>The destination isn't in the table.</a:t>
            </a:r>
            <a:endParaRPr/>
          </a:p>
          <a:p>
            <a:pPr marL="914400" lvl="1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○"/>
            </a:pPr>
            <a:r>
              <a:rPr lang="en"/>
              <a:t>Advertised cost + link cost to neighbor &lt; best-known cost. </a:t>
            </a:r>
            <a:r>
              <a:rPr lang="en" sz="1400">
                <a:solidFill>
                  <a:schemeClr val="accent3"/>
                </a:solidFill>
              </a:rPr>
              <a:t>(#1)</a:t>
            </a:r>
            <a:endParaRPr sz="1400">
              <a:solidFill>
                <a:schemeClr val="accent3"/>
              </a:solidFill>
            </a:endParaRPr>
          </a:p>
          <a:p>
            <a:pPr marL="914400" lvl="1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○"/>
            </a:pPr>
            <a:r>
              <a:rPr lang="en"/>
              <a:t>The advertisement is from current next-hop. </a:t>
            </a:r>
            <a:r>
              <a:rPr lang="en" sz="1400">
                <a:solidFill>
                  <a:schemeClr val="accent3"/>
                </a:solidFill>
              </a:rPr>
              <a:t>(#2)</a:t>
            </a:r>
            <a:br>
              <a:rPr lang="en"/>
            </a:br>
            <a:r>
              <a:rPr lang="en"/>
              <a:t>Includes poison advertisements. </a:t>
            </a:r>
            <a:r>
              <a:rPr lang="en" sz="1400">
                <a:solidFill>
                  <a:schemeClr val="accent3"/>
                </a:solidFill>
              </a:rPr>
              <a:t>(#5)</a:t>
            </a:r>
            <a:endParaRPr sz="1400">
              <a:solidFill>
                <a:schemeClr val="accent3"/>
              </a:solidFill>
            </a:endParaRPr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Advertise to all your neighbors when the table updates, and periodically. </a:t>
            </a:r>
            <a:r>
              <a:rPr lang="en" sz="1400">
                <a:solidFill>
                  <a:schemeClr val="accent3"/>
                </a:solidFill>
              </a:rPr>
              <a:t>(#3)</a:t>
            </a:r>
            <a:endParaRPr sz="1400">
              <a:solidFill>
                <a:schemeClr val="accent3"/>
              </a:solidFill>
            </a:endParaRPr>
          </a:p>
          <a:p>
            <a:pPr marL="914400" lvl="1" indent="-34290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Char char="○"/>
            </a:pPr>
            <a:r>
              <a:rPr lang="en">
                <a:solidFill>
                  <a:srgbClr val="000000"/>
                </a:solidFill>
              </a:rPr>
              <a:t>But don't advertise back to the next-hop. </a:t>
            </a:r>
            <a:r>
              <a:rPr lang="en" sz="1400">
                <a:solidFill>
                  <a:schemeClr val="accent3"/>
                </a:solidFill>
              </a:rPr>
              <a:t>(#6A)</a:t>
            </a:r>
            <a:endParaRPr sz="1400">
              <a:solidFill>
                <a:schemeClr val="accent3"/>
              </a:solidFill>
            </a:endParaRPr>
          </a:p>
          <a:p>
            <a:pPr marL="914400" lvl="1" indent="-34290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Char char="○"/>
            </a:pPr>
            <a:r>
              <a:rPr lang="en">
                <a:solidFill>
                  <a:srgbClr val="000000"/>
                </a:solidFill>
              </a:rPr>
              <a:t>...Or, advertise poison back to the next-hop. </a:t>
            </a:r>
            <a:r>
              <a:rPr lang="en" sz="1400">
                <a:solidFill>
                  <a:schemeClr val="accent3"/>
                </a:solidFill>
              </a:rPr>
              <a:t>(#6B)</a:t>
            </a:r>
            <a:endParaRPr>
              <a:solidFill>
                <a:schemeClr val="accent2"/>
              </a:solidFill>
            </a:endParaRPr>
          </a:p>
          <a:p>
            <a:pPr marL="914400" lvl="1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○"/>
            </a:pPr>
            <a:r>
              <a:rPr lang="en">
                <a:solidFill>
                  <a:schemeClr val="accent2"/>
                </a:solidFill>
              </a:rPr>
              <a:t>Any cost ≥ 16 is advertised as ∞. </a:t>
            </a:r>
            <a:r>
              <a:rPr lang="en" sz="1400">
                <a:solidFill>
                  <a:schemeClr val="accent3"/>
                </a:solidFill>
              </a:rPr>
              <a:t>(#7)</a:t>
            </a:r>
            <a:endParaRPr/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If a table entry expires, make the entry poison and advertise it. </a:t>
            </a:r>
            <a:r>
              <a:rPr lang="en" sz="1400">
                <a:solidFill>
                  <a:schemeClr val="accent3"/>
                </a:solidFill>
              </a:rPr>
              <a:t>(#4, #5)</a:t>
            </a:r>
            <a:endParaRPr sz="1400">
              <a:solidFill>
                <a:schemeClr val="accent3"/>
              </a:solidFill>
            </a:endParaRPr>
          </a:p>
        </p:txBody>
      </p:sp>
    </p:spTree>
  </p:cSld>
  <p:clrMapOvr>
    <a:masterClrMapping/>
  </p:clrMapOvr>
</p:sld>
</file>

<file path=ppt/slides/slide10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1" name="Google Shape;2141;p133"/>
          <p:cNvSpPr txBox="1">
            <a:spLocks noGrp="1"/>
          </p:cNvSpPr>
          <p:nvPr>
            <p:ph type="title"/>
          </p:nvPr>
        </p:nvSpPr>
        <p:spPr>
          <a:xfrm>
            <a:off x="177925" y="2003300"/>
            <a:ext cx="4038000" cy="20379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Eventful Updates</a:t>
            </a:r>
            <a:endParaRPr/>
          </a:p>
        </p:txBody>
      </p:sp>
      <p:sp>
        <p:nvSpPr>
          <p:cNvPr id="2142" name="Google Shape;2142;p133"/>
          <p:cNvSpPr txBox="1">
            <a:spLocks noGrp="1"/>
          </p:cNvSpPr>
          <p:nvPr>
            <p:ph type="body" idx="1"/>
          </p:nvPr>
        </p:nvSpPr>
        <p:spPr>
          <a:xfrm>
            <a:off x="4812375" y="402200"/>
            <a:ext cx="4038000" cy="42609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">
                <a:solidFill>
                  <a:srgbClr val="B7B7B7"/>
                </a:solidFill>
              </a:rPr>
              <a:t>Distance-Vector Correctness</a:t>
            </a:r>
            <a:endParaRPr>
              <a:solidFill>
                <a:srgbClr val="B7B7B7"/>
              </a:solidFill>
            </a:endParaRPr>
          </a:p>
          <a:p>
            <a:pPr marL="457200" lvl="0" indent="-342900" algn="l" rtl="0">
              <a:spcBef>
                <a:spcPts val="600"/>
              </a:spcBef>
              <a:spcAft>
                <a:spcPts val="0"/>
              </a:spcAft>
              <a:buClr>
                <a:srgbClr val="B7B7B7"/>
              </a:buClr>
              <a:buSzPts val="1800"/>
              <a:buChar char="•"/>
            </a:pPr>
            <a:r>
              <a:rPr lang="en">
                <a:solidFill>
                  <a:srgbClr val="B7B7B7"/>
                </a:solidFill>
              </a:rPr>
              <a:t>Algorithm Sketch</a:t>
            </a:r>
            <a:endParaRPr>
              <a:solidFill>
                <a:srgbClr val="B7B7B7"/>
              </a:solidFill>
            </a:endParaRPr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Clr>
                <a:srgbClr val="B7B7B7"/>
              </a:buClr>
              <a:buSzPts val="1800"/>
              <a:buChar char="•"/>
            </a:pPr>
            <a:r>
              <a:rPr lang="en">
                <a:solidFill>
                  <a:srgbClr val="B7B7B7"/>
                </a:solidFill>
              </a:rPr>
              <a:t>Rule 1: Bellman-Ford Updates</a:t>
            </a:r>
            <a:endParaRPr>
              <a:solidFill>
                <a:srgbClr val="B7B7B7"/>
              </a:solidFill>
            </a:endParaRPr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Clr>
                <a:srgbClr val="B7B7B7"/>
              </a:buClr>
              <a:buSzPts val="1800"/>
              <a:buChar char="•"/>
            </a:pPr>
            <a:r>
              <a:rPr lang="en">
                <a:solidFill>
                  <a:srgbClr val="B7B7B7"/>
                </a:solidFill>
              </a:rPr>
              <a:t>Bellman-Ford Demo</a:t>
            </a:r>
            <a:endParaRPr>
              <a:solidFill>
                <a:srgbClr val="B7B7B7"/>
              </a:solidFill>
            </a:endParaRPr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Clr>
                <a:srgbClr val="B7B7B7"/>
              </a:buClr>
              <a:buSzPts val="1800"/>
              <a:buChar char="•"/>
            </a:pPr>
            <a:r>
              <a:rPr lang="en">
                <a:solidFill>
                  <a:srgbClr val="B7B7B7"/>
                </a:solidFill>
              </a:rPr>
              <a:t>Rule 2: Updates From Next-Hop</a:t>
            </a:r>
            <a:endParaRPr>
              <a:solidFill>
                <a:srgbClr val="B7B7B7"/>
              </a:solidFill>
            </a:endParaRPr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Clr>
                <a:srgbClr val="B7B7B7"/>
              </a:buClr>
              <a:buSzPts val="1800"/>
              <a:buChar char="•"/>
            </a:pPr>
            <a:r>
              <a:rPr lang="en">
                <a:solidFill>
                  <a:srgbClr val="B7B7B7"/>
                </a:solidFill>
              </a:rPr>
              <a:t>Rule 3: Resending</a:t>
            </a:r>
            <a:endParaRPr>
              <a:solidFill>
                <a:srgbClr val="B7B7B7"/>
              </a:solidFill>
            </a:endParaRPr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Clr>
                <a:srgbClr val="B7B7B7"/>
              </a:buClr>
              <a:buSzPts val="1800"/>
              <a:buChar char="•"/>
            </a:pPr>
            <a:r>
              <a:rPr lang="en">
                <a:solidFill>
                  <a:srgbClr val="B7B7B7"/>
                </a:solidFill>
              </a:rPr>
              <a:t>Rule 4: Expiring</a:t>
            </a:r>
            <a:endParaRPr>
              <a:solidFill>
                <a:srgbClr val="B7B7B7"/>
              </a:solidFill>
            </a:endParaRPr>
          </a:p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" b="1">
                <a:solidFill>
                  <a:schemeClr val="accent3"/>
                </a:solidFill>
                <a:latin typeface="Roboto"/>
                <a:ea typeface="Roboto"/>
                <a:cs typeface="Roboto"/>
                <a:sym typeface="Roboto"/>
              </a:rPr>
              <a:t>Distance-Vector Enhancements</a:t>
            </a:r>
            <a:endParaRPr b="1">
              <a:solidFill>
                <a:schemeClr val="accent3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457200" lvl="0" indent="-342900" algn="l" rtl="0">
              <a:spcBef>
                <a:spcPts val="600"/>
              </a:spcBef>
              <a:spcAft>
                <a:spcPts val="0"/>
              </a:spcAft>
              <a:buClr>
                <a:srgbClr val="B7B7B7"/>
              </a:buClr>
              <a:buSzPts val="1800"/>
              <a:buChar char="•"/>
            </a:pPr>
            <a:r>
              <a:rPr lang="en">
                <a:solidFill>
                  <a:srgbClr val="B7B7B7"/>
                </a:solidFill>
              </a:rPr>
              <a:t>Rule 5: Poison Expired Routes</a:t>
            </a:r>
            <a:endParaRPr>
              <a:solidFill>
                <a:srgbClr val="B7B7B7"/>
              </a:solidFill>
            </a:endParaRPr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Clr>
                <a:srgbClr val="B7B7B7"/>
              </a:buClr>
              <a:buSzPts val="1800"/>
              <a:buChar char="•"/>
            </a:pPr>
            <a:r>
              <a:rPr lang="en">
                <a:solidFill>
                  <a:srgbClr val="B7B7B7"/>
                </a:solidFill>
              </a:rPr>
              <a:t>Rule 6A: Split Horizon</a:t>
            </a:r>
            <a:endParaRPr>
              <a:solidFill>
                <a:srgbClr val="B7B7B7"/>
              </a:solidFill>
            </a:endParaRPr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Clr>
                <a:srgbClr val="B7B7B7"/>
              </a:buClr>
              <a:buSzPts val="1800"/>
              <a:buChar char="•"/>
            </a:pPr>
            <a:r>
              <a:rPr lang="en">
                <a:solidFill>
                  <a:srgbClr val="B7B7B7"/>
                </a:solidFill>
              </a:rPr>
              <a:t>Rule 6B: Poison Reverse</a:t>
            </a:r>
            <a:endParaRPr>
              <a:solidFill>
                <a:srgbClr val="B7B7B7"/>
              </a:solidFill>
            </a:endParaRPr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Clr>
                <a:srgbClr val="B7B7B7"/>
              </a:buClr>
              <a:buSzPts val="1800"/>
              <a:buChar char="•"/>
            </a:pPr>
            <a:r>
              <a:rPr lang="en">
                <a:solidFill>
                  <a:srgbClr val="B7B7B7"/>
                </a:solidFill>
              </a:rPr>
              <a:t>Rule 7: Count To Infinity</a:t>
            </a:r>
            <a:endParaRPr>
              <a:solidFill>
                <a:srgbClr val="B7B7B7"/>
              </a:solidFill>
            </a:endParaRPr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800"/>
              <a:buFont typeface="Roboto"/>
              <a:buChar char="•"/>
            </a:pPr>
            <a:r>
              <a:rPr lang="en" b="1">
                <a:solidFill>
                  <a:schemeClr val="accent3"/>
                </a:solidFill>
                <a:latin typeface="Roboto"/>
                <a:ea typeface="Roboto"/>
                <a:cs typeface="Roboto"/>
                <a:sym typeface="Roboto"/>
              </a:rPr>
              <a:t>Eventful Updates</a:t>
            </a:r>
            <a:endParaRPr b="1">
              <a:solidFill>
                <a:schemeClr val="accent3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2143" name="Google Shape;2143;p133"/>
          <p:cNvSpPr txBox="1">
            <a:spLocks noGrp="1"/>
          </p:cNvSpPr>
          <p:nvPr>
            <p:ph type="subTitle" idx="2"/>
          </p:nvPr>
        </p:nvSpPr>
        <p:spPr>
          <a:xfrm>
            <a:off x="177925" y="4068000"/>
            <a:ext cx="41580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-US" dirty="0"/>
              <a:t>Lecture 5.2, Spring 2026</a:t>
            </a:r>
            <a:endParaRPr dirty="0"/>
          </a:p>
        </p:txBody>
      </p:sp>
    </p:spTree>
  </p:cSld>
  <p:clrMapOvr>
    <a:masterClrMapping/>
  </p:clrMapOvr>
</p:sld>
</file>

<file path=ppt/slides/slide1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8" name="Google Shape;2148;p134"/>
          <p:cNvSpPr txBox="1">
            <a:spLocks noGrp="1"/>
          </p:cNvSpPr>
          <p:nvPr>
            <p:ph type="title"/>
          </p:nvPr>
        </p:nvSpPr>
        <p:spPr>
          <a:xfrm>
            <a:off x="0" y="0"/>
            <a:ext cx="9144000" cy="39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Eventful Updates</a:t>
            </a:r>
            <a:endParaRPr/>
          </a:p>
        </p:txBody>
      </p:sp>
      <p:sp>
        <p:nvSpPr>
          <p:cNvPr id="2149" name="Google Shape;2149;p134"/>
          <p:cNvSpPr txBox="1">
            <a:spLocks noGrp="1"/>
          </p:cNvSpPr>
          <p:nvPr>
            <p:ph type="body" idx="1"/>
          </p:nvPr>
        </p:nvSpPr>
        <p:spPr>
          <a:xfrm>
            <a:off x="107050" y="402200"/>
            <a:ext cx="8909700" cy="4530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" dirty="0"/>
              <a:t>When do we send advertisements?</a:t>
            </a:r>
            <a:endParaRPr dirty="0"/>
          </a:p>
          <a:p>
            <a:pPr lvl="0">
              <a:spcBef>
                <a:spcPts val="0"/>
              </a:spcBef>
            </a:pPr>
            <a:r>
              <a:rPr lang="en-US" dirty="0"/>
              <a:t>Periodically (once every "advertisement interval").</a:t>
            </a:r>
          </a:p>
          <a:p>
            <a:pPr lvl="0">
              <a:spcBef>
                <a:spcPts val="0"/>
              </a:spcBef>
            </a:pPr>
            <a:r>
              <a:rPr lang="en-US" dirty="0"/>
              <a:t>When a table entry expires.</a:t>
            </a:r>
          </a:p>
          <a:p>
            <a:pPr marL="457200" lvl="0" indent="-342900" algn="l" rtl="0">
              <a:spcBef>
                <a:spcPts val="600"/>
              </a:spcBef>
              <a:spcAft>
                <a:spcPts val="0"/>
              </a:spcAft>
              <a:buSzPts val="1800"/>
              <a:buChar char="●"/>
            </a:pPr>
            <a:r>
              <a:rPr lang="en" dirty="0"/>
              <a:t>When the table changes (</a:t>
            </a:r>
            <a:r>
              <a:rPr lang="en" b="1" dirty="0"/>
              <a:t>triggered updates</a:t>
            </a:r>
            <a:r>
              <a:rPr lang="en" dirty="0"/>
              <a:t>).</a:t>
            </a:r>
            <a:endParaRPr dirty="0"/>
          </a:p>
          <a:p>
            <a:pPr marL="914400" lvl="1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○"/>
            </a:pPr>
            <a:r>
              <a:rPr lang="en" dirty="0"/>
              <a:t>When we accept a new advertisement.</a:t>
            </a:r>
            <a:endParaRPr dirty="0"/>
          </a:p>
          <a:p>
            <a:pPr marL="914400" lvl="1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○"/>
            </a:pPr>
            <a:r>
              <a:rPr lang="en" dirty="0"/>
              <a:t>When a new link is added. </a:t>
            </a:r>
            <a:r>
              <a:rPr lang="en" sz="1400" dirty="0">
                <a:solidFill>
                  <a:schemeClr val="accent3"/>
                </a:solidFill>
              </a:rPr>
              <a:t>(</a:t>
            </a:r>
            <a:r>
              <a:rPr lang="en" sz="1400" i="1" dirty="0">
                <a:solidFill>
                  <a:schemeClr val="accent3"/>
                </a:solidFill>
              </a:rPr>
              <a:t>Add static routes and advertise them.</a:t>
            </a:r>
            <a:r>
              <a:rPr lang="en" sz="1400" dirty="0">
                <a:solidFill>
                  <a:schemeClr val="accent3"/>
                </a:solidFill>
              </a:rPr>
              <a:t>)</a:t>
            </a:r>
            <a:endParaRPr sz="1400" dirty="0">
              <a:solidFill>
                <a:schemeClr val="accent3"/>
              </a:solidFill>
            </a:endParaRPr>
          </a:p>
          <a:p>
            <a:pPr marL="914400" lvl="1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○"/>
            </a:pPr>
            <a:r>
              <a:rPr lang="en" dirty="0"/>
              <a:t>When a link goes down. </a:t>
            </a:r>
            <a:r>
              <a:rPr lang="en" sz="1400" dirty="0">
                <a:solidFill>
                  <a:schemeClr val="accent3"/>
                </a:solidFill>
              </a:rPr>
              <a:t>(</a:t>
            </a:r>
            <a:r>
              <a:rPr lang="en" sz="1400" i="1" dirty="0">
                <a:solidFill>
                  <a:schemeClr val="accent3"/>
                </a:solidFill>
              </a:rPr>
              <a:t>Poison routes and advertise poison.</a:t>
            </a:r>
            <a:r>
              <a:rPr lang="en" sz="1400" dirty="0">
                <a:solidFill>
                  <a:schemeClr val="accent3"/>
                </a:solidFill>
              </a:rPr>
              <a:t>)</a:t>
            </a:r>
            <a:endParaRPr sz="1400" dirty="0">
              <a:solidFill>
                <a:schemeClr val="accent3"/>
              </a:solidFill>
            </a:endParaRPr>
          </a:p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endParaRPr dirty="0"/>
          </a:p>
          <a:p>
            <a:pPr marL="0" lvl="0" indent="0">
              <a:buNone/>
            </a:pPr>
            <a:r>
              <a:rPr lang="en" dirty="0"/>
              <a:t>Triggered updates are an optimization for faster convergence.</a:t>
            </a:r>
            <a:endParaRPr dirty="0"/>
          </a:p>
          <a:p>
            <a:pPr marL="457200" lvl="0" indent="-342900" algn="l" rtl="0">
              <a:spcBef>
                <a:spcPts val="600"/>
              </a:spcBef>
              <a:spcAft>
                <a:spcPts val="0"/>
              </a:spcAft>
              <a:buSzPts val="1800"/>
              <a:buChar char="●"/>
            </a:pPr>
            <a:r>
              <a:rPr lang="en" dirty="0"/>
              <a:t>Instead of advertising when the table changes, we could just wait for the interval. Protocol is still correct.</a:t>
            </a:r>
            <a:endParaRPr dirty="0"/>
          </a:p>
        </p:txBody>
      </p:sp>
    </p:spTree>
  </p:cSld>
  <p:clrMapOvr>
    <a:masterClrMapping/>
  </p:clrMapOvr>
</p:sld>
</file>

<file path=ppt/slides/slide1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4" name="Google Shape;2154;p135"/>
          <p:cNvSpPr txBox="1">
            <a:spLocks noGrp="1"/>
          </p:cNvSpPr>
          <p:nvPr>
            <p:ph type="title"/>
          </p:nvPr>
        </p:nvSpPr>
        <p:spPr>
          <a:xfrm>
            <a:off x="0" y="0"/>
            <a:ext cx="9144000" cy="39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Our Completed Distance-Vector Algorithm</a:t>
            </a:r>
            <a:endParaRPr/>
          </a:p>
        </p:txBody>
      </p:sp>
      <p:sp>
        <p:nvSpPr>
          <p:cNvPr id="2155" name="Google Shape;2155;p135"/>
          <p:cNvSpPr txBox="1">
            <a:spLocks noGrp="1"/>
          </p:cNvSpPr>
          <p:nvPr>
            <p:ph type="body" idx="1"/>
          </p:nvPr>
        </p:nvSpPr>
        <p:spPr>
          <a:xfrm>
            <a:off x="107050" y="402200"/>
            <a:ext cx="8909700" cy="4530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"/>
              <a:t>For each destination:</a:t>
            </a:r>
            <a:endParaRPr/>
          </a:p>
          <a:p>
            <a:pPr marL="457200" lvl="0" indent="-342900" algn="l" rtl="0">
              <a:spcBef>
                <a:spcPts val="60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If you hear an advertisement, update table and reset TTL if:</a:t>
            </a:r>
            <a:endParaRPr/>
          </a:p>
          <a:p>
            <a:pPr marL="914400" lvl="1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○"/>
            </a:pPr>
            <a:r>
              <a:rPr lang="en"/>
              <a:t>The destination isn't in the table.</a:t>
            </a:r>
            <a:endParaRPr/>
          </a:p>
          <a:p>
            <a:pPr marL="914400" lvl="1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○"/>
            </a:pPr>
            <a:r>
              <a:rPr lang="en"/>
              <a:t>Advertised cost + link cost to neighbor &lt; best-known cost. </a:t>
            </a:r>
            <a:r>
              <a:rPr lang="en" sz="1400">
                <a:solidFill>
                  <a:schemeClr val="accent3"/>
                </a:solidFill>
              </a:rPr>
              <a:t>(#1)</a:t>
            </a:r>
            <a:endParaRPr sz="1400">
              <a:solidFill>
                <a:schemeClr val="accent3"/>
              </a:solidFill>
            </a:endParaRPr>
          </a:p>
          <a:p>
            <a:pPr marL="914400" lvl="1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○"/>
            </a:pPr>
            <a:r>
              <a:rPr lang="en"/>
              <a:t>The advertisement is from current next-hop. </a:t>
            </a:r>
            <a:r>
              <a:rPr lang="en" sz="1400">
                <a:solidFill>
                  <a:schemeClr val="accent3"/>
                </a:solidFill>
              </a:rPr>
              <a:t>(#2)</a:t>
            </a:r>
            <a:br>
              <a:rPr lang="en"/>
            </a:br>
            <a:r>
              <a:rPr lang="en"/>
              <a:t>Includes poison advertisements. </a:t>
            </a:r>
            <a:r>
              <a:rPr lang="en" sz="1400">
                <a:solidFill>
                  <a:schemeClr val="accent3"/>
                </a:solidFill>
              </a:rPr>
              <a:t>(#5)</a:t>
            </a:r>
            <a:endParaRPr sz="1400">
              <a:solidFill>
                <a:schemeClr val="accent3"/>
              </a:solidFill>
            </a:endParaRPr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Advertise to all your neighbors when the table updates, and periodically. </a:t>
            </a:r>
            <a:r>
              <a:rPr lang="en" sz="1400">
                <a:solidFill>
                  <a:schemeClr val="accent3"/>
                </a:solidFill>
              </a:rPr>
              <a:t>(#3)</a:t>
            </a:r>
            <a:endParaRPr/>
          </a:p>
          <a:p>
            <a:pPr marL="914400" lvl="1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○"/>
            </a:pPr>
            <a:r>
              <a:rPr lang="en"/>
              <a:t>But don't advertise back to the next-hop. </a:t>
            </a:r>
            <a:r>
              <a:rPr lang="en" sz="1400">
                <a:solidFill>
                  <a:schemeClr val="accent3"/>
                </a:solidFill>
              </a:rPr>
              <a:t>(#6A)</a:t>
            </a:r>
            <a:endParaRPr sz="1400">
              <a:solidFill>
                <a:schemeClr val="accent3"/>
              </a:solidFill>
            </a:endParaRPr>
          </a:p>
          <a:p>
            <a:pPr marL="914400" lvl="1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○"/>
            </a:pPr>
            <a:r>
              <a:rPr lang="en"/>
              <a:t>...Or, advertise poison back to the next-hop. </a:t>
            </a:r>
            <a:r>
              <a:rPr lang="en" sz="1400">
                <a:solidFill>
                  <a:schemeClr val="accent3"/>
                </a:solidFill>
              </a:rPr>
              <a:t>(#6B)</a:t>
            </a:r>
            <a:endParaRPr sz="1400">
              <a:solidFill>
                <a:schemeClr val="accent3"/>
              </a:solidFill>
            </a:endParaRPr>
          </a:p>
          <a:p>
            <a:pPr marL="914400" lvl="1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○"/>
            </a:pPr>
            <a:r>
              <a:rPr lang="en"/>
              <a:t>Any cost ≥ 16 is advertised as ∞.</a:t>
            </a:r>
            <a:r>
              <a:rPr lang="en">
                <a:solidFill>
                  <a:schemeClr val="accent2"/>
                </a:solidFill>
              </a:rPr>
              <a:t> </a:t>
            </a:r>
            <a:r>
              <a:rPr lang="en" sz="1400">
                <a:solidFill>
                  <a:schemeClr val="accent3"/>
                </a:solidFill>
              </a:rPr>
              <a:t>(#7)</a:t>
            </a:r>
            <a:endParaRPr/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If a table entry expires, make the entry poison and advertise it. </a:t>
            </a:r>
            <a:r>
              <a:rPr lang="en" sz="1400">
                <a:solidFill>
                  <a:schemeClr val="accent3"/>
                </a:solidFill>
              </a:rPr>
              <a:t>(#3, #5)</a:t>
            </a:r>
            <a:endParaRPr/>
          </a:p>
        </p:txBody>
      </p:sp>
    </p:spTree>
  </p:cSld>
  <p:clrMapOvr>
    <a:masterClrMapping/>
  </p:clrMapOvr>
</p:sld>
</file>

<file path=ppt/slides/slide1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1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0" name="Google Shape;2160;p136"/>
          <p:cNvSpPr txBox="1">
            <a:spLocks noGrp="1"/>
          </p:cNvSpPr>
          <p:nvPr>
            <p:ph type="title"/>
          </p:nvPr>
        </p:nvSpPr>
        <p:spPr>
          <a:xfrm>
            <a:off x="0" y="0"/>
            <a:ext cx="9144000" cy="39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Summary: Distance-Vector Rules</a:t>
            </a:r>
            <a:endParaRPr/>
          </a:p>
        </p:txBody>
      </p:sp>
      <p:sp>
        <p:nvSpPr>
          <p:cNvPr id="2161" name="Google Shape;2161;p136"/>
          <p:cNvSpPr txBox="1">
            <a:spLocks noGrp="1"/>
          </p:cNvSpPr>
          <p:nvPr>
            <p:ph type="body" idx="1"/>
          </p:nvPr>
        </p:nvSpPr>
        <p:spPr>
          <a:xfrm>
            <a:off x="107050" y="402200"/>
            <a:ext cx="8909700" cy="4530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" b="1"/>
              <a:t>1. Bellman-Ford Updates</a:t>
            </a:r>
            <a:r>
              <a:rPr lang="en"/>
              <a:t>: Accept if </a:t>
            </a:r>
            <a:r>
              <a:rPr lang="en" sz="1500"/>
              <a:t>advertised cost + link cost to neighbor &lt; best-known cost.</a:t>
            </a:r>
            <a:endParaRPr sz="1500"/>
          </a:p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" b="1"/>
              <a:t>2. Updates From Next-Hop</a:t>
            </a:r>
            <a:r>
              <a:rPr lang="en"/>
              <a:t>: Accept if advertisement is from next hop.</a:t>
            </a:r>
            <a:endParaRPr/>
          </a:p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" b="1"/>
              <a:t>3. Resending</a:t>
            </a:r>
            <a:r>
              <a:rPr lang="en"/>
              <a:t>: Advertise periodically.</a:t>
            </a:r>
            <a:endParaRPr/>
          </a:p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" b="1"/>
              <a:t>4. Expiring</a:t>
            </a:r>
            <a:r>
              <a:rPr lang="en"/>
              <a:t>: Expire an entry if TTL runs out.</a:t>
            </a:r>
            <a:endParaRPr/>
          </a:p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" b="1"/>
              <a:t>5. Poison Expired Routes</a:t>
            </a:r>
            <a:r>
              <a:rPr lang="en"/>
              <a:t>: Send poison if an entry expires.</a:t>
            </a:r>
            <a:endParaRPr/>
          </a:p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" b="1"/>
              <a:t>6A. Split Horizon</a:t>
            </a:r>
            <a:r>
              <a:rPr lang="en"/>
              <a:t>: Don't advertise path back to the person who gave it to you.</a:t>
            </a:r>
            <a:endParaRPr/>
          </a:p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" b="1"/>
              <a:t>6B. Poison Reverse</a:t>
            </a:r>
            <a:r>
              <a:rPr lang="en"/>
              <a:t>: Send poison back to the person who gave you the path.</a:t>
            </a:r>
            <a:endParaRPr/>
          </a:p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" b="1"/>
              <a:t>7. Count To Infinity</a:t>
            </a:r>
            <a:r>
              <a:rPr lang="en"/>
              <a:t>: Any cost ≥ 16 is advertised as ∞.</a:t>
            </a:r>
            <a:endParaRPr/>
          </a:p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endParaRPr/>
          </a:p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"/>
              <a:t>This is now a pretty good routing protocol!</a:t>
            </a:r>
            <a:endParaRPr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Simple Lecture">
  <a:themeElements>
    <a:clrScheme name="Simple Light">
      <a:dk1>
        <a:srgbClr val="000000"/>
      </a:dk1>
      <a:lt1>
        <a:srgbClr val="FFFFFF"/>
      </a:lt1>
      <a:dk2>
        <a:srgbClr val="666666"/>
      </a:dk2>
      <a:lt2>
        <a:srgbClr val="C9DAF8"/>
      </a:lt2>
      <a:accent1>
        <a:srgbClr val="FCE5CD"/>
      </a:accent1>
      <a:accent2>
        <a:srgbClr val="CC4125"/>
      </a:accent2>
      <a:accent3>
        <a:srgbClr val="0B5394"/>
      </a:accent3>
      <a:accent4>
        <a:srgbClr val="BF9000"/>
      </a:accent4>
      <a:accent5>
        <a:srgbClr val="6AA84F"/>
      </a:accent5>
      <a:accent6>
        <a:srgbClr val="D9D9D9"/>
      </a:accent6>
      <a:hlink>
        <a:srgbClr val="4A86E8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216</TotalTime>
  <Words>12580</Words>
  <Application>Microsoft Office PowerPoint</Application>
  <PresentationFormat>On-screen Show (16:9)</PresentationFormat>
  <Paragraphs>2869</Paragraphs>
  <Slides>112</Slides>
  <Notes>111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112</vt:i4>
      </vt:variant>
    </vt:vector>
  </HeadingPairs>
  <TitlesOfParts>
    <vt:vector size="118" baseType="lpstr">
      <vt:lpstr>Roboto</vt:lpstr>
      <vt:lpstr>Consolas</vt:lpstr>
      <vt:lpstr>Roboto Medium</vt:lpstr>
      <vt:lpstr>Roboto Light</vt:lpstr>
      <vt:lpstr>Arial</vt:lpstr>
      <vt:lpstr>Simple Lecture</vt:lpstr>
      <vt:lpstr>Distance-Vector Algorithm</vt:lpstr>
      <vt:lpstr>Distance-Vector Algorithm Sketch</vt:lpstr>
      <vt:lpstr>Distance-Vector Algorithm Sketch</vt:lpstr>
      <vt:lpstr>Distance-Vector Algorithm Sketch</vt:lpstr>
      <vt:lpstr>Distance-Vector Algorithm Sketch</vt:lpstr>
      <vt:lpstr>Distance-Vector Algorithm Sketch</vt:lpstr>
      <vt:lpstr>Distance-Vector Algorithm Sketch</vt:lpstr>
      <vt:lpstr>Distance-Vector Algorithm Sketch</vt:lpstr>
      <vt:lpstr>Distance-Vector Algorithm Sketch – Routing vs. Forwarding</vt:lpstr>
      <vt:lpstr>Distance-Vector Algorithm Sketch – Multiple Destinations</vt:lpstr>
      <vt:lpstr>Rule 1: Bellman-Ford Updates</vt:lpstr>
      <vt:lpstr>Multiple Paths Advertised</vt:lpstr>
      <vt:lpstr>Multiple Paths Advertised</vt:lpstr>
      <vt:lpstr>Multiple Paths Advertised</vt:lpstr>
      <vt:lpstr>Multiple Paths Advertised</vt:lpstr>
      <vt:lpstr>The Distance-Vector Algorithm So Far</vt:lpstr>
      <vt:lpstr>Unequal Costs</vt:lpstr>
      <vt:lpstr>Unequal Costs</vt:lpstr>
      <vt:lpstr>The Distance-Vector Algorithm So Far</vt:lpstr>
      <vt:lpstr>Distributed Bellman-Ford Algorithm</vt:lpstr>
      <vt:lpstr>Distributed Bellman-Ford Algorithm</vt:lpstr>
      <vt:lpstr>Bellman-Ford Demo</vt:lpstr>
      <vt:lpstr>The Distance-Vector Algorithm So Far</vt:lpstr>
      <vt:lpstr>Bellman-Ford Demo</vt:lpstr>
      <vt:lpstr>Bellman-Ford Demo</vt:lpstr>
      <vt:lpstr>Bellman-Ford Demo</vt:lpstr>
      <vt:lpstr>Bellman-Ford Demo</vt:lpstr>
      <vt:lpstr>Bellman-Ford Demo</vt:lpstr>
      <vt:lpstr>Bellman-Ford Demo</vt:lpstr>
      <vt:lpstr>Bellman-Ford Demo</vt:lpstr>
      <vt:lpstr>Bellman-Ford Demo</vt:lpstr>
      <vt:lpstr>Bellman-Ford Demo</vt:lpstr>
      <vt:lpstr>Bellman-Ford Demo</vt:lpstr>
      <vt:lpstr>Bellman-Ford Demo</vt:lpstr>
      <vt:lpstr>Rule 2: Updates from Next-Hop</vt:lpstr>
      <vt:lpstr>Updates From the Current Next-Hop</vt:lpstr>
      <vt:lpstr>Updates From the Current Next-Hop</vt:lpstr>
      <vt:lpstr>Updates From the Current Next-Hop</vt:lpstr>
      <vt:lpstr>Convergence</vt:lpstr>
      <vt:lpstr>The Distance-Vector Algorithm So Far</vt:lpstr>
      <vt:lpstr>Rule 3: Resending</vt:lpstr>
      <vt:lpstr>Ensuring Reliability</vt:lpstr>
      <vt:lpstr>The Distance-Vector Algorithm So Far</vt:lpstr>
      <vt:lpstr>Rule 4: Expiring</vt:lpstr>
      <vt:lpstr>Handling Failures</vt:lpstr>
      <vt:lpstr>Handling Failures</vt:lpstr>
      <vt:lpstr>Handling Failures</vt:lpstr>
      <vt:lpstr>Handling Failures</vt:lpstr>
      <vt:lpstr>Handling Failures</vt:lpstr>
      <vt:lpstr>Summary: Distance-Vector Rules</vt:lpstr>
      <vt:lpstr>Rule 5: Poison Expired Routes</vt:lpstr>
      <vt:lpstr>Route Expiry is Slow</vt:lpstr>
      <vt:lpstr>Route Expiry is Slow</vt:lpstr>
      <vt:lpstr>Route Expiry is Slow</vt:lpstr>
      <vt:lpstr>Route Expiry is Slow</vt:lpstr>
      <vt:lpstr>Route Expiry is Slow</vt:lpstr>
      <vt:lpstr>Route Expiry is Slow</vt:lpstr>
      <vt:lpstr>Poison for Fast Route Expiry</vt:lpstr>
      <vt:lpstr>Poison for Fast Route Expiry</vt:lpstr>
      <vt:lpstr>Poison for Fast Route Expiry</vt:lpstr>
      <vt:lpstr>Poison for Fast Route Expiry</vt:lpstr>
      <vt:lpstr>Accepting and Advertising Poison</vt:lpstr>
      <vt:lpstr>Accepting and Advertising Poison</vt:lpstr>
      <vt:lpstr>The Distance-Vector Algorithm So Far</vt:lpstr>
      <vt:lpstr>Rule 6A: Split Horizon</vt:lpstr>
      <vt:lpstr>Split Horizon – The Problem</vt:lpstr>
      <vt:lpstr>Split Horizon – The Problem</vt:lpstr>
      <vt:lpstr>Split Horizon – The Problem</vt:lpstr>
      <vt:lpstr>Split Horizon – The Problem</vt:lpstr>
      <vt:lpstr>Split Horizon – The Problem</vt:lpstr>
      <vt:lpstr>Split Horizon – The Problem</vt:lpstr>
      <vt:lpstr>Split Horizon – The Problem</vt:lpstr>
      <vt:lpstr>The Distance-Vector Algorithm So Far</vt:lpstr>
      <vt:lpstr>Rule 6B: Poison Reverse</vt:lpstr>
      <vt:lpstr>Poison Reverse</vt:lpstr>
      <vt:lpstr>Poison Reverse vs. Split Horizon</vt:lpstr>
      <vt:lpstr>Poison Reverse</vt:lpstr>
      <vt:lpstr>Poison Reverse</vt:lpstr>
      <vt:lpstr>Poison Reverse</vt:lpstr>
      <vt:lpstr>Poison Reverse vs. Split Horizon</vt:lpstr>
      <vt:lpstr>Poison Reverse vs. Split Horizon</vt:lpstr>
      <vt:lpstr>Rule 5: Poison Expired Routes vs. Rule 6B: Poison Reverse </vt:lpstr>
      <vt:lpstr>The Distance-Vector Algorithm So Far</vt:lpstr>
      <vt:lpstr>Rule 7: Count to Infinity</vt:lpstr>
      <vt:lpstr>Count to Infinity – The Problem</vt:lpstr>
      <vt:lpstr>Count to Infinity – The Problem</vt:lpstr>
      <vt:lpstr>Count to Infinity – The Problem</vt:lpstr>
      <vt:lpstr>Count to Infinity – The Problem</vt:lpstr>
      <vt:lpstr>Count to Infinity – The Problem</vt:lpstr>
      <vt:lpstr>Count to Infinity – The Problem</vt:lpstr>
      <vt:lpstr>Count to Infinity – The Problem</vt:lpstr>
      <vt:lpstr>Count to Infinity – The Problem</vt:lpstr>
      <vt:lpstr>Count to Infinity – The Problem</vt:lpstr>
      <vt:lpstr>Count to Infinity – The Problem</vt:lpstr>
      <vt:lpstr>Count to Infinity – The Problem</vt:lpstr>
      <vt:lpstr>Count to Infinity – The Problem</vt:lpstr>
      <vt:lpstr>Count to Infinity – The Problem</vt:lpstr>
      <vt:lpstr>Count to Infinity – The Problem</vt:lpstr>
      <vt:lpstr>Count to Infinity – Solution</vt:lpstr>
      <vt:lpstr>Count to Infinity – Solution</vt:lpstr>
      <vt:lpstr>Count to Infinity – Solution</vt:lpstr>
      <vt:lpstr>Count to Infinity – Solution</vt:lpstr>
      <vt:lpstr>Count to Infinity – Solution</vt:lpstr>
      <vt:lpstr>Count to Infinity – Solution</vt:lpstr>
      <vt:lpstr>Count to Infinity – Solution</vt:lpstr>
      <vt:lpstr>Count to Infinity – Solution</vt:lpstr>
      <vt:lpstr>Count to Infinity – Solution</vt:lpstr>
      <vt:lpstr>The Distance-Vector Algorithm So Far</vt:lpstr>
      <vt:lpstr>Eventful Updates</vt:lpstr>
      <vt:lpstr>Eventful Updates</vt:lpstr>
      <vt:lpstr>Our Completed Distance-Vector Algorithm</vt:lpstr>
      <vt:lpstr>Summary: Distance-Vector Rules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creator>Zonghua Gu</dc:creator>
  <cp:lastModifiedBy>Zonghua Gu</cp:lastModifiedBy>
  <cp:revision>2</cp:revision>
  <dcterms:modified xsi:type="dcterms:W3CDTF">2026-02-01T05:53:39Z</dcterms:modified>
</cp:coreProperties>
</file>