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ink/ink1.xml" ContentType="application/inkml+xml"/>
  <Override PartName="/ppt/tags/tag1.xml" ContentType="application/vnd.openxmlformats-officedocument.presentationml.tags+xml"/>
  <Override PartName="/ppt/ink/ink2.xml" ContentType="application/inkml+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3" r:id="rId1"/>
    <p:sldMasterId id="2147483665" r:id="rId2"/>
  </p:sldMasterIdLst>
  <p:notesMasterIdLst>
    <p:notesMasterId r:id="rId66"/>
  </p:notesMasterIdLst>
  <p:sldIdLst>
    <p:sldId id="257" r:id="rId3"/>
    <p:sldId id="259" r:id="rId4"/>
    <p:sldId id="298" r:id="rId5"/>
    <p:sldId id="299" r:id="rId6"/>
    <p:sldId id="456" r:id="rId7"/>
    <p:sldId id="285" r:id="rId8"/>
    <p:sldId id="287" r:id="rId9"/>
    <p:sldId id="492" r:id="rId10"/>
    <p:sldId id="497" r:id="rId11"/>
    <p:sldId id="290" r:id="rId12"/>
    <p:sldId id="314" r:id="rId13"/>
    <p:sldId id="317" r:id="rId14"/>
    <p:sldId id="404" r:id="rId15"/>
    <p:sldId id="291" r:id="rId16"/>
    <p:sldId id="292" r:id="rId17"/>
    <p:sldId id="293" r:id="rId18"/>
    <p:sldId id="319" r:id="rId19"/>
    <p:sldId id="329" r:id="rId20"/>
    <p:sldId id="401" r:id="rId21"/>
    <p:sldId id="320" r:id="rId22"/>
    <p:sldId id="321" r:id="rId23"/>
    <p:sldId id="322" r:id="rId24"/>
    <p:sldId id="323" r:id="rId25"/>
    <p:sldId id="277" r:id="rId26"/>
    <p:sldId id="324" r:id="rId27"/>
    <p:sldId id="325" r:id="rId28"/>
    <p:sldId id="280" r:id="rId29"/>
    <p:sldId id="326" r:id="rId30"/>
    <p:sldId id="327" r:id="rId31"/>
    <p:sldId id="468" r:id="rId32"/>
    <p:sldId id="410" r:id="rId33"/>
    <p:sldId id="411" r:id="rId34"/>
    <p:sldId id="412" r:id="rId35"/>
    <p:sldId id="413" r:id="rId36"/>
    <p:sldId id="414" r:id="rId37"/>
    <p:sldId id="415" r:id="rId38"/>
    <p:sldId id="416" r:id="rId39"/>
    <p:sldId id="443" r:id="rId40"/>
    <p:sldId id="417" r:id="rId41"/>
    <p:sldId id="418" r:id="rId42"/>
    <p:sldId id="444" r:id="rId43"/>
    <p:sldId id="446" r:id="rId44"/>
    <p:sldId id="496" r:id="rId45"/>
    <p:sldId id="286" r:id="rId46"/>
    <p:sldId id="470" r:id="rId47"/>
    <p:sldId id="289" r:id="rId48"/>
    <p:sldId id="471" r:id="rId49"/>
    <p:sldId id="472" r:id="rId50"/>
    <p:sldId id="500" r:id="rId51"/>
    <p:sldId id="501" r:id="rId52"/>
    <p:sldId id="502" r:id="rId53"/>
    <p:sldId id="503" r:id="rId54"/>
    <p:sldId id="504" r:id="rId55"/>
    <p:sldId id="505" r:id="rId56"/>
    <p:sldId id="473" r:id="rId57"/>
    <p:sldId id="480" r:id="rId58"/>
    <p:sldId id="476" r:id="rId59"/>
    <p:sldId id="495" r:id="rId60"/>
    <p:sldId id="477" r:id="rId61"/>
    <p:sldId id="474" r:id="rId62"/>
    <p:sldId id="466" r:id="rId63"/>
    <p:sldId id="499" r:id="rId64"/>
    <p:sldId id="399" r:id="rId6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83D3E5-FF96-4A73-B9CE-65A53B43016F}" v="3" dt="2026-02-19T19:49:15.617"/>
  </p1510:revLst>
</p1510:revInfo>
</file>

<file path=ppt/tableStyles.xml><?xml version="1.0" encoding="utf-8"?>
<a:tblStyleLst xmlns:a="http://schemas.openxmlformats.org/drawingml/2006/main" def="{C6F4A71E-2EC3-4D22-9284-7B01D5CB0B2A}">
  <a:tblStyle styleId="{C6F4A71E-2EC3-4D22-9284-7B01D5CB0B2A}" styleName="Table_0">
    <a:wholeTbl>
      <a:tcTxStyle b="off" i="off">
        <a:font>
          <a:latin typeface="Segoe UI Semilight"/>
          <a:ea typeface="Segoe UI Semilight"/>
          <a:cs typeface="Segoe UI Semilight"/>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1FA"/>
          </a:solidFill>
        </a:fill>
      </a:tcStyle>
    </a:wholeTbl>
    <a:band1H>
      <a:tcTxStyle/>
      <a:tcStyle>
        <a:tcBdr/>
        <a:fill>
          <a:solidFill>
            <a:srgbClr val="CBE2F5"/>
          </a:solidFill>
        </a:fill>
      </a:tcStyle>
    </a:band1H>
    <a:band2H>
      <a:tcTxStyle/>
      <a:tcStyle>
        <a:tcBdr/>
      </a:tcStyle>
    </a:band2H>
    <a:band1V>
      <a:tcTxStyle/>
      <a:tcStyle>
        <a:tcBdr/>
        <a:fill>
          <a:solidFill>
            <a:srgbClr val="CBE2F5"/>
          </a:solidFill>
        </a:fill>
      </a:tcStyle>
    </a:band1V>
    <a:band2V>
      <a:tcTxStyle/>
      <a:tcStyle>
        <a:tcBdr/>
      </a:tcStyle>
    </a:band2V>
    <a:lastCol>
      <a:tcTxStyle b="on" i="off">
        <a:font>
          <a:latin typeface="Segoe UI Semilight"/>
          <a:ea typeface="Segoe UI Semilight"/>
          <a:cs typeface="Segoe UI Semilight"/>
        </a:font>
        <a:schemeClr val="lt1"/>
      </a:tcTxStyle>
      <a:tcStyle>
        <a:tcBdr/>
        <a:fill>
          <a:solidFill>
            <a:schemeClr val="accent1"/>
          </a:solidFill>
        </a:fill>
      </a:tcStyle>
    </a:lastCol>
    <a:firstCol>
      <a:tcTxStyle b="on" i="off">
        <a:font>
          <a:latin typeface="Segoe UI Semilight"/>
          <a:ea typeface="Segoe UI Semilight"/>
          <a:cs typeface="Segoe UI Semilight"/>
        </a:font>
        <a:schemeClr val="lt1"/>
      </a:tcTxStyle>
      <a:tcStyle>
        <a:tcBdr/>
        <a:fill>
          <a:solidFill>
            <a:schemeClr val="accent1"/>
          </a:solidFill>
        </a:fill>
      </a:tcStyle>
    </a:firstCol>
    <a:lastRow>
      <a:tcTxStyle b="on" i="off">
        <a:font>
          <a:latin typeface="Segoe UI Semilight"/>
          <a:ea typeface="Segoe UI Semilight"/>
          <a:cs typeface="Segoe UI Semilight"/>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Semilight"/>
          <a:ea typeface="Segoe UI Semilight"/>
          <a:cs typeface="Segoe UI Semilight"/>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86144" autoAdjust="0"/>
  </p:normalViewPr>
  <p:slideViewPr>
    <p:cSldViewPr snapToGrid="0">
      <p:cViewPr varScale="1">
        <p:scale>
          <a:sx n="95" d="100"/>
          <a:sy n="95" d="100"/>
        </p:scale>
        <p:origin x="1158" y="66"/>
      </p:cViewPr>
      <p:guideLst/>
    </p:cSldViewPr>
  </p:slideViewPr>
  <p:notesTextViewPr>
    <p:cViewPr>
      <p:scale>
        <a:sx n="1" d="1"/>
        <a:sy n="1" d="1"/>
      </p:scale>
      <p:origin x="0" y="0"/>
    </p:cViewPr>
  </p:notesTextViewPr>
  <p:sorterViewPr>
    <p:cViewPr>
      <p:scale>
        <a:sx n="200" d="100"/>
        <a:sy n="200" d="100"/>
      </p:scale>
      <p:origin x="0" y="-63744"/>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viewProps" Target="viewProps.xml"/><Relationship Id="rId7" Type="http://schemas.openxmlformats.org/officeDocument/2006/relationships/slide" Target="slides/slide5.xml"/><Relationship Id="rId71"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microsoft.com/office/2015/10/relationships/revisionInfo" Target="revisionInfo.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pc:chgData name="Zonghua Gu" userId="9a7e1853e1951ef5" providerId="LiveId" clId="{CF1FAA12-072C-4ED5-BA76-0FFFAEFDB88A}" dt="2026-02-19T19:55:15.600" v="1952" actId="478"/>
      <pc:docMkLst>
        <pc:docMk/>
      </pc:docMkLst>
      <pc:sldChg chg="modSp add mod">
        <pc:chgData name="Zonghua Gu" userId="9a7e1853e1951ef5" providerId="LiveId" clId="{CF1FAA12-072C-4ED5-BA76-0FFFAEFDB88A}" dt="2026-01-31T20:36:56.603" v="174" actId="20577"/>
        <pc:sldMkLst>
          <pc:docMk/>
          <pc:sldMk cId="0" sldId="257"/>
        </pc:sldMkLst>
        <pc:spChg chg="mod">
          <ac:chgData name="Zonghua Gu" userId="9a7e1853e1951ef5" providerId="LiveId" clId="{CF1FAA12-072C-4ED5-BA76-0FFFAEFDB88A}" dt="2026-01-30T04:25:53.224" v="109" actId="207"/>
          <ac:spMkLst>
            <pc:docMk/>
            <pc:sldMk cId="0" sldId="257"/>
            <ac:spMk id="159" creationId="{00000000-0000-0000-0000-000000000000}"/>
          </ac:spMkLst>
        </pc:spChg>
        <pc:spChg chg="mod">
          <ac:chgData name="Zonghua Gu" userId="9a7e1853e1951ef5" providerId="LiveId" clId="{CF1FAA12-072C-4ED5-BA76-0FFFAEFDB88A}" dt="2026-01-30T04:42:35.899" v="167" actId="20577"/>
          <ac:spMkLst>
            <pc:docMk/>
            <pc:sldMk cId="0" sldId="257"/>
            <ac:spMk id="160" creationId="{00000000-0000-0000-0000-000000000000}"/>
          </ac:spMkLst>
        </pc:spChg>
        <pc:spChg chg="mod">
          <ac:chgData name="Zonghua Gu" userId="9a7e1853e1951ef5" providerId="LiveId" clId="{CF1FAA12-072C-4ED5-BA76-0FFFAEFDB88A}" dt="2026-01-31T20:36:56.603" v="174" actId="20577"/>
          <ac:spMkLst>
            <pc:docMk/>
            <pc:sldMk cId="0" sldId="257"/>
            <ac:spMk id="161" creationId="{00000000-0000-0000-0000-000000000000}"/>
          </ac:spMkLst>
        </pc:spChg>
      </pc:sldChg>
      <pc:sldChg chg="modSp mod">
        <pc:chgData name="Zonghua Gu" userId="9a7e1853e1951ef5" providerId="LiveId" clId="{CF1FAA12-072C-4ED5-BA76-0FFFAEFDB88A}" dt="2026-01-30T04:14:25.856" v="15" actId="1076"/>
        <pc:sldMkLst>
          <pc:docMk/>
          <pc:sldMk cId="0" sldId="259"/>
        </pc:sldMkLst>
        <pc:spChg chg="mod">
          <ac:chgData name="Zonghua Gu" userId="9a7e1853e1951ef5" providerId="LiveId" clId="{CF1FAA12-072C-4ED5-BA76-0FFFAEFDB88A}" dt="2026-01-30T04:14:25.856" v="15" actId="1076"/>
          <ac:spMkLst>
            <pc:docMk/>
            <pc:sldMk cId="0" sldId="259"/>
            <ac:spMk id="197" creationId="{00000000-0000-0000-0000-000000000000}"/>
          </ac:spMkLst>
        </pc:spChg>
      </pc:sldChg>
      <pc:sldChg chg="addSp delSp modSp mod">
        <pc:chgData name="Zonghua Gu" userId="9a7e1853e1951ef5" providerId="LiveId" clId="{CF1FAA12-072C-4ED5-BA76-0FFFAEFDB88A}" dt="2026-01-31T20:46:51.634" v="232" actId="21"/>
        <pc:sldMkLst>
          <pc:docMk/>
          <pc:sldMk cId="0" sldId="277"/>
        </pc:sldMkLst>
        <pc:graphicFrameChg chg="mod modGraphic">
          <ac:chgData name="Zonghua Gu" userId="9a7e1853e1951ef5" providerId="LiveId" clId="{CF1FAA12-072C-4ED5-BA76-0FFFAEFDB88A}" dt="2026-01-31T20:46:45.703" v="229" actId="14100"/>
          <ac:graphicFrameMkLst>
            <pc:docMk/>
            <pc:sldMk cId="0" sldId="277"/>
            <ac:graphicFrameMk id="799" creationId="{00000000-0000-0000-0000-000000000000}"/>
          </ac:graphicFrameMkLst>
        </pc:graphicFrameChg>
      </pc:sldChg>
      <pc:sldChg chg="addSp delSp modSp mod">
        <pc:chgData name="Zonghua Gu" userId="9a7e1853e1951ef5" providerId="LiveId" clId="{CF1FAA12-072C-4ED5-BA76-0FFFAEFDB88A}" dt="2026-01-31T20:47:29.175" v="245" actId="21"/>
        <pc:sldMkLst>
          <pc:docMk/>
          <pc:sldMk cId="0" sldId="280"/>
        </pc:sldMkLst>
        <pc:graphicFrameChg chg="mod modGraphic">
          <ac:chgData name="Zonghua Gu" userId="9a7e1853e1951ef5" providerId="LiveId" clId="{CF1FAA12-072C-4ED5-BA76-0FFFAEFDB88A}" dt="2026-01-31T20:47:27.300" v="244" actId="14100"/>
          <ac:graphicFrameMkLst>
            <pc:docMk/>
            <pc:sldMk cId="0" sldId="280"/>
            <ac:graphicFrameMk id="973" creationId="{00000000-0000-0000-0000-000000000000}"/>
          </ac:graphicFrameMkLst>
        </pc:graphicFrameChg>
      </pc:sldChg>
      <pc:sldChg chg="addSp modSp mod modNotesTx">
        <pc:chgData name="Zonghua Gu" userId="9a7e1853e1951ef5" providerId="LiveId" clId="{CF1FAA12-072C-4ED5-BA76-0FFFAEFDB88A}" dt="2026-02-17T00:07:37.864" v="1170" actId="6549"/>
        <pc:sldMkLst>
          <pc:docMk/>
          <pc:sldMk cId="0" sldId="286"/>
        </pc:sldMkLst>
        <pc:spChg chg="mod">
          <ac:chgData name="Zonghua Gu" userId="9a7e1853e1951ef5" providerId="LiveId" clId="{CF1FAA12-072C-4ED5-BA76-0FFFAEFDB88A}" dt="2026-02-17T00:01:12.309" v="1141" actId="14100"/>
          <ac:spMkLst>
            <pc:docMk/>
            <pc:sldMk cId="0" sldId="286"/>
            <ac:spMk id="3" creationId="{8E3FCC9D-B20A-CB67-E79F-57EA786404DF}"/>
          </ac:spMkLst>
        </pc:spChg>
        <pc:spChg chg="mod">
          <ac:chgData name="Zonghua Gu" userId="9a7e1853e1951ef5" providerId="LiveId" clId="{CF1FAA12-072C-4ED5-BA76-0FFFAEFDB88A}" dt="2026-02-11T01:15:26.385" v="583" actId="1076"/>
          <ac:spMkLst>
            <pc:docMk/>
            <pc:sldMk cId="0" sldId="286"/>
            <ac:spMk id="4" creationId="{AB528F4F-D710-16BF-BE2A-4BB5191A3EDE}"/>
          </ac:spMkLst>
        </pc:spChg>
        <pc:spChg chg="mod">
          <ac:chgData name="Zonghua Gu" userId="9a7e1853e1951ef5" providerId="LiveId" clId="{CF1FAA12-072C-4ED5-BA76-0FFFAEFDB88A}" dt="2026-02-17T00:00:58.127" v="1140" actId="6549"/>
          <ac:spMkLst>
            <pc:docMk/>
            <pc:sldMk cId="0" sldId="286"/>
            <ac:spMk id="5" creationId="{AAEC7C0A-4A4F-D0C6-C811-2BD45B97112A}"/>
          </ac:spMkLst>
        </pc:spChg>
        <pc:spChg chg="add mod">
          <ac:chgData name="Zonghua Gu" userId="9a7e1853e1951ef5" providerId="LiveId" clId="{CF1FAA12-072C-4ED5-BA76-0FFFAEFDB88A}" dt="2026-02-11T01:15:21.858" v="582" actId="1076"/>
          <ac:spMkLst>
            <pc:docMk/>
            <pc:sldMk cId="0" sldId="286"/>
            <ac:spMk id="8" creationId="{716C3949-C60C-10D4-DBE4-FEA54070C025}"/>
          </ac:spMkLst>
        </pc:spChg>
        <pc:spChg chg="mod">
          <ac:chgData name="Zonghua Gu" userId="9a7e1853e1951ef5" providerId="LiveId" clId="{CF1FAA12-072C-4ED5-BA76-0FFFAEFDB88A}" dt="2026-02-17T00:07:37.864" v="1170" actId="6549"/>
          <ac:spMkLst>
            <pc:docMk/>
            <pc:sldMk cId="0" sldId="286"/>
            <ac:spMk id="1122" creationId="{00000000-0000-0000-0000-000000000000}"/>
          </ac:spMkLst>
        </pc:spChg>
        <pc:cxnChg chg="mod">
          <ac:chgData name="Zonghua Gu" userId="9a7e1853e1951ef5" providerId="LiveId" clId="{CF1FAA12-072C-4ED5-BA76-0FFFAEFDB88A}" dt="2026-02-11T01:15:26.385" v="583" actId="1076"/>
          <ac:cxnSpMkLst>
            <pc:docMk/>
            <pc:sldMk cId="0" sldId="286"/>
            <ac:cxnSpMk id="6" creationId="{ADC3A228-D237-071D-0E6A-32CCDCEB712D}"/>
          </ac:cxnSpMkLst>
        </pc:cxnChg>
        <pc:cxnChg chg="mod">
          <ac:chgData name="Zonghua Gu" userId="9a7e1853e1951ef5" providerId="LiveId" clId="{CF1FAA12-072C-4ED5-BA76-0FFFAEFDB88A}" dt="2026-02-11T01:15:26.385" v="583" actId="1076"/>
          <ac:cxnSpMkLst>
            <pc:docMk/>
            <pc:sldMk cId="0" sldId="286"/>
            <ac:cxnSpMk id="7" creationId="{78E6B389-F69D-65FF-8765-875C968EAD49}"/>
          </ac:cxnSpMkLst>
        </pc:cxnChg>
      </pc:sldChg>
      <pc:sldChg chg="addSp delSp modSp mod">
        <pc:chgData name="Zonghua Gu" userId="9a7e1853e1951ef5" providerId="LiveId" clId="{CF1FAA12-072C-4ED5-BA76-0FFFAEFDB88A}" dt="2026-02-19T19:51:39.817" v="1938" actId="400"/>
        <pc:sldMkLst>
          <pc:docMk/>
          <pc:sldMk cId="0" sldId="289"/>
        </pc:sldMkLst>
        <pc:spChg chg="add mod">
          <ac:chgData name="Zonghua Gu" userId="9a7e1853e1951ef5" providerId="LiveId" clId="{CF1FAA12-072C-4ED5-BA76-0FFFAEFDB88A}" dt="2026-02-17T00:17:42.264" v="1309"/>
          <ac:spMkLst>
            <pc:docMk/>
            <pc:sldMk cId="0" sldId="289"/>
            <ac:spMk id="7" creationId="{330C37ED-A6FF-E6EB-B48B-D648C60D7941}"/>
          </ac:spMkLst>
        </pc:spChg>
        <pc:spChg chg="add mod">
          <ac:chgData name="Zonghua Gu" userId="9a7e1853e1951ef5" providerId="LiveId" clId="{CF1FAA12-072C-4ED5-BA76-0FFFAEFDB88A}" dt="2026-02-17T00:28:56.028" v="1564" actId="20577"/>
          <ac:spMkLst>
            <pc:docMk/>
            <pc:sldMk cId="0" sldId="289"/>
            <ac:spMk id="9" creationId="{F4C28B71-54F6-2EA4-8859-1C98F83B2CE6}"/>
          </ac:spMkLst>
        </pc:spChg>
        <pc:spChg chg="mod">
          <ac:chgData name="Zonghua Gu" userId="9a7e1853e1951ef5" providerId="LiveId" clId="{CF1FAA12-072C-4ED5-BA76-0FFFAEFDB88A}" dt="2026-02-17T00:59:55.631" v="1860" actId="20577"/>
          <ac:spMkLst>
            <pc:docMk/>
            <pc:sldMk cId="0" sldId="289"/>
            <ac:spMk id="1234" creationId="{00000000-0000-0000-0000-000000000000}"/>
          </ac:spMkLst>
        </pc:spChg>
        <pc:spChg chg="mod">
          <ac:chgData name="Zonghua Gu" userId="9a7e1853e1951ef5" providerId="LiveId" clId="{CF1FAA12-072C-4ED5-BA76-0FFFAEFDB88A}" dt="2026-02-17T01:00:18.946" v="1861" actId="20577"/>
          <ac:spMkLst>
            <pc:docMk/>
            <pc:sldMk cId="0" sldId="289"/>
            <ac:spMk id="1238" creationId="{00000000-0000-0000-0000-000000000000}"/>
          </ac:spMkLst>
        </pc:spChg>
        <pc:spChg chg="mod">
          <ac:chgData name="Zonghua Gu" userId="9a7e1853e1951ef5" providerId="LiveId" clId="{CF1FAA12-072C-4ED5-BA76-0FFFAEFDB88A}" dt="2026-02-17T00:16:12.777" v="1303" actId="20577"/>
          <ac:spMkLst>
            <pc:docMk/>
            <pc:sldMk cId="0" sldId="289"/>
            <ac:spMk id="1240" creationId="{00000000-0000-0000-0000-000000000000}"/>
          </ac:spMkLst>
        </pc:spChg>
        <pc:graphicFrameChg chg="modGraphic">
          <ac:chgData name="Zonghua Gu" userId="9a7e1853e1951ef5" providerId="LiveId" clId="{CF1FAA12-072C-4ED5-BA76-0FFFAEFDB88A}" dt="2026-02-19T19:51:39.817" v="1938" actId="400"/>
          <ac:graphicFrameMkLst>
            <pc:docMk/>
            <pc:sldMk cId="0" sldId="289"/>
            <ac:graphicFrameMk id="1209" creationId="{00000000-0000-0000-0000-000000000000}"/>
          </ac:graphicFrameMkLst>
        </pc:graphicFrameChg>
      </pc:sldChg>
      <pc:sldChg chg="modSp mod">
        <pc:chgData name="Zonghua Gu" userId="9a7e1853e1951ef5" providerId="LiveId" clId="{CF1FAA12-072C-4ED5-BA76-0FFFAEFDB88A}" dt="2026-01-31T20:45:58.591" v="216" actId="1076"/>
        <pc:sldMkLst>
          <pc:docMk/>
          <pc:sldMk cId="0" sldId="320"/>
        </pc:sldMkLst>
        <pc:graphicFrameChg chg="mod modGraphic">
          <ac:chgData name="Zonghua Gu" userId="9a7e1853e1951ef5" providerId="LiveId" clId="{CF1FAA12-072C-4ED5-BA76-0FFFAEFDB88A}" dt="2026-01-31T20:45:58.591" v="216" actId="1076"/>
          <ac:graphicFrameMkLst>
            <pc:docMk/>
            <pc:sldMk cId="0" sldId="320"/>
            <ac:graphicFrameMk id="519" creationId="{00000000-0000-0000-0000-000000000000}"/>
          </ac:graphicFrameMkLst>
        </pc:graphicFrameChg>
      </pc:sldChg>
      <pc:sldChg chg="modSp mod">
        <pc:chgData name="Zonghua Gu" userId="9a7e1853e1951ef5" providerId="LiveId" clId="{CF1FAA12-072C-4ED5-BA76-0FFFAEFDB88A}" dt="2026-01-31T20:46:07.761" v="218" actId="1076"/>
        <pc:sldMkLst>
          <pc:docMk/>
          <pc:sldMk cId="0" sldId="321"/>
        </pc:sldMkLst>
        <pc:graphicFrameChg chg="mod modGraphic">
          <ac:chgData name="Zonghua Gu" userId="9a7e1853e1951ef5" providerId="LiveId" clId="{CF1FAA12-072C-4ED5-BA76-0FFFAEFDB88A}" dt="2026-01-31T20:46:07.761" v="218" actId="1076"/>
          <ac:graphicFrameMkLst>
            <pc:docMk/>
            <pc:sldMk cId="0" sldId="321"/>
            <ac:graphicFrameMk id="625" creationId="{00000000-0000-0000-0000-000000000000}"/>
          </ac:graphicFrameMkLst>
        </pc:graphicFrameChg>
      </pc:sldChg>
      <pc:sldChg chg="modSp mod">
        <pc:chgData name="Zonghua Gu" userId="9a7e1853e1951ef5" providerId="LiveId" clId="{CF1FAA12-072C-4ED5-BA76-0FFFAEFDB88A}" dt="2026-02-11T01:09:01.595" v="503" actId="20577"/>
        <pc:sldMkLst>
          <pc:docMk/>
          <pc:sldMk cId="0" sldId="322"/>
        </pc:sldMkLst>
        <pc:spChg chg="mod">
          <ac:chgData name="Zonghua Gu" userId="9a7e1853e1951ef5" providerId="LiveId" clId="{CF1FAA12-072C-4ED5-BA76-0FFFAEFDB88A}" dt="2026-02-11T01:09:01.595" v="503" actId="20577"/>
          <ac:spMkLst>
            <pc:docMk/>
            <pc:sldMk cId="0" sldId="322"/>
            <ac:spMk id="3" creationId="{003D449F-E13C-2D13-5544-5CCCEB663A09}"/>
          </ac:spMkLst>
        </pc:spChg>
        <pc:graphicFrameChg chg="mod modGraphic">
          <ac:chgData name="Zonghua Gu" userId="9a7e1853e1951ef5" providerId="LiveId" clId="{CF1FAA12-072C-4ED5-BA76-0FFFAEFDB88A}" dt="2026-01-31T20:46:15.050" v="220" actId="1076"/>
          <ac:graphicFrameMkLst>
            <pc:docMk/>
            <pc:sldMk cId="0" sldId="322"/>
            <ac:graphicFrameMk id="683" creationId="{00000000-0000-0000-0000-000000000000}"/>
          </ac:graphicFrameMkLst>
        </pc:graphicFrameChg>
      </pc:sldChg>
      <pc:sldChg chg="addSp modSp mod">
        <pc:chgData name="Zonghua Gu" userId="9a7e1853e1951ef5" providerId="LiveId" clId="{CF1FAA12-072C-4ED5-BA76-0FFFAEFDB88A}" dt="2026-01-31T20:46:36.008" v="226"/>
        <pc:sldMkLst>
          <pc:docMk/>
          <pc:sldMk cId="0" sldId="323"/>
        </pc:sldMkLst>
        <pc:graphicFrameChg chg="mod modGraphic">
          <ac:chgData name="Zonghua Gu" userId="9a7e1853e1951ef5" providerId="LiveId" clId="{CF1FAA12-072C-4ED5-BA76-0FFFAEFDB88A}" dt="2026-01-31T20:46:21.517" v="223" actId="1076"/>
          <ac:graphicFrameMkLst>
            <pc:docMk/>
            <pc:sldMk cId="0" sldId="323"/>
            <ac:graphicFrameMk id="741" creationId="{00000000-0000-0000-0000-000000000000}"/>
          </ac:graphicFrameMkLst>
        </pc:graphicFrameChg>
      </pc:sldChg>
      <pc:sldChg chg="addSp delSp modSp mod">
        <pc:chgData name="Zonghua Gu" userId="9a7e1853e1951ef5" providerId="LiveId" clId="{CF1FAA12-072C-4ED5-BA76-0FFFAEFDB88A}" dt="2026-01-31T20:46:59.286" v="235" actId="21"/>
        <pc:sldMkLst>
          <pc:docMk/>
          <pc:sldMk cId="0" sldId="324"/>
        </pc:sldMkLst>
        <pc:graphicFrameChg chg="mod modGraphic">
          <ac:chgData name="Zonghua Gu" userId="9a7e1853e1951ef5" providerId="LiveId" clId="{CF1FAA12-072C-4ED5-BA76-0FFFAEFDB88A}" dt="2026-01-31T20:46:55.844" v="234" actId="14100"/>
          <ac:graphicFrameMkLst>
            <pc:docMk/>
            <pc:sldMk cId="0" sldId="324"/>
            <ac:graphicFrameMk id="857" creationId="{00000000-0000-0000-0000-000000000000}"/>
          </ac:graphicFrameMkLst>
        </pc:graphicFrameChg>
      </pc:sldChg>
      <pc:sldChg chg="addSp delSp modSp mod">
        <pc:chgData name="Zonghua Gu" userId="9a7e1853e1951ef5" providerId="LiveId" clId="{CF1FAA12-072C-4ED5-BA76-0FFFAEFDB88A}" dt="2026-01-31T20:48:32.334" v="262" actId="21"/>
        <pc:sldMkLst>
          <pc:docMk/>
          <pc:sldMk cId="0" sldId="325"/>
        </pc:sldMkLst>
        <pc:graphicFrameChg chg="mod modGraphic">
          <ac:chgData name="Zonghua Gu" userId="9a7e1853e1951ef5" providerId="LiveId" clId="{CF1FAA12-072C-4ED5-BA76-0FFFAEFDB88A}" dt="2026-01-31T20:47:11.919" v="238" actId="14100"/>
          <ac:graphicFrameMkLst>
            <pc:docMk/>
            <pc:sldMk cId="0" sldId="325"/>
            <ac:graphicFrameMk id="915" creationId="{00000000-0000-0000-0000-000000000000}"/>
          </ac:graphicFrameMkLst>
        </pc:graphicFrameChg>
      </pc:sldChg>
      <pc:sldChg chg="addSp delSp modSp mod">
        <pc:chgData name="Zonghua Gu" userId="9a7e1853e1951ef5" providerId="LiveId" clId="{CF1FAA12-072C-4ED5-BA76-0FFFAEFDB88A}" dt="2026-01-31T20:47:36.856" v="249" actId="21"/>
        <pc:sldMkLst>
          <pc:docMk/>
          <pc:sldMk cId="0" sldId="326"/>
        </pc:sldMkLst>
        <pc:graphicFrameChg chg="mod modGraphic">
          <ac:chgData name="Zonghua Gu" userId="9a7e1853e1951ef5" providerId="LiveId" clId="{CF1FAA12-072C-4ED5-BA76-0FFFAEFDB88A}" dt="2026-01-31T20:47:35.067" v="248" actId="14100"/>
          <ac:graphicFrameMkLst>
            <pc:docMk/>
            <pc:sldMk cId="0" sldId="326"/>
            <ac:graphicFrameMk id="1031" creationId="{00000000-0000-0000-0000-000000000000}"/>
          </ac:graphicFrameMkLst>
        </pc:graphicFrameChg>
      </pc:sldChg>
      <pc:sldChg chg="addSp modSp mod">
        <pc:chgData name="Zonghua Gu" userId="9a7e1853e1951ef5" providerId="LiveId" clId="{CF1FAA12-072C-4ED5-BA76-0FFFAEFDB88A}" dt="2026-01-31T20:47:38.173" v="250"/>
        <pc:sldMkLst>
          <pc:docMk/>
          <pc:sldMk cId="0" sldId="327"/>
        </pc:sldMkLst>
        <pc:spChg chg="mod">
          <ac:chgData name="Zonghua Gu" userId="9a7e1853e1951ef5" providerId="LiveId" clId="{CF1FAA12-072C-4ED5-BA76-0FFFAEFDB88A}" dt="2026-01-31T20:44:40.396" v="197" actId="20577"/>
          <ac:spMkLst>
            <pc:docMk/>
            <pc:sldMk cId="0" sldId="327"/>
            <ac:spMk id="1040" creationId="{00000000-0000-0000-0000-000000000000}"/>
          </ac:spMkLst>
        </pc:spChg>
        <pc:graphicFrameChg chg="mod modGraphic">
          <ac:chgData name="Zonghua Gu" userId="9a7e1853e1951ef5" providerId="LiveId" clId="{CF1FAA12-072C-4ED5-BA76-0FFFAEFDB88A}" dt="2026-01-31T20:44:37.740" v="196" actId="1076"/>
          <ac:graphicFrameMkLst>
            <pc:docMk/>
            <pc:sldMk cId="0" sldId="327"/>
            <ac:graphicFrameMk id="1091" creationId="{00000000-0000-0000-0000-000000000000}"/>
          </ac:graphicFrameMkLst>
        </pc:graphicFrameChg>
      </pc:sldChg>
      <pc:sldChg chg="modSp mod">
        <pc:chgData name="Zonghua Gu" userId="9a7e1853e1951ef5" providerId="LiveId" clId="{CF1FAA12-072C-4ED5-BA76-0FFFAEFDB88A}" dt="2026-01-30T04:23:09.372" v="80" actId="403"/>
        <pc:sldMkLst>
          <pc:docMk/>
          <pc:sldMk cId="2537019054" sldId="399"/>
        </pc:sldMkLst>
        <pc:spChg chg="mod">
          <ac:chgData name="Zonghua Gu" userId="9a7e1853e1951ef5" providerId="LiveId" clId="{CF1FAA12-072C-4ED5-BA76-0FFFAEFDB88A}" dt="2026-01-30T04:23:09.372" v="80" actId="403"/>
          <ac:spMkLst>
            <pc:docMk/>
            <pc:sldMk cId="2537019054" sldId="399"/>
            <ac:spMk id="2" creationId="{7EAD2C8B-926E-37F4-A882-1095BD86BCE0}"/>
          </ac:spMkLst>
        </pc:spChg>
        <pc:spChg chg="mod">
          <ac:chgData name="Zonghua Gu" userId="9a7e1853e1951ef5" providerId="LiveId" clId="{CF1FAA12-072C-4ED5-BA76-0FFFAEFDB88A}" dt="2026-01-30T04:13:40.710" v="10" actId="20577"/>
          <ac:spMkLst>
            <pc:docMk/>
            <pc:sldMk cId="2537019054" sldId="399"/>
            <ac:spMk id="3" creationId="{F757311E-577B-3217-4E85-D680693EC5B6}"/>
          </ac:spMkLst>
        </pc:spChg>
      </pc:sldChg>
      <pc:sldChg chg="addSp modSp mod modAnim">
        <pc:chgData name="Zonghua Gu" userId="9a7e1853e1951ef5" providerId="LiveId" clId="{CF1FAA12-072C-4ED5-BA76-0FFFAEFDB88A}" dt="2026-01-31T20:50:22.644" v="291" actId="1076"/>
        <pc:sldMkLst>
          <pc:docMk/>
          <pc:sldMk cId="907160570" sldId="446"/>
        </pc:sldMkLst>
        <pc:spChg chg="add mod">
          <ac:chgData name="Zonghua Gu" userId="9a7e1853e1951ef5" providerId="LiveId" clId="{CF1FAA12-072C-4ED5-BA76-0FFFAEFDB88A}" dt="2026-01-31T20:50:03.709" v="289" actId="164"/>
          <ac:spMkLst>
            <pc:docMk/>
            <pc:sldMk cId="907160570" sldId="446"/>
            <ac:spMk id="3" creationId="{165DAA23-C43F-7D65-5605-0352BAB833D4}"/>
          </ac:spMkLst>
        </pc:spChg>
        <pc:grpChg chg="add mod">
          <ac:chgData name="Zonghua Gu" userId="9a7e1853e1951ef5" providerId="LiveId" clId="{CF1FAA12-072C-4ED5-BA76-0FFFAEFDB88A}" dt="2026-01-31T20:50:22.644" v="291" actId="1076"/>
          <ac:grpSpMkLst>
            <pc:docMk/>
            <pc:sldMk cId="907160570" sldId="446"/>
            <ac:grpSpMk id="4" creationId="{EEF8581E-5852-E2DD-7AFD-FD488C81EF41}"/>
          </ac:grpSpMkLst>
        </pc:grpChg>
        <pc:grpChg chg="mod">
          <ac:chgData name="Zonghua Gu" userId="9a7e1853e1951ef5" providerId="LiveId" clId="{CF1FAA12-072C-4ED5-BA76-0FFFAEFDB88A}" dt="2026-01-31T20:50:03.709" v="289" actId="164"/>
          <ac:grpSpMkLst>
            <pc:docMk/>
            <pc:sldMk cId="907160570" sldId="446"/>
            <ac:grpSpMk id="100" creationId="{FD7A9E48-3429-6DC2-A893-E9664837C3C1}"/>
          </ac:grpSpMkLst>
        </pc:grpChg>
      </pc:sldChg>
      <pc:sldChg chg="modSp mod">
        <pc:chgData name="Zonghua Gu" userId="9a7e1853e1951ef5" providerId="LiveId" clId="{CF1FAA12-072C-4ED5-BA76-0FFFAEFDB88A}" dt="2026-01-30T04:24:40.325" v="104" actId="14734"/>
        <pc:sldMkLst>
          <pc:docMk/>
          <pc:sldMk cId="1142676455" sldId="466"/>
        </pc:sldMkLst>
        <pc:spChg chg="mod">
          <ac:chgData name="Zonghua Gu" userId="9a7e1853e1951ef5" providerId="LiveId" clId="{CF1FAA12-072C-4ED5-BA76-0FFFAEFDB88A}" dt="2026-01-30T04:24:07.058" v="96" actId="20577"/>
          <ac:spMkLst>
            <pc:docMk/>
            <pc:sldMk cId="1142676455" sldId="466"/>
            <ac:spMk id="3" creationId="{A49FFBBD-E427-5620-95FB-460A14A9E230}"/>
          </ac:spMkLst>
        </pc:spChg>
        <pc:graphicFrameChg chg="mod modGraphic">
          <ac:chgData name="Zonghua Gu" userId="9a7e1853e1951ef5" providerId="LiveId" clId="{CF1FAA12-072C-4ED5-BA76-0FFFAEFDB88A}" dt="2026-01-30T04:24:40.325" v="104" actId="14734"/>
          <ac:graphicFrameMkLst>
            <pc:docMk/>
            <pc:sldMk cId="1142676455" sldId="466"/>
            <ac:graphicFrameMk id="6" creationId="{0B703047-F3C2-5552-B26D-E11BE011C29A}"/>
          </ac:graphicFrameMkLst>
        </pc:graphicFrameChg>
      </pc:sldChg>
      <pc:sldChg chg="addSp delSp modSp mod">
        <pc:chgData name="Zonghua Gu" userId="9a7e1853e1951ef5" providerId="LiveId" clId="{CF1FAA12-072C-4ED5-BA76-0FFFAEFDB88A}" dt="2026-01-31T20:47:57.445" v="259" actId="21"/>
        <pc:sldMkLst>
          <pc:docMk/>
          <pc:sldMk cId="3611482774" sldId="468"/>
        </pc:sldMkLst>
        <pc:spChg chg="mod">
          <ac:chgData name="Zonghua Gu" userId="9a7e1853e1951ef5" providerId="LiveId" clId="{CF1FAA12-072C-4ED5-BA76-0FFFAEFDB88A}" dt="2026-01-31T20:43:48.040" v="183" actId="5793"/>
          <ac:spMkLst>
            <pc:docMk/>
            <pc:sldMk cId="3611482774" sldId="468"/>
            <ac:spMk id="2" creationId="{D80C0A63-5E4B-2AF5-2CFA-28D3BB9BAA37}"/>
          </ac:spMkLst>
        </pc:spChg>
        <pc:spChg chg="mod">
          <ac:chgData name="Zonghua Gu" userId="9a7e1853e1951ef5" providerId="LiveId" clId="{CF1FAA12-072C-4ED5-BA76-0FFFAEFDB88A}" dt="2026-01-31T20:47:50.834" v="257" actId="1037"/>
          <ac:spMkLst>
            <pc:docMk/>
            <pc:sldMk cId="3611482774" sldId="468"/>
            <ac:spMk id="56" creationId="{89068276-794E-FBF6-7A3B-B5B81B77C038}"/>
          </ac:spMkLst>
        </pc:spChg>
        <pc:graphicFrameChg chg="mod modGraphic">
          <ac:chgData name="Zonghua Gu" userId="9a7e1853e1951ef5" providerId="LiveId" clId="{CF1FAA12-072C-4ED5-BA76-0FFFAEFDB88A}" dt="2026-01-31T20:47:55.053" v="258" actId="14100"/>
          <ac:graphicFrameMkLst>
            <pc:docMk/>
            <pc:sldMk cId="3611482774" sldId="468"/>
            <ac:graphicFrameMk id="57" creationId="{399636EF-A300-EE68-C6C6-C62152D975CE}"/>
          </ac:graphicFrameMkLst>
        </pc:graphicFrameChg>
      </pc:sldChg>
      <pc:sldChg chg="addSp delSp modSp mod">
        <pc:chgData name="Zonghua Gu" userId="9a7e1853e1951ef5" providerId="LiveId" clId="{CF1FAA12-072C-4ED5-BA76-0FFFAEFDB88A}" dt="2026-02-17T00:17:35.968" v="1308"/>
        <pc:sldMkLst>
          <pc:docMk/>
          <pc:sldMk cId="0" sldId="470"/>
        </pc:sldMkLst>
        <pc:spChg chg="add mod">
          <ac:chgData name="Zonghua Gu" userId="9a7e1853e1951ef5" providerId="LiveId" clId="{CF1FAA12-072C-4ED5-BA76-0FFFAEFDB88A}" dt="2026-02-17T00:17:35.968" v="1308"/>
          <ac:spMkLst>
            <pc:docMk/>
            <pc:sldMk cId="0" sldId="470"/>
            <ac:spMk id="2" creationId="{0A60CCA6-B29A-1071-6616-7BBE19C12E9D}"/>
          </ac:spMkLst>
        </pc:spChg>
      </pc:sldChg>
      <pc:sldChg chg="addSp delSp modSp mod modNotesTx">
        <pc:chgData name="Zonghua Gu" userId="9a7e1853e1951ef5" providerId="LiveId" clId="{CF1FAA12-072C-4ED5-BA76-0FFFAEFDB88A}" dt="2026-02-19T19:49:28.958" v="1917" actId="1037"/>
        <pc:sldMkLst>
          <pc:docMk/>
          <pc:sldMk cId="0" sldId="471"/>
        </pc:sldMkLst>
        <pc:spChg chg="add mod">
          <ac:chgData name="Zonghua Gu" userId="9a7e1853e1951ef5" providerId="LiveId" clId="{CF1FAA12-072C-4ED5-BA76-0FFFAEFDB88A}" dt="2026-02-17T00:17:43.496" v="1310"/>
          <ac:spMkLst>
            <pc:docMk/>
            <pc:sldMk cId="0" sldId="471"/>
            <ac:spMk id="2" creationId="{D6EB0B2B-3ED4-98D1-D681-915356A5240F}"/>
          </ac:spMkLst>
        </pc:spChg>
        <pc:spChg chg="add mod">
          <ac:chgData name="Zonghua Gu" userId="9a7e1853e1951ef5" providerId="LiveId" clId="{CF1FAA12-072C-4ED5-BA76-0FFFAEFDB88A}" dt="2026-02-19T19:49:28.958" v="1917" actId="1037"/>
          <ac:spMkLst>
            <pc:docMk/>
            <pc:sldMk cId="0" sldId="471"/>
            <ac:spMk id="3" creationId="{8F3FD057-8BCD-2D01-7E2C-FA37805A14F8}"/>
          </ac:spMkLst>
        </pc:spChg>
        <pc:spChg chg="mod">
          <ac:chgData name="Zonghua Gu" userId="9a7e1853e1951ef5" providerId="LiveId" clId="{CF1FAA12-072C-4ED5-BA76-0FFFAEFDB88A}" dt="2026-02-17T01:01:00.330" v="1864" actId="20577"/>
          <ac:spMkLst>
            <pc:docMk/>
            <pc:sldMk cId="0" sldId="471"/>
            <ac:spMk id="1279" creationId="{00000000-0000-0000-0000-000000000000}"/>
          </ac:spMkLst>
        </pc:spChg>
        <pc:spChg chg="mod">
          <ac:chgData name="Zonghua Gu" userId="9a7e1853e1951ef5" providerId="LiveId" clId="{CF1FAA12-072C-4ED5-BA76-0FFFAEFDB88A}" dt="2026-02-17T01:00:31.966" v="1862" actId="20577"/>
          <ac:spMkLst>
            <pc:docMk/>
            <pc:sldMk cId="0" sldId="471"/>
            <ac:spMk id="1280" creationId="{00000000-0000-0000-0000-000000000000}"/>
          </ac:spMkLst>
        </pc:spChg>
        <pc:spChg chg="mod">
          <ac:chgData name="Zonghua Gu" userId="9a7e1853e1951ef5" providerId="LiveId" clId="{CF1FAA12-072C-4ED5-BA76-0FFFAEFDB88A}" dt="2026-02-17T01:00:38.019" v="1863" actId="20577"/>
          <ac:spMkLst>
            <pc:docMk/>
            <pc:sldMk cId="0" sldId="471"/>
            <ac:spMk id="1283" creationId="{00000000-0000-0000-0000-000000000000}"/>
          </ac:spMkLst>
        </pc:spChg>
        <pc:spChg chg="mod">
          <ac:chgData name="Zonghua Gu" userId="9a7e1853e1951ef5" providerId="LiveId" clId="{CF1FAA12-072C-4ED5-BA76-0FFFAEFDB88A}" dt="2026-02-17T00:18:35.067" v="1316" actId="20577"/>
          <ac:spMkLst>
            <pc:docMk/>
            <pc:sldMk cId="0" sldId="471"/>
            <ac:spMk id="1285" creationId="{00000000-0000-0000-0000-000000000000}"/>
          </ac:spMkLst>
        </pc:spChg>
        <pc:spChg chg="mod">
          <ac:chgData name="Zonghua Gu" userId="9a7e1853e1951ef5" providerId="LiveId" clId="{CF1FAA12-072C-4ED5-BA76-0FFFAEFDB88A}" dt="2026-02-17T00:28:43.315" v="1559" actId="20577"/>
          <ac:spMkLst>
            <pc:docMk/>
            <pc:sldMk cId="0" sldId="471"/>
            <ac:spMk id="1287" creationId="{00000000-0000-0000-0000-000000000000}"/>
          </ac:spMkLst>
        </pc:spChg>
        <pc:graphicFrameChg chg="mod modGraphic">
          <ac:chgData name="Zonghua Gu" userId="9a7e1853e1951ef5" providerId="LiveId" clId="{CF1FAA12-072C-4ED5-BA76-0FFFAEFDB88A}" dt="2026-02-19T19:49:06.805" v="1912" actId="400"/>
          <ac:graphicFrameMkLst>
            <pc:docMk/>
            <pc:sldMk cId="0" sldId="471"/>
            <ac:graphicFrameMk id="1254" creationId="{00000000-0000-0000-0000-000000000000}"/>
          </ac:graphicFrameMkLst>
        </pc:graphicFrameChg>
      </pc:sldChg>
      <pc:sldChg chg="addSp delSp modSp mod delAnim modNotesTx">
        <pc:chgData name="Zonghua Gu" userId="9a7e1853e1951ef5" providerId="LiveId" clId="{CF1FAA12-072C-4ED5-BA76-0FFFAEFDB88A}" dt="2026-02-17T01:01:11.572" v="1869" actId="20577"/>
        <pc:sldMkLst>
          <pc:docMk/>
          <pc:sldMk cId="0" sldId="472"/>
        </pc:sldMkLst>
        <pc:spChg chg="add mod">
          <ac:chgData name="Zonghua Gu" userId="9a7e1853e1951ef5" providerId="LiveId" clId="{CF1FAA12-072C-4ED5-BA76-0FFFAEFDB88A}" dt="2026-02-17T00:17:44.456" v="1311"/>
          <ac:spMkLst>
            <pc:docMk/>
            <pc:sldMk cId="0" sldId="472"/>
            <ac:spMk id="2" creationId="{F92C9AA9-7C24-F7B5-1229-A874F31DEDD7}"/>
          </ac:spMkLst>
        </pc:spChg>
        <pc:spChg chg="mod">
          <ac:chgData name="Zonghua Gu" userId="9a7e1853e1951ef5" providerId="LiveId" clId="{CF1FAA12-072C-4ED5-BA76-0FFFAEFDB88A}" dt="2026-02-17T01:01:02.146" v="1865" actId="20577"/>
          <ac:spMkLst>
            <pc:docMk/>
            <pc:sldMk cId="0" sldId="472"/>
            <ac:spMk id="1323" creationId="{00000000-0000-0000-0000-000000000000}"/>
          </ac:spMkLst>
        </pc:spChg>
        <pc:spChg chg="mod">
          <ac:chgData name="Zonghua Gu" userId="9a7e1853e1951ef5" providerId="LiveId" clId="{CF1FAA12-072C-4ED5-BA76-0FFFAEFDB88A}" dt="2026-02-17T01:01:08.461" v="1868" actId="20577"/>
          <ac:spMkLst>
            <pc:docMk/>
            <pc:sldMk cId="0" sldId="472"/>
            <ac:spMk id="1324" creationId="{00000000-0000-0000-0000-000000000000}"/>
          </ac:spMkLst>
        </pc:spChg>
        <pc:spChg chg="mod">
          <ac:chgData name="Zonghua Gu" userId="9a7e1853e1951ef5" providerId="LiveId" clId="{CF1FAA12-072C-4ED5-BA76-0FFFAEFDB88A}" dt="2026-02-17T01:01:11.572" v="1869" actId="20577"/>
          <ac:spMkLst>
            <pc:docMk/>
            <pc:sldMk cId="0" sldId="472"/>
            <ac:spMk id="1327" creationId="{00000000-0000-0000-0000-000000000000}"/>
          </ac:spMkLst>
        </pc:spChg>
        <pc:spChg chg="mod">
          <ac:chgData name="Zonghua Gu" userId="9a7e1853e1951ef5" providerId="LiveId" clId="{CF1FAA12-072C-4ED5-BA76-0FFFAEFDB88A}" dt="2026-02-17T00:18:42.753" v="1320" actId="20577"/>
          <ac:spMkLst>
            <pc:docMk/>
            <pc:sldMk cId="0" sldId="472"/>
            <ac:spMk id="1329" creationId="{00000000-0000-0000-0000-000000000000}"/>
          </ac:spMkLst>
        </pc:spChg>
        <pc:spChg chg="mod">
          <ac:chgData name="Zonghua Gu" userId="9a7e1853e1951ef5" providerId="LiveId" clId="{CF1FAA12-072C-4ED5-BA76-0FFFAEFDB88A}" dt="2026-02-17T00:29:32.443" v="1569" actId="20577"/>
          <ac:spMkLst>
            <pc:docMk/>
            <pc:sldMk cId="0" sldId="472"/>
            <ac:spMk id="1330" creationId="{00000000-0000-0000-0000-000000000000}"/>
          </ac:spMkLst>
        </pc:spChg>
        <pc:graphicFrameChg chg="modGraphic">
          <ac:chgData name="Zonghua Gu" userId="9a7e1853e1951ef5" providerId="LiveId" clId="{CF1FAA12-072C-4ED5-BA76-0FFFAEFDB88A}" dt="2026-02-17T00:20:38.634" v="1324" actId="20577"/>
          <ac:graphicFrameMkLst>
            <pc:docMk/>
            <pc:sldMk cId="0" sldId="472"/>
            <ac:graphicFrameMk id="1298" creationId="{00000000-0000-0000-0000-000000000000}"/>
          </ac:graphicFrameMkLst>
        </pc:graphicFrameChg>
      </pc:sldChg>
      <pc:sldChg chg="addSp delSp modSp mod delAnim">
        <pc:chgData name="Zonghua Gu" userId="9a7e1853e1951ef5" providerId="LiveId" clId="{CF1FAA12-072C-4ED5-BA76-0FFFAEFDB88A}" dt="2026-02-17T00:11:36.465" v="1282" actId="1076"/>
        <pc:sldMkLst>
          <pc:docMk/>
          <pc:sldMk cId="3956075889" sldId="473"/>
        </pc:sldMkLst>
        <pc:spChg chg="add mod">
          <ac:chgData name="Zonghua Gu" userId="9a7e1853e1951ef5" providerId="LiveId" clId="{CF1FAA12-072C-4ED5-BA76-0FFFAEFDB88A}" dt="2026-02-17T00:11:36.465" v="1282" actId="1076"/>
          <ac:spMkLst>
            <pc:docMk/>
            <pc:sldMk cId="3956075889" sldId="473"/>
            <ac:spMk id="4" creationId="{89C9429B-C94B-EC5F-C249-DE3878AAC686}"/>
          </ac:spMkLst>
        </pc:spChg>
        <pc:spChg chg="mod">
          <ac:chgData name="Zonghua Gu" userId="9a7e1853e1951ef5" providerId="LiveId" clId="{CF1FAA12-072C-4ED5-BA76-0FFFAEFDB88A}" dt="2026-02-17T00:11:33.269" v="1281" actId="1076"/>
          <ac:spMkLst>
            <pc:docMk/>
            <pc:sldMk cId="3956075889" sldId="473"/>
            <ac:spMk id="193" creationId="{8A3E274E-C8D1-6F3B-46B9-0C2CF7D87B50}"/>
          </ac:spMkLst>
        </pc:spChg>
        <pc:spChg chg="mod">
          <ac:chgData name="Zonghua Gu" userId="9a7e1853e1951ef5" providerId="LiveId" clId="{CF1FAA12-072C-4ED5-BA76-0FFFAEFDB88A}" dt="2026-02-17T00:11:33.269" v="1281" actId="1076"/>
          <ac:spMkLst>
            <pc:docMk/>
            <pc:sldMk cId="3956075889" sldId="473"/>
            <ac:spMk id="197" creationId="{1096F690-6558-4EE1-37E8-805AF1B29578}"/>
          </ac:spMkLst>
        </pc:spChg>
        <pc:spChg chg="mod">
          <ac:chgData name="Zonghua Gu" userId="9a7e1853e1951ef5" providerId="LiveId" clId="{CF1FAA12-072C-4ED5-BA76-0FFFAEFDB88A}" dt="2026-02-17T00:11:33.269" v="1281" actId="1076"/>
          <ac:spMkLst>
            <pc:docMk/>
            <pc:sldMk cId="3956075889" sldId="473"/>
            <ac:spMk id="206" creationId="{ECC6B257-C8CF-1259-3642-8149454DC3DD}"/>
          </ac:spMkLst>
        </pc:spChg>
        <pc:spChg chg="mod">
          <ac:chgData name="Zonghua Gu" userId="9a7e1853e1951ef5" providerId="LiveId" clId="{CF1FAA12-072C-4ED5-BA76-0FFFAEFDB88A}" dt="2026-02-17T00:11:33.269" v="1281" actId="1076"/>
          <ac:spMkLst>
            <pc:docMk/>
            <pc:sldMk cId="3956075889" sldId="473"/>
            <ac:spMk id="207" creationId="{872095A4-4721-95C9-CA21-0B09C614FB2F}"/>
          </ac:spMkLst>
        </pc:spChg>
        <pc:spChg chg="mod">
          <ac:chgData name="Zonghua Gu" userId="9a7e1853e1951ef5" providerId="LiveId" clId="{CF1FAA12-072C-4ED5-BA76-0FFFAEFDB88A}" dt="2026-02-17T00:11:33.269" v="1281" actId="1076"/>
          <ac:spMkLst>
            <pc:docMk/>
            <pc:sldMk cId="3956075889" sldId="473"/>
            <ac:spMk id="215" creationId="{C357189C-2122-2DB4-F833-B38ED107BCF6}"/>
          </ac:spMkLst>
        </pc:spChg>
        <pc:spChg chg="mod">
          <ac:chgData name="Zonghua Gu" userId="9a7e1853e1951ef5" providerId="LiveId" clId="{CF1FAA12-072C-4ED5-BA76-0FFFAEFDB88A}" dt="2026-02-17T00:11:33.269" v="1281" actId="1076"/>
          <ac:spMkLst>
            <pc:docMk/>
            <pc:sldMk cId="3956075889" sldId="473"/>
            <ac:spMk id="221" creationId="{E175A8D4-AEAE-F291-2594-F9F858946689}"/>
          </ac:spMkLst>
        </pc:spChg>
        <pc:spChg chg="mod">
          <ac:chgData name="Zonghua Gu" userId="9a7e1853e1951ef5" providerId="LiveId" clId="{CF1FAA12-072C-4ED5-BA76-0FFFAEFDB88A}" dt="2026-02-17T00:11:33.269" v="1281" actId="1076"/>
          <ac:spMkLst>
            <pc:docMk/>
            <pc:sldMk cId="3956075889" sldId="473"/>
            <ac:spMk id="224" creationId="{4DC98342-B0A7-6B77-E3AF-DE0C4C711582}"/>
          </ac:spMkLst>
        </pc:spChg>
        <pc:spChg chg="mod">
          <ac:chgData name="Zonghua Gu" userId="9a7e1853e1951ef5" providerId="LiveId" clId="{CF1FAA12-072C-4ED5-BA76-0FFFAEFDB88A}" dt="2026-02-17T00:11:33.269" v="1281" actId="1076"/>
          <ac:spMkLst>
            <pc:docMk/>
            <pc:sldMk cId="3956075889" sldId="473"/>
            <ac:spMk id="228" creationId="{B53037E5-09AF-5894-C4A5-10308F9EC485}"/>
          </ac:spMkLst>
        </pc:spChg>
        <pc:spChg chg="mod">
          <ac:chgData name="Zonghua Gu" userId="9a7e1853e1951ef5" providerId="LiveId" clId="{CF1FAA12-072C-4ED5-BA76-0FFFAEFDB88A}" dt="2026-02-17T00:11:33.269" v="1281" actId="1076"/>
          <ac:spMkLst>
            <pc:docMk/>
            <pc:sldMk cId="3956075889" sldId="473"/>
            <ac:spMk id="237" creationId="{59929F09-3726-752E-97D4-D5142100A760}"/>
          </ac:spMkLst>
        </pc:spChg>
        <pc:spChg chg="mod">
          <ac:chgData name="Zonghua Gu" userId="9a7e1853e1951ef5" providerId="LiveId" clId="{CF1FAA12-072C-4ED5-BA76-0FFFAEFDB88A}" dt="2026-02-17T00:11:33.269" v="1281" actId="1076"/>
          <ac:spMkLst>
            <pc:docMk/>
            <pc:sldMk cId="3956075889" sldId="473"/>
            <ac:spMk id="249" creationId="{7BECC633-4C7D-D864-8083-2CA2CD04C24A}"/>
          </ac:spMkLst>
        </pc:spChg>
      </pc:sldChg>
      <pc:sldChg chg="modNotesTx">
        <pc:chgData name="Zonghua Gu" userId="9a7e1853e1951ef5" providerId="LiveId" clId="{CF1FAA12-072C-4ED5-BA76-0FFFAEFDB88A}" dt="2026-02-11T00:53:00.878" v="407" actId="20577"/>
        <pc:sldMkLst>
          <pc:docMk/>
          <pc:sldMk cId="298226707" sldId="474"/>
        </pc:sldMkLst>
      </pc:sldChg>
      <pc:sldChg chg="modSp add mod">
        <pc:chgData name="Zonghua Gu" userId="9a7e1853e1951ef5" providerId="LiveId" clId="{CF1FAA12-072C-4ED5-BA76-0FFFAEFDB88A}" dt="2026-01-30T04:14:41.929" v="17" actId="207"/>
        <pc:sldMkLst>
          <pc:docMk/>
          <pc:sldMk cId="4188558496" sldId="496"/>
        </pc:sldMkLst>
        <pc:spChg chg="mod">
          <ac:chgData name="Zonghua Gu" userId="9a7e1853e1951ef5" providerId="LiveId" clId="{CF1FAA12-072C-4ED5-BA76-0FFFAEFDB88A}" dt="2026-01-30T04:14:41.929" v="17" actId="207"/>
          <ac:spMkLst>
            <pc:docMk/>
            <pc:sldMk cId="4188558496" sldId="496"/>
            <ac:spMk id="197" creationId="{AAC04CB2-C14C-3383-81DE-B8221D0F30AE}"/>
          </ac:spMkLst>
        </pc:spChg>
      </pc:sldChg>
      <pc:sldChg chg="addSp modSp add mod">
        <pc:chgData name="Zonghua Gu" userId="9a7e1853e1951ef5" providerId="LiveId" clId="{CF1FAA12-072C-4ED5-BA76-0FFFAEFDB88A}" dt="2026-01-30T04:15:02.353" v="24" actId="108"/>
        <pc:sldMkLst>
          <pc:docMk/>
          <pc:sldMk cId="3335745808" sldId="497"/>
        </pc:sldMkLst>
        <pc:spChg chg="mod">
          <ac:chgData name="Zonghua Gu" userId="9a7e1853e1951ef5" providerId="LiveId" clId="{CF1FAA12-072C-4ED5-BA76-0FFFAEFDB88A}" dt="2026-01-30T04:15:02.353" v="24" actId="108"/>
          <ac:spMkLst>
            <pc:docMk/>
            <pc:sldMk cId="3335745808" sldId="497"/>
            <ac:spMk id="197" creationId="{B2BF422D-6EA1-B9A1-8CCA-1D1A80BB372A}"/>
          </ac:spMkLst>
        </pc:spChg>
      </pc:sldChg>
      <pc:sldChg chg="addSp delSp modSp new mod">
        <pc:chgData name="Zonghua Gu" userId="9a7e1853e1951ef5" providerId="LiveId" clId="{CF1FAA12-072C-4ED5-BA76-0FFFAEFDB88A}" dt="2026-01-30T04:23:17.564" v="81" actId="2711"/>
        <pc:sldMkLst>
          <pc:docMk/>
          <pc:sldMk cId="1552378399" sldId="499"/>
        </pc:sldMkLst>
        <pc:spChg chg="mod">
          <ac:chgData name="Zonghua Gu" userId="9a7e1853e1951ef5" providerId="LiveId" clId="{CF1FAA12-072C-4ED5-BA76-0FFFAEFDB88A}" dt="2026-01-30T04:23:17.564" v="81" actId="2711"/>
          <ac:spMkLst>
            <pc:docMk/>
            <pc:sldMk cId="1552378399" sldId="499"/>
            <ac:spMk id="2" creationId="{7E500C71-0623-8419-C944-5500D5906872}"/>
          </ac:spMkLst>
        </pc:spChg>
        <pc:graphicFrameChg chg="add mod modGraphic">
          <ac:chgData name="Zonghua Gu" userId="9a7e1853e1951ef5" providerId="LiveId" clId="{CF1FAA12-072C-4ED5-BA76-0FFFAEFDB88A}" dt="2026-01-30T04:22:05.060" v="54" actId="14100"/>
          <ac:graphicFrameMkLst>
            <pc:docMk/>
            <pc:sldMk cId="1552378399" sldId="499"/>
            <ac:graphicFrameMk id="4" creationId="{657250CB-7E21-5D0C-1BC9-BAEF16D96864}"/>
          </ac:graphicFrameMkLst>
        </pc:graphicFrameChg>
      </pc:sldChg>
      <pc:sldChg chg="modSp add del mod modNotesTx">
        <pc:chgData name="Zonghua Gu" userId="9a7e1853e1951ef5" providerId="LiveId" clId="{CF1FAA12-072C-4ED5-BA76-0FFFAEFDB88A}" dt="2026-02-19T19:52:32.600" v="1939" actId="207"/>
        <pc:sldMkLst>
          <pc:docMk/>
          <pc:sldMk cId="1184831330" sldId="500"/>
        </pc:sldMkLst>
        <pc:spChg chg="mod">
          <ac:chgData name="Zonghua Gu" userId="9a7e1853e1951ef5" providerId="LiveId" clId="{CF1FAA12-072C-4ED5-BA76-0FFFAEFDB88A}" dt="2026-02-19T19:52:32.600" v="1939" actId="207"/>
          <ac:spMkLst>
            <pc:docMk/>
            <pc:sldMk cId="1184831330" sldId="500"/>
            <ac:spMk id="3" creationId="{FE81FF0C-6907-95E4-C3F5-527E44E96316}"/>
          </ac:spMkLst>
        </pc:spChg>
        <pc:spChg chg="mod">
          <ac:chgData name="Zonghua Gu" userId="9a7e1853e1951ef5" providerId="LiveId" clId="{CF1FAA12-072C-4ED5-BA76-0FFFAEFDB88A}" dt="2026-02-17T00:25:38.451" v="1404" actId="20577"/>
          <ac:spMkLst>
            <pc:docMk/>
            <pc:sldMk cId="1184831330" sldId="500"/>
            <ac:spMk id="6" creationId="{6001DD40-6842-8B21-CB45-89FF1B3FFD18}"/>
          </ac:spMkLst>
        </pc:spChg>
      </pc:sldChg>
      <pc:sldChg chg="addSp delSp modSp add mod">
        <pc:chgData name="Zonghua Gu" userId="9a7e1853e1951ef5" providerId="LiveId" clId="{CF1FAA12-072C-4ED5-BA76-0FFFAEFDB88A}" dt="2026-02-17T00:50:21.603" v="1820"/>
        <pc:sldMkLst>
          <pc:docMk/>
          <pc:sldMk cId="3080480561" sldId="501"/>
        </pc:sldMkLst>
        <pc:spChg chg="add mod">
          <ac:chgData name="Zonghua Gu" userId="9a7e1853e1951ef5" providerId="LiveId" clId="{CF1FAA12-072C-4ED5-BA76-0FFFAEFDB88A}" dt="2026-02-17T00:50:21.603" v="1820"/>
          <ac:spMkLst>
            <pc:docMk/>
            <pc:sldMk cId="3080480561" sldId="501"/>
            <ac:spMk id="3" creationId="{567F0D32-2F3F-3F26-084A-727FD874418E}"/>
          </ac:spMkLst>
        </pc:spChg>
      </pc:sldChg>
      <pc:sldChg chg="modSp add mod">
        <pc:chgData name="Zonghua Gu" userId="9a7e1853e1951ef5" providerId="LiveId" clId="{CF1FAA12-072C-4ED5-BA76-0FFFAEFDB88A}" dt="2026-02-17T00:42:29.277" v="1758" actId="207"/>
        <pc:sldMkLst>
          <pc:docMk/>
          <pc:sldMk cId="3479463534" sldId="502"/>
        </pc:sldMkLst>
        <pc:spChg chg="mod">
          <ac:chgData name="Zonghua Gu" userId="9a7e1853e1951ef5" providerId="LiveId" clId="{CF1FAA12-072C-4ED5-BA76-0FFFAEFDB88A}" dt="2026-02-17T00:42:29.277" v="1758" actId="207"/>
          <ac:spMkLst>
            <pc:docMk/>
            <pc:sldMk cId="3479463534" sldId="502"/>
            <ac:spMk id="7" creationId="{609C04A7-5D8D-BF50-63F7-86327AE0988A}"/>
          </ac:spMkLst>
        </pc:spChg>
        <pc:spChg chg="mod">
          <ac:chgData name="Zonghua Gu" userId="9a7e1853e1951ef5" providerId="LiveId" clId="{CF1FAA12-072C-4ED5-BA76-0FFFAEFDB88A}" dt="2026-02-17T00:42:20.874" v="1757" actId="20577"/>
          <ac:spMkLst>
            <pc:docMk/>
            <pc:sldMk cId="3479463534" sldId="502"/>
            <ac:spMk id="9" creationId="{A7991E99-D0C6-8AD8-E2AF-23EC98E3C22C}"/>
          </ac:spMkLst>
        </pc:spChg>
        <pc:graphicFrameChg chg="modGraphic">
          <ac:chgData name="Zonghua Gu" userId="9a7e1853e1951ef5" providerId="LiveId" clId="{CF1FAA12-072C-4ED5-BA76-0FFFAEFDB88A}" dt="2026-02-17T00:41:15.479" v="1744" actId="20577"/>
          <ac:graphicFrameMkLst>
            <pc:docMk/>
            <pc:sldMk cId="3479463534" sldId="502"/>
            <ac:graphicFrameMk id="1209" creationId="{5D4BA61F-9FE9-7114-3023-D23C3588DAB4}"/>
          </ac:graphicFrameMkLst>
        </pc:graphicFrameChg>
      </pc:sldChg>
      <pc:sldChg chg="addSp delSp modSp add mod">
        <pc:chgData name="Zonghua Gu" userId="9a7e1853e1951ef5" providerId="LiveId" clId="{CF1FAA12-072C-4ED5-BA76-0FFFAEFDB88A}" dt="2026-02-19T19:54:21.714" v="1943" actId="400"/>
        <pc:sldMkLst>
          <pc:docMk/>
          <pc:sldMk cId="3078399536" sldId="503"/>
        </pc:sldMkLst>
        <pc:spChg chg="add mod">
          <ac:chgData name="Zonghua Gu" userId="9a7e1853e1951ef5" providerId="LiveId" clId="{CF1FAA12-072C-4ED5-BA76-0FFFAEFDB88A}" dt="2026-02-17T00:45:32.639" v="1780" actId="1076"/>
          <ac:spMkLst>
            <pc:docMk/>
            <pc:sldMk cId="3078399536" sldId="503"/>
            <ac:spMk id="3" creationId="{62904C16-8ABD-6422-3C07-F6639DC25F82}"/>
          </ac:spMkLst>
        </pc:spChg>
        <pc:spChg chg="add mod">
          <ac:chgData name="Zonghua Gu" userId="9a7e1853e1951ef5" providerId="LiveId" clId="{CF1FAA12-072C-4ED5-BA76-0FFFAEFDB88A}" dt="2026-02-17T00:46:42.150" v="1801" actId="552"/>
          <ac:spMkLst>
            <pc:docMk/>
            <pc:sldMk cId="3078399536" sldId="503"/>
            <ac:spMk id="4" creationId="{823CDB0A-E3E3-1C27-5089-A1DFDC4CC17C}"/>
          </ac:spMkLst>
        </pc:spChg>
        <pc:spChg chg="add mod">
          <ac:chgData name="Zonghua Gu" userId="9a7e1853e1951ef5" providerId="LiveId" clId="{CF1FAA12-072C-4ED5-BA76-0FFFAEFDB88A}" dt="2026-02-17T00:46:31.567" v="1799" actId="6549"/>
          <ac:spMkLst>
            <pc:docMk/>
            <pc:sldMk cId="3078399536" sldId="503"/>
            <ac:spMk id="5" creationId="{6723935D-165E-1086-8736-437B185B06E9}"/>
          </ac:spMkLst>
        </pc:spChg>
        <pc:spChg chg="add mod">
          <ac:chgData name="Zonghua Gu" userId="9a7e1853e1951ef5" providerId="LiveId" clId="{CF1FAA12-072C-4ED5-BA76-0FFFAEFDB88A}" dt="2026-02-17T00:46:42.150" v="1801" actId="552"/>
          <ac:spMkLst>
            <pc:docMk/>
            <pc:sldMk cId="3078399536" sldId="503"/>
            <ac:spMk id="6" creationId="{F9ED1F78-84C1-3B69-1427-96350FCC55FE}"/>
          </ac:spMkLst>
        </pc:spChg>
        <pc:spChg chg="add mod">
          <ac:chgData name="Zonghua Gu" userId="9a7e1853e1951ef5" providerId="LiveId" clId="{CF1FAA12-072C-4ED5-BA76-0FFFAEFDB88A}" dt="2026-02-17T00:50:25.580" v="1822"/>
          <ac:spMkLst>
            <pc:docMk/>
            <pc:sldMk cId="3078399536" sldId="503"/>
            <ac:spMk id="7" creationId="{6DE04F02-896E-907D-7222-372436A34FFC}"/>
          </ac:spMkLst>
        </pc:spChg>
        <pc:spChg chg="mod">
          <ac:chgData name="Zonghua Gu" userId="9a7e1853e1951ef5" providerId="LiveId" clId="{CF1FAA12-072C-4ED5-BA76-0FFFAEFDB88A}" dt="2026-02-17T01:01:26.596" v="1870" actId="20577"/>
          <ac:spMkLst>
            <pc:docMk/>
            <pc:sldMk cId="3078399536" sldId="503"/>
            <ac:spMk id="1279" creationId="{81AC957B-6870-14B4-C484-2A5BFB7A386B}"/>
          </ac:spMkLst>
        </pc:spChg>
        <pc:spChg chg="mod">
          <ac:chgData name="Zonghua Gu" userId="9a7e1853e1951ef5" providerId="LiveId" clId="{CF1FAA12-072C-4ED5-BA76-0FFFAEFDB88A}" dt="2026-02-17T01:01:28.742" v="1871" actId="20577"/>
          <ac:spMkLst>
            <pc:docMk/>
            <pc:sldMk cId="3078399536" sldId="503"/>
            <ac:spMk id="1283" creationId="{EE2A9053-2CCA-905D-E809-863860023C05}"/>
          </ac:spMkLst>
        </pc:spChg>
        <pc:graphicFrameChg chg="mod modGraphic">
          <ac:chgData name="Zonghua Gu" userId="9a7e1853e1951ef5" providerId="LiveId" clId="{CF1FAA12-072C-4ED5-BA76-0FFFAEFDB88A}" dt="2026-02-19T19:54:21.714" v="1943" actId="400"/>
          <ac:graphicFrameMkLst>
            <pc:docMk/>
            <pc:sldMk cId="3078399536" sldId="503"/>
            <ac:graphicFrameMk id="1254" creationId="{956496CF-EA25-3B97-E147-5D9DC5B74701}"/>
          </ac:graphicFrameMkLst>
        </pc:graphicFrameChg>
      </pc:sldChg>
      <pc:sldChg chg="addSp delSp modSp add mod">
        <pc:chgData name="Zonghua Gu" userId="9a7e1853e1951ef5" providerId="LiveId" clId="{CF1FAA12-072C-4ED5-BA76-0FFFAEFDB88A}" dt="2026-02-17T01:01:53.509" v="1877" actId="20577"/>
        <pc:sldMkLst>
          <pc:docMk/>
          <pc:sldMk cId="3121511467" sldId="504"/>
        </pc:sldMkLst>
        <pc:spChg chg="add mod">
          <ac:chgData name="Zonghua Gu" userId="9a7e1853e1951ef5" providerId="LiveId" clId="{CF1FAA12-072C-4ED5-BA76-0FFFAEFDB88A}" dt="2026-02-17T00:48:49.654" v="1811" actId="14100"/>
          <ac:spMkLst>
            <pc:docMk/>
            <pc:sldMk cId="3121511467" sldId="504"/>
            <ac:spMk id="3" creationId="{49DABEEC-DD10-8978-9111-DEE949054C24}"/>
          </ac:spMkLst>
        </pc:spChg>
        <pc:spChg chg="add mod">
          <ac:chgData name="Zonghua Gu" userId="9a7e1853e1951ef5" providerId="LiveId" clId="{CF1FAA12-072C-4ED5-BA76-0FFFAEFDB88A}" dt="2026-02-17T00:49:26.239" v="1813" actId="20577"/>
          <ac:spMkLst>
            <pc:docMk/>
            <pc:sldMk cId="3121511467" sldId="504"/>
            <ac:spMk id="5" creationId="{1F03A970-D766-C13E-368A-BDCF894DC96C}"/>
          </ac:spMkLst>
        </pc:spChg>
        <pc:spChg chg="add mod">
          <ac:chgData name="Zonghua Gu" userId="9a7e1853e1951ef5" providerId="LiveId" clId="{CF1FAA12-072C-4ED5-BA76-0FFFAEFDB88A}" dt="2026-02-17T00:57:50.485" v="1855" actId="20577"/>
          <ac:spMkLst>
            <pc:docMk/>
            <pc:sldMk cId="3121511467" sldId="504"/>
            <ac:spMk id="6" creationId="{83E5E265-4153-BF8C-1C73-57654DA3FD38}"/>
          </ac:spMkLst>
        </pc:spChg>
        <pc:spChg chg="add mod">
          <ac:chgData name="Zonghua Gu" userId="9a7e1853e1951ef5" providerId="LiveId" clId="{CF1FAA12-072C-4ED5-BA76-0FFFAEFDB88A}" dt="2026-02-17T00:50:28.097" v="1824"/>
          <ac:spMkLst>
            <pc:docMk/>
            <pc:sldMk cId="3121511467" sldId="504"/>
            <ac:spMk id="7" creationId="{B9BBC9EC-CEB3-AFB3-42A0-8FEF9A32B628}"/>
          </ac:spMkLst>
        </pc:spChg>
        <pc:spChg chg="mod">
          <ac:chgData name="Zonghua Gu" userId="9a7e1853e1951ef5" providerId="LiveId" clId="{CF1FAA12-072C-4ED5-BA76-0FFFAEFDB88A}" dt="2026-02-17T01:01:34.899" v="1874" actId="20577"/>
          <ac:spMkLst>
            <pc:docMk/>
            <pc:sldMk cId="3121511467" sldId="504"/>
            <ac:spMk id="1323" creationId="{5D9EE00F-B197-C996-919F-920903701BA1}"/>
          </ac:spMkLst>
        </pc:spChg>
        <pc:spChg chg="mod">
          <ac:chgData name="Zonghua Gu" userId="9a7e1853e1951ef5" providerId="LiveId" clId="{CF1FAA12-072C-4ED5-BA76-0FFFAEFDB88A}" dt="2026-02-17T01:01:53.509" v="1877" actId="20577"/>
          <ac:spMkLst>
            <pc:docMk/>
            <pc:sldMk cId="3121511467" sldId="504"/>
            <ac:spMk id="1324" creationId="{B697BEFC-4F7D-1388-CC9D-5FAAEA058058}"/>
          </ac:spMkLst>
        </pc:spChg>
        <pc:spChg chg="mod">
          <ac:chgData name="Zonghua Gu" userId="9a7e1853e1951ef5" providerId="LiveId" clId="{CF1FAA12-072C-4ED5-BA76-0FFFAEFDB88A}" dt="2026-02-17T01:01:37.342" v="1875" actId="20577"/>
          <ac:spMkLst>
            <pc:docMk/>
            <pc:sldMk cId="3121511467" sldId="504"/>
            <ac:spMk id="1327" creationId="{D889B114-20C8-FB4D-12F1-D618D36126A7}"/>
          </ac:spMkLst>
        </pc:spChg>
        <pc:graphicFrameChg chg="mod modGraphic">
          <ac:chgData name="Zonghua Gu" userId="9a7e1853e1951ef5" providerId="LiveId" clId="{CF1FAA12-072C-4ED5-BA76-0FFFAEFDB88A}" dt="2026-02-17T00:58:00.740" v="1858" actId="400"/>
          <ac:graphicFrameMkLst>
            <pc:docMk/>
            <pc:sldMk cId="3121511467" sldId="504"/>
            <ac:graphicFrameMk id="1298" creationId="{AC508DE1-0819-4576-D185-42CFC6B4B404}"/>
          </ac:graphicFrameMkLst>
        </pc:graphicFrameChg>
      </pc:sldChg>
      <pc:sldChg chg="addSp delSp modSp add mod">
        <pc:chgData name="Zonghua Gu" userId="9a7e1853e1951ef5" providerId="LiveId" clId="{CF1FAA12-072C-4ED5-BA76-0FFFAEFDB88A}" dt="2026-02-19T19:55:15.600" v="1952" actId="478"/>
        <pc:sldMkLst>
          <pc:docMk/>
          <pc:sldMk cId="4284680681" sldId="505"/>
        </pc:sldMkLst>
        <pc:spChg chg="del">
          <ac:chgData name="Zonghua Gu" userId="9a7e1853e1951ef5" providerId="LiveId" clId="{CF1FAA12-072C-4ED5-BA76-0FFFAEFDB88A}" dt="2026-02-19T19:55:15.600" v="1952" actId="478"/>
          <ac:spMkLst>
            <pc:docMk/>
            <pc:sldMk cId="4284680681" sldId="505"/>
            <ac:spMk id="3" creationId="{5D7CD6C0-5F13-F879-5165-B551DE3DECBE}"/>
          </ac:spMkLst>
        </pc:spChg>
        <pc:spChg chg="add mod">
          <ac:chgData name="Zonghua Gu" userId="9a7e1853e1951ef5" providerId="LiveId" clId="{CF1FAA12-072C-4ED5-BA76-0FFFAEFDB88A}" dt="2026-02-17T00:50:30.486" v="1826"/>
          <ac:spMkLst>
            <pc:docMk/>
            <pc:sldMk cId="4284680681" sldId="505"/>
            <ac:spMk id="4" creationId="{4199079C-AC36-1B25-3D94-8FFD5A55691E}"/>
          </ac:spMkLst>
        </pc:spChg>
        <pc:spChg chg="del">
          <ac:chgData name="Zonghua Gu" userId="9a7e1853e1951ef5" providerId="LiveId" clId="{CF1FAA12-072C-4ED5-BA76-0FFFAEFDB88A}" dt="2026-02-19T19:55:15.600" v="1952" actId="478"/>
          <ac:spMkLst>
            <pc:docMk/>
            <pc:sldMk cId="4284680681" sldId="505"/>
            <ac:spMk id="5" creationId="{31242B27-3F95-BA06-A654-1E0C8EDD1D09}"/>
          </ac:spMkLst>
        </pc:spChg>
        <pc:spChg chg="mod">
          <ac:chgData name="Zonghua Gu" userId="9a7e1853e1951ef5" providerId="LiveId" clId="{CF1FAA12-072C-4ED5-BA76-0FFFAEFDB88A}" dt="2026-02-17T01:01:58.711" v="1878" actId="20577"/>
          <ac:spMkLst>
            <pc:docMk/>
            <pc:sldMk cId="4284680681" sldId="505"/>
            <ac:spMk id="1323" creationId="{D39BB429-04E6-C0A3-3219-807CC5B758E9}"/>
          </ac:spMkLst>
        </pc:spChg>
        <pc:spChg chg="mod">
          <ac:chgData name="Zonghua Gu" userId="9a7e1853e1951ef5" providerId="LiveId" clId="{CF1FAA12-072C-4ED5-BA76-0FFFAEFDB88A}" dt="2026-02-17T01:02:02.371" v="1879" actId="20577"/>
          <ac:spMkLst>
            <pc:docMk/>
            <pc:sldMk cId="4284680681" sldId="505"/>
            <ac:spMk id="1324" creationId="{48E7768B-8E15-4EF3-AB4A-84EE97D35AE6}"/>
          </ac:spMkLst>
        </pc:spChg>
        <pc:spChg chg="mod">
          <ac:chgData name="Zonghua Gu" userId="9a7e1853e1951ef5" providerId="LiveId" clId="{CF1FAA12-072C-4ED5-BA76-0FFFAEFDB88A}" dt="2026-02-17T01:02:04.529" v="1880" actId="20577"/>
          <ac:spMkLst>
            <pc:docMk/>
            <pc:sldMk cId="4284680681" sldId="505"/>
            <ac:spMk id="1327" creationId="{7EFE7DBC-8940-2D25-3E11-63A894F061F5}"/>
          </ac:spMkLst>
        </pc:spChg>
        <pc:spChg chg="mod">
          <ac:chgData name="Zonghua Gu" userId="9a7e1853e1951ef5" providerId="LiveId" clId="{CF1FAA12-072C-4ED5-BA76-0FFFAEFDB88A}" dt="2026-02-17T00:50:02.315" v="1818" actId="20577"/>
          <ac:spMkLst>
            <pc:docMk/>
            <pc:sldMk cId="4284680681" sldId="505"/>
            <ac:spMk id="1329" creationId="{5FD7BD13-03D8-90D2-566B-1B43DBF12D68}"/>
          </ac:spMkLst>
        </pc:spChg>
        <pc:graphicFrameChg chg="modGraphic">
          <ac:chgData name="Zonghua Gu" userId="9a7e1853e1951ef5" providerId="LiveId" clId="{CF1FAA12-072C-4ED5-BA76-0FFFAEFDB88A}" dt="2026-02-19T19:55:12.759" v="1951" actId="400"/>
          <ac:graphicFrameMkLst>
            <pc:docMk/>
            <pc:sldMk cId="4284680681" sldId="505"/>
            <ac:graphicFrameMk id="1298" creationId="{FBB2E9FE-EC71-EFF6-EF31-1387326B6B27}"/>
          </ac:graphicFrameMkLst>
        </pc:graphicFrameChg>
      </pc:sldChg>
      <pc:sldMasterChg chg="delSldLayout">
        <pc:chgData name="Zonghua Gu" userId="9a7e1853e1951ef5" providerId="LiveId" clId="{CF1FAA12-072C-4ED5-BA76-0FFFAEFDB88A}" dt="2026-01-30T04:25:28.071" v="107" actId="47"/>
        <pc:sldMasterMkLst>
          <pc:docMk/>
          <pc:sldMasterMk cId="0" sldId="2147483663"/>
        </pc:sldMasterMkLst>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23:13:41.381"/>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23:02:36.709"/>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3" Type="http://schemas.openxmlformats.org/officeDocument/2006/relationships/hyperlink" Target="https://www.geeksforgeeks.org/topological-sorting-indegree-based-solution/" TargetMode="External"/><Relationship Id="rId2" Type="http://schemas.openxmlformats.org/officeDocument/2006/relationships/slide" Target="../slides/slide63.xml"/><Relationship Id="rId1" Type="http://schemas.openxmlformats.org/officeDocument/2006/relationships/notesMaster" Target="../notesMasters/notesMaster1.xml"/><Relationship Id="rId6" Type="http://schemas.openxmlformats.org/officeDocument/2006/relationships/hyperlink" Target="https://www.youtube.com/@Harshitjainyoutube" TargetMode="External"/><Relationship Id="rId5" Type="http://schemas.openxmlformats.org/officeDocument/2006/relationships/hyperlink" Target="https://www.youtube.com/@bytevigor" TargetMode="External"/><Relationship Id="rId4" Type="http://schemas.openxmlformats.org/officeDocument/2006/relationships/hyperlink" Target="https://www.youtube.com/@basicsstrong"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786d2d46cd_0_4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786d2d46cd_0_4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Welcome to week 2 </a:t>
            </a:r>
            <a:endParaRPr/>
          </a:p>
          <a:p>
            <a:pPr marL="0" lvl="0" indent="0" algn="l" rtl="0">
              <a:spcBef>
                <a:spcPts val="0"/>
              </a:spcBef>
              <a:spcAft>
                <a:spcPts val="0"/>
              </a:spcAft>
              <a:buNone/>
            </a:pPr>
            <a:endParaRPr/>
          </a:p>
          <a:p>
            <a:pPr marL="0" lvl="0" indent="0" algn="l" rtl="0">
              <a:spcBef>
                <a:spcPts val="0"/>
              </a:spcBef>
              <a:spcAft>
                <a:spcPts val="0"/>
              </a:spcAft>
              <a:buNone/>
            </a:pPr>
            <a:r>
              <a:rPr lang="en"/>
              <a:t>Finally, we get to build a routing protocol. Today will be entirely focused on Distance-Vector approach and then we’ll talk about an alternative approach hopefully tomorrow. </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t>so we're going to number them 1 through seven we'll come up with rules and when you put the seven rules together you get</a:t>
            </a:r>
            <a:endParaRPr/>
          </a:p>
          <a:p>
            <a:pPr marL="0" lvl="0" indent="0" algn="l" rtl="0">
              <a:spcBef>
                <a:spcPts val="0"/>
              </a:spcBef>
              <a:spcAft>
                <a:spcPts val="0"/>
              </a:spcAft>
              <a:buClr>
                <a:schemeClr val="dk1"/>
              </a:buClr>
              <a:buSzPts val="1100"/>
              <a:buFont typeface="Arial"/>
              <a:buNone/>
            </a:pPr>
            <a:r>
              <a:rPr lang="en"/>
              <a:t>29:30</a:t>
            </a:r>
            <a:endParaRPr/>
          </a:p>
          <a:p>
            <a:pPr marL="0" lvl="0" indent="0" algn="l" rtl="0">
              <a:spcBef>
                <a:spcPts val="0"/>
              </a:spcBef>
              <a:spcAft>
                <a:spcPts val="0"/>
              </a:spcAft>
              <a:buClr>
                <a:schemeClr val="dk1"/>
              </a:buClr>
              <a:buSzPts val="1100"/>
              <a:buFont typeface="Arial"/>
              <a:buNone/>
            </a:pPr>
            <a:r>
              <a:rPr lang="en"/>
              <a:t>an algorithm called the distance Vector protocol and it allows us to find shortest paths through the entire</a:t>
            </a:r>
            <a:endParaRPr/>
          </a:p>
          <a:p>
            <a:pPr marL="0" lvl="0" indent="0" algn="l" rtl="0">
              <a:spcBef>
                <a:spcPts val="0"/>
              </a:spcBef>
              <a:spcAft>
                <a:spcPts val="0"/>
              </a:spcAft>
              <a:buClr>
                <a:schemeClr val="dk1"/>
              </a:buClr>
              <a:buSzPts val="1100"/>
              <a:buFont typeface="Arial"/>
              <a:buNone/>
            </a:pPr>
            <a:r>
              <a:rPr lang="en"/>
              <a:t>29:36</a:t>
            </a:r>
            <a:endParaRPr/>
          </a:p>
          <a:p>
            <a:pPr marL="0" lvl="0" indent="0" algn="l" rtl="0">
              <a:spcBef>
                <a:spcPts val="0"/>
              </a:spcBef>
              <a:spcAft>
                <a:spcPts val="0"/>
              </a:spcAft>
              <a:buNone/>
            </a:pPr>
            <a:r>
              <a:rPr lang="en"/>
              <a:t>network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23e8a5d61ab_1_11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g23e8a5d61ab_1_1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p:cNvGrpSpPr/>
        <p:nvPr/>
      </p:nvGrpSpPr>
      <p:grpSpPr>
        <a:xfrm>
          <a:off x="0" y="0"/>
          <a:ext cx="0" cy="0"/>
          <a:chOff x="0" y="0"/>
          <a:chExt cx="0" cy="0"/>
        </a:xfrm>
      </p:grpSpPr>
      <p:sp>
        <p:nvSpPr>
          <p:cNvPr id="1416" name="Google Shape;1416;p5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1200" dirty="0">
                <a:solidFill>
                  <a:schemeClr val="dk1"/>
                </a:solidFill>
                <a:latin typeface="Quattrocento Sans"/>
                <a:ea typeface="Quattrocento Sans"/>
                <a:cs typeface="Quattrocento Sans"/>
                <a:sym typeface="Quattrocento Sans"/>
              </a:rPr>
              <a:t> (since you physically have to go and try it out to know it’s a dead end)</a:t>
            </a:r>
            <a:endParaRPr dirty="0"/>
          </a:p>
        </p:txBody>
      </p:sp>
      <p:sp>
        <p:nvSpPr>
          <p:cNvPr id="1417" name="Google Shape;1417;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4"/>
        <p:cNvGrpSpPr/>
        <p:nvPr/>
      </p:nvGrpSpPr>
      <p:grpSpPr>
        <a:xfrm>
          <a:off x="0" y="0"/>
          <a:ext cx="0" cy="0"/>
          <a:chOff x="0" y="0"/>
          <a:chExt cx="0" cy="0"/>
        </a:xfrm>
      </p:grpSpPr>
      <p:sp>
        <p:nvSpPr>
          <p:cNvPr id="1425" name="Google Shape;1425;p5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26" name="Google Shape;1426;p5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t>Not suitable for graphs with negative edges</a:t>
            </a:r>
            <a:endParaRPr lang="en-SE" dirty="0"/>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669956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1" name="Google Shape;791;p2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solidFill>
                  <a:schemeClr val="lt1"/>
                </a:solidFill>
                <a:latin typeface="Quattrocento Sans"/>
                <a:ea typeface="Quattrocento Sans"/>
                <a:cs typeface="Quattrocento Sans"/>
                <a:sym typeface="Quattrocento Sans"/>
              </a:rPr>
              <a:t>The start required no edge to arrive at, and is on level 0</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solidFill>
                  <a:schemeClr val="lt1"/>
                </a:solidFill>
                <a:latin typeface="Quattrocento Sans"/>
                <a:ea typeface="Quattrocento Sans"/>
                <a:cs typeface="Quattrocento Sans"/>
                <a:sym typeface="Quattrocento Sans"/>
              </a:rPr>
              <a:t>Remember how we got to this point, and what layer this node is part of</a:t>
            </a:r>
            <a:endParaRPr lang="en-GB"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GB" dirty="0"/>
          </a:p>
          <a:p>
            <a:pPr marL="0" lvl="0" indent="0" algn="l" rtl="0">
              <a:spcBef>
                <a:spcPts val="0"/>
              </a:spcBef>
              <a:spcAft>
                <a:spcPts val="0"/>
              </a:spcAft>
              <a:buNone/>
            </a:pPr>
            <a:endParaRPr dirty="0"/>
          </a:p>
        </p:txBody>
      </p:sp>
      <p:sp>
        <p:nvSpPr>
          <p:cNvPr id="792" name="Google Shape;792;p2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2"/>
        <p:cNvGrpSpPr/>
        <p:nvPr/>
      </p:nvGrpSpPr>
      <p:grpSpPr>
        <a:xfrm>
          <a:off x="0" y="0"/>
          <a:ext cx="0" cy="0"/>
          <a:chOff x="0" y="0"/>
          <a:chExt cx="0" cy="0"/>
        </a:xfrm>
      </p:grpSpPr>
      <p:sp>
        <p:nvSpPr>
          <p:cNvPr id="853" name="Google Shape;853;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4" name="Google Shape;854;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A general concept: in this implementation, made up of </a:t>
            </a:r>
            <a:r>
              <a:rPr lang="en-GB" sz="1200" b="1" dirty="0">
                <a:solidFill>
                  <a:srgbClr val="4C3283"/>
                </a:solidFill>
              </a:rPr>
              <a:t>distances</a:t>
            </a:r>
            <a:r>
              <a:rPr lang="en-GB" sz="1200" dirty="0"/>
              <a:t> and </a:t>
            </a:r>
            <a:r>
              <a:rPr lang="en-GB" sz="1200" b="1" dirty="0" err="1">
                <a:solidFill>
                  <a:srgbClr val="4C3283"/>
                </a:solidFill>
              </a:rPr>
              <a:t>backpointers</a:t>
            </a:r>
            <a:endParaRPr lang="en-GB" sz="1200" b="1" dirty="0">
              <a:solidFill>
                <a:srgbClr val="4C3283"/>
              </a:solidFill>
            </a:endParaRPr>
          </a:p>
          <a:p>
            <a:pPr marL="0" lvl="0" indent="0" algn="l" rtl="0">
              <a:spcBef>
                <a:spcPts val="0"/>
              </a:spcBef>
              <a:spcAft>
                <a:spcPts val="0"/>
              </a:spcAft>
              <a:buNone/>
            </a:pPr>
            <a:endParaRPr dirty="0"/>
          </a:p>
        </p:txBody>
      </p:sp>
      <p:sp>
        <p:nvSpPr>
          <p:cNvPr id="855" name="Google Shape;855;p2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97F4C85A-A75C-4662-EEEE-3439BAF9063F}"/>
            </a:ext>
          </a:extLst>
        </p:cNvPr>
        <p:cNvGrpSpPr/>
        <p:nvPr/>
      </p:nvGrpSpPr>
      <p:grpSpPr>
        <a:xfrm>
          <a:off x="0" y="0"/>
          <a:ext cx="0" cy="0"/>
          <a:chOff x="0" y="0"/>
          <a:chExt cx="0" cy="0"/>
        </a:xfrm>
      </p:grpSpPr>
      <p:sp>
        <p:nvSpPr>
          <p:cNvPr id="194" name="Google Shape;194;g23e8a5d61ab_1_116:notes">
            <a:extLst>
              <a:ext uri="{FF2B5EF4-FFF2-40B4-BE49-F238E27FC236}">
                <a16:creationId xmlns:a16="http://schemas.microsoft.com/office/drawing/2014/main" id="{BEE94DC3-4AF3-750E-8849-45141A69AE3E}"/>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g23e8a5d61ab_1_116:notes">
            <a:extLst>
              <a:ext uri="{FF2B5EF4-FFF2-40B4-BE49-F238E27FC236}">
                <a16:creationId xmlns:a16="http://schemas.microsoft.com/office/drawing/2014/main" id="{A1FA6232-88B6-9B04-3E91-211F227D70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21510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1"/>
        <p:cNvGrpSpPr/>
        <p:nvPr/>
      </p:nvGrpSpPr>
      <p:grpSpPr>
        <a:xfrm>
          <a:off x="0" y="0"/>
          <a:ext cx="0" cy="0"/>
          <a:chOff x="0" y="0"/>
          <a:chExt cx="0" cy="0"/>
        </a:xfrm>
      </p:grpSpPr>
      <p:sp>
        <p:nvSpPr>
          <p:cNvPr id="932" name="Google Shape;932;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3" name="Google Shape;933;p3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lvl="0" indent="-393700" algn="l" rtl="0">
              <a:lnSpc>
                <a:spcPct val="90000"/>
              </a:lnSpc>
              <a:spcBef>
                <a:spcPts val="1000"/>
              </a:spcBef>
              <a:spcAft>
                <a:spcPts val="0"/>
              </a:spcAft>
              <a:buSzPts val="2600"/>
              <a:buChar char="●"/>
            </a:pPr>
            <a:r>
              <a:rPr lang="en-GB" dirty="0"/>
              <a:t>Suppose we want to find shortest path from A to C, using weight of each edge as “distance”</a:t>
            </a:r>
          </a:p>
          <a:p>
            <a:pPr marL="457200" lvl="0" indent="-393700" algn="l" rtl="0">
              <a:lnSpc>
                <a:spcPct val="90000"/>
              </a:lnSpc>
              <a:spcBef>
                <a:spcPts val="1000"/>
              </a:spcBef>
              <a:spcAft>
                <a:spcPts val="0"/>
              </a:spcAft>
              <a:buSzPts val="2600"/>
              <a:buChar char="●"/>
            </a:pPr>
            <a:endParaRPr lang="en-GB" dirty="0"/>
          </a:p>
          <a:p>
            <a:pPr marL="457200" lvl="0" indent="-393700" algn="l" rtl="0">
              <a:lnSpc>
                <a:spcPct val="90000"/>
              </a:lnSpc>
              <a:spcBef>
                <a:spcPts val="1000"/>
              </a:spcBef>
              <a:spcAft>
                <a:spcPts val="0"/>
              </a:spcAft>
              <a:buSzPts val="2600"/>
              <a:buChar char="●"/>
            </a:pPr>
            <a:r>
              <a:rPr lang="en-GB" dirty="0"/>
              <a:t>The idea: reminiscent of BFS, but adapted to handle weights</a:t>
            </a:r>
          </a:p>
          <a:p>
            <a:pPr marL="457200" marR="0" lvl="0" indent="-393700" algn="l" defTabSz="914400" rtl="0" eaLnBrk="1" fontAlgn="auto" latinLnBrk="0" hangingPunct="1">
              <a:lnSpc>
                <a:spcPct val="90000"/>
              </a:lnSpc>
              <a:spcBef>
                <a:spcPts val="1000"/>
              </a:spcBef>
              <a:spcAft>
                <a:spcPts val="0"/>
              </a:spcAft>
              <a:buClr>
                <a:srgbClr val="000000"/>
              </a:buClr>
              <a:buSzPts val="2600"/>
              <a:buFont typeface="Arial"/>
              <a:buChar char="●"/>
              <a:tabLst/>
              <a:defRPr/>
            </a:pPr>
            <a:r>
              <a:rPr lang="en-GB" dirty="0"/>
              <a:t>Nodes not in the set will have a “best distance so far”</a:t>
            </a:r>
          </a:p>
          <a:p>
            <a:pPr marL="457200" lvl="0" indent="-393700" algn="l" rtl="0">
              <a:lnSpc>
                <a:spcPct val="90000"/>
              </a:lnSpc>
              <a:spcBef>
                <a:spcPts val="1000"/>
              </a:spcBef>
              <a:spcAft>
                <a:spcPts val="0"/>
              </a:spcAft>
              <a:buSzPts val="2600"/>
              <a:buChar char="●"/>
            </a:pPr>
            <a:endParaRPr lang="en-GB" dirty="0"/>
          </a:p>
          <a:p>
            <a:pPr marL="0" lvl="0" indent="0" algn="l" rtl="0">
              <a:spcBef>
                <a:spcPts val="0"/>
              </a:spcBef>
              <a:spcAft>
                <a:spcPts val="0"/>
              </a:spcAft>
              <a:buNone/>
            </a:pPr>
            <a:endParaRPr dirty="0">
              <a:latin typeface="Arial"/>
              <a:ea typeface="Arial"/>
              <a:cs typeface="Arial"/>
              <a:sym typeface="Arial"/>
            </a:endParaRPr>
          </a:p>
        </p:txBody>
      </p:sp>
      <p:sp>
        <p:nvSpPr>
          <p:cNvPr id="934" name="Google Shape;934;p3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
        <p:nvSpPr>
          <p:cNvPr id="935" name="Google Shape;935;p32: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0" dirty="0">
                <a:solidFill>
                  <a:srgbClr val="000000"/>
                </a:solidFill>
                <a:latin typeface="Arial" panose="020B0604020202020204" pitchFamily="34" charset="0"/>
                <a:cs typeface="+mn-cs"/>
              </a:rPr>
              <a:t>Dijkstra’s Algorithm is greedy and optimal: any node that has been visited should have its shortest distance to the source. </a:t>
            </a:r>
            <a:endParaRPr lang="en-SE" dirty="0"/>
          </a:p>
        </p:txBody>
      </p:sp>
      <p:sp>
        <p:nvSpPr>
          <p:cNvPr id="4" name="Slide Number Placeholder 3"/>
          <p:cNvSpPr>
            <a:spLocks noGrp="1"/>
          </p:cNvSpPr>
          <p:nvPr>
            <p:ph type="sldNum" sz="quarter" idx="5"/>
          </p:nvPr>
        </p:nvSpPr>
        <p:spPr/>
        <p:txBody>
          <a:bodyPr/>
          <a:lstStyle/>
          <a:p>
            <a:fld id="{13F62E29-99FC-EB40-923F-D38E4FE7BE7E}" type="slidenum">
              <a:rPr lang="en-US" smtClean="0"/>
              <a:t>11</a:t>
            </a:fld>
            <a:endParaRPr lang="en-US"/>
          </a:p>
        </p:txBody>
      </p:sp>
    </p:spTree>
    <p:extLst>
      <p:ext uri="{BB962C8B-B14F-4D97-AF65-F5344CB8AC3E}">
        <p14:creationId xmlns:p14="http://schemas.microsoft.com/office/powerpoint/2010/main" val="24201261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Arial" panose="020B0604020202020204" pitchFamily="34" charset="0"/>
                <a:cs typeface="Arial" panose="020B0604020202020204" pitchFamily="34" charset="0"/>
              </a:rPr>
              <a:t>Ex 2. Topological sort algorithm. (</a:t>
            </a:r>
            <a:r>
              <a:rPr lang="en-US" sz="1200" dirty="0">
                <a:solidFill>
                  <a:srgbClr val="C00000"/>
                </a:solidFill>
                <a:latin typeface="Arial" panose="020B0604020202020204" pitchFamily="34" charset="0"/>
                <a:cs typeface="Arial" panose="020B0604020202020204" pitchFamily="34" charset="0"/>
              </a:rPr>
              <a:t>no directed cycles</a:t>
            </a:r>
            <a:r>
              <a:rPr lang="en-US" sz="1200" dirty="0">
                <a:latin typeface="Arial" panose="020B0604020202020204" pitchFamily="34" charset="0"/>
                <a:cs typeface="Arial" panose="020B0604020202020204" pitchFamily="34" charset="0"/>
              </a:rPr>
              <a:t>). </a:t>
            </a:r>
          </a:p>
          <a:p>
            <a:endParaRPr lang="en-SE" dirty="0"/>
          </a:p>
        </p:txBody>
      </p:sp>
      <p:sp>
        <p:nvSpPr>
          <p:cNvPr id="4" name="Slide Number Placeholder 3"/>
          <p:cNvSpPr>
            <a:spLocks noGrp="1"/>
          </p:cNvSpPr>
          <p:nvPr>
            <p:ph type="sldNum" sz="quarter" idx="5"/>
          </p:nvPr>
        </p:nvSpPr>
        <p:spPr/>
        <p:txBody>
          <a:bodyPr/>
          <a:lstStyle/>
          <a:p>
            <a:fld id="{13F62E29-99FC-EB40-923F-D38E4FE7BE7E}" type="slidenum">
              <a:rPr lang="en-US" smtClean="0"/>
              <a:t>12</a:t>
            </a:fld>
            <a:endParaRPr lang="en-US"/>
          </a:p>
        </p:txBody>
      </p:sp>
    </p:spTree>
    <p:extLst>
      <p:ext uri="{BB962C8B-B14F-4D97-AF65-F5344CB8AC3E}">
        <p14:creationId xmlns:p14="http://schemas.microsoft.com/office/powerpoint/2010/main" val="3852021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which follows the edge arrow direction for directed graphs</a:t>
            </a:r>
            <a:endParaRPr lang="en-SE" dirty="0"/>
          </a:p>
        </p:txBody>
      </p:sp>
      <p:sp>
        <p:nvSpPr>
          <p:cNvPr id="4" name="Slide Number Placeholder 3"/>
          <p:cNvSpPr>
            <a:spLocks noGrp="1"/>
          </p:cNvSpPr>
          <p:nvPr>
            <p:ph type="sldNum" sz="quarter" idx="5"/>
          </p:nvPr>
        </p:nvSpPr>
        <p:spPr/>
        <p:txBody>
          <a:bodyPr/>
          <a:lstStyle/>
          <a:p>
            <a:fld id="{13F62E29-99FC-EB40-923F-D38E4FE7BE7E}" type="slidenum">
              <a:rPr lang="en-US" smtClean="0"/>
              <a:t>13</a:t>
            </a:fld>
            <a:endParaRPr lang="en-US"/>
          </a:p>
        </p:txBody>
      </p:sp>
    </p:spTree>
    <p:extLst>
      <p:ext uri="{BB962C8B-B14F-4D97-AF65-F5344CB8AC3E}">
        <p14:creationId xmlns:p14="http://schemas.microsoft.com/office/powerpoint/2010/main" val="22637339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p:cNvGrpSpPr/>
        <p:nvPr/>
      </p:nvGrpSpPr>
      <p:grpSpPr>
        <a:xfrm>
          <a:off x="0" y="0"/>
          <a:ext cx="0" cy="0"/>
          <a:chOff x="0" y="0"/>
          <a:chExt cx="0" cy="0"/>
        </a:xfrm>
      </p:grpSpPr>
      <p:sp>
        <p:nvSpPr>
          <p:cNvPr id="940" name="Google Shape;940;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41" name="Google Shape;941;p3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
        <p:nvSpPr>
          <p:cNvPr id="942" name="Google Shape;942;p3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
        <p:nvSpPr>
          <p:cNvPr id="943" name="Google Shape;943;p33: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1200" dirty="0">
                <a:solidFill>
                  <a:schemeClr val="lt1"/>
                </a:solidFill>
                <a:latin typeface="Quattrocento Sans"/>
                <a:ea typeface="Quattrocento Sans"/>
                <a:cs typeface="Quattrocento Sans"/>
                <a:sym typeface="Quattrocento Sans"/>
              </a:rPr>
              <a:t>Dijkstra’s algorithm is all about updating “best-so-far” in SD if we find shorter path! </a:t>
            </a:r>
            <a:endParaRPr dirty="0"/>
          </a:p>
        </p:txBody>
      </p:sp>
      <p:sp>
        <p:nvSpPr>
          <p:cNvPr id="1002" name="Google Shape;100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1"/>
        <p:cNvGrpSpPr/>
        <p:nvPr/>
      </p:nvGrpSpPr>
      <p:grpSpPr>
        <a:xfrm>
          <a:off x="0" y="0"/>
          <a:ext cx="0" cy="0"/>
          <a:chOff x="0" y="0"/>
          <a:chExt cx="0" cy="0"/>
        </a:xfrm>
      </p:grpSpPr>
      <p:sp>
        <p:nvSpPr>
          <p:cNvPr id="1042" name="Google Shape;1042;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3" name="Google Shape;1043;p3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lvl="0" indent="-393700" algn="l" rtl="0">
              <a:lnSpc>
                <a:spcPct val="90000"/>
              </a:lnSpc>
              <a:spcBef>
                <a:spcPts val="0"/>
              </a:spcBef>
              <a:spcAft>
                <a:spcPts val="0"/>
              </a:spcAft>
              <a:buSzPts val="2600"/>
              <a:buChar char="●"/>
            </a:pPr>
            <a:r>
              <a:rPr lang="en-GB" dirty="0"/>
              <a:t>Once a node is marked known, its shortest path is known</a:t>
            </a:r>
          </a:p>
          <a:p>
            <a:pPr marL="914400" lvl="1" indent="-361950" algn="l" rtl="0">
              <a:lnSpc>
                <a:spcPct val="90000"/>
              </a:lnSpc>
              <a:spcBef>
                <a:spcPts val="0"/>
              </a:spcBef>
              <a:spcAft>
                <a:spcPts val="0"/>
              </a:spcAft>
              <a:buSzPts val="2100"/>
              <a:buChar char="○"/>
            </a:pPr>
            <a:r>
              <a:rPr lang="en-GB" dirty="0"/>
              <a:t>Can reconstruct path by following </a:t>
            </a:r>
            <a:r>
              <a:rPr lang="en-GB" dirty="0" err="1"/>
              <a:t>backpointers</a:t>
            </a:r>
            <a:endParaRPr lang="en-GB" dirty="0"/>
          </a:p>
          <a:p>
            <a:pPr marL="457200" lvl="0" indent="-393700" algn="l" rtl="0">
              <a:lnSpc>
                <a:spcPct val="90000"/>
              </a:lnSpc>
              <a:spcBef>
                <a:spcPts val="1000"/>
              </a:spcBef>
              <a:spcAft>
                <a:spcPts val="0"/>
              </a:spcAft>
              <a:buSzPts val="2600"/>
              <a:buChar char="●"/>
            </a:pPr>
            <a:r>
              <a:rPr lang="en-GB" dirty="0"/>
              <a:t>While a node is not known, another shorter path might be found</a:t>
            </a:r>
          </a:p>
          <a:p>
            <a:pPr marL="457200" lvl="0" indent="-393700" algn="l" rtl="0">
              <a:lnSpc>
                <a:spcPct val="90000"/>
              </a:lnSpc>
              <a:spcBef>
                <a:spcPts val="1000"/>
              </a:spcBef>
              <a:spcAft>
                <a:spcPts val="0"/>
              </a:spcAft>
              <a:buSzPts val="2600"/>
              <a:buChar char="●"/>
            </a:pPr>
            <a:r>
              <a:rPr lang="en-GB" dirty="0"/>
              <a:t>The order in which nodes are added to the known set is unimportant</a:t>
            </a:r>
          </a:p>
          <a:p>
            <a:pPr marL="457200" lvl="0" indent="-393700" algn="l" rtl="0">
              <a:lnSpc>
                <a:spcPct val="90000"/>
              </a:lnSpc>
              <a:spcBef>
                <a:spcPts val="1000"/>
              </a:spcBef>
              <a:spcAft>
                <a:spcPts val="0"/>
              </a:spcAft>
              <a:buSzPts val="2600"/>
              <a:buChar char="●"/>
            </a:pPr>
            <a:r>
              <a:rPr lang="en-GB" dirty="0"/>
              <a:t>If we only need path to a specific node, can stop early once that node is known</a:t>
            </a:r>
          </a:p>
          <a:p>
            <a:pPr marL="914400" lvl="1" indent="-361950" algn="l" rtl="0">
              <a:lnSpc>
                <a:spcPct val="90000"/>
              </a:lnSpc>
              <a:spcBef>
                <a:spcPts val="0"/>
              </a:spcBef>
              <a:spcAft>
                <a:spcPts val="0"/>
              </a:spcAft>
              <a:buSzPts val="2100"/>
              <a:buChar char="○"/>
            </a:pPr>
            <a:r>
              <a:rPr lang="en-GB" dirty="0"/>
              <a:t>Because its shortest path cannot change</a:t>
            </a:r>
          </a:p>
          <a:p>
            <a:pPr marL="914400" lvl="1" indent="-361950" algn="l" rtl="0">
              <a:lnSpc>
                <a:spcPct val="90000"/>
              </a:lnSpc>
              <a:spcBef>
                <a:spcPts val="0"/>
              </a:spcBef>
              <a:spcAft>
                <a:spcPts val="0"/>
              </a:spcAft>
              <a:buSzPts val="2100"/>
              <a:buChar char="○"/>
            </a:pPr>
            <a:r>
              <a:rPr lang="en-GB" dirty="0"/>
              <a:t>Return a partial </a:t>
            </a:r>
            <a:r>
              <a:rPr lang="en-GB" b="1" dirty="0"/>
              <a:t>shortest path tree</a:t>
            </a:r>
            <a:endParaRPr lang="en-GB" dirty="0"/>
          </a:p>
          <a:p>
            <a:pPr marL="91440" lvl="0" indent="-120650" algn="l" rtl="0">
              <a:lnSpc>
                <a:spcPct val="90000"/>
              </a:lnSpc>
              <a:spcBef>
                <a:spcPts val="1600"/>
              </a:spcBef>
              <a:spcAft>
                <a:spcPts val="0"/>
              </a:spcAft>
              <a:buClr>
                <a:schemeClr val="accent1"/>
              </a:buClr>
              <a:buSzPts val="1900"/>
              <a:buFont typeface="Quattrocento Sans"/>
              <a:buChar char=" "/>
            </a:pPr>
            <a:endParaRPr lang="en-GB" sz="1900" dirty="0">
              <a:solidFill>
                <a:schemeClr val="dk1"/>
              </a:solidFill>
              <a:latin typeface="Quattrocento Sans"/>
              <a:ea typeface="Quattrocento Sans"/>
              <a:cs typeface="Quattrocento Sans"/>
              <a:sym typeface="Quattrocento Sans"/>
            </a:endParaRPr>
          </a:p>
          <a:p>
            <a:pPr marL="265176" lvl="1" indent="-159384" algn="l" rtl="0">
              <a:lnSpc>
                <a:spcPct val="90000"/>
              </a:lnSpc>
              <a:spcBef>
                <a:spcPts val="400"/>
              </a:spcBef>
              <a:spcAft>
                <a:spcPts val="0"/>
              </a:spcAft>
              <a:buClr>
                <a:srgbClr val="B6A479"/>
              </a:buClr>
              <a:buSzPts val="1900"/>
              <a:buFont typeface="Quattrocento Sans"/>
              <a:buChar char="-"/>
            </a:pPr>
            <a:r>
              <a:rPr lang="en-GB" sz="1900" dirty="0">
                <a:solidFill>
                  <a:schemeClr val="dk1"/>
                </a:solidFill>
                <a:latin typeface="Quattrocento Sans"/>
                <a:ea typeface="Quattrocento Sans"/>
                <a:cs typeface="Quattrocento Sans"/>
                <a:sym typeface="Quattrocento Sans"/>
              </a:rPr>
              <a:t>It is not possible to find a shorter path that uses a farther node we’ll consider later</a:t>
            </a:r>
            <a:endParaRPr lang="en-GB" sz="1900" dirty="0">
              <a:latin typeface="Quattrocento Sans"/>
              <a:ea typeface="Quattrocento Sans"/>
              <a:cs typeface="Quattrocento Sans"/>
              <a:sym typeface="Quattrocento Sans"/>
            </a:endParaRP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p:sp>
        <p:nvSpPr>
          <p:cNvPr id="1044" name="Google Shape;1044;p3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
        <p:nvSpPr>
          <p:cNvPr id="1045" name="Google Shape;1045;p35: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22159937079_1_3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22159937079_1_3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marR="0" lvl="0" indent="0" algn="l" defTabSz="914400" rtl="0" eaLnBrk="1" fontAlgn="auto" latinLnBrk="0" hangingPunct="1">
              <a:lnSpc>
                <a:spcPct val="100000"/>
              </a:lnSpc>
              <a:spcBef>
                <a:spcPts val="0"/>
              </a:spcBef>
              <a:spcAft>
                <a:spcPts val="0"/>
              </a:spcAft>
              <a:buClr>
                <a:schemeClr val="dk1"/>
              </a:buClr>
              <a:buSzPts val="1200"/>
              <a:buFont typeface="Calibri"/>
              <a:buNone/>
              <a:tabLst/>
              <a:defRPr/>
            </a:pPr>
            <a:r>
              <a:rPr lang="en-GB" sz="1200" dirty="0">
                <a:latin typeface="Quattrocento Sans"/>
                <a:ea typeface="Quattrocento Sans"/>
                <a:cs typeface="Quattrocento Sans"/>
                <a:sym typeface="Quattrocento Sans"/>
              </a:rPr>
              <a:t>We can use an optimized structure that will tell us the “minimum” distance node, and let us “update distance” as we go… Use a </a:t>
            </a:r>
            <a:r>
              <a:rPr lang="en-GB" sz="1200" b="1" dirty="0" err="1">
                <a:latin typeface="Quattrocento Sans"/>
                <a:ea typeface="Quattrocento Sans"/>
                <a:cs typeface="Quattrocento Sans"/>
                <a:sym typeface="Quattrocento Sans"/>
              </a:rPr>
              <a:t>HeapMinPriorityQueue</a:t>
            </a:r>
            <a:r>
              <a:rPr lang="en-GB" sz="1200" dirty="0">
                <a:latin typeface="Quattrocento Sans"/>
                <a:ea typeface="Quattrocento Sans"/>
                <a:cs typeface="Quattrocento Sans"/>
                <a:sym typeface="Quattrocento Sans"/>
              </a:rPr>
              <a:t>! (like the one from P3)</a:t>
            </a:r>
          </a:p>
          <a:p>
            <a:pPr marL="158750" marR="0" lvl="0" indent="0" algn="l" defTabSz="914400" rtl="0" eaLnBrk="1" fontAlgn="auto" latinLnBrk="0" hangingPunct="1">
              <a:lnSpc>
                <a:spcPct val="100000"/>
              </a:lnSpc>
              <a:spcBef>
                <a:spcPts val="0"/>
              </a:spcBef>
              <a:spcAft>
                <a:spcPts val="0"/>
              </a:spcAft>
              <a:buClr>
                <a:schemeClr val="dk1"/>
              </a:buClr>
              <a:buSzPts val="1200"/>
              <a:buFont typeface="Calibri"/>
              <a:buNone/>
              <a:tabLst/>
              <a:defRPr/>
            </a:pPr>
            <a:endParaRPr lang="en-GB" sz="1200" dirty="0">
              <a:latin typeface="Quattrocento Sans"/>
              <a:ea typeface="Quattrocento Sans"/>
              <a:cs typeface="Quattrocento Sans"/>
              <a:sym typeface="Quattrocento Sans"/>
            </a:endParaRPr>
          </a:p>
          <a:p>
            <a:pPr marL="158750" lvl="0" indent="0" algn="l" rtl="0">
              <a:spcBef>
                <a:spcPts val="0"/>
              </a:spcBef>
              <a:spcAft>
                <a:spcPts val="0"/>
              </a:spcAft>
              <a:buClr>
                <a:schemeClr val="dk1"/>
              </a:buClr>
              <a:buSzPts val="1200"/>
              <a:buFont typeface="Calibri"/>
              <a:buNone/>
            </a:pPr>
            <a:endParaRPr lang="en-GB" dirty="0">
              <a:latin typeface="Arial"/>
              <a:ea typeface="Arial"/>
              <a:cs typeface="Arial"/>
              <a:sym typeface="Arial"/>
            </a:endParaRP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p:sp>
        <p:nvSpPr>
          <p:cNvPr id="500" name="Google Shape;500;g22159937079_1_3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
        <p:nvSpPr>
          <p:cNvPr id="501" name="Google Shape;501;g22159937079_1_312:notes"/>
          <p:cNvSpPr txBox="1">
            <a:spLocks noGrp="1"/>
          </p:cNvSpPr>
          <p:nvPr>
            <p:ph type="dt" idx="10"/>
          </p:nvPr>
        </p:nvSpPr>
        <p:spPr>
          <a:xfrm>
            <a:off x="3884613" y="0"/>
            <a:ext cx="2971800" cy="4587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0"/>
        <p:cNvGrpSpPr/>
        <p:nvPr/>
      </p:nvGrpSpPr>
      <p:grpSpPr>
        <a:xfrm>
          <a:off x="0" y="0"/>
          <a:ext cx="0" cy="0"/>
          <a:chOff x="0" y="0"/>
          <a:chExt cx="0" cy="0"/>
        </a:xfrm>
      </p:grpSpPr>
      <p:sp>
        <p:nvSpPr>
          <p:cNvPr id="1101" name="Google Shape;1101;g22159937079_1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2" name="Google Shape;1102;g22159937079_1_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“When there are multiple possible orders of visiting the next node, select the next node in alphabetical or numerical order.”</a:t>
            </a:r>
          </a:p>
          <a:p>
            <a:pPr marL="457200" lvl="0" indent="-393700" algn="l" rtl="0">
              <a:spcBef>
                <a:spcPts val="0"/>
              </a:spcBef>
              <a:spcAft>
                <a:spcPts val="0"/>
              </a:spcAft>
              <a:buSzPts val="2600"/>
              <a:buChar char="●"/>
            </a:pPr>
            <a:endParaRPr lang="en-GB" dirty="0"/>
          </a:p>
          <a:p>
            <a:pPr marL="457200" lvl="0" indent="-393700" algn="l" rtl="0">
              <a:spcBef>
                <a:spcPts val="0"/>
              </a:spcBef>
              <a:spcAft>
                <a:spcPts val="0"/>
              </a:spcAft>
              <a:buSzPts val="2600"/>
              <a:buChar char="●"/>
            </a:pPr>
            <a:r>
              <a:rPr lang="en-GB" dirty="0"/>
              <a:t>Dijkstra’s is “greedy” because once a node is marked as visited, it is never revisited</a:t>
            </a:r>
          </a:p>
          <a:p>
            <a:pPr marL="914400" lvl="1" indent="-361950" algn="l" rtl="0">
              <a:spcBef>
                <a:spcPts val="0"/>
              </a:spcBef>
              <a:spcAft>
                <a:spcPts val="0"/>
              </a:spcAft>
              <a:buSzPts val="2100"/>
              <a:buChar char="○"/>
            </a:pPr>
            <a:r>
              <a:rPr lang="en-GB" dirty="0"/>
              <a:t>This is why Dijkstra’s does not work with negative edge weights</a:t>
            </a:r>
          </a:p>
          <a:p>
            <a:pPr marL="914400" marR="0" lvl="1" indent="-361950" algn="l" defTabSz="914400" rtl="0" eaLnBrk="1" fontAlgn="auto" latinLnBrk="0" hangingPunct="1">
              <a:lnSpc>
                <a:spcPct val="100000"/>
              </a:lnSpc>
              <a:spcBef>
                <a:spcPts val="0"/>
              </a:spcBef>
              <a:spcAft>
                <a:spcPts val="0"/>
              </a:spcAft>
              <a:buClr>
                <a:srgbClr val="000000"/>
              </a:buClr>
              <a:buSzPts val="2100"/>
              <a:buFont typeface="Arial"/>
              <a:buChar char="○"/>
              <a:tabLst/>
              <a:defRPr/>
            </a:pPr>
            <a:r>
              <a:rPr lang="en-GB" dirty="0"/>
              <a:t>Huffman compression</a:t>
            </a:r>
          </a:p>
          <a:p>
            <a:pPr marL="914400" lvl="1" indent="-361950" algn="l" rtl="0">
              <a:spcBef>
                <a:spcPts val="0"/>
              </a:spcBef>
              <a:spcAft>
                <a:spcPts val="0"/>
              </a:spcAft>
              <a:buSzPts val="2100"/>
              <a:buChar char="○"/>
            </a:pPr>
            <a:endParaRPr lang="en-GB" dirty="0"/>
          </a:p>
          <a:p>
            <a:pPr indent="-361950">
              <a:spcBef>
                <a:spcPts val="0"/>
              </a:spcBef>
              <a:buSzPts val="2100"/>
              <a:buChar char="○"/>
            </a:pPr>
            <a:endParaRPr lang="en-GB" dirty="0"/>
          </a:p>
          <a:p>
            <a:pPr indent="-361950">
              <a:spcBef>
                <a:spcPts val="0"/>
              </a:spcBef>
              <a:buSzPts val="2100"/>
              <a:buChar char="○"/>
            </a:pPr>
            <a:endParaRPr lang="en-GB" dirty="0"/>
          </a:p>
          <a:p>
            <a:pPr marL="0" lvl="0" indent="0" algn="l" rtl="0">
              <a:spcBef>
                <a:spcPts val="1200"/>
              </a:spcBef>
              <a:spcAft>
                <a:spcPts val="0"/>
              </a:spcAft>
              <a:buNone/>
            </a:pPr>
            <a:endParaRPr lang="en-GB"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GB" sz="1200" dirty="0"/>
          </a:p>
          <a:p>
            <a:pPr marL="0" lvl="0" indent="0" algn="l" rtl="0">
              <a:spcBef>
                <a:spcPts val="0"/>
              </a:spcBef>
              <a:spcAft>
                <a:spcPts val="0"/>
              </a:spcAft>
              <a:buNone/>
            </a:pPr>
            <a:endParaRPr dirty="0"/>
          </a:p>
        </p:txBody>
      </p:sp>
      <p:sp>
        <p:nvSpPr>
          <p:cNvPr id="1103" name="Google Shape;1103;g22159937079_1_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18</a:t>
            </a:fld>
            <a:endParaRPr/>
          </a:p>
        </p:txBody>
      </p:sp>
    </p:spTree>
    <p:extLst>
      <p:ext uri="{BB962C8B-B14F-4D97-AF65-F5344CB8AC3E}">
        <p14:creationId xmlns:p14="http://schemas.microsoft.com/office/powerpoint/2010/main" val="15962119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3" name="Google Shape;513;p3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
        <p:nvSpPr>
          <p:cNvPr id="514" name="Google Shape;514;p3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
        <p:nvSpPr>
          <p:cNvPr id="515" name="Google Shape;515;p36: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p3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Calibri"/>
              <a:buNone/>
            </a:pPr>
            <a:endParaRPr>
              <a:latin typeface="Arial"/>
              <a:ea typeface="Arial"/>
              <a:cs typeface="Arial"/>
              <a:sym typeface="Arial"/>
            </a:endParaRPr>
          </a:p>
        </p:txBody>
      </p:sp>
      <p:sp>
        <p:nvSpPr>
          <p:cNvPr id="572" name="Google Shape;572;p3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
        <p:nvSpPr>
          <p:cNvPr id="573" name="Google Shape;573;p37: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p3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Note how E’s distance is 12 (path length) instead of 11 (edge weight)</a:t>
            </a:r>
            <a:endParaRPr/>
          </a:p>
        </p:txBody>
      </p:sp>
      <p:sp>
        <p:nvSpPr>
          <p:cNvPr id="630" name="Google Shape;630;p3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
        <p:nvSpPr>
          <p:cNvPr id="631" name="Google Shape;631;p38: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5"/>
        <p:cNvGrpSpPr/>
        <p:nvPr/>
      </p:nvGrpSpPr>
      <p:grpSpPr>
        <a:xfrm>
          <a:off x="0" y="0"/>
          <a:ext cx="0" cy="0"/>
          <a:chOff x="0" y="0"/>
          <a:chExt cx="0" cy="0"/>
        </a:xfrm>
      </p:grpSpPr>
      <p:sp>
        <p:nvSpPr>
          <p:cNvPr id="686" name="Google Shape;686;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7" name="Google Shape;687;p3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Note how</a:t>
            </a:r>
            <a:endParaRPr/>
          </a:p>
          <a:p>
            <a:pPr marL="457200" lvl="0" indent="-298450" algn="l" rtl="0">
              <a:spcBef>
                <a:spcPts val="0"/>
              </a:spcBef>
              <a:spcAft>
                <a:spcPts val="0"/>
              </a:spcAft>
              <a:buClr>
                <a:schemeClr val="dk1"/>
              </a:buClr>
              <a:buSzPts val="1200"/>
              <a:buFont typeface="Arial"/>
              <a:buChar char="-"/>
            </a:pPr>
            <a:r>
              <a:rPr lang="en-US">
                <a:latin typeface="Arial"/>
                <a:ea typeface="Arial"/>
                <a:cs typeface="Arial"/>
                <a:sym typeface="Arial"/>
              </a:rPr>
              <a:t>Again, we don’t set F’s pathlen to 2 (the edge weight); we set it to 4 (length of A-&gt;B-&gt;F)</a:t>
            </a:r>
            <a:endParaRPr/>
          </a:p>
          <a:p>
            <a:pPr marL="457200" lvl="0" indent="-298450" algn="l" rtl="0">
              <a:spcBef>
                <a:spcPts val="0"/>
              </a:spcBef>
              <a:spcAft>
                <a:spcPts val="0"/>
              </a:spcAft>
              <a:buClr>
                <a:schemeClr val="dk1"/>
              </a:buClr>
              <a:buSzPts val="1200"/>
              <a:buFont typeface="Arial"/>
              <a:buChar char="-"/>
            </a:pPr>
            <a:r>
              <a:rPr lang="en-US">
                <a:latin typeface="Arial"/>
                <a:ea typeface="Arial"/>
                <a:cs typeface="Arial"/>
                <a:sym typeface="Arial"/>
              </a:rPr>
              <a:t>We don’t update C with distance 7 (A-&gt;B-&gt;C); its optimal path is already known</a:t>
            </a:r>
            <a:endParaRPr/>
          </a:p>
          <a:p>
            <a:pPr marL="457200" lvl="0" indent="-298450" algn="l" rtl="0">
              <a:spcBef>
                <a:spcPts val="0"/>
              </a:spcBef>
              <a:spcAft>
                <a:spcPts val="0"/>
              </a:spcAft>
              <a:buClr>
                <a:schemeClr val="dk1"/>
              </a:buClr>
              <a:buSzPts val="1200"/>
              <a:buFont typeface="Arial"/>
              <a:buChar char="-"/>
            </a:pPr>
            <a:r>
              <a:rPr lang="en-US">
                <a:latin typeface="Arial"/>
                <a:ea typeface="Arial"/>
                <a:cs typeface="Arial"/>
                <a:sym typeface="Arial"/>
              </a:rPr>
              <a:t>We don’t update E with distance 12 (A-&gt;B-&gt;E); the path length is the same</a:t>
            </a:r>
            <a:endParaRPr/>
          </a:p>
        </p:txBody>
      </p:sp>
      <p:sp>
        <p:nvSpPr>
          <p:cNvPr id="688" name="Google Shape;688;p3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
        <p:nvSpPr>
          <p:cNvPr id="689" name="Google Shape;689;p39: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Google Shape;744;p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5" name="Google Shape;745;p4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Nothing was updated; we already had an optimal path to C</a:t>
            </a:r>
            <a:endParaRPr/>
          </a:p>
        </p:txBody>
      </p:sp>
      <p:sp>
        <p:nvSpPr>
          <p:cNvPr id="746" name="Google Shape;746;p4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
        <p:nvSpPr>
          <p:cNvPr id="747" name="Google Shape;747;p40: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3" name="Google Shape;803;p4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Calibri"/>
              <a:buNone/>
            </a:pPr>
            <a:endParaRPr>
              <a:latin typeface="Arial"/>
              <a:ea typeface="Arial"/>
              <a:cs typeface="Arial"/>
              <a:sym typeface="Arial"/>
            </a:endParaRPr>
          </a:p>
        </p:txBody>
      </p:sp>
      <p:sp>
        <p:nvSpPr>
          <p:cNvPr id="804" name="Google Shape;804;p4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
        <p:nvSpPr>
          <p:cNvPr id="805" name="Google Shape;805;p41: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p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mc:AlternateContent xmlns:mc="http://schemas.openxmlformats.org/markup-compatibility/2006" xmlns:a14="http://schemas.microsoft.com/office/drawing/2010/main">
        <mc:Choice Requires="a14">
          <p:sp>
            <p:nvSpPr>
              <p:cNvPr id="861" name="Google Shape;861;p4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sz="1200" dirty="0">
                    <a:solidFill>
                      <a:schemeClr val="tx1"/>
                    </a:solidFill>
                    <a:latin typeface="Times New Roman" panose="02020603050405020304" pitchFamily="18" charset="0"/>
                    <a:cs typeface="Times New Roman" panose="02020603050405020304" pitchFamily="18" charset="0"/>
                  </a:rPr>
                  <a:t>OLD SD[F] = </a:t>
                </a:r>
                <a14:m>
                  <m:oMath xmlns:m="http://schemas.openxmlformats.org/officeDocument/2006/math">
                    <m:r>
                      <a:rPr lang="en-GB" sz="1200" i="1">
                        <a:solidFill>
                          <a:schemeClr val="tx1"/>
                        </a:solidFill>
                        <a:latin typeface="Cambria Math" panose="02040503050406030204" pitchFamily="18" charset="0"/>
                        <a:cs typeface="Times New Roman" panose="02020603050405020304" pitchFamily="18" charset="0"/>
                      </a:rPr>
                      <m:t>∞</m:t>
                    </m:r>
                  </m:oMath>
                </a14:m>
                <a:r>
                  <a:rPr lang="en-US" sz="1200" dirty="0">
                    <a:solidFill>
                      <a:schemeClr val="tx1"/>
                    </a:solidFill>
                    <a:latin typeface="Times New Roman" panose="02020603050405020304" pitchFamily="18" charset="0"/>
                    <a:cs typeface="Times New Roman" panose="02020603050405020304" pitchFamily="18" charset="0"/>
                  </a:rPr>
                  <a:t> &gt; SD[D] + w(D,F) =</a:t>
                </a:r>
                <a:r>
                  <a:rPr lang="en-GB" sz="1200" dirty="0">
                    <a:solidFill>
                      <a:schemeClr val="tx1"/>
                    </a:solidFill>
                    <a:latin typeface="Times New Roman" panose="02020603050405020304" pitchFamily="18" charset="0"/>
                    <a:cs typeface="Times New Roman" panose="02020603050405020304" pitchFamily="18" charset="0"/>
                  </a:rPr>
                  <a:t> 7+2 = 9</a:t>
                </a:r>
              </a:p>
              <a:p>
                <a:r>
                  <a:rPr lang="en-US" sz="1200" dirty="0">
                    <a:solidFill>
                      <a:schemeClr val="tx1"/>
                    </a:solidFill>
                    <a:latin typeface="Times New Roman" panose="02020603050405020304" pitchFamily="18" charset="0"/>
                    <a:cs typeface="Times New Roman" panose="02020603050405020304" pitchFamily="18" charset="0"/>
                  </a:rPr>
                  <a:t>NEW SD[F] </a:t>
                </a:r>
                <a:r>
                  <a:rPr lang="en-US" sz="12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200" dirty="0">
                    <a:solidFill>
                      <a:schemeClr val="tx1"/>
                    </a:solidFill>
                    <a:latin typeface="Times New Roman" panose="02020603050405020304" pitchFamily="18" charset="0"/>
                    <a:cs typeface="Times New Roman" panose="02020603050405020304" pitchFamily="18" charset="0"/>
                  </a:rPr>
                  <a:t> SD[D] + w(D,F) = 9, </a:t>
                </a:r>
                <a:r>
                  <a:rPr lang="en-GB" sz="1200" dirty="0">
                    <a:solidFill>
                      <a:schemeClr val="tx1"/>
                    </a:solidFill>
                    <a:latin typeface="Times New Roman" panose="02020603050405020304" pitchFamily="18" charset="0"/>
                    <a:cs typeface="Times New Roman" panose="02020603050405020304" pitchFamily="18" charset="0"/>
                  </a:rPr>
                  <a:t>PN</a:t>
                </a:r>
                <a:r>
                  <a:rPr lang="en-US" sz="1200" dirty="0">
                    <a:solidFill>
                      <a:schemeClr val="tx1"/>
                    </a:solidFill>
                    <a:latin typeface="Times New Roman" panose="02020603050405020304" pitchFamily="18" charset="0"/>
                    <a:cs typeface="Times New Roman" panose="02020603050405020304" pitchFamily="18" charset="0"/>
                  </a:rPr>
                  <a:t>[F] = D</a:t>
                </a: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mc:Choice>
        <mc:Fallback xmlns="">
          <p:sp>
            <p:nvSpPr>
              <p:cNvPr id="861" name="Google Shape;861;p4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sz="1200" dirty="0">
                    <a:solidFill>
                      <a:schemeClr val="tx1"/>
                    </a:solidFill>
                    <a:latin typeface="Times New Roman" panose="02020603050405020304" pitchFamily="18" charset="0"/>
                    <a:cs typeface="Times New Roman" panose="02020603050405020304" pitchFamily="18" charset="0"/>
                  </a:rPr>
                  <a:t>OLD SD[F] = </a:t>
                </a:r>
                <a:r>
                  <a:rPr lang="en-GB" sz="1200" i="0">
                    <a:solidFill>
                      <a:schemeClr val="tx1"/>
                    </a:solidFill>
                    <a:latin typeface="Cambria Math" panose="02040503050406030204" pitchFamily="18" charset="0"/>
                    <a:cs typeface="Times New Roman" panose="02020603050405020304" pitchFamily="18" charset="0"/>
                  </a:rPr>
                  <a:t>∞</a:t>
                </a:r>
                <a:r>
                  <a:rPr lang="en-US" sz="1200" dirty="0">
                    <a:solidFill>
                      <a:schemeClr val="tx1"/>
                    </a:solidFill>
                    <a:latin typeface="Times New Roman" panose="02020603050405020304" pitchFamily="18" charset="0"/>
                    <a:cs typeface="Times New Roman" panose="02020603050405020304" pitchFamily="18" charset="0"/>
                  </a:rPr>
                  <a:t> &gt; SD[D] + w(D,F) =</a:t>
                </a:r>
                <a:r>
                  <a:rPr lang="en-GB" sz="1200" dirty="0">
                    <a:solidFill>
                      <a:schemeClr val="tx1"/>
                    </a:solidFill>
                    <a:latin typeface="Times New Roman" panose="02020603050405020304" pitchFamily="18" charset="0"/>
                    <a:cs typeface="Times New Roman" panose="02020603050405020304" pitchFamily="18" charset="0"/>
                  </a:rPr>
                  <a:t> 7+2 = 9</a:t>
                </a:r>
              </a:p>
              <a:p>
                <a:r>
                  <a:rPr lang="en-US" sz="1200" dirty="0">
                    <a:solidFill>
                      <a:schemeClr val="tx1"/>
                    </a:solidFill>
                    <a:latin typeface="Times New Roman" panose="02020603050405020304" pitchFamily="18" charset="0"/>
                    <a:cs typeface="Times New Roman" panose="02020603050405020304" pitchFamily="18" charset="0"/>
                  </a:rPr>
                  <a:t>NEW SD[F] </a:t>
                </a:r>
                <a:r>
                  <a:rPr lang="en-US" sz="12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200" dirty="0">
                    <a:solidFill>
                      <a:schemeClr val="tx1"/>
                    </a:solidFill>
                    <a:latin typeface="Times New Roman" panose="02020603050405020304" pitchFamily="18" charset="0"/>
                    <a:cs typeface="Times New Roman" panose="02020603050405020304" pitchFamily="18" charset="0"/>
                  </a:rPr>
                  <a:t> SD[D] + w(D,F) = 9, </a:t>
                </a:r>
                <a:r>
                  <a:rPr lang="en-GB" sz="1200" dirty="0">
                    <a:solidFill>
                      <a:schemeClr val="tx1"/>
                    </a:solidFill>
                    <a:latin typeface="Times New Roman" panose="02020603050405020304" pitchFamily="18" charset="0"/>
                    <a:cs typeface="Times New Roman" panose="02020603050405020304" pitchFamily="18" charset="0"/>
                  </a:rPr>
                  <a:t>PN</a:t>
                </a:r>
                <a:r>
                  <a:rPr lang="en-US" sz="1200" dirty="0">
                    <a:solidFill>
                      <a:schemeClr val="tx1"/>
                    </a:solidFill>
                    <a:latin typeface="Times New Roman" panose="02020603050405020304" pitchFamily="18" charset="0"/>
                    <a:cs typeface="Times New Roman" panose="02020603050405020304" pitchFamily="18" charset="0"/>
                  </a:rPr>
                  <a:t>[F] = D</a:t>
                </a: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mc:Fallback>
      </mc:AlternateContent>
      <p:sp>
        <p:nvSpPr>
          <p:cNvPr id="862" name="Google Shape;862;p4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
        <p:nvSpPr>
          <p:cNvPr id="863" name="Google Shape;863;p42: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7"/>
        <p:cNvGrpSpPr/>
        <p:nvPr/>
      </p:nvGrpSpPr>
      <p:grpSpPr>
        <a:xfrm>
          <a:off x="0" y="0"/>
          <a:ext cx="0" cy="0"/>
          <a:chOff x="0" y="0"/>
          <a:chExt cx="0" cy="0"/>
        </a:xfrm>
      </p:grpSpPr>
      <p:sp>
        <p:nvSpPr>
          <p:cNvPr id="918" name="Google Shape;918;p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9" name="Google Shape;919;p4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Note how we found a better path to E at last (A-&gt;B-&gt;F-&gt;H-&gt;G-&gt;E), with cost 11; formerly path A-&gt;C-&gt;E had cost 12</a:t>
            </a:r>
            <a:endParaRPr/>
          </a:p>
        </p:txBody>
      </p:sp>
      <p:sp>
        <p:nvSpPr>
          <p:cNvPr id="920" name="Google Shape;920;p4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
        <p:nvSpPr>
          <p:cNvPr id="921" name="Google Shape;921;p43: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5"/>
        <p:cNvGrpSpPr/>
        <p:nvPr/>
      </p:nvGrpSpPr>
      <p:grpSpPr>
        <a:xfrm>
          <a:off x="0" y="0"/>
          <a:ext cx="0" cy="0"/>
          <a:chOff x="0" y="0"/>
          <a:chExt cx="0" cy="0"/>
        </a:xfrm>
      </p:grpSpPr>
      <p:sp>
        <p:nvSpPr>
          <p:cNvPr id="976" name="Google Shape;976;p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7" name="Google Shape;977;p4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GB" dirty="0"/>
              <a:t>The table now contains the SD (shortest distance) to each node N from the source node A, and its PN (previous node) in the shortest path. The table of SD/PN encodes the Shortest Path Tree (SPT)</a:t>
            </a:r>
            <a:endParaRPr lang="en-SE" dirty="0"/>
          </a:p>
        </p:txBody>
      </p:sp>
      <p:sp>
        <p:nvSpPr>
          <p:cNvPr id="978" name="Google Shape;978;p4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
        <p:nvSpPr>
          <p:cNvPr id="979" name="Google Shape;979;p44: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p:cNvGrpSpPr/>
        <p:nvPr/>
      </p:nvGrpSpPr>
      <p:grpSpPr>
        <a:xfrm>
          <a:off x="0" y="0"/>
          <a:ext cx="0" cy="0"/>
          <a:chOff x="0" y="0"/>
          <a:chExt cx="0" cy="0"/>
        </a:xfrm>
      </p:grpSpPr>
      <p:sp>
        <p:nvSpPr>
          <p:cNvPr id="1034" name="Google Shape;1034;p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35" name="Google Shape;1035;p4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Walk through the chain of “previous” (E-&gt;G-&gt;H-&gt;F-&gt;B-&gt;A)</a:t>
            </a:r>
            <a:endParaRPr/>
          </a:p>
        </p:txBody>
      </p:sp>
      <p:sp>
        <p:nvSpPr>
          <p:cNvPr id="1036" name="Google Shape;1036;p4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
        <p:nvSpPr>
          <p:cNvPr id="1037" name="Google Shape;1037;p45: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B8A66-1084-A829-4936-3CD3A7BB8E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EC6032-8827-4FE5-1BD8-637BA2FE9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C6E4DA-368C-9B51-733C-BFDA94B2388F}"/>
              </a:ext>
            </a:extLst>
          </p:cNvPr>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latin typeface="Quattrocento Sans" panose="020B0502050000020003" pitchFamily="34" charset="0"/>
              </a:rPr>
              <a:t>At exam time, you will be given a graph with a start node (A), and required to fill in this table, crossing out old items as you find a shortcut path</a:t>
            </a:r>
          </a:p>
          <a:p>
            <a:endParaRPr lang="en-SE" dirty="0"/>
          </a:p>
        </p:txBody>
      </p:sp>
      <p:sp>
        <p:nvSpPr>
          <p:cNvPr id="4" name="Slide Number Placeholder 3">
            <a:extLst>
              <a:ext uri="{FF2B5EF4-FFF2-40B4-BE49-F238E27FC236}">
                <a16:creationId xmlns:a16="http://schemas.microsoft.com/office/drawing/2014/main" id="{68128DBC-8786-F49F-1BE0-B3DD76811E1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30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8944002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latin typeface="Quattrocento Sans" panose="020B0502050000020003" pitchFamily="34" charset="0"/>
              </a:rPr>
              <a:t>At exam time, you will be given a graph with a start node (A), and required to fill in this table, crossing out old items as you find a shortcut path</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138615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285750">
              <a:spcBef>
                <a:spcPts val="300"/>
              </a:spcBef>
              <a:spcAft>
                <a:spcPts val="300"/>
              </a:spcAft>
              <a:buClr>
                <a:schemeClr val="accent1"/>
              </a:buClr>
              <a:buFont typeface="Wingdings" pitchFamily="2" charset="2"/>
              <a:buChar char="§"/>
            </a:pPr>
            <a:r>
              <a:rPr lang="en-US" sz="1400" dirty="0">
                <a:latin typeface="Arial"/>
                <a:cs typeface="Arial"/>
              </a:rPr>
              <a:t>Consider nodes in increasing order of distance from s </a:t>
            </a:r>
          </a:p>
          <a:p>
            <a:pPr lvl="1" indent="-285750">
              <a:spcBef>
                <a:spcPts val="300"/>
              </a:spcBef>
              <a:spcAft>
                <a:spcPts val="300"/>
              </a:spcAft>
              <a:buClr>
                <a:schemeClr val="accent1"/>
              </a:buClr>
              <a:buFont typeface="System Font Regular"/>
              <a:buChar char="-"/>
            </a:pPr>
            <a:r>
              <a:rPr lang="en-US" sz="1400" dirty="0">
                <a:latin typeface="Arial"/>
                <a:cs typeface="Arial"/>
              </a:rPr>
              <a:t>(non-tree node with the lowest SD[ ] value). </a:t>
            </a:r>
          </a:p>
          <a:p>
            <a:pPr indent="-285750">
              <a:spcBef>
                <a:spcPts val="300"/>
              </a:spcBef>
              <a:spcAft>
                <a:spcPts val="300"/>
              </a:spcAft>
              <a:buClr>
                <a:schemeClr val="accent1"/>
              </a:buClr>
              <a:buFont typeface="Wingdings" pitchFamily="2" charset="2"/>
              <a:buChar char="§"/>
            </a:pPr>
            <a:r>
              <a:rPr lang="en-US" sz="1400" dirty="0">
                <a:latin typeface="Arial"/>
                <a:cs typeface="Arial"/>
              </a:rPr>
              <a:t>Add node to tree and relax all edges pointing from that node.</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293627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E858E550-E41F-FD3D-465F-7410578B0801}"/>
            </a:ext>
          </a:extLst>
        </p:cNvPr>
        <p:cNvGrpSpPr/>
        <p:nvPr/>
      </p:nvGrpSpPr>
      <p:grpSpPr>
        <a:xfrm>
          <a:off x="0" y="0"/>
          <a:ext cx="0" cy="0"/>
          <a:chOff x="0" y="0"/>
          <a:chExt cx="0" cy="0"/>
        </a:xfrm>
      </p:grpSpPr>
      <p:sp>
        <p:nvSpPr>
          <p:cNvPr id="194" name="Google Shape;194;g23e8a5d61ab_1_116:notes">
            <a:extLst>
              <a:ext uri="{FF2B5EF4-FFF2-40B4-BE49-F238E27FC236}">
                <a16:creationId xmlns:a16="http://schemas.microsoft.com/office/drawing/2014/main" id="{0BFAF0EA-05A0-7B71-6A93-76EE7CDB6598}"/>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g23e8a5d61ab_1_116:notes">
            <a:extLst>
              <a:ext uri="{FF2B5EF4-FFF2-40B4-BE49-F238E27FC236}">
                <a16:creationId xmlns:a16="http://schemas.microsoft.com/office/drawing/2014/main" id="{D0A20998-EB64-41D6-417C-4D3B6863A6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37183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6"/>
        <p:cNvGrpSpPr/>
        <p:nvPr/>
      </p:nvGrpSpPr>
      <p:grpSpPr>
        <a:xfrm>
          <a:off x="0" y="0"/>
          <a:ext cx="0" cy="0"/>
          <a:chOff x="0" y="0"/>
          <a:chExt cx="0" cy="0"/>
        </a:xfrm>
      </p:grpSpPr>
      <p:sp>
        <p:nvSpPr>
          <p:cNvPr id="1117" name="Google Shape;1117;g22159937079_1_27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8" name="Google Shape;1118;g22159937079_1_27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GB" dirty="0"/>
              <a:t>https://www.youtube.com/watch?v=9PHkk0UavIM</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Relax all edges V-1 times.</a:t>
            </a:r>
          </a:p>
          <a:p>
            <a:pPr marL="0" lvl="0" indent="0" algn="l" rtl="0">
              <a:spcBef>
                <a:spcPts val="0"/>
              </a:spcBef>
              <a:spcAft>
                <a:spcPts val="0"/>
              </a:spcAft>
              <a:buNone/>
            </a:pPr>
            <a:endParaRPr lang="en-US" dirty="0"/>
          </a:p>
          <a:p>
            <a:r>
              <a:rPr lang="en-US" dirty="0"/>
              <a:t>There are two equivalent ways to describe Bellman–Ford:</a:t>
            </a:r>
          </a:p>
          <a:p>
            <a:r>
              <a:rPr lang="en-US" b="1" dirty="0"/>
              <a:t>Version 1 (Edge List Form — textbook standard)</a:t>
            </a:r>
          </a:p>
          <a:p>
            <a:r>
              <a:rPr lang="en-US" dirty="0"/>
              <a:t>For </a:t>
            </a:r>
            <a:r>
              <a:rPr lang="en-US" dirty="0" err="1"/>
              <a:t>i</a:t>
            </a:r>
            <a:r>
              <a:rPr lang="en-US" dirty="0"/>
              <a:t> = 1 to V−1:</a:t>
            </a:r>
          </a:p>
          <a:p>
            <a:r>
              <a:rPr lang="en-US" dirty="0"/>
              <a:t>For each edge in E:</a:t>
            </a:r>
          </a:p>
          <a:p>
            <a:pPr lvl="1"/>
            <a:r>
              <a:rPr lang="en-US" dirty="0"/>
              <a:t>Relax</a:t>
            </a:r>
          </a:p>
          <a:p>
            <a:r>
              <a:rPr lang="en-US" b="1" dirty="0"/>
              <a:t>Version 2 (Node-based relaxation)</a:t>
            </a:r>
          </a:p>
          <a:p>
            <a:r>
              <a:rPr lang="en-US" dirty="0"/>
              <a:t>For </a:t>
            </a:r>
            <a:r>
              <a:rPr lang="en-US" dirty="0" err="1"/>
              <a:t>i</a:t>
            </a:r>
            <a:r>
              <a:rPr lang="en-US" dirty="0"/>
              <a:t> = 1 to V−1:</a:t>
            </a:r>
          </a:p>
          <a:p>
            <a:r>
              <a:rPr lang="en-US" dirty="0"/>
              <a:t>For each vertex:</a:t>
            </a:r>
          </a:p>
          <a:p>
            <a:pPr lvl="1"/>
            <a:r>
              <a:rPr lang="en-US" dirty="0"/>
              <a:t>Relax all outgoing edges</a:t>
            </a:r>
          </a:p>
          <a:p>
            <a:r>
              <a:rPr lang="en-US" dirty="0"/>
              <a:t>These are equivalent as long as every edge is relaxed once per iteration.</a:t>
            </a:r>
          </a:p>
          <a:p>
            <a:r>
              <a:rPr lang="en-US" dirty="0"/>
              <a:t>Order only affects </a:t>
            </a:r>
            <a:r>
              <a:rPr lang="en-US" i="1" dirty="0"/>
              <a:t>how fast</a:t>
            </a:r>
            <a:r>
              <a:rPr lang="en-US" dirty="0"/>
              <a:t> values propagate within that iteration — not final correctness.</a:t>
            </a:r>
          </a:p>
          <a:p>
            <a:pPr marL="0" lvl="0" indent="0" algn="l" rtl="0">
              <a:spcBef>
                <a:spcPts val="0"/>
              </a:spcBef>
              <a:spcAft>
                <a:spcPts val="0"/>
              </a:spcAft>
              <a:buNone/>
            </a:pPr>
            <a:endParaRPr dirty="0"/>
          </a:p>
        </p:txBody>
      </p:sp>
      <p:sp>
        <p:nvSpPr>
          <p:cNvPr id="1119" name="Google Shape;1119;g22159937079_1_27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44</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3"/>
        <p:cNvGrpSpPr/>
        <p:nvPr/>
      </p:nvGrpSpPr>
      <p:grpSpPr>
        <a:xfrm>
          <a:off x="0" y="0"/>
          <a:ext cx="0" cy="0"/>
          <a:chOff x="0" y="0"/>
          <a:chExt cx="0" cy="0"/>
        </a:xfrm>
      </p:grpSpPr>
      <p:sp>
        <p:nvSpPr>
          <p:cNvPr id="1124" name="Google Shape;1124;g22159937079_1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5" name="Google Shape;1125;g22159937079_1_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kern="1200" dirty="0">
                <a:solidFill>
                  <a:srgbClr val="C0504D"/>
                </a:solidFill>
                <a:latin typeface="Times New Roman" panose="02020603050405020304" pitchFamily="18" charset="0"/>
                <a:ea typeface="+mn-ea"/>
                <a:cs typeface="Times New Roman" panose="02020603050405020304" pitchFamily="18" charset="0"/>
              </a:rPr>
              <a:t>We </a:t>
            </a:r>
            <a:r>
              <a:rPr lang="en-GB" sz="1200" kern="1200" dirty="0">
                <a:solidFill>
                  <a:srgbClr val="C0504D"/>
                </a:solidFill>
                <a:latin typeface="Times New Roman" panose="02020603050405020304" pitchFamily="18" charset="0"/>
                <a:ea typeface="+mn-ea"/>
                <a:cs typeface="Times New Roman" panose="02020603050405020304" pitchFamily="18" charset="0"/>
              </a:rPr>
              <a:t>visit nodes in this order in each iteration: S, A, B, C, D, E</a:t>
            </a:r>
            <a:endParaRPr lang="en-US" sz="1200" kern="1200" dirty="0">
              <a:solidFill>
                <a:srgbClr val="C0504D"/>
              </a:solidFill>
              <a:latin typeface="Times New Roman" panose="02020603050405020304" pitchFamily="18" charset="0"/>
              <a:ea typeface="+mn-ea"/>
              <a:cs typeface="Times New Roman" panose="02020603050405020304" pitchFamily="18" charset="0"/>
            </a:endParaRPr>
          </a:p>
          <a:p>
            <a:pPr marL="0" lvl="0" indent="0" algn="l" rtl="0">
              <a:spcBef>
                <a:spcPts val="0"/>
              </a:spcBef>
              <a:spcAft>
                <a:spcPts val="0"/>
              </a:spcAft>
              <a:buNone/>
            </a:pPr>
            <a:endParaRPr dirty="0"/>
          </a:p>
        </p:txBody>
      </p:sp>
      <p:sp>
        <p:nvSpPr>
          <p:cNvPr id="1126" name="Google Shape;1126;g22159937079_1_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45</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2"/>
        <p:cNvGrpSpPr/>
        <p:nvPr/>
      </p:nvGrpSpPr>
      <p:grpSpPr>
        <a:xfrm>
          <a:off x="0" y="0"/>
          <a:ext cx="0" cy="0"/>
          <a:chOff x="0" y="0"/>
          <a:chExt cx="0" cy="0"/>
        </a:xfrm>
      </p:grpSpPr>
      <p:sp>
        <p:nvSpPr>
          <p:cNvPr id="1203" name="Google Shape;1203;g22159937079_1_1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4" name="Google Shape;1204;g22159937079_1_14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latin typeface="Quattrocento Sans"/>
                <a:ea typeface="Quattrocento Sans"/>
                <a:cs typeface="Quattrocento Sans"/>
                <a:sym typeface="Quattrocento Sans"/>
              </a:rPr>
              <a:t>* Because a distance to D is known by the time we process D we can include D’s outgoing edges for consideration</a:t>
            </a:r>
          </a:p>
          <a:p>
            <a:pPr marL="0" lvl="0" indent="0" algn="l" rtl="0">
              <a:spcBef>
                <a:spcPts val="0"/>
              </a:spcBef>
              <a:spcAft>
                <a:spcPts val="0"/>
              </a:spcAft>
              <a:buNone/>
            </a:pPr>
            <a:endParaRPr dirty="0"/>
          </a:p>
        </p:txBody>
      </p:sp>
      <p:sp>
        <p:nvSpPr>
          <p:cNvPr id="1205" name="Google Shape;1205;g22159937079_1_14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7"/>
        <p:cNvGrpSpPr/>
        <p:nvPr/>
      </p:nvGrpSpPr>
      <p:grpSpPr>
        <a:xfrm>
          <a:off x="0" y="0"/>
          <a:ext cx="0" cy="0"/>
          <a:chOff x="0" y="0"/>
          <a:chExt cx="0" cy="0"/>
        </a:xfrm>
      </p:grpSpPr>
      <p:sp>
        <p:nvSpPr>
          <p:cNvPr id="1248" name="Google Shape;1248;g22159937079_1_1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9" name="Google Shape;1249;g22159937079_1_19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TODO This slide implies that C is visited before D. Should I give a fixed visit order?</a:t>
            </a:r>
            <a:endParaRPr dirty="0"/>
          </a:p>
        </p:txBody>
      </p:sp>
      <p:sp>
        <p:nvSpPr>
          <p:cNvPr id="1250" name="Google Shape;1250;g22159937079_1_19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1"/>
        <p:cNvGrpSpPr/>
        <p:nvPr/>
      </p:nvGrpSpPr>
      <p:grpSpPr>
        <a:xfrm>
          <a:off x="0" y="0"/>
          <a:ext cx="0" cy="0"/>
          <a:chOff x="0" y="0"/>
          <a:chExt cx="0" cy="0"/>
        </a:xfrm>
      </p:grpSpPr>
      <p:sp>
        <p:nvSpPr>
          <p:cNvPr id="1292" name="Google Shape;1292;g22159937079_1_2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3" name="Google Shape;1293;g22159937079_1_23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r>
              <a:rPr lang="en-US" sz="1200" dirty="0"/>
              <a:t>We assumed node visit order S, A, C, B, E, D in this Bellman-Ford example. (Even this is incorrect.)</a:t>
            </a:r>
          </a:p>
          <a:p>
            <a:r>
              <a:rPr lang="en-US" sz="1200" dirty="0"/>
              <a:t>If we adopt a different node visit order of S, A, B, C, D, E, how will it affect algorithm correctness, and convergence speed?</a:t>
            </a:r>
          </a:p>
          <a:p>
            <a:r>
              <a:rPr lang="en-US" sz="1200" dirty="0"/>
              <a:t>ANS: It does not affect algorithm correctness, but affects convergence speed. Bellman-Ford will still converge, but slower.</a:t>
            </a:r>
          </a:p>
          <a:p>
            <a:endParaRPr lang="en-SE" sz="1200" dirty="0"/>
          </a:p>
          <a:p>
            <a:endParaRPr lang="en-GB" dirty="0"/>
          </a:p>
          <a:p>
            <a:pPr marL="0" lvl="0" indent="0" algn="l" rtl="0">
              <a:spcBef>
                <a:spcPts val="0"/>
              </a:spcBef>
              <a:spcAft>
                <a:spcPts val="0"/>
              </a:spcAft>
              <a:buNone/>
            </a:pPr>
            <a:endParaRPr dirty="0"/>
          </a:p>
        </p:txBody>
      </p:sp>
      <p:sp>
        <p:nvSpPr>
          <p:cNvPr id="1294" name="Google Shape;1294;g22159937079_1_23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endParaRPr lang="en-US" sz="2300" dirty="0"/>
          </a:p>
          <a:p>
            <a:endParaRPr lang="en-US" sz="2400" dirty="0"/>
          </a:p>
          <a:p>
            <a:r>
              <a:rPr lang="en-US" sz="2400" dirty="0"/>
              <a:t>Node order matters for intra-iteration propagation; updates are visible later in the same pass</a:t>
            </a:r>
          </a:p>
          <a:p>
            <a:pPr lvl="1"/>
            <a:r>
              <a:rPr lang="en-US" sz="2000" dirty="0"/>
              <a:t>If we adopt a different node visit order, it does not affect algorithm correctness but may affect convergence speed</a:t>
            </a:r>
          </a:p>
          <a:p>
            <a:pPr lvl="1"/>
            <a:r>
              <a:rPr lang="en-US" sz="2000" dirty="0"/>
              <a:t>A good heuristic to speed convergence in practice: relax edges (or nodes) following a breadth-first/topological-like order outward from the source so improvements propagate forward within the same pass.</a:t>
            </a:r>
            <a:endParaRPr lang="en-GB" sz="2000" dirty="0"/>
          </a:p>
          <a:p>
            <a:endParaRPr lang="en-US" sz="2400" dirty="0"/>
          </a:p>
          <a:p>
            <a:r>
              <a:rPr lang="en-US" sz="2400" dirty="0"/>
              <a:t>Theoretical Guarantee (Worst Case)</a:t>
            </a:r>
          </a:p>
          <a:p>
            <a:pPr lvl="1"/>
            <a:r>
              <a:rPr lang="en-US" sz="2000" dirty="0"/>
              <a:t>Bellman–Ford guarantees correctness after |V| − 1 iterations. Here |V| = 6 → maximum required = 5 iterations. This is an upper bound, not a required minimum.</a:t>
            </a:r>
          </a:p>
          <a:p>
            <a:r>
              <a:rPr lang="en-US" sz="2400" dirty="0"/>
              <a:t>Early Stop Rule</a:t>
            </a:r>
          </a:p>
          <a:p>
            <a:pPr lvl="1"/>
            <a:r>
              <a:rPr lang="en-US" sz="2000" dirty="0"/>
              <a:t>If an iteration produces no updates, the algorithm can safely terminate early. That is what happens in Iteration 3.</a:t>
            </a:r>
          </a:p>
          <a:p>
            <a:pPr lvl="1"/>
            <a:r>
              <a:rPr lang="en-US" sz="2300" dirty="0"/>
              <a:t>: Bellman-Ford will still converge, but slower, e.g., node D’s update cannot propagate to C in the same iteration.</a:t>
            </a:r>
            <a:endParaRPr lang="en-GB"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sz="1200"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dirty="0"/>
              <a:t>We assumed node visit order S, A, C, B, E, D in this example.</a:t>
            </a:r>
          </a:p>
          <a:p>
            <a:r>
              <a:rPr lang="en-US" dirty="0"/>
              <a:t> The algorithm remains correct, </a:t>
            </a:r>
          </a:p>
          <a:p>
            <a:r>
              <a:rPr lang="en-US" dirty="0"/>
              <a:t>But convergence speed will be slower.</a:t>
            </a:r>
          </a:p>
          <a:p>
            <a:r>
              <a:rPr lang="en-US" dirty="0"/>
              <a:t>Copy table from p48 to illustrate, Need 2 iterations to reach that table with one iteration.</a:t>
            </a:r>
          </a:p>
          <a:p>
            <a:endParaRPr lang="en-US" dirty="0"/>
          </a:p>
          <a:p>
            <a:r>
              <a:rPr lang="en-US" dirty="0"/>
              <a:t>Different relaxation orders may require more iterations to converge.</a:t>
            </a:r>
            <a:br>
              <a:rPr lang="en-US" dirty="0"/>
            </a:br>
            <a:r>
              <a:rPr lang="en-US" dirty="0"/>
              <a:t>Bellman–Ford guarantees correctness after V − 1 full passes regardless of order.</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6155316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3">
          <a:extLst>
            <a:ext uri="{FF2B5EF4-FFF2-40B4-BE49-F238E27FC236}">
              <a16:creationId xmlns:a16="http://schemas.microsoft.com/office/drawing/2014/main" id="{08B20347-6E65-9123-B8C5-3AC85137BA16}"/>
            </a:ext>
          </a:extLst>
        </p:cNvPr>
        <p:cNvGrpSpPr/>
        <p:nvPr/>
      </p:nvGrpSpPr>
      <p:grpSpPr>
        <a:xfrm>
          <a:off x="0" y="0"/>
          <a:ext cx="0" cy="0"/>
          <a:chOff x="0" y="0"/>
          <a:chExt cx="0" cy="0"/>
        </a:xfrm>
      </p:grpSpPr>
      <p:sp>
        <p:nvSpPr>
          <p:cNvPr id="1124" name="Google Shape;1124;g22159937079_1_13:notes">
            <a:extLst>
              <a:ext uri="{FF2B5EF4-FFF2-40B4-BE49-F238E27FC236}">
                <a16:creationId xmlns:a16="http://schemas.microsoft.com/office/drawing/2014/main" id="{103EAD02-EEA5-08E1-5F68-1D01C53E0A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5" name="Google Shape;1125;g22159937079_1_13:notes">
            <a:extLst>
              <a:ext uri="{FF2B5EF4-FFF2-40B4-BE49-F238E27FC236}">
                <a16:creationId xmlns:a16="http://schemas.microsoft.com/office/drawing/2014/main" id="{CDCC6FF8-E0EC-9FBD-F311-565147A1604B}"/>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kern="1200" dirty="0">
                <a:solidFill>
                  <a:srgbClr val="C0504D"/>
                </a:solidFill>
                <a:latin typeface="Times New Roman" panose="02020603050405020304" pitchFamily="18" charset="0"/>
                <a:ea typeface="+mn-ea"/>
                <a:cs typeface="Times New Roman" panose="02020603050405020304" pitchFamily="18" charset="0"/>
              </a:rPr>
              <a:t>We </a:t>
            </a:r>
            <a:r>
              <a:rPr lang="en-GB" sz="1200" kern="1200" dirty="0">
                <a:solidFill>
                  <a:srgbClr val="C0504D"/>
                </a:solidFill>
                <a:latin typeface="Times New Roman" panose="02020603050405020304" pitchFamily="18" charset="0"/>
                <a:ea typeface="+mn-ea"/>
                <a:cs typeface="Times New Roman" panose="02020603050405020304" pitchFamily="18" charset="0"/>
              </a:rPr>
              <a:t>visit nodes in this order in each iteration: S, A, B, C, D, E</a:t>
            </a:r>
            <a:endParaRPr lang="en-US" sz="1200" kern="1200" dirty="0">
              <a:solidFill>
                <a:srgbClr val="C0504D"/>
              </a:solidFill>
              <a:latin typeface="Times New Roman" panose="02020603050405020304" pitchFamily="18" charset="0"/>
              <a:ea typeface="+mn-ea"/>
              <a:cs typeface="Times New Roman" panose="02020603050405020304" pitchFamily="18" charset="0"/>
            </a:endParaRPr>
          </a:p>
          <a:p>
            <a:pPr marL="0" lvl="0" indent="0" algn="l" rtl="0">
              <a:spcBef>
                <a:spcPts val="0"/>
              </a:spcBef>
              <a:spcAft>
                <a:spcPts val="0"/>
              </a:spcAft>
              <a:buNone/>
            </a:pPr>
            <a:endParaRPr dirty="0"/>
          </a:p>
        </p:txBody>
      </p:sp>
      <p:sp>
        <p:nvSpPr>
          <p:cNvPr id="1126" name="Google Shape;1126;g22159937079_1_13:notes">
            <a:extLst>
              <a:ext uri="{FF2B5EF4-FFF2-40B4-BE49-F238E27FC236}">
                <a16:creationId xmlns:a16="http://schemas.microsoft.com/office/drawing/2014/main" id="{972200A8-075B-360D-A7F0-970E210B1E93}"/>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50</a:t>
            </a:fld>
            <a:endParaRPr/>
          </a:p>
        </p:txBody>
      </p:sp>
    </p:spTree>
    <p:extLst>
      <p:ext uri="{BB962C8B-B14F-4D97-AF65-F5344CB8AC3E}">
        <p14:creationId xmlns:p14="http://schemas.microsoft.com/office/powerpoint/2010/main" val="336454990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2">
          <a:extLst>
            <a:ext uri="{FF2B5EF4-FFF2-40B4-BE49-F238E27FC236}">
              <a16:creationId xmlns:a16="http://schemas.microsoft.com/office/drawing/2014/main" id="{181E5CCE-5698-17B6-032B-E2C2817FA403}"/>
            </a:ext>
          </a:extLst>
        </p:cNvPr>
        <p:cNvGrpSpPr/>
        <p:nvPr/>
      </p:nvGrpSpPr>
      <p:grpSpPr>
        <a:xfrm>
          <a:off x="0" y="0"/>
          <a:ext cx="0" cy="0"/>
          <a:chOff x="0" y="0"/>
          <a:chExt cx="0" cy="0"/>
        </a:xfrm>
      </p:grpSpPr>
      <p:sp>
        <p:nvSpPr>
          <p:cNvPr id="1203" name="Google Shape;1203;g22159937079_1_148:notes">
            <a:extLst>
              <a:ext uri="{FF2B5EF4-FFF2-40B4-BE49-F238E27FC236}">
                <a16:creationId xmlns:a16="http://schemas.microsoft.com/office/drawing/2014/main" id="{AC655646-524C-F1F7-925F-3AF46C1D8F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4" name="Google Shape;1204;g22159937079_1_148:notes">
            <a:extLst>
              <a:ext uri="{FF2B5EF4-FFF2-40B4-BE49-F238E27FC236}">
                <a16:creationId xmlns:a16="http://schemas.microsoft.com/office/drawing/2014/main" id="{BFFD0277-9030-CA2B-76D6-DFD9A2238F94}"/>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latin typeface="Quattrocento Sans"/>
                <a:ea typeface="Quattrocento Sans"/>
                <a:cs typeface="Quattrocento Sans"/>
                <a:sym typeface="Quattrocento Sans"/>
              </a:rPr>
              <a:t>* Because a distance to D is known by the time we process D we can include D’s outgoing edges for consideration</a:t>
            </a:r>
          </a:p>
          <a:p>
            <a:pPr marL="0" lvl="0" indent="0" algn="l" rtl="0">
              <a:spcBef>
                <a:spcPts val="0"/>
              </a:spcBef>
              <a:spcAft>
                <a:spcPts val="0"/>
              </a:spcAft>
              <a:buNone/>
            </a:pPr>
            <a:endParaRPr dirty="0"/>
          </a:p>
        </p:txBody>
      </p:sp>
      <p:sp>
        <p:nvSpPr>
          <p:cNvPr id="1205" name="Google Shape;1205;g22159937079_1_148:notes">
            <a:extLst>
              <a:ext uri="{FF2B5EF4-FFF2-40B4-BE49-F238E27FC236}">
                <a16:creationId xmlns:a16="http://schemas.microsoft.com/office/drawing/2014/main" id="{01AD000D-B89C-27F0-42F8-E3F4E03CCEEB}"/>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703768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7">
          <a:extLst>
            <a:ext uri="{FF2B5EF4-FFF2-40B4-BE49-F238E27FC236}">
              <a16:creationId xmlns:a16="http://schemas.microsoft.com/office/drawing/2014/main" id="{A9D90696-6C2F-99F8-D920-8E44030C28D2}"/>
            </a:ext>
          </a:extLst>
        </p:cNvPr>
        <p:cNvGrpSpPr/>
        <p:nvPr/>
      </p:nvGrpSpPr>
      <p:grpSpPr>
        <a:xfrm>
          <a:off x="0" y="0"/>
          <a:ext cx="0" cy="0"/>
          <a:chOff x="0" y="0"/>
          <a:chExt cx="0" cy="0"/>
        </a:xfrm>
      </p:grpSpPr>
      <p:sp>
        <p:nvSpPr>
          <p:cNvPr id="1248" name="Google Shape;1248;g22159937079_1_191:notes">
            <a:extLst>
              <a:ext uri="{FF2B5EF4-FFF2-40B4-BE49-F238E27FC236}">
                <a16:creationId xmlns:a16="http://schemas.microsoft.com/office/drawing/2014/main" id="{F805893A-C25E-5DCB-36D5-28FEF0306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9" name="Google Shape;1249;g22159937079_1_191:notes">
            <a:extLst>
              <a:ext uri="{FF2B5EF4-FFF2-40B4-BE49-F238E27FC236}">
                <a16:creationId xmlns:a16="http://schemas.microsoft.com/office/drawing/2014/main" id="{ED7080E1-B1DC-9926-F47F-1670EF655C7E}"/>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TODO This slide implies that C is visited before D. Should I give a fixed visit order?</a:t>
            </a:r>
            <a:endParaRPr dirty="0"/>
          </a:p>
        </p:txBody>
      </p:sp>
      <p:sp>
        <p:nvSpPr>
          <p:cNvPr id="1250" name="Google Shape;1250;g22159937079_1_191:notes">
            <a:extLst>
              <a:ext uri="{FF2B5EF4-FFF2-40B4-BE49-F238E27FC236}">
                <a16:creationId xmlns:a16="http://schemas.microsoft.com/office/drawing/2014/main" id="{D5243A60-296F-A9EB-07CE-BE1CA2FAA7D6}"/>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47598933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1">
          <a:extLst>
            <a:ext uri="{FF2B5EF4-FFF2-40B4-BE49-F238E27FC236}">
              <a16:creationId xmlns:a16="http://schemas.microsoft.com/office/drawing/2014/main" id="{5F61D6A4-4A25-5917-B66A-E2BACB7BB1EF}"/>
            </a:ext>
          </a:extLst>
        </p:cNvPr>
        <p:cNvGrpSpPr/>
        <p:nvPr/>
      </p:nvGrpSpPr>
      <p:grpSpPr>
        <a:xfrm>
          <a:off x="0" y="0"/>
          <a:ext cx="0" cy="0"/>
          <a:chOff x="0" y="0"/>
          <a:chExt cx="0" cy="0"/>
        </a:xfrm>
      </p:grpSpPr>
      <p:sp>
        <p:nvSpPr>
          <p:cNvPr id="1292" name="Google Shape;1292;g22159937079_1_237:notes">
            <a:extLst>
              <a:ext uri="{FF2B5EF4-FFF2-40B4-BE49-F238E27FC236}">
                <a16:creationId xmlns:a16="http://schemas.microsoft.com/office/drawing/2014/main" id="{95559163-56AF-38C6-A077-A63850AFF9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3" name="Google Shape;1293;g22159937079_1_237:notes">
            <a:extLst>
              <a:ext uri="{FF2B5EF4-FFF2-40B4-BE49-F238E27FC236}">
                <a16:creationId xmlns:a16="http://schemas.microsoft.com/office/drawing/2014/main" id="{BC9686B7-DED9-F0A2-D62B-AC87A5194E96}"/>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r>
              <a:rPr lang="en-US" sz="1200" dirty="0"/>
              <a:t>We assumed node visit order S, A, C, B, E, D in this Bellman-Ford example. (Even this is incorrect.)</a:t>
            </a:r>
          </a:p>
          <a:p>
            <a:r>
              <a:rPr lang="en-US" sz="1200" dirty="0"/>
              <a:t>If we adopt a different node visit order of S, A, B, C, D, E, how will it affect algorithm correctness, and convergence speed?</a:t>
            </a:r>
          </a:p>
          <a:p>
            <a:r>
              <a:rPr lang="en-US" sz="1200" dirty="0"/>
              <a:t>ANS: It does not affect algorithm correctness, but affects convergence speed. Bellman-Ford will still converge, but slower.</a:t>
            </a:r>
          </a:p>
          <a:p>
            <a:endParaRPr lang="en-SE" sz="1200" dirty="0"/>
          </a:p>
          <a:p>
            <a:endParaRPr lang="en-GB" dirty="0"/>
          </a:p>
          <a:p>
            <a:pPr marL="0" lvl="0" indent="0" algn="l" rtl="0">
              <a:spcBef>
                <a:spcPts val="0"/>
              </a:spcBef>
              <a:spcAft>
                <a:spcPts val="0"/>
              </a:spcAft>
              <a:buNone/>
            </a:pPr>
            <a:endParaRPr dirty="0"/>
          </a:p>
        </p:txBody>
      </p:sp>
      <p:sp>
        <p:nvSpPr>
          <p:cNvPr id="1294" name="Google Shape;1294;g22159937079_1_237:notes">
            <a:extLst>
              <a:ext uri="{FF2B5EF4-FFF2-40B4-BE49-F238E27FC236}">
                <a16:creationId xmlns:a16="http://schemas.microsoft.com/office/drawing/2014/main" id="{B6FD3677-D6EA-59E7-0044-990D60611951}"/>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extLst>
      <p:ext uri="{BB962C8B-B14F-4D97-AF65-F5344CB8AC3E}">
        <p14:creationId xmlns:p14="http://schemas.microsoft.com/office/powerpoint/2010/main" val="229973996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1">
          <a:extLst>
            <a:ext uri="{FF2B5EF4-FFF2-40B4-BE49-F238E27FC236}">
              <a16:creationId xmlns:a16="http://schemas.microsoft.com/office/drawing/2014/main" id="{180D0F33-DE86-CEA4-BDA1-B56A23F648A2}"/>
            </a:ext>
          </a:extLst>
        </p:cNvPr>
        <p:cNvGrpSpPr/>
        <p:nvPr/>
      </p:nvGrpSpPr>
      <p:grpSpPr>
        <a:xfrm>
          <a:off x="0" y="0"/>
          <a:ext cx="0" cy="0"/>
          <a:chOff x="0" y="0"/>
          <a:chExt cx="0" cy="0"/>
        </a:xfrm>
      </p:grpSpPr>
      <p:sp>
        <p:nvSpPr>
          <p:cNvPr id="1292" name="Google Shape;1292;g22159937079_1_237:notes">
            <a:extLst>
              <a:ext uri="{FF2B5EF4-FFF2-40B4-BE49-F238E27FC236}">
                <a16:creationId xmlns:a16="http://schemas.microsoft.com/office/drawing/2014/main" id="{57EF673D-4227-E738-D1A7-AC17408CD0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3" name="Google Shape;1293;g22159937079_1_237:notes">
            <a:extLst>
              <a:ext uri="{FF2B5EF4-FFF2-40B4-BE49-F238E27FC236}">
                <a16:creationId xmlns:a16="http://schemas.microsoft.com/office/drawing/2014/main" id="{FF38EC98-98C4-22F9-A6E7-0F37467637E8}"/>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r>
              <a:rPr lang="en-US" sz="1200" dirty="0"/>
              <a:t>We assumed node visit order S, A, C, B, E, D in this Bellman-Ford example. (Even this is incorrect.)</a:t>
            </a:r>
          </a:p>
          <a:p>
            <a:r>
              <a:rPr lang="en-US" sz="1200" dirty="0"/>
              <a:t>If we adopt a different node visit order of S, A, B, C, D, E, how will it affect algorithm correctness, and convergence speed?</a:t>
            </a:r>
          </a:p>
          <a:p>
            <a:r>
              <a:rPr lang="en-US" sz="1200" dirty="0"/>
              <a:t>ANS: It does not affect algorithm correctness, but affects convergence speed. Bellman-Ford will still converge, but slower.</a:t>
            </a:r>
          </a:p>
          <a:p>
            <a:endParaRPr lang="en-SE" sz="1200" dirty="0"/>
          </a:p>
          <a:p>
            <a:endParaRPr lang="en-GB" dirty="0"/>
          </a:p>
          <a:p>
            <a:pPr marL="0" lvl="0" indent="0" algn="l" rtl="0">
              <a:spcBef>
                <a:spcPts val="0"/>
              </a:spcBef>
              <a:spcAft>
                <a:spcPts val="0"/>
              </a:spcAft>
              <a:buNone/>
            </a:pPr>
            <a:endParaRPr dirty="0"/>
          </a:p>
        </p:txBody>
      </p:sp>
      <p:sp>
        <p:nvSpPr>
          <p:cNvPr id="1294" name="Google Shape;1294;g22159937079_1_237:notes">
            <a:extLst>
              <a:ext uri="{FF2B5EF4-FFF2-40B4-BE49-F238E27FC236}">
                <a16:creationId xmlns:a16="http://schemas.microsoft.com/office/drawing/2014/main" id="{1CF59461-CDAF-FF17-23F0-4D7F50F052BE}"/>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54</a:t>
            </a:fld>
            <a:endParaRPr/>
          </a:p>
        </p:txBody>
      </p:sp>
    </p:spTree>
    <p:extLst>
      <p:ext uri="{BB962C8B-B14F-4D97-AF65-F5344CB8AC3E}">
        <p14:creationId xmlns:p14="http://schemas.microsoft.com/office/powerpoint/2010/main" val="21052277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0" i="0" u="none" strike="noStrike" kern="1200" cap="none" spc="0" normalizeH="0" baseline="0" noProof="0" dirty="0">
                <a:ln>
                  <a:noFill/>
                </a:ln>
                <a:solidFill>
                  <a:prstClr val="black"/>
                </a:solidFill>
                <a:effectLst/>
                <a:uLnTx/>
                <a:uFillTx/>
                <a:ea typeface="+mn-ea"/>
              </a:rPr>
              <a:t>Repeat V − 1 times: relax all E edges.</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1756891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382473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3500" indent="0">
              <a:buNone/>
            </a:pPr>
            <a:r>
              <a:rPr lang="en-GB" sz="1200" dirty="0"/>
              <a:t>There are no negative weight cycles.</a:t>
            </a:r>
          </a:p>
          <a:p>
            <a:pPr marL="635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 obtained shortest paths from node A to all other nodes. </a:t>
            </a:r>
          </a:p>
          <a:p>
            <a:pPr marL="63500" indent="0">
              <a:buNone/>
            </a:pPr>
            <a:endParaRPr lang="en-SE" sz="1200" dirty="0"/>
          </a:p>
          <a:p>
            <a:r>
              <a:rPr lang="en-GB" sz="1200" dirty="0"/>
              <a:t>The shortest path from A to D is ABD with cost of -10</a:t>
            </a:r>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0748232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t>Does not use a priority queue.</a:t>
            </a:r>
          </a:p>
          <a:p>
            <a:r>
              <a:rPr lang="en-US" dirty="0"/>
              <a:t>If you can keep looping and reduce cost, no minimum exists.</a:t>
            </a:r>
          </a:p>
          <a:p>
            <a:endParaRPr lang="en-US" dirty="0"/>
          </a:p>
          <a:p>
            <a:r>
              <a:rPr lang="en-US" dirty="0"/>
              <a:t>When a node u is marked known, SD[u] equals the true shortest path distance</a:t>
            </a:r>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25180277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1C415-55D8-1675-383F-AF5756C09A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4A371-683E-932E-6865-0DA2607D0A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F60F6D-904E-33E2-2B0A-46E827185B21}"/>
              </a:ext>
            </a:extLst>
          </p:cNvPr>
          <p:cNvSpPr>
            <a:spLocks noGrp="1"/>
          </p:cNvSpPr>
          <p:nvPr>
            <p:ph type="body" idx="1"/>
          </p:nvPr>
        </p:nvSpPr>
        <p:spPr/>
        <p:txBody>
          <a:bodyPr/>
          <a:lstStyle/>
          <a:p>
            <a:pPr algn="l">
              <a:buFont typeface="Arial" panose="020B0604020202020204" pitchFamily="34" charset="0"/>
              <a:buChar char="•"/>
            </a:pPr>
            <a:endParaRPr lang="en-GB" b="0" i="0" dirty="0">
              <a:effectLst/>
              <a:latin typeface="Quattrocento Sans" panose="020B0502050000020003" pitchFamily="34" charset="0"/>
            </a:endParaRPr>
          </a:p>
          <a:p>
            <a:pPr algn="l">
              <a:buFont typeface="Arial" panose="020B0604020202020204" pitchFamily="34" charset="0"/>
              <a:buChar char="•"/>
            </a:pPr>
            <a:r>
              <a:rPr lang="en-GB" b="0" i="0" dirty="0">
                <a:effectLst/>
                <a:latin typeface="Quattrocento Sans" panose="020B0502050000020003" pitchFamily="34" charset="0"/>
              </a:rPr>
              <a:t>Adjacency List: O(V + E)</a:t>
            </a:r>
          </a:p>
          <a:p>
            <a:pPr lvl="1">
              <a:buFont typeface="Arial" panose="020B0604020202020204" pitchFamily="34" charset="0"/>
              <a:buChar char="•"/>
            </a:pPr>
            <a:r>
              <a:rPr lang="en-GB" b="0" i="0" dirty="0">
                <a:effectLst/>
                <a:latin typeface="Quattrocento Sans" panose="020B0502050000020003" pitchFamily="34" charset="0"/>
              </a:rPr>
              <a:t>Each node is processed exactly once: O(V)</a:t>
            </a:r>
          </a:p>
          <a:p>
            <a:pPr lvl="1">
              <a:buFont typeface="Arial" panose="020B0604020202020204" pitchFamily="34" charset="0"/>
              <a:buChar char="•"/>
            </a:pPr>
            <a:r>
              <a:rPr lang="en-GB" b="0" i="0" dirty="0">
                <a:effectLst/>
                <a:latin typeface="Quattrocento Sans" panose="020B0502050000020003" pitchFamily="34" charset="0"/>
              </a:rPr>
              <a:t>Each edge is examined exactly once: O(E)</a:t>
            </a:r>
          </a:p>
          <a:p>
            <a:pPr lvl="1">
              <a:buFont typeface="Arial" panose="020B0604020202020204" pitchFamily="34" charset="0"/>
              <a:buChar char="•"/>
            </a:pPr>
            <a:r>
              <a:rPr lang="en-GB" b="0" i="0" dirty="0">
                <a:effectLst/>
                <a:latin typeface="Quattrocento Sans" panose="020B0502050000020003" pitchFamily="34" charset="0"/>
              </a:rPr>
              <a:t>Total complexity: O(V + E)</a:t>
            </a:r>
          </a:p>
          <a:p>
            <a:pPr lvl="1">
              <a:buFont typeface="Arial" panose="020B0604020202020204" pitchFamily="34" charset="0"/>
              <a:buChar char="•"/>
            </a:pPr>
            <a:r>
              <a:rPr lang="en-GB" dirty="0">
                <a:latin typeface="Quattrocento Sans" panose="020B0502050000020003" pitchFamily="34" charset="0"/>
              </a:rPr>
              <a:t>E</a:t>
            </a:r>
            <a:r>
              <a:rPr lang="en-GB" b="0" i="0" dirty="0">
                <a:effectLst/>
                <a:latin typeface="Quattrocento Sans" panose="020B0502050000020003" pitchFamily="34" charset="0"/>
              </a:rPr>
              <a:t>fficient for sparse graphs (where E is much less than V²)</a:t>
            </a:r>
          </a:p>
          <a:p>
            <a:pPr algn="l">
              <a:buFont typeface="Arial" panose="020B0604020202020204" pitchFamily="34" charset="0"/>
              <a:buChar char="•"/>
            </a:pPr>
            <a:r>
              <a:rPr lang="en-GB" b="0" i="0" dirty="0">
                <a:effectLst/>
                <a:latin typeface="Quattrocento Sans" panose="020B0502050000020003" pitchFamily="34" charset="0"/>
              </a:rPr>
              <a:t>Using Adjacency Matrix: O(V²)</a:t>
            </a:r>
          </a:p>
          <a:p>
            <a:r>
              <a:rPr lang="en-GB" dirty="0"/>
              <a:t>worst case </a:t>
            </a:r>
            <a:r>
              <a:rPr lang="en-GB" b="0" i="1" dirty="0">
                <a:effectLst/>
                <a:latin typeface="KaTeX_Math"/>
              </a:rPr>
              <a:t>O</a:t>
            </a:r>
            <a:r>
              <a:rPr lang="en-GB" b="0" i="0" dirty="0">
                <a:effectLst/>
                <a:latin typeface="KaTeX_Main"/>
              </a:rPr>
              <a:t>(</a:t>
            </a:r>
            <a:r>
              <a:rPr lang="en-GB" b="0" i="1" dirty="0" err="1">
                <a:effectLst/>
                <a:latin typeface="KaTeX_Math"/>
              </a:rPr>
              <a:t>V</a:t>
            </a:r>
            <a:r>
              <a:rPr lang="en-GB" b="0" i="0" dirty="0" err="1">
                <a:effectLst/>
                <a:latin typeface="KaTeX_Main"/>
              </a:rPr>
              <a:t>log</a:t>
            </a:r>
            <a:r>
              <a:rPr lang="en-GB" b="0" i="1" dirty="0" err="1">
                <a:effectLst/>
                <a:latin typeface="KaTeX_Math"/>
              </a:rPr>
              <a:t>V</a:t>
            </a:r>
            <a:r>
              <a:rPr lang="en-GB" b="0" i="0" dirty="0" err="1">
                <a:effectLst/>
                <a:latin typeface="KaTeX_Main"/>
              </a:rPr>
              <a:t>+</a:t>
            </a:r>
            <a:r>
              <a:rPr lang="en-GB" b="0" i="1" dirty="0" err="1">
                <a:effectLst/>
                <a:latin typeface="KaTeX_Math"/>
              </a:rPr>
              <a:t>E</a:t>
            </a:r>
            <a:r>
              <a:rPr lang="en-GB" b="0" i="0" dirty="0">
                <a:effectLst/>
                <a:latin typeface="KaTeX_Main"/>
              </a:rPr>
              <a:t>)</a:t>
            </a:r>
            <a:endParaRPr lang="en-GB" dirty="0"/>
          </a:p>
          <a:p>
            <a:pPr marL="285750" indent="-285750">
              <a:spcBef>
                <a:spcPts val="400"/>
              </a:spcBef>
              <a:spcAft>
                <a:spcPts val="400"/>
              </a:spcAft>
              <a:buClr>
                <a:schemeClr val="accent6"/>
              </a:buClr>
              <a:buFont typeface="Wingdings" pitchFamily="2" charset="2"/>
              <a:buChar char="§"/>
            </a:pPr>
            <a:r>
              <a:rPr lang="en-US" dirty="0">
                <a:solidFill>
                  <a:srgbClr val="003F7F"/>
                </a:solidFill>
                <a:latin typeface="Arial" panose="020B0604020202020204" pitchFamily="34" charset="0"/>
                <a:cs typeface="Arial" panose="020B0604020202020204" pitchFamily="34" charset="0"/>
              </a:rPr>
              <a:t>Remark 1. </a:t>
            </a:r>
            <a:r>
              <a:rPr lang="en-US" dirty="0">
                <a:latin typeface="Arial" panose="020B0604020202020204" pitchFamily="34" charset="0"/>
                <a:cs typeface="Arial" panose="020B0604020202020204" pitchFamily="34" charset="0"/>
              </a:rPr>
              <a:t>Directed cycles make the problem harder. </a:t>
            </a:r>
          </a:p>
          <a:p>
            <a:pPr marL="285750" indent="-285750">
              <a:spcBef>
                <a:spcPts val="400"/>
              </a:spcBef>
              <a:spcAft>
                <a:spcPts val="400"/>
              </a:spcAft>
              <a:buClr>
                <a:schemeClr val="accent6"/>
              </a:buClr>
              <a:buFont typeface="Wingdings" pitchFamily="2" charset="2"/>
              <a:buChar char="§"/>
            </a:pPr>
            <a:r>
              <a:rPr lang="en-US" dirty="0">
                <a:solidFill>
                  <a:srgbClr val="003F7F"/>
                </a:solidFill>
                <a:latin typeface="Arial" panose="020B0604020202020204" pitchFamily="34" charset="0"/>
                <a:cs typeface="Arial" panose="020B0604020202020204" pitchFamily="34" charset="0"/>
              </a:rPr>
              <a:t>Remark 2. </a:t>
            </a:r>
            <a:r>
              <a:rPr lang="en-US" dirty="0">
                <a:latin typeface="Arial" panose="020B0604020202020204" pitchFamily="34" charset="0"/>
                <a:cs typeface="Arial" panose="020B0604020202020204" pitchFamily="34" charset="0"/>
              </a:rPr>
              <a:t>Negative weights make the problem harder. </a:t>
            </a:r>
          </a:p>
          <a:p>
            <a:pPr marL="285750" indent="-285750">
              <a:spcBef>
                <a:spcPts val="400"/>
              </a:spcBef>
              <a:spcAft>
                <a:spcPts val="400"/>
              </a:spcAft>
              <a:buClr>
                <a:schemeClr val="accent6"/>
              </a:buClr>
              <a:buFont typeface="Wingdings" pitchFamily="2" charset="2"/>
              <a:buChar char="§"/>
            </a:pPr>
            <a:r>
              <a:rPr lang="en-US" dirty="0">
                <a:solidFill>
                  <a:srgbClr val="003F7F"/>
                </a:solidFill>
                <a:latin typeface="Arial" panose="020B0604020202020204" pitchFamily="34" charset="0"/>
                <a:cs typeface="Arial" panose="020B0604020202020204" pitchFamily="34" charset="0"/>
              </a:rPr>
              <a:t>Remark 3. </a:t>
            </a:r>
            <a:r>
              <a:rPr lang="en-US" dirty="0">
                <a:latin typeface="Arial" panose="020B0604020202020204" pitchFamily="34" charset="0"/>
                <a:cs typeface="Arial" panose="020B0604020202020204" pitchFamily="34" charset="0"/>
              </a:rPr>
              <a:t>Negative cycles makes the problem ill-defined. </a:t>
            </a:r>
            <a:endParaRPr lang="en-US" dirty="0">
              <a:effectLst/>
              <a:latin typeface="Arial" panose="020B0604020202020204" pitchFamily="34" charset="0"/>
              <a:cs typeface="Arial" panose="020B0604020202020204" pitchFamily="34" charset="0"/>
            </a:endParaRPr>
          </a:p>
          <a:p>
            <a:endParaRPr lang="en-GB" dirty="0"/>
          </a:p>
          <a:p>
            <a:r>
              <a:rPr lang="en-GB" dirty="0"/>
              <a:t>E+V</a:t>
            </a:r>
          </a:p>
          <a:p>
            <a:r>
              <a:rPr lang="en-GB" dirty="0"/>
              <a:t>E+V</a:t>
            </a:r>
          </a:p>
          <a:p>
            <a:r>
              <a:rPr lang="en-GB" dirty="0"/>
              <a:t>Dijkstra (binary heap)</a:t>
            </a:r>
          </a:p>
          <a:p>
            <a:r>
              <a:rPr lang="en-GB" dirty="0"/>
              <a:t>E log V</a:t>
            </a:r>
          </a:p>
          <a:p>
            <a:r>
              <a:rPr lang="en-GB" dirty="0"/>
              <a:t>E log V</a:t>
            </a:r>
          </a:p>
          <a:p>
            <a:r>
              <a:rPr lang="en-GB" dirty="0"/>
              <a:t>Bellman-Ford</a:t>
            </a:r>
          </a:p>
          <a:p>
            <a:r>
              <a:rPr lang="en-GB" dirty="0"/>
              <a:t>EV</a:t>
            </a:r>
          </a:p>
          <a:p>
            <a:r>
              <a:rPr lang="en-GB" dirty="0"/>
              <a:t>EV</a:t>
            </a:r>
            <a:endParaRPr lang="en-SE" dirty="0"/>
          </a:p>
        </p:txBody>
      </p:sp>
      <p:sp>
        <p:nvSpPr>
          <p:cNvPr id="4" name="Slide Number Placeholder 3">
            <a:extLst>
              <a:ext uri="{FF2B5EF4-FFF2-40B4-BE49-F238E27FC236}">
                <a16:creationId xmlns:a16="http://schemas.microsoft.com/office/drawing/2014/main" id="{BEC82797-5CF3-2F0E-1D23-D595814AB05C}"/>
              </a:ext>
            </a:extLst>
          </p:cNvPr>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13F62E29-99FC-EB40-923F-D38E4FE7BE7E}" type="slidenum">
              <a:rPr kumimoji="0" lang="en-US"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61</a:t>
            </a:fld>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193228568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20000"/>
              </a:lnSpc>
            </a:pPr>
            <a:endParaRPr lang="en-US" dirty="0"/>
          </a:p>
          <a:p>
            <a:pPr>
              <a:lnSpc>
                <a:spcPct val="120000"/>
              </a:lnSpc>
            </a:pPr>
            <a:r>
              <a:rPr lang="en-US" dirty="0" err="1"/>
              <a:t>Geeksforgeeks</a:t>
            </a:r>
            <a:r>
              <a:rPr lang="en-US" dirty="0"/>
              <a:t> topological sort</a:t>
            </a:r>
          </a:p>
          <a:p>
            <a:pPr lvl="1">
              <a:lnSpc>
                <a:spcPct val="120000"/>
              </a:lnSpc>
            </a:pPr>
            <a:r>
              <a:rPr lang="en-SE" sz="2400" dirty="0">
                <a:hlinkClick r:id="rId3"/>
              </a:rPr>
              <a:t>https://www.geeksforgeeks.org/topological-sorting-indegree-based-solution/</a:t>
            </a:r>
            <a:endParaRPr lang="en-GB" sz="2400" dirty="0"/>
          </a:p>
          <a:p>
            <a:pPr>
              <a:buNone/>
            </a:pPr>
            <a:r>
              <a:rPr lang="en-GB" sz="3600" b="1" dirty="0"/>
              <a:t>Bellman Ford Algorithm Explained </a:t>
            </a:r>
          </a:p>
          <a:p>
            <a:r>
              <a:rPr lang="en-GB" sz="3600" dirty="0">
                <a:hlinkClick r:id="rId4"/>
              </a:rPr>
              <a:t>Basics Strong</a:t>
            </a:r>
            <a:r>
              <a:rPr lang="en-GB" sz="3600" dirty="0"/>
              <a:t> </a:t>
            </a:r>
          </a:p>
          <a:p>
            <a:pPr>
              <a:buNone/>
            </a:pPr>
            <a:r>
              <a:rPr lang="en-GB" sz="3600" b="1" dirty="0"/>
              <a:t>Bellman-Ford Shortest Path Algorithm Visually Explained </a:t>
            </a:r>
          </a:p>
          <a:p>
            <a:pPr>
              <a:buNone/>
            </a:pPr>
            <a:r>
              <a:rPr lang="en-GB" sz="3600" dirty="0" err="1">
                <a:hlinkClick r:id="rId5"/>
              </a:rPr>
              <a:t>ByteVigor</a:t>
            </a:r>
            <a:endParaRPr lang="en-GB" sz="3600" dirty="0"/>
          </a:p>
          <a:p>
            <a:pPr>
              <a:buNone/>
            </a:pPr>
            <a:r>
              <a:rPr lang="en-GB" b="1" dirty="0"/>
              <a:t>Johnson's Algorithm| All pair shortest path algorithm| Harshit </a:t>
            </a:r>
            <a:r>
              <a:rPr lang="en-GB" b="1" dirty="0" err="1"/>
              <a:t>jain</a:t>
            </a:r>
            <a:r>
              <a:rPr lang="en-GB" b="1" dirty="0"/>
              <a:t>[NITA] </a:t>
            </a:r>
          </a:p>
          <a:p>
            <a:r>
              <a:rPr lang="en-GB" dirty="0">
                <a:hlinkClick r:id="rId6"/>
              </a:rPr>
              <a:t>Harshit </a:t>
            </a:r>
            <a:r>
              <a:rPr lang="en-GB" dirty="0" err="1">
                <a:hlinkClick r:id="rId6"/>
              </a:rPr>
              <a:t>jain</a:t>
            </a:r>
            <a:r>
              <a:rPr lang="en-GB" dirty="0"/>
              <a:t>  https://www.youtube.com/watch?v=wCjEP8TYi-E</a:t>
            </a:r>
          </a:p>
          <a:p>
            <a:pPr>
              <a:buNone/>
            </a:pPr>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303978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575239" y="263276"/>
            <a:ext cx="11187000" cy="1014900"/>
          </a:xfrm>
          <a:prstGeom prst="rect">
            <a:avLst/>
          </a:prstGeom>
          <a:noFill/>
          <a:ln>
            <a:noFill/>
          </a:ln>
        </p:spPr>
        <p:txBody>
          <a:bodyPr spcFirstLastPara="1" wrap="square" lIns="88375" tIns="44175" rIns="88375" bIns="44175" anchor="ctr" anchorCtr="0">
            <a:normAutofit/>
          </a:bodyPr>
          <a:lstStyle>
            <a:lvl1pPr lvl="0" algn="l" rtl="0">
              <a:lnSpc>
                <a:spcPct val="80000"/>
              </a:lnSpc>
              <a:spcBef>
                <a:spcPts val="0"/>
              </a:spcBef>
              <a:spcAft>
                <a:spcPts val="0"/>
              </a:spcAft>
              <a:buClr>
                <a:srgbClr val="0C0C0C"/>
              </a:buClr>
              <a:buSzPts val="1800"/>
              <a:buNone/>
              <a:defRPr>
                <a:latin typeface="+mj-lt"/>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dirty="0"/>
          </a:p>
        </p:txBody>
      </p:sp>
      <p:sp>
        <p:nvSpPr>
          <p:cNvPr id="38" name="Google Shape;38;p4"/>
          <p:cNvSpPr txBox="1">
            <a:spLocks noGrp="1"/>
          </p:cNvSpPr>
          <p:nvPr>
            <p:ph type="body" idx="1"/>
          </p:nvPr>
        </p:nvSpPr>
        <p:spPr>
          <a:xfrm>
            <a:off x="746174" y="1568275"/>
            <a:ext cx="9820225" cy="603200"/>
          </a:xfrm>
          <a:prstGeom prst="rect">
            <a:avLst/>
          </a:prstGeom>
        </p:spPr>
        <p:txBody>
          <a:bodyPr spcFirstLastPara="1" wrap="square" lIns="44175" tIns="44175" rIns="44175" bIns="44175" anchor="t" anchorCtr="0">
            <a:spAutoFit/>
          </a:bodyPr>
          <a:lstStyle>
            <a:lvl1pPr marL="457200" lvl="0" indent="-393700" rtl="0">
              <a:spcBef>
                <a:spcPts val="1200"/>
              </a:spcBef>
              <a:spcAft>
                <a:spcPts val="0"/>
              </a:spcAft>
              <a:buClr>
                <a:srgbClr val="4C3282"/>
              </a:buClr>
              <a:buSzPts val="2600"/>
              <a:buChar char="●"/>
              <a:defRPr>
                <a:latin typeface="+mn-lt"/>
              </a:defRPr>
            </a:lvl1pPr>
            <a:lvl2pPr marL="914400" lvl="1" indent="-361950" rtl="0">
              <a:spcBef>
                <a:spcPts val="300"/>
              </a:spcBef>
              <a:spcAft>
                <a:spcPts val="0"/>
              </a:spcAft>
              <a:buSzPts val="2100"/>
              <a:buChar char="○"/>
              <a:defRPr/>
            </a:lvl2pPr>
            <a:lvl3pPr marL="1371600" lvl="2" indent="-323850" rtl="0">
              <a:spcBef>
                <a:spcPts val="400"/>
              </a:spcBef>
              <a:spcAft>
                <a:spcPts val="0"/>
              </a:spcAft>
              <a:buSzPts val="1500"/>
              <a:buChar char="■"/>
              <a:defRPr/>
            </a:lvl3pPr>
            <a:lvl4pPr marL="1828800" lvl="3" indent="-317500" rtl="0">
              <a:spcBef>
                <a:spcPts val="400"/>
              </a:spcBef>
              <a:spcAft>
                <a:spcPts val="0"/>
              </a:spcAft>
              <a:buSzPts val="1400"/>
              <a:buChar char="●"/>
              <a:defRPr/>
            </a:lvl4pPr>
            <a:lvl5pPr marL="2286000" lvl="4" indent="-317500" rtl="0">
              <a:spcBef>
                <a:spcPts val="400"/>
              </a:spcBef>
              <a:spcAft>
                <a:spcPts val="0"/>
              </a:spcAft>
              <a:buSzPts val="1400"/>
              <a:buChar char="○"/>
              <a:defRPr/>
            </a:lvl5pPr>
            <a:lvl6pPr marL="2743200" lvl="5" indent="-317500" rtl="0">
              <a:spcBef>
                <a:spcPts val="400"/>
              </a:spcBef>
              <a:spcAft>
                <a:spcPts val="0"/>
              </a:spcAft>
              <a:buSzPts val="1400"/>
              <a:buChar char="■"/>
              <a:defRPr/>
            </a:lvl6pPr>
            <a:lvl7pPr marL="3200400" lvl="6" indent="-317500" rtl="0">
              <a:spcBef>
                <a:spcPts val="400"/>
              </a:spcBef>
              <a:spcAft>
                <a:spcPts val="0"/>
              </a:spcAft>
              <a:buSzPts val="1400"/>
              <a:buChar char="●"/>
              <a:defRPr/>
            </a:lvl7pPr>
            <a:lvl8pPr marL="3657600" lvl="7" indent="-317500" rtl="0">
              <a:spcBef>
                <a:spcPts val="400"/>
              </a:spcBef>
              <a:spcAft>
                <a:spcPts val="0"/>
              </a:spcAft>
              <a:buSzPts val="1400"/>
              <a:buChar char="○"/>
              <a:defRPr/>
            </a:lvl8pPr>
            <a:lvl9pPr marL="4114800" lvl="8" indent="-317500" rtl="0">
              <a:spcBef>
                <a:spcPts val="400"/>
              </a:spcBef>
              <a:spcAft>
                <a:spcPts val="400"/>
              </a:spcAft>
              <a:buSzPts val="1400"/>
              <a:buChar char="■"/>
              <a:defRPr/>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41"/>
        <p:cNvGrpSpPr/>
        <p:nvPr/>
      </p:nvGrpSpPr>
      <p:grpSpPr>
        <a:xfrm>
          <a:off x="0" y="0"/>
          <a:ext cx="0" cy="0"/>
          <a:chOff x="0" y="0"/>
          <a:chExt cx="0" cy="0"/>
        </a:xfrm>
      </p:grpSpPr>
      <p:sp>
        <p:nvSpPr>
          <p:cNvPr id="42" name="Google Shape;42;p6"/>
          <p:cNvSpPr txBox="1">
            <a:spLocks noGrp="1"/>
          </p:cNvSpPr>
          <p:nvPr>
            <p:ph type="title"/>
          </p:nvPr>
        </p:nvSpPr>
        <p:spPr>
          <a:xfrm>
            <a:off x="3315881" y="3446573"/>
            <a:ext cx="5590200" cy="1014900"/>
          </a:xfrm>
          <a:prstGeom prst="rect">
            <a:avLst/>
          </a:prstGeom>
          <a:noFill/>
          <a:ln>
            <a:noFill/>
          </a:ln>
        </p:spPr>
        <p:txBody>
          <a:bodyPr spcFirstLastPara="1" wrap="square" lIns="88375" tIns="44175" rIns="88375" bIns="44175" anchor="ctr" anchorCtr="0">
            <a:normAutofit/>
          </a:bodyPr>
          <a:lstStyle>
            <a:lvl1pPr lvl="0" algn="ctr" rtl="0">
              <a:lnSpc>
                <a:spcPct val="80000"/>
              </a:lnSpc>
              <a:spcBef>
                <a:spcPts val="0"/>
              </a:spcBef>
              <a:spcAft>
                <a:spcPts val="0"/>
              </a:spcAft>
              <a:buClr>
                <a:srgbClr val="0C0C0C"/>
              </a:buClr>
              <a:buSzPts val="4300"/>
              <a:buFont typeface="Quattrocento Sans"/>
              <a:buNone/>
              <a:defRPr cap="none"/>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cxnSp>
        <p:nvCxnSpPr>
          <p:cNvPr id="43" name="Google Shape;43;p6"/>
          <p:cNvCxnSpPr/>
          <p:nvPr/>
        </p:nvCxnSpPr>
        <p:spPr>
          <a:xfrm>
            <a:off x="138752" y="1917510"/>
            <a:ext cx="11914500" cy="0"/>
          </a:xfrm>
          <a:prstGeom prst="straightConnector1">
            <a:avLst/>
          </a:prstGeom>
          <a:noFill/>
          <a:ln w="19050" cap="flat" cmpd="sng">
            <a:solidFill>
              <a:srgbClr val="D8D8D8"/>
            </a:solidFill>
            <a:prstDash val="solid"/>
            <a:round/>
            <a:headEnd type="none" w="sm" len="sm"/>
            <a:tailEnd type="none" w="sm" len="sm"/>
          </a:ln>
        </p:spPr>
      </p:cxnSp>
      <p:grpSp>
        <p:nvGrpSpPr>
          <p:cNvPr id="44" name="Google Shape;44;p6"/>
          <p:cNvGrpSpPr/>
          <p:nvPr/>
        </p:nvGrpSpPr>
        <p:grpSpPr>
          <a:xfrm>
            <a:off x="4736689" y="555664"/>
            <a:ext cx="2723981" cy="2723981"/>
            <a:chOff x="4360460" y="449353"/>
            <a:chExt cx="3282300" cy="3282300"/>
          </a:xfrm>
        </p:grpSpPr>
        <p:sp>
          <p:nvSpPr>
            <p:cNvPr id="45" name="Google Shape;45;p6"/>
            <p:cNvSpPr/>
            <p:nvPr/>
          </p:nvSpPr>
          <p:spPr>
            <a:xfrm>
              <a:off x="4360460" y="449353"/>
              <a:ext cx="3282300" cy="3282300"/>
            </a:xfrm>
            <a:prstGeom prst="ellipse">
              <a:avLst/>
            </a:prstGeom>
            <a:solidFill>
              <a:srgbClr val="B6A479"/>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grpSp>
          <p:nvGrpSpPr>
            <p:cNvPr id="46" name="Google Shape;46;p6"/>
            <p:cNvGrpSpPr/>
            <p:nvPr/>
          </p:nvGrpSpPr>
          <p:grpSpPr>
            <a:xfrm>
              <a:off x="4868882" y="1003916"/>
              <a:ext cx="2265384" cy="2173111"/>
              <a:chOff x="5233525" y="4954450"/>
              <a:chExt cx="538275" cy="516350"/>
            </a:xfrm>
          </p:grpSpPr>
          <p:sp>
            <p:nvSpPr>
              <p:cNvPr id="47" name="Google Shape;47;p6"/>
              <p:cNvSpPr/>
              <p:nvPr/>
            </p:nvSpPr>
            <p:spPr>
              <a:xfrm>
                <a:off x="5637825" y="4954450"/>
                <a:ext cx="89525" cy="89525"/>
              </a:xfrm>
              <a:custGeom>
                <a:avLst/>
                <a:gdLst/>
                <a:ahLst/>
                <a:cxnLst/>
                <a:rect l="l" t="t" r="r" b="b"/>
                <a:pathLst>
                  <a:path w="3581" h="3581" fill="none" extrusionOk="0">
                    <a:moveTo>
                      <a:pt x="1023" y="3410"/>
                    </a:moveTo>
                    <a:lnTo>
                      <a:pt x="1023" y="3410"/>
                    </a:lnTo>
                    <a:lnTo>
                      <a:pt x="1193" y="3483"/>
                    </a:lnTo>
                    <a:lnTo>
                      <a:pt x="1388" y="3532"/>
                    </a:lnTo>
                    <a:lnTo>
                      <a:pt x="1583" y="3556"/>
                    </a:lnTo>
                    <a:lnTo>
                      <a:pt x="1778" y="3581"/>
                    </a:lnTo>
                    <a:lnTo>
                      <a:pt x="1778" y="3581"/>
                    </a:lnTo>
                    <a:lnTo>
                      <a:pt x="1973" y="3556"/>
                    </a:lnTo>
                    <a:lnTo>
                      <a:pt x="2143" y="3532"/>
                    </a:lnTo>
                    <a:lnTo>
                      <a:pt x="2314" y="3508"/>
                    </a:lnTo>
                    <a:lnTo>
                      <a:pt x="2484" y="3435"/>
                    </a:lnTo>
                    <a:lnTo>
                      <a:pt x="2630" y="3361"/>
                    </a:lnTo>
                    <a:lnTo>
                      <a:pt x="2776" y="3264"/>
                    </a:lnTo>
                    <a:lnTo>
                      <a:pt x="2923" y="3167"/>
                    </a:lnTo>
                    <a:lnTo>
                      <a:pt x="3044" y="3045"/>
                    </a:lnTo>
                    <a:lnTo>
                      <a:pt x="3166" y="2923"/>
                    </a:lnTo>
                    <a:lnTo>
                      <a:pt x="3264" y="2801"/>
                    </a:lnTo>
                    <a:lnTo>
                      <a:pt x="3361" y="2631"/>
                    </a:lnTo>
                    <a:lnTo>
                      <a:pt x="3434" y="2485"/>
                    </a:lnTo>
                    <a:lnTo>
                      <a:pt x="3483" y="2314"/>
                    </a:lnTo>
                    <a:lnTo>
                      <a:pt x="3531" y="2144"/>
                    </a:lnTo>
                    <a:lnTo>
                      <a:pt x="3556" y="1973"/>
                    </a:lnTo>
                    <a:lnTo>
                      <a:pt x="3580" y="1803"/>
                    </a:lnTo>
                    <a:lnTo>
                      <a:pt x="3580" y="1803"/>
                    </a:lnTo>
                    <a:lnTo>
                      <a:pt x="3556" y="1608"/>
                    </a:lnTo>
                    <a:lnTo>
                      <a:pt x="3531" y="1437"/>
                    </a:lnTo>
                    <a:lnTo>
                      <a:pt x="3483" y="1267"/>
                    </a:lnTo>
                    <a:lnTo>
                      <a:pt x="3434" y="1096"/>
                    </a:lnTo>
                    <a:lnTo>
                      <a:pt x="3361" y="950"/>
                    </a:lnTo>
                    <a:lnTo>
                      <a:pt x="3264" y="804"/>
                    </a:lnTo>
                    <a:lnTo>
                      <a:pt x="3166" y="658"/>
                    </a:lnTo>
                    <a:lnTo>
                      <a:pt x="3044" y="536"/>
                    </a:lnTo>
                    <a:lnTo>
                      <a:pt x="2923" y="414"/>
                    </a:lnTo>
                    <a:lnTo>
                      <a:pt x="2776" y="317"/>
                    </a:lnTo>
                    <a:lnTo>
                      <a:pt x="2630" y="220"/>
                    </a:lnTo>
                    <a:lnTo>
                      <a:pt x="2484" y="147"/>
                    </a:lnTo>
                    <a:lnTo>
                      <a:pt x="2314" y="98"/>
                    </a:lnTo>
                    <a:lnTo>
                      <a:pt x="2143" y="49"/>
                    </a:lnTo>
                    <a:lnTo>
                      <a:pt x="1973" y="25"/>
                    </a:lnTo>
                    <a:lnTo>
                      <a:pt x="1778" y="0"/>
                    </a:lnTo>
                    <a:lnTo>
                      <a:pt x="1778" y="0"/>
                    </a:lnTo>
                    <a:lnTo>
                      <a:pt x="1607" y="25"/>
                    </a:lnTo>
                    <a:lnTo>
                      <a:pt x="1437" y="49"/>
                    </a:lnTo>
                    <a:lnTo>
                      <a:pt x="1266" y="98"/>
                    </a:lnTo>
                    <a:lnTo>
                      <a:pt x="1096" y="147"/>
                    </a:lnTo>
                    <a:lnTo>
                      <a:pt x="925" y="220"/>
                    </a:lnTo>
                    <a:lnTo>
                      <a:pt x="779" y="317"/>
                    </a:lnTo>
                    <a:lnTo>
                      <a:pt x="658" y="414"/>
                    </a:lnTo>
                    <a:lnTo>
                      <a:pt x="536" y="536"/>
                    </a:lnTo>
                    <a:lnTo>
                      <a:pt x="414" y="658"/>
                    </a:lnTo>
                    <a:lnTo>
                      <a:pt x="317" y="804"/>
                    </a:lnTo>
                    <a:lnTo>
                      <a:pt x="219" y="950"/>
                    </a:lnTo>
                    <a:lnTo>
                      <a:pt x="146" y="1096"/>
                    </a:lnTo>
                    <a:lnTo>
                      <a:pt x="73" y="1267"/>
                    </a:lnTo>
                    <a:lnTo>
                      <a:pt x="49" y="1437"/>
                    </a:lnTo>
                    <a:lnTo>
                      <a:pt x="24" y="1608"/>
                    </a:lnTo>
                    <a:lnTo>
                      <a:pt x="0" y="1803"/>
                    </a:lnTo>
                    <a:lnTo>
                      <a:pt x="0" y="1803"/>
                    </a:lnTo>
                    <a:lnTo>
                      <a:pt x="24" y="2071"/>
                    </a:lnTo>
                    <a:lnTo>
                      <a:pt x="97" y="2339"/>
                    </a:lnTo>
                    <a:lnTo>
                      <a:pt x="195" y="2582"/>
                    </a:lnTo>
                    <a:lnTo>
                      <a:pt x="317" y="280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48" name="Google Shape;48;p6"/>
              <p:cNvSpPr/>
              <p:nvPr/>
            </p:nvSpPr>
            <p:spPr>
              <a:xfrm>
                <a:off x="5323025" y="4980625"/>
                <a:ext cx="88925" cy="88925"/>
              </a:xfrm>
              <a:custGeom>
                <a:avLst/>
                <a:gdLst/>
                <a:ahLst/>
                <a:cxnLst/>
                <a:rect l="l" t="t" r="r" b="b"/>
                <a:pathLst>
                  <a:path w="3557" h="3557" fill="none" extrusionOk="0">
                    <a:moveTo>
                      <a:pt x="3191" y="2850"/>
                    </a:moveTo>
                    <a:lnTo>
                      <a:pt x="3191" y="2850"/>
                    </a:lnTo>
                    <a:lnTo>
                      <a:pt x="3313" y="2680"/>
                    </a:lnTo>
                    <a:lnTo>
                      <a:pt x="3410" y="2509"/>
                    </a:lnTo>
                    <a:lnTo>
                      <a:pt x="3483" y="2314"/>
                    </a:lnTo>
                    <a:lnTo>
                      <a:pt x="3532" y="2095"/>
                    </a:lnTo>
                    <a:lnTo>
                      <a:pt x="3532" y="2095"/>
                    </a:lnTo>
                    <a:lnTo>
                      <a:pt x="3556" y="1925"/>
                    </a:lnTo>
                    <a:lnTo>
                      <a:pt x="3556" y="1730"/>
                    </a:lnTo>
                    <a:lnTo>
                      <a:pt x="3556" y="1559"/>
                    </a:lnTo>
                    <a:lnTo>
                      <a:pt x="3508" y="1389"/>
                    </a:lnTo>
                    <a:lnTo>
                      <a:pt x="3459" y="1218"/>
                    </a:lnTo>
                    <a:lnTo>
                      <a:pt x="3410" y="1072"/>
                    </a:lnTo>
                    <a:lnTo>
                      <a:pt x="3337" y="902"/>
                    </a:lnTo>
                    <a:lnTo>
                      <a:pt x="3240" y="756"/>
                    </a:lnTo>
                    <a:lnTo>
                      <a:pt x="3142" y="634"/>
                    </a:lnTo>
                    <a:lnTo>
                      <a:pt x="3021" y="512"/>
                    </a:lnTo>
                    <a:lnTo>
                      <a:pt x="2899" y="390"/>
                    </a:lnTo>
                    <a:lnTo>
                      <a:pt x="2753" y="293"/>
                    </a:lnTo>
                    <a:lnTo>
                      <a:pt x="2606" y="196"/>
                    </a:lnTo>
                    <a:lnTo>
                      <a:pt x="2436" y="122"/>
                    </a:lnTo>
                    <a:lnTo>
                      <a:pt x="2266" y="74"/>
                    </a:lnTo>
                    <a:lnTo>
                      <a:pt x="2095" y="25"/>
                    </a:lnTo>
                    <a:lnTo>
                      <a:pt x="2095" y="25"/>
                    </a:lnTo>
                    <a:lnTo>
                      <a:pt x="1925" y="1"/>
                    </a:lnTo>
                    <a:lnTo>
                      <a:pt x="1730" y="1"/>
                    </a:lnTo>
                    <a:lnTo>
                      <a:pt x="1559" y="1"/>
                    </a:lnTo>
                    <a:lnTo>
                      <a:pt x="1389" y="25"/>
                    </a:lnTo>
                    <a:lnTo>
                      <a:pt x="1218" y="74"/>
                    </a:lnTo>
                    <a:lnTo>
                      <a:pt x="1072" y="147"/>
                    </a:lnTo>
                    <a:lnTo>
                      <a:pt x="902" y="220"/>
                    </a:lnTo>
                    <a:lnTo>
                      <a:pt x="756" y="317"/>
                    </a:lnTo>
                    <a:lnTo>
                      <a:pt x="634" y="415"/>
                    </a:lnTo>
                    <a:lnTo>
                      <a:pt x="512" y="537"/>
                    </a:lnTo>
                    <a:lnTo>
                      <a:pt x="390" y="658"/>
                    </a:lnTo>
                    <a:lnTo>
                      <a:pt x="293" y="804"/>
                    </a:lnTo>
                    <a:lnTo>
                      <a:pt x="195" y="951"/>
                    </a:lnTo>
                    <a:lnTo>
                      <a:pt x="122" y="1097"/>
                    </a:lnTo>
                    <a:lnTo>
                      <a:pt x="74" y="1267"/>
                    </a:lnTo>
                    <a:lnTo>
                      <a:pt x="25" y="1462"/>
                    </a:lnTo>
                    <a:lnTo>
                      <a:pt x="25" y="1462"/>
                    </a:lnTo>
                    <a:lnTo>
                      <a:pt x="1" y="1633"/>
                    </a:lnTo>
                    <a:lnTo>
                      <a:pt x="1" y="1803"/>
                    </a:lnTo>
                    <a:lnTo>
                      <a:pt x="1" y="1998"/>
                    </a:lnTo>
                    <a:lnTo>
                      <a:pt x="25" y="2168"/>
                    </a:lnTo>
                    <a:lnTo>
                      <a:pt x="74" y="2339"/>
                    </a:lnTo>
                    <a:lnTo>
                      <a:pt x="147" y="2485"/>
                    </a:lnTo>
                    <a:lnTo>
                      <a:pt x="220" y="2655"/>
                    </a:lnTo>
                    <a:lnTo>
                      <a:pt x="317" y="2777"/>
                    </a:lnTo>
                    <a:lnTo>
                      <a:pt x="415" y="2923"/>
                    </a:lnTo>
                    <a:lnTo>
                      <a:pt x="536" y="3045"/>
                    </a:lnTo>
                    <a:lnTo>
                      <a:pt x="658" y="3167"/>
                    </a:lnTo>
                    <a:lnTo>
                      <a:pt x="804" y="3264"/>
                    </a:lnTo>
                    <a:lnTo>
                      <a:pt x="950" y="3362"/>
                    </a:lnTo>
                    <a:lnTo>
                      <a:pt x="1096" y="3435"/>
                    </a:lnTo>
                    <a:lnTo>
                      <a:pt x="1267" y="3483"/>
                    </a:lnTo>
                    <a:lnTo>
                      <a:pt x="1462" y="3532"/>
                    </a:lnTo>
                    <a:lnTo>
                      <a:pt x="1462" y="3532"/>
                    </a:lnTo>
                    <a:lnTo>
                      <a:pt x="1705" y="3557"/>
                    </a:lnTo>
                    <a:lnTo>
                      <a:pt x="1973" y="3557"/>
                    </a:lnTo>
                    <a:lnTo>
                      <a:pt x="2217" y="3508"/>
                    </a:lnTo>
                    <a:lnTo>
                      <a:pt x="2460" y="3435"/>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49" name="Google Shape;49;p6"/>
              <p:cNvSpPr/>
              <p:nvPr/>
            </p:nvSpPr>
            <p:spPr>
              <a:xfrm>
                <a:off x="5233525" y="5255225"/>
                <a:ext cx="89525" cy="89525"/>
              </a:xfrm>
              <a:custGeom>
                <a:avLst/>
                <a:gdLst/>
                <a:ahLst/>
                <a:cxnLst/>
                <a:rect l="l" t="t" r="r" b="b"/>
                <a:pathLst>
                  <a:path w="3581" h="3581" fill="none" extrusionOk="0">
                    <a:moveTo>
                      <a:pt x="3215" y="707"/>
                    </a:moveTo>
                    <a:lnTo>
                      <a:pt x="3215" y="707"/>
                    </a:lnTo>
                    <a:lnTo>
                      <a:pt x="3093" y="585"/>
                    </a:lnTo>
                    <a:lnTo>
                      <a:pt x="2972" y="464"/>
                    </a:lnTo>
                    <a:lnTo>
                      <a:pt x="2850" y="342"/>
                    </a:lnTo>
                    <a:lnTo>
                      <a:pt x="2679" y="244"/>
                    </a:lnTo>
                    <a:lnTo>
                      <a:pt x="2679" y="244"/>
                    </a:lnTo>
                    <a:lnTo>
                      <a:pt x="2533" y="171"/>
                    </a:lnTo>
                    <a:lnTo>
                      <a:pt x="2363" y="98"/>
                    </a:lnTo>
                    <a:lnTo>
                      <a:pt x="2192" y="50"/>
                    </a:lnTo>
                    <a:lnTo>
                      <a:pt x="2022" y="25"/>
                    </a:lnTo>
                    <a:lnTo>
                      <a:pt x="1851" y="1"/>
                    </a:lnTo>
                    <a:lnTo>
                      <a:pt x="1681" y="25"/>
                    </a:lnTo>
                    <a:lnTo>
                      <a:pt x="1510" y="25"/>
                    </a:lnTo>
                    <a:lnTo>
                      <a:pt x="1340" y="74"/>
                    </a:lnTo>
                    <a:lnTo>
                      <a:pt x="1169" y="123"/>
                    </a:lnTo>
                    <a:lnTo>
                      <a:pt x="1023" y="196"/>
                    </a:lnTo>
                    <a:lnTo>
                      <a:pt x="877" y="269"/>
                    </a:lnTo>
                    <a:lnTo>
                      <a:pt x="731" y="366"/>
                    </a:lnTo>
                    <a:lnTo>
                      <a:pt x="585" y="488"/>
                    </a:lnTo>
                    <a:lnTo>
                      <a:pt x="463" y="610"/>
                    </a:lnTo>
                    <a:lnTo>
                      <a:pt x="341" y="731"/>
                    </a:lnTo>
                    <a:lnTo>
                      <a:pt x="244" y="902"/>
                    </a:lnTo>
                    <a:lnTo>
                      <a:pt x="244" y="902"/>
                    </a:lnTo>
                    <a:lnTo>
                      <a:pt x="171" y="1048"/>
                    </a:lnTo>
                    <a:lnTo>
                      <a:pt x="98" y="1219"/>
                    </a:lnTo>
                    <a:lnTo>
                      <a:pt x="49" y="1389"/>
                    </a:lnTo>
                    <a:lnTo>
                      <a:pt x="25" y="1560"/>
                    </a:lnTo>
                    <a:lnTo>
                      <a:pt x="0" y="1730"/>
                    </a:lnTo>
                    <a:lnTo>
                      <a:pt x="0" y="1900"/>
                    </a:lnTo>
                    <a:lnTo>
                      <a:pt x="25" y="2071"/>
                    </a:lnTo>
                    <a:lnTo>
                      <a:pt x="73" y="2241"/>
                    </a:lnTo>
                    <a:lnTo>
                      <a:pt x="122" y="2412"/>
                    </a:lnTo>
                    <a:lnTo>
                      <a:pt x="195" y="2558"/>
                    </a:lnTo>
                    <a:lnTo>
                      <a:pt x="268" y="2729"/>
                    </a:lnTo>
                    <a:lnTo>
                      <a:pt x="366" y="2850"/>
                    </a:lnTo>
                    <a:lnTo>
                      <a:pt x="463" y="2996"/>
                    </a:lnTo>
                    <a:lnTo>
                      <a:pt x="609" y="3118"/>
                    </a:lnTo>
                    <a:lnTo>
                      <a:pt x="731" y="3240"/>
                    </a:lnTo>
                    <a:lnTo>
                      <a:pt x="901" y="3337"/>
                    </a:lnTo>
                    <a:lnTo>
                      <a:pt x="901" y="3337"/>
                    </a:lnTo>
                    <a:lnTo>
                      <a:pt x="1048" y="3410"/>
                    </a:lnTo>
                    <a:lnTo>
                      <a:pt x="1218" y="3484"/>
                    </a:lnTo>
                    <a:lnTo>
                      <a:pt x="1389" y="3532"/>
                    </a:lnTo>
                    <a:lnTo>
                      <a:pt x="1559" y="3557"/>
                    </a:lnTo>
                    <a:lnTo>
                      <a:pt x="1730" y="3581"/>
                    </a:lnTo>
                    <a:lnTo>
                      <a:pt x="1900" y="3581"/>
                    </a:lnTo>
                    <a:lnTo>
                      <a:pt x="2071" y="3557"/>
                    </a:lnTo>
                    <a:lnTo>
                      <a:pt x="2241" y="3508"/>
                    </a:lnTo>
                    <a:lnTo>
                      <a:pt x="2411" y="3459"/>
                    </a:lnTo>
                    <a:lnTo>
                      <a:pt x="2558" y="3410"/>
                    </a:lnTo>
                    <a:lnTo>
                      <a:pt x="2704" y="3313"/>
                    </a:lnTo>
                    <a:lnTo>
                      <a:pt x="2850" y="3216"/>
                    </a:lnTo>
                    <a:lnTo>
                      <a:pt x="2996" y="3118"/>
                    </a:lnTo>
                    <a:lnTo>
                      <a:pt x="3118" y="2996"/>
                    </a:lnTo>
                    <a:lnTo>
                      <a:pt x="3240" y="2850"/>
                    </a:lnTo>
                    <a:lnTo>
                      <a:pt x="3337" y="2704"/>
                    </a:lnTo>
                    <a:lnTo>
                      <a:pt x="3337" y="2704"/>
                    </a:lnTo>
                    <a:lnTo>
                      <a:pt x="3459" y="2412"/>
                    </a:lnTo>
                    <a:lnTo>
                      <a:pt x="3532" y="2144"/>
                    </a:lnTo>
                    <a:lnTo>
                      <a:pt x="3581" y="1852"/>
                    </a:lnTo>
                    <a:lnTo>
                      <a:pt x="3556" y="1560"/>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0" name="Google Shape;50;p6"/>
              <p:cNvSpPr/>
              <p:nvPr/>
            </p:nvSpPr>
            <p:spPr>
              <a:xfrm>
                <a:off x="5453325" y="5382475"/>
                <a:ext cx="88925" cy="88325"/>
              </a:xfrm>
              <a:custGeom>
                <a:avLst/>
                <a:gdLst/>
                <a:ahLst/>
                <a:cxnLst/>
                <a:rect l="l" t="t" r="r" b="b"/>
                <a:pathLst>
                  <a:path w="3557" h="3533" fill="none" extrusionOk="0">
                    <a:moveTo>
                      <a:pt x="1389" y="1"/>
                    </a:moveTo>
                    <a:lnTo>
                      <a:pt x="1389" y="1"/>
                    </a:lnTo>
                    <a:lnTo>
                      <a:pt x="1194" y="50"/>
                    </a:lnTo>
                    <a:lnTo>
                      <a:pt x="999" y="147"/>
                    </a:lnTo>
                    <a:lnTo>
                      <a:pt x="804" y="245"/>
                    </a:lnTo>
                    <a:lnTo>
                      <a:pt x="634" y="366"/>
                    </a:lnTo>
                    <a:lnTo>
                      <a:pt x="634" y="366"/>
                    </a:lnTo>
                    <a:lnTo>
                      <a:pt x="488" y="488"/>
                    </a:lnTo>
                    <a:lnTo>
                      <a:pt x="390" y="634"/>
                    </a:lnTo>
                    <a:lnTo>
                      <a:pt x="268" y="780"/>
                    </a:lnTo>
                    <a:lnTo>
                      <a:pt x="195" y="926"/>
                    </a:lnTo>
                    <a:lnTo>
                      <a:pt x="122" y="1073"/>
                    </a:lnTo>
                    <a:lnTo>
                      <a:pt x="74" y="1243"/>
                    </a:lnTo>
                    <a:lnTo>
                      <a:pt x="25" y="1414"/>
                    </a:lnTo>
                    <a:lnTo>
                      <a:pt x="0" y="1584"/>
                    </a:lnTo>
                    <a:lnTo>
                      <a:pt x="0" y="1755"/>
                    </a:lnTo>
                    <a:lnTo>
                      <a:pt x="0" y="1925"/>
                    </a:lnTo>
                    <a:lnTo>
                      <a:pt x="25" y="2096"/>
                    </a:lnTo>
                    <a:lnTo>
                      <a:pt x="74" y="2266"/>
                    </a:lnTo>
                    <a:lnTo>
                      <a:pt x="122" y="2412"/>
                    </a:lnTo>
                    <a:lnTo>
                      <a:pt x="195" y="2583"/>
                    </a:lnTo>
                    <a:lnTo>
                      <a:pt x="293" y="2729"/>
                    </a:lnTo>
                    <a:lnTo>
                      <a:pt x="415" y="2875"/>
                    </a:lnTo>
                    <a:lnTo>
                      <a:pt x="415" y="2875"/>
                    </a:lnTo>
                    <a:lnTo>
                      <a:pt x="536" y="3021"/>
                    </a:lnTo>
                    <a:lnTo>
                      <a:pt x="658" y="3143"/>
                    </a:lnTo>
                    <a:lnTo>
                      <a:pt x="804" y="3240"/>
                    </a:lnTo>
                    <a:lnTo>
                      <a:pt x="950" y="3313"/>
                    </a:lnTo>
                    <a:lnTo>
                      <a:pt x="1121" y="3386"/>
                    </a:lnTo>
                    <a:lnTo>
                      <a:pt x="1267" y="3459"/>
                    </a:lnTo>
                    <a:lnTo>
                      <a:pt x="1437" y="3484"/>
                    </a:lnTo>
                    <a:lnTo>
                      <a:pt x="1608" y="3508"/>
                    </a:lnTo>
                    <a:lnTo>
                      <a:pt x="1778" y="3532"/>
                    </a:lnTo>
                    <a:lnTo>
                      <a:pt x="1949" y="3508"/>
                    </a:lnTo>
                    <a:lnTo>
                      <a:pt x="2119" y="3484"/>
                    </a:lnTo>
                    <a:lnTo>
                      <a:pt x="2290" y="3435"/>
                    </a:lnTo>
                    <a:lnTo>
                      <a:pt x="2460" y="3386"/>
                    </a:lnTo>
                    <a:lnTo>
                      <a:pt x="2606" y="3313"/>
                    </a:lnTo>
                    <a:lnTo>
                      <a:pt x="2777" y="3216"/>
                    </a:lnTo>
                    <a:lnTo>
                      <a:pt x="2923" y="3118"/>
                    </a:lnTo>
                    <a:lnTo>
                      <a:pt x="2923" y="3118"/>
                    </a:lnTo>
                    <a:lnTo>
                      <a:pt x="3045" y="2997"/>
                    </a:lnTo>
                    <a:lnTo>
                      <a:pt x="3167" y="2851"/>
                    </a:lnTo>
                    <a:lnTo>
                      <a:pt x="3264" y="2704"/>
                    </a:lnTo>
                    <a:lnTo>
                      <a:pt x="3361" y="2558"/>
                    </a:lnTo>
                    <a:lnTo>
                      <a:pt x="3435" y="2412"/>
                    </a:lnTo>
                    <a:lnTo>
                      <a:pt x="3483" y="2242"/>
                    </a:lnTo>
                    <a:lnTo>
                      <a:pt x="3532" y="2071"/>
                    </a:lnTo>
                    <a:lnTo>
                      <a:pt x="3556" y="1901"/>
                    </a:lnTo>
                    <a:lnTo>
                      <a:pt x="3556" y="1730"/>
                    </a:lnTo>
                    <a:lnTo>
                      <a:pt x="3556" y="1560"/>
                    </a:lnTo>
                    <a:lnTo>
                      <a:pt x="3532" y="1389"/>
                    </a:lnTo>
                    <a:lnTo>
                      <a:pt x="3483" y="1219"/>
                    </a:lnTo>
                    <a:lnTo>
                      <a:pt x="3410" y="1048"/>
                    </a:lnTo>
                    <a:lnTo>
                      <a:pt x="3337" y="902"/>
                    </a:lnTo>
                    <a:lnTo>
                      <a:pt x="3264" y="756"/>
                    </a:lnTo>
                    <a:lnTo>
                      <a:pt x="3142" y="610"/>
                    </a:lnTo>
                    <a:lnTo>
                      <a:pt x="3142" y="610"/>
                    </a:lnTo>
                    <a:lnTo>
                      <a:pt x="2972" y="415"/>
                    </a:lnTo>
                    <a:lnTo>
                      <a:pt x="2753" y="245"/>
                    </a:lnTo>
                    <a:lnTo>
                      <a:pt x="2533" y="123"/>
                    </a:lnTo>
                    <a:lnTo>
                      <a:pt x="2314" y="50"/>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1" name="Google Shape;51;p6"/>
              <p:cNvSpPr/>
              <p:nvPr/>
            </p:nvSpPr>
            <p:spPr>
              <a:xfrm>
                <a:off x="5682875" y="5188875"/>
                <a:ext cx="88925" cy="89525"/>
              </a:xfrm>
              <a:custGeom>
                <a:avLst/>
                <a:gdLst/>
                <a:ahLst/>
                <a:cxnLst/>
                <a:rect l="l" t="t" r="r" b="b"/>
                <a:pathLst>
                  <a:path w="3557" h="3581" fill="none" extrusionOk="0">
                    <a:moveTo>
                      <a:pt x="0" y="2022"/>
                    </a:moveTo>
                    <a:lnTo>
                      <a:pt x="0" y="2022"/>
                    </a:lnTo>
                    <a:lnTo>
                      <a:pt x="25" y="2216"/>
                    </a:lnTo>
                    <a:lnTo>
                      <a:pt x="98" y="2411"/>
                    </a:lnTo>
                    <a:lnTo>
                      <a:pt x="98" y="2411"/>
                    </a:lnTo>
                    <a:lnTo>
                      <a:pt x="171" y="2557"/>
                    </a:lnTo>
                    <a:lnTo>
                      <a:pt x="244" y="2728"/>
                    </a:lnTo>
                    <a:lnTo>
                      <a:pt x="341" y="2874"/>
                    </a:lnTo>
                    <a:lnTo>
                      <a:pt x="463" y="2996"/>
                    </a:lnTo>
                    <a:lnTo>
                      <a:pt x="585" y="3118"/>
                    </a:lnTo>
                    <a:lnTo>
                      <a:pt x="707" y="3239"/>
                    </a:lnTo>
                    <a:lnTo>
                      <a:pt x="853" y="3337"/>
                    </a:lnTo>
                    <a:lnTo>
                      <a:pt x="999" y="3410"/>
                    </a:lnTo>
                    <a:lnTo>
                      <a:pt x="1169" y="3483"/>
                    </a:lnTo>
                    <a:lnTo>
                      <a:pt x="1340" y="3532"/>
                    </a:lnTo>
                    <a:lnTo>
                      <a:pt x="1510" y="3556"/>
                    </a:lnTo>
                    <a:lnTo>
                      <a:pt x="1681" y="3580"/>
                    </a:lnTo>
                    <a:lnTo>
                      <a:pt x="1851" y="3580"/>
                    </a:lnTo>
                    <a:lnTo>
                      <a:pt x="2022" y="3556"/>
                    </a:lnTo>
                    <a:lnTo>
                      <a:pt x="2192" y="3532"/>
                    </a:lnTo>
                    <a:lnTo>
                      <a:pt x="2363" y="3459"/>
                    </a:lnTo>
                    <a:lnTo>
                      <a:pt x="2363" y="3459"/>
                    </a:lnTo>
                    <a:lnTo>
                      <a:pt x="2533" y="3410"/>
                    </a:lnTo>
                    <a:lnTo>
                      <a:pt x="2704" y="3312"/>
                    </a:lnTo>
                    <a:lnTo>
                      <a:pt x="2850" y="3215"/>
                    </a:lnTo>
                    <a:lnTo>
                      <a:pt x="2972" y="3093"/>
                    </a:lnTo>
                    <a:lnTo>
                      <a:pt x="3093" y="2971"/>
                    </a:lnTo>
                    <a:lnTo>
                      <a:pt x="3215" y="2850"/>
                    </a:lnTo>
                    <a:lnTo>
                      <a:pt x="3288" y="2704"/>
                    </a:lnTo>
                    <a:lnTo>
                      <a:pt x="3386" y="2557"/>
                    </a:lnTo>
                    <a:lnTo>
                      <a:pt x="3434" y="2387"/>
                    </a:lnTo>
                    <a:lnTo>
                      <a:pt x="3483" y="2216"/>
                    </a:lnTo>
                    <a:lnTo>
                      <a:pt x="3532" y="2070"/>
                    </a:lnTo>
                    <a:lnTo>
                      <a:pt x="3556" y="1875"/>
                    </a:lnTo>
                    <a:lnTo>
                      <a:pt x="3556" y="1705"/>
                    </a:lnTo>
                    <a:lnTo>
                      <a:pt x="3532" y="1534"/>
                    </a:lnTo>
                    <a:lnTo>
                      <a:pt x="3507" y="1364"/>
                    </a:lnTo>
                    <a:lnTo>
                      <a:pt x="3434" y="1194"/>
                    </a:lnTo>
                    <a:lnTo>
                      <a:pt x="3434" y="1194"/>
                    </a:lnTo>
                    <a:lnTo>
                      <a:pt x="3361" y="1023"/>
                    </a:lnTo>
                    <a:lnTo>
                      <a:pt x="3288" y="853"/>
                    </a:lnTo>
                    <a:lnTo>
                      <a:pt x="3191" y="706"/>
                    </a:lnTo>
                    <a:lnTo>
                      <a:pt x="3069" y="585"/>
                    </a:lnTo>
                    <a:lnTo>
                      <a:pt x="2947" y="463"/>
                    </a:lnTo>
                    <a:lnTo>
                      <a:pt x="2825" y="341"/>
                    </a:lnTo>
                    <a:lnTo>
                      <a:pt x="2679" y="268"/>
                    </a:lnTo>
                    <a:lnTo>
                      <a:pt x="2533" y="171"/>
                    </a:lnTo>
                    <a:lnTo>
                      <a:pt x="2363" y="122"/>
                    </a:lnTo>
                    <a:lnTo>
                      <a:pt x="2192" y="73"/>
                    </a:lnTo>
                    <a:lnTo>
                      <a:pt x="2022" y="24"/>
                    </a:lnTo>
                    <a:lnTo>
                      <a:pt x="1851" y="24"/>
                    </a:lnTo>
                    <a:lnTo>
                      <a:pt x="1681" y="0"/>
                    </a:lnTo>
                    <a:lnTo>
                      <a:pt x="1510" y="24"/>
                    </a:lnTo>
                    <a:lnTo>
                      <a:pt x="1340" y="73"/>
                    </a:lnTo>
                    <a:lnTo>
                      <a:pt x="1169" y="122"/>
                    </a:lnTo>
                    <a:lnTo>
                      <a:pt x="1169" y="122"/>
                    </a:lnTo>
                    <a:lnTo>
                      <a:pt x="974" y="195"/>
                    </a:lnTo>
                    <a:lnTo>
                      <a:pt x="804" y="292"/>
                    </a:lnTo>
                    <a:lnTo>
                      <a:pt x="658" y="390"/>
                    </a:lnTo>
                    <a:lnTo>
                      <a:pt x="512" y="512"/>
                    </a:lnTo>
                    <a:lnTo>
                      <a:pt x="390" y="658"/>
                    </a:lnTo>
                    <a:lnTo>
                      <a:pt x="293" y="804"/>
                    </a:lnTo>
                    <a:lnTo>
                      <a:pt x="195" y="950"/>
                    </a:lnTo>
                    <a:lnTo>
                      <a:pt x="122" y="1120"/>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2" name="Google Shape;52;p6"/>
              <p:cNvSpPr/>
              <p:nvPr/>
            </p:nvSpPr>
            <p:spPr>
              <a:xfrm>
                <a:off x="5411925" y="5110925"/>
                <a:ext cx="188775" cy="189400"/>
              </a:xfrm>
              <a:custGeom>
                <a:avLst/>
                <a:gdLst/>
                <a:ahLst/>
                <a:cxnLst/>
                <a:rect l="l" t="t" r="r" b="b"/>
                <a:pathLst>
                  <a:path w="7551" h="7576" fill="none" extrusionOk="0">
                    <a:moveTo>
                      <a:pt x="0" y="3776"/>
                    </a:moveTo>
                    <a:lnTo>
                      <a:pt x="0" y="3776"/>
                    </a:lnTo>
                    <a:lnTo>
                      <a:pt x="25" y="3410"/>
                    </a:lnTo>
                    <a:lnTo>
                      <a:pt x="73" y="3021"/>
                    </a:lnTo>
                    <a:lnTo>
                      <a:pt x="171" y="2655"/>
                    </a:lnTo>
                    <a:lnTo>
                      <a:pt x="293" y="2314"/>
                    </a:lnTo>
                    <a:lnTo>
                      <a:pt x="463" y="1973"/>
                    </a:lnTo>
                    <a:lnTo>
                      <a:pt x="658" y="1681"/>
                    </a:lnTo>
                    <a:lnTo>
                      <a:pt x="877" y="1389"/>
                    </a:lnTo>
                    <a:lnTo>
                      <a:pt x="1121" y="1121"/>
                    </a:lnTo>
                    <a:lnTo>
                      <a:pt x="1389" y="877"/>
                    </a:lnTo>
                    <a:lnTo>
                      <a:pt x="1656" y="658"/>
                    </a:lnTo>
                    <a:lnTo>
                      <a:pt x="1973" y="463"/>
                    </a:lnTo>
                    <a:lnTo>
                      <a:pt x="2314" y="293"/>
                    </a:lnTo>
                    <a:lnTo>
                      <a:pt x="2655" y="171"/>
                    </a:lnTo>
                    <a:lnTo>
                      <a:pt x="3020" y="74"/>
                    </a:lnTo>
                    <a:lnTo>
                      <a:pt x="3386" y="25"/>
                    </a:lnTo>
                    <a:lnTo>
                      <a:pt x="3775" y="1"/>
                    </a:lnTo>
                    <a:lnTo>
                      <a:pt x="3775" y="1"/>
                    </a:lnTo>
                    <a:lnTo>
                      <a:pt x="4165" y="25"/>
                    </a:lnTo>
                    <a:lnTo>
                      <a:pt x="4555" y="74"/>
                    </a:lnTo>
                    <a:lnTo>
                      <a:pt x="4896" y="171"/>
                    </a:lnTo>
                    <a:lnTo>
                      <a:pt x="5261" y="293"/>
                    </a:lnTo>
                    <a:lnTo>
                      <a:pt x="5578" y="463"/>
                    </a:lnTo>
                    <a:lnTo>
                      <a:pt x="5894" y="658"/>
                    </a:lnTo>
                    <a:lnTo>
                      <a:pt x="6186" y="877"/>
                    </a:lnTo>
                    <a:lnTo>
                      <a:pt x="6454" y="1121"/>
                    </a:lnTo>
                    <a:lnTo>
                      <a:pt x="6698" y="1389"/>
                    </a:lnTo>
                    <a:lnTo>
                      <a:pt x="6917" y="1681"/>
                    </a:lnTo>
                    <a:lnTo>
                      <a:pt x="7112" y="1973"/>
                    </a:lnTo>
                    <a:lnTo>
                      <a:pt x="7258" y="2314"/>
                    </a:lnTo>
                    <a:lnTo>
                      <a:pt x="7404" y="2655"/>
                    </a:lnTo>
                    <a:lnTo>
                      <a:pt x="7477" y="3021"/>
                    </a:lnTo>
                    <a:lnTo>
                      <a:pt x="7550" y="3410"/>
                    </a:lnTo>
                    <a:lnTo>
                      <a:pt x="7550" y="3776"/>
                    </a:lnTo>
                    <a:lnTo>
                      <a:pt x="7550" y="3776"/>
                    </a:lnTo>
                    <a:lnTo>
                      <a:pt x="7550" y="4165"/>
                    </a:lnTo>
                    <a:lnTo>
                      <a:pt x="7477" y="4555"/>
                    </a:lnTo>
                    <a:lnTo>
                      <a:pt x="7404" y="4920"/>
                    </a:lnTo>
                    <a:lnTo>
                      <a:pt x="7258" y="5261"/>
                    </a:lnTo>
                    <a:lnTo>
                      <a:pt x="7112" y="5578"/>
                    </a:lnTo>
                    <a:lnTo>
                      <a:pt x="6917" y="5895"/>
                    </a:lnTo>
                    <a:lnTo>
                      <a:pt x="6698" y="6187"/>
                    </a:lnTo>
                    <a:lnTo>
                      <a:pt x="6454" y="6455"/>
                    </a:lnTo>
                    <a:lnTo>
                      <a:pt x="6186" y="6698"/>
                    </a:lnTo>
                    <a:lnTo>
                      <a:pt x="5894" y="6917"/>
                    </a:lnTo>
                    <a:lnTo>
                      <a:pt x="5578" y="7112"/>
                    </a:lnTo>
                    <a:lnTo>
                      <a:pt x="5261" y="7258"/>
                    </a:lnTo>
                    <a:lnTo>
                      <a:pt x="4896" y="7405"/>
                    </a:lnTo>
                    <a:lnTo>
                      <a:pt x="4555" y="7478"/>
                    </a:lnTo>
                    <a:lnTo>
                      <a:pt x="4165" y="7551"/>
                    </a:lnTo>
                    <a:lnTo>
                      <a:pt x="3775" y="7575"/>
                    </a:lnTo>
                    <a:lnTo>
                      <a:pt x="3775" y="7575"/>
                    </a:lnTo>
                    <a:lnTo>
                      <a:pt x="3386" y="7551"/>
                    </a:lnTo>
                    <a:lnTo>
                      <a:pt x="3020" y="7478"/>
                    </a:lnTo>
                    <a:lnTo>
                      <a:pt x="2655" y="7405"/>
                    </a:lnTo>
                    <a:lnTo>
                      <a:pt x="2314" y="7258"/>
                    </a:lnTo>
                    <a:lnTo>
                      <a:pt x="1973" y="7112"/>
                    </a:lnTo>
                    <a:lnTo>
                      <a:pt x="1656" y="6917"/>
                    </a:lnTo>
                    <a:lnTo>
                      <a:pt x="1389" y="6698"/>
                    </a:lnTo>
                    <a:lnTo>
                      <a:pt x="1121" y="6455"/>
                    </a:lnTo>
                    <a:lnTo>
                      <a:pt x="877" y="6187"/>
                    </a:lnTo>
                    <a:lnTo>
                      <a:pt x="658" y="5895"/>
                    </a:lnTo>
                    <a:lnTo>
                      <a:pt x="463" y="5578"/>
                    </a:lnTo>
                    <a:lnTo>
                      <a:pt x="293" y="5261"/>
                    </a:lnTo>
                    <a:lnTo>
                      <a:pt x="171" y="4920"/>
                    </a:lnTo>
                    <a:lnTo>
                      <a:pt x="73" y="4555"/>
                    </a:lnTo>
                    <a:lnTo>
                      <a:pt x="25" y="4165"/>
                    </a:lnTo>
                    <a:lnTo>
                      <a:pt x="0" y="3776"/>
                    </a:lnTo>
                    <a:lnTo>
                      <a:pt x="0" y="3776"/>
                    </a:lnTo>
                    <a:close/>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3" name="Google Shape;53;p6"/>
              <p:cNvSpPr/>
              <p:nvPr/>
            </p:nvSpPr>
            <p:spPr>
              <a:xfrm>
                <a:off x="5367475" y="5025075"/>
                <a:ext cx="81600" cy="105975"/>
              </a:xfrm>
              <a:custGeom>
                <a:avLst/>
                <a:gdLst/>
                <a:ahLst/>
                <a:cxnLst/>
                <a:rect l="l" t="t" r="r" b="b"/>
                <a:pathLst>
                  <a:path w="3264" h="4239" fill="none" extrusionOk="0">
                    <a:moveTo>
                      <a:pt x="0" y="1"/>
                    </a:moveTo>
                    <a:lnTo>
                      <a:pt x="3264" y="4238"/>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4" name="Google Shape;54;p6"/>
              <p:cNvSpPr/>
              <p:nvPr/>
            </p:nvSpPr>
            <p:spPr>
              <a:xfrm>
                <a:off x="5567800" y="4999500"/>
                <a:ext cx="115100" cy="133975"/>
              </a:xfrm>
              <a:custGeom>
                <a:avLst/>
                <a:gdLst/>
                <a:ahLst/>
                <a:cxnLst/>
                <a:rect l="l" t="t" r="r" b="b"/>
                <a:pathLst>
                  <a:path w="4604" h="5359" fill="none" extrusionOk="0">
                    <a:moveTo>
                      <a:pt x="0" y="5359"/>
                    </a:moveTo>
                    <a:lnTo>
                      <a:pt x="4603"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5" name="Google Shape;55;p6"/>
              <p:cNvSpPr/>
              <p:nvPr/>
            </p:nvSpPr>
            <p:spPr>
              <a:xfrm>
                <a:off x="5600075" y="5217475"/>
                <a:ext cx="127275" cy="16475"/>
              </a:xfrm>
              <a:custGeom>
                <a:avLst/>
                <a:gdLst/>
                <a:ahLst/>
                <a:cxnLst/>
                <a:rect l="l" t="t" r="r" b="b"/>
                <a:pathLst>
                  <a:path w="5091" h="659" fill="none" extrusionOk="0">
                    <a:moveTo>
                      <a:pt x="5090" y="658"/>
                    </a:moveTo>
                    <a:lnTo>
                      <a:pt x="0"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6" name="Google Shape;56;p6"/>
              <p:cNvSpPr/>
              <p:nvPr/>
            </p:nvSpPr>
            <p:spPr>
              <a:xfrm>
                <a:off x="5497775" y="5299675"/>
                <a:ext cx="4900" cy="126675"/>
              </a:xfrm>
              <a:custGeom>
                <a:avLst/>
                <a:gdLst/>
                <a:ahLst/>
                <a:cxnLst/>
                <a:rect l="l" t="t" r="r" b="b"/>
                <a:pathLst>
                  <a:path w="196" h="5067" fill="none" extrusionOk="0">
                    <a:moveTo>
                      <a:pt x="0" y="5067"/>
                    </a:moveTo>
                    <a:lnTo>
                      <a:pt x="195"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7" name="Google Shape;57;p6"/>
              <p:cNvSpPr/>
              <p:nvPr/>
            </p:nvSpPr>
            <p:spPr>
              <a:xfrm>
                <a:off x="5277975" y="5241825"/>
                <a:ext cx="141275" cy="58500"/>
              </a:xfrm>
              <a:custGeom>
                <a:avLst/>
                <a:gdLst/>
                <a:ahLst/>
                <a:cxnLst/>
                <a:rect l="l" t="t" r="r" b="b"/>
                <a:pathLst>
                  <a:path w="5651" h="2340" fill="none" extrusionOk="0">
                    <a:moveTo>
                      <a:pt x="0" y="2339"/>
                    </a:moveTo>
                    <a:lnTo>
                      <a:pt x="5651"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grpSp>
      </p:grpSp>
      <p:sp>
        <p:nvSpPr>
          <p:cNvPr id="58" name="Google Shape;58;p6"/>
          <p:cNvSpPr txBox="1">
            <a:spLocks noGrp="1"/>
          </p:cNvSpPr>
          <p:nvPr>
            <p:ph type="body" idx="1"/>
          </p:nvPr>
        </p:nvSpPr>
        <p:spPr>
          <a:xfrm>
            <a:off x="3315880" y="4628428"/>
            <a:ext cx="5590200" cy="1463100"/>
          </a:xfrm>
          <a:prstGeom prst="rect">
            <a:avLst/>
          </a:prstGeom>
          <a:noFill/>
          <a:ln>
            <a:noFill/>
          </a:ln>
        </p:spPr>
        <p:txBody>
          <a:bodyPr spcFirstLastPara="1" wrap="square" lIns="88375" tIns="44175" rIns="88375" bIns="44175" anchor="t" anchorCtr="0">
            <a:spAutoFit/>
          </a:bodyPr>
          <a:lstStyle>
            <a:lvl1pPr marL="457200" lvl="0" indent="-228600" algn="l" rtl="0">
              <a:lnSpc>
                <a:spcPct val="100000"/>
              </a:lnSpc>
              <a:spcBef>
                <a:spcPts val="0"/>
              </a:spcBef>
              <a:spcAft>
                <a:spcPts val="0"/>
              </a:spcAft>
              <a:buSzPts val="1800"/>
              <a:buNone/>
              <a:defRPr sz="1800">
                <a:solidFill>
                  <a:srgbClr val="0C0C0C"/>
                </a:solidFill>
              </a:defRPr>
            </a:lvl1pPr>
            <a:lvl2pPr marL="914400" lvl="1" indent="-228600" algn="l" rtl="0">
              <a:lnSpc>
                <a:spcPct val="90000"/>
              </a:lnSpc>
              <a:spcBef>
                <a:spcPts val="300"/>
              </a:spcBef>
              <a:spcAft>
                <a:spcPts val="0"/>
              </a:spcAft>
              <a:buSzPts val="1800"/>
              <a:buNone/>
              <a:defRPr sz="1800">
                <a:solidFill>
                  <a:srgbClr val="888888"/>
                </a:solidFill>
              </a:defRPr>
            </a:lvl2pPr>
            <a:lvl3pPr marL="1371600" lvl="2" indent="-228600" algn="l" rtl="0">
              <a:lnSpc>
                <a:spcPct val="90000"/>
              </a:lnSpc>
              <a:spcBef>
                <a:spcPts val="400"/>
              </a:spcBef>
              <a:spcAft>
                <a:spcPts val="0"/>
              </a:spcAft>
              <a:buSzPts val="1500"/>
              <a:buNone/>
              <a:defRPr sz="1500">
                <a:solidFill>
                  <a:srgbClr val="888888"/>
                </a:solidFill>
              </a:defRPr>
            </a:lvl3pPr>
            <a:lvl4pPr marL="1828800" lvl="3" indent="-228600" algn="l" rtl="0">
              <a:lnSpc>
                <a:spcPct val="90000"/>
              </a:lnSpc>
              <a:spcBef>
                <a:spcPts val="400"/>
              </a:spcBef>
              <a:spcAft>
                <a:spcPts val="0"/>
              </a:spcAft>
              <a:buSzPts val="1400"/>
              <a:buNone/>
              <a:defRPr sz="1400">
                <a:solidFill>
                  <a:srgbClr val="888888"/>
                </a:solidFill>
              </a:defRPr>
            </a:lvl4pPr>
            <a:lvl5pPr marL="2286000" lvl="4" indent="-228600" algn="l" rtl="0">
              <a:lnSpc>
                <a:spcPct val="90000"/>
              </a:lnSpc>
              <a:spcBef>
                <a:spcPts val="400"/>
              </a:spcBef>
              <a:spcAft>
                <a:spcPts val="0"/>
              </a:spcAft>
              <a:buSzPts val="1400"/>
              <a:buNone/>
              <a:defRPr sz="1400">
                <a:solidFill>
                  <a:srgbClr val="888888"/>
                </a:solidFill>
              </a:defRPr>
            </a:lvl5pPr>
            <a:lvl6pPr marL="2743200" lvl="5" indent="-228600" algn="l" rtl="0">
              <a:lnSpc>
                <a:spcPct val="90000"/>
              </a:lnSpc>
              <a:spcBef>
                <a:spcPts val="400"/>
              </a:spcBef>
              <a:spcAft>
                <a:spcPts val="0"/>
              </a:spcAft>
              <a:buSzPts val="1400"/>
              <a:buNone/>
              <a:defRPr sz="1400">
                <a:solidFill>
                  <a:srgbClr val="888888"/>
                </a:solidFill>
              </a:defRPr>
            </a:lvl6pPr>
            <a:lvl7pPr marL="3200400" lvl="6" indent="-228600" algn="l" rtl="0">
              <a:lnSpc>
                <a:spcPct val="90000"/>
              </a:lnSpc>
              <a:spcBef>
                <a:spcPts val="400"/>
              </a:spcBef>
              <a:spcAft>
                <a:spcPts val="0"/>
              </a:spcAft>
              <a:buSzPts val="1400"/>
              <a:buNone/>
              <a:defRPr sz="1400">
                <a:solidFill>
                  <a:srgbClr val="888888"/>
                </a:solidFill>
              </a:defRPr>
            </a:lvl7pPr>
            <a:lvl8pPr marL="3657600" lvl="7" indent="-228600" algn="l" rtl="0">
              <a:lnSpc>
                <a:spcPct val="90000"/>
              </a:lnSpc>
              <a:spcBef>
                <a:spcPts val="400"/>
              </a:spcBef>
              <a:spcAft>
                <a:spcPts val="0"/>
              </a:spcAft>
              <a:buSzPts val="1400"/>
              <a:buNone/>
              <a:defRPr sz="1400">
                <a:solidFill>
                  <a:srgbClr val="888888"/>
                </a:solidFill>
              </a:defRPr>
            </a:lvl8pPr>
            <a:lvl9pPr marL="4114800" lvl="8" indent="-228600" algn="l" rtl="0">
              <a:lnSpc>
                <a:spcPct val="90000"/>
              </a:lnSpc>
              <a:spcBef>
                <a:spcPts val="400"/>
              </a:spcBef>
              <a:spcAft>
                <a:spcPts val="400"/>
              </a:spcAft>
              <a:buSzPts val="1400"/>
              <a:buNone/>
              <a:defRPr sz="1400">
                <a:solidFill>
                  <a:srgbClr val="888888"/>
                </a:solidFill>
              </a:defRPr>
            </a:lvl9pPr>
          </a:lstStyle>
          <a:p>
            <a:endParaRPr/>
          </a:p>
        </p:txBody>
      </p:sp>
      <p:sp>
        <p:nvSpPr>
          <p:cNvPr id="59" name="Google Shape;59;p6"/>
          <p:cNvSpPr/>
          <p:nvPr/>
        </p:nvSpPr>
        <p:spPr>
          <a:xfrm>
            <a:off x="272955" y="0"/>
            <a:ext cx="422700" cy="1562400"/>
          </a:xfrm>
          <a:prstGeom prst="rect">
            <a:avLst/>
          </a:prstGeom>
          <a:solidFill>
            <a:schemeClr val="lt1"/>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5"/>
        <p:cNvGrpSpPr/>
        <p:nvPr/>
      </p:nvGrpSpPr>
      <p:grpSpPr>
        <a:xfrm>
          <a:off x="0" y="0"/>
          <a:ext cx="0" cy="0"/>
          <a:chOff x="0" y="0"/>
          <a:chExt cx="0" cy="0"/>
        </a:xfrm>
      </p:grpSpPr>
      <p:sp>
        <p:nvSpPr>
          <p:cNvPr id="106" name="Google Shape;106;p13"/>
          <p:cNvSpPr txBox="1">
            <a:spLocks noGrp="1"/>
          </p:cNvSpPr>
          <p:nvPr>
            <p:ph type="title"/>
          </p:nvPr>
        </p:nvSpPr>
        <p:spPr>
          <a:xfrm>
            <a:off x="575239" y="263276"/>
            <a:ext cx="11187000" cy="1014900"/>
          </a:xfrm>
          <a:prstGeom prst="rect">
            <a:avLst/>
          </a:prstGeom>
          <a:noFill/>
          <a:ln>
            <a:noFill/>
          </a:ln>
        </p:spPr>
        <p:txBody>
          <a:bodyPr spcFirstLastPara="1" wrap="square" lIns="88375" tIns="44175" rIns="88375" bIns="44175" anchor="ctr" anchorCtr="0">
            <a:normAutofit/>
          </a:bodyPr>
          <a:lstStyle>
            <a:lvl1pPr lvl="0" algn="l" rtl="0">
              <a:lnSpc>
                <a:spcPct val="80000"/>
              </a:lnSpc>
              <a:spcBef>
                <a:spcPts val="0"/>
              </a:spcBef>
              <a:spcAft>
                <a:spcPts val="0"/>
              </a:spcAft>
              <a:buClr>
                <a:srgbClr val="0C0C0C"/>
              </a:buClr>
              <a:buSzPts val="1800"/>
              <a:buNone/>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Introduction">
  <p:cSld name="Section Introduction">
    <p:spTree>
      <p:nvGrpSpPr>
        <p:cNvPr id="1" name="Shape 66"/>
        <p:cNvGrpSpPr/>
        <p:nvPr/>
      </p:nvGrpSpPr>
      <p:grpSpPr>
        <a:xfrm>
          <a:off x="0" y="0"/>
          <a:ext cx="0" cy="0"/>
          <a:chOff x="0" y="0"/>
          <a:chExt cx="0" cy="0"/>
        </a:xfrm>
      </p:grpSpPr>
      <p:cxnSp>
        <p:nvCxnSpPr>
          <p:cNvPr id="67" name="Google Shape;67;p8"/>
          <p:cNvCxnSpPr/>
          <p:nvPr/>
        </p:nvCxnSpPr>
        <p:spPr>
          <a:xfrm>
            <a:off x="127669" y="3557888"/>
            <a:ext cx="11914500" cy="0"/>
          </a:xfrm>
          <a:prstGeom prst="straightConnector1">
            <a:avLst/>
          </a:prstGeom>
          <a:noFill/>
          <a:ln w="19050" cap="flat" cmpd="sng">
            <a:solidFill>
              <a:srgbClr val="D8D8D8"/>
            </a:solidFill>
            <a:prstDash val="solid"/>
            <a:round/>
            <a:headEnd type="none" w="sm" len="sm"/>
            <a:tailEnd type="none" w="sm" len="sm"/>
          </a:ln>
        </p:spPr>
      </p:cxnSp>
      <p:sp>
        <p:nvSpPr>
          <p:cNvPr id="68" name="Google Shape;68;p8"/>
          <p:cNvSpPr txBox="1">
            <a:spLocks noGrp="1"/>
          </p:cNvSpPr>
          <p:nvPr>
            <p:ph type="title"/>
          </p:nvPr>
        </p:nvSpPr>
        <p:spPr>
          <a:xfrm>
            <a:off x="1902775" y="3303985"/>
            <a:ext cx="6504300" cy="507789"/>
          </a:xfrm>
          <a:prstGeom prst="rect">
            <a:avLst/>
          </a:prstGeom>
          <a:noFill/>
          <a:ln>
            <a:noFill/>
          </a:ln>
        </p:spPr>
        <p:txBody>
          <a:bodyPr spcFirstLastPara="1" wrap="square" lIns="88375" tIns="44175" rIns="88375" bIns="44175" anchor="ctr" anchorCtr="0">
            <a:spAutoFit/>
          </a:bodyPr>
          <a:lstStyle>
            <a:lvl1pPr lvl="0" algn="l" rtl="0">
              <a:lnSpc>
                <a:spcPct val="80000"/>
              </a:lnSpc>
              <a:spcBef>
                <a:spcPts val="0"/>
              </a:spcBef>
              <a:spcAft>
                <a:spcPts val="0"/>
              </a:spcAft>
              <a:buClr>
                <a:srgbClr val="0C0C0C"/>
              </a:buClr>
              <a:buSzPts val="3400"/>
              <a:buFont typeface="Quattrocento Sans"/>
              <a:buNone/>
              <a:defRPr sz="3400">
                <a:highlight>
                  <a:schemeClr val="lt1"/>
                </a:highlight>
                <a:latin typeface="+mj-lt"/>
                <a:ea typeface="Quattrocento Sans"/>
                <a:cs typeface="Quattrocento Sans"/>
                <a:sym typeface="Quattrocento Sans"/>
              </a:defRPr>
            </a:lvl1pPr>
            <a:lvl2pPr lvl="1" algn="l" rtl="0">
              <a:lnSpc>
                <a:spcPct val="100000"/>
              </a:lnSpc>
              <a:spcBef>
                <a:spcPts val="0"/>
              </a:spcBef>
              <a:spcAft>
                <a:spcPts val="0"/>
              </a:spcAft>
              <a:buSzPts val="3400"/>
              <a:buNone/>
              <a:defRPr sz="3400">
                <a:highlight>
                  <a:srgbClr val="000000"/>
                </a:highlight>
              </a:defRPr>
            </a:lvl2pPr>
            <a:lvl3pPr lvl="2" algn="l" rtl="0">
              <a:lnSpc>
                <a:spcPct val="100000"/>
              </a:lnSpc>
              <a:spcBef>
                <a:spcPts val="0"/>
              </a:spcBef>
              <a:spcAft>
                <a:spcPts val="0"/>
              </a:spcAft>
              <a:buSzPts val="3400"/>
              <a:buNone/>
              <a:defRPr sz="3400">
                <a:highlight>
                  <a:srgbClr val="000000"/>
                </a:highlight>
              </a:defRPr>
            </a:lvl3pPr>
            <a:lvl4pPr lvl="3" algn="l" rtl="0">
              <a:lnSpc>
                <a:spcPct val="100000"/>
              </a:lnSpc>
              <a:spcBef>
                <a:spcPts val="0"/>
              </a:spcBef>
              <a:spcAft>
                <a:spcPts val="0"/>
              </a:spcAft>
              <a:buSzPts val="3400"/>
              <a:buNone/>
              <a:defRPr sz="3400">
                <a:highlight>
                  <a:srgbClr val="000000"/>
                </a:highlight>
              </a:defRPr>
            </a:lvl4pPr>
            <a:lvl5pPr lvl="4" algn="l" rtl="0">
              <a:lnSpc>
                <a:spcPct val="100000"/>
              </a:lnSpc>
              <a:spcBef>
                <a:spcPts val="0"/>
              </a:spcBef>
              <a:spcAft>
                <a:spcPts val="0"/>
              </a:spcAft>
              <a:buSzPts val="3400"/>
              <a:buNone/>
              <a:defRPr sz="3400">
                <a:highlight>
                  <a:srgbClr val="000000"/>
                </a:highlight>
              </a:defRPr>
            </a:lvl5pPr>
            <a:lvl6pPr lvl="5" algn="l" rtl="0">
              <a:lnSpc>
                <a:spcPct val="100000"/>
              </a:lnSpc>
              <a:spcBef>
                <a:spcPts val="0"/>
              </a:spcBef>
              <a:spcAft>
                <a:spcPts val="0"/>
              </a:spcAft>
              <a:buSzPts val="3400"/>
              <a:buNone/>
              <a:defRPr sz="3400">
                <a:highlight>
                  <a:srgbClr val="000000"/>
                </a:highlight>
              </a:defRPr>
            </a:lvl6pPr>
            <a:lvl7pPr lvl="6" algn="l" rtl="0">
              <a:lnSpc>
                <a:spcPct val="100000"/>
              </a:lnSpc>
              <a:spcBef>
                <a:spcPts val="0"/>
              </a:spcBef>
              <a:spcAft>
                <a:spcPts val="0"/>
              </a:spcAft>
              <a:buSzPts val="3400"/>
              <a:buNone/>
              <a:defRPr sz="3400">
                <a:highlight>
                  <a:srgbClr val="000000"/>
                </a:highlight>
              </a:defRPr>
            </a:lvl7pPr>
            <a:lvl8pPr lvl="7" algn="l" rtl="0">
              <a:lnSpc>
                <a:spcPct val="100000"/>
              </a:lnSpc>
              <a:spcBef>
                <a:spcPts val="0"/>
              </a:spcBef>
              <a:spcAft>
                <a:spcPts val="0"/>
              </a:spcAft>
              <a:buSzPts val="3400"/>
              <a:buNone/>
              <a:defRPr sz="3400">
                <a:highlight>
                  <a:srgbClr val="000000"/>
                </a:highlight>
              </a:defRPr>
            </a:lvl8pPr>
            <a:lvl9pPr lvl="8" algn="l" rtl="0">
              <a:lnSpc>
                <a:spcPct val="100000"/>
              </a:lnSpc>
              <a:spcBef>
                <a:spcPts val="0"/>
              </a:spcBef>
              <a:spcAft>
                <a:spcPts val="0"/>
              </a:spcAft>
              <a:buSzPts val="3400"/>
              <a:buNone/>
              <a:defRPr sz="3400">
                <a:highlight>
                  <a:srgbClr val="000000"/>
                </a:highlight>
              </a:defRPr>
            </a:lvl9pPr>
          </a:lstStyle>
          <a:p>
            <a:endParaRPr dirty="0"/>
          </a:p>
        </p:txBody>
      </p:sp>
      <p:sp>
        <p:nvSpPr>
          <p:cNvPr id="69" name="Google Shape;69;p8"/>
          <p:cNvSpPr/>
          <p:nvPr/>
        </p:nvSpPr>
        <p:spPr>
          <a:xfrm>
            <a:off x="743453" y="3050554"/>
            <a:ext cx="898200" cy="897900"/>
          </a:xfrm>
          <a:prstGeom prst="ellipse">
            <a:avLst/>
          </a:prstGeom>
          <a:solidFill>
            <a:srgbClr val="B6A479"/>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sp>
        <p:nvSpPr>
          <p:cNvPr id="70" name="Google Shape;70;p8"/>
          <p:cNvSpPr/>
          <p:nvPr/>
        </p:nvSpPr>
        <p:spPr>
          <a:xfrm>
            <a:off x="321425" y="60960"/>
            <a:ext cx="171900" cy="1474500"/>
          </a:xfrm>
          <a:prstGeom prst="rect">
            <a:avLst/>
          </a:prstGeom>
          <a:solidFill>
            <a:schemeClr val="lt1"/>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grpSp>
        <p:nvGrpSpPr>
          <p:cNvPr id="71" name="Google Shape;71;p8"/>
          <p:cNvGrpSpPr/>
          <p:nvPr/>
        </p:nvGrpSpPr>
        <p:grpSpPr>
          <a:xfrm>
            <a:off x="1092976" y="3287056"/>
            <a:ext cx="299911" cy="424768"/>
            <a:chOff x="3979850" y="1598950"/>
            <a:chExt cx="356825" cy="505375"/>
          </a:xfrm>
        </p:grpSpPr>
        <p:sp>
          <p:nvSpPr>
            <p:cNvPr id="72" name="Google Shape;72;p8"/>
            <p:cNvSpPr/>
            <p:nvPr/>
          </p:nvSpPr>
          <p:spPr>
            <a:xfrm>
              <a:off x="3979850" y="1602600"/>
              <a:ext cx="44475" cy="501725"/>
            </a:xfrm>
            <a:custGeom>
              <a:avLst/>
              <a:gdLst/>
              <a:ahLst/>
              <a:cxnLst/>
              <a:rect l="l" t="t" r="r" b="b"/>
              <a:pathLst>
                <a:path w="1779" h="20069" fill="none" extrusionOk="0">
                  <a:moveTo>
                    <a:pt x="1778" y="20069"/>
                  </a:moveTo>
                  <a:lnTo>
                    <a:pt x="1778" y="488"/>
                  </a:lnTo>
                  <a:lnTo>
                    <a:pt x="1778" y="488"/>
                  </a:lnTo>
                  <a:lnTo>
                    <a:pt x="1778" y="390"/>
                  </a:lnTo>
                  <a:lnTo>
                    <a:pt x="1730" y="293"/>
                  </a:lnTo>
                  <a:lnTo>
                    <a:pt x="1705" y="220"/>
                  </a:lnTo>
                  <a:lnTo>
                    <a:pt x="1632" y="147"/>
                  </a:lnTo>
                  <a:lnTo>
                    <a:pt x="1559" y="74"/>
                  </a:lnTo>
                  <a:lnTo>
                    <a:pt x="1486" y="25"/>
                  </a:lnTo>
                  <a:lnTo>
                    <a:pt x="1389" y="0"/>
                  </a:lnTo>
                  <a:lnTo>
                    <a:pt x="1291" y="0"/>
                  </a:lnTo>
                  <a:lnTo>
                    <a:pt x="488" y="0"/>
                  </a:lnTo>
                  <a:lnTo>
                    <a:pt x="488" y="0"/>
                  </a:lnTo>
                  <a:lnTo>
                    <a:pt x="390" y="0"/>
                  </a:lnTo>
                  <a:lnTo>
                    <a:pt x="293" y="25"/>
                  </a:lnTo>
                  <a:lnTo>
                    <a:pt x="220" y="74"/>
                  </a:lnTo>
                  <a:lnTo>
                    <a:pt x="147" y="147"/>
                  </a:lnTo>
                  <a:lnTo>
                    <a:pt x="98" y="220"/>
                  </a:lnTo>
                  <a:lnTo>
                    <a:pt x="49" y="293"/>
                  </a:lnTo>
                  <a:lnTo>
                    <a:pt x="25" y="390"/>
                  </a:lnTo>
                  <a:lnTo>
                    <a:pt x="1" y="488"/>
                  </a:lnTo>
                  <a:lnTo>
                    <a:pt x="1" y="20069"/>
                  </a:lnTo>
                  <a:lnTo>
                    <a:pt x="1778" y="20069"/>
                  </a:lnTo>
                  <a:close/>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73" name="Google Shape;73;p8"/>
            <p:cNvSpPr/>
            <p:nvPr/>
          </p:nvSpPr>
          <p:spPr>
            <a:xfrm>
              <a:off x="4037075" y="1598950"/>
              <a:ext cx="299600" cy="228950"/>
            </a:xfrm>
            <a:custGeom>
              <a:avLst/>
              <a:gdLst/>
              <a:ahLst/>
              <a:cxnLst/>
              <a:rect l="l" t="t" r="r" b="b"/>
              <a:pathLst>
                <a:path w="11984" h="9158" fill="none" extrusionOk="0">
                  <a:moveTo>
                    <a:pt x="1" y="8403"/>
                  </a:moveTo>
                  <a:lnTo>
                    <a:pt x="1" y="8403"/>
                  </a:lnTo>
                  <a:lnTo>
                    <a:pt x="366" y="8184"/>
                  </a:lnTo>
                  <a:lnTo>
                    <a:pt x="732" y="8013"/>
                  </a:lnTo>
                  <a:lnTo>
                    <a:pt x="1097" y="7867"/>
                  </a:lnTo>
                  <a:lnTo>
                    <a:pt x="1438" y="7770"/>
                  </a:lnTo>
                  <a:lnTo>
                    <a:pt x="1803" y="7696"/>
                  </a:lnTo>
                  <a:lnTo>
                    <a:pt x="2168" y="7672"/>
                  </a:lnTo>
                  <a:lnTo>
                    <a:pt x="2534" y="7648"/>
                  </a:lnTo>
                  <a:lnTo>
                    <a:pt x="2875" y="7672"/>
                  </a:lnTo>
                  <a:lnTo>
                    <a:pt x="3240" y="7696"/>
                  </a:lnTo>
                  <a:lnTo>
                    <a:pt x="3605" y="7745"/>
                  </a:lnTo>
                  <a:lnTo>
                    <a:pt x="3971" y="7818"/>
                  </a:lnTo>
                  <a:lnTo>
                    <a:pt x="4312" y="7891"/>
                  </a:lnTo>
                  <a:lnTo>
                    <a:pt x="5042" y="8111"/>
                  </a:lnTo>
                  <a:lnTo>
                    <a:pt x="5749" y="8330"/>
                  </a:lnTo>
                  <a:lnTo>
                    <a:pt x="6479" y="8549"/>
                  </a:lnTo>
                  <a:lnTo>
                    <a:pt x="7186" y="8768"/>
                  </a:lnTo>
                  <a:lnTo>
                    <a:pt x="7916" y="8963"/>
                  </a:lnTo>
                  <a:lnTo>
                    <a:pt x="8282" y="9036"/>
                  </a:lnTo>
                  <a:lnTo>
                    <a:pt x="8623" y="9085"/>
                  </a:lnTo>
                  <a:lnTo>
                    <a:pt x="8988" y="9133"/>
                  </a:lnTo>
                  <a:lnTo>
                    <a:pt x="9353" y="9158"/>
                  </a:lnTo>
                  <a:lnTo>
                    <a:pt x="9719" y="9133"/>
                  </a:lnTo>
                  <a:lnTo>
                    <a:pt x="10059" y="9109"/>
                  </a:lnTo>
                  <a:lnTo>
                    <a:pt x="10425" y="9060"/>
                  </a:lnTo>
                  <a:lnTo>
                    <a:pt x="10790" y="8963"/>
                  </a:lnTo>
                  <a:lnTo>
                    <a:pt x="11155" y="8841"/>
                  </a:lnTo>
                  <a:lnTo>
                    <a:pt x="11496" y="8671"/>
                  </a:lnTo>
                  <a:lnTo>
                    <a:pt x="11496" y="8671"/>
                  </a:lnTo>
                  <a:lnTo>
                    <a:pt x="11667" y="8573"/>
                  </a:lnTo>
                  <a:lnTo>
                    <a:pt x="11789" y="8476"/>
                  </a:lnTo>
                  <a:lnTo>
                    <a:pt x="11862" y="8354"/>
                  </a:lnTo>
                  <a:lnTo>
                    <a:pt x="11935" y="8232"/>
                  </a:lnTo>
                  <a:lnTo>
                    <a:pt x="11984" y="8111"/>
                  </a:lnTo>
                  <a:lnTo>
                    <a:pt x="11984" y="7989"/>
                  </a:lnTo>
                  <a:lnTo>
                    <a:pt x="11935" y="7891"/>
                  </a:lnTo>
                  <a:lnTo>
                    <a:pt x="11886" y="7794"/>
                  </a:lnTo>
                  <a:lnTo>
                    <a:pt x="11886" y="7794"/>
                  </a:lnTo>
                  <a:lnTo>
                    <a:pt x="11496" y="7404"/>
                  </a:lnTo>
                  <a:lnTo>
                    <a:pt x="11107" y="6941"/>
                  </a:lnTo>
                  <a:lnTo>
                    <a:pt x="10741" y="6454"/>
                  </a:lnTo>
                  <a:lnTo>
                    <a:pt x="10352" y="5943"/>
                  </a:lnTo>
                  <a:lnTo>
                    <a:pt x="10352" y="5943"/>
                  </a:lnTo>
                  <a:lnTo>
                    <a:pt x="10279" y="5797"/>
                  </a:lnTo>
                  <a:lnTo>
                    <a:pt x="10230" y="5651"/>
                  </a:lnTo>
                  <a:lnTo>
                    <a:pt x="10206" y="5480"/>
                  </a:lnTo>
                  <a:lnTo>
                    <a:pt x="10181" y="5285"/>
                  </a:lnTo>
                  <a:lnTo>
                    <a:pt x="10206" y="5115"/>
                  </a:lnTo>
                  <a:lnTo>
                    <a:pt x="10230" y="4944"/>
                  </a:lnTo>
                  <a:lnTo>
                    <a:pt x="10279" y="4774"/>
                  </a:lnTo>
                  <a:lnTo>
                    <a:pt x="10352" y="4603"/>
                  </a:lnTo>
                  <a:lnTo>
                    <a:pt x="10352" y="4603"/>
                  </a:lnTo>
                  <a:lnTo>
                    <a:pt x="10741" y="3873"/>
                  </a:lnTo>
                  <a:lnTo>
                    <a:pt x="11107" y="3118"/>
                  </a:lnTo>
                  <a:lnTo>
                    <a:pt x="11496" y="2338"/>
                  </a:lnTo>
                  <a:lnTo>
                    <a:pt x="11886" y="1486"/>
                  </a:lnTo>
                  <a:lnTo>
                    <a:pt x="11886" y="1486"/>
                  </a:lnTo>
                  <a:lnTo>
                    <a:pt x="11959" y="1315"/>
                  </a:lnTo>
                  <a:lnTo>
                    <a:pt x="11984" y="1169"/>
                  </a:lnTo>
                  <a:lnTo>
                    <a:pt x="11984" y="1048"/>
                  </a:lnTo>
                  <a:lnTo>
                    <a:pt x="11935" y="975"/>
                  </a:lnTo>
                  <a:lnTo>
                    <a:pt x="11862" y="950"/>
                  </a:lnTo>
                  <a:lnTo>
                    <a:pt x="11789" y="926"/>
                  </a:lnTo>
                  <a:lnTo>
                    <a:pt x="11667" y="975"/>
                  </a:lnTo>
                  <a:lnTo>
                    <a:pt x="11496" y="1023"/>
                  </a:lnTo>
                  <a:lnTo>
                    <a:pt x="11496" y="1023"/>
                  </a:lnTo>
                  <a:lnTo>
                    <a:pt x="11155" y="1194"/>
                  </a:lnTo>
                  <a:lnTo>
                    <a:pt x="10790" y="1315"/>
                  </a:lnTo>
                  <a:lnTo>
                    <a:pt x="10425" y="1413"/>
                  </a:lnTo>
                  <a:lnTo>
                    <a:pt x="10059" y="1462"/>
                  </a:lnTo>
                  <a:lnTo>
                    <a:pt x="9719" y="1510"/>
                  </a:lnTo>
                  <a:lnTo>
                    <a:pt x="9353" y="1510"/>
                  </a:lnTo>
                  <a:lnTo>
                    <a:pt x="8988" y="1486"/>
                  </a:lnTo>
                  <a:lnTo>
                    <a:pt x="8623" y="1462"/>
                  </a:lnTo>
                  <a:lnTo>
                    <a:pt x="8282" y="1389"/>
                  </a:lnTo>
                  <a:lnTo>
                    <a:pt x="7916" y="1315"/>
                  </a:lnTo>
                  <a:lnTo>
                    <a:pt x="7186" y="1145"/>
                  </a:lnTo>
                  <a:lnTo>
                    <a:pt x="6479" y="926"/>
                  </a:lnTo>
                  <a:lnTo>
                    <a:pt x="5749" y="682"/>
                  </a:lnTo>
                  <a:lnTo>
                    <a:pt x="5042" y="463"/>
                  </a:lnTo>
                  <a:lnTo>
                    <a:pt x="4312" y="268"/>
                  </a:lnTo>
                  <a:lnTo>
                    <a:pt x="3971" y="171"/>
                  </a:lnTo>
                  <a:lnTo>
                    <a:pt x="3605" y="98"/>
                  </a:lnTo>
                  <a:lnTo>
                    <a:pt x="3240" y="49"/>
                  </a:lnTo>
                  <a:lnTo>
                    <a:pt x="2875" y="25"/>
                  </a:lnTo>
                  <a:lnTo>
                    <a:pt x="2534" y="0"/>
                  </a:lnTo>
                  <a:lnTo>
                    <a:pt x="2168" y="25"/>
                  </a:lnTo>
                  <a:lnTo>
                    <a:pt x="1803" y="73"/>
                  </a:lnTo>
                  <a:lnTo>
                    <a:pt x="1438" y="122"/>
                  </a:lnTo>
                  <a:lnTo>
                    <a:pt x="1097" y="244"/>
                  </a:lnTo>
                  <a:lnTo>
                    <a:pt x="732" y="366"/>
                  </a:lnTo>
                  <a:lnTo>
                    <a:pt x="366" y="536"/>
                  </a:lnTo>
                  <a:lnTo>
                    <a:pt x="1" y="755"/>
                  </a:lnTo>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grpSp>
      <p:sp>
        <p:nvSpPr>
          <p:cNvPr id="74" name="Google Shape;74;p8"/>
          <p:cNvSpPr txBox="1">
            <a:spLocks noGrp="1"/>
          </p:cNvSpPr>
          <p:nvPr>
            <p:ph type="body" idx="1"/>
          </p:nvPr>
        </p:nvSpPr>
        <p:spPr>
          <a:xfrm>
            <a:off x="1902775" y="3931493"/>
            <a:ext cx="6504300" cy="366212"/>
          </a:xfrm>
          <a:prstGeom prst="rect">
            <a:avLst/>
          </a:prstGeom>
          <a:noFill/>
          <a:ln>
            <a:noFill/>
          </a:ln>
        </p:spPr>
        <p:txBody>
          <a:bodyPr spcFirstLastPara="1" wrap="square" lIns="88375" tIns="44175" rIns="88375" bIns="44175" anchor="t" anchorCtr="0">
            <a:spAutoFit/>
          </a:bodyPr>
          <a:lstStyle>
            <a:lvl1pPr marL="457200" lvl="0" indent="-228600" algn="l" rtl="0">
              <a:lnSpc>
                <a:spcPct val="100000"/>
              </a:lnSpc>
              <a:spcBef>
                <a:spcPts val="0"/>
              </a:spcBef>
              <a:spcAft>
                <a:spcPts val="0"/>
              </a:spcAft>
              <a:buSzPts val="1800"/>
              <a:buNone/>
              <a:defRPr sz="1800">
                <a:solidFill>
                  <a:srgbClr val="0C0C0C"/>
                </a:solidFill>
                <a:latin typeface="+mj-lt"/>
                <a:ea typeface="Quattrocento Sans"/>
                <a:cs typeface="Quattrocento Sans"/>
                <a:sym typeface="Quattrocento Sans"/>
              </a:defRPr>
            </a:lvl1pPr>
            <a:lvl2pPr marL="914400" lvl="1" indent="-228600" algn="l" rtl="0">
              <a:lnSpc>
                <a:spcPct val="90000"/>
              </a:lnSpc>
              <a:spcBef>
                <a:spcPts val="300"/>
              </a:spcBef>
              <a:spcAft>
                <a:spcPts val="0"/>
              </a:spcAft>
              <a:buSzPts val="1800"/>
              <a:buNone/>
              <a:defRPr sz="1800">
                <a:solidFill>
                  <a:srgbClr val="888888"/>
                </a:solidFill>
              </a:defRPr>
            </a:lvl2pPr>
            <a:lvl3pPr marL="1371600" lvl="2" indent="-228600" algn="l" rtl="0">
              <a:lnSpc>
                <a:spcPct val="90000"/>
              </a:lnSpc>
              <a:spcBef>
                <a:spcPts val="400"/>
              </a:spcBef>
              <a:spcAft>
                <a:spcPts val="0"/>
              </a:spcAft>
              <a:buSzPts val="1500"/>
              <a:buNone/>
              <a:defRPr sz="1500">
                <a:solidFill>
                  <a:srgbClr val="888888"/>
                </a:solidFill>
              </a:defRPr>
            </a:lvl3pPr>
            <a:lvl4pPr marL="1828800" lvl="3" indent="-228600" algn="l" rtl="0">
              <a:lnSpc>
                <a:spcPct val="90000"/>
              </a:lnSpc>
              <a:spcBef>
                <a:spcPts val="400"/>
              </a:spcBef>
              <a:spcAft>
                <a:spcPts val="0"/>
              </a:spcAft>
              <a:buSzPts val="1400"/>
              <a:buNone/>
              <a:defRPr sz="1400">
                <a:solidFill>
                  <a:srgbClr val="888888"/>
                </a:solidFill>
              </a:defRPr>
            </a:lvl4pPr>
            <a:lvl5pPr marL="2286000" lvl="4" indent="-228600" algn="l" rtl="0">
              <a:lnSpc>
                <a:spcPct val="90000"/>
              </a:lnSpc>
              <a:spcBef>
                <a:spcPts val="400"/>
              </a:spcBef>
              <a:spcAft>
                <a:spcPts val="0"/>
              </a:spcAft>
              <a:buSzPts val="1400"/>
              <a:buNone/>
              <a:defRPr sz="1400">
                <a:solidFill>
                  <a:srgbClr val="888888"/>
                </a:solidFill>
              </a:defRPr>
            </a:lvl5pPr>
            <a:lvl6pPr marL="2743200" lvl="5" indent="-228600" algn="l" rtl="0">
              <a:lnSpc>
                <a:spcPct val="90000"/>
              </a:lnSpc>
              <a:spcBef>
                <a:spcPts val="400"/>
              </a:spcBef>
              <a:spcAft>
                <a:spcPts val="0"/>
              </a:spcAft>
              <a:buSzPts val="1400"/>
              <a:buNone/>
              <a:defRPr sz="1400">
                <a:solidFill>
                  <a:srgbClr val="888888"/>
                </a:solidFill>
              </a:defRPr>
            </a:lvl6pPr>
            <a:lvl7pPr marL="3200400" lvl="6" indent="-228600" algn="l" rtl="0">
              <a:lnSpc>
                <a:spcPct val="90000"/>
              </a:lnSpc>
              <a:spcBef>
                <a:spcPts val="400"/>
              </a:spcBef>
              <a:spcAft>
                <a:spcPts val="0"/>
              </a:spcAft>
              <a:buSzPts val="1400"/>
              <a:buNone/>
              <a:defRPr sz="1400">
                <a:solidFill>
                  <a:srgbClr val="888888"/>
                </a:solidFill>
              </a:defRPr>
            </a:lvl7pPr>
            <a:lvl8pPr marL="3657600" lvl="7" indent="-228600" algn="l" rtl="0">
              <a:lnSpc>
                <a:spcPct val="90000"/>
              </a:lnSpc>
              <a:spcBef>
                <a:spcPts val="400"/>
              </a:spcBef>
              <a:spcAft>
                <a:spcPts val="0"/>
              </a:spcAft>
              <a:buSzPts val="1400"/>
              <a:buNone/>
              <a:defRPr sz="1400">
                <a:solidFill>
                  <a:srgbClr val="888888"/>
                </a:solidFill>
              </a:defRPr>
            </a:lvl8pPr>
            <a:lvl9pPr marL="4114800" lvl="8" indent="-228600" algn="l" rtl="0">
              <a:lnSpc>
                <a:spcPct val="90000"/>
              </a:lnSpc>
              <a:spcBef>
                <a:spcPts val="400"/>
              </a:spcBef>
              <a:spcAft>
                <a:spcPts val="400"/>
              </a:spcAft>
              <a:buSzPts val="1400"/>
              <a:buNone/>
              <a:defRPr sz="1400">
                <a:solidFill>
                  <a:srgbClr val="888888"/>
                </a:solidFill>
              </a:defRPr>
            </a:lvl9pPr>
          </a:lstStyle>
          <a:p>
            <a:endParaRPr dirty="0"/>
          </a:p>
        </p:txBody>
      </p:sp>
    </p:spTree>
    <p:extLst>
      <p:ext uri="{BB962C8B-B14F-4D97-AF65-F5344CB8AC3E}">
        <p14:creationId xmlns:p14="http://schemas.microsoft.com/office/powerpoint/2010/main" val="3679972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Roadmap">
  <p:cSld name="Roadmap">
    <p:spTree>
      <p:nvGrpSpPr>
        <p:cNvPr id="1" name="Shape 22"/>
        <p:cNvGrpSpPr/>
        <p:nvPr/>
      </p:nvGrpSpPr>
      <p:grpSpPr>
        <a:xfrm>
          <a:off x="0" y="0"/>
          <a:ext cx="0" cy="0"/>
          <a:chOff x="0" y="0"/>
          <a:chExt cx="0" cy="0"/>
        </a:xfrm>
      </p:grpSpPr>
      <p:sp>
        <p:nvSpPr>
          <p:cNvPr id="23" name="Google Shape;23;p5"/>
          <p:cNvSpPr/>
          <p:nvPr/>
        </p:nvSpPr>
        <p:spPr>
          <a:xfrm>
            <a:off x="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7"/>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algn="r"/>
            <a:fld id="{00000000-1234-1234-1234-123412341234}" type="slidenum">
              <a:rPr lang="en" smtClean="0"/>
              <a:pPr algn="r"/>
              <a:t>‹#›</a:t>
            </a:fld>
            <a:endParaRPr lang="en"/>
          </a:p>
        </p:txBody>
      </p:sp>
      <p:sp>
        <p:nvSpPr>
          <p:cNvPr id="25" name="Google Shape;25;p5"/>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1219170" lvl="1"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828754" lvl="2"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2438339" lvl="3"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3047924" lvl="4"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3657509" lvl="5"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4267093" lvl="6"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4876678" lvl="7"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5486263" lvl="8"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800"/>
            </a:lvl1pPr>
            <a:lvl2pPr lvl="1" rtl="0">
              <a:spcBef>
                <a:spcPts val="0"/>
              </a:spcBef>
              <a:spcAft>
                <a:spcPts val="0"/>
              </a:spcAft>
              <a:buSzPts val="3600"/>
              <a:buNone/>
              <a:defRPr sz="4800"/>
            </a:lvl2pPr>
            <a:lvl3pPr lvl="2" rtl="0">
              <a:spcBef>
                <a:spcPts val="0"/>
              </a:spcBef>
              <a:spcAft>
                <a:spcPts val="0"/>
              </a:spcAft>
              <a:buSzPts val="3600"/>
              <a:buNone/>
              <a:defRPr sz="4800"/>
            </a:lvl3pPr>
            <a:lvl4pPr lvl="3" rtl="0">
              <a:spcBef>
                <a:spcPts val="0"/>
              </a:spcBef>
              <a:spcAft>
                <a:spcPts val="0"/>
              </a:spcAft>
              <a:buSzPts val="3600"/>
              <a:buNone/>
              <a:defRPr sz="4800"/>
            </a:lvl4pPr>
            <a:lvl5pPr lvl="4" rtl="0">
              <a:spcBef>
                <a:spcPts val="0"/>
              </a:spcBef>
              <a:spcAft>
                <a:spcPts val="0"/>
              </a:spcAft>
              <a:buSzPts val="3600"/>
              <a:buNone/>
              <a:defRPr sz="4800"/>
            </a:lvl5pPr>
            <a:lvl6pPr lvl="5" rtl="0">
              <a:spcBef>
                <a:spcPts val="0"/>
              </a:spcBef>
              <a:spcAft>
                <a:spcPts val="0"/>
              </a:spcAft>
              <a:buSzPts val="3600"/>
              <a:buNone/>
              <a:defRPr sz="4800"/>
            </a:lvl6pPr>
            <a:lvl7pPr lvl="6" rtl="0">
              <a:spcBef>
                <a:spcPts val="0"/>
              </a:spcBef>
              <a:spcAft>
                <a:spcPts val="0"/>
              </a:spcAft>
              <a:buSzPts val="3600"/>
              <a:buNone/>
              <a:defRPr sz="4800"/>
            </a:lvl7pPr>
            <a:lvl8pPr lvl="7" rtl="0">
              <a:spcBef>
                <a:spcPts val="0"/>
              </a:spcBef>
              <a:spcAft>
                <a:spcPts val="0"/>
              </a:spcAft>
              <a:buSzPts val="3600"/>
              <a:buNone/>
              <a:defRPr sz="4800"/>
            </a:lvl8pPr>
            <a:lvl9pPr lvl="8" rtl="0">
              <a:spcBef>
                <a:spcPts val="0"/>
              </a:spcBef>
              <a:spcAft>
                <a:spcPts val="0"/>
              </a:spcAft>
              <a:buSzPts val="3600"/>
              <a:buNone/>
              <a:defRPr sz="4800"/>
            </a:lvl9pPr>
          </a:lstStyle>
          <a:p>
            <a:endParaRPr/>
          </a:p>
        </p:txBody>
      </p:sp>
      <p:cxnSp>
        <p:nvCxnSpPr>
          <p:cNvPr id="27" name="Google Shape;27;p5"/>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SzPts val="1800"/>
              <a:buNone/>
              <a:defRPr/>
            </a:lvl1pPr>
            <a:lvl2pPr lvl="1" rtl="0">
              <a:lnSpc>
                <a:spcPct val="100000"/>
              </a:lnSpc>
              <a:spcBef>
                <a:spcPts val="800"/>
              </a:spcBef>
              <a:spcAft>
                <a:spcPts val="0"/>
              </a:spcAft>
              <a:buSzPts val="2100"/>
              <a:buNone/>
              <a:defRPr sz="2800"/>
            </a:lvl2pPr>
            <a:lvl3pPr lvl="2" rtl="0">
              <a:lnSpc>
                <a:spcPct val="100000"/>
              </a:lnSpc>
              <a:spcBef>
                <a:spcPts val="800"/>
              </a:spcBef>
              <a:spcAft>
                <a:spcPts val="0"/>
              </a:spcAft>
              <a:buSzPts val="2100"/>
              <a:buNone/>
              <a:defRPr sz="2800"/>
            </a:lvl3pPr>
            <a:lvl4pPr lvl="3" rtl="0">
              <a:lnSpc>
                <a:spcPct val="100000"/>
              </a:lnSpc>
              <a:spcBef>
                <a:spcPts val="800"/>
              </a:spcBef>
              <a:spcAft>
                <a:spcPts val="0"/>
              </a:spcAft>
              <a:buSzPts val="2100"/>
              <a:buNone/>
              <a:defRPr sz="2800"/>
            </a:lvl4pPr>
            <a:lvl5pPr lvl="4" rtl="0">
              <a:lnSpc>
                <a:spcPct val="100000"/>
              </a:lnSpc>
              <a:spcBef>
                <a:spcPts val="800"/>
              </a:spcBef>
              <a:spcAft>
                <a:spcPts val="0"/>
              </a:spcAft>
              <a:buSzPts val="2100"/>
              <a:buNone/>
              <a:defRPr sz="2800"/>
            </a:lvl5pPr>
            <a:lvl6pPr lvl="5" rtl="0">
              <a:lnSpc>
                <a:spcPct val="100000"/>
              </a:lnSpc>
              <a:spcBef>
                <a:spcPts val="800"/>
              </a:spcBef>
              <a:spcAft>
                <a:spcPts val="0"/>
              </a:spcAft>
              <a:buSzPts val="2100"/>
              <a:buNone/>
              <a:defRPr sz="2800"/>
            </a:lvl6pPr>
            <a:lvl7pPr lvl="6" rtl="0">
              <a:lnSpc>
                <a:spcPct val="100000"/>
              </a:lnSpc>
              <a:spcBef>
                <a:spcPts val="800"/>
              </a:spcBef>
              <a:spcAft>
                <a:spcPts val="0"/>
              </a:spcAft>
              <a:buSzPts val="2100"/>
              <a:buNone/>
              <a:defRPr sz="2800"/>
            </a:lvl7pPr>
            <a:lvl8pPr lvl="7" rtl="0">
              <a:lnSpc>
                <a:spcPct val="100000"/>
              </a:lnSpc>
              <a:spcBef>
                <a:spcPts val="800"/>
              </a:spcBef>
              <a:spcAft>
                <a:spcPts val="0"/>
              </a:spcAft>
              <a:buSzPts val="2100"/>
              <a:buNone/>
              <a:defRPr sz="2800"/>
            </a:lvl8pPr>
            <a:lvl9pPr lvl="8" rtl="0">
              <a:lnSpc>
                <a:spcPct val="100000"/>
              </a:lnSpc>
              <a:spcBef>
                <a:spcPts val="800"/>
              </a:spcBef>
              <a:spcAft>
                <a:spcPts val="0"/>
              </a:spcAft>
              <a:buSzPts val="2100"/>
              <a:buNone/>
              <a:defRPr sz="2800"/>
            </a:lvl9pPr>
          </a:lstStyle>
          <a:p>
            <a:endParaRPr/>
          </a:p>
        </p:txBody>
      </p:sp>
    </p:spTree>
    <p:extLst>
      <p:ext uri="{BB962C8B-B14F-4D97-AF65-F5344CB8AC3E}">
        <p14:creationId xmlns:p14="http://schemas.microsoft.com/office/powerpoint/2010/main" val="1566255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lvl1pPr>
              <a:defRPr>
                <a:solidFill>
                  <a:schemeClr val="accent1"/>
                </a:solidFill>
              </a:defRPr>
            </a:lvl1pPr>
          </a:lstStyle>
          <a:p>
            <a:r>
              <a:rPr lang="en-US" altLang="zh-CN" dirty="0"/>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CN" dirty="0"/>
              <a:t>Click to edit Master subtitle style</a:t>
            </a:r>
            <a:endParaRPr lang="en-US" dirty="0"/>
          </a:p>
        </p:txBody>
      </p:sp>
      <p:sp>
        <p:nvSpPr>
          <p:cNvPr id="4" name="Date Placeholder 3"/>
          <p:cNvSpPr>
            <a:spLocks noGrp="1"/>
          </p:cNvSpPr>
          <p:nvPr>
            <p:ph type="dt" sz="half" idx="10"/>
          </p:nvPr>
        </p:nvSpPr>
        <p:spPr/>
        <p:txBody>
          <a:bodyPr/>
          <a:lstStyle/>
          <a:p>
            <a:fld id="{FB221443-D73C-634A-A910-7320408C156D}"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169965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4933557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ltLang="zh-CN"/>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FB221443-D73C-634A-A910-7320408C156D}"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7424499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Date Placeholder 4"/>
          <p:cNvSpPr>
            <a:spLocks noGrp="1"/>
          </p:cNvSpPr>
          <p:nvPr>
            <p:ph type="dt" sz="half" idx="10"/>
          </p:nvPr>
        </p:nvSpPr>
        <p:spPr/>
        <p:txBody>
          <a:bodyPr/>
          <a:lstStyle/>
          <a:p>
            <a:fld id="{FB221443-D73C-634A-A910-7320408C156D}"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66275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7" name="Date Placeholder 6"/>
          <p:cNvSpPr>
            <a:spLocks noGrp="1"/>
          </p:cNvSpPr>
          <p:nvPr>
            <p:ph type="dt" sz="half" idx="10"/>
          </p:nvPr>
        </p:nvSpPr>
        <p:spPr/>
        <p:txBody>
          <a:bodyPr/>
          <a:lstStyle/>
          <a:p>
            <a:fld id="{FB221443-D73C-634A-A910-7320408C156D}" type="datetimeFigureOut">
              <a:rPr lang="en-US" smtClean="0"/>
              <a:t>2/19/2026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140833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Date Placeholder 2"/>
          <p:cNvSpPr>
            <a:spLocks noGrp="1"/>
          </p:cNvSpPr>
          <p:nvPr>
            <p:ph type="dt" sz="half" idx="10"/>
          </p:nvPr>
        </p:nvSpPr>
        <p:spPr/>
        <p:txBody>
          <a:bodyPr/>
          <a:lstStyle/>
          <a:p>
            <a:fld id="{FB221443-D73C-634A-A910-7320408C156D}" type="datetimeFigureOut">
              <a:rPr lang="en-US" smtClean="0"/>
              <a:t>2/19/2026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9499752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221443-D73C-634A-A910-7320408C156D}" type="datetimeFigureOut">
              <a:rPr lang="en-US" smtClean="0"/>
              <a:t>2/19/2026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7279454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ltLang="zh-CN"/>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120687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ltLang="zh-CN"/>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3023989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462726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ltLang="zh-CN"/>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9383215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Introduction">
  <p:cSld name="Section Introduction">
    <p:spTree>
      <p:nvGrpSpPr>
        <p:cNvPr id="1" name="Shape 66"/>
        <p:cNvGrpSpPr/>
        <p:nvPr/>
      </p:nvGrpSpPr>
      <p:grpSpPr>
        <a:xfrm>
          <a:off x="0" y="0"/>
          <a:ext cx="0" cy="0"/>
          <a:chOff x="0" y="0"/>
          <a:chExt cx="0" cy="0"/>
        </a:xfrm>
      </p:grpSpPr>
      <p:cxnSp>
        <p:nvCxnSpPr>
          <p:cNvPr id="67" name="Google Shape;67;p8"/>
          <p:cNvCxnSpPr/>
          <p:nvPr/>
        </p:nvCxnSpPr>
        <p:spPr>
          <a:xfrm>
            <a:off x="127669" y="3557888"/>
            <a:ext cx="11914500" cy="0"/>
          </a:xfrm>
          <a:prstGeom prst="straightConnector1">
            <a:avLst/>
          </a:prstGeom>
          <a:noFill/>
          <a:ln w="19050" cap="flat" cmpd="sng">
            <a:solidFill>
              <a:srgbClr val="D8D8D8"/>
            </a:solidFill>
            <a:prstDash val="solid"/>
            <a:round/>
            <a:headEnd type="none" w="sm" len="sm"/>
            <a:tailEnd type="none" w="sm" len="sm"/>
          </a:ln>
        </p:spPr>
      </p:cxnSp>
      <p:sp>
        <p:nvSpPr>
          <p:cNvPr id="68" name="Google Shape;68;p8"/>
          <p:cNvSpPr txBox="1">
            <a:spLocks noGrp="1"/>
          </p:cNvSpPr>
          <p:nvPr>
            <p:ph type="title"/>
          </p:nvPr>
        </p:nvSpPr>
        <p:spPr>
          <a:xfrm>
            <a:off x="1902775" y="3262680"/>
            <a:ext cx="6504300" cy="590400"/>
          </a:xfrm>
          <a:prstGeom prst="rect">
            <a:avLst/>
          </a:prstGeom>
          <a:noFill/>
          <a:ln>
            <a:noFill/>
          </a:ln>
        </p:spPr>
        <p:txBody>
          <a:bodyPr spcFirstLastPara="1" wrap="square" lIns="88375" tIns="44175" rIns="88375" bIns="44175" anchor="ctr" anchorCtr="0">
            <a:spAutoFit/>
          </a:bodyPr>
          <a:lstStyle>
            <a:lvl1pPr lvl="0" algn="l" rtl="0">
              <a:lnSpc>
                <a:spcPct val="80000"/>
              </a:lnSpc>
              <a:spcBef>
                <a:spcPts val="0"/>
              </a:spcBef>
              <a:spcAft>
                <a:spcPts val="0"/>
              </a:spcAft>
              <a:buClr>
                <a:srgbClr val="0C0C0C"/>
              </a:buClr>
              <a:buSzPts val="3400"/>
              <a:buFont typeface="Quattrocento Sans"/>
              <a:buNone/>
              <a:defRPr sz="3400">
                <a:highlight>
                  <a:schemeClr val="lt1"/>
                </a:highlight>
                <a:latin typeface="Quattrocento Sans"/>
                <a:ea typeface="Quattrocento Sans"/>
                <a:cs typeface="Quattrocento Sans"/>
                <a:sym typeface="Quattrocento Sans"/>
              </a:defRPr>
            </a:lvl1pPr>
            <a:lvl2pPr lvl="1" algn="l" rtl="0">
              <a:lnSpc>
                <a:spcPct val="100000"/>
              </a:lnSpc>
              <a:spcBef>
                <a:spcPts val="0"/>
              </a:spcBef>
              <a:spcAft>
                <a:spcPts val="0"/>
              </a:spcAft>
              <a:buSzPts val="3400"/>
              <a:buNone/>
              <a:defRPr sz="3400">
                <a:highlight>
                  <a:srgbClr val="000000"/>
                </a:highlight>
              </a:defRPr>
            </a:lvl2pPr>
            <a:lvl3pPr lvl="2" algn="l" rtl="0">
              <a:lnSpc>
                <a:spcPct val="100000"/>
              </a:lnSpc>
              <a:spcBef>
                <a:spcPts val="0"/>
              </a:spcBef>
              <a:spcAft>
                <a:spcPts val="0"/>
              </a:spcAft>
              <a:buSzPts val="3400"/>
              <a:buNone/>
              <a:defRPr sz="3400">
                <a:highlight>
                  <a:srgbClr val="000000"/>
                </a:highlight>
              </a:defRPr>
            </a:lvl3pPr>
            <a:lvl4pPr lvl="3" algn="l" rtl="0">
              <a:lnSpc>
                <a:spcPct val="100000"/>
              </a:lnSpc>
              <a:spcBef>
                <a:spcPts val="0"/>
              </a:spcBef>
              <a:spcAft>
                <a:spcPts val="0"/>
              </a:spcAft>
              <a:buSzPts val="3400"/>
              <a:buNone/>
              <a:defRPr sz="3400">
                <a:highlight>
                  <a:srgbClr val="000000"/>
                </a:highlight>
              </a:defRPr>
            </a:lvl4pPr>
            <a:lvl5pPr lvl="4" algn="l" rtl="0">
              <a:lnSpc>
                <a:spcPct val="100000"/>
              </a:lnSpc>
              <a:spcBef>
                <a:spcPts val="0"/>
              </a:spcBef>
              <a:spcAft>
                <a:spcPts val="0"/>
              </a:spcAft>
              <a:buSzPts val="3400"/>
              <a:buNone/>
              <a:defRPr sz="3400">
                <a:highlight>
                  <a:srgbClr val="000000"/>
                </a:highlight>
              </a:defRPr>
            </a:lvl5pPr>
            <a:lvl6pPr lvl="5" algn="l" rtl="0">
              <a:lnSpc>
                <a:spcPct val="100000"/>
              </a:lnSpc>
              <a:spcBef>
                <a:spcPts val="0"/>
              </a:spcBef>
              <a:spcAft>
                <a:spcPts val="0"/>
              </a:spcAft>
              <a:buSzPts val="3400"/>
              <a:buNone/>
              <a:defRPr sz="3400">
                <a:highlight>
                  <a:srgbClr val="000000"/>
                </a:highlight>
              </a:defRPr>
            </a:lvl6pPr>
            <a:lvl7pPr lvl="6" algn="l" rtl="0">
              <a:lnSpc>
                <a:spcPct val="100000"/>
              </a:lnSpc>
              <a:spcBef>
                <a:spcPts val="0"/>
              </a:spcBef>
              <a:spcAft>
                <a:spcPts val="0"/>
              </a:spcAft>
              <a:buSzPts val="3400"/>
              <a:buNone/>
              <a:defRPr sz="3400">
                <a:highlight>
                  <a:srgbClr val="000000"/>
                </a:highlight>
              </a:defRPr>
            </a:lvl7pPr>
            <a:lvl8pPr lvl="7" algn="l" rtl="0">
              <a:lnSpc>
                <a:spcPct val="100000"/>
              </a:lnSpc>
              <a:spcBef>
                <a:spcPts val="0"/>
              </a:spcBef>
              <a:spcAft>
                <a:spcPts val="0"/>
              </a:spcAft>
              <a:buSzPts val="3400"/>
              <a:buNone/>
              <a:defRPr sz="3400">
                <a:highlight>
                  <a:srgbClr val="000000"/>
                </a:highlight>
              </a:defRPr>
            </a:lvl8pPr>
            <a:lvl9pPr lvl="8" algn="l" rtl="0">
              <a:lnSpc>
                <a:spcPct val="100000"/>
              </a:lnSpc>
              <a:spcBef>
                <a:spcPts val="0"/>
              </a:spcBef>
              <a:spcAft>
                <a:spcPts val="0"/>
              </a:spcAft>
              <a:buSzPts val="3400"/>
              <a:buNone/>
              <a:defRPr sz="3400">
                <a:highlight>
                  <a:srgbClr val="000000"/>
                </a:highlight>
              </a:defRPr>
            </a:lvl9pPr>
          </a:lstStyle>
          <a:p>
            <a:endParaRPr/>
          </a:p>
        </p:txBody>
      </p:sp>
      <p:sp>
        <p:nvSpPr>
          <p:cNvPr id="69" name="Google Shape;69;p8"/>
          <p:cNvSpPr/>
          <p:nvPr/>
        </p:nvSpPr>
        <p:spPr>
          <a:xfrm>
            <a:off x="743453" y="3050554"/>
            <a:ext cx="898200" cy="897900"/>
          </a:xfrm>
          <a:prstGeom prst="ellipse">
            <a:avLst/>
          </a:prstGeom>
          <a:solidFill>
            <a:srgbClr val="B6A479"/>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sp>
        <p:nvSpPr>
          <p:cNvPr id="70" name="Google Shape;70;p8"/>
          <p:cNvSpPr/>
          <p:nvPr/>
        </p:nvSpPr>
        <p:spPr>
          <a:xfrm>
            <a:off x="321425" y="60960"/>
            <a:ext cx="171900" cy="1474500"/>
          </a:xfrm>
          <a:prstGeom prst="rect">
            <a:avLst/>
          </a:prstGeom>
          <a:solidFill>
            <a:schemeClr val="lt1"/>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grpSp>
        <p:nvGrpSpPr>
          <p:cNvPr id="71" name="Google Shape;71;p8"/>
          <p:cNvGrpSpPr/>
          <p:nvPr/>
        </p:nvGrpSpPr>
        <p:grpSpPr>
          <a:xfrm>
            <a:off x="1092976" y="3287056"/>
            <a:ext cx="299911" cy="424768"/>
            <a:chOff x="3979850" y="1598950"/>
            <a:chExt cx="356825" cy="505375"/>
          </a:xfrm>
        </p:grpSpPr>
        <p:sp>
          <p:nvSpPr>
            <p:cNvPr id="72" name="Google Shape;72;p8"/>
            <p:cNvSpPr/>
            <p:nvPr/>
          </p:nvSpPr>
          <p:spPr>
            <a:xfrm>
              <a:off x="3979850" y="1602600"/>
              <a:ext cx="44475" cy="501725"/>
            </a:xfrm>
            <a:custGeom>
              <a:avLst/>
              <a:gdLst/>
              <a:ahLst/>
              <a:cxnLst/>
              <a:rect l="l" t="t" r="r" b="b"/>
              <a:pathLst>
                <a:path w="1779" h="20069" fill="none" extrusionOk="0">
                  <a:moveTo>
                    <a:pt x="1778" y="20069"/>
                  </a:moveTo>
                  <a:lnTo>
                    <a:pt x="1778" y="488"/>
                  </a:lnTo>
                  <a:lnTo>
                    <a:pt x="1778" y="488"/>
                  </a:lnTo>
                  <a:lnTo>
                    <a:pt x="1778" y="390"/>
                  </a:lnTo>
                  <a:lnTo>
                    <a:pt x="1730" y="293"/>
                  </a:lnTo>
                  <a:lnTo>
                    <a:pt x="1705" y="220"/>
                  </a:lnTo>
                  <a:lnTo>
                    <a:pt x="1632" y="147"/>
                  </a:lnTo>
                  <a:lnTo>
                    <a:pt x="1559" y="74"/>
                  </a:lnTo>
                  <a:lnTo>
                    <a:pt x="1486" y="25"/>
                  </a:lnTo>
                  <a:lnTo>
                    <a:pt x="1389" y="0"/>
                  </a:lnTo>
                  <a:lnTo>
                    <a:pt x="1291" y="0"/>
                  </a:lnTo>
                  <a:lnTo>
                    <a:pt x="488" y="0"/>
                  </a:lnTo>
                  <a:lnTo>
                    <a:pt x="488" y="0"/>
                  </a:lnTo>
                  <a:lnTo>
                    <a:pt x="390" y="0"/>
                  </a:lnTo>
                  <a:lnTo>
                    <a:pt x="293" y="25"/>
                  </a:lnTo>
                  <a:lnTo>
                    <a:pt x="220" y="74"/>
                  </a:lnTo>
                  <a:lnTo>
                    <a:pt x="147" y="147"/>
                  </a:lnTo>
                  <a:lnTo>
                    <a:pt x="98" y="220"/>
                  </a:lnTo>
                  <a:lnTo>
                    <a:pt x="49" y="293"/>
                  </a:lnTo>
                  <a:lnTo>
                    <a:pt x="25" y="390"/>
                  </a:lnTo>
                  <a:lnTo>
                    <a:pt x="1" y="488"/>
                  </a:lnTo>
                  <a:lnTo>
                    <a:pt x="1" y="20069"/>
                  </a:lnTo>
                  <a:lnTo>
                    <a:pt x="1778" y="20069"/>
                  </a:lnTo>
                  <a:close/>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73" name="Google Shape;73;p8"/>
            <p:cNvSpPr/>
            <p:nvPr/>
          </p:nvSpPr>
          <p:spPr>
            <a:xfrm>
              <a:off x="4037075" y="1598950"/>
              <a:ext cx="299600" cy="228950"/>
            </a:xfrm>
            <a:custGeom>
              <a:avLst/>
              <a:gdLst/>
              <a:ahLst/>
              <a:cxnLst/>
              <a:rect l="l" t="t" r="r" b="b"/>
              <a:pathLst>
                <a:path w="11984" h="9158" fill="none" extrusionOk="0">
                  <a:moveTo>
                    <a:pt x="1" y="8403"/>
                  </a:moveTo>
                  <a:lnTo>
                    <a:pt x="1" y="8403"/>
                  </a:lnTo>
                  <a:lnTo>
                    <a:pt x="366" y="8184"/>
                  </a:lnTo>
                  <a:lnTo>
                    <a:pt x="732" y="8013"/>
                  </a:lnTo>
                  <a:lnTo>
                    <a:pt x="1097" y="7867"/>
                  </a:lnTo>
                  <a:lnTo>
                    <a:pt x="1438" y="7770"/>
                  </a:lnTo>
                  <a:lnTo>
                    <a:pt x="1803" y="7696"/>
                  </a:lnTo>
                  <a:lnTo>
                    <a:pt x="2168" y="7672"/>
                  </a:lnTo>
                  <a:lnTo>
                    <a:pt x="2534" y="7648"/>
                  </a:lnTo>
                  <a:lnTo>
                    <a:pt x="2875" y="7672"/>
                  </a:lnTo>
                  <a:lnTo>
                    <a:pt x="3240" y="7696"/>
                  </a:lnTo>
                  <a:lnTo>
                    <a:pt x="3605" y="7745"/>
                  </a:lnTo>
                  <a:lnTo>
                    <a:pt x="3971" y="7818"/>
                  </a:lnTo>
                  <a:lnTo>
                    <a:pt x="4312" y="7891"/>
                  </a:lnTo>
                  <a:lnTo>
                    <a:pt x="5042" y="8111"/>
                  </a:lnTo>
                  <a:lnTo>
                    <a:pt x="5749" y="8330"/>
                  </a:lnTo>
                  <a:lnTo>
                    <a:pt x="6479" y="8549"/>
                  </a:lnTo>
                  <a:lnTo>
                    <a:pt x="7186" y="8768"/>
                  </a:lnTo>
                  <a:lnTo>
                    <a:pt x="7916" y="8963"/>
                  </a:lnTo>
                  <a:lnTo>
                    <a:pt x="8282" y="9036"/>
                  </a:lnTo>
                  <a:lnTo>
                    <a:pt x="8623" y="9085"/>
                  </a:lnTo>
                  <a:lnTo>
                    <a:pt x="8988" y="9133"/>
                  </a:lnTo>
                  <a:lnTo>
                    <a:pt x="9353" y="9158"/>
                  </a:lnTo>
                  <a:lnTo>
                    <a:pt x="9719" y="9133"/>
                  </a:lnTo>
                  <a:lnTo>
                    <a:pt x="10059" y="9109"/>
                  </a:lnTo>
                  <a:lnTo>
                    <a:pt x="10425" y="9060"/>
                  </a:lnTo>
                  <a:lnTo>
                    <a:pt x="10790" y="8963"/>
                  </a:lnTo>
                  <a:lnTo>
                    <a:pt x="11155" y="8841"/>
                  </a:lnTo>
                  <a:lnTo>
                    <a:pt x="11496" y="8671"/>
                  </a:lnTo>
                  <a:lnTo>
                    <a:pt x="11496" y="8671"/>
                  </a:lnTo>
                  <a:lnTo>
                    <a:pt x="11667" y="8573"/>
                  </a:lnTo>
                  <a:lnTo>
                    <a:pt x="11789" y="8476"/>
                  </a:lnTo>
                  <a:lnTo>
                    <a:pt x="11862" y="8354"/>
                  </a:lnTo>
                  <a:lnTo>
                    <a:pt x="11935" y="8232"/>
                  </a:lnTo>
                  <a:lnTo>
                    <a:pt x="11984" y="8111"/>
                  </a:lnTo>
                  <a:lnTo>
                    <a:pt x="11984" y="7989"/>
                  </a:lnTo>
                  <a:lnTo>
                    <a:pt x="11935" y="7891"/>
                  </a:lnTo>
                  <a:lnTo>
                    <a:pt x="11886" y="7794"/>
                  </a:lnTo>
                  <a:lnTo>
                    <a:pt x="11886" y="7794"/>
                  </a:lnTo>
                  <a:lnTo>
                    <a:pt x="11496" y="7404"/>
                  </a:lnTo>
                  <a:lnTo>
                    <a:pt x="11107" y="6941"/>
                  </a:lnTo>
                  <a:lnTo>
                    <a:pt x="10741" y="6454"/>
                  </a:lnTo>
                  <a:lnTo>
                    <a:pt x="10352" y="5943"/>
                  </a:lnTo>
                  <a:lnTo>
                    <a:pt x="10352" y="5943"/>
                  </a:lnTo>
                  <a:lnTo>
                    <a:pt x="10279" y="5797"/>
                  </a:lnTo>
                  <a:lnTo>
                    <a:pt x="10230" y="5651"/>
                  </a:lnTo>
                  <a:lnTo>
                    <a:pt x="10206" y="5480"/>
                  </a:lnTo>
                  <a:lnTo>
                    <a:pt x="10181" y="5285"/>
                  </a:lnTo>
                  <a:lnTo>
                    <a:pt x="10206" y="5115"/>
                  </a:lnTo>
                  <a:lnTo>
                    <a:pt x="10230" y="4944"/>
                  </a:lnTo>
                  <a:lnTo>
                    <a:pt x="10279" y="4774"/>
                  </a:lnTo>
                  <a:lnTo>
                    <a:pt x="10352" y="4603"/>
                  </a:lnTo>
                  <a:lnTo>
                    <a:pt x="10352" y="4603"/>
                  </a:lnTo>
                  <a:lnTo>
                    <a:pt x="10741" y="3873"/>
                  </a:lnTo>
                  <a:lnTo>
                    <a:pt x="11107" y="3118"/>
                  </a:lnTo>
                  <a:lnTo>
                    <a:pt x="11496" y="2338"/>
                  </a:lnTo>
                  <a:lnTo>
                    <a:pt x="11886" y="1486"/>
                  </a:lnTo>
                  <a:lnTo>
                    <a:pt x="11886" y="1486"/>
                  </a:lnTo>
                  <a:lnTo>
                    <a:pt x="11959" y="1315"/>
                  </a:lnTo>
                  <a:lnTo>
                    <a:pt x="11984" y="1169"/>
                  </a:lnTo>
                  <a:lnTo>
                    <a:pt x="11984" y="1048"/>
                  </a:lnTo>
                  <a:lnTo>
                    <a:pt x="11935" y="975"/>
                  </a:lnTo>
                  <a:lnTo>
                    <a:pt x="11862" y="950"/>
                  </a:lnTo>
                  <a:lnTo>
                    <a:pt x="11789" y="926"/>
                  </a:lnTo>
                  <a:lnTo>
                    <a:pt x="11667" y="975"/>
                  </a:lnTo>
                  <a:lnTo>
                    <a:pt x="11496" y="1023"/>
                  </a:lnTo>
                  <a:lnTo>
                    <a:pt x="11496" y="1023"/>
                  </a:lnTo>
                  <a:lnTo>
                    <a:pt x="11155" y="1194"/>
                  </a:lnTo>
                  <a:lnTo>
                    <a:pt x="10790" y="1315"/>
                  </a:lnTo>
                  <a:lnTo>
                    <a:pt x="10425" y="1413"/>
                  </a:lnTo>
                  <a:lnTo>
                    <a:pt x="10059" y="1462"/>
                  </a:lnTo>
                  <a:lnTo>
                    <a:pt x="9719" y="1510"/>
                  </a:lnTo>
                  <a:lnTo>
                    <a:pt x="9353" y="1510"/>
                  </a:lnTo>
                  <a:lnTo>
                    <a:pt x="8988" y="1486"/>
                  </a:lnTo>
                  <a:lnTo>
                    <a:pt x="8623" y="1462"/>
                  </a:lnTo>
                  <a:lnTo>
                    <a:pt x="8282" y="1389"/>
                  </a:lnTo>
                  <a:lnTo>
                    <a:pt x="7916" y="1315"/>
                  </a:lnTo>
                  <a:lnTo>
                    <a:pt x="7186" y="1145"/>
                  </a:lnTo>
                  <a:lnTo>
                    <a:pt x="6479" y="926"/>
                  </a:lnTo>
                  <a:lnTo>
                    <a:pt x="5749" y="682"/>
                  </a:lnTo>
                  <a:lnTo>
                    <a:pt x="5042" y="463"/>
                  </a:lnTo>
                  <a:lnTo>
                    <a:pt x="4312" y="268"/>
                  </a:lnTo>
                  <a:lnTo>
                    <a:pt x="3971" y="171"/>
                  </a:lnTo>
                  <a:lnTo>
                    <a:pt x="3605" y="98"/>
                  </a:lnTo>
                  <a:lnTo>
                    <a:pt x="3240" y="49"/>
                  </a:lnTo>
                  <a:lnTo>
                    <a:pt x="2875" y="25"/>
                  </a:lnTo>
                  <a:lnTo>
                    <a:pt x="2534" y="0"/>
                  </a:lnTo>
                  <a:lnTo>
                    <a:pt x="2168" y="25"/>
                  </a:lnTo>
                  <a:lnTo>
                    <a:pt x="1803" y="73"/>
                  </a:lnTo>
                  <a:lnTo>
                    <a:pt x="1438" y="122"/>
                  </a:lnTo>
                  <a:lnTo>
                    <a:pt x="1097" y="244"/>
                  </a:lnTo>
                  <a:lnTo>
                    <a:pt x="732" y="366"/>
                  </a:lnTo>
                  <a:lnTo>
                    <a:pt x="366" y="536"/>
                  </a:lnTo>
                  <a:lnTo>
                    <a:pt x="1" y="755"/>
                  </a:lnTo>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grpSp>
      <p:sp>
        <p:nvSpPr>
          <p:cNvPr id="74" name="Google Shape;74;p8"/>
          <p:cNvSpPr txBox="1">
            <a:spLocks noGrp="1"/>
          </p:cNvSpPr>
          <p:nvPr>
            <p:ph type="body" idx="1"/>
          </p:nvPr>
        </p:nvSpPr>
        <p:spPr>
          <a:xfrm>
            <a:off x="1902775" y="3931493"/>
            <a:ext cx="6504300" cy="506400"/>
          </a:xfrm>
          <a:prstGeom prst="rect">
            <a:avLst/>
          </a:prstGeom>
          <a:noFill/>
          <a:ln>
            <a:noFill/>
          </a:ln>
        </p:spPr>
        <p:txBody>
          <a:bodyPr spcFirstLastPara="1" wrap="square" lIns="88375" tIns="44175" rIns="88375" bIns="44175" anchor="t" anchorCtr="0">
            <a:spAutoFit/>
          </a:bodyPr>
          <a:lstStyle>
            <a:lvl1pPr marL="457200" lvl="0" indent="-228600" algn="l" rtl="0">
              <a:lnSpc>
                <a:spcPct val="100000"/>
              </a:lnSpc>
              <a:spcBef>
                <a:spcPts val="0"/>
              </a:spcBef>
              <a:spcAft>
                <a:spcPts val="0"/>
              </a:spcAft>
              <a:buSzPts val="1800"/>
              <a:buNone/>
              <a:defRPr sz="1800">
                <a:solidFill>
                  <a:srgbClr val="0C0C0C"/>
                </a:solidFill>
                <a:latin typeface="Quattrocento Sans"/>
                <a:ea typeface="Quattrocento Sans"/>
                <a:cs typeface="Quattrocento Sans"/>
                <a:sym typeface="Quattrocento Sans"/>
              </a:defRPr>
            </a:lvl1pPr>
            <a:lvl2pPr marL="914400" lvl="1" indent="-228600" algn="l" rtl="0">
              <a:lnSpc>
                <a:spcPct val="90000"/>
              </a:lnSpc>
              <a:spcBef>
                <a:spcPts val="300"/>
              </a:spcBef>
              <a:spcAft>
                <a:spcPts val="0"/>
              </a:spcAft>
              <a:buSzPts val="1800"/>
              <a:buNone/>
              <a:defRPr sz="1800">
                <a:solidFill>
                  <a:srgbClr val="888888"/>
                </a:solidFill>
              </a:defRPr>
            </a:lvl2pPr>
            <a:lvl3pPr marL="1371600" lvl="2" indent="-228600" algn="l" rtl="0">
              <a:lnSpc>
                <a:spcPct val="90000"/>
              </a:lnSpc>
              <a:spcBef>
                <a:spcPts val="400"/>
              </a:spcBef>
              <a:spcAft>
                <a:spcPts val="0"/>
              </a:spcAft>
              <a:buSzPts val="1500"/>
              <a:buNone/>
              <a:defRPr sz="1500">
                <a:solidFill>
                  <a:srgbClr val="888888"/>
                </a:solidFill>
              </a:defRPr>
            </a:lvl3pPr>
            <a:lvl4pPr marL="1828800" lvl="3" indent="-228600" algn="l" rtl="0">
              <a:lnSpc>
                <a:spcPct val="90000"/>
              </a:lnSpc>
              <a:spcBef>
                <a:spcPts val="400"/>
              </a:spcBef>
              <a:spcAft>
                <a:spcPts val="0"/>
              </a:spcAft>
              <a:buSzPts val="1400"/>
              <a:buNone/>
              <a:defRPr sz="1400">
                <a:solidFill>
                  <a:srgbClr val="888888"/>
                </a:solidFill>
              </a:defRPr>
            </a:lvl4pPr>
            <a:lvl5pPr marL="2286000" lvl="4" indent="-228600" algn="l" rtl="0">
              <a:lnSpc>
                <a:spcPct val="90000"/>
              </a:lnSpc>
              <a:spcBef>
                <a:spcPts val="400"/>
              </a:spcBef>
              <a:spcAft>
                <a:spcPts val="0"/>
              </a:spcAft>
              <a:buSzPts val="1400"/>
              <a:buNone/>
              <a:defRPr sz="1400">
                <a:solidFill>
                  <a:srgbClr val="888888"/>
                </a:solidFill>
              </a:defRPr>
            </a:lvl5pPr>
            <a:lvl6pPr marL="2743200" lvl="5" indent="-228600" algn="l" rtl="0">
              <a:lnSpc>
                <a:spcPct val="90000"/>
              </a:lnSpc>
              <a:spcBef>
                <a:spcPts val="400"/>
              </a:spcBef>
              <a:spcAft>
                <a:spcPts val="0"/>
              </a:spcAft>
              <a:buSzPts val="1400"/>
              <a:buNone/>
              <a:defRPr sz="1400">
                <a:solidFill>
                  <a:srgbClr val="888888"/>
                </a:solidFill>
              </a:defRPr>
            </a:lvl6pPr>
            <a:lvl7pPr marL="3200400" lvl="6" indent="-228600" algn="l" rtl="0">
              <a:lnSpc>
                <a:spcPct val="90000"/>
              </a:lnSpc>
              <a:spcBef>
                <a:spcPts val="400"/>
              </a:spcBef>
              <a:spcAft>
                <a:spcPts val="0"/>
              </a:spcAft>
              <a:buSzPts val="1400"/>
              <a:buNone/>
              <a:defRPr sz="1400">
                <a:solidFill>
                  <a:srgbClr val="888888"/>
                </a:solidFill>
              </a:defRPr>
            </a:lvl7pPr>
            <a:lvl8pPr marL="3657600" lvl="7" indent="-228600" algn="l" rtl="0">
              <a:lnSpc>
                <a:spcPct val="90000"/>
              </a:lnSpc>
              <a:spcBef>
                <a:spcPts val="400"/>
              </a:spcBef>
              <a:spcAft>
                <a:spcPts val="0"/>
              </a:spcAft>
              <a:buSzPts val="1400"/>
              <a:buNone/>
              <a:defRPr sz="1400">
                <a:solidFill>
                  <a:srgbClr val="888888"/>
                </a:solidFill>
              </a:defRPr>
            </a:lvl8pPr>
            <a:lvl9pPr marL="4114800" lvl="8" indent="-228600" algn="l" rtl="0">
              <a:lnSpc>
                <a:spcPct val="90000"/>
              </a:lnSpc>
              <a:spcBef>
                <a:spcPts val="400"/>
              </a:spcBef>
              <a:spcAft>
                <a:spcPts val="400"/>
              </a:spcAft>
              <a:buSzPts val="1400"/>
              <a:buNone/>
              <a:defRPr sz="1400">
                <a:solidFill>
                  <a:srgbClr val="888888"/>
                </a:solidFill>
              </a:defRPr>
            </a:lvl9pPr>
          </a:lstStyle>
          <a:p>
            <a:endParaRPr/>
          </a:p>
        </p:txBody>
      </p:sp>
    </p:spTree>
    <p:extLst>
      <p:ext uri="{BB962C8B-B14F-4D97-AF65-F5344CB8AC3E}">
        <p14:creationId xmlns:p14="http://schemas.microsoft.com/office/powerpoint/2010/main" val="17740354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theme" Target="../theme/theme2.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575239" y="263276"/>
            <a:ext cx="11187000" cy="1014900"/>
          </a:xfrm>
          <a:prstGeom prst="rect">
            <a:avLst/>
          </a:prstGeom>
          <a:noFill/>
          <a:ln>
            <a:noFill/>
          </a:ln>
        </p:spPr>
        <p:txBody>
          <a:bodyPr spcFirstLastPara="1" wrap="square" lIns="88375" tIns="44175" rIns="88375" bIns="44175" anchor="ctr" anchorCtr="0">
            <a:normAutofit/>
          </a:bodyPr>
          <a:lstStyle>
            <a:lvl1pPr marR="0" lvl="0" algn="l" rtl="0">
              <a:lnSpc>
                <a:spcPct val="80000"/>
              </a:lnSpc>
              <a:spcBef>
                <a:spcPts val="0"/>
              </a:spcBef>
              <a:spcAft>
                <a:spcPts val="0"/>
              </a:spcAft>
              <a:buClr>
                <a:srgbClr val="0C0C0C"/>
              </a:buClr>
              <a:buSzPts val="4300"/>
              <a:buFont typeface="Quattrocento Sans"/>
              <a:buNone/>
              <a:defRPr sz="4300" b="0" i="0" u="none" strike="noStrike" cap="none">
                <a:solidFill>
                  <a:srgbClr val="0C0C0C"/>
                </a:solidFill>
                <a:latin typeface="Quattrocento Sans"/>
                <a:ea typeface="Quattrocento Sans"/>
                <a:cs typeface="Quattrocento Sans"/>
                <a:sym typeface="Quattrocento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dirty="0"/>
          </a:p>
        </p:txBody>
      </p:sp>
      <p:sp>
        <p:nvSpPr>
          <p:cNvPr id="11" name="Google Shape;11;p1"/>
          <p:cNvSpPr txBox="1">
            <a:spLocks noGrp="1"/>
          </p:cNvSpPr>
          <p:nvPr>
            <p:ph type="body" idx="1"/>
          </p:nvPr>
        </p:nvSpPr>
        <p:spPr>
          <a:xfrm>
            <a:off x="575240" y="1463857"/>
            <a:ext cx="11187000" cy="603200"/>
          </a:xfrm>
          <a:prstGeom prst="rect">
            <a:avLst/>
          </a:prstGeom>
          <a:noFill/>
          <a:ln>
            <a:noFill/>
          </a:ln>
        </p:spPr>
        <p:txBody>
          <a:bodyPr spcFirstLastPara="1" wrap="square" lIns="44175" tIns="44175" rIns="44175" bIns="44175" anchor="t" anchorCtr="0">
            <a:spAutoFit/>
          </a:bodyPr>
          <a:lstStyle>
            <a:lvl1pPr marL="457200" marR="0" lvl="0" indent="-393700" algn="l" rtl="0">
              <a:lnSpc>
                <a:spcPct val="90000"/>
              </a:lnSpc>
              <a:spcBef>
                <a:spcPts val="1200"/>
              </a:spcBef>
              <a:spcAft>
                <a:spcPts val="0"/>
              </a:spcAft>
              <a:buClr>
                <a:srgbClr val="4C3282"/>
              </a:buClr>
              <a:buSzPts val="2600"/>
              <a:buFont typeface="Twentieth Century"/>
              <a:buChar char=" "/>
              <a:defRPr sz="2600" b="0" i="0" u="none" strike="noStrike" cap="none">
                <a:solidFill>
                  <a:schemeClr val="dk1"/>
                </a:solidFill>
                <a:latin typeface="Quattrocento Sans"/>
                <a:ea typeface="Quattrocento Sans"/>
                <a:cs typeface="Quattrocento Sans"/>
                <a:sym typeface="Quattrocento Sans"/>
              </a:defRPr>
            </a:lvl1pPr>
            <a:lvl2pPr marL="914400" marR="0" lvl="1" indent="-361950" algn="l" rtl="0">
              <a:lnSpc>
                <a:spcPct val="90000"/>
              </a:lnSpc>
              <a:spcBef>
                <a:spcPts val="300"/>
              </a:spcBef>
              <a:spcAft>
                <a:spcPts val="0"/>
              </a:spcAft>
              <a:buClr>
                <a:srgbClr val="B6A479"/>
              </a:buClr>
              <a:buSzPts val="2100"/>
              <a:buFont typeface="Quattrocento Sans"/>
              <a:buChar char="-"/>
              <a:defRPr sz="2100" b="0" i="0" u="none" strike="noStrike" cap="none">
                <a:solidFill>
                  <a:schemeClr val="dk1"/>
                </a:solidFill>
                <a:latin typeface="Quattrocento Sans"/>
                <a:ea typeface="Quattrocento Sans"/>
                <a:cs typeface="Quattrocento Sans"/>
                <a:sym typeface="Quattrocento Sans"/>
              </a:defRPr>
            </a:lvl2pPr>
            <a:lvl3pPr marL="1371600" marR="0" lvl="2" indent="-323850" algn="l" rtl="0">
              <a:lnSpc>
                <a:spcPct val="90000"/>
              </a:lnSpc>
              <a:spcBef>
                <a:spcPts val="400"/>
              </a:spcBef>
              <a:spcAft>
                <a:spcPts val="0"/>
              </a:spcAft>
              <a:buClr>
                <a:srgbClr val="B6A479"/>
              </a:buClr>
              <a:buSzPts val="1500"/>
              <a:buFont typeface="Quattrocento Sans"/>
              <a:buChar char="-"/>
              <a:defRPr sz="1500" b="0" i="0" u="none" strike="noStrike" cap="none">
                <a:solidFill>
                  <a:schemeClr val="dk1"/>
                </a:solidFill>
                <a:latin typeface="Quattrocento Sans"/>
                <a:ea typeface="Quattrocento Sans"/>
                <a:cs typeface="Quattrocento Sans"/>
                <a:sym typeface="Quattrocento Sans"/>
              </a:defRPr>
            </a:lvl3pPr>
            <a:lvl4pPr marL="1828800" marR="0" lvl="3"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4pPr>
            <a:lvl5pPr marL="2286000" marR="0" lvl="4"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5pPr>
            <a:lvl6pPr marL="2743200" marR="0" lvl="5"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6pPr>
            <a:lvl7pPr marL="3200400" marR="0" lvl="6"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7pPr>
            <a:lvl8pPr marL="3657600" marR="0" lvl="7"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8pPr>
            <a:lvl9pPr marL="4114800" marR="0" lvl="8" indent="-317500" algn="l" rtl="0">
              <a:lnSpc>
                <a:spcPct val="90000"/>
              </a:lnSpc>
              <a:spcBef>
                <a:spcPts val="400"/>
              </a:spcBef>
              <a:spcAft>
                <a:spcPts val="40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9pPr>
          </a:lstStyle>
          <a:p>
            <a:endParaRPr dirty="0"/>
          </a:p>
        </p:txBody>
      </p:sp>
      <p:sp>
        <p:nvSpPr>
          <p:cNvPr id="14" name="Google Shape;14;p1"/>
          <p:cNvSpPr txBox="1"/>
          <p:nvPr/>
        </p:nvSpPr>
        <p:spPr>
          <a:xfrm>
            <a:off x="7913100" y="6497955"/>
            <a:ext cx="4278900" cy="424697"/>
          </a:xfrm>
          <a:prstGeom prst="rect">
            <a:avLst/>
          </a:prstGeom>
          <a:noFill/>
          <a:ln>
            <a:noFill/>
          </a:ln>
        </p:spPr>
        <p:txBody>
          <a:bodyPr spcFirstLastPara="1" wrap="square" lIns="88375" tIns="88375" rIns="88375" bIns="88375" anchor="ctr" anchorCtr="0">
            <a:spAutoFit/>
          </a:bodyPr>
          <a:lstStyle/>
          <a:p>
            <a:pPr marL="0" lvl="0" indent="0" algn="r" rtl="0">
              <a:spcBef>
                <a:spcPts val="0"/>
              </a:spcBef>
              <a:spcAft>
                <a:spcPts val="0"/>
              </a:spcAft>
              <a:buNone/>
            </a:pPr>
            <a:r>
              <a:rPr lang="en-US" sz="1600" dirty="0">
                <a:solidFill>
                  <a:srgbClr val="595959"/>
                </a:solidFill>
                <a:latin typeface="Quattrocento Sans"/>
                <a:ea typeface="Quattrocento Sans"/>
                <a:cs typeface="Quattrocento Sans"/>
                <a:sym typeface="Quattrocento Sans"/>
              </a:rPr>
              <a:t> </a:t>
            </a:r>
            <a:fld id="{00000000-1234-1234-1234-123412341234}" type="slidenum">
              <a:rPr lang="en-US" sz="1300">
                <a:solidFill>
                  <a:srgbClr val="595959"/>
                </a:solidFill>
                <a:latin typeface="Quattrocento Sans"/>
                <a:ea typeface="Quattrocento Sans"/>
                <a:cs typeface="Quattrocento Sans"/>
                <a:sym typeface="Quattrocento Sans"/>
              </a:rPr>
              <a:t>‹#›</a:t>
            </a:fld>
            <a:endParaRPr sz="1300" dirty="0">
              <a:solidFill>
                <a:srgbClr val="595959"/>
              </a:solidFill>
              <a:latin typeface="Quattrocento Sans"/>
              <a:ea typeface="Quattrocento Sans"/>
              <a:cs typeface="Quattrocento Sans"/>
              <a:sym typeface="Quattrocento Sans"/>
            </a:endParaRPr>
          </a:p>
        </p:txBody>
      </p:sp>
    </p:spTree>
  </p:cSld>
  <p:clrMap bg1="lt1" tx1="dk1" bg2="dk2" tx2="lt2" accent1="accent1" accent2="accent2" accent3="accent3" accent4="accent4" accent5="accent5" accent6="accent6" hlink="hlink" folHlink="folHlink"/>
  <p:sldLayoutIdLst>
    <p:sldLayoutId id="2147483650" r:id="rId1"/>
    <p:sldLayoutId id="2147483652" r:id="rId2"/>
    <p:sldLayoutId id="2147483659" r:id="rId3"/>
    <p:sldLayoutId id="2147483677" r:id="rId4"/>
    <p:sldLayoutId id="2147483679"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mj-l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mj-l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ltLang="zh-CN" dirty="0"/>
              <a:t>Click to edit Master title style</a:t>
            </a:r>
            <a:endParaRPr lang="en-US" dirty="0"/>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221443-D73C-634A-A910-7320408C156D}" type="datetimeFigureOut">
              <a:rPr lang="en-US" smtClean="0"/>
              <a:t>2/19/2026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5BE2B7-23DB-644D-89A2-CA3C2E8FEF83}" type="slidenum">
              <a:rPr lang="en-US" smtClean="0"/>
              <a:t>‹#›</a:t>
            </a:fld>
            <a:endParaRPr lang="en-US"/>
          </a:p>
        </p:txBody>
      </p:sp>
    </p:spTree>
    <p:extLst>
      <p:ext uri="{BB962C8B-B14F-4D97-AF65-F5344CB8AC3E}">
        <p14:creationId xmlns:p14="http://schemas.microsoft.com/office/powerpoint/2010/main" val="1716330967"/>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8" r:id="rId12"/>
  </p:sldLayoutIdLst>
  <p:txStyles>
    <p:titleStyle>
      <a:lvl1pPr algn="ctr" defTabSz="457200" rtl="0" eaLnBrk="1" latinLnBrk="0" hangingPunct="1">
        <a:spcBef>
          <a:spcPct val="0"/>
        </a:spcBef>
        <a:buNone/>
        <a:defRPr sz="3600" kern="1200">
          <a:solidFill>
            <a:schemeClr val="accent1"/>
          </a:solidFill>
          <a:latin typeface="Helvetica"/>
          <a:ea typeface="+mj-ea"/>
          <a:cs typeface="Helvetica"/>
        </a:defRPr>
      </a:lvl1pPr>
    </p:titleStyle>
    <p:bodyStyle>
      <a:lvl1pPr marL="342900" indent="-342900" algn="l" defTabSz="457200" rtl="0" eaLnBrk="1" latinLnBrk="0" hangingPunct="1">
        <a:spcBef>
          <a:spcPct val="20000"/>
        </a:spcBef>
        <a:buClr>
          <a:schemeClr val="accent6"/>
        </a:buClr>
        <a:buFont typeface="Wingdings" charset="2"/>
        <a:buChar char="§"/>
        <a:defRPr sz="2400" kern="1200">
          <a:solidFill>
            <a:schemeClr val="tx1"/>
          </a:solidFill>
          <a:latin typeface="Times New Roman"/>
          <a:ea typeface="+mn-ea"/>
          <a:cs typeface="Times New Roman"/>
        </a:defRPr>
      </a:lvl1pPr>
      <a:lvl2pPr marL="742950" indent="-285750" algn="l" defTabSz="457200" rtl="0" eaLnBrk="1" latinLnBrk="0" hangingPunct="1">
        <a:spcBef>
          <a:spcPct val="20000"/>
        </a:spcBef>
        <a:buClr>
          <a:schemeClr val="accent6"/>
        </a:buClr>
        <a:buFont typeface="Wingdings" charset="2"/>
        <a:buChar char="§"/>
        <a:defRPr sz="2000" kern="1200">
          <a:solidFill>
            <a:schemeClr val="tx1"/>
          </a:solidFill>
          <a:latin typeface="Times New Roman"/>
          <a:ea typeface="+mn-ea"/>
          <a:cs typeface="Times New Roman"/>
        </a:defRPr>
      </a:lvl2pPr>
      <a:lvl3pPr marL="1143000" indent="-228600" algn="l" defTabSz="457200" rtl="0" eaLnBrk="1" latinLnBrk="0" hangingPunct="1">
        <a:spcBef>
          <a:spcPct val="20000"/>
        </a:spcBef>
        <a:buClr>
          <a:schemeClr val="accent6"/>
        </a:buClr>
        <a:buFont typeface="Wingdings" charset="2"/>
        <a:buChar char="§"/>
        <a:defRPr sz="1800" kern="1200">
          <a:solidFill>
            <a:schemeClr val="tx1"/>
          </a:solidFill>
          <a:latin typeface="Times New Roman"/>
          <a:ea typeface="+mn-ea"/>
          <a:cs typeface="Times New Roman"/>
        </a:defRPr>
      </a:lvl3pPr>
      <a:lvl4pPr marL="16002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4pPr>
      <a:lvl5pPr marL="20574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youtube.com/watch?v=bZkzH5x0SKU"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customXml" Target="../ink/ink1.xml"/></Relationships>
</file>

<file path=ppt/slides/_rels/slide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47.png"/></Relationships>
</file>

<file path=ppt/slides/_rels/slide3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watch?v=obWXjtg0L64"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8" Type="http://schemas.openxmlformats.org/officeDocument/2006/relationships/hyperlink" Target="https://www.youtube.com/watch?v=TtQi1LVVOUI" TargetMode="External"/><Relationship Id="rId3" Type="http://schemas.openxmlformats.org/officeDocument/2006/relationships/hyperlink" Target="https://www.youtube.com/watch?v=bZkzH5x0SKU" TargetMode="External"/><Relationship Id="rId7" Type="http://schemas.openxmlformats.org/officeDocument/2006/relationships/hyperlink" Target="https://www.youtube.com/watch?v=B5PmlJACZ9Y" TargetMode="External"/><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hyperlink" Target="https://www.youtube.com/watch?v=obWXjtg0L64" TargetMode="External"/><Relationship Id="rId5" Type="http://schemas.openxmlformats.org/officeDocument/2006/relationships/hyperlink" Target="https://www.youtube.com/watch?v=9PHkk0UavIM" TargetMode="External"/><Relationship Id="rId4" Type="http://schemas.openxmlformats.org/officeDocument/2006/relationships/hyperlink" Target="https://www.youtube.com/watch?v=_lHSawdgXpI" TargetMode="External"/><Relationship Id="rId9" Type="http://schemas.openxmlformats.org/officeDocument/2006/relationships/hyperlink" Target="https://www.youtube.com/watch?v=L8nhMwhUn4U&amp;list=PLEcoVsAaONjd5n69K84sSmAuvTrTQT_Nl&amp;index=1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5"/>
          <p:cNvSpPr txBox="1">
            <a:spLocks noGrp="1"/>
          </p:cNvSpPr>
          <p:nvPr>
            <p:ph type="body" idx="1"/>
          </p:nvPr>
        </p:nvSpPr>
        <p:spPr>
          <a:xfrm>
            <a:off x="6416500" y="536267"/>
            <a:ext cx="5384000" cy="5681200"/>
          </a:xfrm>
          <a:prstGeom prst="rect">
            <a:avLst/>
          </a:prstGeom>
        </p:spPr>
        <p:txBody>
          <a:bodyPr spcFirstLastPara="1" wrap="square" lIns="121900" tIns="121900" rIns="121900" bIns="121900" anchor="ctr" anchorCtr="0">
            <a:noAutofit/>
          </a:bodyPr>
          <a:lstStyle/>
          <a:p>
            <a:pPr marL="0" lvl="0" indent="0">
              <a:spcBef>
                <a:spcPts val="600"/>
              </a:spcBef>
              <a:buNone/>
            </a:pPr>
            <a:r>
              <a:rPr lang="en-US" sz="2800" dirty="0">
                <a:solidFill>
                  <a:schemeClr val="tx1"/>
                </a:solidFill>
                <a:highlight>
                  <a:srgbClr val="FFFFFF"/>
                </a:highlight>
                <a:ea typeface="Quattrocento Sans"/>
                <a:cs typeface="Quattrocento Sans"/>
                <a:sym typeface="Quattrocento Sans"/>
              </a:rPr>
              <a:t>BFS</a:t>
            </a:r>
          </a:p>
          <a:p>
            <a:pPr marL="0" lvl="0" indent="0">
              <a:spcBef>
                <a:spcPts val="600"/>
              </a:spcBef>
              <a:buNone/>
            </a:pPr>
            <a:r>
              <a:rPr lang="en-US" sz="2800" dirty="0">
                <a:solidFill>
                  <a:schemeClr val="tx1"/>
                </a:solidFill>
                <a:highlight>
                  <a:srgbClr val="FFFFFF"/>
                </a:highlight>
                <a:ea typeface="Quattrocento Sans"/>
                <a:cs typeface="Quattrocento Sans"/>
                <a:sym typeface="Quattrocento Sans"/>
              </a:rPr>
              <a:t>Dijkstra’s Algorithm</a:t>
            </a:r>
          </a:p>
          <a:p>
            <a:pPr marL="0" lvl="0" indent="0">
              <a:spcBef>
                <a:spcPts val="600"/>
              </a:spcBef>
              <a:buNone/>
            </a:pPr>
            <a:r>
              <a:rPr lang="en-GB" sz="2800" dirty="0">
                <a:solidFill>
                  <a:schemeClr val="tx1"/>
                </a:solidFill>
                <a:highlight>
                  <a:srgbClr val="FFFFFF"/>
                </a:highlight>
                <a:ea typeface="Quattrocento Sans"/>
                <a:cs typeface="Quattrocento Sans"/>
                <a:sym typeface="Quattrocento Sans"/>
              </a:rPr>
              <a:t>Bellman-Ford Algorithm</a:t>
            </a:r>
          </a:p>
        </p:txBody>
      </p:sp>
      <p:sp>
        <p:nvSpPr>
          <p:cNvPr id="160" name="Google Shape;160;p25"/>
          <p:cNvSpPr txBox="1">
            <a:spLocks noGrp="1"/>
          </p:cNvSpPr>
          <p:nvPr>
            <p:ph type="title"/>
          </p:nvPr>
        </p:nvSpPr>
        <p:spPr>
          <a:xfrm>
            <a:off x="237233" y="2671067"/>
            <a:ext cx="5384000" cy="2717200"/>
          </a:xfrm>
          <a:prstGeom prst="rect">
            <a:avLst/>
          </a:prstGeom>
        </p:spPr>
        <p:txBody>
          <a:bodyPr spcFirstLastPara="1" wrap="square" lIns="121900" tIns="121900" rIns="121900" bIns="121900" anchor="b" anchorCtr="0">
            <a:noAutofit/>
          </a:bodyPr>
          <a:lstStyle/>
          <a:p>
            <a:r>
              <a:rPr lang="en" dirty="0"/>
              <a:t>Shortest Paths A</a:t>
            </a:r>
            <a:r>
              <a:rPr lang="en-US" dirty="0"/>
              <a:t>l</a:t>
            </a:r>
            <a:r>
              <a:rPr lang="en"/>
              <a:t>gorithms</a:t>
            </a:r>
            <a:endParaRPr dirty="0"/>
          </a:p>
        </p:txBody>
      </p:sp>
      <p:sp>
        <p:nvSpPr>
          <p:cNvPr id="161" name="Google Shape;161;p25"/>
          <p:cNvSpPr txBox="1">
            <a:spLocks noGrp="1"/>
          </p:cNvSpPr>
          <p:nvPr>
            <p:ph type="subTitle" idx="2"/>
          </p:nvPr>
        </p:nvSpPr>
        <p:spPr>
          <a:xfrm>
            <a:off x="237233" y="5424000"/>
            <a:ext cx="5544000" cy="524800"/>
          </a:xfrm>
          <a:prstGeom prst="rect">
            <a:avLst/>
          </a:prstGeom>
        </p:spPr>
        <p:txBody>
          <a:bodyPr spcFirstLastPara="1" wrap="square" lIns="121900" tIns="121900" rIns="121900" bIns="121900" anchor="ctr" anchorCtr="0">
            <a:noAutofit/>
          </a:bodyPr>
          <a:lstStyle/>
          <a:p>
            <a:pPr marL="0" indent="0"/>
            <a:r>
              <a:rPr lang="en" dirty="0"/>
              <a:t>Lecture 5.1, Spring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0"/>
          <p:cNvSpPr txBox="1"/>
          <p:nvPr/>
        </p:nvSpPr>
        <p:spPr>
          <a:xfrm>
            <a:off x="1763224" y="2540315"/>
            <a:ext cx="7257600" cy="1777369"/>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BFS</a:t>
            </a:r>
          </a:p>
          <a:p>
            <a:pPr marL="0" lvl="0" indent="0" algn="l" rtl="0">
              <a:lnSpc>
                <a:spcPct val="90000"/>
              </a:lnSpc>
              <a:spcBef>
                <a:spcPts val="600"/>
              </a:spcBef>
              <a:spcAft>
                <a:spcPts val="0"/>
              </a:spcAft>
              <a:buNone/>
            </a:pPr>
            <a:r>
              <a:rPr lang="en-US" sz="3500" dirty="0">
                <a:solidFill>
                  <a:schemeClr val="bg1">
                    <a:lumMod val="65000"/>
                  </a:schemeClr>
                </a:solidFill>
                <a:highlight>
                  <a:srgbClr val="FFFFFF"/>
                </a:highlight>
                <a:latin typeface="+mj-lt"/>
                <a:ea typeface="Quattrocento Sans"/>
                <a:cs typeface="Quattrocento Sans"/>
                <a:sym typeface="Quattrocento Sans"/>
              </a:rPr>
              <a:t>Dijkstra’s Algorithm</a:t>
            </a:r>
          </a:p>
          <a:p>
            <a:pPr marL="0" lvl="0" indent="0" algn="l" rtl="0">
              <a:lnSpc>
                <a:spcPct val="90000"/>
              </a:lnSpc>
              <a:spcBef>
                <a:spcPts val="600"/>
              </a:spcBef>
              <a:spcAft>
                <a:spcPts val="0"/>
              </a:spcAft>
              <a:buNone/>
            </a:pPr>
            <a:r>
              <a:rPr lang="en-GB" sz="3500" dirty="0">
                <a:solidFill>
                  <a:schemeClr val="bg1">
                    <a:lumMod val="65000"/>
                  </a:schemeClr>
                </a:solidFill>
                <a:highlight>
                  <a:srgbClr val="FFFFFF"/>
                </a:highlight>
                <a:latin typeface="+mj-lt"/>
                <a:ea typeface="Quattrocento Sans"/>
                <a:cs typeface="Quattrocento Sans"/>
                <a:sym typeface="Quattrocento Sans"/>
              </a:rPr>
              <a:t>Bellman-Ford Algorithm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18"/>
        <p:cNvGrpSpPr/>
        <p:nvPr/>
      </p:nvGrpSpPr>
      <p:grpSpPr>
        <a:xfrm>
          <a:off x="0" y="0"/>
          <a:ext cx="0" cy="0"/>
          <a:chOff x="0" y="0"/>
          <a:chExt cx="0" cy="0"/>
        </a:xfrm>
      </p:grpSpPr>
      <p:sp>
        <p:nvSpPr>
          <p:cNvPr id="1419" name="Google Shape;1419;p59"/>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Review: Graph traversal w/ DFS</a:t>
            </a:r>
            <a:endParaRPr dirty="0"/>
          </a:p>
        </p:txBody>
      </p:sp>
      <p:sp>
        <p:nvSpPr>
          <p:cNvPr id="1420" name="Google Shape;1420;p59"/>
          <p:cNvSpPr txBox="1">
            <a:spLocks noGrp="1"/>
          </p:cNvSpPr>
          <p:nvPr>
            <p:ph type="body" idx="1"/>
          </p:nvPr>
        </p:nvSpPr>
        <p:spPr>
          <a:xfrm>
            <a:off x="575240" y="1101969"/>
            <a:ext cx="11187258" cy="2033116"/>
          </a:xfrm>
          <a:prstGeom prst="rect">
            <a:avLst/>
          </a:prstGeom>
          <a:noFill/>
          <a:ln>
            <a:noFill/>
          </a:ln>
        </p:spPr>
        <p:txBody>
          <a:bodyPr spcFirstLastPara="1" wrap="square" lIns="45700" tIns="45700" rIns="45700" bIns="45700" anchor="t" anchorCtr="0">
            <a:normAutofit/>
          </a:bodyPr>
          <a:lstStyle/>
          <a:p>
            <a:pPr marL="91440" lvl="0" indent="-118745" algn="l" rtl="0">
              <a:lnSpc>
                <a:spcPct val="90000"/>
              </a:lnSpc>
              <a:spcBef>
                <a:spcPts val="0"/>
              </a:spcBef>
              <a:spcAft>
                <a:spcPts val="0"/>
              </a:spcAft>
              <a:buSzPct val="84615"/>
              <a:buChar char="●"/>
            </a:pPr>
            <a:r>
              <a:rPr lang="en-US" b="1" u="sng" dirty="0"/>
              <a:t> Depth</a:t>
            </a:r>
            <a:r>
              <a:rPr lang="en-US" dirty="0"/>
              <a:t> First Search: go as far as you can down one path till you hit a dead end (no neighbors, or no unvisited neighbors).  Once you hit a dead end, backtrack and try other edges that you have not tried yet</a:t>
            </a:r>
          </a:p>
          <a:p>
            <a:pPr marL="91440" lvl="0" indent="-118745" algn="l" rtl="0">
              <a:lnSpc>
                <a:spcPct val="90000"/>
              </a:lnSpc>
              <a:spcBef>
                <a:spcPts val="0"/>
              </a:spcBef>
              <a:spcAft>
                <a:spcPts val="0"/>
              </a:spcAft>
              <a:buSzPct val="84615"/>
              <a:buChar char="●"/>
            </a:pPr>
            <a:r>
              <a:rPr lang="en-US" dirty="0"/>
              <a:t> Analogy of </a:t>
            </a:r>
            <a:r>
              <a:rPr lang="en-GB" dirty="0"/>
              <a:t>wandering a maze – if you get stuck at a dead end, trace your steps backwards to the previous fork in the road, and try a different path</a:t>
            </a:r>
          </a:p>
        </p:txBody>
      </p:sp>
      <p:pic>
        <p:nvPicPr>
          <p:cNvPr id="1421" name="Google Shape;1421;p59"/>
          <p:cNvPicPr preferRelativeResize="0"/>
          <p:nvPr/>
        </p:nvPicPr>
        <p:blipFill rotWithShape="1">
          <a:blip r:embed="rId3">
            <a:alphaModFix/>
          </a:blip>
          <a:srcRect t="31667" r="24516" b="15953"/>
          <a:stretch/>
        </p:blipFill>
        <p:spPr>
          <a:xfrm>
            <a:off x="575239" y="3135085"/>
            <a:ext cx="9156114" cy="3722915"/>
          </a:xfrm>
          <a:prstGeom prst="rect">
            <a:avLst/>
          </a:prstGeom>
          <a:noFill/>
          <a:ln>
            <a:noFill/>
          </a:ln>
        </p:spPr>
      </p:pic>
      <p:sp>
        <p:nvSpPr>
          <p:cNvPr id="1423" name="Google Shape;1423;p59"/>
          <p:cNvSpPr txBox="1"/>
          <p:nvPr/>
        </p:nvSpPr>
        <p:spPr>
          <a:xfrm>
            <a:off x="4155337" y="6383655"/>
            <a:ext cx="6483831" cy="36929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mj-lt"/>
                <a:ea typeface="Quattrocento Sans"/>
                <a:cs typeface="Quattrocento Sans"/>
                <a:sym typeface="Quattrocento Sans"/>
              </a:rPr>
              <a:t>one valid DFS traversal: 10, 5, 3, 2, 4, 8, 7,6, 9, 15, 12, 14, 18</a:t>
            </a:r>
            <a:endParaRPr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27"/>
        <p:cNvGrpSpPr/>
        <p:nvPr/>
      </p:nvGrpSpPr>
      <p:grpSpPr>
        <a:xfrm>
          <a:off x="0" y="0"/>
          <a:ext cx="0" cy="0"/>
          <a:chOff x="0" y="0"/>
          <a:chExt cx="0" cy="0"/>
        </a:xfrm>
      </p:grpSpPr>
      <p:sp>
        <p:nvSpPr>
          <p:cNvPr id="1428" name="Google Shape;1428;p60"/>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Review: Graph traversal w/ BFS</a:t>
            </a:r>
            <a:endParaRPr dirty="0"/>
          </a:p>
        </p:txBody>
      </p:sp>
      <p:sp>
        <p:nvSpPr>
          <p:cNvPr id="1429" name="Google Shape;1429;p60"/>
          <p:cNvSpPr txBox="1">
            <a:spLocks noGrp="1"/>
          </p:cNvSpPr>
          <p:nvPr>
            <p:ph type="body" idx="1"/>
          </p:nvPr>
        </p:nvSpPr>
        <p:spPr>
          <a:xfrm>
            <a:off x="575239" y="1071972"/>
            <a:ext cx="11187258" cy="2242728"/>
          </a:xfrm>
          <a:prstGeom prst="rect">
            <a:avLst/>
          </a:prstGeom>
          <a:noFill/>
          <a:ln>
            <a:noFill/>
          </a:ln>
        </p:spPr>
        <p:txBody>
          <a:bodyPr spcFirstLastPara="1" wrap="square" lIns="45700" tIns="45700" rIns="45700" bIns="45700" anchor="t" anchorCtr="0">
            <a:normAutofit/>
          </a:bodyPr>
          <a:lstStyle/>
          <a:p>
            <a:pPr marL="91440" lvl="0" indent="-87312" algn="l" rtl="0">
              <a:lnSpc>
                <a:spcPct val="90000"/>
              </a:lnSpc>
              <a:spcBef>
                <a:spcPts val="0"/>
              </a:spcBef>
              <a:spcAft>
                <a:spcPts val="0"/>
              </a:spcAft>
              <a:buSzPct val="84615"/>
              <a:buChar char="●"/>
            </a:pPr>
            <a:r>
              <a:rPr lang="en-US" b="1" u="sng" dirty="0"/>
              <a:t> Breadth</a:t>
            </a:r>
            <a:r>
              <a:rPr lang="en-US" dirty="0"/>
              <a:t> First Search - traverse level by level, and visit 1-hop neighbors before 2-hop neighbors before 3-hop neighbors…</a:t>
            </a:r>
            <a:endParaRPr dirty="0"/>
          </a:p>
          <a:p>
            <a:pPr marL="91440" lvl="0" indent="-87312" algn="l" rtl="0">
              <a:lnSpc>
                <a:spcPct val="90000"/>
              </a:lnSpc>
              <a:spcBef>
                <a:spcPts val="1400"/>
              </a:spcBef>
              <a:spcAft>
                <a:spcPts val="0"/>
              </a:spcAft>
              <a:buSzPct val="84615"/>
              <a:buChar char="●"/>
            </a:pPr>
            <a:r>
              <a:rPr lang="en-GB" dirty="0"/>
              <a:t> Analogy:</a:t>
            </a:r>
            <a:r>
              <a:rPr lang="en-US" dirty="0"/>
              <a:t> sound wave spreading from a starting point, going outwards in all directions; mold on a piece of food spreading outwards so that it eventually covers the whole surface</a:t>
            </a:r>
            <a:endParaRPr dirty="0"/>
          </a:p>
          <a:p>
            <a:pPr marL="91440" lvl="0" indent="0" algn="l" rtl="0">
              <a:lnSpc>
                <a:spcPct val="90000"/>
              </a:lnSpc>
              <a:spcBef>
                <a:spcPts val="1400"/>
              </a:spcBef>
              <a:spcAft>
                <a:spcPts val="0"/>
              </a:spcAft>
              <a:buSzPct val="84615"/>
              <a:buNone/>
            </a:pPr>
            <a:endParaRPr dirty="0"/>
          </a:p>
        </p:txBody>
      </p:sp>
      <p:pic>
        <p:nvPicPr>
          <p:cNvPr id="1430" name="Google Shape;1430;p60"/>
          <p:cNvPicPr preferRelativeResize="0"/>
          <p:nvPr/>
        </p:nvPicPr>
        <p:blipFill rotWithShape="1">
          <a:blip r:embed="rId3">
            <a:alphaModFix/>
          </a:blip>
          <a:srcRect t="31667" r="24516" b="15953"/>
          <a:stretch/>
        </p:blipFill>
        <p:spPr>
          <a:xfrm>
            <a:off x="575239" y="3135085"/>
            <a:ext cx="9156114" cy="3722915"/>
          </a:xfrm>
          <a:prstGeom prst="rect">
            <a:avLst/>
          </a:prstGeom>
          <a:noFill/>
          <a:ln>
            <a:noFill/>
          </a:ln>
        </p:spPr>
      </p:pic>
      <p:sp>
        <p:nvSpPr>
          <p:cNvPr id="1431" name="Google Shape;1431;p60"/>
          <p:cNvSpPr txBox="1"/>
          <p:nvPr/>
        </p:nvSpPr>
        <p:spPr>
          <a:xfrm>
            <a:off x="4155337" y="6383655"/>
            <a:ext cx="6545614" cy="36929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mj-lt"/>
                <a:ea typeface="Quattrocento Sans"/>
                <a:cs typeface="Quattrocento Sans"/>
                <a:sym typeface="Quattrocento Sans"/>
              </a:rPr>
              <a:t>one valid BFS traversal: 10, 5, 15, 3, 8, 12, 18, 2, 4, 7, 9, 14, 6</a:t>
            </a:r>
            <a:endParaRPr dirty="0">
              <a:latin typeface="+mj-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1F546-8113-FE02-CAB3-D23BA4BF0D0E}"/>
              </a:ext>
            </a:extLst>
          </p:cNvPr>
          <p:cNvSpPr>
            <a:spLocks noGrp="1"/>
          </p:cNvSpPr>
          <p:nvPr>
            <p:ph type="title"/>
          </p:nvPr>
        </p:nvSpPr>
        <p:spPr/>
        <p:txBody>
          <a:bodyPr>
            <a:normAutofit/>
          </a:bodyPr>
          <a:lstStyle/>
          <a:p>
            <a:r>
              <a:rPr lang="en-GB" dirty="0"/>
              <a:t>BFS for (Unweighted) Shortest Path Problem</a:t>
            </a:r>
            <a:endParaRPr lang="en-SE" dirty="0"/>
          </a:p>
        </p:txBody>
      </p:sp>
      <p:sp>
        <p:nvSpPr>
          <p:cNvPr id="3" name="Content Placeholder 2">
            <a:extLst>
              <a:ext uri="{FF2B5EF4-FFF2-40B4-BE49-F238E27FC236}">
                <a16:creationId xmlns:a16="http://schemas.microsoft.com/office/drawing/2014/main" id="{2DDF0C04-D1FF-B236-335A-F7597DF5B1CA}"/>
              </a:ext>
            </a:extLst>
          </p:cNvPr>
          <p:cNvSpPr>
            <a:spLocks noGrp="1"/>
          </p:cNvSpPr>
          <p:nvPr>
            <p:ph idx="1"/>
          </p:nvPr>
        </p:nvSpPr>
        <p:spPr>
          <a:xfrm>
            <a:off x="746174" y="1361440"/>
            <a:ext cx="10297746" cy="4861035"/>
          </a:xfrm>
        </p:spPr>
        <p:txBody>
          <a:bodyPr>
            <a:normAutofit/>
          </a:bodyPr>
          <a:lstStyle/>
          <a:p>
            <a:r>
              <a:rPr lang="en-GB" dirty="0"/>
              <a:t>BFS can find shortest paths in an unweighted graph</a:t>
            </a:r>
          </a:p>
          <a:p>
            <a:pPr lvl="1"/>
            <a:r>
              <a:rPr lang="en-GB" dirty="0"/>
              <a:t>BFS visits nodes in order of their distance from the source node, ensuring the first path found to any node is the shortest possible path in terms of the number of edges</a:t>
            </a:r>
          </a:p>
          <a:p>
            <a:pPr lvl="1"/>
            <a:r>
              <a:rPr lang="pt-BR" dirty="0"/>
              <a:t>Time complexity: O(V+E)</a:t>
            </a:r>
          </a:p>
          <a:p>
            <a:r>
              <a:rPr lang="en-GB" dirty="0"/>
              <a:t>Advantages:</a:t>
            </a:r>
          </a:p>
          <a:p>
            <a:pPr lvl="1"/>
            <a:r>
              <a:rPr lang="en-GB" dirty="0"/>
              <a:t>Optimal for unweighted graphs</a:t>
            </a:r>
          </a:p>
          <a:p>
            <a:pPr lvl="1"/>
            <a:r>
              <a:rPr lang="en-GB" dirty="0"/>
              <a:t>Simple implementation</a:t>
            </a:r>
          </a:p>
          <a:p>
            <a:r>
              <a:rPr lang="en-GB" dirty="0"/>
              <a:t>Limitations:</a:t>
            </a:r>
          </a:p>
          <a:p>
            <a:pPr lvl="1"/>
            <a:r>
              <a:rPr lang="en-GB" dirty="0"/>
              <a:t>Only works for unweighted graphs</a:t>
            </a:r>
          </a:p>
        </p:txBody>
      </p:sp>
      <p:grpSp>
        <p:nvGrpSpPr>
          <p:cNvPr id="4" name="Google Shape;803;p46">
            <a:extLst>
              <a:ext uri="{FF2B5EF4-FFF2-40B4-BE49-F238E27FC236}">
                <a16:creationId xmlns:a16="http://schemas.microsoft.com/office/drawing/2014/main" id="{FF619761-12CB-1156-93BC-2300A9886428}"/>
              </a:ext>
            </a:extLst>
          </p:cNvPr>
          <p:cNvGrpSpPr/>
          <p:nvPr/>
        </p:nvGrpSpPr>
        <p:grpSpPr>
          <a:xfrm>
            <a:off x="6273797" y="3429000"/>
            <a:ext cx="4697910" cy="1750949"/>
            <a:chOff x="1200498" y="1542028"/>
            <a:chExt cx="4815900" cy="1545000"/>
          </a:xfrm>
        </p:grpSpPr>
        <p:sp>
          <p:nvSpPr>
            <p:cNvPr id="5" name="Google Shape;804;p46">
              <a:extLst>
                <a:ext uri="{FF2B5EF4-FFF2-40B4-BE49-F238E27FC236}">
                  <a16:creationId xmlns:a16="http://schemas.microsoft.com/office/drawing/2014/main" id="{0E9A4FDE-F7B7-7481-6168-35541FFCF5D8}"/>
                </a:ext>
              </a:extLst>
            </p:cNvPr>
            <p:cNvSpPr/>
            <p:nvPr/>
          </p:nvSpPr>
          <p:spPr>
            <a:xfrm>
              <a:off x="1200498" y="1542028"/>
              <a:ext cx="4815900" cy="1545000"/>
            </a:xfrm>
            <a:prstGeom prst="rect">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 name="Google Shape;805;p46">
              <a:extLst>
                <a:ext uri="{FF2B5EF4-FFF2-40B4-BE49-F238E27FC236}">
                  <a16:creationId xmlns:a16="http://schemas.microsoft.com/office/drawing/2014/main" id="{5D3C3983-1979-970E-6AED-6BA34C84004A}"/>
                </a:ext>
              </a:extLst>
            </p:cNvPr>
            <p:cNvSpPr/>
            <p:nvPr/>
          </p:nvSpPr>
          <p:spPr>
            <a:xfrm>
              <a:off x="1200498" y="1546719"/>
              <a:ext cx="4815900" cy="482400"/>
            </a:xfrm>
            <a:prstGeom prst="rect">
              <a:avLst/>
            </a:prstGeom>
            <a:solidFill>
              <a:srgbClr val="4C328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b="1" dirty="0">
                  <a:solidFill>
                    <a:schemeClr val="lt1"/>
                  </a:solidFill>
                  <a:latin typeface="Quattrocento Sans"/>
                  <a:ea typeface="Quattrocento Sans"/>
                  <a:cs typeface="Quattrocento Sans"/>
                  <a:sym typeface="Quattrocento Sans"/>
                </a:rPr>
                <a:t>(Unweighted) Shortest Path Problem</a:t>
              </a:r>
              <a:endParaRPr dirty="0"/>
            </a:p>
          </p:txBody>
        </p:sp>
        <p:sp>
          <p:nvSpPr>
            <p:cNvPr id="7" name="Google Shape;806;p46">
              <a:extLst>
                <a:ext uri="{FF2B5EF4-FFF2-40B4-BE49-F238E27FC236}">
                  <a16:creationId xmlns:a16="http://schemas.microsoft.com/office/drawing/2014/main" id="{3C2283B5-E25A-175F-3E87-5F98A653DB99}"/>
                </a:ext>
              </a:extLst>
            </p:cNvPr>
            <p:cNvSpPr/>
            <p:nvPr/>
          </p:nvSpPr>
          <p:spPr>
            <a:xfrm>
              <a:off x="1200498" y="2116595"/>
              <a:ext cx="4815900" cy="896100"/>
            </a:xfrm>
            <a:prstGeom prst="rect">
              <a:avLst/>
            </a:prstGeom>
            <a:solidFill>
              <a:srgbClr val="A48DD3"/>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Given source node </a:t>
              </a:r>
              <a:r>
                <a:rPr lang="en-US" sz="1900" b="1" dirty="0">
                  <a:solidFill>
                    <a:schemeClr val="lt1"/>
                  </a:solidFill>
                  <a:latin typeface="Quattrocento Sans"/>
                  <a:ea typeface="Quattrocento Sans"/>
                  <a:cs typeface="Quattrocento Sans"/>
                  <a:sym typeface="Quattrocento Sans"/>
                </a:rPr>
                <a:t>s</a:t>
              </a:r>
              <a:r>
                <a:rPr lang="en-US" sz="1900" dirty="0">
                  <a:solidFill>
                    <a:schemeClr val="lt1"/>
                  </a:solidFill>
                  <a:latin typeface="Quattrocento Sans"/>
                  <a:ea typeface="Quattrocento Sans"/>
                  <a:cs typeface="Quattrocento Sans"/>
                  <a:sym typeface="Quattrocento Sans"/>
                </a:rPr>
                <a:t> (start) and a target node </a:t>
              </a:r>
              <a:r>
                <a:rPr lang="en-US" sz="1900" b="1" dirty="0">
                  <a:solidFill>
                    <a:schemeClr val="lt1"/>
                  </a:solidFill>
                  <a:latin typeface="Quattrocento Sans"/>
                  <a:ea typeface="Quattrocento Sans"/>
                  <a:cs typeface="Quattrocento Sans"/>
                  <a:sym typeface="Quattrocento Sans"/>
                </a:rPr>
                <a:t>t</a:t>
              </a:r>
              <a:r>
                <a:rPr lang="en-US" sz="1900" dirty="0">
                  <a:solidFill>
                    <a:schemeClr val="lt1"/>
                  </a:solidFill>
                  <a:latin typeface="Quattrocento Sans"/>
                  <a:ea typeface="Quattrocento Sans"/>
                  <a:cs typeface="Quattrocento Sans"/>
                  <a:sym typeface="Quattrocento Sans"/>
                </a:rPr>
                <a:t>, how long is the shortest path from </a:t>
              </a:r>
              <a:r>
                <a:rPr lang="en-US" sz="1900" b="1" dirty="0">
                  <a:solidFill>
                    <a:schemeClr val="lt1"/>
                  </a:solidFill>
                  <a:latin typeface="Quattrocento Sans"/>
                  <a:ea typeface="Quattrocento Sans"/>
                  <a:cs typeface="Quattrocento Sans"/>
                  <a:sym typeface="Quattrocento Sans"/>
                </a:rPr>
                <a:t>s</a:t>
              </a:r>
              <a:r>
                <a:rPr lang="en-US" sz="1900" dirty="0">
                  <a:solidFill>
                    <a:schemeClr val="lt1"/>
                  </a:solidFill>
                  <a:latin typeface="Quattrocento Sans"/>
                  <a:ea typeface="Quattrocento Sans"/>
                  <a:cs typeface="Quattrocento Sans"/>
                  <a:sym typeface="Quattrocento Sans"/>
                </a:rPr>
                <a:t> to</a:t>
              </a:r>
              <a:r>
                <a:rPr lang="en-US" sz="1900" b="1" dirty="0">
                  <a:solidFill>
                    <a:schemeClr val="lt1"/>
                  </a:solidFill>
                  <a:latin typeface="Quattrocento Sans"/>
                  <a:ea typeface="Quattrocento Sans"/>
                  <a:cs typeface="Quattrocento Sans"/>
                  <a:sym typeface="Quattrocento Sans"/>
                </a:rPr>
                <a:t> t</a:t>
              </a:r>
              <a:r>
                <a:rPr lang="en-US" sz="1900" dirty="0">
                  <a:solidFill>
                    <a:schemeClr val="lt1"/>
                  </a:solidFill>
                  <a:latin typeface="Quattrocento Sans"/>
                  <a:ea typeface="Quattrocento Sans"/>
                  <a:cs typeface="Quattrocento Sans"/>
                  <a:sym typeface="Quattrocento Sans"/>
                </a:rPr>
                <a:t>? What edges makeup that path?</a:t>
              </a:r>
              <a:endParaRPr sz="1300" dirty="0"/>
            </a:p>
          </p:txBody>
        </p:sp>
      </p:grpSp>
    </p:spTree>
    <p:extLst>
      <p:ext uri="{BB962C8B-B14F-4D97-AF65-F5344CB8AC3E}">
        <p14:creationId xmlns:p14="http://schemas.microsoft.com/office/powerpoint/2010/main" val="984374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9" name="Google Shape;799;p46"/>
          <p:cNvSpPr txBox="1">
            <a:spLocks noGrp="1"/>
          </p:cNvSpPr>
          <p:nvPr>
            <p:ph type="body" idx="1"/>
          </p:nvPr>
        </p:nvSpPr>
        <p:spPr>
          <a:xfrm>
            <a:off x="272815" y="1098348"/>
            <a:ext cx="6223595" cy="2213265"/>
          </a:xfrm>
          <a:prstGeom prst="rect">
            <a:avLst/>
          </a:prstGeom>
          <a:noFill/>
          <a:ln>
            <a:noFill/>
          </a:ln>
        </p:spPr>
        <p:txBody>
          <a:bodyPr spcFirstLastPara="1" wrap="square" lIns="45700" tIns="45700" rIns="45700" bIns="45700" anchor="t" anchorCtr="0">
            <a:normAutofit/>
          </a:bodyPr>
          <a:lstStyle/>
          <a:p>
            <a:pPr marL="0" lvl="0" indent="0" algn="l" rtl="0">
              <a:lnSpc>
                <a:spcPct val="90000"/>
              </a:lnSpc>
              <a:spcBef>
                <a:spcPts val="0"/>
              </a:spcBef>
              <a:spcAft>
                <a:spcPts val="0"/>
              </a:spcAft>
              <a:buNone/>
            </a:pPr>
            <a:r>
              <a:rPr lang="en-US" sz="2000" dirty="0"/>
              <a:t>Keep track of how far each node is from the start with two maps</a:t>
            </a:r>
          </a:p>
          <a:p>
            <a:pPr marL="0" lvl="0" indent="0" algn="l" rtl="0">
              <a:lnSpc>
                <a:spcPct val="90000"/>
              </a:lnSpc>
              <a:spcBef>
                <a:spcPts val="0"/>
              </a:spcBef>
              <a:spcAft>
                <a:spcPts val="0"/>
              </a:spcAft>
              <a:buNone/>
            </a:pPr>
            <a:r>
              <a:rPr lang="en-GB" sz="2000" dirty="0"/>
              <a:t>SD: Shortest Distance from source node</a:t>
            </a:r>
          </a:p>
          <a:p>
            <a:pPr marL="0" lvl="0" indent="0" algn="l" rtl="0">
              <a:lnSpc>
                <a:spcPct val="90000"/>
              </a:lnSpc>
              <a:spcBef>
                <a:spcPts val="0"/>
              </a:spcBef>
              <a:spcAft>
                <a:spcPts val="0"/>
              </a:spcAft>
              <a:buNone/>
            </a:pPr>
            <a:r>
              <a:rPr lang="en-GB" sz="2000" dirty="0"/>
              <a:t>PN: Previous Node stores </a:t>
            </a:r>
            <a:r>
              <a:rPr lang="en-GB" sz="2000" dirty="0" err="1"/>
              <a:t>backpointers</a:t>
            </a:r>
            <a:r>
              <a:rPr lang="en-GB" sz="2000" dirty="0"/>
              <a:t>: each node remembers what node was used to arrive at it</a:t>
            </a:r>
          </a:p>
          <a:p>
            <a:pPr marL="0" lvl="0" indent="0" algn="l" rtl="0">
              <a:lnSpc>
                <a:spcPct val="90000"/>
              </a:lnSpc>
              <a:spcBef>
                <a:spcPts val="0"/>
              </a:spcBef>
              <a:spcAft>
                <a:spcPts val="0"/>
              </a:spcAft>
              <a:buNone/>
            </a:pPr>
            <a:endParaRPr sz="2000" dirty="0"/>
          </a:p>
        </p:txBody>
      </p:sp>
      <p:sp>
        <p:nvSpPr>
          <p:cNvPr id="800" name="Google Shape;800;p46"/>
          <p:cNvSpPr txBox="1"/>
          <p:nvPr/>
        </p:nvSpPr>
        <p:spPr>
          <a:xfrm>
            <a:off x="6471806" y="935182"/>
            <a:ext cx="5471983" cy="5839691"/>
          </a:xfrm>
          <a:prstGeom prst="rect">
            <a:avLst/>
          </a:prstGeom>
          <a:solidFill>
            <a:srgbClr val="FAFAFA"/>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720"/>
              <a:buFont typeface="Noto Sans Symbols"/>
              <a:buNone/>
            </a:pPr>
            <a:r>
              <a:rPr lang="en-US" sz="1200" b="0" dirty="0">
                <a:solidFill>
                  <a:schemeClr val="accent3"/>
                </a:solidFill>
                <a:latin typeface="Consolas"/>
                <a:ea typeface="Consolas"/>
                <a:cs typeface="Consolas"/>
                <a:sym typeface="Consolas"/>
              </a:rPr>
              <a:t>   </a:t>
            </a:r>
            <a:r>
              <a:rPr lang="en-US" sz="12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accent3"/>
                </a:solidFill>
                <a:latin typeface="Consolas"/>
                <a:ea typeface="Consolas"/>
                <a:cs typeface="Consolas"/>
                <a:sym typeface="Consolas"/>
              </a:rPr>
              <a:t>  </a:t>
            </a:r>
            <a:r>
              <a:rPr lang="en-US" sz="1600" b="0" dirty="0">
                <a:solidFill>
                  <a:schemeClr val="accent3"/>
                </a:solidFill>
                <a:highlight>
                  <a:srgbClr val="E6DAFF"/>
                </a:highlight>
                <a:latin typeface="Consolas"/>
                <a:ea typeface="Consolas"/>
                <a:cs typeface="Consolas"/>
                <a:sym typeface="Consolas"/>
              </a:rPr>
              <a:t>Map</a:t>
            </a:r>
            <a:r>
              <a:rPr lang="en-US" sz="1600" b="0" dirty="0">
                <a:solidFill>
                  <a:schemeClr val="dk1"/>
                </a:solidFill>
                <a:highlight>
                  <a:srgbClr val="E6DAFF"/>
                </a:highlight>
                <a:latin typeface="Consolas"/>
                <a:ea typeface="Consolas"/>
                <a:cs typeface="Consolas"/>
                <a:sym typeface="Consolas"/>
              </a:rPr>
              <a:t>&lt;</a:t>
            </a:r>
            <a:r>
              <a:rPr lang="en-US" sz="1600" b="0" dirty="0">
                <a:solidFill>
                  <a:schemeClr val="accent3"/>
                </a:solidFill>
                <a:highlight>
                  <a:srgbClr val="E6DAFF"/>
                </a:highlight>
                <a:latin typeface="Consolas"/>
                <a:ea typeface="Consolas"/>
                <a:cs typeface="Consolas"/>
                <a:sym typeface="Consolas"/>
              </a:rPr>
              <a:t>Node, Edge</a:t>
            </a:r>
            <a:r>
              <a:rPr lang="en-US" sz="1600" b="0" dirty="0">
                <a:solidFill>
                  <a:schemeClr val="dk1"/>
                </a:solidFill>
                <a:highlight>
                  <a:srgbClr val="E6DAFF"/>
                </a:highlight>
                <a:latin typeface="Consolas"/>
                <a:ea typeface="Consolas"/>
                <a:cs typeface="Consolas"/>
                <a:sym typeface="Consolas"/>
              </a:rPr>
              <a:t>&gt; PN = ...</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highlight>
                  <a:srgbClr val="E6DAFF"/>
                </a:highlight>
                <a:latin typeface="Consolas"/>
                <a:ea typeface="Consolas"/>
                <a:cs typeface="Consolas"/>
                <a:sym typeface="Consolas"/>
              </a:rPr>
              <a:t>Map</a:t>
            </a:r>
            <a:r>
              <a:rPr lang="en-US" sz="1600" b="0" dirty="0">
                <a:solidFill>
                  <a:schemeClr val="dk1"/>
                </a:solidFill>
                <a:highlight>
                  <a:srgbClr val="E6DAFF"/>
                </a:highlight>
                <a:latin typeface="Consolas"/>
                <a:ea typeface="Consolas"/>
                <a:cs typeface="Consolas"/>
                <a:sym typeface="Consolas"/>
              </a:rPr>
              <a:t>&lt;</a:t>
            </a:r>
            <a:r>
              <a:rPr lang="en-US" sz="1600" b="0" dirty="0">
                <a:solidFill>
                  <a:schemeClr val="accent3"/>
                </a:solidFill>
                <a:highlight>
                  <a:srgbClr val="E6DAFF"/>
                </a:highlight>
                <a:latin typeface="Consolas"/>
                <a:ea typeface="Consolas"/>
                <a:cs typeface="Consolas"/>
                <a:sym typeface="Consolas"/>
              </a:rPr>
              <a:t>Node, Double</a:t>
            </a:r>
            <a:r>
              <a:rPr lang="en-US" sz="1600" b="0" dirty="0">
                <a:solidFill>
                  <a:schemeClr val="dk1"/>
                </a:solidFill>
                <a:highlight>
                  <a:srgbClr val="E6DAFF"/>
                </a:highlight>
                <a:latin typeface="Consolas"/>
                <a:ea typeface="Consolas"/>
                <a:cs typeface="Consolas"/>
                <a:sym typeface="Consolas"/>
              </a:rPr>
              <a:t>&gt; SD = ...</a:t>
            </a:r>
            <a:endParaRPr dirty="0">
              <a:highlight>
                <a:srgbClr val="E6DAFF"/>
              </a:highlight>
            </a:endParaRPr>
          </a:p>
          <a:p>
            <a:pPr marL="0" marR="0" lvl="0" indent="0" algn="l" rtl="0">
              <a:lnSpc>
                <a:spcPct val="120000"/>
              </a:lnSpc>
              <a:spcBef>
                <a:spcPts val="0"/>
              </a:spcBef>
              <a:spcAft>
                <a:spcPts val="0"/>
              </a:spcAft>
              <a:buClr>
                <a:srgbClr val="4B2A85"/>
              </a:buClr>
              <a:buSzPts val="480"/>
              <a:buFont typeface="Noto Sans Symbols"/>
              <a:buNone/>
            </a:pPr>
            <a:endParaRPr sz="8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PN.</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(start, </a:t>
            </a:r>
            <a:r>
              <a:rPr lang="en-US" sz="1600" b="0" dirty="0">
                <a:solidFill>
                  <a:schemeClr val="accent5"/>
                </a:solidFill>
                <a:highlight>
                  <a:srgbClr val="E6DAFF"/>
                </a:highlight>
                <a:latin typeface="Consolas"/>
                <a:ea typeface="Consolas"/>
                <a:cs typeface="Consolas"/>
                <a:sym typeface="Consolas"/>
              </a:rPr>
              <a:t>null</a:t>
            </a:r>
            <a:r>
              <a:rPr lang="en-US" sz="1600" b="0" dirty="0">
                <a:solidFill>
                  <a:schemeClr val="dk1"/>
                </a:solidFill>
                <a:highlight>
                  <a:srgbClr val="E6DAFF"/>
                </a:highlight>
                <a:latin typeface="Consolas"/>
                <a:ea typeface="Consolas"/>
                <a:cs typeface="Consolas"/>
                <a:sym typeface="Consolas"/>
              </a:rPr>
              <a:t>);</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SD.</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(start, </a:t>
            </a:r>
            <a:r>
              <a:rPr lang="en-US" sz="1600" b="0" dirty="0">
                <a:solidFill>
                  <a:schemeClr val="accent5"/>
                </a:solidFill>
                <a:highlight>
                  <a:srgbClr val="E6DAFF"/>
                </a:highlight>
                <a:latin typeface="Consolas"/>
                <a:ea typeface="Consolas"/>
                <a:cs typeface="Consolas"/>
                <a:sym typeface="Consolas"/>
              </a:rPr>
              <a:t>0.0</a:t>
            </a:r>
            <a:r>
              <a:rPr lang="en-US" sz="1600" b="0" dirty="0">
                <a:solidFill>
                  <a:schemeClr val="dk1"/>
                </a:solidFill>
                <a:highlight>
                  <a:srgbClr val="E6DAFF"/>
                </a:highlight>
                <a:latin typeface="Consolas"/>
                <a:ea typeface="Consolas"/>
                <a:cs typeface="Consolas"/>
                <a:sym typeface="Consolas"/>
              </a:rPr>
              <a:t>);</a:t>
            </a:r>
            <a:endParaRPr dirty="0">
              <a:highlight>
                <a:srgbClr val="E6DAFF"/>
              </a:highlight>
            </a:endParaRPr>
          </a:p>
          <a:p>
            <a:pPr marL="0" marR="0" lvl="0" indent="0" algn="l" rtl="0">
              <a:lnSpc>
                <a:spcPct val="120000"/>
              </a:lnSpc>
              <a:spcBef>
                <a:spcPts val="0"/>
              </a:spcBef>
              <a:spcAft>
                <a:spcPts val="0"/>
              </a:spcAft>
              <a:buClr>
                <a:srgbClr val="4B2A85"/>
              </a:buClr>
              <a:buSzPts val="480"/>
              <a:buFont typeface="Noto Sans Symbols"/>
              <a:buNone/>
            </a:pPr>
            <a:endParaRPr sz="8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while</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perimeter.</a:t>
            </a:r>
            <a:r>
              <a:rPr lang="en-US" sz="1600" b="1" dirty="0" err="1">
                <a:solidFill>
                  <a:schemeClr val="dk1"/>
                </a:solidFill>
                <a:latin typeface="Consolas"/>
                <a:ea typeface="Consolas"/>
                <a:cs typeface="Consolas"/>
                <a:sym typeface="Consolas"/>
              </a:rPr>
              <a:t>isEmpty</a:t>
            </a: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Node</a:t>
            </a:r>
            <a:r>
              <a:rPr lang="en-US" sz="1600" b="0" dirty="0">
                <a:solidFill>
                  <a:schemeClr val="dk1"/>
                </a:solidFill>
                <a:latin typeface="Consolas"/>
                <a:ea typeface="Consolas"/>
                <a:cs typeface="Consolas"/>
                <a:sym typeface="Consolas"/>
              </a:rPr>
              <a:t> from = </a:t>
            </a:r>
            <a:r>
              <a:rPr lang="en-US" sz="1600" b="0" dirty="0" err="1">
                <a:solidFill>
                  <a:schemeClr val="dk1"/>
                </a:solidFill>
                <a:latin typeface="Consolas"/>
                <a:ea typeface="Consolas"/>
                <a:cs typeface="Consolas"/>
                <a:sym typeface="Consolas"/>
              </a:rPr>
              <a:t>perimeter.</a:t>
            </a:r>
            <a:r>
              <a:rPr lang="en-US" sz="1600" b="1" dirty="0" err="1">
                <a:solidFill>
                  <a:schemeClr val="dk1"/>
                </a:solidFill>
                <a:latin typeface="Consolas"/>
                <a:ea typeface="Consolas"/>
                <a:cs typeface="Consolas"/>
                <a:sym typeface="Consolas"/>
              </a:rPr>
              <a:t>remove</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accent2"/>
                </a:solidFill>
                <a:latin typeface="Consolas"/>
                <a:ea typeface="Consolas"/>
                <a:cs typeface="Consolas"/>
                <a:sym typeface="Consolas"/>
              </a:rPr>
              <a:t>    for</a:t>
            </a: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Edge</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edge</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graph.</a:t>
            </a:r>
            <a:r>
              <a:rPr lang="en-US" sz="1600" b="1" dirty="0" err="1">
                <a:solidFill>
                  <a:schemeClr val="dk1"/>
                </a:solidFill>
                <a:latin typeface="Consolas"/>
                <a:ea typeface="Consolas"/>
                <a:cs typeface="Consolas"/>
                <a:sym typeface="Consolas"/>
              </a:rPr>
              <a:t>edgesFrom</a:t>
            </a:r>
            <a:r>
              <a:rPr lang="en-US" sz="1600" b="0" dirty="0">
                <a:solidFill>
                  <a:schemeClr val="dk1"/>
                </a:solidFill>
                <a:latin typeface="Consolas"/>
                <a:ea typeface="Consolas"/>
                <a:cs typeface="Consolas"/>
                <a:sym typeface="Consolas"/>
              </a:rPr>
              <a:t>(from))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Node</a:t>
            </a:r>
            <a:r>
              <a:rPr lang="en-US" sz="1600" b="0" dirty="0">
                <a:solidFill>
                  <a:schemeClr val="dk1"/>
                </a:solidFill>
                <a:latin typeface="Consolas"/>
                <a:ea typeface="Consolas"/>
                <a:cs typeface="Consolas"/>
                <a:sym typeface="Consolas"/>
              </a:rPr>
              <a:t> to = edge.</a:t>
            </a:r>
            <a:r>
              <a:rPr lang="en-US" sz="1600" b="1" dirty="0">
                <a:solidFill>
                  <a:schemeClr val="dk1"/>
                </a:solidFill>
                <a:latin typeface="Consolas"/>
                <a:ea typeface="Consolas"/>
                <a:cs typeface="Consolas"/>
                <a:sym typeface="Consolas"/>
              </a:rPr>
              <a:t>to</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if</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visited.</a:t>
            </a:r>
            <a:r>
              <a:rPr lang="en-US" sz="1600" b="1" dirty="0" err="1">
                <a:solidFill>
                  <a:schemeClr val="dk1"/>
                </a:solidFill>
                <a:latin typeface="Consolas"/>
                <a:ea typeface="Consolas"/>
                <a:cs typeface="Consolas"/>
                <a:sym typeface="Consolas"/>
              </a:rPr>
              <a:t>contains</a:t>
            </a:r>
            <a:r>
              <a:rPr lang="en-US" sz="1600" b="0" dirty="0">
                <a:solidFill>
                  <a:schemeClr val="dk1"/>
                </a:solidFill>
                <a:latin typeface="Consolas"/>
                <a:ea typeface="Consolas"/>
                <a:cs typeface="Consolas"/>
                <a:sym typeface="Consolas"/>
              </a:rPr>
              <a:t>(to))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PN.</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(to, edge);</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SD.</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(to, </a:t>
            </a:r>
            <a:r>
              <a:rPr lang="en-US" sz="1600" b="0" dirty="0" err="1">
                <a:solidFill>
                  <a:schemeClr val="dk1"/>
                </a:solidFill>
                <a:highlight>
                  <a:srgbClr val="E6DAFF"/>
                </a:highlight>
                <a:latin typeface="Consolas"/>
                <a:ea typeface="Consolas"/>
                <a:cs typeface="Consolas"/>
                <a:sym typeface="Consolas"/>
              </a:rPr>
              <a:t>SD.</a:t>
            </a:r>
            <a:r>
              <a:rPr lang="en-US" sz="1600" b="1" dirty="0" err="1">
                <a:solidFill>
                  <a:schemeClr val="dk1"/>
                </a:solidFill>
                <a:highlight>
                  <a:srgbClr val="E6DAFF"/>
                </a:highlight>
                <a:latin typeface="Consolas"/>
                <a:ea typeface="Consolas"/>
                <a:cs typeface="Consolas"/>
                <a:sym typeface="Consolas"/>
              </a:rPr>
              <a:t>get</a:t>
            </a:r>
            <a:r>
              <a:rPr lang="en-US" sz="1600" b="0" dirty="0">
                <a:solidFill>
                  <a:schemeClr val="dk1"/>
                </a:solidFill>
                <a:highlight>
                  <a:srgbClr val="E6DAFF"/>
                </a:highlight>
                <a:latin typeface="Consolas"/>
                <a:ea typeface="Consolas"/>
                <a:cs typeface="Consolas"/>
                <a:sym typeface="Consolas"/>
              </a:rPr>
              <a:t>(from) + </a:t>
            </a:r>
            <a:r>
              <a:rPr lang="en-US" sz="1600" b="0" dirty="0">
                <a:solidFill>
                  <a:schemeClr val="accent5"/>
                </a:solidFill>
                <a:highlight>
                  <a:srgbClr val="E6DAFF"/>
                </a:highlight>
                <a:latin typeface="Consolas"/>
                <a:ea typeface="Consolas"/>
                <a:cs typeface="Consolas"/>
                <a:sym typeface="Consolas"/>
              </a:rPr>
              <a:t>1</a:t>
            </a:r>
            <a:r>
              <a:rPr lang="en-US" sz="1600" b="0" dirty="0">
                <a:solidFill>
                  <a:schemeClr val="dk1"/>
                </a:solidFill>
                <a:highlight>
                  <a:srgbClr val="E6DAFF"/>
                </a:highlight>
                <a:latin typeface="Consolas"/>
                <a:ea typeface="Consolas"/>
                <a:cs typeface="Consolas"/>
                <a:sym typeface="Consolas"/>
              </a:rPr>
              <a:t>);</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perimeter.</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(to);</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visited.</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(to);</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highlight>
                  <a:srgbClr val="E6DAFF"/>
                </a:highlight>
                <a:latin typeface="Consolas"/>
                <a:ea typeface="Consolas"/>
                <a:cs typeface="Consolas"/>
                <a:sym typeface="Consolas"/>
              </a:rPr>
              <a:t>return</a:t>
            </a:r>
            <a:r>
              <a:rPr lang="en-US" sz="1600" b="0" dirty="0">
                <a:solidFill>
                  <a:schemeClr val="dk1"/>
                </a:solidFill>
                <a:highlight>
                  <a:srgbClr val="E6DAFF"/>
                </a:highlight>
                <a:latin typeface="Consolas"/>
                <a:ea typeface="Consolas"/>
                <a:cs typeface="Consolas"/>
                <a:sym typeface="Consolas"/>
              </a:rPr>
              <a:t> PN;</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a:t>
            </a:r>
            <a:endParaRPr dirty="0"/>
          </a:p>
        </p:txBody>
      </p:sp>
      <p:sp>
        <p:nvSpPr>
          <p:cNvPr id="4" name="Title 1">
            <a:extLst>
              <a:ext uri="{FF2B5EF4-FFF2-40B4-BE49-F238E27FC236}">
                <a16:creationId xmlns:a16="http://schemas.microsoft.com/office/drawing/2014/main" id="{4B9624BB-016D-1869-C63D-51C1E4B63E15}"/>
              </a:ext>
            </a:extLst>
          </p:cNvPr>
          <p:cNvSpPr>
            <a:spLocks noGrp="1"/>
          </p:cNvSpPr>
          <p:nvPr>
            <p:ph type="title"/>
          </p:nvPr>
        </p:nvSpPr>
        <p:spPr>
          <a:xfrm>
            <a:off x="502500" y="145707"/>
            <a:ext cx="11187000" cy="1014900"/>
          </a:xfrm>
        </p:spPr>
        <p:txBody>
          <a:bodyPr>
            <a:normAutofit fontScale="90000"/>
          </a:bodyPr>
          <a:lstStyle/>
          <a:p>
            <a:r>
              <a:rPr lang="en-GB" dirty="0"/>
              <a:t>BFS for Shortest Paths in an Unweighted Graph</a:t>
            </a:r>
            <a:endParaRPr lang="en-SE" dirty="0"/>
          </a:p>
        </p:txBody>
      </p:sp>
      <p:sp>
        <p:nvSpPr>
          <p:cNvPr id="5" name="Google Shape;813;p47">
            <a:extLst>
              <a:ext uri="{FF2B5EF4-FFF2-40B4-BE49-F238E27FC236}">
                <a16:creationId xmlns:a16="http://schemas.microsoft.com/office/drawing/2014/main" id="{8482B78F-C53B-4E7E-1344-6AC7B898320D}"/>
              </a:ext>
            </a:extLst>
          </p:cNvPr>
          <p:cNvSpPr/>
          <p:nvPr/>
        </p:nvSpPr>
        <p:spPr>
          <a:xfrm>
            <a:off x="1770102" y="436289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A</a:t>
            </a:r>
            <a:endParaRPr sz="2133" b="0" i="0" u="none" strike="noStrike" cap="none">
              <a:solidFill>
                <a:srgbClr val="000000"/>
              </a:solidFill>
              <a:latin typeface="Calibri"/>
              <a:ea typeface="Calibri"/>
              <a:cs typeface="Calibri"/>
              <a:sym typeface="Calibri"/>
            </a:endParaRPr>
          </a:p>
        </p:txBody>
      </p:sp>
      <p:sp>
        <p:nvSpPr>
          <p:cNvPr id="6" name="Google Shape;814;p47">
            <a:extLst>
              <a:ext uri="{FF2B5EF4-FFF2-40B4-BE49-F238E27FC236}">
                <a16:creationId xmlns:a16="http://schemas.microsoft.com/office/drawing/2014/main" id="{34C2EE0E-F158-08C1-67FF-79E3D05A4BF8}"/>
              </a:ext>
            </a:extLst>
          </p:cNvPr>
          <p:cNvSpPr/>
          <p:nvPr/>
        </p:nvSpPr>
        <p:spPr>
          <a:xfrm>
            <a:off x="1921381" y="5810987"/>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B</a:t>
            </a:r>
            <a:endParaRPr sz="2133" b="0" i="0" u="none" strike="noStrike" cap="none">
              <a:solidFill>
                <a:srgbClr val="000000"/>
              </a:solidFill>
              <a:latin typeface="Calibri"/>
              <a:ea typeface="Calibri"/>
              <a:cs typeface="Calibri"/>
              <a:sym typeface="Calibri"/>
            </a:endParaRPr>
          </a:p>
        </p:txBody>
      </p:sp>
      <p:sp>
        <p:nvSpPr>
          <p:cNvPr id="7" name="Google Shape;815;p47">
            <a:extLst>
              <a:ext uri="{FF2B5EF4-FFF2-40B4-BE49-F238E27FC236}">
                <a16:creationId xmlns:a16="http://schemas.microsoft.com/office/drawing/2014/main" id="{5423CAF4-86ED-65E5-4677-E7442EF7225A}"/>
              </a:ext>
            </a:extLst>
          </p:cNvPr>
          <p:cNvSpPr/>
          <p:nvPr/>
        </p:nvSpPr>
        <p:spPr>
          <a:xfrm>
            <a:off x="4356079" y="3939899"/>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E</a:t>
            </a:r>
            <a:endParaRPr sz="2133" b="0" i="0" u="none" strike="noStrike" cap="none">
              <a:solidFill>
                <a:srgbClr val="000000"/>
              </a:solidFill>
              <a:latin typeface="Calibri"/>
              <a:ea typeface="Calibri"/>
              <a:cs typeface="Calibri"/>
              <a:sym typeface="Calibri"/>
            </a:endParaRPr>
          </a:p>
        </p:txBody>
      </p:sp>
      <p:sp>
        <p:nvSpPr>
          <p:cNvPr id="8" name="Google Shape;816;p47">
            <a:extLst>
              <a:ext uri="{FF2B5EF4-FFF2-40B4-BE49-F238E27FC236}">
                <a16:creationId xmlns:a16="http://schemas.microsoft.com/office/drawing/2014/main" id="{E651AB65-9354-390E-BDDD-6B1CDB471342}"/>
              </a:ext>
            </a:extLst>
          </p:cNvPr>
          <p:cNvSpPr/>
          <p:nvPr/>
        </p:nvSpPr>
        <p:spPr>
          <a:xfrm>
            <a:off x="3200203" y="4605599"/>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9" name="Google Shape;817;p47">
            <a:extLst>
              <a:ext uri="{FF2B5EF4-FFF2-40B4-BE49-F238E27FC236}">
                <a16:creationId xmlns:a16="http://schemas.microsoft.com/office/drawing/2014/main" id="{7E59C1DA-D935-0E5B-B937-C2A9154191B0}"/>
              </a:ext>
            </a:extLst>
          </p:cNvPr>
          <p:cNvSpPr/>
          <p:nvPr/>
        </p:nvSpPr>
        <p:spPr>
          <a:xfrm>
            <a:off x="3833037" y="5979587"/>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cxnSp>
        <p:nvCxnSpPr>
          <p:cNvPr id="10" name="Google Shape;818;p47">
            <a:extLst>
              <a:ext uri="{FF2B5EF4-FFF2-40B4-BE49-F238E27FC236}">
                <a16:creationId xmlns:a16="http://schemas.microsoft.com/office/drawing/2014/main" id="{47AB3866-A696-1E9B-F2D5-54E4724AE823}"/>
              </a:ext>
            </a:extLst>
          </p:cNvPr>
          <p:cNvCxnSpPr>
            <a:stCxn id="5" idx="2"/>
            <a:endCxn id="6" idx="0"/>
          </p:cNvCxnSpPr>
          <p:nvPr/>
        </p:nvCxnSpPr>
        <p:spPr>
          <a:xfrm>
            <a:off x="1981702" y="4700093"/>
            <a:ext cx="151200" cy="1110900"/>
          </a:xfrm>
          <a:prstGeom prst="straightConnector1">
            <a:avLst/>
          </a:prstGeom>
          <a:noFill/>
          <a:ln w="19050" cap="flat" cmpd="sng">
            <a:solidFill>
              <a:schemeClr val="dk2"/>
            </a:solidFill>
            <a:prstDash val="solid"/>
            <a:round/>
            <a:headEnd type="none" w="sm" len="sm"/>
            <a:tailEnd type="none" w="sm" len="sm"/>
          </a:ln>
        </p:spPr>
      </p:cxnSp>
      <p:cxnSp>
        <p:nvCxnSpPr>
          <p:cNvPr id="11" name="Google Shape;819;p47">
            <a:extLst>
              <a:ext uri="{FF2B5EF4-FFF2-40B4-BE49-F238E27FC236}">
                <a16:creationId xmlns:a16="http://schemas.microsoft.com/office/drawing/2014/main" id="{D5E5773B-2B71-3FEB-BA82-80DE074119A4}"/>
              </a:ext>
            </a:extLst>
          </p:cNvPr>
          <p:cNvCxnSpPr>
            <a:stCxn id="5" idx="3"/>
            <a:endCxn id="8" idx="1"/>
          </p:cNvCxnSpPr>
          <p:nvPr/>
        </p:nvCxnSpPr>
        <p:spPr>
          <a:xfrm>
            <a:off x="2193302" y="4531493"/>
            <a:ext cx="1006800" cy="242700"/>
          </a:xfrm>
          <a:prstGeom prst="straightConnector1">
            <a:avLst/>
          </a:prstGeom>
          <a:noFill/>
          <a:ln w="19050" cap="flat" cmpd="sng">
            <a:solidFill>
              <a:schemeClr val="dk2"/>
            </a:solidFill>
            <a:prstDash val="solid"/>
            <a:round/>
            <a:headEnd type="none" w="sm" len="sm"/>
            <a:tailEnd type="none" w="sm" len="sm"/>
          </a:ln>
        </p:spPr>
      </p:cxnSp>
      <p:cxnSp>
        <p:nvCxnSpPr>
          <p:cNvPr id="12" name="Google Shape;820;p47">
            <a:extLst>
              <a:ext uri="{FF2B5EF4-FFF2-40B4-BE49-F238E27FC236}">
                <a16:creationId xmlns:a16="http://schemas.microsoft.com/office/drawing/2014/main" id="{9B03C456-129C-8167-3509-D033260C87E8}"/>
              </a:ext>
            </a:extLst>
          </p:cNvPr>
          <p:cNvCxnSpPr>
            <a:stCxn id="7" idx="2"/>
            <a:endCxn id="8" idx="3"/>
          </p:cNvCxnSpPr>
          <p:nvPr/>
        </p:nvCxnSpPr>
        <p:spPr>
          <a:xfrm flipH="1">
            <a:off x="3623279" y="4277099"/>
            <a:ext cx="944400" cy="497100"/>
          </a:xfrm>
          <a:prstGeom prst="straightConnector1">
            <a:avLst/>
          </a:prstGeom>
          <a:noFill/>
          <a:ln w="19050" cap="flat" cmpd="sng">
            <a:solidFill>
              <a:schemeClr val="dk2"/>
            </a:solidFill>
            <a:prstDash val="solid"/>
            <a:round/>
            <a:headEnd type="none" w="sm" len="sm"/>
            <a:tailEnd type="none" w="sm" len="sm"/>
          </a:ln>
        </p:spPr>
      </p:cxnSp>
      <p:cxnSp>
        <p:nvCxnSpPr>
          <p:cNvPr id="13" name="Google Shape;821;p47">
            <a:extLst>
              <a:ext uri="{FF2B5EF4-FFF2-40B4-BE49-F238E27FC236}">
                <a16:creationId xmlns:a16="http://schemas.microsoft.com/office/drawing/2014/main" id="{95497186-D953-A935-4B92-84E0FBB7E7CD}"/>
              </a:ext>
            </a:extLst>
          </p:cNvPr>
          <p:cNvCxnSpPr>
            <a:stCxn id="6" idx="3"/>
            <a:endCxn id="9" idx="1"/>
          </p:cNvCxnSpPr>
          <p:nvPr/>
        </p:nvCxnSpPr>
        <p:spPr>
          <a:xfrm>
            <a:off x="2344581" y="5979587"/>
            <a:ext cx="1488600" cy="168600"/>
          </a:xfrm>
          <a:prstGeom prst="straightConnector1">
            <a:avLst/>
          </a:prstGeom>
          <a:noFill/>
          <a:ln w="19050" cap="flat" cmpd="sng">
            <a:solidFill>
              <a:schemeClr val="dk2"/>
            </a:solidFill>
            <a:prstDash val="solid"/>
            <a:round/>
            <a:headEnd type="none" w="sm" len="sm"/>
            <a:tailEnd type="none" w="sm" len="sm"/>
          </a:ln>
        </p:spPr>
      </p:cxnSp>
      <p:sp>
        <p:nvSpPr>
          <p:cNvPr id="14" name="Google Shape;822;p47">
            <a:extLst>
              <a:ext uri="{FF2B5EF4-FFF2-40B4-BE49-F238E27FC236}">
                <a16:creationId xmlns:a16="http://schemas.microsoft.com/office/drawing/2014/main" id="{15711629-4FC0-767E-AEC8-B1C800AA550D}"/>
              </a:ext>
            </a:extLst>
          </p:cNvPr>
          <p:cNvSpPr txBox="1"/>
          <p:nvPr/>
        </p:nvSpPr>
        <p:spPr>
          <a:xfrm>
            <a:off x="771673" y="4277099"/>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15" name="Google Shape;823;p47">
            <a:extLst>
              <a:ext uri="{FF2B5EF4-FFF2-40B4-BE49-F238E27FC236}">
                <a16:creationId xmlns:a16="http://schemas.microsoft.com/office/drawing/2014/main" id="{9E0054A6-1C20-844C-EE0D-73A3DE956ED1}"/>
              </a:ext>
            </a:extLst>
          </p:cNvPr>
          <p:cNvSpPr txBox="1"/>
          <p:nvPr/>
        </p:nvSpPr>
        <p:spPr>
          <a:xfrm>
            <a:off x="771673" y="4086465"/>
            <a:ext cx="101341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VISITED</a:t>
            </a:r>
            <a:endParaRPr/>
          </a:p>
        </p:txBody>
      </p:sp>
      <p:sp>
        <p:nvSpPr>
          <p:cNvPr id="16" name="Google Shape;824;p47">
            <a:extLst>
              <a:ext uri="{FF2B5EF4-FFF2-40B4-BE49-F238E27FC236}">
                <a16:creationId xmlns:a16="http://schemas.microsoft.com/office/drawing/2014/main" id="{7CD07102-84F0-4385-002A-11651DC0B942}"/>
              </a:ext>
            </a:extLst>
          </p:cNvPr>
          <p:cNvSpPr/>
          <p:nvPr/>
        </p:nvSpPr>
        <p:spPr>
          <a:xfrm>
            <a:off x="1716850" y="4307273"/>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7" name="Google Shape;825;p47">
            <a:extLst>
              <a:ext uri="{FF2B5EF4-FFF2-40B4-BE49-F238E27FC236}">
                <a16:creationId xmlns:a16="http://schemas.microsoft.com/office/drawing/2014/main" id="{A4E39826-7D51-A2AC-3275-6A6B5E4CA723}"/>
              </a:ext>
            </a:extLst>
          </p:cNvPr>
          <p:cNvSpPr/>
          <p:nvPr/>
        </p:nvSpPr>
        <p:spPr>
          <a:xfrm>
            <a:off x="1871342" y="5755874"/>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8" name="Google Shape;826;p47">
            <a:extLst>
              <a:ext uri="{FF2B5EF4-FFF2-40B4-BE49-F238E27FC236}">
                <a16:creationId xmlns:a16="http://schemas.microsoft.com/office/drawing/2014/main" id="{59A3DA50-596E-D3E6-A4BE-F3891825A716}"/>
              </a:ext>
            </a:extLst>
          </p:cNvPr>
          <p:cNvSpPr/>
          <p:nvPr/>
        </p:nvSpPr>
        <p:spPr>
          <a:xfrm>
            <a:off x="3775725" y="5924474"/>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9" name="Google Shape;827;p47">
            <a:extLst>
              <a:ext uri="{FF2B5EF4-FFF2-40B4-BE49-F238E27FC236}">
                <a16:creationId xmlns:a16="http://schemas.microsoft.com/office/drawing/2014/main" id="{FF11F5C4-B1AA-CEA0-612A-509E7B754345}"/>
              </a:ext>
            </a:extLst>
          </p:cNvPr>
          <p:cNvSpPr/>
          <p:nvPr/>
        </p:nvSpPr>
        <p:spPr>
          <a:xfrm>
            <a:off x="3150165" y="4548979"/>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20" name="Google Shape;828;p47">
            <a:extLst>
              <a:ext uri="{FF2B5EF4-FFF2-40B4-BE49-F238E27FC236}">
                <a16:creationId xmlns:a16="http://schemas.microsoft.com/office/drawing/2014/main" id="{CA865C85-1789-0872-549F-2E234EF565E3}"/>
              </a:ext>
            </a:extLst>
          </p:cNvPr>
          <p:cNvSpPr/>
          <p:nvPr/>
        </p:nvSpPr>
        <p:spPr>
          <a:xfrm>
            <a:off x="4306041" y="3884786"/>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cxnSp>
        <p:nvCxnSpPr>
          <p:cNvPr id="21" name="Google Shape;829;p47">
            <a:extLst>
              <a:ext uri="{FF2B5EF4-FFF2-40B4-BE49-F238E27FC236}">
                <a16:creationId xmlns:a16="http://schemas.microsoft.com/office/drawing/2014/main" id="{B8AA322F-1BD0-9E75-67A8-D56A4BE9C3BD}"/>
              </a:ext>
            </a:extLst>
          </p:cNvPr>
          <p:cNvCxnSpPr>
            <a:stCxn id="8" idx="2"/>
            <a:endCxn id="9" idx="0"/>
          </p:cNvCxnSpPr>
          <p:nvPr/>
        </p:nvCxnSpPr>
        <p:spPr>
          <a:xfrm>
            <a:off x="3411803" y="4942799"/>
            <a:ext cx="632700" cy="1036800"/>
          </a:xfrm>
          <a:prstGeom prst="straightConnector1">
            <a:avLst/>
          </a:prstGeom>
          <a:noFill/>
          <a:ln w="19050" cap="flat" cmpd="sng">
            <a:solidFill>
              <a:schemeClr val="dk2"/>
            </a:solidFill>
            <a:prstDash val="solid"/>
            <a:round/>
            <a:headEnd type="none" w="sm" len="sm"/>
            <a:tailEnd type="none" w="sm" len="sm"/>
          </a:ln>
        </p:spPr>
      </p:cxnSp>
      <p:sp>
        <p:nvSpPr>
          <p:cNvPr id="22" name="Google Shape;830;p47">
            <a:extLst>
              <a:ext uri="{FF2B5EF4-FFF2-40B4-BE49-F238E27FC236}">
                <a16:creationId xmlns:a16="http://schemas.microsoft.com/office/drawing/2014/main" id="{0F21C23F-8702-2E49-8831-02B2DC9E5E35}"/>
              </a:ext>
            </a:extLst>
          </p:cNvPr>
          <p:cNvSpPr txBox="1"/>
          <p:nvPr/>
        </p:nvSpPr>
        <p:spPr>
          <a:xfrm>
            <a:off x="1143894" y="2742103"/>
            <a:ext cx="139653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5"/>
                </a:solidFill>
                <a:latin typeface="Quattrocento Sans"/>
                <a:ea typeface="Quattrocento Sans"/>
                <a:cs typeface="Quattrocento Sans"/>
                <a:sym typeface="Quattrocento Sans"/>
              </a:rPr>
              <a:t>PERIMETER</a:t>
            </a:r>
            <a:endParaRPr/>
          </a:p>
        </p:txBody>
      </p:sp>
      <p:graphicFrame>
        <p:nvGraphicFramePr>
          <p:cNvPr id="23" name="Google Shape;831;p47">
            <a:extLst>
              <a:ext uri="{FF2B5EF4-FFF2-40B4-BE49-F238E27FC236}">
                <a16:creationId xmlns:a16="http://schemas.microsoft.com/office/drawing/2014/main" id="{C4FB4627-D306-79A3-F8AA-E7EBCE83AF6E}"/>
              </a:ext>
            </a:extLst>
          </p:cNvPr>
          <p:cNvGraphicFramePr/>
          <p:nvPr>
            <p:extLst>
              <p:ext uri="{D42A27DB-BD31-4B8C-83A1-F6EECF244321}">
                <p14:modId xmlns:p14="http://schemas.microsoft.com/office/powerpoint/2010/main" val="2353291797"/>
              </p:ext>
            </p:extLst>
          </p:nvPr>
        </p:nvGraphicFramePr>
        <p:xfrm>
          <a:off x="1184636" y="3141004"/>
          <a:ext cx="4643000" cy="568550"/>
        </p:xfrm>
        <a:graphic>
          <a:graphicData uri="http://schemas.openxmlformats.org/drawingml/2006/table">
            <a:tbl>
              <a:tblPr firstRow="1" bandRow="1">
                <a:noFill/>
                <a:tableStyleId>{C6F4A71E-2EC3-4D22-9284-7B01D5CB0B2A}</a:tableStyleId>
              </a:tblPr>
              <a:tblGrid>
                <a:gridCol w="4643000">
                  <a:extLst>
                    <a:ext uri="{9D8B030D-6E8A-4147-A177-3AD203B41FA5}">
                      <a16:colId xmlns:a16="http://schemas.microsoft.com/office/drawing/2014/main" val="20000"/>
                    </a:ext>
                  </a:extLst>
                </a:gridCol>
              </a:tblGrid>
              <a:tr h="568550">
                <a:tc>
                  <a:txBody>
                    <a:bodyPr/>
                    <a:lstStyle/>
                    <a:p>
                      <a:pPr marL="0" marR="0" lvl="0" indent="0" algn="l" rtl="0">
                        <a:spcBef>
                          <a:spcPts val="0"/>
                        </a:spcBef>
                        <a:spcAft>
                          <a:spcPts val="0"/>
                        </a:spcAft>
                        <a:buNone/>
                      </a:pPr>
                      <a:endParaRPr sz="1800"/>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38100" cap="flat" cmpd="sng">
                      <a:solidFill>
                        <a:schemeClr val="accent5"/>
                      </a:solidFill>
                      <a:prstDash val="solid"/>
                      <a:round/>
                      <a:headEnd type="none" w="sm" len="sm"/>
                      <a:tailEnd type="none" w="sm" len="sm"/>
                    </a:lnT>
                    <a:lnB w="38100" cap="flat" cmpd="sng">
                      <a:solidFill>
                        <a:schemeClr val="accent5"/>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bl>
          </a:graphicData>
        </a:graphic>
      </p:graphicFrame>
      <p:sp>
        <p:nvSpPr>
          <p:cNvPr id="24" name="Google Shape;832;p47">
            <a:extLst>
              <a:ext uri="{FF2B5EF4-FFF2-40B4-BE49-F238E27FC236}">
                <a16:creationId xmlns:a16="http://schemas.microsoft.com/office/drawing/2014/main" id="{0A64360B-E6D3-BE89-4343-42E04FD6949A}"/>
              </a:ext>
            </a:extLst>
          </p:cNvPr>
          <p:cNvSpPr/>
          <p:nvPr/>
        </p:nvSpPr>
        <p:spPr>
          <a:xfrm>
            <a:off x="916277" y="3286667"/>
            <a:ext cx="268359" cy="277219"/>
          </a:xfrm>
          <a:prstGeom prst="leftArrow">
            <a:avLst>
              <a:gd name="adj1" fmla="val 50000"/>
              <a:gd name="adj2" fmla="val 50000"/>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25" name="Google Shape;833;p47">
            <a:extLst>
              <a:ext uri="{FF2B5EF4-FFF2-40B4-BE49-F238E27FC236}">
                <a16:creationId xmlns:a16="http://schemas.microsoft.com/office/drawing/2014/main" id="{8B66D155-CF79-8735-D19A-FDF2E51B6608}"/>
              </a:ext>
            </a:extLst>
          </p:cNvPr>
          <p:cNvSpPr/>
          <p:nvPr/>
        </p:nvSpPr>
        <p:spPr>
          <a:xfrm>
            <a:off x="5827641" y="3284512"/>
            <a:ext cx="268359" cy="277219"/>
          </a:xfrm>
          <a:prstGeom prst="leftArrow">
            <a:avLst>
              <a:gd name="adj1" fmla="val 50000"/>
              <a:gd name="adj2" fmla="val 50000"/>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26" name="Google Shape;835;p47">
            <a:extLst>
              <a:ext uri="{FF2B5EF4-FFF2-40B4-BE49-F238E27FC236}">
                <a16:creationId xmlns:a16="http://schemas.microsoft.com/office/drawing/2014/main" id="{E1A6B014-8D9C-C60B-03EB-B1C15A49AFB6}"/>
              </a:ext>
            </a:extLst>
          </p:cNvPr>
          <p:cNvSpPr txBox="1"/>
          <p:nvPr/>
        </p:nvSpPr>
        <p:spPr>
          <a:xfrm>
            <a:off x="1503889" y="5337669"/>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accent2"/>
                </a:solidFill>
                <a:latin typeface="Quattrocento Sans"/>
                <a:ea typeface="Quattrocento Sans"/>
                <a:cs typeface="Quattrocento Sans"/>
                <a:sym typeface="Quattrocento Sans"/>
              </a:rPr>
              <a:t>PN</a:t>
            </a:r>
            <a:endParaRPr sz="1800" b="1" dirty="0">
              <a:solidFill>
                <a:schemeClr val="accent2"/>
              </a:solidFill>
              <a:latin typeface="Quattrocento Sans"/>
              <a:ea typeface="Quattrocento Sans"/>
              <a:cs typeface="Quattrocento Sans"/>
              <a:sym typeface="Quattrocento Sans"/>
            </a:endParaRPr>
          </a:p>
        </p:txBody>
      </p:sp>
      <p:sp>
        <p:nvSpPr>
          <p:cNvPr id="27" name="Google Shape;836;p47">
            <a:extLst>
              <a:ext uri="{FF2B5EF4-FFF2-40B4-BE49-F238E27FC236}">
                <a16:creationId xmlns:a16="http://schemas.microsoft.com/office/drawing/2014/main" id="{DFE9D2F5-EDD5-CD64-D6F3-3E9E07B7B374}"/>
              </a:ext>
            </a:extLst>
          </p:cNvPr>
          <p:cNvSpPr txBox="1"/>
          <p:nvPr/>
        </p:nvSpPr>
        <p:spPr>
          <a:xfrm>
            <a:off x="2095703" y="3808707"/>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00B0F0"/>
                </a:solidFill>
                <a:latin typeface="Quattrocento Sans"/>
                <a:ea typeface="Quattrocento Sans"/>
                <a:cs typeface="Quattrocento Sans"/>
                <a:sym typeface="Quattrocento Sans"/>
              </a:rPr>
              <a:t>SD</a:t>
            </a:r>
            <a:endParaRPr sz="1800" b="1" dirty="0">
              <a:solidFill>
                <a:srgbClr val="00B0F0"/>
              </a:solidFill>
              <a:latin typeface="Quattrocento Sans"/>
              <a:ea typeface="Quattrocento Sans"/>
              <a:cs typeface="Quattrocento Sans"/>
              <a:sym typeface="Quattrocento Sans"/>
            </a:endParaRPr>
          </a:p>
        </p:txBody>
      </p:sp>
      <p:cxnSp>
        <p:nvCxnSpPr>
          <p:cNvPr id="28" name="Google Shape;838;p47">
            <a:extLst>
              <a:ext uri="{FF2B5EF4-FFF2-40B4-BE49-F238E27FC236}">
                <a16:creationId xmlns:a16="http://schemas.microsoft.com/office/drawing/2014/main" id="{A2893736-8934-91B4-356F-755AF1DE2CD5}"/>
              </a:ext>
            </a:extLst>
          </p:cNvPr>
          <p:cNvCxnSpPr/>
          <p:nvPr/>
        </p:nvCxnSpPr>
        <p:spPr>
          <a:xfrm rot="10800000">
            <a:off x="1947371" y="5095461"/>
            <a:ext cx="109970" cy="720381"/>
          </a:xfrm>
          <a:prstGeom prst="straightConnector1">
            <a:avLst/>
          </a:prstGeom>
          <a:noFill/>
          <a:ln w="38100" cap="flat" cmpd="sng">
            <a:solidFill>
              <a:schemeClr val="accent2"/>
            </a:solidFill>
            <a:prstDash val="solid"/>
            <a:round/>
            <a:headEnd type="none" w="sm" len="sm"/>
            <a:tailEnd type="triangle" w="med" len="med"/>
          </a:ln>
        </p:spPr>
      </p:cxnSp>
      <p:cxnSp>
        <p:nvCxnSpPr>
          <p:cNvPr id="29" name="Google Shape;839;p47">
            <a:extLst>
              <a:ext uri="{FF2B5EF4-FFF2-40B4-BE49-F238E27FC236}">
                <a16:creationId xmlns:a16="http://schemas.microsoft.com/office/drawing/2014/main" id="{AF97E152-3BAC-B379-2CF6-AD17386ECB64}"/>
              </a:ext>
            </a:extLst>
          </p:cNvPr>
          <p:cNvCxnSpPr/>
          <p:nvPr/>
        </p:nvCxnSpPr>
        <p:spPr>
          <a:xfrm rot="10800000">
            <a:off x="2475094" y="4678626"/>
            <a:ext cx="730968" cy="179874"/>
          </a:xfrm>
          <a:prstGeom prst="straightConnector1">
            <a:avLst/>
          </a:prstGeom>
          <a:noFill/>
          <a:ln w="38100" cap="flat" cmpd="sng">
            <a:solidFill>
              <a:schemeClr val="accent2"/>
            </a:solidFill>
            <a:prstDash val="solid"/>
            <a:round/>
            <a:headEnd type="none" w="sm" len="sm"/>
            <a:tailEnd type="triangle" w="med" len="med"/>
          </a:ln>
        </p:spPr>
      </p:cxnSp>
      <p:cxnSp>
        <p:nvCxnSpPr>
          <p:cNvPr id="30" name="Google Shape;840;p47">
            <a:extLst>
              <a:ext uri="{FF2B5EF4-FFF2-40B4-BE49-F238E27FC236}">
                <a16:creationId xmlns:a16="http://schemas.microsoft.com/office/drawing/2014/main" id="{19AF331C-ABB4-E793-4FD9-4D77D10F665C}"/>
              </a:ext>
            </a:extLst>
          </p:cNvPr>
          <p:cNvCxnSpPr/>
          <p:nvPr/>
        </p:nvCxnSpPr>
        <p:spPr>
          <a:xfrm rot="10800000">
            <a:off x="3083683" y="5967802"/>
            <a:ext cx="749354" cy="110034"/>
          </a:xfrm>
          <a:prstGeom prst="straightConnector1">
            <a:avLst/>
          </a:prstGeom>
          <a:noFill/>
          <a:ln w="38100" cap="flat" cmpd="sng">
            <a:solidFill>
              <a:schemeClr val="accent2"/>
            </a:solidFill>
            <a:prstDash val="solid"/>
            <a:round/>
            <a:headEnd type="none" w="sm" len="sm"/>
            <a:tailEnd type="triangle" w="med" len="med"/>
          </a:ln>
        </p:spPr>
      </p:cxnSp>
      <p:cxnSp>
        <p:nvCxnSpPr>
          <p:cNvPr id="31" name="Google Shape;841;p47">
            <a:extLst>
              <a:ext uri="{FF2B5EF4-FFF2-40B4-BE49-F238E27FC236}">
                <a16:creationId xmlns:a16="http://schemas.microsoft.com/office/drawing/2014/main" id="{1E2A7A97-4C06-236A-0E85-90D72A53592A}"/>
              </a:ext>
            </a:extLst>
          </p:cNvPr>
          <p:cNvCxnSpPr/>
          <p:nvPr/>
        </p:nvCxnSpPr>
        <p:spPr>
          <a:xfrm flipH="1">
            <a:off x="4003233" y="4288884"/>
            <a:ext cx="662457" cy="386970"/>
          </a:xfrm>
          <a:prstGeom prst="straightConnector1">
            <a:avLst/>
          </a:prstGeom>
          <a:noFill/>
          <a:ln w="38100" cap="flat" cmpd="sng">
            <a:solidFill>
              <a:schemeClr val="accent2"/>
            </a:solidFill>
            <a:prstDash val="solid"/>
            <a:round/>
            <a:headEnd type="none" w="sm" len="sm"/>
            <a:tailEnd type="triangle" w="med" len="med"/>
          </a:ln>
        </p:spPr>
      </p:cxnSp>
      <p:sp>
        <p:nvSpPr>
          <p:cNvPr id="32" name="Google Shape;842;p47">
            <a:extLst>
              <a:ext uri="{FF2B5EF4-FFF2-40B4-BE49-F238E27FC236}">
                <a16:creationId xmlns:a16="http://schemas.microsoft.com/office/drawing/2014/main" id="{D471F794-EB37-5D3C-6DDD-C0E63B5A50D9}"/>
              </a:ext>
            </a:extLst>
          </p:cNvPr>
          <p:cNvSpPr txBox="1"/>
          <p:nvPr/>
        </p:nvSpPr>
        <p:spPr>
          <a:xfrm>
            <a:off x="2204355" y="4077860"/>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0</a:t>
            </a:r>
            <a:endParaRPr/>
          </a:p>
        </p:txBody>
      </p:sp>
      <p:sp>
        <p:nvSpPr>
          <p:cNvPr id="33" name="Google Shape;843;p47">
            <a:extLst>
              <a:ext uri="{FF2B5EF4-FFF2-40B4-BE49-F238E27FC236}">
                <a16:creationId xmlns:a16="http://schemas.microsoft.com/office/drawing/2014/main" id="{3CB83DD0-86E7-8586-5F3A-E961735F3B9E}"/>
              </a:ext>
            </a:extLst>
          </p:cNvPr>
          <p:cNvSpPr txBox="1"/>
          <p:nvPr/>
        </p:nvSpPr>
        <p:spPr>
          <a:xfrm>
            <a:off x="2378055" y="5506620"/>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34" name="Google Shape;844;p47">
            <a:extLst>
              <a:ext uri="{FF2B5EF4-FFF2-40B4-BE49-F238E27FC236}">
                <a16:creationId xmlns:a16="http://schemas.microsoft.com/office/drawing/2014/main" id="{065C4A49-0415-D92D-5CDA-0564ADDD6EEE}"/>
              </a:ext>
            </a:extLst>
          </p:cNvPr>
          <p:cNvSpPr txBox="1"/>
          <p:nvPr/>
        </p:nvSpPr>
        <p:spPr>
          <a:xfrm>
            <a:off x="3647373" y="4271131"/>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35" name="Google Shape;845;p47">
            <a:extLst>
              <a:ext uri="{FF2B5EF4-FFF2-40B4-BE49-F238E27FC236}">
                <a16:creationId xmlns:a16="http://schemas.microsoft.com/office/drawing/2014/main" id="{CFB17576-33AC-0D56-D3DA-C9801F39AFD7}"/>
              </a:ext>
            </a:extLst>
          </p:cNvPr>
          <p:cNvSpPr txBox="1"/>
          <p:nvPr/>
        </p:nvSpPr>
        <p:spPr>
          <a:xfrm>
            <a:off x="4286659" y="5691286"/>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6" name="Google Shape;846;p47">
            <a:extLst>
              <a:ext uri="{FF2B5EF4-FFF2-40B4-BE49-F238E27FC236}">
                <a16:creationId xmlns:a16="http://schemas.microsoft.com/office/drawing/2014/main" id="{FE50F9AD-DB6A-8667-1B64-C8402D2B3F55}"/>
              </a:ext>
            </a:extLst>
          </p:cNvPr>
          <p:cNvSpPr txBox="1"/>
          <p:nvPr/>
        </p:nvSpPr>
        <p:spPr>
          <a:xfrm>
            <a:off x="4818862" y="3683588"/>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7" name="Google Shape;847;p47">
            <a:extLst>
              <a:ext uri="{FF2B5EF4-FFF2-40B4-BE49-F238E27FC236}">
                <a16:creationId xmlns:a16="http://schemas.microsoft.com/office/drawing/2014/main" id="{391A655B-972F-5846-1D89-2624C7651CEE}"/>
              </a:ext>
            </a:extLst>
          </p:cNvPr>
          <p:cNvSpPr txBox="1"/>
          <p:nvPr/>
        </p:nvSpPr>
        <p:spPr>
          <a:xfrm>
            <a:off x="2616672" y="3242025"/>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A</a:t>
            </a:r>
            <a:endParaRPr/>
          </a:p>
        </p:txBody>
      </p:sp>
      <p:sp>
        <p:nvSpPr>
          <p:cNvPr id="38" name="Google Shape;848;p47">
            <a:extLst>
              <a:ext uri="{FF2B5EF4-FFF2-40B4-BE49-F238E27FC236}">
                <a16:creationId xmlns:a16="http://schemas.microsoft.com/office/drawing/2014/main" id="{233049B1-D3B2-8C0D-1FD2-743B8003BF2E}"/>
              </a:ext>
            </a:extLst>
          </p:cNvPr>
          <p:cNvSpPr txBox="1"/>
          <p:nvPr/>
        </p:nvSpPr>
        <p:spPr>
          <a:xfrm>
            <a:off x="3005065" y="3244742"/>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B</a:t>
            </a:r>
            <a:endParaRPr/>
          </a:p>
        </p:txBody>
      </p:sp>
      <p:sp>
        <p:nvSpPr>
          <p:cNvPr id="39" name="Google Shape;849;p47">
            <a:extLst>
              <a:ext uri="{FF2B5EF4-FFF2-40B4-BE49-F238E27FC236}">
                <a16:creationId xmlns:a16="http://schemas.microsoft.com/office/drawing/2014/main" id="{F0CFF799-4CEE-D2EA-949E-3751B40F32E2}"/>
              </a:ext>
            </a:extLst>
          </p:cNvPr>
          <p:cNvSpPr txBox="1"/>
          <p:nvPr/>
        </p:nvSpPr>
        <p:spPr>
          <a:xfrm>
            <a:off x="3384613" y="3245503"/>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C</a:t>
            </a:r>
            <a:endParaRPr/>
          </a:p>
        </p:txBody>
      </p:sp>
      <p:sp>
        <p:nvSpPr>
          <p:cNvPr id="40" name="Google Shape;850;p47">
            <a:extLst>
              <a:ext uri="{FF2B5EF4-FFF2-40B4-BE49-F238E27FC236}">
                <a16:creationId xmlns:a16="http://schemas.microsoft.com/office/drawing/2014/main" id="{C85ABC03-9499-59F1-8523-F77E8C68BBC8}"/>
              </a:ext>
            </a:extLst>
          </p:cNvPr>
          <p:cNvSpPr txBox="1"/>
          <p:nvPr/>
        </p:nvSpPr>
        <p:spPr>
          <a:xfrm>
            <a:off x="3769060" y="3242054"/>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D</a:t>
            </a:r>
            <a:endParaRPr/>
          </a:p>
        </p:txBody>
      </p:sp>
      <p:sp>
        <p:nvSpPr>
          <p:cNvPr id="41" name="Google Shape;851;p47">
            <a:extLst>
              <a:ext uri="{FF2B5EF4-FFF2-40B4-BE49-F238E27FC236}">
                <a16:creationId xmlns:a16="http://schemas.microsoft.com/office/drawing/2014/main" id="{5A49D26D-D705-FBB7-CD03-EFBF1DF711AB}"/>
              </a:ext>
            </a:extLst>
          </p:cNvPr>
          <p:cNvSpPr txBox="1"/>
          <p:nvPr/>
        </p:nvSpPr>
        <p:spPr>
          <a:xfrm>
            <a:off x="4157453" y="3244771"/>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500"/>
                                        <p:tgtEl>
                                          <p:spTgt spid="32"/>
                                        </p:tgtEl>
                                      </p:cBhvr>
                                    </p:animEffect>
                                  </p:childTnLst>
                                </p:cTn>
                              </p:par>
                              <p:par>
                                <p:cTn id="12" presetID="10" presetClass="entr" presetSubtype="0" fill="hold"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childTnLst>
                                </p:cTn>
                              </p:par>
                              <p:par>
                                <p:cTn id="15" presetID="10"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par>
                                <p:cTn id="18" presetID="10" presetClass="entr" presetSubtype="0" fill="hold"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500"/>
                                        <p:tgtEl>
                                          <p:spTgt spid="27"/>
                                        </p:tgtEl>
                                      </p:cBhvr>
                                    </p:animEffect>
                                  </p:childTnLst>
                                </p:cTn>
                              </p:par>
                            </p:childTnLst>
                          </p:cTn>
                        </p:par>
                      </p:childTnLst>
                    </p:cTn>
                  </p:par>
                  <p:par>
                    <p:cTn id="21" fill="hold">
                      <p:stCondLst>
                        <p:cond delay="indefinite"/>
                      </p:stCondLst>
                      <p:childTnLst>
                        <p:par>
                          <p:cTn id="22" fill="hold">
                            <p:stCondLst>
                              <p:cond delay="0"/>
                            </p:stCondLst>
                            <p:childTnLst>
                              <p:par>
                                <p:cTn id="23" presetID="2" presetClass="exit" presetSubtype="8" fill="hold" nodeType="clickEffect">
                                  <p:stCondLst>
                                    <p:cond delay="0"/>
                                  </p:stCondLst>
                                  <p:childTnLst>
                                    <p:anim calcmode="lin" valueType="num">
                                      <p:cBhvr additive="base">
                                        <p:cTn id="24" dur="500"/>
                                        <p:tgtEl>
                                          <p:spTgt spid="37"/>
                                        </p:tgtEl>
                                        <p:attrNameLst>
                                          <p:attrName>ppt_x</p:attrName>
                                        </p:attrNameLst>
                                      </p:cBhvr>
                                      <p:tavLst>
                                        <p:tav tm="0">
                                          <p:val>
                                            <p:strVal val="#ppt_x"/>
                                          </p:val>
                                        </p:tav>
                                        <p:tav tm="100000">
                                          <p:val>
                                            <p:strVal val="#ppt_x-1"/>
                                          </p:val>
                                        </p:tav>
                                      </p:tavLst>
                                    </p:anim>
                                    <p:set>
                                      <p:cBhvr>
                                        <p:cTn id="25" dur="1" fill="hold">
                                          <p:stCondLst>
                                            <p:cond delay="500"/>
                                          </p:stCondLst>
                                        </p:cTn>
                                        <p:tgtEl>
                                          <p:spTgt spid="37"/>
                                        </p:tgtEl>
                                        <p:attrNameLst>
                                          <p:attrName>style.visibility</p:attrName>
                                        </p:attrNameLst>
                                      </p:cBhvr>
                                      <p:to>
                                        <p:strVal val="hidden"/>
                                      </p:to>
                                    </p:se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childTnLst>
                          </p:cTn>
                        </p:par>
                        <p:par>
                          <p:cTn id="29" fill="hold">
                            <p:stCondLst>
                              <p:cond delay="501"/>
                            </p:stCondLst>
                            <p:childTnLst>
                              <p:par>
                                <p:cTn id="30" presetID="10" presetClass="entr" presetSubtype="0" fill="hold" nodeType="after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500"/>
                                        <p:tgtEl>
                                          <p:spTgt spid="38"/>
                                        </p:tgtEl>
                                      </p:cBhvr>
                                    </p:animEffect>
                                  </p:childTnLst>
                                </p:cTn>
                              </p:par>
                            </p:childTnLst>
                          </p:cTn>
                        </p:par>
                        <p:par>
                          <p:cTn id="33" fill="hold">
                            <p:stCondLst>
                              <p:cond delay="1001"/>
                            </p:stCondLst>
                            <p:childTnLst>
                              <p:par>
                                <p:cTn id="34" presetID="10" presetClass="entr" presetSubtype="0" fill="hold" nodeType="after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par>
                                <p:cTn id="37" presetID="10" presetClass="entr" presetSubtype="0" fill="hold" nodeType="with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500"/>
                                        <p:tgtEl>
                                          <p:spTgt spid="28"/>
                                        </p:tgtEl>
                                      </p:cBhvr>
                                    </p:animEffect>
                                  </p:childTnLst>
                                </p:cTn>
                              </p:par>
                            </p:childTnLst>
                          </p:cTn>
                        </p:par>
                        <p:par>
                          <p:cTn id="43" fill="hold">
                            <p:stCondLst>
                              <p:cond delay="1501"/>
                            </p:stCondLst>
                            <p:childTnLst>
                              <p:par>
                                <p:cTn id="44" presetID="10" presetClass="entr" presetSubtype="0" fill="hold" nodeType="after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500"/>
                                        <p:tgtEl>
                                          <p:spTgt spid="39"/>
                                        </p:tgtEl>
                                      </p:cBhvr>
                                    </p:animEffect>
                                  </p:childTnLst>
                                </p:cTn>
                              </p:par>
                            </p:childTnLst>
                          </p:cTn>
                        </p:par>
                        <p:par>
                          <p:cTn id="47" fill="hold">
                            <p:stCondLst>
                              <p:cond delay="2001"/>
                            </p:stCondLst>
                            <p:childTnLst>
                              <p:par>
                                <p:cTn id="48" presetID="10" presetClass="entr" presetSubtype="0" fill="hold" nodeType="after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500"/>
                                        <p:tgtEl>
                                          <p:spTgt spid="19"/>
                                        </p:tgtEl>
                                      </p:cBhvr>
                                    </p:animEffect>
                                  </p:childTnLst>
                                </p:cTn>
                              </p:par>
                              <p:par>
                                <p:cTn id="51" presetID="10" presetClass="entr" presetSubtype="0" fill="hold"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4" presetID="10" presetClass="entr" presetSubtype="0" fill="hold" nodeType="withEffect">
                                  <p:stCondLst>
                                    <p:cond delay="0"/>
                                  </p:stCondLst>
                                  <p:childTnLst>
                                    <p:set>
                                      <p:cBhvr>
                                        <p:cTn id="55" dur="1" fill="hold">
                                          <p:stCondLst>
                                            <p:cond delay="0"/>
                                          </p:stCondLst>
                                        </p:cTn>
                                        <p:tgtEl>
                                          <p:spTgt spid="29"/>
                                        </p:tgtEl>
                                        <p:attrNameLst>
                                          <p:attrName>style.visibility</p:attrName>
                                        </p:attrNameLst>
                                      </p:cBhvr>
                                      <p:to>
                                        <p:strVal val="visible"/>
                                      </p:to>
                                    </p:set>
                                    <p:animEffect transition="in" filter="fade">
                                      <p:cBhvr>
                                        <p:cTn id="56" dur="500"/>
                                        <p:tgtEl>
                                          <p:spTgt spid="29"/>
                                        </p:tgtEl>
                                      </p:cBhvr>
                                    </p:animEffect>
                                  </p:childTnLst>
                                </p:cTn>
                              </p:par>
                            </p:childTnLst>
                          </p:cTn>
                        </p:par>
                      </p:childTnLst>
                    </p:cTn>
                  </p:par>
                  <p:par>
                    <p:cTn id="57" fill="hold">
                      <p:stCondLst>
                        <p:cond delay="indefinite"/>
                      </p:stCondLst>
                      <p:childTnLst>
                        <p:par>
                          <p:cTn id="58" fill="hold">
                            <p:stCondLst>
                              <p:cond delay="0"/>
                            </p:stCondLst>
                            <p:childTnLst>
                              <p:par>
                                <p:cTn id="59" presetID="2" presetClass="exit" presetSubtype="8" fill="hold" nodeType="clickEffect">
                                  <p:stCondLst>
                                    <p:cond delay="0"/>
                                  </p:stCondLst>
                                  <p:childTnLst>
                                    <p:anim calcmode="lin" valueType="num">
                                      <p:cBhvr additive="base">
                                        <p:cTn id="60" dur="500"/>
                                        <p:tgtEl>
                                          <p:spTgt spid="38"/>
                                        </p:tgtEl>
                                        <p:attrNameLst>
                                          <p:attrName>ppt_x</p:attrName>
                                        </p:attrNameLst>
                                      </p:cBhvr>
                                      <p:tavLst>
                                        <p:tav tm="0">
                                          <p:val>
                                            <p:strVal val="#ppt_x"/>
                                          </p:val>
                                        </p:tav>
                                        <p:tav tm="100000">
                                          <p:val>
                                            <p:strVal val="#ppt_x-1"/>
                                          </p:val>
                                        </p:tav>
                                      </p:tavLst>
                                    </p:anim>
                                    <p:set>
                                      <p:cBhvr>
                                        <p:cTn id="61" dur="1" fill="hold">
                                          <p:stCondLst>
                                            <p:cond delay="500"/>
                                          </p:stCondLst>
                                        </p:cTn>
                                        <p:tgtEl>
                                          <p:spTgt spid="38"/>
                                        </p:tgtEl>
                                        <p:attrNameLst>
                                          <p:attrName>style.visibility</p:attrName>
                                        </p:attrNameLst>
                                      </p:cBhvr>
                                      <p:to>
                                        <p:strVal val="hidden"/>
                                      </p:to>
                                    </p:set>
                                  </p:childTnLst>
                                </p:cTn>
                              </p:par>
                            </p:childTnLst>
                          </p:cTn>
                        </p:par>
                        <p:par>
                          <p:cTn id="62" fill="hold">
                            <p:stCondLst>
                              <p:cond delay="501"/>
                            </p:stCondLst>
                            <p:childTnLst>
                              <p:par>
                                <p:cTn id="63" presetID="10" presetClass="entr" presetSubtype="0" fill="hold" nodeType="after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500"/>
                                        <p:tgtEl>
                                          <p:spTgt spid="40"/>
                                        </p:tgtEl>
                                      </p:cBhvr>
                                    </p:animEffect>
                                  </p:childTnLst>
                                </p:cTn>
                              </p:par>
                            </p:childTnLst>
                          </p:cTn>
                        </p:par>
                        <p:par>
                          <p:cTn id="66" fill="hold">
                            <p:stCondLst>
                              <p:cond delay="1001"/>
                            </p:stCondLst>
                            <p:childTnLst>
                              <p:par>
                                <p:cTn id="67" presetID="10" presetClass="entr" presetSubtype="0" fill="hold" nodeType="after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childTnLst>
                                </p:cTn>
                              </p:par>
                              <p:par>
                                <p:cTn id="70" presetID="10" presetClass="entr" presetSubtype="0" fill="hold"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500"/>
                                        <p:tgtEl>
                                          <p:spTgt spid="35"/>
                                        </p:tgtEl>
                                      </p:cBhvr>
                                    </p:animEffect>
                                  </p:childTnLst>
                                </p:cTn>
                              </p:par>
                              <p:par>
                                <p:cTn id="73" presetID="10" presetClass="entr" presetSubtype="0" fill="hold"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500"/>
                                        <p:tgtEl>
                                          <p:spTgt spid="30"/>
                                        </p:tgtEl>
                                      </p:cBhvr>
                                    </p:animEffect>
                                  </p:childTnLst>
                                </p:cTn>
                              </p:par>
                            </p:childTnLst>
                          </p:cTn>
                        </p:par>
                      </p:childTnLst>
                    </p:cTn>
                  </p:par>
                  <p:par>
                    <p:cTn id="76" fill="hold">
                      <p:stCondLst>
                        <p:cond delay="indefinite"/>
                      </p:stCondLst>
                      <p:childTnLst>
                        <p:par>
                          <p:cTn id="77" fill="hold">
                            <p:stCondLst>
                              <p:cond delay="0"/>
                            </p:stCondLst>
                            <p:childTnLst>
                              <p:par>
                                <p:cTn id="78" presetID="2" presetClass="exit" presetSubtype="8" fill="hold" nodeType="clickEffect">
                                  <p:stCondLst>
                                    <p:cond delay="0"/>
                                  </p:stCondLst>
                                  <p:childTnLst>
                                    <p:anim calcmode="lin" valueType="num">
                                      <p:cBhvr additive="base">
                                        <p:cTn id="79" dur="500"/>
                                        <p:tgtEl>
                                          <p:spTgt spid="39"/>
                                        </p:tgtEl>
                                        <p:attrNameLst>
                                          <p:attrName>ppt_x</p:attrName>
                                        </p:attrNameLst>
                                      </p:cBhvr>
                                      <p:tavLst>
                                        <p:tav tm="0">
                                          <p:val>
                                            <p:strVal val="#ppt_x"/>
                                          </p:val>
                                        </p:tav>
                                        <p:tav tm="100000">
                                          <p:val>
                                            <p:strVal val="#ppt_x-1"/>
                                          </p:val>
                                        </p:tav>
                                      </p:tavLst>
                                    </p:anim>
                                    <p:set>
                                      <p:cBhvr>
                                        <p:cTn id="80" dur="1" fill="hold">
                                          <p:stCondLst>
                                            <p:cond delay="500"/>
                                          </p:stCondLst>
                                        </p:cTn>
                                        <p:tgtEl>
                                          <p:spTgt spid="39"/>
                                        </p:tgtEl>
                                        <p:attrNameLst>
                                          <p:attrName>style.visibility</p:attrName>
                                        </p:attrNameLst>
                                      </p:cBhvr>
                                      <p:to>
                                        <p:strVal val="hidden"/>
                                      </p:to>
                                    </p:set>
                                  </p:childTnLst>
                                </p:cTn>
                              </p:par>
                            </p:childTnLst>
                          </p:cTn>
                        </p:par>
                        <p:par>
                          <p:cTn id="81" fill="hold">
                            <p:stCondLst>
                              <p:cond delay="501"/>
                            </p:stCondLst>
                            <p:childTnLst>
                              <p:par>
                                <p:cTn id="82" presetID="10" presetClass="entr" presetSubtype="0" fill="hold" nodeType="afterEffect">
                                  <p:stCondLst>
                                    <p:cond delay="0"/>
                                  </p:stCondLst>
                                  <p:childTnLst>
                                    <p:set>
                                      <p:cBhvr>
                                        <p:cTn id="83" dur="1" fill="hold">
                                          <p:stCondLst>
                                            <p:cond delay="0"/>
                                          </p:stCondLst>
                                        </p:cTn>
                                        <p:tgtEl>
                                          <p:spTgt spid="41"/>
                                        </p:tgtEl>
                                        <p:attrNameLst>
                                          <p:attrName>style.visibility</p:attrName>
                                        </p:attrNameLst>
                                      </p:cBhvr>
                                      <p:to>
                                        <p:strVal val="visible"/>
                                      </p:to>
                                    </p:set>
                                    <p:animEffect transition="in" filter="fade">
                                      <p:cBhvr>
                                        <p:cTn id="84" dur="500"/>
                                        <p:tgtEl>
                                          <p:spTgt spid="41"/>
                                        </p:tgtEl>
                                      </p:cBhvr>
                                    </p:animEffect>
                                  </p:childTnLst>
                                </p:cTn>
                              </p:par>
                            </p:childTnLst>
                          </p:cTn>
                        </p:par>
                        <p:par>
                          <p:cTn id="85" fill="hold">
                            <p:stCondLst>
                              <p:cond delay="1001"/>
                            </p:stCondLst>
                            <p:childTnLst>
                              <p:par>
                                <p:cTn id="86" presetID="10" presetClass="entr" presetSubtype="0" fill="hold" nodeType="afterEffect">
                                  <p:stCondLst>
                                    <p:cond delay="0"/>
                                  </p:stCondLst>
                                  <p:childTnLst>
                                    <p:set>
                                      <p:cBhvr>
                                        <p:cTn id="87" dur="1" fill="hold">
                                          <p:stCondLst>
                                            <p:cond delay="0"/>
                                          </p:stCondLst>
                                        </p:cTn>
                                        <p:tgtEl>
                                          <p:spTgt spid="20"/>
                                        </p:tgtEl>
                                        <p:attrNameLst>
                                          <p:attrName>style.visibility</p:attrName>
                                        </p:attrNameLst>
                                      </p:cBhvr>
                                      <p:to>
                                        <p:strVal val="visible"/>
                                      </p:to>
                                    </p:set>
                                    <p:animEffect transition="in" filter="fade">
                                      <p:cBhvr>
                                        <p:cTn id="88" dur="500"/>
                                        <p:tgtEl>
                                          <p:spTgt spid="20"/>
                                        </p:tgtEl>
                                      </p:cBhvr>
                                    </p:animEffect>
                                  </p:childTnLst>
                                </p:cTn>
                              </p:par>
                              <p:par>
                                <p:cTn id="89" presetID="10" presetClass="entr" presetSubtype="0" fill="hold" nodeType="with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500"/>
                                        <p:tgtEl>
                                          <p:spTgt spid="36"/>
                                        </p:tgtEl>
                                      </p:cBhvr>
                                    </p:animEffect>
                                  </p:childTnLst>
                                </p:cTn>
                              </p:par>
                              <p:par>
                                <p:cTn id="92" presetID="10" presetClass="entr" presetSubtype="0" fill="hold"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childTnLst>
                    </p:cTn>
                  </p:par>
                  <p:par>
                    <p:cTn id="95" fill="hold">
                      <p:stCondLst>
                        <p:cond delay="indefinite"/>
                      </p:stCondLst>
                      <p:childTnLst>
                        <p:par>
                          <p:cTn id="96" fill="hold">
                            <p:stCondLst>
                              <p:cond delay="0"/>
                            </p:stCondLst>
                            <p:childTnLst>
                              <p:par>
                                <p:cTn id="97" presetID="2" presetClass="exit" presetSubtype="8" fill="hold" nodeType="clickEffect">
                                  <p:stCondLst>
                                    <p:cond delay="0"/>
                                  </p:stCondLst>
                                  <p:childTnLst>
                                    <p:anim calcmode="lin" valueType="num">
                                      <p:cBhvr additive="base">
                                        <p:cTn id="98" dur="500"/>
                                        <p:tgtEl>
                                          <p:spTgt spid="40"/>
                                        </p:tgtEl>
                                        <p:attrNameLst>
                                          <p:attrName>ppt_x</p:attrName>
                                        </p:attrNameLst>
                                      </p:cBhvr>
                                      <p:tavLst>
                                        <p:tav tm="0">
                                          <p:val>
                                            <p:strVal val="#ppt_x"/>
                                          </p:val>
                                        </p:tav>
                                        <p:tav tm="100000">
                                          <p:val>
                                            <p:strVal val="#ppt_x-1"/>
                                          </p:val>
                                        </p:tav>
                                      </p:tavLst>
                                    </p:anim>
                                    <p:set>
                                      <p:cBhvr>
                                        <p:cTn id="99" dur="1" fill="hold">
                                          <p:stCondLst>
                                            <p:cond delay="500"/>
                                          </p:stCondLst>
                                        </p:cTn>
                                        <p:tgtEl>
                                          <p:spTgt spid="40"/>
                                        </p:tgtEl>
                                        <p:attrNameLst>
                                          <p:attrName>style.visibility</p:attrName>
                                        </p:attrNameLst>
                                      </p:cBhvr>
                                      <p:to>
                                        <p:strVal val="hidden"/>
                                      </p:to>
                                    </p:set>
                                  </p:childTnLst>
                                </p:cTn>
                              </p:par>
                            </p:childTnLst>
                          </p:cTn>
                        </p:par>
                      </p:childTnLst>
                    </p:cTn>
                  </p:par>
                  <p:par>
                    <p:cTn id="100" fill="hold">
                      <p:stCondLst>
                        <p:cond delay="indefinite"/>
                      </p:stCondLst>
                      <p:childTnLst>
                        <p:par>
                          <p:cTn id="101" fill="hold">
                            <p:stCondLst>
                              <p:cond delay="0"/>
                            </p:stCondLst>
                            <p:childTnLst>
                              <p:par>
                                <p:cTn id="102" presetID="2" presetClass="exit" presetSubtype="8" fill="hold" nodeType="clickEffect">
                                  <p:stCondLst>
                                    <p:cond delay="0"/>
                                  </p:stCondLst>
                                  <p:childTnLst>
                                    <p:anim calcmode="lin" valueType="num">
                                      <p:cBhvr additive="base">
                                        <p:cTn id="103" dur="500"/>
                                        <p:tgtEl>
                                          <p:spTgt spid="41"/>
                                        </p:tgtEl>
                                        <p:attrNameLst>
                                          <p:attrName>ppt_x</p:attrName>
                                        </p:attrNameLst>
                                      </p:cBhvr>
                                      <p:tavLst>
                                        <p:tav tm="0">
                                          <p:val>
                                            <p:strVal val="#ppt_x"/>
                                          </p:val>
                                        </p:tav>
                                        <p:tav tm="100000">
                                          <p:val>
                                            <p:strVal val="#ppt_x-1"/>
                                          </p:val>
                                        </p:tav>
                                      </p:tavLst>
                                    </p:anim>
                                    <p:set>
                                      <p:cBhvr>
                                        <p:cTn id="104" dur="1" fill="hold">
                                          <p:stCondLst>
                                            <p:cond delay="500"/>
                                          </p:stCondLst>
                                        </p:cTn>
                                        <p:tgtEl>
                                          <p:spTgt spid="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p48"/>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Shortest Path Tree</a:t>
            </a:r>
            <a:endParaRPr dirty="0"/>
          </a:p>
        </p:txBody>
      </p:sp>
      <p:sp>
        <p:nvSpPr>
          <p:cNvPr id="858" name="Google Shape;858;p48"/>
          <p:cNvSpPr txBox="1">
            <a:spLocks noGrp="1"/>
          </p:cNvSpPr>
          <p:nvPr>
            <p:ph type="body" idx="1"/>
          </p:nvPr>
        </p:nvSpPr>
        <p:spPr>
          <a:xfrm>
            <a:off x="4593481" y="1992019"/>
            <a:ext cx="7406400" cy="3183395"/>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0"/>
              </a:spcBef>
              <a:spcAft>
                <a:spcPts val="0"/>
              </a:spcAft>
              <a:buNone/>
            </a:pPr>
            <a:r>
              <a:rPr lang="en-GB" sz="2500" dirty="0"/>
              <a:t>The table of SD/PN encodes the Shortest Path Tree (SPT), which encodes </a:t>
            </a:r>
            <a:r>
              <a:rPr lang="en-US" sz="2500" dirty="0"/>
              <a:t>the shortest path and distance from the start node to </a:t>
            </a:r>
            <a:r>
              <a:rPr lang="en-US" sz="2500" i="1" dirty="0"/>
              <a:t>every other node</a:t>
            </a:r>
            <a:endParaRPr sz="2500" dirty="0"/>
          </a:p>
          <a:p>
            <a:pPr marL="0" lvl="0" indent="0" algn="l" rtl="0">
              <a:lnSpc>
                <a:spcPct val="90000"/>
              </a:lnSpc>
              <a:spcBef>
                <a:spcPts val="1600"/>
              </a:spcBef>
              <a:spcAft>
                <a:spcPts val="0"/>
              </a:spcAft>
              <a:buNone/>
            </a:pPr>
            <a:r>
              <a:rPr lang="en-US" sz="2500" dirty="0"/>
              <a:t>Shortest path to any node can be obtained from SPT</a:t>
            </a:r>
            <a:endParaRPr lang="en-GB" sz="2500" dirty="0"/>
          </a:p>
          <a:p>
            <a:pPr marL="265176" lvl="1" indent="-130809" algn="l" rtl="0">
              <a:lnSpc>
                <a:spcPct val="90000"/>
              </a:lnSpc>
              <a:spcBef>
                <a:spcPts val="400"/>
              </a:spcBef>
              <a:spcAft>
                <a:spcPts val="0"/>
              </a:spcAft>
              <a:buSzPts val="1700"/>
              <a:buChar char="○"/>
            </a:pPr>
            <a:r>
              <a:rPr lang="en-US" sz="2000" b="1" dirty="0"/>
              <a:t>Length of shortest path from A to D?</a:t>
            </a:r>
            <a:endParaRPr sz="2000" dirty="0"/>
          </a:p>
          <a:p>
            <a:pPr marL="448056" lvl="2" indent="-130809" algn="l" rtl="0">
              <a:lnSpc>
                <a:spcPct val="90000"/>
              </a:lnSpc>
              <a:spcBef>
                <a:spcPts val="600"/>
              </a:spcBef>
              <a:spcAft>
                <a:spcPts val="0"/>
              </a:spcAft>
              <a:buSzPts val="1300"/>
              <a:buChar char="■"/>
            </a:pPr>
            <a:r>
              <a:rPr lang="en-US" sz="1600" dirty="0"/>
              <a:t>Lookup in </a:t>
            </a:r>
            <a:r>
              <a:rPr lang="en-US" sz="1600" b="1" dirty="0">
                <a:solidFill>
                  <a:srgbClr val="4C3283"/>
                </a:solidFill>
              </a:rPr>
              <a:t>SD</a:t>
            </a:r>
            <a:r>
              <a:rPr lang="en-US" sz="1600" dirty="0"/>
              <a:t> map: </a:t>
            </a:r>
            <a:r>
              <a:rPr lang="en-US" sz="1600" b="1" dirty="0">
                <a:solidFill>
                  <a:srgbClr val="4C3283"/>
                </a:solidFill>
              </a:rPr>
              <a:t>2</a:t>
            </a:r>
            <a:endParaRPr sz="1600" dirty="0">
              <a:solidFill>
                <a:srgbClr val="4C3283"/>
              </a:solidFill>
            </a:endParaRPr>
          </a:p>
          <a:p>
            <a:pPr marL="265176" lvl="1" indent="-130809" algn="l" rtl="0">
              <a:lnSpc>
                <a:spcPct val="90000"/>
              </a:lnSpc>
              <a:spcBef>
                <a:spcPts val="600"/>
              </a:spcBef>
              <a:spcAft>
                <a:spcPts val="0"/>
              </a:spcAft>
              <a:buSzPts val="1700"/>
              <a:buChar char="○"/>
            </a:pPr>
            <a:r>
              <a:rPr lang="en-US" sz="2000" b="1" dirty="0"/>
              <a:t>What’s the shortest path from A to D?</a:t>
            </a:r>
            <a:endParaRPr sz="2000" dirty="0"/>
          </a:p>
          <a:p>
            <a:pPr marL="448056" lvl="2" indent="-130809" algn="l" rtl="0">
              <a:lnSpc>
                <a:spcPct val="90000"/>
              </a:lnSpc>
              <a:spcBef>
                <a:spcPts val="600"/>
              </a:spcBef>
              <a:spcAft>
                <a:spcPts val="0"/>
              </a:spcAft>
              <a:buSzPts val="1300"/>
              <a:buChar char="■"/>
            </a:pPr>
            <a:r>
              <a:rPr lang="en-US" sz="1600" dirty="0"/>
              <a:t>Build the path backwards from </a:t>
            </a:r>
            <a:r>
              <a:rPr lang="en-US" sz="1600" b="1" dirty="0">
                <a:solidFill>
                  <a:srgbClr val="4C3283"/>
                </a:solidFill>
              </a:rPr>
              <a:t>PN</a:t>
            </a:r>
            <a:r>
              <a:rPr lang="en-US" sz="1600" dirty="0"/>
              <a:t>: start at D, follow </a:t>
            </a:r>
            <a:r>
              <a:rPr lang="en-US" sz="1600" b="1" dirty="0" err="1">
                <a:solidFill>
                  <a:srgbClr val="4C3283"/>
                </a:solidFill>
              </a:rPr>
              <a:t>backpointer</a:t>
            </a:r>
            <a:r>
              <a:rPr lang="en-US" sz="1600" dirty="0"/>
              <a:t> to B, follow </a:t>
            </a:r>
            <a:r>
              <a:rPr lang="en-US" sz="1600" b="1" dirty="0" err="1">
                <a:solidFill>
                  <a:srgbClr val="4C3283"/>
                </a:solidFill>
              </a:rPr>
              <a:t>backpointer</a:t>
            </a:r>
            <a:r>
              <a:rPr lang="en-US" sz="1600" dirty="0"/>
              <a:t> to A – the shortest path is </a:t>
            </a:r>
            <a:r>
              <a:rPr lang="en-US" sz="1600" b="1" dirty="0">
                <a:solidFill>
                  <a:srgbClr val="4C3283"/>
                </a:solidFill>
              </a:rPr>
              <a:t>ABD</a:t>
            </a:r>
            <a:endParaRPr sz="1400" dirty="0">
              <a:solidFill>
                <a:srgbClr val="4C3283"/>
              </a:solidFill>
            </a:endParaRPr>
          </a:p>
        </p:txBody>
      </p:sp>
      <p:graphicFrame>
        <p:nvGraphicFramePr>
          <p:cNvPr id="2" name="Google Shape;519;p34">
            <a:extLst>
              <a:ext uri="{FF2B5EF4-FFF2-40B4-BE49-F238E27FC236}">
                <a16:creationId xmlns:a16="http://schemas.microsoft.com/office/drawing/2014/main" id="{4563F6D0-536C-20FF-95BB-83C968CA1DA6}"/>
              </a:ext>
            </a:extLst>
          </p:cNvPr>
          <p:cNvGraphicFramePr/>
          <p:nvPr>
            <p:extLst>
              <p:ext uri="{D42A27DB-BD31-4B8C-83A1-F6EECF244321}">
                <p14:modId xmlns:p14="http://schemas.microsoft.com/office/powerpoint/2010/main" val="1458751660"/>
              </p:ext>
            </p:extLst>
          </p:nvPr>
        </p:nvGraphicFramePr>
        <p:xfrm>
          <a:off x="808738" y="4397735"/>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0</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0C0C0C"/>
                          </a:solidFill>
                          <a:latin typeface="Quattrocento Sans"/>
                          <a:ea typeface="Quattrocento Sans"/>
                          <a:cs typeface="Quattrocento Sans"/>
                          <a:sym typeface="Quattrocento Sans"/>
                        </a:rPr>
                        <a:t>/</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FF0000"/>
                          </a:solidFill>
                          <a:latin typeface="Quattrocento Sans"/>
                          <a:ea typeface="Quattrocento Sans"/>
                          <a:cs typeface="Quattrocento Sans"/>
                          <a:sym typeface="Quattrocento Sans"/>
                        </a:rPr>
                        <a:t>1</a:t>
                      </a:r>
                      <a:endParaRPr sz="16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FF0000"/>
                          </a:solidFill>
                          <a:latin typeface="Quattrocento Sans"/>
                          <a:ea typeface="Quattrocento Sans"/>
                          <a:cs typeface="Quattrocento Sans"/>
                          <a:sym typeface="Quattrocento Sans"/>
                        </a:rPr>
                        <a:t>A</a:t>
                      </a:r>
                      <a:endParaRPr sz="16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0C0C0C"/>
                          </a:solidFill>
                          <a:latin typeface="Quattrocento Sans"/>
                          <a:ea typeface="Quattrocento Sans"/>
                          <a:cs typeface="Quattrocento Sans"/>
                          <a:sym typeface="Quattrocento Sans"/>
                        </a:rPr>
                        <a:t>1</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0C0C0C"/>
                          </a:solidFill>
                          <a:latin typeface="Quattrocento Sans"/>
                          <a:ea typeface="Quattrocento Sans"/>
                          <a:cs typeface="Quattrocento Sans"/>
                          <a:sym typeface="Quattrocento Sans"/>
                        </a:rPr>
                        <a:t>A</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FF0000"/>
                          </a:solidFill>
                          <a:latin typeface="Quattrocento Sans"/>
                          <a:ea typeface="Quattrocento Sans"/>
                          <a:cs typeface="Quattrocento Sans"/>
                          <a:sym typeface="Quattrocento Sans"/>
                        </a:rPr>
                        <a:t>2</a:t>
                      </a:r>
                      <a:endParaRPr sz="16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FF0000"/>
                          </a:solidFill>
                          <a:latin typeface="Quattrocento Sans"/>
                          <a:ea typeface="Quattrocento Sans"/>
                          <a:cs typeface="Quattrocento Sans"/>
                          <a:sym typeface="Quattrocento Sans"/>
                        </a:rPr>
                        <a:t>B</a:t>
                      </a:r>
                      <a:r>
                        <a:rPr lang="en-GB" sz="1600" dirty="0">
                          <a:solidFill>
                            <a:srgbClr val="0C0C0C"/>
                          </a:solidFill>
                          <a:latin typeface="Quattrocento Sans"/>
                          <a:ea typeface="Quattrocento Sans"/>
                          <a:cs typeface="Quattrocento Sans"/>
                          <a:sym typeface="Quattrocento Sans"/>
                        </a:rPr>
                        <a:t> or C</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0C0C0C"/>
                          </a:solidFill>
                          <a:latin typeface="Quattrocento Sans"/>
                          <a:ea typeface="Quattrocento Sans"/>
                          <a:cs typeface="Quattrocento Sans"/>
                          <a:sym typeface="Quattrocento Sans"/>
                        </a:rPr>
                        <a:t>2</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0C0C0C"/>
                          </a:solidFill>
                          <a:latin typeface="Quattrocento Sans"/>
                          <a:ea typeface="Quattrocento Sans"/>
                          <a:cs typeface="Quattrocento Sans"/>
                          <a:sym typeface="Quattrocento Sans"/>
                        </a:rPr>
                        <a:t>C</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p:sp>
        <p:nvSpPr>
          <p:cNvPr id="3" name="Google Shape;813;p47">
            <a:extLst>
              <a:ext uri="{FF2B5EF4-FFF2-40B4-BE49-F238E27FC236}">
                <a16:creationId xmlns:a16="http://schemas.microsoft.com/office/drawing/2014/main" id="{0E14ED8D-227A-0574-F1D4-D020D5F742DC}"/>
              </a:ext>
            </a:extLst>
          </p:cNvPr>
          <p:cNvSpPr/>
          <p:nvPr/>
        </p:nvSpPr>
        <p:spPr>
          <a:xfrm>
            <a:off x="1103861" y="2198059"/>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A</a:t>
            </a:r>
            <a:endParaRPr sz="2133" b="0" i="0" u="none" strike="noStrike" cap="none">
              <a:solidFill>
                <a:srgbClr val="000000"/>
              </a:solidFill>
              <a:latin typeface="Calibri"/>
              <a:ea typeface="Calibri"/>
              <a:cs typeface="Calibri"/>
              <a:sym typeface="Calibri"/>
            </a:endParaRPr>
          </a:p>
        </p:txBody>
      </p:sp>
      <p:sp>
        <p:nvSpPr>
          <p:cNvPr id="4" name="Google Shape;814;p47">
            <a:extLst>
              <a:ext uri="{FF2B5EF4-FFF2-40B4-BE49-F238E27FC236}">
                <a16:creationId xmlns:a16="http://schemas.microsoft.com/office/drawing/2014/main" id="{C0D07098-BB66-8DC0-16F8-64148C52FA8C}"/>
              </a:ext>
            </a:extLst>
          </p:cNvPr>
          <p:cNvSpPr/>
          <p:nvPr/>
        </p:nvSpPr>
        <p:spPr>
          <a:xfrm>
            <a:off x="1255140" y="364615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B</a:t>
            </a:r>
            <a:endParaRPr sz="2133" b="0" i="0" u="none" strike="noStrike" cap="none">
              <a:solidFill>
                <a:srgbClr val="000000"/>
              </a:solidFill>
              <a:latin typeface="Calibri"/>
              <a:ea typeface="Calibri"/>
              <a:cs typeface="Calibri"/>
              <a:sym typeface="Calibri"/>
            </a:endParaRPr>
          </a:p>
        </p:txBody>
      </p:sp>
      <p:sp>
        <p:nvSpPr>
          <p:cNvPr id="5" name="Google Shape;815;p47">
            <a:extLst>
              <a:ext uri="{FF2B5EF4-FFF2-40B4-BE49-F238E27FC236}">
                <a16:creationId xmlns:a16="http://schemas.microsoft.com/office/drawing/2014/main" id="{7547BE39-CE1B-08C3-DC12-BAE4FAC2D2D4}"/>
              </a:ext>
            </a:extLst>
          </p:cNvPr>
          <p:cNvSpPr/>
          <p:nvPr/>
        </p:nvSpPr>
        <p:spPr>
          <a:xfrm>
            <a:off x="3689838" y="1775065"/>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E</a:t>
            </a:r>
            <a:endParaRPr sz="2133" b="0" i="0" u="none" strike="noStrike" cap="none">
              <a:solidFill>
                <a:srgbClr val="000000"/>
              </a:solidFill>
              <a:latin typeface="Calibri"/>
              <a:ea typeface="Calibri"/>
              <a:cs typeface="Calibri"/>
              <a:sym typeface="Calibri"/>
            </a:endParaRPr>
          </a:p>
        </p:txBody>
      </p:sp>
      <p:sp>
        <p:nvSpPr>
          <p:cNvPr id="6" name="Google Shape;816;p47">
            <a:extLst>
              <a:ext uri="{FF2B5EF4-FFF2-40B4-BE49-F238E27FC236}">
                <a16:creationId xmlns:a16="http://schemas.microsoft.com/office/drawing/2014/main" id="{763073BA-EBC0-1931-7B3A-F03E8988D617}"/>
              </a:ext>
            </a:extLst>
          </p:cNvPr>
          <p:cNvSpPr/>
          <p:nvPr/>
        </p:nvSpPr>
        <p:spPr>
          <a:xfrm>
            <a:off x="2533962" y="2440765"/>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7" name="Google Shape;817;p47">
            <a:extLst>
              <a:ext uri="{FF2B5EF4-FFF2-40B4-BE49-F238E27FC236}">
                <a16:creationId xmlns:a16="http://schemas.microsoft.com/office/drawing/2014/main" id="{82FFCC39-B6FA-FBE1-87AA-CF2A35D11F08}"/>
              </a:ext>
            </a:extLst>
          </p:cNvPr>
          <p:cNvSpPr/>
          <p:nvPr/>
        </p:nvSpPr>
        <p:spPr>
          <a:xfrm>
            <a:off x="3166796" y="381475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cxnSp>
        <p:nvCxnSpPr>
          <p:cNvPr id="8" name="Google Shape;818;p47">
            <a:extLst>
              <a:ext uri="{FF2B5EF4-FFF2-40B4-BE49-F238E27FC236}">
                <a16:creationId xmlns:a16="http://schemas.microsoft.com/office/drawing/2014/main" id="{2D626839-3224-AF32-86CE-9DE909BA8BED}"/>
              </a:ext>
            </a:extLst>
          </p:cNvPr>
          <p:cNvCxnSpPr>
            <a:stCxn id="3" idx="2"/>
            <a:endCxn id="4" idx="0"/>
          </p:cNvCxnSpPr>
          <p:nvPr/>
        </p:nvCxnSpPr>
        <p:spPr>
          <a:xfrm>
            <a:off x="1315461" y="2535259"/>
            <a:ext cx="151200" cy="1110900"/>
          </a:xfrm>
          <a:prstGeom prst="straightConnector1">
            <a:avLst/>
          </a:prstGeom>
          <a:noFill/>
          <a:ln w="19050" cap="flat" cmpd="sng">
            <a:solidFill>
              <a:schemeClr val="dk2"/>
            </a:solidFill>
            <a:prstDash val="solid"/>
            <a:round/>
            <a:headEnd type="none" w="sm" len="sm"/>
            <a:tailEnd type="none" w="sm" len="sm"/>
          </a:ln>
        </p:spPr>
      </p:cxnSp>
      <p:cxnSp>
        <p:nvCxnSpPr>
          <p:cNvPr id="9" name="Google Shape;819;p47">
            <a:extLst>
              <a:ext uri="{FF2B5EF4-FFF2-40B4-BE49-F238E27FC236}">
                <a16:creationId xmlns:a16="http://schemas.microsoft.com/office/drawing/2014/main" id="{4DAAA59B-E811-A7D0-47DC-9A2951EC0AD8}"/>
              </a:ext>
            </a:extLst>
          </p:cNvPr>
          <p:cNvCxnSpPr>
            <a:stCxn id="3" idx="3"/>
            <a:endCxn id="6" idx="1"/>
          </p:cNvCxnSpPr>
          <p:nvPr/>
        </p:nvCxnSpPr>
        <p:spPr>
          <a:xfrm>
            <a:off x="1527061" y="2366659"/>
            <a:ext cx="1006800" cy="242700"/>
          </a:xfrm>
          <a:prstGeom prst="straightConnector1">
            <a:avLst/>
          </a:prstGeom>
          <a:noFill/>
          <a:ln w="19050" cap="flat" cmpd="sng">
            <a:solidFill>
              <a:schemeClr val="dk2"/>
            </a:solidFill>
            <a:prstDash val="solid"/>
            <a:round/>
            <a:headEnd type="none" w="sm" len="sm"/>
            <a:tailEnd type="none" w="sm" len="sm"/>
          </a:ln>
        </p:spPr>
      </p:cxnSp>
      <p:cxnSp>
        <p:nvCxnSpPr>
          <p:cNvPr id="10" name="Google Shape;820;p47">
            <a:extLst>
              <a:ext uri="{FF2B5EF4-FFF2-40B4-BE49-F238E27FC236}">
                <a16:creationId xmlns:a16="http://schemas.microsoft.com/office/drawing/2014/main" id="{84BF27D7-11C4-24B5-DAE3-86BB61BD1C60}"/>
              </a:ext>
            </a:extLst>
          </p:cNvPr>
          <p:cNvCxnSpPr>
            <a:stCxn id="5" idx="2"/>
            <a:endCxn id="6" idx="3"/>
          </p:cNvCxnSpPr>
          <p:nvPr/>
        </p:nvCxnSpPr>
        <p:spPr>
          <a:xfrm flipH="1">
            <a:off x="2957038" y="2112265"/>
            <a:ext cx="944400" cy="497100"/>
          </a:xfrm>
          <a:prstGeom prst="straightConnector1">
            <a:avLst/>
          </a:prstGeom>
          <a:noFill/>
          <a:ln w="19050" cap="flat" cmpd="sng">
            <a:solidFill>
              <a:schemeClr val="dk2"/>
            </a:solidFill>
            <a:prstDash val="solid"/>
            <a:round/>
            <a:headEnd type="none" w="sm" len="sm"/>
            <a:tailEnd type="none" w="sm" len="sm"/>
          </a:ln>
        </p:spPr>
      </p:cxnSp>
      <p:cxnSp>
        <p:nvCxnSpPr>
          <p:cNvPr id="11" name="Google Shape;821;p47">
            <a:extLst>
              <a:ext uri="{FF2B5EF4-FFF2-40B4-BE49-F238E27FC236}">
                <a16:creationId xmlns:a16="http://schemas.microsoft.com/office/drawing/2014/main" id="{A61F6EB2-9793-E4FA-3AC8-4751A554B538}"/>
              </a:ext>
            </a:extLst>
          </p:cNvPr>
          <p:cNvCxnSpPr>
            <a:stCxn id="4" idx="3"/>
            <a:endCxn id="7" idx="1"/>
          </p:cNvCxnSpPr>
          <p:nvPr/>
        </p:nvCxnSpPr>
        <p:spPr>
          <a:xfrm>
            <a:off x="1678340" y="3814753"/>
            <a:ext cx="1488600" cy="168600"/>
          </a:xfrm>
          <a:prstGeom prst="straightConnector1">
            <a:avLst/>
          </a:prstGeom>
          <a:noFill/>
          <a:ln w="19050" cap="flat" cmpd="sng">
            <a:solidFill>
              <a:schemeClr val="dk2"/>
            </a:solidFill>
            <a:prstDash val="solid"/>
            <a:round/>
            <a:headEnd type="none" w="sm" len="sm"/>
            <a:tailEnd type="none" w="sm" len="sm"/>
          </a:ln>
        </p:spPr>
      </p:cxnSp>
      <p:sp>
        <p:nvSpPr>
          <p:cNvPr id="12" name="Google Shape;822;p47">
            <a:extLst>
              <a:ext uri="{FF2B5EF4-FFF2-40B4-BE49-F238E27FC236}">
                <a16:creationId xmlns:a16="http://schemas.microsoft.com/office/drawing/2014/main" id="{94744128-2A80-12F6-C066-31E9E6827A6E}"/>
              </a:ext>
            </a:extLst>
          </p:cNvPr>
          <p:cNvSpPr txBox="1"/>
          <p:nvPr/>
        </p:nvSpPr>
        <p:spPr>
          <a:xfrm>
            <a:off x="105432" y="2112265"/>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13" name="Google Shape;823;p47">
            <a:extLst>
              <a:ext uri="{FF2B5EF4-FFF2-40B4-BE49-F238E27FC236}">
                <a16:creationId xmlns:a16="http://schemas.microsoft.com/office/drawing/2014/main" id="{8DCCFF96-FA51-490C-4E7F-C203BF3BFD70}"/>
              </a:ext>
            </a:extLst>
          </p:cNvPr>
          <p:cNvSpPr txBox="1"/>
          <p:nvPr/>
        </p:nvSpPr>
        <p:spPr>
          <a:xfrm>
            <a:off x="105432" y="1921631"/>
            <a:ext cx="101341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VISITED</a:t>
            </a:r>
            <a:endParaRPr/>
          </a:p>
        </p:txBody>
      </p:sp>
      <p:sp>
        <p:nvSpPr>
          <p:cNvPr id="14" name="Google Shape;824;p47">
            <a:extLst>
              <a:ext uri="{FF2B5EF4-FFF2-40B4-BE49-F238E27FC236}">
                <a16:creationId xmlns:a16="http://schemas.microsoft.com/office/drawing/2014/main" id="{0A167DFB-01B0-3B19-E017-E601825076B2}"/>
              </a:ext>
            </a:extLst>
          </p:cNvPr>
          <p:cNvSpPr/>
          <p:nvPr/>
        </p:nvSpPr>
        <p:spPr>
          <a:xfrm>
            <a:off x="1050609" y="2142439"/>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5" name="Google Shape;825;p47">
            <a:extLst>
              <a:ext uri="{FF2B5EF4-FFF2-40B4-BE49-F238E27FC236}">
                <a16:creationId xmlns:a16="http://schemas.microsoft.com/office/drawing/2014/main" id="{B9CD6A8B-EE69-C6C9-B6B0-C11F6F441E67}"/>
              </a:ext>
            </a:extLst>
          </p:cNvPr>
          <p:cNvSpPr/>
          <p:nvPr/>
        </p:nvSpPr>
        <p:spPr>
          <a:xfrm>
            <a:off x="1205101" y="3591040"/>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6" name="Google Shape;826;p47">
            <a:extLst>
              <a:ext uri="{FF2B5EF4-FFF2-40B4-BE49-F238E27FC236}">
                <a16:creationId xmlns:a16="http://schemas.microsoft.com/office/drawing/2014/main" id="{6F6117C6-8425-C1B9-4478-B92CDFBAD758}"/>
              </a:ext>
            </a:extLst>
          </p:cNvPr>
          <p:cNvSpPr/>
          <p:nvPr/>
        </p:nvSpPr>
        <p:spPr>
          <a:xfrm>
            <a:off x="3109484" y="3759640"/>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7" name="Google Shape;827;p47">
            <a:extLst>
              <a:ext uri="{FF2B5EF4-FFF2-40B4-BE49-F238E27FC236}">
                <a16:creationId xmlns:a16="http://schemas.microsoft.com/office/drawing/2014/main" id="{82062A4F-7D7C-8421-564B-3797EAA4487E}"/>
              </a:ext>
            </a:extLst>
          </p:cNvPr>
          <p:cNvSpPr/>
          <p:nvPr/>
        </p:nvSpPr>
        <p:spPr>
          <a:xfrm>
            <a:off x="2483924" y="2384145"/>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8" name="Google Shape;828;p47">
            <a:extLst>
              <a:ext uri="{FF2B5EF4-FFF2-40B4-BE49-F238E27FC236}">
                <a16:creationId xmlns:a16="http://schemas.microsoft.com/office/drawing/2014/main" id="{4F5F3C16-8512-743C-95D0-B67B3DE2BDCA}"/>
              </a:ext>
            </a:extLst>
          </p:cNvPr>
          <p:cNvSpPr/>
          <p:nvPr/>
        </p:nvSpPr>
        <p:spPr>
          <a:xfrm>
            <a:off x="3639800" y="1719952"/>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cxnSp>
        <p:nvCxnSpPr>
          <p:cNvPr id="19" name="Google Shape;829;p47">
            <a:extLst>
              <a:ext uri="{FF2B5EF4-FFF2-40B4-BE49-F238E27FC236}">
                <a16:creationId xmlns:a16="http://schemas.microsoft.com/office/drawing/2014/main" id="{E68AAAE9-360A-F94A-47A0-DFCB70CFE387}"/>
              </a:ext>
            </a:extLst>
          </p:cNvPr>
          <p:cNvCxnSpPr>
            <a:stCxn id="6" idx="2"/>
            <a:endCxn id="7" idx="0"/>
          </p:cNvCxnSpPr>
          <p:nvPr/>
        </p:nvCxnSpPr>
        <p:spPr>
          <a:xfrm>
            <a:off x="2745562" y="2777965"/>
            <a:ext cx="632700" cy="1036800"/>
          </a:xfrm>
          <a:prstGeom prst="straightConnector1">
            <a:avLst/>
          </a:prstGeom>
          <a:noFill/>
          <a:ln w="19050" cap="flat" cmpd="sng">
            <a:solidFill>
              <a:schemeClr val="dk2"/>
            </a:solidFill>
            <a:prstDash val="solid"/>
            <a:round/>
            <a:headEnd type="none" w="sm" len="sm"/>
            <a:tailEnd type="none" w="sm" len="sm"/>
          </a:ln>
        </p:spPr>
      </p:cxnSp>
      <p:sp>
        <p:nvSpPr>
          <p:cNvPr id="20" name="Google Shape;835;p47">
            <a:extLst>
              <a:ext uri="{FF2B5EF4-FFF2-40B4-BE49-F238E27FC236}">
                <a16:creationId xmlns:a16="http://schemas.microsoft.com/office/drawing/2014/main" id="{BDD8577F-4668-9916-89C7-04B6CA9DFC8F}"/>
              </a:ext>
            </a:extLst>
          </p:cNvPr>
          <p:cNvSpPr txBox="1"/>
          <p:nvPr/>
        </p:nvSpPr>
        <p:spPr>
          <a:xfrm>
            <a:off x="837648" y="3172835"/>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accent2"/>
                </a:solidFill>
                <a:latin typeface="Quattrocento Sans"/>
                <a:ea typeface="Quattrocento Sans"/>
                <a:cs typeface="Quattrocento Sans"/>
                <a:sym typeface="Quattrocento Sans"/>
              </a:rPr>
              <a:t>PN</a:t>
            </a:r>
            <a:endParaRPr sz="1800" b="1" dirty="0">
              <a:solidFill>
                <a:schemeClr val="accent2"/>
              </a:solidFill>
              <a:latin typeface="Quattrocento Sans"/>
              <a:ea typeface="Quattrocento Sans"/>
              <a:cs typeface="Quattrocento Sans"/>
              <a:sym typeface="Quattrocento Sans"/>
            </a:endParaRPr>
          </a:p>
        </p:txBody>
      </p:sp>
      <p:sp>
        <p:nvSpPr>
          <p:cNvPr id="21" name="Google Shape;836;p47">
            <a:extLst>
              <a:ext uri="{FF2B5EF4-FFF2-40B4-BE49-F238E27FC236}">
                <a16:creationId xmlns:a16="http://schemas.microsoft.com/office/drawing/2014/main" id="{0924E581-5849-693D-C4C9-BCBDA3B3E7F3}"/>
              </a:ext>
            </a:extLst>
          </p:cNvPr>
          <p:cNvSpPr txBox="1"/>
          <p:nvPr/>
        </p:nvSpPr>
        <p:spPr>
          <a:xfrm>
            <a:off x="1429462" y="1643873"/>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00B0F0"/>
                </a:solidFill>
                <a:latin typeface="Quattrocento Sans"/>
                <a:ea typeface="Quattrocento Sans"/>
                <a:cs typeface="Quattrocento Sans"/>
                <a:sym typeface="Quattrocento Sans"/>
              </a:rPr>
              <a:t>SD</a:t>
            </a:r>
            <a:endParaRPr sz="1800" b="1" dirty="0">
              <a:solidFill>
                <a:srgbClr val="00B0F0"/>
              </a:solidFill>
              <a:latin typeface="Quattrocento Sans"/>
              <a:ea typeface="Quattrocento Sans"/>
              <a:cs typeface="Quattrocento Sans"/>
              <a:sym typeface="Quattrocento Sans"/>
            </a:endParaRPr>
          </a:p>
        </p:txBody>
      </p:sp>
      <p:cxnSp>
        <p:nvCxnSpPr>
          <p:cNvPr id="22" name="Google Shape;838;p47">
            <a:extLst>
              <a:ext uri="{FF2B5EF4-FFF2-40B4-BE49-F238E27FC236}">
                <a16:creationId xmlns:a16="http://schemas.microsoft.com/office/drawing/2014/main" id="{54D66D11-FD66-B384-DA53-980FFAEA3F02}"/>
              </a:ext>
            </a:extLst>
          </p:cNvPr>
          <p:cNvCxnSpPr/>
          <p:nvPr/>
        </p:nvCxnSpPr>
        <p:spPr>
          <a:xfrm rot="10800000">
            <a:off x="1281130" y="2930627"/>
            <a:ext cx="109970" cy="720381"/>
          </a:xfrm>
          <a:prstGeom prst="straightConnector1">
            <a:avLst/>
          </a:prstGeom>
          <a:noFill/>
          <a:ln w="38100" cap="flat" cmpd="sng">
            <a:solidFill>
              <a:schemeClr val="accent2"/>
            </a:solidFill>
            <a:prstDash val="solid"/>
            <a:round/>
            <a:headEnd type="none" w="sm" len="sm"/>
            <a:tailEnd type="triangle" w="med" len="med"/>
          </a:ln>
        </p:spPr>
      </p:cxnSp>
      <p:cxnSp>
        <p:nvCxnSpPr>
          <p:cNvPr id="23" name="Google Shape;839;p47">
            <a:extLst>
              <a:ext uri="{FF2B5EF4-FFF2-40B4-BE49-F238E27FC236}">
                <a16:creationId xmlns:a16="http://schemas.microsoft.com/office/drawing/2014/main" id="{30A68D3B-EABC-A871-3EDB-02E388B3935B}"/>
              </a:ext>
            </a:extLst>
          </p:cNvPr>
          <p:cNvCxnSpPr/>
          <p:nvPr/>
        </p:nvCxnSpPr>
        <p:spPr>
          <a:xfrm rot="10800000">
            <a:off x="1808853" y="2513792"/>
            <a:ext cx="730968" cy="179874"/>
          </a:xfrm>
          <a:prstGeom prst="straightConnector1">
            <a:avLst/>
          </a:prstGeom>
          <a:noFill/>
          <a:ln w="38100" cap="flat" cmpd="sng">
            <a:solidFill>
              <a:schemeClr val="accent2"/>
            </a:solidFill>
            <a:prstDash val="solid"/>
            <a:round/>
            <a:headEnd type="none" w="sm" len="sm"/>
            <a:tailEnd type="triangle" w="med" len="med"/>
          </a:ln>
        </p:spPr>
      </p:cxnSp>
      <p:cxnSp>
        <p:nvCxnSpPr>
          <p:cNvPr id="24" name="Google Shape;840;p47">
            <a:extLst>
              <a:ext uri="{FF2B5EF4-FFF2-40B4-BE49-F238E27FC236}">
                <a16:creationId xmlns:a16="http://schemas.microsoft.com/office/drawing/2014/main" id="{E052D8FD-3020-6A39-D994-2A2F7CD359E7}"/>
              </a:ext>
            </a:extLst>
          </p:cNvPr>
          <p:cNvCxnSpPr/>
          <p:nvPr/>
        </p:nvCxnSpPr>
        <p:spPr>
          <a:xfrm rot="10800000">
            <a:off x="2417442" y="3802968"/>
            <a:ext cx="749354" cy="110034"/>
          </a:xfrm>
          <a:prstGeom prst="straightConnector1">
            <a:avLst/>
          </a:prstGeom>
          <a:noFill/>
          <a:ln w="38100" cap="flat" cmpd="sng">
            <a:solidFill>
              <a:schemeClr val="accent2"/>
            </a:solidFill>
            <a:prstDash val="solid"/>
            <a:round/>
            <a:headEnd type="none" w="sm" len="sm"/>
            <a:tailEnd type="triangle" w="med" len="med"/>
          </a:ln>
        </p:spPr>
      </p:cxnSp>
      <p:cxnSp>
        <p:nvCxnSpPr>
          <p:cNvPr id="25" name="Google Shape;841;p47">
            <a:extLst>
              <a:ext uri="{FF2B5EF4-FFF2-40B4-BE49-F238E27FC236}">
                <a16:creationId xmlns:a16="http://schemas.microsoft.com/office/drawing/2014/main" id="{2443F003-C30B-B37D-B0BA-71832B310D3D}"/>
              </a:ext>
            </a:extLst>
          </p:cNvPr>
          <p:cNvCxnSpPr/>
          <p:nvPr/>
        </p:nvCxnSpPr>
        <p:spPr>
          <a:xfrm flipH="1">
            <a:off x="3336992" y="2124050"/>
            <a:ext cx="662457" cy="386970"/>
          </a:xfrm>
          <a:prstGeom prst="straightConnector1">
            <a:avLst/>
          </a:prstGeom>
          <a:noFill/>
          <a:ln w="38100" cap="flat" cmpd="sng">
            <a:solidFill>
              <a:schemeClr val="accent2"/>
            </a:solidFill>
            <a:prstDash val="solid"/>
            <a:round/>
            <a:headEnd type="none" w="sm" len="sm"/>
            <a:tailEnd type="triangle" w="med" len="med"/>
          </a:ln>
        </p:spPr>
      </p:cxnSp>
      <p:sp>
        <p:nvSpPr>
          <p:cNvPr id="26" name="Google Shape;842;p47">
            <a:extLst>
              <a:ext uri="{FF2B5EF4-FFF2-40B4-BE49-F238E27FC236}">
                <a16:creationId xmlns:a16="http://schemas.microsoft.com/office/drawing/2014/main" id="{8E2E8CF7-C3C5-2687-B62B-FB2045491CE4}"/>
              </a:ext>
            </a:extLst>
          </p:cNvPr>
          <p:cNvSpPr txBox="1"/>
          <p:nvPr/>
        </p:nvSpPr>
        <p:spPr>
          <a:xfrm>
            <a:off x="1538114" y="1913026"/>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0</a:t>
            </a:r>
            <a:endParaRPr/>
          </a:p>
        </p:txBody>
      </p:sp>
      <p:sp>
        <p:nvSpPr>
          <p:cNvPr id="27" name="Google Shape;843;p47">
            <a:extLst>
              <a:ext uri="{FF2B5EF4-FFF2-40B4-BE49-F238E27FC236}">
                <a16:creationId xmlns:a16="http://schemas.microsoft.com/office/drawing/2014/main" id="{2100E0EF-3351-B7E3-F94A-B18692C67107}"/>
              </a:ext>
            </a:extLst>
          </p:cNvPr>
          <p:cNvSpPr txBox="1"/>
          <p:nvPr/>
        </p:nvSpPr>
        <p:spPr>
          <a:xfrm>
            <a:off x="1711814" y="3341786"/>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28" name="Google Shape;844;p47">
            <a:extLst>
              <a:ext uri="{FF2B5EF4-FFF2-40B4-BE49-F238E27FC236}">
                <a16:creationId xmlns:a16="http://schemas.microsoft.com/office/drawing/2014/main" id="{E0A2D213-EC0E-AA64-373C-1AE566C86696}"/>
              </a:ext>
            </a:extLst>
          </p:cNvPr>
          <p:cNvSpPr txBox="1"/>
          <p:nvPr/>
        </p:nvSpPr>
        <p:spPr>
          <a:xfrm>
            <a:off x="2981132" y="2106297"/>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29" name="Google Shape;845;p47">
            <a:extLst>
              <a:ext uri="{FF2B5EF4-FFF2-40B4-BE49-F238E27FC236}">
                <a16:creationId xmlns:a16="http://schemas.microsoft.com/office/drawing/2014/main" id="{92807609-3828-3925-0850-F7B3BA69A8EB}"/>
              </a:ext>
            </a:extLst>
          </p:cNvPr>
          <p:cNvSpPr txBox="1"/>
          <p:nvPr/>
        </p:nvSpPr>
        <p:spPr>
          <a:xfrm>
            <a:off x="3620418" y="3526452"/>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0" name="Google Shape;846;p47">
            <a:extLst>
              <a:ext uri="{FF2B5EF4-FFF2-40B4-BE49-F238E27FC236}">
                <a16:creationId xmlns:a16="http://schemas.microsoft.com/office/drawing/2014/main" id="{B7DEAD5E-7C73-21C6-E78A-1DC6167F9B3B}"/>
              </a:ext>
            </a:extLst>
          </p:cNvPr>
          <p:cNvSpPr txBox="1"/>
          <p:nvPr/>
        </p:nvSpPr>
        <p:spPr>
          <a:xfrm>
            <a:off x="4152621" y="1518754"/>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1" name="Google Shape;904;p49">
            <a:extLst>
              <a:ext uri="{FF2B5EF4-FFF2-40B4-BE49-F238E27FC236}">
                <a16:creationId xmlns:a16="http://schemas.microsoft.com/office/drawing/2014/main" id="{C9208258-6C13-63F8-1CD7-0DC842DB2FA4}"/>
              </a:ext>
            </a:extLst>
          </p:cNvPr>
          <p:cNvSpPr txBox="1">
            <a:spLocks/>
          </p:cNvSpPr>
          <p:nvPr/>
        </p:nvSpPr>
        <p:spPr>
          <a:xfrm>
            <a:off x="3952141" y="5807487"/>
            <a:ext cx="4225504" cy="787238"/>
          </a:xfrm>
          <a:prstGeom prst="rect">
            <a:avLst/>
          </a:prstGeom>
          <a:ln/>
        </p:spPr>
        <p:style>
          <a:lnRef idx="1">
            <a:schemeClr val="dk1"/>
          </a:lnRef>
          <a:fillRef idx="2">
            <a:schemeClr val="dk1"/>
          </a:fillRef>
          <a:effectRef idx="1">
            <a:schemeClr val="dk1"/>
          </a:effectRef>
          <a:fontRef idx="minor">
            <a:schemeClr val="dk1"/>
          </a:fontRef>
        </p:style>
        <p:txBody>
          <a:bodyPr spcFirstLastPara="1" wrap="square" lIns="45700" tIns="45700" rIns="45700" bIns="45700" anchor="t" anchorCtr="0">
            <a:normAutofit lnSpcReduction="10000"/>
          </a:bodyPr>
          <a:lstStyle>
            <a:defPPr marR="0" lvl="0" algn="l" rtl="0">
              <a:lnSpc>
                <a:spcPct val="100000"/>
              </a:lnSpc>
              <a:spcBef>
                <a:spcPts val="0"/>
              </a:spcBef>
              <a:spcAft>
                <a:spcPts val="0"/>
              </a:spcAft>
            </a:defPPr>
            <a:lvl1pPr marL="457200" marR="0" lvl="0" indent="-393700" algn="l" rtl="0">
              <a:lnSpc>
                <a:spcPct val="90000"/>
              </a:lnSpc>
              <a:spcBef>
                <a:spcPts val="1200"/>
              </a:spcBef>
              <a:spcAft>
                <a:spcPts val="0"/>
              </a:spcAft>
              <a:buClr>
                <a:srgbClr val="4C3282"/>
              </a:buClr>
              <a:buSzPts val="2600"/>
              <a:buFont typeface="Twentieth Century"/>
              <a:buChar char="●"/>
              <a:defRPr sz="2600" b="0" i="0" u="none" strike="noStrike" cap="none">
                <a:solidFill>
                  <a:schemeClr val="dk1"/>
                </a:solidFill>
                <a:latin typeface="Quattrocento Sans"/>
                <a:ea typeface="Quattrocento Sans"/>
                <a:cs typeface="Quattrocento Sans"/>
                <a:sym typeface="Quattrocento Sans"/>
              </a:defRPr>
            </a:lvl1pPr>
            <a:lvl2pPr marL="914400" marR="0" lvl="1" indent="-361950" algn="l" rtl="0">
              <a:lnSpc>
                <a:spcPct val="90000"/>
              </a:lnSpc>
              <a:spcBef>
                <a:spcPts val="300"/>
              </a:spcBef>
              <a:spcAft>
                <a:spcPts val="0"/>
              </a:spcAft>
              <a:buClr>
                <a:srgbClr val="B6A479"/>
              </a:buClr>
              <a:buSzPts val="2100"/>
              <a:buFont typeface="Quattrocento Sans"/>
              <a:buChar char="○"/>
              <a:defRPr sz="2100" b="0" i="0" u="none" strike="noStrike" cap="none">
                <a:solidFill>
                  <a:schemeClr val="dk1"/>
                </a:solidFill>
                <a:latin typeface="Quattrocento Sans"/>
                <a:ea typeface="Quattrocento Sans"/>
                <a:cs typeface="Quattrocento Sans"/>
                <a:sym typeface="Quattrocento Sans"/>
              </a:defRPr>
            </a:lvl2pPr>
            <a:lvl3pPr marL="1371600" marR="0" lvl="2" indent="-323850" algn="l" rtl="0">
              <a:lnSpc>
                <a:spcPct val="90000"/>
              </a:lnSpc>
              <a:spcBef>
                <a:spcPts val="400"/>
              </a:spcBef>
              <a:spcAft>
                <a:spcPts val="0"/>
              </a:spcAft>
              <a:buClr>
                <a:srgbClr val="B6A479"/>
              </a:buClr>
              <a:buSzPts val="1500"/>
              <a:buFont typeface="Quattrocento Sans"/>
              <a:buChar char="■"/>
              <a:defRPr sz="1500" b="0" i="0" u="none" strike="noStrike" cap="none">
                <a:solidFill>
                  <a:schemeClr val="dk1"/>
                </a:solidFill>
                <a:latin typeface="Quattrocento Sans"/>
                <a:ea typeface="Quattrocento Sans"/>
                <a:cs typeface="Quattrocento Sans"/>
                <a:sym typeface="Quattrocento Sans"/>
              </a:defRPr>
            </a:lvl3pPr>
            <a:lvl4pPr marL="1828800" marR="0" lvl="3"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4pPr>
            <a:lvl5pPr marL="2286000" marR="0" lvl="4"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5pPr>
            <a:lvl6pPr marL="2743200" marR="0" lvl="5"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6pPr>
            <a:lvl7pPr marL="3200400" marR="0" lvl="6"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7pPr>
            <a:lvl8pPr marL="3657600" marR="0" lvl="7"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8pPr>
            <a:lvl9pPr marL="4114800" marR="0" lvl="8" indent="-317500" algn="l" rtl="0">
              <a:lnSpc>
                <a:spcPct val="90000"/>
              </a:lnSpc>
              <a:spcBef>
                <a:spcPts val="400"/>
              </a:spcBef>
              <a:spcAft>
                <a:spcPts val="40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9pPr>
          </a:lstStyle>
          <a:p>
            <a:pPr marL="0" indent="0">
              <a:spcBef>
                <a:spcPts val="0"/>
              </a:spcBef>
              <a:buFont typeface="Twentieth Century"/>
              <a:buNone/>
            </a:pPr>
            <a:r>
              <a:rPr lang="en-GB" sz="1800" dirty="0"/>
              <a:t>Depending on the order of visiting A’s successors with BFS: either B before C, or C before B, D’s PN may be either B or 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85130-5874-A292-7B36-865F066468E5}"/>
              </a:ext>
            </a:extLst>
          </p:cNvPr>
          <p:cNvSpPr>
            <a:spLocks noGrp="1"/>
          </p:cNvSpPr>
          <p:nvPr>
            <p:ph type="title"/>
          </p:nvPr>
        </p:nvSpPr>
        <p:spPr/>
        <p:txBody>
          <a:bodyPr/>
          <a:lstStyle/>
          <a:p>
            <a:r>
              <a:rPr lang="en-GB" dirty="0"/>
              <a:t>BFS Time Complexity</a:t>
            </a:r>
            <a:endParaRPr lang="en-SE" dirty="0"/>
          </a:p>
        </p:txBody>
      </p:sp>
      <p:sp>
        <p:nvSpPr>
          <p:cNvPr id="3" name="Text Placeholder 2">
            <a:extLst>
              <a:ext uri="{FF2B5EF4-FFF2-40B4-BE49-F238E27FC236}">
                <a16:creationId xmlns:a16="http://schemas.microsoft.com/office/drawing/2014/main" id="{8420D382-B54D-B77F-DDC2-65D1483B917D}"/>
              </a:ext>
            </a:extLst>
          </p:cNvPr>
          <p:cNvSpPr>
            <a:spLocks noGrp="1"/>
          </p:cNvSpPr>
          <p:nvPr>
            <p:ph type="body" idx="1"/>
          </p:nvPr>
        </p:nvSpPr>
        <p:spPr>
          <a:xfrm>
            <a:off x="715108" y="1278177"/>
            <a:ext cx="10820400" cy="3422433"/>
          </a:xfrm>
        </p:spPr>
        <p:txBody>
          <a:bodyPr/>
          <a:lstStyle/>
          <a:p>
            <a:pPr algn="l">
              <a:buFont typeface="Arial" panose="020B0604020202020204" pitchFamily="34" charset="0"/>
              <a:buChar char="•"/>
            </a:pPr>
            <a:r>
              <a:rPr lang="en-GB" b="0" i="0" dirty="0">
                <a:effectLst/>
                <a:latin typeface="Quattrocento Sans" panose="020B0502050000020003" pitchFamily="34" charset="0"/>
              </a:rPr>
              <a:t>Using Adjacency List: O(V + E)</a:t>
            </a:r>
          </a:p>
          <a:p>
            <a:pPr lvl="1">
              <a:buFont typeface="Arial" panose="020B0604020202020204" pitchFamily="34" charset="0"/>
              <a:buChar char="•"/>
            </a:pPr>
            <a:r>
              <a:rPr lang="en-GB" b="0" i="0" dirty="0">
                <a:effectLst/>
                <a:latin typeface="Quattrocento Sans" panose="020B0502050000020003" pitchFamily="34" charset="0"/>
              </a:rPr>
              <a:t>Each node is processed exactly once: O(V)</a:t>
            </a:r>
          </a:p>
          <a:p>
            <a:pPr lvl="1">
              <a:buFont typeface="Arial" panose="020B0604020202020204" pitchFamily="34" charset="0"/>
              <a:buChar char="•"/>
            </a:pPr>
            <a:r>
              <a:rPr lang="en-GB" b="0" i="0" dirty="0">
                <a:effectLst/>
                <a:latin typeface="Quattrocento Sans" panose="020B0502050000020003" pitchFamily="34" charset="0"/>
              </a:rPr>
              <a:t>Each edge is examined exactly once: O(E)</a:t>
            </a:r>
          </a:p>
          <a:p>
            <a:pPr lvl="1">
              <a:buFont typeface="Arial" panose="020B0604020202020204" pitchFamily="34" charset="0"/>
              <a:buChar char="•"/>
            </a:pPr>
            <a:r>
              <a:rPr lang="en-GB" b="0" i="0" dirty="0">
                <a:effectLst/>
                <a:latin typeface="Quattrocento Sans" panose="020B0502050000020003" pitchFamily="34" charset="0"/>
              </a:rPr>
              <a:t>Total complexity: O(V + E)</a:t>
            </a:r>
          </a:p>
          <a:p>
            <a:pPr lvl="1">
              <a:buFont typeface="Arial" panose="020B0604020202020204" pitchFamily="34" charset="0"/>
              <a:buChar char="•"/>
            </a:pPr>
            <a:r>
              <a:rPr lang="en-GB" dirty="0">
                <a:latin typeface="Quattrocento Sans" panose="020B0502050000020003" pitchFamily="34" charset="0"/>
              </a:rPr>
              <a:t>E</a:t>
            </a:r>
            <a:r>
              <a:rPr lang="en-GB" b="0" i="0" dirty="0">
                <a:effectLst/>
                <a:latin typeface="Quattrocento Sans" panose="020B0502050000020003" pitchFamily="34" charset="0"/>
              </a:rPr>
              <a:t>fficient for sparse graphs (where E is much less than V²)</a:t>
            </a:r>
          </a:p>
          <a:p>
            <a:pPr algn="l">
              <a:buFont typeface="Arial" panose="020B0604020202020204" pitchFamily="34" charset="0"/>
              <a:buChar char="•"/>
            </a:pPr>
            <a:r>
              <a:rPr lang="en-GB" b="0" i="0" dirty="0">
                <a:effectLst/>
                <a:latin typeface="Quattrocento Sans" panose="020B0502050000020003" pitchFamily="34" charset="0"/>
              </a:rPr>
              <a:t>Using Adjacency Matrix: O(V²)</a:t>
            </a:r>
          </a:p>
          <a:p>
            <a:pPr lvl="1">
              <a:buFont typeface="Arial" panose="020B0604020202020204" pitchFamily="34" charset="0"/>
              <a:buChar char="•"/>
            </a:pPr>
            <a:r>
              <a:rPr lang="en-GB" dirty="0">
                <a:latin typeface="Quattrocento Sans" panose="020B0502050000020003" pitchFamily="34" charset="0"/>
              </a:rPr>
              <a:t>For each node, we must check all possible edges to other vertices</a:t>
            </a:r>
          </a:p>
          <a:p>
            <a:pPr lvl="1">
              <a:buFont typeface="Arial" panose="020B0604020202020204" pitchFamily="34" charset="0"/>
              <a:buChar char="•"/>
            </a:pPr>
            <a:r>
              <a:rPr lang="en-GB" dirty="0">
                <a:latin typeface="Quattrocento Sans" panose="020B0502050000020003" pitchFamily="34" charset="0"/>
              </a:rPr>
              <a:t>This results in O(V²) operations regardless of the actual number of edges</a:t>
            </a:r>
          </a:p>
          <a:p>
            <a:pPr lvl="1">
              <a:buFont typeface="Arial" panose="020B0604020202020204" pitchFamily="34" charset="0"/>
              <a:buChar char="•"/>
            </a:pPr>
            <a:endParaRPr lang="en-SE" dirty="0">
              <a:latin typeface="Quattrocento Sans" panose="020B0502050000020003" pitchFamily="34" charset="0"/>
            </a:endParaRPr>
          </a:p>
        </p:txBody>
      </p:sp>
    </p:spTree>
    <p:extLst>
      <p:ext uri="{BB962C8B-B14F-4D97-AF65-F5344CB8AC3E}">
        <p14:creationId xmlns:p14="http://schemas.microsoft.com/office/powerpoint/2010/main" val="11200464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093AD029-6809-8B92-2002-ABF8E8C324EA}"/>
            </a:ext>
          </a:extLst>
        </p:cNvPr>
        <p:cNvGrpSpPr/>
        <p:nvPr/>
      </p:nvGrpSpPr>
      <p:grpSpPr>
        <a:xfrm>
          <a:off x="0" y="0"/>
          <a:ext cx="0" cy="0"/>
          <a:chOff x="0" y="0"/>
          <a:chExt cx="0" cy="0"/>
        </a:xfrm>
      </p:grpSpPr>
      <p:sp>
        <p:nvSpPr>
          <p:cNvPr id="197" name="Google Shape;197;p20">
            <a:extLst>
              <a:ext uri="{FF2B5EF4-FFF2-40B4-BE49-F238E27FC236}">
                <a16:creationId xmlns:a16="http://schemas.microsoft.com/office/drawing/2014/main" id="{B2BF422D-6EA1-B9A1-8CCA-1D1A80BB372A}"/>
              </a:ext>
            </a:extLst>
          </p:cNvPr>
          <p:cNvSpPr txBox="1"/>
          <p:nvPr/>
        </p:nvSpPr>
        <p:spPr>
          <a:xfrm>
            <a:off x="1763224" y="2540315"/>
            <a:ext cx="7257600" cy="1777369"/>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BFS</a:t>
            </a:r>
          </a:p>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Dijkstra’s Algorithm</a:t>
            </a:r>
          </a:p>
          <a:p>
            <a:pPr marL="0" lvl="0" indent="0" algn="l" rtl="0">
              <a:lnSpc>
                <a:spcPct val="90000"/>
              </a:lnSpc>
              <a:spcBef>
                <a:spcPts val="600"/>
              </a:spcBef>
              <a:spcAft>
                <a:spcPts val="0"/>
              </a:spcAft>
              <a:buNone/>
            </a:pPr>
            <a:r>
              <a:rPr lang="en-GB" sz="3500" dirty="0">
                <a:solidFill>
                  <a:schemeClr val="bg1">
                    <a:lumMod val="65000"/>
                  </a:schemeClr>
                </a:solidFill>
                <a:highlight>
                  <a:srgbClr val="FFFFFF"/>
                </a:highlight>
                <a:latin typeface="+mj-lt"/>
                <a:sym typeface="Quattrocento Sans"/>
              </a:rPr>
              <a:t>Bellman-Ford Algorithm</a:t>
            </a:r>
          </a:p>
        </p:txBody>
      </p:sp>
    </p:spTree>
    <p:extLst>
      <p:ext uri="{BB962C8B-B14F-4D97-AF65-F5344CB8AC3E}">
        <p14:creationId xmlns:p14="http://schemas.microsoft.com/office/powerpoint/2010/main" val="33357458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sp>
        <p:nvSpPr>
          <p:cNvPr id="937" name="Google Shape;937;p51"/>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a:t>Dijkstra’s Algorithm</a:t>
            </a:r>
            <a:endParaRPr/>
          </a:p>
        </p:txBody>
      </p:sp>
      <p:sp>
        <p:nvSpPr>
          <p:cNvPr id="938" name="Google Shape;938;p51"/>
          <p:cNvSpPr txBox="1">
            <a:spLocks noGrp="1"/>
          </p:cNvSpPr>
          <p:nvPr>
            <p:ph type="body" idx="1"/>
          </p:nvPr>
        </p:nvSpPr>
        <p:spPr>
          <a:xfrm>
            <a:off x="746175" y="1568275"/>
            <a:ext cx="7280890" cy="1951776"/>
          </a:xfrm>
          <a:prstGeom prst="rect">
            <a:avLst/>
          </a:prstGeom>
          <a:noFill/>
          <a:ln>
            <a:noFill/>
          </a:ln>
        </p:spPr>
        <p:txBody>
          <a:bodyPr spcFirstLastPara="1" wrap="square" lIns="45700" tIns="45700" rIns="45700" bIns="45700" anchor="t" anchorCtr="0">
            <a:spAutoFit/>
          </a:bodyPr>
          <a:lstStyle/>
          <a:p>
            <a:pPr marL="457200" lvl="0" indent="-393700" algn="l" rtl="0">
              <a:lnSpc>
                <a:spcPct val="90000"/>
              </a:lnSpc>
              <a:spcBef>
                <a:spcPts val="0"/>
              </a:spcBef>
              <a:spcAft>
                <a:spcPts val="0"/>
              </a:spcAft>
              <a:buSzPts val="2600"/>
              <a:buChar char="●"/>
            </a:pPr>
            <a:r>
              <a:rPr lang="en-US" dirty="0"/>
              <a:t>Named after its inventor, </a:t>
            </a:r>
            <a:r>
              <a:rPr lang="en-US" dirty="0" err="1"/>
              <a:t>Edsger</a:t>
            </a:r>
            <a:r>
              <a:rPr lang="en-US" dirty="0"/>
              <a:t> W. Dijkstra (1930-2002)</a:t>
            </a:r>
            <a:endParaRPr dirty="0"/>
          </a:p>
          <a:p>
            <a:pPr marL="914400" lvl="1" indent="-361950" algn="l" rtl="0">
              <a:lnSpc>
                <a:spcPct val="90000"/>
              </a:lnSpc>
              <a:spcBef>
                <a:spcPts val="0"/>
              </a:spcBef>
              <a:spcAft>
                <a:spcPts val="0"/>
              </a:spcAft>
              <a:buSzPts val="2100"/>
              <a:buChar char="○"/>
            </a:pPr>
            <a:r>
              <a:rPr lang="en-US" dirty="0"/>
              <a:t>1972 Turing Award</a:t>
            </a:r>
            <a:endParaRPr dirty="0"/>
          </a:p>
          <a:p>
            <a:pPr marL="457200" lvl="0" indent="-393700" algn="l" rtl="0">
              <a:lnSpc>
                <a:spcPct val="90000"/>
              </a:lnSpc>
              <a:spcBef>
                <a:spcPts val="1000"/>
              </a:spcBef>
              <a:spcAft>
                <a:spcPts val="0"/>
              </a:spcAft>
              <a:buSzPts val="2600"/>
              <a:buChar char="●"/>
            </a:pPr>
            <a:r>
              <a:rPr lang="en-GB" dirty="0"/>
              <a:t>Solves the Shortest Path Problem on a weighted graph</a:t>
            </a:r>
          </a:p>
        </p:txBody>
      </p:sp>
      <p:grpSp>
        <p:nvGrpSpPr>
          <p:cNvPr id="21" name="Google Shape;916;p50">
            <a:extLst>
              <a:ext uri="{FF2B5EF4-FFF2-40B4-BE49-F238E27FC236}">
                <a16:creationId xmlns:a16="http://schemas.microsoft.com/office/drawing/2014/main" id="{3ED08868-B79B-C355-499C-F7084270C51A}"/>
              </a:ext>
            </a:extLst>
          </p:cNvPr>
          <p:cNvGrpSpPr/>
          <p:nvPr/>
        </p:nvGrpSpPr>
        <p:grpSpPr>
          <a:xfrm>
            <a:off x="7610368" y="2035684"/>
            <a:ext cx="3835457" cy="2280040"/>
            <a:chOff x="1263225" y="1628608"/>
            <a:chExt cx="3835457" cy="2280040"/>
          </a:xfrm>
        </p:grpSpPr>
        <p:sp>
          <p:nvSpPr>
            <p:cNvPr id="22" name="Google Shape;917;p50">
              <a:extLst>
                <a:ext uri="{FF2B5EF4-FFF2-40B4-BE49-F238E27FC236}">
                  <a16:creationId xmlns:a16="http://schemas.microsoft.com/office/drawing/2014/main" id="{35F59BE4-EC29-1AFF-458F-BE6C2552E6E2}"/>
                </a:ext>
              </a:extLst>
            </p:cNvPr>
            <p:cNvSpPr/>
            <p:nvPr/>
          </p:nvSpPr>
          <p:spPr>
            <a:xfrm>
              <a:off x="2008942" y="1743408"/>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A</a:t>
              </a:r>
              <a:endParaRPr sz="2133" b="0" i="0" u="none" strike="noStrike" cap="none">
                <a:solidFill>
                  <a:srgbClr val="000000"/>
                </a:solidFill>
                <a:latin typeface="Calibri"/>
                <a:ea typeface="Calibri"/>
                <a:cs typeface="Calibri"/>
                <a:sym typeface="Calibri"/>
              </a:endParaRPr>
            </a:p>
          </p:txBody>
        </p:sp>
        <p:sp>
          <p:nvSpPr>
            <p:cNvPr id="23" name="Google Shape;918;p50">
              <a:extLst>
                <a:ext uri="{FF2B5EF4-FFF2-40B4-BE49-F238E27FC236}">
                  <a16:creationId xmlns:a16="http://schemas.microsoft.com/office/drawing/2014/main" id="{6C0E49E5-545F-C1CA-E05C-D16E6D781615}"/>
                </a:ext>
              </a:extLst>
            </p:cNvPr>
            <p:cNvSpPr/>
            <p:nvPr/>
          </p:nvSpPr>
          <p:spPr>
            <a:xfrm>
              <a:off x="2160221" y="3191502"/>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B</a:t>
              </a:r>
              <a:endParaRPr sz="2133" b="0" i="0" u="none" strike="noStrike" cap="none">
                <a:solidFill>
                  <a:srgbClr val="000000"/>
                </a:solidFill>
                <a:latin typeface="Calibri"/>
                <a:ea typeface="Calibri"/>
                <a:cs typeface="Calibri"/>
                <a:sym typeface="Calibri"/>
              </a:endParaRPr>
            </a:p>
          </p:txBody>
        </p:sp>
        <p:sp>
          <p:nvSpPr>
            <p:cNvPr id="24" name="Google Shape;919;p50">
              <a:extLst>
                <a:ext uri="{FF2B5EF4-FFF2-40B4-BE49-F238E27FC236}">
                  <a16:creationId xmlns:a16="http://schemas.microsoft.com/office/drawing/2014/main" id="{715F920F-1C23-DD9E-89F0-CBF2F1976905}"/>
                </a:ext>
              </a:extLst>
            </p:cNvPr>
            <p:cNvSpPr/>
            <p:nvPr/>
          </p:nvSpPr>
          <p:spPr>
            <a:xfrm>
              <a:off x="3794816" y="1979474"/>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25" name="Google Shape;920;p50">
              <a:extLst>
                <a:ext uri="{FF2B5EF4-FFF2-40B4-BE49-F238E27FC236}">
                  <a16:creationId xmlns:a16="http://schemas.microsoft.com/office/drawing/2014/main" id="{89AA7C54-F3A8-8889-35D8-6E1B3FEB0687}"/>
                </a:ext>
              </a:extLst>
            </p:cNvPr>
            <p:cNvSpPr/>
            <p:nvPr/>
          </p:nvSpPr>
          <p:spPr>
            <a:xfrm>
              <a:off x="4071877" y="3360102"/>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cxnSp>
          <p:nvCxnSpPr>
            <p:cNvPr id="26" name="Google Shape;921;p50">
              <a:extLst>
                <a:ext uri="{FF2B5EF4-FFF2-40B4-BE49-F238E27FC236}">
                  <a16:creationId xmlns:a16="http://schemas.microsoft.com/office/drawing/2014/main" id="{FD83B72C-5E9D-4F8C-A6B4-1223EB7FE167}"/>
                </a:ext>
              </a:extLst>
            </p:cNvPr>
            <p:cNvCxnSpPr>
              <a:stCxn id="22" idx="2"/>
              <a:endCxn id="23" idx="0"/>
            </p:cNvCxnSpPr>
            <p:nvPr/>
          </p:nvCxnSpPr>
          <p:spPr>
            <a:xfrm>
              <a:off x="2220542" y="2080608"/>
              <a:ext cx="151200" cy="1110900"/>
            </a:xfrm>
            <a:prstGeom prst="straightConnector1">
              <a:avLst/>
            </a:prstGeom>
            <a:noFill/>
            <a:ln w="38100" cap="flat" cmpd="sng">
              <a:solidFill>
                <a:schemeClr val="tx1"/>
              </a:solidFill>
              <a:prstDash val="solid"/>
              <a:round/>
              <a:headEnd type="none" w="sm" len="sm"/>
              <a:tailEnd type="none" w="sm" len="sm"/>
            </a:ln>
          </p:spPr>
        </p:cxnSp>
        <p:cxnSp>
          <p:nvCxnSpPr>
            <p:cNvPr id="27" name="Google Shape;922;p50">
              <a:extLst>
                <a:ext uri="{FF2B5EF4-FFF2-40B4-BE49-F238E27FC236}">
                  <a16:creationId xmlns:a16="http://schemas.microsoft.com/office/drawing/2014/main" id="{3F934EAB-DC28-0EF0-C1CC-C3666ED40570}"/>
                </a:ext>
              </a:extLst>
            </p:cNvPr>
            <p:cNvCxnSpPr>
              <a:stCxn id="22" idx="3"/>
              <a:endCxn id="24" idx="1"/>
            </p:cNvCxnSpPr>
            <p:nvPr/>
          </p:nvCxnSpPr>
          <p:spPr>
            <a:xfrm>
              <a:off x="2432142" y="1912008"/>
              <a:ext cx="1362600" cy="236100"/>
            </a:xfrm>
            <a:prstGeom prst="straightConnector1">
              <a:avLst/>
            </a:prstGeom>
            <a:noFill/>
            <a:ln w="38100" cap="flat" cmpd="sng">
              <a:solidFill>
                <a:schemeClr val="tx1"/>
              </a:solidFill>
              <a:prstDash val="solid"/>
              <a:round/>
              <a:headEnd type="none" w="sm" len="sm"/>
              <a:tailEnd type="none" w="sm" len="sm"/>
            </a:ln>
          </p:spPr>
        </p:cxnSp>
        <p:cxnSp>
          <p:nvCxnSpPr>
            <p:cNvPr id="28" name="Google Shape;923;p50">
              <a:extLst>
                <a:ext uri="{FF2B5EF4-FFF2-40B4-BE49-F238E27FC236}">
                  <a16:creationId xmlns:a16="http://schemas.microsoft.com/office/drawing/2014/main" id="{F5069F05-1323-399B-B7FC-A3C0E22E6EF4}"/>
                </a:ext>
              </a:extLst>
            </p:cNvPr>
            <p:cNvCxnSpPr>
              <a:stCxn id="23" idx="3"/>
              <a:endCxn id="25" idx="1"/>
            </p:cNvCxnSpPr>
            <p:nvPr/>
          </p:nvCxnSpPr>
          <p:spPr>
            <a:xfrm>
              <a:off x="2583421" y="3360102"/>
              <a:ext cx="1488600" cy="168600"/>
            </a:xfrm>
            <a:prstGeom prst="straightConnector1">
              <a:avLst/>
            </a:prstGeom>
            <a:noFill/>
            <a:ln w="38100" cap="flat" cmpd="sng">
              <a:solidFill>
                <a:schemeClr val="tx1"/>
              </a:solidFill>
              <a:prstDash val="solid"/>
              <a:round/>
              <a:headEnd type="none" w="sm" len="sm"/>
              <a:tailEnd type="none" w="sm" len="sm"/>
            </a:ln>
          </p:spPr>
        </p:cxnSp>
        <p:cxnSp>
          <p:nvCxnSpPr>
            <p:cNvPr id="29" name="Google Shape;924;p50">
              <a:extLst>
                <a:ext uri="{FF2B5EF4-FFF2-40B4-BE49-F238E27FC236}">
                  <a16:creationId xmlns:a16="http://schemas.microsoft.com/office/drawing/2014/main" id="{C682F521-F96E-2502-3553-41034D627759}"/>
                </a:ext>
              </a:extLst>
            </p:cNvPr>
            <p:cNvCxnSpPr>
              <a:stCxn id="24" idx="2"/>
              <a:endCxn id="25" idx="0"/>
            </p:cNvCxnSpPr>
            <p:nvPr/>
          </p:nvCxnSpPr>
          <p:spPr>
            <a:xfrm>
              <a:off x="4006416" y="2316674"/>
              <a:ext cx="277200" cy="1043400"/>
            </a:xfrm>
            <a:prstGeom prst="straightConnector1">
              <a:avLst/>
            </a:prstGeom>
            <a:noFill/>
            <a:ln w="38100" cap="flat" cmpd="sng">
              <a:solidFill>
                <a:schemeClr val="tx1"/>
              </a:solidFill>
              <a:prstDash val="solid"/>
              <a:round/>
              <a:headEnd type="none" w="sm" len="sm"/>
              <a:tailEnd type="none" w="sm" len="sm"/>
            </a:ln>
          </p:spPr>
        </p:cxnSp>
        <p:sp>
          <p:nvSpPr>
            <p:cNvPr id="30" name="Google Shape;925;p50">
              <a:extLst>
                <a:ext uri="{FF2B5EF4-FFF2-40B4-BE49-F238E27FC236}">
                  <a16:creationId xmlns:a16="http://schemas.microsoft.com/office/drawing/2014/main" id="{78CE57A9-507B-5EBE-261C-AD6E1BBC282A}"/>
                </a:ext>
              </a:extLst>
            </p:cNvPr>
            <p:cNvSpPr txBox="1"/>
            <p:nvPr/>
          </p:nvSpPr>
          <p:spPr>
            <a:xfrm>
              <a:off x="2823868" y="1628608"/>
              <a:ext cx="69121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tx1"/>
                  </a:solidFill>
                  <a:latin typeface="Consolas"/>
                  <a:ea typeface="Consolas"/>
                  <a:cs typeface="Consolas"/>
                  <a:sym typeface="Consolas"/>
                </a:rPr>
                <a:t>14.0</a:t>
              </a:r>
              <a:endParaRPr dirty="0">
                <a:solidFill>
                  <a:schemeClr val="tx1"/>
                </a:solidFill>
              </a:endParaRPr>
            </a:p>
          </p:txBody>
        </p:sp>
        <p:sp>
          <p:nvSpPr>
            <p:cNvPr id="31" name="Google Shape;926;p50">
              <a:extLst>
                <a:ext uri="{FF2B5EF4-FFF2-40B4-BE49-F238E27FC236}">
                  <a16:creationId xmlns:a16="http://schemas.microsoft.com/office/drawing/2014/main" id="{D092F0FC-6F30-81FC-6CB1-7261DBB226FF}"/>
                </a:ext>
              </a:extLst>
            </p:cNvPr>
            <p:cNvSpPr txBox="1"/>
            <p:nvPr/>
          </p:nvSpPr>
          <p:spPr>
            <a:xfrm>
              <a:off x="1533692" y="2504857"/>
              <a:ext cx="69121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tx1"/>
                  </a:solidFill>
                  <a:latin typeface="Consolas"/>
                  <a:ea typeface="Consolas"/>
                  <a:cs typeface="Consolas"/>
                  <a:sym typeface="Consolas"/>
                </a:rPr>
                <a:t>12.0</a:t>
              </a:r>
              <a:endParaRPr dirty="0">
                <a:solidFill>
                  <a:schemeClr val="tx1"/>
                </a:solidFill>
              </a:endParaRPr>
            </a:p>
          </p:txBody>
        </p:sp>
        <p:sp>
          <p:nvSpPr>
            <p:cNvPr id="32" name="Google Shape;927;p50">
              <a:extLst>
                <a:ext uri="{FF2B5EF4-FFF2-40B4-BE49-F238E27FC236}">
                  <a16:creationId xmlns:a16="http://schemas.microsoft.com/office/drawing/2014/main" id="{D0266712-18B5-6709-EEB1-DA90BF4C5DCA}"/>
                </a:ext>
              </a:extLst>
            </p:cNvPr>
            <p:cNvSpPr txBox="1"/>
            <p:nvPr/>
          </p:nvSpPr>
          <p:spPr>
            <a:xfrm>
              <a:off x="2855405" y="3539316"/>
              <a:ext cx="94448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tx1"/>
                  </a:solidFill>
                  <a:latin typeface="Consolas"/>
                  <a:ea typeface="Consolas"/>
                  <a:cs typeface="Consolas"/>
                  <a:sym typeface="Consolas"/>
                </a:rPr>
                <a:t>9000.2</a:t>
              </a:r>
              <a:endParaRPr>
                <a:solidFill>
                  <a:schemeClr val="tx1"/>
                </a:solidFill>
              </a:endParaRPr>
            </a:p>
          </p:txBody>
        </p:sp>
        <p:sp>
          <p:nvSpPr>
            <p:cNvPr id="33" name="Google Shape;928;p50">
              <a:extLst>
                <a:ext uri="{FF2B5EF4-FFF2-40B4-BE49-F238E27FC236}">
                  <a16:creationId xmlns:a16="http://schemas.microsoft.com/office/drawing/2014/main" id="{69276FCA-14F7-EC51-0C0D-3B400A57E4AF}"/>
                </a:ext>
              </a:extLst>
            </p:cNvPr>
            <p:cNvSpPr txBox="1"/>
            <p:nvPr/>
          </p:nvSpPr>
          <p:spPr>
            <a:xfrm>
              <a:off x="4283477" y="2576527"/>
              <a:ext cx="564578"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tx1"/>
                  </a:solidFill>
                  <a:latin typeface="Consolas"/>
                  <a:ea typeface="Consolas"/>
                  <a:cs typeface="Consolas"/>
                  <a:sym typeface="Consolas"/>
                </a:rPr>
                <a:t>1.5</a:t>
              </a:r>
              <a:endParaRPr dirty="0">
                <a:solidFill>
                  <a:schemeClr val="tx1"/>
                </a:solidFill>
              </a:endParaRPr>
            </a:p>
          </p:txBody>
        </p:sp>
        <p:sp>
          <p:nvSpPr>
            <p:cNvPr id="34" name="Google Shape;929;p50">
              <a:extLst>
                <a:ext uri="{FF2B5EF4-FFF2-40B4-BE49-F238E27FC236}">
                  <a16:creationId xmlns:a16="http://schemas.microsoft.com/office/drawing/2014/main" id="{0C5ABCC3-DFD4-3F42-5FD1-8DDFB054412C}"/>
                </a:ext>
              </a:extLst>
            </p:cNvPr>
            <p:cNvSpPr txBox="1"/>
            <p:nvPr/>
          </p:nvSpPr>
          <p:spPr>
            <a:xfrm>
              <a:off x="1263225" y="1730606"/>
              <a:ext cx="745717"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tx1"/>
                  </a:solidFill>
                  <a:latin typeface="Consolas"/>
                  <a:ea typeface="Consolas"/>
                  <a:cs typeface="Consolas"/>
                  <a:sym typeface="Consolas"/>
                </a:rPr>
                <a:t>start</a:t>
              </a:r>
              <a:endParaRPr dirty="0">
                <a:solidFill>
                  <a:schemeClr val="tx1"/>
                </a:solidFill>
              </a:endParaRPr>
            </a:p>
          </p:txBody>
        </p:sp>
        <p:sp>
          <p:nvSpPr>
            <p:cNvPr id="35" name="Google Shape;930;p50">
              <a:extLst>
                <a:ext uri="{FF2B5EF4-FFF2-40B4-BE49-F238E27FC236}">
                  <a16:creationId xmlns:a16="http://schemas.microsoft.com/office/drawing/2014/main" id="{48789157-9011-CCAB-0B9A-E380DC996229}"/>
                </a:ext>
              </a:extLst>
            </p:cNvPr>
            <p:cNvSpPr txBox="1"/>
            <p:nvPr/>
          </p:nvSpPr>
          <p:spPr>
            <a:xfrm>
              <a:off x="4240755" y="1991183"/>
              <a:ext cx="857927"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tx1"/>
                  </a:solidFill>
                  <a:latin typeface="Consolas"/>
                  <a:ea typeface="Consolas"/>
                  <a:cs typeface="Consolas"/>
                  <a:sym typeface="Consolas"/>
                </a:rPr>
                <a:t>target</a:t>
              </a:r>
              <a:endParaRPr dirty="0">
                <a:solidFill>
                  <a:schemeClr val="tx1"/>
                </a:solidFil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F24EC-51DE-E746-9559-4F254B6C9BF8}"/>
              </a:ext>
            </a:extLst>
          </p:cNvPr>
          <p:cNvSpPr>
            <a:spLocks noGrp="1"/>
          </p:cNvSpPr>
          <p:nvPr>
            <p:ph type="title"/>
          </p:nvPr>
        </p:nvSpPr>
        <p:spPr>
          <a:xfrm>
            <a:off x="488373" y="-41048"/>
            <a:ext cx="11367654" cy="1143000"/>
          </a:xfrm>
        </p:spPr>
        <p:txBody>
          <a:bodyPr/>
          <a:lstStyle/>
          <a:p>
            <a:r>
              <a:rPr lang="en-US" dirty="0"/>
              <a:t>Edge Relaxation</a:t>
            </a:r>
          </a:p>
        </p:txBody>
      </p:sp>
      <p:sp>
        <p:nvSpPr>
          <p:cNvPr id="4" name="Rectangle 3">
            <a:extLst>
              <a:ext uri="{FF2B5EF4-FFF2-40B4-BE49-F238E27FC236}">
                <a16:creationId xmlns:a16="http://schemas.microsoft.com/office/drawing/2014/main" id="{E3E8BC79-14B6-D149-ABA2-DE370973DD7D}"/>
              </a:ext>
            </a:extLst>
          </p:cNvPr>
          <p:cNvSpPr/>
          <p:nvPr/>
        </p:nvSpPr>
        <p:spPr>
          <a:xfrm>
            <a:off x="1117600" y="951765"/>
            <a:ext cx="9956800" cy="1954381"/>
          </a:xfrm>
          <a:prstGeom prst="rect">
            <a:avLst/>
          </a:prstGeom>
        </p:spPr>
        <p:txBody>
          <a:bodyPr wrap="square">
            <a:spAutoFit/>
          </a:bodyPr>
          <a:lstStyle/>
          <a:p>
            <a:pPr>
              <a:spcBef>
                <a:spcPts val="300"/>
              </a:spcBef>
              <a:spcAft>
                <a:spcPts val="300"/>
              </a:spcAft>
            </a:pPr>
            <a:r>
              <a:rPr lang="en-US" sz="1600" dirty="0">
                <a:solidFill>
                  <a:schemeClr val="tx1"/>
                </a:solidFill>
                <a:latin typeface="Arial" panose="020B0604020202020204" pitchFamily="34" charset="0"/>
                <a:cs typeface="Arial" panose="020B0604020202020204" pitchFamily="34" charset="0"/>
              </a:rPr>
              <a:t>Relax edge e =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with weight w(</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(We also write edge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to denote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SD[u] is length of shortest known path from s to u. </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SD[v] is length of shortest known path from s to v. </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PN[v] is the previous node on shortest known path from s to v. </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If e =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gives shorter path to v through u, update SD[v] and PN[v].</a:t>
            </a:r>
          </a:p>
          <a:p>
            <a:pPr marL="742950" lvl="1"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SD[v] = min(SD[v], SD[u] + w(</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PN[v]=u </a:t>
            </a:r>
          </a:p>
        </p:txBody>
      </p:sp>
      <p:sp>
        <p:nvSpPr>
          <p:cNvPr id="5" name="object 2">
            <a:extLst>
              <a:ext uri="{FF2B5EF4-FFF2-40B4-BE49-F238E27FC236}">
                <a16:creationId xmlns:a16="http://schemas.microsoft.com/office/drawing/2014/main" id="{86F3688D-B579-7E48-B6DF-AD9C92F6F3FB}"/>
              </a:ext>
            </a:extLst>
          </p:cNvPr>
          <p:cNvSpPr/>
          <p:nvPr/>
        </p:nvSpPr>
        <p:spPr>
          <a:xfrm>
            <a:off x="4226154" y="5221702"/>
            <a:ext cx="1223367" cy="688925"/>
          </a:xfrm>
          <a:custGeom>
            <a:avLst/>
            <a:gdLst/>
            <a:ahLst/>
            <a:cxnLst/>
            <a:rect l="l" t="t" r="r" b="b"/>
            <a:pathLst>
              <a:path w="1739900" h="979804">
                <a:moveTo>
                  <a:pt x="1739595" y="0"/>
                </a:moveTo>
                <a:lnTo>
                  <a:pt x="1728520" y="6235"/>
                </a:lnTo>
                <a:lnTo>
                  <a:pt x="0" y="979716"/>
                </a:lnTo>
              </a:path>
            </a:pathLst>
          </a:custGeom>
          <a:ln w="25400">
            <a:solidFill>
              <a:srgbClr val="BABABA"/>
            </a:solidFill>
            <a:prstDash val="dash"/>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6" name="object 3">
            <a:extLst>
              <a:ext uri="{FF2B5EF4-FFF2-40B4-BE49-F238E27FC236}">
                <a16:creationId xmlns:a16="http://schemas.microsoft.com/office/drawing/2014/main" id="{6025C396-FAE5-6F4E-BBD9-52633196BF4B}"/>
              </a:ext>
            </a:extLst>
          </p:cNvPr>
          <p:cNvSpPr/>
          <p:nvPr/>
        </p:nvSpPr>
        <p:spPr>
          <a:xfrm>
            <a:off x="5401818" y="5194536"/>
            <a:ext cx="95994" cy="79474"/>
          </a:xfrm>
          <a:custGeom>
            <a:avLst/>
            <a:gdLst/>
            <a:ahLst/>
            <a:cxnLst/>
            <a:rect l="l" t="t" r="r" b="b"/>
            <a:pathLst>
              <a:path w="136525" h="113029">
                <a:moveTo>
                  <a:pt x="136144" y="0"/>
                </a:moveTo>
                <a:lnTo>
                  <a:pt x="0" y="6705"/>
                </a:lnTo>
                <a:lnTo>
                  <a:pt x="56464" y="44869"/>
                </a:lnTo>
                <a:lnTo>
                  <a:pt x="59829" y="112941"/>
                </a:lnTo>
                <a:lnTo>
                  <a:pt x="136144"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7" name="object 7">
            <a:extLst>
              <a:ext uri="{FF2B5EF4-FFF2-40B4-BE49-F238E27FC236}">
                <a16:creationId xmlns:a16="http://schemas.microsoft.com/office/drawing/2014/main" id="{D1AEEBEE-5158-E645-BFB0-900E421619CC}"/>
              </a:ext>
            </a:extLst>
          </p:cNvPr>
          <p:cNvSpPr/>
          <p:nvPr/>
        </p:nvSpPr>
        <p:spPr>
          <a:xfrm>
            <a:off x="4224957" y="5231470"/>
            <a:ext cx="1206401" cy="679549"/>
          </a:xfrm>
          <a:custGeom>
            <a:avLst/>
            <a:gdLst/>
            <a:ahLst/>
            <a:cxnLst/>
            <a:rect l="l" t="t" r="r" b="b"/>
            <a:pathLst>
              <a:path w="1715770" h="966470">
                <a:moveTo>
                  <a:pt x="1715249" y="0"/>
                </a:moveTo>
                <a:lnTo>
                  <a:pt x="1698650" y="9347"/>
                </a:lnTo>
                <a:lnTo>
                  <a:pt x="0" y="966012"/>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8" name="object 8">
            <a:extLst>
              <a:ext uri="{FF2B5EF4-FFF2-40B4-BE49-F238E27FC236}">
                <a16:creationId xmlns:a16="http://schemas.microsoft.com/office/drawing/2014/main" id="{8D15D1C3-2ED5-B84B-BFC7-45405642A2D9}"/>
              </a:ext>
            </a:extLst>
          </p:cNvPr>
          <p:cNvSpPr/>
          <p:nvPr/>
        </p:nvSpPr>
        <p:spPr>
          <a:xfrm>
            <a:off x="5364726" y="5194662"/>
            <a:ext cx="131713" cy="109389"/>
          </a:xfrm>
          <a:custGeom>
            <a:avLst/>
            <a:gdLst/>
            <a:ahLst/>
            <a:cxnLst/>
            <a:rect l="l" t="t" r="r" b="b"/>
            <a:pathLst>
              <a:path w="187325" h="155575">
                <a:moveTo>
                  <a:pt x="187198" y="0"/>
                </a:moveTo>
                <a:lnTo>
                  <a:pt x="0" y="9232"/>
                </a:lnTo>
                <a:lnTo>
                  <a:pt x="77647" y="61696"/>
                </a:lnTo>
                <a:lnTo>
                  <a:pt x="82257" y="155295"/>
                </a:lnTo>
                <a:lnTo>
                  <a:pt x="187198"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9" name="object 10">
            <a:extLst>
              <a:ext uri="{FF2B5EF4-FFF2-40B4-BE49-F238E27FC236}">
                <a16:creationId xmlns:a16="http://schemas.microsoft.com/office/drawing/2014/main" id="{26F9ACAE-D66B-7D45-9F46-DEC39AC74D26}"/>
              </a:ext>
            </a:extLst>
          </p:cNvPr>
          <p:cNvSpPr/>
          <p:nvPr/>
        </p:nvSpPr>
        <p:spPr>
          <a:xfrm>
            <a:off x="2473050" y="4261366"/>
            <a:ext cx="514796" cy="409873"/>
          </a:xfrm>
          <a:custGeom>
            <a:avLst/>
            <a:gdLst/>
            <a:ahLst/>
            <a:cxnLst/>
            <a:rect l="l" t="t" r="r" b="b"/>
            <a:pathLst>
              <a:path w="732154" h="582929">
                <a:moveTo>
                  <a:pt x="732154" y="0"/>
                </a:moveTo>
                <a:lnTo>
                  <a:pt x="717245" y="11849"/>
                </a:lnTo>
                <a:lnTo>
                  <a:pt x="0" y="582307"/>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0" name="object 11">
            <a:extLst>
              <a:ext uri="{FF2B5EF4-FFF2-40B4-BE49-F238E27FC236}">
                <a16:creationId xmlns:a16="http://schemas.microsoft.com/office/drawing/2014/main" id="{C03A2E5C-CDDE-4249-8EFC-3D0D3560F3A9}"/>
              </a:ext>
            </a:extLst>
          </p:cNvPr>
          <p:cNvSpPr/>
          <p:nvPr/>
        </p:nvSpPr>
        <p:spPr>
          <a:xfrm>
            <a:off x="2917615" y="4214672"/>
            <a:ext cx="129034" cy="119658"/>
          </a:xfrm>
          <a:custGeom>
            <a:avLst/>
            <a:gdLst/>
            <a:ahLst/>
            <a:cxnLst/>
            <a:rect l="l" t="t" r="r" b="b"/>
            <a:pathLst>
              <a:path w="183514" h="170179">
                <a:moveTo>
                  <a:pt x="183387" y="0"/>
                </a:moveTo>
                <a:lnTo>
                  <a:pt x="0" y="38747"/>
                </a:lnTo>
                <a:lnTo>
                  <a:pt x="84975" y="78257"/>
                </a:lnTo>
                <a:lnTo>
                  <a:pt x="104355" y="169951"/>
                </a:lnTo>
                <a:lnTo>
                  <a:pt x="183387"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1" name="object 12">
            <a:extLst>
              <a:ext uri="{FF2B5EF4-FFF2-40B4-BE49-F238E27FC236}">
                <a16:creationId xmlns:a16="http://schemas.microsoft.com/office/drawing/2014/main" id="{79DD4D20-A3C7-D040-AF1D-C216329478ED}"/>
              </a:ext>
            </a:extLst>
          </p:cNvPr>
          <p:cNvSpPr txBox="1"/>
          <p:nvPr/>
        </p:nvSpPr>
        <p:spPr>
          <a:xfrm>
            <a:off x="1970656" y="6120160"/>
            <a:ext cx="3056910" cy="502294"/>
          </a:xfrm>
          <a:prstGeom prst="rect">
            <a:avLst/>
          </a:prstGeom>
        </p:spPr>
        <p:txBody>
          <a:bodyPr vert="horz" wrap="square" lIns="0" tIns="8930" rIns="0" bIns="0" rtlCol="0">
            <a:spAutoFit/>
          </a:bodyPr>
          <a:lstStyle/>
          <a:p>
            <a:pPr marR="3572" indent="149120">
              <a:lnSpc>
                <a:spcPct val="119800"/>
              </a:lnSpc>
              <a:spcBef>
                <a:spcPts val="70"/>
              </a:spcBef>
            </a:pPr>
            <a:r>
              <a:rPr lang="en-GB" dirty="0">
                <a:solidFill>
                  <a:srgbClr val="8D3124"/>
                </a:solidFill>
                <a:latin typeface="Arial" panose="020B0604020202020204" pitchFamily="34" charset="0"/>
                <a:cs typeface="Arial" panose="020B0604020202020204" pitchFamily="34" charset="0"/>
              </a:rPr>
              <a:t>Previous shortest path from s to v goes through node x, with cost of 7.2</a:t>
            </a:r>
            <a:endParaRPr dirty="0">
              <a:solidFill>
                <a:srgbClr val="8D3124"/>
              </a:solidFill>
              <a:latin typeface="Arial" panose="020B0604020202020204" pitchFamily="34" charset="0"/>
              <a:cs typeface="Arial" panose="020B0604020202020204" pitchFamily="34" charset="0"/>
            </a:endParaRPr>
          </a:p>
        </p:txBody>
      </p:sp>
      <p:sp>
        <p:nvSpPr>
          <p:cNvPr id="12" name="object 13">
            <a:extLst>
              <a:ext uri="{FF2B5EF4-FFF2-40B4-BE49-F238E27FC236}">
                <a16:creationId xmlns:a16="http://schemas.microsoft.com/office/drawing/2014/main" id="{937497ED-D1F0-6F44-9F74-3FE969ECB468}"/>
              </a:ext>
            </a:extLst>
          </p:cNvPr>
          <p:cNvSpPr/>
          <p:nvPr/>
        </p:nvSpPr>
        <p:spPr>
          <a:xfrm>
            <a:off x="3496015" y="5627590"/>
            <a:ext cx="260300" cy="450503"/>
          </a:xfrm>
          <a:custGeom>
            <a:avLst/>
            <a:gdLst/>
            <a:ahLst/>
            <a:cxnLst/>
            <a:rect l="l" t="t" r="r" b="b"/>
            <a:pathLst>
              <a:path w="370204" h="640715">
                <a:moveTo>
                  <a:pt x="370052" y="0"/>
                </a:moveTo>
                <a:lnTo>
                  <a:pt x="363689" y="10998"/>
                </a:lnTo>
                <a:lnTo>
                  <a:pt x="0" y="640435"/>
                </a:lnTo>
              </a:path>
            </a:pathLst>
          </a:custGeom>
          <a:ln w="25400">
            <a:solidFill>
              <a:srgbClr val="8D3124"/>
            </a:solidFill>
            <a:headEnd type="arrow" w="med" len="med"/>
            <a:tailEnd type="none" w="med" len="med"/>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3" name="object 14">
            <a:extLst>
              <a:ext uri="{FF2B5EF4-FFF2-40B4-BE49-F238E27FC236}">
                <a16:creationId xmlns:a16="http://schemas.microsoft.com/office/drawing/2014/main" id="{E2FA2CB9-C599-3A4C-A439-A700349393F0}"/>
              </a:ext>
            </a:extLst>
          </p:cNvPr>
          <p:cNvSpPr/>
          <p:nvPr/>
        </p:nvSpPr>
        <p:spPr>
          <a:xfrm>
            <a:off x="2653413" y="4938799"/>
            <a:ext cx="80367" cy="95994"/>
          </a:xfrm>
          <a:custGeom>
            <a:avLst/>
            <a:gdLst/>
            <a:ahLst/>
            <a:cxnLst/>
            <a:rect l="l" t="t" r="r" b="b"/>
            <a:pathLst>
              <a:path w="114300" h="136525">
                <a:moveTo>
                  <a:pt x="113779" y="0"/>
                </a:moveTo>
                <a:lnTo>
                  <a:pt x="0" y="75056"/>
                </a:lnTo>
                <a:lnTo>
                  <a:pt x="68033" y="79171"/>
                </a:lnTo>
                <a:lnTo>
                  <a:pt x="105575" y="136055"/>
                </a:lnTo>
                <a:lnTo>
                  <a:pt x="113779" y="0"/>
                </a:lnTo>
                <a:close/>
              </a:path>
            </a:pathLst>
          </a:custGeom>
          <a:solidFill>
            <a:srgbClr val="8D3124"/>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4" name="object 15">
            <a:extLst>
              <a:ext uri="{FF2B5EF4-FFF2-40B4-BE49-F238E27FC236}">
                <a16:creationId xmlns:a16="http://schemas.microsoft.com/office/drawing/2014/main" id="{438BEDD1-0E25-4149-AFFA-F8BCF58271F7}"/>
              </a:ext>
            </a:extLst>
          </p:cNvPr>
          <p:cNvSpPr/>
          <p:nvPr/>
        </p:nvSpPr>
        <p:spPr>
          <a:xfrm>
            <a:off x="3292279" y="4160398"/>
            <a:ext cx="633561" cy="46434"/>
          </a:xfrm>
          <a:custGeom>
            <a:avLst/>
            <a:gdLst/>
            <a:ahLst/>
            <a:cxnLst/>
            <a:rect l="l" t="t" r="r" b="b"/>
            <a:pathLst>
              <a:path w="901064" h="66040">
                <a:moveTo>
                  <a:pt x="900950" y="65824"/>
                </a:moveTo>
                <a:lnTo>
                  <a:pt x="881951" y="64439"/>
                </a:lnTo>
                <a:lnTo>
                  <a:pt x="0" y="0"/>
                </a:lnTo>
              </a:path>
            </a:pathLst>
          </a:custGeom>
          <a:ln w="38099">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5" name="object 16">
            <a:extLst>
              <a:ext uri="{FF2B5EF4-FFF2-40B4-BE49-F238E27FC236}">
                <a16:creationId xmlns:a16="http://schemas.microsoft.com/office/drawing/2014/main" id="{183F2A58-9A4C-E646-B0F1-94608B01C909}"/>
              </a:ext>
            </a:extLst>
          </p:cNvPr>
          <p:cNvSpPr/>
          <p:nvPr/>
        </p:nvSpPr>
        <p:spPr>
          <a:xfrm>
            <a:off x="3878717" y="4144780"/>
            <a:ext cx="121890" cy="117872"/>
          </a:xfrm>
          <a:custGeom>
            <a:avLst/>
            <a:gdLst/>
            <a:ahLst/>
            <a:cxnLst/>
            <a:rect l="l" t="t" r="r" b="b"/>
            <a:pathLst>
              <a:path w="173354" h="167640">
                <a:moveTo>
                  <a:pt x="12217" y="0"/>
                </a:moveTo>
                <a:lnTo>
                  <a:pt x="47904" y="86652"/>
                </a:lnTo>
                <a:lnTo>
                  <a:pt x="0" y="167195"/>
                </a:lnTo>
                <a:lnTo>
                  <a:pt x="173304" y="95808"/>
                </a:lnTo>
                <a:lnTo>
                  <a:pt x="12217"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6" name="object 17">
            <a:extLst>
              <a:ext uri="{FF2B5EF4-FFF2-40B4-BE49-F238E27FC236}">
                <a16:creationId xmlns:a16="http://schemas.microsoft.com/office/drawing/2014/main" id="{1039516C-3C40-7646-B87F-BF38F961D7BF}"/>
              </a:ext>
            </a:extLst>
          </p:cNvPr>
          <p:cNvSpPr/>
          <p:nvPr/>
        </p:nvSpPr>
        <p:spPr>
          <a:xfrm>
            <a:off x="4147652" y="4061592"/>
            <a:ext cx="792956" cy="194221"/>
          </a:xfrm>
          <a:custGeom>
            <a:avLst/>
            <a:gdLst/>
            <a:ahLst/>
            <a:cxnLst/>
            <a:rect l="l" t="t" r="r" b="b"/>
            <a:pathLst>
              <a:path w="1127759" h="276225">
                <a:moveTo>
                  <a:pt x="1127709" y="0"/>
                </a:moveTo>
                <a:lnTo>
                  <a:pt x="1109205" y="4533"/>
                </a:lnTo>
                <a:lnTo>
                  <a:pt x="0" y="276212"/>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7" name="object 18">
            <a:extLst>
              <a:ext uri="{FF2B5EF4-FFF2-40B4-BE49-F238E27FC236}">
                <a16:creationId xmlns:a16="http://schemas.microsoft.com/office/drawing/2014/main" id="{8D9FD28B-85CD-4942-B712-53899C3F3B02}"/>
              </a:ext>
            </a:extLst>
          </p:cNvPr>
          <p:cNvSpPr/>
          <p:nvPr/>
        </p:nvSpPr>
        <p:spPr>
          <a:xfrm>
            <a:off x="4884914" y="4014540"/>
            <a:ext cx="128588" cy="114746"/>
          </a:xfrm>
          <a:custGeom>
            <a:avLst/>
            <a:gdLst/>
            <a:ahLst/>
            <a:cxnLst/>
            <a:rect l="l" t="t" r="r" b="b"/>
            <a:pathLst>
              <a:path w="182879" h="163195">
                <a:moveTo>
                  <a:pt x="0" y="0"/>
                </a:moveTo>
                <a:lnTo>
                  <a:pt x="60655" y="71450"/>
                </a:lnTo>
                <a:lnTo>
                  <a:pt x="39877" y="162839"/>
                </a:lnTo>
                <a:lnTo>
                  <a:pt x="182765" y="41541"/>
                </a:lnTo>
                <a:lnTo>
                  <a:pt x="0"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8" name="object 19">
            <a:extLst>
              <a:ext uri="{FF2B5EF4-FFF2-40B4-BE49-F238E27FC236}">
                <a16:creationId xmlns:a16="http://schemas.microsoft.com/office/drawing/2014/main" id="{8DBDAE52-CFB6-3848-A865-AC4B4E361A8F}"/>
              </a:ext>
            </a:extLst>
          </p:cNvPr>
          <p:cNvSpPr/>
          <p:nvPr/>
        </p:nvSpPr>
        <p:spPr>
          <a:xfrm>
            <a:off x="4189693" y="5054475"/>
            <a:ext cx="42863" cy="655439"/>
          </a:xfrm>
          <a:custGeom>
            <a:avLst/>
            <a:gdLst/>
            <a:ahLst/>
            <a:cxnLst/>
            <a:rect l="l" t="t" r="r" b="b"/>
            <a:pathLst>
              <a:path w="60960" h="932179">
                <a:moveTo>
                  <a:pt x="0" y="931722"/>
                </a:moveTo>
                <a:lnTo>
                  <a:pt x="825" y="919048"/>
                </a:lnTo>
                <a:lnTo>
                  <a:pt x="60477" y="0"/>
                </a:lnTo>
              </a:path>
            </a:pathLst>
          </a:custGeom>
          <a:ln w="254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9" name="object 20">
            <a:extLst>
              <a:ext uri="{FF2B5EF4-FFF2-40B4-BE49-F238E27FC236}">
                <a16:creationId xmlns:a16="http://schemas.microsoft.com/office/drawing/2014/main" id="{44DE2277-357A-1F47-8E94-04E9DB6FC9F6}"/>
              </a:ext>
            </a:extLst>
          </p:cNvPr>
          <p:cNvSpPr/>
          <p:nvPr/>
        </p:nvSpPr>
        <p:spPr>
          <a:xfrm>
            <a:off x="4148884" y="5676519"/>
            <a:ext cx="85546" cy="88320"/>
          </a:xfrm>
          <a:prstGeom prst="rect">
            <a:avLst/>
          </a:prstGeom>
          <a:blipFill>
            <a:blip r:embed="rId3" cstate="print"/>
            <a:stretch>
              <a:fillRect/>
            </a:stretch>
          </a:blip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0" name="object 21">
            <a:extLst>
              <a:ext uri="{FF2B5EF4-FFF2-40B4-BE49-F238E27FC236}">
                <a16:creationId xmlns:a16="http://schemas.microsoft.com/office/drawing/2014/main" id="{11374629-B0FC-094B-B0A0-60DE34E172B8}"/>
              </a:ext>
            </a:extLst>
          </p:cNvPr>
          <p:cNvSpPr/>
          <p:nvPr/>
        </p:nvSpPr>
        <p:spPr>
          <a:xfrm>
            <a:off x="3255506" y="5155979"/>
            <a:ext cx="813941" cy="566589"/>
          </a:xfrm>
          <a:custGeom>
            <a:avLst/>
            <a:gdLst/>
            <a:ahLst/>
            <a:cxnLst/>
            <a:rect l="l" t="t" r="r" b="b"/>
            <a:pathLst>
              <a:path w="1157604" h="805815">
                <a:moveTo>
                  <a:pt x="1157312" y="0"/>
                </a:moveTo>
                <a:lnTo>
                  <a:pt x="1141666" y="10883"/>
                </a:lnTo>
                <a:lnTo>
                  <a:pt x="0" y="805472"/>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1" name="object 22">
            <a:extLst>
              <a:ext uri="{FF2B5EF4-FFF2-40B4-BE49-F238E27FC236}">
                <a16:creationId xmlns:a16="http://schemas.microsoft.com/office/drawing/2014/main" id="{05FF9760-E743-9C46-9306-78CC511BF077}"/>
              </a:ext>
            </a:extLst>
          </p:cNvPr>
          <p:cNvSpPr/>
          <p:nvPr/>
        </p:nvSpPr>
        <p:spPr>
          <a:xfrm>
            <a:off x="4000393" y="5113133"/>
            <a:ext cx="130820" cy="116086"/>
          </a:xfrm>
          <a:custGeom>
            <a:avLst/>
            <a:gdLst/>
            <a:ahLst/>
            <a:cxnLst/>
            <a:rect l="l" t="t" r="r" b="b"/>
            <a:pathLst>
              <a:path w="186054" h="165100">
                <a:moveTo>
                  <a:pt x="185470" y="0"/>
                </a:moveTo>
                <a:lnTo>
                  <a:pt x="0" y="26962"/>
                </a:lnTo>
                <a:lnTo>
                  <a:pt x="82270" y="71818"/>
                </a:lnTo>
                <a:lnTo>
                  <a:pt x="95757" y="164553"/>
                </a:lnTo>
                <a:lnTo>
                  <a:pt x="185470"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2" name="object 23">
            <a:extLst>
              <a:ext uri="{FF2B5EF4-FFF2-40B4-BE49-F238E27FC236}">
                <a16:creationId xmlns:a16="http://schemas.microsoft.com/office/drawing/2014/main" id="{4E88FEE1-7ED8-EC45-AEAD-04DB330F7D70}"/>
              </a:ext>
            </a:extLst>
          </p:cNvPr>
          <p:cNvSpPr/>
          <p:nvPr/>
        </p:nvSpPr>
        <p:spPr>
          <a:xfrm>
            <a:off x="3206722" y="4335653"/>
            <a:ext cx="0" cy="577751"/>
          </a:xfrm>
          <a:custGeom>
            <a:avLst/>
            <a:gdLst/>
            <a:ahLst/>
            <a:cxnLst/>
            <a:rect l="l" t="t" r="r" b="b"/>
            <a:pathLst>
              <a:path h="821690">
                <a:moveTo>
                  <a:pt x="0" y="0"/>
                </a:moveTo>
                <a:lnTo>
                  <a:pt x="0" y="12700"/>
                </a:lnTo>
                <a:lnTo>
                  <a:pt x="0" y="821639"/>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3" name="object 24">
            <a:extLst>
              <a:ext uri="{FF2B5EF4-FFF2-40B4-BE49-F238E27FC236}">
                <a16:creationId xmlns:a16="http://schemas.microsoft.com/office/drawing/2014/main" id="{60EFA621-F6F3-EF40-AD67-BA5418EDF61F}"/>
              </a:ext>
            </a:extLst>
          </p:cNvPr>
          <p:cNvSpPr/>
          <p:nvPr/>
        </p:nvSpPr>
        <p:spPr>
          <a:xfrm>
            <a:off x="3163860" y="4280288"/>
            <a:ext cx="85724" cy="85725"/>
          </a:xfrm>
          <a:prstGeom prst="rect">
            <a:avLst/>
          </a:prstGeom>
          <a:blipFill>
            <a:blip r:embed="rId4" cstate="print"/>
            <a:stretch>
              <a:fillRect/>
            </a:stretch>
          </a:blip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4" name="object 25">
            <a:extLst>
              <a:ext uri="{FF2B5EF4-FFF2-40B4-BE49-F238E27FC236}">
                <a16:creationId xmlns:a16="http://schemas.microsoft.com/office/drawing/2014/main" id="{E35B2D80-338B-BB48-ACB9-E164BC843033}"/>
              </a:ext>
            </a:extLst>
          </p:cNvPr>
          <p:cNvSpPr/>
          <p:nvPr/>
        </p:nvSpPr>
        <p:spPr>
          <a:xfrm>
            <a:off x="3299002" y="4331715"/>
            <a:ext cx="693390" cy="519261"/>
          </a:xfrm>
          <a:custGeom>
            <a:avLst/>
            <a:gdLst/>
            <a:ahLst/>
            <a:cxnLst/>
            <a:rect l="l" t="t" r="r" b="b"/>
            <a:pathLst>
              <a:path w="986154" h="738504">
                <a:moveTo>
                  <a:pt x="986053" y="0"/>
                </a:moveTo>
                <a:lnTo>
                  <a:pt x="975880" y="7607"/>
                </a:lnTo>
                <a:lnTo>
                  <a:pt x="0" y="737997"/>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5" name="object 26">
            <a:extLst>
              <a:ext uri="{FF2B5EF4-FFF2-40B4-BE49-F238E27FC236}">
                <a16:creationId xmlns:a16="http://schemas.microsoft.com/office/drawing/2014/main" id="{FAF792F1-57A1-1C40-8AB1-B54E890BC543}"/>
              </a:ext>
            </a:extLst>
          </p:cNvPr>
          <p:cNvSpPr/>
          <p:nvPr/>
        </p:nvSpPr>
        <p:spPr>
          <a:xfrm>
            <a:off x="3942333" y="4298541"/>
            <a:ext cx="94655" cy="85725"/>
          </a:xfrm>
          <a:custGeom>
            <a:avLst/>
            <a:gdLst/>
            <a:ahLst/>
            <a:cxnLst/>
            <a:rect l="l" t="t" r="r" b="b"/>
            <a:pathLst>
              <a:path w="134620" h="121920">
                <a:moveTo>
                  <a:pt x="134137" y="0"/>
                </a:moveTo>
                <a:lnTo>
                  <a:pt x="0" y="24256"/>
                </a:lnTo>
                <a:lnTo>
                  <a:pt x="60921" y="54787"/>
                </a:lnTo>
                <a:lnTo>
                  <a:pt x="73050" y="121856"/>
                </a:lnTo>
                <a:lnTo>
                  <a:pt x="134137"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6" name="object 27">
            <a:extLst>
              <a:ext uri="{FF2B5EF4-FFF2-40B4-BE49-F238E27FC236}">
                <a16:creationId xmlns:a16="http://schemas.microsoft.com/office/drawing/2014/main" id="{6FDE9B46-76C8-484E-B957-E5F276A1732E}"/>
              </a:ext>
            </a:extLst>
          </p:cNvPr>
          <p:cNvSpPr/>
          <p:nvPr/>
        </p:nvSpPr>
        <p:spPr>
          <a:xfrm>
            <a:off x="3236038" y="4926583"/>
            <a:ext cx="799654" cy="97780"/>
          </a:xfrm>
          <a:custGeom>
            <a:avLst/>
            <a:gdLst/>
            <a:ahLst/>
            <a:cxnLst/>
            <a:rect l="l" t="t" r="r" b="b"/>
            <a:pathLst>
              <a:path w="1137285" h="139065">
                <a:moveTo>
                  <a:pt x="1136675" y="138582"/>
                </a:moveTo>
                <a:lnTo>
                  <a:pt x="1124077" y="137045"/>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7" name="object 28">
            <a:extLst>
              <a:ext uri="{FF2B5EF4-FFF2-40B4-BE49-F238E27FC236}">
                <a16:creationId xmlns:a16="http://schemas.microsoft.com/office/drawing/2014/main" id="{C0D20B06-D1CA-3248-A19F-C2052BD8B680}"/>
              </a:ext>
            </a:extLst>
          </p:cNvPr>
          <p:cNvSpPr/>
          <p:nvPr/>
        </p:nvSpPr>
        <p:spPr>
          <a:xfrm>
            <a:off x="3999946" y="4977805"/>
            <a:ext cx="90636" cy="85279"/>
          </a:xfrm>
          <a:custGeom>
            <a:avLst/>
            <a:gdLst/>
            <a:ahLst/>
            <a:cxnLst/>
            <a:rect l="l" t="t" r="r" b="b"/>
            <a:pathLst>
              <a:path w="128904" h="121284">
                <a:moveTo>
                  <a:pt x="14744" y="0"/>
                </a:moveTo>
                <a:lnTo>
                  <a:pt x="37630" y="64198"/>
                </a:lnTo>
                <a:lnTo>
                  <a:pt x="0" y="121018"/>
                </a:lnTo>
                <a:lnTo>
                  <a:pt x="128397" y="75260"/>
                </a:lnTo>
                <a:lnTo>
                  <a:pt x="14744"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8" name="object 29">
            <a:extLst>
              <a:ext uri="{FF2B5EF4-FFF2-40B4-BE49-F238E27FC236}">
                <a16:creationId xmlns:a16="http://schemas.microsoft.com/office/drawing/2014/main" id="{5DBD105D-2C9D-4D40-A8CE-FB394DADBFDE}"/>
              </a:ext>
            </a:extLst>
          </p:cNvPr>
          <p:cNvSpPr/>
          <p:nvPr/>
        </p:nvSpPr>
        <p:spPr>
          <a:xfrm>
            <a:off x="4304993" y="5071084"/>
            <a:ext cx="1134070" cy="446"/>
          </a:xfrm>
          <a:custGeom>
            <a:avLst/>
            <a:gdLst/>
            <a:ahLst/>
            <a:cxnLst/>
            <a:rect l="l" t="t" r="r" b="b"/>
            <a:pathLst>
              <a:path w="1612900" h="634">
                <a:moveTo>
                  <a:pt x="1612531" y="12"/>
                </a:moveTo>
                <a:lnTo>
                  <a:pt x="1599831" y="12"/>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9" name="object 30">
            <a:extLst>
              <a:ext uri="{FF2B5EF4-FFF2-40B4-BE49-F238E27FC236}">
                <a16:creationId xmlns:a16="http://schemas.microsoft.com/office/drawing/2014/main" id="{E12BC95B-328C-F242-BA3D-EC0ACD7BEBE0}"/>
              </a:ext>
            </a:extLst>
          </p:cNvPr>
          <p:cNvSpPr/>
          <p:nvPr/>
        </p:nvSpPr>
        <p:spPr>
          <a:xfrm>
            <a:off x="5408445" y="5028230"/>
            <a:ext cx="85725" cy="85725"/>
          </a:xfrm>
          <a:custGeom>
            <a:avLst/>
            <a:gdLst/>
            <a:ahLst/>
            <a:cxnLst/>
            <a:rect l="l" t="t" r="r" b="b"/>
            <a:pathLst>
              <a:path w="121920" h="121920">
                <a:moveTo>
                  <a:pt x="0" y="0"/>
                </a:moveTo>
                <a:lnTo>
                  <a:pt x="30479" y="60947"/>
                </a:lnTo>
                <a:lnTo>
                  <a:pt x="0" y="121920"/>
                </a:lnTo>
                <a:lnTo>
                  <a:pt x="121920" y="60947"/>
                </a:lnTo>
                <a:lnTo>
                  <a:pt x="0"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0" name="object 31">
            <a:extLst>
              <a:ext uri="{FF2B5EF4-FFF2-40B4-BE49-F238E27FC236}">
                <a16:creationId xmlns:a16="http://schemas.microsoft.com/office/drawing/2014/main" id="{B15FA3A5-0181-E843-91CC-F7B79A64B522}"/>
              </a:ext>
            </a:extLst>
          </p:cNvPr>
          <p:cNvSpPr/>
          <p:nvPr/>
        </p:nvSpPr>
        <p:spPr>
          <a:xfrm>
            <a:off x="4221511" y="4237962"/>
            <a:ext cx="1240779" cy="695623"/>
          </a:xfrm>
          <a:custGeom>
            <a:avLst/>
            <a:gdLst/>
            <a:ahLst/>
            <a:cxnLst/>
            <a:rect l="l" t="t" r="r" b="b"/>
            <a:pathLst>
              <a:path w="1764665" h="989329">
                <a:moveTo>
                  <a:pt x="1764296" y="989152"/>
                </a:moveTo>
                <a:lnTo>
                  <a:pt x="1753222" y="982941"/>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1" name="object 32">
            <a:extLst>
              <a:ext uri="{FF2B5EF4-FFF2-40B4-BE49-F238E27FC236}">
                <a16:creationId xmlns:a16="http://schemas.microsoft.com/office/drawing/2014/main" id="{95DCA7AB-A183-404B-ABF6-F8C9110354CE}"/>
              </a:ext>
            </a:extLst>
          </p:cNvPr>
          <p:cNvSpPr/>
          <p:nvPr/>
        </p:nvSpPr>
        <p:spPr>
          <a:xfrm>
            <a:off x="5414587" y="4881229"/>
            <a:ext cx="95994" cy="79474"/>
          </a:xfrm>
          <a:custGeom>
            <a:avLst/>
            <a:gdLst/>
            <a:ahLst/>
            <a:cxnLst/>
            <a:rect l="l" t="t" r="r" b="b"/>
            <a:pathLst>
              <a:path w="136525" h="113029">
                <a:moveTo>
                  <a:pt x="59626" y="0"/>
                </a:moveTo>
                <a:lnTo>
                  <a:pt x="56400" y="68072"/>
                </a:lnTo>
                <a:lnTo>
                  <a:pt x="0" y="106349"/>
                </a:lnTo>
                <a:lnTo>
                  <a:pt x="136156" y="112788"/>
                </a:lnTo>
                <a:lnTo>
                  <a:pt x="59626"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2" name="object 33">
            <a:extLst>
              <a:ext uri="{FF2B5EF4-FFF2-40B4-BE49-F238E27FC236}">
                <a16:creationId xmlns:a16="http://schemas.microsoft.com/office/drawing/2014/main" id="{B24729FC-18D9-0C4A-A3C1-0C69608FEA8B}"/>
              </a:ext>
            </a:extLst>
          </p:cNvPr>
          <p:cNvSpPr/>
          <p:nvPr/>
        </p:nvSpPr>
        <p:spPr>
          <a:xfrm>
            <a:off x="3195265" y="4910929"/>
            <a:ext cx="0" cy="623738"/>
          </a:xfrm>
          <a:custGeom>
            <a:avLst/>
            <a:gdLst/>
            <a:ahLst/>
            <a:cxnLst/>
            <a:rect l="l" t="t" r="r" b="b"/>
            <a:pathLst>
              <a:path h="887095">
                <a:moveTo>
                  <a:pt x="0" y="886891"/>
                </a:moveTo>
                <a:lnTo>
                  <a:pt x="0" y="867841"/>
                </a:lnTo>
                <a:lnTo>
                  <a:pt x="0" y="0"/>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3" name="object 34">
            <a:extLst>
              <a:ext uri="{FF2B5EF4-FFF2-40B4-BE49-F238E27FC236}">
                <a16:creationId xmlns:a16="http://schemas.microsoft.com/office/drawing/2014/main" id="{C2846D90-4887-A94A-A064-A5F17394E7C1}"/>
              </a:ext>
            </a:extLst>
          </p:cNvPr>
          <p:cNvSpPr/>
          <p:nvPr/>
        </p:nvSpPr>
        <p:spPr>
          <a:xfrm>
            <a:off x="3136331" y="5491663"/>
            <a:ext cx="117871" cy="117873"/>
          </a:xfrm>
          <a:prstGeom prst="rect">
            <a:avLst/>
          </a:prstGeom>
          <a:blipFill>
            <a:blip r:embed="rId5" cstate="print"/>
            <a:stretch>
              <a:fillRect/>
            </a:stretch>
          </a:blip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4" name="object 35">
            <a:extLst>
              <a:ext uri="{FF2B5EF4-FFF2-40B4-BE49-F238E27FC236}">
                <a16:creationId xmlns:a16="http://schemas.microsoft.com/office/drawing/2014/main" id="{3CB3D430-3B98-724A-AFCB-8D1DCE9CEE6A}"/>
              </a:ext>
            </a:extLst>
          </p:cNvPr>
          <p:cNvSpPr/>
          <p:nvPr/>
        </p:nvSpPr>
        <p:spPr>
          <a:xfrm>
            <a:off x="2419347" y="4667016"/>
            <a:ext cx="556766" cy="214759"/>
          </a:xfrm>
          <a:custGeom>
            <a:avLst/>
            <a:gdLst/>
            <a:ahLst/>
            <a:cxnLst/>
            <a:rect l="l" t="t" r="r" b="b"/>
            <a:pathLst>
              <a:path w="791845" h="305434">
                <a:moveTo>
                  <a:pt x="791692" y="304850"/>
                </a:moveTo>
                <a:lnTo>
                  <a:pt x="773912" y="298005"/>
                </a:lnTo>
                <a:lnTo>
                  <a:pt x="0" y="0"/>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5" name="object 36">
            <a:extLst>
              <a:ext uri="{FF2B5EF4-FFF2-40B4-BE49-F238E27FC236}">
                <a16:creationId xmlns:a16="http://schemas.microsoft.com/office/drawing/2014/main" id="{C55873EF-50A5-0C4E-A2B9-93E3C06DC798}"/>
              </a:ext>
            </a:extLst>
          </p:cNvPr>
          <p:cNvSpPr/>
          <p:nvPr/>
        </p:nvSpPr>
        <p:spPr>
          <a:xfrm>
            <a:off x="2914828" y="4810961"/>
            <a:ext cx="131266" cy="110282"/>
          </a:xfrm>
          <a:custGeom>
            <a:avLst/>
            <a:gdLst/>
            <a:ahLst/>
            <a:cxnLst/>
            <a:rect l="l" t="t" r="r" b="b"/>
            <a:pathLst>
              <a:path w="186689" h="156845">
                <a:moveTo>
                  <a:pt x="60236" y="0"/>
                </a:moveTo>
                <a:lnTo>
                  <a:pt x="69227" y="93281"/>
                </a:lnTo>
                <a:lnTo>
                  <a:pt x="0" y="156451"/>
                </a:lnTo>
                <a:lnTo>
                  <a:pt x="186562" y="138455"/>
                </a:lnTo>
                <a:lnTo>
                  <a:pt x="60236"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6" name="object 37">
            <a:extLst>
              <a:ext uri="{FF2B5EF4-FFF2-40B4-BE49-F238E27FC236}">
                <a16:creationId xmlns:a16="http://schemas.microsoft.com/office/drawing/2014/main" id="{BC3C1F5D-A2B3-2548-9E22-AAD77F8D4FE4}"/>
              </a:ext>
            </a:extLst>
          </p:cNvPr>
          <p:cNvSpPr/>
          <p:nvPr/>
        </p:nvSpPr>
        <p:spPr>
          <a:xfrm>
            <a:off x="2303726" y="4538840"/>
            <a:ext cx="275481" cy="275481"/>
          </a:xfrm>
          <a:custGeom>
            <a:avLst/>
            <a:gdLst/>
            <a:ahLst/>
            <a:cxnLst/>
            <a:rect l="l" t="t" r="r" b="b"/>
            <a:pathLst>
              <a:path w="391795" h="391795">
                <a:moveTo>
                  <a:pt x="217225" y="0"/>
                </a:moveTo>
                <a:lnTo>
                  <a:pt x="174114" y="0"/>
                </a:lnTo>
                <a:lnTo>
                  <a:pt x="131838" y="9414"/>
                </a:lnTo>
                <a:lnTo>
                  <a:pt x="92069" y="28243"/>
                </a:lnTo>
                <a:lnTo>
                  <a:pt x="56478" y="56487"/>
                </a:lnTo>
                <a:lnTo>
                  <a:pt x="28239" y="92078"/>
                </a:lnTo>
                <a:lnTo>
                  <a:pt x="9413" y="131848"/>
                </a:lnTo>
                <a:lnTo>
                  <a:pt x="0" y="174123"/>
                </a:lnTo>
                <a:lnTo>
                  <a:pt x="0" y="217235"/>
                </a:lnTo>
                <a:lnTo>
                  <a:pt x="9413" y="259510"/>
                </a:lnTo>
                <a:lnTo>
                  <a:pt x="28239" y="299280"/>
                </a:lnTo>
                <a:lnTo>
                  <a:pt x="56478" y="334871"/>
                </a:lnTo>
                <a:lnTo>
                  <a:pt x="92069" y="363110"/>
                </a:lnTo>
                <a:lnTo>
                  <a:pt x="131838" y="381936"/>
                </a:lnTo>
                <a:lnTo>
                  <a:pt x="174114" y="391349"/>
                </a:lnTo>
                <a:lnTo>
                  <a:pt x="217225" y="391349"/>
                </a:lnTo>
                <a:lnTo>
                  <a:pt x="259501" y="381936"/>
                </a:lnTo>
                <a:lnTo>
                  <a:pt x="299270" y="363110"/>
                </a:lnTo>
                <a:lnTo>
                  <a:pt x="334862" y="334871"/>
                </a:lnTo>
                <a:lnTo>
                  <a:pt x="363101" y="299280"/>
                </a:lnTo>
                <a:lnTo>
                  <a:pt x="381927" y="259510"/>
                </a:lnTo>
                <a:lnTo>
                  <a:pt x="391340" y="217235"/>
                </a:lnTo>
                <a:lnTo>
                  <a:pt x="391340" y="174123"/>
                </a:lnTo>
                <a:lnTo>
                  <a:pt x="381927" y="131848"/>
                </a:lnTo>
                <a:lnTo>
                  <a:pt x="363101" y="92078"/>
                </a:lnTo>
                <a:lnTo>
                  <a:pt x="334862" y="56487"/>
                </a:lnTo>
                <a:lnTo>
                  <a:pt x="299270" y="28243"/>
                </a:lnTo>
                <a:lnTo>
                  <a:pt x="259501" y="9414"/>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7" name="object 38">
            <a:extLst>
              <a:ext uri="{FF2B5EF4-FFF2-40B4-BE49-F238E27FC236}">
                <a16:creationId xmlns:a16="http://schemas.microsoft.com/office/drawing/2014/main" id="{99F6B36F-FB64-014E-A963-D105398CFD59}"/>
              </a:ext>
            </a:extLst>
          </p:cNvPr>
          <p:cNvSpPr/>
          <p:nvPr/>
        </p:nvSpPr>
        <p:spPr>
          <a:xfrm>
            <a:off x="2303726" y="4538838"/>
            <a:ext cx="275481" cy="275481"/>
          </a:xfrm>
          <a:custGeom>
            <a:avLst/>
            <a:gdLst/>
            <a:ahLst/>
            <a:cxnLst/>
            <a:rect l="l" t="t" r="r" b="b"/>
            <a:pathLst>
              <a:path w="391795" h="391795">
                <a:moveTo>
                  <a:pt x="334862" y="56478"/>
                </a:moveTo>
                <a:lnTo>
                  <a:pt x="363101" y="92074"/>
                </a:lnTo>
                <a:lnTo>
                  <a:pt x="381927" y="131846"/>
                </a:lnTo>
                <a:lnTo>
                  <a:pt x="391340" y="174124"/>
                </a:lnTo>
                <a:lnTo>
                  <a:pt x="391340" y="217237"/>
                </a:lnTo>
                <a:lnTo>
                  <a:pt x="381927" y="259513"/>
                </a:lnTo>
                <a:lnTo>
                  <a:pt x="363101" y="299283"/>
                </a:lnTo>
                <a:lnTo>
                  <a:pt x="334862" y="334874"/>
                </a:lnTo>
                <a:lnTo>
                  <a:pt x="299270" y="363113"/>
                </a:lnTo>
                <a:lnTo>
                  <a:pt x="259501" y="381940"/>
                </a:lnTo>
                <a:lnTo>
                  <a:pt x="217225" y="391353"/>
                </a:lnTo>
                <a:lnTo>
                  <a:pt x="174114" y="391353"/>
                </a:lnTo>
                <a:lnTo>
                  <a:pt x="131838" y="381940"/>
                </a:lnTo>
                <a:lnTo>
                  <a:pt x="92069" y="363113"/>
                </a:lnTo>
                <a:lnTo>
                  <a:pt x="56478" y="334874"/>
                </a:lnTo>
                <a:lnTo>
                  <a:pt x="28239" y="299283"/>
                </a:lnTo>
                <a:lnTo>
                  <a:pt x="9413" y="259513"/>
                </a:lnTo>
                <a:lnTo>
                  <a:pt x="0" y="217237"/>
                </a:lnTo>
                <a:lnTo>
                  <a:pt x="0" y="174124"/>
                </a:lnTo>
                <a:lnTo>
                  <a:pt x="9413" y="131846"/>
                </a:lnTo>
                <a:lnTo>
                  <a:pt x="28239" y="92074"/>
                </a:lnTo>
                <a:lnTo>
                  <a:pt x="56478" y="56478"/>
                </a:lnTo>
                <a:lnTo>
                  <a:pt x="92069" y="28239"/>
                </a:lnTo>
                <a:lnTo>
                  <a:pt x="131838" y="9413"/>
                </a:lnTo>
                <a:lnTo>
                  <a:pt x="174114" y="0"/>
                </a:lnTo>
                <a:lnTo>
                  <a:pt x="217225" y="0"/>
                </a:lnTo>
                <a:lnTo>
                  <a:pt x="259501" y="9413"/>
                </a:lnTo>
                <a:lnTo>
                  <a:pt x="299270" y="28239"/>
                </a:lnTo>
                <a:lnTo>
                  <a:pt x="334862"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8" name="object 39">
            <a:extLst>
              <a:ext uri="{FF2B5EF4-FFF2-40B4-BE49-F238E27FC236}">
                <a16:creationId xmlns:a16="http://schemas.microsoft.com/office/drawing/2014/main" id="{D92D340F-3B23-0D46-ADD8-F2A933A5912F}"/>
              </a:ext>
            </a:extLst>
          </p:cNvPr>
          <p:cNvSpPr txBox="1"/>
          <p:nvPr/>
        </p:nvSpPr>
        <p:spPr>
          <a:xfrm>
            <a:off x="2395942" y="4530710"/>
            <a:ext cx="91082" cy="224461"/>
          </a:xfrm>
          <a:prstGeom prst="rect">
            <a:avLst/>
          </a:prstGeom>
        </p:spPr>
        <p:txBody>
          <a:bodyPr vert="horz" wrap="square" lIns="0" tIns="8930" rIns="0" bIns="0" rtlCol="0">
            <a:spAutoFit/>
          </a:bodyPr>
          <a:lstStyle/>
          <a:p>
            <a:pPr marL="8929">
              <a:spcBef>
                <a:spcPts val="70"/>
              </a:spcBef>
            </a:pPr>
            <a:r>
              <a:rPr spc="116" dirty="0">
                <a:latin typeface="Arial" panose="020B0604020202020204" pitchFamily="34" charset="0"/>
                <a:cs typeface="Arial" panose="020B0604020202020204" pitchFamily="34" charset="0"/>
              </a:rPr>
              <a:t>s</a:t>
            </a:r>
            <a:endParaRPr dirty="0">
              <a:latin typeface="Arial" panose="020B0604020202020204" pitchFamily="34" charset="0"/>
              <a:cs typeface="Arial" panose="020B0604020202020204" pitchFamily="34" charset="0"/>
            </a:endParaRPr>
          </a:p>
        </p:txBody>
      </p:sp>
      <p:sp>
        <p:nvSpPr>
          <p:cNvPr id="39" name="object 40">
            <a:extLst>
              <a:ext uri="{FF2B5EF4-FFF2-40B4-BE49-F238E27FC236}">
                <a16:creationId xmlns:a16="http://schemas.microsoft.com/office/drawing/2014/main" id="{42AB41C0-9DE8-1748-BBB6-4128330841AC}"/>
              </a:ext>
            </a:extLst>
          </p:cNvPr>
          <p:cNvSpPr/>
          <p:nvPr/>
        </p:nvSpPr>
        <p:spPr>
          <a:xfrm>
            <a:off x="3063885" y="3992824"/>
            <a:ext cx="275481" cy="275481"/>
          </a:xfrm>
          <a:custGeom>
            <a:avLst/>
            <a:gdLst/>
            <a:ahLst/>
            <a:cxnLst/>
            <a:rect l="l" t="t" r="r" b="b"/>
            <a:pathLst>
              <a:path w="391795" h="391795">
                <a:moveTo>
                  <a:pt x="217235" y="0"/>
                </a:moveTo>
                <a:lnTo>
                  <a:pt x="174123" y="0"/>
                </a:lnTo>
                <a:lnTo>
                  <a:pt x="131848" y="9413"/>
                </a:lnTo>
                <a:lnTo>
                  <a:pt x="92078" y="28239"/>
                </a:lnTo>
                <a:lnTo>
                  <a:pt x="56487" y="56478"/>
                </a:lnTo>
                <a:lnTo>
                  <a:pt x="28243" y="92074"/>
                </a:lnTo>
                <a:lnTo>
                  <a:pt x="9414" y="131846"/>
                </a:lnTo>
                <a:lnTo>
                  <a:pt x="0" y="174124"/>
                </a:lnTo>
                <a:lnTo>
                  <a:pt x="0" y="217237"/>
                </a:lnTo>
                <a:lnTo>
                  <a:pt x="9414" y="259513"/>
                </a:lnTo>
                <a:lnTo>
                  <a:pt x="28243" y="299283"/>
                </a:lnTo>
                <a:lnTo>
                  <a:pt x="56487" y="334874"/>
                </a:lnTo>
                <a:lnTo>
                  <a:pt x="92078" y="363113"/>
                </a:lnTo>
                <a:lnTo>
                  <a:pt x="131848" y="381940"/>
                </a:lnTo>
                <a:lnTo>
                  <a:pt x="174123" y="391353"/>
                </a:lnTo>
                <a:lnTo>
                  <a:pt x="217235" y="391353"/>
                </a:lnTo>
                <a:lnTo>
                  <a:pt x="259510" y="381940"/>
                </a:lnTo>
                <a:lnTo>
                  <a:pt x="299280" y="363113"/>
                </a:lnTo>
                <a:lnTo>
                  <a:pt x="334871" y="334874"/>
                </a:lnTo>
                <a:lnTo>
                  <a:pt x="363110" y="299283"/>
                </a:lnTo>
                <a:lnTo>
                  <a:pt x="381936" y="259513"/>
                </a:lnTo>
                <a:lnTo>
                  <a:pt x="391349" y="217237"/>
                </a:lnTo>
                <a:lnTo>
                  <a:pt x="391349" y="174124"/>
                </a:lnTo>
                <a:lnTo>
                  <a:pt x="381936" y="131846"/>
                </a:lnTo>
                <a:lnTo>
                  <a:pt x="363110" y="92074"/>
                </a:lnTo>
                <a:lnTo>
                  <a:pt x="334871" y="56478"/>
                </a:lnTo>
                <a:lnTo>
                  <a:pt x="299280" y="28239"/>
                </a:lnTo>
                <a:lnTo>
                  <a:pt x="259510" y="9413"/>
                </a:lnTo>
                <a:lnTo>
                  <a:pt x="21723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0" name="object 41">
            <a:extLst>
              <a:ext uri="{FF2B5EF4-FFF2-40B4-BE49-F238E27FC236}">
                <a16:creationId xmlns:a16="http://schemas.microsoft.com/office/drawing/2014/main" id="{34F54995-156D-7D45-A298-4640B746EAC7}"/>
              </a:ext>
            </a:extLst>
          </p:cNvPr>
          <p:cNvSpPr/>
          <p:nvPr/>
        </p:nvSpPr>
        <p:spPr>
          <a:xfrm>
            <a:off x="3063885" y="3992824"/>
            <a:ext cx="275481" cy="275481"/>
          </a:xfrm>
          <a:custGeom>
            <a:avLst/>
            <a:gdLst/>
            <a:ahLst/>
            <a:cxnLst/>
            <a:rect l="l" t="t" r="r" b="b"/>
            <a:pathLst>
              <a:path w="391795" h="391795">
                <a:moveTo>
                  <a:pt x="334871" y="56478"/>
                </a:moveTo>
                <a:lnTo>
                  <a:pt x="363110" y="92070"/>
                </a:lnTo>
                <a:lnTo>
                  <a:pt x="381936" y="131841"/>
                </a:lnTo>
                <a:lnTo>
                  <a:pt x="391349" y="174119"/>
                </a:lnTo>
                <a:lnTo>
                  <a:pt x="391349" y="217233"/>
                </a:lnTo>
                <a:lnTo>
                  <a:pt x="381936" y="259511"/>
                </a:lnTo>
                <a:lnTo>
                  <a:pt x="363110" y="299282"/>
                </a:lnTo>
                <a:lnTo>
                  <a:pt x="334871" y="334874"/>
                </a:lnTo>
                <a:lnTo>
                  <a:pt x="299280" y="363113"/>
                </a:lnTo>
                <a:lnTo>
                  <a:pt x="259510" y="381940"/>
                </a:lnTo>
                <a:lnTo>
                  <a:pt x="217235" y="391353"/>
                </a:lnTo>
                <a:lnTo>
                  <a:pt x="174123" y="391353"/>
                </a:lnTo>
                <a:lnTo>
                  <a:pt x="131848" y="381940"/>
                </a:lnTo>
                <a:lnTo>
                  <a:pt x="92078" y="363113"/>
                </a:lnTo>
                <a:lnTo>
                  <a:pt x="56487" y="334874"/>
                </a:lnTo>
                <a:lnTo>
                  <a:pt x="28243" y="299282"/>
                </a:lnTo>
                <a:lnTo>
                  <a:pt x="9414" y="259511"/>
                </a:lnTo>
                <a:lnTo>
                  <a:pt x="0" y="217233"/>
                </a:lnTo>
                <a:lnTo>
                  <a:pt x="0" y="174119"/>
                </a:lnTo>
                <a:lnTo>
                  <a:pt x="9414" y="131841"/>
                </a:lnTo>
                <a:lnTo>
                  <a:pt x="28243" y="92070"/>
                </a:lnTo>
                <a:lnTo>
                  <a:pt x="56487" y="56478"/>
                </a:lnTo>
                <a:lnTo>
                  <a:pt x="92078" y="28239"/>
                </a:lnTo>
                <a:lnTo>
                  <a:pt x="131848" y="9413"/>
                </a:lnTo>
                <a:lnTo>
                  <a:pt x="174123" y="0"/>
                </a:lnTo>
                <a:lnTo>
                  <a:pt x="217235" y="0"/>
                </a:lnTo>
                <a:lnTo>
                  <a:pt x="259510" y="9413"/>
                </a:lnTo>
                <a:lnTo>
                  <a:pt x="299280" y="28239"/>
                </a:lnTo>
                <a:lnTo>
                  <a:pt x="334871"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1" name="object 42">
            <a:extLst>
              <a:ext uri="{FF2B5EF4-FFF2-40B4-BE49-F238E27FC236}">
                <a16:creationId xmlns:a16="http://schemas.microsoft.com/office/drawing/2014/main" id="{2A91F8BA-306E-E74D-BF06-09AD2E1C8E7A}"/>
              </a:ext>
            </a:extLst>
          </p:cNvPr>
          <p:cNvSpPr/>
          <p:nvPr/>
        </p:nvSpPr>
        <p:spPr>
          <a:xfrm>
            <a:off x="3062525" y="4794602"/>
            <a:ext cx="275481" cy="275481"/>
          </a:xfrm>
          <a:custGeom>
            <a:avLst/>
            <a:gdLst/>
            <a:ahLst/>
            <a:cxnLst/>
            <a:rect l="l" t="t" r="r" b="b"/>
            <a:pathLst>
              <a:path w="391795" h="391795">
                <a:moveTo>
                  <a:pt x="217237" y="0"/>
                </a:moveTo>
                <a:lnTo>
                  <a:pt x="174124" y="0"/>
                </a:lnTo>
                <a:lnTo>
                  <a:pt x="131846" y="9413"/>
                </a:lnTo>
                <a:lnTo>
                  <a:pt x="92074" y="28239"/>
                </a:lnTo>
                <a:lnTo>
                  <a:pt x="56478" y="56478"/>
                </a:lnTo>
                <a:lnTo>
                  <a:pt x="28239" y="92069"/>
                </a:lnTo>
                <a:lnTo>
                  <a:pt x="9413" y="131839"/>
                </a:lnTo>
                <a:lnTo>
                  <a:pt x="0" y="174115"/>
                </a:lnTo>
                <a:lnTo>
                  <a:pt x="0" y="217228"/>
                </a:lnTo>
                <a:lnTo>
                  <a:pt x="9413" y="259506"/>
                </a:lnTo>
                <a:lnTo>
                  <a:pt x="28239" y="299278"/>
                </a:lnTo>
                <a:lnTo>
                  <a:pt x="56478" y="334874"/>
                </a:lnTo>
                <a:lnTo>
                  <a:pt x="92074" y="363113"/>
                </a:lnTo>
                <a:lnTo>
                  <a:pt x="131846" y="381940"/>
                </a:lnTo>
                <a:lnTo>
                  <a:pt x="174124" y="391353"/>
                </a:lnTo>
                <a:lnTo>
                  <a:pt x="217237" y="391353"/>
                </a:lnTo>
                <a:lnTo>
                  <a:pt x="259513" y="381940"/>
                </a:lnTo>
                <a:lnTo>
                  <a:pt x="299283" y="363113"/>
                </a:lnTo>
                <a:lnTo>
                  <a:pt x="334874" y="334874"/>
                </a:lnTo>
                <a:lnTo>
                  <a:pt x="363113" y="299278"/>
                </a:lnTo>
                <a:lnTo>
                  <a:pt x="381940" y="259506"/>
                </a:lnTo>
                <a:lnTo>
                  <a:pt x="391353" y="217228"/>
                </a:lnTo>
                <a:lnTo>
                  <a:pt x="391353" y="174115"/>
                </a:lnTo>
                <a:lnTo>
                  <a:pt x="381940" y="131839"/>
                </a:lnTo>
                <a:lnTo>
                  <a:pt x="363113" y="92069"/>
                </a:lnTo>
                <a:lnTo>
                  <a:pt x="334874" y="56478"/>
                </a:lnTo>
                <a:lnTo>
                  <a:pt x="299283" y="28239"/>
                </a:lnTo>
                <a:lnTo>
                  <a:pt x="259513" y="9413"/>
                </a:lnTo>
                <a:lnTo>
                  <a:pt x="217237"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2" name="object 43">
            <a:extLst>
              <a:ext uri="{FF2B5EF4-FFF2-40B4-BE49-F238E27FC236}">
                <a16:creationId xmlns:a16="http://schemas.microsoft.com/office/drawing/2014/main" id="{92E86B69-7209-2947-9328-97FCFA8D41E6}"/>
              </a:ext>
            </a:extLst>
          </p:cNvPr>
          <p:cNvSpPr/>
          <p:nvPr/>
        </p:nvSpPr>
        <p:spPr>
          <a:xfrm>
            <a:off x="3062525" y="4794602"/>
            <a:ext cx="275481" cy="275481"/>
          </a:xfrm>
          <a:custGeom>
            <a:avLst/>
            <a:gdLst/>
            <a:ahLst/>
            <a:cxnLst/>
            <a:rect l="l" t="t" r="r" b="b"/>
            <a:pathLst>
              <a:path w="391795" h="391795">
                <a:moveTo>
                  <a:pt x="334874" y="56478"/>
                </a:moveTo>
                <a:lnTo>
                  <a:pt x="363113" y="92069"/>
                </a:lnTo>
                <a:lnTo>
                  <a:pt x="381940" y="131839"/>
                </a:lnTo>
                <a:lnTo>
                  <a:pt x="391353" y="174115"/>
                </a:lnTo>
                <a:lnTo>
                  <a:pt x="391353" y="217228"/>
                </a:lnTo>
                <a:lnTo>
                  <a:pt x="381940" y="259506"/>
                </a:lnTo>
                <a:lnTo>
                  <a:pt x="363113" y="299278"/>
                </a:lnTo>
                <a:lnTo>
                  <a:pt x="334874" y="334874"/>
                </a:lnTo>
                <a:lnTo>
                  <a:pt x="299283" y="363113"/>
                </a:lnTo>
                <a:lnTo>
                  <a:pt x="259513" y="381940"/>
                </a:lnTo>
                <a:lnTo>
                  <a:pt x="217237" y="391353"/>
                </a:lnTo>
                <a:lnTo>
                  <a:pt x="174124" y="391353"/>
                </a:lnTo>
                <a:lnTo>
                  <a:pt x="131846" y="381940"/>
                </a:lnTo>
                <a:lnTo>
                  <a:pt x="92074" y="363113"/>
                </a:lnTo>
                <a:lnTo>
                  <a:pt x="56478" y="334874"/>
                </a:lnTo>
                <a:lnTo>
                  <a:pt x="28239" y="299278"/>
                </a:lnTo>
                <a:lnTo>
                  <a:pt x="9413" y="259506"/>
                </a:lnTo>
                <a:lnTo>
                  <a:pt x="0" y="217228"/>
                </a:lnTo>
                <a:lnTo>
                  <a:pt x="0" y="174115"/>
                </a:lnTo>
                <a:lnTo>
                  <a:pt x="9413" y="131839"/>
                </a:lnTo>
                <a:lnTo>
                  <a:pt x="28239" y="92069"/>
                </a:lnTo>
                <a:lnTo>
                  <a:pt x="56478" y="56478"/>
                </a:lnTo>
                <a:lnTo>
                  <a:pt x="92074" y="28239"/>
                </a:lnTo>
                <a:lnTo>
                  <a:pt x="131846" y="9413"/>
                </a:lnTo>
                <a:lnTo>
                  <a:pt x="174124" y="0"/>
                </a:lnTo>
                <a:lnTo>
                  <a:pt x="217237" y="0"/>
                </a:lnTo>
                <a:lnTo>
                  <a:pt x="259513" y="9413"/>
                </a:lnTo>
                <a:lnTo>
                  <a:pt x="299283" y="28239"/>
                </a:lnTo>
                <a:lnTo>
                  <a:pt x="334874"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3" name="object 44">
            <a:extLst>
              <a:ext uri="{FF2B5EF4-FFF2-40B4-BE49-F238E27FC236}">
                <a16:creationId xmlns:a16="http://schemas.microsoft.com/office/drawing/2014/main" id="{A982667F-9155-3742-9678-EB27ACD683AA}"/>
              </a:ext>
            </a:extLst>
          </p:cNvPr>
          <p:cNvSpPr/>
          <p:nvPr/>
        </p:nvSpPr>
        <p:spPr>
          <a:xfrm>
            <a:off x="3062525" y="5607836"/>
            <a:ext cx="275481" cy="275481"/>
          </a:xfrm>
          <a:custGeom>
            <a:avLst/>
            <a:gdLst/>
            <a:ahLst/>
            <a:cxnLst/>
            <a:rect l="l" t="t" r="r" b="b"/>
            <a:pathLst>
              <a:path w="391795" h="391795">
                <a:moveTo>
                  <a:pt x="217237" y="0"/>
                </a:moveTo>
                <a:lnTo>
                  <a:pt x="174124" y="0"/>
                </a:lnTo>
                <a:lnTo>
                  <a:pt x="131846" y="9413"/>
                </a:lnTo>
                <a:lnTo>
                  <a:pt x="92074" y="28240"/>
                </a:lnTo>
                <a:lnTo>
                  <a:pt x="56478" y="56480"/>
                </a:lnTo>
                <a:lnTo>
                  <a:pt x="28239" y="92072"/>
                </a:lnTo>
                <a:lnTo>
                  <a:pt x="9413" y="131841"/>
                </a:lnTo>
                <a:lnTo>
                  <a:pt x="0" y="174117"/>
                </a:lnTo>
                <a:lnTo>
                  <a:pt x="0" y="217229"/>
                </a:lnTo>
                <a:lnTo>
                  <a:pt x="9413" y="259505"/>
                </a:lnTo>
                <a:lnTo>
                  <a:pt x="28239" y="299275"/>
                </a:lnTo>
                <a:lnTo>
                  <a:pt x="56478" y="334867"/>
                </a:lnTo>
                <a:lnTo>
                  <a:pt x="92074" y="363107"/>
                </a:lnTo>
                <a:lnTo>
                  <a:pt x="131846" y="381933"/>
                </a:lnTo>
                <a:lnTo>
                  <a:pt x="174124" y="391347"/>
                </a:lnTo>
                <a:lnTo>
                  <a:pt x="217237" y="391347"/>
                </a:lnTo>
                <a:lnTo>
                  <a:pt x="259513" y="381933"/>
                </a:lnTo>
                <a:lnTo>
                  <a:pt x="299283" y="363107"/>
                </a:lnTo>
                <a:lnTo>
                  <a:pt x="334874" y="334867"/>
                </a:lnTo>
                <a:lnTo>
                  <a:pt x="363113" y="299275"/>
                </a:lnTo>
                <a:lnTo>
                  <a:pt x="381940" y="259505"/>
                </a:lnTo>
                <a:lnTo>
                  <a:pt x="391353" y="217229"/>
                </a:lnTo>
                <a:lnTo>
                  <a:pt x="391353" y="174117"/>
                </a:lnTo>
                <a:lnTo>
                  <a:pt x="381940" y="131841"/>
                </a:lnTo>
                <a:lnTo>
                  <a:pt x="363113" y="92072"/>
                </a:lnTo>
                <a:lnTo>
                  <a:pt x="334874" y="56480"/>
                </a:lnTo>
                <a:lnTo>
                  <a:pt x="299283" y="28240"/>
                </a:lnTo>
                <a:lnTo>
                  <a:pt x="259513" y="9413"/>
                </a:lnTo>
                <a:lnTo>
                  <a:pt x="217237"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4" name="object 45">
            <a:extLst>
              <a:ext uri="{FF2B5EF4-FFF2-40B4-BE49-F238E27FC236}">
                <a16:creationId xmlns:a16="http://schemas.microsoft.com/office/drawing/2014/main" id="{C3BF5970-F71A-E043-972C-B98DB2D78A1B}"/>
              </a:ext>
            </a:extLst>
          </p:cNvPr>
          <p:cNvSpPr/>
          <p:nvPr/>
        </p:nvSpPr>
        <p:spPr>
          <a:xfrm>
            <a:off x="3062525" y="5607838"/>
            <a:ext cx="275481" cy="275481"/>
          </a:xfrm>
          <a:custGeom>
            <a:avLst/>
            <a:gdLst/>
            <a:ahLst/>
            <a:cxnLst/>
            <a:rect l="l" t="t" r="r" b="b"/>
            <a:pathLst>
              <a:path w="391795" h="391795">
                <a:moveTo>
                  <a:pt x="334874" y="56478"/>
                </a:moveTo>
                <a:lnTo>
                  <a:pt x="363113" y="92069"/>
                </a:lnTo>
                <a:lnTo>
                  <a:pt x="381940" y="131838"/>
                </a:lnTo>
                <a:lnTo>
                  <a:pt x="391353" y="174114"/>
                </a:lnTo>
                <a:lnTo>
                  <a:pt x="391353" y="217225"/>
                </a:lnTo>
                <a:lnTo>
                  <a:pt x="381940" y="259501"/>
                </a:lnTo>
                <a:lnTo>
                  <a:pt x="363113" y="299270"/>
                </a:lnTo>
                <a:lnTo>
                  <a:pt x="334874" y="334862"/>
                </a:lnTo>
                <a:lnTo>
                  <a:pt x="299283" y="363101"/>
                </a:lnTo>
                <a:lnTo>
                  <a:pt x="259513" y="381927"/>
                </a:lnTo>
                <a:lnTo>
                  <a:pt x="217237" y="391340"/>
                </a:lnTo>
                <a:lnTo>
                  <a:pt x="174124" y="391340"/>
                </a:lnTo>
                <a:lnTo>
                  <a:pt x="131846" y="381927"/>
                </a:lnTo>
                <a:lnTo>
                  <a:pt x="92074" y="363101"/>
                </a:lnTo>
                <a:lnTo>
                  <a:pt x="56478" y="334862"/>
                </a:lnTo>
                <a:lnTo>
                  <a:pt x="28239" y="299270"/>
                </a:lnTo>
                <a:lnTo>
                  <a:pt x="9413" y="259501"/>
                </a:lnTo>
                <a:lnTo>
                  <a:pt x="0" y="217225"/>
                </a:lnTo>
                <a:lnTo>
                  <a:pt x="0" y="174114"/>
                </a:lnTo>
                <a:lnTo>
                  <a:pt x="9413" y="131838"/>
                </a:lnTo>
                <a:lnTo>
                  <a:pt x="28239" y="92069"/>
                </a:lnTo>
                <a:lnTo>
                  <a:pt x="56478" y="56478"/>
                </a:lnTo>
                <a:lnTo>
                  <a:pt x="92074" y="28239"/>
                </a:lnTo>
                <a:lnTo>
                  <a:pt x="131846" y="9413"/>
                </a:lnTo>
                <a:lnTo>
                  <a:pt x="174124" y="0"/>
                </a:lnTo>
                <a:lnTo>
                  <a:pt x="217237" y="0"/>
                </a:lnTo>
                <a:lnTo>
                  <a:pt x="259513" y="9413"/>
                </a:lnTo>
                <a:lnTo>
                  <a:pt x="299283" y="28239"/>
                </a:lnTo>
                <a:lnTo>
                  <a:pt x="334874"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5" name="object 46">
            <a:extLst>
              <a:ext uri="{FF2B5EF4-FFF2-40B4-BE49-F238E27FC236}">
                <a16:creationId xmlns:a16="http://schemas.microsoft.com/office/drawing/2014/main" id="{1A338076-A194-134A-B07C-31215C4E5E25}"/>
              </a:ext>
            </a:extLst>
          </p:cNvPr>
          <p:cNvSpPr/>
          <p:nvPr/>
        </p:nvSpPr>
        <p:spPr>
          <a:xfrm>
            <a:off x="4111246" y="4886239"/>
            <a:ext cx="275481" cy="275481"/>
          </a:xfrm>
          <a:custGeom>
            <a:avLst/>
            <a:gdLst/>
            <a:ahLst/>
            <a:cxnLst/>
            <a:rect l="l" t="t" r="r" b="b"/>
            <a:pathLst>
              <a:path w="391795" h="391795">
                <a:moveTo>
                  <a:pt x="217225" y="0"/>
                </a:moveTo>
                <a:lnTo>
                  <a:pt x="174114" y="0"/>
                </a:lnTo>
                <a:lnTo>
                  <a:pt x="131838" y="9413"/>
                </a:lnTo>
                <a:lnTo>
                  <a:pt x="92069" y="28239"/>
                </a:lnTo>
                <a:lnTo>
                  <a:pt x="56478" y="56478"/>
                </a:lnTo>
                <a:lnTo>
                  <a:pt x="28239" y="92069"/>
                </a:lnTo>
                <a:lnTo>
                  <a:pt x="9413" y="131838"/>
                </a:lnTo>
                <a:lnTo>
                  <a:pt x="0" y="174114"/>
                </a:lnTo>
                <a:lnTo>
                  <a:pt x="0" y="217225"/>
                </a:lnTo>
                <a:lnTo>
                  <a:pt x="9413" y="259501"/>
                </a:lnTo>
                <a:lnTo>
                  <a:pt x="28239" y="299270"/>
                </a:lnTo>
                <a:lnTo>
                  <a:pt x="56478" y="334862"/>
                </a:lnTo>
                <a:lnTo>
                  <a:pt x="92069" y="363101"/>
                </a:lnTo>
                <a:lnTo>
                  <a:pt x="131838" y="381927"/>
                </a:lnTo>
                <a:lnTo>
                  <a:pt x="174114" y="391340"/>
                </a:lnTo>
                <a:lnTo>
                  <a:pt x="217225" y="391340"/>
                </a:lnTo>
                <a:lnTo>
                  <a:pt x="259501" y="381927"/>
                </a:lnTo>
                <a:lnTo>
                  <a:pt x="299270" y="363101"/>
                </a:lnTo>
                <a:lnTo>
                  <a:pt x="334862" y="334862"/>
                </a:lnTo>
                <a:lnTo>
                  <a:pt x="363105" y="299270"/>
                </a:lnTo>
                <a:lnTo>
                  <a:pt x="381935" y="259501"/>
                </a:lnTo>
                <a:lnTo>
                  <a:pt x="391349" y="217225"/>
                </a:lnTo>
                <a:lnTo>
                  <a:pt x="391349" y="174114"/>
                </a:lnTo>
                <a:lnTo>
                  <a:pt x="381935" y="131838"/>
                </a:lnTo>
                <a:lnTo>
                  <a:pt x="363105" y="92069"/>
                </a:lnTo>
                <a:lnTo>
                  <a:pt x="334862" y="56478"/>
                </a:lnTo>
                <a:lnTo>
                  <a:pt x="299270" y="28239"/>
                </a:lnTo>
                <a:lnTo>
                  <a:pt x="259501" y="9413"/>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6" name="object 47">
            <a:extLst>
              <a:ext uri="{FF2B5EF4-FFF2-40B4-BE49-F238E27FC236}">
                <a16:creationId xmlns:a16="http://schemas.microsoft.com/office/drawing/2014/main" id="{2CE26591-CF3D-2640-96BB-B6487AA1ADE0}"/>
              </a:ext>
            </a:extLst>
          </p:cNvPr>
          <p:cNvSpPr/>
          <p:nvPr/>
        </p:nvSpPr>
        <p:spPr>
          <a:xfrm>
            <a:off x="4111246" y="4886239"/>
            <a:ext cx="275481" cy="275481"/>
          </a:xfrm>
          <a:custGeom>
            <a:avLst/>
            <a:gdLst/>
            <a:ahLst/>
            <a:cxnLst/>
            <a:rect l="l" t="t" r="r" b="b"/>
            <a:pathLst>
              <a:path w="391795" h="391795">
                <a:moveTo>
                  <a:pt x="334862" y="56478"/>
                </a:moveTo>
                <a:lnTo>
                  <a:pt x="363105" y="92069"/>
                </a:lnTo>
                <a:lnTo>
                  <a:pt x="381935" y="131838"/>
                </a:lnTo>
                <a:lnTo>
                  <a:pt x="391349" y="174114"/>
                </a:lnTo>
                <a:lnTo>
                  <a:pt x="391349" y="217225"/>
                </a:lnTo>
                <a:lnTo>
                  <a:pt x="381935" y="259501"/>
                </a:lnTo>
                <a:lnTo>
                  <a:pt x="363105" y="299270"/>
                </a:lnTo>
                <a:lnTo>
                  <a:pt x="334862" y="334862"/>
                </a:lnTo>
                <a:lnTo>
                  <a:pt x="299270" y="363101"/>
                </a:lnTo>
                <a:lnTo>
                  <a:pt x="259501" y="381927"/>
                </a:lnTo>
                <a:lnTo>
                  <a:pt x="217225" y="391340"/>
                </a:lnTo>
                <a:lnTo>
                  <a:pt x="174114" y="391340"/>
                </a:lnTo>
                <a:lnTo>
                  <a:pt x="131838" y="381927"/>
                </a:lnTo>
                <a:lnTo>
                  <a:pt x="92069" y="363101"/>
                </a:lnTo>
                <a:lnTo>
                  <a:pt x="56478" y="334862"/>
                </a:lnTo>
                <a:lnTo>
                  <a:pt x="28239" y="299270"/>
                </a:lnTo>
                <a:lnTo>
                  <a:pt x="9413" y="259501"/>
                </a:lnTo>
                <a:lnTo>
                  <a:pt x="0" y="217225"/>
                </a:lnTo>
                <a:lnTo>
                  <a:pt x="0" y="174114"/>
                </a:lnTo>
                <a:lnTo>
                  <a:pt x="9413" y="131838"/>
                </a:lnTo>
                <a:lnTo>
                  <a:pt x="28239" y="92069"/>
                </a:lnTo>
                <a:lnTo>
                  <a:pt x="56478" y="56478"/>
                </a:lnTo>
                <a:lnTo>
                  <a:pt x="92069" y="28239"/>
                </a:lnTo>
                <a:lnTo>
                  <a:pt x="131838" y="9413"/>
                </a:lnTo>
                <a:lnTo>
                  <a:pt x="174114" y="0"/>
                </a:lnTo>
                <a:lnTo>
                  <a:pt x="217225" y="0"/>
                </a:lnTo>
                <a:lnTo>
                  <a:pt x="259501" y="9413"/>
                </a:lnTo>
                <a:lnTo>
                  <a:pt x="299270" y="28239"/>
                </a:lnTo>
                <a:lnTo>
                  <a:pt x="334862"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7" name="object 48">
            <a:extLst>
              <a:ext uri="{FF2B5EF4-FFF2-40B4-BE49-F238E27FC236}">
                <a16:creationId xmlns:a16="http://schemas.microsoft.com/office/drawing/2014/main" id="{35F18E84-A51B-2441-8618-FF07D23E8E6F}"/>
              </a:ext>
            </a:extLst>
          </p:cNvPr>
          <p:cNvSpPr/>
          <p:nvPr/>
        </p:nvSpPr>
        <p:spPr>
          <a:xfrm>
            <a:off x="4019612" y="4061549"/>
            <a:ext cx="275481" cy="275481"/>
          </a:xfrm>
          <a:custGeom>
            <a:avLst/>
            <a:gdLst/>
            <a:ahLst/>
            <a:cxnLst/>
            <a:rect l="l" t="t" r="r" b="b"/>
            <a:pathLst>
              <a:path w="391795" h="391795">
                <a:moveTo>
                  <a:pt x="217235" y="0"/>
                </a:moveTo>
                <a:lnTo>
                  <a:pt x="174123" y="0"/>
                </a:lnTo>
                <a:lnTo>
                  <a:pt x="131848" y="9414"/>
                </a:lnTo>
                <a:lnTo>
                  <a:pt x="92078" y="28243"/>
                </a:lnTo>
                <a:lnTo>
                  <a:pt x="56487" y="56487"/>
                </a:lnTo>
                <a:lnTo>
                  <a:pt x="28243" y="92078"/>
                </a:lnTo>
                <a:lnTo>
                  <a:pt x="9414" y="131848"/>
                </a:lnTo>
                <a:lnTo>
                  <a:pt x="0" y="174123"/>
                </a:lnTo>
                <a:lnTo>
                  <a:pt x="0" y="217235"/>
                </a:lnTo>
                <a:lnTo>
                  <a:pt x="9414" y="259510"/>
                </a:lnTo>
                <a:lnTo>
                  <a:pt x="28243" y="299280"/>
                </a:lnTo>
                <a:lnTo>
                  <a:pt x="56487" y="334871"/>
                </a:lnTo>
                <a:lnTo>
                  <a:pt x="92078" y="363110"/>
                </a:lnTo>
                <a:lnTo>
                  <a:pt x="131848" y="381936"/>
                </a:lnTo>
                <a:lnTo>
                  <a:pt x="174123" y="391349"/>
                </a:lnTo>
                <a:lnTo>
                  <a:pt x="217235" y="391349"/>
                </a:lnTo>
                <a:lnTo>
                  <a:pt x="259510" y="381936"/>
                </a:lnTo>
                <a:lnTo>
                  <a:pt x="299280" y="363110"/>
                </a:lnTo>
                <a:lnTo>
                  <a:pt x="334871" y="334871"/>
                </a:lnTo>
                <a:lnTo>
                  <a:pt x="363110" y="299280"/>
                </a:lnTo>
                <a:lnTo>
                  <a:pt x="381936" y="259510"/>
                </a:lnTo>
                <a:lnTo>
                  <a:pt x="391349" y="217235"/>
                </a:lnTo>
                <a:lnTo>
                  <a:pt x="391349" y="174123"/>
                </a:lnTo>
                <a:lnTo>
                  <a:pt x="381936" y="131848"/>
                </a:lnTo>
                <a:lnTo>
                  <a:pt x="363110" y="92078"/>
                </a:lnTo>
                <a:lnTo>
                  <a:pt x="334871" y="56487"/>
                </a:lnTo>
                <a:lnTo>
                  <a:pt x="299280" y="28243"/>
                </a:lnTo>
                <a:lnTo>
                  <a:pt x="259510" y="9414"/>
                </a:lnTo>
                <a:lnTo>
                  <a:pt x="21723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8" name="object 49">
            <a:extLst>
              <a:ext uri="{FF2B5EF4-FFF2-40B4-BE49-F238E27FC236}">
                <a16:creationId xmlns:a16="http://schemas.microsoft.com/office/drawing/2014/main" id="{0255CDEC-074A-3C41-B015-B0DCACEC0C17}"/>
              </a:ext>
            </a:extLst>
          </p:cNvPr>
          <p:cNvSpPr/>
          <p:nvPr/>
        </p:nvSpPr>
        <p:spPr>
          <a:xfrm>
            <a:off x="4019612" y="4061546"/>
            <a:ext cx="275481" cy="275481"/>
          </a:xfrm>
          <a:custGeom>
            <a:avLst/>
            <a:gdLst/>
            <a:ahLst/>
            <a:cxnLst/>
            <a:rect l="l" t="t" r="r" b="b"/>
            <a:pathLst>
              <a:path w="391795" h="391795">
                <a:moveTo>
                  <a:pt x="334871" y="56478"/>
                </a:moveTo>
                <a:lnTo>
                  <a:pt x="363110" y="92074"/>
                </a:lnTo>
                <a:lnTo>
                  <a:pt x="381936" y="131846"/>
                </a:lnTo>
                <a:lnTo>
                  <a:pt x="391349" y="174124"/>
                </a:lnTo>
                <a:lnTo>
                  <a:pt x="391349" y="217237"/>
                </a:lnTo>
                <a:lnTo>
                  <a:pt x="381936" y="259513"/>
                </a:lnTo>
                <a:lnTo>
                  <a:pt x="363110" y="299283"/>
                </a:lnTo>
                <a:lnTo>
                  <a:pt x="334871" y="334874"/>
                </a:lnTo>
                <a:lnTo>
                  <a:pt x="299280" y="363113"/>
                </a:lnTo>
                <a:lnTo>
                  <a:pt x="259510" y="381940"/>
                </a:lnTo>
                <a:lnTo>
                  <a:pt x="217235" y="391353"/>
                </a:lnTo>
                <a:lnTo>
                  <a:pt x="174123" y="391353"/>
                </a:lnTo>
                <a:lnTo>
                  <a:pt x="131848" y="381940"/>
                </a:lnTo>
                <a:lnTo>
                  <a:pt x="92078" y="363113"/>
                </a:lnTo>
                <a:lnTo>
                  <a:pt x="56487" y="334874"/>
                </a:lnTo>
                <a:lnTo>
                  <a:pt x="28243" y="299283"/>
                </a:lnTo>
                <a:lnTo>
                  <a:pt x="9414" y="259513"/>
                </a:lnTo>
                <a:lnTo>
                  <a:pt x="0" y="217237"/>
                </a:lnTo>
                <a:lnTo>
                  <a:pt x="0" y="174124"/>
                </a:lnTo>
                <a:lnTo>
                  <a:pt x="9414" y="131846"/>
                </a:lnTo>
                <a:lnTo>
                  <a:pt x="28243" y="92074"/>
                </a:lnTo>
                <a:lnTo>
                  <a:pt x="56487" y="56478"/>
                </a:lnTo>
                <a:lnTo>
                  <a:pt x="92078" y="28239"/>
                </a:lnTo>
                <a:lnTo>
                  <a:pt x="131848" y="9413"/>
                </a:lnTo>
                <a:lnTo>
                  <a:pt x="174123" y="0"/>
                </a:lnTo>
                <a:lnTo>
                  <a:pt x="217235" y="0"/>
                </a:lnTo>
                <a:lnTo>
                  <a:pt x="259510" y="9413"/>
                </a:lnTo>
                <a:lnTo>
                  <a:pt x="299280" y="28239"/>
                </a:lnTo>
                <a:lnTo>
                  <a:pt x="334871"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9" name="object 50">
            <a:extLst>
              <a:ext uri="{FF2B5EF4-FFF2-40B4-BE49-F238E27FC236}">
                <a16:creationId xmlns:a16="http://schemas.microsoft.com/office/drawing/2014/main" id="{6CABBE1B-6286-ED4D-8D82-D75DE62EB4D3}"/>
              </a:ext>
            </a:extLst>
          </p:cNvPr>
          <p:cNvSpPr txBox="1"/>
          <p:nvPr/>
        </p:nvSpPr>
        <p:spPr>
          <a:xfrm>
            <a:off x="5230517" y="3687336"/>
            <a:ext cx="318494" cy="224461"/>
          </a:xfrm>
          <a:prstGeom prst="rect">
            <a:avLst/>
          </a:prstGeom>
        </p:spPr>
        <p:txBody>
          <a:bodyPr vert="horz" wrap="square" lIns="0" tIns="8930" rIns="0" bIns="0" rtlCol="0">
            <a:spAutoFit/>
          </a:bodyPr>
          <a:lstStyle/>
          <a:p>
            <a:pPr marL="8929">
              <a:spcBef>
                <a:spcPts val="70"/>
              </a:spcBef>
            </a:pPr>
            <a:r>
              <a:rPr spc="60" dirty="0">
                <a:latin typeface="Arial" panose="020B0604020202020204" pitchFamily="34" charset="0"/>
                <a:cs typeface="Arial" panose="020B0604020202020204" pitchFamily="34" charset="0"/>
              </a:rPr>
              <a:t>3.1</a:t>
            </a:r>
            <a:endParaRPr dirty="0">
              <a:latin typeface="Arial" panose="020B0604020202020204" pitchFamily="34" charset="0"/>
              <a:cs typeface="Arial" panose="020B0604020202020204" pitchFamily="34" charset="0"/>
            </a:endParaRPr>
          </a:p>
        </p:txBody>
      </p:sp>
      <p:sp>
        <p:nvSpPr>
          <p:cNvPr id="50" name="object 51">
            <a:extLst>
              <a:ext uri="{FF2B5EF4-FFF2-40B4-BE49-F238E27FC236}">
                <a16:creationId xmlns:a16="http://schemas.microsoft.com/office/drawing/2014/main" id="{296D8C3F-E479-B540-93F0-ACA02E831907}"/>
              </a:ext>
            </a:extLst>
          </p:cNvPr>
          <p:cNvSpPr/>
          <p:nvPr/>
        </p:nvSpPr>
        <p:spPr>
          <a:xfrm>
            <a:off x="4019612" y="5768190"/>
            <a:ext cx="275481" cy="275481"/>
          </a:xfrm>
          <a:custGeom>
            <a:avLst/>
            <a:gdLst/>
            <a:ahLst/>
            <a:cxnLst/>
            <a:rect l="l" t="t" r="r" b="b"/>
            <a:pathLst>
              <a:path w="391795" h="391795">
                <a:moveTo>
                  <a:pt x="217235" y="0"/>
                </a:moveTo>
                <a:lnTo>
                  <a:pt x="174123" y="0"/>
                </a:lnTo>
                <a:lnTo>
                  <a:pt x="131848" y="9413"/>
                </a:lnTo>
                <a:lnTo>
                  <a:pt x="92078" y="28240"/>
                </a:lnTo>
                <a:lnTo>
                  <a:pt x="56487" y="56480"/>
                </a:lnTo>
                <a:lnTo>
                  <a:pt x="28243" y="92072"/>
                </a:lnTo>
                <a:lnTo>
                  <a:pt x="9414" y="131841"/>
                </a:lnTo>
                <a:lnTo>
                  <a:pt x="0" y="174117"/>
                </a:lnTo>
                <a:lnTo>
                  <a:pt x="0" y="217229"/>
                </a:lnTo>
                <a:lnTo>
                  <a:pt x="9414" y="259505"/>
                </a:lnTo>
                <a:lnTo>
                  <a:pt x="28243" y="299275"/>
                </a:lnTo>
                <a:lnTo>
                  <a:pt x="56487" y="334867"/>
                </a:lnTo>
                <a:lnTo>
                  <a:pt x="92078" y="363107"/>
                </a:lnTo>
                <a:lnTo>
                  <a:pt x="131848" y="381933"/>
                </a:lnTo>
                <a:lnTo>
                  <a:pt x="174123" y="391347"/>
                </a:lnTo>
                <a:lnTo>
                  <a:pt x="217235" y="391347"/>
                </a:lnTo>
                <a:lnTo>
                  <a:pt x="259510" y="381933"/>
                </a:lnTo>
                <a:lnTo>
                  <a:pt x="299280" y="363107"/>
                </a:lnTo>
                <a:lnTo>
                  <a:pt x="334871" y="334867"/>
                </a:lnTo>
                <a:lnTo>
                  <a:pt x="363110" y="299275"/>
                </a:lnTo>
                <a:lnTo>
                  <a:pt x="381936" y="259505"/>
                </a:lnTo>
                <a:lnTo>
                  <a:pt x="391349" y="217229"/>
                </a:lnTo>
                <a:lnTo>
                  <a:pt x="391349" y="174117"/>
                </a:lnTo>
                <a:lnTo>
                  <a:pt x="381936" y="131841"/>
                </a:lnTo>
                <a:lnTo>
                  <a:pt x="363110" y="92072"/>
                </a:lnTo>
                <a:lnTo>
                  <a:pt x="334871" y="56480"/>
                </a:lnTo>
                <a:lnTo>
                  <a:pt x="299280" y="28240"/>
                </a:lnTo>
                <a:lnTo>
                  <a:pt x="259510" y="9413"/>
                </a:lnTo>
                <a:lnTo>
                  <a:pt x="21723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51" name="object 52">
            <a:extLst>
              <a:ext uri="{FF2B5EF4-FFF2-40B4-BE49-F238E27FC236}">
                <a16:creationId xmlns:a16="http://schemas.microsoft.com/office/drawing/2014/main" id="{833BF30E-C51D-FC43-9E16-7E438BFCF575}"/>
              </a:ext>
            </a:extLst>
          </p:cNvPr>
          <p:cNvSpPr/>
          <p:nvPr/>
        </p:nvSpPr>
        <p:spPr>
          <a:xfrm>
            <a:off x="4019612" y="5768188"/>
            <a:ext cx="275481" cy="275481"/>
          </a:xfrm>
          <a:custGeom>
            <a:avLst/>
            <a:gdLst/>
            <a:ahLst/>
            <a:cxnLst/>
            <a:rect l="l" t="t" r="r" b="b"/>
            <a:pathLst>
              <a:path w="391795" h="391795">
                <a:moveTo>
                  <a:pt x="334871" y="56478"/>
                </a:moveTo>
                <a:lnTo>
                  <a:pt x="363110" y="92069"/>
                </a:lnTo>
                <a:lnTo>
                  <a:pt x="381936" y="131839"/>
                </a:lnTo>
                <a:lnTo>
                  <a:pt x="391349" y="174115"/>
                </a:lnTo>
                <a:lnTo>
                  <a:pt x="391349" y="217228"/>
                </a:lnTo>
                <a:lnTo>
                  <a:pt x="381936" y="259506"/>
                </a:lnTo>
                <a:lnTo>
                  <a:pt x="363110" y="299278"/>
                </a:lnTo>
                <a:lnTo>
                  <a:pt x="334871" y="334874"/>
                </a:lnTo>
                <a:lnTo>
                  <a:pt x="299280" y="363113"/>
                </a:lnTo>
                <a:lnTo>
                  <a:pt x="259510" y="381940"/>
                </a:lnTo>
                <a:lnTo>
                  <a:pt x="217235" y="391353"/>
                </a:lnTo>
                <a:lnTo>
                  <a:pt x="174123" y="391353"/>
                </a:lnTo>
                <a:lnTo>
                  <a:pt x="131848" y="381940"/>
                </a:lnTo>
                <a:lnTo>
                  <a:pt x="92078" y="363113"/>
                </a:lnTo>
                <a:lnTo>
                  <a:pt x="56487" y="334874"/>
                </a:lnTo>
                <a:lnTo>
                  <a:pt x="28243" y="299278"/>
                </a:lnTo>
                <a:lnTo>
                  <a:pt x="9414" y="259506"/>
                </a:lnTo>
                <a:lnTo>
                  <a:pt x="0" y="217228"/>
                </a:lnTo>
                <a:lnTo>
                  <a:pt x="0" y="174115"/>
                </a:lnTo>
                <a:lnTo>
                  <a:pt x="9414" y="131839"/>
                </a:lnTo>
                <a:lnTo>
                  <a:pt x="28243" y="92069"/>
                </a:lnTo>
                <a:lnTo>
                  <a:pt x="56487" y="56478"/>
                </a:lnTo>
                <a:lnTo>
                  <a:pt x="92078" y="28239"/>
                </a:lnTo>
                <a:lnTo>
                  <a:pt x="131848" y="9413"/>
                </a:lnTo>
                <a:lnTo>
                  <a:pt x="174123" y="0"/>
                </a:lnTo>
                <a:lnTo>
                  <a:pt x="217235" y="0"/>
                </a:lnTo>
                <a:lnTo>
                  <a:pt x="259510" y="9413"/>
                </a:lnTo>
                <a:lnTo>
                  <a:pt x="299280" y="28239"/>
                </a:lnTo>
                <a:lnTo>
                  <a:pt x="334871"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2" name="object 53">
            <a:extLst>
              <a:ext uri="{FF2B5EF4-FFF2-40B4-BE49-F238E27FC236}">
                <a16:creationId xmlns:a16="http://schemas.microsoft.com/office/drawing/2014/main" id="{0E9F50CE-F1AB-2743-BC07-11E379FC2C8F}"/>
              </a:ext>
            </a:extLst>
          </p:cNvPr>
          <p:cNvSpPr txBox="1"/>
          <p:nvPr/>
        </p:nvSpPr>
        <p:spPr>
          <a:xfrm>
            <a:off x="1747048" y="3096667"/>
            <a:ext cx="3056911" cy="655348"/>
          </a:xfrm>
          <a:prstGeom prst="rect">
            <a:avLst/>
          </a:prstGeom>
        </p:spPr>
        <p:txBody>
          <a:bodyPr vert="horz" wrap="square" lIns="0" tIns="8930" rIns="0" bIns="0" rtlCol="0">
            <a:spAutoFit/>
          </a:bodyPr>
          <a:lstStyle/>
          <a:p>
            <a:pPr marL="8929">
              <a:spcBef>
                <a:spcPts val="70"/>
              </a:spcBef>
            </a:pPr>
            <a:r>
              <a:rPr lang="en-US" dirty="0">
                <a:solidFill>
                  <a:srgbClr val="8D3124"/>
                </a:solidFill>
                <a:latin typeface="Arial" panose="020B0604020202020204" pitchFamily="34" charset="0"/>
                <a:cs typeface="Arial" panose="020B0604020202020204" pitchFamily="34" charset="0"/>
              </a:rPr>
              <a:t>After relaxing edge </a:t>
            </a:r>
            <a:r>
              <a:rPr lang="en-US" dirty="0" err="1">
                <a:solidFill>
                  <a:srgbClr val="8D3124"/>
                </a:solidFill>
                <a:latin typeface="Arial" panose="020B0604020202020204" pitchFamily="34" charset="0"/>
                <a:cs typeface="Arial" panose="020B0604020202020204" pitchFamily="34" charset="0"/>
              </a:rPr>
              <a:t>u</a:t>
            </a:r>
            <a:r>
              <a:rPr dirty="0" err="1">
                <a:solidFill>
                  <a:srgbClr val="8D3124"/>
                </a:solidFill>
                <a:latin typeface="Arial" panose="020B0604020202020204" pitchFamily="34" charset="0"/>
                <a:cs typeface="Arial" panose="020B0604020202020204" pitchFamily="34" charset="0"/>
              </a:rPr>
              <a:t>v</a:t>
            </a:r>
            <a:r>
              <a:rPr lang="en-GB" dirty="0">
                <a:solidFill>
                  <a:srgbClr val="8D3124"/>
                </a:solidFill>
                <a:latin typeface="Arial" panose="020B0604020202020204" pitchFamily="34" charset="0"/>
                <a:cs typeface="Arial" panose="020B0604020202020204" pitchFamily="34" charset="0"/>
              </a:rPr>
              <a:t>, the shortest path from s to v is updated to go through node u, with cost of 4.4</a:t>
            </a:r>
            <a:endParaRPr dirty="0">
              <a:solidFill>
                <a:srgbClr val="8D3124"/>
              </a:solidFill>
              <a:latin typeface="Arial" panose="020B0604020202020204" pitchFamily="34" charset="0"/>
              <a:cs typeface="Arial" panose="020B0604020202020204" pitchFamily="34" charset="0"/>
            </a:endParaRPr>
          </a:p>
        </p:txBody>
      </p:sp>
      <p:sp>
        <p:nvSpPr>
          <p:cNvPr id="53" name="object 54">
            <a:extLst>
              <a:ext uri="{FF2B5EF4-FFF2-40B4-BE49-F238E27FC236}">
                <a16:creationId xmlns:a16="http://schemas.microsoft.com/office/drawing/2014/main" id="{7B4D3176-DA45-8344-8450-BFDFFA42F560}"/>
              </a:ext>
            </a:extLst>
          </p:cNvPr>
          <p:cNvSpPr/>
          <p:nvPr/>
        </p:nvSpPr>
        <p:spPr>
          <a:xfrm>
            <a:off x="5163772" y="4015818"/>
            <a:ext cx="434429" cy="851892"/>
          </a:xfrm>
          <a:custGeom>
            <a:avLst/>
            <a:gdLst/>
            <a:ahLst/>
            <a:cxnLst/>
            <a:rect l="l" t="t" r="r" b="b"/>
            <a:pathLst>
              <a:path w="617854" h="1211579">
                <a:moveTo>
                  <a:pt x="617613" y="1210970"/>
                </a:moveTo>
                <a:lnTo>
                  <a:pt x="611847" y="1199654"/>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4" name="object 55">
            <a:extLst>
              <a:ext uri="{FF2B5EF4-FFF2-40B4-BE49-F238E27FC236}">
                <a16:creationId xmlns:a16="http://schemas.microsoft.com/office/drawing/2014/main" id="{3B6F27EF-5ECF-284B-AB85-5178486C6D53}"/>
              </a:ext>
            </a:extLst>
          </p:cNvPr>
          <p:cNvSpPr/>
          <p:nvPr/>
        </p:nvSpPr>
        <p:spPr>
          <a:xfrm>
            <a:off x="5546050" y="4820767"/>
            <a:ext cx="77242" cy="95994"/>
          </a:xfrm>
          <a:custGeom>
            <a:avLst/>
            <a:gdLst/>
            <a:ahLst/>
            <a:cxnLst/>
            <a:rect l="l" t="t" r="r" b="b"/>
            <a:pathLst>
              <a:path w="109854" h="136525">
                <a:moveTo>
                  <a:pt x="108610" y="0"/>
                </a:moveTo>
                <a:lnTo>
                  <a:pt x="68160" y="54838"/>
                </a:lnTo>
                <a:lnTo>
                  <a:pt x="0" y="55384"/>
                </a:lnTo>
                <a:lnTo>
                  <a:pt x="109689" y="136296"/>
                </a:lnTo>
                <a:lnTo>
                  <a:pt x="108610"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55" name="object 56">
            <a:extLst>
              <a:ext uri="{FF2B5EF4-FFF2-40B4-BE49-F238E27FC236}">
                <a16:creationId xmlns:a16="http://schemas.microsoft.com/office/drawing/2014/main" id="{39709C25-F6E4-4242-A421-3928002B2456}"/>
              </a:ext>
            </a:extLst>
          </p:cNvPr>
          <p:cNvSpPr/>
          <p:nvPr/>
        </p:nvSpPr>
        <p:spPr>
          <a:xfrm>
            <a:off x="5162931" y="4020113"/>
            <a:ext cx="425500" cy="834033"/>
          </a:xfrm>
          <a:custGeom>
            <a:avLst/>
            <a:gdLst/>
            <a:ahLst/>
            <a:cxnLst/>
            <a:rect l="l" t="t" r="r" b="b"/>
            <a:pathLst>
              <a:path w="605154" h="1186179">
                <a:moveTo>
                  <a:pt x="604913" y="1186078"/>
                </a:moveTo>
                <a:lnTo>
                  <a:pt x="596265" y="1169111"/>
                </a:lnTo>
                <a:lnTo>
                  <a:pt x="0" y="0"/>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6" name="object 57">
            <a:extLst>
              <a:ext uri="{FF2B5EF4-FFF2-40B4-BE49-F238E27FC236}">
                <a16:creationId xmlns:a16="http://schemas.microsoft.com/office/drawing/2014/main" id="{F8B5F15C-D88C-2C4E-AC18-99FE85EDAD5B}"/>
              </a:ext>
            </a:extLst>
          </p:cNvPr>
          <p:cNvSpPr/>
          <p:nvPr/>
        </p:nvSpPr>
        <p:spPr>
          <a:xfrm>
            <a:off x="5516288" y="4789120"/>
            <a:ext cx="106263" cy="132159"/>
          </a:xfrm>
          <a:custGeom>
            <a:avLst/>
            <a:gdLst/>
            <a:ahLst/>
            <a:cxnLst/>
            <a:rect l="l" t="t" r="r" b="b"/>
            <a:pathLst>
              <a:path w="151129" h="187959">
                <a:moveTo>
                  <a:pt x="149339" y="0"/>
                </a:moveTo>
                <a:lnTo>
                  <a:pt x="93713" y="75412"/>
                </a:lnTo>
                <a:lnTo>
                  <a:pt x="0" y="76161"/>
                </a:lnTo>
                <a:lnTo>
                  <a:pt x="150837" y="187413"/>
                </a:lnTo>
                <a:lnTo>
                  <a:pt x="149339"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57" name="object 58">
            <a:extLst>
              <a:ext uri="{FF2B5EF4-FFF2-40B4-BE49-F238E27FC236}">
                <a16:creationId xmlns:a16="http://schemas.microsoft.com/office/drawing/2014/main" id="{19F85F92-3356-204D-A904-DCD8897AA534}"/>
              </a:ext>
            </a:extLst>
          </p:cNvPr>
          <p:cNvSpPr/>
          <p:nvPr/>
        </p:nvSpPr>
        <p:spPr>
          <a:xfrm>
            <a:off x="5163771" y="4015818"/>
            <a:ext cx="425500" cy="834033"/>
          </a:xfrm>
          <a:custGeom>
            <a:avLst/>
            <a:gdLst/>
            <a:ahLst/>
            <a:cxnLst/>
            <a:rect l="l" t="t" r="r" b="b"/>
            <a:pathLst>
              <a:path w="605154" h="1186179">
                <a:moveTo>
                  <a:pt x="604913" y="1186078"/>
                </a:moveTo>
                <a:lnTo>
                  <a:pt x="596265" y="1169111"/>
                </a:lnTo>
                <a:lnTo>
                  <a:pt x="0" y="0"/>
                </a:lnTo>
              </a:path>
            </a:pathLst>
          </a:custGeom>
          <a:ln w="38100">
            <a:solidFill>
              <a:srgbClr val="8D3124"/>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8" name="object 59">
            <a:extLst>
              <a:ext uri="{FF2B5EF4-FFF2-40B4-BE49-F238E27FC236}">
                <a16:creationId xmlns:a16="http://schemas.microsoft.com/office/drawing/2014/main" id="{25CD6C79-70DD-6940-A720-D6580E51FE8D}"/>
              </a:ext>
            </a:extLst>
          </p:cNvPr>
          <p:cNvSpPr/>
          <p:nvPr/>
        </p:nvSpPr>
        <p:spPr>
          <a:xfrm>
            <a:off x="5517128" y="4784825"/>
            <a:ext cx="106263" cy="132159"/>
          </a:xfrm>
          <a:custGeom>
            <a:avLst/>
            <a:gdLst/>
            <a:ahLst/>
            <a:cxnLst/>
            <a:rect l="l" t="t" r="r" b="b"/>
            <a:pathLst>
              <a:path w="151129" h="187959">
                <a:moveTo>
                  <a:pt x="149339" y="0"/>
                </a:moveTo>
                <a:lnTo>
                  <a:pt x="93713" y="75412"/>
                </a:lnTo>
                <a:lnTo>
                  <a:pt x="0" y="76161"/>
                </a:lnTo>
                <a:lnTo>
                  <a:pt x="150825" y="187413"/>
                </a:lnTo>
                <a:lnTo>
                  <a:pt x="149339" y="0"/>
                </a:lnTo>
                <a:close/>
              </a:path>
            </a:pathLst>
          </a:custGeom>
          <a:solidFill>
            <a:srgbClr val="8D3124"/>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60" name="object 61">
            <a:extLst>
              <a:ext uri="{FF2B5EF4-FFF2-40B4-BE49-F238E27FC236}">
                <a16:creationId xmlns:a16="http://schemas.microsoft.com/office/drawing/2014/main" id="{E2BE2908-4315-D043-AA54-A5B8FF1B3FD5}"/>
              </a:ext>
            </a:extLst>
          </p:cNvPr>
          <p:cNvSpPr txBox="1"/>
          <p:nvPr/>
        </p:nvSpPr>
        <p:spPr>
          <a:xfrm>
            <a:off x="5285412" y="4355146"/>
            <a:ext cx="318494" cy="224461"/>
          </a:xfrm>
          <a:prstGeom prst="rect">
            <a:avLst/>
          </a:prstGeom>
          <a:solidFill>
            <a:schemeClr val="bg1"/>
          </a:solidFill>
        </p:spPr>
        <p:txBody>
          <a:bodyPr vert="horz" wrap="square" lIns="0" tIns="8930" rIns="0" bIns="0" rtlCol="0">
            <a:spAutoFit/>
          </a:bodyPr>
          <a:lstStyle/>
          <a:p>
            <a:pPr marL="8929">
              <a:spcBef>
                <a:spcPts val="70"/>
              </a:spcBef>
            </a:pPr>
            <a:r>
              <a:rPr spc="60" dirty="0">
                <a:latin typeface="Arial" panose="020B0604020202020204" pitchFamily="34" charset="0"/>
                <a:cs typeface="Arial" panose="020B0604020202020204" pitchFamily="34" charset="0"/>
              </a:rPr>
              <a:t>1.3</a:t>
            </a:r>
            <a:endParaRPr dirty="0">
              <a:latin typeface="Arial" panose="020B0604020202020204" pitchFamily="34" charset="0"/>
              <a:cs typeface="Arial" panose="020B0604020202020204" pitchFamily="34" charset="0"/>
            </a:endParaRPr>
          </a:p>
        </p:txBody>
      </p:sp>
      <p:sp>
        <p:nvSpPr>
          <p:cNvPr id="61" name="object 62">
            <a:extLst>
              <a:ext uri="{FF2B5EF4-FFF2-40B4-BE49-F238E27FC236}">
                <a16:creationId xmlns:a16="http://schemas.microsoft.com/office/drawing/2014/main" id="{D499A9FE-8529-514D-AA66-D6F9BFB1050C}"/>
              </a:ext>
            </a:extLst>
          </p:cNvPr>
          <p:cNvSpPr/>
          <p:nvPr/>
        </p:nvSpPr>
        <p:spPr>
          <a:xfrm>
            <a:off x="5027566" y="3843923"/>
            <a:ext cx="275481" cy="275481"/>
          </a:xfrm>
          <a:custGeom>
            <a:avLst/>
            <a:gdLst/>
            <a:ahLst/>
            <a:cxnLst/>
            <a:rect l="l" t="t" r="r" b="b"/>
            <a:pathLst>
              <a:path w="391795" h="391795">
                <a:moveTo>
                  <a:pt x="217225" y="0"/>
                </a:moveTo>
                <a:lnTo>
                  <a:pt x="174114" y="0"/>
                </a:lnTo>
                <a:lnTo>
                  <a:pt x="131838" y="9414"/>
                </a:lnTo>
                <a:lnTo>
                  <a:pt x="92069" y="28243"/>
                </a:lnTo>
                <a:lnTo>
                  <a:pt x="56478" y="56487"/>
                </a:lnTo>
                <a:lnTo>
                  <a:pt x="28239" y="92078"/>
                </a:lnTo>
                <a:lnTo>
                  <a:pt x="9413" y="131848"/>
                </a:lnTo>
                <a:lnTo>
                  <a:pt x="0" y="174123"/>
                </a:lnTo>
                <a:lnTo>
                  <a:pt x="0" y="217235"/>
                </a:lnTo>
                <a:lnTo>
                  <a:pt x="9413" y="259510"/>
                </a:lnTo>
                <a:lnTo>
                  <a:pt x="28239" y="299280"/>
                </a:lnTo>
                <a:lnTo>
                  <a:pt x="56478" y="334871"/>
                </a:lnTo>
                <a:lnTo>
                  <a:pt x="92069" y="363110"/>
                </a:lnTo>
                <a:lnTo>
                  <a:pt x="131838" y="381936"/>
                </a:lnTo>
                <a:lnTo>
                  <a:pt x="174114" y="391349"/>
                </a:lnTo>
                <a:lnTo>
                  <a:pt x="217225" y="391349"/>
                </a:lnTo>
                <a:lnTo>
                  <a:pt x="259501" y="381936"/>
                </a:lnTo>
                <a:lnTo>
                  <a:pt x="299270" y="363110"/>
                </a:lnTo>
                <a:lnTo>
                  <a:pt x="334862" y="334871"/>
                </a:lnTo>
                <a:lnTo>
                  <a:pt x="363101" y="299280"/>
                </a:lnTo>
                <a:lnTo>
                  <a:pt x="381927" y="259510"/>
                </a:lnTo>
                <a:lnTo>
                  <a:pt x="391340" y="217235"/>
                </a:lnTo>
                <a:lnTo>
                  <a:pt x="391340" y="174123"/>
                </a:lnTo>
                <a:lnTo>
                  <a:pt x="381927" y="131848"/>
                </a:lnTo>
                <a:lnTo>
                  <a:pt x="363101" y="92078"/>
                </a:lnTo>
                <a:lnTo>
                  <a:pt x="334862" y="56487"/>
                </a:lnTo>
                <a:lnTo>
                  <a:pt x="299270" y="28243"/>
                </a:lnTo>
                <a:lnTo>
                  <a:pt x="259501" y="9414"/>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62" name="object 63">
            <a:extLst>
              <a:ext uri="{FF2B5EF4-FFF2-40B4-BE49-F238E27FC236}">
                <a16:creationId xmlns:a16="http://schemas.microsoft.com/office/drawing/2014/main" id="{5FF7BD3E-F756-744E-BDD0-669299D0CA60}"/>
              </a:ext>
            </a:extLst>
          </p:cNvPr>
          <p:cNvSpPr/>
          <p:nvPr/>
        </p:nvSpPr>
        <p:spPr>
          <a:xfrm>
            <a:off x="5027566" y="3843921"/>
            <a:ext cx="275481" cy="275481"/>
          </a:xfrm>
          <a:custGeom>
            <a:avLst/>
            <a:gdLst/>
            <a:ahLst/>
            <a:cxnLst/>
            <a:rect l="l" t="t" r="r" b="b"/>
            <a:pathLst>
              <a:path w="391795" h="391795">
                <a:moveTo>
                  <a:pt x="334862" y="56478"/>
                </a:moveTo>
                <a:lnTo>
                  <a:pt x="363101" y="92074"/>
                </a:lnTo>
                <a:lnTo>
                  <a:pt x="381927" y="131846"/>
                </a:lnTo>
                <a:lnTo>
                  <a:pt x="391340" y="174124"/>
                </a:lnTo>
                <a:lnTo>
                  <a:pt x="391340" y="217237"/>
                </a:lnTo>
                <a:lnTo>
                  <a:pt x="381927" y="259513"/>
                </a:lnTo>
                <a:lnTo>
                  <a:pt x="363101" y="299283"/>
                </a:lnTo>
                <a:lnTo>
                  <a:pt x="334862" y="334874"/>
                </a:lnTo>
                <a:lnTo>
                  <a:pt x="299270" y="363113"/>
                </a:lnTo>
                <a:lnTo>
                  <a:pt x="259501" y="381940"/>
                </a:lnTo>
                <a:lnTo>
                  <a:pt x="217225" y="391353"/>
                </a:lnTo>
                <a:lnTo>
                  <a:pt x="174114" y="391353"/>
                </a:lnTo>
                <a:lnTo>
                  <a:pt x="131838" y="381940"/>
                </a:lnTo>
                <a:lnTo>
                  <a:pt x="92069" y="363113"/>
                </a:lnTo>
                <a:lnTo>
                  <a:pt x="56478" y="334874"/>
                </a:lnTo>
                <a:lnTo>
                  <a:pt x="28239" y="299283"/>
                </a:lnTo>
                <a:lnTo>
                  <a:pt x="9413" y="259513"/>
                </a:lnTo>
                <a:lnTo>
                  <a:pt x="0" y="217237"/>
                </a:lnTo>
                <a:lnTo>
                  <a:pt x="0" y="174124"/>
                </a:lnTo>
                <a:lnTo>
                  <a:pt x="9413" y="131846"/>
                </a:lnTo>
                <a:lnTo>
                  <a:pt x="28239" y="92074"/>
                </a:lnTo>
                <a:lnTo>
                  <a:pt x="56478" y="56478"/>
                </a:lnTo>
                <a:lnTo>
                  <a:pt x="92069" y="28239"/>
                </a:lnTo>
                <a:lnTo>
                  <a:pt x="131838" y="9413"/>
                </a:lnTo>
                <a:lnTo>
                  <a:pt x="174114" y="0"/>
                </a:lnTo>
                <a:lnTo>
                  <a:pt x="217225" y="0"/>
                </a:lnTo>
                <a:lnTo>
                  <a:pt x="259501" y="9413"/>
                </a:lnTo>
                <a:lnTo>
                  <a:pt x="299270" y="28239"/>
                </a:lnTo>
                <a:lnTo>
                  <a:pt x="334862" y="56478"/>
                </a:lnTo>
              </a:path>
            </a:pathLst>
          </a:custGeom>
          <a:ln w="12699">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63" name="object 64">
            <a:extLst>
              <a:ext uri="{FF2B5EF4-FFF2-40B4-BE49-F238E27FC236}">
                <a16:creationId xmlns:a16="http://schemas.microsoft.com/office/drawing/2014/main" id="{EC284378-1F0E-5544-9DD3-181F9018D06A}"/>
              </a:ext>
            </a:extLst>
          </p:cNvPr>
          <p:cNvSpPr txBox="1"/>
          <p:nvPr/>
        </p:nvSpPr>
        <p:spPr>
          <a:xfrm>
            <a:off x="5120463" y="3845803"/>
            <a:ext cx="45719" cy="224461"/>
          </a:xfrm>
          <a:prstGeom prst="rect">
            <a:avLst/>
          </a:prstGeom>
        </p:spPr>
        <p:txBody>
          <a:bodyPr vert="horz" wrap="square" lIns="0" tIns="8930" rIns="0" bIns="0" rtlCol="0">
            <a:spAutoFit/>
          </a:bodyPr>
          <a:lstStyle/>
          <a:p>
            <a:pPr marL="8929">
              <a:spcBef>
                <a:spcPts val="70"/>
              </a:spcBef>
            </a:pPr>
            <a:r>
              <a:rPr lang="en-GB" spc="80" dirty="0">
                <a:latin typeface="Arial" panose="020B0604020202020204" pitchFamily="34" charset="0"/>
                <a:cs typeface="Arial" panose="020B0604020202020204" pitchFamily="34" charset="0"/>
              </a:rPr>
              <a:t>u</a:t>
            </a:r>
            <a:endParaRPr dirty="0">
              <a:latin typeface="Arial" panose="020B0604020202020204" pitchFamily="34" charset="0"/>
              <a:cs typeface="Arial" panose="020B0604020202020204" pitchFamily="34" charset="0"/>
            </a:endParaRPr>
          </a:p>
        </p:txBody>
      </p:sp>
      <p:sp>
        <p:nvSpPr>
          <p:cNvPr id="64" name="object 65">
            <a:extLst>
              <a:ext uri="{FF2B5EF4-FFF2-40B4-BE49-F238E27FC236}">
                <a16:creationId xmlns:a16="http://schemas.microsoft.com/office/drawing/2014/main" id="{DEA1A666-3098-744B-A501-D1874DBAA0F1}"/>
              </a:ext>
            </a:extLst>
          </p:cNvPr>
          <p:cNvSpPr/>
          <p:nvPr/>
        </p:nvSpPr>
        <p:spPr>
          <a:xfrm>
            <a:off x="5497178" y="4943505"/>
            <a:ext cx="275481" cy="275481"/>
          </a:xfrm>
          <a:custGeom>
            <a:avLst/>
            <a:gdLst/>
            <a:ahLst/>
            <a:cxnLst/>
            <a:rect l="l" t="t" r="r" b="b"/>
            <a:pathLst>
              <a:path w="391795" h="391795">
                <a:moveTo>
                  <a:pt x="217225" y="0"/>
                </a:moveTo>
                <a:lnTo>
                  <a:pt x="174114" y="0"/>
                </a:lnTo>
                <a:lnTo>
                  <a:pt x="131838" y="9413"/>
                </a:lnTo>
                <a:lnTo>
                  <a:pt x="92069" y="28239"/>
                </a:lnTo>
                <a:lnTo>
                  <a:pt x="56478" y="56478"/>
                </a:lnTo>
                <a:lnTo>
                  <a:pt x="28239" y="92069"/>
                </a:lnTo>
                <a:lnTo>
                  <a:pt x="9413" y="131838"/>
                </a:lnTo>
                <a:lnTo>
                  <a:pt x="0" y="174114"/>
                </a:lnTo>
                <a:lnTo>
                  <a:pt x="0" y="217225"/>
                </a:lnTo>
                <a:lnTo>
                  <a:pt x="9413" y="259501"/>
                </a:lnTo>
                <a:lnTo>
                  <a:pt x="28239" y="299270"/>
                </a:lnTo>
                <a:lnTo>
                  <a:pt x="56478" y="334862"/>
                </a:lnTo>
                <a:lnTo>
                  <a:pt x="92069" y="363105"/>
                </a:lnTo>
                <a:lnTo>
                  <a:pt x="131838" y="381935"/>
                </a:lnTo>
                <a:lnTo>
                  <a:pt x="174114" y="391349"/>
                </a:lnTo>
                <a:lnTo>
                  <a:pt x="217225" y="391349"/>
                </a:lnTo>
                <a:lnTo>
                  <a:pt x="259501" y="381935"/>
                </a:lnTo>
                <a:lnTo>
                  <a:pt x="299270" y="363105"/>
                </a:lnTo>
                <a:lnTo>
                  <a:pt x="334862" y="334862"/>
                </a:lnTo>
                <a:lnTo>
                  <a:pt x="363101" y="299270"/>
                </a:lnTo>
                <a:lnTo>
                  <a:pt x="381927" y="259501"/>
                </a:lnTo>
                <a:lnTo>
                  <a:pt x="391340" y="217225"/>
                </a:lnTo>
                <a:lnTo>
                  <a:pt x="391340" y="174114"/>
                </a:lnTo>
                <a:lnTo>
                  <a:pt x="381927" y="131838"/>
                </a:lnTo>
                <a:lnTo>
                  <a:pt x="363101" y="92069"/>
                </a:lnTo>
                <a:lnTo>
                  <a:pt x="334862" y="56478"/>
                </a:lnTo>
                <a:lnTo>
                  <a:pt x="299270" y="28239"/>
                </a:lnTo>
                <a:lnTo>
                  <a:pt x="259501" y="9413"/>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65" name="object 66">
            <a:extLst>
              <a:ext uri="{FF2B5EF4-FFF2-40B4-BE49-F238E27FC236}">
                <a16:creationId xmlns:a16="http://schemas.microsoft.com/office/drawing/2014/main" id="{73B7C280-2521-2543-BBE3-2DF302200BC7}"/>
              </a:ext>
            </a:extLst>
          </p:cNvPr>
          <p:cNvSpPr/>
          <p:nvPr/>
        </p:nvSpPr>
        <p:spPr>
          <a:xfrm>
            <a:off x="5497178" y="4943505"/>
            <a:ext cx="275481" cy="275481"/>
          </a:xfrm>
          <a:custGeom>
            <a:avLst/>
            <a:gdLst/>
            <a:ahLst/>
            <a:cxnLst/>
            <a:rect l="l" t="t" r="r" b="b"/>
            <a:pathLst>
              <a:path w="391795" h="391795">
                <a:moveTo>
                  <a:pt x="334862" y="56478"/>
                </a:moveTo>
                <a:lnTo>
                  <a:pt x="363101" y="92069"/>
                </a:lnTo>
                <a:lnTo>
                  <a:pt x="381927" y="131838"/>
                </a:lnTo>
                <a:lnTo>
                  <a:pt x="391340" y="174114"/>
                </a:lnTo>
                <a:lnTo>
                  <a:pt x="391340" y="217225"/>
                </a:lnTo>
                <a:lnTo>
                  <a:pt x="381927" y="259501"/>
                </a:lnTo>
                <a:lnTo>
                  <a:pt x="363101" y="299270"/>
                </a:lnTo>
                <a:lnTo>
                  <a:pt x="334862" y="334862"/>
                </a:lnTo>
                <a:lnTo>
                  <a:pt x="299270" y="363101"/>
                </a:lnTo>
                <a:lnTo>
                  <a:pt x="259501" y="381927"/>
                </a:lnTo>
                <a:lnTo>
                  <a:pt x="217225" y="391340"/>
                </a:lnTo>
                <a:lnTo>
                  <a:pt x="174114" y="391340"/>
                </a:lnTo>
                <a:lnTo>
                  <a:pt x="131838" y="381927"/>
                </a:lnTo>
                <a:lnTo>
                  <a:pt x="92069" y="363101"/>
                </a:lnTo>
                <a:lnTo>
                  <a:pt x="56478" y="334862"/>
                </a:lnTo>
                <a:lnTo>
                  <a:pt x="28239" y="299270"/>
                </a:lnTo>
                <a:lnTo>
                  <a:pt x="9413" y="259501"/>
                </a:lnTo>
                <a:lnTo>
                  <a:pt x="0" y="217225"/>
                </a:lnTo>
                <a:lnTo>
                  <a:pt x="0" y="174114"/>
                </a:lnTo>
                <a:lnTo>
                  <a:pt x="9413" y="131838"/>
                </a:lnTo>
                <a:lnTo>
                  <a:pt x="28239" y="92069"/>
                </a:lnTo>
                <a:lnTo>
                  <a:pt x="56478" y="56478"/>
                </a:lnTo>
                <a:lnTo>
                  <a:pt x="92069" y="28239"/>
                </a:lnTo>
                <a:lnTo>
                  <a:pt x="131838" y="9413"/>
                </a:lnTo>
                <a:lnTo>
                  <a:pt x="174114" y="0"/>
                </a:lnTo>
                <a:lnTo>
                  <a:pt x="217225" y="0"/>
                </a:lnTo>
                <a:lnTo>
                  <a:pt x="259501" y="9413"/>
                </a:lnTo>
                <a:lnTo>
                  <a:pt x="299270" y="28239"/>
                </a:lnTo>
                <a:lnTo>
                  <a:pt x="334862"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66" name="object 67">
            <a:extLst>
              <a:ext uri="{FF2B5EF4-FFF2-40B4-BE49-F238E27FC236}">
                <a16:creationId xmlns:a16="http://schemas.microsoft.com/office/drawing/2014/main" id="{7BAD4C9F-CA72-F345-BFFB-ABDE22DDB437}"/>
              </a:ext>
            </a:extLst>
          </p:cNvPr>
          <p:cNvSpPr txBox="1"/>
          <p:nvPr/>
        </p:nvSpPr>
        <p:spPr>
          <a:xfrm>
            <a:off x="5569557" y="4946846"/>
            <a:ext cx="388513" cy="224461"/>
          </a:xfrm>
          <a:prstGeom prst="rect">
            <a:avLst/>
          </a:prstGeom>
        </p:spPr>
        <p:txBody>
          <a:bodyPr vert="horz" wrap="square" lIns="0" tIns="8930" rIns="0" bIns="0" rtlCol="0">
            <a:spAutoFit/>
          </a:bodyPr>
          <a:lstStyle/>
          <a:p>
            <a:pPr marL="8929">
              <a:spcBef>
                <a:spcPts val="70"/>
              </a:spcBef>
              <a:tabLst>
                <a:tab pos="313421" algn="l"/>
                <a:tab pos="729976" algn="l"/>
              </a:tabLst>
            </a:pPr>
            <a:r>
              <a:rPr lang="en-GB" spc="91" dirty="0">
                <a:latin typeface="Trebuchet MS"/>
                <a:cs typeface="Trebuchet MS"/>
              </a:rPr>
              <a:t>v</a:t>
            </a:r>
            <a:r>
              <a:rPr spc="91" dirty="0">
                <a:latin typeface="Trebuchet MS"/>
                <a:cs typeface="Trebuchet MS"/>
              </a:rPr>
              <a:t>	</a:t>
            </a:r>
            <a:endParaRPr dirty="0">
              <a:latin typeface="Trebuchet MS"/>
              <a:cs typeface="Trebuchet MS"/>
            </a:endParaRPr>
          </a:p>
        </p:txBody>
      </p:sp>
      <p:sp>
        <p:nvSpPr>
          <p:cNvPr id="68" name="object 6">
            <a:extLst>
              <a:ext uri="{FF2B5EF4-FFF2-40B4-BE49-F238E27FC236}">
                <a16:creationId xmlns:a16="http://schemas.microsoft.com/office/drawing/2014/main" id="{C8FB0501-2985-744A-B2C2-620E200CC642}"/>
              </a:ext>
            </a:extLst>
          </p:cNvPr>
          <p:cNvSpPr txBox="1"/>
          <p:nvPr/>
        </p:nvSpPr>
        <p:spPr>
          <a:xfrm>
            <a:off x="6215689" y="3131775"/>
            <a:ext cx="4320045" cy="2274180"/>
          </a:xfrm>
          <a:prstGeom prst="rect">
            <a:avLst/>
          </a:prstGeom>
          <a:solidFill>
            <a:schemeClr val="accent1">
              <a:lumMod val="20000"/>
              <a:lumOff val="80000"/>
            </a:schemeClr>
          </a:solidFill>
        </p:spPr>
        <p:txBody>
          <a:bodyPr vert="horz" wrap="square" lIns="0" tIns="107156" rIns="0" bIns="0" rtlCol="0">
            <a:spAutoFit/>
          </a:bodyPr>
          <a:lstStyle/>
          <a:p>
            <a:pPr marL="244665">
              <a:spcBef>
                <a:spcPts val="844"/>
              </a:spcBef>
              <a:tabLst>
                <a:tab pos="1018395" algn="l"/>
                <a:tab pos="1502367" algn="l"/>
                <a:tab pos="3340924" algn="l"/>
              </a:tabLst>
            </a:pPr>
            <a:r>
              <a:rPr spc="-4" dirty="0">
                <a:latin typeface="DejaVu Sans Mono"/>
                <a:cs typeface="DejaVu Sans Mono"/>
              </a:rPr>
              <a:t>private</a:t>
            </a:r>
            <a:r>
              <a:rPr lang="en-US" spc="-4" dirty="0">
                <a:latin typeface="DejaVu Sans Mono"/>
                <a:cs typeface="DejaVu Sans Mono"/>
              </a:rPr>
              <a:t> </a:t>
            </a:r>
            <a:r>
              <a:rPr spc="-4" dirty="0">
                <a:latin typeface="DejaVu Sans Mono"/>
                <a:cs typeface="DejaVu Sans Mono"/>
              </a:rPr>
              <a:t>void</a:t>
            </a:r>
            <a:r>
              <a:rPr lang="en-US" spc="-4" dirty="0">
                <a:latin typeface="DejaVu Sans Mono"/>
                <a:cs typeface="DejaVu Sans Mono"/>
              </a:rPr>
              <a:t> </a:t>
            </a:r>
            <a:r>
              <a:rPr spc="-4" dirty="0">
                <a:solidFill>
                  <a:srgbClr val="1B8E1D"/>
                </a:solidFill>
                <a:latin typeface="DejaVu Sans Mono"/>
                <a:cs typeface="DejaVu Sans Mono"/>
              </a:rPr>
              <a:t>relax</a:t>
            </a:r>
            <a:r>
              <a:rPr spc="-4" dirty="0">
                <a:latin typeface="DejaVu Sans Mono"/>
                <a:cs typeface="DejaVu Sans Mono"/>
              </a:rPr>
              <a:t>(</a:t>
            </a:r>
            <a:r>
              <a:rPr spc="-4" dirty="0" err="1">
                <a:latin typeface="DejaVu Sans Mono"/>
                <a:cs typeface="DejaVu Sans Mono"/>
              </a:rPr>
              <a:t>DirectedEdge</a:t>
            </a:r>
            <a:r>
              <a:rPr lang="en-US" spc="-4" dirty="0">
                <a:latin typeface="DejaVu Sans Mono"/>
                <a:cs typeface="DejaVu Sans Mono"/>
              </a:rPr>
              <a:t> </a:t>
            </a:r>
            <a:r>
              <a:rPr spc="-4" dirty="0">
                <a:latin typeface="DejaVu Sans Mono"/>
                <a:cs typeface="DejaVu Sans Mono"/>
              </a:rPr>
              <a:t>e)</a:t>
            </a:r>
            <a:endParaRPr dirty="0">
              <a:latin typeface="DejaVu Sans Mono"/>
              <a:cs typeface="DejaVu Sans Mono"/>
            </a:endParaRPr>
          </a:p>
          <a:p>
            <a:pPr marL="244665">
              <a:spcBef>
                <a:spcPts val="169"/>
              </a:spcBef>
            </a:pPr>
            <a:r>
              <a:rPr spc="-4" dirty="0">
                <a:latin typeface="DejaVu Sans Mono"/>
                <a:cs typeface="DejaVu Sans Mono"/>
              </a:rPr>
              <a:t>{</a:t>
            </a:r>
            <a:endParaRPr dirty="0">
              <a:latin typeface="DejaVu Sans Mono"/>
              <a:cs typeface="DejaVu Sans Mono"/>
            </a:endParaRPr>
          </a:p>
          <a:p>
            <a:pPr marL="534869">
              <a:spcBef>
                <a:spcPts val="239"/>
              </a:spcBef>
              <a:tabLst>
                <a:tab pos="921957" algn="l"/>
                <a:tab pos="1115278" algn="l"/>
                <a:tab pos="1308599" algn="l"/>
                <a:tab pos="2276543" algn="l"/>
                <a:tab pos="2469864" algn="l"/>
                <a:tab pos="2663631" algn="l"/>
              </a:tabLst>
            </a:pPr>
            <a:r>
              <a:rPr lang="en-GB" spc="-4" dirty="0">
                <a:latin typeface="DejaVu Sans Mono"/>
                <a:cs typeface="DejaVu Sans Mono"/>
              </a:rPr>
              <a:t>I</a:t>
            </a:r>
            <a:r>
              <a:rPr spc="-4" dirty="0" err="1">
                <a:latin typeface="DejaVu Sans Mono"/>
                <a:cs typeface="DejaVu Sans Mono"/>
              </a:rPr>
              <a:t>nt</a:t>
            </a:r>
            <a:r>
              <a:rPr lang="en-GB" spc="-4" dirty="0">
                <a:latin typeface="DejaVu Sans Mono"/>
                <a:cs typeface="DejaVu Sans Mono"/>
              </a:rPr>
              <a:t> u </a:t>
            </a:r>
            <a:r>
              <a:rPr spc="-4" dirty="0">
                <a:latin typeface="DejaVu Sans Mono"/>
                <a:cs typeface="DejaVu Sans Mono"/>
              </a:rPr>
              <a:t>=	</a:t>
            </a:r>
            <a:r>
              <a:rPr spc="-4" dirty="0" err="1">
                <a:latin typeface="DejaVu Sans Mono"/>
                <a:cs typeface="DejaVu Sans Mono"/>
              </a:rPr>
              <a:t>e.from</a:t>
            </a:r>
            <a:r>
              <a:rPr spc="-4" dirty="0">
                <a:latin typeface="DejaVu Sans Mono"/>
                <a:cs typeface="DejaVu Sans Mono"/>
              </a:rPr>
              <a:t>(),</a:t>
            </a:r>
            <a:r>
              <a:rPr lang="en-US" spc="-4" dirty="0">
                <a:latin typeface="DejaVu Sans Mono"/>
                <a:cs typeface="DejaVu Sans Mono"/>
              </a:rPr>
              <a:t> </a:t>
            </a:r>
            <a:r>
              <a:rPr lang="en-GB" spc="-4" dirty="0">
                <a:latin typeface="DejaVu Sans Mono"/>
                <a:cs typeface="DejaVu Sans Mono"/>
              </a:rPr>
              <a:t>v </a:t>
            </a:r>
            <a:r>
              <a:rPr spc="-4" dirty="0">
                <a:latin typeface="DejaVu Sans Mono"/>
                <a:cs typeface="DejaVu Sans Mono"/>
              </a:rPr>
              <a:t>=</a:t>
            </a:r>
            <a:r>
              <a:rPr lang="en-GB" spc="-4" dirty="0">
                <a:latin typeface="DejaVu Sans Mono"/>
                <a:cs typeface="DejaVu Sans Mono"/>
              </a:rPr>
              <a:t> </a:t>
            </a:r>
            <a:r>
              <a:rPr spc="-4" dirty="0">
                <a:latin typeface="DejaVu Sans Mono"/>
                <a:cs typeface="DejaVu Sans Mono"/>
              </a:rPr>
              <a:t>e.to();</a:t>
            </a:r>
            <a:endParaRPr dirty="0">
              <a:latin typeface="DejaVu Sans Mono"/>
              <a:cs typeface="DejaVu Sans Mono"/>
            </a:endParaRPr>
          </a:p>
          <a:p>
            <a:pPr marL="534869">
              <a:spcBef>
                <a:spcPts val="239"/>
              </a:spcBef>
              <a:tabLst>
                <a:tab pos="825074" algn="l"/>
                <a:tab pos="1889455" algn="l"/>
                <a:tab pos="2082776" algn="l"/>
                <a:tab pos="3050273" algn="l"/>
                <a:tab pos="3244040" algn="l"/>
              </a:tabLst>
            </a:pPr>
            <a:r>
              <a:rPr spc="-4" dirty="0">
                <a:latin typeface="DejaVu Sans Mono"/>
                <a:cs typeface="DejaVu Sans Mono"/>
              </a:rPr>
              <a:t>if	(</a:t>
            </a:r>
            <a:r>
              <a:rPr lang="en-GB" spc="-4" dirty="0">
                <a:latin typeface="DejaVu Sans Mono"/>
                <a:cs typeface="DejaVu Sans Mono"/>
              </a:rPr>
              <a:t>SD</a:t>
            </a:r>
            <a:r>
              <a:rPr spc="-4" dirty="0">
                <a:latin typeface="DejaVu Sans Mono"/>
                <a:cs typeface="DejaVu Sans Mono"/>
              </a:rPr>
              <a:t>[</a:t>
            </a:r>
            <a:r>
              <a:rPr lang="en-GB" spc="-4" dirty="0">
                <a:latin typeface="DejaVu Sans Mono"/>
                <a:cs typeface="DejaVu Sans Mono"/>
              </a:rPr>
              <a:t>v</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&gt;</a:t>
            </a:r>
            <a:r>
              <a:rPr lang="en-GB" spc="-4" dirty="0">
                <a:latin typeface="DejaVu Sans Mono"/>
                <a:cs typeface="DejaVu Sans Mono"/>
              </a:rPr>
              <a:t> SD</a:t>
            </a:r>
            <a:r>
              <a:rPr spc="-4" dirty="0">
                <a:latin typeface="DejaVu Sans Mono"/>
                <a:cs typeface="DejaVu Sans Mono"/>
              </a:rPr>
              <a:t>[</a:t>
            </a:r>
            <a:r>
              <a:rPr lang="en-GB" spc="-4" dirty="0">
                <a:latin typeface="DejaVu Sans Mono"/>
                <a:cs typeface="DejaVu Sans Mono"/>
              </a:rPr>
              <a:t>u</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US" spc="-4" dirty="0">
                <a:latin typeface="DejaVu Sans Mono"/>
                <a:cs typeface="DejaVu Sans Mono"/>
              </a:rPr>
              <a:t> w(</a:t>
            </a:r>
            <a:r>
              <a:rPr lang="en-US" spc="-4" dirty="0" err="1">
                <a:latin typeface="DejaVu Sans Mono"/>
                <a:cs typeface="DejaVu Sans Mono"/>
              </a:rPr>
              <a:t>u,v</a:t>
            </a:r>
            <a:r>
              <a:rPr lang="en-US" spc="-4" dirty="0">
                <a:latin typeface="DejaVu Sans Mono"/>
                <a:cs typeface="DejaVu Sans Mono"/>
              </a:rPr>
              <a:t>)</a:t>
            </a:r>
            <a:r>
              <a:rPr spc="-4" dirty="0">
                <a:latin typeface="DejaVu Sans Mono"/>
                <a:cs typeface="DejaVu Sans Mono"/>
              </a:rPr>
              <a:t>)</a:t>
            </a:r>
            <a:endParaRPr dirty="0">
              <a:latin typeface="DejaVu Sans Mono"/>
              <a:cs typeface="DejaVu Sans Mono"/>
            </a:endParaRPr>
          </a:p>
          <a:p>
            <a:pPr marL="534869">
              <a:spcBef>
                <a:spcPts val="239"/>
              </a:spcBef>
            </a:pPr>
            <a:r>
              <a:rPr spc="-4" dirty="0">
                <a:latin typeface="DejaVu Sans Mono"/>
                <a:cs typeface="DejaVu Sans Mono"/>
              </a:rPr>
              <a:t>{</a:t>
            </a:r>
            <a:endParaRPr dirty="0">
              <a:latin typeface="DejaVu Sans Mono"/>
              <a:cs typeface="DejaVu Sans Mono"/>
            </a:endParaRPr>
          </a:p>
          <a:p>
            <a:pPr marL="921957" marR="337977">
              <a:lnSpc>
                <a:spcPct val="111100"/>
              </a:lnSpc>
              <a:spcBef>
                <a:spcPts val="70"/>
              </a:spcBef>
              <a:tabLst>
                <a:tab pos="1889455" algn="l"/>
                <a:tab pos="2082776" algn="l"/>
                <a:tab pos="3050273" algn="l"/>
                <a:tab pos="3244040" algn="l"/>
              </a:tabLst>
            </a:pPr>
            <a:r>
              <a:rPr lang="en-GB" spc="-4" dirty="0">
                <a:latin typeface="DejaVu Sans Mono"/>
                <a:cs typeface="DejaVu Sans Mono"/>
              </a:rPr>
              <a:t>SD</a:t>
            </a:r>
            <a:r>
              <a:rPr spc="-4" dirty="0">
                <a:latin typeface="DejaVu Sans Mono"/>
                <a:cs typeface="DejaVu Sans Mono"/>
              </a:rPr>
              <a:t>[</a:t>
            </a:r>
            <a:r>
              <a:rPr lang="en-GB" spc="-4" dirty="0">
                <a:latin typeface="DejaVu Sans Mono"/>
                <a:cs typeface="DejaVu Sans Mono"/>
              </a:rPr>
              <a:t>v</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GB" spc="-4" dirty="0">
                <a:latin typeface="DejaVu Sans Mono"/>
                <a:cs typeface="DejaVu Sans Mono"/>
              </a:rPr>
              <a:t> SD</a:t>
            </a:r>
            <a:r>
              <a:rPr spc="-4" dirty="0">
                <a:latin typeface="DejaVu Sans Mono"/>
                <a:cs typeface="DejaVu Sans Mono"/>
              </a:rPr>
              <a:t>[</a:t>
            </a:r>
            <a:r>
              <a:rPr lang="en-GB" spc="-4" dirty="0">
                <a:latin typeface="DejaVu Sans Mono"/>
                <a:cs typeface="DejaVu Sans Mono"/>
              </a:rPr>
              <a:t>u</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US" spc="-4" dirty="0">
                <a:latin typeface="DejaVu Sans Mono"/>
                <a:cs typeface="DejaVu Sans Mono"/>
              </a:rPr>
              <a:t> w(</a:t>
            </a:r>
            <a:r>
              <a:rPr lang="en-US" spc="-4" dirty="0" err="1">
                <a:latin typeface="DejaVu Sans Mono"/>
                <a:cs typeface="DejaVu Sans Mono"/>
              </a:rPr>
              <a:t>u,v</a:t>
            </a:r>
            <a:r>
              <a:rPr lang="en-US" spc="-4" dirty="0">
                <a:latin typeface="DejaVu Sans Mono"/>
                <a:cs typeface="DejaVu Sans Mono"/>
              </a:rPr>
              <a:t>)</a:t>
            </a:r>
            <a:r>
              <a:rPr spc="-4" dirty="0">
                <a:latin typeface="DejaVu Sans Mono"/>
                <a:cs typeface="DejaVu Sans Mono"/>
              </a:rPr>
              <a:t>;  </a:t>
            </a:r>
            <a:endParaRPr lang="en-US" spc="-4" dirty="0">
              <a:latin typeface="DejaVu Sans Mono"/>
              <a:cs typeface="DejaVu Sans Mono"/>
            </a:endParaRPr>
          </a:p>
          <a:p>
            <a:pPr marL="921957" marR="337977">
              <a:lnSpc>
                <a:spcPct val="111100"/>
              </a:lnSpc>
              <a:spcBef>
                <a:spcPts val="70"/>
              </a:spcBef>
              <a:tabLst>
                <a:tab pos="1889455" algn="l"/>
                <a:tab pos="2082776" algn="l"/>
                <a:tab pos="3050273" algn="l"/>
                <a:tab pos="3244040" algn="l"/>
              </a:tabLst>
            </a:pPr>
            <a:r>
              <a:rPr lang="en-GB" spc="-4" dirty="0">
                <a:latin typeface="DejaVu Sans Mono"/>
                <a:cs typeface="DejaVu Sans Mono"/>
              </a:rPr>
              <a:t>PN</a:t>
            </a:r>
            <a:r>
              <a:rPr spc="-4" dirty="0">
                <a:latin typeface="DejaVu Sans Mono"/>
                <a:cs typeface="DejaVu Sans Mono"/>
              </a:rPr>
              <a:t>[</a:t>
            </a:r>
            <a:r>
              <a:rPr lang="en-GB" spc="-4" dirty="0">
                <a:latin typeface="DejaVu Sans Mono"/>
                <a:cs typeface="DejaVu Sans Mono"/>
              </a:rPr>
              <a:t>v</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US" spc="-4" dirty="0">
                <a:latin typeface="DejaVu Sans Mono"/>
                <a:cs typeface="DejaVu Sans Mono"/>
              </a:rPr>
              <a:t> </a:t>
            </a:r>
            <a:r>
              <a:rPr lang="en-GB" spc="-4" dirty="0">
                <a:latin typeface="DejaVu Sans Mono"/>
                <a:cs typeface="DejaVu Sans Mono"/>
              </a:rPr>
              <a:t>u</a:t>
            </a:r>
            <a:r>
              <a:rPr spc="-4" dirty="0">
                <a:latin typeface="DejaVu Sans Mono"/>
                <a:cs typeface="DejaVu Sans Mono"/>
              </a:rPr>
              <a:t>;</a:t>
            </a:r>
            <a:endParaRPr dirty="0">
              <a:latin typeface="DejaVu Sans Mono"/>
              <a:cs typeface="DejaVu Sans Mono"/>
            </a:endParaRPr>
          </a:p>
          <a:p>
            <a:pPr marL="534869">
              <a:spcBef>
                <a:spcPts val="239"/>
              </a:spcBef>
            </a:pPr>
            <a:r>
              <a:rPr spc="-4" dirty="0">
                <a:latin typeface="DejaVu Sans Mono"/>
                <a:cs typeface="DejaVu Sans Mono"/>
              </a:rPr>
              <a:t>}</a:t>
            </a:r>
            <a:endParaRPr dirty="0">
              <a:latin typeface="DejaVu Sans Mono"/>
              <a:cs typeface="DejaVu Sans Mono"/>
            </a:endParaRPr>
          </a:p>
          <a:p>
            <a:pPr marL="244665">
              <a:spcBef>
                <a:spcPts val="239"/>
              </a:spcBef>
            </a:pPr>
            <a:r>
              <a:rPr spc="-4" dirty="0">
                <a:latin typeface="DejaVu Sans Mono"/>
                <a:cs typeface="DejaVu Sans Mono"/>
              </a:rPr>
              <a:t>}</a:t>
            </a:r>
            <a:endParaRPr dirty="0">
              <a:latin typeface="DejaVu Sans Mono"/>
              <a:cs typeface="DejaVu Sans Mono"/>
            </a:endParaRPr>
          </a:p>
        </p:txBody>
      </p:sp>
      <p:sp>
        <p:nvSpPr>
          <p:cNvPr id="69" name="Rectangle 68">
            <a:extLst>
              <a:ext uri="{FF2B5EF4-FFF2-40B4-BE49-F238E27FC236}">
                <a16:creationId xmlns:a16="http://schemas.microsoft.com/office/drawing/2014/main" id="{168F06DF-2F02-A543-AEE0-ACCBC11AC36D}"/>
              </a:ext>
            </a:extLst>
          </p:cNvPr>
          <p:cNvSpPr/>
          <p:nvPr/>
        </p:nvSpPr>
        <p:spPr>
          <a:xfrm>
            <a:off x="5282152" y="5382012"/>
            <a:ext cx="1107996" cy="307777"/>
          </a:xfrm>
          <a:prstGeom prst="rect">
            <a:avLst/>
          </a:prstGeom>
        </p:spPr>
        <p:txBody>
          <a:bodyPr wrap="none">
            <a:spAutoFit/>
          </a:bodyPr>
          <a:lstStyle/>
          <a:p>
            <a:r>
              <a:rPr lang="en-US" spc="-158" dirty="0">
                <a:latin typeface="Arial" panose="020B0604020202020204" pitchFamily="34" charset="0"/>
                <a:cs typeface="Arial" panose="020B0604020202020204" pitchFamily="34" charset="0"/>
              </a:rPr>
              <a:t> </a:t>
            </a:r>
            <a:r>
              <a:rPr lang="en-US" spc="60" dirty="0">
                <a:latin typeface="Arial" panose="020B0604020202020204" pitchFamily="34" charset="0"/>
                <a:cs typeface="Arial" panose="020B0604020202020204" pitchFamily="34" charset="0"/>
              </a:rPr>
              <a:t>7.2</a:t>
            </a:r>
            <a:r>
              <a:rPr lang="en-US" dirty="0">
                <a:latin typeface="Arial" panose="020B0604020202020204" pitchFamily="34" charset="0"/>
                <a:cs typeface="Arial" panose="020B0604020202020204" pitchFamily="34" charset="0"/>
              </a:rPr>
              <a:t>	</a:t>
            </a:r>
          </a:p>
        </p:txBody>
      </p:sp>
      <p:sp>
        <p:nvSpPr>
          <p:cNvPr id="71" name="Rectangle 70">
            <a:extLst>
              <a:ext uri="{FF2B5EF4-FFF2-40B4-BE49-F238E27FC236}">
                <a16:creationId xmlns:a16="http://schemas.microsoft.com/office/drawing/2014/main" id="{E8BB790B-FA83-4E45-BE70-AC8CCE883472}"/>
              </a:ext>
            </a:extLst>
          </p:cNvPr>
          <p:cNvSpPr/>
          <p:nvPr/>
        </p:nvSpPr>
        <p:spPr>
          <a:xfrm>
            <a:off x="4697552" y="3298108"/>
            <a:ext cx="904415" cy="338554"/>
          </a:xfrm>
          <a:prstGeom prst="rect">
            <a:avLst/>
          </a:prstGeom>
        </p:spPr>
        <p:txBody>
          <a:bodyPr wrap="none">
            <a:spAutoFit/>
          </a:bodyPr>
          <a:lstStyle/>
          <a:p>
            <a:r>
              <a:rPr lang="en-US" sz="1600" dirty="0">
                <a:solidFill>
                  <a:srgbClr val="1B8E1D"/>
                </a:solidFill>
                <a:latin typeface="Times New Roman" panose="02020603050405020304" pitchFamily="18" charset="0"/>
                <a:cs typeface="Times New Roman" panose="02020603050405020304" pitchFamily="18" charset="0"/>
              </a:rPr>
              <a:t>PN[v]=u</a:t>
            </a:r>
          </a:p>
        </p:txBody>
      </p:sp>
      <p:cxnSp>
        <p:nvCxnSpPr>
          <p:cNvPr id="74" name="Straight Connector 73">
            <a:extLst>
              <a:ext uri="{FF2B5EF4-FFF2-40B4-BE49-F238E27FC236}">
                <a16:creationId xmlns:a16="http://schemas.microsoft.com/office/drawing/2014/main" id="{3164189B-1236-1446-BFDF-0A230A255782}"/>
              </a:ext>
            </a:extLst>
          </p:cNvPr>
          <p:cNvCxnSpPr>
            <a:stCxn id="69" idx="1"/>
          </p:cNvCxnSpPr>
          <p:nvPr/>
        </p:nvCxnSpPr>
        <p:spPr>
          <a:xfrm flipV="1">
            <a:off x="5282152" y="5534668"/>
            <a:ext cx="481660" cy="1233"/>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43E0C89-BDB4-D94C-AC2C-BAD479F65F41}"/>
              </a:ext>
            </a:extLst>
          </p:cNvPr>
          <p:cNvCxnSpPr>
            <a:cxnSpLocks/>
          </p:cNvCxnSpPr>
          <p:nvPr/>
        </p:nvCxnSpPr>
        <p:spPr>
          <a:xfrm flipH="1">
            <a:off x="5569557" y="3565842"/>
            <a:ext cx="388513" cy="68997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C41E4C7B-82C1-0EA1-64A0-5FCEF240612B}"/>
              </a:ext>
            </a:extLst>
          </p:cNvPr>
          <p:cNvSpPr/>
          <p:nvPr/>
        </p:nvSpPr>
        <p:spPr>
          <a:xfrm>
            <a:off x="6222878" y="5546183"/>
            <a:ext cx="4521321" cy="830997"/>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dirty="0">
                <a:solidFill>
                  <a:schemeClr val="tx1"/>
                </a:solidFill>
                <a:latin typeface="Times New Roman" panose="02020603050405020304" pitchFamily="18" charset="0"/>
                <a:cs typeface="Times New Roman" panose="02020603050405020304" pitchFamily="18" charset="0"/>
              </a:rPr>
              <a:t>OLD PN(v)=x, SD[v] = 7.2 &gt; SD[u] + w(</a:t>
            </a:r>
            <a:r>
              <a:rPr lang="en-US" sz="1600" dirty="0" err="1">
                <a:solidFill>
                  <a:schemeClr val="tx1"/>
                </a:solidFill>
                <a:latin typeface="Times New Roman" panose="02020603050405020304" pitchFamily="18" charset="0"/>
                <a:cs typeface="Times New Roman" panose="02020603050405020304" pitchFamily="18" charset="0"/>
              </a:rPr>
              <a:t>u,v</a:t>
            </a:r>
            <a:r>
              <a:rPr lang="en-US" sz="1600" dirty="0">
                <a:solidFill>
                  <a:schemeClr val="tx1"/>
                </a:solidFill>
                <a:latin typeface="Times New Roman" panose="02020603050405020304" pitchFamily="18" charset="0"/>
                <a:cs typeface="Times New Roman" panose="02020603050405020304" pitchFamily="18" charset="0"/>
              </a:rPr>
              <a:t>) </a:t>
            </a:r>
            <a:r>
              <a:rPr lang="en-GB" sz="1600" dirty="0">
                <a:solidFill>
                  <a:schemeClr val="tx1"/>
                </a:solidFill>
                <a:latin typeface="Times New Roman" panose="02020603050405020304" pitchFamily="18" charset="0"/>
                <a:cs typeface="Times New Roman" panose="02020603050405020304" pitchFamily="18" charset="0"/>
              </a:rPr>
              <a:t>= 3.1+1.3 =</a:t>
            </a:r>
            <a:r>
              <a:rPr lang="en-US" sz="1600" dirty="0">
                <a:solidFill>
                  <a:schemeClr val="tx1"/>
                </a:solidFill>
                <a:latin typeface="Times New Roman" panose="02020603050405020304" pitchFamily="18" charset="0"/>
                <a:cs typeface="Times New Roman" panose="02020603050405020304" pitchFamily="18" charset="0"/>
              </a:rPr>
              <a:t> </a:t>
            </a:r>
            <a:r>
              <a:rPr lang="en-US" sz="1600" spc="60" dirty="0">
                <a:solidFill>
                  <a:schemeClr val="tx1"/>
                </a:solidFill>
                <a:latin typeface="Times New Roman" panose="02020603050405020304" pitchFamily="18" charset="0"/>
                <a:cs typeface="Times New Roman" panose="02020603050405020304" pitchFamily="18" charset="0"/>
              </a:rPr>
              <a:t>4.4</a:t>
            </a:r>
            <a:r>
              <a:rPr lang="en-US" sz="1600" dirty="0">
                <a:solidFill>
                  <a:schemeClr val="tx1"/>
                </a:solidFill>
                <a:latin typeface="Times New Roman" panose="02020603050405020304" pitchFamily="18" charset="0"/>
                <a:cs typeface="Times New Roman" panose="02020603050405020304" pitchFamily="18" charset="0"/>
              </a:rPr>
              <a:t> </a:t>
            </a:r>
          </a:p>
          <a:p>
            <a:r>
              <a:rPr lang="en-US" sz="1600" dirty="0">
                <a:solidFill>
                  <a:schemeClr val="tx1"/>
                </a:solidFill>
                <a:latin typeface="Times New Roman" panose="02020603050405020304" pitchFamily="18" charset="0"/>
                <a:cs typeface="Times New Roman" panose="02020603050405020304" pitchFamily="18" charset="0"/>
              </a:rPr>
              <a:t>NEW SD[v] </a:t>
            </a:r>
            <a:r>
              <a:rPr lang="en-US" sz="16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 </a:t>
            </a:r>
            <a:r>
              <a:rPr lang="en-US" sz="1600" dirty="0">
                <a:solidFill>
                  <a:schemeClr val="tx1"/>
                </a:solidFill>
                <a:latin typeface="Times New Roman" panose="02020603050405020304" pitchFamily="18" charset="0"/>
                <a:cs typeface="Times New Roman" panose="02020603050405020304" pitchFamily="18" charset="0"/>
              </a:rPr>
              <a:t>SD[u] + w(</a:t>
            </a:r>
            <a:r>
              <a:rPr lang="en-US" sz="1600" dirty="0" err="1">
                <a:solidFill>
                  <a:schemeClr val="tx1"/>
                </a:solidFill>
                <a:latin typeface="Times New Roman" panose="02020603050405020304" pitchFamily="18" charset="0"/>
                <a:cs typeface="Times New Roman" panose="02020603050405020304" pitchFamily="18" charset="0"/>
              </a:rPr>
              <a:t>u,v</a:t>
            </a:r>
            <a:r>
              <a:rPr lang="en-US" sz="1600" dirty="0">
                <a:solidFill>
                  <a:schemeClr val="tx1"/>
                </a:solidFill>
                <a:latin typeface="Times New Roman" panose="02020603050405020304" pitchFamily="18" charset="0"/>
                <a:cs typeface="Times New Roman" panose="02020603050405020304" pitchFamily="18" charset="0"/>
              </a:rPr>
              <a:t>) = 4.4, PN[v] = u</a:t>
            </a:r>
          </a:p>
        </p:txBody>
      </p:sp>
      <p:sp>
        <p:nvSpPr>
          <p:cNvPr id="3" name="object 67">
            <a:extLst>
              <a:ext uri="{FF2B5EF4-FFF2-40B4-BE49-F238E27FC236}">
                <a16:creationId xmlns:a16="http://schemas.microsoft.com/office/drawing/2014/main" id="{CD3DC351-1C16-14E0-9FDD-D0741FCDF89A}"/>
              </a:ext>
            </a:extLst>
          </p:cNvPr>
          <p:cNvSpPr txBox="1"/>
          <p:nvPr/>
        </p:nvSpPr>
        <p:spPr>
          <a:xfrm>
            <a:off x="4104257" y="5780920"/>
            <a:ext cx="388513" cy="224461"/>
          </a:xfrm>
          <a:prstGeom prst="rect">
            <a:avLst/>
          </a:prstGeom>
        </p:spPr>
        <p:txBody>
          <a:bodyPr vert="horz" wrap="square" lIns="0" tIns="8930" rIns="0" bIns="0" rtlCol="0">
            <a:spAutoFit/>
          </a:bodyPr>
          <a:lstStyle/>
          <a:p>
            <a:pPr marL="8929">
              <a:spcBef>
                <a:spcPts val="70"/>
              </a:spcBef>
              <a:tabLst>
                <a:tab pos="313421" algn="l"/>
                <a:tab pos="729976" algn="l"/>
              </a:tabLst>
            </a:pPr>
            <a:r>
              <a:rPr lang="en-GB" spc="91" dirty="0">
                <a:latin typeface="Trebuchet MS"/>
                <a:cs typeface="Trebuchet MS"/>
              </a:rPr>
              <a:t>x</a:t>
            </a:r>
            <a:endParaRPr dirty="0">
              <a:latin typeface="Trebuchet MS"/>
              <a:cs typeface="Trebuchet MS"/>
            </a:endParaRPr>
          </a:p>
        </p:txBody>
      </p:sp>
      <p:sp>
        <p:nvSpPr>
          <p:cNvPr id="67" name="object 13">
            <a:extLst>
              <a:ext uri="{FF2B5EF4-FFF2-40B4-BE49-F238E27FC236}">
                <a16:creationId xmlns:a16="http://schemas.microsoft.com/office/drawing/2014/main" id="{F0F9A07F-EC9B-852C-37B8-87BF47DB92BA}"/>
              </a:ext>
            </a:extLst>
          </p:cNvPr>
          <p:cNvSpPr/>
          <p:nvPr/>
        </p:nvSpPr>
        <p:spPr>
          <a:xfrm flipV="1">
            <a:off x="3416644" y="3804873"/>
            <a:ext cx="243098" cy="309805"/>
          </a:xfrm>
          <a:custGeom>
            <a:avLst/>
            <a:gdLst/>
            <a:ahLst/>
            <a:cxnLst/>
            <a:rect l="l" t="t" r="r" b="b"/>
            <a:pathLst>
              <a:path w="370204" h="640715">
                <a:moveTo>
                  <a:pt x="370052" y="0"/>
                </a:moveTo>
                <a:lnTo>
                  <a:pt x="363689" y="10998"/>
                </a:lnTo>
                <a:lnTo>
                  <a:pt x="0" y="640435"/>
                </a:lnTo>
              </a:path>
            </a:pathLst>
          </a:custGeom>
          <a:ln w="25400">
            <a:solidFill>
              <a:srgbClr val="8D3124"/>
            </a:solidFill>
            <a:headEnd type="arrow" w="med" len="med"/>
            <a:tailEnd type="none" w="med" len="med"/>
          </a:ln>
        </p:spPr>
        <p:txBody>
          <a:bodyPr wrap="square" lIns="0" tIns="0" rIns="0" bIns="0" rtlCol="0"/>
          <a:lstStyle/>
          <a:p>
            <a:endParaRPr>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9517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78309-8101-AA43-BE2B-1A811F53F423}"/>
              </a:ext>
            </a:extLst>
          </p:cNvPr>
          <p:cNvSpPr>
            <a:spLocks noGrp="1"/>
          </p:cNvSpPr>
          <p:nvPr>
            <p:ph type="title"/>
          </p:nvPr>
        </p:nvSpPr>
        <p:spPr>
          <a:xfrm>
            <a:off x="654627" y="134402"/>
            <a:ext cx="11035146" cy="1143000"/>
          </a:xfrm>
        </p:spPr>
        <p:txBody>
          <a:bodyPr/>
          <a:lstStyle/>
          <a:p>
            <a:r>
              <a:rPr lang="en-US" dirty="0"/>
              <a:t>Generic Shortest-paths Algorithm</a:t>
            </a:r>
          </a:p>
        </p:txBody>
      </p:sp>
      <p:sp>
        <p:nvSpPr>
          <p:cNvPr id="5" name="object 8">
            <a:extLst>
              <a:ext uri="{FF2B5EF4-FFF2-40B4-BE49-F238E27FC236}">
                <a16:creationId xmlns:a16="http://schemas.microsoft.com/office/drawing/2014/main" id="{88D378DB-8D58-754B-9634-9969489D7DC9}"/>
              </a:ext>
            </a:extLst>
          </p:cNvPr>
          <p:cNvSpPr/>
          <p:nvPr/>
        </p:nvSpPr>
        <p:spPr>
          <a:xfrm>
            <a:off x="4114549" y="1216617"/>
            <a:ext cx="4530055" cy="2095252"/>
          </a:xfrm>
          <a:custGeom>
            <a:avLst/>
            <a:gdLst/>
            <a:ahLst/>
            <a:cxnLst/>
            <a:rect l="l" t="t" r="r" b="b"/>
            <a:pathLst>
              <a:path w="9398000" h="3060700">
                <a:moveTo>
                  <a:pt x="0" y="0"/>
                </a:moveTo>
                <a:lnTo>
                  <a:pt x="9398000" y="0"/>
                </a:lnTo>
                <a:lnTo>
                  <a:pt x="9398000" y="3060700"/>
                </a:lnTo>
                <a:lnTo>
                  <a:pt x="0" y="3060700"/>
                </a:lnTo>
                <a:lnTo>
                  <a:pt x="0" y="0"/>
                </a:lnTo>
                <a:close/>
              </a:path>
            </a:pathLst>
          </a:custGeom>
          <a:solidFill>
            <a:schemeClr val="bg1">
              <a:lumMod val="95000"/>
            </a:schemeClr>
          </a:solidFill>
          <a:ln>
            <a:solidFill>
              <a:schemeClr val="bg1">
                <a:lumMod val="95000"/>
              </a:schemeClr>
            </a:solidFill>
          </a:ln>
        </p:spPr>
        <p:txBody>
          <a:bodyPr wrap="square" lIns="0" tIns="0" rIns="0" bIns="0" rtlCol="0"/>
          <a:lstStyle/>
          <a:p>
            <a:endParaRPr sz="1266"/>
          </a:p>
        </p:txBody>
      </p:sp>
      <p:sp>
        <p:nvSpPr>
          <p:cNvPr id="6" name="object 9">
            <a:extLst>
              <a:ext uri="{FF2B5EF4-FFF2-40B4-BE49-F238E27FC236}">
                <a16:creationId xmlns:a16="http://schemas.microsoft.com/office/drawing/2014/main" id="{899A97CD-9D0C-2644-AAE6-1478C0CC16FB}"/>
              </a:ext>
            </a:extLst>
          </p:cNvPr>
          <p:cNvSpPr txBox="1"/>
          <p:nvPr/>
        </p:nvSpPr>
        <p:spPr>
          <a:xfrm>
            <a:off x="4483844" y="1242459"/>
            <a:ext cx="4013003" cy="1935186"/>
          </a:xfrm>
          <a:prstGeom prst="rect">
            <a:avLst/>
          </a:prstGeom>
        </p:spPr>
        <p:txBody>
          <a:bodyPr vert="horz" wrap="square" lIns="0" tIns="8930" rIns="0" bIns="0" rtlCol="0">
            <a:spAutoFit/>
          </a:bodyPr>
          <a:lstStyle/>
          <a:p>
            <a:pPr>
              <a:spcBef>
                <a:spcPts val="300"/>
              </a:spcBef>
              <a:spcAft>
                <a:spcPts val="300"/>
              </a:spcAft>
            </a:pPr>
            <a:r>
              <a:rPr sz="1600" dirty="0">
                <a:solidFill>
                  <a:srgbClr val="8D3124"/>
                </a:solidFill>
                <a:latin typeface="Times New Roman" panose="02020603050405020304" pitchFamily="18" charset="0"/>
                <a:cs typeface="Times New Roman" panose="02020603050405020304" pitchFamily="18" charset="0"/>
              </a:rPr>
              <a:t>Generic algorithm (to compute SPT from</a:t>
            </a:r>
            <a:r>
              <a:rPr lang="en-US" sz="1600" dirty="0">
                <a:solidFill>
                  <a:srgbClr val="8D3124"/>
                </a:solidFill>
                <a:latin typeface="Times New Roman" panose="02020603050405020304" pitchFamily="18" charset="0"/>
                <a:cs typeface="Times New Roman" panose="02020603050405020304" pitchFamily="18" charset="0"/>
              </a:rPr>
              <a:t> </a:t>
            </a:r>
            <a:r>
              <a:rPr sz="1600" dirty="0">
                <a:solidFill>
                  <a:srgbClr val="8D3124"/>
                </a:solidFill>
                <a:latin typeface="Times New Roman" panose="02020603050405020304" pitchFamily="18" charset="0"/>
                <a:cs typeface="Times New Roman" panose="02020603050405020304" pitchFamily="18" charset="0"/>
              </a:rPr>
              <a:t>s)</a:t>
            </a:r>
            <a:endParaRPr lang="en-US" sz="1600" dirty="0">
              <a:solidFill>
                <a:srgbClr val="8D3124"/>
              </a:solidFill>
              <a:latin typeface="Times New Roman" panose="02020603050405020304" pitchFamily="18" charset="0"/>
              <a:cs typeface="Times New Roman" panose="02020603050405020304" pitchFamily="18" charset="0"/>
            </a:endParaRPr>
          </a:p>
          <a:p>
            <a:pPr>
              <a:spcBef>
                <a:spcPts val="800"/>
              </a:spcBef>
              <a:spcAft>
                <a:spcPts val="300"/>
              </a:spcAft>
            </a:pPr>
            <a:r>
              <a:rPr lang="en-US" sz="1600" dirty="0">
                <a:latin typeface="Times New Roman" panose="02020603050405020304" pitchFamily="18" charset="0"/>
                <a:cs typeface="Times New Roman" panose="02020603050405020304" pitchFamily="18" charset="0"/>
              </a:rPr>
              <a:t>For each node v: SD[v] = ∞. </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For each node v: PN[v] = null. </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SD[s] = 0. </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Repeat until done:</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	- Relax any edge. </a:t>
            </a:r>
          </a:p>
        </p:txBody>
      </p:sp>
      <p:sp>
        <p:nvSpPr>
          <p:cNvPr id="9" name="Rectangle 8">
            <a:extLst>
              <a:ext uri="{FF2B5EF4-FFF2-40B4-BE49-F238E27FC236}">
                <a16:creationId xmlns:a16="http://schemas.microsoft.com/office/drawing/2014/main" id="{6AF3A6F5-2BDD-3541-9E12-2A0C6C1CDCE6}"/>
              </a:ext>
            </a:extLst>
          </p:cNvPr>
          <p:cNvSpPr/>
          <p:nvPr/>
        </p:nvSpPr>
        <p:spPr>
          <a:xfrm>
            <a:off x="1217068" y="3348315"/>
            <a:ext cx="9933710" cy="3375283"/>
          </a:xfrm>
          <a:prstGeom prst="rect">
            <a:avLst/>
          </a:prstGeom>
        </p:spPr>
        <p:txBody>
          <a:bodyPr wrap="square">
            <a:spAutoFit/>
          </a:bodyPr>
          <a:lstStyle/>
          <a:p>
            <a:pPr>
              <a:spcBef>
                <a:spcPts val="400"/>
              </a:spcBef>
              <a:spcAft>
                <a:spcPts val="400"/>
              </a:spcAft>
            </a:pPr>
            <a:r>
              <a:rPr lang="en-US" sz="1600" dirty="0">
                <a:solidFill>
                  <a:schemeClr val="accent1"/>
                </a:solidFill>
                <a:latin typeface="Arial" panose="020B0604020202020204" pitchFamily="34" charset="0"/>
                <a:cs typeface="Arial" panose="020B0604020202020204" pitchFamily="34" charset="0"/>
              </a:rPr>
              <a:t>Proposition</a:t>
            </a:r>
            <a:r>
              <a:rPr lang="en-US" sz="1600" dirty="0">
                <a:latin typeface="Arial" panose="020B0604020202020204" pitchFamily="34" charset="0"/>
                <a:cs typeface="Arial" panose="020B0604020202020204" pitchFamily="34" charset="0"/>
              </a:rPr>
              <a:t>. Generic algorithm computes SPT (if it exists) from s. </a:t>
            </a:r>
          </a:p>
          <a:p>
            <a:pPr>
              <a:spcBef>
                <a:spcPts val="400"/>
              </a:spcBef>
              <a:spcAft>
                <a:spcPts val="400"/>
              </a:spcAft>
            </a:pPr>
            <a:r>
              <a:rPr lang="en-US" sz="1600" dirty="0">
                <a:solidFill>
                  <a:schemeClr val="accent1"/>
                </a:solidFill>
                <a:latin typeface="Arial" panose="020B0604020202020204" pitchFamily="34" charset="0"/>
                <a:cs typeface="Arial" panose="020B0604020202020204" pitchFamily="34" charset="0"/>
              </a:rPr>
              <a:t>Proof. </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Throughout algorithm, SD[v] is the length of a simple path from s to v (and PN[v] is its previous node on the path). </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Each successful relaxation decreases SD[v] for some v. </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The entry SD[v] can decrease at most a finite number of times.</a:t>
            </a:r>
          </a:p>
          <a:p>
            <a:pPr>
              <a:spcBef>
                <a:spcPts val="400"/>
              </a:spcBef>
              <a:spcAft>
                <a:spcPts val="400"/>
              </a:spcAft>
            </a:pPr>
            <a:r>
              <a:rPr lang="en-US" sz="1600" dirty="0">
                <a:solidFill>
                  <a:srgbClr val="1B8E1D"/>
                </a:solidFill>
                <a:latin typeface="Arial" panose="020B0604020202020204" pitchFamily="34" charset="0"/>
                <a:cs typeface="Arial" panose="020B0604020202020204" pitchFamily="34" charset="0"/>
              </a:rPr>
              <a:t>Efficient implementations. </a:t>
            </a:r>
            <a:r>
              <a:rPr lang="en-US" sz="1600" dirty="0"/>
              <a:t>How to choose which edge to relax?</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Ex 1. Dijkstra’s algorithm. (</a:t>
            </a:r>
            <a:r>
              <a:rPr lang="en-US" sz="1600" dirty="0">
                <a:solidFill>
                  <a:srgbClr val="C00000"/>
                </a:solidFill>
                <a:latin typeface="Arial" panose="020B0604020202020204" pitchFamily="34" charset="0"/>
                <a:cs typeface="Arial" panose="020B0604020202020204" pitchFamily="34" charset="0"/>
              </a:rPr>
              <a:t>no negative weights</a:t>
            </a:r>
            <a:r>
              <a:rPr lang="en-US" sz="1600" dirty="0">
                <a:latin typeface="Arial" panose="020B0604020202020204" pitchFamily="34" charset="0"/>
                <a:cs typeface="Arial" panose="020B0604020202020204" pitchFamily="34" charset="0"/>
              </a:rPr>
              <a:t>)</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Ex 2. Topological sort. (</a:t>
            </a:r>
            <a:r>
              <a:rPr lang="en-US" sz="1600" dirty="0">
                <a:solidFill>
                  <a:srgbClr val="C00000"/>
                </a:solidFill>
                <a:latin typeface="Arial" panose="020B0604020202020204" pitchFamily="34" charset="0"/>
                <a:cs typeface="Arial" panose="020B0604020202020204" pitchFamily="34" charset="0"/>
              </a:rPr>
              <a:t>DAG with no directed cycles</a:t>
            </a:r>
            <a:r>
              <a:rPr lang="en-US" sz="1600" dirty="0">
                <a:latin typeface="Arial" panose="020B0604020202020204" pitchFamily="34" charset="0"/>
                <a:cs typeface="Arial" panose="020B0604020202020204" pitchFamily="34" charset="0"/>
              </a:rPr>
              <a:t>)</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Ex 3. Bellman–Ford algorithm. (</a:t>
            </a:r>
            <a:r>
              <a:rPr lang="en-US" sz="1600" dirty="0">
                <a:solidFill>
                  <a:srgbClr val="C00000"/>
                </a:solidFill>
                <a:latin typeface="Arial" panose="020B0604020202020204" pitchFamily="34" charset="0"/>
                <a:cs typeface="Arial" panose="020B0604020202020204" pitchFamily="34" charset="0"/>
              </a:rPr>
              <a:t>negative weights, can detect negative cycles</a:t>
            </a:r>
            <a:r>
              <a:rPr lang="en-US" sz="1600" dirty="0">
                <a:latin typeface="Arial" panose="020B0604020202020204" pitchFamily="34" charset="0"/>
                <a:cs typeface="Arial" panose="020B0604020202020204" pitchFamily="34" charset="0"/>
              </a:rPr>
              <a:t>) </a:t>
            </a:r>
          </a:p>
        </p:txBody>
      </p:sp>
      <p:cxnSp>
        <p:nvCxnSpPr>
          <p:cNvPr id="10" name="Straight Connector 9">
            <a:extLst>
              <a:ext uri="{FF2B5EF4-FFF2-40B4-BE49-F238E27FC236}">
                <a16:creationId xmlns:a16="http://schemas.microsoft.com/office/drawing/2014/main" id="{125C1346-3A42-474B-BD38-93D1E7FCFDF5}"/>
              </a:ext>
            </a:extLst>
          </p:cNvPr>
          <p:cNvCxnSpPr>
            <a:cxnSpLocks/>
          </p:cNvCxnSpPr>
          <p:nvPr/>
        </p:nvCxnSpPr>
        <p:spPr>
          <a:xfrm>
            <a:off x="4197569" y="1571062"/>
            <a:ext cx="4346366" cy="0"/>
          </a:xfrm>
          <a:prstGeom prst="line">
            <a:avLst/>
          </a:prstGeom>
          <a:ln w="12700">
            <a:solidFill>
              <a:schemeClr val="tx1"/>
            </a:solidFill>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BB3DAA9C-CF0B-7147-9516-FA43152E2EFF}"/>
              </a:ext>
            </a:extLst>
          </p:cNvPr>
          <p:cNvCxnSpPr>
            <a:cxnSpLocks/>
          </p:cNvCxnSpPr>
          <p:nvPr/>
        </p:nvCxnSpPr>
        <p:spPr>
          <a:xfrm>
            <a:off x="4197569" y="3231383"/>
            <a:ext cx="4346366" cy="0"/>
          </a:xfrm>
          <a:prstGeom prst="line">
            <a:avLst/>
          </a:prstGeom>
          <a:ln w="12700">
            <a:solidFill>
              <a:schemeClr val="tx1"/>
            </a:solidFill>
          </a:ln>
          <a:effectLst/>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id="{2DB57177-5C79-97AD-5863-E4554B109C32}"/>
              </a:ext>
            </a:extLst>
          </p:cNvPr>
          <p:cNvCxnSpPr>
            <a:cxnSpLocks/>
          </p:cNvCxnSpPr>
          <p:nvPr/>
        </p:nvCxnSpPr>
        <p:spPr>
          <a:xfrm>
            <a:off x="4197569" y="1260358"/>
            <a:ext cx="4346366" cy="0"/>
          </a:xfrm>
          <a:prstGeom prst="line">
            <a:avLst/>
          </a:prstGeom>
          <a:ln w="12700">
            <a:solidFill>
              <a:schemeClr val="tx1"/>
            </a:solidFill>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38348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dissolve">
                                      <p:cBhvr>
                                        <p:cTn id="10" dur="500"/>
                                        <p:tgtEl>
                                          <p:spTgt spid="6"/>
                                        </p:tgtEl>
                                      </p:cBhvr>
                                    </p:animEffect>
                                  </p:childTnLst>
                                </p:cTn>
                              </p:par>
                              <p:par>
                                <p:cTn id="11" presetID="9"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dissolve">
                                      <p:cBhvr>
                                        <p:cTn id="13" dur="500"/>
                                        <p:tgtEl>
                                          <p:spTgt spid="10"/>
                                        </p:tgtEl>
                                      </p:cBhvr>
                                    </p:animEffect>
                                  </p:childTnLst>
                                </p:cTn>
                              </p:par>
                              <p:par>
                                <p:cTn id="14" presetID="9"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dissolv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9">
                                            <p:txEl>
                                              <p:pRg st="0" end="0"/>
                                            </p:txEl>
                                          </p:spTgt>
                                        </p:tgtEl>
                                        <p:attrNameLst>
                                          <p:attrName>style.visibility</p:attrName>
                                        </p:attrNameLst>
                                      </p:cBhvr>
                                      <p:to>
                                        <p:strVal val="visible"/>
                                      </p:to>
                                    </p:set>
                                    <p:animEffect transition="in" filter="dissolve">
                                      <p:cBhvr>
                                        <p:cTn id="21" dur="500"/>
                                        <p:tgtEl>
                                          <p:spTgt spid="9">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9">
                                            <p:txEl>
                                              <p:pRg st="1" end="1"/>
                                            </p:txEl>
                                          </p:spTgt>
                                        </p:tgtEl>
                                        <p:attrNameLst>
                                          <p:attrName>style.visibility</p:attrName>
                                        </p:attrNameLst>
                                      </p:cBhvr>
                                      <p:to>
                                        <p:strVal val="visible"/>
                                      </p:to>
                                    </p:set>
                                    <p:animEffect transition="in" filter="dissolve">
                                      <p:cBhvr>
                                        <p:cTn id="26" dur="500"/>
                                        <p:tgtEl>
                                          <p:spTgt spid="9">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animEffect transition="in" filter="dissolve">
                                      <p:cBhvr>
                                        <p:cTn id="31" dur="500"/>
                                        <p:tgtEl>
                                          <p:spTgt spid="9">
                                            <p:txEl>
                                              <p:pRg st="2" end="2"/>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9">
                                            <p:txEl>
                                              <p:pRg st="3" end="3"/>
                                            </p:txEl>
                                          </p:spTgt>
                                        </p:tgtEl>
                                        <p:attrNameLst>
                                          <p:attrName>style.visibility</p:attrName>
                                        </p:attrNameLst>
                                      </p:cBhvr>
                                      <p:to>
                                        <p:strVal val="visible"/>
                                      </p:to>
                                    </p:set>
                                    <p:animEffect transition="in" filter="dissolve">
                                      <p:cBhvr>
                                        <p:cTn id="36" dur="500"/>
                                        <p:tgtEl>
                                          <p:spTgt spid="9">
                                            <p:txEl>
                                              <p:pRg st="3" end="3"/>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nodeType="clickEffect">
                                  <p:stCondLst>
                                    <p:cond delay="0"/>
                                  </p:stCondLst>
                                  <p:childTnLst>
                                    <p:set>
                                      <p:cBhvr>
                                        <p:cTn id="40" dur="1" fill="hold">
                                          <p:stCondLst>
                                            <p:cond delay="0"/>
                                          </p:stCondLst>
                                        </p:cTn>
                                        <p:tgtEl>
                                          <p:spTgt spid="9">
                                            <p:txEl>
                                              <p:pRg st="4" end="4"/>
                                            </p:txEl>
                                          </p:spTgt>
                                        </p:tgtEl>
                                        <p:attrNameLst>
                                          <p:attrName>style.visibility</p:attrName>
                                        </p:attrNameLst>
                                      </p:cBhvr>
                                      <p:to>
                                        <p:strVal val="visible"/>
                                      </p:to>
                                    </p:set>
                                    <p:animEffect transition="in" filter="dissolve">
                                      <p:cBhvr>
                                        <p:cTn id="41" dur="500"/>
                                        <p:tgtEl>
                                          <p:spTgt spid="9">
                                            <p:txEl>
                                              <p:pRg st="4" end="4"/>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9">
                                            <p:txEl>
                                              <p:pRg st="5" end="5"/>
                                            </p:txEl>
                                          </p:spTgt>
                                        </p:tgtEl>
                                        <p:attrNameLst>
                                          <p:attrName>style.visibility</p:attrName>
                                        </p:attrNameLst>
                                      </p:cBhvr>
                                      <p:to>
                                        <p:strVal val="visible"/>
                                      </p:to>
                                    </p:set>
                                    <p:animEffect transition="in" filter="dissolve">
                                      <p:cBhvr>
                                        <p:cTn id="46" dur="500"/>
                                        <p:tgtEl>
                                          <p:spTgt spid="9">
                                            <p:txEl>
                                              <p:pRg st="5" end="5"/>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9" presetClass="entr" presetSubtype="0" fill="hold" nodeType="clickEffect">
                                  <p:stCondLst>
                                    <p:cond delay="0"/>
                                  </p:stCondLst>
                                  <p:childTnLst>
                                    <p:set>
                                      <p:cBhvr>
                                        <p:cTn id="50" dur="1" fill="hold">
                                          <p:stCondLst>
                                            <p:cond delay="0"/>
                                          </p:stCondLst>
                                        </p:cTn>
                                        <p:tgtEl>
                                          <p:spTgt spid="9">
                                            <p:txEl>
                                              <p:pRg st="6" end="6"/>
                                            </p:txEl>
                                          </p:spTgt>
                                        </p:tgtEl>
                                        <p:attrNameLst>
                                          <p:attrName>style.visibility</p:attrName>
                                        </p:attrNameLst>
                                      </p:cBhvr>
                                      <p:to>
                                        <p:strVal val="visible"/>
                                      </p:to>
                                    </p:set>
                                    <p:animEffect transition="in" filter="dissolve">
                                      <p:cBhvr>
                                        <p:cTn id="51" dur="500"/>
                                        <p:tgtEl>
                                          <p:spTgt spid="9">
                                            <p:txEl>
                                              <p:pRg st="6" end="6"/>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nodeType="clickEffect">
                                  <p:stCondLst>
                                    <p:cond delay="0"/>
                                  </p:stCondLst>
                                  <p:childTnLst>
                                    <p:set>
                                      <p:cBhvr>
                                        <p:cTn id="55" dur="1" fill="hold">
                                          <p:stCondLst>
                                            <p:cond delay="0"/>
                                          </p:stCondLst>
                                        </p:cTn>
                                        <p:tgtEl>
                                          <p:spTgt spid="9">
                                            <p:txEl>
                                              <p:pRg st="7" end="7"/>
                                            </p:txEl>
                                          </p:spTgt>
                                        </p:tgtEl>
                                        <p:attrNameLst>
                                          <p:attrName>style.visibility</p:attrName>
                                        </p:attrNameLst>
                                      </p:cBhvr>
                                      <p:to>
                                        <p:strVal val="visible"/>
                                      </p:to>
                                    </p:set>
                                    <p:animEffect transition="in" filter="dissolve">
                                      <p:cBhvr>
                                        <p:cTn id="56" dur="500"/>
                                        <p:tgtEl>
                                          <p:spTgt spid="9">
                                            <p:txEl>
                                              <p:pRg st="7" end="7"/>
                                            </p:txEl>
                                          </p:spTgt>
                                        </p:tgtEl>
                                      </p:cBhvr>
                                    </p:animEffect>
                                  </p:childTnLst>
                                </p:cTn>
                              </p:par>
                              <p:par>
                                <p:cTn id="57" presetID="9" presetClass="entr" presetSubtype="0" fill="hold" nodeType="withEffect">
                                  <p:stCondLst>
                                    <p:cond delay="0"/>
                                  </p:stCondLst>
                                  <p:childTnLst>
                                    <p:set>
                                      <p:cBhvr>
                                        <p:cTn id="58" dur="1" fill="hold">
                                          <p:stCondLst>
                                            <p:cond delay="0"/>
                                          </p:stCondLst>
                                        </p:cTn>
                                        <p:tgtEl>
                                          <p:spTgt spid="9">
                                            <p:txEl>
                                              <p:pRg st="8" end="8"/>
                                            </p:txEl>
                                          </p:spTgt>
                                        </p:tgtEl>
                                        <p:attrNameLst>
                                          <p:attrName>style.visibility</p:attrName>
                                        </p:attrNameLst>
                                      </p:cBhvr>
                                      <p:to>
                                        <p:strVal val="visible"/>
                                      </p:to>
                                    </p:set>
                                    <p:animEffect transition="in" filter="dissolve">
                                      <p:cBhvr>
                                        <p:cTn id="59" dur="500"/>
                                        <p:tgtEl>
                                          <p:spTgt spid="9">
                                            <p:txEl>
                                              <p:pRg st="8" end="8"/>
                                            </p:txEl>
                                          </p:spTgt>
                                        </p:tgtEl>
                                      </p:cBhvr>
                                    </p:animEffect>
                                  </p:childTnLst>
                                </p:cTn>
                              </p:par>
                              <p:par>
                                <p:cTn id="60" presetID="9" presetClass="entr" presetSubtype="0" fill="hold" nodeType="withEffect">
                                  <p:stCondLst>
                                    <p:cond delay="0"/>
                                  </p:stCondLst>
                                  <p:childTnLst>
                                    <p:set>
                                      <p:cBhvr>
                                        <p:cTn id="61" dur="1" fill="hold">
                                          <p:stCondLst>
                                            <p:cond delay="0"/>
                                          </p:stCondLst>
                                        </p:cTn>
                                        <p:tgtEl>
                                          <p:spTgt spid="3"/>
                                        </p:tgtEl>
                                        <p:attrNameLst>
                                          <p:attrName>style.visibility</p:attrName>
                                        </p:attrNameLst>
                                      </p:cBhvr>
                                      <p:to>
                                        <p:strVal val="visible"/>
                                      </p:to>
                                    </p:set>
                                    <p:animEffect transition="in" filter="dissolve">
                                      <p:cBhvr>
                                        <p:cTn id="6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F57D7-BE82-091E-A2A2-4CD5D44D2050}"/>
              </a:ext>
            </a:extLst>
          </p:cNvPr>
          <p:cNvSpPr>
            <a:spLocks noGrp="1"/>
          </p:cNvSpPr>
          <p:nvPr>
            <p:ph type="title"/>
          </p:nvPr>
        </p:nvSpPr>
        <p:spPr/>
        <p:txBody>
          <a:bodyPr/>
          <a:lstStyle/>
          <a:p>
            <a:r>
              <a:rPr lang="en-GB" dirty="0">
                <a:solidFill>
                  <a:schemeClr val="tx1"/>
                </a:solidFill>
              </a:rPr>
              <a:t>Dijkstra's Algorithm</a:t>
            </a:r>
            <a:endParaRPr lang="en-SE" dirty="0">
              <a:solidFill>
                <a:schemeClr val="tx1"/>
              </a:solidFill>
            </a:endParaRPr>
          </a:p>
        </p:txBody>
      </p:sp>
      <p:sp>
        <p:nvSpPr>
          <p:cNvPr id="3" name="Content Placeholder 2">
            <a:extLst>
              <a:ext uri="{FF2B5EF4-FFF2-40B4-BE49-F238E27FC236}">
                <a16:creationId xmlns:a16="http://schemas.microsoft.com/office/drawing/2014/main" id="{DDBF02E3-BFC0-4342-8CE7-7C9FE4D45A91}"/>
              </a:ext>
            </a:extLst>
          </p:cNvPr>
          <p:cNvSpPr>
            <a:spLocks noGrp="1"/>
          </p:cNvSpPr>
          <p:nvPr>
            <p:ph idx="1"/>
          </p:nvPr>
        </p:nvSpPr>
        <p:spPr>
          <a:xfrm>
            <a:off x="679939" y="1269048"/>
            <a:ext cx="10726616" cy="5440362"/>
          </a:xfrm>
        </p:spPr>
        <p:txBody>
          <a:bodyPr>
            <a:normAutofit fontScale="92500" lnSpcReduction="10000"/>
          </a:bodyPr>
          <a:lstStyle/>
          <a:p>
            <a:r>
              <a:rPr lang="en-GB" dirty="0"/>
              <a:t>Initialization:</a:t>
            </a:r>
          </a:p>
          <a:p>
            <a:pPr lvl="1"/>
            <a:r>
              <a:rPr lang="en-GB" dirty="0"/>
              <a:t>Set the distance to the source node as 0 and to all other nodes as infinity.</a:t>
            </a:r>
          </a:p>
          <a:p>
            <a:pPr lvl="1"/>
            <a:r>
              <a:rPr lang="en-GB" dirty="0"/>
              <a:t>Mark all nodes as unvisited and store them in a priority queue.</a:t>
            </a:r>
          </a:p>
          <a:p>
            <a:r>
              <a:rPr lang="en-GB" dirty="0"/>
              <a:t>Main Loop:</a:t>
            </a:r>
          </a:p>
          <a:p>
            <a:pPr lvl="1"/>
            <a:r>
              <a:rPr lang="en-GB" dirty="0"/>
              <a:t>Visit the </a:t>
            </a:r>
            <a:r>
              <a:rPr lang="en-GB" dirty="0">
                <a:solidFill>
                  <a:srgbClr val="FF0000"/>
                </a:solidFill>
              </a:rPr>
              <a:t>unvisited node u </a:t>
            </a:r>
            <a:r>
              <a:rPr lang="en-GB" dirty="0"/>
              <a:t>with </a:t>
            </a:r>
            <a:r>
              <a:rPr lang="en-GB" dirty="0">
                <a:solidFill>
                  <a:srgbClr val="FF0000"/>
                </a:solidFill>
              </a:rPr>
              <a:t>the shortest known distance (minimum SD)  </a:t>
            </a:r>
            <a:r>
              <a:rPr lang="en-GB" dirty="0"/>
              <a:t>from the queue.</a:t>
            </a:r>
          </a:p>
          <a:p>
            <a:pPr lvl="1"/>
            <a:r>
              <a:rPr lang="en-GB" dirty="0"/>
              <a:t>For each </a:t>
            </a:r>
            <a:r>
              <a:rPr lang="en-GB" dirty="0">
                <a:solidFill>
                  <a:srgbClr val="FF0000"/>
                </a:solidFill>
              </a:rPr>
              <a:t>unvisited </a:t>
            </a:r>
            <a:r>
              <a:rPr lang="en-GB" dirty="0" err="1">
                <a:solidFill>
                  <a:srgbClr val="FF0000"/>
                </a:solidFill>
              </a:rPr>
              <a:t>neighbor</a:t>
            </a:r>
            <a:r>
              <a:rPr lang="en-GB" dirty="0">
                <a:solidFill>
                  <a:srgbClr val="FF0000"/>
                </a:solidFill>
              </a:rPr>
              <a:t> node v of node u</a:t>
            </a:r>
            <a:r>
              <a:rPr lang="en-GB" dirty="0"/>
              <a:t>, calculate its tentative distance through the current node. </a:t>
            </a:r>
            <a:r>
              <a:rPr lang="en-GB" dirty="0">
                <a:solidFill>
                  <a:srgbClr val="FF0000"/>
                </a:solidFill>
              </a:rPr>
              <a:t>If this distance is smaller than the previously recorded distance, update it </a:t>
            </a:r>
            <a:r>
              <a:rPr lang="en-US" altLang="zh-CN" dirty="0">
                <a:solidFill>
                  <a:srgbClr val="FF0000"/>
                </a:solidFill>
              </a:rPr>
              <a:t>with edge relaxation for edge </a:t>
            </a:r>
            <a:r>
              <a:rPr lang="en-US" altLang="zh-CN" dirty="0" err="1">
                <a:solidFill>
                  <a:srgbClr val="FF0000"/>
                </a:solidFill>
              </a:rPr>
              <a:t>uv</a:t>
            </a:r>
            <a:r>
              <a:rPr lang="en-GB" dirty="0">
                <a:solidFill>
                  <a:srgbClr val="FF0000"/>
                </a:solidFill>
              </a:rPr>
              <a:t>.</a:t>
            </a:r>
          </a:p>
          <a:p>
            <a:pPr lvl="1"/>
            <a:r>
              <a:rPr lang="en-GB" dirty="0"/>
              <a:t>Mark the current node as visited once all its </a:t>
            </a:r>
            <a:r>
              <a:rPr lang="en-GB" dirty="0" err="1"/>
              <a:t>neighbors</a:t>
            </a:r>
            <a:r>
              <a:rPr lang="en-GB" dirty="0"/>
              <a:t> are processed.</a:t>
            </a:r>
          </a:p>
          <a:p>
            <a:r>
              <a:rPr lang="en-GB" dirty="0"/>
              <a:t>Termination:</a:t>
            </a:r>
          </a:p>
          <a:p>
            <a:pPr lvl="1"/>
            <a:r>
              <a:rPr lang="en-GB" dirty="0"/>
              <a:t>The algorithm continues until all reachable nodes are visited.</a:t>
            </a:r>
          </a:p>
          <a:p>
            <a:r>
              <a:rPr lang="en-GB" dirty="0"/>
              <a:t>Notes:</a:t>
            </a:r>
          </a:p>
          <a:p>
            <a:pPr lvl="1"/>
            <a:r>
              <a:rPr lang="en-GB" dirty="0"/>
              <a:t>Greedy and optimal algorithm: any node that has been visited should have its shortest distance to the source. </a:t>
            </a:r>
          </a:p>
          <a:p>
            <a:pPr lvl="1"/>
            <a:r>
              <a:rPr lang="en-GB" dirty="0"/>
              <a:t>It works for both undirected and directed graphs. The only difference is how to get </a:t>
            </a:r>
            <a:r>
              <a:rPr lang="en-GB" dirty="0" err="1"/>
              <a:t>neighbors</a:t>
            </a:r>
            <a:r>
              <a:rPr lang="en-GB" dirty="0"/>
              <a:t> of node v, as each undirected edge is treated as two directed edges in  both directions.</a:t>
            </a:r>
            <a:endParaRPr lang="en-SE" dirty="0"/>
          </a:p>
        </p:txBody>
      </p:sp>
    </p:spTree>
    <p:extLst>
      <p:ext uri="{BB962C8B-B14F-4D97-AF65-F5344CB8AC3E}">
        <p14:creationId xmlns:p14="http://schemas.microsoft.com/office/powerpoint/2010/main" val="3883691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4"/>
        <p:cNvGrpSpPr/>
        <p:nvPr/>
      </p:nvGrpSpPr>
      <p:grpSpPr>
        <a:xfrm>
          <a:off x="0" y="0"/>
          <a:ext cx="0" cy="0"/>
          <a:chOff x="0" y="0"/>
          <a:chExt cx="0" cy="0"/>
        </a:xfrm>
      </p:grpSpPr>
      <p:sp>
        <p:nvSpPr>
          <p:cNvPr id="945" name="Google Shape;945;p52"/>
          <p:cNvSpPr/>
          <p:nvPr/>
        </p:nvSpPr>
        <p:spPr>
          <a:xfrm>
            <a:off x="3847392" y="1346231"/>
            <a:ext cx="2936837" cy="2420471"/>
          </a:xfrm>
          <a:custGeom>
            <a:avLst/>
            <a:gdLst/>
            <a:ahLst/>
            <a:cxnLst/>
            <a:rect l="l" t="t" r="r" b="b"/>
            <a:pathLst>
              <a:path w="2936837" h="2420471" extrusionOk="0">
                <a:moveTo>
                  <a:pt x="2528047" y="96819"/>
                </a:moveTo>
                <a:cubicBezTo>
                  <a:pt x="2506532" y="93233"/>
                  <a:pt x="2476409" y="95163"/>
                  <a:pt x="2452743" y="86061"/>
                </a:cubicBezTo>
                <a:cubicBezTo>
                  <a:pt x="2428608" y="76779"/>
                  <a:pt x="2409712" y="57374"/>
                  <a:pt x="2388197" y="43031"/>
                </a:cubicBezTo>
                <a:cubicBezTo>
                  <a:pt x="2377439" y="35859"/>
                  <a:pt x="2368190" y="25605"/>
                  <a:pt x="2355924" y="21516"/>
                </a:cubicBezTo>
                <a:lnTo>
                  <a:pt x="2291379" y="0"/>
                </a:lnTo>
                <a:cubicBezTo>
                  <a:pt x="2190974" y="3586"/>
                  <a:pt x="2090449" y="4680"/>
                  <a:pt x="1990164" y="10758"/>
                </a:cubicBezTo>
                <a:cubicBezTo>
                  <a:pt x="1971913" y="11864"/>
                  <a:pt x="1954192" y="17405"/>
                  <a:pt x="1936376" y="21516"/>
                </a:cubicBezTo>
                <a:cubicBezTo>
                  <a:pt x="1907563" y="28165"/>
                  <a:pt x="1878368" y="33681"/>
                  <a:pt x="1850315" y="43031"/>
                </a:cubicBezTo>
                <a:cubicBezTo>
                  <a:pt x="1839557" y="46617"/>
                  <a:pt x="1828982" y="50804"/>
                  <a:pt x="1818042" y="53788"/>
                </a:cubicBezTo>
                <a:cubicBezTo>
                  <a:pt x="1789514" y="61568"/>
                  <a:pt x="1760668" y="68132"/>
                  <a:pt x="1731981" y="75304"/>
                </a:cubicBezTo>
                <a:cubicBezTo>
                  <a:pt x="1717637" y="78890"/>
                  <a:pt x="1702976" y="81385"/>
                  <a:pt x="1688950" y="86061"/>
                </a:cubicBezTo>
                <a:cubicBezTo>
                  <a:pt x="1642651" y="101494"/>
                  <a:pt x="1667678" y="94069"/>
                  <a:pt x="1613647" y="107577"/>
                </a:cubicBezTo>
                <a:cubicBezTo>
                  <a:pt x="1477383" y="103991"/>
                  <a:pt x="1341013" y="103303"/>
                  <a:pt x="1204856" y="96819"/>
                </a:cubicBezTo>
                <a:cubicBezTo>
                  <a:pt x="1190088" y="96116"/>
                  <a:pt x="1176259" y="89268"/>
                  <a:pt x="1161826" y="86061"/>
                </a:cubicBezTo>
                <a:cubicBezTo>
                  <a:pt x="1143977" y="82095"/>
                  <a:pt x="1126027" y="78575"/>
                  <a:pt x="1108037" y="75304"/>
                </a:cubicBezTo>
                <a:cubicBezTo>
                  <a:pt x="1086577" y="71402"/>
                  <a:pt x="1064880" y="68824"/>
                  <a:pt x="1043492" y="64546"/>
                </a:cubicBezTo>
                <a:cubicBezTo>
                  <a:pt x="1028994" y="61646"/>
                  <a:pt x="1015074" y="56036"/>
                  <a:pt x="1000461" y="53788"/>
                </a:cubicBezTo>
                <a:cubicBezTo>
                  <a:pt x="968367" y="48851"/>
                  <a:pt x="935915" y="46617"/>
                  <a:pt x="903642" y="43031"/>
                </a:cubicBezTo>
                <a:cubicBezTo>
                  <a:pt x="842682" y="46617"/>
                  <a:pt x="781314" y="45890"/>
                  <a:pt x="720762" y="53788"/>
                </a:cubicBezTo>
                <a:cubicBezTo>
                  <a:pt x="698273" y="56721"/>
                  <a:pt x="677731" y="68132"/>
                  <a:pt x="656216" y="75304"/>
                </a:cubicBezTo>
                <a:lnTo>
                  <a:pt x="623943" y="86061"/>
                </a:lnTo>
                <a:cubicBezTo>
                  <a:pt x="613185" y="93233"/>
                  <a:pt x="603234" y="101795"/>
                  <a:pt x="591670" y="107577"/>
                </a:cubicBezTo>
                <a:cubicBezTo>
                  <a:pt x="581528" y="112648"/>
                  <a:pt x="569310" y="112827"/>
                  <a:pt x="559397" y="118334"/>
                </a:cubicBezTo>
                <a:cubicBezTo>
                  <a:pt x="536793" y="130892"/>
                  <a:pt x="516367" y="147021"/>
                  <a:pt x="494852" y="161365"/>
                </a:cubicBezTo>
                <a:lnTo>
                  <a:pt x="462579" y="182880"/>
                </a:lnTo>
                <a:lnTo>
                  <a:pt x="430306" y="204396"/>
                </a:lnTo>
                <a:cubicBezTo>
                  <a:pt x="419548" y="211568"/>
                  <a:pt x="407175" y="216769"/>
                  <a:pt x="398033" y="225911"/>
                </a:cubicBezTo>
                <a:cubicBezTo>
                  <a:pt x="390861" y="233083"/>
                  <a:pt x="385214" y="242208"/>
                  <a:pt x="376517" y="247426"/>
                </a:cubicBezTo>
                <a:cubicBezTo>
                  <a:pt x="366793" y="253260"/>
                  <a:pt x="355002" y="254598"/>
                  <a:pt x="344244" y="258184"/>
                </a:cubicBezTo>
                <a:cubicBezTo>
                  <a:pt x="292775" y="335389"/>
                  <a:pt x="319498" y="304446"/>
                  <a:pt x="268941" y="355003"/>
                </a:cubicBezTo>
                <a:cubicBezTo>
                  <a:pt x="244219" y="429170"/>
                  <a:pt x="263462" y="403512"/>
                  <a:pt x="225910" y="441064"/>
                </a:cubicBezTo>
                <a:lnTo>
                  <a:pt x="182880" y="570156"/>
                </a:lnTo>
                <a:lnTo>
                  <a:pt x="172122" y="602428"/>
                </a:lnTo>
                <a:cubicBezTo>
                  <a:pt x="162903" y="630083"/>
                  <a:pt x="156011" y="648008"/>
                  <a:pt x="150607" y="677732"/>
                </a:cubicBezTo>
                <a:cubicBezTo>
                  <a:pt x="146071" y="702679"/>
                  <a:pt x="143435" y="727935"/>
                  <a:pt x="139849" y="753036"/>
                </a:cubicBezTo>
                <a:cubicBezTo>
                  <a:pt x="136263" y="907229"/>
                  <a:pt x="135513" y="1061513"/>
                  <a:pt x="129092" y="1215614"/>
                </a:cubicBezTo>
                <a:cubicBezTo>
                  <a:pt x="128331" y="1233883"/>
                  <a:pt x="122445" y="1251586"/>
                  <a:pt x="118334" y="1269403"/>
                </a:cubicBezTo>
                <a:cubicBezTo>
                  <a:pt x="72318" y="1468806"/>
                  <a:pt x="114511" y="1288165"/>
                  <a:pt x="86061" y="1387737"/>
                </a:cubicBezTo>
                <a:cubicBezTo>
                  <a:pt x="81999" y="1401953"/>
                  <a:pt x="79365" y="1416551"/>
                  <a:pt x="75303" y="1430767"/>
                </a:cubicBezTo>
                <a:cubicBezTo>
                  <a:pt x="72188" y="1441670"/>
                  <a:pt x="67096" y="1451991"/>
                  <a:pt x="64546" y="1463040"/>
                </a:cubicBezTo>
                <a:cubicBezTo>
                  <a:pt x="56323" y="1498673"/>
                  <a:pt x="54594" y="1535924"/>
                  <a:pt x="43030" y="1570617"/>
                </a:cubicBezTo>
                <a:cubicBezTo>
                  <a:pt x="16840" y="1649189"/>
                  <a:pt x="27016" y="1613161"/>
                  <a:pt x="10757" y="1678193"/>
                </a:cubicBezTo>
                <a:cubicBezTo>
                  <a:pt x="7171" y="1706880"/>
                  <a:pt x="0" y="1735344"/>
                  <a:pt x="0" y="1764254"/>
                </a:cubicBezTo>
                <a:cubicBezTo>
                  <a:pt x="0" y="1814584"/>
                  <a:pt x="4876" y="1864875"/>
                  <a:pt x="10757" y="1914861"/>
                </a:cubicBezTo>
                <a:cubicBezTo>
                  <a:pt x="12082" y="1926123"/>
                  <a:pt x="18400" y="1936231"/>
                  <a:pt x="21515" y="1947134"/>
                </a:cubicBezTo>
                <a:cubicBezTo>
                  <a:pt x="25577" y="1961350"/>
                  <a:pt x="28025" y="1976003"/>
                  <a:pt x="32273" y="1990165"/>
                </a:cubicBezTo>
                <a:cubicBezTo>
                  <a:pt x="38790" y="2011888"/>
                  <a:pt x="46616" y="2033196"/>
                  <a:pt x="53788" y="2054711"/>
                </a:cubicBezTo>
                <a:cubicBezTo>
                  <a:pt x="57374" y="2065469"/>
                  <a:pt x="58256" y="2077549"/>
                  <a:pt x="64546" y="2086984"/>
                </a:cubicBezTo>
                <a:cubicBezTo>
                  <a:pt x="71718" y="2097742"/>
                  <a:pt x="80279" y="2107693"/>
                  <a:pt x="86061" y="2119257"/>
                </a:cubicBezTo>
                <a:cubicBezTo>
                  <a:pt x="103559" y="2154253"/>
                  <a:pt x="87506" y="2152975"/>
                  <a:pt x="118334" y="2183803"/>
                </a:cubicBezTo>
                <a:cubicBezTo>
                  <a:pt x="127476" y="2192945"/>
                  <a:pt x="140675" y="2197041"/>
                  <a:pt x="150607" y="2205318"/>
                </a:cubicBezTo>
                <a:cubicBezTo>
                  <a:pt x="162294" y="2215057"/>
                  <a:pt x="171193" y="2227852"/>
                  <a:pt x="182880" y="2237591"/>
                </a:cubicBezTo>
                <a:cubicBezTo>
                  <a:pt x="192812" y="2245868"/>
                  <a:pt x="205221" y="2250829"/>
                  <a:pt x="215153" y="2259106"/>
                </a:cubicBezTo>
                <a:cubicBezTo>
                  <a:pt x="226840" y="2268845"/>
                  <a:pt x="235739" y="2281640"/>
                  <a:pt x="247426" y="2291379"/>
                </a:cubicBezTo>
                <a:cubicBezTo>
                  <a:pt x="257358" y="2299656"/>
                  <a:pt x="269603" y="2304817"/>
                  <a:pt x="279699" y="2312894"/>
                </a:cubicBezTo>
                <a:cubicBezTo>
                  <a:pt x="287619" y="2319230"/>
                  <a:pt x="292517" y="2329192"/>
                  <a:pt x="301214" y="2334410"/>
                </a:cubicBezTo>
                <a:cubicBezTo>
                  <a:pt x="310938" y="2340244"/>
                  <a:pt x="322729" y="2341581"/>
                  <a:pt x="333487" y="2345167"/>
                </a:cubicBezTo>
                <a:cubicBezTo>
                  <a:pt x="371038" y="2382720"/>
                  <a:pt x="345379" y="2363475"/>
                  <a:pt x="419548" y="2388198"/>
                </a:cubicBezTo>
                <a:cubicBezTo>
                  <a:pt x="454680" y="2399909"/>
                  <a:pt x="464061" y="2404520"/>
                  <a:pt x="505609" y="2409713"/>
                </a:cubicBezTo>
                <a:cubicBezTo>
                  <a:pt x="544910" y="2414626"/>
                  <a:pt x="584498" y="2416885"/>
                  <a:pt x="623943" y="2420471"/>
                </a:cubicBezTo>
                <a:cubicBezTo>
                  <a:pt x="659505" y="2417735"/>
                  <a:pt x="780993" y="2419763"/>
                  <a:pt x="828339" y="2388198"/>
                </a:cubicBezTo>
                <a:lnTo>
                  <a:pt x="892884" y="2345167"/>
                </a:lnTo>
                <a:cubicBezTo>
                  <a:pt x="903642" y="2337995"/>
                  <a:pt x="912891" y="2327741"/>
                  <a:pt x="925157" y="2323652"/>
                </a:cubicBezTo>
                <a:lnTo>
                  <a:pt x="957430" y="2312894"/>
                </a:lnTo>
                <a:cubicBezTo>
                  <a:pt x="964602" y="2305722"/>
                  <a:pt x="969874" y="2295915"/>
                  <a:pt x="978946" y="2291379"/>
                </a:cubicBezTo>
                <a:cubicBezTo>
                  <a:pt x="999231" y="2281237"/>
                  <a:pt x="1021977" y="2277036"/>
                  <a:pt x="1043492" y="2269864"/>
                </a:cubicBezTo>
                <a:cubicBezTo>
                  <a:pt x="1120870" y="2244071"/>
                  <a:pt x="1024238" y="2275364"/>
                  <a:pt x="1118795" y="2248348"/>
                </a:cubicBezTo>
                <a:cubicBezTo>
                  <a:pt x="1183108" y="2229973"/>
                  <a:pt x="1148503" y="2227090"/>
                  <a:pt x="1258644" y="2216076"/>
                </a:cubicBezTo>
                <a:lnTo>
                  <a:pt x="1366221" y="2205318"/>
                </a:lnTo>
                <a:cubicBezTo>
                  <a:pt x="1454576" y="2194923"/>
                  <a:pt x="1457132" y="2187538"/>
                  <a:pt x="1559859" y="2183803"/>
                </a:cubicBezTo>
                <a:cubicBezTo>
                  <a:pt x="1717574" y="2178068"/>
                  <a:pt x="1875416" y="2176631"/>
                  <a:pt x="2033195" y="2173045"/>
                </a:cubicBezTo>
                <a:cubicBezTo>
                  <a:pt x="2098223" y="2156788"/>
                  <a:pt x="2062208" y="2166960"/>
                  <a:pt x="2140772" y="2140772"/>
                </a:cubicBezTo>
                <a:cubicBezTo>
                  <a:pt x="2151529" y="2137186"/>
                  <a:pt x="2163609" y="2136304"/>
                  <a:pt x="2173044" y="2130014"/>
                </a:cubicBezTo>
                <a:cubicBezTo>
                  <a:pt x="2265534" y="2068355"/>
                  <a:pt x="2148513" y="2142280"/>
                  <a:pt x="2237590" y="2097741"/>
                </a:cubicBezTo>
                <a:cubicBezTo>
                  <a:pt x="2321006" y="2056033"/>
                  <a:pt x="2221017" y="2092509"/>
                  <a:pt x="2302136" y="2065468"/>
                </a:cubicBezTo>
                <a:cubicBezTo>
                  <a:pt x="2375393" y="1992214"/>
                  <a:pt x="2260912" y="2103878"/>
                  <a:pt x="2355924" y="2022438"/>
                </a:cubicBezTo>
                <a:cubicBezTo>
                  <a:pt x="2447221" y="1944182"/>
                  <a:pt x="2357140" y="2007283"/>
                  <a:pt x="2431228" y="1957892"/>
                </a:cubicBezTo>
                <a:cubicBezTo>
                  <a:pt x="2438400" y="1947134"/>
                  <a:pt x="2444666" y="1935715"/>
                  <a:pt x="2452743" y="1925619"/>
                </a:cubicBezTo>
                <a:cubicBezTo>
                  <a:pt x="2459079" y="1917699"/>
                  <a:pt x="2469041" y="1912801"/>
                  <a:pt x="2474259" y="1904104"/>
                </a:cubicBezTo>
                <a:cubicBezTo>
                  <a:pt x="2480093" y="1894380"/>
                  <a:pt x="2478425" y="1881058"/>
                  <a:pt x="2485016" y="1871831"/>
                </a:cubicBezTo>
                <a:cubicBezTo>
                  <a:pt x="2496806" y="1855324"/>
                  <a:pt x="2528047" y="1828800"/>
                  <a:pt x="2528047" y="1828800"/>
                </a:cubicBezTo>
                <a:cubicBezTo>
                  <a:pt x="2548615" y="1767091"/>
                  <a:pt x="2524879" y="1822267"/>
                  <a:pt x="2560320" y="1775012"/>
                </a:cubicBezTo>
                <a:cubicBezTo>
                  <a:pt x="2575835" y="1754326"/>
                  <a:pt x="2585065" y="1728750"/>
                  <a:pt x="2603350" y="1710466"/>
                </a:cubicBezTo>
                <a:cubicBezTo>
                  <a:pt x="2643152" y="1670666"/>
                  <a:pt x="2619238" y="1697392"/>
                  <a:pt x="2667896" y="1624405"/>
                </a:cubicBezTo>
                <a:lnTo>
                  <a:pt x="2689412" y="1592132"/>
                </a:lnTo>
                <a:lnTo>
                  <a:pt x="2710927" y="1559859"/>
                </a:lnTo>
                <a:cubicBezTo>
                  <a:pt x="2750154" y="1442171"/>
                  <a:pt x="2687594" y="1620425"/>
                  <a:pt x="2743200" y="1495313"/>
                </a:cubicBezTo>
                <a:cubicBezTo>
                  <a:pt x="2766601" y="1442661"/>
                  <a:pt x="2761033" y="1435871"/>
                  <a:pt x="2775473" y="1387737"/>
                </a:cubicBezTo>
                <a:cubicBezTo>
                  <a:pt x="2781990" y="1366014"/>
                  <a:pt x="2789816" y="1344706"/>
                  <a:pt x="2796988" y="1323191"/>
                </a:cubicBezTo>
                <a:lnTo>
                  <a:pt x="2840019" y="1194099"/>
                </a:lnTo>
                <a:lnTo>
                  <a:pt x="2883049" y="1065007"/>
                </a:lnTo>
                <a:lnTo>
                  <a:pt x="2893807" y="1032734"/>
                </a:lnTo>
                <a:lnTo>
                  <a:pt x="2904564" y="1000461"/>
                </a:lnTo>
                <a:cubicBezTo>
                  <a:pt x="2929165" y="828261"/>
                  <a:pt x="2917743" y="899876"/>
                  <a:pt x="2936837" y="785308"/>
                </a:cubicBezTo>
                <a:cubicBezTo>
                  <a:pt x="2933251" y="699247"/>
                  <a:pt x="2934651" y="612833"/>
                  <a:pt x="2926080" y="527125"/>
                </a:cubicBezTo>
                <a:cubicBezTo>
                  <a:pt x="2923823" y="504558"/>
                  <a:pt x="2911736" y="484094"/>
                  <a:pt x="2904564" y="462579"/>
                </a:cubicBezTo>
                <a:cubicBezTo>
                  <a:pt x="2885628" y="405771"/>
                  <a:pt x="2900103" y="439750"/>
                  <a:pt x="2850776" y="365760"/>
                </a:cubicBezTo>
                <a:lnTo>
                  <a:pt x="2829261" y="333487"/>
                </a:lnTo>
                <a:cubicBezTo>
                  <a:pt x="2822089" y="322729"/>
                  <a:pt x="2816888" y="310356"/>
                  <a:pt x="2807746" y="301214"/>
                </a:cubicBezTo>
                <a:lnTo>
                  <a:pt x="2786230" y="279699"/>
                </a:lnTo>
                <a:cubicBezTo>
                  <a:pt x="2767549" y="223652"/>
                  <a:pt x="2787711" y="268102"/>
                  <a:pt x="2753957" y="225911"/>
                </a:cubicBezTo>
                <a:cubicBezTo>
                  <a:pt x="2745880" y="215815"/>
                  <a:pt x="2742172" y="202152"/>
                  <a:pt x="2732442" y="193638"/>
                </a:cubicBezTo>
                <a:cubicBezTo>
                  <a:pt x="2686914" y="153801"/>
                  <a:pt x="2679950" y="154625"/>
                  <a:pt x="2635623" y="139850"/>
                </a:cubicBezTo>
                <a:cubicBezTo>
                  <a:pt x="2593599" y="97824"/>
                  <a:pt x="2637696" y="135507"/>
                  <a:pt x="2581835" y="107577"/>
                </a:cubicBezTo>
                <a:cubicBezTo>
                  <a:pt x="2570271" y="101795"/>
                  <a:pt x="2549562" y="100405"/>
                  <a:pt x="2528047" y="96819"/>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46" name="Google Shape;946;p52"/>
          <p:cNvSpPr/>
          <p:nvPr/>
        </p:nvSpPr>
        <p:spPr>
          <a:xfrm>
            <a:off x="6509385" y="1403866"/>
            <a:ext cx="1280160" cy="2357825"/>
          </a:xfrm>
          <a:custGeom>
            <a:avLst/>
            <a:gdLst/>
            <a:ahLst/>
            <a:cxnLst/>
            <a:rect l="l" t="t" r="r" b="b"/>
            <a:pathLst>
              <a:path w="1280160" h="2357825" extrusionOk="0">
                <a:moveTo>
                  <a:pt x="1140311" y="163265"/>
                </a:moveTo>
                <a:cubicBezTo>
                  <a:pt x="1104452" y="145336"/>
                  <a:pt x="1032194" y="121539"/>
                  <a:pt x="978946" y="98719"/>
                </a:cubicBezTo>
                <a:cubicBezTo>
                  <a:pt x="956836" y="89243"/>
                  <a:pt x="935428" y="78128"/>
                  <a:pt x="914400" y="66446"/>
                </a:cubicBezTo>
                <a:cubicBezTo>
                  <a:pt x="903098" y="60167"/>
                  <a:pt x="893691" y="50712"/>
                  <a:pt x="882127" y="44930"/>
                </a:cubicBezTo>
                <a:cubicBezTo>
                  <a:pt x="871985" y="39859"/>
                  <a:pt x="860612" y="37759"/>
                  <a:pt x="849854" y="34173"/>
                </a:cubicBezTo>
                <a:cubicBezTo>
                  <a:pt x="839096" y="27001"/>
                  <a:pt x="829465" y="17750"/>
                  <a:pt x="817581" y="12657"/>
                </a:cubicBezTo>
                <a:cubicBezTo>
                  <a:pt x="754711" y="-14287"/>
                  <a:pt x="649602" y="9709"/>
                  <a:pt x="602428" y="12657"/>
                </a:cubicBezTo>
                <a:cubicBezTo>
                  <a:pt x="591670" y="16243"/>
                  <a:pt x="580297" y="18344"/>
                  <a:pt x="570155" y="23415"/>
                </a:cubicBezTo>
                <a:cubicBezTo>
                  <a:pt x="551514" y="32735"/>
                  <a:pt x="529709" y="49767"/>
                  <a:pt x="516367" y="66446"/>
                </a:cubicBezTo>
                <a:cubicBezTo>
                  <a:pt x="508290" y="76542"/>
                  <a:pt x="500103" y="86904"/>
                  <a:pt x="494852" y="98719"/>
                </a:cubicBezTo>
                <a:cubicBezTo>
                  <a:pt x="443646" y="213932"/>
                  <a:pt x="500511" y="122503"/>
                  <a:pt x="451821" y="195537"/>
                </a:cubicBezTo>
                <a:cubicBezTo>
                  <a:pt x="411573" y="316290"/>
                  <a:pt x="430864" y="245820"/>
                  <a:pt x="451821" y="518267"/>
                </a:cubicBezTo>
                <a:cubicBezTo>
                  <a:pt x="455167" y="561763"/>
                  <a:pt x="473336" y="647359"/>
                  <a:pt x="473336" y="647359"/>
                </a:cubicBezTo>
                <a:cubicBezTo>
                  <a:pt x="469750" y="780037"/>
                  <a:pt x="469046" y="912824"/>
                  <a:pt x="462579" y="1045392"/>
                </a:cubicBezTo>
                <a:cubicBezTo>
                  <a:pt x="461360" y="1070383"/>
                  <a:pt x="447071" y="1096668"/>
                  <a:pt x="441064" y="1120695"/>
                </a:cubicBezTo>
                <a:cubicBezTo>
                  <a:pt x="425710" y="1182111"/>
                  <a:pt x="436112" y="1162300"/>
                  <a:pt x="419548" y="1217514"/>
                </a:cubicBezTo>
                <a:cubicBezTo>
                  <a:pt x="413031" y="1239237"/>
                  <a:pt x="405205" y="1260545"/>
                  <a:pt x="398033" y="1282060"/>
                </a:cubicBezTo>
                <a:lnTo>
                  <a:pt x="365760" y="1378879"/>
                </a:lnTo>
                <a:lnTo>
                  <a:pt x="344245" y="1443425"/>
                </a:lnTo>
                <a:cubicBezTo>
                  <a:pt x="340659" y="1454182"/>
                  <a:pt x="339777" y="1466262"/>
                  <a:pt x="333487" y="1475697"/>
                </a:cubicBezTo>
                <a:cubicBezTo>
                  <a:pt x="326315" y="1486455"/>
                  <a:pt x="317754" y="1496406"/>
                  <a:pt x="311972" y="1507970"/>
                </a:cubicBezTo>
                <a:cubicBezTo>
                  <a:pt x="306901" y="1518112"/>
                  <a:pt x="306285" y="1530101"/>
                  <a:pt x="301214" y="1540243"/>
                </a:cubicBezTo>
                <a:cubicBezTo>
                  <a:pt x="295432" y="1551807"/>
                  <a:pt x="285481" y="1560952"/>
                  <a:pt x="279699" y="1572516"/>
                </a:cubicBezTo>
                <a:cubicBezTo>
                  <a:pt x="251769" y="1628376"/>
                  <a:pt x="289450" y="1584279"/>
                  <a:pt x="247426" y="1626305"/>
                </a:cubicBezTo>
                <a:cubicBezTo>
                  <a:pt x="226857" y="1688009"/>
                  <a:pt x="250593" y="1632840"/>
                  <a:pt x="215153" y="1680093"/>
                </a:cubicBezTo>
                <a:cubicBezTo>
                  <a:pt x="215143" y="1680107"/>
                  <a:pt x="161369" y="1760768"/>
                  <a:pt x="150607" y="1776912"/>
                </a:cubicBezTo>
                <a:cubicBezTo>
                  <a:pt x="143435" y="1787670"/>
                  <a:pt x="138234" y="1800043"/>
                  <a:pt x="129092" y="1809185"/>
                </a:cubicBezTo>
                <a:cubicBezTo>
                  <a:pt x="89291" y="1848984"/>
                  <a:pt x="113202" y="1822261"/>
                  <a:pt x="64546" y="1895246"/>
                </a:cubicBezTo>
                <a:cubicBezTo>
                  <a:pt x="30452" y="1946388"/>
                  <a:pt x="47119" y="1915255"/>
                  <a:pt x="21515" y="1992065"/>
                </a:cubicBezTo>
                <a:lnTo>
                  <a:pt x="10758" y="2024337"/>
                </a:lnTo>
                <a:lnTo>
                  <a:pt x="0" y="2056610"/>
                </a:lnTo>
                <a:cubicBezTo>
                  <a:pt x="3586" y="2099641"/>
                  <a:pt x="2290" y="2143361"/>
                  <a:pt x="10758" y="2185702"/>
                </a:cubicBezTo>
                <a:cubicBezTo>
                  <a:pt x="16905" y="2216439"/>
                  <a:pt x="44055" y="2223097"/>
                  <a:pt x="64546" y="2239490"/>
                </a:cubicBezTo>
                <a:cubicBezTo>
                  <a:pt x="106737" y="2273244"/>
                  <a:pt x="62287" y="2253082"/>
                  <a:pt x="118334" y="2271763"/>
                </a:cubicBezTo>
                <a:cubicBezTo>
                  <a:pt x="155885" y="2309316"/>
                  <a:pt x="130226" y="2290071"/>
                  <a:pt x="204395" y="2314794"/>
                </a:cubicBezTo>
                <a:lnTo>
                  <a:pt x="268941" y="2336309"/>
                </a:lnTo>
                <a:cubicBezTo>
                  <a:pt x="279699" y="2339895"/>
                  <a:pt x="290095" y="2344843"/>
                  <a:pt x="301214" y="2347067"/>
                </a:cubicBezTo>
                <a:lnTo>
                  <a:pt x="355002" y="2357825"/>
                </a:lnTo>
                <a:cubicBezTo>
                  <a:pt x="455407" y="2354239"/>
                  <a:pt x="556136" y="2355898"/>
                  <a:pt x="656216" y="2347067"/>
                </a:cubicBezTo>
                <a:cubicBezTo>
                  <a:pt x="678807" y="2345074"/>
                  <a:pt x="700477" y="2335695"/>
                  <a:pt x="720762" y="2325552"/>
                </a:cubicBezTo>
                <a:cubicBezTo>
                  <a:pt x="747064" y="2312401"/>
                  <a:pt x="773260" y="2301526"/>
                  <a:pt x="796066" y="2282521"/>
                </a:cubicBezTo>
                <a:cubicBezTo>
                  <a:pt x="807753" y="2272782"/>
                  <a:pt x="817581" y="2261006"/>
                  <a:pt x="828339" y="2250248"/>
                </a:cubicBezTo>
                <a:cubicBezTo>
                  <a:pt x="831925" y="2239490"/>
                  <a:pt x="834025" y="2228117"/>
                  <a:pt x="839096" y="2217975"/>
                </a:cubicBezTo>
                <a:cubicBezTo>
                  <a:pt x="862309" y="2171549"/>
                  <a:pt x="860552" y="2202106"/>
                  <a:pt x="871369" y="2153429"/>
                </a:cubicBezTo>
                <a:cubicBezTo>
                  <a:pt x="877340" y="2126559"/>
                  <a:pt x="889453" y="2037604"/>
                  <a:pt x="892885" y="2013580"/>
                </a:cubicBezTo>
                <a:cubicBezTo>
                  <a:pt x="891424" y="1969753"/>
                  <a:pt x="895465" y="1666315"/>
                  <a:pt x="860612" y="1561759"/>
                </a:cubicBezTo>
                <a:lnTo>
                  <a:pt x="849854" y="1529486"/>
                </a:lnTo>
                <a:cubicBezTo>
                  <a:pt x="837870" y="1409652"/>
                  <a:pt x="830508" y="1395964"/>
                  <a:pt x="849854" y="1260545"/>
                </a:cubicBezTo>
                <a:cubicBezTo>
                  <a:pt x="858095" y="1202858"/>
                  <a:pt x="862703" y="1204665"/>
                  <a:pt x="892885" y="1174483"/>
                </a:cubicBezTo>
                <a:cubicBezTo>
                  <a:pt x="906988" y="1132175"/>
                  <a:pt x="908376" y="1109138"/>
                  <a:pt x="935915" y="1077665"/>
                </a:cubicBezTo>
                <a:cubicBezTo>
                  <a:pt x="952612" y="1058582"/>
                  <a:pt x="971774" y="1041806"/>
                  <a:pt x="989704" y="1023876"/>
                </a:cubicBezTo>
                <a:lnTo>
                  <a:pt x="1043492" y="970088"/>
                </a:lnTo>
                <a:cubicBezTo>
                  <a:pt x="1054250" y="959330"/>
                  <a:pt x="1067326" y="950474"/>
                  <a:pt x="1075765" y="937815"/>
                </a:cubicBezTo>
                <a:cubicBezTo>
                  <a:pt x="1129183" y="857687"/>
                  <a:pt x="1060528" y="956099"/>
                  <a:pt x="1129553" y="873269"/>
                </a:cubicBezTo>
                <a:cubicBezTo>
                  <a:pt x="1168088" y="827026"/>
                  <a:pt x="1137568" y="857239"/>
                  <a:pt x="1161826" y="808723"/>
                </a:cubicBezTo>
                <a:cubicBezTo>
                  <a:pt x="1167608" y="797159"/>
                  <a:pt x="1177559" y="788014"/>
                  <a:pt x="1183341" y="776450"/>
                </a:cubicBezTo>
                <a:cubicBezTo>
                  <a:pt x="1188412" y="766308"/>
                  <a:pt x="1189028" y="754319"/>
                  <a:pt x="1194099" y="744177"/>
                </a:cubicBezTo>
                <a:cubicBezTo>
                  <a:pt x="1199881" y="732613"/>
                  <a:pt x="1210363" y="723719"/>
                  <a:pt x="1215614" y="711905"/>
                </a:cubicBezTo>
                <a:cubicBezTo>
                  <a:pt x="1224825" y="691181"/>
                  <a:pt x="1229957" y="668874"/>
                  <a:pt x="1237129" y="647359"/>
                </a:cubicBezTo>
                <a:lnTo>
                  <a:pt x="1247887" y="615086"/>
                </a:lnTo>
                <a:lnTo>
                  <a:pt x="1269402" y="550540"/>
                </a:lnTo>
                <a:lnTo>
                  <a:pt x="1280160" y="518267"/>
                </a:lnTo>
                <a:cubicBezTo>
                  <a:pt x="1276574" y="464479"/>
                  <a:pt x="1275355" y="410480"/>
                  <a:pt x="1269402" y="356902"/>
                </a:cubicBezTo>
                <a:cubicBezTo>
                  <a:pt x="1268150" y="345632"/>
                  <a:pt x="1264479" y="334353"/>
                  <a:pt x="1258645" y="324629"/>
                </a:cubicBezTo>
                <a:cubicBezTo>
                  <a:pt x="1253427" y="315932"/>
                  <a:pt x="1244301" y="310286"/>
                  <a:pt x="1237129" y="303114"/>
                </a:cubicBezTo>
                <a:cubicBezTo>
                  <a:pt x="1220070" y="251935"/>
                  <a:pt x="1223323" y="242826"/>
                  <a:pt x="1194099" y="206295"/>
                </a:cubicBezTo>
                <a:cubicBezTo>
                  <a:pt x="1187763" y="198375"/>
                  <a:pt x="1176170" y="181194"/>
                  <a:pt x="1140311" y="163265"/>
                </a:cubicBezTo>
                <a:close/>
              </a:path>
            </a:pathLst>
          </a:custGeom>
          <a:solidFill>
            <a:srgbClr val="A7D8B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47" name="Google Shape;947;p52"/>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Dijkstra’s Algorithm: Idea</a:t>
            </a:r>
            <a:endParaRPr dirty="0"/>
          </a:p>
        </p:txBody>
      </p:sp>
      <p:sp>
        <p:nvSpPr>
          <p:cNvPr id="948" name="Google Shape;948;p52"/>
          <p:cNvSpPr txBox="1">
            <a:spLocks noGrp="1"/>
          </p:cNvSpPr>
          <p:nvPr>
            <p:ph type="body" idx="1"/>
          </p:nvPr>
        </p:nvSpPr>
        <p:spPr>
          <a:xfrm>
            <a:off x="1168400" y="4078313"/>
            <a:ext cx="10053782" cy="2703777"/>
          </a:xfrm>
          <a:prstGeom prst="rect">
            <a:avLst/>
          </a:prstGeom>
          <a:noFill/>
          <a:ln>
            <a:noFill/>
          </a:ln>
        </p:spPr>
        <p:txBody>
          <a:bodyPr spcFirstLastPara="1" wrap="square" lIns="45700" tIns="45700" rIns="45700" bIns="45700" anchor="t" anchorCtr="0">
            <a:spAutoFit/>
          </a:bodyPr>
          <a:lstStyle/>
          <a:p>
            <a:pPr marL="457200" lvl="0" indent="-393700" algn="l" rtl="0">
              <a:lnSpc>
                <a:spcPct val="90000"/>
              </a:lnSpc>
              <a:spcBef>
                <a:spcPts val="0"/>
              </a:spcBef>
              <a:spcAft>
                <a:spcPts val="0"/>
              </a:spcAft>
              <a:buSzPts val="2600"/>
              <a:buChar char="●"/>
            </a:pPr>
            <a:r>
              <a:rPr lang="en-US" dirty="0"/>
              <a:t>Initialization:</a:t>
            </a:r>
            <a:endParaRPr dirty="0"/>
          </a:p>
          <a:p>
            <a:pPr marL="914400" lvl="1" indent="-361950" algn="l" rtl="0">
              <a:lnSpc>
                <a:spcPct val="90000"/>
              </a:lnSpc>
              <a:spcBef>
                <a:spcPts val="0"/>
              </a:spcBef>
              <a:spcAft>
                <a:spcPts val="0"/>
              </a:spcAft>
              <a:buSzPts val="2100"/>
              <a:buChar char="○"/>
            </a:pPr>
            <a:r>
              <a:rPr lang="en-US" dirty="0"/>
              <a:t>Start node has distance </a:t>
            </a:r>
            <a:r>
              <a:rPr lang="en-US" b="1" dirty="0">
                <a:solidFill>
                  <a:srgbClr val="FF0000"/>
                </a:solidFill>
              </a:rPr>
              <a:t>0</a:t>
            </a:r>
            <a:r>
              <a:rPr lang="en-US" dirty="0"/>
              <a:t>; all other nodes have distance </a:t>
            </a:r>
            <a:r>
              <a:rPr lang="en-US" b="1" dirty="0">
                <a:solidFill>
                  <a:srgbClr val="FF0000"/>
                </a:solidFill>
              </a:rPr>
              <a:t>∞</a:t>
            </a:r>
            <a:r>
              <a:rPr lang="en-US" dirty="0"/>
              <a:t> </a:t>
            </a:r>
            <a:endParaRPr dirty="0"/>
          </a:p>
          <a:p>
            <a:pPr marL="457200" lvl="0" indent="-393700" algn="l" rtl="0">
              <a:lnSpc>
                <a:spcPct val="90000"/>
              </a:lnSpc>
              <a:spcBef>
                <a:spcPts val="0"/>
              </a:spcBef>
              <a:spcAft>
                <a:spcPts val="0"/>
              </a:spcAft>
              <a:buSzPts val="2600"/>
              <a:buChar char="●"/>
            </a:pPr>
            <a:r>
              <a:rPr lang="en-US" dirty="0"/>
              <a:t>At each step:</a:t>
            </a:r>
            <a:endParaRPr dirty="0"/>
          </a:p>
          <a:p>
            <a:pPr marL="914400" lvl="1" indent="-361950" algn="l" rtl="0">
              <a:lnSpc>
                <a:spcPct val="90000"/>
              </a:lnSpc>
              <a:spcBef>
                <a:spcPts val="0"/>
              </a:spcBef>
              <a:spcAft>
                <a:spcPts val="0"/>
              </a:spcAft>
              <a:buSzPts val="2100"/>
              <a:buChar char="○"/>
            </a:pPr>
            <a:r>
              <a:rPr lang="en-US" dirty="0"/>
              <a:t>Pick the closest unknown node v (with smallest SD)</a:t>
            </a:r>
            <a:endParaRPr dirty="0"/>
          </a:p>
          <a:p>
            <a:pPr marL="914400" lvl="1" indent="-361950" algn="l" rtl="0">
              <a:lnSpc>
                <a:spcPct val="90000"/>
              </a:lnSpc>
              <a:spcBef>
                <a:spcPts val="0"/>
              </a:spcBef>
              <a:spcAft>
                <a:spcPts val="0"/>
              </a:spcAft>
              <a:buSzPts val="2100"/>
              <a:buChar char="○"/>
            </a:pPr>
            <a:r>
              <a:rPr lang="en-US" dirty="0"/>
              <a:t>Add it to the “cloud” of known nodes </a:t>
            </a:r>
            <a:r>
              <a:rPr lang="en-GB" dirty="0"/>
              <a:t>(set of nodes whose shortest distance has been computed)</a:t>
            </a:r>
            <a:endParaRPr dirty="0"/>
          </a:p>
          <a:p>
            <a:pPr marL="914400" lvl="1" indent="-361950" algn="l" rtl="0">
              <a:lnSpc>
                <a:spcPct val="90000"/>
              </a:lnSpc>
              <a:spcBef>
                <a:spcPts val="0"/>
              </a:spcBef>
              <a:spcAft>
                <a:spcPts val="0"/>
              </a:spcAft>
              <a:buSzPts val="2100"/>
              <a:buChar char="○"/>
            </a:pPr>
            <a:r>
              <a:rPr lang="en-US" dirty="0"/>
              <a:t>Update “best-so-far” distances for nodes with edges from v</a:t>
            </a:r>
            <a:endParaRPr dirty="0"/>
          </a:p>
          <a:p>
            <a:pPr marL="457200" lvl="0" indent="0" algn="l" rtl="0">
              <a:lnSpc>
                <a:spcPct val="90000"/>
              </a:lnSpc>
              <a:spcBef>
                <a:spcPts val="600"/>
              </a:spcBef>
              <a:spcAft>
                <a:spcPts val="0"/>
              </a:spcAft>
              <a:buNone/>
            </a:pPr>
            <a:endParaRPr dirty="0"/>
          </a:p>
        </p:txBody>
      </p:sp>
      <p:grpSp>
        <p:nvGrpSpPr>
          <p:cNvPr id="949" name="Google Shape;949;p52"/>
          <p:cNvGrpSpPr/>
          <p:nvPr/>
        </p:nvGrpSpPr>
        <p:grpSpPr>
          <a:xfrm>
            <a:off x="4104519" y="1534742"/>
            <a:ext cx="4555069" cy="2238505"/>
            <a:chOff x="1681898" y="2177550"/>
            <a:chExt cx="3416302" cy="1678879"/>
          </a:xfrm>
        </p:grpSpPr>
        <p:sp>
          <p:nvSpPr>
            <p:cNvPr id="950" name="Google Shape;950;p52"/>
            <p:cNvSpPr/>
            <p:nvPr/>
          </p:nvSpPr>
          <p:spPr>
            <a:xfrm>
              <a:off x="1840650" y="2357632"/>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951" name="Google Shape;951;p52"/>
            <p:cNvSpPr/>
            <p:nvPr/>
          </p:nvSpPr>
          <p:spPr>
            <a:xfrm>
              <a:off x="3097950" y="2300482"/>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952" name="Google Shape;952;p52"/>
            <p:cNvSpPr/>
            <p:nvPr/>
          </p:nvSpPr>
          <p:spPr>
            <a:xfrm>
              <a:off x="1726350" y="3272032"/>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953" name="Google Shape;953;p52"/>
            <p:cNvSpPr/>
            <p:nvPr/>
          </p:nvSpPr>
          <p:spPr>
            <a:xfrm>
              <a:off x="2926500" y="3100582"/>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954" name="Google Shape;954;p52"/>
            <p:cNvSpPr/>
            <p:nvPr/>
          </p:nvSpPr>
          <p:spPr>
            <a:xfrm>
              <a:off x="4069500" y="2357632"/>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955" name="Google Shape;955;p52"/>
            <p:cNvSpPr/>
            <p:nvPr/>
          </p:nvSpPr>
          <p:spPr>
            <a:xfrm>
              <a:off x="4812450" y="2357632"/>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956" name="Google Shape;956;p52"/>
            <p:cNvSpPr/>
            <p:nvPr/>
          </p:nvSpPr>
          <p:spPr>
            <a:xfrm>
              <a:off x="3612300" y="3386332"/>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957" name="Google Shape;957;p52"/>
            <p:cNvSpPr/>
            <p:nvPr/>
          </p:nvSpPr>
          <p:spPr>
            <a:xfrm>
              <a:off x="4355250" y="2929132"/>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958" name="Google Shape;958;p52"/>
            <p:cNvCxnSpPr>
              <a:stCxn id="950" idx="6"/>
              <a:endCxn id="953" idx="1"/>
            </p:cNvCxnSpPr>
            <p:nvPr/>
          </p:nvCxnSpPr>
          <p:spPr>
            <a:xfrm>
              <a:off x="2126400" y="2500507"/>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959" name="Google Shape;959;p52"/>
            <p:cNvCxnSpPr>
              <a:stCxn id="953" idx="2"/>
              <a:endCxn id="950" idx="4"/>
            </p:cNvCxnSpPr>
            <p:nvPr/>
          </p:nvCxnSpPr>
          <p:spPr>
            <a:xfrm rot="10800000">
              <a:off x="1983600" y="2643457"/>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960" name="Google Shape;960;p52"/>
            <p:cNvCxnSpPr>
              <a:stCxn id="957" idx="2"/>
              <a:endCxn id="956" idx="0"/>
            </p:cNvCxnSpPr>
            <p:nvPr/>
          </p:nvCxnSpPr>
          <p:spPr>
            <a:xfrm flipH="1">
              <a:off x="3755250" y="3072007"/>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961" name="Google Shape;961;p52"/>
            <p:cNvCxnSpPr>
              <a:stCxn id="956" idx="6"/>
              <a:endCxn id="957" idx="4"/>
            </p:cNvCxnSpPr>
            <p:nvPr/>
          </p:nvCxnSpPr>
          <p:spPr>
            <a:xfrm rot="10800000" flipH="1">
              <a:off x="3898050" y="3214807"/>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962" name="Google Shape;962;p52"/>
            <p:cNvCxnSpPr>
              <a:stCxn id="950" idx="3"/>
              <a:endCxn id="952" idx="0"/>
            </p:cNvCxnSpPr>
            <p:nvPr/>
          </p:nvCxnSpPr>
          <p:spPr>
            <a:xfrm flipH="1">
              <a:off x="1869297" y="2601535"/>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963" name="Google Shape;963;p52"/>
            <p:cNvCxnSpPr>
              <a:stCxn id="952" idx="6"/>
              <a:endCxn id="953" idx="3"/>
            </p:cNvCxnSpPr>
            <p:nvPr/>
          </p:nvCxnSpPr>
          <p:spPr>
            <a:xfrm rot="10800000" flipH="1">
              <a:off x="2012100" y="3344407"/>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964" name="Google Shape;964;p52"/>
            <p:cNvCxnSpPr>
              <a:stCxn id="950" idx="7"/>
              <a:endCxn id="951" idx="2"/>
            </p:cNvCxnSpPr>
            <p:nvPr/>
          </p:nvCxnSpPr>
          <p:spPr>
            <a:xfrm>
              <a:off x="2084553" y="2399479"/>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965" name="Google Shape;965;p52"/>
            <p:cNvCxnSpPr>
              <a:stCxn id="951" idx="6"/>
              <a:endCxn id="954" idx="2"/>
            </p:cNvCxnSpPr>
            <p:nvPr/>
          </p:nvCxnSpPr>
          <p:spPr>
            <a:xfrm>
              <a:off x="3383700" y="2443357"/>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966" name="Google Shape;966;p52"/>
            <p:cNvCxnSpPr>
              <a:stCxn id="954" idx="6"/>
              <a:endCxn id="955" idx="2"/>
            </p:cNvCxnSpPr>
            <p:nvPr/>
          </p:nvCxnSpPr>
          <p:spPr>
            <a:xfrm>
              <a:off x="4355250" y="2500507"/>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967" name="Google Shape;967;p52"/>
            <p:cNvCxnSpPr>
              <a:stCxn id="957" idx="1"/>
              <a:endCxn id="954" idx="4"/>
            </p:cNvCxnSpPr>
            <p:nvPr/>
          </p:nvCxnSpPr>
          <p:spPr>
            <a:xfrm rot="10800000">
              <a:off x="4212297" y="2643379"/>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968" name="Google Shape;968;p52"/>
            <p:cNvCxnSpPr>
              <a:stCxn id="955" idx="4"/>
              <a:endCxn id="957" idx="7"/>
            </p:cNvCxnSpPr>
            <p:nvPr/>
          </p:nvCxnSpPr>
          <p:spPr>
            <a:xfrm flipH="1">
              <a:off x="4599225" y="2643382"/>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969" name="Google Shape;969;p52"/>
            <p:cNvCxnSpPr>
              <a:stCxn id="951" idx="5"/>
              <a:endCxn id="956" idx="1"/>
            </p:cNvCxnSpPr>
            <p:nvPr/>
          </p:nvCxnSpPr>
          <p:spPr>
            <a:xfrm>
              <a:off x="3341853" y="2544385"/>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970" name="Google Shape;970;p52"/>
            <p:cNvCxnSpPr>
              <a:stCxn id="951" idx="4"/>
              <a:endCxn id="953" idx="0"/>
            </p:cNvCxnSpPr>
            <p:nvPr/>
          </p:nvCxnSpPr>
          <p:spPr>
            <a:xfrm flipH="1">
              <a:off x="3069225" y="2586232"/>
              <a:ext cx="171600" cy="514500"/>
            </a:xfrm>
            <a:prstGeom prst="straightConnector1">
              <a:avLst/>
            </a:prstGeom>
            <a:noFill/>
            <a:ln w="9525" cap="flat" cmpd="sng">
              <a:solidFill>
                <a:srgbClr val="A5A5A5"/>
              </a:solidFill>
              <a:prstDash val="dash"/>
              <a:round/>
              <a:headEnd type="none" w="med" len="med"/>
              <a:tailEnd type="triangle" w="med" len="med"/>
            </a:ln>
          </p:spPr>
        </p:cxnSp>
        <p:cxnSp>
          <p:nvCxnSpPr>
            <p:cNvPr id="971" name="Google Shape;971;p52"/>
            <p:cNvCxnSpPr>
              <a:stCxn id="953" idx="5"/>
              <a:endCxn id="956" idx="2"/>
            </p:cNvCxnSpPr>
            <p:nvPr/>
          </p:nvCxnSpPr>
          <p:spPr>
            <a:xfrm>
              <a:off x="3170403" y="3344485"/>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972" name="Google Shape;972;p52"/>
            <p:cNvCxnSpPr>
              <a:stCxn id="956" idx="3"/>
              <a:endCxn id="952" idx="5"/>
            </p:cNvCxnSpPr>
            <p:nvPr/>
          </p:nvCxnSpPr>
          <p:spPr>
            <a:xfrm rot="10800000">
              <a:off x="1970247" y="3515935"/>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973" name="Google Shape;973;p52"/>
            <p:cNvSpPr txBox="1"/>
            <p:nvPr/>
          </p:nvSpPr>
          <p:spPr>
            <a:xfrm>
              <a:off x="2429351" y="217755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74" name="Google Shape;974;p52"/>
            <p:cNvSpPr txBox="1"/>
            <p:nvPr/>
          </p:nvSpPr>
          <p:spPr>
            <a:xfrm>
              <a:off x="3580663" y="220124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975" name="Google Shape;975;p52"/>
            <p:cNvSpPr txBox="1"/>
            <p:nvPr/>
          </p:nvSpPr>
          <p:spPr>
            <a:xfrm>
              <a:off x="4449995" y="2232989"/>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976" name="Google Shape;976;p52"/>
            <p:cNvSpPr txBox="1"/>
            <p:nvPr/>
          </p:nvSpPr>
          <p:spPr>
            <a:xfrm>
              <a:off x="4755300" y="2700532"/>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977" name="Google Shape;977;p52"/>
            <p:cNvSpPr txBox="1"/>
            <p:nvPr/>
          </p:nvSpPr>
          <p:spPr>
            <a:xfrm>
              <a:off x="3411055" y="2751134"/>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978" name="Google Shape;978;p52"/>
            <p:cNvSpPr txBox="1"/>
            <p:nvPr/>
          </p:nvSpPr>
          <p:spPr>
            <a:xfrm>
              <a:off x="4126650" y="2700532"/>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979" name="Google Shape;979;p52"/>
            <p:cNvSpPr txBox="1"/>
            <p:nvPr/>
          </p:nvSpPr>
          <p:spPr>
            <a:xfrm>
              <a:off x="3876041" y="290710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980" name="Google Shape;980;p52"/>
            <p:cNvSpPr txBox="1"/>
            <p:nvPr/>
          </p:nvSpPr>
          <p:spPr>
            <a:xfrm>
              <a:off x="4112726" y="3214881"/>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981" name="Google Shape;981;p52"/>
            <p:cNvSpPr txBox="1"/>
            <p:nvPr/>
          </p:nvSpPr>
          <p:spPr>
            <a:xfrm>
              <a:off x="3234259" y="3181544"/>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982" name="Google Shape;982;p52"/>
            <p:cNvSpPr txBox="1"/>
            <p:nvPr/>
          </p:nvSpPr>
          <p:spPr>
            <a:xfrm>
              <a:off x="2707538" y="351018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983" name="Google Shape;983;p52"/>
            <p:cNvSpPr txBox="1"/>
            <p:nvPr/>
          </p:nvSpPr>
          <p:spPr>
            <a:xfrm>
              <a:off x="2636036" y="2489691"/>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84" name="Google Shape;984;p52"/>
            <p:cNvSpPr txBox="1"/>
            <p:nvPr/>
          </p:nvSpPr>
          <p:spPr>
            <a:xfrm>
              <a:off x="2412096" y="2911282"/>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985" name="Google Shape;985;p52"/>
            <p:cNvSpPr txBox="1"/>
            <p:nvPr/>
          </p:nvSpPr>
          <p:spPr>
            <a:xfrm>
              <a:off x="2170111" y="315536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86" name="Google Shape;986;p52"/>
            <p:cNvSpPr txBox="1"/>
            <p:nvPr/>
          </p:nvSpPr>
          <p:spPr>
            <a:xfrm>
              <a:off x="1681898" y="2794443"/>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987" name="Google Shape;987;p52"/>
            <p:cNvSpPr txBox="1"/>
            <p:nvPr/>
          </p:nvSpPr>
          <p:spPr>
            <a:xfrm>
              <a:off x="3078940" y="273625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grpSp>
      <p:sp>
        <p:nvSpPr>
          <p:cNvPr id="988" name="Google Shape;988;p52"/>
          <p:cNvSpPr txBox="1"/>
          <p:nvPr/>
        </p:nvSpPr>
        <p:spPr>
          <a:xfrm>
            <a:off x="4215762" y="1509856"/>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400">
              <a:solidFill>
                <a:srgbClr val="FF0000"/>
              </a:solidFill>
              <a:latin typeface="Calibri"/>
              <a:ea typeface="Calibri"/>
              <a:cs typeface="Calibri"/>
              <a:sym typeface="Calibri"/>
            </a:endParaRPr>
          </a:p>
        </p:txBody>
      </p:sp>
      <p:sp>
        <p:nvSpPr>
          <p:cNvPr id="989" name="Google Shape;989;p52"/>
          <p:cNvSpPr txBox="1"/>
          <p:nvPr/>
        </p:nvSpPr>
        <p:spPr>
          <a:xfrm>
            <a:off x="4061210" y="2731081"/>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90" name="Google Shape;990;p52"/>
          <p:cNvSpPr txBox="1"/>
          <p:nvPr/>
        </p:nvSpPr>
        <p:spPr>
          <a:xfrm>
            <a:off x="5805116" y="1464209"/>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991" name="Google Shape;991;p52"/>
          <p:cNvSpPr txBox="1"/>
          <p:nvPr/>
        </p:nvSpPr>
        <p:spPr>
          <a:xfrm>
            <a:off x="5537306" y="2621417"/>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400">
              <a:solidFill>
                <a:srgbClr val="FF0000"/>
              </a:solidFill>
              <a:latin typeface="Calibri"/>
              <a:ea typeface="Calibri"/>
              <a:cs typeface="Calibri"/>
              <a:sym typeface="Calibri"/>
            </a:endParaRPr>
          </a:p>
        </p:txBody>
      </p:sp>
      <p:sp>
        <p:nvSpPr>
          <p:cNvPr id="992" name="Google Shape;992;p52"/>
          <p:cNvSpPr txBox="1"/>
          <p:nvPr/>
        </p:nvSpPr>
        <p:spPr>
          <a:xfrm>
            <a:off x="7103421" y="1495610"/>
            <a:ext cx="478016"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400">
              <a:solidFill>
                <a:srgbClr val="FF0000"/>
              </a:solidFill>
              <a:latin typeface="Calibri"/>
              <a:ea typeface="Calibri"/>
              <a:cs typeface="Calibri"/>
              <a:sym typeface="Calibri"/>
            </a:endParaRPr>
          </a:p>
        </p:txBody>
      </p:sp>
      <p:sp>
        <p:nvSpPr>
          <p:cNvPr id="993" name="Google Shape;993;p52"/>
          <p:cNvSpPr txBox="1"/>
          <p:nvPr/>
        </p:nvSpPr>
        <p:spPr>
          <a:xfrm>
            <a:off x="6882804" y="3434693"/>
            <a:ext cx="58221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400">
              <a:solidFill>
                <a:srgbClr val="FF0000"/>
              </a:solidFill>
              <a:latin typeface="Calibri"/>
              <a:ea typeface="Calibri"/>
              <a:cs typeface="Calibri"/>
              <a:sym typeface="Calibri"/>
            </a:endParaRPr>
          </a:p>
        </p:txBody>
      </p:sp>
      <p:sp>
        <p:nvSpPr>
          <p:cNvPr id="994" name="Google Shape;994;p52"/>
          <p:cNvSpPr txBox="1"/>
          <p:nvPr/>
        </p:nvSpPr>
        <p:spPr>
          <a:xfrm>
            <a:off x="8139781" y="1524801"/>
            <a:ext cx="35939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400">
              <a:solidFill>
                <a:srgbClr val="FF0000"/>
              </a:solidFill>
              <a:latin typeface="Calibri"/>
              <a:ea typeface="Calibri"/>
              <a:cs typeface="Calibri"/>
              <a:sym typeface="Calibri"/>
            </a:endParaRPr>
          </a:p>
        </p:txBody>
      </p:sp>
      <p:sp>
        <p:nvSpPr>
          <p:cNvPr id="995" name="Google Shape;995;p52"/>
          <p:cNvSpPr txBox="1"/>
          <p:nvPr/>
        </p:nvSpPr>
        <p:spPr>
          <a:xfrm>
            <a:off x="7583519" y="2271617"/>
            <a:ext cx="35939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400">
              <a:solidFill>
                <a:srgbClr val="FF0000"/>
              </a:solidFill>
              <a:latin typeface="Calibri"/>
              <a:ea typeface="Calibri"/>
              <a:cs typeface="Calibri"/>
              <a:sym typeface="Calibri"/>
            </a:endParaRPr>
          </a:p>
        </p:txBody>
      </p:sp>
      <p:sp>
        <p:nvSpPr>
          <p:cNvPr id="996" name="Google Shape;996;p52"/>
          <p:cNvSpPr txBox="1"/>
          <p:nvPr/>
        </p:nvSpPr>
        <p:spPr>
          <a:xfrm>
            <a:off x="2394273" y="2868325"/>
            <a:ext cx="12801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KNOWN</a:t>
            </a:r>
            <a:endParaRPr sz="1800" b="1">
              <a:solidFill>
                <a:schemeClr val="accent6"/>
              </a:solidFill>
              <a:latin typeface="Quattrocento Sans"/>
              <a:ea typeface="Quattrocento Sans"/>
              <a:cs typeface="Quattrocento Sans"/>
              <a:sym typeface="Quattrocento Sans"/>
            </a:endParaRPr>
          </a:p>
        </p:txBody>
      </p:sp>
      <p:sp>
        <p:nvSpPr>
          <p:cNvPr id="997" name="Google Shape;997;p52"/>
          <p:cNvSpPr txBox="1"/>
          <p:nvPr/>
        </p:nvSpPr>
        <p:spPr>
          <a:xfrm>
            <a:off x="8618548" y="1359225"/>
            <a:ext cx="16683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9EC0D5"/>
                </a:solidFill>
                <a:latin typeface="Quattrocento Sans"/>
                <a:ea typeface="Quattrocento Sans"/>
                <a:cs typeface="Quattrocento Sans"/>
                <a:sym typeface="Quattrocento Sans"/>
              </a:rPr>
              <a:t>UNKNOWN</a:t>
            </a:r>
            <a:endParaRPr/>
          </a:p>
        </p:txBody>
      </p:sp>
      <p:sp>
        <p:nvSpPr>
          <p:cNvPr id="998" name="Google Shape;998;p52"/>
          <p:cNvSpPr txBox="1"/>
          <p:nvPr/>
        </p:nvSpPr>
        <p:spPr>
          <a:xfrm>
            <a:off x="6967913" y="1034534"/>
            <a:ext cx="139653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5"/>
                </a:solidFill>
                <a:latin typeface="Quattrocento Sans"/>
                <a:ea typeface="Quattrocento Sans"/>
                <a:cs typeface="Quattrocento Sans"/>
                <a:sym typeface="Quattrocento Sans"/>
              </a:rPr>
              <a:t>PERIMETER</a:t>
            </a:r>
            <a:endParaRPr/>
          </a:p>
        </p:txBody>
      </p:sp>
      <p:sp>
        <p:nvSpPr>
          <p:cNvPr id="999" name="Google Shape;999;p52"/>
          <p:cNvSpPr txBox="1"/>
          <p:nvPr/>
        </p:nvSpPr>
        <p:spPr>
          <a:xfrm>
            <a:off x="3312837" y="1712130"/>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53"/>
          <p:cNvSpPr txBox="1"/>
          <p:nvPr/>
        </p:nvSpPr>
        <p:spPr>
          <a:xfrm>
            <a:off x="3924150" y="2628578"/>
            <a:ext cx="7629300" cy="4048800"/>
          </a:xfrm>
          <a:prstGeom prst="rect">
            <a:avLst/>
          </a:prstGeom>
          <a:solidFill>
            <a:srgbClr val="F2F2F2"/>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960"/>
              <a:buFont typeface="Noto Sans Symbols"/>
              <a:buNone/>
            </a:pPr>
            <a:r>
              <a:rPr lang="en-US" sz="1600" b="1">
                <a:solidFill>
                  <a:schemeClr val="dk1"/>
                </a:solidFill>
                <a:latin typeface="Consolas"/>
                <a:ea typeface="Consolas"/>
                <a:cs typeface="Consolas"/>
                <a:sym typeface="Consolas"/>
              </a:rPr>
              <a:t>dijkstraShortestPath</a:t>
            </a:r>
            <a:r>
              <a:rPr lang="en-US" sz="1600" b="0">
                <a:solidFill>
                  <a:schemeClr val="dk1"/>
                </a:solidFill>
                <a:latin typeface="Consolas"/>
                <a:ea typeface="Consolas"/>
                <a:cs typeface="Consolas"/>
                <a:sym typeface="Consolas"/>
              </a:rPr>
              <a:t>(</a:t>
            </a:r>
            <a:r>
              <a:rPr lang="en-US" sz="1600" b="0">
                <a:solidFill>
                  <a:schemeClr val="accent3"/>
                </a:solidFill>
                <a:latin typeface="Consolas"/>
                <a:ea typeface="Consolas"/>
                <a:cs typeface="Consolas"/>
                <a:sym typeface="Consolas"/>
              </a:rPr>
              <a:t>G</a:t>
            </a:r>
            <a:r>
              <a:rPr lang="en-US" sz="1600" b="0">
                <a:solidFill>
                  <a:schemeClr val="dk1"/>
                </a:solidFill>
                <a:latin typeface="Consolas"/>
                <a:ea typeface="Consolas"/>
                <a:cs typeface="Consolas"/>
                <a:sym typeface="Consolas"/>
              </a:rPr>
              <a:t> graph, </a:t>
            </a:r>
            <a:r>
              <a:rPr lang="en-US" sz="1600" b="0">
                <a:solidFill>
                  <a:schemeClr val="accent3"/>
                </a:solidFill>
                <a:latin typeface="Consolas"/>
                <a:ea typeface="Consolas"/>
                <a:cs typeface="Consolas"/>
                <a:sym typeface="Consolas"/>
              </a:rPr>
              <a:t>V </a:t>
            </a:r>
            <a:r>
              <a:rPr lang="en-US" sz="1600" b="0">
                <a:solidFill>
                  <a:schemeClr val="dk1"/>
                </a:solidFill>
                <a:latin typeface="Consolas"/>
                <a:ea typeface="Consolas"/>
                <a:cs typeface="Consolas"/>
                <a:sym typeface="Consolas"/>
              </a:rPr>
              <a:t>start)</a:t>
            </a:r>
            <a:endParaRPr/>
          </a:p>
          <a:p>
            <a:pPr marL="0" marR="0" lvl="0" indent="0" algn="l" rtl="0">
              <a:lnSpc>
                <a:spcPct val="120000"/>
              </a:lnSpc>
              <a:spcBef>
                <a:spcPts val="0"/>
              </a:spcBef>
              <a:spcAft>
                <a:spcPts val="0"/>
              </a:spcAft>
              <a:buClr>
                <a:srgbClr val="4B2A85"/>
              </a:buClr>
              <a:buSzPts val="960"/>
              <a:buFont typeface="Noto Sans Symbols"/>
              <a:buNone/>
            </a:pPr>
            <a:br>
              <a:rPr lang="en-US" sz="1600" b="0">
                <a:solidFill>
                  <a:schemeClr val="dk1"/>
                </a:solidFill>
                <a:latin typeface="Consolas"/>
                <a:ea typeface="Consolas"/>
                <a:cs typeface="Consolas"/>
                <a:sym typeface="Consolas"/>
              </a:rPr>
            </a:br>
            <a:endParaRPr sz="1600" b="0">
              <a:solidFill>
                <a:schemeClr val="dk1"/>
              </a:solidFill>
              <a:latin typeface="Consolas"/>
              <a:ea typeface="Consolas"/>
              <a:cs typeface="Consolas"/>
              <a:sym typeface="Consolas"/>
            </a:endParaRPr>
          </a:p>
        </p:txBody>
      </p:sp>
      <p:sp>
        <p:nvSpPr>
          <p:cNvPr id="1005" name="Google Shape;1005;p53"/>
          <p:cNvSpPr txBox="1"/>
          <p:nvPr/>
        </p:nvSpPr>
        <p:spPr>
          <a:xfrm>
            <a:off x="337070" y="263617"/>
            <a:ext cx="8322835" cy="683745"/>
          </a:xfrm>
          <a:prstGeom prst="rect">
            <a:avLst/>
          </a:prstGeom>
          <a:noFill/>
          <a:ln>
            <a:noFill/>
          </a:ln>
        </p:spPr>
        <p:txBody>
          <a:bodyPr spcFirstLastPara="1" wrap="square" lIns="91425" tIns="45700" rIns="91425" bIns="45700" anchor="ctr" anchorCtr="0">
            <a:normAutofit fontScale="92500"/>
          </a:bodyPr>
          <a:lstStyle/>
          <a:p>
            <a:pPr marL="0" marR="0" lvl="0" indent="0" algn="l" rtl="0">
              <a:lnSpc>
                <a:spcPct val="90000"/>
              </a:lnSpc>
              <a:spcBef>
                <a:spcPts val="0"/>
              </a:spcBef>
              <a:spcAft>
                <a:spcPts val="0"/>
              </a:spcAft>
              <a:buClr>
                <a:schemeClr val="dk1"/>
              </a:buClr>
              <a:buSzPct val="100000"/>
              <a:buFont typeface="Calibri"/>
              <a:buNone/>
            </a:pPr>
            <a:r>
              <a:rPr lang="en-US" sz="4400" i="0">
                <a:solidFill>
                  <a:schemeClr val="dk1"/>
                </a:solidFill>
                <a:latin typeface="Quattrocento Sans"/>
                <a:ea typeface="Quattrocento Sans"/>
                <a:cs typeface="Quattrocento Sans"/>
                <a:sym typeface="Quattrocento Sans"/>
              </a:rPr>
              <a:t>Dijkstra’s Pseudocode (High-Level)</a:t>
            </a:r>
            <a:endParaRPr>
              <a:latin typeface="Quattrocento Sans"/>
              <a:ea typeface="Quattrocento Sans"/>
              <a:cs typeface="Quattrocento Sans"/>
              <a:sym typeface="Quattrocento Sans"/>
            </a:endParaRPr>
          </a:p>
        </p:txBody>
      </p:sp>
      <p:sp>
        <p:nvSpPr>
          <p:cNvPr id="1006" name="Google Shape;1006;p53"/>
          <p:cNvSpPr/>
          <p:nvPr/>
        </p:nvSpPr>
        <p:spPr>
          <a:xfrm>
            <a:off x="468525" y="1619600"/>
            <a:ext cx="3060300" cy="1287900"/>
          </a:xfrm>
          <a:prstGeom prst="wedgeRectCallout">
            <a:avLst>
              <a:gd name="adj1" fmla="val 73701"/>
              <a:gd name="adj2" fmla="val 63979"/>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Similar to “visited” in BFS, “known” is set of nodes that have been visited and we know shortest paths to them</a:t>
            </a:r>
            <a:endParaRPr dirty="0"/>
          </a:p>
        </p:txBody>
      </p:sp>
      <p:sp>
        <p:nvSpPr>
          <p:cNvPr id="1007" name="Google Shape;1007;p53"/>
          <p:cNvSpPr/>
          <p:nvPr/>
        </p:nvSpPr>
        <p:spPr>
          <a:xfrm>
            <a:off x="468525" y="3314713"/>
            <a:ext cx="3060300" cy="553588"/>
          </a:xfrm>
          <a:prstGeom prst="wedgeRectCallout">
            <a:avLst>
              <a:gd name="adj1" fmla="val 74446"/>
              <a:gd name="adj2" fmla="val -16875"/>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Init all paths to infinite.</a:t>
            </a:r>
            <a:endParaRPr dirty="0"/>
          </a:p>
        </p:txBody>
      </p:sp>
      <p:sp>
        <p:nvSpPr>
          <p:cNvPr id="1008" name="Google Shape;1008;p53"/>
          <p:cNvSpPr/>
          <p:nvPr/>
        </p:nvSpPr>
        <p:spPr>
          <a:xfrm>
            <a:off x="468525" y="4432725"/>
            <a:ext cx="3060300" cy="650700"/>
          </a:xfrm>
          <a:prstGeom prst="wedgeRectCallout">
            <a:avLst>
              <a:gd name="adj1" fmla="val 81112"/>
              <a:gd name="adj2" fmla="val -66208"/>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Greedy algo: visit closest node first</a:t>
            </a:r>
            <a:endParaRPr dirty="0"/>
          </a:p>
        </p:txBody>
      </p:sp>
      <p:sp>
        <p:nvSpPr>
          <p:cNvPr id="1009" name="Google Shape;1009;p53"/>
          <p:cNvSpPr/>
          <p:nvPr/>
        </p:nvSpPr>
        <p:spPr>
          <a:xfrm>
            <a:off x="468525" y="5202225"/>
            <a:ext cx="3060300" cy="1581000"/>
          </a:xfrm>
          <a:prstGeom prst="wedgeRectCallout">
            <a:avLst>
              <a:gd name="adj1" fmla="val 87639"/>
              <a:gd name="adj2" fmla="val -38799"/>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Consider all nodes reachable from the newly-added node u: would getting there </a:t>
            </a:r>
            <a:r>
              <a:rPr lang="en-US" sz="1800" i="1" dirty="0">
                <a:solidFill>
                  <a:schemeClr val="lt1"/>
                </a:solidFill>
                <a:latin typeface="Quattrocento Sans"/>
                <a:ea typeface="Quattrocento Sans"/>
                <a:cs typeface="Quattrocento Sans"/>
                <a:sym typeface="Quattrocento Sans"/>
              </a:rPr>
              <a:t>through</a:t>
            </a:r>
            <a:r>
              <a:rPr lang="en-US" sz="1800" dirty="0">
                <a:solidFill>
                  <a:schemeClr val="lt1"/>
                </a:solidFill>
                <a:latin typeface="Quattrocento Sans"/>
                <a:ea typeface="Quattrocento Sans"/>
                <a:cs typeface="Quattrocento Sans"/>
                <a:sym typeface="Quattrocento Sans"/>
              </a:rPr>
              <a:t> u be a shorter path than their current path length? </a:t>
            </a:r>
            <a:endParaRPr dirty="0"/>
          </a:p>
        </p:txBody>
      </p:sp>
      <p:sp>
        <p:nvSpPr>
          <p:cNvPr id="1010" name="Google Shape;1010;p53"/>
          <p:cNvSpPr txBox="1"/>
          <p:nvPr/>
        </p:nvSpPr>
        <p:spPr>
          <a:xfrm>
            <a:off x="4203550" y="1126225"/>
            <a:ext cx="4641900" cy="1323399"/>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Quattrocento Sans"/>
                <a:ea typeface="Quattrocento Sans"/>
                <a:cs typeface="Quattrocento Sans"/>
                <a:sym typeface="Quattrocento Sans"/>
              </a:rPr>
              <a:t>Suppose we already visited B, SD[D] = </a:t>
            </a:r>
            <a:r>
              <a:rPr lang="en-US" sz="1600" dirty="0">
                <a:solidFill>
                  <a:srgbClr val="FF0000"/>
                </a:solidFill>
                <a:latin typeface="Quattrocento Sans"/>
                <a:ea typeface="Quattrocento Sans"/>
                <a:cs typeface="Quattrocento Sans"/>
                <a:sym typeface="Quattrocento Sans"/>
              </a:rPr>
              <a:t>7</a:t>
            </a:r>
            <a:endParaRPr dirty="0"/>
          </a:p>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Quattrocento Sans"/>
                <a:ea typeface="Quattrocento Sans"/>
                <a:cs typeface="Quattrocento Sans"/>
                <a:sym typeface="Quattrocento Sans"/>
              </a:rPr>
              <a:t>Now considering edge (C, D):</a:t>
            </a:r>
            <a:endParaRPr dirty="0"/>
          </a:p>
          <a:p>
            <a:pPr marL="742950" marR="0" lvl="1" indent="-285750" algn="l" rtl="0">
              <a:spcBef>
                <a:spcPts val="0"/>
              </a:spcBef>
              <a:spcAft>
                <a:spcPts val="0"/>
              </a:spcAft>
              <a:buClr>
                <a:schemeClr val="dk1"/>
              </a:buClr>
              <a:buSzPts val="1600"/>
              <a:buFont typeface="Arial"/>
              <a:buChar char="•"/>
            </a:pPr>
            <a:r>
              <a:rPr lang="en-US" sz="1600" b="0" i="0" u="none" strike="noStrike" cap="none" dirty="0" err="1">
                <a:solidFill>
                  <a:schemeClr val="dk1"/>
                </a:solidFill>
                <a:latin typeface="Consolas"/>
                <a:ea typeface="Consolas"/>
                <a:cs typeface="Consolas"/>
                <a:sym typeface="Consolas"/>
              </a:rPr>
              <a:t>oldDist</a:t>
            </a:r>
            <a:r>
              <a:rPr lang="en-US" sz="1600" b="0" i="0" u="none" strike="noStrike" cap="none" dirty="0">
                <a:solidFill>
                  <a:schemeClr val="dk1"/>
                </a:solidFill>
                <a:latin typeface="Consolas"/>
                <a:ea typeface="Consolas"/>
                <a:cs typeface="Consolas"/>
                <a:sym typeface="Consolas"/>
              </a:rPr>
              <a:t> = </a:t>
            </a:r>
            <a:r>
              <a:rPr lang="en-US" sz="1600" b="0" i="0" u="none" strike="noStrike" cap="none" dirty="0">
                <a:solidFill>
                  <a:srgbClr val="FF0000"/>
                </a:solidFill>
                <a:latin typeface="Consolas"/>
                <a:ea typeface="Consolas"/>
                <a:cs typeface="Consolas"/>
                <a:sym typeface="Consolas"/>
              </a:rPr>
              <a:t>7</a:t>
            </a:r>
            <a:endParaRPr dirty="0"/>
          </a:p>
          <a:p>
            <a:pPr marL="742950" marR="0" lvl="1" indent="-285750" algn="l" rtl="0">
              <a:spcBef>
                <a:spcPts val="0"/>
              </a:spcBef>
              <a:spcAft>
                <a:spcPts val="0"/>
              </a:spcAft>
              <a:buClr>
                <a:schemeClr val="dk1"/>
              </a:buClr>
              <a:buSzPts val="1600"/>
              <a:buFont typeface="Arial"/>
              <a:buChar char="•"/>
            </a:pPr>
            <a:r>
              <a:rPr lang="en-US" sz="1600" b="0" i="0" u="none" strike="noStrike" cap="none" dirty="0" err="1">
                <a:solidFill>
                  <a:schemeClr val="dk1"/>
                </a:solidFill>
                <a:latin typeface="Consolas"/>
                <a:ea typeface="Consolas"/>
                <a:cs typeface="Consolas"/>
                <a:sym typeface="Consolas"/>
              </a:rPr>
              <a:t>newDist</a:t>
            </a:r>
            <a:r>
              <a:rPr lang="en-US" sz="1600" b="0" i="0" u="none" strike="noStrike" cap="none" dirty="0">
                <a:solidFill>
                  <a:schemeClr val="dk1"/>
                </a:solidFill>
                <a:latin typeface="Consolas"/>
                <a:ea typeface="Consolas"/>
                <a:cs typeface="Consolas"/>
                <a:sym typeface="Consolas"/>
              </a:rPr>
              <a:t> = </a:t>
            </a:r>
            <a:r>
              <a:rPr lang="en-US" sz="1600" b="0" i="0" u="none" strike="noStrike" cap="none" dirty="0">
                <a:solidFill>
                  <a:srgbClr val="FF0000"/>
                </a:solidFill>
                <a:latin typeface="Consolas"/>
                <a:ea typeface="Consolas"/>
                <a:cs typeface="Consolas"/>
                <a:sym typeface="Consolas"/>
              </a:rPr>
              <a:t>3</a:t>
            </a:r>
            <a:r>
              <a:rPr lang="en-US" sz="1600" b="0" i="0" u="none" strike="noStrike" cap="none" dirty="0">
                <a:solidFill>
                  <a:schemeClr val="dk1"/>
                </a:solidFill>
                <a:latin typeface="Consolas"/>
                <a:ea typeface="Consolas"/>
                <a:cs typeface="Consolas"/>
                <a:sym typeface="Consolas"/>
              </a:rPr>
              <a:t> + 1</a:t>
            </a:r>
            <a:endParaRPr dirty="0"/>
          </a:p>
          <a:p>
            <a:pPr marL="742950" marR="0" lvl="1" indent="-285750" algn="l" rtl="0">
              <a:spcBef>
                <a:spcPts val="0"/>
              </a:spcBef>
              <a:spcAft>
                <a:spcPts val="0"/>
              </a:spcAft>
              <a:buClr>
                <a:schemeClr val="dk1"/>
              </a:buClr>
              <a:buSzPts val="1600"/>
              <a:buFont typeface="Arial"/>
              <a:buChar char="•"/>
            </a:pPr>
            <a:r>
              <a:rPr lang="en-US" sz="1600" b="0" i="0" u="none" strike="noStrike" cap="none" dirty="0">
                <a:solidFill>
                  <a:schemeClr val="dk1"/>
                </a:solidFill>
                <a:latin typeface="Quattrocento Sans"/>
                <a:ea typeface="Quattrocento Sans"/>
                <a:cs typeface="Quattrocento Sans"/>
                <a:sym typeface="Quattrocento Sans"/>
              </a:rPr>
              <a:t>Relaxation updates SD[D], PN[D]</a:t>
            </a:r>
            <a:endParaRPr dirty="0"/>
          </a:p>
        </p:txBody>
      </p:sp>
      <p:grpSp>
        <p:nvGrpSpPr>
          <p:cNvPr id="1011" name="Google Shape;1011;p53"/>
          <p:cNvGrpSpPr/>
          <p:nvPr/>
        </p:nvGrpSpPr>
        <p:grpSpPr>
          <a:xfrm>
            <a:off x="7950783" y="198925"/>
            <a:ext cx="4057288" cy="2254232"/>
            <a:chOff x="7950783" y="198925"/>
            <a:chExt cx="4057288" cy="2254232"/>
          </a:xfrm>
        </p:grpSpPr>
        <p:grpSp>
          <p:nvGrpSpPr>
            <p:cNvPr id="1012" name="Google Shape;1012;p53"/>
            <p:cNvGrpSpPr/>
            <p:nvPr/>
          </p:nvGrpSpPr>
          <p:grpSpPr>
            <a:xfrm>
              <a:off x="7950783" y="198925"/>
              <a:ext cx="4057288" cy="2254232"/>
              <a:chOff x="7950783" y="198925"/>
              <a:chExt cx="4057288" cy="2254232"/>
            </a:xfrm>
          </p:grpSpPr>
          <p:sp>
            <p:nvSpPr>
              <p:cNvPr id="1013" name="Google Shape;1013;p53"/>
              <p:cNvSpPr/>
              <p:nvPr/>
            </p:nvSpPr>
            <p:spPr>
              <a:xfrm>
                <a:off x="9996254" y="1003735"/>
                <a:ext cx="1254868" cy="1449422"/>
              </a:xfrm>
              <a:custGeom>
                <a:avLst/>
                <a:gdLst/>
                <a:ahLst/>
                <a:cxnLst/>
                <a:rect l="l" t="t" r="r" b="b"/>
                <a:pathLst>
                  <a:path w="1254868" h="1449422" extrusionOk="0">
                    <a:moveTo>
                      <a:pt x="992222" y="9728"/>
                    </a:moveTo>
                    <a:cubicBezTo>
                      <a:pt x="914401" y="12971"/>
                      <a:pt x="836260" y="11706"/>
                      <a:pt x="758758" y="19456"/>
                    </a:cubicBezTo>
                    <a:cubicBezTo>
                      <a:pt x="738352" y="21497"/>
                      <a:pt x="717456" y="27536"/>
                      <a:pt x="700392" y="38911"/>
                    </a:cubicBezTo>
                    <a:lnTo>
                      <a:pt x="671209" y="58366"/>
                    </a:lnTo>
                    <a:lnTo>
                      <a:pt x="612843" y="145915"/>
                    </a:lnTo>
                    <a:cubicBezTo>
                      <a:pt x="606358" y="155643"/>
                      <a:pt x="597085" y="164007"/>
                      <a:pt x="593388" y="175098"/>
                    </a:cubicBezTo>
                    <a:cubicBezTo>
                      <a:pt x="586921" y="194499"/>
                      <a:pt x="572512" y="239628"/>
                      <a:pt x="564205" y="252919"/>
                    </a:cubicBezTo>
                    <a:cubicBezTo>
                      <a:pt x="556914" y="264585"/>
                      <a:pt x="543018" y="270908"/>
                      <a:pt x="535022" y="282102"/>
                    </a:cubicBezTo>
                    <a:cubicBezTo>
                      <a:pt x="526593" y="293902"/>
                      <a:pt x="523610" y="308947"/>
                      <a:pt x="515566" y="321013"/>
                    </a:cubicBezTo>
                    <a:cubicBezTo>
                      <a:pt x="497579" y="347993"/>
                      <a:pt x="471701" y="369832"/>
                      <a:pt x="457200" y="398834"/>
                    </a:cubicBezTo>
                    <a:cubicBezTo>
                      <a:pt x="450715" y="411804"/>
                      <a:pt x="444787" y="425069"/>
                      <a:pt x="437745" y="437745"/>
                    </a:cubicBezTo>
                    <a:cubicBezTo>
                      <a:pt x="428563" y="454273"/>
                      <a:pt x="417408" y="469673"/>
                      <a:pt x="408562" y="486383"/>
                    </a:cubicBezTo>
                    <a:cubicBezTo>
                      <a:pt x="341324" y="613388"/>
                      <a:pt x="373476" y="572637"/>
                      <a:pt x="311285" y="661481"/>
                    </a:cubicBezTo>
                    <a:cubicBezTo>
                      <a:pt x="301988" y="674763"/>
                      <a:pt x="291399" y="687110"/>
                      <a:pt x="282102" y="700392"/>
                    </a:cubicBezTo>
                    <a:cubicBezTo>
                      <a:pt x="268693" y="719548"/>
                      <a:pt x="257221" y="740052"/>
                      <a:pt x="243192" y="758758"/>
                    </a:cubicBezTo>
                    <a:cubicBezTo>
                      <a:pt x="218277" y="791978"/>
                      <a:pt x="191026" y="823382"/>
                      <a:pt x="165371" y="856034"/>
                    </a:cubicBezTo>
                    <a:cubicBezTo>
                      <a:pt x="155354" y="868782"/>
                      <a:pt x="145916" y="881975"/>
                      <a:pt x="136188" y="894945"/>
                    </a:cubicBezTo>
                    <a:cubicBezTo>
                      <a:pt x="126460" y="907915"/>
                      <a:pt x="114256" y="919355"/>
                      <a:pt x="107005" y="933856"/>
                    </a:cubicBezTo>
                    <a:cubicBezTo>
                      <a:pt x="100520" y="946826"/>
                      <a:pt x="95235" y="960469"/>
                      <a:pt x="87549" y="972766"/>
                    </a:cubicBezTo>
                    <a:cubicBezTo>
                      <a:pt x="78956" y="986514"/>
                      <a:pt x="66959" y="997929"/>
                      <a:pt x="58366" y="1011677"/>
                    </a:cubicBezTo>
                    <a:cubicBezTo>
                      <a:pt x="50681" y="1023974"/>
                      <a:pt x="46105" y="1037997"/>
                      <a:pt x="38911" y="1050587"/>
                    </a:cubicBezTo>
                    <a:cubicBezTo>
                      <a:pt x="56" y="1118584"/>
                      <a:pt x="38307" y="1032643"/>
                      <a:pt x="0" y="1128409"/>
                    </a:cubicBezTo>
                    <a:cubicBezTo>
                      <a:pt x="6485" y="1180290"/>
                      <a:pt x="8114" y="1233012"/>
                      <a:pt x="19456" y="1284051"/>
                    </a:cubicBezTo>
                    <a:cubicBezTo>
                      <a:pt x="21446" y="1293004"/>
                      <a:pt x="31865" y="1297636"/>
                      <a:pt x="38911" y="1303507"/>
                    </a:cubicBezTo>
                    <a:cubicBezTo>
                      <a:pt x="42016" y="1306095"/>
                      <a:pt x="96896" y="1347933"/>
                      <a:pt x="107005" y="1352145"/>
                    </a:cubicBezTo>
                    <a:cubicBezTo>
                      <a:pt x="135400" y="1363976"/>
                      <a:pt x="167040" y="1367571"/>
                      <a:pt x="194554" y="1381328"/>
                    </a:cubicBezTo>
                    <a:cubicBezTo>
                      <a:pt x="207524" y="1387813"/>
                      <a:pt x="219707" y="1396197"/>
                      <a:pt x="233464" y="1400783"/>
                    </a:cubicBezTo>
                    <a:cubicBezTo>
                      <a:pt x="258831" y="1409239"/>
                      <a:pt x="287369" y="1408281"/>
                      <a:pt x="311285" y="1420239"/>
                    </a:cubicBezTo>
                    <a:cubicBezTo>
                      <a:pt x="367838" y="1448515"/>
                      <a:pt x="335892" y="1437310"/>
                      <a:pt x="408562" y="1449422"/>
                    </a:cubicBezTo>
                    <a:cubicBezTo>
                      <a:pt x="543919" y="1439010"/>
                      <a:pt x="600146" y="1448880"/>
                      <a:pt x="700392" y="1420239"/>
                    </a:cubicBezTo>
                    <a:cubicBezTo>
                      <a:pt x="710251" y="1417422"/>
                      <a:pt x="720404" y="1415097"/>
                      <a:pt x="729575" y="1410511"/>
                    </a:cubicBezTo>
                    <a:cubicBezTo>
                      <a:pt x="746486" y="1402055"/>
                      <a:pt x="763688" y="1393432"/>
                      <a:pt x="778213" y="1381328"/>
                    </a:cubicBezTo>
                    <a:cubicBezTo>
                      <a:pt x="802873" y="1360778"/>
                      <a:pt x="823609" y="1335932"/>
                      <a:pt x="846307" y="1313234"/>
                    </a:cubicBezTo>
                    <a:cubicBezTo>
                      <a:pt x="856035" y="1303506"/>
                      <a:pt x="864484" y="1292305"/>
                      <a:pt x="875490" y="1284051"/>
                    </a:cubicBezTo>
                    <a:cubicBezTo>
                      <a:pt x="973606" y="1210462"/>
                      <a:pt x="852553" y="1304120"/>
                      <a:pt x="953311" y="1215958"/>
                    </a:cubicBezTo>
                    <a:cubicBezTo>
                      <a:pt x="1019340" y="1158184"/>
                      <a:pt x="968347" y="1218609"/>
                      <a:pt x="1021405" y="1147864"/>
                    </a:cubicBezTo>
                    <a:cubicBezTo>
                      <a:pt x="1042270" y="1085265"/>
                      <a:pt x="1014775" y="1153254"/>
                      <a:pt x="1060315" y="1089498"/>
                    </a:cubicBezTo>
                    <a:cubicBezTo>
                      <a:pt x="1094055" y="1042262"/>
                      <a:pt x="1068328" y="1063746"/>
                      <a:pt x="1089498" y="1021405"/>
                    </a:cubicBezTo>
                    <a:cubicBezTo>
                      <a:pt x="1097954" y="1004494"/>
                      <a:pt x="1110225" y="989677"/>
                      <a:pt x="1118681" y="972766"/>
                    </a:cubicBezTo>
                    <a:cubicBezTo>
                      <a:pt x="1161263" y="887602"/>
                      <a:pt x="1119997" y="959530"/>
                      <a:pt x="1147864" y="885217"/>
                    </a:cubicBezTo>
                    <a:cubicBezTo>
                      <a:pt x="1152955" y="871639"/>
                      <a:pt x="1161933" y="859771"/>
                      <a:pt x="1167319" y="846307"/>
                    </a:cubicBezTo>
                    <a:cubicBezTo>
                      <a:pt x="1174936" y="827266"/>
                      <a:pt x="1180290" y="807396"/>
                      <a:pt x="1186775" y="787941"/>
                    </a:cubicBezTo>
                    <a:lnTo>
                      <a:pt x="1196502" y="758758"/>
                    </a:lnTo>
                    <a:cubicBezTo>
                      <a:pt x="1199745" y="749030"/>
                      <a:pt x="1203743" y="739523"/>
                      <a:pt x="1206230" y="729575"/>
                    </a:cubicBezTo>
                    <a:cubicBezTo>
                      <a:pt x="1209473" y="716605"/>
                      <a:pt x="1213157" y="703737"/>
                      <a:pt x="1215958" y="690664"/>
                    </a:cubicBezTo>
                    <a:cubicBezTo>
                      <a:pt x="1222887" y="658330"/>
                      <a:pt x="1227392" y="625467"/>
                      <a:pt x="1235413" y="593387"/>
                    </a:cubicBezTo>
                    <a:cubicBezTo>
                      <a:pt x="1250702" y="532233"/>
                      <a:pt x="1243250" y="567712"/>
                      <a:pt x="1254868" y="486383"/>
                    </a:cubicBezTo>
                    <a:cubicBezTo>
                      <a:pt x="1251626" y="389106"/>
                      <a:pt x="1253953" y="291484"/>
                      <a:pt x="1245141" y="194553"/>
                    </a:cubicBezTo>
                    <a:cubicBezTo>
                      <a:pt x="1244083" y="182910"/>
                      <a:pt x="1230914" y="175827"/>
                      <a:pt x="1225685" y="165370"/>
                    </a:cubicBezTo>
                    <a:cubicBezTo>
                      <a:pt x="1221099" y="156199"/>
                      <a:pt x="1221234" y="144980"/>
                      <a:pt x="1215958" y="136187"/>
                    </a:cubicBezTo>
                    <a:cubicBezTo>
                      <a:pt x="1203017" y="114619"/>
                      <a:pt x="1145370" y="85055"/>
                      <a:pt x="1138137" y="77822"/>
                    </a:cubicBezTo>
                    <a:cubicBezTo>
                      <a:pt x="1131652" y="71337"/>
                      <a:pt x="1126018" y="63869"/>
                      <a:pt x="1118681" y="58366"/>
                    </a:cubicBezTo>
                    <a:cubicBezTo>
                      <a:pt x="1092452" y="38694"/>
                      <a:pt x="1039345" y="0"/>
                      <a:pt x="1001949" y="0"/>
                    </a:cubicBezTo>
                    <a:lnTo>
                      <a:pt x="992222" y="9728"/>
                    </a:lnTo>
                    <a:close/>
                  </a:path>
                </a:pathLst>
              </a:custGeom>
              <a:solidFill>
                <a:srgbClr val="A7D8B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014" name="Google Shape;1014;p53"/>
              <p:cNvSpPr/>
              <p:nvPr/>
            </p:nvSpPr>
            <p:spPr>
              <a:xfrm>
                <a:off x="8659905" y="352344"/>
                <a:ext cx="1857983" cy="1834115"/>
              </a:xfrm>
              <a:custGeom>
                <a:avLst/>
                <a:gdLst/>
                <a:ahLst/>
                <a:cxnLst/>
                <a:rect l="l" t="t" r="r" b="b"/>
                <a:pathLst>
                  <a:path w="1857983" h="1834115" extrusionOk="0">
                    <a:moveTo>
                      <a:pt x="1284051" y="112319"/>
                    </a:moveTo>
                    <a:cubicBezTo>
                      <a:pt x="1251626" y="104213"/>
                      <a:pt x="1192337" y="112260"/>
                      <a:pt x="1147864" y="102592"/>
                    </a:cubicBezTo>
                    <a:cubicBezTo>
                      <a:pt x="1116657" y="95808"/>
                      <a:pt x="1090390" y="74422"/>
                      <a:pt x="1060315" y="63681"/>
                    </a:cubicBezTo>
                    <a:cubicBezTo>
                      <a:pt x="1044744" y="58120"/>
                      <a:pt x="1027628" y="58303"/>
                      <a:pt x="1011677" y="53953"/>
                    </a:cubicBezTo>
                    <a:cubicBezTo>
                      <a:pt x="894393" y="21966"/>
                      <a:pt x="1017151" y="42478"/>
                      <a:pt x="875489" y="24770"/>
                    </a:cubicBezTo>
                    <a:cubicBezTo>
                      <a:pt x="733753" y="-22472"/>
                      <a:pt x="841264" y="9669"/>
                      <a:pt x="486383" y="24770"/>
                    </a:cubicBezTo>
                    <a:cubicBezTo>
                      <a:pt x="453825" y="26155"/>
                      <a:pt x="421532" y="31255"/>
                      <a:pt x="389106" y="34498"/>
                    </a:cubicBezTo>
                    <a:cubicBezTo>
                      <a:pt x="372893" y="37741"/>
                      <a:pt x="356304" y="39475"/>
                      <a:pt x="340468" y="44226"/>
                    </a:cubicBezTo>
                    <a:cubicBezTo>
                      <a:pt x="323743" y="49244"/>
                      <a:pt x="308395" y="58159"/>
                      <a:pt x="291830" y="63681"/>
                    </a:cubicBezTo>
                    <a:cubicBezTo>
                      <a:pt x="279147" y="67909"/>
                      <a:pt x="265889" y="70166"/>
                      <a:pt x="252919" y="73409"/>
                    </a:cubicBezTo>
                    <a:cubicBezTo>
                      <a:pt x="243191" y="79894"/>
                      <a:pt x="234193" y="87636"/>
                      <a:pt x="223736" y="92864"/>
                    </a:cubicBezTo>
                    <a:cubicBezTo>
                      <a:pt x="171856" y="118804"/>
                      <a:pt x="216368" y="81565"/>
                      <a:pt x="155643" y="122047"/>
                    </a:cubicBezTo>
                    <a:cubicBezTo>
                      <a:pt x="148012" y="127134"/>
                      <a:pt x="143233" y="135631"/>
                      <a:pt x="136187" y="141502"/>
                    </a:cubicBezTo>
                    <a:cubicBezTo>
                      <a:pt x="123732" y="151881"/>
                      <a:pt x="108741" y="159221"/>
                      <a:pt x="97277" y="170685"/>
                    </a:cubicBezTo>
                    <a:cubicBezTo>
                      <a:pt x="89010" y="178952"/>
                      <a:pt x="85124" y="190739"/>
                      <a:pt x="77821" y="199868"/>
                    </a:cubicBezTo>
                    <a:cubicBezTo>
                      <a:pt x="53695" y="230026"/>
                      <a:pt x="58870" y="208590"/>
                      <a:pt x="38911" y="248507"/>
                    </a:cubicBezTo>
                    <a:cubicBezTo>
                      <a:pt x="34325" y="257678"/>
                      <a:pt x="32783" y="268089"/>
                      <a:pt x="29183" y="277690"/>
                    </a:cubicBezTo>
                    <a:cubicBezTo>
                      <a:pt x="1711" y="350950"/>
                      <a:pt x="16300" y="300041"/>
                      <a:pt x="0" y="365238"/>
                    </a:cubicBezTo>
                    <a:cubicBezTo>
                      <a:pt x="3243" y="465757"/>
                      <a:pt x="1015" y="566602"/>
                      <a:pt x="9728" y="666796"/>
                    </a:cubicBezTo>
                    <a:cubicBezTo>
                      <a:pt x="14025" y="716211"/>
                      <a:pt x="26881" y="764590"/>
                      <a:pt x="38911" y="812711"/>
                    </a:cubicBezTo>
                    <a:cubicBezTo>
                      <a:pt x="45396" y="838651"/>
                      <a:pt x="48435" y="865706"/>
                      <a:pt x="58366" y="890532"/>
                    </a:cubicBezTo>
                    <a:cubicBezTo>
                      <a:pt x="71336" y="922958"/>
                      <a:pt x="88807" y="953928"/>
                      <a:pt x="97277" y="987809"/>
                    </a:cubicBezTo>
                    <a:cubicBezTo>
                      <a:pt x="103762" y="1013749"/>
                      <a:pt x="108276" y="1040264"/>
                      <a:pt x="116732" y="1065630"/>
                    </a:cubicBezTo>
                    <a:cubicBezTo>
                      <a:pt x="119975" y="1075358"/>
                      <a:pt x="123973" y="1084865"/>
                      <a:pt x="126460" y="1094813"/>
                    </a:cubicBezTo>
                    <a:cubicBezTo>
                      <a:pt x="130470" y="1110853"/>
                      <a:pt x="132469" y="1127341"/>
                      <a:pt x="136187" y="1143451"/>
                    </a:cubicBezTo>
                    <a:cubicBezTo>
                      <a:pt x="159985" y="1246577"/>
                      <a:pt x="149518" y="1193441"/>
                      <a:pt x="175098" y="1289366"/>
                    </a:cubicBezTo>
                    <a:cubicBezTo>
                      <a:pt x="178602" y="1302508"/>
                      <a:pt x="193168" y="1370439"/>
                      <a:pt x="204281" y="1396370"/>
                    </a:cubicBezTo>
                    <a:cubicBezTo>
                      <a:pt x="240980" y="1482001"/>
                      <a:pt x="206990" y="1384366"/>
                      <a:pt x="243191" y="1483919"/>
                    </a:cubicBezTo>
                    <a:cubicBezTo>
                      <a:pt x="268740" y="1554179"/>
                      <a:pt x="246718" y="1526355"/>
                      <a:pt x="282102" y="1561741"/>
                    </a:cubicBezTo>
                    <a:cubicBezTo>
                      <a:pt x="285345" y="1571469"/>
                      <a:pt x="286850" y="1581960"/>
                      <a:pt x="291830" y="1590924"/>
                    </a:cubicBezTo>
                    <a:cubicBezTo>
                      <a:pt x="325688" y="1651869"/>
                      <a:pt x="338110" y="1656660"/>
                      <a:pt x="389106" y="1707656"/>
                    </a:cubicBezTo>
                    <a:cubicBezTo>
                      <a:pt x="416751" y="1735300"/>
                      <a:pt x="407015" y="1727396"/>
                      <a:pt x="447472" y="1756294"/>
                    </a:cubicBezTo>
                    <a:cubicBezTo>
                      <a:pt x="456985" y="1763089"/>
                      <a:pt x="466198" y="1770521"/>
                      <a:pt x="476655" y="1775749"/>
                    </a:cubicBezTo>
                    <a:cubicBezTo>
                      <a:pt x="485826" y="1780335"/>
                      <a:pt x="496667" y="1780891"/>
                      <a:pt x="505838" y="1785477"/>
                    </a:cubicBezTo>
                    <a:cubicBezTo>
                      <a:pt x="516295" y="1790705"/>
                      <a:pt x="524275" y="1800327"/>
                      <a:pt x="535021" y="1804932"/>
                    </a:cubicBezTo>
                    <a:cubicBezTo>
                      <a:pt x="547310" y="1810198"/>
                      <a:pt x="560881" y="1811760"/>
                      <a:pt x="573932" y="1814660"/>
                    </a:cubicBezTo>
                    <a:cubicBezTo>
                      <a:pt x="644366" y="1830312"/>
                      <a:pt x="599603" y="1816731"/>
                      <a:pt x="651753" y="1834115"/>
                    </a:cubicBezTo>
                    <a:cubicBezTo>
                      <a:pt x="729574" y="1830872"/>
                      <a:pt x="807513" y="1829746"/>
                      <a:pt x="885217" y="1824387"/>
                    </a:cubicBezTo>
                    <a:cubicBezTo>
                      <a:pt x="903367" y="1823135"/>
                      <a:pt x="943314" y="1813385"/>
                      <a:pt x="963038" y="1804932"/>
                    </a:cubicBezTo>
                    <a:cubicBezTo>
                      <a:pt x="976367" y="1799220"/>
                      <a:pt x="988192" y="1790063"/>
                      <a:pt x="1001949" y="1785477"/>
                    </a:cubicBezTo>
                    <a:cubicBezTo>
                      <a:pt x="1017634" y="1780249"/>
                      <a:pt x="1034374" y="1778992"/>
                      <a:pt x="1050587" y="1775749"/>
                    </a:cubicBezTo>
                    <a:cubicBezTo>
                      <a:pt x="1060315" y="1769264"/>
                      <a:pt x="1069619" y="1762094"/>
                      <a:pt x="1079770" y="1756294"/>
                    </a:cubicBezTo>
                    <a:cubicBezTo>
                      <a:pt x="1092361" y="1749099"/>
                      <a:pt x="1106384" y="1744524"/>
                      <a:pt x="1118681" y="1736838"/>
                    </a:cubicBezTo>
                    <a:cubicBezTo>
                      <a:pt x="1132429" y="1728245"/>
                      <a:pt x="1144398" y="1717079"/>
                      <a:pt x="1157591" y="1707656"/>
                    </a:cubicBezTo>
                    <a:cubicBezTo>
                      <a:pt x="1167105" y="1700861"/>
                      <a:pt x="1177975" y="1695899"/>
                      <a:pt x="1186774" y="1688200"/>
                    </a:cubicBezTo>
                    <a:cubicBezTo>
                      <a:pt x="1204029" y="1673102"/>
                      <a:pt x="1222695" y="1658640"/>
                      <a:pt x="1235413" y="1639562"/>
                    </a:cubicBezTo>
                    <a:cubicBezTo>
                      <a:pt x="1241898" y="1629834"/>
                      <a:pt x="1246070" y="1618078"/>
                      <a:pt x="1254868" y="1610379"/>
                    </a:cubicBezTo>
                    <a:cubicBezTo>
                      <a:pt x="1272465" y="1594981"/>
                      <a:pt x="1293779" y="1584438"/>
                      <a:pt x="1313234" y="1571468"/>
                    </a:cubicBezTo>
                    <a:cubicBezTo>
                      <a:pt x="1360472" y="1539976"/>
                      <a:pt x="1391638" y="1521957"/>
                      <a:pt x="1429966" y="1464464"/>
                    </a:cubicBezTo>
                    <a:cubicBezTo>
                      <a:pt x="1436451" y="1454736"/>
                      <a:pt x="1444193" y="1445738"/>
                      <a:pt x="1449421" y="1435281"/>
                    </a:cubicBezTo>
                    <a:cubicBezTo>
                      <a:pt x="1454007" y="1426110"/>
                      <a:pt x="1453461" y="1414630"/>
                      <a:pt x="1459149" y="1406098"/>
                    </a:cubicBezTo>
                    <a:cubicBezTo>
                      <a:pt x="1466780" y="1394652"/>
                      <a:pt x="1479886" y="1387774"/>
                      <a:pt x="1488332" y="1376915"/>
                    </a:cubicBezTo>
                    <a:cubicBezTo>
                      <a:pt x="1502687" y="1358458"/>
                      <a:pt x="1514273" y="1338004"/>
                      <a:pt x="1527243" y="1318549"/>
                    </a:cubicBezTo>
                    <a:lnTo>
                      <a:pt x="1566153" y="1260183"/>
                    </a:lnTo>
                    <a:lnTo>
                      <a:pt x="1585608" y="1231000"/>
                    </a:lnTo>
                    <a:cubicBezTo>
                      <a:pt x="1592093" y="1221272"/>
                      <a:pt x="1600722" y="1212672"/>
                      <a:pt x="1605064" y="1201817"/>
                    </a:cubicBezTo>
                    <a:cubicBezTo>
                      <a:pt x="1633203" y="1131468"/>
                      <a:pt x="1614832" y="1167709"/>
                      <a:pt x="1663430" y="1094813"/>
                    </a:cubicBezTo>
                    <a:lnTo>
                      <a:pt x="1682885" y="1065630"/>
                    </a:lnTo>
                    <a:cubicBezTo>
                      <a:pt x="1689370" y="1055902"/>
                      <a:pt x="1694073" y="1044714"/>
                      <a:pt x="1702340" y="1036447"/>
                    </a:cubicBezTo>
                    <a:lnTo>
                      <a:pt x="1721796" y="1016992"/>
                    </a:lnTo>
                    <a:cubicBezTo>
                      <a:pt x="1731860" y="986798"/>
                      <a:pt x="1732946" y="978953"/>
                      <a:pt x="1750979" y="948898"/>
                    </a:cubicBezTo>
                    <a:cubicBezTo>
                      <a:pt x="1763009" y="928848"/>
                      <a:pt x="1776919" y="909987"/>
                      <a:pt x="1789889" y="890532"/>
                    </a:cubicBezTo>
                    <a:lnTo>
                      <a:pt x="1809345" y="861349"/>
                    </a:lnTo>
                    <a:lnTo>
                      <a:pt x="1838528" y="773800"/>
                    </a:lnTo>
                    <a:cubicBezTo>
                      <a:pt x="1841770" y="764072"/>
                      <a:pt x="1846244" y="754672"/>
                      <a:pt x="1848255" y="744617"/>
                    </a:cubicBezTo>
                    <a:lnTo>
                      <a:pt x="1857983" y="695979"/>
                    </a:lnTo>
                    <a:cubicBezTo>
                      <a:pt x="1854740" y="618158"/>
                      <a:pt x="1854009" y="540191"/>
                      <a:pt x="1848255" y="462515"/>
                    </a:cubicBezTo>
                    <a:cubicBezTo>
                      <a:pt x="1847498" y="452289"/>
                      <a:pt x="1844680" y="441535"/>
                      <a:pt x="1838528" y="433332"/>
                    </a:cubicBezTo>
                    <a:cubicBezTo>
                      <a:pt x="1824771" y="414989"/>
                      <a:pt x="1806102" y="400907"/>
                      <a:pt x="1789889" y="384694"/>
                    </a:cubicBezTo>
                    <a:cubicBezTo>
                      <a:pt x="1780161" y="374966"/>
                      <a:pt x="1773011" y="361663"/>
                      <a:pt x="1760706" y="355511"/>
                    </a:cubicBezTo>
                    <a:cubicBezTo>
                      <a:pt x="1747736" y="349026"/>
                      <a:pt x="1733861" y="344100"/>
                      <a:pt x="1721796" y="336056"/>
                    </a:cubicBezTo>
                    <a:cubicBezTo>
                      <a:pt x="1714165" y="330968"/>
                      <a:pt x="1709677" y="322103"/>
                      <a:pt x="1702340" y="316600"/>
                    </a:cubicBezTo>
                    <a:cubicBezTo>
                      <a:pt x="1683634" y="302571"/>
                      <a:pt x="1660507" y="294224"/>
                      <a:pt x="1643974" y="277690"/>
                    </a:cubicBezTo>
                    <a:cubicBezTo>
                      <a:pt x="1637489" y="271205"/>
                      <a:pt x="1631856" y="263737"/>
                      <a:pt x="1624519" y="258234"/>
                    </a:cubicBezTo>
                    <a:cubicBezTo>
                      <a:pt x="1605813" y="244205"/>
                      <a:pt x="1588837" y="224995"/>
                      <a:pt x="1566153" y="219324"/>
                    </a:cubicBezTo>
                    <a:cubicBezTo>
                      <a:pt x="1553183" y="216081"/>
                      <a:pt x="1540048" y="213438"/>
                      <a:pt x="1527243" y="209596"/>
                    </a:cubicBezTo>
                    <a:cubicBezTo>
                      <a:pt x="1507600" y="203703"/>
                      <a:pt x="1488986" y="194163"/>
                      <a:pt x="1468877" y="190141"/>
                    </a:cubicBezTo>
                    <a:lnTo>
                      <a:pt x="1420238" y="180413"/>
                    </a:lnTo>
                    <a:cubicBezTo>
                      <a:pt x="1407268" y="173928"/>
                      <a:pt x="1394906" y="166050"/>
                      <a:pt x="1381328" y="160958"/>
                    </a:cubicBezTo>
                    <a:cubicBezTo>
                      <a:pt x="1368810" y="156264"/>
                      <a:pt x="1355223" y="155072"/>
                      <a:pt x="1342417" y="151230"/>
                    </a:cubicBezTo>
                    <a:cubicBezTo>
                      <a:pt x="1288044" y="134918"/>
                      <a:pt x="1316476" y="120425"/>
                      <a:pt x="1284051" y="112319"/>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cxnSp>
            <p:nvCxnSpPr>
              <p:cNvPr id="1015" name="Google Shape;1015;p53"/>
              <p:cNvCxnSpPr>
                <a:stCxn id="1016" idx="1"/>
                <a:endCxn id="1017" idx="3"/>
              </p:cNvCxnSpPr>
              <p:nvPr/>
            </p:nvCxnSpPr>
            <p:spPr>
              <a:xfrm flipH="1">
                <a:off x="9563048" y="1801743"/>
                <a:ext cx="947400" cy="1200"/>
              </a:xfrm>
              <a:prstGeom prst="straightConnector1">
                <a:avLst/>
              </a:prstGeom>
              <a:noFill/>
              <a:ln w="76200" cap="flat" cmpd="sng">
                <a:solidFill>
                  <a:srgbClr val="0070C0"/>
                </a:solidFill>
                <a:prstDash val="solid"/>
                <a:round/>
                <a:headEnd type="none" w="sm" len="sm"/>
                <a:tailEnd type="none" w="sm" len="sm"/>
              </a:ln>
            </p:spPr>
          </p:cxnSp>
          <p:sp>
            <p:nvSpPr>
              <p:cNvPr id="1017" name="Google Shape;1017;p53"/>
              <p:cNvSpPr/>
              <p:nvPr/>
            </p:nvSpPr>
            <p:spPr>
              <a:xfrm>
                <a:off x="9139907" y="1634357"/>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1016" name="Google Shape;1016;p53"/>
              <p:cNvSpPr/>
              <p:nvPr/>
            </p:nvSpPr>
            <p:spPr>
              <a:xfrm>
                <a:off x="10510448" y="163314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sp>
            <p:nvSpPr>
              <p:cNvPr id="1018" name="Google Shape;1018;p53"/>
              <p:cNvSpPr/>
              <p:nvPr/>
            </p:nvSpPr>
            <p:spPr>
              <a:xfrm>
                <a:off x="9822357" y="871795"/>
                <a:ext cx="423200" cy="337200"/>
              </a:xfrm>
              <a:prstGeom prst="rect">
                <a:avLst/>
              </a:prstGeom>
              <a:solidFill>
                <a:srgbClr val="CFE6F6"/>
              </a:solidFill>
              <a:ln w="19050" cap="flat" cmpd="sng">
                <a:solidFill>
                  <a:srgbClr val="BFBFBF"/>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BFBFBF"/>
                    </a:solidFill>
                    <a:latin typeface="Calibri"/>
                    <a:ea typeface="Calibri"/>
                    <a:cs typeface="Calibri"/>
                    <a:sym typeface="Calibri"/>
                  </a:rPr>
                  <a:t>B</a:t>
                </a:r>
                <a:endParaRPr sz="2133" b="0" i="0" u="none" strike="noStrike" cap="none">
                  <a:solidFill>
                    <a:srgbClr val="BFBFBF"/>
                  </a:solidFill>
                  <a:latin typeface="Calibri"/>
                  <a:ea typeface="Calibri"/>
                  <a:cs typeface="Calibri"/>
                  <a:sym typeface="Calibri"/>
                </a:endParaRPr>
              </a:p>
            </p:txBody>
          </p:sp>
          <p:sp>
            <p:nvSpPr>
              <p:cNvPr id="1019" name="Google Shape;1019;p53"/>
              <p:cNvSpPr/>
              <p:nvPr/>
            </p:nvSpPr>
            <p:spPr>
              <a:xfrm>
                <a:off x="8863077" y="570568"/>
                <a:ext cx="423200" cy="337200"/>
              </a:xfrm>
              <a:prstGeom prst="rect">
                <a:avLst/>
              </a:prstGeom>
              <a:solidFill>
                <a:srgbClr val="CFE6F6"/>
              </a:solidFill>
              <a:ln w="19050" cap="flat" cmpd="sng">
                <a:solidFill>
                  <a:srgbClr val="BFBFBF"/>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BFBFBF"/>
                    </a:solidFill>
                    <a:latin typeface="Calibri"/>
                    <a:ea typeface="Calibri"/>
                    <a:cs typeface="Calibri"/>
                    <a:sym typeface="Calibri"/>
                  </a:rPr>
                  <a:t>A</a:t>
                </a:r>
                <a:endParaRPr sz="2133" b="0" i="0" u="none" strike="noStrike" cap="none">
                  <a:solidFill>
                    <a:srgbClr val="BFBFBF"/>
                  </a:solidFill>
                  <a:latin typeface="Calibri"/>
                  <a:ea typeface="Calibri"/>
                  <a:cs typeface="Calibri"/>
                  <a:sym typeface="Calibri"/>
                </a:endParaRPr>
              </a:p>
            </p:txBody>
          </p:sp>
          <p:cxnSp>
            <p:nvCxnSpPr>
              <p:cNvPr id="1020" name="Google Shape;1020;p53"/>
              <p:cNvCxnSpPr>
                <a:stCxn id="1016" idx="0"/>
                <a:endCxn id="1018" idx="3"/>
              </p:cNvCxnSpPr>
              <p:nvPr/>
            </p:nvCxnSpPr>
            <p:spPr>
              <a:xfrm rot="10800000">
                <a:off x="10245648" y="1040343"/>
                <a:ext cx="476400" cy="592800"/>
              </a:xfrm>
              <a:prstGeom prst="straightConnector1">
                <a:avLst/>
              </a:prstGeom>
              <a:noFill/>
              <a:ln w="19050" cap="flat" cmpd="sng">
                <a:solidFill>
                  <a:schemeClr val="dk2"/>
                </a:solidFill>
                <a:prstDash val="solid"/>
                <a:round/>
                <a:headEnd type="none" w="sm" len="sm"/>
                <a:tailEnd type="none" w="sm" len="sm"/>
              </a:ln>
            </p:spPr>
          </p:cxnSp>
          <p:cxnSp>
            <p:nvCxnSpPr>
              <p:cNvPr id="1021" name="Google Shape;1021;p53"/>
              <p:cNvCxnSpPr>
                <a:stCxn id="1018" idx="1"/>
                <a:endCxn id="1019" idx="3"/>
              </p:cNvCxnSpPr>
              <p:nvPr/>
            </p:nvCxnSpPr>
            <p:spPr>
              <a:xfrm rot="10800000">
                <a:off x="9286257" y="739195"/>
                <a:ext cx="536100" cy="301200"/>
              </a:xfrm>
              <a:prstGeom prst="straightConnector1">
                <a:avLst/>
              </a:prstGeom>
              <a:noFill/>
              <a:ln w="19050" cap="flat" cmpd="sng">
                <a:solidFill>
                  <a:schemeClr val="dk2"/>
                </a:solidFill>
                <a:prstDash val="solid"/>
                <a:round/>
                <a:headEnd type="none" w="sm" len="sm"/>
                <a:tailEnd type="none" w="sm" len="sm"/>
              </a:ln>
            </p:spPr>
          </p:cxnSp>
          <p:cxnSp>
            <p:nvCxnSpPr>
              <p:cNvPr id="1022" name="Google Shape;1022;p53"/>
              <p:cNvCxnSpPr>
                <a:stCxn id="1017" idx="0"/>
                <a:endCxn id="1019" idx="2"/>
              </p:cNvCxnSpPr>
              <p:nvPr/>
            </p:nvCxnSpPr>
            <p:spPr>
              <a:xfrm rot="10800000">
                <a:off x="9074607" y="907757"/>
                <a:ext cx="276900" cy="726600"/>
              </a:xfrm>
              <a:prstGeom prst="straightConnector1">
                <a:avLst/>
              </a:prstGeom>
              <a:noFill/>
              <a:ln w="19050" cap="flat" cmpd="sng">
                <a:solidFill>
                  <a:schemeClr val="dk2"/>
                </a:solidFill>
                <a:prstDash val="solid"/>
                <a:round/>
                <a:headEnd type="none" w="sm" len="sm"/>
                <a:tailEnd type="none" w="sm" len="sm"/>
              </a:ln>
            </p:spPr>
          </p:cxnSp>
          <p:sp>
            <p:nvSpPr>
              <p:cNvPr id="1023" name="Google Shape;1023;p53"/>
              <p:cNvSpPr txBox="1"/>
              <p:nvPr/>
            </p:nvSpPr>
            <p:spPr>
              <a:xfrm>
                <a:off x="9813827" y="198925"/>
                <a:ext cx="13164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KNOWN</a:t>
                </a:r>
                <a:endParaRPr/>
              </a:p>
            </p:txBody>
          </p:sp>
          <p:sp>
            <p:nvSpPr>
              <p:cNvPr id="1024" name="Google Shape;1024;p53"/>
              <p:cNvSpPr txBox="1"/>
              <p:nvPr/>
            </p:nvSpPr>
            <p:spPr>
              <a:xfrm>
                <a:off x="10611535" y="719174"/>
                <a:ext cx="139653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5"/>
                    </a:solidFill>
                    <a:latin typeface="Quattrocento Sans"/>
                    <a:ea typeface="Quattrocento Sans"/>
                    <a:cs typeface="Quattrocento Sans"/>
                    <a:sym typeface="Quattrocento Sans"/>
                  </a:rPr>
                  <a:t>PERIMETER</a:t>
                </a:r>
                <a:endParaRPr/>
              </a:p>
            </p:txBody>
          </p:sp>
          <p:sp>
            <p:nvSpPr>
              <p:cNvPr id="1025" name="Google Shape;1025;p53"/>
              <p:cNvSpPr txBox="1"/>
              <p:nvPr/>
            </p:nvSpPr>
            <p:spPr>
              <a:xfrm>
                <a:off x="8924230" y="272233"/>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400">
                  <a:solidFill>
                    <a:srgbClr val="FF0000"/>
                  </a:solidFill>
                  <a:latin typeface="Calibri"/>
                  <a:ea typeface="Calibri"/>
                  <a:cs typeface="Calibri"/>
                  <a:sym typeface="Calibri"/>
                </a:endParaRPr>
              </a:p>
            </p:txBody>
          </p:sp>
          <p:sp>
            <p:nvSpPr>
              <p:cNvPr id="1026" name="Google Shape;1026;p53"/>
              <p:cNvSpPr txBox="1"/>
              <p:nvPr/>
            </p:nvSpPr>
            <p:spPr>
              <a:xfrm>
                <a:off x="9889526" y="552399"/>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1027" name="Google Shape;1027;p53"/>
              <p:cNvSpPr txBox="1"/>
              <p:nvPr/>
            </p:nvSpPr>
            <p:spPr>
              <a:xfrm>
                <a:off x="9274245" y="1330419"/>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3</a:t>
                </a:r>
                <a:endParaRPr sz="2000">
                  <a:solidFill>
                    <a:srgbClr val="FF0000"/>
                  </a:solidFill>
                  <a:latin typeface="Calibri"/>
                  <a:ea typeface="Calibri"/>
                  <a:cs typeface="Calibri"/>
                  <a:sym typeface="Calibri"/>
                </a:endParaRPr>
              </a:p>
            </p:txBody>
          </p:sp>
          <p:sp>
            <p:nvSpPr>
              <p:cNvPr id="1028" name="Google Shape;1028;p53"/>
              <p:cNvSpPr txBox="1"/>
              <p:nvPr/>
            </p:nvSpPr>
            <p:spPr>
              <a:xfrm>
                <a:off x="10636117" y="1286593"/>
                <a:ext cx="494226"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1029" name="Google Shape;1029;p53"/>
              <p:cNvSpPr txBox="1"/>
              <p:nvPr/>
            </p:nvSpPr>
            <p:spPr>
              <a:xfrm>
                <a:off x="9416969" y="524266"/>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030" name="Google Shape;1030;p53"/>
              <p:cNvSpPr txBox="1"/>
              <p:nvPr/>
            </p:nvSpPr>
            <p:spPr>
              <a:xfrm>
                <a:off x="8922862" y="1036654"/>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1031" name="Google Shape;1031;p53"/>
              <p:cNvSpPr txBox="1"/>
              <p:nvPr/>
            </p:nvSpPr>
            <p:spPr>
              <a:xfrm>
                <a:off x="10359034" y="959404"/>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1032" name="Google Shape;1032;p53"/>
              <p:cNvSpPr txBox="1"/>
              <p:nvPr/>
            </p:nvSpPr>
            <p:spPr>
              <a:xfrm>
                <a:off x="9848988" y="1723612"/>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033" name="Google Shape;1033;p53"/>
              <p:cNvSpPr txBox="1"/>
              <p:nvPr/>
            </p:nvSpPr>
            <p:spPr>
              <a:xfrm>
                <a:off x="7950783" y="44493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sp>
          <p:nvSpPr>
            <p:cNvPr id="1034" name="Google Shape;1034;p53"/>
            <p:cNvSpPr txBox="1"/>
            <p:nvPr/>
          </p:nvSpPr>
          <p:spPr>
            <a:xfrm>
              <a:off x="9532511" y="1720181"/>
              <a:ext cx="30649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70C0"/>
                  </a:solidFill>
                  <a:latin typeface="Quattrocento Sans"/>
                  <a:ea typeface="Quattrocento Sans"/>
                  <a:cs typeface="Quattrocento Sans"/>
                  <a:sym typeface="Quattrocento Sans"/>
                </a:rPr>
                <a:t>u</a:t>
              </a:r>
              <a:endParaRPr/>
            </a:p>
          </p:txBody>
        </p:sp>
        <p:sp>
          <p:nvSpPr>
            <p:cNvPr id="1035" name="Google Shape;1035;p53"/>
            <p:cNvSpPr txBox="1"/>
            <p:nvPr/>
          </p:nvSpPr>
          <p:spPr>
            <a:xfrm>
              <a:off x="10238643" y="1736605"/>
              <a:ext cx="29367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70C0"/>
                  </a:solidFill>
                  <a:latin typeface="Quattrocento Sans"/>
                  <a:ea typeface="Quattrocento Sans"/>
                  <a:cs typeface="Quattrocento Sans"/>
                  <a:sym typeface="Quattrocento Sans"/>
                </a:rPr>
                <a:t>v</a:t>
              </a:r>
              <a:endParaRPr/>
            </a:p>
          </p:txBody>
        </p:sp>
      </p:grpSp>
      <p:sp>
        <p:nvSpPr>
          <p:cNvPr id="1036" name="Google Shape;1036;p53"/>
          <p:cNvSpPr txBox="1"/>
          <p:nvPr/>
        </p:nvSpPr>
        <p:spPr>
          <a:xfrm>
            <a:off x="3924150" y="2917188"/>
            <a:ext cx="7629300" cy="480101"/>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3"/>
                </a:solidFill>
                <a:latin typeface="Consolas"/>
                <a:ea typeface="Consolas"/>
                <a:cs typeface="Consolas"/>
                <a:sym typeface="Consolas"/>
              </a:rPr>
              <a:t>Set</a:t>
            </a:r>
            <a:r>
              <a:rPr lang="en-US" sz="1600" dirty="0">
                <a:solidFill>
                  <a:schemeClr val="dk1"/>
                </a:solidFill>
                <a:latin typeface="Consolas"/>
                <a:ea typeface="Consolas"/>
                <a:cs typeface="Consolas"/>
                <a:sym typeface="Consolas"/>
              </a:rPr>
              <a:t> known; </a:t>
            </a:r>
            <a:r>
              <a:rPr lang="en-US" sz="1600" dirty="0">
                <a:solidFill>
                  <a:schemeClr val="accent3"/>
                </a:solidFill>
                <a:latin typeface="Consolas"/>
                <a:ea typeface="Consolas"/>
                <a:cs typeface="Consolas"/>
                <a:sym typeface="Consolas"/>
              </a:rPr>
              <a:t>Map</a:t>
            </a:r>
            <a:r>
              <a:rPr lang="en-US" sz="1600" dirty="0">
                <a:solidFill>
                  <a:schemeClr val="dk1"/>
                </a:solidFill>
                <a:latin typeface="Consolas"/>
                <a:ea typeface="Consolas"/>
                <a:cs typeface="Consolas"/>
                <a:sym typeface="Consolas"/>
              </a:rPr>
              <a:t> PN, SD;</a:t>
            </a:r>
            <a:endParaRPr dirty="0"/>
          </a:p>
        </p:txBody>
      </p:sp>
      <p:sp>
        <p:nvSpPr>
          <p:cNvPr id="1037" name="Google Shape;1037;p53"/>
          <p:cNvSpPr txBox="1"/>
          <p:nvPr/>
        </p:nvSpPr>
        <p:spPr>
          <a:xfrm>
            <a:off x="3924150" y="3290975"/>
            <a:ext cx="7629300" cy="480101"/>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initialize SD with all nodes mapped to ∞, except start to 0</a:t>
            </a:r>
            <a:endParaRPr dirty="0"/>
          </a:p>
        </p:txBody>
      </p:sp>
      <p:sp>
        <p:nvSpPr>
          <p:cNvPr id="1038" name="Google Shape;1038;p53"/>
          <p:cNvSpPr txBox="1"/>
          <p:nvPr/>
        </p:nvSpPr>
        <p:spPr>
          <a:xfrm>
            <a:off x="3924150" y="3586475"/>
            <a:ext cx="7629300" cy="1366498"/>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endParaRPr sz="1600" dirty="0">
              <a:solidFill>
                <a:schemeClr val="dk1"/>
              </a:solidFill>
              <a:latin typeface="Consolas"/>
              <a:ea typeface="Consolas"/>
              <a:cs typeface="Consolas"/>
              <a:sym typeface="Consolas"/>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2"/>
                </a:solidFill>
                <a:latin typeface="Consolas"/>
                <a:ea typeface="Consolas"/>
                <a:cs typeface="Consolas"/>
                <a:sym typeface="Consolas"/>
              </a:rPr>
              <a:t>while</a:t>
            </a:r>
            <a:r>
              <a:rPr lang="en-US" sz="1600" dirty="0">
                <a:solidFill>
                  <a:schemeClr val="dk1"/>
                </a:solidFill>
                <a:latin typeface="Consolas"/>
                <a:ea typeface="Consolas"/>
                <a:cs typeface="Consolas"/>
                <a:sym typeface="Consolas"/>
              </a:rPr>
              <a:t> (there are unknown nodes):</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let u be the closest unknown node</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known.</a:t>
            </a:r>
            <a:r>
              <a:rPr lang="en-US" sz="1600" b="1" dirty="0" err="1">
                <a:solidFill>
                  <a:schemeClr val="dk1"/>
                </a:solidFill>
                <a:latin typeface="Consolas"/>
                <a:ea typeface="Consolas"/>
                <a:cs typeface="Consolas"/>
                <a:sym typeface="Consolas"/>
              </a:rPr>
              <a:t>add</a:t>
            </a:r>
            <a:r>
              <a:rPr lang="en-US" sz="1600" dirty="0">
                <a:solidFill>
                  <a:schemeClr val="dk1"/>
                </a:solidFill>
                <a:latin typeface="Consolas"/>
                <a:ea typeface="Consolas"/>
                <a:cs typeface="Consolas"/>
                <a:sym typeface="Consolas"/>
              </a:rPr>
              <a:t>(u);</a:t>
            </a:r>
            <a:endParaRPr dirty="0"/>
          </a:p>
        </p:txBody>
      </p:sp>
      <p:sp>
        <p:nvSpPr>
          <p:cNvPr id="1039" name="Google Shape;1039;p53"/>
          <p:cNvSpPr txBox="1"/>
          <p:nvPr/>
        </p:nvSpPr>
        <p:spPr>
          <a:xfrm>
            <a:off x="3871950" y="4472175"/>
            <a:ext cx="7733700" cy="1329564"/>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2"/>
                </a:solidFill>
                <a:latin typeface="Consolas"/>
                <a:ea typeface="Consolas"/>
                <a:cs typeface="Consolas"/>
                <a:sym typeface="Consolas"/>
              </a:rPr>
              <a:t>for</a:t>
            </a:r>
            <a:r>
              <a:rPr lang="en-US" sz="1600" dirty="0">
                <a:solidFill>
                  <a:schemeClr val="dk1"/>
                </a:solidFill>
                <a:latin typeface="Consolas"/>
                <a:ea typeface="Consolas"/>
                <a:cs typeface="Consolas"/>
                <a:sym typeface="Consolas"/>
              </a:rPr>
              <a:t> each edge (</a:t>
            </a:r>
            <a:r>
              <a:rPr lang="en-US" sz="1600" dirty="0" err="1">
                <a:solidFill>
                  <a:schemeClr val="dk1"/>
                </a:solidFill>
                <a:latin typeface="Consolas"/>
                <a:ea typeface="Consolas"/>
                <a:cs typeface="Consolas"/>
                <a:sym typeface="Consolas"/>
              </a:rPr>
              <a:t>u,v</a:t>
            </a:r>
            <a:r>
              <a:rPr lang="en-US" sz="1600" dirty="0">
                <a:solidFill>
                  <a:schemeClr val="dk1"/>
                </a:solidFill>
                <a:latin typeface="Consolas"/>
                <a:ea typeface="Consolas"/>
                <a:cs typeface="Consolas"/>
                <a:sym typeface="Consolas"/>
              </a:rPr>
              <a:t>) from u with weight w:</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oldDist</a:t>
            </a:r>
            <a:r>
              <a:rPr lang="en-US" sz="1600" dirty="0">
                <a:solidFill>
                  <a:schemeClr val="dk1"/>
                </a:solidFill>
                <a:latin typeface="Consolas"/>
                <a:ea typeface="Consolas"/>
                <a:cs typeface="Consolas"/>
                <a:sym typeface="Consolas"/>
              </a:rPr>
              <a:t> = </a:t>
            </a:r>
            <a:r>
              <a:rPr lang="en-US" sz="160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dirty="0">
                <a:solidFill>
                  <a:schemeClr val="dk1"/>
                </a:solidFill>
                <a:latin typeface="Consolas"/>
                <a:ea typeface="Consolas"/>
                <a:cs typeface="Consolas"/>
                <a:sym typeface="Consolas"/>
              </a:rPr>
              <a:t>(v)      </a:t>
            </a:r>
            <a:r>
              <a:rPr lang="en-US" sz="1600" dirty="0">
                <a:solidFill>
                  <a:srgbClr val="6EA0C0"/>
                </a:solidFill>
                <a:latin typeface="Consolas"/>
                <a:ea typeface="Consolas"/>
                <a:cs typeface="Consolas"/>
                <a:sym typeface="Consolas"/>
              </a:rPr>
              <a:t>// previous best path to v</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newDist</a:t>
            </a:r>
            <a:r>
              <a:rPr lang="en-US" sz="1600" dirty="0">
                <a:solidFill>
                  <a:schemeClr val="dk1"/>
                </a:solidFill>
                <a:latin typeface="Consolas"/>
                <a:ea typeface="Consolas"/>
                <a:cs typeface="Consolas"/>
                <a:sym typeface="Consolas"/>
              </a:rPr>
              <a:t> = </a:t>
            </a:r>
            <a:r>
              <a:rPr lang="en-US" sz="160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dirty="0">
                <a:solidFill>
                  <a:schemeClr val="dk1"/>
                </a:solidFill>
                <a:latin typeface="Consolas"/>
                <a:ea typeface="Consolas"/>
                <a:cs typeface="Consolas"/>
                <a:sym typeface="Consolas"/>
              </a:rPr>
              <a:t>(u) + w  </a:t>
            </a:r>
            <a:r>
              <a:rPr lang="en-US" sz="1600" dirty="0">
                <a:solidFill>
                  <a:srgbClr val="6EA0C0"/>
                </a:solidFill>
                <a:latin typeface="Consolas"/>
                <a:ea typeface="Consolas"/>
                <a:cs typeface="Consolas"/>
                <a:sym typeface="Consolas"/>
              </a:rPr>
              <a:t>// what if we went through u?</a:t>
            </a:r>
            <a:endParaRPr dirty="0">
              <a:solidFill>
                <a:schemeClr val="dk1"/>
              </a:solidFill>
            </a:endParaRPr>
          </a:p>
        </p:txBody>
      </p:sp>
      <p:sp>
        <p:nvSpPr>
          <p:cNvPr id="1040" name="Google Shape;1040;p53"/>
          <p:cNvSpPr txBox="1"/>
          <p:nvPr/>
        </p:nvSpPr>
        <p:spPr>
          <a:xfrm>
            <a:off x="3831750" y="5655275"/>
            <a:ext cx="7814100" cy="1071032"/>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2"/>
                </a:solidFill>
                <a:latin typeface="Consolas"/>
                <a:ea typeface="Consolas"/>
                <a:cs typeface="Consolas"/>
                <a:sym typeface="Consolas"/>
              </a:rPr>
              <a:t>if</a:t>
            </a: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newDist</a:t>
            </a:r>
            <a:r>
              <a:rPr lang="en-US" sz="1600" dirty="0">
                <a:solidFill>
                  <a:schemeClr val="dk1"/>
                </a:solidFill>
                <a:latin typeface="Consolas"/>
                <a:ea typeface="Consolas"/>
                <a:cs typeface="Consolas"/>
                <a:sym typeface="Consolas"/>
              </a:rPr>
              <a:t> &lt; </a:t>
            </a:r>
            <a:r>
              <a:rPr lang="en-US" sz="1600" dirty="0" err="1">
                <a:solidFill>
                  <a:schemeClr val="dk1"/>
                </a:solidFill>
                <a:latin typeface="Consolas"/>
                <a:ea typeface="Consolas"/>
                <a:cs typeface="Consolas"/>
                <a:sym typeface="Consolas"/>
              </a:rPr>
              <a:t>oldDist</a:t>
            </a:r>
            <a:r>
              <a:rPr lang="en-US" sz="1600" dirty="0">
                <a:solidFill>
                  <a:schemeClr val="dk1"/>
                </a:solidFill>
                <a:latin typeface="Consolas"/>
                <a:ea typeface="Consolas"/>
                <a:cs typeface="Consolas"/>
                <a:sym typeface="Consolas"/>
              </a:rPr>
              <a:t>):</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put</a:t>
            </a:r>
            <a:r>
              <a:rPr lang="en-US" sz="1600" dirty="0">
                <a:solidFill>
                  <a:schemeClr val="dk1"/>
                </a:solidFill>
                <a:latin typeface="Consolas"/>
                <a:ea typeface="Consolas"/>
                <a:cs typeface="Consolas"/>
                <a:sym typeface="Consolas"/>
              </a:rPr>
              <a:t>(v, </a:t>
            </a:r>
            <a:r>
              <a:rPr lang="en-US" sz="1600" dirty="0" err="1">
                <a:solidFill>
                  <a:schemeClr val="dk1"/>
                </a:solidFill>
                <a:latin typeface="Consolas"/>
                <a:ea typeface="Consolas"/>
                <a:cs typeface="Consolas"/>
                <a:sym typeface="Consolas"/>
              </a:rPr>
              <a:t>newDist</a:t>
            </a:r>
            <a:r>
              <a:rPr lang="en-US" sz="1600" dirty="0">
                <a:solidFill>
                  <a:schemeClr val="dk1"/>
                </a:solidFill>
                <a:latin typeface="Consolas"/>
                <a:ea typeface="Consolas"/>
                <a:cs typeface="Consolas"/>
                <a:sym typeface="Consolas"/>
              </a:rPr>
              <a:t>)</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PN.</a:t>
            </a:r>
            <a:r>
              <a:rPr lang="en-US" sz="1600" b="1" dirty="0" err="1">
                <a:solidFill>
                  <a:schemeClr val="dk1"/>
                </a:solidFill>
                <a:latin typeface="Consolas"/>
                <a:ea typeface="Consolas"/>
                <a:cs typeface="Consolas"/>
                <a:sym typeface="Consolas"/>
              </a:rPr>
              <a:t>put</a:t>
            </a:r>
            <a:r>
              <a:rPr lang="en-US" sz="1600" dirty="0">
                <a:solidFill>
                  <a:schemeClr val="dk1"/>
                </a:solidFill>
                <a:latin typeface="Consolas"/>
                <a:ea typeface="Consolas"/>
                <a:cs typeface="Consolas"/>
                <a:sym typeface="Consolas"/>
              </a:rPr>
              <a:t>(v, u)</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6"/>
                                        </p:tgtEl>
                                        <p:attrNameLst>
                                          <p:attrName>style.visibility</p:attrName>
                                        </p:attrNameLst>
                                      </p:cBhvr>
                                      <p:to>
                                        <p:strVal val="visible"/>
                                      </p:to>
                                    </p:set>
                                    <p:animEffect transition="in" filter="fade">
                                      <p:cBhvr>
                                        <p:cTn id="7" dur="1"/>
                                        <p:tgtEl>
                                          <p:spTgt spid="1006"/>
                                        </p:tgtEl>
                                      </p:cBhvr>
                                    </p:animEffect>
                                  </p:childTnLst>
                                </p:cTn>
                              </p:par>
                              <p:par>
                                <p:cTn id="8" presetID="10" presetClass="entr" presetSubtype="0" fill="hold" nodeType="withEffect">
                                  <p:stCondLst>
                                    <p:cond delay="0"/>
                                  </p:stCondLst>
                                  <p:childTnLst>
                                    <p:set>
                                      <p:cBhvr>
                                        <p:cTn id="9" dur="1" fill="hold">
                                          <p:stCondLst>
                                            <p:cond delay="0"/>
                                          </p:stCondLst>
                                        </p:cTn>
                                        <p:tgtEl>
                                          <p:spTgt spid="1036"/>
                                        </p:tgtEl>
                                        <p:attrNameLst>
                                          <p:attrName>style.visibility</p:attrName>
                                        </p:attrNameLst>
                                      </p:cBhvr>
                                      <p:to>
                                        <p:strVal val="visible"/>
                                      </p:to>
                                    </p:set>
                                    <p:animEffect transition="in" filter="fade">
                                      <p:cBhvr>
                                        <p:cTn id="10" dur="1000"/>
                                        <p:tgtEl>
                                          <p:spTgt spid="103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07"/>
                                        </p:tgtEl>
                                        <p:attrNameLst>
                                          <p:attrName>style.visibility</p:attrName>
                                        </p:attrNameLst>
                                      </p:cBhvr>
                                      <p:to>
                                        <p:strVal val="visible"/>
                                      </p:to>
                                    </p:set>
                                  </p:childTnLst>
                                </p:cTn>
                              </p:par>
                              <p:par>
                                <p:cTn id="15" presetID="10" presetClass="entr" presetSubtype="0" fill="hold" nodeType="withEffect">
                                  <p:stCondLst>
                                    <p:cond delay="0"/>
                                  </p:stCondLst>
                                  <p:childTnLst>
                                    <p:set>
                                      <p:cBhvr>
                                        <p:cTn id="16" dur="1" fill="hold">
                                          <p:stCondLst>
                                            <p:cond delay="0"/>
                                          </p:stCondLst>
                                        </p:cTn>
                                        <p:tgtEl>
                                          <p:spTgt spid="1037"/>
                                        </p:tgtEl>
                                        <p:attrNameLst>
                                          <p:attrName>style.visibility</p:attrName>
                                        </p:attrNameLst>
                                      </p:cBhvr>
                                      <p:to>
                                        <p:strVal val="visible"/>
                                      </p:to>
                                    </p:set>
                                    <p:animEffect transition="in" filter="fade">
                                      <p:cBhvr>
                                        <p:cTn id="17" dur="1000"/>
                                        <p:tgtEl>
                                          <p:spTgt spid="1037"/>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1008"/>
                                        </p:tgtEl>
                                        <p:attrNameLst>
                                          <p:attrName>style.visibility</p:attrName>
                                        </p:attrNameLst>
                                      </p:cBhvr>
                                      <p:to>
                                        <p:strVal val="visible"/>
                                      </p:to>
                                    </p:set>
                                  </p:childTnLst>
                                </p:cTn>
                              </p:par>
                              <p:par>
                                <p:cTn id="22" presetID="10" presetClass="entr" presetSubtype="0" fill="hold" nodeType="withEffect">
                                  <p:stCondLst>
                                    <p:cond delay="0"/>
                                  </p:stCondLst>
                                  <p:childTnLst>
                                    <p:set>
                                      <p:cBhvr>
                                        <p:cTn id="23" dur="1" fill="hold">
                                          <p:stCondLst>
                                            <p:cond delay="0"/>
                                          </p:stCondLst>
                                        </p:cTn>
                                        <p:tgtEl>
                                          <p:spTgt spid="1038"/>
                                        </p:tgtEl>
                                        <p:attrNameLst>
                                          <p:attrName>style.visibility</p:attrName>
                                        </p:attrNameLst>
                                      </p:cBhvr>
                                      <p:to>
                                        <p:strVal val="visible"/>
                                      </p:to>
                                    </p:set>
                                    <p:animEffect transition="in" filter="fade">
                                      <p:cBhvr>
                                        <p:cTn id="24" dur="1000"/>
                                        <p:tgtEl>
                                          <p:spTgt spid="1038"/>
                                        </p:tgtEl>
                                      </p:cBhvr>
                                    </p:animEffect>
                                  </p:childTnLst>
                                </p:cTn>
                              </p:par>
                              <p:par>
                                <p:cTn id="25" presetID="1" presetClass="entr" presetSubtype="0" fill="hold" nodeType="withEffect">
                                  <p:stCondLst>
                                    <p:cond delay="0"/>
                                  </p:stCondLst>
                                  <p:childTnLst>
                                    <p:set>
                                      <p:cBhvr>
                                        <p:cTn id="26" dur="1" fill="hold">
                                          <p:stCondLst>
                                            <p:cond delay="0"/>
                                          </p:stCondLst>
                                        </p:cTn>
                                        <p:tgtEl>
                                          <p:spTgt spid="1011"/>
                                        </p:tgtEl>
                                        <p:attrNameLst>
                                          <p:attrName>style.visibility</p:attrName>
                                        </p:attrNameLst>
                                      </p:cBhvr>
                                      <p:to>
                                        <p:strVal val="visible"/>
                                      </p:to>
                                    </p:se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040"/>
                                        </p:tgtEl>
                                        <p:attrNameLst>
                                          <p:attrName>style.visibility</p:attrName>
                                        </p:attrNameLst>
                                      </p:cBhvr>
                                      <p:to>
                                        <p:strVal val="visible"/>
                                      </p:to>
                                    </p:set>
                                    <p:animEffect transition="in" filter="fade">
                                      <p:cBhvr>
                                        <p:cTn id="30" dur="1000"/>
                                        <p:tgtEl>
                                          <p:spTgt spid="1040"/>
                                        </p:tgtEl>
                                      </p:cBhvr>
                                    </p:animEffec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09"/>
                                        </p:tgtEl>
                                        <p:attrNameLst>
                                          <p:attrName>style.visibility</p:attrName>
                                        </p:attrNameLst>
                                      </p:cBhvr>
                                      <p:to>
                                        <p:strVal val="visible"/>
                                      </p:to>
                                    </p:set>
                                  </p:childTnLst>
                                </p:cTn>
                              </p:par>
                              <p:par>
                                <p:cTn id="35" presetID="10" presetClass="entr" presetSubtype="0" fill="hold" nodeType="withEffect">
                                  <p:stCondLst>
                                    <p:cond delay="0"/>
                                  </p:stCondLst>
                                  <p:childTnLst>
                                    <p:set>
                                      <p:cBhvr>
                                        <p:cTn id="36" dur="1" fill="hold">
                                          <p:stCondLst>
                                            <p:cond delay="0"/>
                                          </p:stCondLst>
                                        </p:cTn>
                                        <p:tgtEl>
                                          <p:spTgt spid="1039"/>
                                        </p:tgtEl>
                                        <p:attrNameLst>
                                          <p:attrName>style.visibility</p:attrName>
                                        </p:attrNameLst>
                                      </p:cBhvr>
                                      <p:to>
                                        <p:strVal val="visible"/>
                                      </p:to>
                                    </p:set>
                                    <p:animEffect transition="in" filter="fade">
                                      <p:cBhvr>
                                        <p:cTn id="37" dur="1000"/>
                                        <p:tgtEl>
                                          <p:spTgt spid="1039"/>
                                        </p:tgtEl>
                                      </p:cBhvr>
                                    </p:animEffect>
                                  </p:childTnLst>
                                </p:cTn>
                              </p:par>
                              <p:par>
                                <p:cTn id="38" presetID="1" presetClass="entr" presetSubtype="0" fill="hold" nodeType="withEffect">
                                  <p:stCondLst>
                                    <p:cond delay="0"/>
                                  </p:stCondLst>
                                  <p:childTnLst>
                                    <p:set>
                                      <p:cBhvr>
                                        <p:cTn id="39" dur="1" fill="hold">
                                          <p:stCondLst>
                                            <p:cond delay="0"/>
                                          </p:stCondLst>
                                        </p:cTn>
                                        <p:tgtEl>
                                          <p:spTgt spid="1010">
                                            <p:txEl>
                                              <p:pRg st="0" end="0"/>
                                            </p:txEl>
                                          </p:spTgt>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1010">
                                            <p:txEl>
                                              <p:pRg st="1" end="1"/>
                                            </p:txEl>
                                          </p:spTgt>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1010">
                                            <p:txEl>
                                              <p:pRg st="2" end="2"/>
                                            </p:txEl>
                                          </p:spTgt>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1010">
                                            <p:txEl>
                                              <p:pRg st="3" end="3"/>
                                            </p:txEl>
                                          </p:spTgt>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10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46"/>
        <p:cNvGrpSpPr/>
        <p:nvPr/>
      </p:nvGrpSpPr>
      <p:grpSpPr>
        <a:xfrm>
          <a:off x="0" y="0"/>
          <a:ext cx="0" cy="0"/>
          <a:chOff x="0" y="0"/>
          <a:chExt cx="0" cy="0"/>
        </a:xfrm>
      </p:grpSpPr>
      <p:sp>
        <p:nvSpPr>
          <p:cNvPr id="1047" name="Google Shape;1047;p54"/>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Dijkstra’s Algorithm: Key Properties</a:t>
            </a:r>
            <a:endParaRPr dirty="0"/>
          </a:p>
        </p:txBody>
      </p:sp>
      <p:sp>
        <p:nvSpPr>
          <p:cNvPr id="1048" name="Google Shape;1048;p54"/>
          <p:cNvSpPr txBox="1">
            <a:spLocks noGrp="1"/>
          </p:cNvSpPr>
          <p:nvPr>
            <p:ph type="body" idx="1"/>
          </p:nvPr>
        </p:nvSpPr>
        <p:spPr>
          <a:xfrm>
            <a:off x="269629" y="1669223"/>
            <a:ext cx="4075089" cy="1318503"/>
          </a:xfrm>
          <a:prstGeom prst="rect">
            <a:avLst/>
          </a:prstGeom>
          <a:noFill/>
          <a:ln>
            <a:noFill/>
          </a:ln>
        </p:spPr>
        <p:txBody>
          <a:bodyPr spcFirstLastPara="1" wrap="square" lIns="45700" tIns="45700" rIns="45700" bIns="45700" anchor="t" anchorCtr="0">
            <a:normAutofit/>
          </a:bodyPr>
          <a:lstStyle/>
          <a:p>
            <a:pPr marL="0" lvl="0" indent="0" algn="l" rtl="0">
              <a:lnSpc>
                <a:spcPct val="90000"/>
              </a:lnSpc>
              <a:spcBef>
                <a:spcPts val="0"/>
              </a:spcBef>
              <a:spcAft>
                <a:spcPts val="0"/>
              </a:spcAft>
              <a:buNone/>
            </a:pPr>
            <a:r>
              <a:rPr lang="en-US" sz="1900" dirty="0"/>
              <a:t>Once a node is visited (marked known), its shortest path is known. Can reconstruct path by following back-pointers (in PN map)</a:t>
            </a:r>
            <a:endParaRPr sz="1900" dirty="0"/>
          </a:p>
        </p:txBody>
      </p:sp>
      <p:sp>
        <p:nvSpPr>
          <p:cNvPr id="1049" name="Google Shape;1049;p54"/>
          <p:cNvSpPr txBox="1"/>
          <p:nvPr/>
        </p:nvSpPr>
        <p:spPr>
          <a:xfrm>
            <a:off x="4279042" y="1703916"/>
            <a:ext cx="7629234" cy="4140725"/>
          </a:xfrm>
          <a:prstGeom prst="rect">
            <a:avLst/>
          </a:prstGeom>
          <a:solidFill>
            <a:srgbClr val="F2F2F2"/>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960"/>
              <a:buFont typeface="Noto Sans Symbols"/>
              <a:buNone/>
            </a:pPr>
            <a:r>
              <a:rPr lang="en-US" sz="1600" b="1" dirty="0" err="1">
                <a:solidFill>
                  <a:schemeClr val="dk1"/>
                </a:solidFill>
                <a:latin typeface="Consolas"/>
                <a:ea typeface="Consolas"/>
                <a:cs typeface="Consolas"/>
                <a:sym typeface="Consolas"/>
              </a:rPr>
              <a:t>dijkstraShortestPath</a:t>
            </a:r>
            <a:r>
              <a:rPr lang="en-US" sz="1600" b="0" dirty="0">
                <a:solidFill>
                  <a:schemeClr val="dk1"/>
                </a:solidFill>
                <a:latin typeface="Consolas"/>
                <a:ea typeface="Consolas"/>
                <a:cs typeface="Consolas"/>
                <a:sym typeface="Consolas"/>
              </a:rPr>
              <a:t>(</a:t>
            </a:r>
            <a:r>
              <a:rPr lang="en-US" sz="1600" b="0" dirty="0">
                <a:solidFill>
                  <a:schemeClr val="accent3"/>
                </a:solidFill>
                <a:latin typeface="Consolas"/>
                <a:ea typeface="Consolas"/>
                <a:cs typeface="Consolas"/>
                <a:sym typeface="Consolas"/>
              </a:rPr>
              <a:t>G</a:t>
            </a:r>
            <a:r>
              <a:rPr lang="en-US" sz="1600" b="0" dirty="0">
                <a:solidFill>
                  <a:schemeClr val="dk1"/>
                </a:solidFill>
                <a:latin typeface="Consolas"/>
                <a:ea typeface="Consolas"/>
                <a:cs typeface="Consolas"/>
                <a:sym typeface="Consolas"/>
              </a:rPr>
              <a:t> graph, </a:t>
            </a:r>
            <a:r>
              <a:rPr lang="en-US" sz="1600" b="0" dirty="0">
                <a:solidFill>
                  <a:schemeClr val="accent3"/>
                </a:solidFill>
                <a:latin typeface="Consolas"/>
                <a:ea typeface="Consolas"/>
                <a:cs typeface="Consolas"/>
                <a:sym typeface="Consolas"/>
              </a:rPr>
              <a:t>V </a:t>
            </a:r>
            <a:r>
              <a:rPr lang="en-US" sz="1600" b="0" dirty="0">
                <a:solidFill>
                  <a:schemeClr val="dk1"/>
                </a:solidFill>
                <a:latin typeface="Consolas"/>
                <a:ea typeface="Consolas"/>
                <a:cs typeface="Consolas"/>
                <a:sym typeface="Consolas"/>
              </a:rPr>
              <a:t>start)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Set</a:t>
            </a:r>
            <a:r>
              <a:rPr lang="en-US" sz="1600" b="0" dirty="0">
                <a:solidFill>
                  <a:schemeClr val="dk1"/>
                </a:solidFill>
                <a:latin typeface="Consolas"/>
                <a:ea typeface="Consolas"/>
                <a:cs typeface="Consolas"/>
                <a:sym typeface="Consolas"/>
              </a:rPr>
              <a:t> known; </a:t>
            </a:r>
            <a:r>
              <a:rPr lang="en-US" sz="1600" b="0" dirty="0">
                <a:solidFill>
                  <a:schemeClr val="accent3"/>
                </a:solidFill>
                <a:latin typeface="Consolas"/>
                <a:ea typeface="Consolas"/>
                <a:cs typeface="Consolas"/>
                <a:sym typeface="Consolas"/>
              </a:rPr>
              <a:t>Map</a:t>
            </a:r>
            <a:r>
              <a:rPr lang="en-US" sz="1600" b="0" dirty="0">
                <a:solidFill>
                  <a:schemeClr val="dk1"/>
                </a:solidFill>
                <a:latin typeface="Consolas"/>
                <a:ea typeface="Consolas"/>
                <a:cs typeface="Consolas"/>
                <a:sym typeface="Consolas"/>
              </a:rPr>
              <a:t> PN, SD;</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initialize SD with all nodes mapped to ∞, except start to 0</a:t>
            </a:r>
            <a:endParaRPr dirty="0"/>
          </a:p>
          <a:p>
            <a:pPr marL="0" marR="0" lvl="0" indent="0" algn="l" rtl="0">
              <a:lnSpc>
                <a:spcPct val="120000"/>
              </a:lnSpc>
              <a:spcBef>
                <a:spcPts val="0"/>
              </a:spcBef>
              <a:spcAft>
                <a:spcPts val="0"/>
              </a:spcAft>
              <a:buClr>
                <a:srgbClr val="4B2A85"/>
              </a:buClr>
              <a:buSzPts val="960"/>
              <a:buFont typeface="Noto Sans Symbols"/>
              <a:buNone/>
            </a:pPr>
            <a:endParaRPr sz="16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while</a:t>
            </a:r>
            <a:r>
              <a:rPr lang="en-US" sz="1600" b="0" dirty="0">
                <a:solidFill>
                  <a:schemeClr val="dk1"/>
                </a:solidFill>
                <a:latin typeface="Consolas"/>
                <a:ea typeface="Consolas"/>
                <a:cs typeface="Consolas"/>
                <a:sym typeface="Consolas"/>
              </a:rPr>
              <a:t> (there are unknown nodes):</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let u be the closest unknown node</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known.</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for</a:t>
            </a:r>
            <a:r>
              <a:rPr lang="en-US" sz="1600" b="0" dirty="0">
                <a:solidFill>
                  <a:schemeClr val="dk1"/>
                </a:solidFill>
                <a:latin typeface="Consolas"/>
                <a:ea typeface="Consolas"/>
                <a:cs typeface="Consolas"/>
                <a:sym typeface="Consolas"/>
              </a:rPr>
              <a:t> each edge (</a:t>
            </a:r>
            <a:r>
              <a:rPr lang="en-US" sz="1600" b="0" dirty="0" err="1">
                <a:solidFill>
                  <a:schemeClr val="dk1"/>
                </a:solidFill>
                <a:latin typeface="Consolas"/>
                <a:ea typeface="Consolas"/>
                <a:cs typeface="Consolas"/>
                <a:sym typeface="Consolas"/>
              </a:rPr>
              <a:t>u,v</a:t>
            </a:r>
            <a:r>
              <a:rPr lang="en-US" sz="1600" b="0" dirty="0">
                <a:solidFill>
                  <a:schemeClr val="dk1"/>
                </a:solidFill>
                <a:latin typeface="Consolas"/>
                <a:ea typeface="Consolas"/>
                <a:cs typeface="Consolas"/>
                <a:sym typeface="Consolas"/>
              </a:rPr>
              <a:t>) to unknown v with weight w:</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(v)      </a:t>
            </a:r>
            <a:r>
              <a:rPr lang="en-US" sz="1600" b="0" dirty="0">
                <a:solidFill>
                  <a:srgbClr val="6EA0C0"/>
                </a:solidFill>
                <a:latin typeface="Consolas"/>
                <a:ea typeface="Consolas"/>
                <a:cs typeface="Consolas"/>
                <a:sym typeface="Consolas"/>
              </a:rPr>
              <a:t>// previous best path to v</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(u) + w  </a:t>
            </a:r>
            <a:r>
              <a:rPr lang="en-US" sz="1600" b="0" dirty="0">
                <a:solidFill>
                  <a:srgbClr val="6EA0C0"/>
                </a:solidFill>
                <a:latin typeface="Consolas"/>
                <a:ea typeface="Consolas"/>
                <a:cs typeface="Consolas"/>
                <a:sym typeface="Consolas"/>
              </a:rPr>
              <a:t>// what if we went through 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if</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&lt;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PN.</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u)</a:t>
            </a:r>
            <a:br>
              <a:rPr lang="en-US" sz="1600" b="0" dirty="0">
                <a:solidFill>
                  <a:schemeClr val="dk1"/>
                </a:solidFill>
                <a:latin typeface="Consolas"/>
                <a:ea typeface="Consolas"/>
                <a:cs typeface="Consolas"/>
                <a:sym typeface="Consolas"/>
              </a:rPr>
            </a:br>
            <a:endParaRPr sz="1600" b="0" dirty="0">
              <a:solidFill>
                <a:schemeClr val="dk1"/>
              </a:solidFill>
              <a:latin typeface="Consolas"/>
              <a:ea typeface="Consolas"/>
              <a:cs typeface="Consolas"/>
              <a:sym typeface="Consolas"/>
            </a:endParaRPr>
          </a:p>
        </p:txBody>
      </p:sp>
      <p:sp>
        <p:nvSpPr>
          <p:cNvPr id="1050" name="Google Shape;1050;p54"/>
          <p:cNvSpPr txBox="1"/>
          <p:nvPr/>
        </p:nvSpPr>
        <p:spPr>
          <a:xfrm>
            <a:off x="82061" y="2777097"/>
            <a:ext cx="4279200" cy="1994362"/>
          </a:xfrm>
          <a:prstGeom prst="rect">
            <a:avLst/>
          </a:prstGeom>
          <a:noFill/>
          <a:ln>
            <a:noFill/>
          </a:ln>
        </p:spPr>
        <p:txBody>
          <a:bodyPr spcFirstLastPara="1" wrap="square" lIns="91425" tIns="91425" rIns="91425" bIns="91425" anchor="t" anchorCtr="0">
            <a:spAutoFit/>
          </a:bodyPr>
          <a:lstStyle/>
          <a:p>
            <a:pPr marL="91440" lvl="0" indent="-120650" algn="l" rtl="0">
              <a:lnSpc>
                <a:spcPct val="90000"/>
              </a:lnSpc>
              <a:spcBef>
                <a:spcPts val="1400"/>
              </a:spcBef>
              <a:spcAft>
                <a:spcPts val="0"/>
              </a:spcAft>
              <a:buClr>
                <a:schemeClr val="accent1"/>
              </a:buClr>
              <a:buSzPts val="1900"/>
              <a:buFont typeface="Quattrocento Sans"/>
              <a:buChar char=" "/>
            </a:pPr>
            <a:r>
              <a:rPr lang="en-US" sz="1900" dirty="0">
                <a:solidFill>
                  <a:schemeClr val="dk1"/>
                </a:solidFill>
                <a:latin typeface="Quattrocento Sans"/>
                <a:ea typeface="Quattrocento Sans"/>
                <a:cs typeface="Quattrocento Sans"/>
                <a:sym typeface="Quattrocento Sans"/>
              </a:rPr>
              <a:t>While a node is not yet visited/known, another shorter path might be found. We call this update </a:t>
            </a:r>
            <a:r>
              <a:rPr lang="en-US" sz="1900" b="1" dirty="0">
                <a:solidFill>
                  <a:schemeClr val="accent3"/>
                </a:solidFill>
                <a:latin typeface="Quattrocento Sans"/>
                <a:ea typeface="Quattrocento Sans"/>
                <a:cs typeface="Quattrocento Sans"/>
                <a:sym typeface="Quattrocento Sans"/>
              </a:rPr>
              <a:t>relaxing</a:t>
            </a:r>
            <a:r>
              <a:rPr lang="en-US" sz="1900" dirty="0">
                <a:solidFill>
                  <a:schemeClr val="dk1"/>
                </a:solidFill>
                <a:latin typeface="Quattrocento Sans"/>
                <a:ea typeface="Quattrocento Sans"/>
                <a:cs typeface="Quattrocento Sans"/>
                <a:sym typeface="Quattrocento Sans"/>
              </a:rPr>
              <a:t> the distance because it only ever shortens the current best path</a:t>
            </a:r>
            <a:br>
              <a:rPr lang="en-US" sz="1900" dirty="0">
                <a:solidFill>
                  <a:schemeClr val="dk1"/>
                </a:solidFill>
                <a:latin typeface="Quattrocento Sans"/>
                <a:ea typeface="Quattrocento Sans"/>
                <a:cs typeface="Quattrocento Sans"/>
                <a:sym typeface="Quattrocento Sans"/>
              </a:rPr>
            </a:br>
            <a:endParaRPr sz="1900" dirty="0">
              <a:latin typeface="Quattrocento Sans"/>
              <a:ea typeface="Quattrocento Sans"/>
              <a:cs typeface="Quattrocento Sans"/>
              <a:sym typeface="Quattrocento Sans"/>
            </a:endParaRPr>
          </a:p>
        </p:txBody>
      </p:sp>
      <p:sp>
        <p:nvSpPr>
          <p:cNvPr id="1051" name="Google Shape;1051;p54"/>
          <p:cNvSpPr txBox="1"/>
          <p:nvPr/>
        </p:nvSpPr>
        <p:spPr>
          <a:xfrm>
            <a:off x="82061" y="4312032"/>
            <a:ext cx="4177144" cy="1910749"/>
          </a:xfrm>
          <a:prstGeom prst="rect">
            <a:avLst/>
          </a:prstGeom>
          <a:noFill/>
          <a:ln>
            <a:noFill/>
          </a:ln>
        </p:spPr>
        <p:txBody>
          <a:bodyPr spcFirstLastPara="1" wrap="square" lIns="91425" tIns="91425" rIns="91425" bIns="91425" anchor="t" anchorCtr="0">
            <a:spAutoFit/>
          </a:bodyPr>
          <a:lstStyle/>
          <a:p>
            <a:pPr marL="91440" lvl="0" indent="-120650">
              <a:lnSpc>
                <a:spcPct val="90000"/>
              </a:lnSpc>
              <a:spcBef>
                <a:spcPts val="1600"/>
              </a:spcBef>
              <a:buClr>
                <a:schemeClr val="accent1"/>
              </a:buClr>
              <a:buSzPts val="1900"/>
              <a:buFont typeface="Quattrocento Sans"/>
              <a:buChar char=" "/>
            </a:pPr>
            <a:r>
              <a:rPr lang="en-GB" sz="1900" dirty="0">
                <a:solidFill>
                  <a:schemeClr val="dk1"/>
                </a:solidFill>
                <a:latin typeface="Quattrocento Sans"/>
                <a:ea typeface="Quattrocento Sans"/>
                <a:cs typeface="Quattrocento Sans"/>
                <a:sym typeface="Quattrocento Sans"/>
              </a:rPr>
              <a:t>If we only need path to a specific node, can stop early once that node is visited, and return a partial shortest path tree</a:t>
            </a:r>
          </a:p>
          <a:p>
            <a:pPr marL="91440" lvl="0" indent="-120650" algn="l" rtl="0">
              <a:lnSpc>
                <a:spcPct val="90000"/>
              </a:lnSpc>
              <a:spcBef>
                <a:spcPts val="1600"/>
              </a:spcBef>
              <a:spcAft>
                <a:spcPts val="0"/>
              </a:spcAft>
              <a:buClr>
                <a:schemeClr val="accent1"/>
              </a:buClr>
              <a:buSzPts val="1900"/>
              <a:buFont typeface="Quattrocento Sans"/>
              <a:buChar char=" "/>
            </a:pPr>
            <a:r>
              <a:rPr lang="en-GB" sz="1900" dirty="0">
                <a:solidFill>
                  <a:schemeClr val="dk1"/>
                </a:solidFill>
                <a:latin typeface="Quattrocento Sans"/>
                <a:ea typeface="Quattrocento Sans"/>
                <a:cs typeface="Quattrocento Sans"/>
                <a:sym typeface="Quattrocento Sans"/>
              </a:rPr>
              <a:t> </a:t>
            </a:r>
            <a:endParaRPr lang="en-GB" sz="1900" dirty="0">
              <a:latin typeface="Quattrocento Sans"/>
              <a:ea typeface="Quattrocento Sans"/>
              <a:cs typeface="Quattrocento Sans"/>
              <a:sym typeface="Quattrocento San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50"/>
                                        </p:tgtEl>
                                        <p:attrNameLst>
                                          <p:attrName>style.visibility</p:attrName>
                                        </p:attrNameLst>
                                      </p:cBhvr>
                                      <p:to>
                                        <p:strVal val="visible"/>
                                      </p:to>
                                    </p:set>
                                    <p:animEffect transition="in" filter="fade">
                                      <p:cBhvr>
                                        <p:cTn id="7" dur="1000"/>
                                        <p:tgtEl>
                                          <p:spTgt spid="10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51"/>
                                        </p:tgtEl>
                                        <p:attrNameLst>
                                          <p:attrName>style.visibility</p:attrName>
                                        </p:attrNameLst>
                                      </p:cBhvr>
                                      <p:to>
                                        <p:strVal val="visible"/>
                                      </p:to>
                                    </p:set>
                                    <p:animEffect transition="in" filter="fade">
                                      <p:cBhvr>
                                        <p:cTn id="12" dur="1000"/>
                                        <p:tgtEl>
                                          <p:spTgt spid="10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p33"/>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Dijkstra’s Algorithm: Runtime</a:t>
            </a:r>
            <a:endParaRPr dirty="0"/>
          </a:p>
        </p:txBody>
      </p:sp>
      <p:sp>
        <p:nvSpPr>
          <p:cNvPr id="504" name="Google Shape;504;p33"/>
          <p:cNvSpPr txBox="1"/>
          <p:nvPr/>
        </p:nvSpPr>
        <p:spPr>
          <a:xfrm>
            <a:off x="4279042" y="1322916"/>
            <a:ext cx="7629300" cy="4140600"/>
          </a:xfrm>
          <a:prstGeom prst="rect">
            <a:avLst/>
          </a:prstGeom>
          <a:solidFill>
            <a:srgbClr val="F2F2F2"/>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960"/>
              <a:buFont typeface="Noto Sans Symbols"/>
              <a:buNone/>
            </a:pPr>
            <a:r>
              <a:rPr lang="en-US" sz="1600" b="1" dirty="0" err="1">
                <a:solidFill>
                  <a:schemeClr val="dk1"/>
                </a:solidFill>
                <a:latin typeface="Consolas"/>
                <a:ea typeface="Consolas"/>
                <a:cs typeface="Consolas"/>
                <a:sym typeface="Consolas"/>
              </a:rPr>
              <a:t>dijkstraShortestPath</a:t>
            </a:r>
            <a:r>
              <a:rPr lang="en-US" sz="1600" b="0" dirty="0">
                <a:solidFill>
                  <a:schemeClr val="dk1"/>
                </a:solidFill>
                <a:latin typeface="Consolas"/>
                <a:ea typeface="Consolas"/>
                <a:cs typeface="Consolas"/>
                <a:sym typeface="Consolas"/>
              </a:rPr>
              <a:t>(</a:t>
            </a:r>
            <a:r>
              <a:rPr lang="en-US" sz="1600" b="1" dirty="0">
                <a:solidFill>
                  <a:srgbClr val="4B2A85"/>
                </a:solidFill>
                <a:latin typeface="Consolas"/>
                <a:ea typeface="Consolas"/>
                <a:cs typeface="Consolas"/>
                <a:sym typeface="Consolas"/>
              </a:rPr>
              <a:t>G</a:t>
            </a:r>
            <a:r>
              <a:rPr lang="en-US" sz="1600" b="0" dirty="0">
                <a:solidFill>
                  <a:schemeClr val="dk1"/>
                </a:solidFill>
                <a:latin typeface="Consolas"/>
                <a:ea typeface="Consolas"/>
                <a:cs typeface="Consolas"/>
                <a:sym typeface="Consolas"/>
              </a:rPr>
              <a:t> graph, </a:t>
            </a:r>
            <a:r>
              <a:rPr lang="en-US" sz="1600" b="1" dirty="0">
                <a:solidFill>
                  <a:srgbClr val="4B2A85"/>
                </a:solidFill>
                <a:latin typeface="Consolas"/>
                <a:ea typeface="Consolas"/>
                <a:cs typeface="Consolas"/>
                <a:sym typeface="Consolas"/>
              </a:rPr>
              <a:t>V </a:t>
            </a:r>
            <a:r>
              <a:rPr lang="en-US" sz="1600" b="0" dirty="0">
                <a:solidFill>
                  <a:schemeClr val="dk1"/>
                </a:solidFill>
                <a:latin typeface="Consolas"/>
                <a:ea typeface="Consolas"/>
                <a:cs typeface="Consolas"/>
                <a:sym typeface="Consolas"/>
              </a:rPr>
              <a:t>start)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1" dirty="0">
                <a:solidFill>
                  <a:srgbClr val="4B2A85"/>
                </a:solidFill>
                <a:latin typeface="Consolas"/>
                <a:ea typeface="Consolas"/>
                <a:cs typeface="Consolas"/>
                <a:sym typeface="Consolas"/>
              </a:rPr>
              <a:t>Set </a:t>
            </a:r>
            <a:r>
              <a:rPr lang="en-US" sz="1600" b="0" dirty="0">
                <a:solidFill>
                  <a:schemeClr val="dk1"/>
                </a:solidFill>
                <a:latin typeface="Consolas"/>
                <a:ea typeface="Consolas"/>
                <a:cs typeface="Consolas"/>
                <a:sym typeface="Consolas"/>
              </a:rPr>
              <a:t>known; </a:t>
            </a:r>
            <a:r>
              <a:rPr lang="en-US" sz="1600" b="1" dirty="0">
                <a:solidFill>
                  <a:srgbClr val="4B2A85"/>
                </a:solidFill>
                <a:latin typeface="Consolas"/>
                <a:ea typeface="Consolas"/>
                <a:cs typeface="Consolas"/>
                <a:sym typeface="Consolas"/>
              </a:rPr>
              <a:t>Map </a:t>
            </a:r>
            <a:r>
              <a:rPr lang="en-US" sz="1600" b="0" dirty="0">
                <a:solidFill>
                  <a:schemeClr val="dk1"/>
                </a:solidFill>
                <a:latin typeface="Consolas"/>
                <a:ea typeface="Consolas"/>
                <a:cs typeface="Consolas"/>
                <a:sym typeface="Consolas"/>
              </a:rPr>
              <a:t>PN, SD;</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initialize SD with all nodes mapped to ∞, except start to 0</a:t>
            </a:r>
            <a:endParaRPr dirty="0"/>
          </a:p>
          <a:p>
            <a:pPr marL="0" marR="0" lvl="0" indent="0" algn="l" rtl="0">
              <a:lnSpc>
                <a:spcPct val="120000"/>
              </a:lnSpc>
              <a:spcBef>
                <a:spcPts val="0"/>
              </a:spcBef>
              <a:spcAft>
                <a:spcPts val="0"/>
              </a:spcAft>
              <a:buClr>
                <a:srgbClr val="4B2A85"/>
              </a:buClr>
              <a:buSzPts val="960"/>
              <a:buFont typeface="Noto Sans Symbols"/>
              <a:buNone/>
            </a:pPr>
            <a:endParaRPr sz="16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while</a:t>
            </a:r>
            <a:r>
              <a:rPr lang="en-US" sz="1600" b="0" dirty="0">
                <a:solidFill>
                  <a:schemeClr val="dk1"/>
                </a:solidFill>
                <a:latin typeface="Consolas"/>
                <a:ea typeface="Consolas"/>
                <a:cs typeface="Consolas"/>
                <a:sym typeface="Consolas"/>
              </a:rPr>
              <a:t> (there are unknown nodes):</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let u be the closest unknown node</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known.</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for</a:t>
            </a:r>
            <a:r>
              <a:rPr lang="en-US" sz="1600" b="0" dirty="0">
                <a:solidFill>
                  <a:schemeClr val="dk1"/>
                </a:solidFill>
                <a:latin typeface="Consolas"/>
                <a:ea typeface="Consolas"/>
                <a:cs typeface="Consolas"/>
                <a:sym typeface="Consolas"/>
              </a:rPr>
              <a:t> each edge (</a:t>
            </a:r>
            <a:r>
              <a:rPr lang="en-US" sz="1600" b="0" dirty="0" err="1">
                <a:solidFill>
                  <a:schemeClr val="dk1"/>
                </a:solidFill>
                <a:latin typeface="Consolas"/>
                <a:ea typeface="Consolas"/>
                <a:cs typeface="Consolas"/>
                <a:sym typeface="Consolas"/>
              </a:rPr>
              <a:t>u,v</a:t>
            </a:r>
            <a:r>
              <a:rPr lang="en-US" sz="1600" b="0" dirty="0">
                <a:solidFill>
                  <a:schemeClr val="dk1"/>
                </a:solidFill>
                <a:latin typeface="Consolas"/>
                <a:ea typeface="Consolas"/>
                <a:cs typeface="Consolas"/>
                <a:sym typeface="Consolas"/>
              </a:rPr>
              <a:t>) to unknown v with weight w:</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(v)      </a:t>
            </a:r>
            <a:r>
              <a:rPr lang="en-US" sz="1600" b="0" dirty="0">
                <a:solidFill>
                  <a:srgbClr val="6EA0C0"/>
                </a:solidFill>
                <a:latin typeface="Consolas"/>
                <a:ea typeface="Consolas"/>
                <a:cs typeface="Consolas"/>
                <a:sym typeface="Consolas"/>
              </a:rPr>
              <a:t>// previous best path to v</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(u) + w  </a:t>
            </a:r>
            <a:r>
              <a:rPr lang="en-US" sz="1600" b="0" dirty="0">
                <a:solidFill>
                  <a:srgbClr val="6EA0C0"/>
                </a:solidFill>
                <a:latin typeface="Consolas"/>
                <a:ea typeface="Consolas"/>
                <a:cs typeface="Consolas"/>
                <a:sym typeface="Consolas"/>
              </a:rPr>
              <a:t>// what if we went through 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if</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&lt;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PN.</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u)</a:t>
            </a:r>
            <a:endParaRPr sz="16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dirty="0">
                <a:solidFill>
                  <a:schemeClr val="dk1"/>
                </a:solidFill>
                <a:latin typeface="Consolas"/>
                <a:ea typeface="Consolas"/>
                <a:cs typeface="Consolas"/>
                <a:sym typeface="Consolas"/>
              </a:rPr>
              <a:t>        update distance in list of unknown nodes</a:t>
            </a:r>
            <a:br>
              <a:rPr lang="en-US" sz="1600" b="0" dirty="0">
                <a:solidFill>
                  <a:schemeClr val="dk1"/>
                </a:solidFill>
                <a:latin typeface="Consolas"/>
                <a:ea typeface="Consolas"/>
                <a:cs typeface="Consolas"/>
                <a:sym typeface="Consolas"/>
              </a:rPr>
            </a:br>
            <a:endParaRPr sz="1600" b="0" dirty="0">
              <a:solidFill>
                <a:schemeClr val="dk1"/>
              </a:solidFill>
              <a:latin typeface="Consolas"/>
              <a:ea typeface="Consolas"/>
              <a:cs typeface="Consolas"/>
              <a:sym typeface="Consolas"/>
            </a:endParaRPr>
          </a:p>
        </p:txBody>
      </p:sp>
      <p:sp>
        <p:nvSpPr>
          <p:cNvPr id="505" name="Google Shape;505;p33"/>
          <p:cNvSpPr/>
          <p:nvPr/>
        </p:nvSpPr>
        <p:spPr>
          <a:xfrm>
            <a:off x="3227300" y="1478125"/>
            <a:ext cx="831000" cy="422700"/>
          </a:xfrm>
          <a:prstGeom prst="wedgeRectCallout">
            <a:avLst>
              <a:gd name="adj1" fmla="val 110806"/>
              <a:gd name="adj2" fmla="val 100692"/>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O(V)</a:t>
            </a:r>
            <a:endParaRPr dirty="0"/>
          </a:p>
        </p:txBody>
      </p:sp>
      <p:sp>
        <p:nvSpPr>
          <p:cNvPr id="506" name="Google Shape;506;p33"/>
          <p:cNvSpPr/>
          <p:nvPr/>
        </p:nvSpPr>
        <p:spPr>
          <a:xfrm>
            <a:off x="3227350" y="2071750"/>
            <a:ext cx="831000" cy="422700"/>
          </a:xfrm>
          <a:prstGeom prst="wedgeRectCallout">
            <a:avLst>
              <a:gd name="adj1" fmla="val 107265"/>
              <a:gd name="adj2" fmla="val 99509"/>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O(V)</a:t>
            </a:r>
            <a:endParaRPr dirty="0"/>
          </a:p>
        </p:txBody>
      </p:sp>
      <p:sp>
        <p:nvSpPr>
          <p:cNvPr id="507" name="Google Shape;507;p33"/>
          <p:cNvSpPr/>
          <p:nvPr/>
        </p:nvSpPr>
        <p:spPr>
          <a:xfrm>
            <a:off x="575240" y="2589725"/>
            <a:ext cx="2765436" cy="864710"/>
          </a:xfrm>
          <a:prstGeom prst="wedgeRectCallout">
            <a:avLst>
              <a:gd name="adj1" fmla="val 102272"/>
              <a:gd name="adj2" fmla="val 36544"/>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O(log V) using binary min-heap implementation of a priority queue</a:t>
            </a:r>
            <a:endParaRPr dirty="0"/>
          </a:p>
        </p:txBody>
      </p:sp>
      <p:sp>
        <p:nvSpPr>
          <p:cNvPr id="508" name="Google Shape;508;p33"/>
          <p:cNvSpPr/>
          <p:nvPr/>
        </p:nvSpPr>
        <p:spPr>
          <a:xfrm>
            <a:off x="2686950" y="3811425"/>
            <a:ext cx="1008900" cy="422700"/>
          </a:xfrm>
          <a:prstGeom prst="wedgeRectCallout">
            <a:avLst>
              <a:gd name="adj1" fmla="val 156401"/>
              <a:gd name="adj2" fmla="val -117382"/>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O(E) </a:t>
            </a:r>
            <a:endParaRPr dirty="0"/>
          </a:p>
        </p:txBody>
      </p:sp>
      <p:sp>
        <p:nvSpPr>
          <p:cNvPr id="509" name="Google Shape;509;p33"/>
          <p:cNvSpPr/>
          <p:nvPr/>
        </p:nvSpPr>
        <p:spPr>
          <a:xfrm>
            <a:off x="1863175" y="4405050"/>
            <a:ext cx="2124300" cy="320700"/>
          </a:xfrm>
          <a:prstGeom prst="wedgeRectCallout">
            <a:avLst>
              <a:gd name="adj1" fmla="val 108150"/>
              <a:gd name="adj2" fmla="val 220681"/>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O(log V)  </a:t>
            </a:r>
            <a:endParaRPr dirty="0"/>
          </a:p>
        </p:txBody>
      </p:sp>
      <p:sp>
        <p:nvSpPr>
          <p:cNvPr id="510" name="Google Shape;510;p33"/>
          <p:cNvSpPr txBox="1"/>
          <p:nvPr/>
        </p:nvSpPr>
        <p:spPr>
          <a:xfrm>
            <a:off x="645017" y="5220608"/>
            <a:ext cx="3488242" cy="1415742"/>
          </a:xfrm>
          <a:prstGeom prst="rect">
            <a:avLst/>
          </a:prstGeom>
          <a:solidFill>
            <a:srgbClr val="E6DAFF"/>
          </a:solidFill>
          <a:ln w="19050" cap="flat" cmpd="sng">
            <a:solidFill>
              <a:srgbClr val="4B2A85"/>
            </a:solidFill>
            <a:prstDash val="solid"/>
            <a:round/>
            <a:headEnd type="none" w="sm" len="sm"/>
            <a:tailEnd type="none" w="sm" len="sm"/>
          </a:ln>
        </p:spPr>
        <p:txBody>
          <a:bodyPr spcFirstLastPara="1" wrap="square" lIns="91425" tIns="91425" rIns="91425" bIns="91425" anchor="t" anchorCtr="0">
            <a:spAutoFit/>
          </a:bodyPr>
          <a:lstStyle/>
          <a:p>
            <a:pPr lvl="0"/>
            <a:r>
              <a:rPr lang="en-US" sz="2000" dirty="0">
                <a:latin typeface="Quattrocento Sans"/>
                <a:ea typeface="Quattrocento Sans"/>
                <a:cs typeface="Quattrocento Sans"/>
                <a:sym typeface="Quattrocento Sans"/>
              </a:rPr>
              <a:t>Initialization: O(</a:t>
            </a:r>
            <a:r>
              <a:rPr lang="en-US" sz="2000" dirty="0">
                <a:latin typeface="Georgia"/>
                <a:ea typeface="Georgia"/>
                <a:cs typeface="Georgia"/>
                <a:sym typeface="Georgia"/>
              </a:rPr>
              <a:t>V</a:t>
            </a:r>
            <a:r>
              <a:rPr lang="en-US" sz="2000" dirty="0">
                <a:latin typeface="Quattrocento Sans"/>
                <a:ea typeface="Quattrocento Sans"/>
                <a:cs typeface="Quattrocento Sans"/>
                <a:sym typeface="Quattrocento Sans"/>
              </a:rPr>
              <a:t>)</a:t>
            </a:r>
          </a:p>
          <a:p>
            <a:pPr lvl="0"/>
            <a:r>
              <a:rPr lang="en-US" sz="2000" dirty="0">
                <a:latin typeface="Quattrocento Sans"/>
                <a:ea typeface="Quattrocento Sans"/>
                <a:cs typeface="Quattrocento Sans"/>
                <a:sym typeface="Quattrocento Sans"/>
              </a:rPr>
              <a:t>Extracting nodes: O(V log V)</a:t>
            </a:r>
          </a:p>
          <a:p>
            <a:pPr lvl="0"/>
            <a:r>
              <a:rPr lang="en-US" sz="2000" dirty="0">
                <a:latin typeface="Quattrocento Sans"/>
                <a:ea typeface="Quattrocento Sans"/>
                <a:cs typeface="Quattrocento Sans"/>
                <a:sym typeface="Quattrocento Sans"/>
              </a:rPr>
              <a:t>Edge relaxations: O(E log V)</a:t>
            </a:r>
          </a:p>
          <a:p>
            <a:r>
              <a:rPr lang="en-US" sz="2000" dirty="0">
                <a:latin typeface="Quattrocento Sans"/>
                <a:ea typeface="Quattrocento Sans"/>
                <a:cs typeface="Quattrocento Sans"/>
                <a:sym typeface="Quattrocento Sans"/>
              </a:rPr>
              <a:t>Total runtime: O((V+E) log V)</a:t>
            </a:r>
            <a:endParaRPr sz="2000" dirty="0">
              <a:latin typeface="Georgia"/>
              <a:ea typeface="Georgia"/>
              <a:cs typeface="Georgia"/>
              <a:sym typeface="Georg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0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04"/>
        <p:cNvGrpSpPr/>
        <p:nvPr/>
      </p:nvGrpSpPr>
      <p:grpSpPr>
        <a:xfrm>
          <a:off x="0" y="0"/>
          <a:ext cx="0" cy="0"/>
          <a:chOff x="0" y="0"/>
          <a:chExt cx="0" cy="0"/>
        </a:xfrm>
      </p:grpSpPr>
      <p:sp>
        <p:nvSpPr>
          <p:cNvPr id="1105" name="Google Shape;1105;p45"/>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a:t>Greedy Algorithms</a:t>
            </a:r>
            <a:endParaRPr/>
          </a:p>
        </p:txBody>
      </p:sp>
      <p:sp>
        <p:nvSpPr>
          <p:cNvPr id="1106" name="Google Shape;1106;p45"/>
          <p:cNvSpPr txBox="1">
            <a:spLocks noGrp="1"/>
          </p:cNvSpPr>
          <p:nvPr>
            <p:ph type="body" idx="1"/>
          </p:nvPr>
        </p:nvSpPr>
        <p:spPr>
          <a:xfrm>
            <a:off x="695250" y="1568275"/>
            <a:ext cx="10801500" cy="3842548"/>
          </a:xfrm>
          <a:prstGeom prst="rect">
            <a:avLst/>
          </a:prstGeom>
        </p:spPr>
        <p:txBody>
          <a:bodyPr spcFirstLastPara="1" wrap="square" lIns="44175" tIns="44175" rIns="44175" bIns="44175" anchor="t" anchorCtr="0">
            <a:spAutoFit/>
          </a:bodyPr>
          <a:lstStyle/>
          <a:p>
            <a:pPr>
              <a:spcBef>
                <a:spcPts val="0"/>
              </a:spcBef>
            </a:pPr>
            <a:r>
              <a:rPr lang="en-GB" dirty="0"/>
              <a:t>A greedy algorithm makes the locally optimal choice at each step </a:t>
            </a:r>
          </a:p>
          <a:p>
            <a:pPr marL="457200" lvl="0" indent="-393700" algn="l" rtl="0">
              <a:spcBef>
                <a:spcPts val="0"/>
              </a:spcBef>
              <a:spcAft>
                <a:spcPts val="0"/>
              </a:spcAft>
              <a:buSzPts val="2600"/>
              <a:buChar char="●"/>
            </a:pPr>
            <a:r>
              <a:rPr lang="en-GB" dirty="0"/>
              <a:t>Dijkstra’s is “greedy” because once a node is marked as visited, it is never revisited</a:t>
            </a:r>
          </a:p>
          <a:p>
            <a:pPr marL="914400" lvl="1" indent="-361950" algn="l" rtl="0">
              <a:spcBef>
                <a:spcPts val="0"/>
              </a:spcBef>
              <a:spcAft>
                <a:spcPts val="0"/>
              </a:spcAft>
              <a:buSzPts val="2100"/>
              <a:buChar char="○"/>
            </a:pPr>
            <a:r>
              <a:rPr lang="en-GB" dirty="0"/>
              <a:t>This is why Dijkstra’s does not work with negative edge weights</a:t>
            </a:r>
          </a:p>
          <a:p>
            <a:pPr marL="457200" lvl="0" indent="-393700" algn="l" rtl="0">
              <a:spcBef>
                <a:spcPts val="0"/>
              </a:spcBef>
              <a:spcAft>
                <a:spcPts val="0"/>
              </a:spcAft>
              <a:buSzPts val="2600"/>
              <a:buChar char="●"/>
            </a:pPr>
            <a:r>
              <a:rPr lang="en-GB" dirty="0"/>
              <a:t>In the lecture and exams, when there are multiple possible orders of visiting the next node (with equal SD value), select the next node in alphabetical or numerical order</a:t>
            </a:r>
          </a:p>
          <a:p>
            <a:pPr lvl="1" indent="-393700">
              <a:spcBef>
                <a:spcPts val="0"/>
              </a:spcBef>
              <a:buSzPts val="2600"/>
              <a:buChar char="●"/>
            </a:pPr>
            <a:r>
              <a:rPr lang="en-GB" dirty="0"/>
              <a:t>The intermediate steps will depend on the order, but final result will be the same</a:t>
            </a:r>
          </a:p>
          <a:p>
            <a:pPr>
              <a:spcBef>
                <a:spcPts val="0"/>
              </a:spcBef>
            </a:pPr>
            <a:r>
              <a:rPr lang="en-GB" dirty="0"/>
              <a:t>Other examples of greedy algorithms are:</a:t>
            </a:r>
          </a:p>
          <a:p>
            <a:pPr lvl="1">
              <a:spcBef>
                <a:spcPts val="0"/>
              </a:spcBef>
            </a:pPr>
            <a:r>
              <a:rPr lang="en-GB" dirty="0"/>
              <a:t>Kruskal and Prim’s minimum spanning tree algorithms</a:t>
            </a:r>
          </a:p>
          <a:p>
            <a:pPr>
              <a:spcBef>
                <a:spcPts val="0"/>
              </a:spcBef>
            </a:pPr>
            <a:endParaRPr lang="en-GB" dirty="0"/>
          </a:p>
        </p:txBody>
      </p:sp>
    </p:spTree>
    <p:extLst>
      <p:ext uri="{BB962C8B-B14F-4D97-AF65-F5344CB8AC3E}">
        <p14:creationId xmlns:p14="http://schemas.microsoft.com/office/powerpoint/2010/main" val="36876445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5C226-56A5-37E6-A899-C75664F9660D}"/>
              </a:ext>
            </a:extLst>
          </p:cNvPr>
          <p:cNvSpPr>
            <a:spLocks noGrp="1"/>
          </p:cNvSpPr>
          <p:nvPr>
            <p:ph type="title"/>
          </p:nvPr>
        </p:nvSpPr>
        <p:spPr/>
        <p:txBody>
          <a:bodyPr/>
          <a:lstStyle/>
          <a:p>
            <a:r>
              <a:rPr lang="en-GB" dirty="0"/>
              <a:t>Resolving Ambiguities</a:t>
            </a:r>
            <a:endParaRPr lang="en-SE" dirty="0"/>
          </a:p>
        </p:txBody>
      </p:sp>
      <p:sp>
        <p:nvSpPr>
          <p:cNvPr id="3" name="Text Placeholder 2">
            <a:extLst>
              <a:ext uri="{FF2B5EF4-FFF2-40B4-BE49-F238E27FC236}">
                <a16:creationId xmlns:a16="http://schemas.microsoft.com/office/drawing/2014/main" id="{92E563DE-385D-B626-0421-6105AA79B73F}"/>
              </a:ext>
            </a:extLst>
          </p:cNvPr>
          <p:cNvSpPr>
            <a:spLocks noGrp="1"/>
          </p:cNvSpPr>
          <p:nvPr>
            <p:ph type="body" idx="1"/>
          </p:nvPr>
        </p:nvSpPr>
        <p:spPr>
          <a:xfrm>
            <a:off x="746174" y="1568275"/>
            <a:ext cx="9820225" cy="3779454"/>
          </a:xfrm>
        </p:spPr>
        <p:txBody>
          <a:bodyPr/>
          <a:lstStyle/>
          <a:p>
            <a:r>
              <a:rPr lang="en-GB" sz="2800" dirty="0"/>
              <a:t>As There are typically multiple possible orders of the same graph. In the lecture and exams, we often use the following rule to resolve any ambiguities:</a:t>
            </a:r>
          </a:p>
          <a:p>
            <a:r>
              <a:rPr lang="en-GB" sz="2800" dirty="0"/>
              <a:t>“When there are multiple possible orders of visiting the next node, select the next node in alphabetical or numerical order.”</a:t>
            </a:r>
          </a:p>
          <a:p>
            <a:endParaRPr lang="en-GB" sz="2800" dirty="0"/>
          </a:p>
          <a:p>
            <a:endParaRPr lang="en-SE" dirty="0"/>
          </a:p>
        </p:txBody>
      </p:sp>
    </p:spTree>
    <p:extLst>
      <p:ext uri="{BB962C8B-B14F-4D97-AF65-F5344CB8AC3E}">
        <p14:creationId xmlns:p14="http://schemas.microsoft.com/office/powerpoint/2010/main" val="18831426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sp>
        <p:nvSpPr>
          <p:cNvPr id="517" name="Google Shape;517;p34"/>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sp>
        <p:nvSpPr>
          <p:cNvPr id="518" name="Google Shape;518;p34"/>
          <p:cNvSpPr txBox="1">
            <a:spLocks noGrp="1"/>
          </p:cNvSpPr>
          <p:nvPr>
            <p:ph type="sldNum" idx="12"/>
          </p:nvPr>
        </p:nvSpPr>
        <p:spPr>
          <a:xfrm>
            <a:off x="6400800" y="4869657"/>
            <a:ext cx="457200" cy="273844"/>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20</a:t>
            </a:fld>
            <a:endParaRPr sz="675" b="1" i="0" u="none" strike="noStrike" cap="none">
              <a:solidFill>
                <a:srgbClr val="4B2A85"/>
              </a:solidFill>
              <a:latin typeface="Calibri"/>
              <a:ea typeface="Calibri"/>
              <a:cs typeface="Calibri"/>
              <a:sym typeface="Calibri"/>
            </a:endParaRPr>
          </a:p>
        </p:txBody>
      </p:sp>
      <p:graphicFrame>
        <p:nvGraphicFramePr>
          <p:cNvPr id="519" name="Google Shape;519;p34"/>
          <p:cNvGraphicFramePr/>
          <p:nvPr>
            <p:extLst>
              <p:ext uri="{D42A27DB-BD31-4B8C-83A1-F6EECF244321}">
                <p14:modId xmlns:p14="http://schemas.microsoft.com/office/powerpoint/2010/main" val="2775025615"/>
              </p:ext>
            </p:extLst>
          </p:nvPr>
        </p:nvGraphicFramePr>
        <p:xfrm>
          <a:off x="6287716"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2000" dirty="0">
                          <a:solidFill>
                            <a:srgbClr val="0C0C0C"/>
                          </a:solidFill>
                          <a:latin typeface="Quattrocento Sans"/>
                          <a:ea typeface="Quattrocento Sans"/>
                          <a:cs typeface="Quattrocento Sans"/>
                          <a:sym typeface="Quattrocento Sans"/>
                        </a:rPr>
                        <a:t>0</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2000" dirty="0">
                          <a:latin typeface="Quattrocento Sans"/>
                          <a:ea typeface="Quattrocento Sans"/>
                          <a:cs typeface="Quattrocento Sans"/>
                          <a:sym typeface="Quattrocento Sans"/>
                        </a:rPr>
                        <a:t>/</a:t>
                      </a:r>
                      <a:endParaRPr lang="en-US"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B</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C</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D</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E</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F</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G</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H</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rgbClr val="0C0C0C"/>
                          </a:solidFill>
                          <a:latin typeface="Quattrocento Sans"/>
                          <a:ea typeface="Quattrocento Sans"/>
                          <a:cs typeface="Quattrocento Sans"/>
                          <a:sym typeface="Quattrocento Sans"/>
                        </a:rPr>
                        <a:t>∞</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bl>
          </a:graphicData>
        </a:graphic>
      </p:graphicFrame>
      <p:grpSp>
        <p:nvGrpSpPr>
          <p:cNvPr id="520" name="Google Shape;520;p34"/>
          <p:cNvGrpSpPr/>
          <p:nvPr/>
        </p:nvGrpSpPr>
        <p:grpSpPr>
          <a:xfrm>
            <a:off x="1751501" y="1368475"/>
            <a:ext cx="4726715" cy="2331624"/>
            <a:chOff x="-2863816" y="1556555"/>
            <a:chExt cx="3545036" cy="1748718"/>
          </a:xfrm>
        </p:grpSpPr>
        <p:sp>
          <p:nvSpPr>
            <p:cNvPr id="521" name="Google Shape;521;p34"/>
            <p:cNvSpPr/>
            <p:nvPr/>
          </p:nvSpPr>
          <p:spPr>
            <a:xfrm>
              <a:off x="-2576330" y="1806476"/>
              <a:ext cx="285750" cy="28575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522" name="Google Shape;522;p34"/>
            <p:cNvSpPr/>
            <p:nvPr/>
          </p:nvSpPr>
          <p:spPr>
            <a:xfrm>
              <a:off x="-1319030" y="17493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523" name="Google Shape;523;p34"/>
            <p:cNvSpPr/>
            <p:nvPr/>
          </p:nvSpPr>
          <p:spPr>
            <a:xfrm>
              <a:off x="-2690630" y="27208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524" name="Google Shape;524;p34"/>
            <p:cNvSpPr/>
            <p:nvPr/>
          </p:nvSpPr>
          <p:spPr>
            <a:xfrm>
              <a:off x="-1490480" y="25494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sp>
          <p:nvSpPr>
            <p:cNvPr id="525" name="Google Shape;525;p34"/>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526" name="Google Shape;526;p34"/>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527" name="Google Shape;527;p34"/>
            <p:cNvSpPr/>
            <p:nvPr/>
          </p:nvSpPr>
          <p:spPr>
            <a:xfrm>
              <a:off x="-804680" y="28351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528" name="Google Shape;528;p34"/>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529" name="Google Shape;529;p34"/>
            <p:cNvCxnSpPr>
              <a:stCxn id="521" idx="6"/>
              <a:endCxn id="524" idx="1"/>
            </p:cNvCxnSpPr>
            <p:nvPr/>
          </p:nvCxnSpPr>
          <p:spPr>
            <a:xfrm>
              <a:off x="-2290580" y="1949351"/>
              <a:ext cx="841800" cy="642000"/>
            </a:xfrm>
            <a:prstGeom prst="curvedConnector2">
              <a:avLst/>
            </a:prstGeom>
            <a:noFill/>
            <a:ln w="9525" cap="flat" cmpd="sng">
              <a:solidFill>
                <a:schemeClr val="dk1"/>
              </a:solidFill>
              <a:prstDash val="solid"/>
              <a:round/>
              <a:headEnd type="none" w="med" len="med"/>
              <a:tailEnd type="triangle" w="med" len="med"/>
            </a:ln>
          </p:spPr>
        </p:cxnSp>
        <p:cxnSp>
          <p:nvCxnSpPr>
            <p:cNvPr id="530" name="Google Shape;530;p34"/>
            <p:cNvCxnSpPr>
              <a:stCxn id="524" idx="2"/>
              <a:endCxn id="521" idx="4"/>
            </p:cNvCxnSpPr>
            <p:nvPr/>
          </p:nvCxnSpPr>
          <p:spPr>
            <a:xfrm rot="10800000">
              <a:off x="-2433380" y="2092301"/>
              <a:ext cx="942900" cy="600000"/>
            </a:xfrm>
            <a:prstGeom prst="curvedConnector2">
              <a:avLst/>
            </a:prstGeom>
            <a:noFill/>
            <a:ln w="9525" cap="flat" cmpd="sng">
              <a:solidFill>
                <a:schemeClr val="dk1"/>
              </a:solidFill>
              <a:prstDash val="solid"/>
              <a:round/>
              <a:headEnd type="none" w="med" len="med"/>
              <a:tailEnd type="triangle" w="med" len="med"/>
            </a:ln>
          </p:spPr>
        </p:cxnSp>
        <p:cxnSp>
          <p:nvCxnSpPr>
            <p:cNvPr id="531" name="Google Shape;531;p34"/>
            <p:cNvCxnSpPr>
              <a:stCxn id="528" idx="2"/>
              <a:endCxn id="527"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32" name="Google Shape;532;p34"/>
            <p:cNvCxnSpPr>
              <a:stCxn id="527" idx="6"/>
              <a:endCxn id="528"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33" name="Google Shape;533;p34"/>
            <p:cNvCxnSpPr>
              <a:stCxn id="521" idx="3"/>
              <a:endCxn id="523" idx="0"/>
            </p:cNvCxnSpPr>
            <p:nvPr/>
          </p:nvCxnSpPr>
          <p:spPr>
            <a:xfrm flipH="1">
              <a:off x="-2547683" y="2050379"/>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534" name="Google Shape;534;p34"/>
            <p:cNvCxnSpPr>
              <a:stCxn id="523" idx="6"/>
              <a:endCxn id="524"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535" name="Google Shape;535;p34"/>
            <p:cNvCxnSpPr>
              <a:stCxn id="521" idx="7"/>
              <a:endCxn id="522" idx="2"/>
            </p:cNvCxnSpPr>
            <p:nvPr/>
          </p:nvCxnSpPr>
          <p:spPr>
            <a:xfrm>
              <a:off x="-2332427" y="1848323"/>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536" name="Google Shape;536;p34"/>
            <p:cNvCxnSpPr>
              <a:stCxn id="522" idx="6"/>
              <a:endCxn id="525"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537" name="Google Shape;537;p34"/>
            <p:cNvCxnSpPr>
              <a:stCxn id="525" idx="6"/>
              <a:endCxn id="526"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538" name="Google Shape;538;p34"/>
            <p:cNvCxnSpPr>
              <a:stCxn id="528" idx="1"/>
              <a:endCxn id="525"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539" name="Google Shape;539;p34"/>
            <p:cNvCxnSpPr>
              <a:stCxn id="526" idx="4"/>
              <a:endCxn id="528"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540" name="Google Shape;540;p34"/>
            <p:cNvCxnSpPr>
              <a:stCxn id="522" idx="5"/>
              <a:endCxn id="527"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541" name="Google Shape;541;p34"/>
            <p:cNvCxnSpPr>
              <a:stCxn id="522" idx="4"/>
              <a:endCxn id="524"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542" name="Google Shape;542;p34"/>
            <p:cNvCxnSpPr>
              <a:stCxn id="524" idx="5"/>
              <a:endCxn id="527" idx="2"/>
            </p:cNvCxnSpPr>
            <p:nvPr/>
          </p:nvCxnSpPr>
          <p:spPr>
            <a:xfrm>
              <a:off x="-1246577" y="2793329"/>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543" name="Google Shape;543;p34"/>
            <p:cNvCxnSpPr>
              <a:stCxn id="527" idx="3"/>
              <a:endCxn id="523"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544" name="Google Shape;544;p34"/>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45" name="Google Shape;545;p34"/>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46" name="Google Shape;546;p34"/>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547" name="Google Shape;547;p34"/>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548" name="Google Shape;548;p34"/>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549" name="Google Shape;549;p34"/>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50" name="Google Shape;550;p34"/>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551" name="Google Shape;551;p34"/>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552" name="Google Shape;552;p34"/>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553" name="Google Shape;553;p34"/>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554" name="Google Shape;554;p34"/>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555" name="Google Shape;555;p34"/>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9</a:t>
              </a:r>
              <a:endParaRPr/>
            </a:p>
          </p:txBody>
        </p:sp>
        <p:sp>
          <p:nvSpPr>
            <p:cNvPr id="556" name="Google Shape;556;p34"/>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57" name="Google Shape;557;p34"/>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558" name="Google Shape;558;p34"/>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559" name="Google Shape;559;p34"/>
            <p:cNvSpPr txBox="1"/>
            <p:nvPr/>
          </p:nvSpPr>
          <p:spPr>
            <a:xfrm>
              <a:off x="-1417640" y="1556555"/>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0" name="Google Shape;560;p34"/>
            <p:cNvSpPr txBox="1"/>
            <p:nvPr/>
          </p:nvSpPr>
          <p:spPr>
            <a:xfrm>
              <a:off x="-477173" y="160937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1" name="Google Shape;561;p34"/>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2" name="Google Shape;562;p34"/>
            <p:cNvSpPr txBox="1"/>
            <p:nvPr/>
          </p:nvSpPr>
          <p:spPr>
            <a:xfrm>
              <a:off x="-1531640" y="226965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3" name="Google Shape;563;p34"/>
            <p:cNvSpPr txBox="1"/>
            <p:nvPr/>
          </p:nvSpPr>
          <p:spPr>
            <a:xfrm>
              <a:off x="-2863816" y="2543734"/>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4" name="Google Shape;564;p34"/>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5" name="Google Shape;565;p34"/>
            <p:cNvSpPr txBox="1"/>
            <p:nvPr/>
          </p:nvSpPr>
          <p:spPr>
            <a:xfrm>
              <a:off x="-865204" y="256204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6" name="Google Shape;566;p34"/>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567" name="Google Shape;567;p34"/>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568" name="Google Shape;568;p34"/>
          <p:cNvSpPr txBox="1"/>
          <p:nvPr/>
        </p:nvSpPr>
        <p:spPr>
          <a:xfrm>
            <a:off x="1472700" y="4883675"/>
            <a:ext cx="4002900" cy="6771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j-lt"/>
                <a:ea typeface="Quattrocento Sans"/>
                <a:cs typeface="Quattrocento Sans"/>
                <a:sym typeface="Quattrocento Sans"/>
              </a:rPr>
              <a:t>Visit Order</a:t>
            </a:r>
            <a:endParaRPr dirty="0">
              <a:latin typeface="+mj-lt"/>
              <a:ea typeface="Quattrocento Sans"/>
              <a:cs typeface="Quattrocento Sans"/>
              <a:sym typeface="Quattrocento Sans"/>
            </a:endParaRPr>
          </a:p>
          <a:p>
            <a:pPr marL="0" marR="0" lvl="0" indent="0" algn="l" rtl="0">
              <a:spcBef>
                <a:spcPts val="0"/>
              </a:spcBef>
              <a:spcAft>
                <a:spcPts val="0"/>
              </a:spcAft>
              <a:buNone/>
            </a:pPr>
            <a:endParaRPr dirty="0">
              <a:latin typeface="+mj-lt"/>
              <a:ea typeface="Quattrocento Sans"/>
              <a:cs typeface="Quattrocento Sans"/>
              <a:sym typeface="Quattrocento Sans"/>
            </a:endParaRPr>
          </a:p>
        </p:txBody>
      </p:sp>
      <p:sp>
        <p:nvSpPr>
          <p:cNvPr id="2" name="TextBox 1">
            <a:extLst>
              <a:ext uri="{FF2B5EF4-FFF2-40B4-BE49-F238E27FC236}">
                <a16:creationId xmlns:a16="http://schemas.microsoft.com/office/drawing/2014/main" id="{DA3E81DB-0E8D-6EE4-A16E-252310E57C72}"/>
              </a:ext>
            </a:extLst>
          </p:cNvPr>
          <p:cNvSpPr txBox="1"/>
          <p:nvPr/>
        </p:nvSpPr>
        <p:spPr>
          <a:xfrm>
            <a:off x="1231686" y="5890385"/>
            <a:ext cx="4525392"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Start from the source node A </a:t>
            </a:r>
            <a:endParaRPr lang="en-SE"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74"/>
        <p:cNvGrpSpPr/>
        <p:nvPr/>
      </p:nvGrpSpPr>
      <p:grpSpPr>
        <a:xfrm>
          <a:off x="0" y="0"/>
          <a:ext cx="0" cy="0"/>
          <a:chOff x="0" y="0"/>
          <a:chExt cx="0" cy="0"/>
        </a:xfrm>
      </p:grpSpPr>
      <p:sp>
        <p:nvSpPr>
          <p:cNvPr id="575" name="Google Shape;575;p35"/>
          <p:cNvSpPr/>
          <p:nvPr/>
        </p:nvSpPr>
        <p:spPr>
          <a:xfrm>
            <a:off x="1954045" y="1419970"/>
            <a:ext cx="1129623" cy="1138404"/>
          </a:xfrm>
          <a:custGeom>
            <a:avLst/>
            <a:gdLst/>
            <a:ahLst/>
            <a:cxnLst/>
            <a:rect l="l" t="t" r="r" b="b"/>
            <a:pathLst>
              <a:path w="1129623" h="1138404" extrusionOk="0">
                <a:moveTo>
                  <a:pt x="623785" y="268"/>
                </a:moveTo>
                <a:cubicBezTo>
                  <a:pt x="580011" y="-1353"/>
                  <a:pt x="505321" y="4278"/>
                  <a:pt x="448687" y="19724"/>
                </a:cubicBezTo>
                <a:cubicBezTo>
                  <a:pt x="428902" y="25120"/>
                  <a:pt x="409776" y="32694"/>
                  <a:pt x="390321" y="39179"/>
                </a:cubicBezTo>
                <a:lnTo>
                  <a:pt x="331955" y="58634"/>
                </a:lnTo>
                <a:cubicBezTo>
                  <a:pt x="322227" y="61877"/>
                  <a:pt x="311304" y="62674"/>
                  <a:pt x="302772" y="68362"/>
                </a:cubicBezTo>
                <a:cubicBezTo>
                  <a:pt x="265057" y="93505"/>
                  <a:pt x="284680" y="84120"/>
                  <a:pt x="244406" y="97545"/>
                </a:cubicBezTo>
                <a:cubicBezTo>
                  <a:pt x="224951" y="117000"/>
                  <a:pt x="201302" y="133018"/>
                  <a:pt x="186040" y="155911"/>
                </a:cubicBezTo>
                <a:cubicBezTo>
                  <a:pt x="179555" y="165639"/>
                  <a:pt x="173888" y="175965"/>
                  <a:pt x="166585" y="185094"/>
                </a:cubicBezTo>
                <a:cubicBezTo>
                  <a:pt x="150745" y="204894"/>
                  <a:pt x="139612" y="209560"/>
                  <a:pt x="117946" y="224004"/>
                </a:cubicBezTo>
                <a:cubicBezTo>
                  <a:pt x="90393" y="306668"/>
                  <a:pt x="128820" y="205883"/>
                  <a:pt x="88764" y="272643"/>
                </a:cubicBezTo>
                <a:cubicBezTo>
                  <a:pt x="83488" y="281436"/>
                  <a:pt x="84016" y="292863"/>
                  <a:pt x="79036" y="301826"/>
                </a:cubicBezTo>
                <a:cubicBezTo>
                  <a:pt x="67680" y="322266"/>
                  <a:pt x="40125" y="360192"/>
                  <a:pt x="40125" y="360192"/>
                </a:cubicBezTo>
                <a:cubicBezTo>
                  <a:pt x="14433" y="437270"/>
                  <a:pt x="24042" y="398329"/>
                  <a:pt x="10942" y="476924"/>
                </a:cubicBezTo>
                <a:cubicBezTo>
                  <a:pt x="-2449" y="651017"/>
                  <a:pt x="-4800" y="616458"/>
                  <a:pt x="10942" y="836847"/>
                </a:cubicBezTo>
                <a:cubicBezTo>
                  <a:pt x="11959" y="851089"/>
                  <a:pt x="37433" y="931433"/>
                  <a:pt x="40125" y="934124"/>
                </a:cubicBezTo>
                <a:cubicBezTo>
                  <a:pt x="46610" y="940609"/>
                  <a:pt x="53852" y="946417"/>
                  <a:pt x="59581" y="953579"/>
                </a:cubicBezTo>
                <a:cubicBezTo>
                  <a:pt x="66884" y="962708"/>
                  <a:pt x="70769" y="974495"/>
                  <a:pt x="79036" y="982762"/>
                </a:cubicBezTo>
                <a:cubicBezTo>
                  <a:pt x="102402" y="1006128"/>
                  <a:pt x="109712" y="1000078"/>
                  <a:pt x="137402" y="1011945"/>
                </a:cubicBezTo>
                <a:cubicBezTo>
                  <a:pt x="237584" y="1054880"/>
                  <a:pt x="101843" y="1006578"/>
                  <a:pt x="234678" y="1050856"/>
                </a:cubicBezTo>
                <a:lnTo>
                  <a:pt x="293044" y="1070311"/>
                </a:lnTo>
                <a:cubicBezTo>
                  <a:pt x="302772" y="1073554"/>
                  <a:pt x="312279" y="1077552"/>
                  <a:pt x="322227" y="1080039"/>
                </a:cubicBezTo>
                <a:cubicBezTo>
                  <a:pt x="335197" y="1083281"/>
                  <a:pt x="348283" y="1086093"/>
                  <a:pt x="361138" y="1089766"/>
                </a:cubicBezTo>
                <a:cubicBezTo>
                  <a:pt x="370997" y="1092583"/>
                  <a:pt x="380428" y="1096796"/>
                  <a:pt x="390321" y="1099494"/>
                </a:cubicBezTo>
                <a:cubicBezTo>
                  <a:pt x="416117" y="1106529"/>
                  <a:pt x="442776" y="1110493"/>
                  <a:pt x="468142" y="1118949"/>
                </a:cubicBezTo>
                <a:cubicBezTo>
                  <a:pt x="513011" y="1133906"/>
                  <a:pt x="487270" y="1126666"/>
                  <a:pt x="545964" y="1138404"/>
                </a:cubicBezTo>
                <a:cubicBezTo>
                  <a:pt x="573310" y="1135918"/>
                  <a:pt x="644721" y="1137664"/>
                  <a:pt x="682151" y="1118949"/>
                </a:cubicBezTo>
                <a:cubicBezTo>
                  <a:pt x="692608" y="1113721"/>
                  <a:pt x="700650" y="1104242"/>
                  <a:pt x="711334" y="1099494"/>
                </a:cubicBezTo>
                <a:cubicBezTo>
                  <a:pt x="730074" y="1091165"/>
                  <a:pt x="769700" y="1080039"/>
                  <a:pt x="769700" y="1080039"/>
                </a:cubicBezTo>
                <a:cubicBezTo>
                  <a:pt x="853335" y="1024280"/>
                  <a:pt x="747517" y="1091130"/>
                  <a:pt x="828066" y="1050856"/>
                </a:cubicBezTo>
                <a:cubicBezTo>
                  <a:pt x="903495" y="1013141"/>
                  <a:pt x="813080" y="1046122"/>
                  <a:pt x="886432" y="1021673"/>
                </a:cubicBezTo>
                <a:cubicBezTo>
                  <a:pt x="892917" y="1015188"/>
                  <a:pt x="898023" y="1006936"/>
                  <a:pt x="905887" y="1002217"/>
                </a:cubicBezTo>
                <a:cubicBezTo>
                  <a:pt x="914680" y="996941"/>
                  <a:pt x="927063" y="998895"/>
                  <a:pt x="935070" y="992490"/>
                </a:cubicBezTo>
                <a:cubicBezTo>
                  <a:pt x="944199" y="985187"/>
                  <a:pt x="947222" y="972436"/>
                  <a:pt x="954525" y="963307"/>
                </a:cubicBezTo>
                <a:cubicBezTo>
                  <a:pt x="970367" y="943505"/>
                  <a:pt x="981495" y="938842"/>
                  <a:pt x="1003164" y="924396"/>
                </a:cubicBezTo>
                <a:cubicBezTo>
                  <a:pt x="1009649" y="914668"/>
                  <a:pt x="1014352" y="903480"/>
                  <a:pt x="1022619" y="895213"/>
                </a:cubicBezTo>
                <a:cubicBezTo>
                  <a:pt x="1030886" y="886946"/>
                  <a:pt x="1044499" y="884887"/>
                  <a:pt x="1051802" y="875758"/>
                </a:cubicBezTo>
                <a:cubicBezTo>
                  <a:pt x="1058207" y="867751"/>
                  <a:pt x="1056254" y="855368"/>
                  <a:pt x="1061529" y="846575"/>
                </a:cubicBezTo>
                <a:cubicBezTo>
                  <a:pt x="1096181" y="788821"/>
                  <a:pt x="1067065" y="873032"/>
                  <a:pt x="1100440" y="797936"/>
                </a:cubicBezTo>
                <a:cubicBezTo>
                  <a:pt x="1108769" y="779196"/>
                  <a:pt x="1119895" y="739570"/>
                  <a:pt x="1119895" y="739570"/>
                </a:cubicBezTo>
                <a:cubicBezTo>
                  <a:pt x="1123138" y="716872"/>
                  <a:pt x="1129623" y="694405"/>
                  <a:pt x="1129623" y="671477"/>
                </a:cubicBezTo>
                <a:cubicBezTo>
                  <a:pt x="1129623" y="588686"/>
                  <a:pt x="1128805" y="551882"/>
                  <a:pt x="1110168" y="486651"/>
                </a:cubicBezTo>
                <a:cubicBezTo>
                  <a:pt x="1107351" y="476792"/>
                  <a:pt x="1105420" y="466431"/>
                  <a:pt x="1100440" y="457468"/>
                </a:cubicBezTo>
                <a:cubicBezTo>
                  <a:pt x="1089084" y="437028"/>
                  <a:pt x="1061529" y="399102"/>
                  <a:pt x="1061529" y="399102"/>
                </a:cubicBezTo>
                <a:cubicBezTo>
                  <a:pt x="1042593" y="342289"/>
                  <a:pt x="1066619" y="394464"/>
                  <a:pt x="1022619" y="350464"/>
                </a:cubicBezTo>
                <a:cubicBezTo>
                  <a:pt x="994743" y="322588"/>
                  <a:pt x="1009258" y="323743"/>
                  <a:pt x="993436" y="292098"/>
                </a:cubicBezTo>
                <a:cubicBezTo>
                  <a:pt x="981164" y="267553"/>
                  <a:pt x="972623" y="261557"/>
                  <a:pt x="954525" y="243460"/>
                </a:cubicBezTo>
                <a:cubicBezTo>
                  <a:pt x="926972" y="160795"/>
                  <a:pt x="965399" y="261583"/>
                  <a:pt x="925342" y="194821"/>
                </a:cubicBezTo>
                <a:cubicBezTo>
                  <a:pt x="920067" y="186029"/>
                  <a:pt x="922020" y="173646"/>
                  <a:pt x="915615" y="165639"/>
                </a:cubicBezTo>
                <a:cubicBezTo>
                  <a:pt x="901899" y="148494"/>
                  <a:pt x="876475" y="142864"/>
                  <a:pt x="857249" y="136456"/>
                </a:cubicBezTo>
                <a:cubicBezTo>
                  <a:pt x="850764" y="129971"/>
                  <a:pt x="845130" y="122503"/>
                  <a:pt x="837793" y="117000"/>
                </a:cubicBezTo>
                <a:cubicBezTo>
                  <a:pt x="819087" y="102971"/>
                  <a:pt x="795960" y="94624"/>
                  <a:pt x="779427" y="78090"/>
                </a:cubicBezTo>
                <a:cubicBezTo>
                  <a:pt x="752722" y="51383"/>
                  <a:pt x="768673" y="61534"/>
                  <a:pt x="730789" y="48907"/>
                </a:cubicBezTo>
                <a:cubicBezTo>
                  <a:pt x="724304" y="42422"/>
                  <a:pt x="719537" y="33553"/>
                  <a:pt x="711334" y="29451"/>
                </a:cubicBezTo>
                <a:cubicBezTo>
                  <a:pt x="664222" y="5894"/>
                  <a:pt x="667559" y="1889"/>
                  <a:pt x="623785" y="26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576" name="Google Shape;576;p35"/>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577" name="Google Shape;577;p35"/>
          <p:cNvGrpSpPr/>
          <p:nvPr/>
        </p:nvGrpSpPr>
        <p:grpSpPr>
          <a:xfrm>
            <a:off x="1751501" y="1368475"/>
            <a:ext cx="4726715" cy="2331624"/>
            <a:chOff x="-2863816" y="1556555"/>
            <a:chExt cx="3545036" cy="1748718"/>
          </a:xfrm>
        </p:grpSpPr>
        <p:sp>
          <p:nvSpPr>
            <p:cNvPr id="578" name="Google Shape;578;p35"/>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579" name="Google Shape;579;p35"/>
            <p:cNvSpPr/>
            <p:nvPr/>
          </p:nvSpPr>
          <p:spPr>
            <a:xfrm>
              <a:off x="-1319030" y="174932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580" name="Google Shape;580;p35"/>
            <p:cNvSpPr/>
            <p:nvPr/>
          </p:nvSpPr>
          <p:spPr>
            <a:xfrm>
              <a:off x="-2690630" y="27208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581" name="Google Shape;581;p35"/>
            <p:cNvSpPr/>
            <p:nvPr/>
          </p:nvSpPr>
          <p:spPr>
            <a:xfrm>
              <a:off x="-1490480" y="254942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sp>
          <p:nvSpPr>
            <p:cNvPr id="582" name="Google Shape;582;p35"/>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583" name="Google Shape;583;p35"/>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584" name="Google Shape;584;p35"/>
            <p:cNvSpPr/>
            <p:nvPr/>
          </p:nvSpPr>
          <p:spPr>
            <a:xfrm>
              <a:off x="-804680" y="28351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585" name="Google Shape;585;p35"/>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586" name="Google Shape;586;p35"/>
            <p:cNvCxnSpPr>
              <a:stCxn id="578" idx="6"/>
              <a:endCxn id="581"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587" name="Google Shape;587;p35"/>
            <p:cNvCxnSpPr>
              <a:stCxn id="581" idx="2"/>
              <a:endCxn id="578" idx="4"/>
            </p:cNvCxnSpPr>
            <p:nvPr/>
          </p:nvCxnSpPr>
          <p:spPr>
            <a:xfrm rot="10800000">
              <a:off x="-2433380" y="2092301"/>
              <a:ext cx="942900" cy="600000"/>
            </a:xfrm>
            <a:prstGeom prst="curvedConnector2">
              <a:avLst/>
            </a:prstGeom>
            <a:noFill/>
            <a:ln w="9525" cap="flat" cmpd="sng">
              <a:solidFill>
                <a:schemeClr val="dk1"/>
              </a:solidFill>
              <a:prstDash val="solid"/>
              <a:round/>
              <a:headEnd type="none" w="med" len="med"/>
              <a:tailEnd type="triangle" w="med" len="med"/>
            </a:ln>
          </p:spPr>
        </p:cxnSp>
        <p:cxnSp>
          <p:nvCxnSpPr>
            <p:cNvPr id="588" name="Google Shape;588;p35"/>
            <p:cNvCxnSpPr>
              <a:stCxn id="585" idx="2"/>
              <a:endCxn id="584"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89" name="Google Shape;589;p35"/>
            <p:cNvCxnSpPr>
              <a:stCxn id="584" idx="6"/>
              <a:endCxn id="585"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90" name="Google Shape;590;p35"/>
            <p:cNvCxnSpPr>
              <a:stCxn id="578" idx="3"/>
              <a:endCxn id="580"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591" name="Google Shape;591;p35"/>
            <p:cNvCxnSpPr>
              <a:stCxn id="580" idx="6"/>
              <a:endCxn id="581"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592" name="Google Shape;592;p35"/>
            <p:cNvCxnSpPr>
              <a:stCxn id="578" idx="7"/>
              <a:endCxn id="579"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593" name="Google Shape;593;p35"/>
            <p:cNvCxnSpPr>
              <a:stCxn id="579" idx="6"/>
              <a:endCxn id="582"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594" name="Google Shape;594;p35"/>
            <p:cNvCxnSpPr>
              <a:stCxn id="582" idx="6"/>
              <a:endCxn id="583"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595" name="Google Shape;595;p35"/>
            <p:cNvCxnSpPr>
              <a:stCxn id="585" idx="1"/>
              <a:endCxn id="582"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596" name="Google Shape;596;p35"/>
            <p:cNvCxnSpPr>
              <a:stCxn id="583" idx="4"/>
              <a:endCxn id="585"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597" name="Google Shape;597;p35"/>
            <p:cNvCxnSpPr>
              <a:stCxn id="579" idx="5"/>
              <a:endCxn id="584"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598" name="Google Shape;598;p35"/>
            <p:cNvCxnSpPr>
              <a:stCxn id="579" idx="4"/>
              <a:endCxn id="581"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599" name="Google Shape;599;p35"/>
            <p:cNvCxnSpPr>
              <a:stCxn id="581" idx="5"/>
              <a:endCxn id="584" idx="2"/>
            </p:cNvCxnSpPr>
            <p:nvPr/>
          </p:nvCxnSpPr>
          <p:spPr>
            <a:xfrm>
              <a:off x="-1246577" y="2793329"/>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600" name="Google Shape;600;p35"/>
            <p:cNvCxnSpPr>
              <a:stCxn id="584" idx="3"/>
              <a:endCxn id="580"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601" name="Google Shape;601;p35"/>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602" name="Google Shape;602;p35"/>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03" name="Google Shape;603;p35"/>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04" name="Google Shape;604;p35"/>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05" name="Google Shape;605;p35"/>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606" name="Google Shape;606;p35"/>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07" name="Google Shape;607;p35"/>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08" name="Google Shape;608;p35"/>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09" name="Google Shape;609;p35"/>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610" name="Google Shape;610;p35"/>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611" name="Google Shape;611;p35"/>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612" name="Google Shape;612;p35"/>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9</a:t>
              </a:r>
              <a:endParaRPr/>
            </a:p>
          </p:txBody>
        </p:sp>
        <p:sp>
          <p:nvSpPr>
            <p:cNvPr id="613" name="Google Shape;613;p35"/>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14" name="Google Shape;614;p35"/>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615" name="Google Shape;615;p35"/>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616" name="Google Shape;616;p35"/>
            <p:cNvSpPr txBox="1"/>
            <p:nvPr/>
          </p:nvSpPr>
          <p:spPr>
            <a:xfrm>
              <a:off x="-1417640" y="1556555"/>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617" name="Google Shape;617;p35"/>
            <p:cNvSpPr txBox="1"/>
            <p:nvPr/>
          </p:nvSpPr>
          <p:spPr>
            <a:xfrm>
              <a:off x="-477173" y="160937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18" name="Google Shape;618;p35"/>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19" name="Google Shape;619;p35"/>
            <p:cNvSpPr txBox="1"/>
            <p:nvPr/>
          </p:nvSpPr>
          <p:spPr>
            <a:xfrm>
              <a:off x="-1531640" y="2269658"/>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620" name="Google Shape;620;p35"/>
            <p:cNvSpPr txBox="1"/>
            <p:nvPr/>
          </p:nvSpPr>
          <p:spPr>
            <a:xfrm>
              <a:off x="-2863816" y="2543734"/>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621" name="Google Shape;621;p35"/>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22" name="Google Shape;622;p35"/>
            <p:cNvSpPr txBox="1"/>
            <p:nvPr/>
          </p:nvSpPr>
          <p:spPr>
            <a:xfrm>
              <a:off x="-865204" y="256204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23" name="Google Shape;623;p35"/>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624" name="Google Shape;624;p35"/>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625" name="Google Shape;625;p35"/>
          <p:cNvGraphicFramePr/>
          <p:nvPr>
            <p:extLst>
              <p:ext uri="{D42A27DB-BD31-4B8C-83A1-F6EECF244321}">
                <p14:modId xmlns:p14="http://schemas.microsoft.com/office/powerpoint/2010/main" val="2010572422"/>
              </p:ext>
            </p:extLst>
          </p:nvPr>
        </p:nvGraphicFramePr>
        <p:xfrm>
          <a:off x="6341891" y="2840162"/>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0</a:t>
                      </a:r>
                      <a:endParaRPr sz="2000"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2</a:t>
                      </a:r>
                      <a:endParaRPr sz="2000" b="1" i="0" u="none" strike="noStrike" cap="none" dirty="0">
                        <a:solidFill>
                          <a:srgbClr val="FF0000"/>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1</a:t>
                      </a:r>
                      <a:endParaRPr sz="2000" b="1" i="0" u="none" strike="noStrike" cap="none" dirty="0">
                        <a:solidFill>
                          <a:srgbClr val="FF0000"/>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4</a:t>
                      </a:r>
                      <a:endParaRPr sz="2000" b="1" i="0" u="none" strike="noStrike" cap="none" dirty="0">
                        <a:solidFill>
                          <a:srgbClr val="FF0000"/>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626" name="Google Shape;626;p35"/>
          <p:cNvSpPr txBox="1"/>
          <p:nvPr/>
        </p:nvSpPr>
        <p:spPr>
          <a:xfrm>
            <a:off x="1494698" y="4883675"/>
            <a:ext cx="39810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j-lt"/>
                <a:ea typeface="Quattrocento Sans"/>
                <a:cs typeface="Quattrocento Sans"/>
                <a:sym typeface="Quattrocento Sans"/>
              </a:rPr>
              <a:t>Visit Order</a:t>
            </a:r>
            <a:endParaRPr dirty="0">
              <a:latin typeface="+mj-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j-lt"/>
                <a:ea typeface="Quattrocento Sans"/>
                <a:cs typeface="Quattrocento Sans"/>
                <a:sym typeface="Quattrocento Sans"/>
              </a:rPr>
              <a:t>A</a:t>
            </a:r>
            <a:endParaRPr dirty="0">
              <a:latin typeface="+mj-lt"/>
              <a:ea typeface="Quattrocento Sans"/>
              <a:cs typeface="Quattrocento Sans"/>
              <a:sym typeface="Quattrocento Sans"/>
            </a:endParaRPr>
          </a:p>
        </p:txBody>
      </p:sp>
      <p:sp>
        <p:nvSpPr>
          <p:cNvPr id="2" name="TextBox 1">
            <a:extLst>
              <a:ext uri="{FF2B5EF4-FFF2-40B4-BE49-F238E27FC236}">
                <a16:creationId xmlns:a16="http://schemas.microsoft.com/office/drawing/2014/main" id="{ED4D7293-E3E6-7ABF-B6AD-5F35321CA2F2}"/>
              </a:ext>
            </a:extLst>
          </p:cNvPr>
          <p:cNvSpPr txBox="1"/>
          <p:nvPr/>
        </p:nvSpPr>
        <p:spPr>
          <a:xfrm>
            <a:off x="6785780" y="1405501"/>
            <a:ext cx="4525392"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 Means that SDs have not yet been finalized, as a shortcut may be found in the future.</a:t>
            </a:r>
            <a:endParaRPr lang="en-SE" sz="1800" dirty="0"/>
          </a:p>
        </p:txBody>
      </p:sp>
      <p:sp>
        <p:nvSpPr>
          <p:cNvPr id="4" name="TextBox 3">
            <a:extLst>
              <a:ext uri="{FF2B5EF4-FFF2-40B4-BE49-F238E27FC236}">
                <a16:creationId xmlns:a16="http://schemas.microsoft.com/office/drawing/2014/main" id="{2224CAC9-16D4-3EC9-5DAB-A81E9DA3E7DD}"/>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C next, since C has the smallest SD of 1 among all unknown (unvisited) nodes</a:t>
            </a:r>
            <a:endParaRPr lang="en-SE"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36"/>
          <p:cNvSpPr/>
          <p:nvPr/>
        </p:nvSpPr>
        <p:spPr>
          <a:xfrm>
            <a:off x="1846680" y="1410511"/>
            <a:ext cx="2326486" cy="1819072"/>
          </a:xfrm>
          <a:custGeom>
            <a:avLst/>
            <a:gdLst/>
            <a:ahLst/>
            <a:cxnLst/>
            <a:rect l="l" t="t" r="r" b="b"/>
            <a:pathLst>
              <a:path w="2326486" h="1819072" extrusionOk="0">
                <a:moveTo>
                  <a:pt x="964614" y="145915"/>
                </a:moveTo>
                <a:cubicBezTo>
                  <a:pt x="951644" y="129702"/>
                  <a:pt x="918937" y="120454"/>
                  <a:pt x="896520" y="107004"/>
                </a:cubicBezTo>
                <a:cubicBezTo>
                  <a:pt x="886495" y="100989"/>
                  <a:pt x="877794" y="92777"/>
                  <a:pt x="867337" y="87549"/>
                </a:cubicBezTo>
                <a:cubicBezTo>
                  <a:pt x="851787" y="79774"/>
                  <a:pt x="813789" y="72249"/>
                  <a:pt x="799243" y="68093"/>
                </a:cubicBezTo>
                <a:cubicBezTo>
                  <a:pt x="789384" y="65276"/>
                  <a:pt x="779788" y="61608"/>
                  <a:pt x="770060" y="58366"/>
                </a:cubicBezTo>
                <a:cubicBezTo>
                  <a:pt x="760332" y="51881"/>
                  <a:pt x="751561" y="43658"/>
                  <a:pt x="740877" y="38910"/>
                </a:cubicBezTo>
                <a:cubicBezTo>
                  <a:pt x="722137" y="30581"/>
                  <a:pt x="702406" y="24429"/>
                  <a:pt x="682511" y="19455"/>
                </a:cubicBezTo>
                <a:cubicBezTo>
                  <a:pt x="627561" y="5717"/>
                  <a:pt x="656711" y="12349"/>
                  <a:pt x="594963" y="0"/>
                </a:cubicBezTo>
                <a:cubicBezTo>
                  <a:pt x="517142" y="3242"/>
                  <a:pt x="439175" y="3973"/>
                  <a:pt x="361499" y="9727"/>
                </a:cubicBezTo>
                <a:cubicBezTo>
                  <a:pt x="351273" y="10484"/>
                  <a:pt x="342264" y="16968"/>
                  <a:pt x="332316" y="19455"/>
                </a:cubicBezTo>
                <a:cubicBezTo>
                  <a:pt x="316276" y="23465"/>
                  <a:pt x="299890" y="25940"/>
                  <a:pt x="283677" y="29183"/>
                </a:cubicBezTo>
                <a:cubicBezTo>
                  <a:pt x="270707" y="35668"/>
                  <a:pt x="258095" y="42926"/>
                  <a:pt x="244767" y="48638"/>
                </a:cubicBezTo>
                <a:cubicBezTo>
                  <a:pt x="212130" y="62625"/>
                  <a:pt x="215408" y="52037"/>
                  <a:pt x="186401" y="77821"/>
                </a:cubicBezTo>
                <a:cubicBezTo>
                  <a:pt x="165837" y="96100"/>
                  <a:pt x="147490" y="116732"/>
                  <a:pt x="128035" y="136187"/>
                </a:cubicBezTo>
                <a:cubicBezTo>
                  <a:pt x="118307" y="145915"/>
                  <a:pt x="106483" y="153923"/>
                  <a:pt x="98852" y="165370"/>
                </a:cubicBezTo>
                <a:cubicBezTo>
                  <a:pt x="92367" y="175098"/>
                  <a:pt x="86700" y="185424"/>
                  <a:pt x="79397" y="194553"/>
                </a:cubicBezTo>
                <a:cubicBezTo>
                  <a:pt x="59182" y="219822"/>
                  <a:pt x="55458" y="209504"/>
                  <a:pt x="40486" y="243191"/>
                </a:cubicBezTo>
                <a:cubicBezTo>
                  <a:pt x="32157" y="261931"/>
                  <a:pt x="30203" y="283214"/>
                  <a:pt x="21031" y="301557"/>
                </a:cubicBezTo>
                <a:lnTo>
                  <a:pt x="1575" y="340468"/>
                </a:lnTo>
                <a:cubicBezTo>
                  <a:pt x="11924" y="681963"/>
                  <a:pt x="-22550" y="559923"/>
                  <a:pt x="30758" y="719846"/>
                </a:cubicBezTo>
                <a:cubicBezTo>
                  <a:pt x="43386" y="757729"/>
                  <a:pt x="33236" y="741779"/>
                  <a:pt x="59941" y="768485"/>
                </a:cubicBezTo>
                <a:cubicBezTo>
                  <a:pt x="70078" y="798896"/>
                  <a:pt x="79910" y="836921"/>
                  <a:pt x="108580" y="856034"/>
                </a:cubicBezTo>
                <a:cubicBezTo>
                  <a:pt x="128035" y="869004"/>
                  <a:pt x="150412" y="878410"/>
                  <a:pt x="166946" y="894944"/>
                </a:cubicBezTo>
                <a:lnTo>
                  <a:pt x="215584" y="943583"/>
                </a:lnTo>
                <a:cubicBezTo>
                  <a:pt x="225312" y="953311"/>
                  <a:pt x="233320" y="965135"/>
                  <a:pt x="244767" y="972766"/>
                </a:cubicBezTo>
                <a:cubicBezTo>
                  <a:pt x="254495" y="979251"/>
                  <a:pt x="263799" y="986421"/>
                  <a:pt x="273950" y="992221"/>
                </a:cubicBezTo>
                <a:cubicBezTo>
                  <a:pt x="286540" y="999415"/>
                  <a:pt x="300795" y="1003632"/>
                  <a:pt x="312860" y="1011676"/>
                </a:cubicBezTo>
                <a:cubicBezTo>
                  <a:pt x="320491" y="1016764"/>
                  <a:pt x="325154" y="1025403"/>
                  <a:pt x="332316" y="1031132"/>
                </a:cubicBezTo>
                <a:cubicBezTo>
                  <a:pt x="341445" y="1038435"/>
                  <a:pt x="352518" y="1043103"/>
                  <a:pt x="361499" y="1050587"/>
                </a:cubicBezTo>
                <a:cubicBezTo>
                  <a:pt x="372067" y="1059394"/>
                  <a:pt x="380114" y="1070963"/>
                  <a:pt x="390682" y="1079770"/>
                </a:cubicBezTo>
                <a:cubicBezTo>
                  <a:pt x="399663" y="1087254"/>
                  <a:pt x="410884" y="1091741"/>
                  <a:pt x="419865" y="1099225"/>
                </a:cubicBezTo>
                <a:cubicBezTo>
                  <a:pt x="494765" y="1161641"/>
                  <a:pt x="405775" y="1099560"/>
                  <a:pt x="478231" y="1147863"/>
                </a:cubicBezTo>
                <a:cubicBezTo>
                  <a:pt x="484716" y="1157591"/>
                  <a:pt x="488888" y="1169347"/>
                  <a:pt x="497686" y="1177046"/>
                </a:cubicBezTo>
                <a:cubicBezTo>
                  <a:pt x="515283" y="1192444"/>
                  <a:pt x="536597" y="1202987"/>
                  <a:pt x="556052" y="1215957"/>
                </a:cubicBezTo>
                <a:lnTo>
                  <a:pt x="614418" y="1254868"/>
                </a:lnTo>
                <a:cubicBezTo>
                  <a:pt x="624146" y="1261353"/>
                  <a:pt x="635334" y="1266056"/>
                  <a:pt x="643601" y="1274323"/>
                </a:cubicBezTo>
                <a:cubicBezTo>
                  <a:pt x="680035" y="1310757"/>
                  <a:pt x="659733" y="1299156"/>
                  <a:pt x="701967" y="1313234"/>
                </a:cubicBezTo>
                <a:cubicBezTo>
                  <a:pt x="787991" y="1377752"/>
                  <a:pt x="749026" y="1361347"/>
                  <a:pt x="808971" y="1381327"/>
                </a:cubicBezTo>
                <a:cubicBezTo>
                  <a:pt x="909907" y="1448620"/>
                  <a:pt x="753664" y="1346198"/>
                  <a:pt x="877065" y="1420238"/>
                </a:cubicBezTo>
                <a:cubicBezTo>
                  <a:pt x="897115" y="1432268"/>
                  <a:pt x="915976" y="1446179"/>
                  <a:pt x="935431" y="1459149"/>
                </a:cubicBezTo>
                <a:lnTo>
                  <a:pt x="964614" y="1478604"/>
                </a:lnTo>
                <a:cubicBezTo>
                  <a:pt x="974342" y="1485089"/>
                  <a:pt x="985530" y="1489792"/>
                  <a:pt x="993797" y="1498059"/>
                </a:cubicBezTo>
                <a:cubicBezTo>
                  <a:pt x="1003525" y="1507787"/>
                  <a:pt x="1011534" y="1519611"/>
                  <a:pt x="1022980" y="1527242"/>
                </a:cubicBezTo>
                <a:cubicBezTo>
                  <a:pt x="1031512" y="1532930"/>
                  <a:pt x="1042992" y="1532384"/>
                  <a:pt x="1052163" y="1536970"/>
                </a:cubicBezTo>
                <a:cubicBezTo>
                  <a:pt x="1062620" y="1542198"/>
                  <a:pt x="1070889" y="1551197"/>
                  <a:pt x="1081346" y="1556425"/>
                </a:cubicBezTo>
                <a:cubicBezTo>
                  <a:pt x="1161845" y="1596674"/>
                  <a:pt x="1048242" y="1524890"/>
                  <a:pt x="1149439" y="1585608"/>
                </a:cubicBezTo>
                <a:cubicBezTo>
                  <a:pt x="1169489" y="1597638"/>
                  <a:pt x="1188350" y="1611549"/>
                  <a:pt x="1207805" y="1624519"/>
                </a:cubicBezTo>
                <a:cubicBezTo>
                  <a:pt x="1217533" y="1631004"/>
                  <a:pt x="1225897" y="1640277"/>
                  <a:pt x="1236988" y="1643974"/>
                </a:cubicBezTo>
                <a:cubicBezTo>
                  <a:pt x="1246716" y="1647217"/>
                  <a:pt x="1257207" y="1648722"/>
                  <a:pt x="1266171" y="1653702"/>
                </a:cubicBezTo>
                <a:cubicBezTo>
                  <a:pt x="1286611" y="1665057"/>
                  <a:pt x="1302355" y="1685218"/>
                  <a:pt x="1324537" y="1692612"/>
                </a:cubicBezTo>
                <a:cubicBezTo>
                  <a:pt x="1430968" y="1728090"/>
                  <a:pt x="1269759" y="1671508"/>
                  <a:pt x="1382903" y="1721795"/>
                </a:cubicBezTo>
                <a:cubicBezTo>
                  <a:pt x="1382928" y="1721806"/>
                  <a:pt x="1455847" y="1746110"/>
                  <a:pt x="1470452" y="1750978"/>
                </a:cubicBezTo>
                <a:lnTo>
                  <a:pt x="1528818" y="1770434"/>
                </a:lnTo>
                <a:lnTo>
                  <a:pt x="1558001" y="1780161"/>
                </a:lnTo>
                <a:cubicBezTo>
                  <a:pt x="1567729" y="1786646"/>
                  <a:pt x="1575887" y="1796605"/>
                  <a:pt x="1587184" y="1799617"/>
                </a:cubicBezTo>
                <a:cubicBezTo>
                  <a:pt x="1625299" y="1809781"/>
                  <a:pt x="1703916" y="1819072"/>
                  <a:pt x="1703916" y="1819072"/>
                </a:cubicBezTo>
                <a:cubicBezTo>
                  <a:pt x="1810920" y="1815829"/>
                  <a:pt x="1918032" y="1815122"/>
                  <a:pt x="2024929" y="1809344"/>
                </a:cubicBezTo>
                <a:cubicBezTo>
                  <a:pt x="2038279" y="1808622"/>
                  <a:pt x="2050984" y="1803290"/>
                  <a:pt x="2063839" y="1799617"/>
                </a:cubicBezTo>
                <a:cubicBezTo>
                  <a:pt x="2089729" y="1792220"/>
                  <a:pt x="2100890" y="1788704"/>
                  <a:pt x="2122205" y="1770434"/>
                </a:cubicBezTo>
                <a:cubicBezTo>
                  <a:pt x="2136132" y="1758497"/>
                  <a:pt x="2145854" y="1741698"/>
                  <a:pt x="2161116" y="1731523"/>
                </a:cubicBezTo>
                <a:cubicBezTo>
                  <a:pt x="2182787" y="1717076"/>
                  <a:pt x="2193911" y="1712416"/>
                  <a:pt x="2209754" y="1692612"/>
                </a:cubicBezTo>
                <a:cubicBezTo>
                  <a:pt x="2217057" y="1683483"/>
                  <a:pt x="2221906" y="1672558"/>
                  <a:pt x="2229209" y="1663429"/>
                </a:cubicBezTo>
                <a:cubicBezTo>
                  <a:pt x="2255550" y="1630503"/>
                  <a:pt x="2268178" y="1643797"/>
                  <a:pt x="2287575" y="1585608"/>
                </a:cubicBezTo>
                <a:lnTo>
                  <a:pt x="2316758" y="1498059"/>
                </a:lnTo>
                <a:lnTo>
                  <a:pt x="2326486" y="1468876"/>
                </a:lnTo>
                <a:cubicBezTo>
                  <a:pt x="2324800" y="1457076"/>
                  <a:pt x="2319763" y="1392820"/>
                  <a:pt x="2307031" y="1371600"/>
                </a:cubicBezTo>
                <a:cubicBezTo>
                  <a:pt x="2272459" y="1313980"/>
                  <a:pt x="2289047" y="1414920"/>
                  <a:pt x="2248665" y="1293778"/>
                </a:cubicBezTo>
                <a:cubicBezTo>
                  <a:pt x="2245422" y="1284050"/>
                  <a:pt x="2243523" y="1273766"/>
                  <a:pt x="2238937" y="1264595"/>
                </a:cubicBezTo>
                <a:cubicBezTo>
                  <a:pt x="2226665" y="1240050"/>
                  <a:pt x="2218124" y="1234054"/>
                  <a:pt x="2200026" y="1215957"/>
                </a:cubicBezTo>
                <a:cubicBezTo>
                  <a:pt x="2176035" y="1119985"/>
                  <a:pt x="2208012" y="1219539"/>
                  <a:pt x="2170843" y="1157591"/>
                </a:cubicBezTo>
                <a:cubicBezTo>
                  <a:pt x="2165567" y="1148798"/>
                  <a:pt x="2166096" y="1137371"/>
                  <a:pt x="2161116" y="1128408"/>
                </a:cubicBezTo>
                <a:cubicBezTo>
                  <a:pt x="2149761" y="1107968"/>
                  <a:pt x="2129599" y="1092224"/>
                  <a:pt x="2122205" y="1070042"/>
                </a:cubicBezTo>
                <a:cubicBezTo>
                  <a:pt x="2111075" y="1036652"/>
                  <a:pt x="2112740" y="1031395"/>
                  <a:pt x="2083294" y="1001949"/>
                </a:cubicBezTo>
                <a:cubicBezTo>
                  <a:pt x="2075027" y="993682"/>
                  <a:pt x="2062910" y="990192"/>
                  <a:pt x="2054111" y="982493"/>
                </a:cubicBezTo>
                <a:cubicBezTo>
                  <a:pt x="2036856" y="967395"/>
                  <a:pt x="2021686" y="950068"/>
                  <a:pt x="2005473" y="933855"/>
                </a:cubicBezTo>
                <a:lnTo>
                  <a:pt x="1917924" y="846306"/>
                </a:lnTo>
                <a:lnTo>
                  <a:pt x="1888741" y="817123"/>
                </a:lnTo>
                <a:cubicBezTo>
                  <a:pt x="1879013" y="807395"/>
                  <a:pt x="1870564" y="796194"/>
                  <a:pt x="1859558" y="787940"/>
                </a:cubicBezTo>
                <a:cubicBezTo>
                  <a:pt x="1846588" y="778212"/>
                  <a:pt x="1833841" y="768180"/>
                  <a:pt x="1820648" y="758757"/>
                </a:cubicBezTo>
                <a:cubicBezTo>
                  <a:pt x="1811135" y="751962"/>
                  <a:pt x="1802148" y="744050"/>
                  <a:pt x="1791465" y="739302"/>
                </a:cubicBezTo>
                <a:cubicBezTo>
                  <a:pt x="1772725" y="730973"/>
                  <a:pt x="1733099" y="719846"/>
                  <a:pt x="1733099" y="719846"/>
                </a:cubicBezTo>
                <a:cubicBezTo>
                  <a:pt x="1689449" y="676199"/>
                  <a:pt x="1741286" y="722233"/>
                  <a:pt x="1684460" y="690663"/>
                </a:cubicBezTo>
                <a:cubicBezTo>
                  <a:pt x="1664020" y="679308"/>
                  <a:pt x="1645549" y="664723"/>
                  <a:pt x="1626094" y="651753"/>
                </a:cubicBezTo>
                <a:cubicBezTo>
                  <a:pt x="1616366" y="645268"/>
                  <a:pt x="1605178" y="640565"/>
                  <a:pt x="1596911" y="632298"/>
                </a:cubicBezTo>
                <a:cubicBezTo>
                  <a:pt x="1590426" y="625813"/>
                  <a:pt x="1584793" y="618345"/>
                  <a:pt x="1577456" y="612842"/>
                </a:cubicBezTo>
                <a:cubicBezTo>
                  <a:pt x="1558750" y="598813"/>
                  <a:pt x="1535623" y="590466"/>
                  <a:pt x="1519090" y="573932"/>
                </a:cubicBezTo>
                <a:cubicBezTo>
                  <a:pt x="1512605" y="567447"/>
                  <a:pt x="1506797" y="560205"/>
                  <a:pt x="1499635" y="554476"/>
                </a:cubicBezTo>
                <a:cubicBezTo>
                  <a:pt x="1422621" y="492864"/>
                  <a:pt x="1527427" y="588026"/>
                  <a:pt x="1431541" y="505838"/>
                </a:cubicBezTo>
                <a:cubicBezTo>
                  <a:pt x="1385170" y="466092"/>
                  <a:pt x="1422816" y="483474"/>
                  <a:pt x="1373175" y="466927"/>
                </a:cubicBezTo>
                <a:cubicBezTo>
                  <a:pt x="1366690" y="457199"/>
                  <a:pt x="1362518" y="445443"/>
                  <a:pt x="1353720" y="437744"/>
                </a:cubicBezTo>
                <a:cubicBezTo>
                  <a:pt x="1336123" y="422347"/>
                  <a:pt x="1314809" y="411804"/>
                  <a:pt x="1295354" y="398834"/>
                </a:cubicBezTo>
                <a:cubicBezTo>
                  <a:pt x="1257637" y="373689"/>
                  <a:pt x="1277265" y="383076"/>
                  <a:pt x="1236988" y="369651"/>
                </a:cubicBezTo>
                <a:cubicBezTo>
                  <a:pt x="1187695" y="320355"/>
                  <a:pt x="1251487" y="378350"/>
                  <a:pt x="1188350" y="340468"/>
                </a:cubicBezTo>
                <a:cubicBezTo>
                  <a:pt x="1180485" y="335749"/>
                  <a:pt x="1176231" y="326515"/>
                  <a:pt x="1168894" y="321012"/>
                </a:cubicBezTo>
                <a:cubicBezTo>
                  <a:pt x="1150188" y="306983"/>
                  <a:pt x="1129984" y="295072"/>
                  <a:pt x="1110529" y="282102"/>
                </a:cubicBezTo>
                <a:lnTo>
                  <a:pt x="1052163" y="243191"/>
                </a:lnTo>
                <a:lnTo>
                  <a:pt x="1022980" y="233463"/>
                </a:lnTo>
                <a:cubicBezTo>
                  <a:pt x="1016495" y="226978"/>
                  <a:pt x="1011388" y="218727"/>
                  <a:pt x="1003524" y="214008"/>
                </a:cubicBezTo>
                <a:cubicBezTo>
                  <a:pt x="994731" y="208732"/>
                  <a:pt x="982348" y="210686"/>
                  <a:pt x="974341" y="204280"/>
                </a:cubicBezTo>
                <a:cubicBezTo>
                  <a:pt x="934491" y="172400"/>
                  <a:pt x="977584" y="162128"/>
                  <a:pt x="964614" y="145915"/>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634" name="Google Shape;634;p36"/>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635" name="Google Shape;635;p36"/>
          <p:cNvGrpSpPr/>
          <p:nvPr/>
        </p:nvGrpSpPr>
        <p:grpSpPr>
          <a:xfrm>
            <a:off x="1751501" y="1368475"/>
            <a:ext cx="4726715" cy="2331624"/>
            <a:chOff x="-2863816" y="1556555"/>
            <a:chExt cx="3545036" cy="1748718"/>
          </a:xfrm>
        </p:grpSpPr>
        <p:sp>
          <p:nvSpPr>
            <p:cNvPr id="636" name="Google Shape;636;p36"/>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637" name="Google Shape;637;p36"/>
            <p:cNvSpPr/>
            <p:nvPr/>
          </p:nvSpPr>
          <p:spPr>
            <a:xfrm>
              <a:off x="-1319030" y="174932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638" name="Google Shape;638;p36"/>
            <p:cNvSpPr/>
            <p:nvPr/>
          </p:nvSpPr>
          <p:spPr>
            <a:xfrm>
              <a:off x="-2690630" y="27208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639" name="Google Shape;639;p36"/>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640" name="Google Shape;640;p36"/>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641" name="Google Shape;641;p36"/>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642" name="Google Shape;642;p36"/>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643" name="Google Shape;643;p36"/>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644" name="Google Shape;644;p36"/>
            <p:cNvCxnSpPr>
              <a:stCxn id="636" idx="6"/>
              <a:endCxn id="639"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645" name="Google Shape;645;p36"/>
            <p:cNvCxnSpPr>
              <a:stCxn id="639" idx="2"/>
              <a:endCxn id="636"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646" name="Google Shape;646;p36"/>
            <p:cNvCxnSpPr>
              <a:stCxn id="643" idx="2"/>
              <a:endCxn id="642"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647" name="Google Shape;647;p36"/>
            <p:cNvCxnSpPr>
              <a:stCxn id="642" idx="6"/>
              <a:endCxn id="643"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648" name="Google Shape;648;p36"/>
            <p:cNvCxnSpPr>
              <a:stCxn id="636" idx="3"/>
              <a:endCxn id="638"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649" name="Google Shape;649;p36"/>
            <p:cNvCxnSpPr>
              <a:stCxn id="638" idx="6"/>
              <a:endCxn id="639"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650" name="Google Shape;650;p36"/>
            <p:cNvCxnSpPr>
              <a:stCxn id="636" idx="7"/>
              <a:endCxn id="637"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651" name="Google Shape;651;p36"/>
            <p:cNvCxnSpPr>
              <a:stCxn id="637" idx="6"/>
              <a:endCxn id="640"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652" name="Google Shape;652;p36"/>
            <p:cNvCxnSpPr>
              <a:stCxn id="640" idx="6"/>
              <a:endCxn id="641"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653" name="Google Shape;653;p36"/>
            <p:cNvCxnSpPr>
              <a:stCxn id="643" idx="1"/>
              <a:endCxn id="640"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654" name="Google Shape;654;p36"/>
            <p:cNvCxnSpPr>
              <a:stCxn id="641" idx="4"/>
              <a:endCxn id="643"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655" name="Google Shape;655;p36"/>
            <p:cNvCxnSpPr>
              <a:stCxn id="637" idx="5"/>
              <a:endCxn id="642"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656" name="Google Shape;656;p36"/>
            <p:cNvCxnSpPr>
              <a:stCxn id="637" idx="4"/>
              <a:endCxn id="639"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657" name="Google Shape;657;p36"/>
            <p:cNvCxnSpPr>
              <a:stCxn id="639" idx="5"/>
              <a:endCxn id="642"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658" name="Google Shape;658;p36"/>
            <p:cNvCxnSpPr>
              <a:stCxn id="642" idx="3"/>
              <a:endCxn id="638"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659" name="Google Shape;659;p36"/>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660" name="Google Shape;660;p36"/>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61" name="Google Shape;661;p36"/>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62" name="Google Shape;662;p36"/>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63" name="Google Shape;663;p36"/>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664" name="Google Shape;664;p36"/>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65" name="Google Shape;665;p36"/>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66" name="Google Shape;666;p36"/>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67" name="Google Shape;667;p36"/>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668" name="Google Shape;668;p36"/>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669" name="Google Shape;669;p36"/>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670" name="Google Shape;670;p36"/>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671" name="Google Shape;671;p36"/>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72" name="Google Shape;672;p36"/>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673" name="Google Shape;673;p36"/>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674" name="Google Shape;674;p36"/>
            <p:cNvSpPr txBox="1"/>
            <p:nvPr/>
          </p:nvSpPr>
          <p:spPr>
            <a:xfrm>
              <a:off x="-1417640" y="1556555"/>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675" name="Google Shape;675;p36"/>
            <p:cNvSpPr txBox="1"/>
            <p:nvPr/>
          </p:nvSpPr>
          <p:spPr>
            <a:xfrm>
              <a:off x="-477173" y="160937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76" name="Google Shape;676;p36"/>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77" name="Google Shape;677;p36"/>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678" name="Google Shape;678;p36"/>
            <p:cNvSpPr txBox="1"/>
            <p:nvPr/>
          </p:nvSpPr>
          <p:spPr>
            <a:xfrm>
              <a:off x="-2863816" y="2543734"/>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679" name="Google Shape;679;p36"/>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80" name="Google Shape;680;p36"/>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681" name="Google Shape;681;p36"/>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682" name="Google Shape;682;p36"/>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683" name="Google Shape;683;p36"/>
          <p:cNvGraphicFramePr/>
          <p:nvPr>
            <p:extLst>
              <p:ext uri="{D42A27DB-BD31-4B8C-83A1-F6EECF244321}">
                <p14:modId xmlns:p14="http://schemas.microsoft.com/office/powerpoint/2010/main" val="2946528554"/>
              </p:ext>
            </p:extLst>
          </p:nvPr>
        </p:nvGraphicFramePr>
        <p:xfrm>
          <a:off x="6287716"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0</a:t>
                      </a:r>
                      <a:endParaRPr sz="2000"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2</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12</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C</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684" name="Google Shape;684;p36"/>
          <p:cNvSpPr txBox="1"/>
          <p:nvPr/>
        </p:nvSpPr>
        <p:spPr>
          <a:xfrm>
            <a:off x="1417748" y="4883675"/>
            <a:ext cx="40581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a:t>
            </a:r>
            <a:endParaRPr dirty="0">
              <a:latin typeface="+mn-lt"/>
              <a:ea typeface="Quattrocento Sans"/>
              <a:cs typeface="Quattrocento Sans"/>
              <a:sym typeface="Quattrocento Sans"/>
            </a:endParaRPr>
          </a:p>
        </p:txBody>
      </p:sp>
      <p:sp>
        <p:nvSpPr>
          <p:cNvPr id="3" name="TextBox 2">
            <a:extLst>
              <a:ext uri="{FF2B5EF4-FFF2-40B4-BE49-F238E27FC236}">
                <a16:creationId xmlns:a16="http://schemas.microsoft.com/office/drawing/2014/main" id="{003D449F-E13C-2D13-5544-5CCCEB663A09}"/>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B next, since B has the smallest SD of 2 among all unvisited </a:t>
            </a:r>
            <a:r>
              <a:rPr lang="en-US" sz="1800" dirty="0" err="1"/>
              <a:t>nodesc</a:t>
            </a:r>
            <a:endParaRPr lang="en-SE"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90"/>
        <p:cNvGrpSpPr/>
        <p:nvPr/>
      </p:nvGrpSpPr>
      <p:grpSpPr>
        <a:xfrm>
          <a:off x="0" y="0"/>
          <a:ext cx="0" cy="0"/>
          <a:chOff x="0" y="0"/>
          <a:chExt cx="0" cy="0"/>
        </a:xfrm>
      </p:grpSpPr>
      <p:sp>
        <p:nvSpPr>
          <p:cNvPr id="691" name="Google Shape;691;p37"/>
          <p:cNvSpPr/>
          <p:nvPr/>
        </p:nvSpPr>
        <p:spPr>
          <a:xfrm>
            <a:off x="1887166" y="1309656"/>
            <a:ext cx="2461098" cy="1890744"/>
          </a:xfrm>
          <a:custGeom>
            <a:avLst/>
            <a:gdLst/>
            <a:ahLst/>
            <a:cxnLst/>
            <a:rect l="l" t="t" r="r" b="b"/>
            <a:pathLst>
              <a:path w="2461098" h="1890744" extrusionOk="0">
                <a:moveTo>
                  <a:pt x="2120630" y="3578"/>
                </a:moveTo>
                <a:cubicBezTo>
                  <a:pt x="1875241" y="38635"/>
                  <a:pt x="2081050" y="12091"/>
                  <a:pt x="1517515" y="23033"/>
                </a:cubicBezTo>
                <a:lnTo>
                  <a:pt x="1050587" y="32761"/>
                </a:lnTo>
                <a:lnTo>
                  <a:pt x="953311" y="42489"/>
                </a:lnTo>
                <a:cubicBezTo>
                  <a:pt x="877785" y="50881"/>
                  <a:pt x="840245" y="59272"/>
                  <a:pt x="758757" y="61944"/>
                </a:cubicBezTo>
                <a:cubicBezTo>
                  <a:pt x="599924" y="67152"/>
                  <a:pt x="440987" y="68429"/>
                  <a:pt x="282102" y="71672"/>
                </a:cubicBezTo>
                <a:cubicBezTo>
                  <a:pt x="272374" y="74914"/>
                  <a:pt x="262344" y="77360"/>
                  <a:pt x="252919" y="81399"/>
                </a:cubicBezTo>
                <a:cubicBezTo>
                  <a:pt x="218365" y="96208"/>
                  <a:pt x="214131" y="100773"/>
                  <a:pt x="184825" y="120310"/>
                </a:cubicBezTo>
                <a:cubicBezTo>
                  <a:pt x="178340" y="130038"/>
                  <a:pt x="173637" y="141226"/>
                  <a:pt x="165370" y="149493"/>
                </a:cubicBezTo>
                <a:cubicBezTo>
                  <a:pt x="157103" y="157760"/>
                  <a:pt x="145316" y="161645"/>
                  <a:pt x="136187" y="168948"/>
                </a:cubicBezTo>
                <a:cubicBezTo>
                  <a:pt x="129025" y="174677"/>
                  <a:pt x="123217" y="181919"/>
                  <a:pt x="116732" y="188404"/>
                </a:cubicBezTo>
                <a:cubicBezTo>
                  <a:pt x="92280" y="261757"/>
                  <a:pt x="125264" y="171340"/>
                  <a:pt x="87549" y="246770"/>
                </a:cubicBezTo>
                <a:cubicBezTo>
                  <a:pt x="82963" y="255941"/>
                  <a:pt x="82407" y="266782"/>
                  <a:pt x="77821" y="275953"/>
                </a:cubicBezTo>
                <a:cubicBezTo>
                  <a:pt x="72593" y="286410"/>
                  <a:pt x="63114" y="294452"/>
                  <a:pt x="58366" y="305135"/>
                </a:cubicBezTo>
                <a:cubicBezTo>
                  <a:pt x="12063" y="409318"/>
                  <a:pt x="63485" y="326641"/>
                  <a:pt x="19455" y="392684"/>
                </a:cubicBezTo>
                <a:cubicBezTo>
                  <a:pt x="13029" y="418392"/>
                  <a:pt x="0" y="466115"/>
                  <a:pt x="0" y="489961"/>
                </a:cubicBezTo>
                <a:cubicBezTo>
                  <a:pt x="0" y="538707"/>
                  <a:pt x="2834" y="587620"/>
                  <a:pt x="9728" y="635876"/>
                </a:cubicBezTo>
                <a:cubicBezTo>
                  <a:pt x="12628" y="656178"/>
                  <a:pt x="22698" y="674787"/>
                  <a:pt x="29183" y="694242"/>
                </a:cubicBezTo>
                <a:cubicBezTo>
                  <a:pt x="46304" y="745605"/>
                  <a:pt x="33227" y="714900"/>
                  <a:pt x="77821" y="781791"/>
                </a:cubicBezTo>
                <a:lnTo>
                  <a:pt x="97277" y="810974"/>
                </a:lnTo>
                <a:cubicBezTo>
                  <a:pt x="103762" y="820702"/>
                  <a:pt x="108465" y="831890"/>
                  <a:pt x="116732" y="840157"/>
                </a:cubicBezTo>
                <a:cubicBezTo>
                  <a:pt x="136187" y="859612"/>
                  <a:pt x="159836" y="875630"/>
                  <a:pt x="175098" y="898523"/>
                </a:cubicBezTo>
                <a:cubicBezTo>
                  <a:pt x="193636" y="926330"/>
                  <a:pt x="224362" y="976554"/>
                  <a:pt x="252919" y="986072"/>
                </a:cubicBezTo>
                <a:lnTo>
                  <a:pt x="282102" y="995799"/>
                </a:lnTo>
                <a:lnTo>
                  <a:pt x="350196" y="1063893"/>
                </a:lnTo>
                <a:cubicBezTo>
                  <a:pt x="359924" y="1073621"/>
                  <a:pt x="371748" y="1081629"/>
                  <a:pt x="379379" y="1093076"/>
                </a:cubicBezTo>
                <a:cubicBezTo>
                  <a:pt x="392349" y="1112531"/>
                  <a:pt x="401755" y="1134909"/>
                  <a:pt x="418289" y="1151442"/>
                </a:cubicBezTo>
                <a:cubicBezTo>
                  <a:pt x="424774" y="1157927"/>
                  <a:pt x="432242" y="1163560"/>
                  <a:pt x="437745" y="1170897"/>
                </a:cubicBezTo>
                <a:cubicBezTo>
                  <a:pt x="451774" y="1189603"/>
                  <a:pt x="460121" y="1212729"/>
                  <a:pt x="476655" y="1229263"/>
                </a:cubicBezTo>
                <a:lnTo>
                  <a:pt x="515566" y="1268174"/>
                </a:lnTo>
                <a:cubicBezTo>
                  <a:pt x="525294" y="1277902"/>
                  <a:pt x="533302" y="1289726"/>
                  <a:pt x="544749" y="1297357"/>
                </a:cubicBezTo>
                <a:cubicBezTo>
                  <a:pt x="617205" y="1345660"/>
                  <a:pt x="528215" y="1283579"/>
                  <a:pt x="603115" y="1345995"/>
                </a:cubicBezTo>
                <a:cubicBezTo>
                  <a:pt x="612096" y="1353479"/>
                  <a:pt x="623169" y="1358147"/>
                  <a:pt x="632298" y="1365450"/>
                </a:cubicBezTo>
                <a:cubicBezTo>
                  <a:pt x="639460" y="1371179"/>
                  <a:pt x="644707" y="1379035"/>
                  <a:pt x="651753" y="1384906"/>
                </a:cubicBezTo>
                <a:cubicBezTo>
                  <a:pt x="664208" y="1395285"/>
                  <a:pt x="678354" y="1403538"/>
                  <a:pt x="690664" y="1414089"/>
                </a:cubicBezTo>
                <a:cubicBezTo>
                  <a:pt x="701109" y="1423042"/>
                  <a:pt x="708988" y="1434826"/>
                  <a:pt x="719847" y="1443272"/>
                </a:cubicBezTo>
                <a:cubicBezTo>
                  <a:pt x="738304" y="1457627"/>
                  <a:pt x="761680" y="1465648"/>
                  <a:pt x="778213" y="1482182"/>
                </a:cubicBezTo>
                <a:cubicBezTo>
                  <a:pt x="804918" y="1508889"/>
                  <a:pt x="788967" y="1498738"/>
                  <a:pt x="826851" y="1511365"/>
                </a:cubicBezTo>
                <a:cubicBezTo>
                  <a:pt x="876144" y="1560661"/>
                  <a:pt x="812352" y="1502666"/>
                  <a:pt x="875489" y="1540548"/>
                </a:cubicBezTo>
                <a:cubicBezTo>
                  <a:pt x="942254" y="1580606"/>
                  <a:pt x="841459" y="1542177"/>
                  <a:pt x="924128" y="1569731"/>
                </a:cubicBezTo>
                <a:cubicBezTo>
                  <a:pt x="943583" y="1582701"/>
                  <a:pt x="960312" y="1601248"/>
                  <a:pt x="982494" y="1608642"/>
                </a:cubicBezTo>
                <a:cubicBezTo>
                  <a:pt x="992222" y="1611885"/>
                  <a:pt x="1002713" y="1613390"/>
                  <a:pt x="1011677" y="1618370"/>
                </a:cubicBezTo>
                <a:cubicBezTo>
                  <a:pt x="1032117" y="1629725"/>
                  <a:pt x="1047861" y="1649886"/>
                  <a:pt x="1070043" y="1657280"/>
                </a:cubicBezTo>
                <a:lnTo>
                  <a:pt x="1157591" y="1686463"/>
                </a:lnTo>
                <a:cubicBezTo>
                  <a:pt x="1167319" y="1689706"/>
                  <a:pt x="1178242" y="1690503"/>
                  <a:pt x="1186774" y="1696191"/>
                </a:cubicBezTo>
                <a:cubicBezTo>
                  <a:pt x="1225102" y="1721743"/>
                  <a:pt x="1218756" y="1721209"/>
                  <a:pt x="1274323" y="1735101"/>
                </a:cubicBezTo>
                <a:cubicBezTo>
                  <a:pt x="1286792" y="1738218"/>
                  <a:pt x="1328460" y="1747579"/>
                  <a:pt x="1342417" y="1754557"/>
                </a:cubicBezTo>
                <a:cubicBezTo>
                  <a:pt x="1352874" y="1759785"/>
                  <a:pt x="1360613" y="1770017"/>
                  <a:pt x="1371600" y="1774012"/>
                </a:cubicBezTo>
                <a:cubicBezTo>
                  <a:pt x="1478636" y="1812934"/>
                  <a:pt x="1415358" y="1778870"/>
                  <a:pt x="1488332" y="1803195"/>
                </a:cubicBezTo>
                <a:cubicBezTo>
                  <a:pt x="1594773" y="1838677"/>
                  <a:pt x="1433542" y="1782087"/>
                  <a:pt x="1546698" y="1832378"/>
                </a:cubicBezTo>
                <a:cubicBezTo>
                  <a:pt x="1565438" y="1840707"/>
                  <a:pt x="1585609" y="1845348"/>
                  <a:pt x="1605064" y="1851833"/>
                </a:cubicBezTo>
                <a:lnTo>
                  <a:pt x="1634247" y="1861561"/>
                </a:lnTo>
                <a:cubicBezTo>
                  <a:pt x="1643975" y="1864804"/>
                  <a:pt x="1653375" y="1869278"/>
                  <a:pt x="1663430" y="1871289"/>
                </a:cubicBezTo>
                <a:cubicBezTo>
                  <a:pt x="1722123" y="1883027"/>
                  <a:pt x="1696383" y="1875787"/>
                  <a:pt x="1741251" y="1890744"/>
                </a:cubicBezTo>
                <a:cubicBezTo>
                  <a:pt x="1851166" y="1886347"/>
                  <a:pt x="1935417" y="1895705"/>
                  <a:pt x="2033081" y="1871289"/>
                </a:cubicBezTo>
                <a:cubicBezTo>
                  <a:pt x="2043029" y="1868802"/>
                  <a:pt x="2053093" y="1866147"/>
                  <a:pt x="2062264" y="1861561"/>
                </a:cubicBezTo>
                <a:cubicBezTo>
                  <a:pt x="2102190" y="1841598"/>
                  <a:pt x="2080739" y="1846781"/>
                  <a:pt x="2110902" y="1822650"/>
                </a:cubicBezTo>
                <a:cubicBezTo>
                  <a:pt x="2120031" y="1815347"/>
                  <a:pt x="2130357" y="1809680"/>
                  <a:pt x="2140085" y="1803195"/>
                </a:cubicBezTo>
                <a:cubicBezTo>
                  <a:pt x="2195840" y="1719561"/>
                  <a:pt x="2128994" y="1825377"/>
                  <a:pt x="2169268" y="1744829"/>
                </a:cubicBezTo>
                <a:cubicBezTo>
                  <a:pt x="2193043" y="1697279"/>
                  <a:pt x="2186225" y="1735363"/>
                  <a:pt x="2198451" y="1686463"/>
                </a:cubicBezTo>
                <a:cubicBezTo>
                  <a:pt x="2225951" y="1576465"/>
                  <a:pt x="2185895" y="1704675"/>
                  <a:pt x="2227634" y="1579459"/>
                </a:cubicBezTo>
                <a:cubicBezTo>
                  <a:pt x="2230877" y="1569731"/>
                  <a:pt x="2231674" y="1558808"/>
                  <a:pt x="2237362" y="1550276"/>
                </a:cubicBezTo>
                <a:cubicBezTo>
                  <a:pt x="2243847" y="1540548"/>
                  <a:pt x="2252069" y="1531777"/>
                  <a:pt x="2256817" y="1521093"/>
                </a:cubicBezTo>
                <a:cubicBezTo>
                  <a:pt x="2292585" y="1440615"/>
                  <a:pt x="2255772" y="1483226"/>
                  <a:pt x="2295728" y="1443272"/>
                </a:cubicBezTo>
                <a:cubicBezTo>
                  <a:pt x="2341953" y="1304595"/>
                  <a:pt x="2295513" y="1448890"/>
                  <a:pt x="2324911" y="1345995"/>
                </a:cubicBezTo>
                <a:cubicBezTo>
                  <a:pt x="2327728" y="1336136"/>
                  <a:pt x="2332151" y="1326760"/>
                  <a:pt x="2334638" y="1316812"/>
                </a:cubicBezTo>
                <a:cubicBezTo>
                  <a:pt x="2350067" y="1255097"/>
                  <a:pt x="2339618" y="1262960"/>
                  <a:pt x="2363821" y="1190353"/>
                </a:cubicBezTo>
                <a:cubicBezTo>
                  <a:pt x="2373092" y="1162540"/>
                  <a:pt x="2377170" y="1152794"/>
                  <a:pt x="2383277" y="1122259"/>
                </a:cubicBezTo>
                <a:cubicBezTo>
                  <a:pt x="2387145" y="1102918"/>
                  <a:pt x="2389476" y="1083299"/>
                  <a:pt x="2393004" y="1063893"/>
                </a:cubicBezTo>
                <a:cubicBezTo>
                  <a:pt x="2406529" y="989503"/>
                  <a:pt x="2409412" y="1000717"/>
                  <a:pt x="2422187" y="898523"/>
                </a:cubicBezTo>
                <a:cubicBezTo>
                  <a:pt x="2446769" y="701870"/>
                  <a:pt x="2416435" y="947426"/>
                  <a:pt x="2441643" y="733153"/>
                </a:cubicBezTo>
                <a:cubicBezTo>
                  <a:pt x="2450029" y="661873"/>
                  <a:pt x="2451343" y="655519"/>
                  <a:pt x="2461098" y="587238"/>
                </a:cubicBezTo>
                <a:cubicBezTo>
                  <a:pt x="2457855" y="502931"/>
                  <a:pt x="2456982" y="418500"/>
                  <a:pt x="2451370" y="334318"/>
                </a:cubicBezTo>
                <a:cubicBezTo>
                  <a:pt x="2450048" y="314481"/>
                  <a:pt x="2437517" y="285833"/>
                  <a:pt x="2431915" y="266225"/>
                </a:cubicBezTo>
                <a:cubicBezTo>
                  <a:pt x="2429604" y="258136"/>
                  <a:pt x="2418819" y="208729"/>
                  <a:pt x="2412460" y="198131"/>
                </a:cubicBezTo>
                <a:cubicBezTo>
                  <a:pt x="2407741" y="190267"/>
                  <a:pt x="2398507" y="186013"/>
                  <a:pt x="2393004" y="178676"/>
                </a:cubicBezTo>
                <a:cubicBezTo>
                  <a:pt x="2375751" y="155672"/>
                  <a:pt x="2360138" y="119980"/>
                  <a:pt x="2334638" y="100855"/>
                </a:cubicBezTo>
                <a:cubicBezTo>
                  <a:pt x="2315932" y="86826"/>
                  <a:pt x="2295727" y="74914"/>
                  <a:pt x="2276272" y="61944"/>
                </a:cubicBezTo>
                <a:cubicBezTo>
                  <a:pt x="2266544" y="55459"/>
                  <a:pt x="2258180" y="46186"/>
                  <a:pt x="2247089" y="42489"/>
                </a:cubicBezTo>
                <a:cubicBezTo>
                  <a:pt x="2237361" y="39246"/>
                  <a:pt x="2227077" y="37347"/>
                  <a:pt x="2217906" y="32761"/>
                </a:cubicBezTo>
                <a:cubicBezTo>
                  <a:pt x="2207449" y="27533"/>
                  <a:pt x="2199180" y="18534"/>
                  <a:pt x="2188723" y="13306"/>
                </a:cubicBezTo>
                <a:cubicBezTo>
                  <a:pt x="2179552" y="8720"/>
                  <a:pt x="2169060" y="7386"/>
                  <a:pt x="2159540" y="3578"/>
                </a:cubicBezTo>
                <a:cubicBezTo>
                  <a:pt x="2152808" y="885"/>
                  <a:pt x="2146570" y="-2907"/>
                  <a:pt x="2120630" y="357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692" name="Google Shape;692;p37"/>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693" name="Google Shape;693;p37"/>
          <p:cNvGrpSpPr/>
          <p:nvPr/>
        </p:nvGrpSpPr>
        <p:grpSpPr>
          <a:xfrm>
            <a:off x="1751501" y="1368475"/>
            <a:ext cx="4726715" cy="2331624"/>
            <a:chOff x="-2863816" y="1556555"/>
            <a:chExt cx="3545036" cy="1748718"/>
          </a:xfrm>
        </p:grpSpPr>
        <p:sp>
          <p:nvSpPr>
            <p:cNvPr id="694" name="Google Shape;694;p37"/>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695" name="Google Shape;695;p37"/>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696" name="Google Shape;696;p37"/>
            <p:cNvSpPr/>
            <p:nvPr/>
          </p:nvSpPr>
          <p:spPr>
            <a:xfrm>
              <a:off x="-2690630" y="27208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697" name="Google Shape;697;p37"/>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698" name="Google Shape;698;p37"/>
            <p:cNvSpPr/>
            <p:nvPr/>
          </p:nvSpPr>
          <p:spPr>
            <a:xfrm>
              <a:off x="-347480" y="18064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699" name="Google Shape;699;p37"/>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700" name="Google Shape;700;p37"/>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701" name="Google Shape;701;p37"/>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702" name="Google Shape;702;p37"/>
            <p:cNvCxnSpPr>
              <a:stCxn id="694" idx="6"/>
              <a:endCxn id="697"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703" name="Google Shape;703;p37"/>
            <p:cNvCxnSpPr>
              <a:stCxn id="697" idx="2"/>
              <a:endCxn id="694"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704" name="Google Shape;704;p37"/>
            <p:cNvCxnSpPr>
              <a:stCxn id="701" idx="2"/>
              <a:endCxn id="700"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05" name="Google Shape;705;p37"/>
            <p:cNvCxnSpPr>
              <a:stCxn id="700" idx="6"/>
              <a:endCxn id="701"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06" name="Google Shape;706;p37"/>
            <p:cNvCxnSpPr>
              <a:stCxn id="694" idx="3"/>
              <a:endCxn id="696"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707" name="Google Shape;707;p37"/>
            <p:cNvCxnSpPr>
              <a:stCxn id="696" idx="6"/>
              <a:endCxn id="697"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708" name="Google Shape;708;p37"/>
            <p:cNvCxnSpPr>
              <a:stCxn id="694" idx="7"/>
              <a:endCxn id="695"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709" name="Google Shape;709;p37"/>
            <p:cNvCxnSpPr>
              <a:stCxn id="695" idx="6"/>
              <a:endCxn id="698"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710" name="Google Shape;710;p37"/>
            <p:cNvCxnSpPr>
              <a:stCxn id="698" idx="6"/>
              <a:endCxn id="699"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711" name="Google Shape;711;p37"/>
            <p:cNvCxnSpPr>
              <a:stCxn id="701" idx="1"/>
              <a:endCxn id="698"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712" name="Google Shape;712;p37"/>
            <p:cNvCxnSpPr>
              <a:stCxn id="699" idx="4"/>
              <a:endCxn id="701"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713" name="Google Shape;713;p37"/>
            <p:cNvCxnSpPr>
              <a:stCxn id="695" idx="5"/>
              <a:endCxn id="700"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714" name="Google Shape;714;p37"/>
            <p:cNvCxnSpPr>
              <a:stCxn id="695" idx="4"/>
              <a:endCxn id="697"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715" name="Google Shape;715;p37"/>
            <p:cNvCxnSpPr>
              <a:stCxn id="697" idx="5"/>
              <a:endCxn id="700"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716" name="Google Shape;716;p37"/>
            <p:cNvCxnSpPr>
              <a:stCxn id="700" idx="3"/>
              <a:endCxn id="696"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717" name="Google Shape;717;p37"/>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18" name="Google Shape;718;p37"/>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19" name="Google Shape;719;p37"/>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20" name="Google Shape;720;p37"/>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21" name="Google Shape;721;p37"/>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722" name="Google Shape;722;p37"/>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723" name="Google Shape;723;p37"/>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24" name="Google Shape;724;p37"/>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25" name="Google Shape;725;p37"/>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726" name="Google Shape;726;p37"/>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727" name="Google Shape;727;p37"/>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728" name="Google Shape;728;p37"/>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729" name="Google Shape;729;p37"/>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730" name="Google Shape;730;p37"/>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731" name="Google Shape;731;p37"/>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732" name="Google Shape;732;p37"/>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733" name="Google Shape;733;p37"/>
            <p:cNvSpPr txBox="1"/>
            <p:nvPr/>
          </p:nvSpPr>
          <p:spPr>
            <a:xfrm>
              <a:off x="-477173" y="1609371"/>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34" name="Google Shape;734;p37"/>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35" name="Google Shape;735;p37"/>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736" name="Google Shape;736;p37"/>
            <p:cNvSpPr txBox="1"/>
            <p:nvPr/>
          </p:nvSpPr>
          <p:spPr>
            <a:xfrm>
              <a:off x="-2863816" y="2543734"/>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37" name="Google Shape;737;p37"/>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38" name="Google Shape;738;p37"/>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739" name="Google Shape;739;p37"/>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740" name="Google Shape;740;p37"/>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741" name="Google Shape;741;p37"/>
          <p:cNvGraphicFramePr/>
          <p:nvPr>
            <p:extLst>
              <p:ext uri="{D42A27DB-BD31-4B8C-83A1-F6EECF244321}">
                <p14:modId xmlns:p14="http://schemas.microsoft.com/office/powerpoint/2010/main" val="1484559043"/>
              </p:ext>
            </p:extLst>
          </p:nvPr>
        </p:nvGraphicFramePr>
        <p:xfrm>
          <a:off x="6402948"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91389">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4</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B</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742" name="Google Shape;742;p37"/>
          <p:cNvSpPr txBox="1"/>
          <p:nvPr/>
        </p:nvSpPr>
        <p:spPr>
          <a:xfrm>
            <a:off x="1494698" y="4883675"/>
            <a:ext cx="39810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79722C78-EF1D-BFF3-FDAA-F39098F21C9D}"/>
              </a:ext>
            </a:extLst>
          </p:cNvPr>
          <p:cNvSpPr txBox="1"/>
          <p:nvPr/>
        </p:nvSpPr>
        <p:spPr>
          <a:xfrm>
            <a:off x="797169" y="5798330"/>
            <a:ext cx="5217851"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can choose to visit either D or F next, since they have equal smallest SD of 4 among all unvisited nodes. Let’s visit D in alphabetical order</a:t>
            </a:r>
            <a:endParaRPr lang="en-SE"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p:nvPr/>
        </p:nvSpPr>
        <p:spPr>
          <a:xfrm>
            <a:off x="1702340" y="1313234"/>
            <a:ext cx="2752928" cy="2217906"/>
          </a:xfrm>
          <a:custGeom>
            <a:avLst/>
            <a:gdLst/>
            <a:ahLst/>
            <a:cxnLst/>
            <a:rect l="l" t="t" r="r" b="b"/>
            <a:pathLst>
              <a:path w="2752928" h="2217906" extrusionOk="0">
                <a:moveTo>
                  <a:pt x="1566154" y="48638"/>
                </a:moveTo>
                <a:cubicBezTo>
                  <a:pt x="1354514" y="78873"/>
                  <a:pt x="1515015" y="59728"/>
                  <a:pt x="1060315" y="48638"/>
                </a:cubicBezTo>
                <a:lnTo>
                  <a:pt x="700392" y="38911"/>
                </a:lnTo>
                <a:cubicBezTo>
                  <a:pt x="638783" y="42153"/>
                  <a:pt x="577028" y="43294"/>
                  <a:pt x="515566" y="48638"/>
                </a:cubicBezTo>
                <a:cubicBezTo>
                  <a:pt x="495680" y="50367"/>
                  <a:pt x="429639" y="74038"/>
                  <a:pt x="418290" y="77821"/>
                </a:cubicBezTo>
                <a:cubicBezTo>
                  <a:pt x="408562" y="81064"/>
                  <a:pt x="397639" y="81861"/>
                  <a:pt x="389107" y="87549"/>
                </a:cubicBezTo>
                <a:cubicBezTo>
                  <a:pt x="259540" y="173926"/>
                  <a:pt x="451576" y="49601"/>
                  <a:pt x="330741" y="116732"/>
                </a:cubicBezTo>
                <a:cubicBezTo>
                  <a:pt x="310301" y="128088"/>
                  <a:pt x="291830" y="142673"/>
                  <a:pt x="272375" y="155643"/>
                </a:cubicBezTo>
                <a:lnTo>
                  <a:pt x="243192" y="175098"/>
                </a:lnTo>
                <a:cubicBezTo>
                  <a:pt x="205806" y="231179"/>
                  <a:pt x="238173" y="177082"/>
                  <a:pt x="214009" y="233464"/>
                </a:cubicBezTo>
                <a:cubicBezTo>
                  <a:pt x="208297" y="246793"/>
                  <a:pt x="199940" y="258911"/>
                  <a:pt x="194554" y="272375"/>
                </a:cubicBezTo>
                <a:cubicBezTo>
                  <a:pt x="186938" y="291416"/>
                  <a:pt x="181583" y="311285"/>
                  <a:pt x="175098" y="330740"/>
                </a:cubicBezTo>
                <a:lnTo>
                  <a:pt x="165371" y="359923"/>
                </a:lnTo>
                <a:cubicBezTo>
                  <a:pt x="162128" y="369651"/>
                  <a:pt x="158130" y="379158"/>
                  <a:pt x="155643" y="389106"/>
                </a:cubicBezTo>
                <a:cubicBezTo>
                  <a:pt x="152400" y="402076"/>
                  <a:pt x="149588" y="415162"/>
                  <a:pt x="145915" y="428017"/>
                </a:cubicBezTo>
                <a:cubicBezTo>
                  <a:pt x="143098" y="437876"/>
                  <a:pt x="138886" y="447308"/>
                  <a:pt x="136188" y="457200"/>
                </a:cubicBezTo>
                <a:cubicBezTo>
                  <a:pt x="129153" y="482997"/>
                  <a:pt x="123217" y="509081"/>
                  <a:pt x="116732" y="535021"/>
                </a:cubicBezTo>
                <a:lnTo>
                  <a:pt x="97277" y="612843"/>
                </a:lnTo>
                <a:cubicBezTo>
                  <a:pt x="94034" y="625813"/>
                  <a:pt x="89747" y="638566"/>
                  <a:pt x="87549" y="651753"/>
                </a:cubicBezTo>
                <a:cubicBezTo>
                  <a:pt x="77643" y="711191"/>
                  <a:pt x="76438" y="715639"/>
                  <a:pt x="68094" y="778213"/>
                </a:cubicBezTo>
                <a:cubicBezTo>
                  <a:pt x="64639" y="804126"/>
                  <a:pt x="62341" y="830196"/>
                  <a:pt x="58366" y="856034"/>
                </a:cubicBezTo>
                <a:cubicBezTo>
                  <a:pt x="55852" y="872375"/>
                  <a:pt x="50824" y="888283"/>
                  <a:pt x="48639" y="904672"/>
                </a:cubicBezTo>
                <a:cubicBezTo>
                  <a:pt x="44332" y="936974"/>
                  <a:pt x="42323" y="969541"/>
                  <a:pt x="38911" y="1001949"/>
                </a:cubicBezTo>
                <a:cubicBezTo>
                  <a:pt x="35837" y="1031150"/>
                  <a:pt x="31727" y="1060246"/>
                  <a:pt x="29183" y="1089498"/>
                </a:cubicBezTo>
                <a:cubicBezTo>
                  <a:pt x="25240" y="1134838"/>
                  <a:pt x="22209" y="1180257"/>
                  <a:pt x="19456" y="1225685"/>
                </a:cubicBezTo>
                <a:cubicBezTo>
                  <a:pt x="11054" y="1364320"/>
                  <a:pt x="6056" y="1494966"/>
                  <a:pt x="0" y="1634247"/>
                </a:cubicBezTo>
                <a:cubicBezTo>
                  <a:pt x="4773" y="1753562"/>
                  <a:pt x="-9044" y="1821347"/>
                  <a:pt x="19456" y="1916349"/>
                </a:cubicBezTo>
                <a:cubicBezTo>
                  <a:pt x="25349" y="1935992"/>
                  <a:pt x="27536" y="1957651"/>
                  <a:pt x="38911" y="1974715"/>
                </a:cubicBezTo>
                <a:cubicBezTo>
                  <a:pt x="63453" y="2011529"/>
                  <a:pt x="50099" y="1995631"/>
                  <a:pt x="77822" y="2023353"/>
                </a:cubicBezTo>
                <a:cubicBezTo>
                  <a:pt x="94799" y="2074288"/>
                  <a:pt x="80299" y="2045287"/>
                  <a:pt x="136188" y="2101175"/>
                </a:cubicBezTo>
                <a:cubicBezTo>
                  <a:pt x="221444" y="2186430"/>
                  <a:pt x="113297" y="2082098"/>
                  <a:pt x="194554" y="2149813"/>
                </a:cubicBezTo>
                <a:cubicBezTo>
                  <a:pt x="205122" y="2158620"/>
                  <a:pt x="211711" y="2172315"/>
                  <a:pt x="223737" y="2178996"/>
                </a:cubicBezTo>
                <a:cubicBezTo>
                  <a:pt x="241664" y="2188955"/>
                  <a:pt x="262208" y="2193477"/>
                  <a:pt x="282103" y="2198451"/>
                </a:cubicBezTo>
                <a:cubicBezTo>
                  <a:pt x="358893" y="2217649"/>
                  <a:pt x="307690" y="2207069"/>
                  <a:pt x="437745" y="2217906"/>
                </a:cubicBezTo>
                <a:cubicBezTo>
                  <a:pt x="503505" y="2215047"/>
                  <a:pt x="626930" y="2221139"/>
                  <a:pt x="710120" y="2198451"/>
                </a:cubicBezTo>
                <a:cubicBezTo>
                  <a:pt x="729905" y="2193055"/>
                  <a:pt x="748591" y="2183970"/>
                  <a:pt x="768486" y="2178996"/>
                </a:cubicBezTo>
                <a:cubicBezTo>
                  <a:pt x="781456" y="2175753"/>
                  <a:pt x="794591" y="2173110"/>
                  <a:pt x="807396" y="2169268"/>
                </a:cubicBezTo>
                <a:cubicBezTo>
                  <a:pt x="827039" y="2163375"/>
                  <a:pt x="845867" y="2154787"/>
                  <a:pt x="865762" y="2149813"/>
                </a:cubicBezTo>
                <a:cubicBezTo>
                  <a:pt x="987442" y="2119392"/>
                  <a:pt x="836139" y="2158276"/>
                  <a:pt x="933856" y="2130357"/>
                </a:cubicBezTo>
                <a:cubicBezTo>
                  <a:pt x="946711" y="2126684"/>
                  <a:pt x="959961" y="2124471"/>
                  <a:pt x="972766" y="2120630"/>
                </a:cubicBezTo>
                <a:cubicBezTo>
                  <a:pt x="1112325" y="2078764"/>
                  <a:pt x="938448" y="2124346"/>
                  <a:pt x="1108954" y="2081719"/>
                </a:cubicBezTo>
                <a:cubicBezTo>
                  <a:pt x="1121924" y="2078477"/>
                  <a:pt x="1134677" y="2074190"/>
                  <a:pt x="1147864" y="2071992"/>
                </a:cubicBezTo>
                <a:cubicBezTo>
                  <a:pt x="1201333" y="2063080"/>
                  <a:pt x="1294038" y="2045450"/>
                  <a:pt x="1352145" y="2042809"/>
                </a:cubicBezTo>
                <a:cubicBezTo>
                  <a:pt x="1465564" y="2037654"/>
                  <a:pt x="1579124" y="2036324"/>
                  <a:pt x="1692613" y="2033081"/>
                </a:cubicBezTo>
                <a:cubicBezTo>
                  <a:pt x="1818017" y="2025243"/>
                  <a:pt x="1879576" y="2024619"/>
                  <a:pt x="2003898" y="2003898"/>
                </a:cubicBezTo>
                <a:cubicBezTo>
                  <a:pt x="2049749" y="1996256"/>
                  <a:pt x="2060551" y="1996050"/>
                  <a:pt x="2101175" y="1984443"/>
                </a:cubicBezTo>
                <a:cubicBezTo>
                  <a:pt x="2111034" y="1981626"/>
                  <a:pt x="2121187" y="1979301"/>
                  <a:pt x="2130358" y="1974715"/>
                </a:cubicBezTo>
                <a:cubicBezTo>
                  <a:pt x="2140815" y="1969487"/>
                  <a:pt x="2148858" y="1960008"/>
                  <a:pt x="2159541" y="1955260"/>
                </a:cubicBezTo>
                <a:cubicBezTo>
                  <a:pt x="2178281" y="1946931"/>
                  <a:pt x="2200843" y="1947180"/>
                  <a:pt x="2217907" y="1935804"/>
                </a:cubicBezTo>
                <a:cubicBezTo>
                  <a:pt x="2237362" y="1922834"/>
                  <a:pt x="2259740" y="1913428"/>
                  <a:pt x="2276273" y="1896894"/>
                </a:cubicBezTo>
                <a:cubicBezTo>
                  <a:pt x="2282758" y="1890409"/>
                  <a:pt x="2288391" y="1882941"/>
                  <a:pt x="2295728" y="1877438"/>
                </a:cubicBezTo>
                <a:cubicBezTo>
                  <a:pt x="2314434" y="1863409"/>
                  <a:pt x="2337560" y="1855062"/>
                  <a:pt x="2354094" y="1838528"/>
                </a:cubicBezTo>
                <a:cubicBezTo>
                  <a:pt x="2373380" y="1819242"/>
                  <a:pt x="2400608" y="1797102"/>
                  <a:pt x="2412460" y="1770434"/>
                </a:cubicBezTo>
                <a:cubicBezTo>
                  <a:pt x="2420789" y="1751694"/>
                  <a:pt x="2425430" y="1731523"/>
                  <a:pt x="2431915" y="1712068"/>
                </a:cubicBezTo>
                <a:lnTo>
                  <a:pt x="2441643" y="1682885"/>
                </a:lnTo>
                <a:lnTo>
                  <a:pt x="2461098" y="1624519"/>
                </a:lnTo>
                <a:cubicBezTo>
                  <a:pt x="2464341" y="1614791"/>
                  <a:pt x="2468339" y="1605284"/>
                  <a:pt x="2470826" y="1595336"/>
                </a:cubicBezTo>
                <a:cubicBezTo>
                  <a:pt x="2474069" y="1582366"/>
                  <a:pt x="2475288" y="1568714"/>
                  <a:pt x="2480554" y="1556426"/>
                </a:cubicBezTo>
                <a:cubicBezTo>
                  <a:pt x="2485159" y="1545680"/>
                  <a:pt x="2495261" y="1537927"/>
                  <a:pt x="2500009" y="1527243"/>
                </a:cubicBezTo>
                <a:cubicBezTo>
                  <a:pt x="2546311" y="1423062"/>
                  <a:pt x="2494891" y="1505736"/>
                  <a:pt x="2538920" y="1439694"/>
                </a:cubicBezTo>
                <a:cubicBezTo>
                  <a:pt x="2585145" y="1301017"/>
                  <a:pt x="2538705" y="1445312"/>
                  <a:pt x="2568103" y="1342417"/>
                </a:cubicBezTo>
                <a:cubicBezTo>
                  <a:pt x="2570920" y="1332558"/>
                  <a:pt x="2575013" y="1323093"/>
                  <a:pt x="2577830" y="1313234"/>
                </a:cubicBezTo>
                <a:cubicBezTo>
                  <a:pt x="2581503" y="1300379"/>
                  <a:pt x="2583885" y="1287178"/>
                  <a:pt x="2587558" y="1274323"/>
                </a:cubicBezTo>
                <a:cubicBezTo>
                  <a:pt x="2590375" y="1264464"/>
                  <a:pt x="2594469" y="1254999"/>
                  <a:pt x="2597286" y="1245140"/>
                </a:cubicBezTo>
                <a:cubicBezTo>
                  <a:pt x="2600959" y="1232285"/>
                  <a:pt x="2603171" y="1219035"/>
                  <a:pt x="2607013" y="1206230"/>
                </a:cubicBezTo>
                <a:cubicBezTo>
                  <a:pt x="2612906" y="1186587"/>
                  <a:pt x="2619984" y="1167319"/>
                  <a:pt x="2626469" y="1147864"/>
                </a:cubicBezTo>
                <a:cubicBezTo>
                  <a:pt x="2629712" y="1138136"/>
                  <a:pt x="2633709" y="1128629"/>
                  <a:pt x="2636196" y="1118681"/>
                </a:cubicBezTo>
                <a:cubicBezTo>
                  <a:pt x="2639439" y="1105711"/>
                  <a:pt x="2642082" y="1092576"/>
                  <a:pt x="2645924" y="1079770"/>
                </a:cubicBezTo>
                <a:cubicBezTo>
                  <a:pt x="2651817" y="1060127"/>
                  <a:pt x="2660405" y="1041299"/>
                  <a:pt x="2665379" y="1021404"/>
                </a:cubicBezTo>
                <a:cubicBezTo>
                  <a:pt x="2668622" y="1008434"/>
                  <a:pt x="2671265" y="995299"/>
                  <a:pt x="2675107" y="982494"/>
                </a:cubicBezTo>
                <a:cubicBezTo>
                  <a:pt x="2681000" y="962851"/>
                  <a:pt x="2688077" y="943583"/>
                  <a:pt x="2694562" y="924128"/>
                </a:cubicBezTo>
                <a:lnTo>
                  <a:pt x="2714017" y="865762"/>
                </a:lnTo>
                <a:cubicBezTo>
                  <a:pt x="2717260" y="856034"/>
                  <a:pt x="2721258" y="846527"/>
                  <a:pt x="2723745" y="836579"/>
                </a:cubicBezTo>
                <a:lnTo>
                  <a:pt x="2733473" y="797668"/>
                </a:lnTo>
                <a:cubicBezTo>
                  <a:pt x="2742410" y="717225"/>
                  <a:pt x="2752928" y="635380"/>
                  <a:pt x="2752928" y="554477"/>
                </a:cubicBezTo>
                <a:cubicBezTo>
                  <a:pt x="2752928" y="486306"/>
                  <a:pt x="2750728" y="417950"/>
                  <a:pt x="2743200" y="350196"/>
                </a:cubicBezTo>
                <a:cubicBezTo>
                  <a:pt x="2740083" y="322141"/>
                  <a:pt x="2723699" y="285291"/>
                  <a:pt x="2704290" y="262647"/>
                </a:cubicBezTo>
                <a:cubicBezTo>
                  <a:pt x="2692353" y="248720"/>
                  <a:pt x="2675554" y="238998"/>
                  <a:pt x="2665379" y="223736"/>
                </a:cubicBezTo>
                <a:cubicBezTo>
                  <a:pt x="2639439" y="184825"/>
                  <a:pt x="2655652" y="201038"/>
                  <a:pt x="2616741" y="175098"/>
                </a:cubicBezTo>
                <a:cubicBezTo>
                  <a:pt x="2599139" y="148695"/>
                  <a:pt x="2586682" y="125875"/>
                  <a:pt x="2558375" y="107004"/>
                </a:cubicBezTo>
                <a:cubicBezTo>
                  <a:pt x="2548647" y="100519"/>
                  <a:pt x="2539876" y="92297"/>
                  <a:pt x="2529192" y="87549"/>
                </a:cubicBezTo>
                <a:cubicBezTo>
                  <a:pt x="2510452" y="79220"/>
                  <a:pt x="2490281" y="74579"/>
                  <a:pt x="2470826" y="68094"/>
                </a:cubicBezTo>
                <a:lnTo>
                  <a:pt x="2441643" y="58366"/>
                </a:lnTo>
                <a:lnTo>
                  <a:pt x="2354094" y="29183"/>
                </a:lnTo>
                <a:cubicBezTo>
                  <a:pt x="2323783" y="19079"/>
                  <a:pt x="2311493" y="13641"/>
                  <a:pt x="2276273" y="9728"/>
                </a:cubicBezTo>
                <a:cubicBezTo>
                  <a:pt x="2234254" y="5059"/>
                  <a:pt x="2191966" y="3243"/>
                  <a:pt x="2149813" y="0"/>
                </a:cubicBezTo>
                <a:cubicBezTo>
                  <a:pt x="2052536" y="3243"/>
                  <a:pt x="1955012" y="2068"/>
                  <a:pt x="1857983" y="9728"/>
                </a:cubicBezTo>
                <a:cubicBezTo>
                  <a:pt x="1831327" y="11832"/>
                  <a:pt x="1806694" y="25866"/>
                  <a:pt x="1780162" y="29183"/>
                </a:cubicBezTo>
                <a:lnTo>
                  <a:pt x="1702341" y="38911"/>
                </a:lnTo>
                <a:cubicBezTo>
                  <a:pt x="1692613" y="42153"/>
                  <a:pt x="1683412" y="48638"/>
                  <a:pt x="1673158" y="48638"/>
                </a:cubicBezTo>
                <a:cubicBezTo>
                  <a:pt x="1640571" y="48638"/>
                  <a:pt x="1575881" y="38911"/>
                  <a:pt x="1566154" y="4863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750" name="Google Shape;750;p38"/>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751" name="Google Shape;751;p38"/>
          <p:cNvGrpSpPr/>
          <p:nvPr/>
        </p:nvGrpSpPr>
        <p:grpSpPr>
          <a:xfrm>
            <a:off x="1751501" y="1368475"/>
            <a:ext cx="4726715" cy="2331624"/>
            <a:chOff x="-2863816" y="1556555"/>
            <a:chExt cx="3545036" cy="1748718"/>
          </a:xfrm>
        </p:grpSpPr>
        <p:sp>
          <p:nvSpPr>
            <p:cNvPr id="752" name="Google Shape;752;p38"/>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753" name="Google Shape;753;p38"/>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754" name="Google Shape;754;p38"/>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755" name="Google Shape;755;p38"/>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756" name="Google Shape;756;p38"/>
            <p:cNvSpPr/>
            <p:nvPr/>
          </p:nvSpPr>
          <p:spPr>
            <a:xfrm>
              <a:off x="-347480" y="18064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757" name="Google Shape;757;p38"/>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758" name="Google Shape;758;p38"/>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759" name="Google Shape;759;p38"/>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760" name="Google Shape;760;p38"/>
            <p:cNvCxnSpPr>
              <a:stCxn id="752" idx="6"/>
              <a:endCxn id="755"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761" name="Google Shape;761;p38"/>
            <p:cNvCxnSpPr>
              <a:stCxn id="755" idx="2"/>
              <a:endCxn id="752"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762" name="Google Shape;762;p38"/>
            <p:cNvCxnSpPr>
              <a:stCxn id="759" idx="2"/>
              <a:endCxn id="758"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63" name="Google Shape;763;p38"/>
            <p:cNvCxnSpPr>
              <a:stCxn id="758" idx="6"/>
              <a:endCxn id="759"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64" name="Google Shape;764;p38"/>
            <p:cNvCxnSpPr>
              <a:stCxn id="752" idx="3"/>
              <a:endCxn id="754"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765" name="Google Shape;765;p38"/>
            <p:cNvCxnSpPr>
              <a:stCxn id="754" idx="6"/>
              <a:endCxn id="755"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766" name="Google Shape;766;p38"/>
            <p:cNvCxnSpPr>
              <a:stCxn id="752" idx="7"/>
              <a:endCxn id="753"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767" name="Google Shape;767;p38"/>
            <p:cNvCxnSpPr>
              <a:stCxn id="753" idx="6"/>
              <a:endCxn id="756"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768" name="Google Shape;768;p38"/>
            <p:cNvCxnSpPr>
              <a:stCxn id="756" idx="6"/>
              <a:endCxn id="757"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769" name="Google Shape;769;p38"/>
            <p:cNvCxnSpPr>
              <a:stCxn id="759" idx="1"/>
              <a:endCxn id="756"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770" name="Google Shape;770;p38"/>
            <p:cNvCxnSpPr>
              <a:stCxn id="757" idx="4"/>
              <a:endCxn id="759"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771" name="Google Shape;771;p38"/>
            <p:cNvCxnSpPr>
              <a:stCxn id="753" idx="5"/>
              <a:endCxn id="758"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772" name="Google Shape;772;p38"/>
            <p:cNvCxnSpPr>
              <a:stCxn id="753" idx="4"/>
              <a:endCxn id="755"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773" name="Google Shape;773;p38"/>
            <p:cNvCxnSpPr>
              <a:stCxn id="755" idx="5"/>
              <a:endCxn id="758"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774" name="Google Shape;774;p38"/>
            <p:cNvCxnSpPr>
              <a:stCxn id="758" idx="3"/>
              <a:endCxn id="754"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775" name="Google Shape;775;p38"/>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76" name="Google Shape;776;p38"/>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77" name="Google Shape;777;p38"/>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78" name="Google Shape;778;p38"/>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79" name="Google Shape;779;p38"/>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780" name="Google Shape;780;p38"/>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781" name="Google Shape;781;p38"/>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82" name="Google Shape;782;p38"/>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83" name="Google Shape;783;p38"/>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784" name="Google Shape;784;p38"/>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785" name="Google Shape;785;p38"/>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786" name="Google Shape;786;p38"/>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787" name="Google Shape;787;p38"/>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88" name="Google Shape;788;p38"/>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789" name="Google Shape;789;p38"/>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790" name="Google Shape;790;p38"/>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791" name="Google Shape;791;p38"/>
            <p:cNvSpPr txBox="1"/>
            <p:nvPr/>
          </p:nvSpPr>
          <p:spPr>
            <a:xfrm>
              <a:off x="-477173" y="1609371"/>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92" name="Google Shape;792;p38"/>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93" name="Google Shape;793;p38"/>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794" name="Google Shape;794;p38"/>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95" name="Google Shape;795;p38"/>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96" name="Google Shape;796;p38"/>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797" name="Google Shape;797;p38"/>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798" name="Google Shape;798;p38"/>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799" name="Google Shape;799;p38"/>
          <p:cNvGraphicFramePr/>
          <p:nvPr>
            <p:extLst>
              <p:ext uri="{D42A27DB-BD31-4B8C-83A1-F6EECF244321}">
                <p14:modId xmlns:p14="http://schemas.microsoft.com/office/powerpoint/2010/main" val="1295854992"/>
              </p:ext>
            </p:extLst>
          </p:nvPr>
        </p:nvGraphicFramePr>
        <p:xfrm>
          <a:off x="6324483" y="2920903"/>
          <a:ext cx="3091605" cy="3840300"/>
        </p:xfrm>
        <a:graphic>
          <a:graphicData uri="http://schemas.openxmlformats.org/drawingml/2006/table">
            <a:tbl>
              <a:tblPr firstRow="1" bandRow="1">
                <a:noFill/>
              </a:tblPr>
              <a:tblGrid>
                <a:gridCol w="1030535">
                  <a:extLst>
                    <a:ext uri="{9D8B030D-6E8A-4147-A177-3AD203B41FA5}">
                      <a16:colId xmlns:a16="http://schemas.microsoft.com/office/drawing/2014/main" val="20000"/>
                    </a:ext>
                  </a:extLst>
                </a:gridCol>
                <a:gridCol w="1030535">
                  <a:extLst>
                    <a:ext uri="{9D8B030D-6E8A-4147-A177-3AD203B41FA5}">
                      <a16:colId xmlns:a16="http://schemas.microsoft.com/office/drawing/2014/main" val="20002"/>
                    </a:ext>
                  </a:extLst>
                </a:gridCol>
                <a:gridCol w="1030535">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800" name="Google Shape;800;p38"/>
          <p:cNvSpPr txBox="1"/>
          <p:nvPr/>
        </p:nvSpPr>
        <p:spPr>
          <a:xfrm>
            <a:off x="1527675" y="4883675"/>
            <a:ext cx="39483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8615D611-6A8D-B994-0DEF-2BE295807E67}"/>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F next, since F has the smallest SD of 4 among all unvisited nodes</a:t>
            </a:r>
            <a:endParaRPr lang="en-SE"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06"/>
        <p:cNvGrpSpPr/>
        <p:nvPr/>
      </p:nvGrpSpPr>
      <p:grpSpPr>
        <a:xfrm>
          <a:off x="0" y="0"/>
          <a:ext cx="0" cy="0"/>
          <a:chOff x="0" y="0"/>
          <a:chExt cx="0" cy="0"/>
        </a:xfrm>
      </p:grpSpPr>
      <p:sp>
        <p:nvSpPr>
          <p:cNvPr id="807" name="Google Shape;807;p39"/>
          <p:cNvSpPr/>
          <p:nvPr/>
        </p:nvSpPr>
        <p:spPr>
          <a:xfrm>
            <a:off x="1712068" y="1322707"/>
            <a:ext cx="3988341" cy="2237616"/>
          </a:xfrm>
          <a:custGeom>
            <a:avLst/>
            <a:gdLst/>
            <a:ahLst/>
            <a:cxnLst/>
            <a:rect l="l" t="t" r="r" b="b"/>
            <a:pathLst>
              <a:path w="3988341" h="2237616" extrusionOk="0">
                <a:moveTo>
                  <a:pt x="3852153" y="107259"/>
                </a:moveTo>
                <a:cubicBezTo>
                  <a:pt x="3827834" y="100774"/>
                  <a:pt x="3793625" y="101996"/>
                  <a:pt x="3764604" y="97531"/>
                </a:cubicBezTo>
                <a:cubicBezTo>
                  <a:pt x="3737295" y="93330"/>
                  <a:pt x="3690063" y="75926"/>
                  <a:pt x="3667328" y="68348"/>
                </a:cubicBezTo>
                <a:cubicBezTo>
                  <a:pt x="3657600" y="65105"/>
                  <a:pt x="3648348" y="59641"/>
                  <a:pt x="3638145" y="58621"/>
                </a:cubicBezTo>
                <a:cubicBezTo>
                  <a:pt x="3605719" y="55378"/>
                  <a:pt x="3573444" y="49773"/>
                  <a:pt x="3540868" y="48893"/>
                </a:cubicBezTo>
                <a:cubicBezTo>
                  <a:pt x="3333395" y="43285"/>
                  <a:pt x="3125821" y="42408"/>
                  <a:pt x="2918298" y="39165"/>
                </a:cubicBezTo>
                <a:cubicBezTo>
                  <a:pt x="2552395" y="16298"/>
                  <a:pt x="2787078" y="28492"/>
                  <a:pt x="2110902" y="19710"/>
                </a:cubicBezTo>
                <a:lnTo>
                  <a:pt x="1264596" y="9982"/>
                </a:lnTo>
                <a:cubicBezTo>
                  <a:pt x="1031271" y="-623"/>
                  <a:pt x="1051810" y="-5786"/>
                  <a:pt x="807396" y="9982"/>
                </a:cubicBezTo>
                <a:cubicBezTo>
                  <a:pt x="792515" y="10942"/>
                  <a:pt x="718247" y="25470"/>
                  <a:pt x="700392" y="29438"/>
                </a:cubicBezTo>
                <a:cubicBezTo>
                  <a:pt x="656274" y="39242"/>
                  <a:pt x="651634" y="42448"/>
                  <a:pt x="603115" y="58621"/>
                </a:cubicBezTo>
                <a:lnTo>
                  <a:pt x="544749" y="78076"/>
                </a:lnTo>
                <a:lnTo>
                  <a:pt x="486383" y="97531"/>
                </a:lnTo>
                <a:cubicBezTo>
                  <a:pt x="476655" y="100774"/>
                  <a:pt x="465732" y="101571"/>
                  <a:pt x="457200" y="107259"/>
                </a:cubicBezTo>
                <a:cubicBezTo>
                  <a:pt x="390302" y="151858"/>
                  <a:pt x="421017" y="138776"/>
                  <a:pt x="369651" y="155897"/>
                </a:cubicBezTo>
                <a:cubicBezTo>
                  <a:pt x="322668" y="202883"/>
                  <a:pt x="379837" y="143167"/>
                  <a:pt x="330741" y="204536"/>
                </a:cubicBezTo>
                <a:cubicBezTo>
                  <a:pt x="309864" y="230632"/>
                  <a:pt x="310190" y="220976"/>
                  <a:pt x="282102" y="243446"/>
                </a:cubicBezTo>
                <a:cubicBezTo>
                  <a:pt x="256008" y="264322"/>
                  <a:pt x="265660" y="263999"/>
                  <a:pt x="243192" y="292084"/>
                </a:cubicBezTo>
                <a:cubicBezTo>
                  <a:pt x="237462" y="299246"/>
                  <a:pt x="230221" y="305055"/>
                  <a:pt x="223736" y="311540"/>
                </a:cubicBezTo>
                <a:cubicBezTo>
                  <a:pt x="196181" y="394210"/>
                  <a:pt x="234612" y="293414"/>
                  <a:pt x="194553" y="360178"/>
                </a:cubicBezTo>
                <a:cubicBezTo>
                  <a:pt x="179631" y="385047"/>
                  <a:pt x="171731" y="413868"/>
                  <a:pt x="155643" y="437999"/>
                </a:cubicBezTo>
                <a:lnTo>
                  <a:pt x="136187" y="467182"/>
                </a:lnTo>
                <a:cubicBezTo>
                  <a:pt x="129702" y="486637"/>
                  <a:pt x="128107" y="508484"/>
                  <a:pt x="116732" y="525548"/>
                </a:cubicBezTo>
                <a:cubicBezTo>
                  <a:pt x="110247" y="535276"/>
                  <a:pt x="102025" y="544048"/>
                  <a:pt x="97277" y="554731"/>
                </a:cubicBezTo>
                <a:cubicBezTo>
                  <a:pt x="88948" y="573471"/>
                  <a:pt x="84306" y="593642"/>
                  <a:pt x="77821" y="613097"/>
                </a:cubicBezTo>
                <a:cubicBezTo>
                  <a:pt x="74578" y="622825"/>
                  <a:pt x="70581" y="632332"/>
                  <a:pt x="68094" y="642280"/>
                </a:cubicBezTo>
                <a:cubicBezTo>
                  <a:pt x="44379" y="737139"/>
                  <a:pt x="73327" y="618728"/>
                  <a:pt x="48638" y="729829"/>
                </a:cubicBezTo>
                <a:cubicBezTo>
                  <a:pt x="45738" y="742880"/>
                  <a:pt x="41303" y="755586"/>
                  <a:pt x="38911" y="768740"/>
                </a:cubicBezTo>
                <a:cubicBezTo>
                  <a:pt x="34810" y="791298"/>
                  <a:pt x="32213" y="814106"/>
                  <a:pt x="29183" y="836833"/>
                </a:cubicBezTo>
                <a:cubicBezTo>
                  <a:pt x="17037" y="927928"/>
                  <a:pt x="19049" y="919123"/>
                  <a:pt x="9728" y="1021659"/>
                </a:cubicBezTo>
                <a:cubicBezTo>
                  <a:pt x="6485" y="1112450"/>
                  <a:pt x="0" y="1203184"/>
                  <a:pt x="0" y="1294033"/>
                </a:cubicBezTo>
                <a:cubicBezTo>
                  <a:pt x="0" y="1381642"/>
                  <a:pt x="4263" y="1469242"/>
                  <a:pt x="9728" y="1556680"/>
                </a:cubicBezTo>
                <a:cubicBezTo>
                  <a:pt x="10531" y="1569525"/>
                  <a:pt x="24781" y="1628821"/>
                  <a:pt x="29183" y="1644229"/>
                </a:cubicBezTo>
                <a:cubicBezTo>
                  <a:pt x="32000" y="1654088"/>
                  <a:pt x="36424" y="1663464"/>
                  <a:pt x="38911" y="1673412"/>
                </a:cubicBezTo>
                <a:cubicBezTo>
                  <a:pt x="42921" y="1689452"/>
                  <a:pt x="45051" y="1705910"/>
                  <a:pt x="48638" y="1722050"/>
                </a:cubicBezTo>
                <a:cubicBezTo>
                  <a:pt x="51538" y="1735101"/>
                  <a:pt x="55466" y="1747910"/>
                  <a:pt x="58366" y="1760961"/>
                </a:cubicBezTo>
                <a:cubicBezTo>
                  <a:pt x="61953" y="1777101"/>
                  <a:pt x="64507" y="1793459"/>
                  <a:pt x="68094" y="1809599"/>
                </a:cubicBezTo>
                <a:cubicBezTo>
                  <a:pt x="77898" y="1853717"/>
                  <a:pt x="81104" y="1858357"/>
                  <a:pt x="97277" y="1906876"/>
                </a:cubicBezTo>
                <a:cubicBezTo>
                  <a:pt x="100520" y="1916604"/>
                  <a:pt x="99753" y="1928809"/>
                  <a:pt x="107004" y="1936059"/>
                </a:cubicBezTo>
                <a:cubicBezTo>
                  <a:pt x="113489" y="1942544"/>
                  <a:pt x="120731" y="1948352"/>
                  <a:pt x="126460" y="1955514"/>
                </a:cubicBezTo>
                <a:cubicBezTo>
                  <a:pt x="133763" y="1964643"/>
                  <a:pt x="137117" y="1976998"/>
                  <a:pt x="145915" y="1984697"/>
                </a:cubicBezTo>
                <a:cubicBezTo>
                  <a:pt x="145923" y="1984704"/>
                  <a:pt x="218868" y="2033332"/>
                  <a:pt x="233464" y="2043063"/>
                </a:cubicBezTo>
                <a:lnTo>
                  <a:pt x="350196" y="2120884"/>
                </a:lnTo>
                <a:lnTo>
                  <a:pt x="408562" y="2159795"/>
                </a:lnTo>
                <a:cubicBezTo>
                  <a:pt x="418290" y="2163038"/>
                  <a:pt x="428781" y="2164543"/>
                  <a:pt x="437745" y="2169523"/>
                </a:cubicBezTo>
                <a:cubicBezTo>
                  <a:pt x="458185" y="2180878"/>
                  <a:pt x="473929" y="2201039"/>
                  <a:pt x="496111" y="2208433"/>
                </a:cubicBezTo>
                <a:cubicBezTo>
                  <a:pt x="570162" y="2233118"/>
                  <a:pt x="534367" y="2223867"/>
                  <a:pt x="603115" y="2237616"/>
                </a:cubicBezTo>
                <a:cubicBezTo>
                  <a:pt x="700392" y="2234374"/>
                  <a:pt x="797916" y="2235549"/>
                  <a:pt x="894945" y="2227889"/>
                </a:cubicBezTo>
                <a:cubicBezTo>
                  <a:pt x="942849" y="2224107"/>
                  <a:pt x="962687" y="2209924"/>
                  <a:pt x="1001949" y="2198706"/>
                </a:cubicBezTo>
                <a:cubicBezTo>
                  <a:pt x="1014804" y="2195033"/>
                  <a:pt x="1028054" y="2192820"/>
                  <a:pt x="1040860" y="2188978"/>
                </a:cubicBezTo>
                <a:cubicBezTo>
                  <a:pt x="1060503" y="2183085"/>
                  <a:pt x="1079771" y="2176008"/>
                  <a:pt x="1099226" y="2169523"/>
                </a:cubicBezTo>
                <a:lnTo>
                  <a:pt x="1157592" y="2150067"/>
                </a:lnTo>
                <a:cubicBezTo>
                  <a:pt x="1182858" y="2141645"/>
                  <a:pt x="1212136" y="2132523"/>
                  <a:pt x="1235413" y="2120884"/>
                </a:cubicBezTo>
                <a:cubicBezTo>
                  <a:pt x="1245870" y="2115656"/>
                  <a:pt x="1254139" y="2106657"/>
                  <a:pt x="1264596" y="2101429"/>
                </a:cubicBezTo>
                <a:cubicBezTo>
                  <a:pt x="1373716" y="2046871"/>
                  <a:pt x="1191015" y="2153204"/>
                  <a:pt x="1332689" y="2072246"/>
                </a:cubicBezTo>
                <a:cubicBezTo>
                  <a:pt x="1342840" y="2066445"/>
                  <a:pt x="1351188" y="2057539"/>
                  <a:pt x="1361872" y="2052791"/>
                </a:cubicBezTo>
                <a:cubicBezTo>
                  <a:pt x="1380612" y="2044462"/>
                  <a:pt x="1400783" y="2039821"/>
                  <a:pt x="1420238" y="2033336"/>
                </a:cubicBezTo>
                <a:cubicBezTo>
                  <a:pt x="1462174" y="2019357"/>
                  <a:pt x="1472367" y="2015129"/>
                  <a:pt x="1527243" y="2004153"/>
                </a:cubicBezTo>
                <a:cubicBezTo>
                  <a:pt x="1734892" y="1962622"/>
                  <a:pt x="1559351" y="1994756"/>
                  <a:pt x="2062264" y="1984697"/>
                </a:cubicBezTo>
                <a:cubicBezTo>
                  <a:pt x="2084962" y="1981455"/>
                  <a:pt x="2108017" y="1980126"/>
                  <a:pt x="2130358" y="1974970"/>
                </a:cubicBezTo>
                <a:cubicBezTo>
                  <a:pt x="2150340" y="1970359"/>
                  <a:pt x="2168828" y="1960487"/>
                  <a:pt x="2188723" y="1955514"/>
                </a:cubicBezTo>
                <a:lnTo>
                  <a:pt x="2227634" y="1945787"/>
                </a:lnTo>
                <a:cubicBezTo>
                  <a:pt x="2240604" y="1932817"/>
                  <a:pt x="2251283" y="1917051"/>
                  <a:pt x="2266545" y="1906876"/>
                </a:cubicBezTo>
                <a:cubicBezTo>
                  <a:pt x="2286000" y="1893906"/>
                  <a:pt x="2308377" y="1884499"/>
                  <a:pt x="2324911" y="1867965"/>
                </a:cubicBezTo>
                <a:cubicBezTo>
                  <a:pt x="2410170" y="1782706"/>
                  <a:pt x="2305834" y="1890858"/>
                  <a:pt x="2373549" y="1809599"/>
                </a:cubicBezTo>
                <a:cubicBezTo>
                  <a:pt x="2382356" y="1799031"/>
                  <a:pt x="2393925" y="1790984"/>
                  <a:pt x="2402732" y="1780416"/>
                </a:cubicBezTo>
                <a:cubicBezTo>
                  <a:pt x="2424274" y="1754566"/>
                  <a:pt x="2424347" y="1742590"/>
                  <a:pt x="2441643" y="1712323"/>
                </a:cubicBezTo>
                <a:cubicBezTo>
                  <a:pt x="2447444" y="1702172"/>
                  <a:pt x="2456350" y="1693824"/>
                  <a:pt x="2461098" y="1683140"/>
                </a:cubicBezTo>
                <a:cubicBezTo>
                  <a:pt x="2469427" y="1664400"/>
                  <a:pt x="2474068" y="1644229"/>
                  <a:pt x="2480553" y="1624774"/>
                </a:cubicBezTo>
                <a:cubicBezTo>
                  <a:pt x="2483796" y="1615046"/>
                  <a:pt x="2484593" y="1604123"/>
                  <a:pt x="2490281" y="1595591"/>
                </a:cubicBezTo>
                <a:cubicBezTo>
                  <a:pt x="2521111" y="1549346"/>
                  <a:pt x="2506040" y="1577497"/>
                  <a:pt x="2529192" y="1508042"/>
                </a:cubicBezTo>
                <a:lnTo>
                  <a:pt x="2538919" y="1478859"/>
                </a:lnTo>
                <a:cubicBezTo>
                  <a:pt x="2542162" y="1469131"/>
                  <a:pt x="2546160" y="1459624"/>
                  <a:pt x="2548647" y="1449676"/>
                </a:cubicBezTo>
                <a:cubicBezTo>
                  <a:pt x="2551890" y="1436706"/>
                  <a:pt x="2553109" y="1423054"/>
                  <a:pt x="2558375" y="1410765"/>
                </a:cubicBezTo>
                <a:cubicBezTo>
                  <a:pt x="2562980" y="1400019"/>
                  <a:pt x="2573082" y="1392266"/>
                  <a:pt x="2577830" y="1381582"/>
                </a:cubicBezTo>
                <a:cubicBezTo>
                  <a:pt x="2586159" y="1362842"/>
                  <a:pt x="2592311" y="1343111"/>
                  <a:pt x="2597285" y="1323216"/>
                </a:cubicBezTo>
                <a:cubicBezTo>
                  <a:pt x="2600402" y="1310748"/>
                  <a:pt x="2609763" y="1269079"/>
                  <a:pt x="2616741" y="1255123"/>
                </a:cubicBezTo>
                <a:cubicBezTo>
                  <a:pt x="2621969" y="1244666"/>
                  <a:pt x="2629711" y="1235668"/>
                  <a:pt x="2636196" y="1225940"/>
                </a:cubicBezTo>
                <a:lnTo>
                  <a:pt x="2655651" y="1167574"/>
                </a:lnTo>
                <a:cubicBezTo>
                  <a:pt x="2658894" y="1157846"/>
                  <a:pt x="2659691" y="1146923"/>
                  <a:pt x="2665379" y="1138391"/>
                </a:cubicBezTo>
                <a:cubicBezTo>
                  <a:pt x="2714464" y="1064763"/>
                  <a:pt x="2687755" y="1096559"/>
                  <a:pt x="2743200" y="1041114"/>
                </a:cubicBezTo>
                <a:cubicBezTo>
                  <a:pt x="2779634" y="1004680"/>
                  <a:pt x="2759332" y="1016281"/>
                  <a:pt x="2801566" y="1002204"/>
                </a:cubicBezTo>
                <a:cubicBezTo>
                  <a:pt x="2808051" y="995719"/>
                  <a:pt x="2812818" y="986850"/>
                  <a:pt x="2821021" y="982748"/>
                </a:cubicBezTo>
                <a:cubicBezTo>
                  <a:pt x="2839364" y="973577"/>
                  <a:pt x="2859932" y="969778"/>
                  <a:pt x="2879387" y="963293"/>
                </a:cubicBezTo>
                <a:lnTo>
                  <a:pt x="2937753" y="943838"/>
                </a:lnTo>
                <a:cubicBezTo>
                  <a:pt x="2950723" y="940595"/>
                  <a:pt x="2963300" y="934509"/>
                  <a:pt x="2976664" y="934110"/>
                </a:cubicBezTo>
                <a:cubicBezTo>
                  <a:pt x="3180879" y="928014"/>
                  <a:pt x="3385225" y="927625"/>
                  <a:pt x="3589506" y="924382"/>
                </a:cubicBezTo>
                <a:cubicBezTo>
                  <a:pt x="3622948" y="917694"/>
                  <a:pt x="3644993" y="914088"/>
                  <a:pt x="3677055" y="904927"/>
                </a:cubicBezTo>
                <a:cubicBezTo>
                  <a:pt x="3686914" y="902110"/>
                  <a:pt x="3696510" y="898442"/>
                  <a:pt x="3706238" y="895199"/>
                </a:cubicBezTo>
                <a:cubicBezTo>
                  <a:pt x="3753224" y="848216"/>
                  <a:pt x="3693508" y="905385"/>
                  <a:pt x="3754877" y="856289"/>
                </a:cubicBezTo>
                <a:cubicBezTo>
                  <a:pt x="3803007" y="817784"/>
                  <a:pt x="3743229" y="858208"/>
                  <a:pt x="3793787" y="807650"/>
                </a:cubicBezTo>
                <a:cubicBezTo>
                  <a:pt x="3802054" y="799383"/>
                  <a:pt x="3814093" y="795803"/>
                  <a:pt x="3822970" y="788195"/>
                </a:cubicBezTo>
                <a:cubicBezTo>
                  <a:pt x="3836897" y="776258"/>
                  <a:pt x="3848911" y="762254"/>
                  <a:pt x="3861881" y="749284"/>
                </a:cubicBezTo>
                <a:lnTo>
                  <a:pt x="3891064" y="720102"/>
                </a:lnTo>
                <a:lnTo>
                  <a:pt x="3910519" y="700646"/>
                </a:lnTo>
                <a:cubicBezTo>
                  <a:pt x="3934971" y="627293"/>
                  <a:pt x="3901987" y="717710"/>
                  <a:pt x="3939702" y="642280"/>
                </a:cubicBezTo>
                <a:cubicBezTo>
                  <a:pt x="3944288" y="633109"/>
                  <a:pt x="3944844" y="622268"/>
                  <a:pt x="3949430" y="613097"/>
                </a:cubicBezTo>
                <a:cubicBezTo>
                  <a:pt x="3987145" y="537667"/>
                  <a:pt x="3954161" y="628084"/>
                  <a:pt x="3978613" y="554731"/>
                </a:cubicBezTo>
                <a:cubicBezTo>
                  <a:pt x="3981856" y="512578"/>
                  <a:pt x="3988341" y="470550"/>
                  <a:pt x="3988341" y="428272"/>
                </a:cubicBezTo>
                <a:cubicBezTo>
                  <a:pt x="3988341" y="376290"/>
                  <a:pt x="3985636" y="324135"/>
                  <a:pt x="3978613" y="272629"/>
                </a:cubicBezTo>
                <a:cubicBezTo>
                  <a:pt x="3975842" y="252309"/>
                  <a:pt x="3965643" y="233718"/>
                  <a:pt x="3959158" y="214263"/>
                </a:cubicBezTo>
                <a:cubicBezTo>
                  <a:pt x="3955915" y="204535"/>
                  <a:pt x="3955118" y="193612"/>
                  <a:pt x="3949430" y="185080"/>
                </a:cubicBezTo>
                <a:cubicBezTo>
                  <a:pt x="3942555" y="174768"/>
                  <a:pt x="3924382" y="143373"/>
                  <a:pt x="3910519" y="136442"/>
                </a:cubicBezTo>
                <a:cubicBezTo>
                  <a:pt x="3869557" y="115962"/>
                  <a:pt x="3876472" y="113744"/>
                  <a:pt x="3852153" y="107259"/>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808" name="Google Shape;808;p39"/>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809" name="Google Shape;809;p39"/>
          <p:cNvGrpSpPr/>
          <p:nvPr/>
        </p:nvGrpSpPr>
        <p:grpSpPr>
          <a:xfrm>
            <a:off x="1751502" y="1368475"/>
            <a:ext cx="4726714" cy="2331624"/>
            <a:chOff x="-2863816" y="1556555"/>
            <a:chExt cx="3545036" cy="1748718"/>
          </a:xfrm>
        </p:grpSpPr>
        <p:sp>
          <p:nvSpPr>
            <p:cNvPr id="810" name="Google Shape;810;p39"/>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811" name="Google Shape;811;p39"/>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812" name="Google Shape;812;p39"/>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813" name="Google Shape;813;p39"/>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814" name="Google Shape;814;p39"/>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815" name="Google Shape;815;p39"/>
            <p:cNvSpPr/>
            <p:nvPr/>
          </p:nvSpPr>
          <p:spPr>
            <a:xfrm>
              <a:off x="395470" y="18064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816" name="Google Shape;816;p39"/>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817" name="Google Shape;817;p39"/>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818" name="Google Shape;818;p39"/>
            <p:cNvCxnSpPr>
              <a:stCxn id="810" idx="6"/>
              <a:endCxn id="813"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819" name="Google Shape;819;p39"/>
            <p:cNvCxnSpPr>
              <a:stCxn id="813" idx="2"/>
              <a:endCxn id="810"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820" name="Google Shape;820;p39"/>
            <p:cNvCxnSpPr>
              <a:stCxn id="817" idx="2"/>
              <a:endCxn id="816"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21" name="Google Shape;821;p39"/>
            <p:cNvCxnSpPr>
              <a:stCxn id="816" idx="6"/>
              <a:endCxn id="817"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22" name="Google Shape;822;p39"/>
            <p:cNvCxnSpPr>
              <a:stCxn id="810" idx="3"/>
              <a:endCxn id="812"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823" name="Google Shape;823;p39"/>
            <p:cNvCxnSpPr>
              <a:stCxn id="812" idx="6"/>
              <a:endCxn id="813"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824" name="Google Shape;824;p39"/>
            <p:cNvCxnSpPr>
              <a:stCxn id="810" idx="7"/>
              <a:endCxn id="811"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825" name="Google Shape;825;p39"/>
            <p:cNvCxnSpPr>
              <a:stCxn id="811" idx="6"/>
              <a:endCxn id="814"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826" name="Google Shape;826;p39"/>
            <p:cNvCxnSpPr>
              <a:stCxn id="814" idx="6"/>
              <a:endCxn id="815"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827" name="Google Shape;827;p39"/>
            <p:cNvCxnSpPr>
              <a:stCxn id="817" idx="1"/>
              <a:endCxn id="814"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828" name="Google Shape;828;p39"/>
            <p:cNvCxnSpPr>
              <a:stCxn id="815" idx="4"/>
              <a:endCxn id="817"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829" name="Google Shape;829;p39"/>
            <p:cNvCxnSpPr>
              <a:stCxn id="811" idx="5"/>
              <a:endCxn id="816"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830" name="Google Shape;830;p39"/>
            <p:cNvCxnSpPr>
              <a:stCxn id="811" idx="4"/>
              <a:endCxn id="813" idx="0"/>
            </p:cNvCxnSpPr>
            <p:nvPr/>
          </p:nvCxnSpPr>
          <p:spPr>
            <a:xfrm flipH="1">
              <a:off x="-1347755" y="2035076"/>
              <a:ext cx="171600" cy="514500"/>
            </a:xfrm>
            <a:prstGeom prst="straightConnector1">
              <a:avLst/>
            </a:prstGeom>
            <a:noFill/>
            <a:ln w="9525" cap="flat" cmpd="sng">
              <a:solidFill>
                <a:srgbClr val="A5A5A5"/>
              </a:solidFill>
              <a:prstDash val="dash"/>
              <a:round/>
              <a:headEnd type="none" w="med" len="med"/>
              <a:tailEnd type="triangle" w="med" len="med"/>
            </a:ln>
          </p:spPr>
        </p:cxnSp>
        <p:cxnSp>
          <p:nvCxnSpPr>
            <p:cNvPr id="831" name="Google Shape;831;p39"/>
            <p:cNvCxnSpPr>
              <a:stCxn id="813" idx="5"/>
              <a:endCxn id="816"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832" name="Google Shape;832;p39"/>
            <p:cNvCxnSpPr>
              <a:stCxn id="816" idx="3"/>
              <a:endCxn id="812"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833" name="Google Shape;833;p39"/>
            <p:cNvSpPr txBox="1"/>
            <p:nvPr/>
          </p:nvSpPr>
          <p:spPr>
            <a:xfrm>
              <a:off x="-1987629" y="162639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34" name="Google Shape;834;p39"/>
            <p:cNvSpPr txBox="1"/>
            <p:nvPr/>
          </p:nvSpPr>
          <p:spPr>
            <a:xfrm>
              <a:off x="-828619" y="168562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35" name="Google Shape;835;p39"/>
            <p:cNvSpPr txBox="1"/>
            <p:nvPr/>
          </p:nvSpPr>
          <p:spPr>
            <a:xfrm>
              <a:off x="12808" y="1727299"/>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836" name="Google Shape;836;p39"/>
            <p:cNvSpPr txBox="1"/>
            <p:nvPr/>
          </p:nvSpPr>
          <p:spPr>
            <a:xfrm>
              <a:off x="338320" y="214937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837" name="Google Shape;837;p39"/>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838" name="Google Shape;838;p39"/>
            <p:cNvSpPr txBox="1"/>
            <p:nvPr/>
          </p:nvSpPr>
          <p:spPr>
            <a:xfrm>
              <a:off x="-290330" y="214937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839" name="Google Shape;839;p39"/>
            <p:cNvSpPr txBox="1"/>
            <p:nvPr/>
          </p:nvSpPr>
          <p:spPr>
            <a:xfrm>
              <a:off x="-540939" y="2355949"/>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840" name="Google Shape;840;p39"/>
            <p:cNvSpPr txBox="1"/>
            <p:nvPr/>
          </p:nvSpPr>
          <p:spPr>
            <a:xfrm>
              <a:off x="-304254" y="266372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841" name="Google Shape;841;p39"/>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842" name="Google Shape;842;p39"/>
            <p:cNvSpPr txBox="1"/>
            <p:nvPr/>
          </p:nvSpPr>
          <p:spPr>
            <a:xfrm>
              <a:off x="-1709442" y="295902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843" name="Google Shape;843;p39"/>
            <p:cNvSpPr txBox="1"/>
            <p:nvPr/>
          </p:nvSpPr>
          <p:spPr>
            <a:xfrm>
              <a:off x="-1780944" y="193853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844" name="Google Shape;844;p39"/>
            <p:cNvSpPr txBox="1"/>
            <p:nvPr/>
          </p:nvSpPr>
          <p:spPr>
            <a:xfrm>
              <a:off x="-2004884" y="236012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845" name="Google Shape;845;p39"/>
            <p:cNvSpPr txBox="1"/>
            <p:nvPr/>
          </p:nvSpPr>
          <p:spPr>
            <a:xfrm>
              <a:off x="-2246869" y="260420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46" name="Google Shape;846;p39"/>
            <p:cNvSpPr txBox="1"/>
            <p:nvPr/>
          </p:nvSpPr>
          <p:spPr>
            <a:xfrm>
              <a:off x="-2735082" y="2243287"/>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847" name="Google Shape;847;p39"/>
            <p:cNvSpPr txBox="1"/>
            <p:nvPr/>
          </p:nvSpPr>
          <p:spPr>
            <a:xfrm>
              <a:off x="-1338040" y="218509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848" name="Google Shape;848;p39"/>
            <p:cNvSpPr txBox="1"/>
            <p:nvPr/>
          </p:nvSpPr>
          <p:spPr>
            <a:xfrm>
              <a:off x="-1417640" y="1556555"/>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849" name="Google Shape;849;p39"/>
            <p:cNvSpPr txBox="1"/>
            <p:nvPr/>
          </p:nvSpPr>
          <p:spPr>
            <a:xfrm>
              <a:off x="-477173" y="1609371"/>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850" name="Google Shape;850;p39"/>
            <p:cNvSpPr txBox="1"/>
            <p:nvPr/>
          </p:nvSpPr>
          <p:spPr>
            <a:xfrm>
              <a:off x="248635" y="1623328"/>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851" name="Google Shape;851;p39"/>
            <p:cNvSpPr txBox="1"/>
            <p:nvPr/>
          </p:nvSpPr>
          <p:spPr>
            <a:xfrm>
              <a:off x="-1531640" y="2269658"/>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852" name="Google Shape;852;p39"/>
            <p:cNvSpPr txBox="1"/>
            <p:nvPr/>
          </p:nvSpPr>
          <p:spPr>
            <a:xfrm>
              <a:off x="-2863816" y="2543734"/>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853" name="Google Shape;853;p39"/>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854" name="Google Shape;854;p39"/>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855" name="Google Shape;855;p39"/>
            <p:cNvSpPr txBox="1"/>
            <p:nvPr/>
          </p:nvSpPr>
          <p:spPr>
            <a:xfrm>
              <a:off x="-2684397" y="1600695"/>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856" name="Google Shape;856;p39"/>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857" name="Google Shape;857;p39"/>
          <p:cNvGraphicFramePr/>
          <p:nvPr>
            <p:extLst>
              <p:ext uri="{D42A27DB-BD31-4B8C-83A1-F6EECF244321}">
                <p14:modId xmlns:p14="http://schemas.microsoft.com/office/powerpoint/2010/main" val="668846485"/>
              </p:ext>
            </p:extLst>
          </p:nvPr>
        </p:nvGraphicFramePr>
        <p:xfrm>
          <a:off x="6352623" y="2895999"/>
          <a:ext cx="3099132" cy="3840300"/>
        </p:xfrm>
        <a:graphic>
          <a:graphicData uri="http://schemas.openxmlformats.org/drawingml/2006/table">
            <a:tbl>
              <a:tblPr firstRow="1" bandRow="1">
                <a:noFill/>
              </a:tblPr>
              <a:tblGrid>
                <a:gridCol w="1033044">
                  <a:extLst>
                    <a:ext uri="{9D8B030D-6E8A-4147-A177-3AD203B41FA5}">
                      <a16:colId xmlns:a16="http://schemas.microsoft.com/office/drawing/2014/main" val="20000"/>
                    </a:ext>
                  </a:extLst>
                </a:gridCol>
                <a:gridCol w="1033044">
                  <a:extLst>
                    <a:ext uri="{9D8B030D-6E8A-4147-A177-3AD203B41FA5}">
                      <a16:colId xmlns:a16="http://schemas.microsoft.com/office/drawing/2014/main" val="20002"/>
                    </a:ext>
                  </a:extLst>
                </a:gridCol>
                <a:gridCol w="1033044">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7</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dirty="0">
                          <a:solidFill>
                            <a:srgbClr val="FF0000"/>
                          </a:solidFill>
                          <a:latin typeface="Quattrocento Sans"/>
                          <a:ea typeface="Quattrocento Sans"/>
                          <a:cs typeface="Quattrocento Sans"/>
                          <a:sym typeface="Quattrocento Sans"/>
                        </a:rPr>
                        <a:t>F</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858" name="Google Shape;858;p39"/>
          <p:cNvSpPr txBox="1"/>
          <p:nvPr/>
        </p:nvSpPr>
        <p:spPr>
          <a:xfrm>
            <a:off x="1487250" y="4883675"/>
            <a:ext cx="39882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10A676AB-4DEC-4AA0-7E35-08284FED41AA}"/>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H next, since H has the smallest SD of 7 among all unvisited nodes</a:t>
            </a:r>
            <a:endParaRPr lang="en-SE"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64"/>
        <p:cNvGrpSpPr/>
        <p:nvPr/>
      </p:nvGrpSpPr>
      <p:grpSpPr>
        <a:xfrm>
          <a:off x="0" y="0"/>
          <a:ext cx="0" cy="0"/>
          <a:chOff x="0" y="0"/>
          <a:chExt cx="0" cy="0"/>
        </a:xfrm>
      </p:grpSpPr>
      <p:sp>
        <p:nvSpPr>
          <p:cNvPr id="865" name="Google Shape;865;p40"/>
          <p:cNvSpPr/>
          <p:nvPr/>
        </p:nvSpPr>
        <p:spPr>
          <a:xfrm>
            <a:off x="1708765" y="1303506"/>
            <a:ext cx="4983865" cy="2247090"/>
          </a:xfrm>
          <a:custGeom>
            <a:avLst/>
            <a:gdLst/>
            <a:ahLst/>
            <a:cxnLst/>
            <a:rect l="l" t="t" r="r" b="b"/>
            <a:pathLst>
              <a:path w="4983865" h="2247090" extrusionOk="0">
                <a:moveTo>
                  <a:pt x="4828222" y="136188"/>
                </a:moveTo>
                <a:cubicBezTo>
                  <a:pt x="4805524" y="126460"/>
                  <a:pt x="4762975" y="132465"/>
                  <a:pt x="4730946" y="126460"/>
                </a:cubicBezTo>
                <a:cubicBezTo>
                  <a:pt x="4710790" y="122681"/>
                  <a:pt x="4692035" y="113490"/>
                  <a:pt x="4672580" y="107005"/>
                </a:cubicBezTo>
                <a:cubicBezTo>
                  <a:pt x="4662852" y="103762"/>
                  <a:pt x="4653635" y="97846"/>
                  <a:pt x="4643397" y="97277"/>
                </a:cubicBezTo>
                <a:cubicBezTo>
                  <a:pt x="4387295" y="83049"/>
                  <a:pt x="4526708" y="89885"/>
                  <a:pt x="4225107" y="77822"/>
                </a:cubicBezTo>
                <a:lnTo>
                  <a:pt x="4108375" y="68094"/>
                </a:lnTo>
                <a:cubicBezTo>
                  <a:pt x="4082363" y="65493"/>
                  <a:pt x="4056589" y="60733"/>
                  <a:pt x="4030554" y="58366"/>
                </a:cubicBezTo>
                <a:cubicBezTo>
                  <a:pt x="3985230" y="54246"/>
                  <a:pt x="3939786" y="51538"/>
                  <a:pt x="3894367" y="48639"/>
                </a:cubicBezTo>
                <a:lnTo>
                  <a:pt x="3573354" y="29183"/>
                </a:lnTo>
                <a:cubicBezTo>
                  <a:pt x="3550656" y="25941"/>
                  <a:pt x="3527819" y="23557"/>
                  <a:pt x="3505261" y="19456"/>
                </a:cubicBezTo>
                <a:cubicBezTo>
                  <a:pt x="3492107" y="17064"/>
                  <a:pt x="3479585" y="11619"/>
                  <a:pt x="3466350" y="9728"/>
                </a:cubicBezTo>
                <a:cubicBezTo>
                  <a:pt x="3434090" y="5119"/>
                  <a:pt x="3401499" y="3243"/>
                  <a:pt x="3369073" y="0"/>
                </a:cubicBezTo>
                <a:lnTo>
                  <a:pt x="2688137" y="9728"/>
                </a:lnTo>
                <a:cubicBezTo>
                  <a:pt x="2610266" y="11385"/>
                  <a:pt x="2532519" y="16861"/>
                  <a:pt x="2454673" y="19456"/>
                </a:cubicBezTo>
                <a:lnTo>
                  <a:pt x="1647278" y="38911"/>
                </a:lnTo>
                <a:cubicBezTo>
                  <a:pt x="1596446" y="45265"/>
                  <a:pt x="1532400" y="53632"/>
                  <a:pt x="1481907" y="58366"/>
                </a:cubicBezTo>
                <a:cubicBezTo>
                  <a:pt x="1407374" y="65354"/>
                  <a:pt x="1332013" y="65515"/>
                  <a:pt x="1258171" y="77822"/>
                </a:cubicBezTo>
                <a:lnTo>
                  <a:pt x="1083073" y="107005"/>
                </a:lnTo>
                <a:cubicBezTo>
                  <a:pt x="1063618" y="110247"/>
                  <a:pt x="1043842" y="111948"/>
                  <a:pt x="1024707" y="116732"/>
                </a:cubicBezTo>
                <a:cubicBezTo>
                  <a:pt x="1011737" y="119975"/>
                  <a:pt x="998951" y="124068"/>
                  <a:pt x="985797" y="126460"/>
                </a:cubicBezTo>
                <a:cubicBezTo>
                  <a:pt x="927233" y="137108"/>
                  <a:pt x="767185" y="152570"/>
                  <a:pt x="742605" y="155643"/>
                </a:cubicBezTo>
                <a:lnTo>
                  <a:pt x="664784" y="165371"/>
                </a:lnTo>
                <a:cubicBezTo>
                  <a:pt x="468428" y="193421"/>
                  <a:pt x="774706" y="154061"/>
                  <a:pt x="528597" y="184826"/>
                </a:cubicBezTo>
                <a:cubicBezTo>
                  <a:pt x="518869" y="188069"/>
                  <a:pt x="509273" y="191737"/>
                  <a:pt x="499414" y="194554"/>
                </a:cubicBezTo>
                <a:cubicBezTo>
                  <a:pt x="486559" y="198227"/>
                  <a:pt x="472791" y="199015"/>
                  <a:pt x="460503" y="204281"/>
                </a:cubicBezTo>
                <a:cubicBezTo>
                  <a:pt x="449757" y="208886"/>
                  <a:pt x="441777" y="218508"/>
                  <a:pt x="431320" y="223737"/>
                </a:cubicBezTo>
                <a:cubicBezTo>
                  <a:pt x="422149" y="228323"/>
                  <a:pt x="411865" y="230222"/>
                  <a:pt x="402137" y="233464"/>
                </a:cubicBezTo>
                <a:cubicBezTo>
                  <a:pt x="395652" y="239949"/>
                  <a:pt x="390313" y="247833"/>
                  <a:pt x="382682" y="252920"/>
                </a:cubicBezTo>
                <a:cubicBezTo>
                  <a:pt x="370616" y="260964"/>
                  <a:pt x="356362" y="265181"/>
                  <a:pt x="343771" y="272375"/>
                </a:cubicBezTo>
                <a:cubicBezTo>
                  <a:pt x="333620" y="278175"/>
                  <a:pt x="324316" y="285345"/>
                  <a:pt x="314588" y="291830"/>
                </a:cubicBezTo>
                <a:cubicBezTo>
                  <a:pt x="279871" y="343906"/>
                  <a:pt x="303400" y="312746"/>
                  <a:pt x="236767" y="379379"/>
                </a:cubicBezTo>
                <a:lnTo>
                  <a:pt x="207584" y="408562"/>
                </a:lnTo>
                <a:lnTo>
                  <a:pt x="178401" y="437745"/>
                </a:lnTo>
                <a:cubicBezTo>
                  <a:pt x="161305" y="489032"/>
                  <a:pt x="179972" y="447532"/>
                  <a:pt x="139490" y="496111"/>
                </a:cubicBezTo>
                <a:cubicBezTo>
                  <a:pt x="106320" y="535915"/>
                  <a:pt x="132298" y="516629"/>
                  <a:pt x="100580" y="564205"/>
                </a:cubicBezTo>
                <a:cubicBezTo>
                  <a:pt x="95493" y="571836"/>
                  <a:pt x="87609" y="577175"/>
                  <a:pt x="81124" y="583660"/>
                </a:cubicBezTo>
                <a:cubicBezTo>
                  <a:pt x="77882" y="593388"/>
                  <a:pt x="76673" y="604050"/>
                  <a:pt x="71397" y="612843"/>
                </a:cubicBezTo>
                <a:cubicBezTo>
                  <a:pt x="66678" y="620707"/>
                  <a:pt x="55347" y="623783"/>
                  <a:pt x="51941" y="632298"/>
                </a:cubicBezTo>
                <a:cubicBezTo>
                  <a:pt x="42010" y="657125"/>
                  <a:pt x="40942" y="684753"/>
                  <a:pt x="32486" y="710120"/>
                </a:cubicBezTo>
                <a:lnTo>
                  <a:pt x="13031" y="768485"/>
                </a:lnTo>
                <a:cubicBezTo>
                  <a:pt x="9788" y="794426"/>
                  <a:pt x="3303" y="820164"/>
                  <a:pt x="3303" y="846307"/>
                </a:cubicBezTo>
                <a:cubicBezTo>
                  <a:pt x="3303" y="1352791"/>
                  <a:pt x="-11853" y="1226583"/>
                  <a:pt x="22758" y="1468877"/>
                </a:cubicBezTo>
                <a:cubicBezTo>
                  <a:pt x="26001" y="1524000"/>
                  <a:pt x="28140" y="1579200"/>
                  <a:pt x="32486" y="1634247"/>
                </a:cubicBezTo>
                <a:cubicBezTo>
                  <a:pt x="37869" y="1702437"/>
                  <a:pt x="40695" y="1771057"/>
                  <a:pt x="51941" y="1838528"/>
                </a:cubicBezTo>
                <a:cubicBezTo>
                  <a:pt x="58515" y="1877972"/>
                  <a:pt x="60513" y="1899524"/>
                  <a:pt x="71397" y="1935805"/>
                </a:cubicBezTo>
                <a:cubicBezTo>
                  <a:pt x="77290" y="1955448"/>
                  <a:pt x="84367" y="1974716"/>
                  <a:pt x="90852" y="1994171"/>
                </a:cubicBezTo>
                <a:cubicBezTo>
                  <a:pt x="94095" y="2003899"/>
                  <a:pt x="92048" y="2017666"/>
                  <a:pt x="100580" y="2023354"/>
                </a:cubicBezTo>
                <a:cubicBezTo>
                  <a:pt x="204852" y="2092867"/>
                  <a:pt x="46608" y="1984617"/>
                  <a:pt x="158946" y="2071992"/>
                </a:cubicBezTo>
                <a:cubicBezTo>
                  <a:pt x="209121" y="2111017"/>
                  <a:pt x="202463" y="2105954"/>
                  <a:pt x="246495" y="2120630"/>
                </a:cubicBezTo>
                <a:cubicBezTo>
                  <a:pt x="256223" y="2127115"/>
                  <a:pt x="264995" y="2135337"/>
                  <a:pt x="275678" y="2140085"/>
                </a:cubicBezTo>
                <a:cubicBezTo>
                  <a:pt x="294418" y="2148414"/>
                  <a:pt x="316981" y="2148165"/>
                  <a:pt x="334044" y="2159541"/>
                </a:cubicBezTo>
                <a:cubicBezTo>
                  <a:pt x="380290" y="2190372"/>
                  <a:pt x="352134" y="2175298"/>
                  <a:pt x="421592" y="2198451"/>
                </a:cubicBezTo>
                <a:cubicBezTo>
                  <a:pt x="431320" y="2201694"/>
                  <a:pt x="440827" y="2205692"/>
                  <a:pt x="450775" y="2208179"/>
                </a:cubicBezTo>
                <a:cubicBezTo>
                  <a:pt x="492420" y="2218591"/>
                  <a:pt x="493031" y="2219399"/>
                  <a:pt x="538324" y="2227634"/>
                </a:cubicBezTo>
                <a:cubicBezTo>
                  <a:pt x="557730" y="2231162"/>
                  <a:pt x="577101" y="2235057"/>
                  <a:pt x="596690" y="2237362"/>
                </a:cubicBezTo>
                <a:cubicBezTo>
                  <a:pt x="632260" y="2241547"/>
                  <a:pt x="668027" y="2243847"/>
                  <a:pt x="703695" y="2247090"/>
                </a:cubicBezTo>
                <a:lnTo>
                  <a:pt x="1170622" y="2237362"/>
                </a:lnTo>
                <a:cubicBezTo>
                  <a:pt x="1231061" y="2235164"/>
                  <a:pt x="1228653" y="2227702"/>
                  <a:pt x="1277626" y="2217907"/>
                </a:cubicBezTo>
                <a:cubicBezTo>
                  <a:pt x="1296967" y="2214039"/>
                  <a:pt x="1316586" y="2211707"/>
                  <a:pt x="1335992" y="2208179"/>
                </a:cubicBezTo>
                <a:cubicBezTo>
                  <a:pt x="1359480" y="2203908"/>
                  <a:pt x="1399527" y="2195928"/>
                  <a:pt x="1423541" y="2188724"/>
                </a:cubicBezTo>
                <a:cubicBezTo>
                  <a:pt x="1443184" y="2182831"/>
                  <a:pt x="1461797" y="2173290"/>
                  <a:pt x="1481907" y="2169268"/>
                </a:cubicBezTo>
                <a:cubicBezTo>
                  <a:pt x="1514333" y="2162783"/>
                  <a:pt x="1547813" y="2160270"/>
                  <a:pt x="1579184" y="2149813"/>
                </a:cubicBezTo>
                <a:lnTo>
                  <a:pt x="1637550" y="2130358"/>
                </a:lnTo>
                <a:cubicBezTo>
                  <a:pt x="1647278" y="2127115"/>
                  <a:pt x="1656785" y="2123117"/>
                  <a:pt x="1666733" y="2120630"/>
                </a:cubicBezTo>
                <a:cubicBezTo>
                  <a:pt x="1692673" y="2114145"/>
                  <a:pt x="1719187" y="2109630"/>
                  <a:pt x="1744554" y="2101175"/>
                </a:cubicBezTo>
                <a:lnTo>
                  <a:pt x="1890469" y="2052537"/>
                </a:lnTo>
                <a:lnTo>
                  <a:pt x="1978018" y="2023354"/>
                </a:lnTo>
                <a:cubicBezTo>
                  <a:pt x="1987746" y="2020111"/>
                  <a:pt x="1997146" y="2015637"/>
                  <a:pt x="2007201" y="2013626"/>
                </a:cubicBezTo>
                <a:cubicBezTo>
                  <a:pt x="2034955" y="2008075"/>
                  <a:pt x="2067287" y="2002410"/>
                  <a:pt x="2094750" y="1994171"/>
                </a:cubicBezTo>
                <a:cubicBezTo>
                  <a:pt x="2114393" y="1988278"/>
                  <a:pt x="2133661" y="1981200"/>
                  <a:pt x="2153116" y="1974715"/>
                </a:cubicBezTo>
                <a:lnTo>
                  <a:pt x="2182299" y="1964988"/>
                </a:lnTo>
                <a:cubicBezTo>
                  <a:pt x="2201754" y="1952018"/>
                  <a:pt x="2227695" y="1945532"/>
                  <a:pt x="2240665" y="1926077"/>
                </a:cubicBezTo>
                <a:cubicBezTo>
                  <a:pt x="2247150" y="1916349"/>
                  <a:pt x="2251853" y="1905161"/>
                  <a:pt x="2260120" y="1896894"/>
                </a:cubicBezTo>
                <a:cubicBezTo>
                  <a:pt x="2268387" y="1888627"/>
                  <a:pt x="2280174" y="1884742"/>
                  <a:pt x="2289303" y="1877439"/>
                </a:cubicBezTo>
                <a:cubicBezTo>
                  <a:pt x="2296465" y="1871710"/>
                  <a:pt x="2301596" y="1863712"/>
                  <a:pt x="2308758" y="1857983"/>
                </a:cubicBezTo>
                <a:cubicBezTo>
                  <a:pt x="2370127" y="1808887"/>
                  <a:pt x="2310411" y="1866056"/>
                  <a:pt x="2357397" y="1819073"/>
                </a:cubicBezTo>
                <a:cubicBezTo>
                  <a:pt x="2360639" y="1809345"/>
                  <a:pt x="2361849" y="1798683"/>
                  <a:pt x="2367124" y="1789890"/>
                </a:cubicBezTo>
                <a:cubicBezTo>
                  <a:pt x="2371843" y="1782025"/>
                  <a:pt x="2380708" y="1777480"/>
                  <a:pt x="2386580" y="1770434"/>
                </a:cubicBezTo>
                <a:cubicBezTo>
                  <a:pt x="2406693" y="1746299"/>
                  <a:pt x="2418369" y="1727615"/>
                  <a:pt x="2435218" y="1702341"/>
                </a:cubicBezTo>
                <a:cubicBezTo>
                  <a:pt x="2460952" y="1599406"/>
                  <a:pt x="2426013" y="1720622"/>
                  <a:pt x="2464401" y="1634247"/>
                </a:cubicBezTo>
                <a:cubicBezTo>
                  <a:pt x="2472730" y="1615507"/>
                  <a:pt x="2477371" y="1595336"/>
                  <a:pt x="2483856" y="1575881"/>
                </a:cubicBezTo>
                <a:cubicBezTo>
                  <a:pt x="2487099" y="1566153"/>
                  <a:pt x="2488998" y="1555869"/>
                  <a:pt x="2493584" y="1546698"/>
                </a:cubicBezTo>
                <a:cubicBezTo>
                  <a:pt x="2522209" y="1489449"/>
                  <a:pt x="2508456" y="1521540"/>
                  <a:pt x="2532495" y="1449422"/>
                </a:cubicBezTo>
                <a:lnTo>
                  <a:pt x="2571405" y="1332690"/>
                </a:lnTo>
                <a:lnTo>
                  <a:pt x="2581133" y="1303507"/>
                </a:lnTo>
                <a:cubicBezTo>
                  <a:pt x="2584376" y="1293779"/>
                  <a:pt x="2585173" y="1282856"/>
                  <a:pt x="2590861" y="1274324"/>
                </a:cubicBezTo>
                <a:cubicBezTo>
                  <a:pt x="2597346" y="1264596"/>
                  <a:pt x="2605088" y="1255598"/>
                  <a:pt x="2610316" y="1245141"/>
                </a:cubicBezTo>
                <a:cubicBezTo>
                  <a:pt x="2614902" y="1235970"/>
                  <a:pt x="2613638" y="1223965"/>
                  <a:pt x="2620044" y="1215958"/>
                </a:cubicBezTo>
                <a:cubicBezTo>
                  <a:pt x="2627347" y="1206829"/>
                  <a:pt x="2640428" y="1204202"/>
                  <a:pt x="2649226" y="1196503"/>
                </a:cubicBezTo>
                <a:cubicBezTo>
                  <a:pt x="2666481" y="1181404"/>
                  <a:pt x="2678787" y="1160582"/>
                  <a:pt x="2697865" y="1147864"/>
                </a:cubicBezTo>
                <a:lnTo>
                  <a:pt x="2756231" y="1108954"/>
                </a:lnTo>
                <a:cubicBezTo>
                  <a:pt x="2765959" y="1102469"/>
                  <a:pt x="2774323" y="1093195"/>
                  <a:pt x="2785414" y="1089498"/>
                </a:cubicBezTo>
                <a:cubicBezTo>
                  <a:pt x="2804869" y="1083013"/>
                  <a:pt x="2826716" y="1081418"/>
                  <a:pt x="2843780" y="1070043"/>
                </a:cubicBezTo>
                <a:cubicBezTo>
                  <a:pt x="2853508" y="1063558"/>
                  <a:pt x="2862506" y="1055816"/>
                  <a:pt x="2872963" y="1050588"/>
                </a:cubicBezTo>
                <a:cubicBezTo>
                  <a:pt x="2886919" y="1043610"/>
                  <a:pt x="2928588" y="1034249"/>
                  <a:pt x="2941056" y="1031132"/>
                </a:cubicBezTo>
                <a:lnTo>
                  <a:pt x="3339890" y="1040860"/>
                </a:lnTo>
                <a:cubicBezTo>
                  <a:pt x="3385372" y="1042514"/>
                  <a:pt x="3430566" y="1050588"/>
                  <a:pt x="3476078" y="1050588"/>
                </a:cubicBezTo>
                <a:cubicBezTo>
                  <a:pt x="3787380" y="1050588"/>
                  <a:pt x="4098648" y="1044103"/>
                  <a:pt x="4409933" y="1040860"/>
                </a:cubicBezTo>
                <a:cubicBezTo>
                  <a:pt x="4448353" y="1035371"/>
                  <a:pt x="4488744" y="1030885"/>
                  <a:pt x="4526665" y="1021405"/>
                </a:cubicBezTo>
                <a:cubicBezTo>
                  <a:pt x="4536613" y="1018918"/>
                  <a:pt x="4545900" y="1014164"/>
                  <a:pt x="4555848" y="1011677"/>
                </a:cubicBezTo>
                <a:cubicBezTo>
                  <a:pt x="4611362" y="997798"/>
                  <a:pt x="4593487" y="1007195"/>
                  <a:pt x="4643397" y="992222"/>
                </a:cubicBezTo>
                <a:cubicBezTo>
                  <a:pt x="4663040" y="986329"/>
                  <a:pt x="4682308" y="979251"/>
                  <a:pt x="4701763" y="972766"/>
                </a:cubicBezTo>
                <a:lnTo>
                  <a:pt x="4730946" y="963039"/>
                </a:lnTo>
                <a:cubicBezTo>
                  <a:pt x="4766935" y="927048"/>
                  <a:pt x="4742768" y="948673"/>
                  <a:pt x="4808767" y="904673"/>
                </a:cubicBezTo>
                <a:cubicBezTo>
                  <a:pt x="4846484" y="879528"/>
                  <a:pt x="4826856" y="888915"/>
                  <a:pt x="4867133" y="875490"/>
                </a:cubicBezTo>
                <a:cubicBezTo>
                  <a:pt x="4923736" y="818885"/>
                  <a:pt x="4844685" y="900483"/>
                  <a:pt x="4906044" y="826851"/>
                </a:cubicBezTo>
                <a:cubicBezTo>
                  <a:pt x="4914851" y="816283"/>
                  <a:pt x="4925499" y="807396"/>
                  <a:pt x="4935226" y="797668"/>
                </a:cubicBezTo>
                <a:lnTo>
                  <a:pt x="4964409" y="710120"/>
                </a:lnTo>
                <a:cubicBezTo>
                  <a:pt x="4967652" y="700392"/>
                  <a:pt x="4971650" y="690885"/>
                  <a:pt x="4974137" y="680937"/>
                </a:cubicBezTo>
                <a:lnTo>
                  <a:pt x="4983865" y="642026"/>
                </a:lnTo>
                <a:cubicBezTo>
                  <a:pt x="4982214" y="602396"/>
                  <a:pt x="4984689" y="431316"/>
                  <a:pt x="4964409" y="350196"/>
                </a:cubicBezTo>
                <a:cubicBezTo>
                  <a:pt x="4959435" y="330301"/>
                  <a:pt x="4951439" y="311285"/>
                  <a:pt x="4944954" y="291830"/>
                </a:cubicBezTo>
                <a:cubicBezTo>
                  <a:pt x="4934818" y="261421"/>
                  <a:pt x="4924984" y="223392"/>
                  <a:pt x="4896316" y="204281"/>
                </a:cubicBezTo>
                <a:cubicBezTo>
                  <a:pt x="4886588" y="197796"/>
                  <a:pt x="4877590" y="190054"/>
                  <a:pt x="4867133" y="184826"/>
                </a:cubicBezTo>
                <a:cubicBezTo>
                  <a:pt x="4822420" y="162470"/>
                  <a:pt x="4850920" y="145916"/>
                  <a:pt x="4828222" y="13618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866" name="Google Shape;866;p40"/>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867" name="Google Shape;867;p40"/>
          <p:cNvGrpSpPr/>
          <p:nvPr/>
        </p:nvGrpSpPr>
        <p:grpSpPr>
          <a:xfrm>
            <a:off x="1751501" y="1368475"/>
            <a:ext cx="4726715" cy="2331624"/>
            <a:chOff x="-2863816" y="1556555"/>
            <a:chExt cx="3545036" cy="1748718"/>
          </a:xfrm>
        </p:grpSpPr>
        <p:sp>
          <p:nvSpPr>
            <p:cNvPr id="868" name="Google Shape;868;p40"/>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869" name="Google Shape;869;p40"/>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870" name="Google Shape;870;p40"/>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871" name="Google Shape;871;p40"/>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872" name="Google Shape;872;p40"/>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873" name="Google Shape;873;p40"/>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874" name="Google Shape;874;p40"/>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875" name="Google Shape;875;p40"/>
            <p:cNvSpPr/>
            <p:nvPr/>
          </p:nvSpPr>
          <p:spPr>
            <a:xfrm>
              <a:off x="-61730" y="23779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876" name="Google Shape;876;p40"/>
            <p:cNvCxnSpPr>
              <a:stCxn id="868" idx="6"/>
              <a:endCxn id="871"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877" name="Google Shape;877;p40"/>
            <p:cNvCxnSpPr>
              <a:stCxn id="871" idx="2"/>
              <a:endCxn id="868"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878" name="Google Shape;878;p40"/>
            <p:cNvCxnSpPr>
              <a:stCxn id="875" idx="2"/>
              <a:endCxn id="874"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79" name="Google Shape;879;p40"/>
            <p:cNvCxnSpPr>
              <a:stCxn id="874" idx="6"/>
              <a:endCxn id="875"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80" name="Google Shape;880;p40"/>
            <p:cNvCxnSpPr>
              <a:stCxn id="868" idx="3"/>
              <a:endCxn id="870"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881" name="Google Shape;881;p40"/>
            <p:cNvCxnSpPr>
              <a:stCxn id="870" idx="6"/>
              <a:endCxn id="871"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882" name="Google Shape;882;p40"/>
            <p:cNvCxnSpPr>
              <a:stCxn id="868" idx="7"/>
              <a:endCxn id="869"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883" name="Google Shape;883;p40"/>
            <p:cNvCxnSpPr>
              <a:stCxn id="869" idx="6"/>
              <a:endCxn id="872"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884" name="Google Shape;884;p40"/>
            <p:cNvCxnSpPr>
              <a:stCxn id="872" idx="6"/>
              <a:endCxn id="873"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885" name="Google Shape;885;p40"/>
            <p:cNvCxnSpPr>
              <a:stCxn id="875" idx="1"/>
              <a:endCxn id="872"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886" name="Google Shape;886;p40"/>
            <p:cNvCxnSpPr>
              <a:stCxn id="873" idx="4"/>
              <a:endCxn id="875"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887" name="Google Shape;887;p40"/>
            <p:cNvCxnSpPr>
              <a:stCxn id="869" idx="5"/>
              <a:endCxn id="874"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888" name="Google Shape;888;p40"/>
            <p:cNvCxnSpPr>
              <a:stCxn id="869" idx="4"/>
              <a:endCxn id="871"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889" name="Google Shape;889;p40"/>
            <p:cNvCxnSpPr>
              <a:stCxn id="871" idx="5"/>
              <a:endCxn id="874"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890" name="Google Shape;890;p40"/>
            <p:cNvCxnSpPr>
              <a:stCxn id="874" idx="3"/>
              <a:endCxn id="870"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891" name="Google Shape;891;p40"/>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92" name="Google Shape;892;p40"/>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93" name="Google Shape;893;p40"/>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894" name="Google Shape;894;p40"/>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895" name="Google Shape;895;p40"/>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896" name="Google Shape;896;p40"/>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897" name="Google Shape;897;p40"/>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898" name="Google Shape;898;p40"/>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899" name="Google Shape;899;p40"/>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900" name="Google Shape;900;p40"/>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901" name="Google Shape;901;p40"/>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02" name="Google Shape;902;p40"/>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903" name="Google Shape;903;p40"/>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04" name="Google Shape;904;p40"/>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905" name="Google Shape;905;p40"/>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906" name="Google Shape;906;p40"/>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907" name="Google Shape;907;p40"/>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08" name="Google Shape;908;p40"/>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909" name="Google Shape;909;p40"/>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910" name="Google Shape;910;p40"/>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11" name="Google Shape;911;p40"/>
            <p:cNvSpPr txBox="1"/>
            <p:nvPr/>
          </p:nvSpPr>
          <p:spPr>
            <a:xfrm>
              <a:off x="-122920" y="2169351"/>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912" name="Google Shape;912;p40"/>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913" name="Google Shape;913;p40"/>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914" name="Google Shape;914;p40"/>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915" name="Google Shape;915;p40"/>
          <p:cNvGraphicFramePr/>
          <p:nvPr>
            <p:extLst>
              <p:ext uri="{D42A27DB-BD31-4B8C-83A1-F6EECF244321}">
                <p14:modId xmlns:p14="http://schemas.microsoft.com/office/powerpoint/2010/main" val="2332620964"/>
              </p:ext>
            </p:extLst>
          </p:nvPr>
        </p:nvGraphicFramePr>
        <p:xfrm>
          <a:off x="6531915"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0</a:t>
                      </a:r>
                      <a:endParaRPr sz="2000"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2</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C</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B</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8</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dirty="0">
                          <a:solidFill>
                            <a:srgbClr val="FF0000"/>
                          </a:solidFill>
                          <a:latin typeface="Quattrocento Sans"/>
                          <a:ea typeface="Quattrocento Sans"/>
                          <a:cs typeface="Quattrocento Sans"/>
                          <a:sym typeface="Quattrocento Sans"/>
                        </a:rPr>
                        <a:t>H</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916" name="Google Shape;916;p40"/>
          <p:cNvSpPr txBox="1"/>
          <p:nvPr/>
        </p:nvSpPr>
        <p:spPr>
          <a:xfrm>
            <a:off x="1538648" y="4883675"/>
            <a:ext cx="39372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1EDF7B7A-AB89-25A9-D9EF-68E594B772F5}"/>
              </a:ext>
            </a:extLst>
          </p:cNvPr>
          <p:cNvSpPr txBox="1"/>
          <p:nvPr/>
        </p:nvSpPr>
        <p:spPr>
          <a:xfrm>
            <a:off x="938279" y="5850403"/>
            <a:ext cx="4983865"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G next, since G has the smallest SD of 8 among all unvisited nodes</a:t>
            </a:r>
            <a:endParaRPr lang="en-SE"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22"/>
        <p:cNvGrpSpPr/>
        <p:nvPr/>
      </p:nvGrpSpPr>
      <p:grpSpPr>
        <a:xfrm>
          <a:off x="0" y="0"/>
          <a:ext cx="0" cy="0"/>
          <a:chOff x="0" y="0"/>
          <a:chExt cx="0" cy="0"/>
        </a:xfrm>
      </p:grpSpPr>
      <p:sp>
        <p:nvSpPr>
          <p:cNvPr id="923" name="Google Shape;923;p41"/>
          <p:cNvSpPr/>
          <p:nvPr/>
        </p:nvSpPr>
        <p:spPr>
          <a:xfrm>
            <a:off x="1731523" y="1264596"/>
            <a:ext cx="5107022" cy="2383276"/>
          </a:xfrm>
          <a:custGeom>
            <a:avLst/>
            <a:gdLst/>
            <a:ahLst/>
            <a:cxnLst/>
            <a:rect l="l" t="t" r="r" b="b"/>
            <a:pathLst>
              <a:path w="5107022" h="2383276" extrusionOk="0">
                <a:moveTo>
                  <a:pt x="3317132" y="29183"/>
                </a:moveTo>
                <a:cubicBezTo>
                  <a:pt x="3180945" y="25941"/>
                  <a:pt x="3172648" y="50931"/>
                  <a:pt x="2636196" y="29183"/>
                </a:cubicBezTo>
                <a:cubicBezTo>
                  <a:pt x="2596781" y="27585"/>
                  <a:pt x="2558896" y="10822"/>
                  <a:pt x="2519464" y="9727"/>
                </a:cubicBezTo>
                <a:lnTo>
                  <a:pt x="2169268" y="0"/>
                </a:lnTo>
                <a:lnTo>
                  <a:pt x="1235413" y="19455"/>
                </a:lnTo>
                <a:cubicBezTo>
                  <a:pt x="1183999" y="23264"/>
                  <a:pt x="1075917" y="32497"/>
                  <a:pt x="1021405" y="38910"/>
                </a:cubicBezTo>
                <a:cubicBezTo>
                  <a:pt x="998634" y="41589"/>
                  <a:pt x="976038" y="45608"/>
                  <a:pt x="953311" y="48638"/>
                </a:cubicBezTo>
                <a:cubicBezTo>
                  <a:pt x="927398" y="52093"/>
                  <a:pt x="901277" y="54068"/>
                  <a:pt x="875490" y="58366"/>
                </a:cubicBezTo>
                <a:cubicBezTo>
                  <a:pt x="862302" y="60564"/>
                  <a:pt x="849630" y="65193"/>
                  <a:pt x="836579" y="68093"/>
                </a:cubicBezTo>
                <a:cubicBezTo>
                  <a:pt x="807957" y="74453"/>
                  <a:pt x="745373" y="86389"/>
                  <a:pt x="719847" y="87549"/>
                </a:cubicBezTo>
                <a:cubicBezTo>
                  <a:pt x="599953" y="92999"/>
                  <a:pt x="479898" y="94034"/>
                  <a:pt x="359924" y="97276"/>
                </a:cubicBezTo>
                <a:cubicBezTo>
                  <a:pt x="213153" y="126631"/>
                  <a:pt x="396077" y="89243"/>
                  <a:pt x="272375" y="116732"/>
                </a:cubicBezTo>
                <a:cubicBezTo>
                  <a:pt x="256235" y="120319"/>
                  <a:pt x="239950" y="123217"/>
                  <a:pt x="223737" y="126459"/>
                </a:cubicBezTo>
                <a:cubicBezTo>
                  <a:pt x="204282" y="139429"/>
                  <a:pt x="181905" y="148836"/>
                  <a:pt x="165371" y="165370"/>
                </a:cubicBezTo>
                <a:cubicBezTo>
                  <a:pt x="152401" y="178340"/>
                  <a:pt x="136635" y="189019"/>
                  <a:pt x="126460" y="204281"/>
                </a:cubicBezTo>
                <a:cubicBezTo>
                  <a:pt x="101918" y="241095"/>
                  <a:pt x="115272" y="225197"/>
                  <a:pt x="87549" y="252919"/>
                </a:cubicBezTo>
                <a:cubicBezTo>
                  <a:pt x="46568" y="375870"/>
                  <a:pt x="114930" y="179303"/>
                  <a:pt x="58366" y="311285"/>
                </a:cubicBezTo>
                <a:cubicBezTo>
                  <a:pt x="53100" y="323573"/>
                  <a:pt x="52481" y="337390"/>
                  <a:pt x="48639" y="350195"/>
                </a:cubicBezTo>
                <a:cubicBezTo>
                  <a:pt x="42746" y="369838"/>
                  <a:pt x="33205" y="388451"/>
                  <a:pt x="29183" y="408561"/>
                </a:cubicBezTo>
                <a:cubicBezTo>
                  <a:pt x="25941" y="424774"/>
                  <a:pt x="21794" y="440832"/>
                  <a:pt x="19456" y="457200"/>
                </a:cubicBezTo>
                <a:cubicBezTo>
                  <a:pt x="8917" y="530976"/>
                  <a:pt x="5287" y="606919"/>
                  <a:pt x="0" y="680936"/>
                </a:cubicBezTo>
                <a:cubicBezTo>
                  <a:pt x="3243" y="778213"/>
                  <a:pt x="4427" y="875580"/>
                  <a:pt x="9728" y="972766"/>
                </a:cubicBezTo>
                <a:cubicBezTo>
                  <a:pt x="14157" y="1053968"/>
                  <a:pt x="25490" y="1134718"/>
                  <a:pt x="29183" y="1215957"/>
                </a:cubicBezTo>
                <a:cubicBezTo>
                  <a:pt x="35000" y="1343927"/>
                  <a:pt x="45313" y="1559837"/>
                  <a:pt x="48639" y="1682885"/>
                </a:cubicBezTo>
                <a:cubicBezTo>
                  <a:pt x="52845" y="1838505"/>
                  <a:pt x="49731" y="1994376"/>
                  <a:pt x="58366" y="2149813"/>
                </a:cubicBezTo>
                <a:cubicBezTo>
                  <a:pt x="60266" y="2184011"/>
                  <a:pt x="91057" y="2245017"/>
                  <a:pt x="126460" y="2256817"/>
                </a:cubicBezTo>
                <a:lnTo>
                  <a:pt x="155643" y="2266544"/>
                </a:lnTo>
                <a:cubicBezTo>
                  <a:pt x="193644" y="2304547"/>
                  <a:pt x="153769" y="2270471"/>
                  <a:pt x="204281" y="2295727"/>
                </a:cubicBezTo>
                <a:cubicBezTo>
                  <a:pt x="214738" y="2300956"/>
                  <a:pt x="223007" y="2309954"/>
                  <a:pt x="233464" y="2315183"/>
                </a:cubicBezTo>
                <a:cubicBezTo>
                  <a:pt x="247415" y="2322158"/>
                  <a:pt x="289097" y="2331523"/>
                  <a:pt x="301558" y="2334638"/>
                </a:cubicBezTo>
                <a:cubicBezTo>
                  <a:pt x="352332" y="2368486"/>
                  <a:pt x="310471" y="2346346"/>
                  <a:pt x="389107" y="2363821"/>
                </a:cubicBezTo>
                <a:cubicBezTo>
                  <a:pt x="399117" y="2366045"/>
                  <a:pt x="408431" y="2370732"/>
                  <a:pt x="418290" y="2373549"/>
                </a:cubicBezTo>
                <a:cubicBezTo>
                  <a:pt x="431145" y="2377222"/>
                  <a:pt x="444230" y="2380034"/>
                  <a:pt x="457200" y="2383276"/>
                </a:cubicBezTo>
                <a:lnTo>
                  <a:pt x="807396" y="2373549"/>
                </a:lnTo>
                <a:cubicBezTo>
                  <a:pt x="827097" y="2372611"/>
                  <a:pt x="846476" y="2367954"/>
                  <a:pt x="865762" y="2363821"/>
                </a:cubicBezTo>
                <a:cubicBezTo>
                  <a:pt x="891907" y="2358218"/>
                  <a:pt x="917643" y="2350851"/>
                  <a:pt x="943583" y="2344366"/>
                </a:cubicBezTo>
                <a:cubicBezTo>
                  <a:pt x="956553" y="2341123"/>
                  <a:pt x="969384" y="2337260"/>
                  <a:pt x="982494" y="2334638"/>
                </a:cubicBezTo>
                <a:cubicBezTo>
                  <a:pt x="1101464" y="2310843"/>
                  <a:pt x="978064" y="2337615"/>
                  <a:pt x="1060315" y="2315183"/>
                </a:cubicBezTo>
                <a:cubicBezTo>
                  <a:pt x="1086112" y="2308148"/>
                  <a:pt x="1112770" y="2304182"/>
                  <a:pt x="1138137" y="2295727"/>
                </a:cubicBezTo>
                <a:cubicBezTo>
                  <a:pt x="1147865" y="2292485"/>
                  <a:pt x="1157461" y="2288817"/>
                  <a:pt x="1167320" y="2286000"/>
                </a:cubicBezTo>
                <a:cubicBezTo>
                  <a:pt x="1180175" y="2282327"/>
                  <a:pt x="1193375" y="2279945"/>
                  <a:pt x="1206230" y="2276272"/>
                </a:cubicBezTo>
                <a:cubicBezTo>
                  <a:pt x="1216089" y="2273455"/>
                  <a:pt x="1225554" y="2269361"/>
                  <a:pt x="1235413" y="2266544"/>
                </a:cubicBezTo>
                <a:cubicBezTo>
                  <a:pt x="1248268" y="2262871"/>
                  <a:pt x="1261469" y="2260490"/>
                  <a:pt x="1274324" y="2256817"/>
                </a:cubicBezTo>
                <a:cubicBezTo>
                  <a:pt x="1284183" y="2254000"/>
                  <a:pt x="1293648" y="2249906"/>
                  <a:pt x="1303507" y="2247089"/>
                </a:cubicBezTo>
                <a:cubicBezTo>
                  <a:pt x="1316362" y="2243416"/>
                  <a:pt x="1329562" y="2241034"/>
                  <a:pt x="1342417" y="2237361"/>
                </a:cubicBezTo>
                <a:cubicBezTo>
                  <a:pt x="1352276" y="2234544"/>
                  <a:pt x="1361741" y="2230451"/>
                  <a:pt x="1371600" y="2227634"/>
                </a:cubicBezTo>
                <a:cubicBezTo>
                  <a:pt x="1384455" y="2223961"/>
                  <a:pt x="1397656" y="2221579"/>
                  <a:pt x="1410511" y="2217906"/>
                </a:cubicBezTo>
                <a:cubicBezTo>
                  <a:pt x="1508159" y="2190006"/>
                  <a:pt x="1357015" y="2228846"/>
                  <a:pt x="1478605" y="2198451"/>
                </a:cubicBezTo>
                <a:cubicBezTo>
                  <a:pt x="1491575" y="2191966"/>
                  <a:pt x="1503758" y="2183581"/>
                  <a:pt x="1517515" y="2178995"/>
                </a:cubicBezTo>
                <a:cubicBezTo>
                  <a:pt x="1581556" y="2157648"/>
                  <a:pt x="1556308" y="2183921"/>
                  <a:pt x="1624520" y="2149813"/>
                </a:cubicBezTo>
                <a:cubicBezTo>
                  <a:pt x="1637490" y="2143328"/>
                  <a:pt x="1649852" y="2135449"/>
                  <a:pt x="1663430" y="2130357"/>
                </a:cubicBezTo>
                <a:cubicBezTo>
                  <a:pt x="1675948" y="2125663"/>
                  <a:pt x="1689486" y="2124303"/>
                  <a:pt x="1702341" y="2120630"/>
                </a:cubicBezTo>
                <a:cubicBezTo>
                  <a:pt x="1712200" y="2117813"/>
                  <a:pt x="1721576" y="2113389"/>
                  <a:pt x="1731524" y="2110902"/>
                </a:cubicBezTo>
                <a:cubicBezTo>
                  <a:pt x="1747564" y="2106892"/>
                  <a:pt x="1764211" y="2105524"/>
                  <a:pt x="1780162" y="2101174"/>
                </a:cubicBezTo>
                <a:cubicBezTo>
                  <a:pt x="1799947" y="2095778"/>
                  <a:pt x="1818633" y="2086693"/>
                  <a:pt x="1838528" y="2081719"/>
                </a:cubicBezTo>
                <a:cubicBezTo>
                  <a:pt x="1897331" y="2067018"/>
                  <a:pt x="1864760" y="2076218"/>
                  <a:pt x="1935805" y="2052536"/>
                </a:cubicBezTo>
                <a:lnTo>
                  <a:pt x="1994171" y="2033081"/>
                </a:lnTo>
                <a:cubicBezTo>
                  <a:pt x="2081940" y="2011138"/>
                  <a:pt x="2046625" y="2022080"/>
                  <a:pt x="2101175" y="2003898"/>
                </a:cubicBezTo>
                <a:cubicBezTo>
                  <a:pt x="2144822" y="1960249"/>
                  <a:pt x="2092988" y="2006284"/>
                  <a:pt x="2149813" y="1974715"/>
                </a:cubicBezTo>
                <a:cubicBezTo>
                  <a:pt x="2170253" y="1963360"/>
                  <a:pt x="2187265" y="1946261"/>
                  <a:pt x="2208179" y="1935804"/>
                </a:cubicBezTo>
                <a:lnTo>
                  <a:pt x="2247090" y="1916349"/>
                </a:lnTo>
                <a:cubicBezTo>
                  <a:pt x="2253575" y="1909864"/>
                  <a:pt x="2259208" y="1902396"/>
                  <a:pt x="2266545" y="1896893"/>
                </a:cubicBezTo>
                <a:cubicBezTo>
                  <a:pt x="2327158" y="1851433"/>
                  <a:pt x="2314001" y="1870318"/>
                  <a:pt x="2363822" y="1828800"/>
                </a:cubicBezTo>
                <a:cubicBezTo>
                  <a:pt x="2370868" y="1822929"/>
                  <a:pt x="2376115" y="1815073"/>
                  <a:pt x="2383277" y="1809344"/>
                </a:cubicBezTo>
                <a:cubicBezTo>
                  <a:pt x="2392406" y="1802041"/>
                  <a:pt x="2403479" y="1797373"/>
                  <a:pt x="2412460" y="1789889"/>
                </a:cubicBezTo>
                <a:cubicBezTo>
                  <a:pt x="2423028" y="1781082"/>
                  <a:pt x="2430197" y="1768337"/>
                  <a:pt x="2441643" y="1760706"/>
                </a:cubicBezTo>
                <a:cubicBezTo>
                  <a:pt x="2450175" y="1755018"/>
                  <a:pt x="2461655" y="1755564"/>
                  <a:pt x="2470826" y="1750978"/>
                </a:cubicBezTo>
                <a:cubicBezTo>
                  <a:pt x="2481283" y="1745750"/>
                  <a:pt x="2489552" y="1736751"/>
                  <a:pt x="2500009" y="1731523"/>
                </a:cubicBezTo>
                <a:cubicBezTo>
                  <a:pt x="2558067" y="1702495"/>
                  <a:pt x="2537141" y="1718743"/>
                  <a:pt x="2597286" y="1702340"/>
                </a:cubicBezTo>
                <a:cubicBezTo>
                  <a:pt x="2617071" y="1696944"/>
                  <a:pt x="2636196" y="1689370"/>
                  <a:pt x="2655651" y="1682885"/>
                </a:cubicBezTo>
                <a:lnTo>
                  <a:pt x="2714017" y="1663430"/>
                </a:lnTo>
                <a:cubicBezTo>
                  <a:pt x="2723745" y="1660187"/>
                  <a:pt x="2733049" y="1655152"/>
                  <a:pt x="2743200" y="1653702"/>
                </a:cubicBezTo>
                <a:lnTo>
                  <a:pt x="2811294" y="1643974"/>
                </a:lnTo>
                <a:cubicBezTo>
                  <a:pt x="2928026" y="1647217"/>
                  <a:pt x="3044866" y="1647721"/>
                  <a:pt x="3161490" y="1653702"/>
                </a:cubicBezTo>
                <a:cubicBezTo>
                  <a:pt x="3171730" y="1654227"/>
                  <a:pt x="3180814" y="1660613"/>
                  <a:pt x="3190673" y="1663430"/>
                </a:cubicBezTo>
                <a:cubicBezTo>
                  <a:pt x="3203528" y="1667103"/>
                  <a:pt x="3216778" y="1669315"/>
                  <a:pt x="3229583" y="1673157"/>
                </a:cubicBezTo>
                <a:cubicBezTo>
                  <a:pt x="3249226" y="1679050"/>
                  <a:pt x="3267543" y="1690573"/>
                  <a:pt x="3287949" y="1692613"/>
                </a:cubicBezTo>
                <a:lnTo>
                  <a:pt x="3385226" y="1702340"/>
                </a:lnTo>
                <a:cubicBezTo>
                  <a:pt x="3417652" y="1708825"/>
                  <a:pt x="3451132" y="1711338"/>
                  <a:pt x="3482503" y="1721795"/>
                </a:cubicBezTo>
                <a:lnTo>
                  <a:pt x="3570051" y="1750978"/>
                </a:lnTo>
                <a:cubicBezTo>
                  <a:pt x="3579779" y="1754221"/>
                  <a:pt x="3589286" y="1758219"/>
                  <a:pt x="3599234" y="1760706"/>
                </a:cubicBezTo>
                <a:cubicBezTo>
                  <a:pt x="3612204" y="1763949"/>
                  <a:pt x="3625290" y="1766761"/>
                  <a:pt x="3638145" y="1770434"/>
                </a:cubicBezTo>
                <a:cubicBezTo>
                  <a:pt x="3680791" y="1782618"/>
                  <a:pt x="3688423" y="1793315"/>
                  <a:pt x="3745149" y="1799617"/>
                </a:cubicBezTo>
                <a:cubicBezTo>
                  <a:pt x="3852301" y="1811522"/>
                  <a:pt x="3803735" y="1804517"/>
                  <a:pt x="3891064" y="1819072"/>
                </a:cubicBezTo>
                <a:cubicBezTo>
                  <a:pt x="3972128" y="1815829"/>
                  <a:pt x="4053460" y="1816689"/>
                  <a:pt x="4134256" y="1809344"/>
                </a:cubicBezTo>
                <a:cubicBezTo>
                  <a:pt x="4164430" y="1806601"/>
                  <a:pt x="4208797" y="1790982"/>
                  <a:pt x="4241260" y="1780161"/>
                </a:cubicBezTo>
                <a:cubicBezTo>
                  <a:pt x="4247745" y="1770433"/>
                  <a:pt x="4253016" y="1759776"/>
                  <a:pt x="4260715" y="1750978"/>
                </a:cubicBezTo>
                <a:cubicBezTo>
                  <a:pt x="4275814" y="1733723"/>
                  <a:pt x="4309354" y="1702340"/>
                  <a:pt x="4309354" y="1702340"/>
                </a:cubicBezTo>
                <a:cubicBezTo>
                  <a:pt x="4312596" y="1692612"/>
                  <a:pt x="4312929" y="1681360"/>
                  <a:pt x="4319081" y="1673157"/>
                </a:cubicBezTo>
                <a:cubicBezTo>
                  <a:pt x="4377625" y="1595099"/>
                  <a:pt x="4347807" y="1648023"/>
                  <a:pt x="4396903" y="1605064"/>
                </a:cubicBezTo>
                <a:cubicBezTo>
                  <a:pt x="4487951" y="1525396"/>
                  <a:pt x="4409054" y="1580749"/>
                  <a:pt x="4474724" y="1536970"/>
                </a:cubicBezTo>
                <a:cubicBezTo>
                  <a:pt x="4477966" y="1527242"/>
                  <a:pt x="4478491" y="1516131"/>
                  <a:pt x="4484451" y="1507787"/>
                </a:cubicBezTo>
                <a:cubicBezTo>
                  <a:pt x="4495112" y="1492861"/>
                  <a:pt x="4510392" y="1481846"/>
                  <a:pt x="4523362" y="1468876"/>
                </a:cubicBezTo>
                <a:cubicBezTo>
                  <a:pt x="4592692" y="1399546"/>
                  <a:pt x="4517821" y="1478232"/>
                  <a:pt x="4572000" y="1410510"/>
                </a:cubicBezTo>
                <a:cubicBezTo>
                  <a:pt x="4577729" y="1403348"/>
                  <a:pt x="4585953" y="1398392"/>
                  <a:pt x="4591456" y="1391055"/>
                </a:cubicBezTo>
                <a:cubicBezTo>
                  <a:pt x="4643488" y="1321679"/>
                  <a:pt x="4604923" y="1341170"/>
                  <a:pt x="4659549" y="1322961"/>
                </a:cubicBezTo>
                <a:cubicBezTo>
                  <a:pt x="4706535" y="1275978"/>
                  <a:pt x="4646819" y="1333147"/>
                  <a:pt x="4708188" y="1284051"/>
                </a:cubicBezTo>
                <a:cubicBezTo>
                  <a:pt x="4715350" y="1278322"/>
                  <a:pt x="4719779" y="1269314"/>
                  <a:pt x="4727643" y="1264595"/>
                </a:cubicBezTo>
                <a:cubicBezTo>
                  <a:pt x="4736436" y="1259319"/>
                  <a:pt x="4747098" y="1258110"/>
                  <a:pt x="4756826" y="1254868"/>
                </a:cubicBezTo>
                <a:cubicBezTo>
                  <a:pt x="4763311" y="1245140"/>
                  <a:pt x="4767152" y="1232988"/>
                  <a:pt x="4776281" y="1225685"/>
                </a:cubicBezTo>
                <a:cubicBezTo>
                  <a:pt x="4828649" y="1183790"/>
                  <a:pt x="4785258" y="1249385"/>
                  <a:pt x="4824920" y="1196502"/>
                </a:cubicBezTo>
                <a:cubicBezTo>
                  <a:pt x="4838949" y="1177796"/>
                  <a:pt x="4847296" y="1154670"/>
                  <a:pt x="4863830" y="1138136"/>
                </a:cubicBezTo>
                <a:cubicBezTo>
                  <a:pt x="4876800" y="1125166"/>
                  <a:pt x="4892566" y="1114487"/>
                  <a:pt x="4902741" y="1099225"/>
                </a:cubicBezTo>
                <a:cubicBezTo>
                  <a:pt x="4915711" y="1079770"/>
                  <a:pt x="4925117" y="1057393"/>
                  <a:pt x="4941651" y="1040859"/>
                </a:cubicBezTo>
                <a:cubicBezTo>
                  <a:pt x="4957864" y="1024646"/>
                  <a:pt x="4977572" y="1011299"/>
                  <a:pt x="4990290" y="992221"/>
                </a:cubicBezTo>
                <a:cubicBezTo>
                  <a:pt x="5003260" y="972766"/>
                  <a:pt x="5012666" y="950388"/>
                  <a:pt x="5029200" y="933855"/>
                </a:cubicBezTo>
                <a:cubicBezTo>
                  <a:pt x="5045372" y="917684"/>
                  <a:pt x="5058293" y="907307"/>
                  <a:pt x="5068111" y="885217"/>
                </a:cubicBezTo>
                <a:cubicBezTo>
                  <a:pt x="5076440" y="866477"/>
                  <a:pt x="5081081" y="846306"/>
                  <a:pt x="5087566" y="826851"/>
                </a:cubicBezTo>
                <a:lnTo>
                  <a:pt x="5097294" y="797668"/>
                </a:lnTo>
                <a:lnTo>
                  <a:pt x="5107022" y="768485"/>
                </a:lnTo>
                <a:cubicBezTo>
                  <a:pt x="5102383" y="647874"/>
                  <a:pt x="5116869" y="574332"/>
                  <a:pt x="5087566" y="476655"/>
                </a:cubicBezTo>
                <a:cubicBezTo>
                  <a:pt x="5081673" y="457012"/>
                  <a:pt x="5079486" y="435353"/>
                  <a:pt x="5068111" y="418289"/>
                </a:cubicBezTo>
                <a:cubicBezTo>
                  <a:pt x="5061626" y="408561"/>
                  <a:pt x="5053884" y="399563"/>
                  <a:pt x="5048656" y="389106"/>
                </a:cubicBezTo>
                <a:cubicBezTo>
                  <a:pt x="5044070" y="379935"/>
                  <a:pt x="5045223" y="368017"/>
                  <a:pt x="5038928" y="359923"/>
                </a:cubicBezTo>
                <a:cubicBezTo>
                  <a:pt x="4969224" y="270304"/>
                  <a:pt x="5004760" y="326586"/>
                  <a:pt x="4951379" y="282102"/>
                </a:cubicBezTo>
                <a:cubicBezTo>
                  <a:pt x="4940811" y="273295"/>
                  <a:pt x="4932764" y="261726"/>
                  <a:pt x="4922196" y="252919"/>
                </a:cubicBezTo>
                <a:cubicBezTo>
                  <a:pt x="4913215" y="245435"/>
                  <a:pt x="4902142" y="240767"/>
                  <a:pt x="4893013" y="233464"/>
                </a:cubicBezTo>
                <a:cubicBezTo>
                  <a:pt x="4885851" y="227735"/>
                  <a:pt x="4881189" y="219095"/>
                  <a:pt x="4873558" y="214008"/>
                </a:cubicBezTo>
                <a:cubicBezTo>
                  <a:pt x="4861492" y="205964"/>
                  <a:pt x="4847238" y="201747"/>
                  <a:pt x="4834647" y="194553"/>
                </a:cubicBezTo>
                <a:cubicBezTo>
                  <a:pt x="4824496" y="188753"/>
                  <a:pt x="4816147" y="179846"/>
                  <a:pt x="4805464" y="175098"/>
                </a:cubicBezTo>
                <a:cubicBezTo>
                  <a:pt x="4749248" y="150113"/>
                  <a:pt x="4731116" y="156800"/>
                  <a:pt x="4669277" y="136187"/>
                </a:cubicBezTo>
                <a:lnTo>
                  <a:pt x="4610911" y="116732"/>
                </a:lnTo>
                <a:cubicBezTo>
                  <a:pt x="4601183" y="113489"/>
                  <a:pt x="4591879" y="108454"/>
                  <a:pt x="4581728" y="107004"/>
                </a:cubicBezTo>
                <a:lnTo>
                  <a:pt x="4513634" y="97276"/>
                </a:lnTo>
                <a:lnTo>
                  <a:pt x="4435813" y="87549"/>
                </a:lnTo>
                <a:cubicBezTo>
                  <a:pt x="4334838" y="73124"/>
                  <a:pt x="4391852" y="72799"/>
                  <a:pt x="4241260" y="68093"/>
                </a:cubicBezTo>
                <a:cubicBezTo>
                  <a:pt x="4079179" y="63028"/>
                  <a:pt x="3917005" y="61608"/>
                  <a:pt x="3754877" y="58366"/>
                </a:cubicBezTo>
                <a:cubicBezTo>
                  <a:pt x="3715966" y="55123"/>
                  <a:pt x="3676923" y="53200"/>
                  <a:pt x="3638145" y="48638"/>
                </a:cubicBezTo>
                <a:cubicBezTo>
                  <a:pt x="3621724" y="46706"/>
                  <a:pt x="3606041" y="38910"/>
                  <a:pt x="3589507" y="38910"/>
                </a:cubicBezTo>
                <a:cubicBezTo>
                  <a:pt x="3543996" y="38910"/>
                  <a:pt x="3498716" y="45395"/>
                  <a:pt x="3453320" y="48638"/>
                </a:cubicBezTo>
                <a:cubicBezTo>
                  <a:pt x="3358565" y="38109"/>
                  <a:pt x="3453319" y="32425"/>
                  <a:pt x="3317132" y="29183"/>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24" name="Google Shape;924;p41"/>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925" name="Google Shape;925;p41"/>
          <p:cNvGrpSpPr/>
          <p:nvPr/>
        </p:nvGrpSpPr>
        <p:grpSpPr>
          <a:xfrm>
            <a:off x="1751501" y="1368475"/>
            <a:ext cx="4726715" cy="2331624"/>
            <a:chOff x="-2863816" y="1556555"/>
            <a:chExt cx="3545036" cy="1748718"/>
          </a:xfrm>
        </p:grpSpPr>
        <p:sp>
          <p:nvSpPr>
            <p:cNvPr id="926" name="Google Shape;926;p41"/>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927" name="Google Shape;927;p41"/>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928" name="Google Shape;928;p41"/>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929" name="Google Shape;929;p41"/>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930" name="Google Shape;930;p41"/>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931" name="Google Shape;931;p41"/>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932" name="Google Shape;932;p41"/>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933" name="Google Shape;933;p41"/>
            <p:cNvSpPr/>
            <p:nvPr/>
          </p:nvSpPr>
          <p:spPr>
            <a:xfrm>
              <a:off x="-61730" y="23779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G</a:t>
              </a:r>
              <a:endParaRPr/>
            </a:p>
          </p:txBody>
        </p:sp>
        <p:cxnSp>
          <p:nvCxnSpPr>
            <p:cNvPr id="934" name="Google Shape;934;p41"/>
            <p:cNvCxnSpPr>
              <a:stCxn id="926" idx="6"/>
              <a:endCxn id="929"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935" name="Google Shape;935;p41"/>
            <p:cNvCxnSpPr>
              <a:stCxn id="929" idx="2"/>
              <a:endCxn id="926"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936" name="Google Shape;936;p41"/>
            <p:cNvCxnSpPr>
              <a:stCxn id="933" idx="2"/>
              <a:endCxn id="932" idx="0"/>
            </p:cNvCxnSpPr>
            <p:nvPr/>
          </p:nvCxnSpPr>
          <p:spPr>
            <a:xfrm flipH="1">
              <a:off x="-661730" y="25208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937" name="Google Shape;937;p41"/>
            <p:cNvCxnSpPr>
              <a:stCxn id="932" idx="6"/>
              <a:endCxn id="933"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938" name="Google Shape;938;p41"/>
            <p:cNvCxnSpPr>
              <a:stCxn id="926" idx="3"/>
              <a:endCxn id="928"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939" name="Google Shape;939;p41"/>
            <p:cNvCxnSpPr>
              <a:stCxn id="928" idx="6"/>
              <a:endCxn id="929"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940" name="Google Shape;940;p41"/>
            <p:cNvCxnSpPr>
              <a:stCxn id="926" idx="7"/>
              <a:endCxn id="927"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941" name="Google Shape;941;p41"/>
            <p:cNvCxnSpPr>
              <a:stCxn id="927" idx="6"/>
              <a:endCxn id="930"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942" name="Google Shape;942;p41"/>
            <p:cNvCxnSpPr>
              <a:stCxn id="930" idx="6"/>
              <a:endCxn id="931"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943" name="Google Shape;943;p41"/>
            <p:cNvCxnSpPr>
              <a:stCxn id="933" idx="1"/>
              <a:endCxn id="930" idx="4"/>
            </p:cNvCxnSpPr>
            <p:nvPr/>
          </p:nvCxnSpPr>
          <p:spPr>
            <a:xfrm rot="10800000">
              <a:off x="-204683" y="2092223"/>
              <a:ext cx="184800" cy="327600"/>
            </a:xfrm>
            <a:prstGeom prst="straightConnector1">
              <a:avLst/>
            </a:prstGeom>
            <a:noFill/>
            <a:ln w="9525" cap="flat" cmpd="sng">
              <a:solidFill>
                <a:srgbClr val="A5A5A5"/>
              </a:solidFill>
              <a:prstDash val="dash"/>
              <a:round/>
              <a:headEnd type="none" w="med" len="med"/>
              <a:tailEnd type="triangle" w="med" len="med"/>
            </a:ln>
          </p:spPr>
        </p:cxnSp>
        <p:cxnSp>
          <p:nvCxnSpPr>
            <p:cNvPr id="944" name="Google Shape;944;p41"/>
            <p:cNvCxnSpPr>
              <a:stCxn id="931" idx="4"/>
              <a:endCxn id="933"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945" name="Google Shape;945;p41"/>
            <p:cNvCxnSpPr>
              <a:stCxn id="927" idx="5"/>
              <a:endCxn id="932"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946" name="Google Shape;946;p41"/>
            <p:cNvCxnSpPr>
              <a:stCxn id="927" idx="4"/>
              <a:endCxn id="929"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947" name="Google Shape;947;p41"/>
            <p:cNvCxnSpPr>
              <a:stCxn id="929" idx="5"/>
              <a:endCxn id="932"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948" name="Google Shape;948;p41"/>
            <p:cNvCxnSpPr>
              <a:stCxn id="932" idx="3"/>
              <a:endCxn id="928"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949" name="Google Shape;949;p41"/>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50" name="Google Shape;950;p41"/>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51" name="Google Shape;951;p41"/>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952" name="Google Shape;952;p41"/>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53" name="Google Shape;953;p41"/>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954" name="Google Shape;954;p41"/>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55" name="Google Shape;955;p41"/>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956" name="Google Shape;956;p41"/>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957" name="Google Shape;957;p41"/>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958" name="Google Shape;958;p41"/>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959" name="Google Shape;959;p41"/>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60" name="Google Shape;960;p41"/>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961" name="Google Shape;961;p41"/>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62" name="Google Shape;962;p41"/>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963" name="Google Shape;963;p41"/>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964" name="Google Shape;964;p41"/>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965" name="Google Shape;965;p41"/>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66" name="Google Shape;966;p41"/>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967" name="Google Shape;967;p41"/>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968" name="Google Shape;968;p41"/>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69" name="Google Shape;969;p41"/>
            <p:cNvSpPr txBox="1"/>
            <p:nvPr/>
          </p:nvSpPr>
          <p:spPr>
            <a:xfrm>
              <a:off x="-122920" y="216935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970" name="Google Shape;970;p41"/>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11??</a:t>
              </a:r>
              <a:endParaRPr sz="2000">
                <a:solidFill>
                  <a:srgbClr val="FF0000"/>
                </a:solidFill>
                <a:latin typeface="Calibri"/>
                <a:ea typeface="Calibri"/>
                <a:cs typeface="Calibri"/>
                <a:sym typeface="Calibri"/>
              </a:endParaRPr>
            </a:p>
          </p:txBody>
        </p:sp>
        <p:sp>
          <p:nvSpPr>
            <p:cNvPr id="971" name="Google Shape;971;p41"/>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972" name="Google Shape;972;p41"/>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973" name="Google Shape;973;p41"/>
          <p:cNvGraphicFramePr/>
          <p:nvPr>
            <p:extLst>
              <p:ext uri="{D42A27DB-BD31-4B8C-83A1-F6EECF244321}">
                <p14:modId xmlns:p14="http://schemas.microsoft.com/office/powerpoint/2010/main" val="3612185643"/>
              </p:ext>
            </p:extLst>
          </p:nvPr>
        </p:nvGraphicFramePr>
        <p:xfrm>
          <a:off x="6538625" y="2895999"/>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12</a:t>
                      </a:r>
                      <a:r>
                        <a:rPr lang="en-US" sz="2000" b="0" i="0" u="none" strike="noStrike" cap="none" dirty="0">
                          <a:solidFill>
                            <a:schemeClr val="tx1"/>
                          </a:solidFill>
                          <a:latin typeface="Quattrocento Sans"/>
                          <a:ea typeface="Quattrocento Sans"/>
                          <a:cs typeface="Quattrocento Sans"/>
                          <a:sym typeface="Quattrocento Sans"/>
                        </a:rPr>
                        <a:t> 11</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C</a:t>
                      </a:r>
                      <a:r>
                        <a:rPr lang="en-US" sz="2000" b="0" dirty="0">
                          <a:solidFill>
                            <a:schemeClr val="tx1"/>
                          </a:solidFill>
                          <a:latin typeface="Quattrocento Sans"/>
                          <a:ea typeface="Quattrocento Sans"/>
                          <a:cs typeface="Quattrocento Sans"/>
                          <a:sym typeface="Quattrocento Sans"/>
                        </a:rPr>
                        <a:t> G</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noStrike" cap="none" dirty="0">
                          <a:solidFill>
                            <a:schemeClr val="tx1"/>
                          </a:solidFill>
                          <a:latin typeface="Quattrocento Sans"/>
                          <a:ea typeface="Quattrocento Sans"/>
                          <a:cs typeface="Quattrocento Sans"/>
                          <a:sym typeface="Quattrocento Sans"/>
                        </a:rPr>
                        <a:t>8</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dirty="0">
                          <a:solidFill>
                            <a:schemeClr val="tx1"/>
                          </a:solidFill>
                          <a:latin typeface="Quattrocento Sans"/>
                          <a:ea typeface="Quattrocento Sans"/>
                          <a:cs typeface="Quattrocento Sans"/>
                          <a:sym typeface="Quattrocento Sans"/>
                        </a:rPr>
                        <a:t>H</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974" name="Google Shape;974;p41"/>
          <p:cNvSpPr txBox="1"/>
          <p:nvPr/>
        </p:nvSpPr>
        <p:spPr>
          <a:xfrm>
            <a:off x="1516675" y="4883675"/>
            <a:ext cx="39594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 G</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FEDD2974-6232-607C-47D2-6EBCBA81A5AE}"/>
              </a:ext>
            </a:extLst>
          </p:cNvPr>
          <p:cNvSpPr txBox="1"/>
          <p:nvPr/>
        </p:nvSpPr>
        <p:spPr>
          <a:xfrm>
            <a:off x="745988" y="5822739"/>
            <a:ext cx="5299878"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found a shortcut to E going through G, so we update SD and PN for E. Visit E next, since it is the last unvisited node</a:t>
            </a:r>
            <a:endParaRPr lang="en-SE"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42"/>
          <p:cNvSpPr/>
          <p:nvPr/>
        </p:nvSpPr>
        <p:spPr>
          <a:xfrm>
            <a:off x="1741251" y="1361872"/>
            <a:ext cx="4893013" cy="2402732"/>
          </a:xfrm>
          <a:custGeom>
            <a:avLst/>
            <a:gdLst/>
            <a:ahLst/>
            <a:cxnLst/>
            <a:rect l="l" t="t" r="r" b="b"/>
            <a:pathLst>
              <a:path w="4893013" h="2402732" extrusionOk="0">
                <a:moveTo>
                  <a:pt x="4056434" y="58366"/>
                </a:moveTo>
                <a:cubicBezTo>
                  <a:pt x="3817251" y="92536"/>
                  <a:pt x="3993865" y="71004"/>
                  <a:pt x="3463047" y="58366"/>
                </a:cubicBezTo>
                <a:lnTo>
                  <a:pt x="3171217" y="48639"/>
                </a:lnTo>
                <a:lnTo>
                  <a:pt x="2441643" y="38911"/>
                </a:lnTo>
                <a:cubicBezTo>
                  <a:pt x="2057186" y="16295"/>
                  <a:pt x="2534342" y="43325"/>
                  <a:pt x="2033081" y="19456"/>
                </a:cubicBezTo>
                <a:cubicBezTo>
                  <a:pt x="1977925" y="16830"/>
                  <a:pt x="1922925" y="10414"/>
                  <a:pt x="1867711" y="9728"/>
                </a:cubicBezTo>
                <a:lnTo>
                  <a:pt x="466928" y="0"/>
                </a:lnTo>
                <a:cubicBezTo>
                  <a:pt x="402077" y="3243"/>
                  <a:pt x="337063" y="4103"/>
                  <a:pt x="272375" y="9728"/>
                </a:cubicBezTo>
                <a:cubicBezTo>
                  <a:pt x="262160" y="10616"/>
                  <a:pt x="252156" y="14476"/>
                  <a:pt x="243192" y="19456"/>
                </a:cubicBezTo>
                <a:cubicBezTo>
                  <a:pt x="210045" y="37871"/>
                  <a:pt x="157922" y="74401"/>
                  <a:pt x="136187" y="107005"/>
                </a:cubicBezTo>
                <a:cubicBezTo>
                  <a:pt x="129702" y="116733"/>
                  <a:pt x="121480" y="125504"/>
                  <a:pt x="116732" y="136188"/>
                </a:cubicBezTo>
                <a:cubicBezTo>
                  <a:pt x="70430" y="240369"/>
                  <a:pt x="121850" y="157695"/>
                  <a:pt x="77821" y="223737"/>
                </a:cubicBezTo>
                <a:lnTo>
                  <a:pt x="58366" y="282102"/>
                </a:lnTo>
                <a:lnTo>
                  <a:pt x="48638" y="311285"/>
                </a:lnTo>
                <a:cubicBezTo>
                  <a:pt x="19338" y="516398"/>
                  <a:pt x="38535" y="362822"/>
                  <a:pt x="29183" y="797668"/>
                </a:cubicBezTo>
                <a:cubicBezTo>
                  <a:pt x="25696" y="959791"/>
                  <a:pt x="25141" y="1121991"/>
                  <a:pt x="19455" y="1284051"/>
                </a:cubicBezTo>
                <a:cubicBezTo>
                  <a:pt x="18651" y="1306965"/>
                  <a:pt x="12260" y="1329357"/>
                  <a:pt x="9728" y="1352145"/>
                </a:cubicBezTo>
                <a:cubicBezTo>
                  <a:pt x="5773" y="1387741"/>
                  <a:pt x="3243" y="1423481"/>
                  <a:pt x="0" y="1459149"/>
                </a:cubicBezTo>
                <a:cubicBezTo>
                  <a:pt x="3243" y="1595336"/>
                  <a:pt x="3936" y="1731608"/>
                  <a:pt x="9728" y="1867711"/>
                </a:cubicBezTo>
                <a:cubicBezTo>
                  <a:pt x="9946" y="1872840"/>
                  <a:pt x="25254" y="1946092"/>
                  <a:pt x="29183" y="1955260"/>
                </a:cubicBezTo>
                <a:cubicBezTo>
                  <a:pt x="33788" y="1966006"/>
                  <a:pt x="42838" y="1974292"/>
                  <a:pt x="48638" y="1984443"/>
                </a:cubicBezTo>
                <a:cubicBezTo>
                  <a:pt x="69106" y="2020263"/>
                  <a:pt x="75278" y="2049993"/>
                  <a:pt x="107004" y="2081719"/>
                </a:cubicBezTo>
                <a:cubicBezTo>
                  <a:pt x="140114" y="2114829"/>
                  <a:pt x="156387" y="2135687"/>
                  <a:pt x="194553" y="2159541"/>
                </a:cubicBezTo>
                <a:cubicBezTo>
                  <a:pt x="206850" y="2167227"/>
                  <a:pt x="220494" y="2172511"/>
                  <a:pt x="233464" y="2178996"/>
                </a:cubicBezTo>
                <a:cubicBezTo>
                  <a:pt x="243192" y="2188724"/>
                  <a:pt x="250181" y="2202361"/>
                  <a:pt x="262647" y="2208179"/>
                </a:cubicBezTo>
                <a:cubicBezTo>
                  <a:pt x="306492" y="2228640"/>
                  <a:pt x="394780" y="2250737"/>
                  <a:pt x="447472" y="2266545"/>
                </a:cubicBezTo>
                <a:cubicBezTo>
                  <a:pt x="457293" y="2269491"/>
                  <a:pt x="466796" y="2273456"/>
                  <a:pt x="476655" y="2276273"/>
                </a:cubicBezTo>
                <a:cubicBezTo>
                  <a:pt x="489510" y="2279946"/>
                  <a:pt x="502711" y="2282327"/>
                  <a:pt x="515566" y="2286000"/>
                </a:cubicBezTo>
                <a:cubicBezTo>
                  <a:pt x="525425" y="2288817"/>
                  <a:pt x="534661" y="2293894"/>
                  <a:pt x="544749" y="2295728"/>
                </a:cubicBezTo>
                <a:cubicBezTo>
                  <a:pt x="570470" y="2300405"/>
                  <a:pt x="596783" y="2301158"/>
                  <a:pt x="622570" y="2305456"/>
                </a:cubicBezTo>
                <a:cubicBezTo>
                  <a:pt x="635758" y="2307654"/>
                  <a:pt x="648430" y="2312283"/>
                  <a:pt x="661481" y="2315183"/>
                </a:cubicBezTo>
                <a:cubicBezTo>
                  <a:pt x="677621" y="2318770"/>
                  <a:pt x="693979" y="2321324"/>
                  <a:pt x="710119" y="2324911"/>
                </a:cubicBezTo>
                <a:cubicBezTo>
                  <a:pt x="723170" y="2327811"/>
                  <a:pt x="735842" y="2332441"/>
                  <a:pt x="749030" y="2334639"/>
                </a:cubicBezTo>
                <a:cubicBezTo>
                  <a:pt x="775750" y="2339092"/>
                  <a:pt x="890990" y="2351493"/>
                  <a:pt x="914400" y="2354094"/>
                </a:cubicBezTo>
                <a:cubicBezTo>
                  <a:pt x="924128" y="2357337"/>
                  <a:pt x="933635" y="2361335"/>
                  <a:pt x="943583" y="2363822"/>
                </a:cubicBezTo>
                <a:cubicBezTo>
                  <a:pt x="984065" y="2373942"/>
                  <a:pt x="1029243" y="2378982"/>
                  <a:pt x="1070043" y="2383277"/>
                </a:cubicBezTo>
                <a:cubicBezTo>
                  <a:pt x="1105661" y="2387026"/>
                  <a:pt x="1141241" y="2392182"/>
                  <a:pt x="1177047" y="2393005"/>
                </a:cubicBezTo>
                <a:lnTo>
                  <a:pt x="1916349" y="2402732"/>
                </a:lnTo>
                <a:lnTo>
                  <a:pt x="2568102" y="2393005"/>
                </a:lnTo>
                <a:cubicBezTo>
                  <a:pt x="2597454" y="2392233"/>
                  <a:pt x="2626434" y="2386199"/>
                  <a:pt x="2655651" y="2383277"/>
                </a:cubicBezTo>
                <a:cubicBezTo>
                  <a:pt x="2691288" y="2379713"/>
                  <a:pt x="2727141" y="2378181"/>
                  <a:pt x="2762655" y="2373549"/>
                </a:cubicBezTo>
                <a:cubicBezTo>
                  <a:pt x="3181557" y="2318910"/>
                  <a:pt x="2636820" y="2381047"/>
                  <a:pt x="2966936" y="2344366"/>
                </a:cubicBezTo>
                <a:cubicBezTo>
                  <a:pt x="3050335" y="2323518"/>
                  <a:pt x="2992612" y="2336530"/>
                  <a:pt x="3142034" y="2315183"/>
                </a:cubicBezTo>
                <a:lnTo>
                  <a:pt x="3142034" y="2315183"/>
                </a:lnTo>
                <a:cubicBezTo>
                  <a:pt x="3158247" y="2311941"/>
                  <a:pt x="3174532" y="2309043"/>
                  <a:pt x="3190672" y="2305456"/>
                </a:cubicBezTo>
                <a:cubicBezTo>
                  <a:pt x="3203723" y="2302556"/>
                  <a:pt x="3216473" y="2298350"/>
                  <a:pt x="3229583" y="2295728"/>
                </a:cubicBezTo>
                <a:cubicBezTo>
                  <a:pt x="3272926" y="2287059"/>
                  <a:pt x="3294872" y="2286702"/>
                  <a:pt x="3336587" y="2276273"/>
                </a:cubicBezTo>
                <a:cubicBezTo>
                  <a:pt x="3346535" y="2273786"/>
                  <a:pt x="3355656" y="2268231"/>
                  <a:pt x="3365770" y="2266545"/>
                </a:cubicBezTo>
                <a:cubicBezTo>
                  <a:pt x="3394733" y="2261718"/>
                  <a:pt x="3424136" y="2260060"/>
                  <a:pt x="3453319" y="2256817"/>
                </a:cubicBezTo>
                <a:cubicBezTo>
                  <a:pt x="3466289" y="2253575"/>
                  <a:pt x="3479942" y="2252356"/>
                  <a:pt x="3492230" y="2247090"/>
                </a:cubicBezTo>
                <a:cubicBezTo>
                  <a:pt x="3502976" y="2242485"/>
                  <a:pt x="3510956" y="2232863"/>
                  <a:pt x="3521413" y="2227634"/>
                </a:cubicBezTo>
                <a:cubicBezTo>
                  <a:pt x="3530584" y="2223048"/>
                  <a:pt x="3540868" y="2221149"/>
                  <a:pt x="3550596" y="2217907"/>
                </a:cubicBezTo>
                <a:cubicBezTo>
                  <a:pt x="3560324" y="2211422"/>
                  <a:pt x="3569322" y="2203680"/>
                  <a:pt x="3579779" y="2198451"/>
                </a:cubicBezTo>
                <a:cubicBezTo>
                  <a:pt x="3588950" y="2193865"/>
                  <a:pt x="3599999" y="2193704"/>
                  <a:pt x="3608962" y="2188724"/>
                </a:cubicBezTo>
                <a:cubicBezTo>
                  <a:pt x="3703724" y="2136079"/>
                  <a:pt x="3630194" y="2159097"/>
                  <a:pt x="3706238" y="2140085"/>
                </a:cubicBezTo>
                <a:cubicBezTo>
                  <a:pt x="3712723" y="2133600"/>
                  <a:pt x="3718357" y="2126133"/>
                  <a:pt x="3725694" y="2120630"/>
                </a:cubicBezTo>
                <a:cubicBezTo>
                  <a:pt x="3744400" y="2106601"/>
                  <a:pt x="3767526" y="2098253"/>
                  <a:pt x="3784060" y="2081719"/>
                </a:cubicBezTo>
                <a:lnTo>
                  <a:pt x="3832698" y="2033081"/>
                </a:lnTo>
                <a:cubicBezTo>
                  <a:pt x="3842426" y="2023353"/>
                  <a:pt x="3850875" y="2012152"/>
                  <a:pt x="3861881" y="2003898"/>
                </a:cubicBezTo>
                <a:lnTo>
                  <a:pt x="3900792" y="1974715"/>
                </a:lnTo>
                <a:cubicBezTo>
                  <a:pt x="3935041" y="1923340"/>
                  <a:pt x="3902849" y="1964614"/>
                  <a:pt x="3959158" y="1916349"/>
                </a:cubicBezTo>
                <a:cubicBezTo>
                  <a:pt x="4014370" y="1869024"/>
                  <a:pt x="3959406" y="1901633"/>
                  <a:pt x="4027251" y="1867711"/>
                </a:cubicBezTo>
                <a:cubicBezTo>
                  <a:pt x="4036979" y="1857983"/>
                  <a:pt x="4045239" y="1846524"/>
                  <a:pt x="4056434" y="1838528"/>
                </a:cubicBezTo>
                <a:cubicBezTo>
                  <a:pt x="4068234" y="1830099"/>
                  <a:pt x="4084205" y="1828356"/>
                  <a:pt x="4095345" y="1819073"/>
                </a:cubicBezTo>
                <a:cubicBezTo>
                  <a:pt x="4104326" y="1811589"/>
                  <a:pt x="4106533" y="1798157"/>
                  <a:pt x="4114800" y="1789890"/>
                </a:cubicBezTo>
                <a:cubicBezTo>
                  <a:pt x="4204873" y="1699816"/>
                  <a:pt x="4077537" y="1852817"/>
                  <a:pt x="4173166" y="1741251"/>
                </a:cubicBezTo>
                <a:cubicBezTo>
                  <a:pt x="4183717" y="1728942"/>
                  <a:pt x="4191578" y="1714458"/>
                  <a:pt x="4202349" y="1702341"/>
                </a:cubicBezTo>
                <a:cubicBezTo>
                  <a:pt x="4217582" y="1685204"/>
                  <a:pt x="4240733" y="1674210"/>
                  <a:pt x="4250987" y="1653702"/>
                </a:cubicBezTo>
                <a:cubicBezTo>
                  <a:pt x="4257472" y="1640732"/>
                  <a:pt x="4261260" y="1626015"/>
                  <a:pt x="4270443" y="1614792"/>
                </a:cubicBezTo>
                <a:cubicBezTo>
                  <a:pt x="4290770" y="1589948"/>
                  <a:pt x="4315838" y="1569396"/>
                  <a:pt x="4338536" y="1546698"/>
                </a:cubicBezTo>
                <a:cubicBezTo>
                  <a:pt x="4345021" y="1540213"/>
                  <a:pt x="4352489" y="1534580"/>
                  <a:pt x="4357992" y="1527243"/>
                </a:cubicBezTo>
                <a:cubicBezTo>
                  <a:pt x="4367720" y="1514273"/>
                  <a:pt x="4375711" y="1499796"/>
                  <a:pt x="4387175" y="1488332"/>
                </a:cubicBezTo>
                <a:cubicBezTo>
                  <a:pt x="4398639" y="1476868"/>
                  <a:pt x="4414621" y="1470613"/>
                  <a:pt x="4426085" y="1459149"/>
                </a:cubicBezTo>
                <a:cubicBezTo>
                  <a:pt x="4437549" y="1447685"/>
                  <a:pt x="4444592" y="1432440"/>
                  <a:pt x="4455268" y="1420239"/>
                </a:cubicBezTo>
                <a:cubicBezTo>
                  <a:pt x="4467347" y="1406435"/>
                  <a:pt x="4494179" y="1381328"/>
                  <a:pt x="4494179" y="1381328"/>
                </a:cubicBezTo>
                <a:cubicBezTo>
                  <a:pt x="4500664" y="1368358"/>
                  <a:pt x="4505948" y="1354714"/>
                  <a:pt x="4513634" y="1342417"/>
                </a:cubicBezTo>
                <a:cubicBezTo>
                  <a:pt x="4548448" y="1286714"/>
                  <a:pt x="4534822" y="1322362"/>
                  <a:pt x="4562272" y="1274324"/>
                </a:cubicBezTo>
                <a:cubicBezTo>
                  <a:pt x="4569467" y="1261733"/>
                  <a:pt x="4574533" y="1248004"/>
                  <a:pt x="4581728" y="1235413"/>
                </a:cubicBezTo>
                <a:cubicBezTo>
                  <a:pt x="4595785" y="1210814"/>
                  <a:pt x="4614126" y="1190519"/>
                  <a:pt x="4630366" y="1167319"/>
                </a:cubicBezTo>
                <a:cubicBezTo>
                  <a:pt x="4643775" y="1148164"/>
                  <a:pt x="4656307" y="1128409"/>
                  <a:pt x="4669277" y="1108954"/>
                </a:cubicBezTo>
                <a:lnTo>
                  <a:pt x="4708187" y="1050588"/>
                </a:lnTo>
                <a:cubicBezTo>
                  <a:pt x="4714672" y="1040860"/>
                  <a:pt x="4722415" y="1031862"/>
                  <a:pt x="4727643" y="1021405"/>
                </a:cubicBezTo>
                <a:cubicBezTo>
                  <a:pt x="4740613" y="995464"/>
                  <a:pt x="4757381" y="971097"/>
                  <a:pt x="4766553" y="943583"/>
                </a:cubicBezTo>
                <a:cubicBezTo>
                  <a:pt x="4769796" y="933855"/>
                  <a:pt x="4771695" y="923571"/>
                  <a:pt x="4776281" y="914400"/>
                </a:cubicBezTo>
                <a:cubicBezTo>
                  <a:pt x="4781509" y="903943"/>
                  <a:pt x="4790988" y="895900"/>
                  <a:pt x="4795736" y="885217"/>
                </a:cubicBezTo>
                <a:cubicBezTo>
                  <a:pt x="4795747" y="885192"/>
                  <a:pt x="4820051" y="812273"/>
                  <a:pt x="4824919" y="797668"/>
                </a:cubicBezTo>
                <a:cubicBezTo>
                  <a:pt x="4828162" y="787940"/>
                  <a:pt x="4828959" y="777017"/>
                  <a:pt x="4834647" y="768485"/>
                </a:cubicBezTo>
                <a:lnTo>
                  <a:pt x="4854102" y="739302"/>
                </a:lnTo>
                <a:cubicBezTo>
                  <a:pt x="4857345" y="726332"/>
                  <a:pt x="4860157" y="713247"/>
                  <a:pt x="4863830" y="700392"/>
                </a:cubicBezTo>
                <a:cubicBezTo>
                  <a:pt x="4866647" y="690533"/>
                  <a:pt x="4871252" y="681200"/>
                  <a:pt x="4873558" y="671209"/>
                </a:cubicBezTo>
                <a:cubicBezTo>
                  <a:pt x="4880994" y="638988"/>
                  <a:pt x="4893013" y="573932"/>
                  <a:pt x="4893013" y="573932"/>
                </a:cubicBezTo>
                <a:cubicBezTo>
                  <a:pt x="4891701" y="551623"/>
                  <a:pt x="4897174" y="400212"/>
                  <a:pt x="4863830" y="350196"/>
                </a:cubicBezTo>
                <a:cubicBezTo>
                  <a:pt x="4857345" y="340468"/>
                  <a:pt x="4849603" y="331470"/>
                  <a:pt x="4844375" y="321013"/>
                </a:cubicBezTo>
                <a:cubicBezTo>
                  <a:pt x="4824478" y="281219"/>
                  <a:pt x="4847714" y="299814"/>
                  <a:pt x="4815192" y="262647"/>
                </a:cubicBezTo>
                <a:cubicBezTo>
                  <a:pt x="4800093" y="245392"/>
                  <a:pt x="4785631" y="226727"/>
                  <a:pt x="4766553" y="214009"/>
                </a:cubicBezTo>
                <a:lnTo>
                  <a:pt x="4679004" y="155643"/>
                </a:lnTo>
                <a:lnTo>
                  <a:pt x="4649821" y="136188"/>
                </a:lnTo>
                <a:cubicBezTo>
                  <a:pt x="4640093" y="129703"/>
                  <a:pt x="4631980" y="119567"/>
                  <a:pt x="4620638" y="116732"/>
                </a:cubicBezTo>
                <a:cubicBezTo>
                  <a:pt x="4607668" y="113490"/>
                  <a:pt x="4594411" y="111233"/>
                  <a:pt x="4581728" y="107005"/>
                </a:cubicBezTo>
                <a:cubicBezTo>
                  <a:pt x="4520011" y="86433"/>
                  <a:pt x="4551744" y="91490"/>
                  <a:pt x="4503906" y="77822"/>
                </a:cubicBezTo>
                <a:cubicBezTo>
                  <a:pt x="4491051" y="74149"/>
                  <a:pt x="4477801" y="71936"/>
                  <a:pt x="4464996" y="68094"/>
                </a:cubicBezTo>
                <a:cubicBezTo>
                  <a:pt x="4445353" y="62201"/>
                  <a:pt x="4426085" y="55124"/>
                  <a:pt x="4406630" y="48639"/>
                </a:cubicBezTo>
                <a:cubicBezTo>
                  <a:pt x="4396902" y="45396"/>
                  <a:pt x="4387395" y="41398"/>
                  <a:pt x="4377447" y="38911"/>
                </a:cubicBezTo>
                <a:lnTo>
                  <a:pt x="4338536" y="29183"/>
                </a:lnTo>
                <a:cubicBezTo>
                  <a:pt x="4267200" y="32426"/>
                  <a:pt x="4195727" y="33434"/>
                  <a:pt x="4124528" y="38911"/>
                </a:cubicBezTo>
                <a:cubicBezTo>
                  <a:pt x="4111198" y="39936"/>
                  <a:pt x="4085617" y="48639"/>
                  <a:pt x="4056434" y="58366"/>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82" name="Google Shape;982;p42"/>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 Final</a:t>
            </a:r>
            <a:endParaRPr dirty="0"/>
          </a:p>
        </p:txBody>
      </p:sp>
      <p:grpSp>
        <p:nvGrpSpPr>
          <p:cNvPr id="983" name="Google Shape;983;p42"/>
          <p:cNvGrpSpPr/>
          <p:nvPr/>
        </p:nvGrpSpPr>
        <p:grpSpPr>
          <a:xfrm>
            <a:off x="1751501" y="1368475"/>
            <a:ext cx="4726715" cy="2331624"/>
            <a:chOff x="-2863816" y="1556555"/>
            <a:chExt cx="3545036" cy="1748718"/>
          </a:xfrm>
        </p:grpSpPr>
        <p:sp>
          <p:nvSpPr>
            <p:cNvPr id="984" name="Google Shape;984;p42"/>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985" name="Google Shape;985;p42"/>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986" name="Google Shape;986;p42"/>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987" name="Google Shape;987;p42"/>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988" name="Google Shape;988;p42"/>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989" name="Google Shape;989;p42"/>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990" name="Google Shape;990;p42"/>
            <p:cNvSpPr/>
            <p:nvPr/>
          </p:nvSpPr>
          <p:spPr>
            <a:xfrm>
              <a:off x="-804680" y="28351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E</a:t>
              </a:r>
              <a:endParaRPr/>
            </a:p>
          </p:txBody>
        </p:sp>
        <p:sp>
          <p:nvSpPr>
            <p:cNvPr id="991" name="Google Shape;991;p42"/>
            <p:cNvSpPr/>
            <p:nvPr/>
          </p:nvSpPr>
          <p:spPr>
            <a:xfrm>
              <a:off x="-61730" y="23779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G</a:t>
              </a:r>
              <a:endParaRPr/>
            </a:p>
          </p:txBody>
        </p:sp>
        <p:cxnSp>
          <p:nvCxnSpPr>
            <p:cNvPr id="992" name="Google Shape;992;p42"/>
            <p:cNvCxnSpPr>
              <a:stCxn id="984" idx="6"/>
              <a:endCxn id="987"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993" name="Google Shape;993;p42"/>
            <p:cNvCxnSpPr>
              <a:stCxn id="987" idx="2"/>
              <a:endCxn id="984"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994" name="Google Shape;994;p42"/>
            <p:cNvCxnSpPr>
              <a:stCxn id="991" idx="2"/>
              <a:endCxn id="990" idx="0"/>
            </p:cNvCxnSpPr>
            <p:nvPr/>
          </p:nvCxnSpPr>
          <p:spPr>
            <a:xfrm flipH="1">
              <a:off x="-661730" y="25208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995" name="Google Shape;995;p42"/>
            <p:cNvCxnSpPr>
              <a:stCxn id="990" idx="6"/>
              <a:endCxn id="991" idx="4"/>
            </p:cNvCxnSpPr>
            <p:nvPr/>
          </p:nvCxnSpPr>
          <p:spPr>
            <a:xfrm rot="10800000" flipH="1">
              <a:off x="-518930" y="26636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996" name="Google Shape;996;p42"/>
            <p:cNvCxnSpPr>
              <a:stCxn id="984" idx="3"/>
              <a:endCxn id="986"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997" name="Google Shape;997;p42"/>
            <p:cNvCxnSpPr>
              <a:stCxn id="986" idx="6"/>
              <a:endCxn id="987"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998" name="Google Shape;998;p42"/>
            <p:cNvCxnSpPr>
              <a:stCxn id="984" idx="7"/>
              <a:endCxn id="985"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999" name="Google Shape;999;p42"/>
            <p:cNvCxnSpPr>
              <a:stCxn id="985" idx="6"/>
              <a:endCxn id="988"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1000" name="Google Shape;1000;p42"/>
            <p:cNvCxnSpPr>
              <a:stCxn id="988" idx="6"/>
              <a:endCxn id="989"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1001" name="Google Shape;1001;p42"/>
            <p:cNvCxnSpPr>
              <a:stCxn id="991" idx="1"/>
              <a:endCxn id="988" idx="4"/>
            </p:cNvCxnSpPr>
            <p:nvPr/>
          </p:nvCxnSpPr>
          <p:spPr>
            <a:xfrm rot="10800000">
              <a:off x="-204683" y="2092223"/>
              <a:ext cx="184800" cy="327600"/>
            </a:xfrm>
            <a:prstGeom prst="straightConnector1">
              <a:avLst/>
            </a:prstGeom>
            <a:noFill/>
            <a:ln w="9525" cap="flat" cmpd="sng">
              <a:solidFill>
                <a:srgbClr val="A5A5A5"/>
              </a:solidFill>
              <a:prstDash val="dash"/>
              <a:round/>
              <a:headEnd type="none" w="med" len="med"/>
              <a:tailEnd type="triangle" w="med" len="med"/>
            </a:ln>
          </p:spPr>
        </p:cxnSp>
        <p:cxnSp>
          <p:nvCxnSpPr>
            <p:cNvPr id="1002" name="Google Shape;1002;p42"/>
            <p:cNvCxnSpPr>
              <a:stCxn id="989" idx="4"/>
              <a:endCxn id="991"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1003" name="Google Shape;1003;p42"/>
            <p:cNvCxnSpPr>
              <a:stCxn id="985" idx="5"/>
              <a:endCxn id="990"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1004" name="Google Shape;1004;p42"/>
            <p:cNvCxnSpPr>
              <a:stCxn id="985" idx="4"/>
              <a:endCxn id="987"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1005" name="Google Shape;1005;p42"/>
            <p:cNvCxnSpPr>
              <a:stCxn id="987" idx="5"/>
              <a:endCxn id="990"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1006" name="Google Shape;1006;p42"/>
            <p:cNvCxnSpPr>
              <a:stCxn id="990" idx="3"/>
              <a:endCxn id="986" idx="5"/>
            </p:cNvCxnSpPr>
            <p:nvPr/>
          </p:nvCxnSpPr>
          <p:spPr>
            <a:xfrm rot="10800000">
              <a:off x="-2446733" y="2964779"/>
              <a:ext cx="1683900" cy="114300"/>
            </a:xfrm>
            <a:prstGeom prst="straightConnector1">
              <a:avLst/>
            </a:prstGeom>
            <a:noFill/>
            <a:ln w="9525" cap="flat" cmpd="sng">
              <a:solidFill>
                <a:srgbClr val="A5A5A5"/>
              </a:solidFill>
              <a:prstDash val="dash"/>
              <a:round/>
              <a:headEnd type="none" w="med" len="med"/>
              <a:tailEnd type="triangle" w="med" len="med"/>
            </a:ln>
          </p:spPr>
        </p:cxnSp>
        <p:sp>
          <p:nvSpPr>
            <p:cNvPr id="1007" name="Google Shape;1007;p42"/>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08" name="Google Shape;1008;p42"/>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09" name="Google Shape;1009;p42"/>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10" name="Google Shape;1010;p42"/>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11" name="Google Shape;1011;p42"/>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1012" name="Google Shape;1012;p42"/>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13" name="Google Shape;1013;p42"/>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14" name="Google Shape;1014;p42"/>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15" name="Google Shape;1015;p42"/>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1016" name="Google Shape;1016;p42"/>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7</a:t>
              </a:r>
              <a:endParaRPr/>
            </a:p>
          </p:txBody>
        </p:sp>
        <p:sp>
          <p:nvSpPr>
            <p:cNvPr id="1017" name="Google Shape;1017;p42"/>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18" name="Google Shape;1018;p42"/>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1019" name="Google Shape;1019;p42"/>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20" name="Google Shape;1020;p42"/>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1021" name="Google Shape;1021;p42"/>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1022" name="Google Shape;1022;p42"/>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1023" name="Google Shape;1023;p42"/>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24" name="Google Shape;1024;p42"/>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1025" name="Google Shape;1025;p42"/>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1026" name="Google Shape;1026;p42"/>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27" name="Google Shape;1027;p42"/>
            <p:cNvSpPr txBox="1"/>
            <p:nvPr/>
          </p:nvSpPr>
          <p:spPr>
            <a:xfrm>
              <a:off x="-122920" y="216935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028" name="Google Shape;1028;p42"/>
            <p:cNvSpPr txBox="1"/>
            <p:nvPr/>
          </p:nvSpPr>
          <p:spPr>
            <a:xfrm>
              <a:off x="-865204" y="2562041"/>
              <a:ext cx="29479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11</a:t>
              </a:r>
              <a:endParaRPr sz="2000">
                <a:solidFill>
                  <a:srgbClr val="FF0000"/>
                </a:solidFill>
                <a:latin typeface="Calibri"/>
                <a:ea typeface="Calibri"/>
                <a:cs typeface="Calibri"/>
                <a:sym typeface="Calibri"/>
              </a:endParaRPr>
            </a:p>
          </p:txBody>
        </p:sp>
        <p:sp>
          <p:nvSpPr>
            <p:cNvPr id="1029" name="Google Shape;1029;p42"/>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030" name="Google Shape;1030;p42"/>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1031" name="Google Shape;1031;p42"/>
          <p:cNvGraphicFramePr/>
          <p:nvPr>
            <p:extLst>
              <p:ext uri="{D42A27DB-BD31-4B8C-83A1-F6EECF244321}">
                <p14:modId xmlns:p14="http://schemas.microsoft.com/office/powerpoint/2010/main" val="1661462362"/>
              </p:ext>
            </p:extLst>
          </p:nvPr>
        </p:nvGraphicFramePr>
        <p:xfrm>
          <a:off x="6531232" y="2800252"/>
          <a:ext cx="3086670" cy="3840300"/>
        </p:xfrm>
        <a:graphic>
          <a:graphicData uri="http://schemas.openxmlformats.org/drawingml/2006/table">
            <a:tbl>
              <a:tblPr firstRow="1" bandRow="1">
                <a:noFill/>
              </a:tblPr>
              <a:tblGrid>
                <a:gridCol w="1028890">
                  <a:extLst>
                    <a:ext uri="{9D8B030D-6E8A-4147-A177-3AD203B41FA5}">
                      <a16:colId xmlns:a16="http://schemas.microsoft.com/office/drawing/2014/main" val="20000"/>
                    </a:ext>
                  </a:extLst>
                </a:gridCol>
                <a:gridCol w="1028890">
                  <a:extLst>
                    <a:ext uri="{9D8B030D-6E8A-4147-A177-3AD203B41FA5}">
                      <a16:colId xmlns:a16="http://schemas.microsoft.com/office/drawing/2014/main" val="20002"/>
                    </a:ext>
                  </a:extLst>
                </a:gridCol>
                <a:gridCol w="102889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D</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12</a:t>
                      </a:r>
                      <a:r>
                        <a:rPr lang="en-US" sz="2000" b="0" i="0" u="none" strike="noStrike" cap="none" dirty="0">
                          <a:solidFill>
                            <a:schemeClr val="tx1"/>
                          </a:solidFill>
                          <a:latin typeface="Quattrocento Sans"/>
                          <a:ea typeface="Quattrocento Sans"/>
                          <a:cs typeface="Quattrocento Sans"/>
                          <a:sym typeface="Quattrocento Sans"/>
                        </a:rPr>
                        <a:t> 11</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C</a:t>
                      </a:r>
                      <a:r>
                        <a:rPr lang="en-US" sz="2000" b="0" dirty="0">
                          <a:solidFill>
                            <a:schemeClr val="tx1"/>
                          </a:solidFill>
                          <a:latin typeface="Quattrocento Sans"/>
                          <a:ea typeface="Quattrocento Sans"/>
                          <a:cs typeface="Quattrocento Sans"/>
                          <a:sym typeface="Quattrocento Sans"/>
                        </a:rPr>
                        <a:t> G</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7</a:t>
                      </a:r>
                      <a:r>
                        <a:rPr lang="en-US" sz="2000" b="0" i="0" u="none" strike="noStrike" cap="none" dirty="0">
                          <a:solidFill>
                            <a:schemeClr val="tx1"/>
                          </a:solidFill>
                          <a:latin typeface="Quattrocento Sans"/>
                          <a:ea typeface="Quattrocento Sans"/>
                          <a:cs typeface="Quattrocento Sans"/>
                          <a:sym typeface="Quattrocento Sans"/>
                        </a:rPr>
                        <a:t> 8</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8</a:t>
                      </a:r>
                      <a:r>
                        <a:rPr lang="en-US" sz="2000" b="0" dirty="0">
                          <a:solidFill>
                            <a:schemeClr val="tx1"/>
                          </a:solidFill>
                          <a:latin typeface="Quattrocento Sans"/>
                          <a:ea typeface="Quattrocento Sans"/>
                          <a:cs typeface="Quattrocento Sans"/>
                          <a:sym typeface="Quattrocento Sans"/>
                        </a:rPr>
                        <a:t> H</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1032" name="Google Shape;1032;p42"/>
          <p:cNvSpPr txBox="1"/>
          <p:nvPr/>
        </p:nvSpPr>
        <p:spPr>
          <a:xfrm>
            <a:off x="1352173" y="4883675"/>
            <a:ext cx="41235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 G, E</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55CEDB87-CEEA-06BC-FBC6-973647D38F17}"/>
              </a:ext>
            </a:extLst>
          </p:cNvPr>
          <p:cNvSpPr txBox="1"/>
          <p:nvPr/>
        </p:nvSpPr>
        <p:spPr>
          <a:xfrm>
            <a:off x="745988" y="5822739"/>
            <a:ext cx="5299878"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All nodes have now been visited and are known</a:t>
            </a:r>
            <a:endParaRPr lang="en-SE"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8"/>
        <p:cNvGrpSpPr/>
        <p:nvPr/>
      </p:nvGrpSpPr>
      <p:grpSpPr>
        <a:xfrm>
          <a:off x="0" y="0"/>
          <a:ext cx="0" cy="0"/>
          <a:chOff x="0" y="0"/>
          <a:chExt cx="0" cy="0"/>
        </a:xfrm>
      </p:grpSpPr>
      <p:sp>
        <p:nvSpPr>
          <p:cNvPr id="1039" name="Google Shape;1039;p43"/>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 Interpreting the Results</a:t>
            </a:r>
            <a:endParaRPr dirty="0"/>
          </a:p>
        </p:txBody>
      </p:sp>
      <p:sp>
        <p:nvSpPr>
          <p:cNvPr id="1040" name="Google Shape;1040;p43"/>
          <p:cNvSpPr txBox="1">
            <a:spLocks noGrp="1"/>
          </p:cNvSpPr>
          <p:nvPr>
            <p:ph type="body" idx="1"/>
          </p:nvPr>
        </p:nvSpPr>
        <p:spPr>
          <a:xfrm>
            <a:off x="6682150" y="1329375"/>
            <a:ext cx="5286600" cy="1506600"/>
          </a:xfrm>
          <a:prstGeom prst="rect">
            <a:avLst/>
          </a:prstGeom>
          <a:noFill/>
          <a:ln>
            <a:noFill/>
          </a:ln>
        </p:spPr>
        <p:txBody>
          <a:bodyPr spcFirstLastPara="1" wrap="square" lIns="45700" tIns="45700" rIns="45700" bIns="45700" anchor="t" anchorCtr="0">
            <a:normAutofit/>
          </a:bodyPr>
          <a:lstStyle/>
          <a:p>
            <a:pPr marL="0" lvl="0" indent="0" algn="l" rtl="0">
              <a:lnSpc>
                <a:spcPct val="90000"/>
              </a:lnSpc>
              <a:spcBef>
                <a:spcPts val="0"/>
              </a:spcBef>
              <a:spcAft>
                <a:spcPts val="0"/>
              </a:spcAft>
              <a:buSzPct val="100000"/>
              <a:buNone/>
            </a:pPr>
            <a:r>
              <a:rPr lang="en-US" sz="2000" dirty="0"/>
              <a:t>How to get the shortest path from A to E?</a:t>
            </a:r>
            <a:endParaRPr dirty="0"/>
          </a:p>
          <a:p>
            <a:pPr marL="91440" lvl="0" indent="-98425" algn="l" rtl="0">
              <a:lnSpc>
                <a:spcPct val="90000"/>
              </a:lnSpc>
              <a:spcBef>
                <a:spcPts val="1400"/>
              </a:spcBef>
              <a:spcAft>
                <a:spcPts val="0"/>
              </a:spcAft>
              <a:buSzPct val="100000"/>
              <a:buChar char="●"/>
            </a:pPr>
            <a:r>
              <a:rPr lang="en-US" sz="2000" dirty="0"/>
              <a:t> Follow PN </a:t>
            </a:r>
            <a:r>
              <a:rPr lang="en-US" sz="2000" dirty="0" err="1"/>
              <a:t>backpointers</a:t>
            </a:r>
            <a:r>
              <a:rPr lang="en-US" sz="2000" dirty="0"/>
              <a:t> to get path ABFHGE</a:t>
            </a:r>
            <a:endParaRPr dirty="0"/>
          </a:p>
        </p:txBody>
      </p:sp>
      <p:sp>
        <p:nvSpPr>
          <p:cNvPr id="1041" name="Google Shape;1041;p43"/>
          <p:cNvSpPr txBox="1"/>
          <p:nvPr/>
        </p:nvSpPr>
        <p:spPr>
          <a:xfrm>
            <a:off x="1352075" y="4883675"/>
            <a:ext cx="41235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 G, E</a:t>
            </a:r>
            <a:endParaRPr dirty="0">
              <a:latin typeface="+mn-lt"/>
              <a:ea typeface="Quattrocento Sans"/>
              <a:cs typeface="Quattrocento Sans"/>
              <a:sym typeface="Quattrocento Sans"/>
            </a:endParaRPr>
          </a:p>
        </p:txBody>
      </p:sp>
      <p:grpSp>
        <p:nvGrpSpPr>
          <p:cNvPr id="1042" name="Google Shape;1042;p43"/>
          <p:cNvGrpSpPr/>
          <p:nvPr/>
        </p:nvGrpSpPr>
        <p:grpSpPr>
          <a:xfrm>
            <a:off x="1751501" y="1368475"/>
            <a:ext cx="4726715" cy="2331624"/>
            <a:chOff x="-2863816" y="1556555"/>
            <a:chExt cx="3545036" cy="1748718"/>
          </a:xfrm>
        </p:grpSpPr>
        <p:sp>
          <p:nvSpPr>
            <p:cNvPr id="1043" name="Google Shape;1043;p43"/>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1044" name="Google Shape;1044;p43"/>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1045" name="Google Shape;1045;p43"/>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1046" name="Google Shape;1046;p43"/>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1047" name="Google Shape;1047;p43"/>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1048" name="Google Shape;1048;p43"/>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1049" name="Google Shape;1049;p43"/>
            <p:cNvSpPr/>
            <p:nvPr/>
          </p:nvSpPr>
          <p:spPr>
            <a:xfrm>
              <a:off x="-804680" y="28351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E</a:t>
              </a:r>
              <a:endParaRPr/>
            </a:p>
          </p:txBody>
        </p:sp>
        <p:sp>
          <p:nvSpPr>
            <p:cNvPr id="1050" name="Google Shape;1050;p43"/>
            <p:cNvSpPr/>
            <p:nvPr/>
          </p:nvSpPr>
          <p:spPr>
            <a:xfrm>
              <a:off x="-61730" y="23779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G</a:t>
              </a:r>
              <a:endParaRPr/>
            </a:p>
          </p:txBody>
        </p:sp>
        <p:cxnSp>
          <p:nvCxnSpPr>
            <p:cNvPr id="1051" name="Google Shape;1051;p43"/>
            <p:cNvCxnSpPr>
              <a:stCxn id="1043" idx="6"/>
              <a:endCxn id="1046"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1052" name="Google Shape;1052;p43"/>
            <p:cNvCxnSpPr>
              <a:stCxn id="1046" idx="2"/>
              <a:endCxn id="1043"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1053" name="Google Shape;1053;p43"/>
            <p:cNvCxnSpPr>
              <a:stCxn id="1050" idx="2"/>
              <a:endCxn id="1049" idx="0"/>
            </p:cNvCxnSpPr>
            <p:nvPr/>
          </p:nvCxnSpPr>
          <p:spPr>
            <a:xfrm flipH="1">
              <a:off x="-661730" y="25208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1054" name="Google Shape;1054;p43"/>
            <p:cNvCxnSpPr>
              <a:stCxn id="1049" idx="6"/>
              <a:endCxn id="1050" idx="4"/>
            </p:cNvCxnSpPr>
            <p:nvPr/>
          </p:nvCxnSpPr>
          <p:spPr>
            <a:xfrm rot="10800000" flipH="1">
              <a:off x="-518930" y="26636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1055" name="Google Shape;1055;p43"/>
            <p:cNvCxnSpPr>
              <a:stCxn id="1043" idx="3"/>
              <a:endCxn id="1045"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1056" name="Google Shape;1056;p43"/>
            <p:cNvCxnSpPr>
              <a:stCxn id="1045" idx="6"/>
              <a:endCxn id="1046"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1057" name="Google Shape;1057;p43"/>
            <p:cNvCxnSpPr>
              <a:stCxn id="1043" idx="7"/>
              <a:endCxn id="1044"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1058" name="Google Shape;1058;p43"/>
            <p:cNvCxnSpPr>
              <a:stCxn id="1044" idx="6"/>
              <a:endCxn id="1047"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1059" name="Google Shape;1059;p43"/>
            <p:cNvCxnSpPr>
              <a:stCxn id="1047" idx="6"/>
              <a:endCxn id="1048"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1060" name="Google Shape;1060;p43"/>
            <p:cNvCxnSpPr>
              <a:stCxn id="1050" idx="1"/>
              <a:endCxn id="1047" idx="4"/>
            </p:cNvCxnSpPr>
            <p:nvPr/>
          </p:nvCxnSpPr>
          <p:spPr>
            <a:xfrm rot="10800000">
              <a:off x="-204683" y="2092223"/>
              <a:ext cx="184800" cy="327600"/>
            </a:xfrm>
            <a:prstGeom prst="straightConnector1">
              <a:avLst/>
            </a:prstGeom>
            <a:noFill/>
            <a:ln w="9525" cap="flat" cmpd="sng">
              <a:solidFill>
                <a:srgbClr val="A5A5A5"/>
              </a:solidFill>
              <a:prstDash val="dash"/>
              <a:round/>
              <a:headEnd type="none" w="med" len="med"/>
              <a:tailEnd type="triangle" w="med" len="med"/>
            </a:ln>
          </p:spPr>
        </p:cxnSp>
        <p:cxnSp>
          <p:nvCxnSpPr>
            <p:cNvPr id="1061" name="Google Shape;1061;p43"/>
            <p:cNvCxnSpPr>
              <a:stCxn id="1048" idx="4"/>
              <a:endCxn id="1050"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1062" name="Google Shape;1062;p43"/>
            <p:cNvCxnSpPr>
              <a:stCxn id="1044" idx="5"/>
              <a:endCxn id="1049"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1063" name="Google Shape;1063;p43"/>
            <p:cNvCxnSpPr>
              <a:stCxn id="1044" idx="4"/>
              <a:endCxn id="1046"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1064" name="Google Shape;1064;p43"/>
            <p:cNvCxnSpPr>
              <a:stCxn id="1046" idx="5"/>
              <a:endCxn id="1049"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1065" name="Google Shape;1065;p43"/>
            <p:cNvCxnSpPr>
              <a:stCxn id="1049" idx="3"/>
              <a:endCxn id="1045" idx="5"/>
            </p:cNvCxnSpPr>
            <p:nvPr/>
          </p:nvCxnSpPr>
          <p:spPr>
            <a:xfrm rot="10800000">
              <a:off x="-2446733" y="2964779"/>
              <a:ext cx="1683900" cy="114300"/>
            </a:xfrm>
            <a:prstGeom prst="straightConnector1">
              <a:avLst/>
            </a:prstGeom>
            <a:noFill/>
            <a:ln w="9525" cap="flat" cmpd="sng">
              <a:solidFill>
                <a:srgbClr val="A5A5A5"/>
              </a:solidFill>
              <a:prstDash val="dash"/>
              <a:round/>
              <a:headEnd type="none" w="med" len="med"/>
              <a:tailEnd type="triangle" w="med" len="med"/>
            </a:ln>
          </p:spPr>
        </p:cxnSp>
        <p:sp>
          <p:nvSpPr>
            <p:cNvPr id="1066" name="Google Shape;1066;p43"/>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67" name="Google Shape;1067;p43"/>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68" name="Google Shape;1068;p43"/>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69" name="Google Shape;1069;p43"/>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70" name="Google Shape;1070;p43"/>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1071" name="Google Shape;1071;p43"/>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72" name="Google Shape;1072;p43"/>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73" name="Google Shape;1073;p43"/>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74" name="Google Shape;1074;p43"/>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1075" name="Google Shape;1075;p43"/>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7</a:t>
              </a:r>
              <a:endParaRPr/>
            </a:p>
          </p:txBody>
        </p:sp>
        <p:sp>
          <p:nvSpPr>
            <p:cNvPr id="1076" name="Google Shape;1076;p43"/>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77" name="Google Shape;1077;p43"/>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1078" name="Google Shape;1078;p43"/>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79" name="Google Shape;1079;p43"/>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1080" name="Google Shape;1080;p43"/>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1081" name="Google Shape;1081;p43"/>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1082" name="Google Shape;1082;p43"/>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83" name="Google Shape;1083;p43"/>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1084" name="Google Shape;1084;p43"/>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1085" name="Google Shape;1085;p43"/>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86" name="Google Shape;1086;p43"/>
            <p:cNvSpPr txBox="1"/>
            <p:nvPr/>
          </p:nvSpPr>
          <p:spPr>
            <a:xfrm>
              <a:off x="-122920" y="216935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087" name="Google Shape;1087;p43"/>
            <p:cNvSpPr txBox="1"/>
            <p:nvPr/>
          </p:nvSpPr>
          <p:spPr>
            <a:xfrm>
              <a:off x="-865204" y="2562041"/>
              <a:ext cx="29479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11</a:t>
              </a:r>
              <a:endParaRPr sz="2000">
                <a:solidFill>
                  <a:srgbClr val="FF0000"/>
                </a:solidFill>
                <a:latin typeface="Calibri"/>
                <a:ea typeface="Calibri"/>
                <a:cs typeface="Calibri"/>
                <a:sym typeface="Calibri"/>
              </a:endParaRPr>
            </a:p>
          </p:txBody>
        </p:sp>
        <p:sp>
          <p:nvSpPr>
            <p:cNvPr id="1088" name="Google Shape;1088;p43"/>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089" name="Google Shape;1089;p43"/>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1091" name="Google Shape;1091;p43"/>
          <p:cNvGraphicFramePr/>
          <p:nvPr>
            <p:extLst>
              <p:ext uri="{D42A27DB-BD31-4B8C-83A1-F6EECF244321}">
                <p14:modId xmlns:p14="http://schemas.microsoft.com/office/powerpoint/2010/main" val="862342408"/>
              </p:ext>
            </p:extLst>
          </p:nvPr>
        </p:nvGraphicFramePr>
        <p:xfrm>
          <a:off x="6525203" y="2784366"/>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2</a:t>
                      </a:r>
                      <a:endParaRPr sz="2000" i="0" u="none" strike="noStrike" cap="none">
                        <a:solidFill>
                          <a:srgbClr val="FF0000"/>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A</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11</a:t>
                      </a:r>
                      <a:endParaRPr sz="2000" i="0" u="none" strike="noStrike" cap="none">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G</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4</a:t>
                      </a:r>
                      <a:endParaRPr sz="2000" i="0" u="none" strike="noStrike" cap="none">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B</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8</a:t>
                      </a:r>
                      <a:endParaRPr sz="2000" i="0" u="none" strike="noStrike" cap="none">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H</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rgbClr val="FF0000"/>
                          </a:solidFill>
                          <a:latin typeface="Quattrocento Sans"/>
                          <a:ea typeface="Quattrocento Sans"/>
                          <a:cs typeface="Quattrocento Sans"/>
                          <a:sym typeface="Quattrocento Sans"/>
                        </a:rPr>
                        <a:t>7</a:t>
                      </a:r>
                      <a:endParaRPr sz="2000"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F</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328BC-76D0-04B3-DB6D-3F17764CF2A8}"/>
            </a:ext>
          </a:extLst>
        </p:cNvPr>
        <p:cNvGrpSpPr/>
        <p:nvPr/>
      </p:nvGrpSpPr>
      <p:grpSpPr>
        <a:xfrm>
          <a:off x="0" y="0"/>
          <a:ext cx="0" cy="0"/>
          <a:chOff x="0" y="0"/>
          <a:chExt cx="0" cy="0"/>
        </a:xfrm>
      </p:grpSpPr>
      <p:sp>
        <p:nvSpPr>
          <p:cNvPr id="13" name="Google Shape;1040;p43">
            <a:extLst>
              <a:ext uri="{FF2B5EF4-FFF2-40B4-BE49-F238E27FC236}">
                <a16:creationId xmlns:a16="http://schemas.microsoft.com/office/drawing/2014/main" id="{E49C9718-1CC2-2309-2C49-D754BD0AADE7}"/>
              </a:ext>
            </a:extLst>
          </p:cNvPr>
          <p:cNvSpPr txBox="1">
            <a:spLocks/>
          </p:cNvSpPr>
          <p:nvPr/>
        </p:nvSpPr>
        <p:spPr>
          <a:xfrm>
            <a:off x="462003" y="1196456"/>
            <a:ext cx="5868459" cy="2232544"/>
          </a:xfrm>
          <a:prstGeom prst="rect">
            <a:avLst/>
          </a:prstGeom>
          <a:noFill/>
          <a:ln>
            <a:noFill/>
          </a:ln>
        </p:spPr>
        <p:txBody>
          <a:bodyPr spcFirstLastPara="1" wrap="square" lIns="45700" tIns="45700" rIns="45700" bIns="45700" anchor="t" anchorCtr="0">
            <a:normAutofit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SzPct val="100000"/>
            </a:pPr>
            <a:r>
              <a:rPr lang="en-GB" sz="2400" dirty="0">
                <a:latin typeface="+mn-lt"/>
              </a:rPr>
              <a:t>Given this directed graph, run Dijkstra’s Algo to find shortest paths starting from source node A. Give the node visit order, and fill in this table of SN (Shortest Distance) and PN (Previous Node), crossing out old SD and PN as you find a shortcut path with smaller SD</a:t>
            </a:r>
          </a:p>
        </p:txBody>
      </p:sp>
      <p:sp>
        <p:nvSpPr>
          <p:cNvPr id="2" name="Google Shape;982;p42">
            <a:extLst>
              <a:ext uri="{FF2B5EF4-FFF2-40B4-BE49-F238E27FC236}">
                <a16:creationId xmlns:a16="http://schemas.microsoft.com/office/drawing/2014/main" id="{D80C0A63-5E4B-2AF5-2CFA-28D3BB9BAA37}"/>
              </a:ext>
            </a:extLst>
          </p:cNvPr>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80000"/>
              </a:lnSpc>
              <a:spcBef>
                <a:spcPts val="0"/>
              </a:spcBef>
              <a:spcAft>
                <a:spcPts val="0"/>
              </a:spcAft>
              <a:buClr>
                <a:srgbClr val="0C0C0C"/>
              </a:buClr>
              <a:buSzPts val="4400"/>
              <a:buFont typeface="Quattrocento Sans"/>
              <a:buNone/>
            </a:pPr>
            <a:r>
              <a:rPr lang="en-US" dirty="0"/>
              <a:t>Example I Sample Exam Question and Answer</a:t>
            </a:r>
            <a:endParaRPr dirty="0"/>
          </a:p>
        </p:txBody>
      </p:sp>
      <p:grpSp>
        <p:nvGrpSpPr>
          <p:cNvPr id="3" name="Google Shape;520;p34">
            <a:extLst>
              <a:ext uri="{FF2B5EF4-FFF2-40B4-BE49-F238E27FC236}">
                <a16:creationId xmlns:a16="http://schemas.microsoft.com/office/drawing/2014/main" id="{F0A1B34D-4BE1-C7F6-CD53-7BB90B81A868}"/>
              </a:ext>
            </a:extLst>
          </p:cNvPr>
          <p:cNvGrpSpPr/>
          <p:nvPr/>
        </p:nvGrpSpPr>
        <p:grpSpPr>
          <a:xfrm>
            <a:off x="1018462" y="3606916"/>
            <a:ext cx="4555070" cy="2238505"/>
            <a:chOff x="-2735082" y="1626394"/>
            <a:chExt cx="3416302" cy="1678879"/>
          </a:xfrm>
        </p:grpSpPr>
        <p:sp>
          <p:nvSpPr>
            <p:cNvPr id="6" name="Google Shape;521;p34">
              <a:extLst>
                <a:ext uri="{FF2B5EF4-FFF2-40B4-BE49-F238E27FC236}">
                  <a16:creationId xmlns:a16="http://schemas.microsoft.com/office/drawing/2014/main" id="{0A79D9A9-3841-61E8-6E74-F5E62D575D5B}"/>
                </a:ext>
              </a:extLst>
            </p:cNvPr>
            <p:cNvSpPr/>
            <p:nvPr/>
          </p:nvSpPr>
          <p:spPr>
            <a:xfrm>
              <a:off x="-2576330" y="1806476"/>
              <a:ext cx="285750" cy="285750"/>
            </a:xfrm>
            <a:prstGeom prst="ellipse">
              <a:avLst/>
            </a:prstGeom>
            <a:solidFill>
              <a:schemeClr val="bg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A</a:t>
              </a:r>
              <a:endParaRPr dirty="0"/>
            </a:p>
          </p:txBody>
        </p:sp>
        <p:sp>
          <p:nvSpPr>
            <p:cNvPr id="7" name="Google Shape;522;p34">
              <a:extLst>
                <a:ext uri="{FF2B5EF4-FFF2-40B4-BE49-F238E27FC236}">
                  <a16:creationId xmlns:a16="http://schemas.microsoft.com/office/drawing/2014/main" id="{B31B7359-0F5B-7A92-455A-BFFEE730672B}"/>
                </a:ext>
              </a:extLst>
            </p:cNvPr>
            <p:cNvSpPr/>
            <p:nvPr/>
          </p:nvSpPr>
          <p:spPr>
            <a:xfrm>
              <a:off x="-1319030" y="17493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8" name="Google Shape;523;p34">
              <a:extLst>
                <a:ext uri="{FF2B5EF4-FFF2-40B4-BE49-F238E27FC236}">
                  <a16:creationId xmlns:a16="http://schemas.microsoft.com/office/drawing/2014/main" id="{714ECD2C-E967-F3FB-8736-DC397133BD30}"/>
                </a:ext>
              </a:extLst>
            </p:cNvPr>
            <p:cNvSpPr/>
            <p:nvPr/>
          </p:nvSpPr>
          <p:spPr>
            <a:xfrm>
              <a:off x="-2690630" y="27208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0" name="Google Shape;524;p34">
              <a:extLst>
                <a:ext uri="{FF2B5EF4-FFF2-40B4-BE49-F238E27FC236}">
                  <a16:creationId xmlns:a16="http://schemas.microsoft.com/office/drawing/2014/main" id="{ADDAAB3E-7738-E327-B1BA-52E150B6508F}"/>
                </a:ext>
              </a:extLst>
            </p:cNvPr>
            <p:cNvSpPr/>
            <p:nvPr/>
          </p:nvSpPr>
          <p:spPr>
            <a:xfrm>
              <a:off x="-1490480" y="25494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sp>
          <p:nvSpPr>
            <p:cNvPr id="11" name="Google Shape;525;p34">
              <a:extLst>
                <a:ext uri="{FF2B5EF4-FFF2-40B4-BE49-F238E27FC236}">
                  <a16:creationId xmlns:a16="http://schemas.microsoft.com/office/drawing/2014/main" id="{05B5DA08-9E79-C87A-5CF4-5F9C54C3A157}"/>
                </a:ext>
              </a:extLst>
            </p:cNvPr>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12" name="Google Shape;526;p34">
              <a:extLst>
                <a:ext uri="{FF2B5EF4-FFF2-40B4-BE49-F238E27FC236}">
                  <a16:creationId xmlns:a16="http://schemas.microsoft.com/office/drawing/2014/main" id="{A1BCEB1D-B778-AEEA-0934-2F2AFCE74477}"/>
                </a:ext>
              </a:extLst>
            </p:cNvPr>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15" name="Google Shape;527;p34">
              <a:extLst>
                <a:ext uri="{FF2B5EF4-FFF2-40B4-BE49-F238E27FC236}">
                  <a16:creationId xmlns:a16="http://schemas.microsoft.com/office/drawing/2014/main" id="{CA227D8D-2EA4-01F0-F5C7-B02E2AE60D74}"/>
                </a:ext>
              </a:extLst>
            </p:cNvPr>
            <p:cNvSpPr/>
            <p:nvPr/>
          </p:nvSpPr>
          <p:spPr>
            <a:xfrm>
              <a:off x="-804680" y="28351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6" name="Google Shape;528;p34">
              <a:extLst>
                <a:ext uri="{FF2B5EF4-FFF2-40B4-BE49-F238E27FC236}">
                  <a16:creationId xmlns:a16="http://schemas.microsoft.com/office/drawing/2014/main" id="{1F3266CE-73D8-BBBC-D481-5BB86F18957F}"/>
                </a:ext>
              </a:extLst>
            </p:cNvPr>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17" name="Google Shape;529;p34">
              <a:extLst>
                <a:ext uri="{FF2B5EF4-FFF2-40B4-BE49-F238E27FC236}">
                  <a16:creationId xmlns:a16="http://schemas.microsoft.com/office/drawing/2014/main" id="{B1BFCCE1-84AC-D0B1-DC15-F3FB120789A1}"/>
                </a:ext>
              </a:extLst>
            </p:cNvPr>
            <p:cNvCxnSpPr>
              <a:stCxn id="6" idx="6"/>
              <a:endCxn id="10" idx="1"/>
            </p:cNvCxnSpPr>
            <p:nvPr/>
          </p:nvCxnSpPr>
          <p:spPr>
            <a:xfrm>
              <a:off x="-2290580" y="1949351"/>
              <a:ext cx="841800" cy="642000"/>
            </a:xfrm>
            <a:prstGeom prst="curvedConnector2">
              <a:avLst/>
            </a:prstGeom>
            <a:noFill/>
            <a:ln w="9525" cap="flat" cmpd="sng">
              <a:solidFill>
                <a:schemeClr val="dk1"/>
              </a:solidFill>
              <a:prstDash val="solid"/>
              <a:round/>
              <a:headEnd type="none" w="med" len="med"/>
              <a:tailEnd type="triangle" w="med" len="med"/>
            </a:ln>
          </p:spPr>
        </p:cxnSp>
        <p:cxnSp>
          <p:nvCxnSpPr>
            <p:cNvPr id="18" name="Google Shape;530;p34">
              <a:extLst>
                <a:ext uri="{FF2B5EF4-FFF2-40B4-BE49-F238E27FC236}">
                  <a16:creationId xmlns:a16="http://schemas.microsoft.com/office/drawing/2014/main" id="{6CF9865B-4B59-B62A-220B-955219C8239A}"/>
                </a:ext>
              </a:extLst>
            </p:cNvPr>
            <p:cNvCxnSpPr>
              <a:stCxn id="10" idx="2"/>
              <a:endCxn id="6" idx="4"/>
            </p:cNvCxnSpPr>
            <p:nvPr/>
          </p:nvCxnSpPr>
          <p:spPr>
            <a:xfrm rot="10800000">
              <a:off x="-2433380" y="2092301"/>
              <a:ext cx="942900" cy="600000"/>
            </a:xfrm>
            <a:prstGeom prst="curvedConnector2">
              <a:avLst/>
            </a:prstGeom>
            <a:noFill/>
            <a:ln w="9525" cap="flat" cmpd="sng">
              <a:solidFill>
                <a:schemeClr val="dk1"/>
              </a:solidFill>
              <a:prstDash val="solid"/>
              <a:round/>
              <a:headEnd type="none" w="med" len="med"/>
              <a:tailEnd type="triangle" w="med" len="med"/>
            </a:ln>
          </p:spPr>
        </p:cxnSp>
        <p:cxnSp>
          <p:nvCxnSpPr>
            <p:cNvPr id="19" name="Google Shape;531;p34">
              <a:extLst>
                <a:ext uri="{FF2B5EF4-FFF2-40B4-BE49-F238E27FC236}">
                  <a16:creationId xmlns:a16="http://schemas.microsoft.com/office/drawing/2014/main" id="{4A07575F-6718-D4AD-3A8D-4DA0178F4FF8}"/>
                </a:ext>
              </a:extLst>
            </p:cNvPr>
            <p:cNvCxnSpPr>
              <a:stCxn id="16" idx="2"/>
              <a:endCxn id="15"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20" name="Google Shape;532;p34">
              <a:extLst>
                <a:ext uri="{FF2B5EF4-FFF2-40B4-BE49-F238E27FC236}">
                  <a16:creationId xmlns:a16="http://schemas.microsoft.com/office/drawing/2014/main" id="{624FBD51-8001-9CC5-561E-99C85076A37F}"/>
                </a:ext>
              </a:extLst>
            </p:cNvPr>
            <p:cNvCxnSpPr>
              <a:stCxn id="15" idx="6"/>
              <a:endCxn id="16"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21" name="Google Shape;533;p34">
              <a:extLst>
                <a:ext uri="{FF2B5EF4-FFF2-40B4-BE49-F238E27FC236}">
                  <a16:creationId xmlns:a16="http://schemas.microsoft.com/office/drawing/2014/main" id="{BC51F8AD-68E5-E52D-C1BC-083C1585A9DA}"/>
                </a:ext>
              </a:extLst>
            </p:cNvPr>
            <p:cNvCxnSpPr>
              <a:stCxn id="6" idx="3"/>
              <a:endCxn id="8" idx="0"/>
            </p:cNvCxnSpPr>
            <p:nvPr/>
          </p:nvCxnSpPr>
          <p:spPr>
            <a:xfrm flipH="1">
              <a:off x="-2547683" y="2050379"/>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22" name="Google Shape;534;p34">
              <a:extLst>
                <a:ext uri="{FF2B5EF4-FFF2-40B4-BE49-F238E27FC236}">
                  <a16:creationId xmlns:a16="http://schemas.microsoft.com/office/drawing/2014/main" id="{6A456844-5CFF-83B2-BC19-368B8E8249A0}"/>
                </a:ext>
              </a:extLst>
            </p:cNvPr>
            <p:cNvCxnSpPr>
              <a:stCxn id="8" idx="6"/>
              <a:endCxn id="10"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23" name="Google Shape;535;p34">
              <a:extLst>
                <a:ext uri="{FF2B5EF4-FFF2-40B4-BE49-F238E27FC236}">
                  <a16:creationId xmlns:a16="http://schemas.microsoft.com/office/drawing/2014/main" id="{36B6988D-588B-5D25-E2BF-DBEC6222069F}"/>
                </a:ext>
              </a:extLst>
            </p:cNvPr>
            <p:cNvCxnSpPr>
              <a:stCxn id="6" idx="7"/>
              <a:endCxn id="7" idx="2"/>
            </p:cNvCxnSpPr>
            <p:nvPr/>
          </p:nvCxnSpPr>
          <p:spPr>
            <a:xfrm>
              <a:off x="-2332427" y="1848323"/>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24" name="Google Shape;536;p34">
              <a:extLst>
                <a:ext uri="{FF2B5EF4-FFF2-40B4-BE49-F238E27FC236}">
                  <a16:creationId xmlns:a16="http://schemas.microsoft.com/office/drawing/2014/main" id="{2F5B6BC0-B2D5-98B2-AB1D-18FDDC80303F}"/>
                </a:ext>
              </a:extLst>
            </p:cNvPr>
            <p:cNvCxnSpPr>
              <a:stCxn id="7" idx="6"/>
              <a:endCxn id="11"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25" name="Google Shape;537;p34">
              <a:extLst>
                <a:ext uri="{FF2B5EF4-FFF2-40B4-BE49-F238E27FC236}">
                  <a16:creationId xmlns:a16="http://schemas.microsoft.com/office/drawing/2014/main" id="{1C8428F3-5CD7-5BC0-2AA9-367919122DEC}"/>
                </a:ext>
              </a:extLst>
            </p:cNvPr>
            <p:cNvCxnSpPr>
              <a:stCxn id="11" idx="6"/>
              <a:endCxn id="12"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26" name="Google Shape;538;p34">
              <a:extLst>
                <a:ext uri="{FF2B5EF4-FFF2-40B4-BE49-F238E27FC236}">
                  <a16:creationId xmlns:a16="http://schemas.microsoft.com/office/drawing/2014/main" id="{42791FA7-5378-F262-D785-76D98936EF22}"/>
                </a:ext>
              </a:extLst>
            </p:cNvPr>
            <p:cNvCxnSpPr>
              <a:stCxn id="16" idx="1"/>
              <a:endCxn id="11"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27" name="Google Shape;539;p34">
              <a:extLst>
                <a:ext uri="{FF2B5EF4-FFF2-40B4-BE49-F238E27FC236}">
                  <a16:creationId xmlns:a16="http://schemas.microsoft.com/office/drawing/2014/main" id="{E1D2F3FD-4C00-06D3-4B87-EF12F2E0E1DF}"/>
                </a:ext>
              </a:extLst>
            </p:cNvPr>
            <p:cNvCxnSpPr>
              <a:stCxn id="12" idx="4"/>
              <a:endCxn id="16"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28" name="Google Shape;540;p34">
              <a:extLst>
                <a:ext uri="{FF2B5EF4-FFF2-40B4-BE49-F238E27FC236}">
                  <a16:creationId xmlns:a16="http://schemas.microsoft.com/office/drawing/2014/main" id="{40CDFA17-58FC-DA55-288A-D1F8F08B90F9}"/>
                </a:ext>
              </a:extLst>
            </p:cNvPr>
            <p:cNvCxnSpPr>
              <a:stCxn id="7" idx="5"/>
              <a:endCxn id="15"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29" name="Google Shape;541;p34">
              <a:extLst>
                <a:ext uri="{FF2B5EF4-FFF2-40B4-BE49-F238E27FC236}">
                  <a16:creationId xmlns:a16="http://schemas.microsoft.com/office/drawing/2014/main" id="{68056FFC-2AE1-06BE-1228-C4B2C06ED947}"/>
                </a:ext>
              </a:extLst>
            </p:cNvPr>
            <p:cNvCxnSpPr>
              <a:stCxn id="7" idx="4"/>
              <a:endCxn id="10"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30" name="Google Shape;542;p34">
              <a:extLst>
                <a:ext uri="{FF2B5EF4-FFF2-40B4-BE49-F238E27FC236}">
                  <a16:creationId xmlns:a16="http://schemas.microsoft.com/office/drawing/2014/main" id="{C9117F6A-4BE4-DF6D-235F-6D979EB75A83}"/>
                </a:ext>
              </a:extLst>
            </p:cNvPr>
            <p:cNvCxnSpPr>
              <a:stCxn id="10" idx="5"/>
              <a:endCxn id="15" idx="2"/>
            </p:cNvCxnSpPr>
            <p:nvPr/>
          </p:nvCxnSpPr>
          <p:spPr>
            <a:xfrm>
              <a:off x="-1246577" y="2793329"/>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31" name="Google Shape;543;p34">
              <a:extLst>
                <a:ext uri="{FF2B5EF4-FFF2-40B4-BE49-F238E27FC236}">
                  <a16:creationId xmlns:a16="http://schemas.microsoft.com/office/drawing/2014/main" id="{728D5761-A240-23A2-A53E-A35C69B9CB53}"/>
                </a:ext>
              </a:extLst>
            </p:cNvPr>
            <p:cNvCxnSpPr>
              <a:stCxn id="15" idx="3"/>
              <a:endCxn id="8"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32" name="Google Shape;544;p34">
              <a:extLst>
                <a:ext uri="{FF2B5EF4-FFF2-40B4-BE49-F238E27FC236}">
                  <a16:creationId xmlns:a16="http://schemas.microsoft.com/office/drawing/2014/main" id="{01CFAE73-2E49-ACD1-027B-5C693DAF439E}"/>
                </a:ext>
              </a:extLst>
            </p:cNvPr>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33" name="Google Shape;545;p34">
              <a:extLst>
                <a:ext uri="{FF2B5EF4-FFF2-40B4-BE49-F238E27FC236}">
                  <a16:creationId xmlns:a16="http://schemas.microsoft.com/office/drawing/2014/main" id="{6E91061B-3BE3-A150-EE55-D2E9716B7B6F}"/>
                </a:ext>
              </a:extLst>
            </p:cNvPr>
            <p:cNvSpPr txBox="1"/>
            <p:nvPr/>
          </p:nvSpPr>
          <p:spPr>
            <a:xfrm>
              <a:off x="-828619" y="1655898"/>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Calibri"/>
                  <a:ea typeface="Calibri"/>
                  <a:cs typeface="Calibri"/>
                  <a:sym typeface="Calibri"/>
                </a:rPr>
                <a:t>2</a:t>
              </a:r>
              <a:endParaRPr dirty="0"/>
            </a:p>
          </p:txBody>
        </p:sp>
        <p:sp>
          <p:nvSpPr>
            <p:cNvPr id="34" name="Google Shape;546;p34">
              <a:extLst>
                <a:ext uri="{FF2B5EF4-FFF2-40B4-BE49-F238E27FC236}">
                  <a16:creationId xmlns:a16="http://schemas.microsoft.com/office/drawing/2014/main" id="{12E93411-E345-BE74-3393-BF55DEC2BB5E}"/>
                </a:ext>
              </a:extLst>
            </p:cNvPr>
            <p:cNvSpPr txBox="1"/>
            <p:nvPr/>
          </p:nvSpPr>
          <p:spPr>
            <a:xfrm>
              <a:off x="32349" y="166717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35" name="Google Shape;547;p34">
              <a:extLst>
                <a:ext uri="{FF2B5EF4-FFF2-40B4-BE49-F238E27FC236}">
                  <a16:creationId xmlns:a16="http://schemas.microsoft.com/office/drawing/2014/main" id="{92F0D49D-9049-7F84-237C-519EDD64EB46}"/>
                </a:ext>
              </a:extLst>
            </p:cNvPr>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36" name="Google Shape;548;p34">
              <a:extLst>
                <a:ext uri="{FF2B5EF4-FFF2-40B4-BE49-F238E27FC236}">
                  <a16:creationId xmlns:a16="http://schemas.microsoft.com/office/drawing/2014/main" id="{519D53B4-32CF-46F4-289E-79C0EDA13C96}"/>
                </a:ext>
              </a:extLst>
            </p:cNvPr>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37" name="Google Shape;549;p34">
              <a:extLst>
                <a:ext uri="{FF2B5EF4-FFF2-40B4-BE49-F238E27FC236}">
                  <a16:creationId xmlns:a16="http://schemas.microsoft.com/office/drawing/2014/main" id="{60DF9FC6-EA57-210F-2451-B2C4773797A2}"/>
                </a:ext>
              </a:extLst>
            </p:cNvPr>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38" name="Google Shape;550;p34">
              <a:extLst>
                <a:ext uri="{FF2B5EF4-FFF2-40B4-BE49-F238E27FC236}">
                  <a16:creationId xmlns:a16="http://schemas.microsoft.com/office/drawing/2014/main" id="{C2749A6C-4185-C4E0-96BB-35773A9AC345}"/>
                </a:ext>
              </a:extLst>
            </p:cNvPr>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39" name="Google Shape;551;p34">
              <a:extLst>
                <a:ext uri="{FF2B5EF4-FFF2-40B4-BE49-F238E27FC236}">
                  <a16:creationId xmlns:a16="http://schemas.microsoft.com/office/drawing/2014/main" id="{783BFBA4-6F4C-BE5C-01B4-D6C376AC152A}"/>
                </a:ext>
              </a:extLst>
            </p:cNvPr>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40" name="Google Shape;552;p34">
              <a:extLst>
                <a:ext uri="{FF2B5EF4-FFF2-40B4-BE49-F238E27FC236}">
                  <a16:creationId xmlns:a16="http://schemas.microsoft.com/office/drawing/2014/main" id="{99CF9E54-AC48-58D6-C766-764921C23A57}"/>
                </a:ext>
              </a:extLst>
            </p:cNvPr>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41" name="Google Shape;553;p34">
              <a:extLst>
                <a:ext uri="{FF2B5EF4-FFF2-40B4-BE49-F238E27FC236}">
                  <a16:creationId xmlns:a16="http://schemas.microsoft.com/office/drawing/2014/main" id="{5135C31E-37CE-A5DB-7012-457CA0C87410}"/>
                </a:ext>
              </a:extLst>
            </p:cNvPr>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42" name="Google Shape;554;p34">
              <a:extLst>
                <a:ext uri="{FF2B5EF4-FFF2-40B4-BE49-F238E27FC236}">
                  <a16:creationId xmlns:a16="http://schemas.microsoft.com/office/drawing/2014/main" id="{B9316629-2C35-6D4B-FBB0-1D4C3D2233D4}"/>
                </a:ext>
              </a:extLst>
            </p:cNvPr>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43" name="Google Shape;555;p34">
              <a:extLst>
                <a:ext uri="{FF2B5EF4-FFF2-40B4-BE49-F238E27FC236}">
                  <a16:creationId xmlns:a16="http://schemas.microsoft.com/office/drawing/2014/main" id="{4F58C8AD-9D30-F33A-05BF-AFD8DDB2336F}"/>
                </a:ext>
              </a:extLst>
            </p:cNvPr>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9</a:t>
              </a:r>
              <a:endParaRPr/>
            </a:p>
          </p:txBody>
        </p:sp>
        <p:sp>
          <p:nvSpPr>
            <p:cNvPr id="44" name="Google Shape;556;p34">
              <a:extLst>
                <a:ext uri="{FF2B5EF4-FFF2-40B4-BE49-F238E27FC236}">
                  <a16:creationId xmlns:a16="http://schemas.microsoft.com/office/drawing/2014/main" id="{9F831AF9-C076-9F5E-49AA-BCE5134BDED5}"/>
                </a:ext>
              </a:extLst>
            </p:cNvPr>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45" name="Google Shape;557;p34">
              <a:extLst>
                <a:ext uri="{FF2B5EF4-FFF2-40B4-BE49-F238E27FC236}">
                  <a16:creationId xmlns:a16="http://schemas.microsoft.com/office/drawing/2014/main" id="{1BB94E9C-ACD6-FCBD-1800-2D72C1392F43}"/>
                </a:ext>
              </a:extLst>
            </p:cNvPr>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46" name="Google Shape;558;p34">
              <a:extLst>
                <a:ext uri="{FF2B5EF4-FFF2-40B4-BE49-F238E27FC236}">
                  <a16:creationId xmlns:a16="http://schemas.microsoft.com/office/drawing/2014/main" id="{7F63F563-A35C-5F01-64EF-02F271F92A0D}"/>
                </a:ext>
              </a:extLst>
            </p:cNvPr>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grpSp>
      <p:sp>
        <p:nvSpPr>
          <p:cNvPr id="55" name="Google Shape;567;p34">
            <a:extLst>
              <a:ext uri="{FF2B5EF4-FFF2-40B4-BE49-F238E27FC236}">
                <a16:creationId xmlns:a16="http://schemas.microsoft.com/office/drawing/2014/main" id="{0404AE7A-6CFA-443E-318C-64935799782B}"/>
              </a:ext>
            </a:extLst>
          </p:cNvPr>
          <p:cNvSpPr txBox="1"/>
          <p:nvPr/>
        </p:nvSpPr>
        <p:spPr>
          <a:xfrm>
            <a:off x="230252" y="3776337"/>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56" name="Google Shape;1032;p42">
            <a:extLst>
              <a:ext uri="{FF2B5EF4-FFF2-40B4-BE49-F238E27FC236}">
                <a16:creationId xmlns:a16="http://schemas.microsoft.com/office/drawing/2014/main" id="{89068276-794E-FBF6-7A3B-B5B81B77C038}"/>
              </a:ext>
            </a:extLst>
          </p:cNvPr>
          <p:cNvSpPr txBox="1"/>
          <p:nvPr/>
        </p:nvSpPr>
        <p:spPr>
          <a:xfrm>
            <a:off x="6540209" y="1729703"/>
            <a:ext cx="30927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rPr>
              <a:t>Visit Order</a:t>
            </a:r>
            <a:endParaRPr dirty="0">
              <a:latin typeface="Quattrocento Sans"/>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rPr>
              <a:t>A, C, B, D, F, H, G, E</a:t>
            </a:r>
            <a:endParaRPr dirty="0">
              <a:latin typeface="Quattrocento Sans"/>
              <a:ea typeface="Quattrocento Sans"/>
              <a:cs typeface="Quattrocento Sans"/>
              <a:sym typeface="Quattrocento Sans"/>
            </a:endParaRPr>
          </a:p>
        </p:txBody>
      </p:sp>
      <p:graphicFrame>
        <p:nvGraphicFramePr>
          <p:cNvPr id="57" name="Google Shape;1031;p42">
            <a:extLst>
              <a:ext uri="{FF2B5EF4-FFF2-40B4-BE49-F238E27FC236}">
                <a16:creationId xmlns:a16="http://schemas.microsoft.com/office/drawing/2014/main" id="{399636EF-A300-EE68-C6C6-C62152D975CE}"/>
              </a:ext>
            </a:extLst>
          </p:cNvPr>
          <p:cNvGraphicFramePr/>
          <p:nvPr>
            <p:extLst>
              <p:ext uri="{D42A27DB-BD31-4B8C-83A1-F6EECF244321}">
                <p14:modId xmlns:p14="http://schemas.microsoft.com/office/powerpoint/2010/main" val="1312417989"/>
              </p:ext>
            </p:extLst>
          </p:nvPr>
        </p:nvGraphicFramePr>
        <p:xfrm>
          <a:off x="6525823" y="2796795"/>
          <a:ext cx="3107085" cy="3840300"/>
        </p:xfrm>
        <a:graphic>
          <a:graphicData uri="http://schemas.openxmlformats.org/drawingml/2006/table">
            <a:tbl>
              <a:tblPr firstRow="1" bandRow="1">
                <a:noFill/>
              </a:tblPr>
              <a:tblGrid>
                <a:gridCol w="1035695">
                  <a:extLst>
                    <a:ext uri="{9D8B030D-6E8A-4147-A177-3AD203B41FA5}">
                      <a16:colId xmlns:a16="http://schemas.microsoft.com/office/drawing/2014/main" val="20000"/>
                    </a:ext>
                  </a:extLst>
                </a:gridCol>
                <a:gridCol w="1035695">
                  <a:extLst>
                    <a:ext uri="{9D8B030D-6E8A-4147-A177-3AD203B41FA5}">
                      <a16:colId xmlns:a16="http://schemas.microsoft.com/office/drawing/2014/main" val="20002"/>
                    </a:ext>
                  </a:extLst>
                </a:gridCol>
                <a:gridCol w="1035695">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14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1800">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18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18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12</a:t>
                      </a:r>
                      <a:r>
                        <a:rPr lang="en-US" sz="2000" b="0" i="0" u="none" strike="noStrike" cap="none" dirty="0">
                          <a:solidFill>
                            <a:schemeClr val="tx1"/>
                          </a:solidFill>
                          <a:latin typeface="Quattrocento Sans"/>
                          <a:ea typeface="Quattrocento Sans"/>
                          <a:cs typeface="Quattrocento Sans"/>
                          <a:sym typeface="Quattrocento Sans"/>
                        </a:rPr>
                        <a:t> 11</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C</a:t>
                      </a:r>
                      <a:r>
                        <a:rPr lang="en-US" sz="2000" b="0" dirty="0">
                          <a:solidFill>
                            <a:schemeClr val="tx1"/>
                          </a:solidFill>
                          <a:latin typeface="Quattrocento Sans"/>
                          <a:ea typeface="Quattrocento Sans"/>
                          <a:cs typeface="Quattrocento Sans"/>
                          <a:sym typeface="Quattrocento Sans"/>
                        </a:rPr>
                        <a:t> G</a:t>
                      </a:r>
                      <a:endParaRPr sz="18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7</a:t>
                      </a:r>
                      <a:r>
                        <a:rPr lang="en-US" sz="2000" b="0" i="0" u="none" strike="noStrike" cap="none" dirty="0">
                          <a:solidFill>
                            <a:schemeClr val="tx1"/>
                          </a:solidFill>
                          <a:latin typeface="Quattrocento Sans"/>
                          <a:ea typeface="Quattrocento Sans"/>
                          <a:cs typeface="Quattrocento Sans"/>
                          <a:sym typeface="Quattrocento Sans"/>
                        </a:rPr>
                        <a:t> 8</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8</a:t>
                      </a:r>
                      <a:r>
                        <a:rPr lang="en-US" sz="2000" b="0" dirty="0">
                          <a:solidFill>
                            <a:schemeClr val="tx1"/>
                          </a:solidFill>
                          <a:latin typeface="Quattrocento Sans"/>
                          <a:ea typeface="Quattrocento Sans"/>
                          <a:cs typeface="Quattrocento Sans"/>
                          <a:sym typeface="Quattrocento Sans"/>
                        </a:rPr>
                        <a:t> H</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18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6114827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3816D8-2144-208F-51D1-5DE1BA1EF4A7}"/>
              </a:ext>
            </a:extLst>
          </p:cNvPr>
          <p:cNvSpPr>
            <a:spLocks noGrp="1"/>
          </p:cNvSpPr>
          <p:nvPr>
            <p:ph idx="1"/>
          </p:nvPr>
        </p:nvSpPr>
        <p:spPr>
          <a:xfrm>
            <a:off x="798129" y="1278176"/>
            <a:ext cx="9820225" cy="1223369"/>
          </a:xfrm>
        </p:spPr>
        <p:txBody>
          <a:bodyPr/>
          <a:lstStyle/>
          <a:p>
            <a:r>
              <a:rPr lang="en-GB" sz="2400" dirty="0"/>
              <a:t>Dijkstras Shortest Path Algorithm Explained | With Example | Graph Theory</a:t>
            </a:r>
          </a:p>
          <a:p>
            <a:pPr lvl="1"/>
            <a:r>
              <a:rPr lang="en-GB" sz="2000" dirty="0">
                <a:hlinkClick r:id="rId2"/>
              </a:rPr>
              <a:t>https://www.youtube.com/watch?v=bZkzH5x0SKU</a:t>
            </a:r>
            <a:endParaRPr lang="en-GB" sz="2000" dirty="0"/>
          </a:p>
        </p:txBody>
      </p:sp>
      <p:pic>
        <p:nvPicPr>
          <p:cNvPr id="5" name="Picture 4">
            <a:extLst>
              <a:ext uri="{FF2B5EF4-FFF2-40B4-BE49-F238E27FC236}">
                <a16:creationId xmlns:a16="http://schemas.microsoft.com/office/drawing/2014/main" id="{1038EA37-DCE5-57B3-CDC7-126279ED9F3C}"/>
              </a:ext>
            </a:extLst>
          </p:cNvPr>
          <p:cNvPicPr>
            <a:picLocks noChangeAspect="1"/>
          </p:cNvPicPr>
          <p:nvPr/>
        </p:nvPicPr>
        <p:blipFill>
          <a:blip r:embed="rId3"/>
          <a:stretch>
            <a:fillRect/>
          </a:stretch>
        </p:blipFill>
        <p:spPr>
          <a:xfrm>
            <a:off x="2455715" y="2501545"/>
            <a:ext cx="7862463" cy="3990496"/>
          </a:xfrm>
          <a:prstGeom prst="rect">
            <a:avLst/>
          </a:prstGeom>
        </p:spPr>
      </p:pic>
      <p:sp>
        <p:nvSpPr>
          <p:cNvPr id="7" name="Google Shape;866;p40">
            <a:extLst>
              <a:ext uri="{FF2B5EF4-FFF2-40B4-BE49-F238E27FC236}">
                <a16:creationId xmlns:a16="http://schemas.microsoft.com/office/drawing/2014/main" id="{0327EEC0-EF41-3AA9-35E9-BE461905BE82}"/>
              </a:ext>
            </a:extLst>
          </p:cNvPr>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II</a:t>
            </a:r>
            <a:endParaRPr dirty="0"/>
          </a:p>
        </p:txBody>
      </p:sp>
    </p:spTree>
    <p:extLst>
      <p:ext uri="{BB962C8B-B14F-4D97-AF65-F5344CB8AC3E}">
        <p14:creationId xmlns:p14="http://schemas.microsoft.com/office/powerpoint/2010/main" val="9540303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E8041-B38F-2C46-34E4-12333279D8FC}"/>
              </a:ext>
            </a:extLst>
          </p:cNvPr>
          <p:cNvSpPr>
            <a:spLocks noGrp="1"/>
          </p:cNvSpPr>
          <p:nvPr>
            <p:ph type="title"/>
          </p:nvPr>
        </p:nvSpPr>
        <p:spPr/>
        <p:txBody>
          <a:bodyPr/>
          <a:lstStyle/>
          <a:p>
            <a:r>
              <a:rPr lang="en-GB" dirty="0"/>
              <a:t>Initialize</a:t>
            </a:r>
            <a:endParaRPr lang="en-SE" dirty="0"/>
          </a:p>
        </p:txBody>
      </p:sp>
      <p:sp>
        <p:nvSpPr>
          <p:cNvPr id="3" name="Content Placeholder 2">
            <a:extLst>
              <a:ext uri="{FF2B5EF4-FFF2-40B4-BE49-F238E27FC236}">
                <a16:creationId xmlns:a16="http://schemas.microsoft.com/office/drawing/2014/main" id="{BA967C86-4481-151F-69BA-6395BBA93E43}"/>
              </a:ext>
            </a:extLst>
          </p:cNvPr>
          <p:cNvSpPr>
            <a:spLocks noGrp="1"/>
          </p:cNvSpPr>
          <p:nvPr>
            <p:ph idx="1"/>
          </p:nvPr>
        </p:nvSpPr>
        <p:spPr>
          <a:xfrm>
            <a:off x="746174" y="1568275"/>
            <a:ext cx="9820225" cy="603200"/>
          </a:xfrm>
        </p:spPr>
        <p:txBody>
          <a:bodyPr/>
          <a:lstStyle/>
          <a:p>
            <a:endParaRPr lang="en-SE" dirty="0"/>
          </a:p>
        </p:txBody>
      </p:sp>
      <p:pic>
        <p:nvPicPr>
          <p:cNvPr id="7" name="Picture 6">
            <a:extLst>
              <a:ext uri="{FF2B5EF4-FFF2-40B4-BE49-F238E27FC236}">
                <a16:creationId xmlns:a16="http://schemas.microsoft.com/office/drawing/2014/main" id="{34BAF77F-78EE-8D22-20A0-24E4F7D08FC6}"/>
              </a:ext>
            </a:extLst>
          </p:cNvPr>
          <p:cNvPicPr>
            <a:picLocks noChangeAspect="1"/>
          </p:cNvPicPr>
          <p:nvPr/>
        </p:nvPicPr>
        <p:blipFill>
          <a:blip r:embed="rId2"/>
          <a:stretch>
            <a:fillRect/>
          </a:stretch>
        </p:blipFill>
        <p:spPr>
          <a:xfrm>
            <a:off x="2427515" y="1736028"/>
            <a:ext cx="7648339" cy="3385945"/>
          </a:xfrm>
          <a:prstGeom prst="rect">
            <a:avLst/>
          </a:prstGeom>
        </p:spPr>
      </p:pic>
    </p:spTree>
    <p:extLst>
      <p:ext uri="{BB962C8B-B14F-4D97-AF65-F5344CB8AC3E}">
        <p14:creationId xmlns:p14="http://schemas.microsoft.com/office/powerpoint/2010/main" val="36045467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8BE9-BAF9-7368-6B82-95FF25A192AE}"/>
              </a:ext>
            </a:extLst>
          </p:cNvPr>
          <p:cNvSpPr>
            <a:spLocks noGrp="1"/>
          </p:cNvSpPr>
          <p:nvPr>
            <p:ph type="title"/>
          </p:nvPr>
        </p:nvSpPr>
        <p:spPr/>
        <p:txBody>
          <a:bodyPr/>
          <a:lstStyle/>
          <a:p>
            <a:r>
              <a:rPr lang="en-GB" dirty="0"/>
              <a:t>Visit node A</a:t>
            </a:r>
            <a:endParaRPr lang="en-SE" dirty="0"/>
          </a:p>
        </p:txBody>
      </p:sp>
      <p:sp>
        <p:nvSpPr>
          <p:cNvPr id="3" name="Content Placeholder 2">
            <a:extLst>
              <a:ext uri="{FF2B5EF4-FFF2-40B4-BE49-F238E27FC236}">
                <a16:creationId xmlns:a16="http://schemas.microsoft.com/office/drawing/2014/main" id="{8C52CB22-8B02-6024-DB1A-DB7765E85768}"/>
              </a:ext>
            </a:extLst>
          </p:cNvPr>
          <p:cNvSpPr>
            <a:spLocks noGrp="1"/>
          </p:cNvSpPr>
          <p:nvPr>
            <p:ph idx="1"/>
          </p:nvPr>
        </p:nvSpPr>
        <p:spPr>
          <a:xfrm>
            <a:off x="746174" y="1568275"/>
            <a:ext cx="9820225" cy="603200"/>
          </a:xfrm>
        </p:spPr>
        <p:txBody>
          <a:bodyPr/>
          <a:lstStyle/>
          <a:p>
            <a:endParaRPr lang="en-SE"/>
          </a:p>
        </p:txBody>
      </p:sp>
      <p:pic>
        <p:nvPicPr>
          <p:cNvPr id="5" name="Picture 4">
            <a:extLst>
              <a:ext uri="{FF2B5EF4-FFF2-40B4-BE49-F238E27FC236}">
                <a16:creationId xmlns:a16="http://schemas.microsoft.com/office/drawing/2014/main" id="{F930F201-3B8A-2F91-FCF5-64B10D1DF89C}"/>
              </a:ext>
            </a:extLst>
          </p:cNvPr>
          <p:cNvPicPr>
            <a:picLocks noChangeAspect="1"/>
          </p:cNvPicPr>
          <p:nvPr/>
        </p:nvPicPr>
        <p:blipFill>
          <a:blip r:embed="rId2"/>
          <a:stretch>
            <a:fillRect/>
          </a:stretch>
        </p:blipFill>
        <p:spPr>
          <a:xfrm>
            <a:off x="2261605" y="1600200"/>
            <a:ext cx="7668791" cy="3401662"/>
          </a:xfrm>
          <a:prstGeom prst="rect">
            <a:avLst/>
          </a:prstGeom>
        </p:spPr>
      </p:pic>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EE7BF997-AFAE-BF31-2C13-E3DDA96E079A}"/>
                  </a:ext>
                </a:extLst>
              </p:cNvPr>
              <p:cNvSpPr/>
              <p:nvPr/>
            </p:nvSpPr>
            <p:spPr>
              <a:xfrm>
                <a:off x="2708478" y="5383034"/>
                <a:ext cx="6775042"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SD[B]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SD[A] + w(A,B) =</a:t>
                </a:r>
                <a:r>
                  <a:rPr lang="en-GB" sz="1800" dirty="0">
                    <a:solidFill>
                      <a:schemeClr val="tx1"/>
                    </a:solidFill>
                    <a:latin typeface="Times New Roman" panose="02020603050405020304" pitchFamily="18" charset="0"/>
                    <a:cs typeface="Times New Roman" panose="02020603050405020304" pitchFamily="18" charset="0"/>
                  </a:rPr>
                  <a:t> 0+2 = 2</a:t>
                </a:r>
              </a:p>
              <a:p>
                <a:r>
                  <a:rPr lang="en-US" sz="1800" dirty="0">
                    <a:solidFill>
                      <a:schemeClr val="tx1"/>
                    </a:solidFill>
                    <a:latin typeface="Times New Roman" panose="02020603050405020304" pitchFamily="18" charset="0"/>
                    <a:cs typeface="Times New Roman" panose="02020603050405020304" pitchFamily="18" charset="0"/>
                  </a:rPr>
                  <a:t>NEW SD[B]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SD[A] + w(A,B) =</a:t>
                </a:r>
                <a:r>
                  <a:rPr lang="en-GB" sz="1800" dirty="0">
                    <a:solidFill>
                      <a:schemeClr val="tx1"/>
                    </a:solidFill>
                    <a:latin typeface="Times New Roman" panose="02020603050405020304" pitchFamily="18" charset="0"/>
                    <a:cs typeface="Times New Roman" panose="02020603050405020304" pitchFamily="18" charset="0"/>
                  </a:rPr>
                  <a:t> 2, PN</a:t>
                </a:r>
                <a:r>
                  <a:rPr lang="en-US" sz="1800" dirty="0">
                    <a:solidFill>
                      <a:schemeClr val="tx1"/>
                    </a:solidFill>
                    <a:latin typeface="Times New Roman" panose="02020603050405020304" pitchFamily="18" charset="0"/>
                    <a:cs typeface="Times New Roman" panose="02020603050405020304" pitchFamily="18" charset="0"/>
                  </a:rPr>
                  <a:t>[B] = A</a:t>
                </a:r>
                <a:endParaRPr lang="en-GB" sz="1800" dirty="0">
                  <a:solidFill>
                    <a:schemeClr val="tx1"/>
                  </a:solidFill>
                  <a:latin typeface="Times New Roman" panose="02020603050405020304" pitchFamily="18" charset="0"/>
                  <a:cs typeface="Times New Roman" panose="02020603050405020304" pitchFamily="18" charset="0"/>
                </a:endParaRPr>
              </a:p>
              <a:p>
                <a:r>
                  <a:rPr lang="en-US" sz="1800" dirty="0">
                    <a:solidFill>
                      <a:schemeClr val="tx1"/>
                    </a:solidFill>
                    <a:latin typeface="Times New Roman" panose="02020603050405020304" pitchFamily="18" charset="0"/>
                    <a:cs typeface="Times New Roman" panose="02020603050405020304" pitchFamily="18" charset="0"/>
                  </a:rPr>
                  <a:t>OLD SD[D]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SD[A] + w(A,D) =</a:t>
                </a:r>
                <a:r>
                  <a:rPr lang="en-GB" sz="1800" dirty="0">
                    <a:solidFill>
                      <a:schemeClr val="tx1"/>
                    </a:solidFill>
                    <a:latin typeface="Times New Roman" panose="02020603050405020304" pitchFamily="18" charset="0"/>
                    <a:cs typeface="Times New Roman" panose="02020603050405020304" pitchFamily="18" charset="0"/>
                  </a:rPr>
                  <a:t> 0+8 = 8</a:t>
                </a:r>
              </a:p>
              <a:p>
                <a:r>
                  <a:rPr lang="en-US" sz="1800" dirty="0">
                    <a:solidFill>
                      <a:schemeClr val="tx1"/>
                    </a:solidFill>
                    <a:latin typeface="Times New Roman" panose="02020603050405020304" pitchFamily="18" charset="0"/>
                    <a:cs typeface="Times New Roman" panose="02020603050405020304" pitchFamily="18" charset="0"/>
                  </a:rPr>
                  <a:t>NEW SD[D]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SD[A] + w(A,D) = 8,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[D] = A</a:t>
                </a:r>
              </a:p>
            </p:txBody>
          </p:sp>
        </mc:Choice>
        <mc:Fallback xmlns="">
          <p:sp>
            <p:nvSpPr>
              <p:cNvPr id="8" name="Rectangle 7">
                <a:extLst>
                  <a:ext uri="{FF2B5EF4-FFF2-40B4-BE49-F238E27FC236}">
                    <a16:creationId xmlns:a16="http://schemas.microsoft.com/office/drawing/2014/main" id="{EE7BF997-AFAE-BF31-2C13-E3DDA96E079A}"/>
                  </a:ext>
                </a:extLst>
              </p:cNvPr>
              <p:cNvSpPr>
                <a:spLocks noRot="1" noChangeAspect="1" noMove="1" noResize="1" noEditPoints="1" noAdjustHandles="1" noChangeArrowheads="1" noChangeShapeType="1" noTextEdit="1"/>
              </p:cNvSpPr>
              <p:nvPr/>
            </p:nvSpPr>
            <p:spPr>
              <a:xfrm>
                <a:off x="2708478" y="5383034"/>
                <a:ext cx="6775042" cy="1200329"/>
              </a:xfrm>
              <a:prstGeom prst="rect">
                <a:avLst/>
              </a:prstGeom>
              <a:blipFill>
                <a:blip r:embed="rId3"/>
                <a:stretch>
                  <a:fillRect/>
                </a:stretch>
              </a:blipFill>
            </p:spPr>
            <p:txBody>
              <a:bodyPr/>
              <a:lstStyle/>
              <a:p>
                <a:r>
                  <a:rPr lang="en-SE">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29" name="Ink 28">
                <a:extLst>
                  <a:ext uri="{FF2B5EF4-FFF2-40B4-BE49-F238E27FC236}">
                    <a16:creationId xmlns:a16="http://schemas.microsoft.com/office/drawing/2014/main" id="{3414E581-497A-4E2B-BCDB-1BE2F6CDE145}"/>
                  </a:ext>
                </a:extLst>
              </p14:cNvPr>
              <p14:cNvContentPartPr/>
              <p14:nvPr/>
            </p14:nvContentPartPr>
            <p14:xfrm>
              <a:off x="15045012" y="5454608"/>
              <a:ext cx="360" cy="360"/>
            </p14:xfrm>
          </p:contentPart>
        </mc:Choice>
        <mc:Fallback xmlns="">
          <p:pic>
            <p:nvPicPr>
              <p:cNvPr id="29" name="Ink 28">
                <a:extLst>
                  <a:ext uri="{FF2B5EF4-FFF2-40B4-BE49-F238E27FC236}">
                    <a16:creationId xmlns:a16="http://schemas.microsoft.com/office/drawing/2014/main" id="{3414E581-497A-4E2B-BCDB-1BE2F6CDE145}"/>
                  </a:ext>
                </a:extLst>
              </p:cNvPr>
              <p:cNvPicPr/>
              <p:nvPr/>
            </p:nvPicPr>
            <p:blipFill>
              <a:blip r:embed="rId5"/>
              <a:stretch>
                <a:fillRect/>
              </a:stretch>
            </p:blipFill>
            <p:spPr>
              <a:xfrm>
                <a:off x="15036012" y="5445608"/>
                <a:ext cx="18000" cy="18000"/>
              </a:xfrm>
              <a:prstGeom prst="rect">
                <a:avLst/>
              </a:prstGeom>
            </p:spPr>
          </p:pic>
        </mc:Fallback>
      </mc:AlternateContent>
    </p:spTree>
    <p:extLst>
      <p:ext uri="{BB962C8B-B14F-4D97-AF65-F5344CB8AC3E}">
        <p14:creationId xmlns:p14="http://schemas.microsoft.com/office/powerpoint/2010/main" val="1679638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8D1D-A738-2941-0E14-4854DDC88448}"/>
              </a:ext>
            </a:extLst>
          </p:cNvPr>
          <p:cNvSpPr>
            <a:spLocks noGrp="1"/>
          </p:cNvSpPr>
          <p:nvPr>
            <p:ph type="title"/>
          </p:nvPr>
        </p:nvSpPr>
        <p:spPr/>
        <p:txBody>
          <a:bodyPr/>
          <a:lstStyle/>
          <a:p>
            <a:r>
              <a:rPr lang="en-GB" dirty="0"/>
              <a:t>Visit node B</a:t>
            </a:r>
            <a:endParaRPr lang="en-SE" dirty="0"/>
          </a:p>
        </p:txBody>
      </p:sp>
      <p:sp>
        <p:nvSpPr>
          <p:cNvPr id="3" name="Content Placeholder 2">
            <a:extLst>
              <a:ext uri="{FF2B5EF4-FFF2-40B4-BE49-F238E27FC236}">
                <a16:creationId xmlns:a16="http://schemas.microsoft.com/office/drawing/2014/main" id="{31FDFA1F-E60C-28A1-CBF2-CD9129D07BCB}"/>
              </a:ext>
            </a:extLst>
          </p:cNvPr>
          <p:cNvSpPr>
            <a:spLocks noGrp="1"/>
          </p:cNvSpPr>
          <p:nvPr>
            <p:ph idx="1"/>
          </p:nvPr>
        </p:nvSpPr>
        <p:spPr>
          <a:xfrm>
            <a:off x="746174" y="1568275"/>
            <a:ext cx="9820225" cy="603200"/>
          </a:xfrm>
        </p:spPr>
        <p:txBody>
          <a:bodyPr/>
          <a:lstStyle/>
          <a:p>
            <a:endParaRPr lang="en-SE" dirty="0"/>
          </a:p>
        </p:txBody>
      </p:sp>
      <p:pic>
        <p:nvPicPr>
          <p:cNvPr id="7" name="Picture 6">
            <a:extLst>
              <a:ext uri="{FF2B5EF4-FFF2-40B4-BE49-F238E27FC236}">
                <a16:creationId xmlns:a16="http://schemas.microsoft.com/office/drawing/2014/main" id="{9E92E6F0-6E4F-8226-2C36-DBE19FB378DE}"/>
              </a:ext>
            </a:extLst>
          </p:cNvPr>
          <p:cNvPicPr>
            <a:picLocks noChangeAspect="1"/>
          </p:cNvPicPr>
          <p:nvPr/>
        </p:nvPicPr>
        <p:blipFill>
          <a:blip r:embed="rId3"/>
          <a:stretch>
            <a:fillRect/>
          </a:stretch>
        </p:blipFill>
        <p:spPr>
          <a:xfrm>
            <a:off x="2331085" y="1573502"/>
            <a:ext cx="7529830" cy="3353186"/>
          </a:xfrm>
          <a:prstGeom prst="rect">
            <a:avLst/>
          </a:prstGeom>
        </p:spPr>
      </p:pic>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230AFDE1-4BE3-1924-5DAC-80F6E009C6EA}"/>
                  </a:ext>
                </a:extLst>
              </p:cNvPr>
              <p:cNvSpPr/>
              <p:nvPr/>
            </p:nvSpPr>
            <p:spPr>
              <a:xfrm>
                <a:off x="2701405" y="5383034"/>
                <a:ext cx="6789190"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SD[D] = 8 &gt; SD[B] + w(B,D) =</a:t>
                </a:r>
                <a:r>
                  <a:rPr lang="en-GB" sz="1800" dirty="0">
                    <a:solidFill>
                      <a:schemeClr val="tx1"/>
                    </a:solidFill>
                    <a:latin typeface="Times New Roman" panose="02020603050405020304" pitchFamily="18" charset="0"/>
                    <a:cs typeface="Times New Roman" panose="02020603050405020304" pitchFamily="18" charset="0"/>
                  </a:rPr>
                  <a:t> 2+5 = 7</a:t>
                </a:r>
              </a:p>
              <a:p>
                <a:r>
                  <a:rPr lang="en-US" sz="1800" dirty="0">
                    <a:solidFill>
                      <a:schemeClr val="tx1"/>
                    </a:solidFill>
                    <a:latin typeface="Times New Roman" panose="02020603050405020304" pitchFamily="18" charset="0"/>
                    <a:cs typeface="Times New Roman" panose="02020603050405020304" pitchFamily="18" charset="0"/>
                  </a:rPr>
                  <a:t>NEW SD[D]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SD[B] + w(B,D) = 7,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[D] = B</a:t>
                </a:r>
              </a:p>
              <a:p>
                <a:r>
                  <a:rPr lang="en-US" sz="1800" dirty="0">
                    <a:solidFill>
                      <a:schemeClr val="tx1"/>
                    </a:solidFill>
                    <a:latin typeface="Times New Roman" panose="02020603050405020304" pitchFamily="18" charset="0"/>
                    <a:cs typeface="Times New Roman" panose="02020603050405020304" pitchFamily="18" charset="0"/>
                  </a:rPr>
                  <a:t>OLD SD[E]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SD[B] + w(B,E) =</a:t>
                </a:r>
                <a:r>
                  <a:rPr lang="en-GB" sz="1800" dirty="0">
                    <a:solidFill>
                      <a:schemeClr val="tx1"/>
                    </a:solidFill>
                    <a:latin typeface="Times New Roman" panose="02020603050405020304" pitchFamily="18" charset="0"/>
                    <a:cs typeface="Times New Roman" panose="02020603050405020304" pitchFamily="18" charset="0"/>
                  </a:rPr>
                  <a:t> 2+6 = 8</a:t>
                </a:r>
              </a:p>
              <a:p>
                <a:r>
                  <a:rPr lang="en-US" sz="1800" dirty="0">
                    <a:solidFill>
                      <a:schemeClr val="tx1"/>
                    </a:solidFill>
                    <a:latin typeface="Times New Roman" panose="02020603050405020304" pitchFamily="18" charset="0"/>
                    <a:cs typeface="Times New Roman" panose="02020603050405020304" pitchFamily="18" charset="0"/>
                  </a:rPr>
                  <a:t>NEW SD[E]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SD[B] + w(B,E) = 8,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[E] = B</a:t>
                </a:r>
                <a:endParaRPr lang="en-GB" sz="1800" dirty="0">
                  <a:solidFill>
                    <a:schemeClr val="tx1"/>
                  </a:solidFill>
                  <a:latin typeface="Times New Roman" panose="02020603050405020304" pitchFamily="18" charset="0"/>
                  <a:cs typeface="Times New Roman" panose="02020603050405020304" pitchFamily="18" charset="0"/>
                </a:endParaRPr>
              </a:p>
            </p:txBody>
          </p:sp>
        </mc:Choice>
        <mc:Fallback xmlns="">
          <p:sp>
            <p:nvSpPr>
              <p:cNvPr id="11" name="Rectangle 10">
                <a:extLst>
                  <a:ext uri="{FF2B5EF4-FFF2-40B4-BE49-F238E27FC236}">
                    <a16:creationId xmlns:a16="http://schemas.microsoft.com/office/drawing/2014/main" id="{230AFDE1-4BE3-1924-5DAC-80F6E009C6EA}"/>
                  </a:ext>
                </a:extLst>
              </p:cNvPr>
              <p:cNvSpPr>
                <a:spLocks noRot="1" noChangeAspect="1" noMove="1" noResize="1" noEditPoints="1" noAdjustHandles="1" noChangeArrowheads="1" noChangeShapeType="1" noTextEdit="1"/>
              </p:cNvSpPr>
              <p:nvPr/>
            </p:nvSpPr>
            <p:spPr>
              <a:xfrm>
                <a:off x="2701405" y="5383034"/>
                <a:ext cx="6789190" cy="1200329"/>
              </a:xfrm>
              <a:prstGeom prst="rect">
                <a:avLst/>
              </a:prstGeom>
              <a:blipFill>
                <a:blip r:embed="rId4"/>
                <a:stretch>
                  <a:fillRect/>
                </a:stretch>
              </a:blipFill>
            </p:spPr>
            <p:txBody>
              <a:bodyPr/>
              <a:lstStyle/>
              <a:p>
                <a:r>
                  <a:rPr lang="en-SE">
                    <a:noFill/>
                  </a:rPr>
                  <a:t> </a:t>
                </a:r>
              </a:p>
            </p:txBody>
          </p:sp>
        </mc:Fallback>
      </mc:AlternateContent>
      <p:sp>
        <p:nvSpPr>
          <p:cNvPr id="59" name="SMARTInkShape-169">
            <a:extLst>
              <a:ext uri="{FF2B5EF4-FFF2-40B4-BE49-F238E27FC236}">
                <a16:creationId xmlns:a16="http://schemas.microsoft.com/office/drawing/2014/main" id="{5BB196DC-AB5E-4997-9231-4C229A6DCFD9}"/>
              </a:ext>
            </a:extLst>
          </p:cNvPr>
          <p:cNvSpPr/>
          <p:nvPr>
            <p:custDataLst>
              <p:tags r:id="rId1"/>
            </p:custDataLst>
          </p:nvPr>
        </p:nvSpPr>
        <p:spPr>
          <a:xfrm>
            <a:off x="6292453" y="580430"/>
            <a:ext cx="17860" cy="17860"/>
          </a:xfrm>
          <a:custGeom>
            <a:avLst/>
            <a:gdLst/>
            <a:ahLst/>
            <a:cxnLst/>
            <a:rect l="0" t="0" r="0" b="0"/>
            <a:pathLst>
              <a:path w="17860" h="17860">
                <a:moveTo>
                  <a:pt x="17859" y="17859"/>
                </a:moveTo>
                <a:lnTo>
                  <a:pt x="17859" y="17859"/>
                </a:lnTo>
                <a:lnTo>
                  <a:pt x="10171" y="17859"/>
                </a:lnTo>
                <a:lnTo>
                  <a:pt x="4557" y="13119"/>
                </a:lnTo>
                <a:lnTo>
                  <a:pt x="2025" y="8145"/>
                </a:lnTo>
                <a:lnTo>
                  <a:pt x="0" y="0"/>
                </a:lnTo>
              </a:path>
            </a:pathLst>
          </a:custGeom>
          <a:ln w="19050">
            <a:solidFill>
              <a:srgbClr val="FF0000"/>
            </a:solidFill>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945766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2CFE2-7589-A0BC-5C3E-7541A9C4ABF5}"/>
              </a:ext>
            </a:extLst>
          </p:cNvPr>
          <p:cNvSpPr>
            <a:spLocks noGrp="1"/>
          </p:cNvSpPr>
          <p:nvPr>
            <p:ph type="title"/>
          </p:nvPr>
        </p:nvSpPr>
        <p:spPr/>
        <p:txBody>
          <a:bodyPr/>
          <a:lstStyle/>
          <a:p>
            <a:r>
              <a:rPr lang="en-GB" dirty="0"/>
              <a:t>Visit node D</a:t>
            </a:r>
            <a:endParaRPr lang="en-SE" dirty="0"/>
          </a:p>
        </p:txBody>
      </p:sp>
      <p:sp>
        <p:nvSpPr>
          <p:cNvPr id="3" name="Content Placeholder 2">
            <a:extLst>
              <a:ext uri="{FF2B5EF4-FFF2-40B4-BE49-F238E27FC236}">
                <a16:creationId xmlns:a16="http://schemas.microsoft.com/office/drawing/2014/main" id="{22F63FA0-2E08-1F91-DAEC-FEECED5A0DD5}"/>
              </a:ext>
            </a:extLst>
          </p:cNvPr>
          <p:cNvSpPr>
            <a:spLocks noGrp="1"/>
          </p:cNvSpPr>
          <p:nvPr>
            <p:ph idx="1"/>
          </p:nvPr>
        </p:nvSpPr>
        <p:spPr>
          <a:xfrm>
            <a:off x="1981200" y="1600200"/>
            <a:ext cx="8229600" cy="603200"/>
          </a:xfrm>
        </p:spPr>
        <p:txBody>
          <a:bodyPr/>
          <a:lstStyle/>
          <a:p>
            <a:endParaRPr lang="en-SE"/>
          </a:p>
        </p:txBody>
      </p:sp>
      <p:pic>
        <p:nvPicPr>
          <p:cNvPr id="7" name="Picture 6">
            <a:extLst>
              <a:ext uri="{FF2B5EF4-FFF2-40B4-BE49-F238E27FC236}">
                <a16:creationId xmlns:a16="http://schemas.microsoft.com/office/drawing/2014/main" id="{A434B5F2-A1CF-960F-18F1-2D3BB58BDE63}"/>
              </a:ext>
            </a:extLst>
          </p:cNvPr>
          <p:cNvPicPr>
            <a:picLocks noChangeAspect="1"/>
          </p:cNvPicPr>
          <p:nvPr/>
        </p:nvPicPr>
        <p:blipFill>
          <a:blip r:embed="rId2"/>
          <a:stretch>
            <a:fillRect/>
          </a:stretch>
        </p:blipFill>
        <p:spPr>
          <a:xfrm>
            <a:off x="2547258" y="1600201"/>
            <a:ext cx="7402285" cy="3305241"/>
          </a:xfrm>
          <a:prstGeom prst="rect">
            <a:avLst/>
          </a:prstGeom>
        </p:spPr>
      </p:pic>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2AAD769-EEEB-B87E-6257-7690EB96F1FA}"/>
                  </a:ext>
                </a:extLst>
              </p:cNvPr>
              <p:cNvSpPr/>
              <p:nvPr/>
            </p:nvSpPr>
            <p:spPr>
              <a:xfrm>
                <a:off x="2706241" y="5397592"/>
                <a:ext cx="7084317"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SD[E] = 8 &lt; SD[D] + w(D,E) =</a:t>
                </a:r>
                <a:r>
                  <a:rPr lang="en-GB" sz="1800" dirty="0">
                    <a:solidFill>
                      <a:schemeClr val="tx1"/>
                    </a:solidFill>
                    <a:latin typeface="Times New Roman" panose="02020603050405020304" pitchFamily="18" charset="0"/>
                    <a:cs typeface="Times New Roman" panose="02020603050405020304" pitchFamily="18" charset="0"/>
                  </a:rPr>
                  <a:t> 7+3 = 10</a:t>
                </a:r>
              </a:p>
              <a:p>
                <a:r>
                  <a:rPr lang="en-US" sz="1800" dirty="0">
                    <a:solidFill>
                      <a:schemeClr val="tx1"/>
                    </a:solidFill>
                    <a:latin typeface="Times New Roman" panose="02020603050405020304" pitchFamily="18" charset="0"/>
                    <a:cs typeface="Times New Roman" panose="02020603050405020304" pitchFamily="18" charset="0"/>
                  </a:rPr>
                  <a:t>No update, SD[E] stays 8,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[E] stays B</a:t>
                </a:r>
              </a:p>
              <a:p>
                <a:r>
                  <a:rPr lang="en-US" sz="1800" dirty="0">
                    <a:solidFill>
                      <a:schemeClr val="tx1"/>
                    </a:solidFill>
                    <a:latin typeface="Times New Roman" panose="02020603050405020304" pitchFamily="18" charset="0"/>
                    <a:cs typeface="Times New Roman" panose="02020603050405020304" pitchFamily="18" charset="0"/>
                  </a:rPr>
                  <a:t>OLD SD[F]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SD[D] + w(D,F) =</a:t>
                </a:r>
                <a:r>
                  <a:rPr lang="en-GB" sz="1800" dirty="0">
                    <a:solidFill>
                      <a:schemeClr val="tx1"/>
                    </a:solidFill>
                    <a:latin typeface="Times New Roman" panose="02020603050405020304" pitchFamily="18" charset="0"/>
                    <a:cs typeface="Times New Roman" panose="02020603050405020304" pitchFamily="18" charset="0"/>
                  </a:rPr>
                  <a:t> 7+2 = 9</a:t>
                </a:r>
              </a:p>
              <a:p>
                <a:r>
                  <a:rPr lang="en-US" sz="1800" dirty="0">
                    <a:solidFill>
                      <a:schemeClr val="tx1"/>
                    </a:solidFill>
                    <a:latin typeface="Times New Roman" panose="02020603050405020304" pitchFamily="18" charset="0"/>
                    <a:cs typeface="Times New Roman" panose="02020603050405020304" pitchFamily="18" charset="0"/>
                  </a:rPr>
                  <a:t>NEW SD[F]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SD[D] + w(D,F) = 9,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[F] = D</a:t>
                </a:r>
              </a:p>
            </p:txBody>
          </p:sp>
        </mc:Choice>
        <mc:Fallback xmlns="">
          <p:sp>
            <p:nvSpPr>
              <p:cNvPr id="8" name="Rectangle 7">
                <a:extLst>
                  <a:ext uri="{FF2B5EF4-FFF2-40B4-BE49-F238E27FC236}">
                    <a16:creationId xmlns:a16="http://schemas.microsoft.com/office/drawing/2014/main" id="{F2AAD769-EEEB-B87E-6257-7690EB96F1FA}"/>
                  </a:ext>
                </a:extLst>
              </p:cNvPr>
              <p:cNvSpPr>
                <a:spLocks noRot="1" noChangeAspect="1" noMove="1" noResize="1" noEditPoints="1" noAdjustHandles="1" noChangeArrowheads="1" noChangeShapeType="1" noTextEdit="1"/>
              </p:cNvSpPr>
              <p:nvPr/>
            </p:nvSpPr>
            <p:spPr>
              <a:xfrm>
                <a:off x="2706241" y="5397592"/>
                <a:ext cx="7084317" cy="1200329"/>
              </a:xfrm>
              <a:prstGeom prst="rect">
                <a:avLst/>
              </a:prstGeom>
              <a:blipFill>
                <a:blip r:embed="rId3"/>
                <a:stretch>
                  <a:fillRect/>
                </a:stretch>
              </a:blipFill>
            </p:spPr>
            <p:txBody>
              <a:bodyPr/>
              <a:lstStyle/>
              <a:p>
                <a:r>
                  <a:rPr lang="en-SE">
                    <a:noFill/>
                  </a:rPr>
                  <a:t> </a:t>
                </a:r>
              </a:p>
            </p:txBody>
          </p:sp>
        </mc:Fallback>
      </mc:AlternateContent>
    </p:spTree>
    <p:extLst>
      <p:ext uri="{BB962C8B-B14F-4D97-AF65-F5344CB8AC3E}">
        <p14:creationId xmlns:p14="http://schemas.microsoft.com/office/powerpoint/2010/main" val="806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E61FD-BC1B-F772-7336-6DABCC2F80EC}"/>
              </a:ext>
            </a:extLst>
          </p:cNvPr>
          <p:cNvSpPr>
            <a:spLocks noGrp="1"/>
          </p:cNvSpPr>
          <p:nvPr>
            <p:ph type="title"/>
          </p:nvPr>
        </p:nvSpPr>
        <p:spPr/>
        <p:txBody>
          <a:bodyPr/>
          <a:lstStyle/>
          <a:p>
            <a:r>
              <a:rPr lang="en-GB" dirty="0"/>
              <a:t>Visit node E</a:t>
            </a:r>
            <a:endParaRPr lang="en-SE" dirty="0"/>
          </a:p>
        </p:txBody>
      </p:sp>
      <p:sp>
        <p:nvSpPr>
          <p:cNvPr id="3" name="Content Placeholder 2">
            <a:extLst>
              <a:ext uri="{FF2B5EF4-FFF2-40B4-BE49-F238E27FC236}">
                <a16:creationId xmlns:a16="http://schemas.microsoft.com/office/drawing/2014/main" id="{ABC2EBAB-D624-275D-2AA9-C87F5F591DE7}"/>
              </a:ext>
            </a:extLst>
          </p:cNvPr>
          <p:cNvSpPr>
            <a:spLocks noGrp="1"/>
          </p:cNvSpPr>
          <p:nvPr>
            <p:ph idx="1"/>
          </p:nvPr>
        </p:nvSpPr>
        <p:spPr>
          <a:xfrm>
            <a:off x="746174" y="1568275"/>
            <a:ext cx="9820225" cy="603200"/>
          </a:xfrm>
        </p:spPr>
        <p:txBody>
          <a:bodyPr/>
          <a:lstStyle/>
          <a:p>
            <a:endParaRPr lang="en-SE"/>
          </a:p>
        </p:txBody>
      </p:sp>
      <p:pic>
        <p:nvPicPr>
          <p:cNvPr id="10" name="Picture 9">
            <a:extLst>
              <a:ext uri="{FF2B5EF4-FFF2-40B4-BE49-F238E27FC236}">
                <a16:creationId xmlns:a16="http://schemas.microsoft.com/office/drawing/2014/main" id="{738F4B8A-132B-7B1B-B0A0-E8AE2B4CD077}"/>
              </a:ext>
            </a:extLst>
          </p:cNvPr>
          <p:cNvPicPr>
            <a:picLocks noChangeAspect="1"/>
          </p:cNvPicPr>
          <p:nvPr/>
        </p:nvPicPr>
        <p:blipFill>
          <a:blip r:embed="rId2"/>
          <a:stretch>
            <a:fillRect/>
          </a:stretch>
        </p:blipFill>
        <p:spPr>
          <a:xfrm>
            <a:off x="2534728" y="1558853"/>
            <a:ext cx="7377571" cy="3275700"/>
          </a:xfrm>
          <a:prstGeom prst="rect">
            <a:avLst/>
          </a:prstGeom>
        </p:spPr>
      </p:pic>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AB508262-F265-4F7D-A8B8-DD2CE10A66A1}"/>
                  </a:ext>
                </a:extLst>
              </p:cNvPr>
              <p:cNvSpPr/>
              <p:nvPr/>
            </p:nvSpPr>
            <p:spPr>
              <a:xfrm>
                <a:off x="2815856" y="5137013"/>
                <a:ext cx="6815313"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SD[C]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SD[E] + w(E.C) =</a:t>
                </a:r>
                <a:r>
                  <a:rPr lang="en-GB" sz="1800" dirty="0">
                    <a:solidFill>
                      <a:schemeClr val="tx1"/>
                    </a:solidFill>
                    <a:latin typeface="Times New Roman" panose="02020603050405020304" pitchFamily="18" charset="0"/>
                    <a:cs typeface="Times New Roman" panose="02020603050405020304" pitchFamily="18" charset="0"/>
                  </a:rPr>
                  <a:t> 8+9 = 17</a:t>
                </a:r>
              </a:p>
              <a:p>
                <a:r>
                  <a:rPr lang="en-US" sz="1800" dirty="0">
                    <a:solidFill>
                      <a:schemeClr val="tx1"/>
                    </a:solidFill>
                    <a:latin typeface="Times New Roman" panose="02020603050405020304" pitchFamily="18" charset="0"/>
                    <a:cs typeface="Times New Roman" panose="02020603050405020304" pitchFamily="18" charset="0"/>
                  </a:rPr>
                  <a:t>NEW SD[C]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SD[E] + w(E.C) = 17,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[C] = E</a:t>
                </a:r>
              </a:p>
              <a:p>
                <a:r>
                  <a:rPr lang="en-US" sz="1800" dirty="0">
                    <a:solidFill>
                      <a:schemeClr val="tx1"/>
                    </a:solidFill>
                    <a:latin typeface="Times New Roman" panose="02020603050405020304" pitchFamily="18" charset="0"/>
                    <a:cs typeface="Times New Roman" panose="02020603050405020304" pitchFamily="18" charset="0"/>
                  </a:rPr>
                  <a:t>OLD SD[F] = 9 = SD[E] + w(E.F) =</a:t>
                </a:r>
                <a:r>
                  <a:rPr lang="en-GB" sz="1800" dirty="0">
                    <a:solidFill>
                      <a:schemeClr val="tx1"/>
                    </a:solidFill>
                    <a:latin typeface="Times New Roman" panose="02020603050405020304" pitchFamily="18" charset="0"/>
                    <a:cs typeface="Times New Roman" panose="02020603050405020304" pitchFamily="18" charset="0"/>
                  </a:rPr>
                  <a:t> 8+1 = 9</a:t>
                </a:r>
              </a:p>
              <a:p>
                <a:r>
                  <a:rPr lang="en-US" sz="1800" dirty="0">
                    <a:solidFill>
                      <a:schemeClr val="tx1"/>
                    </a:solidFill>
                    <a:latin typeface="Times New Roman" panose="02020603050405020304" pitchFamily="18" charset="0"/>
                    <a:cs typeface="Times New Roman" panose="02020603050405020304" pitchFamily="18" charset="0"/>
                  </a:rPr>
                  <a:t>No update, SD[F] stays 9,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[F] = D (You can also update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[F] = E.)</a:t>
                </a:r>
              </a:p>
            </p:txBody>
          </p:sp>
        </mc:Choice>
        <mc:Fallback xmlns="">
          <p:sp>
            <p:nvSpPr>
              <p:cNvPr id="9" name="Rectangle 8">
                <a:extLst>
                  <a:ext uri="{FF2B5EF4-FFF2-40B4-BE49-F238E27FC236}">
                    <a16:creationId xmlns:a16="http://schemas.microsoft.com/office/drawing/2014/main" id="{AB508262-F265-4F7D-A8B8-DD2CE10A66A1}"/>
                  </a:ext>
                </a:extLst>
              </p:cNvPr>
              <p:cNvSpPr>
                <a:spLocks noRot="1" noChangeAspect="1" noMove="1" noResize="1" noEditPoints="1" noAdjustHandles="1" noChangeArrowheads="1" noChangeShapeType="1" noTextEdit="1"/>
              </p:cNvSpPr>
              <p:nvPr/>
            </p:nvSpPr>
            <p:spPr>
              <a:xfrm>
                <a:off x="2815856" y="5137013"/>
                <a:ext cx="6815313" cy="1200329"/>
              </a:xfrm>
              <a:prstGeom prst="rect">
                <a:avLst/>
              </a:prstGeom>
              <a:blipFill>
                <a:blip r:embed="rId3"/>
                <a:stretch>
                  <a:fillRect/>
                </a:stretch>
              </a:blipFill>
            </p:spPr>
            <p:txBody>
              <a:bodyPr/>
              <a:lstStyle/>
              <a:p>
                <a:r>
                  <a:rPr lang="en-SE">
                    <a:noFill/>
                  </a:rPr>
                  <a:t> </a:t>
                </a:r>
              </a:p>
            </p:txBody>
          </p:sp>
        </mc:Fallback>
      </mc:AlternateContent>
    </p:spTree>
    <p:extLst>
      <p:ext uri="{BB962C8B-B14F-4D97-AF65-F5344CB8AC3E}">
        <p14:creationId xmlns:p14="http://schemas.microsoft.com/office/powerpoint/2010/main" val="2164622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2058F-B253-6034-C2D9-63E2059F0519}"/>
              </a:ext>
            </a:extLst>
          </p:cNvPr>
          <p:cNvSpPr>
            <a:spLocks noGrp="1"/>
          </p:cNvSpPr>
          <p:nvPr>
            <p:ph type="title"/>
          </p:nvPr>
        </p:nvSpPr>
        <p:spPr/>
        <p:txBody>
          <a:bodyPr/>
          <a:lstStyle/>
          <a:p>
            <a:r>
              <a:rPr lang="en-GB" dirty="0"/>
              <a:t>Visit node F</a:t>
            </a:r>
            <a:endParaRPr lang="en-SE" dirty="0"/>
          </a:p>
        </p:txBody>
      </p:sp>
      <p:sp>
        <p:nvSpPr>
          <p:cNvPr id="3" name="Content Placeholder 2">
            <a:extLst>
              <a:ext uri="{FF2B5EF4-FFF2-40B4-BE49-F238E27FC236}">
                <a16:creationId xmlns:a16="http://schemas.microsoft.com/office/drawing/2014/main" id="{85A9B6F2-0A2E-64B5-FCFE-CFD60C36F62E}"/>
              </a:ext>
            </a:extLst>
          </p:cNvPr>
          <p:cNvSpPr>
            <a:spLocks noGrp="1"/>
          </p:cNvSpPr>
          <p:nvPr>
            <p:ph idx="1"/>
          </p:nvPr>
        </p:nvSpPr>
        <p:spPr>
          <a:xfrm>
            <a:off x="746174" y="1568275"/>
            <a:ext cx="9820225" cy="603200"/>
          </a:xfrm>
        </p:spPr>
        <p:txBody>
          <a:bodyPr/>
          <a:lstStyle/>
          <a:p>
            <a:endParaRPr lang="en-SE" dirty="0"/>
          </a:p>
        </p:txBody>
      </p:sp>
      <p:sp>
        <p:nvSpPr>
          <p:cNvPr id="8" name="Rectangle 7">
            <a:extLst>
              <a:ext uri="{FF2B5EF4-FFF2-40B4-BE49-F238E27FC236}">
                <a16:creationId xmlns:a16="http://schemas.microsoft.com/office/drawing/2014/main" id="{BA61F58A-D3A3-86DE-6EA5-E362546AC44D}"/>
              </a:ext>
            </a:extLst>
          </p:cNvPr>
          <p:cNvSpPr/>
          <p:nvPr/>
        </p:nvSpPr>
        <p:spPr>
          <a:xfrm>
            <a:off x="2768033" y="5647044"/>
            <a:ext cx="6808334" cy="646331"/>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SD[C] = 17 &gt; SD[F] + w(F,C) =</a:t>
            </a:r>
            <a:r>
              <a:rPr lang="en-GB" sz="1800" dirty="0">
                <a:solidFill>
                  <a:schemeClr val="tx1"/>
                </a:solidFill>
                <a:latin typeface="Times New Roman" panose="02020603050405020304" pitchFamily="18" charset="0"/>
                <a:cs typeface="Times New Roman" panose="02020603050405020304" pitchFamily="18" charset="0"/>
              </a:rPr>
              <a:t> 9+3 = 12</a:t>
            </a:r>
          </a:p>
          <a:p>
            <a:r>
              <a:rPr lang="en-US" sz="1800" dirty="0">
                <a:solidFill>
                  <a:schemeClr val="tx1"/>
                </a:solidFill>
                <a:latin typeface="Times New Roman" panose="02020603050405020304" pitchFamily="18" charset="0"/>
                <a:cs typeface="Times New Roman" panose="02020603050405020304" pitchFamily="18" charset="0"/>
              </a:rPr>
              <a:t>NEW SD[C]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SD[F] + w(F,C) = 12,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[C] = F </a:t>
            </a:r>
          </a:p>
        </p:txBody>
      </p:sp>
      <p:pic>
        <p:nvPicPr>
          <p:cNvPr id="7" name="Picture 6">
            <a:extLst>
              <a:ext uri="{FF2B5EF4-FFF2-40B4-BE49-F238E27FC236}">
                <a16:creationId xmlns:a16="http://schemas.microsoft.com/office/drawing/2014/main" id="{AA47957E-630F-A719-CF36-C27F1A303CF8}"/>
              </a:ext>
            </a:extLst>
          </p:cNvPr>
          <p:cNvPicPr>
            <a:picLocks noChangeAspect="1"/>
          </p:cNvPicPr>
          <p:nvPr/>
        </p:nvPicPr>
        <p:blipFill>
          <a:blip r:embed="rId2"/>
          <a:srcRect/>
          <a:stretch/>
        </p:blipFill>
        <p:spPr>
          <a:xfrm>
            <a:off x="2466295" y="1589099"/>
            <a:ext cx="7411810" cy="3322286"/>
          </a:xfrm>
          <a:prstGeom prst="rect">
            <a:avLst/>
          </a:prstGeom>
        </p:spPr>
      </p:pic>
    </p:spTree>
    <p:extLst>
      <p:ext uri="{BB962C8B-B14F-4D97-AF65-F5344CB8AC3E}">
        <p14:creationId xmlns:p14="http://schemas.microsoft.com/office/powerpoint/2010/main" val="3579785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6FA0B-9743-2592-CD91-F42E270F805F}"/>
              </a:ext>
            </a:extLst>
          </p:cNvPr>
          <p:cNvSpPr>
            <a:spLocks noGrp="1"/>
          </p:cNvSpPr>
          <p:nvPr>
            <p:ph type="title"/>
          </p:nvPr>
        </p:nvSpPr>
        <p:spPr/>
        <p:txBody>
          <a:bodyPr/>
          <a:lstStyle/>
          <a:p>
            <a:r>
              <a:rPr lang="en-GB" dirty="0"/>
              <a:t>Visit node C</a:t>
            </a:r>
            <a:endParaRPr lang="en-SE" dirty="0"/>
          </a:p>
        </p:txBody>
      </p:sp>
      <p:sp>
        <p:nvSpPr>
          <p:cNvPr id="3" name="Content Placeholder 2">
            <a:extLst>
              <a:ext uri="{FF2B5EF4-FFF2-40B4-BE49-F238E27FC236}">
                <a16:creationId xmlns:a16="http://schemas.microsoft.com/office/drawing/2014/main" id="{0FBDCF12-A957-2D54-64AC-AEC67807B79C}"/>
              </a:ext>
            </a:extLst>
          </p:cNvPr>
          <p:cNvSpPr>
            <a:spLocks noGrp="1"/>
          </p:cNvSpPr>
          <p:nvPr>
            <p:ph idx="1"/>
          </p:nvPr>
        </p:nvSpPr>
        <p:spPr>
          <a:xfrm>
            <a:off x="746174" y="1568275"/>
            <a:ext cx="9820225" cy="603200"/>
          </a:xfrm>
        </p:spPr>
        <p:txBody>
          <a:bodyPr/>
          <a:lstStyle/>
          <a:p>
            <a:endParaRPr lang="en-SE" dirty="0"/>
          </a:p>
        </p:txBody>
      </p:sp>
      <p:pic>
        <p:nvPicPr>
          <p:cNvPr id="5" name="Picture 4">
            <a:extLst>
              <a:ext uri="{FF2B5EF4-FFF2-40B4-BE49-F238E27FC236}">
                <a16:creationId xmlns:a16="http://schemas.microsoft.com/office/drawing/2014/main" id="{AAD4E036-BD22-D272-8AE1-78F0E5F1A3C2}"/>
              </a:ext>
            </a:extLst>
          </p:cNvPr>
          <p:cNvPicPr>
            <a:picLocks noChangeAspect="1"/>
          </p:cNvPicPr>
          <p:nvPr/>
        </p:nvPicPr>
        <p:blipFill>
          <a:blip r:embed="rId2"/>
          <a:stretch>
            <a:fillRect/>
          </a:stretch>
        </p:blipFill>
        <p:spPr>
          <a:xfrm>
            <a:off x="2184591" y="1750617"/>
            <a:ext cx="7822818" cy="2871760"/>
          </a:xfrm>
          <a:prstGeom prst="rect">
            <a:avLst/>
          </a:prstGeom>
        </p:spPr>
      </p:pic>
      <p:sp>
        <p:nvSpPr>
          <p:cNvPr id="6" name="Rectangle 5">
            <a:extLst>
              <a:ext uri="{FF2B5EF4-FFF2-40B4-BE49-F238E27FC236}">
                <a16:creationId xmlns:a16="http://schemas.microsoft.com/office/drawing/2014/main" id="{C6BBC817-94A7-C6E0-6D24-035D52795778}"/>
              </a:ext>
            </a:extLst>
          </p:cNvPr>
          <p:cNvSpPr/>
          <p:nvPr/>
        </p:nvSpPr>
        <p:spPr>
          <a:xfrm>
            <a:off x="3276601" y="5177944"/>
            <a:ext cx="5998028" cy="369332"/>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GB" sz="1800" dirty="0">
                <a:solidFill>
                  <a:schemeClr val="tx1"/>
                </a:solidFill>
                <a:latin typeface="Times New Roman" panose="02020603050405020304" pitchFamily="18" charset="0"/>
                <a:cs typeface="Times New Roman" panose="02020603050405020304" pitchFamily="18" charset="0"/>
              </a:rPr>
              <a:t>Nothing changes, since C has no unvisited </a:t>
            </a:r>
            <a:r>
              <a:rPr lang="en-GB" sz="1800" dirty="0" err="1">
                <a:solidFill>
                  <a:schemeClr val="tx1"/>
                </a:solidFill>
                <a:latin typeface="Times New Roman" panose="02020603050405020304" pitchFamily="18" charset="0"/>
                <a:cs typeface="Times New Roman" panose="02020603050405020304" pitchFamily="18" charset="0"/>
              </a:rPr>
              <a:t>neighbor</a:t>
            </a:r>
            <a:r>
              <a:rPr lang="en-GB" sz="1800" dirty="0">
                <a:solidFill>
                  <a:schemeClr val="tx1"/>
                </a:solidFill>
                <a:latin typeface="Times New Roman" panose="02020603050405020304" pitchFamily="18" charset="0"/>
                <a:cs typeface="Times New Roman" panose="02020603050405020304" pitchFamily="18" charset="0"/>
              </a:rPr>
              <a:t> nodes</a:t>
            </a:r>
            <a:endParaRPr lang="en-US" sz="18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66012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2C97D-008F-8B35-91F2-B7015BDAF19C}"/>
              </a:ext>
            </a:extLst>
          </p:cNvPr>
          <p:cNvSpPr>
            <a:spLocks noGrp="1"/>
          </p:cNvSpPr>
          <p:nvPr>
            <p:ph type="title"/>
          </p:nvPr>
        </p:nvSpPr>
        <p:spPr/>
        <p:txBody>
          <a:bodyPr/>
          <a:lstStyle/>
          <a:p>
            <a:r>
              <a:rPr lang="en-GB" dirty="0"/>
              <a:t>End of Algorithm</a:t>
            </a:r>
            <a:endParaRPr lang="en-SE" dirty="0"/>
          </a:p>
        </p:txBody>
      </p:sp>
      <p:sp>
        <p:nvSpPr>
          <p:cNvPr id="3" name="Content Placeholder 2">
            <a:extLst>
              <a:ext uri="{FF2B5EF4-FFF2-40B4-BE49-F238E27FC236}">
                <a16:creationId xmlns:a16="http://schemas.microsoft.com/office/drawing/2014/main" id="{F935BB42-8E0F-51A2-999D-78DB7AF3C5B3}"/>
              </a:ext>
            </a:extLst>
          </p:cNvPr>
          <p:cNvSpPr>
            <a:spLocks noGrp="1"/>
          </p:cNvSpPr>
          <p:nvPr>
            <p:ph idx="1"/>
          </p:nvPr>
        </p:nvSpPr>
        <p:spPr>
          <a:xfrm>
            <a:off x="828235" y="1146244"/>
            <a:ext cx="9820225" cy="1323397"/>
          </a:xfrm>
        </p:spPr>
        <p:txBody>
          <a:bodyPr/>
          <a:lstStyle/>
          <a:p>
            <a:r>
              <a:rPr lang="en-GB" dirty="0"/>
              <a:t>The table now contains the SD (shortest distance) to each node N from the source node A, and its PN (previous node) in the shortest path</a:t>
            </a:r>
            <a:endParaRPr lang="en-SE" dirty="0"/>
          </a:p>
        </p:txBody>
      </p:sp>
      <p:pic>
        <p:nvPicPr>
          <p:cNvPr id="5" name="Picture 4">
            <a:extLst>
              <a:ext uri="{FF2B5EF4-FFF2-40B4-BE49-F238E27FC236}">
                <a16:creationId xmlns:a16="http://schemas.microsoft.com/office/drawing/2014/main" id="{F0550E8A-A4B4-3EEB-0DBF-2DDCEFE649C4}"/>
              </a:ext>
            </a:extLst>
          </p:cNvPr>
          <p:cNvPicPr>
            <a:picLocks noChangeAspect="1"/>
          </p:cNvPicPr>
          <p:nvPr/>
        </p:nvPicPr>
        <p:blipFill>
          <a:blip r:embed="rId2"/>
          <a:stretch>
            <a:fillRect/>
          </a:stretch>
        </p:blipFill>
        <p:spPr>
          <a:xfrm>
            <a:off x="2505187" y="2732313"/>
            <a:ext cx="7377571" cy="3258004"/>
          </a:xfrm>
          <a:prstGeom prst="rect">
            <a:avLst/>
          </a:prstGeom>
        </p:spPr>
      </p:pic>
    </p:spTree>
    <p:extLst>
      <p:ext uri="{BB962C8B-B14F-4D97-AF65-F5344CB8AC3E}">
        <p14:creationId xmlns:p14="http://schemas.microsoft.com/office/powerpoint/2010/main" val="34217892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1786D-A742-5EFF-285B-A1270A411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7FE2A-44BF-FBC4-6484-554D34A7BB9D}"/>
              </a:ext>
            </a:extLst>
          </p:cNvPr>
          <p:cNvSpPr>
            <a:spLocks noGrp="1"/>
          </p:cNvSpPr>
          <p:nvPr>
            <p:ph type="title"/>
          </p:nvPr>
        </p:nvSpPr>
        <p:spPr/>
        <p:txBody>
          <a:bodyPr/>
          <a:lstStyle/>
          <a:p>
            <a:r>
              <a:rPr lang="en-GB" dirty="0"/>
              <a:t>Getting the Shortest Path from A to C</a:t>
            </a:r>
            <a:endParaRPr lang="en-SE" dirty="0"/>
          </a:p>
        </p:txBody>
      </p:sp>
      <p:sp>
        <p:nvSpPr>
          <p:cNvPr id="3" name="Content Placeholder 2">
            <a:extLst>
              <a:ext uri="{FF2B5EF4-FFF2-40B4-BE49-F238E27FC236}">
                <a16:creationId xmlns:a16="http://schemas.microsoft.com/office/drawing/2014/main" id="{D43A3A6D-03DA-DBFE-15B4-0376D24C7A19}"/>
              </a:ext>
            </a:extLst>
          </p:cNvPr>
          <p:cNvSpPr>
            <a:spLocks noGrp="1"/>
          </p:cNvSpPr>
          <p:nvPr>
            <p:ph idx="1"/>
          </p:nvPr>
        </p:nvSpPr>
        <p:spPr>
          <a:xfrm>
            <a:off x="780898" y="1417804"/>
            <a:ext cx="9820225" cy="2505259"/>
          </a:xfrm>
        </p:spPr>
        <p:txBody>
          <a:bodyPr/>
          <a:lstStyle/>
          <a:p>
            <a:r>
              <a:rPr lang="en-GB" dirty="0"/>
              <a:t>C’s previous node is F; F’s previous node is D; D’s previous node is B; B’s previous node is A</a:t>
            </a:r>
          </a:p>
          <a:p>
            <a:r>
              <a:rPr lang="en-GB" dirty="0"/>
              <a:t>Shortest Path from A to C is ABDFC</a:t>
            </a:r>
            <a:endParaRPr lang="en-SE" dirty="0"/>
          </a:p>
          <a:p>
            <a:endParaRPr lang="en-SE" dirty="0"/>
          </a:p>
          <a:p>
            <a:endParaRPr lang="en-SE" dirty="0"/>
          </a:p>
        </p:txBody>
      </p:sp>
      <p:pic>
        <p:nvPicPr>
          <p:cNvPr id="5" name="Picture 4">
            <a:extLst>
              <a:ext uri="{FF2B5EF4-FFF2-40B4-BE49-F238E27FC236}">
                <a16:creationId xmlns:a16="http://schemas.microsoft.com/office/drawing/2014/main" id="{00994B03-C0B2-0222-E13D-CE6F1699B07F}"/>
              </a:ext>
            </a:extLst>
          </p:cNvPr>
          <p:cNvPicPr>
            <a:picLocks noChangeAspect="1"/>
          </p:cNvPicPr>
          <p:nvPr/>
        </p:nvPicPr>
        <p:blipFill>
          <a:blip r:embed="rId2"/>
          <a:srcRect/>
          <a:stretch/>
        </p:blipFill>
        <p:spPr>
          <a:xfrm>
            <a:off x="2339350" y="2960913"/>
            <a:ext cx="7360901" cy="3258004"/>
          </a:xfrm>
          <a:prstGeom prst="rect">
            <a:avLst/>
          </a:prstGeom>
        </p:spPr>
      </p:pic>
      <mc:AlternateContent xmlns:mc="http://schemas.openxmlformats.org/markup-compatibility/2006" xmlns:p14="http://schemas.microsoft.com/office/powerpoint/2010/main">
        <mc:Choice Requires="p14">
          <p:contentPart p14:bwMode="auto" r:id="rId3">
            <p14:nvContentPartPr>
              <p14:cNvPr id="11" name="Ink 10">
                <a:extLst>
                  <a:ext uri="{FF2B5EF4-FFF2-40B4-BE49-F238E27FC236}">
                    <a16:creationId xmlns:a16="http://schemas.microsoft.com/office/drawing/2014/main" id="{7DF8F2C2-FA1D-46C4-8FA3-93A868ECA30A}"/>
                  </a:ext>
                </a:extLst>
              </p14:cNvPr>
              <p14:cNvContentPartPr/>
              <p14:nvPr/>
            </p14:nvContentPartPr>
            <p14:xfrm>
              <a:off x="-315708" y="3231248"/>
              <a:ext cx="360" cy="360"/>
            </p14:xfrm>
          </p:contentPart>
        </mc:Choice>
        <mc:Fallback xmlns="">
          <p:pic>
            <p:nvPicPr>
              <p:cNvPr id="11" name="Ink 10">
                <a:extLst>
                  <a:ext uri="{FF2B5EF4-FFF2-40B4-BE49-F238E27FC236}">
                    <a16:creationId xmlns:a16="http://schemas.microsoft.com/office/drawing/2014/main" id="{7DF8F2C2-FA1D-46C4-8FA3-93A868ECA30A}"/>
                  </a:ext>
                </a:extLst>
              </p:cNvPr>
              <p:cNvPicPr/>
              <p:nvPr/>
            </p:nvPicPr>
            <p:blipFill>
              <a:blip r:embed="rId4"/>
              <a:stretch>
                <a:fillRect/>
              </a:stretch>
            </p:blipFill>
            <p:spPr>
              <a:xfrm>
                <a:off x="-324708" y="3222248"/>
                <a:ext cx="18000" cy="18000"/>
              </a:xfrm>
              <a:prstGeom prst="rect">
                <a:avLst/>
              </a:prstGeom>
            </p:spPr>
          </p:pic>
        </mc:Fallback>
      </mc:AlternateContent>
    </p:spTree>
    <p:extLst>
      <p:ext uri="{BB962C8B-B14F-4D97-AF65-F5344CB8AC3E}">
        <p14:creationId xmlns:p14="http://schemas.microsoft.com/office/powerpoint/2010/main" val="15224837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519;p34">
            <a:extLst>
              <a:ext uri="{FF2B5EF4-FFF2-40B4-BE49-F238E27FC236}">
                <a16:creationId xmlns:a16="http://schemas.microsoft.com/office/drawing/2014/main" id="{1C495B8D-96DE-C5F1-516F-E3E8B5F93DE4}"/>
              </a:ext>
            </a:extLst>
          </p:cNvPr>
          <p:cNvGraphicFramePr/>
          <p:nvPr>
            <p:extLst>
              <p:ext uri="{D42A27DB-BD31-4B8C-83A1-F6EECF244321}">
                <p14:modId xmlns:p14="http://schemas.microsoft.com/office/powerpoint/2010/main" val="3794303479"/>
              </p:ext>
            </p:extLst>
          </p:nvPr>
        </p:nvGraphicFramePr>
        <p:xfrm>
          <a:off x="6618469" y="301223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latin typeface="Quattrocento Sans"/>
                          <a:ea typeface="Quattrocento Sans"/>
                          <a:cs typeface="Quattrocento Sans"/>
                          <a:sym typeface="Quattrocento Sans"/>
                        </a:rPr>
                        <a:t>/</a:t>
                      </a:r>
                      <a:endParaRPr>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noStrike" cap="none" dirty="0">
                          <a:solidFill>
                            <a:schemeClr val="dk1"/>
                          </a:solidFill>
                          <a:latin typeface="Quattrocento Sans"/>
                          <a:ea typeface="Quattrocento Sans"/>
                          <a:cs typeface="Quattrocento Sans"/>
                          <a:sym typeface="Quattrocento Sans"/>
                        </a:rPr>
                        <a:t>2</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chemeClr val="dk1"/>
                          </a:solidFill>
                          <a:latin typeface="Quattrocento Sans"/>
                          <a:ea typeface="Quattrocento Sans"/>
                          <a:cs typeface="Quattrocento Sans"/>
                          <a:sym typeface="Quattrocento Sans"/>
                        </a:rPr>
                        <a:t>A</a:t>
                      </a:r>
                      <a:endParaRPr>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sngStrike" cap="none" dirty="0">
                          <a:solidFill>
                            <a:schemeClr val="dk1"/>
                          </a:solidFill>
                          <a:latin typeface="Quattrocento Sans"/>
                          <a:ea typeface="Quattrocento Sans"/>
                          <a:cs typeface="Quattrocento Sans"/>
                          <a:sym typeface="Quattrocento Sans"/>
                        </a:rPr>
                        <a:t>17</a:t>
                      </a:r>
                      <a:r>
                        <a:rPr lang="en-US" sz="1600" i="0" u="none" strike="noStrike" cap="none" dirty="0">
                          <a:solidFill>
                            <a:schemeClr val="dk1"/>
                          </a:solidFill>
                          <a:latin typeface="Quattrocento Sans"/>
                          <a:ea typeface="Quattrocento Sans"/>
                          <a:cs typeface="Quattrocento Sans"/>
                          <a:sym typeface="Quattrocento Sans"/>
                        </a:rPr>
                        <a:t> 12</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u="none" strike="sngStrike" dirty="0">
                          <a:solidFill>
                            <a:schemeClr val="dk1"/>
                          </a:solidFill>
                          <a:latin typeface="Quattrocento Sans"/>
                          <a:ea typeface="Quattrocento Sans"/>
                          <a:cs typeface="Quattrocento Sans"/>
                          <a:sym typeface="Quattrocento Sans"/>
                        </a:rPr>
                        <a:t>E</a:t>
                      </a:r>
                      <a:r>
                        <a:rPr lang="en-US" sz="1600" dirty="0">
                          <a:solidFill>
                            <a:schemeClr val="dk1"/>
                          </a:solidFill>
                          <a:latin typeface="Quattrocento Sans"/>
                          <a:ea typeface="Quattrocento Sans"/>
                          <a:cs typeface="Quattrocento Sans"/>
                          <a:sym typeface="Quattrocento Sans"/>
                        </a:rPr>
                        <a:t> F</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sngStrike" cap="none" dirty="0">
                          <a:solidFill>
                            <a:schemeClr val="dk1"/>
                          </a:solidFill>
                          <a:latin typeface="Quattrocento Sans"/>
                          <a:ea typeface="Quattrocento Sans"/>
                          <a:cs typeface="Quattrocento Sans"/>
                          <a:sym typeface="Quattrocento Sans"/>
                        </a:rPr>
                        <a:t>8</a:t>
                      </a:r>
                      <a:r>
                        <a:rPr lang="en-US" sz="1600" i="0" u="none" strike="noStrike" cap="none" dirty="0">
                          <a:solidFill>
                            <a:schemeClr val="dk1"/>
                          </a:solidFill>
                          <a:latin typeface="Quattrocento Sans"/>
                          <a:ea typeface="Quattrocento Sans"/>
                          <a:cs typeface="Quattrocento Sans"/>
                          <a:sym typeface="Quattrocento Sans"/>
                        </a:rPr>
                        <a:t> 7</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dirty="0">
                          <a:solidFill>
                            <a:schemeClr val="dk1"/>
                          </a:solidFill>
                          <a:latin typeface="Quattrocento Sans"/>
                          <a:ea typeface="Quattrocento Sans"/>
                          <a:cs typeface="Quattrocento Sans"/>
                          <a:sym typeface="Quattrocento Sans"/>
                        </a:rPr>
                        <a:t>A</a:t>
                      </a:r>
                      <a:r>
                        <a:rPr lang="en-US" sz="1600" dirty="0">
                          <a:solidFill>
                            <a:schemeClr val="dk1"/>
                          </a:solidFill>
                          <a:latin typeface="Quattrocento Sans"/>
                          <a:ea typeface="Quattrocento Sans"/>
                          <a:cs typeface="Quattrocento Sans"/>
                          <a:sym typeface="Quattrocento Sans"/>
                        </a:rPr>
                        <a:t> B</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noStrike" cap="none" dirty="0">
                          <a:solidFill>
                            <a:schemeClr val="dk1"/>
                          </a:solidFill>
                          <a:latin typeface="Quattrocento Sans"/>
                          <a:ea typeface="Quattrocento Sans"/>
                          <a:cs typeface="Quattrocento Sans"/>
                          <a:sym typeface="Quattrocento Sans"/>
                        </a:rPr>
                        <a:t>8</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noStrike" dirty="0">
                          <a:solidFill>
                            <a:schemeClr val="dk1"/>
                          </a:solidFill>
                          <a:latin typeface="Quattrocento Sans"/>
                          <a:ea typeface="Quattrocento Sans"/>
                          <a:cs typeface="Quattrocento Sans"/>
                          <a:sym typeface="Quattrocento Sans"/>
                        </a:rPr>
                        <a:t>B</a:t>
                      </a:r>
                      <a:endParaRPr strike="noStrike"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F</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noStrike" cap="none" dirty="0">
                          <a:solidFill>
                            <a:schemeClr val="dk1"/>
                          </a:solidFill>
                          <a:latin typeface="Quattrocento Sans"/>
                          <a:ea typeface="Quattrocento Sans"/>
                          <a:cs typeface="Quattrocento Sans"/>
                          <a:sym typeface="Quattrocento Sans"/>
                        </a:rPr>
                        <a:t>9</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chemeClr val="dk1"/>
                          </a:solidFill>
                          <a:latin typeface="Quattrocento Sans"/>
                          <a:ea typeface="Quattrocento Sans"/>
                          <a:cs typeface="Quattrocento Sans"/>
                          <a:sym typeface="Quattrocento Sans"/>
                        </a:rPr>
                        <a:t>D</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pic>
        <p:nvPicPr>
          <p:cNvPr id="5" name="Picture 4">
            <a:extLst>
              <a:ext uri="{FF2B5EF4-FFF2-40B4-BE49-F238E27FC236}">
                <a16:creationId xmlns:a16="http://schemas.microsoft.com/office/drawing/2014/main" id="{9C364FD4-65E9-2AAE-BB89-55EEE9922A71}"/>
              </a:ext>
            </a:extLst>
          </p:cNvPr>
          <p:cNvPicPr>
            <a:picLocks noChangeAspect="1"/>
          </p:cNvPicPr>
          <p:nvPr/>
        </p:nvPicPr>
        <p:blipFill>
          <a:blip r:embed="rId3"/>
          <a:stretch>
            <a:fillRect/>
          </a:stretch>
        </p:blipFill>
        <p:spPr>
          <a:xfrm>
            <a:off x="548528" y="3390793"/>
            <a:ext cx="5620211" cy="2852469"/>
          </a:xfrm>
          <a:prstGeom prst="rect">
            <a:avLst/>
          </a:prstGeom>
        </p:spPr>
      </p:pic>
      <p:sp>
        <p:nvSpPr>
          <p:cNvPr id="13" name="Google Shape;1040;p43">
            <a:extLst>
              <a:ext uri="{FF2B5EF4-FFF2-40B4-BE49-F238E27FC236}">
                <a16:creationId xmlns:a16="http://schemas.microsoft.com/office/drawing/2014/main" id="{C32FE99B-98BF-329C-AA44-951867D73DB4}"/>
              </a:ext>
            </a:extLst>
          </p:cNvPr>
          <p:cNvSpPr txBox="1">
            <a:spLocks/>
          </p:cNvSpPr>
          <p:nvPr/>
        </p:nvSpPr>
        <p:spPr>
          <a:xfrm>
            <a:off x="462003" y="1196456"/>
            <a:ext cx="5868459" cy="2232544"/>
          </a:xfrm>
          <a:prstGeom prst="rect">
            <a:avLst/>
          </a:prstGeom>
          <a:noFill/>
          <a:ln>
            <a:noFill/>
          </a:ln>
        </p:spPr>
        <p:txBody>
          <a:bodyPr spcFirstLastPara="1" wrap="square" lIns="45700" tIns="45700" rIns="45700" bIns="45700" anchor="t" anchorCtr="0">
            <a:normAutofit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SzPct val="100000"/>
            </a:pPr>
            <a:r>
              <a:rPr lang="en-GB" sz="2400" dirty="0">
                <a:latin typeface="+mn-lt"/>
              </a:rPr>
              <a:t>Given this directed graph, run Dijkstra’s Algo to find shortest paths starting from source node A. Give the node visit order, and fill in this table of SN (Shortest Distance) and PN (Previous Node), crossing out old SD and PN as you find a shortcut path with smaller SD</a:t>
            </a:r>
          </a:p>
        </p:txBody>
      </p:sp>
      <p:sp>
        <p:nvSpPr>
          <p:cNvPr id="14" name="Google Shape;1032;p42">
            <a:extLst>
              <a:ext uri="{FF2B5EF4-FFF2-40B4-BE49-F238E27FC236}">
                <a16:creationId xmlns:a16="http://schemas.microsoft.com/office/drawing/2014/main" id="{84C768E1-66E6-5F84-C24B-8014D4D75EF5}"/>
              </a:ext>
            </a:extLst>
          </p:cNvPr>
          <p:cNvSpPr txBox="1"/>
          <p:nvPr/>
        </p:nvSpPr>
        <p:spPr>
          <a:xfrm>
            <a:off x="6618469" y="1930633"/>
            <a:ext cx="3070361"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rPr>
              <a:t>Visit Order</a:t>
            </a:r>
            <a:endParaRPr dirty="0">
              <a:latin typeface="Quattrocento Sans"/>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rPr>
              <a:t>A, B, D, E, F, C</a:t>
            </a:r>
            <a:endParaRPr dirty="0">
              <a:latin typeface="Quattrocento Sans"/>
              <a:ea typeface="Quattrocento Sans"/>
              <a:cs typeface="Quattrocento Sans"/>
              <a:sym typeface="Quattrocento Sans"/>
            </a:endParaRPr>
          </a:p>
        </p:txBody>
      </p:sp>
      <p:sp>
        <p:nvSpPr>
          <p:cNvPr id="2" name="Google Shape;982;p42">
            <a:extLst>
              <a:ext uri="{FF2B5EF4-FFF2-40B4-BE49-F238E27FC236}">
                <a16:creationId xmlns:a16="http://schemas.microsoft.com/office/drawing/2014/main" id="{06702683-B4B2-6C77-9327-6932DE0A89B9}"/>
              </a:ext>
            </a:extLst>
          </p:cNvPr>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II Exam Question and Answer</a:t>
            </a:r>
            <a:endParaRPr dirty="0"/>
          </a:p>
        </p:txBody>
      </p:sp>
    </p:spTree>
    <p:extLst>
      <p:ext uri="{BB962C8B-B14F-4D97-AF65-F5344CB8AC3E}">
        <p14:creationId xmlns:p14="http://schemas.microsoft.com/office/powerpoint/2010/main" val="34267300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3BEA7560-F295-CA1B-6853-548133908178}"/>
              </a:ext>
            </a:extLst>
          </p:cNvPr>
          <p:cNvSpPr/>
          <p:nvPr/>
        </p:nvSpPr>
        <p:spPr>
          <a:xfrm>
            <a:off x="2244431" y="1911070"/>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1</a:t>
            </a:r>
            <a:endParaRPr lang="en-US" dirty="0">
              <a:latin typeface="Arial" panose="020B0604020202020204" pitchFamily="34" charset="0"/>
              <a:cs typeface="Arial" panose="020B0604020202020204" pitchFamily="34" charset="0"/>
            </a:endParaRPr>
          </a:p>
        </p:txBody>
      </p:sp>
      <p:cxnSp>
        <p:nvCxnSpPr>
          <p:cNvPr id="6" name="Straight Connector 5">
            <a:extLst>
              <a:ext uri="{FF2B5EF4-FFF2-40B4-BE49-F238E27FC236}">
                <a16:creationId xmlns:a16="http://schemas.microsoft.com/office/drawing/2014/main" id="{EE5D7967-94FB-D3AB-5327-7D739DEE313D}"/>
              </a:ext>
            </a:extLst>
          </p:cNvPr>
          <p:cNvCxnSpPr>
            <a:cxnSpLocks/>
            <a:stCxn id="20" idx="1"/>
            <a:endCxn id="5" idx="5"/>
          </p:cNvCxnSpPr>
          <p:nvPr/>
        </p:nvCxnSpPr>
        <p:spPr>
          <a:xfrm flipH="1" flipV="1">
            <a:off x="2642451" y="2326549"/>
            <a:ext cx="934059" cy="1090836"/>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C1351769-073B-E993-8E05-FDC29EA15995}"/>
              </a:ext>
            </a:extLst>
          </p:cNvPr>
          <p:cNvCxnSpPr>
            <a:cxnSpLocks/>
            <a:stCxn id="21" idx="5"/>
            <a:endCxn id="24" idx="0"/>
          </p:cNvCxnSpPr>
          <p:nvPr/>
        </p:nvCxnSpPr>
        <p:spPr>
          <a:xfrm>
            <a:off x="4315087" y="2695861"/>
            <a:ext cx="1114828" cy="2025913"/>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D60120B3-CC1A-E06F-13F0-995F61FB8051}"/>
              </a:ext>
            </a:extLst>
          </p:cNvPr>
          <p:cNvCxnSpPr>
            <a:cxnSpLocks/>
            <a:stCxn id="25" idx="7"/>
            <a:endCxn id="20" idx="3"/>
          </p:cNvCxnSpPr>
          <p:nvPr/>
        </p:nvCxnSpPr>
        <p:spPr>
          <a:xfrm flipV="1">
            <a:off x="3107059" y="3761580"/>
            <a:ext cx="469451" cy="470850"/>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BB589860-B24A-769A-42E7-B3D3E9A126F8}"/>
              </a:ext>
            </a:extLst>
          </p:cNvPr>
          <p:cNvCxnSpPr>
            <a:cxnSpLocks/>
            <a:stCxn id="21" idx="2"/>
            <a:endCxn id="5" idx="6"/>
          </p:cNvCxnSpPr>
          <p:nvPr/>
        </p:nvCxnSpPr>
        <p:spPr>
          <a:xfrm flipH="1" flipV="1">
            <a:off x="2710739" y="2154452"/>
            <a:ext cx="1206329" cy="369312"/>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6FFD88D9-B1F8-C503-F7E6-E32C8D253F13}"/>
              </a:ext>
            </a:extLst>
          </p:cNvPr>
          <p:cNvCxnSpPr>
            <a:cxnSpLocks/>
            <a:stCxn id="23" idx="4"/>
            <a:endCxn id="22" idx="0"/>
          </p:cNvCxnSpPr>
          <p:nvPr/>
        </p:nvCxnSpPr>
        <p:spPr>
          <a:xfrm>
            <a:off x="853165" y="3597469"/>
            <a:ext cx="233154" cy="907873"/>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C35CE1E4-D68D-5DEE-3ACC-D7153EB2245F}"/>
              </a:ext>
            </a:extLst>
          </p:cNvPr>
          <p:cNvCxnSpPr>
            <a:cxnSpLocks/>
            <a:stCxn id="5" idx="4"/>
            <a:endCxn id="26" idx="0"/>
          </p:cNvCxnSpPr>
          <p:nvPr/>
        </p:nvCxnSpPr>
        <p:spPr>
          <a:xfrm flipH="1">
            <a:off x="2146549" y="2397833"/>
            <a:ext cx="331037" cy="890952"/>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CEB38CB6-D2ED-F5D6-805D-2134D55BC44F}"/>
              </a:ext>
            </a:extLst>
          </p:cNvPr>
          <p:cNvCxnSpPr>
            <a:cxnSpLocks/>
            <a:stCxn id="26" idx="4"/>
            <a:endCxn id="25" idx="1"/>
          </p:cNvCxnSpPr>
          <p:nvPr/>
        </p:nvCxnSpPr>
        <p:spPr>
          <a:xfrm>
            <a:off x="2146549" y="3775548"/>
            <a:ext cx="630779" cy="456882"/>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513D69C-09BF-289F-52CA-EE7E4E3D8B9D}"/>
              </a:ext>
            </a:extLst>
          </p:cNvPr>
          <p:cNvCxnSpPr>
            <a:cxnSpLocks/>
            <a:stCxn id="22" idx="7"/>
            <a:endCxn id="26" idx="3"/>
          </p:cNvCxnSpPr>
          <p:nvPr/>
        </p:nvCxnSpPr>
        <p:spPr>
          <a:xfrm flipV="1">
            <a:off x="1251184" y="3704264"/>
            <a:ext cx="730499" cy="872361"/>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C0B55FE4-4D0D-90E9-B9B8-A7282ECB3F4E}"/>
              </a:ext>
            </a:extLst>
          </p:cNvPr>
          <p:cNvCxnSpPr>
            <a:cxnSpLocks/>
            <a:stCxn id="22" idx="6"/>
            <a:endCxn id="24" idx="3"/>
          </p:cNvCxnSpPr>
          <p:nvPr/>
        </p:nvCxnSpPr>
        <p:spPr>
          <a:xfrm>
            <a:off x="1319473" y="4748724"/>
            <a:ext cx="3945577" cy="388528"/>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D9174BB5-DFC7-A9A8-3F20-10B3CECB17C3}"/>
              </a:ext>
            </a:extLst>
          </p:cNvPr>
          <p:cNvCxnSpPr>
            <a:cxnSpLocks/>
            <a:stCxn id="25" idx="6"/>
            <a:endCxn id="24" idx="2"/>
          </p:cNvCxnSpPr>
          <p:nvPr/>
        </p:nvCxnSpPr>
        <p:spPr>
          <a:xfrm>
            <a:off x="3175348" y="4404528"/>
            <a:ext cx="2021413" cy="560628"/>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7CAEDFC-C88C-8161-81C9-17DBBCAEF77A}"/>
              </a:ext>
            </a:extLst>
          </p:cNvPr>
          <p:cNvCxnSpPr>
            <a:cxnSpLocks/>
            <a:stCxn id="25" idx="2"/>
            <a:endCxn id="22" idx="6"/>
          </p:cNvCxnSpPr>
          <p:nvPr/>
        </p:nvCxnSpPr>
        <p:spPr>
          <a:xfrm flipH="1">
            <a:off x="1319473" y="4404528"/>
            <a:ext cx="1389567" cy="344195"/>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6ACFE8F3-BEC8-4D08-E9CF-41F1E34F39AF}"/>
              </a:ext>
            </a:extLst>
          </p:cNvPr>
          <p:cNvCxnSpPr>
            <a:cxnSpLocks/>
            <a:stCxn id="23" idx="6"/>
            <a:endCxn id="26" idx="2"/>
          </p:cNvCxnSpPr>
          <p:nvPr/>
        </p:nvCxnSpPr>
        <p:spPr>
          <a:xfrm>
            <a:off x="1086319" y="3354087"/>
            <a:ext cx="827076" cy="178080"/>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E8B09821-9CBC-E0BD-4A7E-63C23D9EB8C6}"/>
              </a:ext>
            </a:extLst>
          </p:cNvPr>
          <p:cNvCxnSpPr>
            <a:cxnSpLocks/>
            <a:stCxn id="20" idx="2"/>
            <a:endCxn id="26" idx="6"/>
          </p:cNvCxnSpPr>
          <p:nvPr/>
        </p:nvCxnSpPr>
        <p:spPr>
          <a:xfrm flipH="1" flipV="1">
            <a:off x="2379703" y="3532167"/>
            <a:ext cx="1128518" cy="57316"/>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9FE1AE17-6242-A0E7-A55F-7F20A0FC391D}"/>
              </a:ext>
            </a:extLst>
          </p:cNvPr>
          <p:cNvCxnSpPr>
            <a:cxnSpLocks/>
            <a:stCxn id="5" idx="3"/>
            <a:endCxn id="23" idx="7"/>
          </p:cNvCxnSpPr>
          <p:nvPr/>
        </p:nvCxnSpPr>
        <p:spPr>
          <a:xfrm flipH="1">
            <a:off x="1018030" y="2326549"/>
            <a:ext cx="1294689" cy="855440"/>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20" name="Oval 19">
            <a:extLst>
              <a:ext uri="{FF2B5EF4-FFF2-40B4-BE49-F238E27FC236}">
                <a16:creationId xmlns:a16="http://schemas.microsoft.com/office/drawing/2014/main" id="{C67877B5-14DC-6A7F-3557-D13E22F7B1ED}"/>
              </a:ext>
            </a:extLst>
          </p:cNvPr>
          <p:cNvSpPr/>
          <p:nvPr/>
        </p:nvSpPr>
        <p:spPr>
          <a:xfrm>
            <a:off x="3508221" y="3346101"/>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2</a:t>
            </a:r>
            <a:endParaRPr lang="en-US" dirty="0">
              <a:latin typeface="Arial" panose="020B0604020202020204" pitchFamily="34" charset="0"/>
              <a:cs typeface="Arial" panose="020B0604020202020204" pitchFamily="34" charset="0"/>
            </a:endParaRPr>
          </a:p>
        </p:txBody>
      </p:sp>
      <p:sp>
        <p:nvSpPr>
          <p:cNvPr id="21" name="Oval 20">
            <a:extLst>
              <a:ext uri="{FF2B5EF4-FFF2-40B4-BE49-F238E27FC236}">
                <a16:creationId xmlns:a16="http://schemas.microsoft.com/office/drawing/2014/main" id="{E7D5360D-7B65-F684-50CA-AA3BBEE1F897}"/>
              </a:ext>
            </a:extLst>
          </p:cNvPr>
          <p:cNvSpPr/>
          <p:nvPr/>
        </p:nvSpPr>
        <p:spPr>
          <a:xfrm>
            <a:off x="3917068" y="2280382"/>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3</a:t>
            </a:r>
            <a:endParaRPr lang="en-US" dirty="0">
              <a:latin typeface="Arial" panose="020B0604020202020204" pitchFamily="34" charset="0"/>
              <a:cs typeface="Arial" panose="020B0604020202020204" pitchFamily="34" charset="0"/>
            </a:endParaRPr>
          </a:p>
        </p:txBody>
      </p:sp>
      <p:sp>
        <p:nvSpPr>
          <p:cNvPr id="22" name="Oval 21">
            <a:extLst>
              <a:ext uri="{FF2B5EF4-FFF2-40B4-BE49-F238E27FC236}">
                <a16:creationId xmlns:a16="http://schemas.microsoft.com/office/drawing/2014/main" id="{1F903A38-D0E2-79E0-7E72-6A6CC09028D0}"/>
              </a:ext>
            </a:extLst>
          </p:cNvPr>
          <p:cNvSpPr/>
          <p:nvPr/>
        </p:nvSpPr>
        <p:spPr>
          <a:xfrm>
            <a:off x="853165" y="4505342"/>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4</a:t>
            </a:r>
            <a:endParaRPr lang="en-US" dirty="0">
              <a:latin typeface="Arial" panose="020B0604020202020204" pitchFamily="34" charset="0"/>
              <a:cs typeface="Arial" panose="020B0604020202020204" pitchFamily="34" charset="0"/>
            </a:endParaRPr>
          </a:p>
        </p:txBody>
      </p:sp>
      <p:sp>
        <p:nvSpPr>
          <p:cNvPr id="23" name="Oval 22">
            <a:extLst>
              <a:ext uri="{FF2B5EF4-FFF2-40B4-BE49-F238E27FC236}">
                <a16:creationId xmlns:a16="http://schemas.microsoft.com/office/drawing/2014/main" id="{F2B87DE6-2A1F-7FE1-3845-766FCC33C267}"/>
              </a:ext>
            </a:extLst>
          </p:cNvPr>
          <p:cNvSpPr/>
          <p:nvPr/>
        </p:nvSpPr>
        <p:spPr>
          <a:xfrm>
            <a:off x="620011" y="3110705"/>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0</a:t>
            </a:r>
            <a:endParaRPr lang="en-US" dirty="0">
              <a:latin typeface="Arial" panose="020B0604020202020204" pitchFamily="34" charset="0"/>
              <a:cs typeface="Arial" panose="020B0604020202020204" pitchFamily="34" charset="0"/>
            </a:endParaRPr>
          </a:p>
        </p:txBody>
      </p:sp>
      <p:sp>
        <p:nvSpPr>
          <p:cNvPr id="24" name="Oval 23">
            <a:extLst>
              <a:ext uri="{FF2B5EF4-FFF2-40B4-BE49-F238E27FC236}">
                <a16:creationId xmlns:a16="http://schemas.microsoft.com/office/drawing/2014/main" id="{8276A33E-C284-6C24-7612-C3990D341B39}"/>
              </a:ext>
            </a:extLst>
          </p:cNvPr>
          <p:cNvSpPr/>
          <p:nvPr/>
        </p:nvSpPr>
        <p:spPr>
          <a:xfrm>
            <a:off x="5196761" y="4721774"/>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6</a:t>
            </a:r>
            <a:endParaRPr lang="en-US" dirty="0">
              <a:latin typeface="Arial" panose="020B0604020202020204" pitchFamily="34" charset="0"/>
              <a:cs typeface="Arial" panose="020B0604020202020204" pitchFamily="34" charset="0"/>
            </a:endParaRPr>
          </a:p>
        </p:txBody>
      </p:sp>
      <p:sp>
        <p:nvSpPr>
          <p:cNvPr id="25" name="Oval 24">
            <a:extLst>
              <a:ext uri="{FF2B5EF4-FFF2-40B4-BE49-F238E27FC236}">
                <a16:creationId xmlns:a16="http://schemas.microsoft.com/office/drawing/2014/main" id="{53D32BE2-C9D6-C1E2-22E7-71BB1361D881}"/>
              </a:ext>
            </a:extLst>
          </p:cNvPr>
          <p:cNvSpPr/>
          <p:nvPr/>
        </p:nvSpPr>
        <p:spPr>
          <a:xfrm>
            <a:off x="2709040" y="4161146"/>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5</a:t>
            </a:r>
            <a:endParaRPr lang="en-US" dirty="0">
              <a:latin typeface="Arial" panose="020B0604020202020204" pitchFamily="34" charset="0"/>
              <a:cs typeface="Arial" panose="020B0604020202020204" pitchFamily="34" charset="0"/>
            </a:endParaRPr>
          </a:p>
        </p:txBody>
      </p:sp>
      <p:sp>
        <p:nvSpPr>
          <p:cNvPr id="26" name="Oval 25">
            <a:extLst>
              <a:ext uri="{FF2B5EF4-FFF2-40B4-BE49-F238E27FC236}">
                <a16:creationId xmlns:a16="http://schemas.microsoft.com/office/drawing/2014/main" id="{ED451F4A-B091-880D-EB85-F11C366F1C7A}"/>
              </a:ext>
            </a:extLst>
          </p:cNvPr>
          <p:cNvSpPr/>
          <p:nvPr/>
        </p:nvSpPr>
        <p:spPr>
          <a:xfrm>
            <a:off x="1913395" y="3288785"/>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7</a:t>
            </a:r>
            <a:endParaRPr lang="en-US" dirty="0">
              <a:latin typeface="Arial" panose="020B0604020202020204" pitchFamily="34" charset="0"/>
              <a:cs typeface="Arial" panose="020B0604020202020204" pitchFamily="34" charset="0"/>
            </a:endParaRPr>
          </a:p>
        </p:txBody>
      </p:sp>
      <p:cxnSp>
        <p:nvCxnSpPr>
          <p:cNvPr id="27" name="Straight Connector 26">
            <a:extLst>
              <a:ext uri="{FF2B5EF4-FFF2-40B4-BE49-F238E27FC236}">
                <a16:creationId xmlns:a16="http://schemas.microsoft.com/office/drawing/2014/main" id="{62C9EBF3-DB33-E9DE-D5FA-D9E854A2C26B}"/>
              </a:ext>
            </a:extLst>
          </p:cNvPr>
          <p:cNvCxnSpPr>
            <a:cxnSpLocks/>
            <a:stCxn id="21" idx="4"/>
            <a:endCxn id="20" idx="0"/>
          </p:cNvCxnSpPr>
          <p:nvPr/>
        </p:nvCxnSpPr>
        <p:spPr>
          <a:xfrm flipH="1">
            <a:off x="3741375" y="2767145"/>
            <a:ext cx="408847" cy="578956"/>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A7949671-A7F5-F713-086D-05E160A9EB7D}"/>
              </a:ext>
            </a:extLst>
          </p:cNvPr>
          <p:cNvCxnSpPr>
            <a:cxnSpLocks/>
            <a:stCxn id="20" idx="5"/>
            <a:endCxn id="24" idx="1"/>
          </p:cNvCxnSpPr>
          <p:nvPr/>
        </p:nvCxnSpPr>
        <p:spPr>
          <a:xfrm>
            <a:off x="3906240" y="3761580"/>
            <a:ext cx="1358809" cy="1031478"/>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7911B73B-D47D-0D71-0181-58E9385E42DF}"/>
              </a:ext>
            </a:extLst>
          </p:cNvPr>
          <p:cNvSpPr txBox="1"/>
          <p:nvPr/>
        </p:nvSpPr>
        <p:spPr>
          <a:xfrm>
            <a:off x="3237416" y="3946065"/>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a:t>
            </a:r>
            <a:endParaRPr lang="en-US" sz="1100"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8B7F9CE6-7873-7F99-B4CE-86431CFF3179}"/>
              </a:ext>
            </a:extLst>
          </p:cNvPr>
          <p:cNvSpPr txBox="1"/>
          <p:nvPr/>
        </p:nvSpPr>
        <p:spPr>
          <a:xfrm>
            <a:off x="3806197" y="2976235"/>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3</a:t>
            </a:r>
            <a:endParaRPr lang="en-US" sz="1100" dirty="0">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1910F446-4C72-96E3-D309-614E97666B7E}"/>
              </a:ext>
            </a:extLst>
          </p:cNvPr>
          <p:cNvSpPr txBox="1"/>
          <p:nvPr/>
        </p:nvSpPr>
        <p:spPr>
          <a:xfrm>
            <a:off x="2310026" y="3916112"/>
            <a:ext cx="209449"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6</a:t>
            </a:r>
            <a:endParaRPr lang="en-US" sz="1100" dirty="0">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171EFC23-8B07-25B3-7C97-05B39627A18B}"/>
              </a:ext>
            </a:extLst>
          </p:cNvPr>
          <p:cNvSpPr txBox="1"/>
          <p:nvPr/>
        </p:nvSpPr>
        <p:spPr>
          <a:xfrm>
            <a:off x="2201805" y="2779354"/>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4</a:t>
            </a:r>
            <a:endParaRPr lang="en-US" sz="1100" dirty="0">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D9D7AC15-E1F7-9E1B-58CE-DE0F61FA396F}"/>
              </a:ext>
            </a:extLst>
          </p:cNvPr>
          <p:cNvSpPr txBox="1"/>
          <p:nvPr/>
        </p:nvSpPr>
        <p:spPr>
          <a:xfrm>
            <a:off x="2978785" y="2758664"/>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12</a:t>
            </a:r>
            <a:endParaRPr lang="en-US" sz="1100"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5EB64EBB-E734-AF5A-FA40-06CC787F0BF4}"/>
              </a:ext>
            </a:extLst>
          </p:cNvPr>
          <p:cNvSpPr txBox="1"/>
          <p:nvPr/>
        </p:nvSpPr>
        <p:spPr>
          <a:xfrm>
            <a:off x="1361199" y="3390126"/>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8</a:t>
            </a:r>
            <a:endParaRPr lang="en-US" sz="1100" dirty="0">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1E69A3AF-14A6-14DA-1F48-921B3F350D83}"/>
              </a:ext>
            </a:extLst>
          </p:cNvPr>
          <p:cNvSpPr txBox="1"/>
          <p:nvPr/>
        </p:nvSpPr>
        <p:spPr>
          <a:xfrm>
            <a:off x="3268224" y="2241908"/>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15</a:t>
            </a:r>
            <a:endParaRPr lang="en-US" sz="1100" dirty="0">
              <a:latin typeface="Arial" panose="020B0604020202020204" pitchFamily="34" charset="0"/>
              <a:cs typeface="Arial" panose="020B0604020202020204" pitchFamily="34" charset="0"/>
            </a:endParaRPr>
          </a:p>
        </p:txBody>
      </p:sp>
      <p:sp>
        <p:nvSpPr>
          <p:cNvPr id="36" name="TextBox 35">
            <a:extLst>
              <a:ext uri="{FF2B5EF4-FFF2-40B4-BE49-F238E27FC236}">
                <a16:creationId xmlns:a16="http://schemas.microsoft.com/office/drawing/2014/main" id="{DF1DA2C5-CC74-F4A4-F989-79896BCDE417}"/>
              </a:ext>
            </a:extLst>
          </p:cNvPr>
          <p:cNvSpPr txBox="1"/>
          <p:nvPr/>
        </p:nvSpPr>
        <p:spPr>
          <a:xfrm>
            <a:off x="1560650" y="2668541"/>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5</a:t>
            </a:r>
            <a:endParaRPr lang="en-US" sz="1100" dirty="0">
              <a:latin typeface="Arial" panose="020B0604020202020204" pitchFamily="34" charset="0"/>
              <a:cs typeface="Arial" panose="020B0604020202020204" pitchFamily="34" charset="0"/>
            </a:endParaRPr>
          </a:p>
        </p:txBody>
      </p:sp>
      <p:sp>
        <p:nvSpPr>
          <p:cNvPr id="37" name="TextBox 36">
            <a:extLst>
              <a:ext uri="{FF2B5EF4-FFF2-40B4-BE49-F238E27FC236}">
                <a16:creationId xmlns:a16="http://schemas.microsoft.com/office/drawing/2014/main" id="{9342D5B8-4B19-F43E-1398-49176A09A14B}"/>
              </a:ext>
            </a:extLst>
          </p:cNvPr>
          <p:cNvSpPr txBox="1"/>
          <p:nvPr/>
        </p:nvSpPr>
        <p:spPr>
          <a:xfrm>
            <a:off x="2845745" y="3459111"/>
            <a:ext cx="209449"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7</a:t>
            </a:r>
            <a:endParaRPr lang="en-US" sz="1100"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BEE843BC-B8EE-6A6F-73F6-3810B88ED858}"/>
              </a:ext>
            </a:extLst>
          </p:cNvPr>
          <p:cNvSpPr txBox="1"/>
          <p:nvPr/>
        </p:nvSpPr>
        <p:spPr>
          <a:xfrm>
            <a:off x="871456" y="3934957"/>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9</a:t>
            </a:r>
            <a:endParaRPr lang="en-US" sz="1100" dirty="0">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0AA943F5-4311-E597-0B0A-0B491CC8C992}"/>
              </a:ext>
            </a:extLst>
          </p:cNvPr>
          <p:cNvSpPr txBox="1"/>
          <p:nvPr/>
        </p:nvSpPr>
        <p:spPr>
          <a:xfrm>
            <a:off x="1561283" y="3980449"/>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5</a:t>
            </a:r>
            <a:endParaRPr lang="en-US" sz="1100" dirty="0">
              <a:latin typeface="Arial" panose="020B0604020202020204" pitchFamily="34" charset="0"/>
              <a:cs typeface="Arial" panose="020B0604020202020204" pitchFamily="34" charset="0"/>
            </a:endParaRPr>
          </a:p>
        </p:txBody>
      </p:sp>
      <p:sp>
        <p:nvSpPr>
          <p:cNvPr id="40" name="TextBox 39">
            <a:extLst>
              <a:ext uri="{FF2B5EF4-FFF2-40B4-BE49-F238E27FC236}">
                <a16:creationId xmlns:a16="http://schemas.microsoft.com/office/drawing/2014/main" id="{BF1011CA-2B0D-8EFE-9E01-F7215A85F334}"/>
              </a:ext>
            </a:extLst>
          </p:cNvPr>
          <p:cNvSpPr txBox="1"/>
          <p:nvPr/>
        </p:nvSpPr>
        <p:spPr>
          <a:xfrm>
            <a:off x="2001939" y="4455319"/>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4</a:t>
            </a:r>
            <a:endParaRPr lang="en-US" sz="1100" dirty="0">
              <a:latin typeface="Arial" panose="020B0604020202020204" pitchFamily="34" charset="0"/>
              <a:cs typeface="Arial" panose="020B0604020202020204" pitchFamily="34" charset="0"/>
            </a:endParaRPr>
          </a:p>
        </p:txBody>
      </p:sp>
      <p:sp>
        <p:nvSpPr>
          <p:cNvPr id="41" name="TextBox 40">
            <a:extLst>
              <a:ext uri="{FF2B5EF4-FFF2-40B4-BE49-F238E27FC236}">
                <a16:creationId xmlns:a16="http://schemas.microsoft.com/office/drawing/2014/main" id="{DBBB4115-F17F-9459-C9BC-7452456159C6}"/>
              </a:ext>
            </a:extLst>
          </p:cNvPr>
          <p:cNvSpPr txBox="1"/>
          <p:nvPr/>
        </p:nvSpPr>
        <p:spPr>
          <a:xfrm>
            <a:off x="4313489" y="4066810"/>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11</a:t>
            </a:r>
            <a:endParaRPr lang="en-US" sz="1100" dirty="0">
              <a:latin typeface="Arial" panose="020B0604020202020204" pitchFamily="34" charset="0"/>
              <a:cs typeface="Arial" panose="020B0604020202020204" pitchFamily="34" charset="0"/>
            </a:endParaRPr>
          </a:p>
        </p:txBody>
      </p:sp>
      <p:sp>
        <p:nvSpPr>
          <p:cNvPr id="42" name="TextBox 41">
            <a:extLst>
              <a:ext uri="{FF2B5EF4-FFF2-40B4-BE49-F238E27FC236}">
                <a16:creationId xmlns:a16="http://schemas.microsoft.com/office/drawing/2014/main" id="{37DC928C-4AAB-F49D-E35D-1662D2CCB89D}"/>
              </a:ext>
            </a:extLst>
          </p:cNvPr>
          <p:cNvSpPr txBox="1"/>
          <p:nvPr/>
        </p:nvSpPr>
        <p:spPr>
          <a:xfrm>
            <a:off x="4655260" y="3444375"/>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9</a:t>
            </a:r>
            <a:endParaRPr lang="en-US" sz="1100" dirty="0">
              <a:latin typeface="Arial" panose="020B0604020202020204" pitchFamily="34" charset="0"/>
              <a:cs typeface="Arial" panose="020B0604020202020204" pitchFamily="34" charset="0"/>
            </a:endParaRPr>
          </a:p>
        </p:txBody>
      </p:sp>
      <p:sp>
        <p:nvSpPr>
          <p:cNvPr id="43" name="TextBox 42">
            <a:extLst>
              <a:ext uri="{FF2B5EF4-FFF2-40B4-BE49-F238E27FC236}">
                <a16:creationId xmlns:a16="http://schemas.microsoft.com/office/drawing/2014/main" id="{C6238205-B40B-BBCE-1E47-65989EA7DFA5}"/>
              </a:ext>
            </a:extLst>
          </p:cNvPr>
          <p:cNvSpPr txBox="1"/>
          <p:nvPr/>
        </p:nvSpPr>
        <p:spPr>
          <a:xfrm>
            <a:off x="3716777" y="4526169"/>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13</a:t>
            </a:r>
            <a:endParaRPr lang="en-US" sz="1100" dirty="0">
              <a:latin typeface="Arial" panose="020B0604020202020204" pitchFamily="34" charset="0"/>
              <a:cs typeface="Arial" panose="020B0604020202020204" pitchFamily="34" charset="0"/>
            </a:endParaRPr>
          </a:p>
        </p:txBody>
      </p:sp>
      <p:sp>
        <p:nvSpPr>
          <p:cNvPr id="44" name="TextBox 43">
            <a:extLst>
              <a:ext uri="{FF2B5EF4-FFF2-40B4-BE49-F238E27FC236}">
                <a16:creationId xmlns:a16="http://schemas.microsoft.com/office/drawing/2014/main" id="{7418D85D-77D8-370A-D3FB-738A184473C8}"/>
              </a:ext>
            </a:extLst>
          </p:cNvPr>
          <p:cNvSpPr txBox="1"/>
          <p:nvPr/>
        </p:nvSpPr>
        <p:spPr>
          <a:xfrm>
            <a:off x="2983346" y="4835581"/>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20</a:t>
            </a:r>
            <a:endParaRPr lang="en-US" sz="1100" dirty="0">
              <a:latin typeface="Arial" panose="020B0604020202020204" pitchFamily="34" charset="0"/>
              <a:cs typeface="Arial" panose="020B0604020202020204" pitchFamily="34" charset="0"/>
            </a:endParaRPr>
          </a:p>
        </p:txBody>
      </p:sp>
      <p:sp>
        <p:nvSpPr>
          <p:cNvPr id="45" name="Rectangle 44">
            <a:extLst>
              <a:ext uri="{FF2B5EF4-FFF2-40B4-BE49-F238E27FC236}">
                <a16:creationId xmlns:a16="http://schemas.microsoft.com/office/drawing/2014/main" id="{8AC67641-0CA2-9FD8-FBB4-BC60E15B6071}"/>
              </a:ext>
            </a:extLst>
          </p:cNvPr>
          <p:cNvSpPr/>
          <p:nvPr/>
        </p:nvSpPr>
        <p:spPr>
          <a:xfrm>
            <a:off x="300946" y="5176534"/>
            <a:ext cx="2420856" cy="954107"/>
          </a:xfrm>
          <a:prstGeom prst="rect">
            <a:avLst/>
          </a:prstGeom>
        </p:spPr>
        <p:txBody>
          <a:bodyPr wrap="none">
            <a:spAutoFit/>
          </a:bodyPr>
          <a:lstStyle/>
          <a:p>
            <a:r>
              <a:rPr lang="en-US" dirty="0">
                <a:solidFill>
                  <a:srgbClr val="8C3023"/>
                </a:solidFill>
                <a:latin typeface="LucidaGrande" panose="020B0600040502020204" pitchFamily="34" charset="0"/>
              </a:rPr>
              <a:t>choose source node 0</a:t>
            </a:r>
          </a:p>
          <a:p>
            <a:r>
              <a:rPr lang="en-US" dirty="0">
                <a:solidFill>
                  <a:srgbClr val="8C3023"/>
                </a:solidFill>
                <a:latin typeface="LucidaGrande" panose="020B0600040502020204" pitchFamily="34" charset="0"/>
              </a:rPr>
              <a:t>relax all edges adjacent from 0</a:t>
            </a:r>
          </a:p>
          <a:p>
            <a:r>
              <a:rPr lang="en-US" dirty="0">
                <a:solidFill>
                  <a:srgbClr val="8C3023"/>
                </a:solidFill>
                <a:latin typeface="LucidaGrande" panose="020B0600040502020204" pitchFamily="34" charset="0"/>
              </a:rPr>
              <a:t>choose node 1  </a:t>
            </a:r>
          </a:p>
          <a:p>
            <a:r>
              <a:rPr lang="en-US" dirty="0">
                <a:solidFill>
                  <a:srgbClr val="8C3023"/>
                </a:solidFill>
                <a:latin typeface="LucidaGrande" panose="020B0600040502020204" pitchFamily="34" charset="0"/>
              </a:rPr>
              <a:t>relax all edges adjacent from 1</a:t>
            </a:r>
          </a:p>
        </p:txBody>
      </p:sp>
      <p:sp>
        <p:nvSpPr>
          <p:cNvPr id="46" name="Rectangle 45">
            <a:extLst>
              <a:ext uri="{FF2B5EF4-FFF2-40B4-BE49-F238E27FC236}">
                <a16:creationId xmlns:a16="http://schemas.microsoft.com/office/drawing/2014/main" id="{F6FE52C2-9CA6-EC89-025C-D2359921315E}"/>
              </a:ext>
            </a:extLst>
          </p:cNvPr>
          <p:cNvSpPr/>
          <p:nvPr/>
        </p:nvSpPr>
        <p:spPr>
          <a:xfrm>
            <a:off x="6298671" y="2002688"/>
            <a:ext cx="958917" cy="338554"/>
          </a:xfrm>
          <a:prstGeom prst="rect">
            <a:avLst/>
          </a:prstGeom>
        </p:spPr>
        <p:txBody>
          <a:bodyPr wrap="none">
            <a:spAutoFit/>
          </a:bodyPr>
          <a:lstStyle/>
          <a:p>
            <a:r>
              <a:rPr lang="en-US" sz="1600" dirty="0">
                <a:solidFill>
                  <a:schemeClr val="accent1"/>
                </a:solidFill>
                <a:latin typeface="Times New Roman" panose="02020603050405020304" pitchFamily="18" charset="0"/>
                <a:cs typeface="Times New Roman" panose="02020603050405020304" pitchFamily="18" charset="0"/>
              </a:rPr>
              <a:t>v       SD </a:t>
            </a:r>
            <a:endParaRPr lang="en-US" sz="1600" dirty="0">
              <a:solidFill>
                <a:schemeClr val="accent1"/>
              </a:solidFill>
              <a:effectLst/>
              <a:latin typeface="Times New Roman" panose="02020603050405020304" pitchFamily="18" charset="0"/>
              <a:cs typeface="Times New Roman" panose="02020603050405020304" pitchFamily="18" charset="0"/>
            </a:endParaRPr>
          </a:p>
        </p:txBody>
      </p:sp>
      <p:sp>
        <p:nvSpPr>
          <p:cNvPr id="47" name="Rectangle 46">
            <a:extLst>
              <a:ext uri="{FF2B5EF4-FFF2-40B4-BE49-F238E27FC236}">
                <a16:creationId xmlns:a16="http://schemas.microsoft.com/office/drawing/2014/main" id="{A70DD4AA-7D0D-8E83-8193-E420B798BD5A}"/>
              </a:ext>
            </a:extLst>
          </p:cNvPr>
          <p:cNvSpPr/>
          <p:nvPr/>
        </p:nvSpPr>
        <p:spPr>
          <a:xfrm>
            <a:off x="6298671" y="2403122"/>
            <a:ext cx="304221" cy="1749197"/>
          </a:xfrm>
          <a:prstGeom prst="rect">
            <a:avLst/>
          </a:prstGeom>
          <a:noFill/>
          <a:effectLst/>
        </p:spPr>
        <p:txBody>
          <a:bodyPr wrap="square">
            <a:spAutoFit/>
          </a:bodyPr>
          <a:lstStyle/>
          <a:p>
            <a:pPr>
              <a:spcBef>
                <a:spcPts val="100"/>
              </a:spcBef>
              <a:spcAft>
                <a:spcPts val="100"/>
              </a:spcAft>
            </a:pPr>
            <a:r>
              <a:rPr lang="en-US" sz="1200" b="1" dirty="0">
                <a:latin typeface="Times" pitchFamily="2" charset="0"/>
                <a:cs typeface="Arial Hebrew" pitchFamily="2" charset="-79"/>
              </a:rPr>
              <a:t>0</a:t>
            </a:r>
          </a:p>
          <a:p>
            <a:pPr>
              <a:spcBef>
                <a:spcPts val="100"/>
              </a:spcBef>
              <a:spcAft>
                <a:spcPts val="100"/>
              </a:spcAft>
            </a:pPr>
            <a:r>
              <a:rPr lang="en-US" sz="1200" b="1" dirty="0">
                <a:latin typeface="Times" pitchFamily="2" charset="0"/>
                <a:cs typeface="Arial Hebrew" pitchFamily="2" charset="-79"/>
              </a:rPr>
              <a:t>1</a:t>
            </a:r>
          </a:p>
          <a:p>
            <a:pPr>
              <a:spcBef>
                <a:spcPts val="100"/>
              </a:spcBef>
              <a:spcAft>
                <a:spcPts val="100"/>
              </a:spcAft>
            </a:pPr>
            <a:r>
              <a:rPr lang="en-US" sz="1200" b="1" dirty="0">
                <a:latin typeface="Times" pitchFamily="2" charset="0"/>
                <a:cs typeface="Arial Hebrew" pitchFamily="2" charset="-79"/>
              </a:rPr>
              <a:t>2</a:t>
            </a:r>
          </a:p>
          <a:p>
            <a:pPr>
              <a:spcBef>
                <a:spcPts val="100"/>
              </a:spcBef>
              <a:spcAft>
                <a:spcPts val="100"/>
              </a:spcAft>
            </a:pPr>
            <a:r>
              <a:rPr lang="en-US" sz="1200" b="1" dirty="0">
                <a:latin typeface="Times" pitchFamily="2" charset="0"/>
                <a:cs typeface="Arial Hebrew" pitchFamily="2" charset="-79"/>
              </a:rPr>
              <a:t>3</a:t>
            </a:r>
          </a:p>
          <a:p>
            <a:pPr>
              <a:spcBef>
                <a:spcPts val="100"/>
              </a:spcBef>
              <a:spcAft>
                <a:spcPts val="100"/>
              </a:spcAft>
            </a:pPr>
            <a:r>
              <a:rPr lang="en-US" sz="1200" b="1" dirty="0">
                <a:latin typeface="Times" pitchFamily="2" charset="0"/>
                <a:cs typeface="Arial Hebrew" pitchFamily="2" charset="-79"/>
              </a:rPr>
              <a:t>4</a:t>
            </a:r>
          </a:p>
          <a:p>
            <a:pPr>
              <a:spcBef>
                <a:spcPts val="100"/>
              </a:spcBef>
              <a:spcAft>
                <a:spcPts val="100"/>
              </a:spcAft>
            </a:pPr>
            <a:r>
              <a:rPr lang="en-US" sz="1200" b="1" dirty="0">
                <a:latin typeface="Times" pitchFamily="2" charset="0"/>
                <a:cs typeface="Arial Hebrew" pitchFamily="2" charset="-79"/>
              </a:rPr>
              <a:t>5</a:t>
            </a:r>
          </a:p>
          <a:p>
            <a:pPr>
              <a:spcBef>
                <a:spcPts val="100"/>
              </a:spcBef>
              <a:spcAft>
                <a:spcPts val="100"/>
              </a:spcAft>
            </a:pPr>
            <a:r>
              <a:rPr lang="en-US" sz="1200" b="1" dirty="0">
                <a:latin typeface="Times" pitchFamily="2" charset="0"/>
                <a:cs typeface="Arial Hebrew" pitchFamily="2" charset="-79"/>
              </a:rPr>
              <a:t>6</a:t>
            </a:r>
          </a:p>
          <a:p>
            <a:pPr>
              <a:spcBef>
                <a:spcPts val="100"/>
              </a:spcBef>
              <a:spcAft>
                <a:spcPts val="100"/>
              </a:spcAft>
            </a:pPr>
            <a:r>
              <a:rPr lang="en-US" sz="1200" b="1" dirty="0">
                <a:latin typeface="Times" pitchFamily="2" charset="0"/>
                <a:cs typeface="Arial Hebrew" pitchFamily="2" charset="-79"/>
              </a:rPr>
              <a:t>7</a:t>
            </a:r>
          </a:p>
        </p:txBody>
      </p:sp>
      <p:cxnSp>
        <p:nvCxnSpPr>
          <p:cNvPr id="48" name="Straight Connector 47">
            <a:extLst>
              <a:ext uri="{FF2B5EF4-FFF2-40B4-BE49-F238E27FC236}">
                <a16:creationId xmlns:a16="http://schemas.microsoft.com/office/drawing/2014/main" id="{8FEF66A0-4EF5-B83B-99A3-03C9DE50D31B}"/>
              </a:ext>
            </a:extLst>
          </p:cNvPr>
          <p:cNvCxnSpPr/>
          <p:nvPr/>
        </p:nvCxnSpPr>
        <p:spPr>
          <a:xfrm>
            <a:off x="6252607" y="2348567"/>
            <a:ext cx="1174452" cy="0"/>
          </a:xfrm>
          <a:prstGeom prst="line">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53BE8F01-7DB0-EFC7-7C0C-E2F76F844CA9}"/>
                  </a:ext>
                </a:extLst>
              </p:cNvPr>
              <p:cNvSpPr/>
              <p:nvPr/>
            </p:nvSpPr>
            <p:spPr>
              <a:xfrm>
                <a:off x="6803769" y="2373701"/>
                <a:ext cx="304221" cy="1774845"/>
              </a:xfrm>
              <a:prstGeom prst="rect">
                <a:avLst/>
              </a:prstGeom>
              <a:noFill/>
              <a:effectLst/>
            </p:spPr>
            <p:txBody>
              <a:bodyPr wrap="square">
                <a:spAutoFit/>
              </a:bodyPr>
              <a:lstStyle/>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smtClean="0">
                          <a:latin typeface="Cambria Math" panose="02040503050406030204" pitchFamily="18" charset="0"/>
                          <a:ea typeface="Cambria Math" panose="02040503050406030204" pitchFamily="18" charset="0"/>
                          <a:cs typeface="Arial Hebrew" pitchFamily="2" charset="-79"/>
                        </a:rPr>
                        <m:t>∞ </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 xmlns:m="http://schemas.openxmlformats.org/officeDocument/2006/math">
                    <m:r>
                      <a:rPr lang="en-US" sz="1200" b="1" i="1" dirty="0" smtClean="0">
                        <a:latin typeface="Cambria Math" panose="02040503050406030204" pitchFamily="18" charset="0"/>
                        <a:ea typeface="Cambria Math" panose="02040503050406030204" pitchFamily="18" charset="0"/>
                        <a:cs typeface="Arial Hebrew" pitchFamily="2" charset="-79"/>
                      </a:rPr>
                      <m:t>∞</m:t>
                    </m:r>
                  </m:oMath>
                </a14:m>
                <a:r>
                  <a:rPr lang="en-US" sz="1200" b="1" dirty="0">
                    <a:ea typeface="Cambria Math" panose="02040503050406030204" pitchFamily="18" charset="0"/>
                    <a:cs typeface="Arial Hebrew" pitchFamily="2" charset="-79"/>
                  </a:rPr>
                  <a:t> </a:t>
                </a:r>
                <a14:m>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 </m:t>
                    </m:r>
                  </m:oMath>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dirty="0">
                  <a:latin typeface="Times" pitchFamily="2" charset="0"/>
                  <a:cs typeface="Arial Hebrew" pitchFamily="2" charset="-79"/>
                </a:endParaRPr>
              </a:p>
            </p:txBody>
          </p:sp>
        </mc:Choice>
        <mc:Fallback xmlns="">
          <p:sp>
            <p:nvSpPr>
              <p:cNvPr id="49" name="Rectangle 48">
                <a:extLst>
                  <a:ext uri="{FF2B5EF4-FFF2-40B4-BE49-F238E27FC236}">
                    <a16:creationId xmlns:a16="http://schemas.microsoft.com/office/drawing/2014/main" id="{53BE8F01-7DB0-EFC7-7C0C-E2F76F844CA9}"/>
                  </a:ext>
                </a:extLst>
              </p:cNvPr>
              <p:cNvSpPr>
                <a:spLocks noRot="1" noChangeAspect="1" noMove="1" noResize="1" noEditPoints="1" noAdjustHandles="1" noChangeArrowheads="1" noChangeShapeType="1" noTextEdit="1"/>
              </p:cNvSpPr>
              <p:nvPr/>
            </p:nvSpPr>
            <p:spPr>
              <a:xfrm>
                <a:off x="6803769" y="2373701"/>
                <a:ext cx="304221" cy="1774845"/>
              </a:xfrm>
              <a:prstGeom prst="rect">
                <a:avLst/>
              </a:prstGeom>
              <a:blipFill>
                <a:blip r:embed="rId3"/>
                <a:stretch>
                  <a:fillRect/>
                </a:stretch>
              </a:blipFill>
              <a:effectLst/>
            </p:spPr>
            <p:txBody>
              <a:bodyPr/>
              <a:lstStyle/>
              <a:p>
                <a:r>
                  <a:rPr lang="en-SE">
                    <a:noFill/>
                  </a:rPr>
                  <a:t> </a:t>
                </a:r>
              </a:p>
            </p:txBody>
          </p:sp>
        </mc:Fallback>
      </mc:AlternateContent>
      <p:sp>
        <p:nvSpPr>
          <p:cNvPr id="50" name="Rectangle 49">
            <a:extLst>
              <a:ext uri="{FF2B5EF4-FFF2-40B4-BE49-F238E27FC236}">
                <a16:creationId xmlns:a16="http://schemas.microsoft.com/office/drawing/2014/main" id="{FF757A8E-0C4E-0377-02EF-4BC743CEBB8D}"/>
              </a:ext>
            </a:extLst>
          </p:cNvPr>
          <p:cNvSpPr/>
          <p:nvPr/>
        </p:nvSpPr>
        <p:spPr>
          <a:xfrm>
            <a:off x="6339661" y="4263934"/>
            <a:ext cx="907621" cy="338554"/>
          </a:xfrm>
          <a:prstGeom prst="rect">
            <a:avLst/>
          </a:prstGeom>
        </p:spPr>
        <p:txBody>
          <a:bodyPr wrap="none">
            <a:spAutoFit/>
          </a:bodyPr>
          <a:lstStyle/>
          <a:p>
            <a:r>
              <a:rPr lang="en-US" sz="1600" dirty="0">
                <a:solidFill>
                  <a:schemeClr val="accent1"/>
                </a:solidFill>
                <a:latin typeface="Times New Roman" panose="02020603050405020304" pitchFamily="18" charset="0"/>
                <a:cs typeface="Times New Roman" panose="02020603050405020304" pitchFamily="18" charset="0"/>
              </a:rPr>
              <a:t>v       PN</a:t>
            </a:r>
            <a:endParaRPr lang="en-US" sz="1600" dirty="0">
              <a:solidFill>
                <a:schemeClr val="accent1"/>
              </a:solidFill>
              <a:effectLst/>
              <a:latin typeface="Times New Roman" panose="02020603050405020304" pitchFamily="18" charset="0"/>
              <a:cs typeface="Times New Roman" panose="02020603050405020304" pitchFamily="18" charset="0"/>
            </a:endParaRPr>
          </a:p>
        </p:txBody>
      </p:sp>
      <p:sp>
        <p:nvSpPr>
          <p:cNvPr id="51" name="Rectangle 50">
            <a:extLst>
              <a:ext uri="{FF2B5EF4-FFF2-40B4-BE49-F238E27FC236}">
                <a16:creationId xmlns:a16="http://schemas.microsoft.com/office/drawing/2014/main" id="{884F833C-657A-FFA8-D75F-D47F359D9F6C}"/>
              </a:ext>
            </a:extLst>
          </p:cNvPr>
          <p:cNvSpPr/>
          <p:nvPr/>
        </p:nvSpPr>
        <p:spPr>
          <a:xfrm>
            <a:off x="6339661" y="4655979"/>
            <a:ext cx="304221" cy="1749197"/>
          </a:xfrm>
          <a:prstGeom prst="rect">
            <a:avLst/>
          </a:prstGeom>
          <a:noFill/>
          <a:effectLst/>
        </p:spPr>
        <p:txBody>
          <a:bodyPr wrap="square">
            <a:spAutoFit/>
          </a:bodyPr>
          <a:lstStyle/>
          <a:p>
            <a:pPr>
              <a:spcBef>
                <a:spcPts val="100"/>
              </a:spcBef>
              <a:spcAft>
                <a:spcPts val="100"/>
              </a:spcAft>
            </a:pPr>
            <a:r>
              <a:rPr lang="en-US" sz="1200" b="1" dirty="0">
                <a:latin typeface="Times" pitchFamily="2" charset="0"/>
                <a:cs typeface="Arial Hebrew" pitchFamily="2" charset="-79"/>
              </a:rPr>
              <a:t>0</a:t>
            </a:r>
          </a:p>
          <a:p>
            <a:pPr>
              <a:spcBef>
                <a:spcPts val="100"/>
              </a:spcBef>
              <a:spcAft>
                <a:spcPts val="100"/>
              </a:spcAft>
            </a:pPr>
            <a:r>
              <a:rPr lang="en-US" sz="1200" b="1" dirty="0">
                <a:latin typeface="Times" pitchFamily="2" charset="0"/>
                <a:cs typeface="Arial Hebrew" pitchFamily="2" charset="-79"/>
              </a:rPr>
              <a:t>1</a:t>
            </a:r>
          </a:p>
          <a:p>
            <a:pPr>
              <a:spcBef>
                <a:spcPts val="100"/>
              </a:spcBef>
              <a:spcAft>
                <a:spcPts val="100"/>
              </a:spcAft>
            </a:pPr>
            <a:r>
              <a:rPr lang="en-US" sz="1200" b="1" dirty="0">
                <a:latin typeface="Times" pitchFamily="2" charset="0"/>
                <a:cs typeface="Arial Hebrew" pitchFamily="2" charset="-79"/>
              </a:rPr>
              <a:t>2</a:t>
            </a:r>
          </a:p>
          <a:p>
            <a:pPr>
              <a:spcBef>
                <a:spcPts val="100"/>
              </a:spcBef>
              <a:spcAft>
                <a:spcPts val="100"/>
              </a:spcAft>
            </a:pPr>
            <a:r>
              <a:rPr lang="en-US" sz="1200" b="1" dirty="0">
                <a:latin typeface="Times" pitchFamily="2" charset="0"/>
                <a:cs typeface="Arial Hebrew" pitchFamily="2" charset="-79"/>
              </a:rPr>
              <a:t>3</a:t>
            </a:r>
          </a:p>
          <a:p>
            <a:pPr>
              <a:spcBef>
                <a:spcPts val="100"/>
              </a:spcBef>
              <a:spcAft>
                <a:spcPts val="100"/>
              </a:spcAft>
            </a:pPr>
            <a:r>
              <a:rPr lang="en-US" sz="1200" b="1" dirty="0">
                <a:latin typeface="Times" pitchFamily="2" charset="0"/>
                <a:cs typeface="Arial Hebrew" pitchFamily="2" charset="-79"/>
              </a:rPr>
              <a:t>4</a:t>
            </a:r>
          </a:p>
          <a:p>
            <a:pPr>
              <a:spcBef>
                <a:spcPts val="100"/>
              </a:spcBef>
              <a:spcAft>
                <a:spcPts val="100"/>
              </a:spcAft>
            </a:pPr>
            <a:r>
              <a:rPr lang="en-US" sz="1200" b="1" dirty="0">
                <a:latin typeface="Times" pitchFamily="2" charset="0"/>
                <a:cs typeface="Arial Hebrew" pitchFamily="2" charset="-79"/>
              </a:rPr>
              <a:t>5</a:t>
            </a:r>
          </a:p>
          <a:p>
            <a:pPr>
              <a:spcBef>
                <a:spcPts val="100"/>
              </a:spcBef>
              <a:spcAft>
                <a:spcPts val="100"/>
              </a:spcAft>
            </a:pPr>
            <a:r>
              <a:rPr lang="en-US" sz="1200" b="1" dirty="0">
                <a:latin typeface="Times" pitchFamily="2" charset="0"/>
                <a:cs typeface="Arial Hebrew" pitchFamily="2" charset="-79"/>
              </a:rPr>
              <a:t>6</a:t>
            </a:r>
          </a:p>
          <a:p>
            <a:pPr>
              <a:spcBef>
                <a:spcPts val="100"/>
              </a:spcBef>
              <a:spcAft>
                <a:spcPts val="100"/>
              </a:spcAft>
            </a:pPr>
            <a:r>
              <a:rPr lang="en-US" sz="1200" b="1" dirty="0">
                <a:latin typeface="Times" pitchFamily="2" charset="0"/>
                <a:cs typeface="Arial Hebrew" pitchFamily="2" charset="-79"/>
              </a:rPr>
              <a:t>7</a:t>
            </a:r>
          </a:p>
        </p:txBody>
      </p:sp>
      <p:cxnSp>
        <p:nvCxnSpPr>
          <p:cNvPr id="52" name="Straight Connector 51">
            <a:extLst>
              <a:ext uri="{FF2B5EF4-FFF2-40B4-BE49-F238E27FC236}">
                <a16:creationId xmlns:a16="http://schemas.microsoft.com/office/drawing/2014/main" id="{C0BDA301-328D-CBBA-357E-BC218322A9C6}"/>
              </a:ext>
            </a:extLst>
          </p:cNvPr>
          <p:cNvCxnSpPr/>
          <p:nvPr/>
        </p:nvCxnSpPr>
        <p:spPr>
          <a:xfrm>
            <a:off x="6293597" y="4601424"/>
            <a:ext cx="1174452" cy="0"/>
          </a:xfrm>
          <a:prstGeom prst="line">
            <a:avLst/>
          </a:prstGeom>
        </p:spPr>
        <p:style>
          <a:lnRef idx="1">
            <a:schemeClr val="dk1"/>
          </a:lnRef>
          <a:fillRef idx="0">
            <a:schemeClr val="dk1"/>
          </a:fillRef>
          <a:effectRef idx="0">
            <a:schemeClr val="dk1"/>
          </a:effectRef>
          <a:fontRef idx="minor">
            <a:schemeClr val="tx1"/>
          </a:fontRef>
        </p:style>
      </p:cxnSp>
      <p:sp>
        <p:nvSpPr>
          <p:cNvPr id="53" name="Rectangle 52">
            <a:extLst>
              <a:ext uri="{FF2B5EF4-FFF2-40B4-BE49-F238E27FC236}">
                <a16:creationId xmlns:a16="http://schemas.microsoft.com/office/drawing/2014/main" id="{762EA5FE-7B46-4A0B-F5BA-16CFBB02D689}"/>
              </a:ext>
            </a:extLst>
          </p:cNvPr>
          <p:cNvSpPr/>
          <p:nvPr/>
        </p:nvSpPr>
        <p:spPr>
          <a:xfrm>
            <a:off x="6844759" y="4634947"/>
            <a:ext cx="304221" cy="1749197"/>
          </a:xfrm>
          <a:prstGeom prst="rect">
            <a:avLst/>
          </a:prstGeom>
          <a:noFill/>
          <a:effectLst/>
        </p:spPr>
        <p:txBody>
          <a:bodyPr wrap="square">
            <a:spAutoFit/>
          </a:bodyPr>
          <a:lstStyle/>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p:txBody>
      </p:sp>
      <p:cxnSp>
        <p:nvCxnSpPr>
          <p:cNvPr id="54" name="Straight Connector 53">
            <a:extLst>
              <a:ext uri="{FF2B5EF4-FFF2-40B4-BE49-F238E27FC236}">
                <a16:creationId xmlns:a16="http://schemas.microsoft.com/office/drawing/2014/main" id="{3DDD44B3-019D-7DD3-0A45-99E5D71AAF5A}"/>
              </a:ext>
            </a:extLst>
          </p:cNvPr>
          <p:cNvCxnSpPr/>
          <p:nvPr/>
        </p:nvCxnSpPr>
        <p:spPr>
          <a:xfrm>
            <a:off x="6880823" y="2744966"/>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39C01B2-D755-6D85-C193-99A92C68F3DD}"/>
              </a:ext>
            </a:extLst>
          </p:cNvPr>
          <p:cNvCxnSpPr/>
          <p:nvPr/>
        </p:nvCxnSpPr>
        <p:spPr>
          <a:xfrm>
            <a:off x="6883146" y="395559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9CE734AF-5FFB-2B2A-3E89-9B86EBD4C73F}"/>
              </a:ext>
            </a:extLst>
          </p:cNvPr>
          <p:cNvCxnSpPr/>
          <p:nvPr/>
        </p:nvCxnSpPr>
        <p:spPr>
          <a:xfrm>
            <a:off x="6883146" y="3341891"/>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57" name="Rectangle 56">
            <a:extLst>
              <a:ext uri="{FF2B5EF4-FFF2-40B4-BE49-F238E27FC236}">
                <a16:creationId xmlns:a16="http://schemas.microsoft.com/office/drawing/2014/main" id="{05B6EFF9-F493-7F39-1813-529C01F4570D}"/>
              </a:ext>
            </a:extLst>
          </p:cNvPr>
          <p:cNvSpPr/>
          <p:nvPr/>
        </p:nvSpPr>
        <p:spPr>
          <a:xfrm>
            <a:off x="7260933" y="2373701"/>
            <a:ext cx="382494" cy="1749197"/>
          </a:xfrm>
          <a:prstGeom prst="rect">
            <a:avLst/>
          </a:prstGeom>
          <a:noFill/>
          <a:effectLst/>
        </p:spPr>
        <p:txBody>
          <a:bodyPr wrap="square">
            <a:spAutoFit/>
          </a:bodyPr>
          <a:lstStyle/>
          <a:p>
            <a:pPr>
              <a:spcBef>
                <a:spcPts val="100"/>
              </a:spcBef>
              <a:spcAft>
                <a:spcPts val="100"/>
              </a:spcAft>
            </a:pPr>
            <a:r>
              <a:rPr lang="en-US" sz="1200" b="1" dirty="0">
                <a:solidFill>
                  <a:schemeClr val="accent1"/>
                </a:solidFill>
                <a:latin typeface="Times" pitchFamily="2" charset="0"/>
                <a:cs typeface="Arial Hebrew" pitchFamily="2" charset="-79"/>
              </a:rPr>
              <a:t>0</a:t>
            </a:r>
          </a:p>
          <a:p>
            <a:pPr>
              <a:spcBef>
                <a:spcPts val="100"/>
              </a:spcBef>
              <a:spcAft>
                <a:spcPts val="100"/>
              </a:spcAft>
            </a:pPr>
            <a:r>
              <a:rPr lang="en-US" sz="1200" b="1" dirty="0">
                <a:solidFill>
                  <a:schemeClr val="accent1"/>
                </a:solidFill>
                <a:latin typeface="Times" pitchFamily="2" charset="0"/>
                <a:cs typeface="Arial Hebrew" pitchFamily="2" charset="-79"/>
              </a:rPr>
              <a:t>5</a:t>
            </a:r>
          </a:p>
          <a:p>
            <a:pPr>
              <a:spcBef>
                <a:spcPts val="100"/>
              </a:spcBef>
              <a:spcAft>
                <a:spcPts val="100"/>
              </a:spcAft>
            </a:pPr>
            <a:r>
              <a:rPr lang="en-US" sz="1200" b="1" dirty="0">
                <a:solidFill>
                  <a:schemeClr val="accent1"/>
                </a:solidFill>
                <a:latin typeface="Times" pitchFamily="2" charset="0"/>
                <a:cs typeface="Arial Hebrew" pitchFamily="2" charset="-79"/>
              </a:rPr>
              <a:t>17</a:t>
            </a:r>
          </a:p>
          <a:p>
            <a:pPr>
              <a:spcBef>
                <a:spcPts val="100"/>
              </a:spcBef>
              <a:spcAft>
                <a:spcPts val="100"/>
              </a:spcAft>
            </a:pPr>
            <a:r>
              <a:rPr lang="en-US" sz="1200" b="1" dirty="0">
                <a:solidFill>
                  <a:schemeClr val="accent1"/>
                </a:solidFill>
                <a:latin typeface="Times" pitchFamily="2" charset="0"/>
                <a:cs typeface="Arial Hebrew" pitchFamily="2" charset="-79"/>
              </a:rPr>
              <a:t>20</a:t>
            </a:r>
          </a:p>
          <a:p>
            <a:pPr>
              <a:spcBef>
                <a:spcPts val="100"/>
              </a:spcBef>
              <a:spcAft>
                <a:spcPts val="100"/>
              </a:spcAft>
            </a:pPr>
            <a:r>
              <a:rPr lang="en-US" sz="1200" b="1" dirty="0">
                <a:solidFill>
                  <a:schemeClr val="accent1"/>
                </a:solidFill>
                <a:latin typeface="Times" pitchFamily="2" charset="0"/>
                <a:cs typeface="Arial Hebrew" pitchFamily="2" charset="-79"/>
              </a:rPr>
              <a:t>9</a:t>
            </a:r>
          </a:p>
          <a:p>
            <a:pPr>
              <a:spcBef>
                <a:spcPts val="100"/>
              </a:spcBef>
              <a:spcAft>
                <a:spcPts val="100"/>
              </a:spcAft>
            </a:pPr>
            <a:r>
              <a:rPr lang="en-US" sz="1200" b="1" dirty="0">
                <a:solidFill>
                  <a:schemeClr val="accent1"/>
                </a:solidFill>
                <a:latin typeface="Times" pitchFamily="2" charset="0"/>
                <a:cs typeface="Arial Hebrew" pitchFamily="2" charset="-79"/>
              </a:rPr>
              <a:t>14</a:t>
            </a:r>
          </a:p>
          <a:p>
            <a:pPr>
              <a:spcBef>
                <a:spcPts val="100"/>
              </a:spcBef>
              <a:spcAft>
                <a:spcPts val="100"/>
              </a:spcAft>
            </a:pPr>
            <a:r>
              <a:rPr lang="en-US" sz="1200" b="1" dirty="0">
                <a:solidFill>
                  <a:schemeClr val="accent1"/>
                </a:solidFill>
                <a:latin typeface="Times" pitchFamily="2" charset="0"/>
                <a:cs typeface="Arial Hebrew" pitchFamily="2" charset="-79"/>
              </a:rPr>
              <a:t>29</a:t>
            </a:r>
          </a:p>
          <a:p>
            <a:pPr>
              <a:spcBef>
                <a:spcPts val="100"/>
              </a:spcBef>
              <a:spcAft>
                <a:spcPts val="100"/>
              </a:spcAft>
            </a:pPr>
            <a:r>
              <a:rPr lang="en-US" sz="1200" b="1" dirty="0">
                <a:solidFill>
                  <a:schemeClr val="accent1"/>
                </a:solidFill>
                <a:latin typeface="Times" pitchFamily="2" charset="0"/>
                <a:cs typeface="Arial Hebrew" pitchFamily="2" charset="-79"/>
              </a:rPr>
              <a:t>8</a:t>
            </a:r>
          </a:p>
        </p:txBody>
      </p:sp>
      <p:sp>
        <p:nvSpPr>
          <p:cNvPr id="58" name="Rectangle 57">
            <a:extLst>
              <a:ext uri="{FF2B5EF4-FFF2-40B4-BE49-F238E27FC236}">
                <a16:creationId xmlns:a16="http://schemas.microsoft.com/office/drawing/2014/main" id="{8C4DC2C7-F2FE-1944-4471-75F76DEFC11A}"/>
              </a:ext>
            </a:extLst>
          </p:cNvPr>
          <p:cNvSpPr/>
          <p:nvPr/>
        </p:nvSpPr>
        <p:spPr>
          <a:xfrm>
            <a:off x="7260933" y="4655978"/>
            <a:ext cx="304221"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0</a:t>
            </a:r>
          </a:p>
          <a:p>
            <a:pPr>
              <a:spcBef>
                <a:spcPts val="100"/>
              </a:spcBef>
              <a:spcAft>
                <a:spcPts val="100"/>
              </a:spcAft>
            </a:pPr>
            <a:r>
              <a:rPr lang="en-US" sz="1200" b="1" dirty="0">
                <a:solidFill>
                  <a:schemeClr val="accent1"/>
                </a:solidFill>
                <a:latin typeface="Times" pitchFamily="2" charset="0"/>
                <a:cs typeface="Arial Hebrew" pitchFamily="2" charset="-79"/>
              </a:rPr>
              <a:t>1</a:t>
            </a:r>
          </a:p>
          <a:p>
            <a:pPr>
              <a:spcBef>
                <a:spcPts val="100"/>
              </a:spcBef>
              <a:spcAft>
                <a:spcPts val="100"/>
              </a:spcAft>
            </a:pPr>
            <a:r>
              <a:rPr lang="en-US" sz="1200" b="1" dirty="0">
                <a:solidFill>
                  <a:schemeClr val="accent1"/>
                </a:solidFill>
                <a:latin typeface="Times" pitchFamily="2" charset="0"/>
                <a:cs typeface="Arial Hebrew" pitchFamily="2" charset="-79"/>
              </a:rPr>
              <a:t>1</a:t>
            </a:r>
          </a:p>
          <a:p>
            <a:pPr>
              <a:spcBef>
                <a:spcPts val="100"/>
              </a:spcBef>
              <a:spcAft>
                <a:spcPts val="100"/>
              </a:spcAft>
            </a:pPr>
            <a:r>
              <a:rPr lang="en-US" sz="1200" b="1" dirty="0">
                <a:solidFill>
                  <a:schemeClr val="accent1"/>
                </a:solidFill>
                <a:latin typeface="Times" pitchFamily="2" charset="0"/>
                <a:cs typeface="Arial Hebrew" pitchFamily="2" charset="-79"/>
              </a:rPr>
              <a:t>0</a:t>
            </a:r>
          </a:p>
          <a:p>
            <a:pPr>
              <a:spcBef>
                <a:spcPts val="100"/>
              </a:spcBef>
              <a:spcAft>
                <a:spcPts val="100"/>
              </a:spcAft>
            </a:pPr>
            <a:r>
              <a:rPr lang="en-US" sz="1200" b="1" dirty="0">
                <a:solidFill>
                  <a:schemeClr val="accent1"/>
                </a:solidFill>
                <a:latin typeface="Times" pitchFamily="2" charset="0"/>
                <a:cs typeface="Arial Hebrew" pitchFamily="2" charset="-79"/>
              </a:rPr>
              <a:t>7</a:t>
            </a:r>
          </a:p>
          <a:p>
            <a:pPr>
              <a:spcBef>
                <a:spcPts val="100"/>
              </a:spcBef>
              <a:spcAft>
                <a:spcPts val="100"/>
              </a:spcAft>
            </a:pPr>
            <a:r>
              <a:rPr lang="en-US" sz="1200" b="1" dirty="0">
                <a:solidFill>
                  <a:schemeClr val="accent1"/>
                </a:solidFill>
                <a:latin typeface="Times" pitchFamily="2" charset="0"/>
                <a:cs typeface="Arial Hebrew" pitchFamily="2" charset="-79"/>
              </a:rPr>
              <a:t>4</a:t>
            </a:r>
          </a:p>
          <a:p>
            <a:pPr>
              <a:spcBef>
                <a:spcPts val="100"/>
              </a:spcBef>
              <a:spcAft>
                <a:spcPts val="100"/>
              </a:spcAft>
            </a:pPr>
            <a:r>
              <a:rPr lang="en-US" sz="1200" b="1" dirty="0">
                <a:solidFill>
                  <a:schemeClr val="accent1"/>
                </a:solidFill>
                <a:latin typeface="Times" pitchFamily="2" charset="0"/>
                <a:cs typeface="Arial Hebrew" pitchFamily="2" charset="-79"/>
              </a:rPr>
              <a:t>0</a:t>
            </a:r>
          </a:p>
        </p:txBody>
      </p:sp>
      <p:cxnSp>
        <p:nvCxnSpPr>
          <p:cNvPr id="59" name="Straight Connector 58">
            <a:extLst>
              <a:ext uri="{FF2B5EF4-FFF2-40B4-BE49-F238E27FC236}">
                <a16:creationId xmlns:a16="http://schemas.microsoft.com/office/drawing/2014/main" id="{62025680-3071-F0A8-659B-6B614944FAF6}"/>
              </a:ext>
            </a:extLst>
          </p:cNvPr>
          <p:cNvCxnSpPr/>
          <p:nvPr/>
        </p:nvCxnSpPr>
        <p:spPr>
          <a:xfrm>
            <a:off x="6897294" y="498354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A75D6AD-B794-0A74-1049-C01657EC470A}"/>
              </a:ext>
            </a:extLst>
          </p:cNvPr>
          <p:cNvCxnSpPr/>
          <p:nvPr/>
        </p:nvCxnSpPr>
        <p:spPr>
          <a:xfrm>
            <a:off x="6899617" y="6236117"/>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0EDE7185-0FFD-CF4D-19FC-EF45542321E5}"/>
              </a:ext>
            </a:extLst>
          </p:cNvPr>
          <p:cNvCxnSpPr/>
          <p:nvPr/>
        </p:nvCxnSpPr>
        <p:spPr>
          <a:xfrm>
            <a:off x="6899617" y="561402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EA0D96A7-4CE4-9DB8-858C-63196F4E9F8F}"/>
              </a:ext>
            </a:extLst>
          </p:cNvPr>
          <p:cNvCxnSpPr/>
          <p:nvPr/>
        </p:nvCxnSpPr>
        <p:spPr>
          <a:xfrm>
            <a:off x="6880823" y="3139447"/>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B882FC10-38E5-A6B1-7CEF-0A1E7AA50971}"/>
              </a:ext>
            </a:extLst>
          </p:cNvPr>
          <p:cNvCxnSpPr/>
          <p:nvPr/>
        </p:nvCxnSpPr>
        <p:spPr>
          <a:xfrm>
            <a:off x="6880823" y="293379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EEAA58AC-CC75-A411-8202-4ABCB1C02C7C}"/>
              </a:ext>
            </a:extLst>
          </p:cNvPr>
          <p:cNvCxnSpPr/>
          <p:nvPr/>
        </p:nvCxnSpPr>
        <p:spPr>
          <a:xfrm>
            <a:off x="6897294" y="519647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2F31763-D5BD-DC44-ABBA-DFA7AC1F27B4}"/>
              </a:ext>
            </a:extLst>
          </p:cNvPr>
          <p:cNvCxnSpPr/>
          <p:nvPr/>
        </p:nvCxnSpPr>
        <p:spPr>
          <a:xfrm>
            <a:off x="6897294" y="5405223"/>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66" name="Rectangle 65">
            <a:extLst>
              <a:ext uri="{FF2B5EF4-FFF2-40B4-BE49-F238E27FC236}">
                <a16:creationId xmlns:a16="http://schemas.microsoft.com/office/drawing/2014/main" id="{3DA2CBC3-F9E4-99BA-F46F-C931D832F66D}"/>
              </a:ext>
            </a:extLst>
          </p:cNvPr>
          <p:cNvSpPr/>
          <p:nvPr/>
        </p:nvSpPr>
        <p:spPr>
          <a:xfrm>
            <a:off x="3081410" y="5191054"/>
            <a:ext cx="2420856" cy="954107"/>
          </a:xfrm>
          <a:prstGeom prst="rect">
            <a:avLst/>
          </a:prstGeom>
        </p:spPr>
        <p:txBody>
          <a:bodyPr wrap="none">
            <a:spAutoFit/>
          </a:bodyPr>
          <a:lstStyle/>
          <a:p>
            <a:r>
              <a:rPr lang="en-US" dirty="0">
                <a:solidFill>
                  <a:srgbClr val="8C3023"/>
                </a:solidFill>
                <a:latin typeface="LucidaGrande" panose="020B0600040502020204" pitchFamily="34" charset="0"/>
              </a:rPr>
              <a:t>choose node 7</a:t>
            </a:r>
          </a:p>
          <a:p>
            <a:r>
              <a:rPr lang="en-US" dirty="0">
                <a:solidFill>
                  <a:srgbClr val="8C3023"/>
                </a:solidFill>
                <a:latin typeface="LucidaGrande" panose="020B0600040502020204" pitchFamily="34" charset="0"/>
              </a:rPr>
              <a:t>relax all edges adjacent from 7</a:t>
            </a:r>
          </a:p>
          <a:p>
            <a:r>
              <a:rPr lang="en-US" dirty="0">
                <a:solidFill>
                  <a:srgbClr val="8C3023"/>
                </a:solidFill>
                <a:latin typeface="LucidaGrande" panose="020B0600040502020204" pitchFamily="34" charset="0"/>
              </a:rPr>
              <a:t>choose node 4</a:t>
            </a:r>
          </a:p>
          <a:p>
            <a:r>
              <a:rPr lang="en-US" dirty="0">
                <a:solidFill>
                  <a:srgbClr val="8C3023"/>
                </a:solidFill>
                <a:latin typeface="LucidaGrande" panose="020B0600040502020204" pitchFamily="34" charset="0"/>
              </a:rPr>
              <a:t>relax all edges adjacent from 4</a:t>
            </a:r>
          </a:p>
        </p:txBody>
      </p:sp>
      <p:sp>
        <p:nvSpPr>
          <p:cNvPr id="67" name="Rectangle 66">
            <a:extLst>
              <a:ext uri="{FF2B5EF4-FFF2-40B4-BE49-F238E27FC236}">
                <a16:creationId xmlns:a16="http://schemas.microsoft.com/office/drawing/2014/main" id="{B550B7CA-1AB4-BD00-994D-86943B209E29}"/>
              </a:ext>
            </a:extLst>
          </p:cNvPr>
          <p:cNvSpPr/>
          <p:nvPr/>
        </p:nvSpPr>
        <p:spPr>
          <a:xfrm>
            <a:off x="7632449" y="2373700"/>
            <a:ext cx="382494"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15</a:t>
            </a:r>
          </a:p>
          <a:p>
            <a:pPr>
              <a:spcBef>
                <a:spcPts val="100"/>
              </a:spcBef>
              <a:spcAft>
                <a:spcPts val="100"/>
              </a:spcAft>
            </a:pPr>
            <a:r>
              <a:rPr lang="en-US" sz="1200" b="1" dirty="0">
                <a:solidFill>
                  <a:schemeClr val="accent1"/>
                </a:solidFill>
                <a:latin typeface="Times" pitchFamily="2" charset="0"/>
                <a:cs typeface="Arial Hebrew" pitchFamily="2" charset="-79"/>
              </a:rPr>
              <a:t>17</a:t>
            </a: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13</a:t>
            </a:r>
          </a:p>
          <a:p>
            <a:pPr>
              <a:spcBef>
                <a:spcPts val="100"/>
              </a:spcBef>
              <a:spcAft>
                <a:spcPts val="100"/>
              </a:spcAft>
            </a:pPr>
            <a:r>
              <a:rPr lang="en-US" sz="1200" b="1" dirty="0">
                <a:solidFill>
                  <a:schemeClr val="accent1"/>
                </a:solidFill>
                <a:latin typeface="Times" pitchFamily="2" charset="0"/>
                <a:cs typeface="Arial Hebrew" pitchFamily="2" charset="-79"/>
              </a:rPr>
              <a:t>26</a:t>
            </a:r>
          </a:p>
          <a:p>
            <a:pPr>
              <a:spcBef>
                <a:spcPts val="100"/>
              </a:spcBef>
              <a:spcAft>
                <a:spcPts val="100"/>
              </a:spcAft>
            </a:pPr>
            <a:endParaRPr lang="en-US" sz="1200" b="1" dirty="0">
              <a:solidFill>
                <a:schemeClr val="accent2"/>
              </a:solidFill>
              <a:latin typeface="Times" pitchFamily="2" charset="0"/>
              <a:cs typeface="Arial Hebrew" pitchFamily="2" charset="-79"/>
            </a:endParaRPr>
          </a:p>
        </p:txBody>
      </p:sp>
      <p:cxnSp>
        <p:nvCxnSpPr>
          <p:cNvPr id="68" name="Straight Connector 67">
            <a:extLst>
              <a:ext uri="{FF2B5EF4-FFF2-40B4-BE49-F238E27FC236}">
                <a16:creationId xmlns:a16="http://schemas.microsoft.com/office/drawing/2014/main" id="{CD083BD5-FCEB-FC16-1393-FDAD61EDAAE9}"/>
              </a:ext>
            </a:extLst>
          </p:cNvPr>
          <p:cNvCxnSpPr/>
          <p:nvPr/>
        </p:nvCxnSpPr>
        <p:spPr>
          <a:xfrm>
            <a:off x="6883146" y="3554291"/>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586DA4C-72D4-BAF7-150C-B6FFA9F26BA6}"/>
              </a:ext>
            </a:extLst>
          </p:cNvPr>
          <p:cNvCxnSpPr/>
          <p:nvPr/>
        </p:nvCxnSpPr>
        <p:spPr>
          <a:xfrm>
            <a:off x="7347820" y="293379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CEC7F30F-2362-21C6-9530-9A7673A3F9BE}"/>
              </a:ext>
            </a:extLst>
          </p:cNvPr>
          <p:cNvCxnSpPr/>
          <p:nvPr/>
        </p:nvCxnSpPr>
        <p:spPr>
          <a:xfrm>
            <a:off x="6904142" y="5814202"/>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E5FC72A1-1E01-CCFE-2955-2773DA8C3031}"/>
              </a:ext>
            </a:extLst>
          </p:cNvPr>
          <p:cNvCxnSpPr/>
          <p:nvPr/>
        </p:nvCxnSpPr>
        <p:spPr>
          <a:xfrm>
            <a:off x="7309571" y="5192309"/>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72" name="Rectangle 71">
            <a:extLst>
              <a:ext uri="{FF2B5EF4-FFF2-40B4-BE49-F238E27FC236}">
                <a16:creationId xmlns:a16="http://schemas.microsoft.com/office/drawing/2014/main" id="{92951FA0-89A3-A903-03B0-5FD796C75128}"/>
              </a:ext>
            </a:extLst>
          </p:cNvPr>
          <p:cNvSpPr/>
          <p:nvPr/>
        </p:nvSpPr>
        <p:spPr>
          <a:xfrm>
            <a:off x="7565154" y="4653464"/>
            <a:ext cx="304221"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7</a:t>
            </a:r>
          </a:p>
          <a:p>
            <a:pPr>
              <a:spcBef>
                <a:spcPts val="100"/>
              </a:spcBef>
              <a:spcAft>
                <a:spcPts val="100"/>
              </a:spcAft>
            </a:pPr>
            <a:r>
              <a:rPr lang="en-US" sz="1200" b="1" dirty="0">
                <a:solidFill>
                  <a:schemeClr val="accent1"/>
                </a:solidFill>
                <a:latin typeface="Times" pitchFamily="2" charset="0"/>
                <a:cs typeface="Arial Hebrew" pitchFamily="2" charset="-79"/>
              </a:rPr>
              <a:t>2</a:t>
            </a: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4</a:t>
            </a:r>
          </a:p>
          <a:p>
            <a:pPr>
              <a:spcBef>
                <a:spcPts val="100"/>
              </a:spcBef>
              <a:spcAft>
                <a:spcPts val="100"/>
              </a:spcAft>
            </a:pPr>
            <a:r>
              <a:rPr lang="en-US" sz="1200" b="1" dirty="0">
                <a:solidFill>
                  <a:schemeClr val="accent1"/>
                </a:solidFill>
                <a:latin typeface="Times" pitchFamily="2" charset="0"/>
                <a:cs typeface="Arial Hebrew" pitchFamily="2" charset="-79"/>
              </a:rPr>
              <a:t>5</a:t>
            </a:r>
          </a:p>
          <a:p>
            <a:pPr>
              <a:spcBef>
                <a:spcPts val="100"/>
              </a:spcBef>
              <a:spcAft>
                <a:spcPts val="100"/>
              </a:spcAft>
            </a:pPr>
            <a:endParaRPr lang="en-US" sz="1200" b="1" dirty="0">
              <a:solidFill>
                <a:schemeClr val="accent1"/>
              </a:solidFill>
              <a:latin typeface="Times" pitchFamily="2" charset="0"/>
              <a:cs typeface="Arial Hebrew" pitchFamily="2" charset="-79"/>
            </a:endParaRPr>
          </a:p>
        </p:txBody>
      </p:sp>
      <p:cxnSp>
        <p:nvCxnSpPr>
          <p:cNvPr id="73" name="Straight Arrow Connector 72">
            <a:extLst>
              <a:ext uri="{FF2B5EF4-FFF2-40B4-BE49-F238E27FC236}">
                <a16:creationId xmlns:a16="http://schemas.microsoft.com/office/drawing/2014/main" id="{89360C65-39F3-05BE-6914-6572136558F1}"/>
              </a:ext>
            </a:extLst>
          </p:cNvPr>
          <p:cNvCxnSpPr>
            <a:cxnSpLocks/>
          </p:cNvCxnSpPr>
          <p:nvPr/>
        </p:nvCxnSpPr>
        <p:spPr>
          <a:xfrm>
            <a:off x="5716791" y="2512066"/>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4" name="Straight Arrow Connector 73">
            <a:extLst>
              <a:ext uri="{FF2B5EF4-FFF2-40B4-BE49-F238E27FC236}">
                <a16:creationId xmlns:a16="http://schemas.microsoft.com/office/drawing/2014/main" id="{5F33A39A-A379-8CF0-2211-D776FC9104F5}"/>
              </a:ext>
            </a:extLst>
          </p:cNvPr>
          <p:cNvCxnSpPr>
            <a:cxnSpLocks/>
          </p:cNvCxnSpPr>
          <p:nvPr/>
        </p:nvCxnSpPr>
        <p:spPr>
          <a:xfrm>
            <a:off x="5716791" y="2721164"/>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E9002E9D-F60F-4E43-7B46-78FEE652E8F8}"/>
              </a:ext>
            </a:extLst>
          </p:cNvPr>
          <p:cNvCxnSpPr>
            <a:cxnSpLocks/>
          </p:cNvCxnSpPr>
          <p:nvPr/>
        </p:nvCxnSpPr>
        <p:spPr>
          <a:xfrm>
            <a:off x="5716791" y="2930262"/>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0BC2CAD-178F-DF87-005D-F6B06F063B7F}"/>
              </a:ext>
            </a:extLst>
          </p:cNvPr>
          <p:cNvCxnSpPr>
            <a:cxnSpLocks/>
          </p:cNvCxnSpPr>
          <p:nvPr/>
        </p:nvCxnSpPr>
        <p:spPr>
          <a:xfrm>
            <a:off x="5716791" y="3139360"/>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4F6B9D8-7324-45CE-198D-CE053B64D5B1}"/>
              </a:ext>
            </a:extLst>
          </p:cNvPr>
          <p:cNvCxnSpPr>
            <a:cxnSpLocks/>
          </p:cNvCxnSpPr>
          <p:nvPr/>
        </p:nvCxnSpPr>
        <p:spPr>
          <a:xfrm>
            <a:off x="5716791" y="3348458"/>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7EFB029C-DEB6-53B5-5E23-0C8DD887FAEC}"/>
              </a:ext>
            </a:extLst>
          </p:cNvPr>
          <p:cNvCxnSpPr>
            <a:cxnSpLocks/>
          </p:cNvCxnSpPr>
          <p:nvPr/>
        </p:nvCxnSpPr>
        <p:spPr>
          <a:xfrm>
            <a:off x="5716791" y="3557556"/>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52B94E9B-6BEF-6895-DFB7-A240B0DC4231}"/>
              </a:ext>
            </a:extLst>
          </p:cNvPr>
          <p:cNvCxnSpPr>
            <a:cxnSpLocks/>
          </p:cNvCxnSpPr>
          <p:nvPr/>
        </p:nvCxnSpPr>
        <p:spPr>
          <a:xfrm>
            <a:off x="5716791" y="3766654"/>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6E784A1-6800-65D3-ECE6-3ABA2979FE52}"/>
              </a:ext>
            </a:extLst>
          </p:cNvPr>
          <p:cNvCxnSpPr>
            <a:cxnSpLocks/>
          </p:cNvCxnSpPr>
          <p:nvPr/>
        </p:nvCxnSpPr>
        <p:spPr>
          <a:xfrm>
            <a:off x="5716791" y="3975753"/>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23741E2D-9594-FAF8-72C1-8CAEC737CB1A}"/>
              </a:ext>
            </a:extLst>
          </p:cNvPr>
          <p:cNvCxnSpPr/>
          <p:nvPr/>
        </p:nvCxnSpPr>
        <p:spPr>
          <a:xfrm>
            <a:off x="6880823" y="376665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EB65E812-2A93-3A81-7CB0-A565FAC4CBA8}"/>
              </a:ext>
            </a:extLst>
          </p:cNvPr>
          <p:cNvCxnSpPr/>
          <p:nvPr/>
        </p:nvCxnSpPr>
        <p:spPr>
          <a:xfrm>
            <a:off x="7349347" y="3554291"/>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AA7EF3A7-C765-AB68-5679-CEB0C8E8DEB9}"/>
              </a:ext>
            </a:extLst>
          </p:cNvPr>
          <p:cNvCxnSpPr/>
          <p:nvPr/>
        </p:nvCxnSpPr>
        <p:spPr>
          <a:xfrm>
            <a:off x="6912806" y="602656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DBC92A89-74D4-DD9A-C356-4B0EF310409C}"/>
              </a:ext>
            </a:extLst>
          </p:cNvPr>
          <p:cNvCxnSpPr/>
          <p:nvPr/>
        </p:nvCxnSpPr>
        <p:spPr>
          <a:xfrm>
            <a:off x="7305829" y="5814202"/>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F02E6879-0568-D282-2F6C-A947A5ABA78E}"/>
              </a:ext>
            </a:extLst>
          </p:cNvPr>
          <p:cNvCxnSpPr>
            <a:cxnSpLocks/>
          </p:cNvCxnSpPr>
          <p:nvPr/>
        </p:nvCxnSpPr>
        <p:spPr>
          <a:xfrm>
            <a:off x="6871199" y="2511483"/>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86" name="Rectangle 85">
            <a:extLst>
              <a:ext uri="{FF2B5EF4-FFF2-40B4-BE49-F238E27FC236}">
                <a16:creationId xmlns:a16="http://schemas.microsoft.com/office/drawing/2014/main" id="{8709D8D4-35FD-C531-28DE-30FFD7D48093}"/>
              </a:ext>
            </a:extLst>
          </p:cNvPr>
          <p:cNvSpPr/>
          <p:nvPr/>
        </p:nvSpPr>
        <p:spPr>
          <a:xfrm>
            <a:off x="6547603" y="129166"/>
            <a:ext cx="2420856" cy="2031325"/>
          </a:xfrm>
          <a:prstGeom prst="rect">
            <a:avLst/>
          </a:prstGeom>
        </p:spPr>
        <p:txBody>
          <a:bodyPr wrap="none">
            <a:spAutoFit/>
          </a:bodyPr>
          <a:lstStyle/>
          <a:p>
            <a:r>
              <a:rPr lang="en-US" dirty="0">
                <a:solidFill>
                  <a:srgbClr val="8C3023"/>
                </a:solidFill>
                <a:latin typeface="LucidaGrande" panose="020B0600040502020204" pitchFamily="34" charset="0"/>
              </a:rPr>
              <a:t>choose node 5</a:t>
            </a:r>
          </a:p>
          <a:p>
            <a:r>
              <a:rPr lang="en-US" dirty="0">
                <a:solidFill>
                  <a:srgbClr val="8C3023"/>
                </a:solidFill>
                <a:latin typeface="LucidaGrande" panose="020B0600040502020204" pitchFamily="34" charset="0"/>
              </a:rPr>
              <a:t>relax all edges adjacent from 5</a:t>
            </a:r>
          </a:p>
          <a:p>
            <a:r>
              <a:rPr lang="en-US" dirty="0">
                <a:solidFill>
                  <a:srgbClr val="8C3023"/>
                </a:solidFill>
                <a:latin typeface="LucidaGrande" panose="020B0600040502020204" pitchFamily="34" charset="0"/>
              </a:rPr>
              <a:t>choose node 2</a:t>
            </a:r>
          </a:p>
          <a:p>
            <a:r>
              <a:rPr lang="en-US" dirty="0">
                <a:solidFill>
                  <a:srgbClr val="8C3023"/>
                </a:solidFill>
                <a:latin typeface="LucidaGrande" panose="020B0600040502020204" pitchFamily="34" charset="0"/>
              </a:rPr>
              <a:t>relax all edges adjacent from 2</a:t>
            </a:r>
          </a:p>
          <a:p>
            <a:r>
              <a:rPr lang="en-US" dirty="0">
                <a:solidFill>
                  <a:srgbClr val="8C3023"/>
                </a:solidFill>
                <a:latin typeface="LucidaGrande" panose="020B0600040502020204" pitchFamily="34" charset="0"/>
              </a:rPr>
              <a:t>choose node 3</a:t>
            </a:r>
          </a:p>
          <a:p>
            <a:r>
              <a:rPr lang="en-US" dirty="0">
                <a:solidFill>
                  <a:srgbClr val="8C3023"/>
                </a:solidFill>
                <a:latin typeface="LucidaGrande" panose="020B0600040502020204" pitchFamily="34" charset="0"/>
              </a:rPr>
              <a:t>relax all edges adjacent from 3</a:t>
            </a:r>
          </a:p>
          <a:p>
            <a:r>
              <a:rPr lang="en-US" dirty="0">
                <a:solidFill>
                  <a:srgbClr val="8C3023"/>
                </a:solidFill>
                <a:latin typeface="LucidaGrande" panose="020B0600040502020204" pitchFamily="34" charset="0"/>
              </a:rPr>
              <a:t>choose node 6</a:t>
            </a:r>
          </a:p>
          <a:p>
            <a:r>
              <a:rPr lang="en-US" dirty="0">
                <a:solidFill>
                  <a:srgbClr val="8C3023"/>
                </a:solidFill>
                <a:latin typeface="LucidaGrande" panose="020B0600040502020204" pitchFamily="34" charset="0"/>
              </a:rPr>
              <a:t>relax all edges adjacent from 6</a:t>
            </a:r>
          </a:p>
          <a:p>
            <a:endParaRPr lang="en-US" dirty="0">
              <a:solidFill>
                <a:srgbClr val="8C3023"/>
              </a:solidFill>
              <a:latin typeface="LucidaGrande" panose="020B0600040502020204" pitchFamily="34" charset="0"/>
            </a:endParaRPr>
          </a:p>
        </p:txBody>
      </p:sp>
      <p:cxnSp>
        <p:nvCxnSpPr>
          <p:cNvPr id="87" name="Straight Connector 86">
            <a:extLst>
              <a:ext uri="{FF2B5EF4-FFF2-40B4-BE49-F238E27FC236}">
                <a16:creationId xmlns:a16="http://schemas.microsoft.com/office/drawing/2014/main" id="{CB6B2626-4CD6-74EA-B4D5-FF94E70A27DC}"/>
              </a:ext>
            </a:extLst>
          </p:cNvPr>
          <p:cNvCxnSpPr/>
          <p:nvPr/>
        </p:nvCxnSpPr>
        <p:spPr>
          <a:xfrm>
            <a:off x="7333804" y="376233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02732431-88EC-BC87-CAC0-54A5C28EE242}"/>
              </a:ext>
            </a:extLst>
          </p:cNvPr>
          <p:cNvCxnSpPr/>
          <p:nvPr/>
        </p:nvCxnSpPr>
        <p:spPr>
          <a:xfrm>
            <a:off x="7717264" y="2921626"/>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89" name="Rectangle 88">
            <a:extLst>
              <a:ext uri="{FF2B5EF4-FFF2-40B4-BE49-F238E27FC236}">
                <a16:creationId xmlns:a16="http://schemas.microsoft.com/office/drawing/2014/main" id="{300ECCD9-0B1D-DEE9-59AB-AE9B09DA3DE2}"/>
              </a:ext>
            </a:extLst>
          </p:cNvPr>
          <p:cNvSpPr/>
          <p:nvPr/>
        </p:nvSpPr>
        <p:spPr>
          <a:xfrm>
            <a:off x="7933742" y="2373699"/>
            <a:ext cx="382494"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14</a:t>
            </a: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25</a:t>
            </a:r>
          </a:p>
          <a:p>
            <a:pPr>
              <a:spcBef>
                <a:spcPts val="100"/>
              </a:spcBef>
              <a:spcAft>
                <a:spcPts val="100"/>
              </a:spcAft>
            </a:pPr>
            <a:endParaRPr lang="en-US" sz="1200" b="1" dirty="0">
              <a:solidFill>
                <a:schemeClr val="accent2"/>
              </a:solidFill>
              <a:latin typeface="Times" pitchFamily="2" charset="0"/>
              <a:cs typeface="Arial Hebrew" pitchFamily="2" charset="-79"/>
            </a:endParaRPr>
          </a:p>
        </p:txBody>
      </p:sp>
      <p:cxnSp>
        <p:nvCxnSpPr>
          <p:cNvPr id="90" name="Straight Connector 89">
            <a:extLst>
              <a:ext uri="{FF2B5EF4-FFF2-40B4-BE49-F238E27FC236}">
                <a16:creationId xmlns:a16="http://schemas.microsoft.com/office/drawing/2014/main" id="{6625A9CC-B5A8-11F5-E396-0032EC0F937B}"/>
              </a:ext>
            </a:extLst>
          </p:cNvPr>
          <p:cNvCxnSpPr/>
          <p:nvPr/>
        </p:nvCxnSpPr>
        <p:spPr>
          <a:xfrm>
            <a:off x="7315661" y="6033018"/>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A4AEEC8B-7428-880A-E043-A8D8876F1B8F}"/>
              </a:ext>
            </a:extLst>
          </p:cNvPr>
          <p:cNvCxnSpPr/>
          <p:nvPr/>
        </p:nvCxnSpPr>
        <p:spPr>
          <a:xfrm>
            <a:off x="7598453" y="5192309"/>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92" name="Rectangle 91">
            <a:extLst>
              <a:ext uri="{FF2B5EF4-FFF2-40B4-BE49-F238E27FC236}">
                <a16:creationId xmlns:a16="http://schemas.microsoft.com/office/drawing/2014/main" id="{49099C16-9010-3068-1ED5-95BF5710C780}"/>
              </a:ext>
            </a:extLst>
          </p:cNvPr>
          <p:cNvSpPr/>
          <p:nvPr/>
        </p:nvSpPr>
        <p:spPr>
          <a:xfrm>
            <a:off x="7818111" y="4645720"/>
            <a:ext cx="304221" cy="1538883"/>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5</a:t>
            </a: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2</a:t>
            </a:r>
          </a:p>
        </p:txBody>
      </p:sp>
      <p:cxnSp>
        <p:nvCxnSpPr>
          <p:cNvPr id="93" name="Straight Connector 92">
            <a:extLst>
              <a:ext uri="{FF2B5EF4-FFF2-40B4-BE49-F238E27FC236}">
                <a16:creationId xmlns:a16="http://schemas.microsoft.com/office/drawing/2014/main" id="{9E335750-5C61-70C4-F9F0-D05679BD5221}"/>
              </a:ext>
            </a:extLst>
          </p:cNvPr>
          <p:cNvCxnSpPr/>
          <p:nvPr/>
        </p:nvCxnSpPr>
        <p:spPr>
          <a:xfrm>
            <a:off x="7717264" y="3749149"/>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CA204F3E-0176-2076-32D2-A5E0CEB09776}"/>
              </a:ext>
            </a:extLst>
          </p:cNvPr>
          <p:cNvCxnSpPr/>
          <p:nvPr/>
        </p:nvCxnSpPr>
        <p:spPr>
          <a:xfrm>
            <a:off x="7352651" y="3123647"/>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4A278DF8-928D-2C4D-D7D7-03DE9F7CA369}"/>
              </a:ext>
            </a:extLst>
          </p:cNvPr>
          <p:cNvCxnSpPr/>
          <p:nvPr/>
        </p:nvCxnSpPr>
        <p:spPr>
          <a:xfrm>
            <a:off x="7598453" y="603495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1D3CD806-DCA4-53E2-C3B0-64518CE8FFA8}"/>
              </a:ext>
            </a:extLst>
          </p:cNvPr>
          <p:cNvCxnSpPr/>
          <p:nvPr/>
        </p:nvCxnSpPr>
        <p:spPr>
          <a:xfrm>
            <a:off x="7305829" y="5413612"/>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97" name="Google Shape;866;p40">
            <a:extLst>
              <a:ext uri="{FF2B5EF4-FFF2-40B4-BE49-F238E27FC236}">
                <a16:creationId xmlns:a16="http://schemas.microsoft.com/office/drawing/2014/main" id="{15EE8A36-363D-69DA-EE2F-6E92518F70D8}"/>
              </a:ext>
            </a:extLst>
          </p:cNvPr>
          <p:cNvSpPr txBox="1">
            <a:spLocks/>
          </p:cNvSpPr>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80000"/>
              </a:lnSpc>
              <a:spcBef>
                <a:spcPts val="0"/>
              </a:spcBef>
              <a:spcAft>
                <a:spcPts val="0"/>
              </a:spcAft>
              <a:buClr>
                <a:srgbClr val="0C0C0C"/>
              </a:buClr>
              <a:buSzPts val="1800"/>
              <a:buFont typeface="Quattrocento Sans"/>
              <a:buNone/>
              <a:defRPr sz="4300" b="0" i="0" u="none" strike="noStrike" cap="none">
                <a:solidFill>
                  <a:srgbClr val="0C0C0C"/>
                </a:solidFill>
                <a:latin typeface="Quattrocento Sans"/>
                <a:ea typeface="Quattrocento Sans"/>
                <a:cs typeface="Quattrocento Sans"/>
                <a:sym typeface="Quattrocento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SzPts val="4400"/>
            </a:pPr>
            <a:r>
              <a:rPr lang="en-US" dirty="0"/>
              <a:t>Example III</a:t>
            </a:r>
          </a:p>
        </p:txBody>
      </p:sp>
      <p:sp>
        <p:nvSpPr>
          <p:cNvPr id="2" name="Google Shape;14;p1">
            <a:extLst>
              <a:ext uri="{FF2B5EF4-FFF2-40B4-BE49-F238E27FC236}">
                <a16:creationId xmlns:a16="http://schemas.microsoft.com/office/drawing/2014/main" id="{9E90A73D-A6BB-EE8B-9393-2CCFD003D5B8}"/>
              </a:ext>
            </a:extLst>
          </p:cNvPr>
          <p:cNvSpPr txBox="1"/>
          <p:nvPr/>
        </p:nvSpPr>
        <p:spPr>
          <a:xfrm>
            <a:off x="7913100" y="6497955"/>
            <a:ext cx="4278900" cy="424697"/>
          </a:xfrm>
          <a:prstGeom prst="rect">
            <a:avLst/>
          </a:prstGeom>
          <a:noFill/>
          <a:ln>
            <a:noFill/>
          </a:ln>
        </p:spPr>
        <p:txBody>
          <a:bodyPr spcFirstLastPara="1" wrap="square" lIns="88375" tIns="88375" rIns="88375" bIns="88375" anchor="ctr" anchorCtr="0">
            <a:spAutoFit/>
          </a:bodyPr>
          <a:lstStyle/>
          <a:p>
            <a:pPr marL="0" lvl="0" indent="0" algn="r" rtl="0">
              <a:spcBef>
                <a:spcPts val="0"/>
              </a:spcBef>
              <a:spcAft>
                <a:spcPts val="0"/>
              </a:spcAft>
              <a:buNone/>
            </a:pPr>
            <a:r>
              <a:rPr lang="en-US" sz="1600" dirty="0">
                <a:solidFill>
                  <a:srgbClr val="595959"/>
                </a:solidFill>
                <a:latin typeface="Quattrocento Sans"/>
                <a:ea typeface="Quattrocento Sans"/>
                <a:cs typeface="Quattrocento Sans"/>
                <a:sym typeface="Quattrocento Sans"/>
              </a:rPr>
              <a:t> </a:t>
            </a:r>
            <a:fld id="{00000000-1234-1234-1234-123412341234}" type="slidenum">
              <a:rPr lang="en-US" sz="1300">
                <a:solidFill>
                  <a:srgbClr val="595959"/>
                </a:solidFill>
                <a:latin typeface="Quattrocento Sans"/>
                <a:ea typeface="Quattrocento Sans"/>
                <a:cs typeface="Quattrocento Sans"/>
                <a:sym typeface="Quattrocento Sans"/>
              </a:rPr>
              <a:t>42</a:t>
            </a:fld>
            <a:endParaRPr sz="1300" dirty="0">
              <a:solidFill>
                <a:srgbClr val="595959"/>
              </a:solidFill>
              <a:latin typeface="Quattrocento Sans"/>
              <a:ea typeface="Quattrocento Sans"/>
              <a:cs typeface="Quattrocento Sans"/>
              <a:sym typeface="Quattrocento Sans"/>
            </a:endParaRPr>
          </a:p>
        </p:txBody>
      </p:sp>
      <p:grpSp>
        <p:nvGrpSpPr>
          <p:cNvPr id="4" name="Group 3">
            <a:extLst>
              <a:ext uri="{FF2B5EF4-FFF2-40B4-BE49-F238E27FC236}">
                <a16:creationId xmlns:a16="http://schemas.microsoft.com/office/drawing/2014/main" id="{EEF8581E-5852-E2DD-7AFD-FD488C81EF41}"/>
              </a:ext>
            </a:extLst>
          </p:cNvPr>
          <p:cNvGrpSpPr/>
          <p:nvPr/>
        </p:nvGrpSpPr>
        <p:grpSpPr>
          <a:xfrm>
            <a:off x="8912142" y="1366321"/>
            <a:ext cx="3092700" cy="5137272"/>
            <a:chOff x="8841391" y="1359243"/>
            <a:chExt cx="3092700" cy="5137272"/>
          </a:xfrm>
        </p:grpSpPr>
        <p:grpSp>
          <p:nvGrpSpPr>
            <p:cNvPr id="100" name="Group 99">
              <a:extLst>
                <a:ext uri="{FF2B5EF4-FFF2-40B4-BE49-F238E27FC236}">
                  <a16:creationId xmlns:a16="http://schemas.microsoft.com/office/drawing/2014/main" id="{FD7A9E48-3429-6DC2-A893-E9664837C3C1}"/>
                </a:ext>
              </a:extLst>
            </p:cNvPr>
            <p:cNvGrpSpPr/>
            <p:nvPr/>
          </p:nvGrpSpPr>
          <p:grpSpPr>
            <a:xfrm>
              <a:off x="8841391" y="1894638"/>
              <a:ext cx="3092700" cy="4601877"/>
              <a:chOff x="8841391" y="1894638"/>
              <a:chExt cx="3092700" cy="4601877"/>
            </a:xfrm>
          </p:grpSpPr>
          <p:graphicFrame>
            <p:nvGraphicFramePr>
              <p:cNvPr id="98" name="Google Shape;519;p34">
                <a:extLst>
                  <a:ext uri="{FF2B5EF4-FFF2-40B4-BE49-F238E27FC236}">
                    <a16:creationId xmlns:a16="http://schemas.microsoft.com/office/drawing/2014/main" id="{1395630F-5167-3E5C-8F9A-7EC5F7AB9871}"/>
                  </a:ext>
                </a:extLst>
              </p:cNvPr>
              <p:cNvGraphicFramePr/>
              <p:nvPr>
                <p:extLst>
                  <p:ext uri="{D42A27DB-BD31-4B8C-83A1-F6EECF244321}">
                    <p14:modId xmlns:p14="http://schemas.microsoft.com/office/powerpoint/2010/main" val="3361501789"/>
                  </p:ext>
                </p:extLst>
              </p:nvPr>
            </p:nvGraphicFramePr>
            <p:xfrm>
              <a:off x="8841391" y="2976235"/>
              <a:ext cx="3092700" cy="352028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0</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latin typeface="Quattrocento Sans"/>
                              <a:ea typeface="Quattrocento Sans"/>
                              <a:cs typeface="Quattrocento Sans"/>
                              <a:sym typeface="Quattrocento Sans"/>
                            </a:rPr>
                            <a:t>/</a:t>
                          </a:r>
                          <a:endParaRPr>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1</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noStrike" cap="none" dirty="0">
                              <a:solidFill>
                                <a:schemeClr val="dk1"/>
                              </a:solidFill>
                              <a:latin typeface="Quattrocento Sans"/>
                              <a:ea typeface="Quattrocento Sans"/>
                              <a:cs typeface="Quattrocento Sans"/>
                              <a:sym typeface="Quattrocento Sans"/>
                            </a:rPr>
                            <a:t>5</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chemeClr val="dk1"/>
                              </a:solidFill>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2</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17</a:t>
                          </a:r>
                          <a:r>
                            <a:rPr lang="en-GB" sz="1600" i="0" u="none" strike="noStrike" cap="none" dirty="0">
                              <a:solidFill>
                                <a:schemeClr val="dk1"/>
                              </a:solidFill>
                              <a:latin typeface="Quattrocento Sans"/>
                              <a:ea typeface="Quattrocento Sans"/>
                              <a:cs typeface="Quattrocento Sans"/>
                              <a:sym typeface="Quattrocento Sans"/>
                            </a:rPr>
                            <a:t> </a:t>
                          </a:r>
                          <a:r>
                            <a:rPr lang="en-GB" sz="1600" i="0" u="none" strike="sngStrike" cap="none" dirty="0">
                              <a:solidFill>
                                <a:schemeClr val="dk1"/>
                              </a:solidFill>
                              <a:latin typeface="Quattrocento Sans"/>
                              <a:ea typeface="Quattrocento Sans"/>
                              <a:cs typeface="Quattrocento Sans"/>
                              <a:sym typeface="Quattrocento Sans"/>
                            </a:rPr>
                            <a:t>15</a:t>
                          </a:r>
                          <a:r>
                            <a:rPr lang="en-GB" sz="1600" i="0" u="none" strike="noStrike" cap="none" dirty="0">
                              <a:solidFill>
                                <a:schemeClr val="dk1"/>
                              </a:solidFill>
                              <a:latin typeface="Quattrocento Sans"/>
                              <a:ea typeface="Quattrocento Sans"/>
                              <a:cs typeface="Quattrocento Sans"/>
                              <a:sym typeface="Quattrocento Sans"/>
                            </a:rPr>
                            <a:t> 14</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1</a:t>
                          </a:r>
                          <a:r>
                            <a:rPr lang="en-GB" dirty="0">
                              <a:latin typeface="Quattrocento Sans"/>
                              <a:ea typeface="Quattrocento Sans"/>
                              <a:cs typeface="Quattrocento Sans"/>
                              <a:sym typeface="Quattrocento Sans"/>
                            </a:rPr>
                            <a:t> </a:t>
                          </a:r>
                          <a:r>
                            <a:rPr lang="en-GB" strike="sngStrike" dirty="0">
                              <a:latin typeface="Quattrocento Sans"/>
                              <a:ea typeface="Quattrocento Sans"/>
                              <a:cs typeface="Quattrocento Sans"/>
                              <a:sym typeface="Quattrocento Sans"/>
                            </a:rPr>
                            <a:t>7</a:t>
                          </a:r>
                          <a:r>
                            <a:rPr lang="en-GB" dirty="0">
                              <a:latin typeface="Quattrocento Sans"/>
                              <a:ea typeface="Quattrocento Sans"/>
                              <a:cs typeface="Quattrocento Sans"/>
                              <a:sym typeface="Quattrocento Sans"/>
                            </a:rPr>
                            <a:t> 5</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3</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20</a:t>
                          </a:r>
                          <a:r>
                            <a:rPr lang="en-GB" sz="1600" i="0" u="none" strike="noStrike" cap="none" dirty="0">
                              <a:solidFill>
                                <a:schemeClr val="dk1"/>
                              </a:solidFill>
                              <a:latin typeface="Quattrocento Sans"/>
                              <a:ea typeface="Quattrocento Sans"/>
                              <a:cs typeface="Quattrocento Sans"/>
                              <a:sym typeface="Quattrocento Sans"/>
                            </a:rPr>
                            <a:t> 17</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1</a:t>
                          </a:r>
                          <a:r>
                            <a:rPr lang="en-GB" dirty="0">
                              <a:latin typeface="Quattrocento Sans"/>
                              <a:ea typeface="Quattrocento Sans"/>
                              <a:cs typeface="Quattrocento Sans"/>
                              <a:sym typeface="Quattrocento Sans"/>
                            </a:rPr>
                            <a:t> 2</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4</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noStrike" cap="none" dirty="0">
                              <a:solidFill>
                                <a:schemeClr val="dk1"/>
                              </a:solidFill>
                              <a:latin typeface="Quattrocento Sans"/>
                              <a:ea typeface="Quattrocento Sans"/>
                              <a:cs typeface="Quattrocento Sans"/>
                              <a:sym typeface="Quattrocento Sans"/>
                            </a:rPr>
                            <a:t>9</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noStrike" dirty="0">
                              <a:latin typeface="Quattrocento Sans"/>
                              <a:ea typeface="Quattrocento Sans"/>
                              <a:cs typeface="Quattrocento Sans"/>
                              <a:sym typeface="Quattrocento Sans"/>
                            </a:rPr>
                            <a:t>0</a:t>
                          </a:r>
                          <a:endParaRPr strike="noStrike"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5</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14</a:t>
                          </a:r>
                          <a:r>
                            <a:rPr lang="en-GB" sz="1600" i="0" u="none" strike="noStrike" cap="none" dirty="0">
                              <a:solidFill>
                                <a:schemeClr val="dk1"/>
                              </a:solidFill>
                              <a:latin typeface="Quattrocento Sans"/>
                              <a:ea typeface="Quattrocento Sans"/>
                              <a:cs typeface="Quattrocento Sans"/>
                              <a:sym typeface="Quattrocento Sans"/>
                            </a:rPr>
                            <a:t> 13</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7</a:t>
                          </a:r>
                          <a:r>
                            <a:rPr lang="en-GB" dirty="0">
                              <a:latin typeface="Quattrocento Sans"/>
                              <a:ea typeface="Quattrocento Sans"/>
                              <a:cs typeface="Quattrocento Sans"/>
                              <a:sym typeface="Quattrocento Sans"/>
                            </a:rPr>
                            <a:t> 4</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GB" dirty="0">
                              <a:solidFill>
                                <a:srgbClr val="0C0C0C"/>
                              </a:solidFill>
                              <a:latin typeface="Quattrocento Sans"/>
                              <a:ea typeface="Quattrocento Sans"/>
                              <a:cs typeface="Quattrocento Sans"/>
                              <a:sym typeface="Quattrocento Sans"/>
                            </a:rPr>
                            <a:t>6</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29</a:t>
                          </a:r>
                          <a:r>
                            <a:rPr lang="en-GB" sz="1600" i="0" u="none" strike="noStrike" cap="none" dirty="0">
                              <a:solidFill>
                                <a:schemeClr val="dk1"/>
                              </a:solidFill>
                              <a:latin typeface="Quattrocento Sans"/>
                              <a:ea typeface="Quattrocento Sans"/>
                              <a:cs typeface="Quattrocento Sans"/>
                              <a:sym typeface="Quattrocento Sans"/>
                            </a:rPr>
                            <a:t> </a:t>
                          </a:r>
                          <a:r>
                            <a:rPr lang="en-GB" sz="1600" i="0" u="none" strike="sngStrike" cap="none" dirty="0">
                              <a:solidFill>
                                <a:schemeClr val="dk1"/>
                              </a:solidFill>
                              <a:latin typeface="Quattrocento Sans"/>
                              <a:ea typeface="Quattrocento Sans"/>
                              <a:cs typeface="Quattrocento Sans"/>
                              <a:sym typeface="Quattrocento Sans"/>
                            </a:rPr>
                            <a:t>26</a:t>
                          </a:r>
                          <a:r>
                            <a:rPr lang="en-GB" sz="1600" i="0" u="none" strike="noStrike" cap="none" dirty="0">
                              <a:solidFill>
                                <a:schemeClr val="dk1"/>
                              </a:solidFill>
                              <a:latin typeface="Quattrocento Sans"/>
                              <a:ea typeface="Quattrocento Sans"/>
                              <a:cs typeface="Quattrocento Sans"/>
                              <a:sym typeface="Quattrocento Sans"/>
                            </a:rPr>
                            <a:t> 25</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4</a:t>
                          </a:r>
                          <a:r>
                            <a:rPr lang="en-GB" dirty="0">
                              <a:latin typeface="Quattrocento Sans"/>
                              <a:ea typeface="Quattrocento Sans"/>
                              <a:cs typeface="Quattrocento Sans"/>
                              <a:sym typeface="Quattrocento Sans"/>
                            </a:rPr>
                            <a:t> </a:t>
                          </a:r>
                          <a:r>
                            <a:rPr lang="en-GB" strike="sngStrike" dirty="0">
                              <a:latin typeface="Quattrocento Sans"/>
                              <a:ea typeface="Quattrocento Sans"/>
                              <a:cs typeface="Quattrocento Sans"/>
                              <a:sym typeface="Quattrocento Sans"/>
                            </a:rPr>
                            <a:t>5</a:t>
                          </a:r>
                          <a:r>
                            <a:rPr lang="en-GB" dirty="0">
                              <a:latin typeface="Quattrocento Sans"/>
                              <a:ea typeface="Quattrocento Sans"/>
                              <a:cs typeface="Quattrocento Sans"/>
                              <a:sym typeface="Quattrocento Sans"/>
                            </a:rPr>
                            <a:t> 2</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841691893"/>
                      </a:ext>
                    </a:extLst>
                  </a:tr>
                  <a:tr h="365750">
                    <a:tc>
                      <a:txBody>
                        <a:bodyPr/>
                        <a:lstStyle/>
                        <a:p>
                          <a:pPr marL="0" marR="0" lvl="0" indent="0" algn="ctr" rtl="0">
                            <a:spcBef>
                              <a:spcPts val="0"/>
                            </a:spcBef>
                            <a:spcAft>
                              <a:spcPts val="0"/>
                            </a:spcAft>
                            <a:buNone/>
                          </a:pPr>
                          <a:r>
                            <a:rPr lang="en-GB" dirty="0">
                              <a:solidFill>
                                <a:srgbClr val="0C0C0C"/>
                              </a:solidFill>
                              <a:latin typeface="Quattrocento Sans"/>
                              <a:ea typeface="Quattrocento Sans"/>
                              <a:cs typeface="Quattrocento Sans"/>
                              <a:sym typeface="Quattrocento Sans"/>
                            </a:rPr>
                            <a:t>7</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noStrike" cap="none" dirty="0">
                              <a:solidFill>
                                <a:schemeClr val="dk1"/>
                              </a:solidFill>
                              <a:latin typeface="Quattrocento Sans"/>
                              <a:ea typeface="Quattrocento Sans"/>
                              <a:cs typeface="Quattrocento Sans"/>
                              <a:sym typeface="Quattrocento Sans"/>
                            </a:rPr>
                            <a:t>8</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dirty="0">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84826116"/>
                      </a:ext>
                    </a:extLst>
                  </a:tr>
                </a:tbl>
              </a:graphicData>
            </a:graphic>
          </p:graphicFrame>
          <p:sp>
            <p:nvSpPr>
              <p:cNvPr id="99" name="Google Shape;1032;p42">
                <a:extLst>
                  <a:ext uri="{FF2B5EF4-FFF2-40B4-BE49-F238E27FC236}">
                    <a16:creationId xmlns:a16="http://schemas.microsoft.com/office/drawing/2014/main" id="{79DAC74C-149C-AB41-BA28-068B151BF028}"/>
                  </a:ext>
                </a:extLst>
              </p:cNvPr>
              <p:cNvSpPr txBox="1"/>
              <p:nvPr/>
            </p:nvSpPr>
            <p:spPr>
              <a:xfrm>
                <a:off x="8841391" y="1894638"/>
                <a:ext cx="3070361"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rPr>
                  <a:t>Visit Order</a:t>
                </a:r>
                <a:endParaRPr dirty="0">
                  <a:latin typeface="Quattrocento Sans"/>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rPr>
                  <a:t>0, 1, 7, 4, 5, 2, 3, 6</a:t>
                </a:r>
                <a:endParaRPr dirty="0">
                  <a:latin typeface="Quattrocento Sans"/>
                  <a:ea typeface="Quattrocento Sans"/>
                  <a:cs typeface="Quattrocento Sans"/>
                  <a:sym typeface="Quattrocento Sans"/>
                </a:endParaRPr>
              </a:p>
            </p:txBody>
          </p:sp>
        </p:grpSp>
        <p:sp>
          <p:nvSpPr>
            <p:cNvPr id="3" name="TextBox 2">
              <a:extLst>
                <a:ext uri="{FF2B5EF4-FFF2-40B4-BE49-F238E27FC236}">
                  <a16:creationId xmlns:a16="http://schemas.microsoft.com/office/drawing/2014/main" id="{165DAA23-C43F-7D65-5605-0352BAB833D4}"/>
                </a:ext>
              </a:extLst>
            </p:cNvPr>
            <p:cNvSpPr txBox="1"/>
            <p:nvPr/>
          </p:nvSpPr>
          <p:spPr>
            <a:xfrm>
              <a:off x="9465276" y="1359243"/>
              <a:ext cx="1965603" cy="461665"/>
            </a:xfrm>
            <a:prstGeom prst="rect">
              <a:avLst/>
            </a:prstGeom>
            <a:noFill/>
          </p:spPr>
          <p:txBody>
            <a:bodyPr wrap="none" rtlCol="0">
              <a:spAutoFit/>
            </a:bodyPr>
            <a:lstStyle/>
            <a:p>
              <a:r>
                <a:rPr lang="en-US" sz="2400" dirty="0"/>
                <a:t>Final Answer</a:t>
              </a:r>
            </a:p>
          </p:txBody>
        </p:sp>
      </p:grpSp>
    </p:spTree>
    <p:extLst>
      <p:ext uri="{BB962C8B-B14F-4D97-AF65-F5344CB8AC3E}">
        <p14:creationId xmlns:p14="http://schemas.microsoft.com/office/powerpoint/2010/main" val="907160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dissolve">
                                      <p:cBhvr>
                                        <p:cTn id="10" dur="500"/>
                                        <p:tgtEl>
                                          <p:spTgt spid="6"/>
                                        </p:tgtEl>
                                      </p:cBhvr>
                                    </p:animEffect>
                                  </p:childTnLst>
                                </p:cTn>
                              </p:par>
                              <p:par>
                                <p:cTn id="11" presetID="9"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dissolve">
                                      <p:cBhvr>
                                        <p:cTn id="13" dur="500"/>
                                        <p:tgtEl>
                                          <p:spTgt spid="7"/>
                                        </p:tgtEl>
                                      </p:cBhvr>
                                    </p:animEffect>
                                  </p:childTnLst>
                                </p:cTn>
                              </p:par>
                              <p:par>
                                <p:cTn id="14" presetID="9"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dissolve">
                                      <p:cBhvr>
                                        <p:cTn id="16" dur="500"/>
                                        <p:tgtEl>
                                          <p:spTgt spid="8"/>
                                        </p:tgtEl>
                                      </p:cBhvr>
                                    </p:animEffect>
                                  </p:childTnLst>
                                </p:cTn>
                              </p:par>
                              <p:par>
                                <p:cTn id="17" presetID="9"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dissolve">
                                      <p:cBhvr>
                                        <p:cTn id="19" dur="500"/>
                                        <p:tgtEl>
                                          <p:spTgt spid="9"/>
                                        </p:tgtEl>
                                      </p:cBhvr>
                                    </p:animEffect>
                                  </p:childTnLst>
                                </p:cTn>
                              </p:par>
                              <p:par>
                                <p:cTn id="20" presetID="9" presetClass="entr" presetSubtype="0" fill="hold"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dissolve">
                                      <p:cBhvr>
                                        <p:cTn id="22" dur="500"/>
                                        <p:tgtEl>
                                          <p:spTgt spid="10"/>
                                        </p:tgtEl>
                                      </p:cBhvr>
                                    </p:animEffect>
                                  </p:childTnLst>
                                </p:cTn>
                              </p:par>
                              <p:par>
                                <p:cTn id="23" presetID="9"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dissolve">
                                      <p:cBhvr>
                                        <p:cTn id="25" dur="500"/>
                                        <p:tgtEl>
                                          <p:spTgt spid="11"/>
                                        </p:tgtEl>
                                      </p:cBhvr>
                                    </p:animEffect>
                                  </p:childTnLst>
                                </p:cTn>
                              </p:par>
                              <p:par>
                                <p:cTn id="26" presetID="9"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dissolve">
                                      <p:cBhvr>
                                        <p:cTn id="28" dur="500"/>
                                        <p:tgtEl>
                                          <p:spTgt spid="12"/>
                                        </p:tgtEl>
                                      </p:cBhvr>
                                    </p:animEffect>
                                  </p:childTnLst>
                                </p:cTn>
                              </p:par>
                              <p:par>
                                <p:cTn id="29" presetID="9"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dissolve">
                                      <p:cBhvr>
                                        <p:cTn id="31" dur="500"/>
                                        <p:tgtEl>
                                          <p:spTgt spid="13"/>
                                        </p:tgtEl>
                                      </p:cBhvr>
                                    </p:animEffect>
                                  </p:childTnLst>
                                </p:cTn>
                              </p:par>
                              <p:par>
                                <p:cTn id="32" presetID="9"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dissolve">
                                      <p:cBhvr>
                                        <p:cTn id="34" dur="500"/>
                                        <p:tgtEl>
                                          <p:spTgt spid="14"/>
                                        </p:tgtEl>
                                      </p:cBhvr>
                                    </p:animEffect>
                                  </p:childTnLst>
                                </p:cTn>
                              </p:par>
                              <p:par>
                                <p:cTn id="35" presetID="9"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dissolve">
                                      <p:cBhvr>
                                        <p:cTn id="37" dur="500"/>
                                        <p:tgtEl>
                                          <p:spTgt spid="15"/>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par>
                                <p:cTn id="41" presetID="9" presetClass="entr" presetSubtype="0"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dissolve">
                                      <p:cBhvr>
                                        <p:cTn id="43" dur="500"/>
                                        <p:tgtEl>
                                          <p:spTgt spid="17"/>
                                        </p:tgtEl>
                                      </p:cBhvr>
                                    </p:animEffect>
                                  </p:childTnLst>
                                </p:cTn>
                              </p:par>
                              <p:par>
                                <p:cTn id="44" presetID="9"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dissolve">
                                      <p:cBhvr>
                                        <p:cTn id="46" dur="500"/>
                                        <p:tgtEl>
                                          <p:spTgt spid="18"/>
                                        </p:tgtEl>
                                      </p:cBhvr>
                                    </p:animEffect>
                                  </p:childTnLst>
                                </p:cTn>
                              </p:par>
                              <p:par>
                                <p:cTn id="47" presetID="9" presetClass="entr" presetSubtype="0" fill="hold" nodeType="with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dissolve">
                                      <p:cBhvr>
                                        <p:cTn id="49" dur="500"/>
                                        <p:tgtEl>
                                          <p:spTgt spid="19"/>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dissolve">
                                      <p:cBhvr>
                                        <p:cTn id="52" dur="500"/>
                                        <p:tgtEl>
                                          <p:spTgt spid="20"/>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dissolve">
                                      <p:cBhvr>
                                        <p:cTn id="55" dur="500"/>
                                        <p:tgtEl>
                                          <p:spTgt spid="21"/>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dissolve">
                                      <p:cBhvr>
                                        <p:cTn id="58" dur="500"/>
                                        <p:tgtEl>
                                          <p:spTgt spid="22"/>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dissolve">
                                      <p:cBhvr>
                                        <p:cTn id="61" dur="500"/>
                                        <p:tgtEl>
                                          <p:spTgt spid="23"/>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dissolve">
                                      <p:cBhvr>
                                        <p:cTn id="64" dur="500"/>
                                        <p:tgtEl>
                                          <p:spTgt spid="24"/>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dissolve">
                                      <p:cBhvr>
                                        <p:cTn id="67" dur="500"/>
                                        <p:tgtEl>
                                          <p:spTgt spid="25"/>
                                        </p:tgtEl>
                                      </p:cBhvr>
                                    </p:animEffect>
                                  </p:childTnLst>
                                </p:cTn>
                              </p:par>
                              <p:par>
                                <p:cTn id="68" presetID="9"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dissolve">
                                      <p:cBhvr>
                                        <p:cTn id="70" dur="500"/>
                                        <p:tgtEl>
                                          <p:spTgt spid="26"/>
                                        </p:tgtEl>
                                      </p:cBhvr>
                                    </p:animEffect>
                                  </p:childTnLst>
                                </p:cTn>
                              </p:par>
                              <p:par>
                                <p:cTn id="71" presetID="9" presetClass="entr" presetSubtype="0" fill="hold" nodeType="withEffect">
                                  <p:stCondLst>
                                    <p:cond delay="0"/>
                                  </p:stCondLst>
                                  <p:childTnLst>
                                    <p:set>
                                      <p:cBhvr>
                                        <p:cTn id="72" dur="1" fill="hold">
                                          <p:stCondLst>
                                            <p:cond delay="0"/>
                                          </p:stCondLst>
                                        </p:cTn>
                                        <p:tgtEl>
                                          <p:spTgt spid="27"/>
                                        </p:tgtEl>
                                        <p:attrNameLst>
                                          <p:attrName>style.visibility</p:attrName>
                                        </p:attrNameLst>
                                      </p:cBhvr>
                                      <p:to>
                                        <p:strVal val="visible"/>
                                      </p:to>
                                    </p:set>
                                    <p:animEffect transition="in" filter="dissolve">
                                      <p:cBhvr>
                                        <p:cTn id="73" dur="500"/>
                                        <p:tgtEl>
                                          <p:spTgt spid="27"/>
                                        </p:tgtEl>
                                      </p:cBhvr>
                                    </p:animEffect>
                                  </p:childTnLst>
                                </p:cTn>
                              </p:par>
                              <p:par>
                                <p:cTn id="74" presetID="9" presetClass="entr" presetSubtype="0" fill="hold" nodeType="withEffect">
                                  <p:stCondLst>
                                    <p:cond delay="0"/>
                                  </p:stCondLst>
                                  <p:childTnLst>
                                    <p:set>
                                      <p:cBhvr>
                                        <p:cTn id="75" dur="1" fill="hold">
                                          <p:stCondLst>
                                            <p:cond delay="0"/>
                                          </p:stCondLst>
                                        </p:cTn>
                                        <p:tgtEl>
                                          <p:spTgt spid="28"/>
                                        </p:tgtEl>
                                        <p:attrNameLst>
                                          <p:attrName>style.visibility</p:attrName>
                                        </p:attrNameLst>
                                      </p:cBhvr>
                                      <p:to>
                                        <p:strVal val="visible"/>
                                      </p:to>
                                    </p:set>
                                    <p:animEffect transition="in" filter="dissolve">
                                      <p:cBhvr>
                                        <p:cTn id="76" dur="500"/>
                                        <p:tgtEl>
                                          <p:spTgt spid="28"/>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dissolve">
                                      <p:cBhvr>
                                        <p:cTn id="79" dur="500"/>
                                        <p:tgtEl>
                                          <p:spTgt spid="29"/>
                                        </p:tgtEl>
                                      </p:cBhvr>
                                    </p:animEffect>
                                  </p:childTnLst>
                                </p:cTn>
                              </p:par>
                              <p:par>
                                <p:cTn id="80" presetID="9" presetClass="entr" presetSubtype="0" fill="hold" grpId="0" nodeType="with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dissolve">
                                      <p:cBhvr>
                                        <p:cTn id="82" dur="500"/>
                                        <p:tgtEl>
                                          <p:spTgt spid="30"/>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31"/>
                                        </p:tgtEl>
                                        <p:attrNameLst>
                                          <p:attrName>style.visibility</p:attrName>
                                        </p:attrNameLst>
                                      </p:cBhvr>
                                      <p:to>
                                        <p:strVal val="visible"/>
                                      </p:to>
                                    </p:set>
                                    <p:animEffect transition="in" filter="dissolve">
                                      <p:cBhvr>
                                        <p:cTn id="85" dur="500"/>
                                        <p:tgtEl>
                                          <p:spTgt spid="31"/>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dissolve">
                                      <p:cBhvr>
                                        <p:cTn id="88" dur="500"/>
                                        <p:tgtEl>
                                          <p:spTgt spid="32"/>
                                        </p:tgtEl>
                                      </p:cBhvr>
                                    </p:animEffect>
                                  </p:childTnLst>
                                </p:cTn>
                              </p:par>
                              <p:par>
                                <p:cTn id="89" presetID="9" presetClass="entr" presetSubtype="0" fill="hold" grpId="0" nodeType="withEffect">
                                  <p:stCondLst>
                                    <p:cond delay="0"/>
                                  </p:stCondLst>
                                  <p:childTnLst>
                                    <p:set>
                                      <p:cBhvr>
                                        <p:cTn id="90" dur="1" fill="hold">
                                          <p:stCondLst>
                                            <p:cond delay="0"/>
                                          </p:stCondLst>
                                        </p:cTn>
                                        <p:tgtEl>
                                          <p:spTgt spid="33"/>
                                        </p:tgtEl>
                                        <p:attrNameLst>
                                          <p:attrName>style.visibility</p:attrName>
                                        </p:attrNameLst>
                                      </p:cBhvr>
                                      <p:to>
                                        <p:strVal val="visible"/>
                                      </p:to>
                                    </p:set>
                                    <p:animEffect transition="in" filter="dissolve">
                                      <p:cBhvr>
                                        <p:cTn id="91" dur="500"/>
                                        <p:tgtEl>
                                          <p:spTgt spid="33"/>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dissolve">
                                      <p:cBhvr>
                                        <p:cTn id="94" dur="500"/>
                                        <p:tgtEl>
                                          <p:spTgt spid="34"/>
                                        </p:tgtEl>
                                      </p:cBhvr>
                                    </p:animEffect>
                                  </p:childTnLst>
                                </p:cTn>
                              </p:par>
                              <p:par>
                                <p:cTn id="95" presetID="9" presetClass="entr" presetSubtype="0" fill="hold" grpId="0" nodeType="withEffect">
                                  <p:stCondLst>
                                    <p:cond delay="0"/>
                                  </p:stCondLst>
                                  <p:childTnLst>
                                    <p:set>
                                      <p:cBhvr>
                                        <p:cTn id="96" dur="1" fill="hold">
                                          <p:stCondLst>
                                            <p:cond delay="0"/>
                                          </p:stCondLst>
                                        </p:cTn>
                                        <p:tgtEl>
                                          <p:spTgt spid="35"/>
                                        </p:tgtEl>
                                        <p:attrNameLst>
                                          <p:attrName>style.visibility</p:attrName>
                                        </p:attrNameLst>
                                      </p:cBhvr>
                                      <p:to>
                                        <p:strVal val="visible"/>
                                      </p:to>
                                    </p:set>
                                    <p:animEffect transition="in" filter="dissolve">
                                      <p:cBhvr>
                                        <p:cTn id="97" dur="500"/>
                                        <p:tgtEl>
                                          <p:spTgt spid="35"/>
                                        </p:tgtEl>
                                      </p:cBhvr>
                                    </p:animEffect>
                                  </p:childTnLst>
                                </p:cTn>
                              </p:par>
                              <p:par>
                                <p:cTn id="98" presetID="9" presetClass="entr" presetSubtype="0" fill="hold" grpId="0" nodeType="withEffect">
                                  <p:stCondLst>
                                    <p:cond delay="0"/>
                                  </p:stCondLst>
                                  <p:childTnLst>
                                    <p:set>
                                      <p:cBhvr>
                                        <p:cTn id="99" dur="1" fill="hold">
                                          <p:stCondLst>
                                            <p:cond delay="0"/>
                                          </p:stCondLst>
                                        </p:cTn>
                                        <p:tgtEl>
                                          <p:spTgt spid="36"/>
                                        </p:tgtEl>
                                        <p:attrNameLst>
                                          <p:attrName>style.visibility</p:attrName>
                                        </p:attrNameLst>
                                      </p:cBhvr>
                                      <p:to>
                                        <p:strVal val="visible"/>
                                      </p:to>
                                    </p:set>
                                    <p:animEffect transition="in" filter="dissolve">
                                      <p:cBhvr>
                                        <p:cTn id="100" dur="500"/>
                                        <p:tgtEl>
                                          <p:spTgt spid="36"/>
                                        </p:tgtEl>
                                      </p:cBhvr>
                                    </p:animEffect>
                                  </p:childTnLst>
                                </p:cTn>
                              </p:par>
                              <p:par>
                                <p:cTn id="101" presetID="9" presetClass="entr" presetSubtype="0" fill="hold" grpId="0" nodeType="with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dissolve">
                                      <p:cBhvr>
                                        <p:cTn id="103" dur="500"/>
                                        <p:tgtEl>
                                          <p:spTgt spid="37"/>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38"/>
                                        </p:tgtEl>
                                        <p:attrNameLst>
                                          <p:attrName>style.visibility</p:attrName>
                                        </p:attrNameLst>
                                      </p:cBhvr>
                                      <p:to>
                                        <p:strVal val="visible"/>
                                      </p:to>
                                    </p:set>
                                    <p:animEffect transition="in" filter="dissolve">
                                      <p:cBhvr>
                                        <p:cTn id="106" dur="500"/>
                                        <p:tgtEl>
                                          <p:spTgt spid="38"/>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39"/>
                                        </p:tgtEl>
                                        <p:attrNameLst>
                                          <p:attrName>style.visibility</p:attrName>
                                        </p:attrNameLst>
                                      </p:cBhvr>
                                      <p:to>
                                        <p:strVal val="visible"/>
                                      </p:to>
                                    </p:set>
                                    <p:animEffect transition="in" filter="dissolve">
                                      <p:cBhvr>
                                        <p:cTn id="109" dur="500"/>
                                        <p:tgtEl>
                                          <p:spTgt spid="39"/>
                                        </p:tgtEl>
                                      </p:cBhvr>
                                    </p:animEffect>
                                  </p:childTnLst>
                                </p:cTn>
                              </p:par>
                              <p:par>
                                <p:cTn id="110" presetID="9" presetClass="entr" presetSubtype="0" fill="hold" grpId="0" nodeType="withEffect">
                                  <p:stCondLst>
                                    <p:cond delay="0"/>
                                  </p:stCondLst>
                                  <p:childTnLst>
                                    <p:set>
                                      <p:cBhvr>
                                        <p:cTn id="111" dur="1" fill="hold">
                                          <p:stCondLst>
                                            <p:cond delay="0"/>
                                          </p:stCondLst>
                                        </p:cTn>
                                        <p:tgtEl>
                                          <p:spTgt spid="40"/>
                                        </p:tgtEl>
                                        <p:attrNameLst>
                                          <p:attrName>style.visibility</p:attrName>
                                        </p:attrNameLst>
                                      </p:cBhvr>
                                      <p:to>
                                        <p:strVal val="visible"/>
                                      </p:to>
                                    </p:set>
                                    <p:animEffect transition="in" filter="dissolve">
                                      <p:cBhvr>
                                        <p:cTn id="112" dur="500"/>
                                        <p:tgtEl>
                                          <p:spTgt spid="40"/>
                                        </p:tgtEl>
                                      </p:cBhvr>
                                    </p:animEffect>
                                  </p:childTnLst>
                                </p:cTn>
                              </p:par>
                              <p:par>
                                <p:cTn id="113" presetID="9" presetClass="entr" presetSubtype="0" fill="hold" grpId="0" nodeType="withEffect">
                                  <p:stCondLst>
                                    <p:cond delay="0"/>
                                  </p:stCondLst>
                                  <p:childTnLst>
                                    <p:set>
                                      <p:cBhvr>
                                        <p:cTn id="114" dur="1" fill="hold">
                                          <p:stCondLst>
                                            <p:cond delay="0"/>
                                          </p:stCondLst>
                                        </p:cTn>
                                        <p:tgtEl>
                                          <p:spTgt spid="41"/>
                                        </p:tgtEl>
                                        <p:attrNameLst>
                                          <p:attrName>style.visibility</p:attrName>
                                        </p:attrNameLst>
                                      </p:cBhvr>
                                      <p:to>
                                        <p:strVal val="visible"/>
                                      </p:to>
                                    </p:set>
                                    <p:animEffect transition="in" filter="dissolve">
                                      <p:cBhvr>
                                        <p:cTn id="115" dur="500"/>
                                        <p:tgtEl>
                                          <p:spTgt spid="41"/>
                                        </p:tgtEl>
                                      </p:cBhvr>
                                    </p:animEffect>
                                  </p:childTnLst>
                                </p:cTn>
                              </p:par>
                              <p:par>
                                <p:cTn id="116" presetID="9" presetClass="entr" presetSubtype="0" fill="hold" grpId="0" nodeType="withEffect">
                                  <p:stCondLst>
                                    <p:cond delay="0"/>
                                  </p:stCondLst>
                                  <p:childTnLst>
                                    <p:set>
                                      <p:cBhvr>
                                        <p:cTn id="117" dur="1" fill="hold">
                                          <p:stCondLst>
                                            <p:cond delay="0"/>
                                          </p:stCondLst>
                                        </p:cTn>
                                        <p:tgtEl>
                                          <p:spTgt spid="42"/>
                                        </p:tgtEl>
                                        <p:attrNameLst>
                                          <p:attrName>style.visibility</p:attrName>
                                        </p:attrNameLst>
                                      </p:cBhvr>
                                      <p:to>
                                        <p:strVal val="visible"/>
                                      </p:to>
                                    </p:set>
                                    <p:animEffect transition="in" filter="dissolve">
                                      <p:cBhvr>
                                        <p:cTn id="118" dur="500"/>
                                        <p:tgtEl>
                                          <p:spTgt spid="42"/>
                                        </p:tgtEl>
                                      </p:cBhvr>
                                    </p:animEffect>
                                  </p:childTnLst>
                                </p:cTn>
                              </p:par>
                              <p:par>
                                <p:cTn id="119" presetID="9" presetClass="entr" presetSubtype="0" fill="hold" grpId="0" nodeType="withEffect">
                                  <p:stCondLst>
                                    <p:cond delay="0"/>
                                  </p:stCondLst>
                                  <p:childTnLst>
                                    <p:set>
                                      <p:cBhvr>
                                        <p:cTn id="120" dur="1" fill="hold">
                                          <p:stCondLst>
                                            <p:cond delay="0"/>
                                          </p:stCondLst>
                                        </p:cTn>
                                        <p:tgtEl>
                                          <p:spTgt spid="43"/>
                                        </p:tgtEl>
                                        <p:attrNameLst>
                                          <p:attrName>style.visibility</p:attrName>
                                        </p:attrNameLst>
                                      </p:cBhvr>
                                      <p:to>
                                        <p:strVal val="visible"/>
                                      </p:to>
                                    </p:set>
                                    <p:animEffect transition="in" filter="dissolve">
                                      <p:cBhvr>
                                        <p:cTn id="121" dur="500"/>
                                        <p:tgtEl>
                                          <p:spTgt spid="43"/>
                                        </p:tgtEl>
                                      </p:cBhvr>
                                    </p:animEffect>
                                  </p:childTnLst>
                                </p:cTn>
                              </p:par>
                              <p:par>
                                <p:cTn id="122" presetID="9" presetClass="entr" presetSubtype="0" fill="hold" grpId="0" nodeType="with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dissolve">
                                      <p:cBhvr>
                                        <p:cTn id="124" dur="500"/>
                                        <p:tgtEl>
                                          <p:spTgt spid="44"/>
                                        </p:tgtEl>
                                      </p:cBhvr>
                                    </p:animEffect>
                                  </p:childTnLst>
                                </p:cTn>
                              </p:par>
                              <p:par>
                                <p:cTn id="125" presetID="9" presetClass="entr" presetSubtype="0" fill="hold" grpId="0" nodeType="withEffect">
                                  <p:stCondLst>
                                    <p:cond delay="0"/>
                                  </p:stCondLst>
                                  <p:childTnLst>
                                    <p:set>
                                      <p:cBhvr>
                                        <p:cTn id="126" dur="1" fill="hold">
                                          <p:stCondLst>
                                            <p:cond delay="0"/>
                                          </p:stCondLst>
                                        </p:cTn>
                                        <p:tgtEl>
                                          <p:spTgt spid="46"/>
                                        </p:tgtEl>
                                        <p:attrNameLst>
                                          <p:attrName>style.visibility</p:attrName>
                                        </p:attrNameLst>
                                      </p:cBhvr>
                                      <p:to>
                                        <p:strVal val="visible"/>
                                      </p:to>
                                    </p:set>
                                    <p:animEffect transition="in" filter="dissolve">
                                      <p:cBhvr>
                                        <p:cTn id="127" dur="500"/>
                                        <p:tgtEl>
                                          <p:spTgt spid="46"/>
                                        </p:tgtEl>
                                      </p:cBhvr>
                                    </p:animEffect>
                                  </p:childTnLst>
                                </p:cTn>
                              </p:par>
                              <p:par>
                                <p:cTn id="128" presetID="9" presetClass="entr" presetSubtype="0" fill="hold" grpId="0" nodeType="with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dissolve">
                                      <p:cBhvr>
                                        <p:cTn id="130" dur="500"/>
                                        <p:tgtEl>
                                          <p:spTgt spid="47"/>
                                        </p:tgtEl>
                                      </p:cBhvr>
                                    </p:animEffect>
                                  </p:childTnLst>
                                </p:cTn>
                              </p:par>
                              <p:par>
                                <p:cTn id="131" presetID="9" presetClass="entr" presetSubtype="0" fill="hold" nodeType="withEffect">
                                  <p:stCondLst>
                                    <p:cond delay="0"/>
                                  </p:stCondLst>
                                  <p:childTnLst>
                                    <p:set>
                                      <p:cBhvr>
                                        <p:cTn id="132" dur="1" fill="hold">
                                          <p:stCondLst>
                                            <p:cond delay="0"/>
                                          </p:stCondLst>
                                        </p:cTn>
                                        <p:tgtEl>
                                          <p:spTgt spid="48"/>
                                        </p:tgtEl>
                                        <p:attrNameLst>
                                          <p:attrName>style.visibility</p:attrName>
                                        </p:attrNameLst>
                                      </p:cBhvr>
                                      <p:to>
                                        <p:strVal val="visible"/>
                                      </p:to>
                                    </p:set>
                                    <p:animEffect transition="in" filter="dissolve">
                                      <p:cBhvr>
                                        <p:cTn id="133" dur="500"/>
                                        <p:tgtEl>
                                          <p:spTgt spid="48"/>
                                        </p:tgtEl>
                                      </p:cBhvr>
                                    </p:animEffect>
                                  </p:childTnLst>
                                </p:cTn>
                              </p:par>
                              <p:par>
                                <p:cTn id="134" presetID="9" presetClass="entr" presetSubtype="0" fill="hold" grpId="0" nodeType="withEffect">
                                  <p:stCondLst>
                                    <p:cond delay="0"/>
                                  </p:stCondLst>
                                  <p:childTnLst>
                                    <p:set>
                                      <p:cBhvr>
                                        <p:cTn id="135" dur="1" fill="hold">
                                          <p:stCondLst>
                                            <p:cond delay="0"/>
                                          </p:stCondLst>
                                        </p:cTn>
                                        <p:tgtEl>
                                          <p:spTgt spid="50"/>
                                        </p:tgtEl>
                                        <p:attrNameLst>
                                          <p:attrName>style.visibility</p:attrName>
                                        </p:attrNameLst>
                                      </p:cBhvr>
                                      <p:to>
                                        <p:strVal val="visible"/>
                                      </p:to>
                                    </p:set>
                                    <p:animEffect transition="in" filter="dissolve">
                                      <p:cBhvr>
                                        <p:cTn id="136" dur="500"/>
                                        <p:tgtEl>
                                          <p:spTgt spid="50"/>
                                        </p:tgtEl>
                                      </p:cBhvr>
                                    </p:animEffect>
                                  </p:childTnLst>
                                </p:cTn>
                              </p:par>
                              <p:par>
                                <p:cTn id="137" presetID="9" presetClass="entr" presetSubtype="0" fill="hold" grpId="0" nodeType="withEffect">
                                  <p:stCondLst>
                                    <p:cond delay="0"/>
                                  </p:stCondLst>
                                  <p:childTnLst>
                                    <p:set>
                                      <p:cBhvr>
                                        <p:cTn id="138" dur="1" fill="hold">
                                          <p:stCondLst>
                                            <p:cond delay="0"/>
                                          </p:stCondLst>
                                        </p:cTn>
                                        <p:tgtEl>
                                          <p:spTgt spid="51"/>
                                        </p:tgtEl>
                                        <p:attrNameLst>
                                          <p:attrName>style.visibility</p:attrName>
                                        </p:attrNameLst>
                                      </p:cBhvr>
                                      <p:to>
                                        <p:strVal val="visible"/>
                                      </p:to>
                                    </p:set>
                                    <p:animEffect transition="in" filter="dissolve">
                                      <p:cBhvr>
                                        <p:cTn id="139" dur="500"/>
                                        <p:tgtEl>
                                          <p:spTgt spid="51"/>
                                        </p:tgtEl>
                                      </p:cBhvr>
                                    </p:animEffect>
                                  </p:childTnLst>
                                </p:cTn>
                              </p:par>
                              <p:par>
                                <p:cTn id="140" presetID="9" presetClass="entr" presetSubtype="0" fill="hold" nodeType="withEffect">
                                  <p:stCondLst>
                                    <p:cond delay="0"/>
                                  </p:stCondLst>
                                  <p:childTnLst>
                                    <p:set>
                                      <p:cBhvr>
                                        <p:cTn id="141" dur="1" fill="hold">
                                          <p:stCondLst>
                                            <p:cond delay="0"/>
                                          </p:stCondLst>
                                        </p:cTn>
                                        <p:tgtEl>
                                          <p:spTgt spid="52"/>
                                        </p:tgtEl>
                                        <p:attrNameLst>
                                          <p:attrName>style.visibility</p:attrName>
                                        </p:attrNameLst>
                                      </p:cBhvr>
                                      <p:to>
                                        <p:strVal val="visible"/>
                                      </p:to>
                                    </p:set>
                                    <p:animEffect transition="in" filter="dissolve">
                                      <p:cBhvr>
                                        <p:cTn id="142" dur="500"/>
                                        <p:tgtEl>
                                          <p:spTgt spid="52"/>
                                        </p:tgtEl>
                                      </p:cBhvr>
                                    </p:animEffect>
                                  </p:childTnLst>
                                </p:cTn>
                              </p:par>
                              <p:par>
                                <p:cTn id="143" presetID="9" presetClass="entr" presetSubtype="0" fill="hold" grpId="0" nodeType="withEffect">
                                  <p:stCondLst>
                                    <p:cond delay="0"/>
                                  </p:stCondLst>
                                  <p:childTnLst>
                                    <p:set>
                                      <p:cBhvr>
                                        <p:cTn id="144" dur="1" fill="hold">
                                          <p:stCondLst>
                                            <p:cond delay="0"/>
                                          </p:stCondLst>
                                        </p:cTn>
                                        <p:tgtEl>
                                          <p:spTgt spid="53"/>
                                        </p:tgtEl>
                                        <p:attrNameLst>
                                          <p:attrName>style.visibility</p:attrName>
                                        </p:attrNameLst>
                                      </p:cBhvr>
                                      <p:to>
                                        <p:strVal val="visible"/>
                                      </p:to>
                                    </p:set>
                                    <p:animEffect transition="in" filter="dissolve">
                                      <p:cBhvr>
                                        <p:cTn id="145" dur="500"/>
                                        <p:tgtEl>
                                          <p:spTgt spid="53"/>
                                        </p:tgtEl>
                                      </p:cBhvr>
                                    </p:animEffect>
                                  </p:childTnLst>
                                </p:cTn>
                              </p:par>
                              <p:par>
                                <p:cTn id="146" presetID="9" presetClass="entr" presetSubtype="0" fill="hold" grpId="0" nodeType="withEffect">
                                  <p:stCondLst>
                                    <p:cond delay="0"/>
                                  </p:stCondLst>
                                  <p:childTnLst>
                                    <p:set>
                                      <p:cBhvr>
                                        <p:cTn id="147" dur="1" fill="hold">
                                          <p:stCondLst>
                                            <p:cond delay="0"/>
                                          </p:stCondLst>
                                        </p:cTn>
                                        <p:tgtEl>
                                          <p:spTgt spid="49"/>
                                        </p:tgtEl>
                                        <p:attrNameLst>
                                          <p:attrName>style.visibility</p:attrName>
                                        </p:attrNameLst>
                                      </p:cBhvr>
                                      <p:to>
                                        <p:strVal val="visible"/>
                                      </p:to>
                                    </p:set>
                                    <p:animEffect transition="in" filter="dissolve">
                                      <p:cBhvr>
                                        <p:cTn id="148" dur="500"/>
                                        <p:tgtEl>
                                          <p:spTgt spid="49"/>
                                        </p:tgtEl>
                                      </p:cBhvr>
                                    </p:animEffect>
                                  </p:childTnLst>
                                </p:cTn>
                              </p:par>
                            </p:childTnLst>
                          </p:cTn>
                        </p:par>
                      </p:childTnLst>
                    </p:cTn>
                  </p:par>
                  <p:par>
                    <p:cTn id="149" fill="hold">
                      <p:stCondLst>
                        <p:cond delay="indefinite"/>
                      </p:stCondLst>
                      <p:childTnLst>
                        <p:par>
                          <p:cTn id="150" fill="hold">
                            <p:stCondLst>
                              <p:cond delay="0"/>
                            </p:stCondLst>
                            <p:childTnLst>
                              <p:par>
                                <p:cTn id="151" presetID="9" presetClass="entr" presetSubtype="0" fill="hold" nodeType="clickEffect">
                                  <p:stCondLst>
                                    <p:cond delay="0"/>
                                  </p:stCondLst>
                                  <p:childTnLst>
                                    <p:set>
                                      <p:cBhvr>
                                        <p:cTn id="152" dur="1" fill="hold">
                                          <p:stCondLst>
                                            <p:cond delay="0"/>
                                          </p:stCondLst>
                                        </p:cTn>
                                        <p:tgtEl>
                                          <p:spTgt spid="73"/>
                                        </p:tgtEl>
                                        <p:attrNameLst>
                                          <p:attrName>style.visibility</p:attrName>
                                        </p:attrNameLst>
                                      </p:cBhvr>
                                      <p:to>
                                        <p:strVal val="visible"/>
                                      </p:to>
                                    </p:set>
                                    <p:animEffect transition="in" filter="dissolve">
                                      <p:cBhvr>
                                        <p:cTn id="153" dur="500"/>
                                        <p:tgtEl>
                                          <p:spTgt spid="73"/>
                                        </p:tgtEl>
                                      </p:cBhvr>
                                    </p:animEffect>
                                  </p:childTnLst>
                                </p:cTn>
                              </p:par>
                            </p:childTnLst>
                          </p:cTn>
                        </p:par>
                      </p:childTnLst>
                    </p:cTn>
                  </p:par>
                  <p:par>
                    <p:cTn id="154" fill="hold">
                      <p:stCondLst>
                        <p:cond delay="indefinite"/>
                      </p:stCondLst>
                      <p:childTnLst>
                        <p:par>
                          <p:cTn id="155" fill="hold">
                            <p:stCondLst>
                              <p:cond delay="0"/>
                            </p:stCondLst>
                            <p:childTnLst>
                              <p:par>
                                <p:cTn id="156" presetID="9" presetClass="entr" presetSubtype="0" fill="hold" nodeType="clickEffect">
                                  <p:stCondLst>
                                    <p:cond delay="0"/>
                                  </p:stCondLst>
                                  <p:childTnLst>
                                    <p:set>
                                      <p:cBhvr>
                                        <p:cTn id="157" dur="1" fill="hold">
                                          <p:stCondLst>
                                            <p:cond delay="0"/>
                                          </p:stCondLst>
                                        </p:cTn>
                                        <p:tgtEl>
                                          <p:spTgt spid="45">
                                            <p:txEl>
                                              <p:pRg st="0" end="0"/>
                                            </p:txEl>
                                          </p:spTgt>
                                        </p:tgtEl>
                                        <p:attrNameLst>
                                          <p:attrName>style.visibility</p:attrName>
                                        </p:attrNameLst>
                                      </p:cBhvr>
                                      <p:to>
                                        <p:strVal val="visible"/>
                                      </p:to>
                                    </p:set>
                                    <p:animEffect transition="in" filter="dissolve">
                                      <p:cBhvr>
                                        <p:cTn id="158" dur="500"/>
                                        <p:tgtEl>
                                          <p:spTgt spid="45">
                                            <p:txEl>
                                              <p:pRg st="0" end="0"/>
                                            </p:txEl>
                                          </p:spTgt>
                                        </p:tgtEl>
                                      </p:cBhvr>
                                    </p:animEffect>
                                  </p:childTnLst>
                                </p:cTn>
                              </p:par>
                            </p:childTnLst>
                          </p:cTn>
                        </p:par>
                      </p:childTnLst>
                    </p:cTn>
                  </p:par>
                  <p:par>
                    <p:cTn id="159" fill="hold">
                      <p:stCondLst>
                        <p:cond delay="indefinite"/>
                      </p:stCondLst>
                      <p:childTnLst>
                        <p:par>
                          <p:cTn id="160" fill="hold">
                            <p:stCondLst>
                              <p:cond delay="0"/>
                            </p:stCondLst>
                            <p:childTnLst>
                              <p:par>
                                <p:cTn id="161" presetID="1" presetClass="emph" presetSubtype="2" fill="hold" nodeType="clickEffect">
                                  <p:stCondLst>
                                    <p:cond delay="0"/>
                                  </p:stCondLst>
                                  <p:childTnLst>
                                    <p:animClr clrSpc="rgb" dir="cw">
                                      <p:cBhvr>
                                        <p:cTn id="162" dur="2000" fill="hold"/>
                                        <p:tgtEl>
                                          <p:spTgt spid="23"/>
                                        </p:tgtEl>
                                        <p:attrNameLst>
                                          <p:attrName>fillcolor</p:attrName>
                                        </p:attrNameLst>
                                      </p:cBhvr>
                                      <p:to>
                                        <a:schemeClr val="accent2"/>
                                      </p:to>
                                    </p:animClr>
                                    <p:set>
                                      <p:cBhvr>
                                        <p:cTn id="163" dur="2000" fill="hold"/>
                                        <p:tgtEl>
                                          <p:spTgt spid="23"/>
                                        </p:tgtEl>
                                        <p:attrNameLst>
                                          <p:attrName>fill.type</p:attrName>
                                        </p:attrNameLst>
                                      </p:cBhvr>
                                      <p:to>
                                        <p:strVal val="solid"/>
                                      </p:to>
                                    </p:set>
                                    <p:set>
                                      <p:cBhvr>
                                        <p:cTn id="164" dur="2000" fill="hold"/>
                                        <p:tgtEl>
                                          <p:spTgt spid="23"/>
                                        </p:tgtEl>
                                        <p:attrNameLst>
                                          <p:attrName>fill.on</p:attrName>
                                        </p:attrNameLst>
                                      </p:cBhvr>
                                      <p:to>
                                        <p:strVal val="true"/>
                                      </p:to>
                                    </p:set>
                                  </p:childTnLst>
                                </p:cTn>
                              </p:par>
                            </p:childTnLst>
                          </p:cTn>
                        </p:par>
                      </p:childTnLst>
                    </p:cTn>
                  </p:par>
                  <p:par>
                    <p:cTn id="165" fill="hold">
                      <p:stCondLst>
                        <p:cond delay="indefinite"/>
                      </p:stCondLst>
                      <p:childTnLst>
                        <p:par>
                          <p:cTn id="166" fill="hold">
                            <p:stCondLst>
                              <p:cond delay="0"/>
                            </p:stCondLst>
                            <p:childTnLst>
                              <p:par>
                                <p:cTn id="167" presetID="9" presetClass="entr" presetSubtype="0" fill="hold" nodeType="clickEffect">
                                  <p:stCondLst>
                                    <p:cond delay="0"/>
                                  </p:stCondLst>
                                  <p:childTnLst>
                                    <p:set>
                                      <p:cBhvr>
                                        <p:cTn id="168" dur="1" fill="hold">
                                          <p:stCondLst>
                                            <p:cond delay="0"/>
                                          </p:stCondLst>
                                        </p:cTn>
                                        <p:tgtEl>
                                          <p:spTgt spid="85"/>
                                        </p:tgtEl>
                                        <p:attrNameLst>
                                          <p:attrName>style.visibility</p:attrName>
                                        </p:attrNameLst>
                                      </p:cBhvr>
                                      <p:to>
                                        <p:strVal val="visible"/>
                                      </p:to>
                                    </p:set>
                                    <p:animEffect transition="in" filter="dissolve">
                                      <p:cBhvr>
                                        <p:cTn id="169" dur="500"/>
                                        <p:tgtEl>
                                          <p:spTgt spid="85"/>
                                        </p:tgtEl>
                                      </p:cBhvr>
                                    </p:animEffect>
                                  </p:childTnLst>
                                </p:cTn>
                              </p:par>
                            </p:childTnLst>
                          </p:cTn>
                        </p:par>
                      </p:childTnLst>
                    </p:cTn>
                  </p:par>
                  <p:par>
                    <p:cTn id="170" fill="hold">
                      <p:stCondLst>
                        <p:cond delay="indefinite"/>
                      </p:stCondLst>
                      <p:childTnLst>
                        <p:par>
                          <p:cTn id="171" fill="hold">
                            <p:stCondLst>
                              <p:cond delay="0"/>
                            </p:stCondLst>
                            <p:childTnLst>
                              <p:par>
                                <p:cTn id="172" presetID="9" presetClass="entr" presetSubtype="0" fill="hold" nodeType="clickEffect">
                                  <p:stCondLst>
                                    <p:cond delay="0"/>
                                  </p:stCondLst>
                                  <p:childTnLst>
                                    <p:set>
                                      <p:cBhvr>
                                        <p:cTn id="173" dur="1" fill="hold">
                                          <p:stCondLst>
                                            <p:cond delay="0"/>
                                          </p:stCondLst>
                                        </p:cTn>
                                        <p:tgtEl>
                                          <p:spTgt spid="57">
                                            <p:txEl>
                                              <p:pRg st="0" end="0"/>
                                            </p:txEl>
                                          </p:spTgt>
                                        </p:tgtEl>
                                        <p:attrNameLst>
                                          <p:attrName>style.visibility</p:attrName>
                                        </p:attrNameLst>
                                      </p:cBhvr>
                                      <p:to>
                                        <p:strVal val="visible"/>
                                      </p:to>
                                    </p:set>
                                    <p:animEffect transition="in" filter="dissolve">
                                      <p:cBhvr>
                                        <p:cTn id="174" dur="500"/>
                                        <p:tgtEl>
                                          <p:spTgt spid="57">
                                            <p:txEl>
                                              <p:pRg st="0" end="0"/>
                                            </p:txEl>
                                          </p:spTgt>
                                        </p:tgtEl>
                                      </p:cBhvr>
                                    </p:animEffect>
                                  </p:childTnLst>
                                </p:cTn>
                              </p:par>
                            </p:childTnLst>
                          </p:cTn>
                        </p:par>
                      </p:childTnLst>
                    </p:cTn>
                  </p:par>
                  <p:par>
                    <p:cTn id="175" fill="hold">
                      <p:stCondLst>
                        <p:cond delay="indefinite"/>
                      </p:stCondLst>
                      <p:childTnLst>
                        <p:par>
                          <p:cTn id="176" fill="hold">
                            <p:stCondLst>
                              <p:cond delay="0"/>
                            </p:stCondLst>
                            <p:childTnLst>
                              <p:par>
                                <p:cTn id="177" presetID="9" presetClass="entr" presetSubtype="0" fill="hold" nodeType="clickEffect">
                                  <p:stCondLst>
                                    <p:cond delay="0"/>
                                  </p:stCondLst>
                                  <p:childTnLst>
                                    <p:set>
                                      <p:cBhvr>
                                        <p:cTn id="178" dur="1" fill="hold">
                                          <p:stCondLst>
                                            <p:cond delay="0"/>
                                          </p:stCondLst>
                                        </p:cTn>
                                        <p:tgtEl>
                                          <p:spTgt spid="45">
                                            <p:txEl>
                                              <p:pRg st="1" end="1"/>
                                            </p:txEl>
                                          </p:spTgt>
                                        </p:tgtEl>
                                        <p:attrNameLst>
                                          <p:attrName>style.visibility</p:attrName>
                                        </p:attrNameLst>
                                      </p:cBhvr>
                                      <p:to>
                                        <p:strVal val="visible"/>
                                      </p:to>
                                    </p:set>
                                    <p:animEffect transition="in" filter="dissolve">
                                      <p:cBhvr>
                                        <p:cTn id="179" dur="500"/>
                                        <p:tgtEl>
                                          <p:spTgt spid="45">
                                            <p:txEl>
                                              <p:pRg st="1" end="1"/>
                                            </p:txEl>
                                          </p:spTgt>
                                        </p:tgtEl>
                                      </p:cBhvr>
                                    </p:animEffect>
                                  </p:childTnLst>
                                </p:cTn>
                              </p:par>
                            </p:childTnLst>
                          </p:cTn>
                        </p:par>
                      </p:childTnLst>
                    </p:cTn>
                  </p:par>
                  <p:par>
                    <p:cTn id="180" fill="hold">
                      <p:stCondLst>
                        <p:cond delay="indefinite"/>
                      </p:stCondLst>
                      <p:childTnLst>
                        <p:par>
                          <p:cTn id="181" fill="hold">
                            <p:stCondLst>
                              <p:cond delay="0"/>
                            </p:stCondLst>
                            <p:childTnLst>
                              <p:par>
                                <p:cTn id="182" presetID="7" presetClass="emph" presetSubtype="2" fill="hold" nodeType="clickEffect">
                                  <p:stCondLst>
                                    <p:cond delay="0"/>
                                  </p:stCondLst>
                                  <p:childTnLst>
                                    <p:animClr clrSpc="rgb" dir="cw">
                                      <p:cBhvr>
                                        <p:cTn id="183" dur="2000" fill="hold"/>
                                        <p:tgtEl>
                                          <p:spTgt spid="19"/>
                                        </p:tgtEl>
                                        <p:attrNameLst>
                                          <p:attrName>stroke.color</p:attrName>
                                        </p:attrNameLst>
                                      </p:cBhvr>
                                      <p:to>
                                        <a:schemeClr val="accent2"/>
                                      </p:to>
                                    </p:animClr>
                                    <p:set>
                                      <p:cBhvr>
                                        <p:cTn id="184" dur="2000" fill="hold"/>
                                        <p:tgtEl>
                                          <p:spTgt spid="19"/>
                                        </p:tgtEl>
                                        <p:attrNameLst>
                                          <p:attrName>stroke.on</p:attrName>
                                        </p:attrNameLst>
                                      </p:cBhvr>
                                      <p:to>
                                        <p:strVal val="true"/>
                                      </p:to>
                                    </p:set>
                                  </p:childTnLst>
                                </p:cTn>
                              </p:par>
                              <p:par>
                                <p:cTn id="185" presetID="7" presetClass="emph" presetSubtype="2" fill="hold" nodeType="withEffect">
                                  <p:stCondLst>
                                    <p:cond delay="0"/>
                                  </p:stCondLst>
                                  <p:childTnLst>
                                    <p:animClr clrSpc="rgb" dir="cw">
                                      <p:cBhvr>
                                        <p:cTn id="186" dur="2000" fill="hold"/>
                                        <p:tgtEl>
                                          <p:spTgt spid="17"/>
                                        </p:tgtEl>
                                        <p:attrNameLst>
                                          <p:attrName>stroke.color</p:attrName>
                                        </p:attrNameLst>
                                      </p:cBhvr>
                                      <p:to>
                                        <a:schemeClr val="accent2"/>
                                      </p:to>
                                    </p:animClr>
                                    <p:set>
                                      <p:cBhvr>
                                        <p:cTn id="187" dur="2000" fill="hold"/>
                                        <p:tgtEl>
                                          <p:spTgt spid="17"/>
                                        </p:tgtEl>
                                        <p:attrNameLst>
                                          <p:attrName>stroke.on</p:attrName>
                                        </p:attrNameLst>
                                      </p:cBhvr>
                                      <p:to>
                                        <p:strVal val="true"/>
                                      </p:to>
                                    </p:set>
                                  </p:childTnLst>
                                </p:cTn>
                              </p:par>
                              <p:par>
                                <p:cTn id="188" presetID="7" presetClass="emph" presetSubtype="2" fill="hold" nodeType="withEffect">
                                  <p:stCondLst>
                                    <p:cond delay="0"/>
                                  </p:stCondLst>
                                  <p:childTnLst>
                                    <p:animClr clrSpc="rgb" dir="cw">
                                      <p:cBhvr>
                                        <p:cTn id="189" dur="2000" fill="hold"/>
                                        <p:tgtEl>
                                          <p:spTgt spid="10"/>
                                        </p:tgtEl>
                                        <p:attrNameLst>
                                          <p:attrName>stroke.color</p:attrName>
                                        </p:attrNameLst>
                                      </p:cBhvr>
                                      <p:to>
                                        <a:schemeClr val="accent2"/>
                                      </p:to>
                                    </p:animClr>
                                    <p:set>
                                      <p:cBhvr>
                                        <p:cTn id="190" dur="2000" fill="hold"/>
                                        <p:tgtEl>
                                          <p:spTgt spid="10"/>
                                        </p:tgtEl>
                                        <p:attrNameLst>
                                          <p:attrName>stroke.on</p:attrName>
                                        </p:attrNameLst>
                                      </p:cBhvr>
                                      <p:to>
                                        <p:strVal val="true"/>
                                      </p:to>
                                    </p:set>
                                  </p:childTnLst>
                                </p:cTn>
                              </p:par>
                            </p:childTnLst>
                          </p:cTn>
                        </p:par>
                      </p:childTnLst>
                    </p:cTn>
                  </p:par>
                  <p:par>
                    <p:cTn id="191" fill="hold">
                      <p:stCondLst>
                        <p:cond delay="indefinite"/>
                      </p:stCondLst>
                      <p:childTnLst>
                        <p:par>
                          <p:cTn id="192" fill="hold">
                            <p:stCondLst>
                              <p:cond delay="0"/>
                            </p:stCondLst>
                            <p:childTnLst>
                              <p:par>
                                <p:cTn id="193" presetID="9" presetClass="entr" presetSubtype="0" fill="hold" nodeType="clickEffect">
                                  <p:stCondLst>
                                    <p:cond delay="0"/>
                                  </p:stCondLst>
                                  <p:childTnLst>
                                    <p:set>
                                      <p:cBhvr>
                                        <p:cTn id="194" dur="1" fill="hold">
                                          <p:stCondLst>
                                            <p:cond delay="0"/>
                                          </p:stCondLst>
                                        </p:cTn>
                                        <p:tgtEl>
                                          <p:spTgt spid="54"/>
                                        </p:tgtEl>
                                        <p:attrNameLst>
                                          <p:attrName>style.visibility</p:attrName>
                                        </p:attrNameLst>
                                      </p:cBhvr>
                                      <p:to>
                                        <p:strVal val="visible"/>
                                      </p:to>
                                    </p:set>
                                    <p:animEffect transition="in" filter="dissolve">
                                      <p:cBhvr>
                                        <p:cTn id="195" dur="500"/>
                                        <p:tgtEl>
                                          <p:spTgt spid="54"/>
                                        </p:tgtEl>
                                      </p:cBhvr>
                                    </p:animEffect>
                                  </p:childTnLst>
                                </p:cTn>
                              </p:par>
                              <p:par>
                                <p:cTn id="196" presetID="9" presetClass="entr" presetSubtype="0" fill="hold" nodeType="withEffect">
                                  <p:stCondLst>
                                    <p:cond delay="0"/>
                                  </p:stCondLst>
                                  <p:childTnLst>
                                    <p:set>
                                      <p:cBhvr>
                                        <p:cTn id="197" dur="1" fill="hold">
                                          <p:stCondLst>
                                            <p:cond delay="0"/>
                                          </p:stCondLst>
                                        </p:cTn>
                                        <p:tgtEl>
                                          <p:spTgt spid="56"/>
                                        </p:tgtEl>
                                        <p:attrNameLst>
                                          <p:attrName>style.visibility</p:attrName>
                                        </p:attrNameLst>
                                      </p:cBhvr>
                                      <p:to>
                                        <p:strVal val="visible"/>
                                      </p:to>
                                    </p:set>
                                    <p:animEffect transition="in" filter="dissolve">
                                      <p:cBhvr>
                                        <p:cTn id="198" dur="500"/>
                                        <p:tgtEl>
                                          <p:spTgt spid="56"/>
                                        </p:tgtEl>
                                      </p:cBhvr>
                                    </p:animEffect>
                                  </p:childTnLst>
                                </p:cTn>
                              </p:par>
                              <p:par>
                                <p:cTn id="199" presetID="9" presetClass="entr" presetSubtype="0" fill="hold" nodeType="withEffect">
                                  <p:stCondLst>
                                    <p:cond delay="0"/>
                                  </p:stCondLst>
                                  <p:childTnLst>
                                    <p:set>
                                      <p:cBhvr>
                                        <p:cTn id="200" dur="1" fill="hold">
                                          <p:stCondLst>
                                            <p:cond delay="0"/>
                                          </p:stCondLst>
                                        </p:cTn>
                                        <p:tgtEl>
                                          <p:spTgt spid="55"/>
                                        </p:tgtEl>
                                        <p:attrNameLst>
                                          <p:attrName>style.visibility</p:attrName>
                                        </p:attrNameLst>
                                      </p:cBhvr>
                                      <p:to>
                                        <p:strVal val="visible"/>
                                      </p:to>
                                    </p:set>
                                    <p:animEffect transition="in" filter="dissolve">
                                      <p:cBhvr>
                                        <p:cTn id="201" dur="500"/>
                                        <p:tgtEl>
                                          <p:spTgt spid="55"/>
                                        </p:tgtEl>
                                      </p:cBhvr>
                                    </p:animEffect>
                                  </p:childTnLst>
                                </p:cTn>
                              </p:par>
                            </p:childTnLst>
                          </p:cTn>
                        </p:par>
                      </p:childTnLst>
                    </p:cTn>
                  </p:par>
                  <p:par>
                    <p:cTn id="202" fill="hold">
                      <p:stCondLst>
                        <p:cond delay="indefinite"/>
                      </p:stCondLst>
                      <p:childTnLst>
                        <p:par>
                          <p:cTn id="203" fill="hold">
                            <p:stCondLst>
                              <p:cond delay="0"/>
                            </p:stCondLst>
                            <p:childTnLst>
                              <p:par>
                                <p:cTn id="204" presetID="9" presetClass="entr" presetSubtype="0" fill="hold" nodeType="clickEffect">
                                  <p:stCondLst>
                                    <p:cond delay="0"/>
                                  </p:stCondLst>
                                  <p:childTnLst>
                                    <p:set>
                                      <p:cBhvr>
                                        <p:cTn id="205" dur="1" fill="hold">
                                          <p:stCondLst>
                                            <p:cond delay="0"/>
                                          </p:stCondLst>
                                        </p:cTn>
                                        <p:tgtEl>
                                          <p:spTgt spid="57">
                                            <p:txEl>
                                              <p:pRg st="1" end="1"/>
                                            </p:txEl>
                                          </p:spTgt>
                                        </p:tgtEl>
                                        <p:attrNameLst>
                                          <p:attrName>style.visibility</p:attrName>
                                        </p:attrNameLst>
                                      </p:cBhvr>
                                      <p:to>
                                        <p:strVal val="visible"/>
                                      </p:to>
                                    </p:set>
                                    <p:animEffect transition="in" filter="dissolve">
                                      <p:cBhvr>
                                        <p:cTn id="206" dur="500"/>
                                        <p:tgtEl>
                                          <p:spTgt spid="57">
                                            <p:txEl>
                                              <p:pRg st="1" end="1"/>
                                            </p:txEl>
                                          </p:spTgt>
                                        </p:tgtEl>
                                      </p:cBhvr>
                                    </p:animEffect>
                                  </p:childTnLst>
                                </p:cTn>
                              </p:par>
                              <p:par>
                                <p:cTn id="207" presetID="9" presetClass="entr" presetSubtype="0" fill="hold" nodeType="withEffect">
                                  <p:stCondLst>
                                    <p:cond delay="0"/>
                                  </p:stCondLst>
                                  <p:childTnLst>
                                    <p:set>
                                      <p:cBhvr>
                                        <p:cTn id="208" dur="1" fill="hold">
                                          <p:stCondLst>
                                            <p:cond delay="0"/>
                                          </p:stCondLst>
                                        </p:cTn>
                                        <p:tgtEl>
                                          <p:spTgt spid="57">
                                            <p:txEl>
                                              <p:pRg st="4" end="4"/>
                                            </p:txEl>
                                          </p:spTgt>
                                        </p:tgtEl>
                                        <p:attrNameLst>
                                          <p:attrName>style.visibility</p:attrName>
                                        </p:attrNameLst>
                                      </p:cBhvr>
                                      <p:to>
                                        <p:strVal val="visible"/>
                                      </p:to>
                                    </p:set>
                                    <p:animEffect transition="in" filter="dissolve">
                                      <p:cBhvr>
                                        <p:cTn id="209" dur="500"/>
                                        <p:tgtEl>
                                          <p:spTgt spid="57">
                                            <p:txEl>
                                              <p:pRg st="4" end="4"/>
                                            </p:txEl>
                                          </p:spTgt>
                                        </p:tgtEl>
                                      </p:cBhvr>
                                    </p:animEffect>
                                  </p:childTnLst>
                                </p:cTn>
                              </p:par>
                              <p:par>
                                <p:cTn id="210" presetID="9" presetClass="entr" presetSubtype="0" fill="hold" nodeType="withEffect">
                                  <p:stCondLst>
                                    <p:cond delay="0"/>
                                  </p:stCondLst>
                                  <p:childTnLst>
                                    <p:set>
                                      <p:cBhvr>
                                        <p:cTn id="211" dur="1" fill="hold">
                                          <p:stCondLst>
                                            <p:cond delay="0"/>
                                          </p:stCondLst>
                                        </p:cTn>
                                        <p:tgtEl>
                                          <p:spTgt spid="57">
                                            <p:txEl>
                                              <p:pRg st="7" end="7"/>
                                            </p:txEl>
                                          </p:spTgt>
                                        </p:tgtEl>
                                        <p:attrNameLst>
                                          <p:attrName>style.visibility</p:attrName>
                                        </p:attrNameLst>
                                      </p:cBhvr>
                                      <p:to>
                                        <p:strVal val="visible"/>
                                      </p:to>
                                    </p:set>
                                    <p:animEffect transition="in" filter="dissolve">
                                      <p:cBhvr>
                                        <p:cTn id="212" dur="500"/>
                                        <p:tgtEl>
                                          <p:spTgt spid="57">
                                            <p:txEl>
                                              <p:pRg st="7" end="7"/>
                                            </p:txEl>
                                          </p:spTgt>
                                        </p:tgtEl>
                                      </p:cBhvr>
                                    </p:animEffect>
                                  </p:childTnLst>
                                </p:cTn>
                              </p:par>
                            </p:childTnLst>
                          </p:cTn>
                        </p:par>
                      </p:childTnLst>
                    </p:cTn>
                  </p:par>
                  <p:par>
                    <p:cTn id="213" fill="hold">
                      <p:stCondLst>
                        <p:cond delay="indefinite"/>
                      </p:stCondLst>
                      <p:childTnLst>
                        <p:par>
                          <p:cTn id="214" fill="hold">
                            <p:stCondLst>
                              <p:cond delay="0"/>
                            </p:stCondLst>
                            <p:childTnLst>
                              <p:par>
                                <p:cTn id="215" presetID="9" presetClass="entr" presetSubtype="0" fill="hold" nodeType="clickEffect">
                                  <p:stCondLst>
                                    <p:cond delay="0"/>
                                  </p:stCondLst>
                                  <p:childTnLst>
                                    <p:set>
                                      <p:cBhvr>
                                        <p:cTn id="216" dur="1" fill="hold">
                                          <p:stCondLst>
                                            <p:cond delay="0"/>
                                          </p:stCondLst>
                                        </p:cTn>
                                        <p:tgtEl>
                                          <p:spTgt spid="59"/>
                                        </p:tgtEl>
                                        <p:attrNameLst>
                                          <p:attrName>style.visibility</p:attrName>
                                        </p:attrNameLst>
                                      </p:cBhvr>
                                      <p:to>
                                        <p:strVal val="visible"/>
                                      </p:to>
                                    </p:set>
                                    <p:animEffect transition="in" filter="dissolve">
                                      <p:cBhvr>
                                        <p:cTn id="217" dur="500"/>
                                        <p:tgtEl>
                                          <p:spTgt spid="59"/>
                                        </p:tgtEl>
                                      </p:cBhvr>
                                    </p:animEffect>
                                  </p:childTnLst>
                                </p:cTn>
                              </p:par>
                              <p:par>
                                <p:cTn id="218" presetID="9" presetClass="entr" presetSubtype="0" fill="hold" nodeType="withEffect">
                                  <p:stCondLst>
                                    <p:cond delay="0"/>
                                  </p:stCondLst>
                                  <p:childTnLst>
                                    <p:set>
                                      <p:cBhvr>
                                        <p:cTn id="219" dur="1" fill="hold">
                                          <p:stCondLst>
                                            <p:cond delay="0"/>
                                          </p:stCondLst>
                                        </p:cTn>
                                        <p:tgtEl>
                                          <p:spTgt spid="61"/>
                                        </p:tgtEl>
                                        <p:attrNameLst>
                                          <p:attrName>style.visibility</p:attrName>
                                        </p:attrNameLst>
                                      </p:cBhvr>
                                      <p:to>
                                        <p:strVal val="visible"/>
                                      </p:to>
                                    </p:set>
                                    <p:animEffect transition="in" filter="dissolve">
                                      <p:cBhvr>
                                        <p:cTn id="220" dur="500"/>
                                        <p:tgtEl>
                                          <p:spTgt spid="61"/>
                                        </p:tgtEl>
                                      </p:cBhvr>
                                    </p:animEffect>
                                  </p:childTnLst>
                                </p:cTn>
                              </p:par>
                              <p:par>
                                <p:cTn id="221" presetID="9" presetClass="entr" presetSubtype="0" fill="hold" nodeType="withEffect">
                                  <p:stCondLst>
                                    <p:cond delay="0"/>
                                  </p:stCondLst>
                                  <p:childTnLst>
                                    <p:set>
                                      <p:cBhvr>
                                        <p:cTn id="222" dur="1" fill="hold">
                                          <p:stCondLst>
                                            <p:cond delay="0"/>
                                          </p:stCondLst>
                                        </p:cTn>
                                        <p:tgtEl>
                                          <p:spTgt spid="60"/>
                                        </p:tgtEl>
                                        <p:attrNameLst>
                                          <p:attrName>style.visibility</p:attrName>
                                        </p:attrNameLst>
                                      </p:cBhvr>
                                      <p:to>
                                        <p:strVal val="visible"/>
                                      </p:to>
                                    </p:set>
                                    <p:animEffect transition="in" filter="dissolve">
                                      <p:cBhvr>
                                        <p:cTn id="223" dur="500"/>
                                        <p:tgtEl>
                                          <p:spTgt spid="60"/>
                                        </p:tgtEl>
                                      </p:cBhvr>
                                    </p:animEffect>
                                  </p:childTnLst>
                                </p:cTn>
                              </p:par>
                            </p:childTnLst>
                          </p:cTn>
                        </p:par>
                      </p:childTnLst>
                    </p:cTn>
                  </p:par>
                  <p:par>
                    <p:cTn id="224" fill="hold">
                      <p:stCondLst>
                        <p:cond delay="indefinite"/>
                      </p:stCondLst>
                      <p:childTnLst>
                        <p:par>
                          <p:cTn id="225" fill="hold">
                            <p:stCondLst>
                              <p:cond delay="0"/>
                            </p:stCondLst>
                            <p:childTnLst>
                              <p:par>
                                <p:cTn id="226" presetID="9" presetClass="entr" presetSubtype="0" fill="hold" nodeType="clickEffect">
                                  <p:stCondLst>
                                    <p:cond delay="0"/>
                                  </p:stCondLst>
                                  <p:childTnLst>
                                    <p:set>
                                      <p:cBhvr>
                                        <p:cTn id="227" dur="1" fill="hold">
                                          <p:stCondLst>
                                            <p:cond delay="0"/>
                                          </p:stCondLst>
                                        </p:cTn>
                                        <p:tgtEl>
                                          <p:spTgt spid="58">
                                            <p:txEl>
                                              <p:pRg st="1" end="1"/>
                                            </p:txEl>
                                          </p:spTgt>
                                        </p:tgtEl>
                                        <p:attrNameLst>
                                          <p:attrName>style.visibility</p:attrName>
                                        </p:attrNameLst>
                                      </p:cBhvr>
                                      <p:to>
                                        <p:strVal val="visible"/>
                                      </p:to>
                                    </p:set>
                                    <p:animEffect transition="in" filter="dissolve">
                                      <p:cBhvr>
                                        <p:cTn id="228" dur="500"/>
                                        <p:tgtEl>
                                          <p:spTgt spid="58">
                                            <p:txEl>
                                              <p:pRg st="1" end="1"/>
                                            </p:txEl>
                                          </p:spTgt>
                                        </p:tgtEl>
                                      </p:cBhvr>
                                    </p:animEffect>
                                  </p:childTnLst>
                                </p:cTn>
                              </p:par>
                              <p:par>
                                <p:cTn id="229" presetID="9" presetClass="entr" presetSubtype="0" fill="hold" nodeType="withEffect">
                                  <p:stCondLst>
                                    <p:cond delay="0"/>
                                  </p:stCondLst>
                                  <p:childTnLst>
                                    <p:set>
                                      <p:cBhvr>
                                        <p:cTn id="230" dur="1" fill="hold">
                                          <p:stCondLst>
                                            <p:cond delay="0"/>
                                          </p:stCondLst>
                                        </p:cTn>
                                        <p:tgtEl>
                                          <p:spTgt spid="58">
                                            <p:txEl>
                                              <p:pRg st="4" end="4"/>
                                            </p:txEl>
                                          </p:spTgt>
                                        </p:tgtEl>
                                        <p:attrNameLst>
                                          <p:attrName>style.visibility</p:attrName>
                                        </p:attrNameLst>
                                      </p:cBhvr>
                                      <p:to>
                                        <p:strVal val="visible"/>
                                      </p:to>
                                    </p:set>
                                    <p:animEffect transition="in" filter="dissolve">
                                      <p:cBhvr>
                                        <p:cTn id="231" dur="500"/>
                                        <p:tgtEl>
                                          <p:spTgt spid="58">
                                            <p:txEl>
                                              <p:pRg st="4" end="4"/>
                                            </p:txEl>
                                          </p:spTgt>
                                        </p:tgtEl>
                                      </p:cBhvr>
                                    </p:animEffect>
                                  </p:childTnLst>
                                </p:cTn>
                              </p:par>
                              <p:par>
                                <p:cTn id="232" presetID="9" presetClass="entr" presetSubtype="0" fill="hold" nodeType="withEffect">
                                  <p:stCondLst>
                                    <p:cond delay="0"/>
                                  </p:stCondLst>
                                  <p:childTnLst>
                                    <p:set>
                                      <p:cBhvr>
                                        <p:cTn id="233" dur="1" fill="hold">
                                          <p:stCondLst>
                                            <p:cond delay="0"/>
                                          </p:stCondLst>
                                        </p:cTn>
                                        <p:tgtEl>
                                          <p:spTgt spid="58">
                                            <p:txEl>
                                              <p:pRg st="7" end="7"/>
                                            </p:txEl>
                                          </p:spTgt>
                                        </p:tgtEl>
                                        <p:attrNameLst>
                                          <p:attrName>style.visibility</p:attrName>
                                        </p:attrNameLst>
                                      </p:cBhvr>
                                      <p:to>
                                        <p:strVal val="visible"/>
                                      </p:to>
                                    </p:set>
                                    <p:animEffect transition="in" filter="dissolve">
                                      <p:cBhvr>
                                        <p:cTn id="234" dur="500"/>
                                        <p:tgtEl>
                                          <p:spTgt spid="58">
                                            <p:txEl>
                                              <p:pRg st="7" end="7"/>
                                            </p:txEl>
                                          </p:spTgt>
                                        </p:tgtEl>
                                      </p:cBhvr>
                                    </p:animEffect>
                                  </p:childTnLst>
                                </p:cTn>
                              </p:par>
                            </p:childTnLst>
                          </p:cTn>
                        </p:par>
                      </p:childTnLst>
                    </p:cTn>
                  </p:par>
                  <p:par>
                    <p:cTn id="235" fill="hold">
                      <p:stCondLst>
                        <p:cond delay="indefinite"/>
                      </p:stCondLst>
                      <p:childTnLst>
                        <p:par>
                          <p:cTn id="236" fill="hold">
                            <p:stCondLst>
                              <p:cond delay="0"/>
                            </p:stCondLst>
                            <p:childTnLst>
                              <p:par>
                                <p:cTn id="237" presetID="9" presetClass="entr" presetSubtype="0" fill="hold" nodeType="clickEffect">
                                  <p:stCondLst>
                                    <p:cond delay="0"/>
                                  </p:stCondLst>
                                  <p:childTnLst>
                                    <p:set>
                                      <p:cBhvr>
                                        <p:cTn id="238" dur="1" fill="hold">
                                          <p:stCondLst>
                                            <p:cond delay="0"/>
                                          </p:stCondLst>
                                        </p:cTn>
                                        <p:tgtEl>
                                          <p:spTgt spid="74"/>
                                        </p:tgtEl>
                                        <p:attrNameLst>
                                          <p:attrName>style.visibility</p:attrName>
                                        </p:attrNameLst>
                                      </p:cBhvr>
                                      <p:to>
                                        <p:strVal val="visible"/>
                                      </p:to>
                                    </p:set>
                                    <p:animEffect transition="in" filter="dissolve">
                                      <p:cBhvr>
                                        <p:cTn id="239" dur="500"/>
                                        <p:tgtEl>
                                          <p:spTgt spid="74"/>
                                        </p:tgtEl>
                                      </p:cBhvr>
                                    </p:animEffect>
                                  </p:childTnLst>
                                </p:cTn>
                              </p:par>
                            </p:childTnLst>
                          </p:cTn>
                        </p:par>
                      </p:childTnLst>
                    </p:cTn>
                  </p:par>
                  <p:par>
                    <p:cTn id="240" fill="hold">
                      <p:stCondLst>
                        <p:cond delay="indefinite"/>
                      </p:stCondLst>
                      <p:childTnLst>
                        <p:par>
                          <p:cTn id="241" fill="hold">
                            <p:stCondLst>
                              <p:cond delay="0"/>
                            </p:stCondLst>
                            <p:childTnLst>
                              <p:par>
                                <p:cTn id="242" presetID="9" presetClass="entr" presetSubtype="0" fill="hold" nodeType="clickEffect">
                                  <p:stCondLst>
                                    <p:cond delay="0"/>
                                  </p:stCondLst>
                                  <p:childTnLst>
                                    <p:set>
                                      <p:cBhvr>
                                        <p:cTn id="243" dur="1" fill="hold">
                                          <p:stCondLst>
                                            <p:cond delay="0"/>
                                          </p:stCondLst>
                                        </p:cTn>
                                        <p:tgtEl>
                                          <p:spTgt spid="45">
                                            <p:txEl>
                                              <p:pRg st="2" end="2"/>
                                            </p:txEl>
                                          </p:spTgt>
                                        </p:tgtEl>
                                        <p:attrNameLst>
                                          <p:attrName>style.visibility</p:attrName>
                                        </p:attrNameLst>
                                      </p:cBhvr>
                                      <p:to>
                                        <p:strVal val="visible"/>
                                      </p:to>
                                    </p:set>
                                    <p:animEffect transition="in" filter="dissolve">
                                      <p:cBhvr>
                                        <p:cTn id="244" dur="500"/>
                                        <p:tgtEl>
                                          <p:spTgt spid="45">
                                            <p:txEl>
                                              <p:pRg st="2" end="2"/>
                                            </p:txEl>
                                          </p:spTgt>
                                        </p:tgtEl>
                                      </p:cBhvr>
                                    </p:animEffect>
                                  </p:childTnLst>
                                </p:cTn>
                              </p:par>
                            </p:childTnLst>
                          </p:cTn>
                        </p:par>
                      </p:childTnLst>
                    </p:cTn>
                  </p:par>
                  <p:par>
                    <p:cTn id="245" fill="hold">
                      <p:stCondLst>
                        <p:cond delay="indefinite"/>
                      </p:stCondLst>
                      <p:childTnLst>
                        <p:par>
                          <p:cTn id="246" fill="hold">
                            <p:stCondLst>
                              <p:cond delay="0"/>
                            </p:stCondLst>
                            <p:childTnLst>
                              <p:par>
                                <p:cTn id="247" presetID="1" presetClass="emph" presetSubtype="2" fill="hold" nodeType="clickEffect">
                                  <p:stCondLst>
                                    <p:cond delay="0"/>
                                  </p:stCondLst>
                                  <p:childTnLst>
                                    <p:animClr clrSpc="rgb" dir="cw">
                                      <p:cBhvr>
                                        <p:cTn id="248" dur="2000" fill="hold"/>
                                        <p:tgtEl>
                                          <p:spTgt spid="5"/>
                                        </p:tgtEl>
                                        <p:attrNameLst>
                                          <p:attrName>fillcolor</p:attrName>
                                        </p:attrNameLst>
                                      </p:cBhvr>
                                      <p:to>
                                        <a:schemeClr val="accent2"/>
                                      </p:to>
                                    </p:animClr>
                                    <p:set>
                                      <p:cBhvr>
                                        <p:cTn id="249" dur="2000" fill="hold"/>
                                        <p:tgtEl>
                                          <p:spTgt spid="5"/>
                                        </p:tgtEl>
                                        <p:attrNameLst>
                                          <p:attrName>fill.type</p:attrName>
                                        </p:attrNameLst>
                                      </p:cBhvr>
                                      <p:to>
                                        <p:strVal val="solid"/>
                                      </p:to>
                                    </p:set>
                                    <p:set>
                                      <p:cBhvr>
                                        <p:cTn id="250" dur="2000" fill="hold"/>
                                        <p:tgtEl>
                                          <p:spTgt spid="5"/>
                                        </p:tgtEl>
                                        <p:attrNameLst>
                                          <p:attrName>fill.on</p:attrName>
                                        </p:attrNameLst>
                                      </p:cBhvr>
                                      <p:to>
                                        <p:strVal val="true"/>
                                      </p:to>
                                    </p:set>
                                  </p:childTnLst>
                                </p:cTn>
                              </p:par>
                            </p:childTnLst>
                          </p:cTn>
                        </p:par>
                      </p:childTnLst>
                    </p:cTn>
                  </p:par>
                  <p:par>
                    <p:cTn id="251" fill="hold">
                      <p:stCondLst>
                        <p:cond delay="indefinite"/>
                      </p:stCondLst>
                      <p:childTnLst>
                        <p:par>
                          <p:cTn id="252" fill="hold">
                            <p:stCondLst>
                              <p:cond delay="0"/>
                            </p:stCondLst>
                            <p:childTnLst>
                              <p:par>
                                <p:cTn id="253" presetID="9" presetClass="entr" presetSubtype="0" fill="hold" nodeType="clickEffect">
                                  <p:stCondLst>
                                    <p:cond delay="0"/>
                                  </p:stCondLst>
                                  <p:childTnLst>
                                    <p:set>
                                      <p:cBhvr>
                                        <p:cTn id="254" dur="1" fill="hold">
                                          <p:stCondLst>
                                            <p:cond delay="0"/>
                                          </p:stCondLst>
                                        </p:cTn>
                                        <p:tgtEl>
                                          <p:spTgt spid="45">
                                            <p:txEl>
                                              <p:pRg st="3" end="3"/>
                                            </p:txEl>
                                          </p:spTgt>
                                        </p:tgtEl>
                                        <p:attrNameLst>
                                          <p:attrName>style.visibility</p:attrName>
                                        </p:attrNameLst>
                                      </p:cBhvr>
                                      <p:to>
                                        <p:strVal val="visible"/>
                                      </p:to>
                                    </p:set>
                                    <p:animEffect transition="in" filter="dissolve">
                                      <p:cBhvr>
                                        <p:cTn id="255" dur="500"/>
                                        <p:tgtEl>
                                          <p:spTgt spid="45">
                                            <p:txEl>
                                              <p:pRg st="3" end="3"/>
                                            </p:txEl>
                                          </p:spTgt>
                                        </p:tgtEl>
                                      </p:cBhvr>
                                    </p:animEffect>
                                  </p:childTnLst>
                                </p:cTn>
                              </p:par>
                            </p:childTnLst>
                          </p:cTn>
                        </p:par>
                      </p:childTnLst>
                    </p:cTn>
                  </p:par>
                  <p:par>
                    <p:cTn id="256" fill="hold">
                      <p:stCondLst>
                        <p:cond delay="indefinite"/>
                      </p:stCondLst>
                      <p:childTnLst>
                        <p:par>
                          <p:cTn id="257" fill="hold">
                            <p:stCondLst>
                              <p:cond delay="0"/>
                            </p:stCondLst>
                            <p:childTnLst>
                              <p:par>
                                <p:cTn id="258" presetID="7" presetClass="emph" presetSubtype="2" fill="hold" nodeType="clickEffect">
                                  <p:stCondLst>
                                    <p:cond delay="0"/>
                                  </p:stCondLst>
                                  <p:childTnLst>
                                    <p:animClr clrSpc="rgb" dir="cw">
                                      <p:cBhvr>
                                        <p:cTn id="259" dur="2000" fill="hold"/>
                                        <p:tgtEl>
                                          <p:spTgt spid="11"/>
                                        </p:tgtEl>
                                        <p:attrNameLst>
                                          <p:attrName>stroke.color</p:attrName>
                                        </p:attrNameLst>
                                      </p:cBhvr>
                                      <p:to>
                                        <a:schemeClr val="accent2"/>
                                      </p:to>
                                    </p:animClr>
                                    <p:set>
                                      <p:cBhvr>
                                        <p:cTn id="260" dur="2000" fill="hold"/>
                                        <p:tgtEl>
                                          <p:spTgt spid="11"/>
                                        </p:tgtEl>
                                        <p:attrNameLst>
                                          <p:attrName>stroke.on</p:attrName>
                                        </p:attrNameLst>
                                      </p:cBhvr>
                                      <p:to>
                                        <p:strVal val="true"/>
                                      </p:to>
                                    </p:set>
                                  </p:childTnLst>
                                </p:cTn>
                              </p:par>
                              <p:par>
                                <p:cTn id="261" presetID="7" presetClass="emph" presetSubtype="2" fill="hold" nodeType="withEffect">
                                  <p:stCondLst>
                                    <p:cond delay="0"/>
                                  </p:stCondLst>
                                  <p:childTnLst>
                                    <p:animClr clrSpc="rgb" dir="cw">
                                      <p:cBhvr>
                                        <p:cTn id="262" dur="2000" fill="hold"/>
                                        <p:tgtEl>
                                          <p:spTgt spid="6"/>
                                        </p:tgtEl>
                                        <p:attrNameLst>
                                          <p:attrName>stroke.color</p:attrName>
                                        </p:attrNameLst>
                                      </p:cBhvr>
                                      <p:to>
                                        <a:schemeClr val="accent2"/>
                                      </p:to>
                                    </p:animClr>
                                    <p:set>
                                      <p:cBhvr>
                                        <p:cTn id="263" dur="2000" fill="hold"/>
                                        <p:tgtEl>
                                          <p:spTgt spid="6"/>
                                        </p:tgtEl>
                                        <p:attrNameLst>
                                          <p:attrName>stroke.on</p:attrName>
                                        </p:attrNameLst>
                                      </p:cBhvr>
                                      <p:to>
                                        <p:strVal val="true"/>
                                      </p:to>
                                    </p:set>
                                  </p:childTnLst>
                                </p:cTn>
                              </p:par>
                              <p:par>
                                <p:cTn id="264" presetID="7" presetClass="emph" presetSubtype="2" fill="hold" nodeType="withEffect">
                                  <p:stCondLst>
                                    <p:cond delay="0"/>
                                  </p:stCondLst>
                                  <p:childTnLst>
                                    <p:animClr clrSpc="rgb" dir="cw">
                                      <p:cBhvr>
                                        <p:cTn id="265" dur="2000" fill="hold"/>
                                        <p:tgtEl>
                                          <p:spTgt spid="9"/>
                                        </p:tgtEl>
                                        <p:attrNameLst>
                                          <p:attrName>stroke.color</p:attrName>
                                        </p:attrNameLst>
                                      </p:cBhvr>
                                      <p:to>
                                        <a:schemeClr val="accent2"/>
                                      </p:to>
                                    </p:animClr>
                                    <p:set>
                                      <p:cBhvr>
                                        <p:cTn id="266" dur="2000" fill="hold"/>
                                        <p:tgtEl>
                                          <p:spTgt spid="9"/>
                                        </p:tgtEl>
                                        <p:attrNameLst>
                                          <p:attrName>stroke.on</p:attrName>
                                        </p:attrNameLst>
                                      </p:cBhvr>
                                      <p:to>
                                        <p:strVal val="true"/>
                                      </p:to>
                                    </p:set>
                                  </p:childTnLst>
                                </p:cTn>
                              </p:par>
                            </p:childTnLst>
                          </p:cTn>
                        </p:par>
                      </p:childTnLst>
                    </p:cTn>
                  </p:par>
                  <p:par>
                    <p:cTn id="267" fill="hold">
                      <p:stCondLst>
                        <p:cond delay="indefinite"/>
                      </p:stCondLst>
                      <p:childTnLst>
                        <p:par>
                          <p:cTn id="268" fill="hold">
                            <p:stCondLst>
                              <p:cond delay="0"/>
                            </p:stCondLst>
                            <p:childTnLst>
                              <p:par>
                                <p:cTn id="269" presetID="9" presetClass="entr" presetSubtype="0" fill="hold" nodeType="clickEffect">
                                  <p:stCondLst>
                                    <p:cond delay="0"/>
                                  </p:stCondLst>
                                  <p:childTnLst>
                                    <p:set>
                                      <p:cBhvr>
                                        <p:cTn id="270" dur="1" fill="hold">
                                          <p:stCondLst>
                                            <p:cond delay="0"/>
                                          </p:stCondLst>
                                        </p:cTn>
                                        <p:tgtEl>
                                          <p:spTgt spid="63"/>
                                        </p:tgtEl>
                                        <p:attrNameLst>
                                          <p:attrName>style.visibility</p:attrName>
                                        </p:attrNameLst>
                                      </p:cBhvr>
                                      <p:to>
                                        <p:strVal val="visible"/>
                                      </p:to>
                                    </p:set>
                                    <p:animEffect transition="in" filter="dissolve">
                                      <p:cBhvr>
                                        <p:cTn id="271" dur="500"/>
                                        <p:tgtEl>
                                          <p:spTgt spid="63"/>
                                        </p:tgtEl>
                                      </p:cBhvr>
                                    </p:animEffect>
                                  </p:childTnLst>
                                </p:cTn>
                              </p:par>
                              <p:par>
                                <p:cTn id="272" presetID="9" presetClass="entr" presetSubtype="0" fill="hold" nodeType="withEffect">
                                  <p:stCondLst>
                                    <p:cond delay="0"/>
                                  </p:stCondLst>
                                  <p:childTnLst>
                                    <p:set>
                                      <p:cBhvr>
                                        <p:cTn id="273" dur="1" fill="hold">
                                          <p:stCondLst>
                                            <p:cond delay="0"/>
                                          </p:stCondLst>
                                        </p:cTn>
                                        <p:tgtEl>
                                          <p:spTgt spid="62"/>
                                        </p:tgtEl>
                                        <p:attrNameLst>
                                          <p:attrName>style.visibility</p:attrName>
                                        </p:attrNameLst>
                                      </p:cBhvr>
                                      <p:to>
                                        <p:strVal val="visible"/>
                                      </p:to>
                                    </p:set>
                                    <p:animEffect transition="in" filter="dissolve">
                                      <p:cBhvr>
                                        <p:cTn id="274" dur="500"/>
                                        <p:tgtEl>
                                          <p:spTgt spid="62"/>
                                        </p:tgtEl>
                                      </p:cBhvr>
                                    </p:animEffect>
                                  </p:childTnLst>
                                </p:cTn>
                              </p:par>
                            </p:childTnLst>
                          </p:cTn>
                        </p:par>
                      </p:childTnLst>
                    </p:cTn>
                  </p:par>
                  <p:par>
                    <p:cTn id="275" fill="hold">
                      <p:stCondLst>
                        <p:cond delay="indefinite"/>
                      </p:stCondLst>
                      <p:childTnLst>
                        <p:par>
                          <p:cTn id="276" fill="hold">
                            <p:stCondLst>
                              <p:cond delay="0"/>
                            </p:stCondLst>
                            <p:childTnLst>
                              <p:par>
                                <p:cTn id="277" presetID="9" presetClass="entr" presetSubtype="0" fill="hold" nodeType="clickEffect">
                                  <p:stCondLst>
                                    <p:cond delay="0"/>
                                  </p:stCondLst>
                                  <p:childTnLst>
                                    <p:set>
                                      <p:cBhvr>
                                        <p:cTn id="278" dur="1" fill="hold">
                                          <p:stCondLst>
                                            <p:cond delay="0"/>
                                          </p:stCondLst>
                                        </p:cTn>
                                        <p:tgtEl>
                                          <p:spTgt spid="57">
                                            <p:txEl>
                                              <p:pRg st="2" end="2"/>
                                            </p:txEl>
                                          </p:spTgt>
                                        </p:tgtEl>
                                        <p:attrNameLst>
                                          <p:attrName>style.visibility</p:attrName>
                                        </p:attrNameLst>
                                      </p:cBhvr>
                                      <p:to>
                                        <p:strVal val="visible"/>
                                      </p:to>
                                    </p:set>
                                    <p:animEffect transition="in" filter="dissolve">
                                      <p:cBhvr>
                                        <p:cTn id="279" dur="500"/>
                                        <p:tgtEl>
                                          <p:spTgt spid="57">
                                            <p:txEl>
                                              <p:pRg st="2" end="2"/>
                                            </p:txEl>
                                          </p:spTgt>
                                        </p:tgtEl>
                                      </p:cBhvr>
                                    </p:animEffect>
                                  </p:childTnLst>
                                </p:cTn>
                              </p:par>
                              <p:par>
                                <p:cTn id="280" presetID="9" presetClass="entr" presetSubtype="0" fill="hold" nodeType="withEffect">
                                  <p:stCondLst>
                                    <p:cond delay="0"/>
                                  </p:stCondLst>
                                  <p:childTnLst>
                                    <p:set>
                                      <p:cBhvr>
                                        <p:cTn id="281" dur="1" fill="hold">
                                          <p:stCondLst>
                                            <p:cond delay="0"/>
                                          </p:stCondLst>
                                        </p:cTn>
                                        <p:tgtEl>
                                          <p:spTgt spid="57">
                                            <p:txEl>
                                              <p:pRg st="3" end="3"/>
                                            </p:txEl>
                                          </p:spTgt>
                                        </p:tgtEl>
                                        <p:attrNameLst>
                                          <p:attrName>style.visibility</p:attrName>
                                        </p:attrNameLst>
                                      </p:cBhvr>
                                      <p:to>
                                        <p:strVal val="visible"/>
                                      </p:to>
                                    </p:set>
                                    <p:animEffect transition="in" filter="dissolve">
                                      <p:cBhvr>
                                        <p:cTn id="282" dur="500"/>
                                        <p:tgtEl>
                                          <p:spTgt spid="57">
                                            <p:txEl>
                                              <p:pRg st="3" end="3"/>
                                            </p:txEl>
                                          </p:spTgt>
                                        </p:tgtEl>
                                      </p:cBhvr>
                                    </p:animEffect>
                                  </p:childTnLst>
                                </p:cTn>
                              </p:par>
                            </p:childTnLst>
                          </p:cTn>
                        </p:par>
                      </p:childTnLst>
                    </p:cTn>
                  </p:par>
                  <p:par>
                    <p:cTn id="283" fill="hold">
                      <p:stCondLst>
                        <p:cond delay="indefinite"/>
                      </p:stCondLst>
                      <p:childTnLst>
                        <p:par>
                          <p:cTn id="284" fill="hold">
                            <p:stCondLst>
                              <p:cond delay="0"/>
                            </p:stCondLst>
                            <p:childTnLst>
                              <p:par>
                                <p:cTn id="285" presetID="9" presetClass="entr" presetSubtype="0" fill="hold" nodeType="clickEffect">
                                  <p:stCondLst>
                                    <p:cond delay="0"/>
                                  </p:stCondLst>
                                  <p:childTnLst>
                                    <p:set>
                                      <p:cBhvr>
                                        <p:cTn id="286" dur="1" fill="hold">
                                          <p:stCondLst>
                                            <p:cond delay="0"/>
                                          </p:stCondLst>
                                        </p:cTn>
                                        <p:tgtEl>
                                          <p:spTgt spid="64"/>
                                        </p:tgtEl>
                                        <p:attrNameLst>
                                          <p:attrName>style.visibility</p:attrName>
                                        </p:attrNameLst>
                                      </p:cBhvr>
                                      <p:to>
                                        <p:strVal val="visible"/>
                                      </p:to>
                                    </p:set>
                                    <p:animEffect transition="in" filter="dissolve">
                                      <p:cBhvr>
                                        <p:cTn id="287" dur="500"/>
                                        <p:tgtEl>
                                          <p:spTgt spid="64"/>
                                        </p:tgtEl>
                                      </p:cBhvr>
                                    </p:animEffect>
                                  </p:childTnLst>
                                </p:cTn>
                              </p:par>
                              <p:par>
                                <p:cTn id="288" presetID="9" presetClass="entr" presetSubtype="0" fill="hold" nodeType="withEffect">
                                  <p:stCondLst>
                                    <p:cond delay="0"/>
                                  </p:stCondLst>
                                  <p:childTnLst>
                                    <p:set>
                                      <p:cBhvr>
                                        <p:cTn id="289" dur="1" fill="hold">
                                          <p:stCondLst>
                                            <p:cond delay="0"/>
                                          </p:stCondLst>
                                        </p:cTn>
                                        <p:tgtEl>
                                          <p:spTgt spid="65"/>
                                        </p:tgtEl>
                                        <p:attrNameLst>
                                          <p:attrName>style.visibility</p:attrName>
                                        </p:attrNameLst>
                                      </p:cBhvr>
                                      <p:to>
                                        <p:strVal val="visible"/>
                                      </p:to>
                                    </p:set>
                                    <p:animEffect transition="in" filter="dissolve">
                                      <p:cBhvr>
                                        <p:cTn id="290" dur="500"/>
                                        <p:tgtEl>
                                          <p:spTgt spid="65"/>
                                        </p:tgtEl>
                                      </p:cBhvr>
                                    </p:animEffect>
                                  </p:childTnLst>
                                </p:cTn>
                              </p:par>
                            </p:childTnLst>
                          </p:cTn>
                        </p:par>
                      </p:childTnLst>
                    </p:cTn>
                  </p:par>
                  <p:par>
                    <p:cTn id="291" fill="hold">
                      <p:stCondLst>
                        <p:cond delay="indefinite"/>
                      </p:stCondLst>
                      <p:childTnLst>
                        <p:par>
                          <p:cTn id="292" fill="hold">
                            <p:stCondLst>
                              <p:cond delay="0"/>
                            </p:stCondLst>
                            <p:childTnLst>
                              <p:par>
                                <p:cTn id="293" presetID="9" presetClass="entr" presetSubtype="0" fill="hold" nodeType="clickEffect">
                                  <p:stCondLst>
                                    <p:cond delay="0"/>
                                  </p:stCondLst>
                                  <p:childTnLst>
                                    <p:set>
                                      <p:cBhvr>
                                        <p:cTn id="294" dur="1" fill="hold">
                                          <p:stCondLst>
                                            <p:cond delay="0"/>
                                          </p:stCondLst>
                                        </p:cTn>
                                        <p:tgtEl>
                                          <p:spTgt spid="58">
                                            <p:txEl>
                                              <p:pRg st="2" end="2"/>
                                            </p:txEl>
                                          </p:spTgt>
                                        </p:tgtEl>
                                        <p:attrNameLst>
                                          <p:attrName>style.visibility</p:attrName>
                                        </p:attrNameLst>
                                      </p:cBhvr>
                                      <p:to>
                                        <p:strVal val="visible"/>
                                      </p:to>
                                    </p:set>
                                    <p:animEffect transition="in" filter="dissolve">
                                      <p:cBhvr>
                                        <p:cTn id="295" dur="500"/>
                                        <p:tgtEl>
                                          <p:spTgt spid="58">
                                            <p:txEl>
                                              <p:pRg st="2" end="2"/>
                                            </p:txEl>
                                          </p:spTgt>
                                        </p:tgtEl>
                                      </p:cBhvr>
                                    </p:animEffect>
                                  </p:childTnLst>
                                </p:cTn>
                              </p:par>
                              <p:par>
                                <p:cTn id="296" presetID="9" presetClass="entr" presetSubtype="0" fill="hold" nodeType="withEffect">
                                  <p:stCondLst>
                                    <p:cond delay="0"/>
                                  </p:stCondLst>
                                  <p:childTnLst>
                                    <p:set>
                                      <p:cBhvr>
                                        <p:cTn id="297" dur="1" fill="hold">
                                          <p:stCondLst>
                                            <p:cond delay="0"/>
                                          </p:stCondLst>
                                        </p:cTn>
                                        <p:tgtEl>
                                          <p:spTgt spid="58">
                                            <p:txEl>
                                              <p:pRg st="3" end="3"/>
                                            </p:txEl>
                                          </p:spTgt>
                                        </p:tgtEl>
                                        <p:attrNameLst>
                                          <p:attrName>style.visibility</p:attrName>
                                        </p:attrNameLst>
                                      </p:cBhvr>
                                      <p:to>
                                        <p:strVal val="visible"/>
                                      </p:to>
                                    </p:set>
                                    <p:animEffect transition="in" filter="dissolve">
                                      <p:cBhvr>
                                        <p:cTn id="298" dur="500"/>
                                        <p:tgtEl>
                                          <p:spTgt spid="58">
                                            <p:txEl>
                                              <p:pRg st="3" end="3"/>
                                            </p:txEl>
                                          </p:spTgt>
                                        </p:tgtEl>
                                      </p:cBhvr>
                                    </p:animEffect>
                                  </p:childTnLst>
                                </p:cTn>
                              </p:par>
                            </p:childTnLst>
                          </p:cTn>
                        </p:par>
                      </p:childTnLst>
                    </p:cTn>
                  </p:par>
                  <p:par>
                    <p:cTn id="299" fill="hold">
                      <p:stCondLst>
                        <p:cond delay="indefinite"/>
                      </p:stCondLst>
                      <p:childTnLst>
                        <p:par>
                          <p:cTn id="300" fill="hold">
                            <p:stCondLst>
                              <p:cond delay="0"/>
                            </p:stCondLst>
                            <p:childTnLst>
                              <p:par>
                                <p:cTn id="301" presetID="9" presetClass="entr" presetSubtype="0" fill="hold" nodeType="clickEffect">
                                  <p:stCondLst>
                                    <p:cond delay="0"/>
                                  </p:stCondLst>
                                  <p:childTnLst>
                                    <p:set>
                                      <p:cBhvr>
                                        <p:cTn id="302" dur="1" fill="hold">
                                          <p:stCondLst>
                                            <p:cond delay="0"/>
                                          </p:stCondLst>
                                        </p:cTn>
                                        <p:tgtEl>
                                          <p:spTgt spid="80"/>
                                        </p:tgtEl>
                                        <p:attrNameLst>
                                          <p:attrName>style.visibility</p:attrName>
                                        </p:attrNameLst>
                                      </p:cBhvr>
                                      <p:to>
                                        <p:strVal val="visible"/>
                                      </p:to>
                                    </p:set>
                                    <p:animEffect transition="in" filter="dissolve">
                                      <p:cBhvr>
                                        <p:cTn id="303" dur="500"/>
                                        <p:tgtEl>
                                          <p:spTgt spid="80"/>
                                        </p:tgtEl>
                                      </p:cBhvr>
                                    </p:animEffect>
                                  </p:childTnLst>
                                </p:cTn>
                              </p:par>
                            </p:childTnLst>
                          </p:cTn>
                        </p:par>
                      </p:childTnLst>
                    </p:cTn>
                  </p:par>
                  <p:par>
                    <p:cTn id="304" fill="hold">
                      <p:stCondLst>
                        <p:cond delay="indefinite"/>
                      </p:stCondLst>
                      <p:childTnLst>
                        <p:par>
                          <p:cTn id="305" fill="hold">
                            <p:stCondLst>
                              <p:cond delay="0"/>
                            </p:stCondLst>
                            <p:childTnLst>
                              <p:par>
                                <p:cTn id="306" presetID="9" presetClass="entr" presetSubtype="0" fill="hold" nodeType="clickEffect">
                                  <p:stCondLst>
                                    <p:cond delay="0"/>
                                  </p:stCondLst>
                                  <p:childTnLst>
                                    <p:set>
                                      <p:cBhvr>
                                        <p:cTn id="307" dur="1" fill="hold">
                                          <p:stCondLst>
                                            <p:cond delay="0"/>
                                          </p:stCondLst>
                                        </p:cTn>
                                        <p:tgtEl>
                                          <p:spTgt spid="66">
                                            <p:txEl>
                                              <p:pRg st="0" end="0"/>
                                            </p:txEl>
                                          </p:spTgt>
                                        </p:tgtEl>
                                        <p:attrNameLst>
                                          <p:attrName>style.visibility</p:attrName>
                                        </p:attrNameLst>
                                      </p:cBhvr>
                                      <p:to>
                                        <p:strVal val="visible"/>
                                      </p:to>
                                    </p:set>
                                    <p:animEffect transition="in" filter="dissolve">
                                      <p:cBhvr>
                                        <p:cTn id="308" dur="500"/>
                                        <p:tgtEl>
                                          <p:spTgt spid="66">
                                            <p:txEl>
                                              <p:pRg st="0" end="0"/>
                                            </p:txEl>
                                          </p:spTgt>
                                        </p:tgtEl>
                                      </p:cBhvr>
                                    </p:animEffect>
                                  </p:childTnLst>
                                </p:cTn>
                              </p:par>
                            </p:childTnLst>
                          </p:cTn>
                        </p:par>
                      </p:childTnLst>
                    </p:cTn>
                  </p:par>
                  <p:par>
                    <p:cTn id="309" fill="hold">
                      <p:stCondLst>
                        <p:cond delay="indefinite"/>
                      </p:stCondLst>
                      <p:childTnLst>
                        <p:par>
                          <p:cTn id="310" fill="hold">
                            <p:stCondLst>
                              <p:cond delay="0"/>
                            </p:stCondLst>
                            <p:childTnLst>
                              <p:par>
                                <p:cTn id="311" presetID="1" presetClass="emph" presetSubtype="2" fill="hold" nodeType="clickEffect">
                                  <p:stCondLst>
                                    <p:cond delay="0"/>
                                  </p:stCondLst>
                                  <p:childTnLst>
                                    <p:animClr clrSpc="rgb" dir="cw">
                                      <p:cBhvr>
                                        <p:cTn id="312" dur="2000" fill="hold"/>
                                        <p:tgtEl>
                                          <p:spTgt spid="26"/>
                                        </p:tgtEl>
                                        <p:attrNameLst>
                                          <p:attrName>fillcolor</p:attrName>
                                        </p:attrNameLst>
                                      </p:cBhvr>
                                      <p:to>
                                        <a:schemeClr val="accent2"/>
                                      </p:to>
                                    </p:animClr>
                                    <p:set>
                                      <p:cBhvr>
                                        <p:cTn id="313" dur="2000" fill="hold"/>
                                        <p:tgtEl>
                                          <p:spTgt spid="26"/>
                                        </p:tgtEl>
                                        <p:attrNameLst>
                                          <p:attrName>fill.type</p:attrName>
                                        </p:attrNameLst>
                                      </p:cBhvr>
                                      <p:to>
                                        <p:strVal val="solid"/>
                                      </p:to>
                                    </p:set>
                                    <p:set>
                                      <p:cBhvr>
                                        <p:cTn id="314" dur="2000" fill="hold"/>
                                        <p:tgtEl>
                                          <p:spTgt spid="26"/>
                                        </p:tgtEl>
                                        <p:attrNameLst>
                                          <p:attrName>fill.on</p:attrName>
                                        </p:attrNameLst>
                                      </p:cBhvr>
                                      <p:to>
                                        <p:strVal val="true"/>
                                      </p:to>
                                    </p:set>
                                  </p:childTnLst>
                                </p:cTn>
                              </p:par>
                            </p:childTnLst>
                          </p:cTn>
                        </p:par>
                      </p:childTnLst>
                    </p:cTn>
                  </p:par>
                  <p:par>
                    <p:cTn id="315" fill="hold">
                      <p:stCondLst>
                        <p:cond delay="indefinite"/>
                      </p:stCondLst>
                      <p:childTnLst>
                        <p:par>
                          <p:cTn id="316" fill="hold">
                            <p:stCondLst>
                              <p:cond delay="0"/>
                            </p:stCondLst>
                            <p:childTnLst>
                              <p:par>
                                <p:cTn id="317" presetID="9" presetClass="entr" presetSubtype="0" fill="hold" nodeType="clickEffect">
                                  <p:stCondLst>
                                    <p:cond delay="0"/>
                                  </p:stCondLst>
                                  <p:childTnLst>
                                    <p:set>
                                      <p:cBhvr>
                                        <p:cTn id="318" dur="1" fill="hold">
                                          <p:stCondLst>
                                            <p:cond delay="0"/>
                                          </p:stCondLst>
                                        </p:cTn>
                                        <p:tgtEl>
                                          <p:spTgt spid="66">
                                            <p:txEl>
                                              <p:pRg st="1" end="1"/>
                                            </p:txEl>
                                          </p:spTgt>
                                        </p:tgtEl>
                                        <p:attrNameLst>
                                          <p:attrName>style.visibility</p:attrName>
                                        </p:attrNameLst>
                                      </p:cBhvr>
                                      <p:to>
                                        <p:strVal val="visible"/>
                                      </p:to>
                                    </p:set>
                                    <p:animEffect transition="in" filter="dissolve">
                                      <p:cBhvr>
                                        <p:cTn id="319" dur="500"/>
                                        <p:tgtEl>
                                          <p:spTgt spid="66">
                                            <p:txEl>
                                              <p:pRg st="1" end="1"/>
                                            </p:txEl>
                                          </p:spTgt>
                                        </p:tgtEl>
                                      </p:cBhvr>
                                    </p:animEffect>
                                  </p:childTnLst>
                                </p:cTn>
                              </p:par>
                            </p:childTnLst>
                          </p:cTn>
                        </p:par>
                      </p:childTnLst>
                    </p:cTn>
                  </p:par>
                  <p:par>
                    <p:cTn id="320" fill="hold">
                      <p:stCondLst>
                        <p:cond delay="indefinite"/>
                      </p:stCondLst>
                      <p:childTnLst>
                        <p:par>
                          <p:cTn id="321" fill="hold">
                            <p:stCondLst>
                              <p:cond delay="0"/>
                            </p:stCondLst>
                            <p:childTnLst>
                              <p:par>
                                <p:cTn id="322" presetID="7" presetClass="emph" presetSubtype="2" fill="hold" nodeType="clickEffect">
                                  <p:stCondLst>
                                    <p:cond delay="0"/>
                                  </p:stCondLst>
                                  <p:childTnLst>
                                    <p:animClr clrSpc="rgb" dir="cw">
                                      <p:cBhvr>
                                        <p:cTn id="323" dur="2000" fill="hold"/>
                                        <p:tgtEl>
                                          <p:spTgt spid="18"/>
                                        </p:tgtEl>
                                        <p:attrNameLst>
                                          <p:attrName>stroke.color</p:attrName>
                                        </p:attrNameLst>
                                      </p:cBhvr>
                                      <p:to>
                                        <a:schemeClr val="accent2"/>
                                      </p:to>
                                    </p:animClr>
                                    <p:set>
                                      <p:cBhvr>
                                        <p:cTn id="324" dur="2000" fill="hold"/>
                                        <p:tgtEl>
                                          <p:spTgt spid="18"/>
                                        </p:tgtEl>
                                        <p:attrNameLst>
                                          <p:attrName>stroke.on</p:attrName>
                                        </p:attrNameLst>
                                      </p:cBhvr>
                                      <p:to>
                                        <p:strVal val="true"/>
                                      </p:to>
                                    </p:set>
                                  </p:childTnLst>
                                </p:cTn>
                              </p:par>
                              <p:par>
                                <p:cTn id="325" presetID="7" presetClass="emph" presetSubtype="2" fill="hold" nodeType="withEffect">
                                  <p:stCondLst>
                                    <p:cond delay="0"/>
                                  </p:stCondLst>
                                  <p:childTnLst>
                                    <p:animClr clrSpc="rgb" dir="cw">
                                      <p:cBhvr>
                                        <p:cTn id="326" dur="2000" fill="hold"/>
                                        <p:tgtEl>
                                          <p:spTgt spid="12"/>
                                        </p:tgtEl>
                                        <p:attrNameLst>
                                          <p:attrName>stroke.color</p:attrName>
                                        </p:attrNameLst>
                                      </p:cBhvr>
                                      <p:to>
                                        <a:schemeClr val="accent2"/>
                                      </p:to>
                                    </p:animClr>
                                    <p:set>
                                      <p:cBhvr>
                                        <p:cTn id="327" dur="2000" fill="hold"/>
                                        <p:tgtEl>
                                          <p:spTgt spid="12"/>
                                        </p:tgtEl>
                                        <p:attrNameLst>
                                          <p:attrName>stroke.on</p:attrName>
                                        </p:attrNameLst>
                                      </p:cBhvr>
                                      <p:to>
                                        <p:strVal val="true"/>
                                      </p:to>
                                    </p:set>
                                  </p:childTnLst>
                                </p:cTn>
                              </p:par>
                            </p:childTnLst>
                          </p:cTn>
                        </p:par>
                      </p:childTnLst>
                    </p:cTn>
                  </p:par>
                  <p:par>
                    <p:cTn id="328" fill="hold">
                      <p:stCondLst>
                        <p:cond delay="indefinite"/>
                      </p:stCondLst>
                      <p:childTnLst>
                        <p:par>
                          <p:cTn id="329" fill="hold">
                            <p:stCondLst>
                              <p:cond delay="0"/>
                            </p:stCondLst>
                            <p:childTnLst>
                              <p:par>
                                <p:cTn id="330" presetID="9" presetClass="entr" presetSubtype="0" fill="hold" nodeType="clickEffect">
                                  <p:stCondLst>
                                    <p:cond delay="0"/>
                                  </p:stCondLst>
                                  <p:childTnLst>
                                    <p:set>
                                      <p:cBhvr>
                                        <p:cTn id="331" dur="1" fill="hold">
                                          <p:stCondLst>
                                            <p:cond delay="0"/>
                                          </p:stCondLst>
                                        </p:cTn>
                                        <p:tgtEl>
                                          <p:spTgt spid="69"/>
                                        </p:tgtEl>
                                        <p:attrNameLst>
                                          <p:attrName>style.visibility</p:attrName>
                                        </p:attrNameLst>
                                      </p:cBhvr>
                                      <p:to>
                                        <p:strVal val="visible"/>
                                      </p:to>
                                    </p:set>
                                    <p:animEffect transition="in" filter="dissolve">
                                      <p:cBhvr>
                                        <p:cTn id="332" dur="500"/>
                                        <p:tgtEl>
                                          <p:spTgt spid="69"/>
                                        </p:tgtEl>
                                      </p:cBhvr>
                                    </p:animEffect>
                                  </p:childTnLst>
                                </p:cTn>
                              </p:par>
                              <p:par>
                                <p:cTn id="333" presetID="9" presetClass="entr" presetSubtype="0" fill="hold" nodeType="withEffect">
                                  <p:stCondLst>
                                    <p:cond delay="0"/>
                                  </p:stCondLst>
                                  <p:childTnLst>
                                    <p:set>
                                      <p:cBhvr>
                                        <p:cTn id="334" dur="1" fill="hold">
                                          <p:stCondLst>
                                            <p:cond delay="0"/>
                                          </p:stCondLst>
                                        </p:cTn>
                                        <p:tgtEl>
                                          <p:spTgt spid="68"/>
                                        </p:tgtEl>
                                        <p:attrNameLst>
                                          <p:attrName>style.visibility</p:attrName>
                                        </p:attrNameLst>
                                      </p:cBhvr>
                                      <p:to>
                                        <p:strVal val="visible"/>
                                      </p:to>
                                    </p:set>
                                    <p:animEffect transition="in" filter="dissolve">
                                      <p:cBhvr>
                                        <p:cTn id="335" dur="500"/>
                                        <p:tgtEl>
                                          <p:spTgt spid="68"/>
                                        </p:tgtEl>
                                      </p:cBhvr>
                                    </p:animEffect>
                                  </p:childTnLst>
                                </p:cTn>
                              </p:par>
                            </p:childTnLst>
                          </p:cTn>
                        </p:par>
                      </p:childTnLst>
                    </p:cTn>
                  </p:par>
                  <p:par>
                    <p:cTn id="336" fill="hold">
                      <p:stCondLst>
                        <p:cond delay="indefinite"/>
                      </p:stCondLst>
                      <p:childTnLst>
                        <p:par>
                          <p:cTn id="337" fill="hold">
                            <p:stCondLst>
                              <p:cond delay="0"/>
                            </p:stCondLst>
                            <p:childTnLst>
                              <p:par>
                                <p:cTn id="338" presetID="9" presetClass="entr" presetSubtype="0" fill="hold" nodeType="clickEffect">
                                  <p:stCondLst>
                                    <p:cond delay="0"/>
                                  </p:stCondLst>
                                  <p:childTnLst>
                                    <p:set>
                                      <p:cBhvr>
                                        <p:cTn id="339" dur="1" fill="hold">
                                          <p:stCondLst>
                                            <p:cond delay="0"/>
                                          </p:stCondLst>
                                        </p:cTn>
                                        <p:tgtEl>
                                          <p:spTgt spid="57">
                                            <p:txEl>
                                              <p:pRg st="5" end="5"/>
                                            </p:txEl>
                                          </p:spTgt>
                                        </p:tgtEl>
                                        <p:attrNameLst>
                                          <p:attrName>style.visibility</p:attrName>
                                        </p:attrNameLst>
                                      </p:cBhvr>
                                      <p:to>
                                        <p:strVal val="visible"/>
                                      </p:to>
                                    </p:set>
                                    <p:animEffect transition="in" filter="dissolve">
                                      <p:cBhvr>
                                        <p:cTn id="340" dur="500"/>
                                        <p:tgtEl>
                                          <p:spTgt spid="57">
                                            <p:txEl>
                                              <p:pRg st="5" end="5"/>
                                            </p:txEl>
                                          </p:spTgt>
                                        </p:tgtEl>
                                      </p:cBhvr>
                                    </p:animEffect>
                                  </p:childTnLst>
                                </p:cTn>
                              </p:par>
                              <p:par>
                                <p:cTn id="341" presetID="9" presetClass="entr" presetSubtype="0" fill="hold" nodeType="withEffect">
                                  <p:stCondLst>
                                    <p:cond delay="0"/>
                                  </p:stCondLst>
                                  <p:childTnLst>
                                    <p:set>
                                      <p:cBhvr>
                                        <p:cTn id="342" dur="1" fill="hold">
                                          <p:stCondLst>
                                            <p:cond delay="0"/>
                                          </p:stCondLst>
                                        </p:cTn>
                                        <p:tgtEl>
                                          <p:spTgt spid="67">
                                            <p:txEl>
                                              <p:pRg st="2" end="2"/>
                                            </p:txEl>
                                          </p:spTgt>
                                        </p:tgtEl>
                                        <p:attrNameLst>
                                          <p:attrName>style.visibility</p:attrName>
                                        </p:attrNameLst>
                                      </p:cBhvr>
                                      <p:to>
                                        <p:strVal val="visible"/>
                                      </p:to>
                                    </p:set>
                                    <p:animEffect transition="in" filter="dissolve">
                                      <p:cBhvr>
                                        <p:cTn id="343" dur="500"/>
                                        <p:tgtEl>
                                          <p:spTgt spid="67">
                                            <p:txEl>
                                              <p:pRg st="2" end="2"/>
                                            </p:txEl>
                                          </p:spTgt>
                                        </p:tgtEl>
                                      </p:cBhvr>
                                    </p:animEffect>
                                  </p:childTnLst>
                                </p:cTn>
                              </p:par>
                            </p:childTnLst>
                          </p:cTn>
                        </p:par>
                      </p:childTnLst>
                    </p:cTn>
                  </p:par>
                  <p:par>
                    <p:cTn id="344" fill="hold">
                      <p:stCondLst>
                        <p:cond delay="indefinite"/>
                      </p:stCondLst>
                      <p:childTnLst>
                        <p:par>
                          <p:cTn id="345" fill="hold">
                            <p:stCondLst>
                              <p:cond delay="0"/>
                            </p:stCondLst>
                            <p:childTnLst>
                              <p:par>
                                <p:cTn id="346" presetID="9" presetClass="entr" presetSubtype="0" fill="hold" nodeType="clickEffect">
                                  <p:stCondLst>
                                    <p:cond delay="0"/>
                                  </p:stCondLst>
                                  <p:childTnLst>
                                    <p:set>
                                      <p:cBhvr>
                                        <p:cTn id="347" dur="1" fill="hold">
                                          <p:stCondLst>
                                            <p:cond delay="0"/>
                                          </p:stCondLst>
                                        </p:cTn>
                                        <p:tgtEl>
                                          <p:spTgt spid="71"/>
                                        </p:tgtEl>
                                        <p:attrNameLst>
                                          <p:attrName>style.visibility</p:attrName>
                                        </p:attrNameLst>
                                      </p:cBhvr>
                                      <p:to>
                                        <p:strVal val="visible"/>
                                      </p:to>
                                    </p:set>
                                    <p:animEffect transition="in" filter="dissolve">
                                      <p:cBhvr>
                                        <p:cTn id="348" dur="500"/>
                                        <p:tgtEl>
                                          <p:spTgt spid="71"/>
                                        </p:tgtEl>
                                      </p:cBhvr>
                                    </p:animEffect>
                                  </p:childTnLst>
                                </p:cTn>
                              </p:par>
                              <p:par>
                                <p:cTn id="349" presetID="9" presetClass="entr" presetSubtype="0" fill="hold" nodeType="withEffect">
                                  <p:stCondLst>
                                    <p:cond delay="0"/>
                                  </p:stCondLst>
                                  <p:childTnLst>
                                    <p:set>
                                      <p:cBhvr>
                                        <p:cTn id="350" dur="1" fill="hold">
                                          <p:stCondLst>
                                            <p:cond delay="0"/>
                                          </p:stCondLst>
                                        </p:cTn>
                                        <p:tgtEl>
                                          <p:spTgt spid="70"/>
                                        </p:tgtEl>
                                        <p:attrNameLst>
                                          <p:attrName>style.visibility</p:attrName>
                                        </p:attrNameLst>
                                      </p:cBhvr>
                                      <p:to>
                                        <p:strVal val="visible"/>
                                      </p:to>
                                    </p:set>
                                    <p:animEffect transition="in" filter="dissolve">
                                      <p:cBhvr>
                                        <p:cTn id="351" dur="500"/>
                                        <p:tgtEl>
                                          <p:spTgt spid="70"/>
                                        </p:tgtEl>
                                      </p:cBhvr>
                                    </p:animEffect>
                                  </p:childTnLst>
                                </p:cTn>
                              </p:par>
                            </p:childTnLst>
                          </p:cTn>
                        </p:par>
                      </p:childTnLst>
                    </p:cTn>
                  </p:par>
                  <p:par>
                    <p:cTn id="352" fill="hold">
                      <p:stCondLst>
                        <p:cond delay="indefinite"/>
                      </p:stCondLst>
                      <p:childTnLst>
                        <p:par>
                          <p:cTn id="353" fill="hold">
                            <p:stCondLst>
                              <p:cond delay="0"/>
                            </p:stCondLst>
                            <p:childTnLst>
                              <p:par>
                                <p:cTn id="354" presetID="9" presetClass="entr" presetSubtype="0" fill="hold" nodeType="clickEffect">
                                  <p:stCondLst>
                                    <p:cond delay="0"/>
                                  </p:stCondLst>
                                  <p:childTnLst>
                                    <p:set>
                                      <p:cBhvr>
                                        <p:cTn id="355" dur="1" fill="hold">
                                          <p:stCondLst>
                                            <p:cond delay="0"/>
                                          </p:stCondLst>
                                        </p:cTn>
                                        <p:tgtEl>
                                          <p:spTgt spid="72">
                                            <p:txEl>
                                              <p:pRg st="2" end="2"/>
                                            </p:txEl>
                                          </p:spTgt>
                                        </p:tgtEl>
                                        <p:attrNameLst>
                                          <p:attrName>style.visibility</p:attrName>
                                        </p:attrNameLst>
                                      </p:cBhvr>
                                      <p:to>
                                        <p:strVal val="visible"/>
                                      </p:to>
                                    </p:set>
                                    <p:animEffect transition="in" filter="dissolve">
                                      <p:cBhvr>
                                        <p:cTn id="356" dur="500"/>
                                        <p:tgtEl>
                                          <p:spTgt spid="72">
                                            <p:txEl>
                                              <p:pRg st="2" end="2"/>
                                            </p:txEl>
                                          </p:spTgt>
                                        </p:tgtEl>
                                      </p:cBhvr>
                                    </p:animEffect>
                                  </p:childTnLst>
                                </p:cTn>
                              </p:par>
                              <p:par>
                                <p:cTn id="357" presetID="9" presetClass="entr" presetSubtype="0" fill="hold" nodeType="withEffect">
                                  <p:stCondLst>
                                    <p:cond delay="0"/>
                                  </p:stCondLst>
                                  <p:childTnLst>
                                    <p:set>
                                      <p:cBhvr>
                                        <p:cTn id="358" dur="1" fill="hold">
                                          <p:stCondLst>
                                            <p:cond delay="0"/>
                                          </p:stCondLst>
                                        </p:cTn>
                                        <p:tgtEl>
                                          <p:spTgt spid="58">
                                            <p:txEl>
                                              <p:pRg st="5" end="5"/>
                                            </p:txEl>
                                          </p:spTgt>
                                        </p:tgtEl>
                                        <p:attrNameLst>
                                          <p:attrName>style.visibility</p:attrName>
                                        </p:attrNameLst>
                                      </p:cBhvr>
                                      <p:to>
                                        <p:strVal val="visible"/>
                                      </p:to>
                                    </p:set>
                                    <p:animEffect transition="in" filter="dissolve">
                                      <p:cBhvr>
                                        <p:cTn id="359" dur="500"/>
                                        <p:tgtEl>
                                          <p:spTgt spid="58">
                                            <p:txEl>
                                              <p:pRg st="5" end="5"/>
                                            </p:txEl>
                                          </p:spTgt>
                                        </p:tgtEl>
                                      </p:cBhvr>
                                    </p:animEffect>
                                  </p:childTnLst>
                                </p:cTn>
                              </p:par>
                            </p:childTnLst>
                          </p:cTn>
                        </p:par>
                      </p:childTnLst>
                    </p:cTn>
                  </p:par>
                  <p:par>
                    <p:cTn id="360" fill="hold">
                      <p:stCondLst>
                        <p:cond delay="indefinite"/>
                      </p:stCondLst>
                      <p:childTnLst>
                        <p:par>
                          <p:cTn id="361" fill="hold">
                            <p:stCondLst>
                              <p:cond delay="0"/>
                            </p:stCondLst>
                            <p:childTnLst>
                              <p:par>
                                <p:cTn id="362" presetID="9" presetClass="entr" presetSubtype="0" fill="hold" nodeType="clickEffect">
                                  <p:stCondLst>
                                    <p:cond delay="0"/>
                                  </p:stCondLst>
                                  <p:childTnLst>
                                    <p:set>
                                      <p:cBhvr>
                                        <p:cTn id="363" dur="1" fill="hold">
                                          <p:stCondLst>
                                            <p:cond delay="0"/>
                                          </p:stCondLst>
                                        </p:cTn>
                                        <p:tgtEl>
                                          <p:spTgt spid="77"/>
                                        </p:tgtEl>
                                        <p:attrNameLst>
                                          <p:attrName>style.visibility</p:attrName>
                                        </p:attrNameLst>
                                      </p:cBhvr>
                                      <p:to>
                                        <p:strVal val="visible"/>
                                      </p:to>
                                    </p:set>
                                    <p:animEffect transition="in" filter="dissolve">
                                      <p:cBhvr>
                                        <p:cTn id="364" dur="500"/>
                                        <p:tgtEl>
                                          <p:spTgt spid="77"/>
                                        </p:tgtEl>
                                      </p:cBhvr>
                                    </p:animEffect>
                                  </p:childTnLst>
                                </p:cTn>
                              </p:par>
                            </p:childTnLst>
                          </p:cTn>
                        </p:par>
                      </p:childTnLst>
                    </p:cTn>
                  </p:par>
                  <p:par>
                    <p:cTn id="365" fill="hold">
                      <p:stCondLst>
                        <p:cond delay="indefinite"/>
                      </p:stCondLst>
                      <p:childTnLst>
                        <p:par>
                          <p:cTn id="366" fill="hold">
                            <p:stCondLst>
                              <p:cond delay="0"/>
                            </p:stCondLst>
                            <p:childTnLst>
                              <p:par>
                                <p:cTn id="367" presetID="9" presetClass="entr" presetSubtype="0" fill="hold" nodeType="clickEffect">
                                  <p:stCondLst>
                                    <p:cond delay="0"/>
                                  </p:stCondLst>
                                  <p:childTnLst>
                                    <p:set>
                                      <p:cBhvr>
                                        <p:cTn id="368" dur="1" fill="hold">
                                          <p:stCondLst>
                                            <p:cond delay="0"/>
                                          </p:stCondLst>
                                        </p:cTn>
                                        <p:tgtEl>
                                          <p:spTgt spid="66">
                                            <p:txEl>
                                              <p:pRg st="2" end="2"/>
                                            </p:txEl>
                                          </p:spTgt>
                                        </p:tgtEl>
                                        <p:attrNameLst>
                                          <p:attrName>style.visibility</p:attrName>
                                        </p:attrNameLst>
                                      </p:cBhvr>
                                      <p:to>
                                        <p:strVal val="visible"/>
                                      </p:to>
                                    </p:set>
                                    <p:animEffect transition="in" filter="dissolve">
                                      <p:cBhvr>
                                        <p:cTn id="369" dur="500"/>
                                        <p:tgtEl>
                                          <p:spTgt spid="66">
                                            <p:txEl>
                                              <p:pRg st="2" end="2"/>
                                            </p:txEl>
                                          </p:spTgt>
                                        </p:tgtEl>
                                      </p:cBhvr>
                                    </p:animEffect>
                                  </p:childTnLst>
                                </p:cTn>
                              </p:par>
                            </p:childTnLst>
                          </p:cTn>
                        </p:par>
                      </p:childTnLst>
                    </p:cTn>
                  </p:par>
                  <p:par>
                    <p:cTn id="370" fill="hold">
                      <p:stCondLst>
                        <p:cond delay="indefinite"/>
                      </p:stCondLst>
                      <p:childTnLst>
                        <p:par>
                          <p:cTn id="371" fill="hold">
                            <p:stCondLst>
                              <p:cond delay="0"/>
                            </p:stCondLst>
                            <p:childTnLst>
                              <p:par>
                                <p:cTn id="372" presetID="1" presetClass="emph" presetSubtype="2" fill="hold" nodeType="clickEffect">
                                  <p:stCondLst>
                                    <p:cond delay="0"/>
                                  </p:stCondLst>
                                  <p:childTnLst>
                                    <p:animClr clrSpc="rgb" dir="cw">
                                      <p:cBhvr>
                                        <p:cTn id="373" dur="2000" fill="hold"/>
                                        <p:tgtEl>
                                          <p:spTgt spid="22"/>
                                        </p:tgtEl>
                                        <p:attrNameLst>
                                          <p:attrName>fillcolor</p:attrName>
                                        </p:attrNameLst>
                                      </p:cBhvr>
                                      <p:to>
                                        <a:schemeClr val="accent2"/>
                                      </p:to>
                                    </p:animClr>
                                    <p:set>
                                      <p:cBhvr>
                                        <p:cTn id="374" dur="2000" fill="hold"/>
                                        <p:tgtEl>
                                          <p:spTgt spid="22"/>
                                        </p:tgtEl>
                                        <p:attrNameLst>
                                          <p:attrName>fill.type</p:attrName>
                                        </p:attrNameLst>
                                      </p:cBhvr>
                                      <p:to>
                                        <p:strVal val="solid"/>
                                      </p:to>
                                    </p:set>
                                    <p:set>
                                      <p:cBhvr>
                                        <p:cTn id="375" dur="2000" fill="hold"/>
                                        <p:tgtEl>
                                          <p:spTgt spid="22"/>
                                        </p:tgtEl>
                                        <p:attrNameLst>
                                          <p:attrName>fill.on</p:attrName>
                                        </p:attrNameLst>
                                      </p:cBhvr>
                                      <p:to>
                                        <p:strVal val="true"/>
                                      </p:to>
                                    </p:set>
                                  </p:childTnLst>
                                </p:cTn>
                              </p:par>
                            </p:childTnLst>
                          </p:cTn>
                        </p:par>
                      </p:childTnLst>
                    </p:cTn>
                  </p:par>
                  <p:par>
                    <p:cTn id="376" fill="hold">
                      <p:stCondLst>
                        <p:cond delay="indefinite"/>
                      </p:stCondLst>
                      <p:childTnLst>
                        <p:par>
                          <p:cTn id="377" fill="hold">
                            <p:stCondLst>
                              <p:cond delay="0"/>
                            </p:stCondLst>
                            <p:childTnLst>
                              <p:par>
                                <p:cTn id="378" presetID="9" presetClass="entr" presetSubtype="0" fill="hold" nodeType="clickEffect">
                                  <p:stCondLst>
                                    <p:cond delay="0"/>
                                  </p:stCondLst>
                                  <p:childTnLst>
                                    <p:set>
                                      <p:cBhvr>
                                        <p:cTn id="379" dur="1" fill="hold">
                                          <p:stCondLst>
                                            <p:cond delay="0"/>
                                          </p:stCondLst>
                                        </p:cTn>
                                        <p:tgtEl>
                                          <p:spTgt spid="66">
                                            <p:txEl>
                                              <p:pRg st="3" end="3"/>
                                            </p:txEl>
                                          </p:spTgt>
                                        </p:tgtEl>
                                        <p:attrNameLst>
                                          <p:attrName>style.visibility</p:attrName>
                                        </p:attrNameLst>
                                      </p:cBhvr>
                                      <p:to>
                                        <p:strVal val="visible"/>
                                      </p:to>
                                    </p:set>
                                    <p:animEffect transition="in" filter="dissolve">
                                      <p:cBhvr>
                                        <p:cTn id="380" dur="500"/>
                                        <p:tgtEl>
                                          <p:spTgt spid="66">
                                            <p:txEl>
                                              <p:pRg st="3" end="3"/>
                                            </p:txEl>
                                          </p:spTgt>
                                        </p:tgtEl>
                                      </p:cBhvr>
                                    </p:animEffect>
                                  </p:childTnLst>
                                </p:cTn>
                              </p:par>
                            </p:childTnLst>
                          </p:cTn>
                        </p:par>
                      </p:childTnLst>
                    </p:cTn>
                  </p:par>
                  <p:par>
                    <p:cTn id="381" fill="hold">
                      <p:stCondLst>
                        <p:cond delay="indefinite"/>
                      </p:stCondLst>
                      <p:childTnLst>
                        <p:par>
                          <p:cTn id="382" fill="hold">
                            <p:stCondLst>
                              <p:cond delay="0"/>
                            </p:stCondLst>
                            <p:childTnLst>
                              <p:par>
                                <p:cTn id="383" presetID="7" presetClass="emph" presetSubtype="2" fill="hold" nodeType="clickEffect">
                                  <p:stCondLst>
                                    <p:cond delay="0"/>
                                  </p:stCondLst>
                                  <p:childTnLst>
                                    <p:animClr clrSpc="rgb" dir="cw">
                                      <p:cBhvr>
                                        <p:cTn id="384" dur="2000" fill="hold"/>
                                        <p:tgtEl>
                                          <p:spTgt spid="13"/>
                                        </p:tgtEl>
                                        <p:attrNameLst>
                                          <p:attrName>stroke.color</p:attrName>
                                        </p:attrNameLst>
                                      </p:cBhvr>
                                      <p:to>
                                        <a:schemeClr val="accent2"/>
                                      </p:to>
                                    </p:animClr>
                                    <p:set>
                                      <p:cBhvr>
                                        <p:cTn id="385" dur="2000" fill="hold"/>
                                        <p:tgtEl>
                                          <p:spTgt spid="13"/>
                                        </p:tgtEl>
                                        <p:attrNameLst>
                                          <p:attrName>stroke.on</p:attrName>
                                        </p:attrNameLst>
                                      </p:cBhvr>
                                      <p:to>
                                        <p:strVal val="true"/>
                                      </p:to>
                                    </p:set>
                                  </p:childTnLst>
                                </p:cTn>
                              </p:par>
                              <p:par>
                                <p:cTn id="386" presetID="7" presetClass="emph" presetSubtype="2" fill="hold" nodeType="withEffect">
                                  <p:stCondLst>
                                    <p:cond delay="0"/>
                                  </p:stCondLst>
                                  <p:childTnLst>
                                    <p:animClr clrSpc="rgb" dir="cw">
                                      <p:cBhvr>
                                        <p:cTn id="387" dur="2000" fill="hold"/>
                                        <p:tgtEl>
                                          <p:spTgt spid="16"/>
                                        </p:tgtEl>
                                        <p:attrNameLst>
                                          <p:attrName>stroke.color</p:attrName>
                                        </p:attrNameLst>
                                      </p:cBhvr>
                                      <p:to>
                                        <a:schemeClr val="accent2"/>
                                      </p:to>
                                    </p:animClr>
                                    <p:set>
                                      <p:cBhvr>
                                        <p:cTn id="388" dur="2000" fill="hold"/>
                                        <p:tgtEl>
                                          <p:spTgt spid="16"/>
                                        </p:tgtEl>
                                        <p:attrNameLst>
                                          <p:attrName>stroke.on</p:attrName>
                                        </p:attrNameLst>
                                      </p:cBhvr>
                                      <p:to>
                                        <p:strVal val="true"/>
                                      </p:to>
                                    </p:set>
                                  </p:childTnLst>
                                </p:cTn>
                              </p:par>
                              <p:par>
                                <p:cTn id="389" presetID="7" presetClass="emph" presetSubtype="2" fill="hold" nodeType="withEffect">
                                  <p:stCondLst>
                                    <p:cond delay="0"/>
                                  </p:stCondLst>
                                  <p:childTnLst>
                                    <p:animClr clrSpc="rgb" dir="cw">
                                      <p:cBhvr>
                                        <p:cTn id="390" dur="2000" fill="hold"/>
                                        <p:tgtEl>
                                          <p:spTgt spid="14"/>
                                        </p:tgtEl>
                                        <p:attrNameLst>
                                          <p:attrName>stroke.color</p:attrName>
                                        </p:attrNameLst>
                                      </p:cBhvr>
                                      <p:to>
                                        <a:schemeClr val="accent2"/>
                                      </p:to>
                                    </p:animClr>
                                    <p:set>
                                      <p:cBhvr>
                                        <p:cTn id="391" dur="2000" fill="hold"/>
                                        <p:tgtEl>
                                          <p:spTgt spid="14"/>
                                        </p:tgtEl>
                                        <p:attrNameLst>
                                          <p:attrName>stroke.on</p:attrName>
                                        </p:attrNameLst>
                                      </p:cBhvr>
                                      <p:to>
                                        <p:strVal val="true"/>
                                      </p:to>
                                    </p:set>
                                  </p:childTnLst>
                                </p:cTn>
                              </p:par>
                            </p:childTnLst>
                          </p:cTn>
                        </p:par>
                      </p:childTnLst>
                    </p:cTn>
                  </p:par>
                  <p:par>
                    <p:cTn id="392" fill="hold">
                      <p:stCondLst>
                        <p:cond delay="indefinite"/>
                      </p:stCondLst>
                      <p:childTnLst>
                        <p:par>
                          <p:cTn id="393" fill="hold">
                            <p:stCondLst>
                              <p:cond delay="0"/>
                            </p:stCondLst>
                            <p:childTnLst>
                              <p:par>
                                <p:cTn id="394" presetID="9" presetClass="entr" presetSubtype="0" fill="hold" nodeType="clickEffect">
                                  <p:stCondLst>
                                    <p:cond delay="0"/>
                                  </p:stCondLst>
                                  <p:childTnLst>
                                    <p:set>
                                      <p:cBhvr>
                                        <p:cTn id="395" dur="1" fill="hold">
                                          <p:stCondLst>
                                            <p:cond delay="0"/>
                                          </p:stCondLst>
                                        </p:cTn>
                                        <p:tgtEl>
                                          <p:spTgt spid="81"/>
                                        </p:tgtEl>
                                        <p:attrNameLst>
                                          <p:attrName>style.visibility</p:attrName>
                                        </p:attrNameLst>
                                      </p:cBhvr>
                                      <p:to>
                                        <p:strVal val="visible"/>
                                      </p:to>
                                    </p:set>
                                    <p:animEffect transition="in" filter="dissolve">
                                      <p:cBhvr>
                                        <p:cTn id="396" dur="500"/>
                                        <p:tgtEl>
                                          <p:spTgt spid="81"/>
                                        </p:tgtEl>
                                      </p:cBhvr>
                                    </p:animEffect>
                                  </p:childTnLst>
                                </p:cTn>
                              </p:par>
                              <p:par>
                                <p:cTn id="397" presetID="9" presetClass="entr" presetSubtype="0" fill="hold" nodeType="withEffect">
                                  <p:stCondLst>
                                    <p:cond delay="0"/>
                                  </p:stCondLst>
                                  <p:childTnLst>
                                    <p:set>
                                      <p:cBhvr>
                                        <p:cTn id="398" dur="1" fill="hold">
                                          <p:stCondLst>
                                            <p:cond delay="0"/>
                                          </p:stCondLst>
                                        </p:cTn>
                                        <p:tgtEl>
                                          <p:spTgt spid="82"/>
                                        </p:tgtEl>
                                        <p:attrNameLst>
                                          <p:attrName>style.visibility</p:attrName>
                                        </p:attrNameLst>
                                      </p:cBhvr>
                                      <p:to>
                                        <p:strVal val="visible"/>
                                      </p:to>
                                    </p:set>
                                    <p:animEffect transition="in" filter="dissolve">
                                      <p:cBhvr>
                                        <p:cTn id="399" dur="500"/>
                                        <p:tgtEl>
                                          <p:spTgt spid="82"/>
                                        </p:tgtEl>
                                      </p:cBhvr>
                                    </p:animEffect>
                                  </p:childTnLst>
                                </p:cTn>
                              </p:par>
                            </p:childTnLst>
                          </p:cTn>
                        </p:par>
                      </p:childTnLst>
                    </p:cTn>
                  </p:par>
                  <p:par>
                    <p:cTn id="400" fill="hold">
                      <p:stCondLst>
                        <p:cond delay="indefinite"/>
                      </p:stCondLst>
                      <p:childTnLst>
                        <p:par>
                          <p:cTn id="401" fill="hold">
                            <p:stCondLst>
                              <p:cond delay="0"/>
                            </p:stCondLst>
                            <p:childTnLst>
                              <p:par>
                                <p:cTn id="402" presetID="9" presetClass="entr" presetSubtype="0" fill="hold" nodeType="clickEffect">
                                  <p:stCondLst>
                                    <p:cond delay="0"/>
                                  </p:stCondLst>
                                  <p:childTnLst>
                                    <p:set>
                                      <p:cBhvr>
                                        <p:cTn id="403" dur="1" fill="hold">
                                          <p:stCondLst>
                                            <p:cond delay="0"/>
                                          </p:stCondLst>
                                        </p:cTn>
                                        <p:tgtEl>
                                          <p:spTgt spid="67">
                                            <p:txEl>
                                              <p:pRg st="5" end="5"/>
                                            </p:txEl>
                                          </p:spTgt>
                                        </p:tgtEl>
                                        <p:attrNameLst>
                                          <p:attrName>style.visibility</p:attrName>
                                        </p:attrNameLst>
                                      </p:cBhvr>
                                      <p:to>
                                        <p:strVal val="visible"/>
                                      </p:to>
                                    </p:set>
                                    <p:animEffect transition="in" filter="dissolve">
                                      <p:cBhvr>
                                        <p:cTn id="404" dur="500"/>
                                        <p:tgtEl>
                                          <p:spTgt spid="67">
                                            <p:txEl>
                                              <p:pRg st="5" end="5"/>
                                            </p:txEl>
                                          </p:spTgt>
                                        </p:tgtEl>
                                      </p:cBhvr>
                                    </p:animEffect>
                                  </p:childTnLst>
                                </p:cTn>
                              </p:par>
                              <p:par>
                                <p:cTn id="405" presetID="9" presetClass="entr" presetSubtype="0" fill="hold" nodeType="withEffect">
                                  <p:stCondLst>
                                    <p:cond delay="0"/>
                                  </p:stCondLst>
                                  <p:childTnLst>
                                    <p:set>
                                      <p:cBhvr>
                                        <p:cTn id="406" dur="1" fill="hold">
                                          <p:stCondLst>
                                            <p:cond delay="0"/>
                                          </p:stCondLst>
                                        </p:cTn>
                                        <p:tgtEl>
                                          <p:spTgt spid="57">
                                            <p:txEl>
                                              <p:pRg st="6" end="6"/>
                                            </p:txEl>
                                          </p:spTgt>
                                        </p:tgtEl>
                                        <p:attrNameLst>
                                          <p:attrName>style.visibility</p:attrName>
                                        </p:attrNameLst>
                                      </p:cBhvr>
                                      <p:to>
                                        <p:strVal val="visible"/>
                                      </p:to>
                                    </p:set>
                                    <p:animEffect transition="in" filter="dissolve">
                                      <p:cBhvr>
                                        <p:cTn id="407" dur="500"/>
                                        <p:tgtEl>
                                          <p:spTgt spid="57">
                                            <p:txEl>
                                              <p:pRg st="6" end="6"/>
                                            </p:txEl>
                                          </p:spTgt>
                                        </p:tgtEl>
                                      </p:cBhvr>
                                    </p:animEffect>
                                  </p:childTnLst>
                                </p:cTn>
                              </p:par>
                            </p:childTnLst>
                          </p:cTn>
                        </p:par>
                      </p:childTnLst>
                    </p:cTn>
                  </p:par>
                  <p:par>
                    <p:cTn id="408" fill="hold">
                      <p:stCondLst>
                        <p:cond delay="indefinite"/>
                      </p:stCondLst>
                      <p:childTnLst>
                        <p:par>
                          <p:cTn id="409" fill="hold">
                            <p:stCondLst>
                              <p:cond delay="0"/>
                            </p:stCondLst>
                            <p:childTnLst>
                              <p:par>
                                <p:cTn id="410" presetID="9" presetClass="entr" presetSubtype="0" fill="hold" nodeType="clickEffect">
                                  <p:stCondLst>
                                    <p:cond delay="0"/>
                                  </p:stCondLst>
                                  <p:childTnLst>
                                    <p:set>
                                      <p:cBhvr>
                                        <p:cTn id="411" dur="1" fill="hold">
                                          <p:stCondLst>
                                            <p:cond delay="0"/>
                                          </p:stCondLst>
                                        </p:cTn>
                                        <p:tgtEl>
                                          <p:spTgt spid="83"/>
                                        </p:tgtEl>
                                        <p:attrNameLst>
                                          <p:attrName>style.visibility</p:attrName>
                                        </p:attrNameLst>
                                      </p:cBhvr>
                                      <p:to>
                                        <p:strVal val="visible"/>
                                      </p:to>
                                    </p:set>
                                    <p:animEffect transition="in" filter="dissolve">
                                      <p:cBhvr>
                                        <p:cTn id="412" dur="500"/>
                                        <p:tgtEl>
                                          <p:spTgt spid="83"/>
                                        </p:tgtEl>
                                      </p:cBhvr>
                                    </p:animEffect>
                                  </p:childTnLst>
                                </p:cTn>
                              </p:par>
                              <p:par>
                                <p:cTn id="413" presetID="9" presetClass="entr" presetSubtype="0" fill="hold" nodeType="withEffect">
                                  <p:stCondLst>
                                    <p:cond delay="0"/>
                                  </p:stCondLst>
                                  <p:childTnLst>
                                    <p:set>
                                      <p:cBhvr>
                                        <p:cTn id="414" dur="1" fill="hold">
                                          <p:stCondLst>
                                            <p:cond delay="0"/>
                                          </p:stCondLst>
                                        </p:cTn>
                                        <p:tgtEl>
                                          <p:spTgt spid="84"/>
                                        </p:tgtEl>
                                        <p:attrNameLst>
                                          <p:attrName>style.visibility</p:attrName>
                                        </p:attrNameLst>
                                      </p:cBhvr>
                                      <p:to>
                                        <p:strVal val="visible"/>
                                      </p:to>
                                    </p:set>
                                    <p:animEffect transition="in" filter="dissolve">
                                      <p:cBhvr>
                                        <p:cTn id="415" dur="500"/>
                                        <p:tgtEl>
                                          <p:spTgt spid="84"/>
                                        </p:tgtEl>
                                      </p:cBhvr>
                                    </p:animEffect>
                                  </p:childTnLst>
                                </p:cTn>
                              </p:par>
                            </p:childTnLst>
                          </p:cTn>
                        </p:par>
                      </p:childTnLst>
                    </p:cTn>
                  </p:par>
                  <p:par>
                    <p:cTn id="416" fill="hold">
                      <p:stCondLst>
                        <p:cond delay="indefinite"/>
                      </p:stCondLst>
                      <p:childTnLst>
                        <p:par>
                          <p:cTn id="417" fill="hold">
                            <p:stCondLst>
                              <p:cond delay="0"/>
                            </p:stCondLst>
                            <p:childTnLst>
                              <p:par>
                                <p:cTn id="418" presetID="9" presetClass="entr" presetSubtype="0" fill="hold" nodeType="clickEffect">
                                  <p:stCondLst>
                                    <p:cond delay="0"/>
                                  </p:stCondLst>
                                  <p:childTnLst>
                                    <p:set>
                                      <p:cBhvr>
                                        <p:cTn id="419" dur="1" fill="hold">
                                          <p:stCondLst>
                                            <p:cond delay="0"/>
                                          </p:stCondLst>
                                        </p:cTn>
                                        <p:tgtEl>
                                          <p:spTgt spid="72">
                                            <p:txEl>
                                              <p:pRg st="5" end="5"/>
                                            </p:txEl>
                                          </p:spTgt>
                                        </p:tgtEl>
                                        <p:attrNameLst>
                                          <p:attrName>style.visibility</p:attrName>
                                        </p:attrNameLst>
                                      </p:cBhvr>
                                      <p:to>
                                        <p:strVal val="visible"/>
                                      </p:to>
                                    </p:set>
                                    <p:animEffect transition="in" filter="dissolve">
                                      <p:cBhvr>
                                        <p:cTn id="420" dur="500"/>
                                        <p:tgtEl>
                                          <p:spTgt spid="72">
                                            <p:txEl>
                                              <p:pRg st="5" end="5"/>
                                            </p:txEl>
                                          </p:spTgt>
                                        </p:tgtEl>
                                      </p:cBhvr>
                                    </p:animEffect>
                                  </p:childTnLst>
                                </p:cTn>
                              </p:par>
                              <p:par>
                                <p:cTn id="421" presetID="9" presetClass="entr" presetSubtype="0" fill="hold" nodeType="withEffect">
                                  <p:stCondLst>
                                    <p:cond delay="0"/>
                                  </p:stCondLst>
                                  <p:childTnLst>
                                    <p:set>
                                      <p:cBhvr>
                                        <p:cTn id="422" dur="1" fill="hold">
                                          <p:stCondLst>
                                            <p:cond delay="0"/>
                                          </p:stCondLst>
                                        </p:cTn>
                                        <p:tgtEl>
                                          <p:spTgt spid="58">
                                            <p:txEl>
                                              <p:pRg st="6" end="6"/>
                                            </p:txEl>
                                          </p:spTgt>
                                        </p:tgtEl>
                                        <p:attrNameLst>
                                          <p:attrName>style.visibility</p:attrName>
                                        </p:attrNameLst>
                                      </p:cBhvr>
                                      <p:to>
                                        <p:strVal val="visible"/>
                                      </p:to>
                                    </p:set>
                                    <p:animEffect transition="in" filter="dissolve">
                                      <p:cBhvr>
                                        <p:cTn id="423" dur="500"/>
                                        <p:tgtEl>
                                          <p:spTgt spid="58">
                                            <p:txEl>
                                              <p:pRg st="6" end="6"/>
                                            </p:txEl>
                                          </p:spTgt>
                                        </p:tgtEl>
                                      </p:cBhvr>
                                    </p:animEffect>
                                  </p:childTnLst>
                                </p:cTn>
                              </p:par>
                            </p:childTnLst>
                          </p:cTn>
                        </p:par>
                      </p:childTnLst>
                    </p:cTn>
                  </p:par>
                  <p:par>
                    <p:cTn id="424" fill="hold">
                      <p:stCondLst>
                        <p:cond delay="indefinite"/>
                      </p:stCondLst>
                      <p:childTnLst>
                        <p:par>
                          <p:cTn id="425" fill="hold">
                            <p:stCondLst>
                              <p:cond delay="0"/>
                            </p:stCondLst>
                            <p:childTnLst>
                              <p:par>
                                <p:cTn id="426" presetID="9" presetClass="entr" presetSubtype="0" fill="hold" nodeType="clickEffect">
                                  <p:stCondLst>
                                    <p:cond delay="0"/>
                                  </p:stCondLst>
                                  <p:childTnLst>
                                    <p:set>
                                      <p:cBhvr>
                                        <p:cTn id="427" dur="1" fill="hold">
                                          <p:stCondLst>
                                            <p:cond delay="0"/>
                                          </p:stCondLst>
                                        </p:cTn>
                                        <p:tgtEl>
                                          <p:spTgt spid="78"/>
                                        </p:tgtEl>
                                        <p:attrNameLst>
                                          <p:attrName>style.visibility</p:attrName>
                                        </p:attrNameLst>
                                      </p:cBhvr>
                                      <p:to>
                                        <p:strVal val="visible"/>
                                      </p:to>
                                    </p:set>
                                    <p:animEffect transition="in" filter="dissolve">
                                      <p:cBhvr>
                                        <p:cTn id="428" dur="500"/>
                                        <p:tgtEl>
                                          <p:spTgt spid="78"/>
                                        </p:tgtEl>
                                      </p:cBhvr>
                                    </p:animEffect>
                                  </p:childTnLst>
                                </p:cTn>
                              </p:par>
                            </p:childTnLst>
                          </p:cTn>
                        </p:par>
                      </p:childTnLst>
                    </p:cTn>
                  </p:par>
                  <p:par>
                    <p:cTn id="429" fill="hold">
                      <p:stCondLst>
                        <p:cond delay="indefinite"/>
                      </p:stCondLst>
                      <p:childTnLst>
                        <p:par>
                          <p:cTn id="430" fill="hold">
                            <p:stCondLst>
                              <p:cond delay="0"/>
                            </p:stCondLst>
                            <p:childTnLst>
                              <p:par>
                                <p:cTn id="431" presetID="9" presetClass="entr" presetSubtype="0" fill="hold" nodeType="clickEffect">
                                  <p:stCondLst>
                                    <p:cond delay="0"/>
                                  </p:stCondLst>
                                  <p:childTnLst>
                                    <p:set>
                                      <p:cBhvr>
                                        <p:cTn id="432" dur="1" fill="hold">
                                          <p:stCondLst>
                                            <p:cond delay="0"/>
                                          </p:stCondLst>
                                        </p:cTn>
                                        <p:tgtEl>
                                          <p:spTgt spid="86">
                                            <p:txEl>
                                              <p:pRg st="0" end="0"/>
                                            </p:txEl>
                                          </p:spTgt>
                                        </p:tgtEl>
                                        <p:attrNameLst>
                                          <p:attrName>style.visibility</p:attrName>
                                        </p:attrNameLst>
                                      </p:cBhvr>
                                      <p:to>
                                        <p:strVal val="visible"/>
                                      </p:to>
                                    </p:set>
                                    <p:animEffect transition="in" filter="dissolve">
                                      <p:cBhvr>
                                        <p:cTn id="433" dur="500"/>
                                        <p:tgtEl>
                                          <p:spTgt spid="86">
                                            <p:txEl>
                                              <p:pRg st="0" end="0"/>
                                            </p:txEl>
                                          </p:spTgt>
                                        </p:tgtEl>
                                      </p:cBhvr>
                                    </p:animEffect>
                                  </p:childTnLst>
                                </p:cTn>
                              </p:par>
                            </p:childTnLst>
                          </p:cTn>
                        </p:par>
                      </p:childTnLst>
                    </p:cTn>
                  </p:par>
                  <p:par>
                    <p:cTn id="434" fill="hold">
                      <p:stCondLst>
                        <p:cond delay="indefinite"/>
                      </p:stCondLst>
                      <p:childTnLst>
                        <p:par>
                          <p:cTn id="435" fill="hold">
                            <p:stCondLst>
                              <p:cond delay="0"/>
                            </p:stCondLst>
                            <p:childTnLst>
                              <p:par>
                                <p:cTn id="436" presetID="1" presetClass="emph" presetSubtype="2" fill="hold" nodeType="clickEffect">
                                  <p:stCondLst>
                                    <p:cond delay="0"/>
                                  </p:stCondLst>
                                  <p:childTnLst>
                                    <p:animClr clrSpc="rgb" dir="cw">
                                      <p:cBhvr>
                                        <p:cTn id="437" dur="2000" fill="hold"/>
                                        <p:tgtEl>
                                          <p:spTgt spid="25"/>
                                        </p:tgtEl>
                                        <p:attrNameLst>
                                          <p:attrName>fillcolor</p:attrName>
                                        </p:attrNameLst>
                                      </p:cBhvr>
                                      <p:to>
                                        <a:schemeClr val="accent2"/>
                                      </p:to>
                                    </p:animClr>
                                    <p:set>
                                      <p:cBhvr>
                                        <p:cTn id="438" dur="2000" fill="hold"/>
                                        <p:tgtEl>
                                          <p:spTgt spid="25"/>
                                        </p:tgtEl>
                                        <p:attrNameLst>
                                          <p:attrName>fill.type</p:attrName>
                                        </p:attrNameLst>
                                      </p:cBhvr>
                                      <p:to>
                                        <p:strVal val="solid"/>
                                      </p:to>
                                    </p:set>
                                    <p:set>
                                      <p:cBhvr>
                                        <p:cTn id="439" dur="2000" fill="hold"/>
                                        <p:tgtEl>
                                          <p:spTgt spid="25"/>
                                        </p:tgtEl>
                                        <p:attrNameLst>
                                          <p:attrName>fill.on</p:attrName>
                                        </p:attrNameLst>
                                      </p:cBhvr>
                                      <p:to>
                                        <p:strVal val="true"/>
                                      </p:to>
                                    </p:set>
                                  </p:childTnLst>
                                </p:cTn>
                              </p:par>
                            </p:childTnLst>
                          </p:cTn>
                        </p:par>
                      </p:childTnLst>
                    </p:cTn>
                  </p:par>
                  <p:par>
                    <p:cTn id="440" fill="hold">
                      <p:stCondLst>
                        <p:cond delay="indefinite"/>
                      </p:stCondLst>
                      <p:childTnLst>
                        <p:par>
                          <p:cTn id="441" fill="hold">
                            <p:stCondLst>
                              <p:cond delay="0"/>
                            </p:stCondLst>
                            <p:childTnLst>
                              <p:par>
                                <p:cTn id="442" presetID="9" presetClass="entr" presetSubtype="0" fill="hold" nodeType="clickEffect">
                                  <p:stCondLst>
                                    <p:cond delay="0"/>
                                  </p:stCondLst>
                                  <p:childTnLst>
                                    <p:set>
                                      <p:cBhvr>
                                        <p:cTn id="443" dur="1" fill="hold">
                                          <p:stCondLst>
                                            <p:cond delay="0"/>
                                          </p:stCondLst>
                                        </p:cTn>
                                        <p:tgtEl>
                                          <p:spTgt spid="86">
                                            <p:txEl>
                                              <p:pRg st="1" end="1"/>
                                            </p:txEl>
                                          </p:spTgt>
                                        </p:tgtEl>
                                        <p:attrNameLst>
                                          <p:attrName>style.visibility</p:attrName>
                                        </p:attrNameLst>
                                      </p:cBhvr>
                                      <p:to>
                                        <p:strVal val="visible"/>
                                      </p:to>
                                    </p:set>
                                    <p:animEffect transition="in" filter="dissolve">
                                      <p:cBhvr>
                                        <p:cTn id="444" dur="500"/>
                                        <p:tgtEl>
                                          <p:spTgt spid="86">
                                            <p:txEl>
                                              <p:pRg st="1" end="1"/>
                                            </p:txEl>
                                          </p:spTgt>
                                        </p:tgtEl>
                                      </p:cBhvr>
                                    </p:animEffect>
                                  </p:childTnLst>
                                </p:cTn>
                              </p:par>
                            </p:childTnLst>
                          </p:cTn>
                        </p:par>
                      </p:childTnLst>
                    </p:cTn>
                  </p:par>
                  <p:par>
                    <p:cTn id="445" fill="hold">
                      <p:stCondLst>
                        <p:cond delay="indefinite"/>
                      </p:stCondLst>
                      <p:childTnLst>
                        <p:par>
                          <p:cTn id="446" fill="hold">
                            <p:stCondLst>
                              <p:cond delay="0"/>
                            </p:stCondLst>
                            <p:childTnLst>
                              <p:par>
                                <p:cTn id="447" presetID="7" presetClass="emph" presetSubtype="2" fill="hold" nodeType="clickEffect">
                                  <p:stCondLst>
                                    <p:cond delay="0"/>
                                  </p:stCondLst>
                                  <p:childTnLst>
                                    <p:animClr clrSpc="rgb" dir="cw">
                                      <p:cBhvr>
                                        <p:cTn id="448" dur="2000" fill="hold"/>
                                        <p:tgtEl>
                                          <p:spTgt spid="8"/>
                                        </p:tgtEl>
                                        <p:attrNameLst>
                                          <p:attrName>stroke.color</p:attrName>
                                        </p:attrNameLst>
                                      </p:cBhvr>
                                      <p:to>
                                        <a:schemeClr val="accent2"/>
                                      </p:to>
                                    </p:animClr>
                                    <p:set>
                                      <p:cBhvr>
                                        <p:cTn id="449" dur="2000" fill="hold"/>
                                        <p:tgtEl>
                                          <p:spTgt spid="8"/>
                                        </p:tgtEl>
                                        <p:attrNameLst>
                                          <p:attrName>stroke.on</p:attrName>
                                        </p:attrNameLst>
                                      </p:cBhvr>
                                      <p:to>
                                        <p:strVal val="true"/>
                                      </p:to>
                                    </p:set>
                                  </p:childTnLst>
                                </p:cTn>
                              </p:par>
                              <p:par>
                                <p:cTn id="450" presetID="7" presetClass="emph" presetSubtype="2" fill="hold" nodeType="withEffect">
                                  <p:stCondLst>
                                    <p:cond delay="0"/>
                                  </p:stCondLst>
                                  <p:childTnLst>
                                    <p:animClr clrSpc="rgb" dir="cw">
                                      <p:cBhvr>
                                        <p:cTn id="451" dur="2000" fill="hold"/>
                                        <p:tgtEl>
                                          <p:spTgt spid="15"/>
                                        </p:tgtEl>
                                        <p:attrNameLst>
                                          <p:attrName>stroke.color</p:attrName>
                                        </p:attrNameLst>
                                      </p:cBhvr>
                                      <p:to>
                                        <a:schemeClr val="accent2"/>
                                      </p:to>
                                    </p:animClr>
                                    <p:set>
                                      <p:cBhvr>
                                        <p:cTn id="452" dur="2000" fill="hold"/>
                                        <p:tgtEl>
                                          <p:spTgt spid="15"/>
                                        </p:tgtEl>
                                        <p:attrNameLst>
                                          <p:attrName>stroke.on</p:attrName>
                                        </p:attrNameLst>
                                      </p:cBhvr>
                                      <p:to>
                                        <p:strVal val="true"/>
                                      </p:to>
                                    </p:set>
                                  </p:childTnLst>
                                </p:cTn>
                              </p:par>
                            </p:childTnLst>
                          </p:cTn>
                        </p:par>
                      </p:childTnLst>
                    </p:cTn>
                  </p:par>
                  <p:par>
                    <p:cTn id="453" fill="hold">
                      <p:stCondLst>
                        <p:cond delay="indefinite"/>
                      </p:stCondLst>
                      <p:childTnLst>
                        <p:par>
                          <p:cTn id="454" fill="hold">
                            <p:stCondLst>
                              <p:cond delay="0"/>
                            </p:stCondLst>
                            <p:childTnLst>
                              <p:par>
                                <p:cTn id="455" presetID="9" presetClass="entr" presetSubtype="0" fill="hold" nodeType="clickEffect">
                                  <p:stCondLst>
                                    <p:cond delay="0"/>
                                  </p:stCondLst>
                                  <p:childTnLst>
                                    <p:set>
                                      <p:cBhvr>
                                        <p:cTn id="456" dur="1" fill="hold">
                                          <p:stCondLst>
                                            <p:cond delay="0"/>
                                          </p:stCondLst>
                                        </p:cTn>
                                        <p:tgtEl>
                                          <p:spTgt spid="87"/>
                                        </p:tgtEl>
                                        <p:attrNameLst>
                                          <p:attrName>style.visibility</p:attrName>
                                        </p:attrNameLst>
                                      </p:cBhvr>
                                      <p:to>
                                        <p:strVal val="visible"/>
                                      </p:to>
                                    </p:set>
                                    <p:animEffect transition="in" filter="dissolve">
                                      <p:cBhvr>
                                        <p:cTn id="457" dur="500"/>
                                        <p:tgtEl>
                                          <p:spTgt spid="87"/>
                                        </p:tgtEl>
                                      </p:cBhvr>
                                    </p:animEffect>
                                  </p:childTnLst>
                                </p:cTn>
                              </p:par>
                              <p:par>
                                <p:cTn id="458" presetID="9" presetClass="entr" presetSubtype="0" fill="hold" nodeType="withEffect">
                                  <p:stCondLst>
                                    <p:cond delay="0"/>
                                  </p:stCondLst>
                                  <p:childTnLst>
                                    <p:set>
                                      <p:cBhvr>
                                        <p:cTn id="459" dur="1" fill="hold">
                                          <p:stCondLst>
                                            <p:cond delay="0"/>
                                          </p:stCondLst>
                                        </p:cTn>
                                        <p:tgtEl>
                                          <p:spTgt spid="88"/>
                                        </p:tgtEl>
                                        <p:attrNameLst>
                                          <p:attrName>style.visibility</p:attrName>
                                        </p:attrNameLst>
                                      </p:cBhvr>
                                      <p:to>
                                        <p:strVal val="visible"/>
                                      </p:to>
                                    </p:set>
                                    <p:animEffect transition="in" filter="dissolve">
                                      <p:cBhvr>
                                        <p:cTn id="460" dur="500"/>
                                        <p:tgtEl>
                                          <p:spTgt spid="88"/>
                                        </p:tgtEl>
                                      </p:cBhvr>
                                    </p:animEffect>
                                  </p:childTnLst>
                                </p:cTn>
                              </p:par>
                            </p:childTnLst>
                          </p:cTn>
                        </p:par>
                      </p:childTnLst>
                    </p:cTn>
                  </p:par>
                  <p:par>
                    <p:cTn id="461" fill="hold">
                      <p:stCondLst>
                        <p:cond delay="indefinite"/>
                      </p:stCondLst>
                      <p:childTnLst>
                        <p:par>
                          <p:cTn id="462" fill="hold">
                            <p:stCondLst>
                              <p:cond delay="0"/>
                            </p:stCondLst>
                            <p:childTnLst>
                              <p:par>
                                <p:cTn id="463" presetID="9" presetClass="entr" presetSubtype="0" fill="hold" nodeType="clickEffect">
                                  <p:stCondLst>
                                    <p:cond delay="0"/>
                                  </p:stCondLst>
                                  <p:childTnLst>
                                    <p:set>
                                      <p:cBhvr>
                                        <p:cTn id="464" dur="1" fill="hold">
                                          <p:stCondLst>
                                            <p:cond delay="0"/>
                                          </p:stCondLst>
                                        </p:cTn>
                                        <p:tgtEl>
                                          <p:spTgt spid="67">
                                            <p:txEl>
                                              <p:pRg st="6" end="6"/>
                                            </p:txEl>
                                          </p:spTgt>
                                        </p:tgtEl>
                                        <p:attrNameLst>
                                          <p:attrName>style.visibility</p:attrName>
                                        </p:attrNameLst>
                                      </p:cBhvr>
                                      <p:to>
                                        <p:strVal val="visible"/>
                                      </p:to>
                                    </p:set>
                                    <p:animEffect transition="in" filter="dissolve">
                                      <p:cBhvr>
                                        <p:cTn id="465" dur="500"/>
                                        <p:tgtEl>
                                          <p:spTgt spid="67">
                                            <p:txEl>
                                              <p:pRg st="6" end="6"/>
                                            </p:txEl>
                                          </p:spTgt>
                                        </p:tgtEl>
                                      </p:cBhvr>
                                    </p:animEffect>
                                  </p:childTnLst>
                                </p:cTn>
                              </p:par>
                              <p:par>
                                <p:cTn id="466" presetID="9" presetClass="entr" presetSubtype="0" fill="hold" nodeType="withEffect">
                                  <p:stCondLst>
                                    <p:cond delay="0"/>
                                  </p:stCondLst>
                                  <p:childTnLst>
                                    <p:set>
                                      <p:cBhvr>
                                        <p:cTn id="467" dur="1" fill="hold">
                                          <p:stCondLst>
                                            <p:cond delay="0"/>
                                          </p:stCondLst>
                                        </p:cTn>
                                        <p:tgtEl>
                                          <p:spTgt spid="89">
                                            <p:txEl>
                                              <p:pRg st="2" end="2"/>
                                            </p:txEl>
                                          </p:spTgt>
                                        </p:tgtEl>
                                        <p:attrNameLst>
                                          <p:attrName>style.visibility</p:attrName>
                                        </p:attrNameLst>
                                      </p:cBhvr>
                                      <p:to>
                                        <p:strVal val="visible"/>
                                      </p:to>
                                    </p:set>
                                    <p:animEffect transition="in" filter="dissolve">
                                      <p:cBhvr>
                                        <p:cTn id="468" dur="500"/>
                                        <p:tgtEl>
                                          <p:spTgt spid="89">
                                            <p:txEl>
                                              <p:pRg st="2" end="2"/>
                                            </p:txEl>
                                          </p:spTgt>
                                        </p:tgtEl>
                                      </p:cBhvr>
                                    </p:animEffect>
                                  </p:childTnLst>
                                </p:cTn>
                              </p:par>
                            </p:childTnLst>
                          </p:cTn>
                        </p:par>
                      </p:childTnLst>
                    </p:cTn>
                  </p:par>
                  <p:par>
                    <p:cTn id="469" fill="hold">
                      <p:stCondLst>
                        <p:cond delay="indefinite"/>
                      </p:stCondLst>
                      <p:childTnLst>
                        <p:par>
                          <p:cTn id="470" fill="hold">
                            <p:stCondLst>
                              <p:cond delay="0"/>
                            </p:stCondLst>
                            <p:childTnLst>
                              <p:par>
                                <p:cTn id="471" presetID="9" presetClass="entr" presetSubtype="0" fill="hold" nodeType="clickEffect">
                                  <p:stCondLst>
                                    <p:cond delay="0"/>
                                  </p:stCondLst>
                                  <p:childTnLst>
                                    <p:set>
                                      <p:cBhvr>
                                        <p:cTn id="472" dur="1" fill="hold">
                                          <p:stCondLst>
                                            <p:cond delay="0"/>
                                          </p:stCondLst>
                                        </p:cTn>
                                        <p:tgtEl>
                                          <p:spTgt spid="90"/>
                                        </p:tgtEl>
                                        <p:attrNameLst>
                                          <p:attrName>style.visibility</p:attrName>
                                        </p:attrNameLst>
                                      </p:cBhvr>
                                      <p:to>
                                        <p:strVal val="visible"/>
                                      </p:to>
                                    </p:set>
                                    <p:animEffect transition="in" filter="dissolve">
                                      <p:cBhvr>
                                        <p:cTn id="473" dur="500"/>
                                        <p:tgtEl>
                                          <p:spTgt spid="90"/>
                                        </p:tgtEl>
                                      </p:cBhvr>
                                    </p:animEffect>
                                  </p:childTnLst>
                                </p:cTn>
                              </p:par>
                              <p:par>
                                <p:cTn id="474" presetID="9" presetClass="entr" presetSubtype="0" fill="hold" nodeType="withEffect">
                                  <p:stCondLst>
                                    <p:cond delay="0"/>
                                  </p:stCondLst>
                                  <p:childTnLst>
                                    <p:set>
                                      <p:cBhvr>
                                        <p:cTn id="475" dur="1" fill="hold">
                                          <p:stCondLst>
                                            <p:cond delay="0"/>
                                          </p:stCondLst>
                                        </p:cTn>
                                        <p:tgtEl>
                                          <p:spTgt spid="91"/>
                                        </p:tgtEl>
                                        <p:attrNameLst>
                                          <p:attrName>style.visibility</p:attrName>
                                        </p:attrNameLst>
                                      </p:cBhvr>
                                      <p:to>
                                        <p:strVal val="visible"/>
                                      </p:to>
                                    </p:set>
                                    <p:animEffect transition="in" filter="dissolve">
                                      <p:cBhvr>
                                        <p:cTn id="476" dur="500"/>
                                        <p:tgtEl>
                                          <p:spTgt spid="91"/>
                                        </p:tgtEl>
                                      </p:cBhvr>
                                    </p:animEffect>
                                  </p:childTnLst>
                                </p:cTn>
                              </p:par>
                            </p:childTnLst>
                          </p:cTn>
                        </p:par>
                      </p:childTnLst>
                    </p:cTn>
                  </p:par>
                  <p:par>
                    <p:cTn id="477" fill="hold">
                      <p:stCondLst>
                        <p:cond delay="indefinite"/>
                      </p:stCondLst>
                      <p:childTnLst>
                        <p:par>
                          <p:cTn id="478" fill="hold">
                            <p:stCondLst>
                              <p:cond delay="0"/>
                            </p:stCondLst>
                            <p:childTnLst>
                              <p:par>
                                <p:cTn id="479" presetID="9" presetClass="entr" presetSubtype="0" fill="hold" nodeType="clickEffect">
                                  <p:stCondLst>
                                    <p:cond delay="0"/>
                                  </p:stCondLst>
                                  <p:childTnLst>
                                    <p:set>
                                      <p:cBhvr>
                                        <p:cTn id="480" dur="1" fill="hold">
                                          <p:stCondLst>
                                            <p:cond delay="0"/>
                                          </p:stCondLst>
                                        </p:cTn>
                                        <p:tgtEl>
                                          <p:spTgt spid="72">
                                            <p:txEl>
                                              <p:pRg st="6" end="6"/>
                                            </p:txEl>
                                          </p:spTgt>
                                        </p:tgtEl>
                                        <p:attrNameLst>
                                          <p:attrName>style.visibility</p:attrName>
                                        </p:attrNameLst>
                                      </p:cBhvr>
                                      <p:to>
                                        <p:strVal val="visible"/>
                                      </p:to>
                                    </p:set>
                                    <p:animEffect transition="in" filter="dissolve">
                                      <p:cBhvr>
                                        <p:cTn id="481" dur="500"/>
                                        <p:tgtEl>
                                          <p:spTgt spid="72">
                                            <p:txEl>
                                              <p:pRg st="6" end="6"/>
                                            </p:txEl>
                                          </p:spTgt>
                                        </p:tgtEl>
                                      </p:cBhvr>
                                    </p:animEffect>
                                  </p:childTnLst>
                                </p:cTn>
                              </p:par>
                              <p:par>
                                <p:cTn id="482" presetID="9" presetClass="entr" presetSubtype="0" fill="hold" nodeType="withEffect">
                                  <p:stCondLst>
                                    <p:cond delay="0"/>
                                  </p:stCondLst>
                                  <p:childTnLst>
                                    <p:set>
                                      <p:cBhvr>
                                        <p:cTn id="483" dur="1" fill="hold">
                                          <p:stCondLst>
                                            <p:cond delay="0"/>
                                          </p:stCondLst>
                                        </p:cTn>
                                        <p:tgtEl>
                                          <p:spTgt spid="92">
                                            <p:txEl>
                                              <p:pRg st="2" end="2"/>
                                            </p:txEl>
                                          </p:spTgt>
                                        </p:tgtEl>
                                        <p:attrNameLst>
                                          <p:attrName>style.visibility</p:attrName>
                                        </p:attrNameLst>
                                      </p:cBhvr>
                                      <p:to>
                                        <p:strVal val="visible"/>
                                      </p:to>
                                    </p:set>
                                    <p:animEffect transition="in" filter="dissolve">
                                      <p:cBhvr>
                                        <p:cTn id="484" dur="500"/>
                                        <p:tgtEl>
                                          <p:spTgt spid="92">
                                            <p:txEl>
                                              <p:pRg st="2" end="2"/>
                                            </p:txEl>
                                          </p:spTgt>
                                        </p:tgtEl>
                                      </p:cBhvr>
                                    </p:animEffect>
                                  </p:childTnLst>
                                </p:cTn>
                              </p:par>
                            </p:childTnLst>
                          </p:cTn>
                        </p:par>
                      </p:childTnLst>
                    </p:cTn>
                  </p:par>
                  <p:par>
                    <p:cTn id="485" fill="hold">
                      <p:stCondLst>
                        <p:cond delay="indefinite"/>
                      </p:stCondLst>
                      <p:childTnLst>
                        <p:par>
                          <p:cTn id="486" fill="hold">
                            <p:stCondLst>
                              <p:cond delay="0"/>
                            </p:stCondLst>
                            <p:childTnLst>
                              <p:par>
                                <p:cTn id="487" presetID="9" presetClass="entr" presetSubtype="0" fill="hold" nodeType="clickEffect">
                                  <p:stCondLst>
                                    <p:cond delay="0"/>
                                  </p:stCondLst>
                                  <p:childTnLst>
                                    <p:set>
                                      <p:cBhvr>
                                        <p:cTn id="488" dur="1" fill="hold">
                                          <p:stCondLst>
                                            <p:cond delay="0"/>
                                          </p:stCondLst>
                                        </p:cTn>
                                        <p:tgtEl>
                                          <p:spTgt spid="75"/>
                                        </p:tgtEl>
                                        <p:attrNameLst>
                                          <p:attrName>style.visibility</p:attrName>
                                        </p:attrNameLst>
                                      </p:cBhvr>
                                      <p:to>
                                        <p:strVal val="visible"/>
                                      </p:to>
                                    </p:set>
                                    <p:animEffect transition="in" filter="dissolve">
                                      <p:cBhvr>
                                        <p:cTn id="489" dur="500"/>
                                        <p:tgtEl>
                                          <p:spTgt spid="75"/>
                                        </p:tgtEl>
                                      </p:cBhvr>
                                    </p:animEffect>
                                  </p:childTnLst>
                                </p:cTn>
                              </p:par>
                            </p:childTnLst>
                          </p:cTn>
                        </p:par>
                      </p:childTnLst>
                    </p:cTn>
                  </p:par>
                  <p:par>
                    <p:cTn id="490" fill="hold">
                      <p:stCondLst>
                        <p:cond delay="indefinite"/>
                      </p:stCondLst>
                      <p:childTnLst>
                        <p:par>
                          <p:cTn id="491" fill="hold">
                            <p:stCondLst>
                              <p:cond delay="0"/>
                            </p:stCondLst>
                            <p:childTnLst>
                              <p:par>
                                <p:cTn id="492" presetID="9" presetClass="entr" presetSubtype="0" fill="hold" nodeType="clickEffect">
                                  <p:stCondLst>
                                    <p:cond delay="0"/>
                                  </p:stCondLst>
                                  <p:childTnLst>
                                    <p:set>
                                      <p:cBhvr>
                                        <p:cTn id="493" dur="1" fill="hold">
                                          <p:stCondLst>
                                            <p:cond delay="0"/>
                                          </p:stCondLst>
                                        </p:cTn>
                                        <p:tgtEl>
                                          <p:spTgt spid="86">
                                            <p:txEl>
                                              <p:pRg st="2" end="2"/>
                                            </p:txEl>
                                          </p:spTgt>
                                        </p:tgtEl>
                                        <p:attrNameLst>
                                          <p:attrName>style.visibility</p:attrName>
                                        </p:attrNameLst>
                                      </p:cBhvr>
                                      <p:to>
                                        <p:strVal val="visible"/>
                                      </p:to>
                                    </p:set>
                                    <p:animEffect transition="in" filter="dissolve">
                                      <p:cBhvr>
                                        <p:cTn id="494" dur="500"/>
                                        <p:tgtEl>
                                          <p:spTgt spid="86">
                                            <p:txEl>
                                              <p:pRg st="2" end="2"/>
                                            </p:txEl>
                                          </p:spTgt>
                                        </p:tgtEl>
                                      </p:cBhvr>
                                    </p:animEffect>
                                  </p:childTnLst>
                                </p:cTn>
                              </p:par>
                            </p:childTnLst>
                          </p:cTn>
                        </p:par>
                      </p:childTnLst>
                    </p:cTn>
                  </p:par>
                  <p:par>
                    <p:cTn id="495" fill="hold">
                      <p:stCondLst>
                        <p:cond delay="indefinite"/>
                      </p:stCondLst>
                      <p:childTnLst>
                        <p:par>
                          <p:cTn id="496" fill="hold">
                            <p:stCondLst>
                              <p:cond delay="0"/>
                            </p:stCondLst>
                            <p:childTnLst>
                              <p:par>
                                <p:cTn id="497" presetID="1" presetClass="emph" presetSubtype="2" fill="hold" nodeType="clickEffect">
                                  <p:stCondLst>
                                    <p:cond delay="0"/>
                                  </p:stCondLst>
                                  <p:childTnLst>
                                    <p:animClr clrSpc="rgb" dir="cw">
                                      <p:cBhvr>
                                        <p:cTn id="498" dur="2000" fill="hold"/>
                                        <p:tgtEl>
                                          <p:spTgt spid="20"/>
                                        </p:tgtEl>
                                        <p:attrNameLst>
                                          <p:attrName>fillcolor</p:attrName>
                                        </p:attrNameLst>
                                      </p:cBhvr>
                                      <p:to>
                                        <a:schemeClr val="accent2"/>
                                      </p:to>
                                    </p:animClr>
                                    <p:set>
                                      <p:cBhvr>
                                        <p:cTn id="499" dur="2000" fill="hold"/>
                                        <p:tgtEl>
                                          <p:spTgt spid="20"/>
                                        </p:tgtEl>
                                        <p:attrNameLst>
                                          <p:attrName>fill.type</p:attrName>
                                        </p:attrNameLst>
                                      </p:cBhvr>
                                      <p:to>
                                        <p:strVal val="solid"/>
                                      </p:to>
                                    </p:set>
                                    <p:set>
                                      <p:cBhvr>
                                        <p:cTn id="500" dur="2000" fill="hold"/>
                                        <p:tgtEl>
                                          <p:spTgt spid="20"/>
                                        </p:tgtEl>
                                        <p:attrNameLst>
                                          <p:attrName>fill.on</p:attrName>
                                        </p:attrNameLst>
                                      </p:cBhvr>
                                      <p:to>
                                        <p:strVal val="true"/>
                                      </p:to>
                                    </p:set>
                                  </p:childTnLst>
                                </p:cTn>
                              </p:par>
                            </p:childTnLst>
                          </p:cTn>
                        </p:par>
                      </p:childTnLst>
                    </p:cTn>
                  </p:par>
                  <p:par>
                    <p:cTn id="501" fill="hold">
                      <p:stCondLst>
                        <p:cond delay="indefinite"/>
                      </p:stCondLst>
                      <p:childTnLst>
                        <p:par>
                          <p:cTn id="502" fill="hold">
                            <p:stCondLst>
                              <p:cond delay="0"/>
                            </p:stCondLst>
                            <p:childTnLst>
                              <p:par>
                                <p:cTn id="503" presetID="9" presetClass="entr" presetSubtype="0" fill="hold" nodeType="clickEffect">
                                  <p:stCondLst>
                                    <p:cond delay="0"/>
                                  </p:stCondLst>
                                  <p:childTnLst>
                                    <p:set>
                                      <p:cBhvr>
                                        <p:cTn id="504" dur="1" fill="hold">
                                          <p:stCondLst>
                                            <p:cond delay="0"/>
                                          </p:stCondLst>
                                        </p:cTn>
                                        <p:tgtEl>
                                          <p:spTgt spid="86">
                                            <p:txEl>
                                              <p:pRg st="3" end="3"/>
                                            </p:txEl>
                                          </p:spTgt>
                                        </p:tgtEl>
                                        <p:attrNameLst>
                                          <p:attrName>style.visibility</p:attrName>
                                        </p:attrNameLst>
                                      </p:cBhvr>
                                      <p:to>
                                        <p:strVal val="visible"/>
                                      </p:to>
                                    </p:set>
                                    <p:animEffect transition="in" filter="dissolve">
                                      <p:cBhvr>
                                        <p:cTn id="505" dur="500"/>
                                        <p:tgtEl>
                                          <p:spTgt spid="86">
                                            <p:txEl>
                                              <p:pRg st="3" end="3"/>
                                            </p:txEl>
                                          </p:spTgt>
                                        </p:tgtEl>
                                      </p:cBhvr>
                                    </p:animEffect>
                                  </p:childTnLst>
                                </p:cTn>
                              </p:par>
                            </p:childTnLst>
                          </p:cTn>
                        </p:par>
                      </p:childTnLst>
                    </p:cTn>
                  </p:par>
                  <p:par>
                    <p:cTn id="506" fill="hold">
                      <p:stCondLst>
                        <p:cond delay="indefinite"/>
                      </p:stCondLst>
                      <p:childTnLst>
                        <p:par>
                          <p:cTn id="507" fill="hold">
                            <p:stCondLst>
                              <p:cond delay="0"/>
                            </p:stCondLst>
                            <p:childTnLst>
                              <p:par>
                                <p:cTn id="508" presetID="7" presetClass="emph" presetSubtype="2" fill="hold" nodeType="clickEffect">
                                  <p:stCondLst>
                                    <p:cond delay="0"/>
                                  </p:stCondLst>
                                  <p:childTnLst>
                                    <p:animClr clrSpc="rgb" dir="cw">
                                      <p:cBhvr>
                                        <p:cTn id="509" dur="2000" fill="hold"/>
                                        <p:tgtEl>
                                          <p:spTgt spid="27"/>
                                        </p:tgtEl>
                                        <p:attrNameLst>
                                          <p:attrName>stroke.color</p:attrName>
                                        </p:attrNameLst>
                                      </p:cBhvr>
                                      <p:to>
                                        <a:schemeClr val="accent2"/>
                                      </p:to>
                                    </p:animClr>
                                    <p:set>
                                      <p:cBhvr>
                                        <p:cTn id="510" dur="2000" fill="hold"/>
                                        <p:tgtEl>
                                          <p:spTgt spid="27"/>
                                        </p:tgtEl>
                                        <p:attrNameLst>
                                          <p:attrName>stroke.on</p:attrName>
                                        </p:attrNameLst>
                                      </p:cBhvr>
                                      <p:to>
                                        <p:strVal val="true"/>
                                      </p:to>
                                    </p:set>
                                  </p:childTnLst>
                                </p:cTn>
                              </p:par>
                              <p:par>
                                <p:cTn id="511" presetID="7" presetClass="emph" presetSubtype="2" fill="hold" nodeType="withEffect">
                                  <p:stCondLst>
                                    <p:cond delay="0"/>
                                  </p:stCondLst>
                                  <p:childTnLst>
                                    <p:animClr clrSpc="rgb" dir="cw">
                                      <p:cBhvr>
                                        <p:cTn id="512" dur="2000" fill="hold"/>
                                        <p:tgtEl>
                                          <p:spTgt spid="28"/>
                                        </p:tgtEl>
                                        <p:attrNameLst>
                                          <p:attrName>stroke.color</p:attrName>
                                        </p:attrNameLst>
                                      </p:cBhvr>
                                      <p:to>
                                        <a:schemeClr val="accent2"/>
                                      </p:to>
                                    </p:animClr>
                                    <p:set>
                                      <p:cBhvr>
                                        <p:cTn id="513" dur="2000" fill="hold"/>
                                        <p:tgtEl>
                                          <p:spTgt spid="28"/>
                                        </p:tgtEl>
                                        <p:attrNameLst>
                                          <p:attrName>stroke.on</p:attrName>
                                        </p:attrNameLst>
                                      </p:cBhvr>
                                      <p:to>
                                        <p:strVal val="true"/>
                                      </p:to>
                                    </p:set>
                                  </p:childTnLst>
                                </p:cTn>
                              </p:par>
                            </p:childTnLst>
                          </p:cTn>
                        </p:par>
                      </p:childTnLst>
                    </p:cTn>
                  </p:par>
                  <p:par>
                    <p:cTn id="514" fill="hold">
                      <p:stCondLst>
                        <p:cond delay="indefinite"/>
                      </p:stCondLst>
                      <p:childTnLst>
                        <p:par>
                          <p:cTn id="515" fill="hold">
                            <p:stCondLst>
                              <p:cond delay="0"/>
                            </p:stCondLst>
                            <p:childTnLst>
                              <p:par>
                                <p:cTn id="516" presetID="9" presetClass="entr" presetSubtype="0" fill="hold" nodeType="clickEffect">
                                  <p:stCondLst>
                                    <p:cond delay="0"/>
                                  </p:stCondLst>
                                  <p:childTnLst>
                                    <p:set>
                                      <p:cBhvr>
                                        <p:cTn id="517" dur="1" fill="hold">
                                          <p:stCondLst>
                                            <p:cond delay="0"/>
                                          </p:stCondLst>
                                        </p:cTn>
                                        <p:tgtEl>
                                          <p:spTgt spid="93"/>
                                        </p:tgtEl>
                                        <p:attrNameLst>
                                          <p:attrName>style.visibility</p:attrName>
                                        </p:attrNameLst>
                                      </p:cBhvr>
                                      <p:to>
                                        <p:strVal val="visible"/>
                                      </p:to>
                                    </p:set>
                                    <p:animEffect transition="in" filter="dissolve">
                                      <p:cBhvr>
                                        <p:cTn id="518" dur="500"/>
                                        <p:tgtEl>
                                          <p:spTgt spid="93"/>
                                        </p:tgtEl>
                                      </p:cBhvr>
                                    </p:animEffect>
                                  </p:childTnLst>
                                </p:cTn>
                              </p:par>
                              <p:par>
                                <p:cTn id="519" presetID="9" presetClass="entr" presetSubtype="0" fill="hold" nodeType="withEffect">
                                  <p:stCondLst>
                                    <p:cond delay="0"/>
                                  </p:stCondLst>
                                  <p:childTnLst>
                                    <p:set>
                                      <p:cBhvr>
                                        <p:cTn id="520" dur="1" fill="hold">
                                          <p:stCondLst>
                                            <p:cond delay="0"/>
                                          </p:stCondLst>
                                        </p:cTn>
                                        <p:tgtEl>
                                          <p:spTgt spid="94"/>
                                        </p:tgtEl>
                                        <p:attrNameLst>
                                          <p:attrName>style.visibility</p:attrName>
                                        </p:attrNameLst>
                                      </p:cBhvr>
                                      <p:to>
                                        <p:strVal val="visible"/>
                                      </p:to>
                                    </p:set>
                                    <p:animEffect transition="in" filter="dissolve">
                                      <p:cBhvr>
                                        <p:cTn id="521" dur="500"/>
                                        <p:tgtEl>
                                          <p:spTgt spid="94"/>
                                        </p:tgtEl>
                                      </p:cBhvr>
                                    </p:animEffect>
                                  </p:childTnLst>
                                </p:cTn>
                              </p:par>
                            </p:childTnLst>
                          </p:cTn>
                        </p:par>
                      </p:childTnLst>
                    </p:cTn>
                  </p:par>
                  <p:par>
                    <p:cTn id="522" fill="hold">
                      <p:stCondLst>
                        <p:cond delay="indefinite"/>
                      </p:stCondLst>
                      <p:childTnLst>
                        <p:par>
                          <p:cTn id="523" fill="hold">
                            <p:stCondLst>
                              <p:cond delay="0"/>
                            </p:stCondLst>
                            <p:childTnLst>
                              <p:par>
                                <p:cTn id="524" presetID="9" presetClass="entr" presetSubtype="0" fill="hold" nodeType="clickEffect">
                                  <p:stCondLst>
                                    <p:cond delay="0"/>
                                  </p:stCondLst>
                                  <p:childTnLst>
                                    <p:set>
                                      <p:cBhvr>
                                        <p:cTn id="525" dur="1" fill="hold">
                                          <p:stCondLst>
                                            <p:cond delay="0"/>
                                          </p:stCondLst>
                                        </p:cTn>
                                        <p:tgtEl>
                                          <p:spTgt spid="67">
                                            <p:txEl>
                                              <p:pRg st="3" end="3"/>
                                            </p:txEl>
                                          </p:spTgt>
                                        </p:tgtEl>
                                        <p:attrNameLst>
                                          <p:attrName>style.visibility</p:attrName>
                                        </p:attrNameLst>
                                      </p:cBhvr>
                                      <p:to>
                                        <p:strVal val="visible"/>
                                      </p:to>
                                    </p:set>
                                    <p:animEffect transition="in" filter="dissolve">
                                      <p:cBhvr>
                                        <p:cTn id="526" dur="500"/>
                                        <p:tgtEl>
                                          <p:spTgt spid="67">
                                            <p:txEl>
                                              <p:pRg st="3" end="3"/>
                                            </p:txEl>
                                          </p:spTgt>
                                        </p:tgtEl>
                                      </p:cBhvr>
                                    </p:animEffect>
                                  </p:childTnLst>
                                </p:cTn>
                              </p:par>
                              <p:par>
                                <p:cTn id="527" presetID="9" presetClass="entr" presetSubtype="0" fill="hold" nodeType="withEffect">
                                  <p:stCondLst>
                                    <p:cond delay="0"/>
                                  </p:stCondLst>
                                  <p:childTnLst>
                                    <p:set>
                                      <p:cBhvr>
                                        <p:cTn id="528" dur="1" fill="hold">
                                          <p:stCondLst>
                                            <p:cond delay="0"/>
                                          </p:stCondLst>
                                        </p:cTn>
                                        <p:tgtEl>
                                          <p:spTgt spid="89">
                                            <p:txEl>
                                              <p:pRg st="6" end="6"/>
                                            </p:txEl>
                                          </p:spTgt>
                                        </p:tgtEl>
                                        <p:attrNameLst>
                                          <p:attrName>style.visibility</p:attrName>
                                        </p:attrNameLst>
                                      </p:cBhvr>
                                      <p:to>
                                        <p:strVal val="visible"/>
                                      </p:to>
                                    </p:set>
                                    <p:animEffect transition="in" filter="dissolve">
                                      <p:cBhvr>
                                        <p:cTn id="529" dur="500"/>
                                        <p:tgtEl>
                                          <p:spTgt spid="89">
                                            <p:txEl>
                                              <p:pRg st="6" end="6"/>
                                            </p:txEl>
                                          </p:spTgt>
                                        </p:tgtEl>
                                      </p:cBhvr>
                                    </p:animEffect>
                                  </p:childTnLst>
                                </p:cTn>
                              </p:par>
                            </p:childTnLst>
                          </p:cTn>
                        </p:par>
                      </p:childTnLst>
                    </p:cTn>
                  </p:par>
                  <p:par>
                    <p:cTn id="530" fill="hold">
                      <p:stCondLst>
                        <p:cond delay="indefinite"/>
                      </p:stCondLst>
                      <p:childTnLst>
                        <p:par>
                          <p:cTn id="531" fill="hold">
                            <p:stCondLst>
                              <p:cond delay="0"/>
                            </p:stCondLst>
                            <p:childTnLst>
                              <p:par>
                                <p:cTn id="532" presetID="9" presetClass="entr" presetSubtype="0" fill="hold" nodeType="clickEffect">
                                  <p:stCondLst>
                                    <p:cond delay="0"/>
                                  </p:stCondLst>
                                  <p:childTnLst>
                                    <p:set>
                                      <p:cBhvr>
                                        <p:cTn id="533" dur="1" fill="hold">
                                          <p:stCondLst>
                                            <p:cond delay="0"/>
                                          </p:stCondLst>
                                        </p:cTn>
                                        <p:tgtEl>
                                          <p:spTgt spid="95"/>
                                        </p:tgtEl>
                                        <p:attrNameLst>
                                          <p:attrName>style.visibility</p:attrName>
                                        </p:attrNameLst>
                                      </p:cBhvr>
                                      <p:to>
                                        <p:strVal val="visible"/>
                                      </p:to>
                                    </p:set>
                                    <p:animEffect transition="in" filter="dissolve">
                                      <p:cBhvr>
                                        <p:cTn id="534" dur="500"/>
                                        <p:tgtEl>
                                          <p:spTgt spid="95"/>
                                        </p:tgtEl>
                                      </p:cBhvr>
                                    </p:animEffect>
                                  </p:childTnLst>
                                </p:cTn>
                              </p:par>
                              <p:par>
                                <p:cTn id="535" presetID="9" presetClass="entr" presetSubtype="0" fill="hold" nodeType="withEffect">
                                  <p:stCondLst>
                                    <p:cond delay="0"/>
                                  </p:stCondLst>
                                  <p:childTnLst>
                                    <p:set>
                                      <p:cBhvr>
                                        <p:cTn id="536" dur="1" fill="hold">
                                          <p:stCondLst>
                                            <p:cond delay="0"/>
                                          </p:stCondLst>
                                        </p:cTn>
                                        <p:tgtEl>
                                          <p:spTgt spid="96"/>
                                        </p:tgtEl>
                                        <p:attrNameLst>
                                          <p:attrName>style.visibility</p:attrName>
                                        </p:attrNameLst>
                                      </p:cBhvr>
                                      <p:to>
                                        <p:strVal val="visible"/>
                                      </p:to>
                                    </p:set>
                                    <p:animEffect transition="in" filter="dissolve">
                                      <p:cBhvr>
                                        <p:cTn id="537" dur="500"/>
                                        <p:tgtEl>
                                          <p:spTgt spid="96"/>
                                        </p:tgtEl>
                                      </p:cBhvr>
                                    </p:animEffect>
                                  </p:childTnLst>
                                </p:cTn>
                              </p:par>
                            </p:childTnLst>
                          </p:cTn>
                        </p:par>
                      </p:childTnLst>
                    </p:cTn>
                  </p:par>
                  <p:par>
                    <p:cTn id="538" fill="hold">
                      <p:stCondLst>
                        <p:cond delay="indefinite"/>
                      </p:stCondLst>
                      <p:childTnLst>
                        <p:par>
                          <p:cTn id="539" fill="hold">
                            <p:stCondLst>
                              <p:cond delay="0"/>
                            </p:stCondLst>
                            <p:childTnLst>
                              <p:par>
                                <p:cTn id="540" presetID="9" presetClass="entr" presetSubtype="0" fill="hold" nodeType="clickEffect">
                                  <p:stCondLst>
                                    <p:cond delay="0"/>
                                  </p:stCondLst>
                                  <p:childTnLst>
                                    <p:set>
                                      <p:cBhvr>
                                        <p:cTn id="541" dur="1" fill="hold">
                                          <p:stCondLst>
                                            <p:cond delay="0"/>
                                          </p:stCondLst>
                                        </p:cTn>
                                        <p:tgtEl>
                                          <p:spTgt spid="72">
                                            <p:txEl>
                                              <p:pRg st="3" end="3"/>
                                            </p:txEl>
                                          </p:spTgt>
                                        </p:tgtEl>
                                        <p:attrNameLst>
                                          <p:attrName>style.visibility</p:attrName>
                                        </p:attrNameLst>
                                      </p:cBhvr>
                                      <p:to>
                                        <p:strVal val="visible"/>
                                      </p:to>
                                    </p:set>
                                    <p:animEffect transition="in" filter="dissolve">
                                      <p:cBhvr>
                                        <p:cTn id="542" dur="500"/>
                                        <p:tgtEl>
                                          <p:spTgt spid="72">
                                            <p:txEl>
                                              <p:pRg st="3" end="3"/>
                                            </p:txEl>
                                          </p:spTgt>
                                        </p:tgtEl>
                                      </p:cBhvr>
                                    </p:animEffect>
                                  </p:childTnLst>
                                </p:cTn>
                              </p:par>
                              <p:par>
                                <p:cTn id="543" presetID="9" presetClass="entr" presetSubtype="0" fill="hold" nodeType="withEffect">
                                  <p:stCondLst>
                                    <p:cond delay="0"/>
                                  </p:stCondLst>
                                  <p:childTnLst>
                                    <p:set>
                                      <p:cBhvr>
                                        <p:cTn id="544" dur="1" fill="hold">
                                          <p:stCondLst>
                                            <p:cond delay="0"/>
                                          </p:stCondLst>
                                        </p:cTn>
                                        <p:tgtEl>
                                          <p:spTgt spid="92">
                                            <p:txEl>
                                              <p:pRg st="6" end="6"/>
                                            </p:txEl>
                                          </p:spTgt>
                                        </p:tgtEl>
                                        <p:attrNameLst>
                                          <p:attrName>style.visibility</p:attrName>
                                        </p:attrNameLst>
                                      </p:cBhvr>
                                      <p:to>
                                        <p:strVal val="visible"/>
                                      </p:to>
                                    </p:set>
                                    <p:animEffect transition="in" filter="dissolve">
                                      <p:cBhvr>
                                        <p:cTn id="545" dur="500"/>
                                        <p:tgtEl>
                                          <p:spTgt spid="92">
                                            <p:txEl>
                                              <p:pRg st="6" end="6"/>
                                            </p:txEl>
                                          </p:spTgt>
                                        </p:tgtEl>
                                      </p:cBhvr>
                                    </p:animEffect>
                                  </p:childTnLst>
                                </p:cTn>
                              </p:par>
                            </p:childTnLst>
                          </p:cTn>
                        </p:par>
                      </p:childTnLst>
                    </p:cTn>
                  </p:par>
                  <p:par>
                    <p:cTn id="546" fill="hold">
                      <p:stCondLst>
                        <p:cond delay="indefinite"/>
                      </p:stCondLst>
                      <p:childTnLst>
                        <p:par>
                          <p:cTn id="547" fill="hold">
                            <p:stCondLst>
                              <p:cond delay="0"/>
                            </p:stCondLst>
                            <p:childTnLst>
                              <p:par>
                                <p:cTn id="548" presetID="9" presetClass="entr" presetSubtype="0" fill="hold" nodeType="clickEffect">
                                  <p:stCondLst>
                                    <p:cond delay="0"/>
                                  </p:stCondLst>
                                  <p:childTnLst>
                                    <p:set>
                                      <p:cBhvr>
                                        <p:cTn id="549" dur="1" fill="hold">
                                          <p:stCondLst>
                                            <p:cond delay="0"/>
                                          </p:stCondLst>
                                        </p:cTn>
                                        <p:tgtEl>
                                          <p:spTgt spid="76"/>
                                        </p:tgtEl>
                                        <p:attrNameLst>
                                          <p:attrName>style.visibility</p:attrName>
                                        </p:attrNameLst>
                                      </p:cBhvr>
                                      <p:to>
                                        <p:strVal val="visible"/>
                                      </p:to>
                                    </p:set>
                                    <p:animEffect transition="in" filter="dissolve">
                                      <p:cBhvr>
                                        <p:cTn id="550" dur="500"/>
                                        <p:tgtEl>
                                          <p:spTgt spid="76"/>
                                        </p:tgtEl>
                                      </p:cBhvr>
                                    </p:animEffect>
                                  </p:childTnLst>
                                </p:cTn>
                              </p:par>
                            </p:childTnLst>
                          </p:cTn>
                        </p:par>
                      </p:childTnLst>
                    </p:cTn>
                  </p:par>
                  <p:par>
                    <p:cTn id="551" fill="hold">
                      <p:stCondLst>
                        <p:cond delay="indefinite"/>
                      </p:stCondLst>
                      <p:childTnLst>
                        <p:par>
                          <p:cTn id="552" fill="hold">
                            <p:stCondLst>
                              <p:cond delay="0"/>
                            </p:stCondLst>
                            <p:childTnLst>
                              <p:par>
                                <p:cTn id="553" presetID="9" presetClass="entr" presetSubtype="0" fill="hold" nodeType="clickEffect">
                                  <p:stCondLst>
                                    <p:cond delay="0"/>
                                  </p:stCondLst>
                                  <p:childTnLst>
                                    <p:set>
                                      <p:cBhvr>
                                        <p:cTn id="554" dur="1" fill="hold">
                                          <p:stCondLst>
                                            <p:cond delay="0"/>
                                          </p:stCondLst>
                                        </p:cTn>
                                        <p:tgtEl>
                                          <p:spTgt spid="86">
                                            <p:txEl>
                                              <p:pRg st="4" end="4"/>
                                            </p:txEl>
                                          </p:spTgt>
                                        </p:tgtEl>
                                        <p:attrNameLst>
                                          <p:attrName>style.visibility</p:attrName>
                                        </p:attrNameLst>
                                      </p:cBhvr>
                                      <p:to>
                                        <p:strVal val="visible"/>
                                      </p:to>
                                    </p:set>
                                    <p:animEffect transition="in" filter="dissolve">
                                      <p:cBhvr>
                                        <p:cTn id="555" dur="500"/>
                                        <p:tgtEl>
                                          <p:spTgt spid="86">
                                            <p:txEl>
                                              <p:pRg st="4" end="4"/>
                                            </p:txEl>
                                          </p:spTgt>
                                        </p:tgtEl>
                                      </p:cBhvr>
                                    </p:animEffect>
                                  </p:childTnLst>
                                </p:cTn>
                              </p:par>
                            </p:childTnLst>
                          </p:cTn>
                        </p:par>
                      </p:childTnLst>
                    </p:cTn>
                  </p:par>
                  <p:par>
                    <p:cTn id="556" fill="hold">
                      <p:stCondLst>
                        <p:cond delay="indefinite"/>
                      </p:stCondLst>
                      <p:childTnLst>
                        <p:par>
                          <p:cTn id="557" fill="hold">
                            <p:stCondLst>
                              <p:cond delay="0"/>
                            </p:stCondLst>
                            <p:childTnLst>
                              <p:par>
                                <p:cTn id="558" presetID="1" presetClass="emph" presetSubtype="2" fill="hold" nodeType="clickEffect">
                                  <p:stCondLst>
                                    <p:cond delay="0"/>
                                  </p:stCondLst>
                                  <p:childTnLst>
                                    <p:animClr clrSpc="rgb" dir="cw">
                                      <p:cBhvr>
                                        <p:cTn id="559" dur="2000" fill="hold"/>
                                        <p:tgtEl>
                                          <p:spTgt spid="21"/>
                                        </p:tgtEl>
                                        <p:attrNameLst>
                                          <p:attrName>fillcolor</p:attrName>
                                        </p:attrNameLst>
                                      </p:cBhvr>
                                      <p:to>
                                        <a:schemeClr val="accent2"/>
                                      </p:to>
                                    </p:animClr>
                                    <p:set>
                                      <p:cBhvr>
                                        <p:cTn id="560" dur="2000" fill="hold"/>
                                        <p:tgtEl>
                                          <p:spTgt spid="21"/>
                                        </p:tgtEl>
                                        <p:attrNameLst>
                                          <p:attrName>fill.type</p:attrName>
                                        </p:attrNameLst>
                                      </p:cBhvr>
                                      <p:to>
                                        <p:strVal val="solid"/>
                                      </p:to>
                                    </p:set>
                                    <p:set>
                                      <p:cBhvr>
                                        <p:cTn id="561" dur="2000" fill="hold"/>
                                        <p:tgtEl>
                                          <p:spTgt spid="21"/>
                                        </p:tgtEl>
                                        <p:attrNameLst>
                                          <p:attrName>fill.on</p:attrName>
                                        </p:attrNameLst>
                                      </p:cBhvr>
                                      <p:to>
                                        <p:strVal val="true"/>
                                      </p:to>
                                    </p:set>
                                  </p:childTnLst>
                                </p:cTn>
                              </p:par>
                            </p:childTnLst>
                          </p:cTn>
                        </p:par>
                      </p:childTnLst>
                    </p:cTn>
                  </p:par>
                  <p:par>
                    <p:cTn id="562" fill="hold">
                      <p:stCondLst>
                        <p:cond delay="indefinite"/>
                      </p:stCondLst>
                      <p:childTnLst>
                        <p:par>
                          <p:cTn id="563" fill="hold">
                            <p:stCondLst>
                              <p:cond delay="0"/>
                            </p:stCondLst>
                            <p:childTnLst>
                              <p:par>
                                <p:cTn id="564" presetID="9" presetClass="entr" presetSubtype="0" fill="hold" nodeType="clickEffect">
                                  <p:stCondLst>
                                    <p:cond delay="0"/>
                                  </p:stCondLst>
                                  <p:childTnLst>
                                    <p:set>
                                      <p:cBhvr>
                                        <p:cTn id="565" dur="1" fill="hold">
                                          <p:stCondLst>
                                            <p:cond delay="0"/>
                                          </p:stCondLst>
                                        </p:cTn>
                                        <p:tgtEl>
                                          <p:spTgt spid="86">
                                            <p:txEl>
                                              <p:pRg st="5" end="5"/>
                                            </p:txEl>
                                          </p:spTgt>
                                        </p:tgtEl>
                                        <p:attrNameLst>
                                          <p:attrName>style.visibility</p:attrName>
                                        </p:attrNameLst>
                                      </p:cBhvr>
                                      <p:to>
                                        <p:strVal val="visible"/>
                                      </p:to>
                                    </p:set>
                                    <p:animEffect transition="in" filter="dissolve">
                                      <p:cBhvr>
                                        <p:cTn id="566" dur="500"/>
                                        <p:tgtEl>
                                          <p:spTgt spid="86">
                                            <p:txEl>
                                              <p:pRg st="5" end="5"/>
                                            </p:txEl>
                                          </p:spTgt>
                                        </p:tgtEl>
                                      </p:cBhvr>
                                    </p:animEffect>
                                  </p:childTnLst>
                                </p:cTn>
                              </p:par>
                            </p:childTnLst>
                          </p:cTn>
                        </p:par>
                      </p:childTnLst>
                    </p:cTn>
                  </p:par>
                  <p:par>
                    <p:cTn id="567" fill="hold">
                      <p:stCondLst>
                        <p:cond delay="indefinite"/>
                      </p:stCondLst>
                      <p:childTnLst>
                        <p:par>
                          <p:cTn id="568" fill="hold">
                            <p:stCondLst>
                              <p:cond delay="0"/>
                            </p:stCondLst>
                            <p:childTnLst>
                              <p:par>
                                <p:cTn id="569" presetID="7" presetClass="emph" presetSubtype="2" fill="hold" nodeType="clickEffect">
                                  <p:stCondLst>
                                    <p:cond delay="0"/>
                                  </p:stCondLst>
                                  <p:childTnLst>
                                    <p:animClr clrSpc="rgb" dir="cw">
                                      <p:cBhvr>
                                        <p:cTn id="570" dur="2000" fill="hold"/>
                                        <p:tgtEl>
                                          <p:spTgt spid="7"/>
                                        </p:tgtEl>
                                        <p:attrNameLst>
                                          <p:attrName>stroke.color</p:attrName>
                                        </p:attrNameLst>
                                      </p:cBhvr>
                                      <p:to>
                                        <a:schemeClr val="accent2"/>
                                      </p:to>
                                    </p:animClr>
                                    <p:set>
                                      <p:cBhvr>
                                        <p:cTn id="571" dur="2000" fill="hold"/>
                                        <p:tgtEl>
                                          <p:spTgt spid="7"/>
                                        </p:tgtEl>
                                        <p:attrNameLst>
                                          <p:attrName>stroke.on</p:attrName>
                                        </p:attrNameLst>
                                      </p:cBhvr>
                                      <p:to>
                                        <p:strVal val="true"/>
                                      </p:to>
                                    </p:set>
                                  </p:childTnLst>
                                </p:cTn>
                              </p:par>
                            </p:childTnLst>
                          </p:cTn>
                        </p:par>
                      </p:childTnLst>
                    </p:cTn>
                  </p:par>
                  <p:par>
                    <p:cTn id="572" fill="hold">
                      <p:stCondLst>
                        <p:cond delay="indefinite"/>
                      </p:stCondLst>
                      <p:childTnLst>
                        <p:par>
                          <p:cTn id="573" fill="hold">
                            <p:stCondLst>
                              <p:cond delay="0"/>
                            </p:stCondLst>
                            <p:childTnLst>
                              <p:par>
                                <p:cTn id="574" presetID="9" presetClass="entr" presetSubtype="0" fill="hold" nodeType="clickEffect">
                                  <p:stCondLst>
                                    <p:cond delay="0"/>
                                  </p:stCondLst>
                                  <p:childTnLst>
                                    <p:set>
                                      <p:cBhvr>
                                        <p:cTn id="575" dur="1" fill="hold">
                                          <p:stCondLst>
                                            <p:cond delay="0"/>
                                          </p:stCondLst>
                                        </p:cTn>
                                        <p:tgtEl>
                                          <p:spTgt spid="86">
                                            <p:txEl>
                                              <p:pRg st="6" end="6"/>
                                            </p:txEl>
                                          </p:spTgt>
                                        </p:tgtEl>
                                        <p:attrNameLst>
                                          <p:attrName>style.visibility</p:attrName>
                                        </p:attrNameLst>
                                      </p:cBhvr>
                                      <p:to>
                                        <p:strVal val="visible"/>
                                      </p:to>
                                    </p:set>
                                    <p:animEffect transition="in" filter="dissolve">
                                      <p:cBhvr>
                                        <p:cTn id="576" dur="500"/>
                                        <p:tgtEl>
                                          <p:spTgt spid="86">
                                            <p:txEl>
                                              <p:pRg st="6" end="6"/>
                                            </p:txEl>
                                          </p:spTgt>
                                        </p:tgtEl>
                                      </p:cBhvr>
                                    </p:animEffect>
                                  </p:childTnLst>
                                </p:cTn>
                              </p:par>
                            </p:childTnLst>
                          </p:cTn>
                        </p:par>
                      </p:childTnLst>
                    </p:cTn>
                  </p:par>
                  <p:par>
                    <p:cTn id="577" fill="hold">
                      <p:stCondLst>
                        <p:cond delay="indefinite"/>
                      </p:stCondLst>
                      <p:childTnLst>
                        <p:par>
                          <p:cTn id="578" fill="hold">
                            <p:stCondLst>
                              <p:cond delay="0"/>
                            </p:stCondLst>
                            <p:childTnLst>
                              <p:par>
                                <p:cTn id="579" presetID="9" presetClass="entr" presetSubtype="0" fill="hold" nodeType="clickEffect">
                                  <p:stCondLst>
                                    <p:cond delay="0"/>
                                  </p:stCondLst>
                                  <p:childTnLst>
                                    <p:set>
                                      <p:cBhvr>
                                        <p:cTn id="580" dur="1" fill="hold">
                                          <p:stCondLst>
                                            <p:cond delay="0"/>
                                          </p:stCondLst>
                                        </p:cTn>
                                        <p:tgtEl>
                                          <p:spTgt spid="79"/>
                                        </p:tgtEl>
                                        <p:attrNameLst>
                                          <p:attrName>style.visibility</p:attrName>
                                        </p:attrNameLst>
                                      </p:cBhvr>
                                      <p:to>
                                        <p:strVal val="visible"/>
                                      </p:to>
                                    </p:set>
                                    <p:animEffect transition="in" filter="dissolve">
                                      <p:cBhvr>
                                        <p:cTn id="581" dur="500"/>
                                        <p:tgtEl>
                                          <p:spTgt spid="79"/>
                                        </p:tgtEl>
                                      </p:cBhvr>
                                    </p:animEffect>
                                  </p:childTnLst>
                                </p:cTn>
                              </p:par>
                            </p:childTnLst>
                          </p:cTn>
                        </p:par>
                      </p:childTnLst>
                    </p:cTn>
                  </p:par>
                  <p:par>
                    <p:cTn id="582" fill="hold">
                      <p:stCondLst>
                        <p:cond delay="indefinite"/>
                      </p:stCondLst>
                      <p:childTnLst>
                        <p:par>
                          <p:cTn id="583" fill="hold">
                            <p:stCondLst>
                              <p:cond delay="0"/>
                            </p:stCondLst>
                            <p:childTnLst>
                              <p:par>
                                <p:cTn id="584" presetID="1" presetClass="emph" presetSubtype="2" fill="hold" nodeType="clickEffect">
                                  <p:stCondLst>
                                    <p:cond delay="0"/>
                                  </p:stCondLst>
                                  <p:childTnLst>
                                    <p:animClr clrSpc="rgb" dir="cw">
                                      <p:cBhvr>
                                        <p:cTn id="585" dur="2000" fill="hold"/>
                                        <p:tgtEl>
                                          <p:spTgt spid="24"/>
                                        </p:tgtEl>
                                        <p:attrNameLst>
                                          <p:attrName>fillcolor</p:attrName>
                                        </p:attrNameLst>
                                      </p:cBhvr>
                                      <p:to>
                                        <a:schemeClr val="accent2"/>
                                      </p:to>
                                    </p:animClr>
                                    <p:set>
                                      <p:cBhvr>
                                        <p:cTn id="586" dur="2000" fill="hold"/>
                                        <p:tgtEl>
                                          <p:spTgt spid="24"/>
                                        </p:tgtEl>
                                        <p:attrNameLst>
                                          <p:attrName>fill.type</p:attrName>
                                        </p:attrNameLst>
                                      </p:cBhvr>
                                      <p:to>
                                        <p:strVal val="solid"/>
                                      </p:to>
                                    </p:set>
                                    <p:set>
                                      <p:cBhvr>
                                        <p:cTn id="587" dur="2000" fill="hold"/>
                                        <p:tgtEl>
                                          <p:spTgt spid="24"/>
                                        </p:tgtEl>
                                        <p:attrNameLst>
                                          <p:attrName>fill.on</p:attrName>
                                        </p:attrNameLst>
                                      </p:cBhvr>
                                      <p:to>
                                        <p:strVal val="true"/>
                                      </p:to>
                                    </p:set>
                                  </p:childTnLst>
                                </p:cTn>
                              </p:par>
                            </p:childTnLst>
                          </p:cTn>
                        </p:par>
                      </p:childTnLst>
                    </p:cTn>
                  </p:par>
                  <p:par>
                    <p:cTn id="588" fill="hold">
                      <p:stCondLst>
                        <p:cond delay="indefinite"/>
                      </p:stCondLst>
                      <p:childTnLst>
                        <p:par>
                          <p:cTn id="589" fill="hold">
                            <p:stCondLst>
                              <p:cond delay="0"/>
                            </p:stCondLst>
                            <p:childTnLst>
                              <p:par>
                                <p:cTn id="590" presetID="9" presetClass="entr" presetSubtype="0" fill="hold" nodeType="clickEffect">
                                  <p:stCondLst>
                                    <p:cond delay="0"/>
                                  </p:stCondLst>
                                  <p:childTnLst>
                                    <p:set>
                                      <p:cBhvr>
                                        <p:cTn id="591" dur="1" fill="hold">
                                          <p:stCondLst>
                                            <p:cond delay="0"/>
                                          </p:stCondLst>
                                        </p:cTn>
                                        <p:tgtEl>
                                          <p:spTgt spid="86">
                                            <p:txEl>
                                              <p:pRg st="7" end="7"/>
                                            </p:txEl>
                                          </p:spTgt>
                                        </p:tgtEl>
                                        <p:attrNameLst>
                                          <p:attrName>style.visibility</p:attrName>
                                        </p:attrNameLst>
                                      </p:cBhvr>
                                      <p:to>
                                        <p:strVal val="visible"/>
                                      </p:to>
                                    </p:set>
                                    <p:animEffect transition="in" filter="dissolve">
                                      <p:cBhvr>
                                        <p:cTn id="592" dur="500"/>
                                        <p:tgtEl>
                                          <p:spTgt spid="86">
                                            <p:txEl>
                                              <p:pRg st="7" end="7"/>
                                            </p:txEl>
                                          </p:spTgt>
                                        </p:tgtEl>
                                      </p:cBhvr>
                                    </p:animEffect>
                                  </p:childTnLst>
                                </p:cTn>
                              </p:par>
                            </p:childTnLst>
                          </p:cTn>
                        </p:par>
                      </p:childTnLst>
                    </p:cTn>
                  </p:par>
                  <p:par>
                    <p:cTn id="593" fill="hold">
                      <p:stCondLst>
                        <p:cond delay="indefinite"/>
                      </p:stCondLst>
                      <p:childTnLst>
                        <p:par>
                          <p:cTn id="594" fill="hold">
                            <p:stCondLst>
                              <p:cond delay="0"/>
                            </p:stCondLst>
                            <p:childTnLst>
                              <p:par>
                                <p:cTn id="595" presetID="7" presetClass="emph" presetSubtype="2" fill="hold" nodeType="clickEffect">
                                  <p:stCondLst>
                                    <p:cond delay="0"/>
                                  </p:stCondLst>
                                  <p:childTnLst>
                                    <p:animClr clrSpc="rgb" dir="cw">
                                      <p:cBhvr>
                                        <p:cTn id="596" dur="2000" fill="hold"/>
                                        <p:tgtEl>
                                          <p:spTgt spid="19"/>
                                        </p:tgtEl>
                                        <p:attrNameLst>
                                          <p:attrName>stroke.color</p:attrName>
                                        </p:attrNameLst>
                                      </p:cBhvr>
                                      <p:to>
                                        <a:schemeClr val="tx1"/>
                                      </p:to>
                                    </p:animClr>
                                    <p:set>
                                      <p:cBhvr>
                                        <p:cTn id="597" dur="2000" fill="hold"/>
                                        <p:tgtEl>
                                          <p:spTgt spid="19"/>
                                        </p:tgtEl>
                                        <p:attrNameLst>
                                          <p:attrName>stroke.on</p:attrName>
                                        </p:attrNameLst>
                                      </p:cBhvr>
                                      <p:to>
                                        <p:strVal val="true"/>
                                      </p:to>
                                    </p:set>
                                  </p:childTnLst>
                                </p:cTn>
                              </p:par>
                              <p:par>
                                <p:cTn id="598" presetID="7" presetClass="emph" presetSubtype="2" fill="hold" nodeType="withEffect">
                                  <p:stCondLst>
                                    <p:cond delay="0"/>
                                  </p:stCondLst>
                                  <p:childTnLst>
                                    <p:animClr clrSpc="rgb" dir="cw">
                                      <p:cBhvr>
                                        <p:cTn id="599" dur="2000" fill="hold"/>
                                        <p:tgtEl>
                                          <p:spTgt spid="17"/>
                                        </p:tgtEl>
                                        <p:attrNameLst>
                                          <p:attrName>stroke.color</p:attrName>
                                        </p:attrNameLst>
                                      </p:cBhvr>
                                      <p:to>
                                        <a:schemeClr val="tx1"/>
                                      </p:to>
                                    </p:animClr>
                                    <p:set>
                                      <p:cBhvr>
                                        <p:cTn id="600" dur="2000" fill="hold"/>
                                        <p:tgtEl>
                                          <p:spTgt spid="17"/>
                                        </p:tgtEl>
                                        <p:attrNameLst>
                                          <p:attrName>stroke.on</p:attrName>
                                        </p:attrNameLst>
                                      </p:cBhvr>
                                      <p:to>
                                        <p:strVal val="true"/>
                                      </p:to>
                                    </p:set>
                                  </p:childTnLst>
                                </p:cTn>
                              </p:par>
                              <p:par>
                                <p:cTn id="601" presetID="7" presetClass="emph" presetSubtype="2" fill="hold" nodeType="withEffect">
                                  <p:stCondLst>
                                    <p:cond delay="0"/>
                                  </p:stCondLst>
                                  <p:childTnLst>
                                    <p:animClr clrSpc="rgb" dir="cw">
                                      <p:cBhvr>
                                        <p:cTn id="602" dur="2000" fill="hold"/>
                                        <p:tgtEl>
                                          <p:spTgt spid="10"/>
                                        </p:tgtEl>
                                        <p:attrNameLst>
                                          <p:attrName>stroke.color</p:attrName>
                                        </p:attrNameLst>
                                      </p:cBhvr>
                                      <p:to>
                                        <a:schemeClr val="tx1"/>
                                      </p:to>
                                    </p:animClr>
                                    <p:set>
                                      <p:cBhvr>
                                        <p:cTn id="603" dur="2000" fill="hold"/>
                                        <p:tgtEl>
                                          <p:spTgt spid="10"/>
                                        </p:tgtEl>
                                        <p:attrNameLst>
                                          <p:attrName>stroke.on</p:attrName>
                                        </p:attrNameLst>
                                      </p:cBhvr>
                                      <p:to>
                                        <p:strVal val="true"/>
                                      </p:to>
                                    </p:set>
                                  </p:childTnLst>
                                </p:cTn>
                              </p:par>
                              <p:par>
                                <p:cTn id="604" presetID="7" presetClass="emph" presetSubtype="2" fill="hold" nodeType="withEffect">
                                  <p:stCondLst>
                                    <p:cond delay="0"/>
                                  </p:stCondLst>
                                  <p:childTnLst>
                                    <p:animClr clrSpc="rgb" dir="cw">
                                      <p:cBhvr>
                                        <p:cTn id="605" dur="2000" fill="hold"/>
                                        <p:tgtEl>
                                          <p:spTgt spid="16"/>
                                        </p:tgtEl>
                                        <p:attrNameLst>
                                          <p:attrName>stroke.color</p:attrName>
                                        </p:attrNameLst>
                                      </p:cBhvr>
                                      <p:to>
                                        <a:schemeClr val="tx1"/>
                                      </p:to>
                                    </p:animClr>
                                    <p:set>
                                      <p:cBhvr>
                                        <p:cTn id="606" dur="2000" fill="hold"/>
                                        <p:tgtEl>
                                          <p:spTgt spid="16"/>
                                        </p:tgtEl>
                                        <p:attrNameLst>
                                          <p:attrName>stroke.on</p:attrName>
                                        </p:attrNameLst>
                                      </p:cBhvr>
                                      <p:to>
                                        <p:strVal val="true"/>
                                      </p:to>
                                    </p:set>
                                  </p:childTnLst>
                                </p:cTn>
                              </p:par>
                              <p:par>
                                <p:cTn id="607" presetID="7" presetClass="emph" presetSubtype="2" fill="hold" nodeType="withEffect">
                                  <p:stCondLst>
                                    <p:cond delay="0"/>
                                  </p:stCondLst>
                                  <p:childTnLst>
                                    <p:animClr clrSpc="rgb" dir="cw">
                                      <p:cBhvr>
                                        <p:cTn id="608" dur="2000" fill="hold"/>
                                        <p:tgtEl>
                                          <p:spTgt spid="8"/>
                                        </p:tgtEl>
                                        <p:attrNameLst>
                                          <p:attrName>stroke.color</p:attrName>
                                        </p:attrNameLst>
                                      </p:cBhvr>
                                      <p:to>
                                        <a:schemeClr val="tx1"/>
                                      </p:to>
                                    </p:animClr>
                                    <p:set>
                                      <p:cBhvr>
                                        <p:cTn id="609" dur="2000" fill="hold"/>
                                        <p:tgtEl>
                                          <p:spTgt spid="8"/>
                                        </p:tgtEl>
                                        <p:attrNameLst>
                                          <p:attrName>stroke.on</p:attrName>
                                        </p:attrNameLst>
                                      </p:cBhvr>
                                      <p:to>
                                        <p:strVal val="true"/>
                                      </p:to>
                                    </p:set>
                                  </p:childTnLst>
                                </p:cTn>
                              </p:par>
                              <p:par>
                                <p:cTn id="610" presetID="7" presetClass="emph" presetSubtype="2" fill="hold" nodeType="withEffect">
                                  <p:stCondLst>
                                    <p:cond delay="0"/>
                                  </p:stCondLst>
                                  <p:childTnLst>
                                    <p:animClr clrSpc="rgb" dir="cw">
                                      <p:cBhvr>
                                        <p:cTn id="611" dur="2000" fill="hold"/>
                                        <p:tgtEl>
                                          <p:spTgt spid="27"/>
                                        </p:tgtEl>
                                        <p:attrNameLst>
                                          <p:attrName>stroke.color</p:attrName>
                                        </p:attrNameLst>
                                      </p:cBhvr>
                                      <p:to>
                                        <a:schemeClr val="tx1"/>
                                      </p:to>
                                    </p:animClr>
                                    <p:set>
                                      <p:cBhvr>
                                        <p:cTn id="612" dur="2000" fill="hold"/>
                                        <p:tgtEl>
                                          <p:spTgt spid="27"/>
                                        </p:tgtEl>
                                        <p:attrNameLst>
                                          <p:attrName>stroke.on</p:attrName>
                                        </p:attrNameLst>
                                      </p:cBhvr>
                                      <p:to>
                                        <p:strVal val="true"/>
                                      </p:to>
                                    </p:set>
                                  </p:childTnLst>
                                </p:cTn>
                              </p:par>
                              <p:par>
                                <p:cTn id="613" presetID="7" presetClass="emph" presetSubtype="2" fill="hold" nodeType="withEffect">
                                  <p:stCondLst>
                                    <p:cond delay="0"/>
                                  </p:stCondLst>
                                  <p:childTnLst>
                                    <p:animClr clrSpc="rgb" dir="cw">
                                      <p:cBhvr>
                                        <p:cTn id="614" dur="2000" fill="hold"/>
                                        <p:tgtEl>
                                          <p:spTgt spid="28"/>
                                        </p:tgtEl>
                                        <p:attrNameLst>
                                          <p:attrName>stroke.color</p:attrName>
                                        </p:attrNameLst>
                                      </p:cBhvr>
                                      <p:to>
                                        <a:schemeClr val="tx1"/>
                                      </p:to>
                                    </p:animClr>
                                    <p:set>
                                      <p:cBhvr>
                                        <p:cTn id="615" dur="2000" fill="hold"/>
                                        <p:tgtEl>
                                          <p:spTgt spid="28"/>
                                        </p:tgtEl>
                                        <p:attrNameLst>
                                          <p:attrName>stroke.on</p:attrName>
                                        </p:attrNameLst>
                                      </p:cBhvr>
                                      <p:to>
                                        <p:strVal val="true"/>
                                      </p:to>
                                    </p:set>
                                  </p:childTnLst>
                                </p:cTn>
                              </p:par>
                              <p:par>
                                <p:cTn id="616" presetID="7" presetClass="emph" presetSubtype="2" fill="hold" nodeType="withEffect">
                                  <p:stCondLst>
                                    <p:cond delay="0"/>
                                  </p:stCondLst>
                                  <p:childTnLst>
                                    <p:animClr clrSpc="rgb" dir="cw">
                                      <p:cBhvr>
                                        <p:cTn id="617" dur="2000" fill="hold"/>
                                        <p:tgtEl>
                                          <p:spTgt spid="9"/>
                                        </p:tgtEl>
                                        <p:attrNameLst>
                                          <p:attrName>stroke.color</p:attrName>
                                        </p:attrNameLst>
                                      </p:cBhvr>
                                      <p:to>
                                        <a:srgbClr val="9C9C9C"/>
                                      </p:to>
                                    </p:animClr>
                                    <p:set>
                                      <p:cBhvr>
                                        <p:cTn id="618" dur="2000" fill="hold"/>
                                        <p:tgtEl>
                                          <p:spTgt spid="9"/>
                                        </p:tgtEl>
                                        <p:attrNameLst>
                                          <p:attrName>stroke.on</p:attrName>
                                        </p:attrNameLst>
                                      </p:cBhvr>
                                      <p:to>
                                        <p:strVal val="true"/>
                                      </p:to>
                                    </p:set>
                                  </p:childTnLst>
                                </p:cTn>
                              </p:par>
                              <p:par>
                                <p:cTn id="619" presetID="7" presetClass="emph" presetSubtype="2" fill="hold" nodeType="withEffect">
                                  <p:stCondLst>
                                    <p:cond delay="0"/>
                                  </p:stCondLst>
                                  <p:childTnLst>
                                    <p:animClr clrSpc="rgb" dir="cw">
                                      <p:cBhvr>
                                        <p:cTn id="620" dur="2000" fill="hold"/>
                                        <p:tgtEl>
                                          <p:spTgt spid="6"/>
                                        </p:tgtEl>
                                        <p:attrNameLst>
                                          <p:attrName>stroke.color</p:attrName>
                                        </p:attrNameLst>
                                      </p:cBhvr>
                                      <p:to>
                                        <a:srgbClr val="9C9C9C"/>
                                      </p:to>
                                    </p:animClr>
                                    <p:set>
                                      <p:cBhvr>
                                        <p:cTn id="621" dur="2000" fill="hold"/>
                                        <p:tgtEl>
                                          <p:spTgt spid="6"/>
                                        </p:tgtEl>
                                        <p:attrNameLst>
                                          <p:attrName>stroke.on</p:attrName>
                                        </p:attrNameLst>
                                      </p:cBhvr>
                                      <p:to>
                                        <p:strVal val="true"/>
                                      </p:to>
                                    </p:set>
                                  </p:childTnLst>
                                </p:cTn>
                              </p:par>
                              <p:par>
                                <p:cTn id="622" presetID="7" presetClass="emph" presetSubtype="2" fill="hold" nodeType="withEffect">
                                  <p:stCondLst>
                                    <p:cond delay="0"/>
                                  </p:stCondLst>
                                  <p:childTnLst>
                                    <p:animClr clrSpc="rgb" dir="cw">
                                      <p:cBhvr>
                                        <p:cTn id="623" dur="2000" fill="hold"/>
                                        <p:tgtEl>
                                          <p:spTgt spid="11"/>
                                        </p:tgtEl>
                                        <p:attrNameLst>
                                          <p:attrName>stroke.color</p:attrName>
                                        </p:attrNameLst>
                                      </p:cBhvr>
                                      <p:to>
                                        <a:srgbClr val="9C9C9C"/>
                                      </p:to>
                                    </p:animClr>
                                    <p:set>
                                      <p:cBhvr>
                                        <p:cTn id="624" dur="2000" fill="hold"/>
                                        <p:tgtEl>
                                          <p:spTgt spid="11"/>
                                        </p:tgtEl>
                                        <p:attrNameLst>
                                          <p:attrName>stroke.on</p:attrName>
                                        </p:attrNameLst>
                                      </p:cBhvr>
                                      <p:to>
                                        <p:strVal val="true"/>
                                      </p:to>
                                    </p:set>
                                  </p:childTnLst>
                                </p:cTn>
                              </p:par>
                              <p:par>
                                <p:cTn id="625" presetID="7" presetClass="emph" presetSubtype="2" fill="hold" nodeType="withEffect">
                                  <p:stCondLst>
                                    <p:cond delay="0"/>
                                  </p:stCondLst>
                                  <p:childTnLst>
                                    <p:animClr clrSpc="rgb" dir="cw">
                                      <p:cBhvr>
                                        <p:cTn id="626" dur="2000" fill="hold"/>
                                        <p:tgtEl>
                                          <p:spTgt spid="18"/>
                                        </p:tgtEl>
                                        <p:attrNameLst>
                                          <p:attrName>stroke.color</p:attrName>
                                        </p:attrNameLst>
                                      </p:cBhvr>
                                      <p:to>
                                        <a:srgbClr val="9C9C9C"/>
                                      </p:to>
                                    </p:animClr>
                                    <p:set>
                                      <p:cBhvr>
                                        <p:cTn id="627" dur="2000" fill="hold"/>
                                        <p:tgtEl>
                                          <p:spTgt spid="18"/>
                                        </p:tgtEl>
                                        <p:attrNameLst>
                                          <p:attrName>stroke.on</p:attrName>
                                        </p:attrNameLst>
                                      </p:cBhvr>
                                      <p:to>
                                        <p:strVal val="true"/>
                                      </p:to>
                                    </p:set>
                                  </p:childTnLst>
                                </p:cTn>
                              </p:par>
                              <p:par>
                                <p:cTn id="628" presetID="7" presetClass="emph" presetSubtype="2" fill="hold" nodeType="withEffect">
                                  <p:stCondLst>
                                    <p:cond delay="0"/>
                                  </p:stCondLst>
                                  <p:childTnLst>
                                    <p:animClr clrSpc="rgb" dir="cw">
                                      <p:cBhvr>
                                        <p:cTn id="629" dur="2000" fill="hold"/>
                                        <p:tgtEl>
                                          <p:spTgt spid="12"/>
                                        </p:tgtEl>
                                        <p:attrNameLst>
                                          <p:attrName>stroke.color</p:attrName>
                                        </p:attrNameLst>
                                      </p:cBhvr>
                                      <p:to>
                                        <a:srgbClr val="9C9C9C"/>
                                      </p:to>
                                    </p:animClr>
                                    <p:set>
                                      <p:cBhvr>
                                        <p:cTn id="630" dur="2000" fill="hold"/>
                                        <p:tgtEl>
                                          <p:spTgt spid="12"/>
                                        </p:tgtEl>
                                        <p:attrNameLst>
                                          <p:attrName>stroke.on</p:attrName>
                                        </p:attrNameLst>
                                      </p:cBhvr>
                                      <p:to>
                                        <p:strVal val="true"/>
                                      </p:to>
                                    </p:set>
                                  </p:childTnLst>
                                </p:cTn>
                              </p:par>
                              <p:par>
                                <p:cTn id="631" presetID="7" presetClass="emph" presetSubtype="2" fill="hold" nodeType="withEffect">
                                  <p:stCondLst>
                                    <p:cond delay="0"/>
                                  </p:stCondLst>
                                  <p:childTnLst>
                                    <p:animClr clrSpc="rgb" dir="cw">
                                      <p:cBhvr>
                                        <p:cTn id="632" dur="2000" fill="hold"/>
                                        <p:tgtEl>
                                          <p:spTgt spid="13"/>
                                        </p:tgtEl>
                                        <p:attrNameLst>
                                          <p:attrName>stroke.color</p:attrName>
                                        </p:attrNameLst>
                                      </p:cBhvr>
                                      <p:to>
                                        <a:srgbClr val="9C9C9C"/>
                                      </p:to>
                                    </p:animClr>
                                    <p:set>
                                      <p:cBhvr>
                                        <p:cTn id="633" dur="2000" fill="hold"/>
                                        <p:tgtEl>
                                          <p:spTgt spid="13"/>
                                        </p:tgtEl>
                                        <p:attrNameLst>
                                          <p:attrName>stroke.on</p:attrName>
                                        </p:attrNameLst>
                                      </p:cBhvr>
                                      <p:to>
                                        <p:strVal val="true"/>
                                      </p:to>
                                    </p:set>
                                  </p:childTnLst>
                                </p:cTn>
                              </p:par>
                              <p:par>
                                <p:cTn id="634" presetID="7" presetClass="emph" presetSubtype="2" fill="hold" nodeType="withEffect">
                                  <p:stCondLst>
                                    <p:cond delay="0"/>
                                  </p:stCondLst>
                                  <p:childTnLst>
                                    <p:animClr clrSpc="rgb" dir="cw">
                                      <p:cBhvr>
                                        <p:cTn id="635" dur="2000" fill="hold"/>
                                        <p:tgtEl>
                                          <p:spTgt spid="15"/>
                                        </p:tgtEl>
                                        <p:attrNameLst>
                                          <p:attrName>stroke.color</p:attrName>
                                        </p:attrNameLst>
                                      </p:cBhvr>
                                      <p:to>
                                        <a:srgbClr val="9C9C9C"/>
                                      </p:to>
                                    </p:animClr>
                                    <p:set>
                                      <p:cBhvr>
                                        <p:cTn id="636" dur="2000" fill="hold"/>
                                        <p:tgtEl>
                                          <p:spTgt spid="15"/>
                                        </p:tgtEl>
                                        <p:attrNameLst>
                                          <p:attrName>stroke.on</p:attrName>
                                        </p:attrNameLst>
                                      </p:cBhvr>
                                      <p:to>
                                        <p:strVal val="true"/>
                                      </p:to>
                                    </p:set>
                                  </p:childTnLst>
                                </p:cTn>
                              </p:par>
                              <p:par>
                                <p:cTn id="637" presetID="7" presetClass="emph" presetSubtype="2" fill="hold" nodeType="withEffect">
                                  <p:stCondLst>
                                    <p:cond delay="0"/>
                                  </p:stCondLst>
                                  <p:childTnLst>
                                    <p:animClr clrSpc="rgb" dir="cw">
                                      <p:cBhvr>
                                        <p:cTn id="638" dur="2000" fill="hold"/>
                                        <p:tgtEl>
                                          <p:spTgt spid="14"/>
                                        </p:tgtEl>
                                        <p:attrNameLst>
                                          <p:attrName>stroke.color</p:attrName>
                                        </p:attrNameLst>
                                      </p:cBhvr>
                                      <p:to>
                                        <a:srgbClr val="9C9C9C"/>
                                      </p:to>
                                    </p:animClr>
                                    <p:set>
                                      <p:cBhvr>
                                        <p:cTn id="639" dur="2000" fill="hold"/>
                                        <p:tgtEl>
                                          <p:spTgt spid="14"/>
                                        </p:tgtEl>
                                        <p:attrNameLst>
                                          <p:attrName>stroke.on</p:attrName>
                                        </p:attrNameLst>
                                      </p:cBhvr>
                                      <p:to>
                                        <p:strVal val="true"/>
                                      </p:to>
                                    </p:set>
                                  </p:childTnLst>
                                </p:cTn>
                              </p:par>
                              <p:par>
                                <p:cTn id="640" presetID="7" presetClass="emph" presetSubtype="2" fill="hold" nodeType="withEffect">
                                  <p:stCondLst>
                                    <p:cond delay="0"/>
                                  </p:stCondLst>
                                  <p:childTnLst>
                                    <p:animClr clrSpc="rgb" dir="cw">
                                      <p:cBhvr>
                                        <p:cTn id="641" dur="2000" fill="hold"/>
                                        <p:tgtEl>
                                          <p:spTgt spid="7"/>
                                        </p:tgtEl>
                                        <p:attrNameLst>
                                          <p:attrName>stroke.color</p:attrName>
                                        </p:attrNameLst>
                                      </p:cBhvr>
                                      <p:to>
                                        <a:srgbClr val="9C9C9C"/>
                                      </p:to>
                                    </p:animClr>
                                    <p:set>
                                      <p:cBhvr>
                                        <p:cTn id="642" dur="2000" fill="hold"/>
                                        <p:tgtEl>
                                          <p:spTgt spid="7"/>
                                        </p:tgtEl>
                                        <p:attrNameLst>
                                          <p:attrName>stroke.on</p:attrName>
                                        </p:attrNameLst>
                                      </p:cBhvr>
                                      <p:to>
                                        <p:strVal val="true"/>
                                      </p:to>
                                    </p:set>
                                  </p:childTnLst>
                                </p:cTn>
                              </p:par>
                            </p:childTnLst>
                          </p:cTn>
                        </p:par>
                      </p:childTnLst>
                    </p:cTn>
                  </p:par>
                  <p:par>
                    <p:cTn id="643" fill="hold">
                      <p:stCondLst>
                        <p:cond delay="indefinite"/>
                      </p:stCondLst>
                      <p:childTnLst>
                        <p:par>
                          <p:cTn id="644" fill="hold">
                            <p:stCondLst>
                              <p:cond delay="0"/>
                            </p:stCondLst>
                            <p:childTnLst>
                              <p:par>
                                <p:cTn id="645" presetID="1" presetClass="entr" presetSubtype="0" fill="hold" nodeType="clickEffect">
                                  <p:stCondLst>
                                    <p:cond delay="0"/>
                                  </p:stCondLst>
                                  <p:childTnLst>
                                    <p:set>
                                      <p:cBhvr>
                                        <p:cTn id="64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0" grpId="0" animBg="1"/>
      <p:bldP spid="21" grpId="0" animBg="1"/>
      <p:bldP spid="22" grpId="0" animBg="1"/>
      <p:bldP spid="23" grpId="0" animBg="1"/>
      <p:bldP spid="24" grpId="0" animBg="1"/>
      <p:bldP spid="25" grpId="0" animBg="1"/>
      <p:bldP spid="26"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p:bldP spid="47" grpId="0"/>
      <p:bldP spid="49" grpId="0"/>
      <p:bldP spid="50" grpId="0"/>
      <p:bldP spid="51" grpId="0"/>
      <p:bldP spid="53"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51B57D07-9AB2-8EDF-F9AF-DF38559DE69A}"/>
            </a:ext>
          </a:extLst>
        </p:cNvPr>
        <p:cNvGrpSpPr/>
        <p:nvPr/>
      </p:nvGrpSpPr>
      <p:grpSpPr>
        <a:xfrm>
          <a:off x="0" y="0"/>
          <a:ext cx="0" cy="0"/>
          <a:chOff x="0" y="0"/>
          <a:chExt cx="0" cy="0"/>
        </a:xfrm>
      </p:grpSpPr>
      <p:sp>
        <p:nvSpPr>
          <p:cNvPr id="197" name="Google Shape;197;p20">
            <a:extLst>
              <a:ext uri="{FF2B5EF4-FFF2-40B4-BE49-F238E27FC236}">
                <a16:creationId xmlns:a16="http://schemas.microsoft.com/office/drawing/2014/main" id="{AAC04CB2-C14C-3383-81DE-B8221D0F30AE}"/>
              </a:ext>
            </a:extLst>
          </p:cNvPr>
          <p:cNvSpPr txBox="1"/>
          <p:nvPr/>
        </p:nvSpPr>
        <p:spPr>
          <a:xfrm>
            <a:off x="1763224" y="2540315"/>
            <a:ext cx="7257600" cy="1777369"/>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BFS</a:t>
            </a:r>
          </a:p>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Dijkstra’s Algorithm</a:t>
            </a:r>
          </a:p>
          <a:p>
            <a:pPr marL="0" lvl="0" indent="0" algn="l" rtl="0">
              <a:lnSpc>
                <a:spcPct val="90000"/>
              </a:lnSpc>
              <a:spcBef>
                <a:spcPts val="600"/>
              </a:spcBef>
              <a:spcAft>
                <a:spcPts val="0"/>
              </a:spcAft>
              <a:buNone/>
            </a:pPr>
            <a:r>
              <a:rPr lang="en-GB" sz="3500" dirty="0">
                <a:solidFill>
                  <a:schemeClr val="tx1"/>
                </a:solidFill>
                <a:highlight>
                  <a:srgbClr val="FFFFFF"/>
                </a:highlight>
                <a:latin typeface="+mj-lt"/>
                <a:ea typeface="Quattrocento Sans"/>
                <a:cs typeface="Quattrocento Sans"/>
                <a:sym typeface="Quattrocento Sans"/>
              </a:rPr>
              <a:t>Bellman-Ford Algorithm</a:t>
            </a:r>
          </a:p>
        </p:txBody>
      </p:sp>
    </p:spTree>
    <p:extLst>
      <p:ext uri="{BB962C8B-B14F-4D97-AF65-F5344CB8AC3E}">
        <p14:creationId xmlns:p14="http://schemas.microsoft.com/office/powerpoint/2010/main" val="41885584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47"/>
          <p:cNvSpPr txBox="1">
            <a:spLocks noGrp="1"/>
          </p:cNvSpPr>
          <p:nvPr>
            <p:ph type="title"/>
          </p:nvPr>
        </p:nvSpPr>
        <p:spPr>
          <a:xfrm>
            <a:off x="586962" y="15590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Algorithm</a:t>
            </a:r>
            <a:endParaRPr dirty="0"/>
          </a:p>
        </p:txBody>
      </p:sp>
      <p:sp>
        <p:nvSpPr>
          <p:cNvPr id="1122" name="Google Shape;1122;p47"/>
          <p:cNvSpPr txBox="1">
            <a:spLocks noGrp="1"/>
          </p:cNvSpPr>
          <p:nvPr>
            <p:ph type="body" idx="1"/>
          </p:nvPr>
        </p:nvSpPr>
        <p:spPr>
          <a:xfrm>
            <a:off x="275275" y="907430"/>
            <a:ext cx="7696346" cy="5853868"/>
          </a:xfrm>
          <a:prstGeom prst="rect">
            <a:avLst/>
          </a:prstGeom>
        </p:spPr>
        <p:txBody>
          <a:bodyPr spcFirstLastPara="1" wrap="square" lIns="44175" tIns="44175" rIns="44175" bIns="44175" anchor="t" anchorCtr="0">
            <a:spAutoFit/>
          </a:bodyPr>
          <a:lstStyle/>
          <a:p>
            <a:pPr marL="457200" lvl="0" indent="-387350" algn="l" rtl="0">
              <a:spcBef>
                <a:spcPts val="1200"/>
              </a:spcBef>
              <a:spcAft>
                <a:spcPts val="0"/>
              </a:spcAft>
              <a:buSzPts val="2500"/>
              <a:buChar char="●"/>
            </a:pPr>
            <a:r>
              <a:rPr lang="en-GB" sz="2000" dirty="0"/>
              <a:t>A shortest path algorithm that works with negative edge weights</a:t>
            </a:r>
          </a:p>
          <a:p>
            <a:pPr marL="457200" lvl="0" indent="-387350" algn="l" rtl="0">
              <a:spcBef>
                <a:spcPts val="1200"/>
              </a:spcBef>
              <a:spcAft>
                <a:spcPts val="0"/>
              </a:spcAft>
              <a:buSzPts val="2500"/>
              <a:buChar char="●"/>
            </a:pPr>
            <a:r>
              <a:rPr lang="en-US" sz="2000" dirty="0"/>
              <a:t>There can be at most V - 1 edges in our shortest path</a:t>
            </a:r>
            <a:endParaRPr sz="2000" dirty="0"/>
          </a:p>
          <a:p>
            <a:pPr marL="914400" lvl="1" indent="-355600" algn="l" rtl="0">
              <a:spcBef>
                <a:spcPts val="0"/>
              </a:spcBef>
              <a:spcAft>
                <a:spcPts val="0"/>
              </a:spcAft>
              <a:buSzPts val="2000"/>
              <a:buChar char="○"/>
            </a:pPr>
            <a:r>
              <a:rPr lang="en-US" sz="1600" dirty="0"/>
              <a:t>If there are V or more edges in a path that means there’s a cycle/repeated node</a:t>
            </a:r>
            <a:endParaRPr sz="1600" dirty="0"/>
          </a:p>
          <a:p>
            <a:pPr marL="457200" lvl="0" indent="-387350" algn="l" rtl="0">
              <a:spcBef>
                <a:spcPts val="0"/>
              </a:spcBef>
              <a:spcAft>
                <a:spcPts val="0"/>
              </a:spcAft>
              <a:buSzPts val="2500"/>
              <a:buChar char="●"/>
            </a:pPr>
            <a:r>
              <a:rPr lang="en-US" sz="2000" dirty="0"/>
              <a:t>Run V - 1 iterations of shortest path analysis through the graph</a:t>
            </a:r>
            <a:endParaRPr sz="2000" dirty="0"/>
          </a:p>
          <a:p>
            <a:pPr marL="914400" lvl="1" indent="-355600" algn="l" rtl="0">
              <a:spcBef>
                <a:spcPts val="0"/>
              </a:spcBef>
              <a:spcAft>
                <a:spcPts val="0"/>
              </a:spcAft>
              <a:buSzPts val="2000"/>
              <a:buChar char="○"/>
            </a:pPr>
            <a:r>
              <a:rPr lang="en-US" sz="1600" dirty="0"/>
              <a:t>Repeatedly revisit and update SD and PN </a:t>
            </a:r>
            <a:endParaRPr sz="1600" dirty="0"/>
          </a:p>
          <a:p>
            <a:pPr marL="457200" lvl="0" indent="-387350" algn="l" rtl="0">
              <a:spcBef>
                <a:spcPts val="0"/>
              </a:spcBef>
              <a:spcAft>
                <a:spcPts val="0"/>
              </a:spcAft>
              <a:buSzPts val="2500"/>
              <a:buChar char="●"/>
            </a:pPr>
            <a:r>
              <a:rPr lang="en-GB" sz="2000" dirty="0"/>
              <a:t>Look at each vertex’s outgoing edges in each iteration</a:t>
            </a:r>
          </a:p>
          <a:p>
            <a:pPr marL="457200" lvl="0" indent="-387350" algn="l" rtl="0">
              <a:spcBef>
                <a:spcPts val="0"/>
              </a:spcBef>
              <a:spcAft>
                <a:spcPts val="0"/>
              </a:spcAft>
              <a:buSzPts val="2500"/>
              <a:buChar char="●"/>
            </a:pPr>
            <a:r>
              <a:rPr lang="en-US" sz="2000" dirty="0"/>
              <a:t>It is slower than Dijkstra’s because it will revisit previously assessed nodes</a:t>
            </a:r>
          </a:p>
          <a:p>
            <a:pPr marL="457200" lvl="0" indent="-387350" algn="l" rtl="0">
              <a:spcBef>
                <a:spcPts val="0"/>
              </a:spcBef>
              <a:spcAft>
                <a:spcPts val="0"/>
              </a:spcAft>
              <a:buSzPts val="2500"/>
              <a:buChar char="●"/>
            </a:pPr>
            <a:r>
              <a:rPr lang="en-GB" sz="2000" dirty="0"/>
              <a:t>Can terminate early when all SD values have converged</a:t>
            </a:r>
          </a:p>
          <a:p>
            <a:pPr marL="457200" lvl="0" indent="-387350" algn="l" rtl="0">
              <a:spcBef>
                <a:spcPts val="0"/>
              </a:spcBef>
              <a:spcAft>
                <a:spcPts val="0"/>
              </a:spcAft>
              <a:buSzPts val="2500"/>
              <a:buChar char="●"/>
            </a:pPr>
            <a:r>
              <a:rPr lang="en-GB" sz="2000" dirty="0"/>
              <a:t>The order of edge relaxations affects algorithm efficiency but not correctness</a:t>
            </a:r>
          </a:p>
          <a:p>
            <a:pPr marL="457200" lvl="0" indent="-387350" algn="l" rtl="0">
              <a:spcBef>
                <a:spcPts val="0"/>
              </a:spcBef>
              <a:spcAft>
                <a:spcPts val="0"/>
              </a:spcAft>
              <a:buSzPts val="2500"/>
              <a:buChar char="●"/>
            </a:pPr>
            <a:r>
              <a:rPr lang="en-GB" sz="2000" dirty="0"/>
              <a:t>Time complexity: </a:t>
            </a:r>
          </a:p>
          <a:p>
            <a:pPr lvl="1" indent="-387350">
              <a:spcBef>
                <a:spcPts val="0"/>
              </a:spcBef>
              <a:buSzPts val="2500"/>
              <a:buChar char="●"/>
            </a:pPr>
            <a:r>
              <a:rPr lang="en-GB" sz="1500" dirty="0"/>
              <a:t>Worst Case: O(VE); Average Case: O(VE)</a:t>
            </a:r>
          </a:p>
          <a:p>
            <a:pPr marL="457200" lvl="0" indent="-387350" algn="l" rtl="0">
              <a:spcBef>
                <a:spcPts val="0"/>
              </a:spcBef>
              <a:spcAft>
                <a:spcPts val="0"/>
              </a:spcAft>
              <a:buSzPts val="2500"/>
              <a:buChar char="●"/>
            </a:pPr>
            <a:r>
              <a:rPr lang="en-GB" sz="2000" dirty="0"/>
              <a:t>If the graph is dense or complete, the value of E becomes O(V</a:t>
            </a:r>
            <a:r>
              <a:rPr lang="en-GB" sz="2000" baseline="30000" dirty="0"/>
              <a:t>2</a:t>
            </a:r>
            <a:r>
              <a:rPr lang="en-GB" sz="2000" dirty="0"/>
              <a:t>). So overall time complexity becomes O(V</a:t>
            </a:r>
            <a:r>
              <a:rPr lang="en-GB" sz="2000" baseline="30000" dirty="0"/>
              <a:t>3</a:t>
            </a:r>
            <a:r>
              <a:rPr lang="en-GB" sz="2000" dirty="0"/>
              <a:t>)</a:t>
            </a:r>
            <a:endParaRPr lang="en-US" sz="2000" dirty="0"/>
          </a:p>
          <a:p>
            <a:pPr marL="457200" lvl="0" indent="-387350" algn="l" rtl="0">
              <a:spcBef>
                <a:spcPts val="0"/>
              </a:spcBef>
              <a:spcAft>
                <a:spcPts val="0"/>
              </a:spcAft>
              <a:buSzPts val="2500"/>
              <a:buChar char="●"/>
            </a:pPr>
            <a:r>
              <a:rPr lang="en-GB" sz="2000" dirty="0"/>
              <a:t>Bellman-Ford, by Michael Sambol</a:t>
            </a:r>
          </a:p>
          <a:p>
            <a:pPr lvl="1" indent="-387350">
              <a:spcBef>
                <a:spcPts val="0"/>
              </a:spcBef>
              <a:buSzPts val="2500"/>
              <a:buChar char="●"/>
            </a:pPr>
            <a:r>
              <a:rPr lang="en-GB" sz="1800" dirty="0">
                <a:hlinkClick r:id="rId3"/>
              </a:rPr>
              <a:t>https://www.youtube.com/watch?v=9PHkk0UavIM</a:t>
            </a:r>
          </a:p>
          <a:p>
            <a:pPr lvl="1" indent="-387350">
              <a:spcBef>
                <a:spcPts val="0"/>
              </a:spcBef>
              <a:buSzPts val="2500"/>
              <a:buChar char="●"/>
            </a:pPr>
            <a:r>
              <a:rPr lang="en-GB" sz="1800" dirty="0">
                <a:hlinkClick r:id="rId3"/>
              </a:rPr>
              <a:t>https://www.youtube.com/watch?v=obWXjtg0L64</a:t>
            </a:r>
            <a:endParaRPr sz="1800" dirty="0"/>
          </a:p>
        </p:txBody>
      </p:sp>
      <p:sp>
        <p:nvSpPr>
          <p:cNvPr id="3" name="object 8">
            <a:extLst>
              <a:ext uri="{FF2B5EF4-FFF2-40B4-BE49-F238E27FC236}">
                <a16:creationId xmlns:a16="http://schemas.microsoft.com/office/drawing/2014/main" id="{8E3FCC9D-B20A-CB67-E79F-57EA786404DF}"/>
              </a:ext>
            </a:extLst>
          </p:cNvPr>
          <p:cNvSpPr/>
          <p:nvPr/>
        </p:nvSpPr>
        <p:spPr>
          <a:xfrm>
            <a:off x="7903722" y="1763799"/>
            <a:ext cx="4013003" cy="2295574"/>
          </a:xfrm>
          <a:custGeom>
            <a:avLst/>
            <a:gdLst/>
            <a:ahLst/>
            <a:cxnLst/>
            <a:rect l="l" t="t" r="r" b="b"/>
            <a:pathLst>
              <a:path w="9398000" h="3060700">
                <a:moveTo>
                  <a:pt x="0" y="0"/>
                </a:moveTo>
                <a:lnTo>
                  <a:pt x="9398000" y="0"/>
                </a:lnTo>
                <a:lnTo>
                  <a:pt x="9398000" y="3060700"/>
                </a:lnTo>
                <a:lnTo>
                  <a:pt x="0" y="3060700"/>
                </a:lnTo>
                <a:lnTo>
                  <a:pt x="0" y="0"/>
                </a:lnTo>
                <a:close/>
              </a:path>
            </a:pathLst>
          </a:custGeom>
          <a:solidFill>
            <a:sysClr val="window" lastClr="FFFFFF">
              <a:lumMod val="95000"/>
            </a:sysClr>
          </a:solidFill>
          <a:ln>
            <a:solidFill>
              <a:sysClr val="window" lastClr="FFFFFF">
                <a:lumMod val="95000"/>
              </a:sysClr>
            </a:solidFill>
          </a:ln>
        </p:spPr>
        <p:txBody>
          <a:bodyPr wrap="square" lIns="0" tIns="0" rIns="0" bIns="0" rtlCol="0"/>
          <a:lstStyle/>
          <a:p>
            <a:pPr marL="0" marR="0" lvl="0" indent="0" defTabSz="457200" eaLnBrk="1" fontAlgn="auto" latinLnBrk="0" hangingPunct="1">
              <a:lnSpc>
                <a:spcPct val="100000"/>
              </a:lnSpc>
              <a:spcBef>
                <a:spcPts val="0"/>
              </a:spcBef>
              <a:spcAft>
                <a:spcPts val="0"/>
              </a:spcAft>
              <a:buClrTx/>
              <a:buSzTx/>
              <a:buFontTx/>
              <a:buNone/>
              <a:tabLst/>
              <a:defRPr/>
            </a:pPr>
            <a:endParaRPr kumimoji="0" sz="1266" b="0" i="0" u="none" strike="noStrike" kern="1200" cap="none" spc="0" normalizeH="0" baseline="0" noProof="0">
              <a:ln>
                <a:noFill/>
              </a:ln>
              <a:solidFill>
                <a:prstClr val="black"/>
              </a:solidFill>
              <a:effectLst/>
              <a:uLnTx/>
              <a:uFillTx/>
              <a:latin typeface="Calibri"/>
              <a:ea typeface="+mn-ea"/>
              <a:cs typeface="+mn-cs"/>
            </a:endParaRPr>
          </a:p>
        </p:txBody>
      </p:sp>
      <p:sp>
        <p:nvSpPr>
          <p:cNvPr id="4" name="object 8">
            <a:extLst>
              <a:ext uri="{FF2B5EF4-FFF2-40B4-BE49-F238E27FC236}">
                <a16:creationId xmlns:a16="http://schemas.microsoft.com/office/drawing/2014/main" id="{AB528F4F-D710-16BF-BE2A-4BB5191A3EDE}"/>
              </a:ext>
            </a:extLst>
          </p:cNvPr>
          <p:cNvSpPr/>
          <p:nvPr/>
        </p:nvSpPr>
        <p:spPr>
          <a:xfrm>
            <a:off x="7992241" y="1839300"/>
            <a:ext cx="3833770" cy="2095252"/>
          </a:xfrm>
          <a:custGeom>
            <a:avLst/>
            <a:gdLst/>
            <a:ahLst/>
            <a:cxnLst/>
            <a:rect l="l" t="t" r="r" b="b"/>
            <a:pathLst>
              <a:path w="9398000" h="3060700">
                <a:moveTo>
                  <a:pt x="0" y="0"/>
                </a:moveTo>
                <a:lnTo>
                  <a:pt x="9398000" y="0"/>
                </a:lnTo>
                <a:lnTo>
                  <a:pt x="9398000" y="3060700"/>
                </a:lnTo>
                <a:lnTo>
                  <a:pt x="0" y="3060700"/>
                </a:lnTo>
                <a:lnTo>
                  <a:pt x="0" y="0"/>
                </a:lnTo>
                <a:close/>
              </a:path>
            </a:pathLst>
          </a:custGeom>
          <a:noFill/>
          <a:ln>
            <a:noFill/>
          </a:ln>
        </p:spPr>
        <p:txBody>
          <a:bodyPr wrap="square" lIns="0" tIns="0" rIns="0" bIns="0" rtlCol="0"/>
          <a:lstStyle/>
          <a:p>
            <a:pPr defTabSz="457200">
              <a:buClrTx/>
              <a:buFontTx/>
              <a:buNone/>
            </a:pPr>
            <a:endParaRPr sz="1266" kern="1200">
              <a:solidFill>
                <a:prstClr val="black"/>
              </a:solidFill>
              <a:latin typeface="Calibri"/>
              <a:ea typeface="+mn-ea"/>
              <a:cs typeface="+mn-cs"/>
            </a:endParaRPr>
          </a:p>
        </p:txBody>
      </p:sp>
      <p:sp>
        <p:nvSpPr>
          <p:cNvPr id="5" name="object 9">
            <a:extLst>
              <a:ext uri="{FF2B5EF4-FFF2-40B4-BE49-F238E27FC236}">
                <a16:creationId xmlns:a16="http://schemas.microsoft.com/office/drawing/2014/main" id="{AAEC7C0A-4A4F-D0C6-C811-2BD45B97112A}"/>
              </a:ext>
            </a:extLst>
          </p:cNvPr>
          <p:cNvSpPr txBox="1"/>
          <p:nvPr/>
        </p:nvSpPr>
        <p:spPr>
          <a:xfrm>
            <a:off x="8361535" y="1865142"/>
            <a:ext cx="3464475" cy="2194231"/>
          </a:xfrm>
          <a:prstGeom prst="rect">
            <a:avLst/>
          </a:prstGeom>
          <a:noFill/>
        </p:spPr>
        <p:txBody>
          <a:bodyPr vert="horz" wrap="square" lIns="0" tIns="8930" rIns="0" bIns="0" rtlCol="0">
            <a:spAutoFit/>
          </a:bodyPr>
          <a:lstStyle/>
          <a:p>
            <a:pPr defTabSz="457200">
              <a:spcBef>
                <a:spcPts val="300"/>
              </a:spcBef>
              <a:spcAft>
                <a:spcPts val="300"/>
              </a:spcAft>
              <a:buClrTx/>
              <a:buFontTx/>
              <a:buNone/>
            </a:pPr>
            <a:r>
              <a:rPr lang="en-US" sz="1600" kern="1200" dirty="0">
                <a:solidFill>
                  <a:srgbClr val="8D3124"/>
                </a:solidFill>
                <a:latin typeface="Times New Roman" panose="02020603050405020304" pitchFamily="18" charset="0"/>
                <a:ea typeface="+mn-ea"/>
                <a:cs typeface="Times New Roman" panose="02020603050405020304" pitchFamily="18" charset="0"/>
              </a:rPr>
              <a:t>Bellman–Ford algorithm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For each node v: SD [v] = ∞.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For each node v: PN[v] = null.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SD [s] = 0.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For </a:t>
            </a:r>
            <a:r>
              <a:rPr lang="en-US" sz="1600" kern="1200" dirty="0" err="1">
                <a:solidFill>
                  <a:prstClr val="black"/>
                </a:solidFill>
                <a:latin typeface="Times New Roman" panose="02020603050405020304" pitchFamily="18" charset="0"/>
                <a:ea typeface="+mn-ea"/>
                <a:cs typeface="Times New Roman" panose="02020603050405020304" pitchFamily="18" charset="0"/>
              </a:rPr>
              <a:t>i</a:t>
            </a:r>
            <a:r>
              <a:rPr lang="en-US" sz="1600" kern="1200" dirty="0">
                <a:solidFill>
                  <a:prstClr val="black"/>
                </a:solidFill>
                <a:latin typeface="Times New Roman" panose="02020603050405020304" pitchFamily="18" charset="0"/>
                <a:ea typeface="+mn-ea"/>
                <a:cs typeface="Times New Roman" panose="02020603050405020304" pitchFamily="18" charset="0"/>
              </a:rPr>
              <a:t> = 1 to V−1:</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For each vertex:</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	Relax all its outgoing edges</a:t>
            </a:r>
          </a:p>
        </p:txBody>
      </p:sp>
      <p:cxnSp>
        <p:nvCxnSpPr>
          <p:cNvPr id="6" name="Straight Connector 5">
            <a:extLst>
              <a:ext uri="{FF2B5EF4-FFF2-40B4-BE49-F238E27FC236}">
                <a16:creationId xmlns:a16="http://schemas.microsoft.com/office/drawing/2014/main" id="{ADC3A228-D237-071D-0E6A-32CCDCEB712D}"/>
              </a:ext>
            </a:extLst>
          </p:cNvPr>
          <p:cNvCxnSpPr>
            <a:cxnSpLocks/>
          </p:cNvCxnSpPr>
          <p:nvPr/>
        </p:nvCxnSpPr>
        <p:spPr>
          <a:xfrm>
            <a:off x="8075261" y="2176967"/>
            <a:ext cx="3566189" cy="0"/>
          </a:xfrm>
          <a:prstGeom prst="line">
            <a:avLst/>
          </a:prstGeom>
          <a:solidFill>
            <a:sysClr val="window" lastClr="FFFFFF">
              <a:lumMod val="85000"/>
            </a:sysClr>
          </a:solidFill>
          <a:ln w="12700" cap="flat" cmpd="sng" algn="ctr">
            <a:solidFill>
              <a:sysClr val="windowText" lastClr="000000"/>
            </a:solidFill>
            <a:prstDash val="solid"/>
          </a:ln>
          <a:effectLst/>
        </p:spPr>
      </p:cxnSp>
      <p:cxnSp>
        <p:nvCxnSpPr>
          <p:cNvPr id="7" name="Straight Connector 6">
            <a:extLst>
              <a:ext uri="{FF2B5EF4-FFF2-40B4-BE49-F238E27FC236}">
                <a16:creationId xmlns:a16="http://schemas.microsoft.com/office/drawing/2014/main" id="{78E6B389-F69D-65FF-8765-875C968EAD49}"/>
              </a:ext>
            </a:extLst>
          </p:cNvPr>
          <p:cNvCxnSpPr>
            <a:cxnSpLocks/>
          </p:cNvCxnSpPr>
          <p:nvPr/>
        </p:nvCxnSpPr>
        <p:spPr>
          <a:xfrm>
            <a:off x="8035393" y="1863808"/>
            <a:ext cx="3606057" cy="1334"/>
          </a:xfrm>
          <a:prstGeom prst="line">
            <a:avLst/>
          </a:prstGeom>
          <a:noFill/>
          <a:ln w="12700" cap="flat" cmpd="sng" algn="ctr">
            <a:solidFill>
              <a:sysClr val="windowText" lastClr="000000"/>
            </a:solidFill>
            <a:prstDash val="solid"/>
          </a:ln>
          <a:effectLst/>
        </p:spPr>
      </p:cxnSp>
      <p:sp>
        <p:nvSpPr>
          <p:cNvPr id="8" name="TextBox 7">
            <a:extLst>
              <a:ext uri="{FF2B5EF4-FFF2-40B4-BE49-F238E27FC236}">
                <a16:creationId xmlns:a16="http://schemas.microsoft.com/office/drawing/2014/main" id="{716C3949-C60C-10D4-DBE4-FEA54070C025}"/>
              </a:ext>
            </a:extLst>
          </p:cNvPr>
          <p:cNvSpPr txBox="1"/>
          <p:nvPr/>
        </p:nvSpPr>
        <p:spPr>
          <a:xfrm>
            <a:off x="7902259" y="4268724"/>
            <a:ext cx="4097974" cy="1938992"/>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2000" dirty="0"/>
              <a:t>In each iteration, we relax every edge once. The order of relaxation may affect how quickly distances converge, but it does not affect correctness, and the final solution is guaranteed to be optimal.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27"/>
        <p:cNvGrpSpPr/>
        <p:nvPr/>
      </p:nvGrpSpPr>
      <p:grpSpPr>
        <a:xfrm>
          <a:off x="0" y="0"/>
          <a:ext cx="0" cy="0"/>
          <a:chOff x="0" y="0"/>
          <a:chExt cx="0" cy="0"/>
        </a:xfrm>
      </p:grpSpPr>
      <p:sp>
        <p:nvSpPr>
          <p:cNvPr id="1128" name="Google Shape;1128;p48"/>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129" name="Google Shape;1129;p48"/>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45</a:t>
            </a:fld>
            <a:endParaRPr sz="675" b="1" i="0" u="none" strike="noStrike" cap="none">
              <a:solidFill>
                <a:srgbClr val="4B2A85"/>
              </a:solidFill>
              <a:latin typeface="Calibri"/>
              <a:ea typeface="Calibri"/>
              <a:cs typeface="Calibri"/>
              <a:sym typeface="Calibri"/>
            </a:endParaRPr>
          </a:p>
        </p:txBody>
      </p:sp>
      <p:graphicFrame>
        <p:nvGraphicFramePr>
          <p:cNvPr id="1130" name="Google Shape;1130;p48"/>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131" name="Google Shape;1131;p48"/>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132" name="Google Shape;1132;p48"/>
          <p:cNvGrpSpPr/>
          <p:nvPr/>
        </p:nvGrpSpPr>
        <p:grpSpPr>
          <a:xfrm>
            <a:off x="1701172" y="1426148"/>
            <a:ext cx="4030525" cy="2771785"/>
            <a:chOff x="-2863816" y="1556555"/>
            <a:chExt cx="3022969" cy="2078891"/>
          </a:xfrm>
        </p:grpSpPr>
        <p:sp>
          <p:nvSpPr>
            <p:cNvPr id="1133" name="Google Shape;1133;p48"/>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134" name="Google Shape;1134;p48"/>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135" name="Google Shape;1135;p48"/>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136" name="Google Shape;1136;p48"/>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137" name="Google Shape;1137;p48"/>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138" name="Google Shape;1138;p48"/>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139" name="Google Shape;1139;p48"/>
            <p:cNvCxnSpPr>
              <a:stCxn id="1133" idx="3"/>
              <a:endCxn id="1135" idx="0"/>
            </p:cNvCxnSpPr>
            <p:nvPr/>
          </p:nvCxnSpPr>
          <p:spPr>
            <a:xfrm flipH="1">
              <a:off x="-2547661" y="2050507"/>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1140" name="Google Shape;1140;p48"/>
            <p:cNvCxnSpPr>
              <a:stCxn id="1135" idx="5"/>
              <a:endCxn id="1136" idx="2"/>
            </p:cNvCxnSpPr>
            <p:nvPr/>
          </p:nvCxnSpPr>
          <p:spPr>
            <a:xfrm>
              <a:off x="-2446599" y="2964907"/>
              <a:ext cx="784800" cy="527700"/>
            </a:xfrm>
            <a:prstGeom prst="straightConnector1">
              <a:avLst/>
            </a:prstGeom>
            <a:noFill/>
            <a:ln w="9525" cap="flat" cmpd="sng">
              <a:solidFill>
                <a:schemeClr val="dk1"/>
              </a:solidFill>
              <a:prstDash val="solid"/>
              <a:round/>
              <a:headEnd type="none" w="med" len="med"/>
              <a:tailEnd type="triangle" w="med" len="med"/>
            </a:ln>
          </p:spPr>
        </p:cxnSp>
        <p:cxnSp>
          <p:nvCxnSpPr>
            <p:cNvPr id="1141" name="Google Shape;1141;p48"/>
            <p:cNvCxnSpPr>
              <a:stCxn id="1133" idx="7"/>
              <a:endCxn id="1134" idx="2"/>
            </p:cNvCxnSpPr>
            <p:nvPr/>
          </p:nvCxnSpPr>
          <p:spPr>
            <a:xfrm>
              <a:off x="-2332299" y="1848345"/>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1142" name="Google Shape;1142;p48"/>
            <p:cNvCxnSpPr>
              <a:endCxn id="1134"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143" name="Google Shape;1143;p48"/>
            <p:cNvCxnSpPr>
              <a:stCxn id="1138" idx="7"/>
              <a:endCxn id="1137" idx="4"/>
            </p:cNvCxnSpPr>
            <p:nvPr/>
          </p:nvCxnSpPr>
          <p:spPr>
            <a:xfrm rot="10800000" flipH="1">
              <a:off x="-332043" y="2092402"/>
              <a:ext cx="127500" cy="1070400"/>
            </a:xfrm>
            <a:prstGeom prst="straightConnector1">
              <a:avLst/>
            </a:prstGeom>
            <a:noFill/>
            <a:ln w="9525" cap="flat" cmpd="sng">
              <a:solidFill>
                <a:schemeClr val="dk1"/>
              </a:solidFill>
              <a:prstDash val="solid"/>
              <a:round/>
              <a:headEnd type="none" w="med" len="med"/>
              <a:tailEnd type="triangle" w="med" len="med"/>
            </a:ln>
          </p:spPr>
        </p:cxnSp>
        <p:cxnSp>
          <p:nvCxnSpPr>
            <p:cNvPr id="1144" name="Google Shape;1144;p48"/>
            <p:cNvCxnSpPr>
              <a:stCxn id="1134" idx="5"/>
              <a:endCxn id="1138" idx="1"/>
            </p:cNvCxnSpPr>
            <p:nvPr/>
          </p:nvCxnSpPr>
          <p:spPr>
            <a:xfrm>
              <a:off x="-1074999" y="1993357"/>
              <a:ext cx="540900" cy="1169400"/>
            </a:xfrm>
            <a:prstGeom prst="straightConnector1">
              <a:avLst/>
            </a:prstGeom>
            <a:noFill/>
            <a:ln w="9525" cap="flat" cmpd="sng">
              <a:solidFill>
                <a:schemeClr val="dk1"/>
              </a:solidFill>
              <a:prstDash val="solid"/>
              <a:round/>
              <a:headEnd type="none" w="med" len="med"/>
              <a:tailEnd type="triangle" w="med" len="med"/>
            </a:ln>
          </p:spPr>
        </p:cxnSp>
        <p:cxnSp>
          <p:nvCxnSpPr>
            <p:cNvPr id="1145" name="Google Shape;1145;p48"/>
            <p:cNvCxnSpPr>
              <a:stCxn id="1136" idx="0"/>
              <a:endCxn id="1134" idx="4"/>
            </p:cNvCxnSpPr>
            <p:nvPr/>
          </p:nvCxnSpPr>
          <p:spPr>
            <a:xfrm rot="10800000" flipH="1">
              <a:off x="-1518984" y="2035246"/>
              <a:ext cx="342900" cy="1314300"/>
            </a:xfrm>
            <a:prstGeom prst="straightConnector1">
              <a:avLst/>
            </a:prstGeom>
            <a:noFill/>
            <a:ln w="9525" cap="flat" cmpd="sng">
              <a:solidFill>
                <a:schemeClr val="dk1"/>
              </a:solidFill>
              <a:prstDash val="solid"/>
              <a:round/>
              <a:headEnd type="none" w="med" len="med"/>
              <a:tailEnd type="triangle" w="med" len="med"/>
            </a:ln>
          </p:spPr>
        </p:cxnSp>
        <p:cxnSp>
          <p:nvCxnSpPr>
            <p:cNvPr id="1146" name="Google Shape;1146;p48"/>
            <p:cNvCxnSpPr>
              <a:stCxn id="1136" idx="6"/>
              <a:endCxn id="1138" idx="3"/>
            </p:cNvCxnSpPr>
            <p:nvPr/>
          </p:nvCxnSpPr>
          <p:spPr>
            <a:xfrm rot="10800000" flipH="1">
              <a:off x="-1376034" y="3364996"/>
              <a:ext cx="841800" cy="127500"/>
            </a:xfrm>
            <a:prstGeom prst="straightConnector1">
              <a:avLst/>
            </a:prstGeom>
            <a:noFill/>
            <a:ln w="9525" cap="flat" cmpd="sng">
              <a:solidFill>
                <a:schemeClr val="dk1"/>
              </a:solidFill>
              <a:prstDash val="solid"/>
              <a:round/>
              <a:headEnd type="none" w="med" len="med"/>
              <a:tailEnd type="triangle" w="med" len="med"/>
            </a:ln>
          </p:spPr>
        </p:cxnSp>
        <p:sp>
          <p:nvSpPr>
            <p:cNvPr id="1147" name="Google Shape;1147;p48"/>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148" name="Google Shape;1148;p48"/>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49" name="Google Shape;1149;p48"/>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50" name="Google Shape;1150;p48"/>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51" name="Google Shape;1151;p48"/>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52" name="Google Shape;1152;p48"/>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53" name="Google Shape;1153;p48"/>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154" name="Google Shape;1154;p48"/>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155" name="Google Shape;1155;p48"/>
            <p:cNvSpPr txBox="1"/>
            <p:nvPr/>
          </p:nvSpPr>
          <p:spPr>
            <a:xfrm>
              <a:off x="-1417640" y="1556555"/>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6" name="Google Shape;1156;p48"/>
            <p:cNvSpPr txBox="1"/>
            <p:nvPr/>
          </p:nvSpPr>
          <p:spPr>
            <a:xfrm>
              <a:off x="-297056" y="1600699"/>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7" name="Google Shape;1157;p48"/>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8" name="Google Shape;1158;p48"/>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9" name="Google Shape;1159;p48"/>
            <p:cNvSpPr txBox="1"/>
            <p:nvPr/>
          </p:nvSpPr>
          <p:spPr>
            <a:xfrm>
              <a:off x="-576109" y="2937462"/>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60" name="Google Shape;1160;p48"/>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2" name="TextBox 1">
            <a:extLst>
              <a:ext uri="{FF2B5EF4-FFF2-40B4-BE49-F238E27FC236}">
                <a16:creationId xmlns:a16="http://schemas.microsoft.com/office/drawing/2014/main" id="{0A60CCA6-B29A-1071-6616-7BBE19C12E9D}"/>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E, D in this example. </a:t>
            </a:r>
            <a:endParaRPr lang="en-SE"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206"/>
        <p:cNvGrpSpPr/>
        <p:nvPr/>
      </p:nvGrpSpPr>
      <p:grpSpPr>
        <a:xfrm>
          <a:off x="0" y="0"/>
          <a:ext cx="0" cy="0"/>
          <a:chOff x="0" y="0"/>
          <a:chExt cx="0" cy="0"/>
        </a:xfrm>
      </p:grpSpPr>
      <p:sp>
        <p:nvSpPr>
          <p:cNvPr id="1207" name="Google Shape;1207;p50"/>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a:t>Bellman-Ford Example</a:t>
            </a:r>
            <a:endParaRPr/>
          </a:p>
        </p:txBody>
      </p:sp>
      <p:sp>
        <p:nvSpPr>
          <p:cNvPr id="1208" name="Google Shape;1208;p50"/>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46</a:t>
            </a:fld>
            <a:endParaRPr sz="675" b="1" i="0" u="none" strike="noStrike" cap="none">
              <a:solidFill>
                <a:srgbClr val="4B2A85"/>
              </a:solidFill>
              <a:latin typeface="Calibri"/>
              <a:ea typeface="Calibri"/>
              <a:cs typeface="Calibri"/>
              <a:sym typeface="Calibri"/>
            </a:endParaRPr>
          </a:p>
        </p:txBody>
      </p:sp>
      <p:graphicFrame>
        <p:nvGraphicFramePr>
          <p:cNvPr id="1209" name="Google Shape;1209;p50"/>
          <p:cNvGraphicFramePr/>
          <p:nvPr>
            <p:extLst>
              <p:ext uri="{D42A27DB-BD31-4B8C-83A1-F6EECF244321}">
                <p14:modId xmlns:p14="http://schemas.microsoft.com/office/powerpoint/2010/main" val="963184139"/>
              </p:ext>
            </p:extLst>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10</a:t>
                      </a:r>
                      <a:r>
                        <a:rPr lang="en-US" sz="1600" strike="noStrike" dirty="0">
                          <a:solidFill>
                            <a:srgbClr val="0C0C0C"/>
                          </a:solidFill>
                          <a:latin typeface="Quattrocento Sans"/>
                          <a:ea typeface="Quattrocento Sans"/>
                          <a:cs typeface="Quattrocento Sans"/>
                          <a:sym typeface="Quattrocento Sans"/>
                        </a:rPr>
                        <a:t> </a:t>
                      </a:r>
                      <a:r>
                        <a:rPr lang="en-US" sz="1600" b="1" strike="noStrike" dirty="0">
                          <a:solidFill>
                            <a:srgbClr val="0C0C0C"/>
                          </a:solidFill>
                          <a:latin typeface="Quattrocento Sans"/>
                          <a:ea typeface="Quattrocento Sans"/>
                          <a:cs typeface="Quattrocento Sans"/>
                          <a:sym typeface="Quattrocento Sans"/>
                        </a:rPr>
                        <a:t>5</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dirty="0">
                          <a:solidFill>
                            <a:srgbClr val="0C0C0C"/>
                          </a:solidFill>
                          <a:latin typeface="Quattrocento Sans"/>
                          <a:ea typeface="Quattrocento Sans"/>
                          <a:cs typeface="Quattrocento Sans"/>
                          <a:sym typeface="Quattrocento Sans"/>
                        </a:rPr>
                        <a:t>S</a:t>
                      </a:r>
                      <a:r>
                        <a:rPr lang="en-US" sz="1600" strike="noStrike" dirty="0">
                          <a:solidFill>
                            <a:srgbClr val="0C0C0C"/>
                          </a:solidFill>
                          <a:latin typeface="Quattrocento Sans"/>
                          <a:ea typeface="Quattrocento Sans"/>
                          <a:cs typeface="Quattrocento Sans"/>
                          <a:sym typeface="Quattrocento Sans"/>
                        </a:rPr>
                        <a:t> </a:t>
                      </a:r>
                      <a:r>
                        <a:rPr lang="en-US" sz="1600" b="1" strike="noStrike" dirty="0">
                          <a:solidFill>
                            <a:srgbClr val="0C0C0C"/>
                          </a:solidFill>
                          <a:latin typeface="Quattrocento Sans"/>
                          <a:ea typeface="Quattrocento Sans"/>
                          <a:cs typeface="Quattrocento Sans"/>
                          <a:sym typeface="Quattrocento Sans"/>
                        </a:rPr>
                        <a:t>D</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10</a:t>
                      </a:r>
                      <a:r>
                        <a:rPr lang="en-US" sz="1600" dirty="0">
                          <a:solidFill>
                            <a:srgbClr val="0C0C0C"/>
                          </a:solidFill>
                          <a:latin typeface="Quattrocento Sans"/>
                          <a:ea typeface="Quattrocento Sans"/>
                          <a:cs typeface="Quattrocento Sans"/>
                          <a:sym typeface="Quattrocento Sans"/>
                        </a:rPr>
                        <a:t> </a:t>
                      </a:r>
                      <a:r>
                        <a:rPr lang="en-US" sz="1600" b="1" dirty="0">
                          <a:solidFill>
                            <a:srgbClr val="0C0C0C"/>
                          </a:solidFill>
                          <a:latin typeface="Quattrocento Sans"/>
                          <a:ea typeface="Quattrocento Sans"/>
                          <a:cs typeface="Quattrocento Sans"/>
                          <a:sym typeface="Quattrocento Sans"/>
                        </a:rPr>
                        <a:t>6</a:t>
                      </a:r>
                      <a:endParaRPr sz="1600" b="1"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C</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12</a:t>
                      </a:r>
                      <a:r>
                        <a:rPr lang="en-US" sz="1600" strike="noStrike" dirty="0">
                          <a:solidFill>
                            <a:srgbClr val="0C0C0C"/>
                          </a:solidFill>
                          <a:latin typeface="Quattrocento Sans"/>
                          <a:ea typeface="Quattrocento Sans"/>
                          <a:cs typeface="Quattrocento Sans"/>
                          <a:sym typeface="Quattrocento Sans"/>
                        </a:rPr>
                        <a:t> </a:t>
                      </a:r>
                      <a:r>
                        <a:rPr lang="en-US" sz="1600" b="1" strike="noStrike" dirty="0">
                          <a:solidFill>
                            <a:srgbClr val="0C0C0C"/>
                          </a:solidFill>
                          <a:latin typeface="Quattrocento Sans"/>
                          <a:ea typeface="Quattrocento Sans"/>
                          <a:cs typeface="Quattrocento Sans"/>
                          <a:sym typeface="Quattrocento Sans"/>
                        </a:rPr>
                        <a:t>8</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u="none" strike="sngStrike" dirty="0">
                          <a:solidFill>
                            <a:srgbClr val="0C0C0C"/>
                          </a:solidFill>
                          <a:latin typeface="Quattrocento Sans"/>
                          <a:ea typeface="Quattrocento Sans"/>
                          <a:cs typeface="Quattrocento Sans"/>
                          <a:sym typeface="Quattrocento Sans"/>
                        </a:rPr>
                        <a:t>A</a:t>
                      </a:r>
                      <a:r>
                        <a:rPr lang="en-US" sz="1600" u="none" strike="noStrike" dirty="0">
                          <a:solidFill>
                            <a:srgbClr val="0C0C0C"/>
                          </a:solidFill>
                          <a:latin typeface="Quattrocento Sans"/>
                          <a:ea typeface="Quattrocento Sans"/>
                          <a:cs typeface="Quattrocento Sans"/>
                          <a:sym typeface="Quattrocento Sans"/>
                        </a:rPr>
                        <a:t> </a:t>
                      </a:r>
                      <a:r>
                        <a:rPr lang="en-US" sz="1600" b="1" u="none" strike="noStrike" dirty="0">
                          <a:solidFill>
                            <a:srgbClr val="0C0C0C"/>
                          </a:solidFill>
                          <a:latin typeface="Quattrocento Sans"/>
                          <a:ea typeface="Quattrocento Sans"/>
                          <a:cs typeface="Quattrocento Sans"/>
                          <a:sym typeface="Quattrocento Sans"/>
                        </a:rPr>
                        <a:t>D</a:t>
                      </a:r>
                      <a:endParaRPr sz="1600" b="1" u="none"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S</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10" name="Google Shape;1210;p50"/>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211" name="Google Shape;1211;p50"/>
          <p:cNvGrpSpPr/>
          <p:nvPr/>
        </p:nvGrpSpPr>
        <p:grpSpPr>
          <a:xfrm>
            <a:off x="1701172" y="1426150"/>
            <a:ext cx="4030525" cy="2771784"/>
            <a:chOff x="-2863816" y="1556556"/>
            <a:chExt cx="3022969" cy="2078890"/>
          </a:xfrm>
        </p:grpSpPr>
        <p:sp>
          <p:nvSpPr>
            <p:cNvPr id="1212" name="Google Shape;1212;p50"/>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213" name="Google Shape;1213;p50"/>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214" name="Google Shape;1214;p50"/>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215" name="Google Shape;1215;p50"/>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216" name="Google Shape;1216;p50"/>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217" name="Google Shape;1217;p50"/>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218" name="Google Shape;1218;p50"/>
            <p:cNvCxnSpPr>
              <a:stCxn id="1212" idx="3"/>
              <a:endCxn id="1214"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219" name="Google Shape;1219;p50"/>
            <p:cNvCxnSpPr>
              <a:stCxn id="1214" idx="5"/>
              <a:endCxn id="1215"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220" name="Google Shape;1220;p50"/>
            <p:cNvCxnSpPr>
              <a:stCxn id="1212" idx="7"/>
              <a:endCxn id="1213"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221" name="Google Shape;1221;p50"/>
            <p:cNvCxnSpPr>
              <a:endCxn id="1213"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222" name="Google Shape;1222;p50"/>
            <p:cNvCxnSpPr>
              <a:stCxn id="1217" idx="7"/>
              <a:endCxn id="1216"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223" name="Google Shape;1223;p50"/>
            <p:cNvCxnSpPr>
              <a:stCxn id="1213" idx="5"/>
              <a:endCxn id="1217"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224" name="Google Shape;1224;p50"/>
            <p:cNvCxnSpPr>
              <a:stCxn id="1215" idx="0"/>
              <a:endCxn id="1213"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225" name="Google Shape;1225;p50"/>
            <p:cNvCxnSpPr>
              <a:stCxn id="1215" idx="6"/>
              <a:endCxn id="1217"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226" name="Google Shape;1226;p50"/>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227" name="Google Shape;1227;p50"/>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28" name="Google Shape;1228;p50"/>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29" name="Google Shape;1229;p50"/>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30" name="Google Shape;1230;p50"/>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31" name="Google Shape;1231;p50"/>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32" name="Google Shape;1232;p50"/>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233" name="Google Shape;1233;p50"/>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234" name="Google Shape;1234;p50"/>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235" name="Google Shape;1235;p50"/>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36" name="Google Shape;1236;p50"/>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237" name="Google Shape;1237;p50"/>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238" name="Google Shape;1238;p50"/>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8</a:t>
              </a:r>
              <a:endParaRPr sz="2000" dirty="0">
                <a:solidFill>
                  <a:srgbClr val="FF0000"/>
                </a:solidFill>
                <a:latin typeface="Calibri"/>
                <a:ea typeface="Calibri"/>
                <a:cs typeface="Calibri"/>
                <a:sym typeface="Calibri"/>
              </a:endParaRPr>
            </a:p>
          </p:txBody>
        </p:sp>
        <p:sp>
          <p:nvSpPr>
            <p:cNvPr id="1239" name="Google Shape;1239;p50"/>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40" name="Google Shape;1240;p50"/>
          <p:cNvSpPr txBox="1"/>
          <p:nvPr/>
        </p:nvSpPr>
        <p:spPr>
          <a:xfrm>
            <a:off x="6230303" y="2352182"/>
            <a:ext cx="5684700" cy="44624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sym typeface="Quattrocento Sans"/>
              </a:rPr>
              <a:t>Iteration 1</a:t>
            </a:r>
            <a:endParaRPr sz="1700" dirty="0">
              <a:latin typeface="+mn-lt"/>
              <a:sym typeface="Quattrocento Sans"/>
            </a:endParaRPr>
          </a:p>
        </p:txBody>
      </p:sp>
      <p:sp>
        <p:nvSpPr>
          <p:cNvPr id="7" name="TextBox 6">
            <a:extLst>
              <a:ext uri="{FF2B5EF4-FFF2-40B4-BE49-F238E27FC236}">
                <a16:creationId xmlns:a16="http://schemas.microsoft.com/office/drawing/2014/main" id="{330C37ED-A6FF-E6EB-B48B-D648C60D7941}"/>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E, D in this example. </a:t>
            </a:r>
            <a:endParaRPr lang="en-SE" sz="1800" dirty="0"/>
          </a:p>
        </p:txBody>
      </p:sp>
      <p:sp>
        <p:nvSpPr>
          <p:cNvPr id="9" name="Google Shape;1287;p51">
            <a:extLst>
              <a:ext uri="{FF2B5EF4-FFF2-40B4-BE49-F238E27FC236}">
                <a16:creationId xmlns:a16="http://schemas.microsoft.com/office/drawing/2014/main" id="{F4C28B71-54F6-2EA4-8859-1C98F83B2CE6}"/>
              </a:ext>
            </a:extLst>
          </p:cNvPr>
          <p:cNvSpPr txBox="1"/>
          <p:nvPr/>
        </p:nvSpPr>
        <p:spPr>
          <a:xfrm>
            <a:off x="9409588" y="3623253"/>
            <a:ext cx="2736900" cy="1046410"/>
          </a:xfrm>
          <a:prstGeom prst="rect">
            <a:avLst/>
          </a:prstGeom>
          <a:noFill/>
          <a:ln>
            <a:noFill/>
          </a:ln>
        </p:spPr>
        <p:txBody>
          <a:bodyPr spcFirstLastPara="1" wrap="square" lIns="91425" tIns="91425" rIns="91425" bIns="91425" anchor="t" anchorCtr="0">
            <a:spAutoFit/>
          </a:bodyPr>
          <a:lstStyle/>
          <a:p>
            <a:r>
              <a:rPr lang="en-US" dirty="0">
                <a:latin typeface="+mj-lt"/>
                <a:ea typeface="Quattrocento Sans"/>
                <a:cs typeface="Quattrocento Sans"/>
                <a:sym typeface="Quattrocento Sans"/>
              </a:rPr>
              <a:t>* </a:t>
            </a:r>
            <a:r>
              <a:rPr lang="en-US" dirty="0"/>
              <a:t>C’s SD was updated to be 12 after visiting A, but it was updated to be 8 after visiting D in the same iteration</a:t>
            </a:r>
            <a:endParaRPr lang="en-SE"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251"/>
        <p:cNvGrpSpPr/>
        <p:nvPr/>
      </p:nvGrpSpPr>
      <p:grpSpPr>
        <a:xfrm>
          <a:off x="0" y="0"/>
          <a:ext cx="0" cy="0"/>
          <a:chOff x="0" y="0"/>
          <a:chExt cx="0" cy="0"/>
        </a:xfrm>
      </p:grpSpPr>
      <p:sp>
        <p:nvSpPr>
          <p:cNvPr id="1252" name="Google Shape;1252;p51"/>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253" name="Google Shape;1253;p51"/>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47</a:t>
            </a:fld>
            <a:endParaRPr sz="675" b="1" i="0" u="none" strike="noStrike" cap="none">
              <a:solidFill>
                <a:srgbClr val="4B2A85"/>
              </a:solidFill>
              <a:latin typeface="Calibri"/>
              <a:ea typeface="Calibri"/>
              <a:cs typeface="Calibri"/>
              <a:sym typeface="Calibri"/>
            </a:endParaRPr>
          </a:p>
        </p:txBody>
      </p:sp>
      <p:graphicFrame>
        <p:nvGraphicFramePr>
          <p:cNvPr id="1254" name="Google Shape;1254;p51"/>
          <p:cNvGraphicFramePr/>
          <p:nvPr>
            <p:extLst>
              <p:ext uri="{D42A27DB-BD31-4B8C-83A1-F6EECF244321}">
                <p14:modId xmlns:p14="http://schemas.microsoft.com/office/powerpoint/2010/main" val="2898530755"/>
              </p:ext>
            </p:extLst>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6,</a:t>
                      </a:r>
                      <a:r>
                        <a:rPr lang="en-US" sz="1600" b="1" strike="noStrike" dirty="0">
                          <a:solidFill>
                            <a:srgbClr val="0C0C0C"/>
                          </a:solidFill>
                          <a:latin typeface="Quattrocento Sans"/>
                          <a:ea typeface="Quattrocento Sans"/>
                          <a:cs typeface="Quattrocento Sans"/>
                          <a:sym typeface="Quattrocento Sans"/>
                        </a:rPr>
                        <a:t> 5</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8,</a:t>
                      </a:r>
                      <a:r>
                        <a:rPr lang="en-US" sz="1600" b="1" strike="noStrike" dirty="0">
                          <a:solidFill>
                            <a:srgbClr val="0C0C0C"/>
                          </a:solidFill>
                          <a:latin typeface="Quattrocento Sans"/>
                          <a:ea typeface="Quattrocento Sans"/>
                          <a:cs typeface="Quattrocento Sans"/>
                          <a:sym typeface="Quattrocento Sans"/>
                        </a:rPr>
                        <a:t> 7</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dirty="0">
                          <a:solidFill>
                            <a:srgbClr val="0C0C0C"/>
                          </a:solidFill>
                          <a:latin typeface="Quattrocento Sans"/>
                          <a:ea typeface="Quattrocento Sans"/>
                          <a:cs typeface="Quattrocento Sans"/>
                          <a:sym typeface="Quattrocento Sans"/>
                        </a:rPr>
                        <a:t>D,</a:t>
                      </a:r>
                      <a:r>
                        <a:rPr lang="en-US" sz="1600" b="1" strike="noStrike" dirty="0">
                          <a:solidFill>
                            <a:srgbClr val="0C0C0C"/>
                          </a:solidFill>
                          <a:latin typeface="Quattrocento Sans"/>
                          <a:ea typeface="Quattrocento Sans"/>
                          <a:cs typeface="Quattrocento Sans"/>
                          <a:sym typeface="Quattrocento Sans"/>
                        </a:rPr>
                        <a:t> A</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S</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55" name="Google Shape;1255;p51"/>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256" name="Google Shape;1256;p51"/>
          <p:cNvGrpSpPr/>
          <p:nvPr/>
        </p:nvGrpSpPr>
        <p:grpSpPr>
          <a:xfrm>
            <a:off x="1701172" y="1426150"/>
            <a:ext cx="4030525" cy="2771784"/>
            <a:chOff x="-2863816" y="1556556"/>
            <a:chExt cx="3022969" cy="2078890"/>
          </a:xfrm>
        </p:grpSpPr>
        <p:sp>
          <p:nvSpPr>
            <p:cNvPr id="1257" name="Google Shape;1257;p51"/>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258" name="Google Shape;1258;p51"/>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259" name="Google Shape;1259;p51"/>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260" name="Google Shape;1260;p51"/>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261" name="Google Shape;1261;p51"/>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262" name="Google Shape;1262;p51"/>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263" name="Google Shape;1263;p51"/>
            <p:cNvCxnSpPr>
              <a:stCxn id="1257" idx="3"/>
              <a:endCxn id="1259"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264" name="Google Shape;1264;p51"/>
            <p:cNvCxnSpPr>
              <a:stCxn id="1259" idx="5"/>
              <a:endCxn id="1260"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265" name="Google Shape;1265;p51"/>
            <p:cNvCxnSpPr>
              <a:stCxn id="1257" idx="7"/>
              <a:endCxn id="1258"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266" name="Google Shape;1266;p51"/>
            <p:cNvCxnSpPr>
              <a:endCxn id="1258"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267" name="Google Shape;1267;p51"/>
            <p:cNvCxnSpPr>
              <a:stCxn id="1262" idx="7"/>
              <a:endCxn id="1261"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268" name="Google Shape;1268;p51"/>
            <p:cNvCxnSpPr>
              <a:stCxn id="1258" idx="5"/>
              <a:endCxn id="1262"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269" name="Google Shape;1269;p51"/>
            <p:cNvCxnSpPr>
              <a:stCxn id="1260" idx="0"/>
              <a:endCxn id="1258"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270" name="Google Shape;1270;p51"/>
            <p:cNvCxnSpPr>
              <a:stCxn id="1260" idx="6"/>
              <a:endCxn id="1262"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271" name="Google Shape;1271;p51"/>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272" name="Google Shape;1272;p51"/>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3" name="Google Shape;1273;p51"/>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74" name="Google Shape;1274;p51"/>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75" name="Google Shape;1275;p51"/>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6" name="Google Shape;1276;p51"/>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7" name="Google Shape;1277;p51"/>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278" name="Google Shape;1278;p51"/>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279" name="Google Shape;1279;p51"/>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280" name="Google Shape;1280;p51"/>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281" name="Google Shape;1281;p51"/>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282" name="Google Shape;1282;p51"/>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283" name="Google Shape;1283;p51"/>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7</a:t>
              </a:r>
              <a:endParaRPr sz="2000" dirty="0">
                <a:solidFill>
                  <a:srgbClr val="FF0000"/>
                </a:solidFill>
                <a:latin typeface="Calibri"/>
                <a:ea typeface="Calibri"/>
                <a:cs typeface="Calibri"/>
                <a:sym typeface="Calibri"/>
              </a:endParaRPr>
            </a:p>
          </p:txBody>
        </p:sp>
        <p:sp>
          <p:nvSpPr>
            <p:cNvPr id="1284" name="Google Shape;1284;p51"/>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85" name="Google Shape;1285;p51"/>
          <p:cNvSpPr txBox="1"/>
          <p:nvPr/>
        </p:nvSpPr>
        <p:spPr>
          <a:xfrm>
            <a:off x="6240700" y="2419925"/>
            <a:ext cx="56847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sym typeface="Quattrocento Sans"/>
              </a:rPr>
              <a:t>Iteration 2</a:t>
            </a:r>
            <a:endParaRPr sz="1700" dirty="0">
              <a:latin typeface="+mn-lt"/>
              <a:sym typeface="Quattrocento Sans"/>
            </a:endParaRPr>
          </a:p>
        </p:txBody>
      </p:sp>
      <p:sp>
        <p:nvSpPr>
          <p:cNvPr id="1287" name="Google Shape;1287;p51"/>
          <p:cNvSpPr txBox="1"/>
          <p:nvPr/>
        </p:nvSpPr>
        <p:spPr>
          <a:xfrm>
            <a:off x="9409588" y="3623253"/>
            <a:ext cx="27369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 With a shortened distance to A from iteration 1 we can improve the distance to C</a:t>
            </a:r>
            <a:endParaRPr dirty="0">
              <a:latin typeface="+mj-lt"/>
              <a:ea typeface="Quattrocento Sans"/>
              <a:cs typeface="Quattrocento Sans"/>
              <a:sym typeface="Quattrocento Sans"/>
            </a:endParaRPr>
          </a:p>
        </p:txBody>
      </p:sp>
      <p:sp>
        <p:nvSpPr>
          <p:cNvPr id="1289" name="Google Shape;1289;p51"/>
          <p:cNvSpPr txBox="1"/>
          <p:nvPr/>
        </p:nvSpPr>
        <p:spPr>
          <a:xfrm>
            <a:off x="9409588" y="4432468"/>
            <a:ext cx="28491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 With a shortened distance to C in this iteration we can improve distance to B</a:t>
            </a:r>
            <a:endParaRPr dirty="0">
              <a:latin typeface="+mj-lt"/>
              <a:ea typeface="Quattrocento Sans"/>
              <a:cs typeface="Quattrocento Sans"/>
              <a:sym typeface="Quattrocento Sans"/>
            </a:endParaRPr>
          </a:p>
        </p:txBody>
      </p:sp>
      <p:sp>
        <p:nvSpPr>
          <p:cNvPr id="2" name="TextBox 1">
            <a:extLst>
              <a:ext uri="{FF2B5EF4-FFF2-40B4-BE49-F238E27FC236}">
                <a16:creationId xmlns:a16="http://schemas.microsoft.com/office/drawing/2014/main" id="{D6EB0B2B-3ED4-98D1-D681-915356A5240F}"/>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E, D in this example. </a:t>
            </a:r>
            <a:endParaRPr lang="en-SE"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295"/>
        <p:cNvGrpSpPr/>
        <p:nvPr/>
      </p:nvGrpSpPr>
      <p:grpSpPr>
        <a:xfrm>
          <a:off x="0" y="0"/>
          <a:ext cx="0" cy="0"/>
          <a:chOff x="0" y="0"/>
          <a:chExt cx="0" cy="0"/>
        </a:xfrm>
      </p:grpSpPr>
      <p:sp>
        <p:nvSpPr>
          <p:cNvPr id="1296" name="Google Shape;1296;p52"/>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297" name="Google Shape;1297;p52"/>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48</a:t>
            </a:fld>
            <a:endParaRPr sz="675" b="1" i="0" u="none" strike="noStrike" cap="none">
              <a:solidFill>
                <a:srgbClr val="4B2A85"/>
              </a:solidFill>
              <a:latin typeface="Calibri"/>
              <a:ea typeface="Calibri"/>
              <a:cs typeface="Calibri"/>
              <a:sym typeface="Calibri"/>
            </a:endParaRPr>
          </a:p>
        </p:txBody>
      </p:sp>
      <p:graphicFrame>
        <p:nvGraphicFramePr>
          <p:cNvPr id="1298" name="Google Shape;1298;p52"/>
          <p:cNvGraphicFramePr/>
          <p:nvPr>
            <p:extLst>
              <p:ext uri="{D42A27DB-BD31-4B8C-83A1-F6EECF244321}">
                <p14:modId xmlns:p14="http://schemas.microsoft.com/office/powerpoint/2010/main" val="3455853887"/>
              </p:ext>
            </p:extLst>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7</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S</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99" name="Google Shape;1299;p52"/>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300" name="Google Shape;1300;p52"/>
          <p:cNvGrpSpPr/>
          <p:nvPr/>
        </p:nvGrpSpPr>
        <p:grpSpPr>
          <a:xfrm>
            <a:off x="1701172" y="1426150"/>
            <a:ext cx="4030525" cy="2771784"/>
            <a:chOff x="-2863816" y="1556556"/>
            <a:chExt cx="3022969" cy="2078890"/>
          </a:xfrm>
        </p:grpSpPr>
        <p:sp>
          <p:nvSpPr>
            <p:cNvPr id="1301" name="Google Shape;1301;p52"/>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302" name="Google Shape;1302;p52"/>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303" name="Google Shape;1303;p52"/>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304" name="Google Shape;1304;p52"/>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305" name="Google Shape;1305;p52"/>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306" name="Google Shape;1306;p52"/>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307" name="Google Shape;1307;p52"/>
            <p:cNvCxnSpPr>
              <a:stCxn id="1301" idx="3"/>
              <a:endCxn id="1303"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308" name="Google Shape;1308;p52"/>
            <p:cNvCxnSpPr>
              <a:stCxn id="1303" idx="5"/>
              <a:endCxn id="1304"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309" name="Google Shape;1309;p52"/>
            <p:cNvCxnSpPr>
              <a:stCxn id="1301" idx="7"/>
              <a:endCxn id="1302"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310" name="Google Shape;1310;p52"/>
            <p:cNvCxnSpPr>
              <a:endCxn id="1302"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311" name="Google Shape;1311;p52"/>
            <p:cNvCxnSpPr>
              <a:stCxn id="1306" idx="7"/>
              <a:endCxn id="1305"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312" name="Google Shape;1312;p52"/>
            <p:cNvCxnSpPr>
              <a:stCxn id="1302" idx="5"/>
              <a:endCxn id="1306"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313" name="Google Shape;1313;p52"/>
            <p:cNvCxnSpPr>
              <a:stCxn id="1304" idx="0"/>
              <a:endCxn id="1302"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314" name="Google Shape;1314;p52"/>
            <p:cNvCxnSpPr>
              <a:stCxn id="1304" idx="6"/>
              <a:endCxn id="1306"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315" name="Google Shape;1315;p52"/>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316" name="Google Shape;1316;p52"/>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17" name="Google Shape;1317;p52"/>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8" name="Google Shape;1318;p52"/>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9" name="Google Shape;1319;p52"/>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0" name="Google Shape;1320;p52"/>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1" name="Google Shape;1321;p52"/>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322" name="Google Shape;1322;p52"/>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323" name="Google Shape;1323;p52"/>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324" name="Google Shape;1324;p52"/>
            <p:cNvSpPr txBox="1"/>
            <p:nvPr/>
          </p:nvSpPr>
          <p:spPr>
            <a:xfrm>
              <a:off x="-297064" y="1600695"/>
              <a:ext cx="342900" cy="25389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325" name="Google Shape;1325;p52"/>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326" name="Google Shape;1326;p52"/>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327" name="Google Shape;1327;p52"/>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7</a:t>
              </a:r>
              <a:endParaRPr sz="2000" dirty="0">
                <a:solidFill>
                  <a:srgbClr val="FF0000"/>
                </a:solidFill>
                <a:latin typeface="Calibri"/>
                <a:ea typeface="Calibri"/>
                <a:cs typeface="Calibri"/>
                <a:sym typeface="Calibri"/>
              </a:endParaRPr>
            </a:p>
          </p:txBody>
        </p:sp>
        <p:sp>
          <p:nvSpPr>
            <p:cNvPr id="1328" name="Google Shape;1328;p52"/>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329" name="Google Shape;1329;p52"/>
          <p:cNvSpPr txBox="1"/>
          <p:nvPr/>
        </p:nvSpPr>
        <p:spPr>
          <a:xfrm>
            <a:off x="6240700" y="2419925"/>
            <a:ext cx="56847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ea typeface="Quattrocento Sans"/>
                <a:cs typeface="Quattrocento Sans"/>
                <a:sym typeface="Quattrocento Sans"/>
              </a:rPr>
              <a:t>Iteration 3</a:t>
            </a:r>
            <a:endParaRPr sz="1700" dirty="0">
              <a:latin typeface="+mn-lt"/>
              <a:ea typeface="Quattrocento Sans"/>
              <a:cs typeface="Quattrocento Sans"/>
              <a:sym typeface="Quattrocento Sans"/>
            </a:endParaRPr>
          </a:p>
        </p:txBody>
      </p:sp>
      <p:sp>
        <p:nvSpPr>
          <p:cNvPr id="1330" name="Google Shape;1330;p52"/>
          <p:cNvSpPr txBox="1"/>
          <p:nvPr/>
        </p:nvSpPr>
        <p:spPr>
          <a:xfrm>
            <a:off x="9455100" y="3054950"/>
            <a:ext cx="2736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No changes!</a:t>
            </a:r>
            <a:endParaRPr dirty="0">
              <a:latin typeface="+mj-lt"/>
              <a:ea typeface="Quattrocento Sans"/>
              <a:cs typeface="Quattrocento Sans"/>
              <a:sym typeface="Quattrocento Sans"/>
            </a:endParaRPr>
          </a:p>
          <a:p>
            <a:pPr marL="0" lvl="0" indent="0" algn="l" rtl="0">
              <a:spcBef>
                <a:spcPts val="0"/>
              </a:spcBef>
              <a:spcAft>
                <a:spcPts val="0"/>
              </a:spcAft>
              <a:buNone/>
            </a:pPr>
            <a:r>
              <a:rPr lang="en-US" dirty="0">
                <a:latin typeface="+mj-lt"/>
                <a:ea typeface="Quattrocento Sans"/>
                <a:cs typeface="Quattrocento Sans"/>
                <a:sym typeface="Quattrocento Sans"/>
              </a:rPr>
              <a:t>This means we can stop early</a:t>
            </a:r>
            <a:endParaRPr dirty="0">
              <a:latin typeface="+mj-lt"/>
              <a:ea typeface="Quattrocento Sans"/>
              <a:cs typeface="Quattrocento Sans"/>
              <a:sym typeface="Quattrocento Sans"/>
            </a:endParaRPr>
          </a:p>
        </p:txBody>
      </p:sp>
      <p:sp>
        <p:nvSpPr>
          <p:cNvPr id="2" name="TextBox 1">
            <a:extLst>
              <a:ext uri="{FF2B5EF4-FFF2-40B4-BE49-F238E27FC236}">
                <a16:creationId xmlns:a16="http://schemas.microsoft.com/office/drawing/2014/main" id="{F92C9AA9-7C24-F7B5-1229-A874F31DEDD7}"/>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E, D in this example. </a:t>
            </a:r>
            <a:endParaRPr lang="en-SE"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72C04-96C7-9F6E-49FE-A36D033D180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FE81FF0C-6907-95E4-C3F5-527E44E96316}"/>
              </a:ext>
            </a:extLst>
          </p:cNvPr>
          <p:cNvSpPr>
            <a:spLocks noGrp="1"/>
          </p:cNvSpPr>
          <p:nvPr>
            <p:ph type="body" idx="1"/>
          </p:nvPr>
        </p:nvSpPr>
        <p:spPr>
          <a:xfrm>
            <a:off x="575239" y="1174003"/>
            <a:ext cx="10802675" cy="4545817"/>
          </a:xfrm>
        </p:spPr>
        <p:txBody>
          <a:bodyPr/>
          <a:lstStyle/>
          <a:p>
            <a:r>
              <a:rPr lang="en-US" sz="2800" dirty="0"/>
              <a:t>Bellman-Ford converged in 3 Iterations (not 5)</a:t>
            </a:r>
          </a:p>
          <a:p>
            <a:r>
              <a:rPr lang="en-US" sz="2800" dirty="0"/>
              <a:t>Node Order and Convergence Speed</a:t>
            </a:r>
          </a:p>
          <a:p>
            <a:pPr lvl="1"/>
            <a:r>
              <a:rPr lang="en-US" sz="2000" dirty="0"/>
              <a:t>Node order does not affect correctness, but processing vertices in a BFS-like order from the source allows distance improvements to propagate forward within the same iteration, leading to faster convergence.</a:t>
            </a:r>
          </a:p>
          <a:p>
            <a:r>
              <a:rPr lang="en-US" sz="2800" dirty="0"/>
              <a:t>Recommendation: </a:t>
            </a:r>
          </a:p>
          <a:p>
            <a:pPr lvl="1"/>
            <a:r>
              <a:rPr lang="en-US" sz="2300" dirty="0"/>
              <a:t>Relax vertices in outward (level-by-level) order from the source when possible.</a:t>
            </a:r>
          </a:p>
          <a:p>
            <a:r>
              <a:rPr lang="en-US" sz="2800" dirty="0"/>
              <a:t>If we adopt a different node visit order, it does not affect algorithm correctness but may affect convergence speed</a:t>
            </a:r>
          </a:p>
          <a:p>
            <a:pPr lvl="1"/>
            <a:r>
              <a:rPr lang="en-US" sz="2300" dirty="0"/>
              <a:t>Let’s try node order </a:t>
            </a:r>
            <a:r>
              <a:rPr lang="en-US" sz="2400" dirty="0"/>
              <a:t>S, A, C, B, </a:t>
            </a:r>
            <a:r>
              <a:rPr lang="en-US" sz="2400" dirty="0">
                <a:solidFill>
                  <a:srgbClr val="FF0000"/>
                </a:solidFill>
              </a:rPr>
              <a:t>D, E </a:t>
            </a:r>
            <a:endParaRPr lang="en-US" sz="2300" dirty="0">
              <a:solidFill>
                <a:srgbClr val="FF0000"/>
              </a:solidFill>
            </a:endParaRPr>
          </a:p>
        </p:txBody>
      </p:sp>
      <p:sp>
        <p:nvSpPr>
          <p:cNvPr id="6" name="Title 1">
            <a:extLst>
              <a:ext uri="{FF2B5EF4-FFF2-40B4-BE49-F238E27FC236}">
                <a16:creationId xmlns:a16="http://schemas.microsoft.com/office/drawing/2014/main" id="{6001DD40-6842-8B21-CB45-89FF1B3FFD18}"/>
              </a:ext>
            </a:extLst>
          </p:cNvPr>
          <p:cNvSpPr>
            <a:spLocks noGrp="1"/>
          </p:cNvSpPr>
          <p:nvPr>
            <p:ph type="title"/>
          </p:nvPr>
        </p:nvSpPr>
        <p:spPr>
          <a:xfrm>
            <a:off x="575239" y="263276"/>
            <a:ext cx="11187000" cy="1014900"/>
          </a:xfrm>
        </p:spPr>
        <p:txBody>
          <a:bodyPr>
            <a:normAutofit/>
          </a:bodyPr>
          <a:lstStyle/>
          <a:p>
            <a:r>
              <a:rPr lang="en-GB" dirty="0"/>
              <a:t>Bellman-Ford Convergence Speed</a:t>
            </a:r>
            <a:endParaRPr lang="en-SE" dirty="0"/>
          </a:p>
        </p:txBody>
      </p:sp>
    </p:spTree>
    <p:extLst>
      <p:ext uri="{BB962C8B-B14F-4D97-AF65-F5344CB8AC3E}">
        <p14:creationId xmlns:p14="http://schemas.microsoft.com/office/powerpoint/2010/main" val="11848313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27">
          <a:extLst>
            <a:ext uri="{FF2B5EF4-FFF2-40B4-BE49-F238E27FC236}">
              <a16:creationId xmlns:a16="http://schemas.microsoft.com/office/drawing/2014/main" id="{11624355-DED3-51A3-C0B5-6196FC491B74}"/>
            </a:ext>
          </a:extLst>
        </p:cNvPr>
        <p:cNvGrpSpPr/>
        <p:nvPr/>
      </p:nvGrpSpPr>
      <p:grpSpPr>
        <a:xfrm>
          <a:off x="0" y="0"/>
          <a:ext cx="0" cy="0"/>
          <a:chOff x="0" y="0"/>
          <a:chExt cx="0" cy="0"/>
        </a:xfrm>
      </p:grpSpPr>
      <p:sp>
        <p:nvSpPr>
          <p:cNvPr id="1128" name="Google Shape;1128;p48">
            <a:extLst>
              <a:ext uri="{FF2B5EF4-FFF2-40B4-BE49-F238E27FC236}">
                <a16:creationId xmlns:a16="http://schemas.microsoft.com/office/drawing/2014/main" id="{B718821C-E041-8154-921A-D05581226E67}"/>
              </a:ext>
            </a:extLst>
          </p:cNvPr>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129" name="Google Shape;1129;p48">
            <a:extLst>
              <a:ext uri="{FF2B5EF4-FFF2-40B4-BE49-F238E27FC236}">
                <a16:creationId xmlns:a16="http://schemas.microsoft.com/office/drawing/2014/main" id="{002D4E54-E6FA-59E4-883C-E9800FC7CF45}"/>
              </a:ext>
            </a:extLst>
          </p:cNvPr>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50</a:t>
            </a:fld>
            <a:endParaRPr sz="675" b="1" i="0" u="none" strike="noStrike" cap="none">
              <a:solidFill>
                <a:srgbClr val="4B2A85"/>
              </a:solidFill>
              <a:latin typeface="Calibri"/>
              <a:ea typeface="Calibri"/>
              <a:cs typeface="Calibri"/>
              <a:sym typeface="Calibri"/>
            </a:endParaRPr>
          </a:p>
        </p:txBody>
      </p:sp>
      <p:graphicFrame>
        <p:nvGraphicFramePr>
          <p:cNvPr id="1130" name="Google Shape;1130;p48">
            <a:extLst>
              <a:ext uri="{FF2B5EF4-FFF2-40B4-BE49-F238E27FC236}">
                <a16:creationId xmlns:a16="http://schemas.microsoft.com/office/drawing/2014/main" id="{C4279569-4EE0-2C8F-11B4-63E00C59F3EF}"/>
              </a:ext>
            </a:extLst>
          </p:cNvPr>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131" name="Google Shape;1131;p48">
            <a:extLst>
              <a:ext uri="{FF2B5EF4-FFF2-40B4-BE49-F238E27FC236}">
                <a16:creationId xmlns:a16="http://schemas.microsoft.com/office/drawing/2014/main" id="{C557F500-D755-3A9F-F8FA-EB53DEFB020F}"/>
              </a:ext>
            </a:extLst>
          </p:cNvPr>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132" name="Google Shape;1132;p48">
            <a:extLst>
              <a:ext uri="{FF2B5EF4-FFF2-40B4-BE49-F238E27FC236}">
                <a16:creationId xmlns:a16="http://schemas.microsoft.com/office/drawing/2014/main" id="{710511EF-F981-A960-4781-88628EC012C8}"/>
              </a:ext>
            </a:extLst>
          </p:cNvPr>
          <p:cNvGrpSpPr/>
          <p:nvPr/>
        </p:nvGrpSpPr>
        <p:grpSpPr>
          <a:xfrm>
            <a:off x="1701172" y="1426148"/>
            <a:ext cx="4030525" cy="2771785"/>
            <a:chOff x="-2863816" y="1556555"/>
            <a:chExt cx="3022969" cy="2078891"/>
          </a:xfrm>
        </p:grpSpPr>
        <p:sp>
          <p:nvSpPr>
            <p:cNvPr id="1133" name="Google Shape;1133;p48">
              <a:extLst>
                <a:ext uri="{FF2B5EF4-FFF2-40B4-BE49-F238E27FC236}">
                  <a16:creationId xmlns:a16="http://schemas.microsoft.com/office/drawing/2014/main" id="{0E565019-5BDA-8178-494A-FE41350AF2C1}"/>
                </a:ext>
              </a:extLst>
            </p:cNvPr>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134" name="Google Shape;1134;p48">
              <a:extLst>
                <a:ext uri="{FF2B5EF4-FFF2-40B4-BE49-F238E27FC236}">
                  <a16:creationId xmlns:a16="http://schemas.microsoft.com/office/drawing/2014/main" id="{9166A7F2-2B9F-21E9-C4F2-6D03F5701BA0}"/>
                </a:ext>
              </a:extLst>
            </p:cNvPr>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135" name="Google Shape;1135;p48">
              <a:extLst>
                <a:ext uri="{FF2B5EF4-FFF2-40B4-BE49-F238E27FC236}">
                  <a16:creationId xmlns:a16="http://schemas.microsoft.com/office/drawing/2014/main" id="{E8EB6E67-BFBF-7D78-1A2A-2896E0EF7CF5}"/>
                </a:ext>
              </a:extLst>
            </p:cNvPr>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136" name="Google Shape;1136;p48">
              <a:extLst>
                <a:ext uri="{FF2B5EF4-FFF2-40B4-BE49-F238E27FC236}">
                  <a16:creationId xmlns:a16="http://schemas.microsoft.com/office/drawing/2014/main" id="{3C57E983-740B-FB54-0A2D-FD9902BE4699}"/>
                </a:ext>
              </a:extLst>
            </p:cNvPr>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137" name="Google Shape;1137;p48">
              <a:extLst>
                <a:ext uri="{FF2B5EF4-FFF2-40B4-BE49-F238E27FC236}">
                  <a16:creationId xmlns:a16="http://schemas.microsoft.com/office/drawing/2014/main" id="{73900834-A085-979C-AA01-059A0A7D278F}"/>
                </a:ext>
              </a:extLst>
            </p:cNvPr>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138" name="Google Shape;1138;p48">
              <a:extLst>
                <a:ext uri="{FF2B5EF4-FFF2-40B4-BE49-F238E27FC236}">
                  <a16:creationId xmlns:a16="http://schemas.microsoft.com/office/drawing/2014/main" id="{9FE28308-38EC-6ACB-288A-723DE3B62DB4}"/>
                </a:ext>
              </a:extLst>
            </p:cNvPr>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139" name="Google Shape;1139;p48">
              <a:extLst>
                <a:ext uri="{FF2B5EF4-FFF2-40B4-BE49-F238E27FC236}">
                  <a16:creationId xmlns:a16="http://schemas.microsoft.com/office/drawing/2014/main" id="{281DC562-9D0A-79BE-8AEB-37CABFD6BC77}"/>
                </a:ext>
              </a:extLst>
            </p:cNvPr>
            <p:cNvCxnSpPr>
              <a:stCxn id="1133" idx="3"/>
              <a:endCxn id="1135" idx="0"/>
            </p:cNvCxnSpPr>
            <p:nvPr/>
          </p:nvCxnSpPr>
          <p:spPr>
            <a:xfrm flipH="1">
              <a:off x="-2547661" y="2050507"/>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1140" name="Google Shape;1140;p48">
              <a:extLst>
                <a:ext uri="{FF2B5EF4-FFF2-40B4-BE49-F238E27FC236}">
                  <a16:creationId xmlns:a16="http://schemas.microsoft.com/office/drawing/2014/main" id="{241ACB3F-EB52-7817-C268-2E32B07620BE}"/>
                </a:ext>
              </a:extLst>
            </p:cNvPr>
            <p:cNvCxnSpPr>
              <a:stCxn id="1135" idx="5"/>
              <a:endCxn id="1136" idx="2"/>
            </p:cNvCxnSpPr>
            <p:nvPr/>
          </p:nvCxnSpPr>
          <p:spPr>
            <a:xfrm>
              <a:off x="-2446599" y="2964907"/>
              <a:ext cx="784800" cy="527700"/>
            </a:xfrm>
            <a:prstGeom prst="straightConnector1">
              <a:avLst/>
            </a:prstGeom>
            <a:noFill/>
            <a:ln w="9525" cap="flat" cmpd="sng">
              <a:solidFill>
                <a:schemeClr val="dk1"/>
              </a:solidFill>
              <a:prstDash val="solid"/>
              <a:round/>
              <a:headEnd type="none" w="med" len="med"/>
              <a:tailEnd type="triangle" w="med" len="med"/>
            </a:ln>
          </p:spPr>
        </p:cxnSp>
        <p:cxnSp>
          <p:nvCxnSpPr>
            <p:cNvPr id="1141" name="Google Shape;1141;p48">
              <a:extLst>
                <a:ext uri="{FF2B5EF4-FFF2-40B4-BE49-F238E27FC236}">
                  <a16:creationId xmlns:a16="http://schemas.microsoft.com/office/drawing/2014/main" id="{2E7E118E-6B2E-38FE-B071-B4188D64D721}"/>
                </a:ext>
              </a:extLst>
            </p:cNvPr>
            <p:cNvCxnSpPr>
              <a:stCxn id="1133" idx="7"/>
              <a:endCxn id="1134" idx="2"/>
            </p:cNvCxnSpPr>
            <p:nvPr/>
          </p:nvCxnSpPr>
          <p:spPr>
            <a:xfrm>
              <a:off x="-2332299" y="1848345"/>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1142" name="Google Shape;1142;p48">
              <a:extLst>
                <a:ext uri="{FF2B5EF4-FFF2-40B4-BE49-F238E27FC236}">
                  <a16:creationId xmlns:a16="http://schemas.microsoft.com/office/drawing/2014/main" id="{D8778107-E7D8-4F56-BE52-078942A05AE8}"/>
                </a:ext>
              </a:extLst>
            </p:cNvPr>
            <p:cNvCxnSpPr>
              <a:endCxn id="1134"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143" name="Google Shape;1143;p48">
              <a:extLst>
                <a:ext uri="{FF2B5EF4-FFF2-40B4-BE49-F238E27FC236}">
                  <a16:creationId xmlns:a16="http://schemas.microsoft.com/office/drawing/2014/main" id="{A6AC36FF-BC9E-F5F7-92E0-723B89B92623}"/>
                </a:ext>
              </a:extLst>
            </p:cNvPr>
            <p:cNvCxnSpPr>
              <a:stCxn id="1138" idx="7"/>
              <a:endCxn id="1137" idx="4"/>
            </p:cNvCxnSpPr>
            <p:nvPr/>
          </p:nvCxnSpPr>
          <p:spPr>
            <a:xfrm rot="10800000" flipH="1">
              <a:off x="-332043" y="2092402"/>
              <a:ext cx="127500" cy="1070400"/>
            </a:xfrm>
            <a:prstGeom prst="straightConnector1">
              <a:avLst/>
            </a:prstGeom>
            <a:noFill/>
            <a:ln w="9525" cap="flat" cmpd="sng">
              <a:solidFill>
                <a:schemeClr val="dk1"/>
              </a:solidFill>
              <a:prstDash val="solid"/>
              <a:round/>
              <a:headEnd type="none" w="med" len="med"/>
              <a:tailEnd type="triangle" w="med" len="med"/>
            </a:ln>
          </p:spPr>
        </p:cxnSp>
        <p:cxnSp>
          <p:nvCxnSpPr>
            <p:cNvPr id="1144" name="Google Shape;1144;p48">
              <a:extLst>
                <a:ext uri="{FF2B5EF4-FFF2-40B4-BE49-F238E27FC236}">
                  <a16:creationId xmlns:a16="http://schemas.microsoft.com/office/drawing/2014/main" id="{C7B6FF88-D69D-CAD6-798D-5B744DE00200}"/>
                </a:ext>
              </a:extLst>
            </p:cNvPr>
            <p:cNvCxnSpPr>
              <a:stCxn id="1134" idx="5"/>
              <a:endCxn id="1138" idx="1"/>
            </p:cNvCxnSpPr>
            <p:nvPr/>
          </p:nvCxnSpPr>
          <p:spPr>
            <a:xfrm>
              <a:off x="-1074999" y="1993357"/>
              <a:ext cx="540900" cy="1169400"/>
            </a:xfrm>
            <a:prstGeom prst="straightConnector1">
              <a:avLst/>
            </a:prstGeom>
            <a:noFill/>
            <a:ln w="9525" cap="flat" cmpd="sng">
              <a:solidFill>
                <a:schemeClr val="dk1"/>
              </a:solidFill>
              <a:prstDash val="solid"/>
              <a:round/>
              <a:headEnd type="none" w="med" len="med"/>
              <a:tailEnd type="triangle" w="med" len="med"/>
            </a:ln>
          </p:spPr>
        </p:cxnSp>
        <p:cxnSp>
          <p:nvCxnSpPr>
            <p:cNvPr id="1145" name="Google Shape;1145;p48">
              <a:extLst>
                <a:ext uri="{FF2B5EF4-FFF2-40B4-BE49-F238E27FC236}">
                  <a16:creationId xmlns:a16="http://schemas.microsoft.com/office/drawing/2014/main" id="{4016C222-1FF8-B234-CC52-C34D1F2D76D5}"/>
                </a:ext>
              </a:extLst>
            </p:cNvPr>
            <p:cNvCxnSpPr>
              <a:stCxn id="1136" idx="0"/>
              <a:endCxn id="1134" idx="4"/>
            </p:cNvCxnSpPr>
            <p:nvPr/>
          </p:nvCxnSpPr>
          <p:spPr>
            <a:xfrm rot="10800000" flipH="1">
              <a:off x="-1518984" y="2035246"/>
              <a:ext cx="342900" cy="1314300"/>
            </a:xfrm>
            <a:prstGeom prst="straightConnector1">
              <a:avLst/>
            </a:prstGeom>
            <a:noFill/>
            <a:ln w="9525" cap="flat" cmpd="sng">
              <a:solidFill>
                <a:schemeClr val="dk1"/>
              </a:solidFill>
              <a:prstDash val="solid"/>
              <a:round/>
              <a:headEnd type="none" w="med" len="med"/>
              <a:tailEnd type="triangle" w="med" len="med"/>
            </a:ln>
          </p:spPr>
        </p:cxnSp>
        <p:cxnSp>
          <p:nvCxnSpPr>
            <p:cNvPr id="1146" name="Google Shape;1146;p48">
              <a:extLst>
                <a:ext uri="{FF2B5EF4-FFF2-40B4-BE49-F238E27FC236}">
                  <a16:creationId xmlns:a16="http://schemas.microsoft.com/office/drawing/2014/main" id="{25E6B978-EA02-0EA0-AE3A-37CD62807C8D}"/>
                </a:ext>
              </a:extLst>
            </p:cNvPr>
            <p:cNvCxnSpPr>
              <a:stCxn id="1136" idx="6"/>
              <a:endCxn id="1138" idx="3"/>
            </p:cNvCxnSpPr>
            <p:nvPr/>
          </p:nvCxnSpPr>
          <p:spPr>
            <a:xfrm rot="10800000" flipH="1">
              <a:off x="-1376034" y="3364996"/>
              <a:ext cx="841800" cy="127500"/>
            </a:xfrm>
            <a:prstGeom prst="straightConnector1">
              <a:avLst/>
            </a:prstGeom>
            <a:noFill/>
            <a:ln w="9525" cap="flat" cmpd="sng">
              <a:solidFill>
                <a:schemeClr val="dk1"/>
              </a:solidFill>
              <a:prstDash val="solid"/>
              <a:round/>
              <a:headEnd type="none" w="med" len="med"/>
              <a:tailEnd type="triangle" w="med" len="med"/>
            </a:ln>
          </p:spPr>
        </p:cxnSp>
        <p:sp>
          <p:nvSpPr>
            <p:cNvPr id="1147" name="Google Shape;1147;p48">
              <a:extLst>
                <a:ext uri="{FF2B5EF4-FFF2-40B4-BE49-F238E27FC236}">
                  <a16:creationId xmlns:a16="http://schemas.microsoft.com/office/drawing/2014/main" id="{517EAA61-5164-498B-4881-642A8266C07B}"/>
                </a:ext>
              </a:extLst>
            </p:cNvPr>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148" name="Google Shape;1148;p48">
              <a:extLst>
                <a:ext uri="{FF2B5EF4-FFF2-40B4-BE49-F238E27FC236}">
                  <a16:creationId xmlns:a16="http://schemas.microsoft.com/office/drawing/2014/main" id="{A75AF2B2-43D7-8E47-8D77-05889A600CD6}"/>
                </a:ext>
              </a:extLst>
            </p:cNvPr>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49" name="Google Shape;1149;p48">
              <a:extLst>
                <a:ext uri="{FF2B5EF4-FFF2-40B4-BE49-F238E27FC236}">
                  <a16:creationId xmlns:a16="http://schemas.microsoft.com/office/drawing/2014/main" id="{46032B77-872B-00A5-9D52-237E2243EADD}"/>
                </a:ext>
              </a:extLst>
            </p:cNvPr>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50" name="Google Shape;1150;p48">
              <a:extLst>
                <a:ext uri="{FF2B5EF4-FFF2-40B4-BE49-F238E27FC236}">
                  <a16:creationId xmlns:a16="http://schemas.microsoft.com/office/drawing/2014/main" id="{908A0EBB-16AE-6047-9BAD-6A9844B85C2E}"/>
                </a:ext>
              </a:extLst>
            </p:cNvPr>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51" name="Google Shape;1151;p48">
              <a:extLst>
                <a:ext uri="{FF2B5EF4-FFF2-40B4-BE49-F238E27FC236}">
                  <a16:creationId xmlns:a16="http://schemas.microsoft.com/office/drawing/2014/main" id="{D82DCC84-05BC-F0BA-3431-79CF8ADFF9DA}"/>
                </a:ext>
              </a:extLst>
            </p:cNvPr>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52" name="Google Shape;1152;p48">
              <a:extLst>
                <a:ext uri="{FF2B5EF4-FFF2-40B4-BE49-F238E27FC236}">
                  <a16:creationId xmlns:a16="http://schemas.microsoft.com/office/drawing/2014/main" id="{FDC8FA47-E3CD-870B-F60D-9D4F29AACE48}"/>
                </a:ext>
              </a:extLst>
            </p:cNvPr>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53" name="Google Shape;1153;p48">
              <a:extLst>
                <a:ext uri="{FF2B5EF4-FFF2-40B4-BE49-F238E27FC236}">
                  <a16:creationId xmlns:a16="http://schemas.microsoft.com/office/drawing/2014/main" id="{DD5A7034-3297-2667-40A2-84F61B2A1B8A}"/>
                </a:ext>
              </a:extLst>
            </p:cNvPr>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154" name="Google Shape;1154;p48">
              <a:extLst>
                <a:ext uri="{FF2B5EF4-FFF2-40B4-BE49-F238E27FC236}">
                  <a16:creationId xmlns:a16="http://schemas.microsoft.com/office/drawing/2014/main" id="{03EF24CB-010C-5B59-9F90-8CA5807F9F7D}"/>
                </a:ext>
              </a:extLst>
            </p:cNvPr>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155" name="Google Shape;1155;p48">
              <a:extLst>
                <a:ext uri="{FF2B5EF4-FFF2-40B4-BE49-F238E27FC236}">
                  <a16:creationId xmlns:a16="http://schemas.microsoft.com/office/drawing/2014/main" id="{1778F9A0-1D55-AD81-ADEC-2426C725AFAD}"/>
                </a:ext>
              </a:extLst>
            </p:cNvPr>
            <p:cNvSpPr txBox="1"/>
            <p:nvPr/>
          </p:nvSpPr>
          <p:spPr>
            <a:xfrm>
              <a:off x="-1417640" y="1556555"/>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6" name="Google Shape;1156;p48">
              <a:extLst>
                <a:ext uri="{FF2B5EF4-FFF2-40B4-BE49-F238E27FC236}">
                  <a16:creationId xmlns:a16="http://schemas.microsoft.com/office/drawing/2014/main" id="{A2506704-63E3-B44C-BD6C-884F707B24B4}"/>
                </a:ext>
              </a:extLst>
            </p:cNvPr>
            <p:cNvSpPr txBox="1"/>
            <p:nvPr/>
          </p:nvSpPr>
          <p:spPr>
            <a:xfrm>
              <a:off x="-297056" y="1600699"/>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7" name="Google Shape;1157;p48">
              <a:extLst>
                <a:ext uri="{FF2B5EF4-FFF2-40B4-BE49-F238E27FC236}">
                  <a16:creationId xmlns:a16="http://schemas.microsoft.com/office/drawing/2014/main" id="{5E4AA279-EFD1-0C57-C957-872C3103234C}"/>
                </a:ext>
              </a:extLst>
            </p:cNvPr>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8" name="Google Shape;1158;p48">
              <a:extLst>
                <a:ext uri="{FF2B5EF4-FFF2-40B4-BE49-F238E27FC236}">
                  <a16:creationId xmlns:a16="http://schemas.microsoft.com/office/drawing/2014/main" id="{0C296D64-CF19-7482-88A5-9D44D38D4B52}"/>
                </a:ext>
              </a:extLst>
            </p:cNvPr>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9" name="Google Shape;1159;p48">
              <a:extLst>
                <a:ext uri="{FF2B5EF4-FFF2-40B4-BE49-F238E27FC236}">
                  <a16:creationId xmlns:a16="http://schemas.microsoft.com/office/drawing/2014/main" id="{200188BB-85B3-4C69-6E53-B4A07C0BEDB9}"/>
                </a:ext>
              </a:extLst>
            </p:cNvPr>
            <p:cNvSpPr txBox="1"/>
            <p:nvPr/>
          </p:nvSpPr>
          <p:spPr>
            <a:xfrm>
              <a:off x="-576109" y="2937462"/>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60" name="Google Shape;1160;p48">
              <a:extLst>
                <a:ext uri="{FF2B5EF4-FFF2-40B4-BE49-F238E27FC236}">
                  <a16:creationId xmlns:a16="http://schemas.microsoft.com/office/drawing/2014/main" id="{809D24DD-CCF0-F3EA-B246-96166F4FEA5D}"/>
                </a:ext>
              </a:extLst>
            </p:cNvPr>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3" name="TextBox 2">
            <a:extLst>
              <a:ext uri="{FF2B5EF4-FFF2-40B4-BE49-F238E27FC236}">
                <a16:creationId xmlns:a16="http://schemas.microsoft.com/office/drawing/2014/main" id="{567F0D32-2F3F-3F26-084A-727FD874418E}"/>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a:t>
            </a:r>
            <a:r>
              <a:rPr lang="en-US" sz="1800" dirty="0">
                <a:solidFill>
                  <a:srgbClr val="FF0000"/>
                </a:solidFill>
              </a:rPr>
              <a:t>D, E</a:t>
            </a:r>
            <a:r>
              <a:rPr lang="en-US" sz="1800" dirty="0"/>
              <a:t> in this example. </a:t>
            </a:r>
            <a:endParaRPr lang="en-SE" sz="1800" dirty="0"/>
          </a:p>
        </p:txBody>
      </p:sp>
    </p:spTree>
    <p:extLst>
      <p:ext uri="{BB962C8B-B14F-4D97-AF65-F5344CB8AC3E}">
        <p14:creationId xmlns:p14="http://schemas.microsoft.com/office/powerpoint/2010/main" val="308048056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206">
          <a:extLst>
            <a:ext uri="{FF2B5EF4-FFF2-40B4-BE49-F238E27FC236}">
              <a16:creationId xmlns:a16="http://schemas.microsoft.com/office/drawing/2014/main" id="{6DCAE8BF-A86C-C5F8-BD3D-167065E5EE17}"/>
            </a:ext>
          </a:extLst>
        </p:cNvPr>
        <p:cNvGrpSpPr/>
        <p:nvPr/>
      </p:nvGrpSpPr>
      <p:grpSpPr>
        <a:xfrm>
          <a:off x="0" y="0"/>
          <a:ext cx="0" cy="0"/>
          <a:chOff x="0" y="0"/>
          <a:chExt cx="0" cy="0"/>
        </a:xfrm>
      </p:grpSpPr>
      <p:sp>
        <p:nvSpPr>
          <p:cNvPr id="1207" name="Google Shape;1207;p50">
            <a:extLst>
              <a:ext uri="{FF2B5EF4-FFF2-40B4-BE49-F238E27FC236}">
                <a16:creationId xmlns:a16="http://schemas.microsoft.com/office/drawing/2014/main" id="{C838E9B5-83C7-0C97-EAEF-087B0FA9BAF5}"/>
              </a:ext>
            </a:extLst>
          </p:cNvPr>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a:t>Bellman-Ford Example</a:t>
            </a:r>
            <a:endParaRPr/>
          </a:p>
        </p:txBody>
      </p:sp>
      <p:sp>
        <p:nvSpPr>
          <p:cNvPr id="1208" name="Google Shape;1208;p50">
            <a:extLst>
              <a:ext uri="{FF2B5EF4-FFF2-40B4-BE49-F238E27FC236}">
                <a16:creationId xmlns:a16="http://schemas.microsoft.com/office/drawing/2014/main" id="{3C2C14A7-5D02-3390-6DB6-7CA1928C8AB6}"/>
              </a:ext>
            </a:extLst>
          </p:cNvPr>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51</a:t>
            </a:fld>
            <a:endParaRPr sz="675" b="1" i="0" u="none" strike="noStrike" cap="none">
              <a:solidFill>
                <a:srgbClr val="4B2A85"/>
              </a:solidFill>
              <a:latin typeface="Calibri"/>
              <a:ea typeface="Calibri"/>
              <a:cs typeface="Calibri"/>
              <a:sym typeface="Calibri"/>
            </a:endParaRPr>
          </a:p>
        </p:txBody>
      </p:sp>
      <p:graphicFrame>
        <p:nvGraphicFramePr>
          <p:cNvPr id="1209" name="Google Shape;1209;p50">
            <a:extLst>
              <a:ext uri="{FF2B5EF4-FFF2-40B4-BE49-F238E27FC236}">
                <a16:creationId xmlns:a16="http://schemas.microsoft.com/office/drawing/2014/main" id="{5D4BA61F-9FE9-7114-3023-D23C3588DAB4}"/>
              </a:ext>
            </a:extLst>
          </p:cNvPr>
          <p:cNvGraphicFramePr/>
          <p:nvPr>
            <p:extLst>
              <p:ext uri="{D42A27DB-BD31-4B8C-83A1-F6EECF244321}">
                <p14:modId xmlns:p14="http://schemas.microsoft.com/office/powerpoint/2010/main" val="1983950817"/>
              </p:ext>
            </p:extLst>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noStrike" dirty="0">
                          <a:solidFill>
                            <a:srgbClr val="0C0C0C"/>
                          </a:solidFill>
                          <a:latin typeface="Quattrocento Sans"/>
                          <a:ea typeface="Quattrocento Sans"/>
                          <a:cs typeface="Quattrocento Sans"/>
                          <a:sym typeface="Quattrocento Sans"/>
                        </a:rPr>
                        <a:t>10</a:t>
                      </a:r>
                      <a:endParaRPr sz="1600"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noStrike" dirty="0">
                          <a:solidFill>
                            <a:srgbClr val="0C0C0C"/>
                          </a:solidFill>
                          <a:latin typeface="Quattrocento Sans"/>
                          <a:ea typeface="Quattrocento Sans"/>
                          <a:cs typeface="Quattrocento Sans"/>
                          <a:sym typeface="Quattrocento Sans"/>
                        </a:rPr>
                        <a:t>S</a:t>
                      </a:r>
                      <a:endParaRPr sz="1600"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10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noStrike" dirty="0">
                          <a:solidFill>
                            <a:srgbClr val="0C0C0C"/>
                          </a:solidFill>
                          <a:latin typeface="Quattrocento Sans"/>
                          <a:ea typeface="Quattrocento Sans"/>
                          <a:cs typeface="Quattrocento Sans"/>
                          <a:sym typeface="Quattrocento Sans"/>
                        </a:rPr>
                        <a:t>12</a:t>
                      </a:r>
                      <a:endParaRPr sz="1600"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u="none" strike="noStrike" dirty="0">
                          <a:solidFill>
                            <a:srgbClr val="0C0C0C"/>
                          </a:solidFill>
                          <a:latin typeface="Quattrocento Sans"/>
                          <a:ea typeface="Quattrocento Sans"/>
                          <a:cs typeface="Quattrocento Sans"/>
                          <a:sym typeface="Quattrocento Sans"/>
                        </a:rPr>
                        <a:t>A</a:t>
                      </a:r>
                      <a:endParaRPr sz="1600" u="none"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S</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10" name="Google Shape;1210;p50">
            <a:extLst>
              <a:ext uri="{FF2B5EF4-FFF2-40B4-BE49-F238E27FC236}">
                <a16:creationId xmlns:a16="http://schemas.microsoft.com/office/drawing/2014/main" id="{CE2579A8-82D3-CD47-1DF3-20F6AEBCC5DF}"/>
              </a:ext>
            </a:extLst>
          </p:cNvPr>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211" name="Google Shape;1211;p50">
            <a:extLst>
              <a:ext uri="{FF2B5EF4-FFF2-40B4-BE49-F238E27FC236}">
                <a16:creationId xmlns:a16="http://schemas.microsoft.com/office/drawing/2014/main" id="{E7E75584-73B9-B6A3-D545-5B33A717D32B}"/>
              </a:ext>
            </a:extLst>
          </p:cNvPr>
          <p:cNvGrpSpPr/>
          <p:nvPr/>
        </p:nvGrpSpPr>
        <p:grpSpPr>
          <a:xfrm>
            <a:off x="1701172" y="1426150"/>
            <a:ext cx="4030525" cy="2771784"/>
            <a:chOff x="-2863816" y="1556556"/>
            <a:chExt cx="3022969" cy="2078890"/>
          </a:xfrm>
        </p:grpSpPr>
        <p:sp>
          <p:nvSpPr>
            <p:cNvPr id="1212" name="Google Shape;1212;p50">
              <a:extLst>
                <a:ext uri="{FF2B5EF4-FFF2-40B4-BE49-F238E27FC236}">
                  <a16:creationId xmlns:a16="http://schemas.microsoft.com/office/drawing/2014/main" id="{0E39F587-CD26-7D29-DB34-D31E66B41CFA}"/>
                </a:ext>
              </a:extLst>
            </p:cNvPr>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213" name="Google Shape;1213;p50">
              <a:extLst>
                <a:ext uri="{FF2B5EF4-FFF2-40B4-BE49-F238E27FC236}">
                  <a16:creationId xmlns:a16="http://schemas.microsoft.com/office/drawing/2014/main" id="{5EBB855B-A11A-6D62-4BD2-A9F8FFE63F87}"/>
                </a:ext>
              </a:extLst>
            </p:cNvPr>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214" name="Google Shape;1214;p50">
              <a:extLst>
                <a:ext uri="{FF2B5EF4-FFF2-40B4-BE49-F238E27FC236}">
                  <a16:creationId xmlns:a16="http://schemas.microsoft.com/office/drawing/2014/main" id="{4A86B199-E872-DDAA-F565-D4159528E909}"/>
                </a:ext>
              </a:extLst>
            </p:cNvPr>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215" name="Google Shape;1215;p50">
              <a:extLst>
                <a:ext uri="{FF2B5EF4-FFF2-40B4-BE49-F238E27FC236}">
                  <a16:creationId xmlns:a16="http://schemas.microsoft.com/office/drawing/2014/main" id="{F09A9510-0955-C48E-8C0A-3BC05A11D24D}"/>
                </a:ext>
              </a:extLst>
            </p:cNvPr>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216" name="Google Shape;1216;p50">
              <a:extLst>
                <a:ext uri="{FF2B5EF4-FFF2-40B4-BE49-F238E27FC236}">
                  <a16:creationId xmlns:a16="http://schemas.microsoft.com/office/drawing/2014/main" id="{9B6314C2-911D-2A80-4E0F-2CD13ED09870}"/>
                </a:ext>
              </a:extLst>
            </p:cNvPr>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217" name="Google Shape;1217;p50">
              <a:extLst>
                <a:ext uri="{FF2B5EF4-FFF2-40B4-BE49-F238E27FC236}">
                  <a16:creationId xmlns:a16="http://schemas.microsoft.com/office/drawing/2014/main" id="{61C5EC07-E390-A730-5BE2-0FE0E3D7D1AB}"/>
                </a:ext>
              </a:extLst>
            </p:cNvPr>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218" name="Google Shape;1218;p50">
              <a:extLst>
                <a:ext uri="{FF2B5EF4-FFF2-40B4-BE49-F238E27FC236}">
                  <a16:creationId xmlns:a16="http://schemas.microsoft.com/office/drawing/2014/main" id="{C1382A63-BFF5-C9C0-FB55-C6FE53338E5C}"/>
                </a:ext>
              </a:extLst>
            </p:cNvPr>
            <p:cNvCxnSpPr>
              <a:stCxn id="1212" idx="3"/>
              <a:endCxn id="1214"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219" name="Google Shape;1219;p50">
              <a:extLst>
                <a:ext uri="{FF2B5EF4-FFF2-40B4-BE49-F238E27FC236}">
                  <a16:creationId xmlns:a16="http://schemas.microsoft.com/office/drawing/2014/main" id="{ADCC5B5A-606C-18FD-9622-C2DD5D433B5B}"/>
                </a:ext>
              </a:extLst>
            </p:cNvPr>
            <p:cNvCxnSpPr>
              <a:stCxn id="1214" idx="5"/>
              <a:endCxn id="1215"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220" name="Google Shape;1220;p50">
              <a:extLst>
                <a:ext uri="{FF2B5EF4-FFF2-40B4-BE49-F238E27FC236}">
                  <a16:creationId xmlns:a16="http://schemas.microsoft.com/office/drawing/2014/main" id="{3340AB09-49CD-7300-2BFA-61FC8281928A}"/>
                </a:ext>
              </a:extLst>
            </p:cNvPr>
            <p:cNvCxnSpPr>
              <a:stCxn id="1212" idx="7"/>
              <a:endCxn id="1213"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221" name="Google Shape;1221;p50">
              <a:extLst>
                <a:ext uri="{FF2B5EF4-FFF2-40B4-BE49-F238E27FC236}">
                  <a16:creationId xmlns:a16="http://schemas.microsoft.com/office/drawing/2014/main" id="{01AA520A-32DD-C91B-B7F4-EB35CA7B4969}"/>
                </a:ext>
              </a:extLst>
            </p:cNvPr>
            <p:cNvCxnSpPr>
              <a:endCxn id="1213"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222" name="Google Shape;1222;p50">
              <a:extLst>
                <a:ext uri="{FF2B5EF4-FFF2-40B4-BE49-F238E27FC236}">
                  <a16:creationId xmlns:a16="http://schemas.microsoft.com/office/drawing/2014/main" id="{8F646B34-F185-1085-25E6-E1F83A7479E3}"/>
                </a:ext>
              </a:extLst>
            </p:cNvPr>
            <p:cNvCxnSpPr>
              <a:stCxn id="1217" idx="7"/>
              <a:endCxn id="1216"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223" name="Google Shape;1223;p50">
              <a:extLst>
                <a:ext uri="{FF2B5EF4-FFF2-40B4-BE49-F238E27FC236}">
                  <a16:creationId xmlns:a16="http://schemas.microsoft.com/office/drawing/2014/main" id="{C97B73A2-4E63-BA0F-1A60-1362839D3CA4}"/>
                </a:ext>
              </a:extLst>
            </p:cNvPr>
            <p:cNvCxnSpPr>
              <a:stCxn id="1213" idx="5"/>
              <a:endCxn id="1217"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224" name="Google Shape;1224;p50">
              <a:extLst>
                <a:ext uri="{FF2B5EF4-FFF2-40B4-BE49-F238E27FC236}">
                  <a16:creationId xmlns:a16="http://schemas.microsoft.com/office/drawing/2014/main" id="{FC603356-8D17-04B0-5C78-F9674B2B49F9}"/>
                </a:ext>
              </a:extLst>
            </p:cNvPr>
            <p:cNvCxnSpPr>
              <a:stCxn id="1215" idx="0"/>
              <a:endCxn id="1213"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225" name="Google Shape;1225;p50">
              <a:extLst>
                <a:ext uri="{FF2B5EF4-FFF2-40B4-BE49-F238E27FC236}">
                  <a16:creationId xmlns:a16="http://schemas.microsoft.com/office/drawing/2014/main" id="{50B33700-8C06-8E8D-F1BD-924AAF6EC17F}"/>
                </a:ext>
              </a:extLst>
            </p:cNvPr>
            <p:cNvCxnSpPr>
              <a:stCxn id="1215" idx="6"/>
              <a:endCxn id="1217"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226" name="Google Shape;1226;p50">
              <a:extLst>
                <a:ext uri="{FF2B5EF4-FFF2-40B4-BE49-F238E27FC236}">
                  <a16:creationId xmlns:a16="http://schemas.microsoft.com/office/drawing/2014/main" id="{DD7102F7-348E-461F-6C3D-CC8861A64295}"/>
                </a:ext>
              </a:extLst>
            </p:cNvPr>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227" name="Google Shape;1227;p50">
              <a:extLst>
                <a:ext uri="{FF2B5EF4-FFF2-40B4-BE49-F238E27FC236}">
                  <a16:creationId xmlns:a16="http://schemas.microsoft.com/office/drawing/2014/main" id="{29155C10-1510-9B2B-C8B2-11708FFD7F14}"/>
                </a:ext>
              </a:extLst>
            </p:cNvPr>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28" name="Google Shape;1228;p50">
              <a:extLst>
                <a:ext uri="{FF2B5EF4-FFF2-40B4-BE49-F238E27FC236}">
                  <a16:creationId xmlns:a16="http://schemas.microsoft.com/office/drawing/2014/main" id="{477D6063-E0B3-BD33-E3F1-6CB515563B42}"/>
                </a:ext>
              </a:extLst>
            </p:cNvPr>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29" name="Google Shape;1229;p50">
              <a:extLst>
                <a:ext uri="{FF2B5EF4-FFF2-40B4-BE49-F238E27FC236}">
                  <a16:creationId xmlns:a16="http://schemas.microsoft.com/office/drawing/2014/main" id="{1E6D23B3-F8C9-645C-87E3-EC31A559C1AF}"/>
                </a:ext>
              </a:extLst>
            </p:cNvPr>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30" name="Google Shape;1230;p50">
              <a:extLst>
                <a:ext uri="{FF2B5EF4-FFF2-40B4-BE49-F238E27FC236}">
                  <a16:creationId xmlns:a16="http://schemas.microsoft.com/office/drawing/2014/main" id="{CF64B44E-73E1-CD23-F78C-9A0D9387EFEA}"/>
                </a:ext>
              </a:extLst>
            </p:cNvPr>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31" name="Google Shape;1231;p50">
              <a:extLst>
                <a:ext uri="{FF2B5EF4-FFF2-40B4-BE49-F238E27FC236}">
                  <a16:creationId xmlns:a16="http://schemas.microsoft.com/office/drawing/2014/main" id="{B0265F73-6FB5-7BE8-9C6E-58DFFD81B3D9}"/>
                </a:ext>
              </a:extLst>
            </p:cNvPr>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32" name="Google Shape;1232;p50">
              <a:extLst>
                <a:ext uri="{FF2B5EF4-FFF2-40B4-BE49-F238E27FC236}">
                  <a16:creationId xmlns:a16="http://schemas.microsoft.com/office/drawing/2014/main" id="{673C6505-D912-D1F0-02A6-BD3B9AD7CC64}"/>
                </a:ext>
              </a:extLst>
            </p:cNvPr>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233" name="Google Shape;1233;p50">
              <a:extLst>
                <a:ext uri="{FF2B5EF4-FFF2-40B4-BE49-F238E27FC236}">
                  <a16:creationId xmlns:a16="http://schemas.microsoft.com/office/drawing/2014/main" id="{EDC68DBB-7BCD-6952-1D80-27306996757F}"/>
                </a:ext>
              </a:extLst>
            </p:cNvPr>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234" name="Google Shape;1234;p50">
              <a:extLst>
                <a:ext uri="{FF2B5EF4-FFF2-40B4-BE49-F238E27FC236}">
                  <a16:creationId xmlns:a16="http://schemas.microsoft.com/office/drawing/2014/main" id="{B5B755C5-B755-3D9E-EC19-F74FCBF66CED}"/>
                </a:ext>
              </a:extLst>
            </p:cNvPr>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35" name="Google Shape;1235;p50">
              <a:extLst>
                <a:ext uri="{FF2B5EF4-FFF2-40B4-BE49-F238E27FC236}">
                  <a16:creationId xmlns:a16="http://schemas.microsoft.com/office/drawing/2014/main" id="{37C9FBE1-C6CC-CBD6-DC59-E3072E0CF136}"/>
                </a:ext>
              </a:extLst>
            </p:cNvPr>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36" name="Google Shape;1236;p50">
              <a:extLst>
                <a:ext uri="{FF2B5EF4-FFF2-40B4-BE49-F238E27FC236}">
                  <a16:creationId xmlns:a16="http://schemas.microsoft.com/office/drawing/2014/main" id="{75A79F59-D1B4-06DD-47A7-9AC220286EE6}"/>
                </a:ext>
              </a:extLst>
            </p:cNvPr>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237" name="Google Shape;1237;p50">
              <a:extLst>
                <a:ext uri="{FF2B5EF4-FFF2-40B4-BE49-F238E27FC236}">
                  <a16:creationId xmlns:a16="http://schemas.microsoft.com/office/drawing/2014/main" id="{DC09B367-4060-D667-8D89-0ABA922CC1AD}"/>
                </a:ext>
              </a:extLst>
            </p:cNvPr>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238" name="Google Shape;1238;p50">
              <a:extLst>
                <a:ext uri="{FF2B5EF4-FFF2-40B4-BE49-F238E27FC236}">
                  <a16:creationId xmlns:a16="http://schemas.microsoft.com/office/drawing/2014/main" id="{675B56E4-C71D-69C5-FDC3-04F43643C9B1}"/>
                </a:ext>
              </a:extLst>
            </p:cNvPr>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1239" name="Google Shape;1239;p50">
              <a:extLst>
                <a:ext uri="{FF2B5EF4-FFF2-40B4-BE49-F238E27FC236}">
                  <a16:creationId xmlns:a16="http://schemas.microsoft.com/office/drawing/2014/main" id="{CEDD72DE-32AF-A5DE-06BE-8ACF511A6C28}"/>
                </a:ext>
              </a:extLst>
            </p:cNvPr>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40" name="Google Shape;1240;p50">
            <a:extLst>
              <a:ext uri="{FF2B5EF4-FFF2-40B4-BE49-F238E27FC236}">
                <a16:creationId xmlns:a16="http://schemas.microsoft.com/office/drawing/2014/main" id="{56F906DC-57E2-D05D-8BD7-B7A9DAF9D870}"/>
              </a:ext>
            </a:extLst>
          </p:cNvPr>
          <p:cNvSpPr txBox="1"/>
          <p:nvPr/>
        </p:nvSpPr>
        <p:spPr>
          <a:xfrm>
            <a:off x="6230303" y="2352182"/>
            <a:ext cx="5684700" cy="44624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sym typeface="Quattrocento Sans"/>
              </a:rPr>
              <a:t>Iteration 1</a:t>
            </a:r>
            <a:endParaRPr sz="1700" dirty="0">
              <a:latin typeface="+mn-lt"/>
              <a:sym typeface="Quattrocento Sans"/>
            </a:endParaRPr>
          </a:p>
        </p:txBody>
      </p:sp>
      <p:sp>
        <p:nvSpPr>
          <p:cNvPr id="7" name="TextBox 6">
            <a:extLst>
              <a:ext uri="{FF2B5EF4-FFF2-40B4-BE49-F238E27FC236}">
                <a16:creationId xmlns:a16="http://schemas.microsoft.com/office/drawing/2014/main" id="{609C04A7-5D8D-BF50-63F7-86327AE0988A}"/>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a:t>
            </a:r>
            <a:r>
              <a:rPr lang="en-US" sz="1800" dirty="0">
                <a:solidFill>
                  <a:srgbClr val="FF0000"/>
                </a:solidFill>
              </a:rPr>
              <a:t>D, E</a:t>
            </a:r>
            <a:r>
              <a:rPr lang="en-US" sz="1800" dirty="0"/>
              <a:t> in this example. </a:t>
            </a:r>
            <a:endParaRPr lang="en-SE" sz="1800" dirty="0"/>
          </a:p>
        </p:txBody>
      </p:sp>
      <p:sp>
        <p:nvSpPr>
          <p:cNvPr id="9" name="Google Shape;1287;p51">
            <a:extLst>
              <a:ext uri="{FF2B5EF4-FFF2-40B4-BE49-F238E27FC236}">
                <a16:creationId xmlns:a16="http://schemas.microsoft.com/office/drawing/2014/main" id="{A7991E99-D0C6-8AD8-E2AF-23EC98E3C22C}"/>
              </a:ext>
            </a:extLst>
          </p:cNvPr>
          <p:cNvSpPr txBox="1"/>
          <p:nvPr/>
        </p:nvSpPr>
        <p:spPr>
          <a:xfrm>
            <a:off x="9409588" y="3623253"/>
            <a:ext cx="2736900" cy="830966"/>
          </a:xfrm>
          <a:prstGeom prst="rect">
            <a:avLst/>
          </a:prstGeom>
          <a:noFill/>
          <a:ln>
            <a:noFill/>
          </a:ln>
        </p:spPr>
        <p:txBody>
          <a:bodyPr spcFirstLastPara="1" wrap="square" lIns="91425" tIns="91425" rIns="91425" bIns="91425" anchor="t" anchorCtr="0">
            <a:spAutoFit/>
          </a:bodyPr>
          <a:lstStyle/>
          <a:p>
            <a:r>
              <a:rPr lang="en-US" dirty="0">
                <a:latin typeface="+mj-lt"/>
                <a:ea typeface="Quattrocento Sans"/>
                <a:cs typeface="Quattrocento Sans"/>
                <a:sym typeface="Quattrocento Sans"/>
              </a:rPr>
              <a:t>* </a:t>
            </a:r>
            <a:r>
              <a:rPr lang="en-US" dirty="0"/>
              <a:t>D cannot use its SD of 9 to relax A and C until the </a:t>
            </a:r>
            <a:r>
              <a:rPr lang="en-US" i="1" dirty="0"/>
              <a:t>next</a:t>
            </a:r>
            <a:r>
              <a:rPr lang="en-US" dirty="0"/>
              <a:t> iteration</a:t>
            </a:r>
            <a:endParaRPr lang="en-SE" dirty="0"/>
          </a:p>
        </p:txBody>
      </p:sp>
    </p:spTree>
    <p:extLst>
      <p:ext uri="{BB962C8B-B14F-4D97-AF65-F5344CB8AC3E}">
        <p14:creationId xmlns:p14="http://schemas.microsoft.com/office/powerpoint/2010/main" val="34794635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251">
          <a:extLst>
            <a:ext uri="{FF2B5EF4-FFF2-40B4-BE49-F238E27FC236}">
              <a16:creationId xmlns:a16="http://schemas.microsoft.com/office/drawing/2014/main" id="{08DF5E7F-9F0A-5C08-16CC-48C506DF5224}"/>
            </a:ext>
          </a:extLst>
        </p:cNvPr>
        <p:cNvGrpSpPr/>
        <p:nvPr/>
      </p:nvGrpSpPr>
      <p:grpSpPr>
        <a:xfrm>
          <a:off x="0" y="0"/>
          <a:ext cx="0" cy="0"/>
          <a:chOff x="0" y="0"/>
          <a:chExt cx="0" cy="0"/>
        </a:xfrm>
      </p:grpSpPr>
      <p:sp>
        <p:nvSpPr>
          <p:cNvPr id="1252" name="Google Shape;1252;p51">
            <a:extLst>
              <a:ext uri="{FF2B5EF4-FFF2-40B4-BE49-F238E27FC236}">
                <a16:creationId xmlns:a16="http://schemas.microsoft.com/office/drawing/2014/main" id="{BDF82565-2968-A4CA-DFE8-192B8B5BECCF}"/>
              </a:ext>
            </a:extLst>
          </p:cNvPr>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253" name="Google Shape;1253;p51">
            <a:extLst>
              <a:ext uri="{FF2B5EF4-FFF2-40B4-BE49-F238E27FC236}">
                <a16:creationId xmlns:a16="http://schemas.microsoft.com/office/drawing/2014/main" id="{663B1CB0-37A6-061E-6B0B-896428802D2B}"/>
              </a:ext>
            </a:extLst>
          </p:cNvPr>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52</a:t>
            </a:fld>
            <a:endParaRPr sz="675" b="1" i="0" u="none" strike="noStrike" cap="none">
              <a:solidFill>
                <a:srgbClr val="4B2A85"/>
              </a:solidFill>
              <a:latin typeface="Calibri"/>
              <a:ea typeface="Calibri"/>
              <a:cs typeface="Calibri"/>
              <a:sym typeface="Calibri"/>
            </a:endParaRPr>
          </a:p>
        </p:txBody>
      </p:sp>
      <p:graphicFrame>
        <p:nvGraphicFramePr>
          <p:cNvPr id="1254" name="Google Shape;1254;p51">
            <a:extLst>
              <a:ext uri="{FF2B5EF4-FFF2-40B4-BE49-F238E27FC236}">
                <a16:creationId xmlns:a16="http://schemas.microsoft.com/office/drawing/2014/main" id="{956496CF-EA25-3B97-E147-5D9DC5B74701}"/>
              </a:ext>
            </a:extLst>
          </p:cNvPr>
          <p:cNvGraphicFramePr/>
          <p:nvPr>
            <p:extLst>
              <p:ext uri="{D42A27DB-BD31-4B8C-83A1-F6EECF244321}">
                <p14:modId xmlns:p14="http://schemas.microsoft.com/office/powerpoint/2010/main" val="4241298597"/>
              </p:ext>
            </p:extLst>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10,</a:t>
                      </a:r>
                      <a:r>
                        <a:rPr lang="en-US" sz="1600" b="1" strike="noStrike" dirty="0">
                          <a:solidFill>
                            <a:srgbClr val="0C0C0C"/>
                          </a:solidFill>
                          <a:latin typeface="Quattrocento Sans"/>
                          <a:ea typeface="Quattrocento Sans"/>
                          <a:cs typeface="Quattrocento Sans"/>
                          <a:sym typeface="Quattrocento Sans"/>
                        </a:rPr>
                        <a:t> 5</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dirty="0">
                          <a:solidFill>
                            <a:srgbClr val="0C0C0C"/>
                          </a:solidFill>
                          <a:latin typeface="Quattrocento Sans"/>
                          <a:ea typeface="Quattrocento Sans"/>
                          <a:cs typeface="Quattrocento Sans"/>
                          <a:sym typeface="Quattrocento Sans"/>
                        </a:rPr>
                        <a:t>S,</a:t>
                      </a:r>
                      <a:r>
                        <a:rPr lang="en-US" sz="1600" b="1" strike="noStrike" dirty="0">
                          <a:solidFill>
                            <a:srgbClr val="0C0C0C"/>
                          </a:solidFill>
                          <a:latin typeface="Quattrocento Sans"/>
                          <a:ea typeface="Quattrocento Sans"/>
                          <a:cs typeface="Quattrocento Sans"/>
                          <a:sym typeface="Quattrocento Sans"/>
                        </a:rPr>
                        <a:t> D</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B</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10</a:t>
                      </a:r>
                      <a:r>
                        <a:rPr lang="en-US" sz="1600" strike="noStrike" dirty="0">
                          <a:solidFill>
                            <a:srgbClr val="0C0C0C"/>
                          </a:solidFill>
                          <a:latin typeface="Quattrocento Sans"/>
                          <a:ea typeface="Quattrocento Sans"/>
                          <a:cs typeface="Quattrocento Sans"/>
                          <a:sym typeface="Quattrocento Sans"/>
                        </a:rPr>
                        <a:t>,</a:t>
                      </a:r>
                      <a:r>
                        <a:rPr lang="en-US" sz="1600" b="1" strike="noStrike" dirty="0">
                          <a:solidFill>
                            <a:srgbClr val="0C0C0C"/>
                          </a:solidFill>
                          <a:latin typeface="Quattrocento Sans"/>
                          <a:ea typeface="Quattrocento Sans"/>
                          <a:cs typeface="Quattrocento Sans"/>
                          <a:sym typeface="Quattrocento Sans"/>
                        </a:rPr>
                        <a:t> 6</a:t>
                      </a:r>
                      <a:endParaRPr sz="1600"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12,</a:t>
                      </a:r>
                      <a:r>
                        <a:rPr lang="en-US" sz="1600" b="1" strike="noStrike" dirty="0">
                          <a:solidFill>
                            <a:srgbClr val="0C0C0C"/>
                          </a:solidFill>
                          <a:latin typeface="Quattrocento Sans"/>
                          <a:ea typeface="Quattrocento Sans"/>
                          <a:cs typeface="Quattrocento Sans"/>
                          <a:sym typeface="Quattrocento Sans"/>
                        </a:rPr>
                        <a:t> 8</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dirty="0">
                          <a:solidFill>
                            <a:srgbClr val="0C0C0C"/>
                          </a:solidFill>
                          <a:latin typeface="Quattrocento Sans"/>
                          <a:ea typeface="Quattrocento Sans"/>
                          <a:cs typeface="Quattrocento Sans"/>
                          <a:sym typeface="Quattrocento Sans"/>
                        </a:rPr>
                        <a:t>A,</a:t>
                      </a:r>
                      <a:r>
                        <a:rPr lang="en-US" sz="1600" b="1" strike="noStrike" dirty="0">
                          <a:solidFill>
                            <a:srgbClr val="0C0C0C"/>
                          </a:solidFill>
                          <a:latin typeface="Quattrocento Sans"/>
                          <a:ea typeface="Quattrocento Sans"/>
                          <a:cs typeface="Quattrocento Sans"/>
                          <a:sym typeface="Quattrocento Sans"/>
                        </a:rPr>
                        <a:t> D</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S</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55" name="Google Shape;1255;p51">
            <a:extLst>
              <a:ext uri="{FF2B5EF4-FFF2-40B4-BE49-F238E27FC236}">
                <a16:creationId xmlns:a16="http://schemas.microsoft.com/office/drawing/2014/main" id="{43498705-9DB8-B1A9-0073-0A8581A755C2}"/>
              </a:ext>
            </a:extLst>
          </p:cNvPr>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256" name="Google Shape;1256;p51">
            <a:extLst>
              <a:ext uri="{FF2B5EF4-FFF2-40B4-BE49-F238E27FC236}">
                <a16:creationId xmlns:a16="http://schemas.microsoft.com/office/drawing/2014/main" id="{AEFA6310-24AB-0AB4-D88C-65BAD227E6BC}"/>
              </a:ext>
            </a:extLst>
          </p:cNvPr>
          <p:cNvGrpSpPr/>
          <p:nvPr/>
        </p:nvGrpSpPr>
        <p:grpSpPr>
          <a:xfrm>
            <a:off x="1701172" y="1426150"/>
            <a:ext cx="4030525" cy="2771784"/>
            <a:chOff x="-2863816" y="1556556"/>
            <a:chExt cx="3022969" cy="2078890"/>
          </a:xfrm>
        </p:grpSpPr>
        <p:sp>
          <p:nvSpPr>
            <p:cNvPr id="1257" name="Google Shape;1257;p51">
              <a:extLst>
                <a:ext uri="{FF2B5EF4-FFF2-40B4-BE49-F238E27FC236}">
                  <a16:creationId xmlns:a16="http://schemas.microsoft.com/office/drawing/2014/main" id="{934321D0-1E45-70FA-F249-A0F3B3838A7C}"/>
                </a:ext>
              </a:extLst>
            </p:cNvPr>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258" name="Google Shape;1258;p51">
              <a:extLst>
                <a:ext uri="{FF2B5EF4-FFF2-40B4-BE49-F238E27FC236}">
                  <a16:creationId xmlns:a16="http://schemas.microsoft.com/office/drawing/2014/main" id="{E5A2E8F8-F7F4-A09B-C9D5-05E0EDF05C63}"/>
                </a:ext>
              </a:extLst>
            </p:cNvPr>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259" name="Google Shape;1259;p51">
              <a:extLst>
                <a:ext uri="{FF2B5EF4-FFF2-40B4-BE49-F238E27FC236}">
                  <a16:creationId xmlns:a16="http://schemas.microsoft.com/office/drawing/2014/main" id="{C0C8CCDF-9106-0DAA-50F9-0C3444986B48}"/>
                </a:ext>
              </a:extLst>
            </p:cNvPr>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260" name="Google Shape;1260;p51">
              <a:extLst>
                <a:ext uri="{FF2B5EF4-FFF2-40B4-BE49-F238E27FC236}">
                  <a16:creationId xmlns:a16="http://schemas.microsoft.com/office/drawing/2014/main" id="{C575C239-D976-D096-DE33-7DC969F4F9B7}"/>
                </a:ext>
              </a:extLst>
            </p:cNvPr>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261" name="Google Shape;1261;p51">
              <a:extLst>
                <a:ext uri="{FF2B5EF4-FFF2-40B4-BE49-F238E27FC236}">
                  <a16:creationId xmlns:a16="http://schemas.microsoft.com/office/drawing/2014/main" id="{FE189872-B285-D907-83DE-4A106CC08764}"/>
                </a:ext>
              </a:extLst>
            </p:cNvPr>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262" name="Google Shape;1262;p51">
              <a:extLst>
                <a:ext uri="{FF2B5EF4-FFF2-40B4-BE49-F238E27FC236}">
                  <a16:creationId xmlns:a16="http://schemas.microsoft.com/office/drawing/2014/main" id="{A3EFFCA0-D320-E3AE-CC71-784EB0414DB5}"/>
                </a:ext>
              </a:extLst>
            </p:cNvPr>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263" name="Google Shape;1263;p51">
              <a:extLst>
                <a:ext uri="{FF2B5EF4-FFF2-40B4-BE49-F238E27FC236}">
                  <a16:creationId xmlns:a16="http://schemas.microsoft.com/office/drawing/2014/main" id="{DAD9A1B8-D213-9610-A100-F712C0533C82}"/>
                </a:ext>
              </a:extLst>
            </p:cNvPr>
            <p:cNvCxnSpPr>
              <a:stCxn id="1257" idx="3"/>
              <a:endCxn id="1259"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264" name="Google Shape;1264;p51">
              <a:extLst>
                <a:ext uri="{FF2B5EF4-FFF2-40B4-BE49-F238E27FC236}">
                  <a16:creationId xmlns:a16="http://schemas.microsoft.com/office/drawing/2014/main" id="{21CF2B13-FF85-3E58-6CA5-3DA49DE8F564}"/>
                </a:ext>
              </a:extLst>
            </p:cNvPr>
            <p:cNvCxnSpPr>
              <a:stCxn id="1259" idx="5"/>
              <a:endCxn id="1260"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265" name="Google Shape;1265;p51">
              <a:extLst>
                <a:ext uri="{FF2B5EF4-FFF2-40B4-BE49-F238E27FC236}">
                  <a16:creationId xmlns:a16="http://schemas.microsoft.com/office/drawing/2014/main" id="{3EC22357-F868-2105-5761-51FE4CB8020C}"/>
                </a:ext>
              </a:extLst>
            </p:cNvPr>
            <p:cNvCxnSpPr>
              <a:stCxn id="1257" idx="7"/>
              <a:endCxn id="1258"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266" name="Google Shape;1266;p51">
              <a:extLst>
                <a:ext uri="{FF2B5EF4-FFF2-40B4-BE49-F238E27FC236}">
                  <a16:creationId xmlns:a16="http://schemas.microsoft.com/office/drawing/2014/main" id="{4713F03E-D1DE-9BA5-7E36-BA37EF204DFA}"/>
                </a:ext>
              </a:extLst>
            </p:cNvPr>
            <p:cNvCxnSpPr>
              <a:endCxn id="1258"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267" name="Google Shape;1267;p51">
              <a:extLst>
                <a:ext uri="{FF2B5EF4-FFF2-40B4-BE49-F238E27FC236}">
                  <a16:creationId xmlns:a16="http://schemas.microsoft.com/office/drawing/2014/main" id="{0D3C61F9-ABB4-9216-34FB-7C40EDC6015D}"/>
                </a:ext>
              </a:extLst>
            </p:cNvPr>
            <p:cNvCxnSpPr>
              <a:stCxn id="1262" idx="7"/>
              <a:endCxn id="1261"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268" name="Google Shape;1268;p51">
              <a:extLst>
                <a:ext uri="{FF2B5EF4-FFF2-40B4-BE49-F238E27FC236}">
                  <a16:creationId xmlns:a16="http://schemas.microsoft.com/office/drawing/2014/main" id="{D2BAE1E5-C17B-6E75-30DA-2B41CC782071}"/>
                </a:ext>
              </a:extLst>
            </p:cNvPr>
            <p:cNvCxnSpPr>
              <a:stCxn id="1258" idx="5"/>
              <a:endCxn id="1262"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269" name="Google Shape;1269;p51">
              <a:extLst>
                <a:ext uri="{FF2B5EF4-FFF2-40B4-BE49-F238E27FC236}">
                  <a16:creationId xmlns:a16="http://schemas.microsoft.com/office/drawing/2014/main" id="{2FB7D18D-789D-53F6-E432-EC3F4CADE924}"/>
                </a:ext>
              </a:extLst>
            </p:cNvPr>
            <p:cNvCxnSpPr>
              <a:stCxn id="1260" idx="0"/>
              <a:endCxn id="1258"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270" name="Google Shape;1270;p51">
              <a:extLst>
                <a:ext uri="{FF2B5EF4-FFF2-40B4-BE49-F238E27FC236}">
                  <a16:creationId xmlns:a16="http://schemas.microsoft.com/office/drawing/2014/main" id="{47F787EB-96AE-36F5-04D2-13488CFB07F8}"/>
                </a:ext>
              </a:extLst>
            </p:cNvPr>
            <p:cNvCxnSpPr>
              <a:stCxn id="1260" idx="6"/>
              <a:endCxn id="1262"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271" name="Google Shape;1271;p51">
              <a:extLst>
                <a:ext uri="{FF2B5EF4-FFF2-40B4-BE49-F238E27FC236}">
                  <a16:creationId xmlns:a16="http://schemas.microsoft.com/office/drawing/2014/main" id="{362CC8AB-0DF9-2B07-BADD-C6B8B73F31C8}"/>
                </a:ext>
              </a:extLst>
            </p:cNvPr>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272" name="Google Shape;1272;p51">
              <a:extLst>
                <a:ext uri="{FF2B5EF4-FFF2-40B4-BE49-F238E27FC236}">
                  <a16:creationId xmlns:a16="http://schemas.microsoft.com/office/drawing/2014/main" id="{41A105AC-07F6-9453-85CC-734449130A49}"/>
                </a:ext>
              </a:extLst>
            </p:cNvPr>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3" name="Google Shape;1273;p51">
              <a:extLst>
                <a:ext uri="{FF2B5EF4-FFF2-40B4-BE49-F238E27FC236}">
                  <a16:creationId xmlns:a16="http://schemas.microsoft.com/office/drawing/2014/main" id="{045A999E-6DFC-3019-6891-F75CDA6DA39B}"/>
                </a:ext>
              </a:extLst>
            </p:cNvPr>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74" name="Google Shape;1274;p51">
              <a:extLst>
                <a:ext uri="{FF2B5EF4-FFF2-40B4-BE49-F238E27FC236}">
                  <a16:creationId xmlns:a16="http://schemas.microsoft.com/office/drawing/2014/main" id="{39666A92-F558-AD13-0E59-02EA29EAEF2C}"/>
                </a:ext>
              </a:extLst>
            </p:cNvPr>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75" name="Google Shape;1275;p51">
              <a:extLst>
                <a:ext uri="{FF2B5EF4-FFF2-40B4-BE49-F238E27FC236}">
                  <a16:creationId xmlns:a16="http://schemas.microsoft.com/office/drawing/2014/main" id="{F4902BC8-5753-F8FE-BE5E-AC6002FE4604}"/>
                </a:ext>
              </a:extLst>
            </p:cNvPr>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6" name="Google Shape;1276;p51">
              <a:extLst>
                <a:ext uri="{FF2B5EF4-FFF2-40B4-BE49-F238E27FC236}">
                  <a16:creationId xmlns:a16="http://schemas.microsoft.com/office/drawing/2014/main" id="{B785002C-C849-D3E5-924C-D6718E225E48}"/>
                </a:ext>
              </a:extLst>
            </p:cNvPr>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7" name="Google Shape;1277;p51">
              <a:extLst>
                <a:ext uri="{FF2B5EF4-FFF2-40B4-BE49-F238E27FC236}">
                  <a16:creationId xmlns:a16="http://schemas.microsoft.com/office/drawing/2014/main" id="{4933B50B-DB69-37FC-E98E-4E1AB6250B6C}"/>
                </a:ext>
              </a:extLst>
            </p:cNvPr>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278" name="Google Shape;1278;p51">
              <a:extLst>
                <a:ext uri="{FF2B5EF4-FFF2-40B4-BE49-F238E27FC236}">
                  <a16:creationId xmlns:a16="http://schemas.microsoft.com/office/drawing/2014/main" id="{69E4B93F-CA40-E3CB-C6FA-CEA53A6A1BD2}"/>
                </a:ext>
              </a:extLst>
            </p:cNvPr>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279" name="Google Shape;1279;p51">
              <a:extLst>
                <a:ext uri="{FF2B5EF4-FFF2-40B4-BE49-F238E27FC236}">
                  <a16:creationId xmlns:a16="http://schemas.microsoft.com/office/drawing/2014/main" id="{81AC957B-6870-14B4-C484-2A5BFB7A386B}"/>
                </a:ext>
              </a:extLst>
            </p:cNvPr>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280" name="Google Shape;1280;p51">
              <a:extLst>
                <a:ext uri="{FF2B5EF4-FFF2-40B4-BE49-F238E27FC236}">
                  <a16:creationId xmlns:a16="http://schemas.microsoft.com/office/drawing/2014/main" id="{0F4139C1-6891-1C67-A569-A724CE6ADC1B}"/>
                </a:ext>
              </a:extLst>
            </p:cNvPr>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81" name="Google Shape;1281;p51">
              <a:extLst>
                <a:ext uri="{FF2B5EF4-FFF2-40B4-BE49-F238E27FC236}">
                  <a16:creationId xmlns:a16="http://schemas.microsoft.com/office/drawing/2014/main" id="{45C0C743-004E-E93A-F235-5AE05034EA81}"/>
                </a:ext>
              </a:extLst>
            </p:cNvPr>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282" name="Google Shape;1282;p51">
              <a:extLst>
                <a:ext uri="{FF2B5EF4-FFF2-40B4-BE49-F238E27FC236}">
                  <a16:creationId xmlns:a16="http://schemas.microsoft.com/office/drawing/2014/main" id="{54E7131E-6797-EB8D-7778-59D7324013AC}"/>
                </a:ext>
              </a:extLst>
            </p:cNvPr>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283" name="Google Shape;1283;p51">
              <a:extLst>
                <a:ext uri="{FF2B5EF4-FFF2-40B4-BE49-F238E27FC236}">
                  <a16:creationId xmlns:a16="http://schemas.microsoft.com/office/drawing/2014/main" id="{EE2A9053-2CCA-905D-E809-863860023C05}"/>
                </a:ext>
              </a:extLst>
            </p:cNvPr>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8</a:t>
              </a:r>
              <a:endParaRPr sz="2000" dirty="0">
                <a:solidFill>
                  <a:srgbClr val="FF0000"/>
                </a:solidFill>
                <a:latin typeface="Calibri"/>
                <a:ea typeface="Calibri"/>
                <a:cs typeface="Calibri"/>
                <a:sym typeface="Calibri"/>
              </a:endParaRPr>
            </a:p>
          </p:txBody>
        </p:sp>
        <p:sp>
          <p:nvSpPr>
            <p:cNvPr id="1284" name="Google Shape;1284;p51">
              <a:extLst>
                <a:ext uri="{FF2B5EF4-FFF2-40B4-BE49-F238E27FC236}">
                  <a16:creationId xmlns:a16="http://schemas.microsoft.com/office/drawing/2014/main" id="{C41704CB-977A-82B5-F210-4DF3005DD2C6}"/>
                </a:ext>
              </a:extLst>
            </p:cNvPr>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85" name="Google Shape;1285;p51">
            <a:extLst>
              <a:ext uri="{FF2B5EF4-FFF2-40B4-BE49-F238E27FC236}">
                <a16:creationId xmlns:a16="http://schemas.microsoft.com/office/drawing/2014/main" id="{04EE9AD2-BAA7-BC27-C762-6DC9BFF58794}"/>
              </a:ext>
            </a:extLst>
          </p:cNvPr>
          <p:cNvSpPr txBox="1"/>
          <p:nvPr/>
        </p:nvSpPr>
        <p:spPr>
          <a:xfrm>
            <a:off x="6240700" y="2419925"/>
            <a:ext cx="56847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sym typeface="Quattrocento Sans"/>
              </a:rPr>
              <a:t>Iteration 2</a:t>
            </a:r>
            <a:endParaRPr sz="1700" dirty="0">
              <a:latin typeface="+mn-lt"/>
              <a:sym typeface="Quattrocento Sans"/>
            </a:endParaRPr>
          </a:p>
        </p:txBody>
      </p:sp>
      <p:sp>
        <p:nvSpPr>
          <p:cNvPr id="7" name="TextBox 6">
            <a:extLst>
              <a:ext uri="{FF2B5EF4-FFF2-40B4-BE49-F238E27FC236}">
                <a16:creationId xmlns:a16="http://schemas.microsoft.com/office/drawing/2014/main" id="{6DE04F02-896E-907D-7222-372436A34FFC}"/>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a:t>
            </a:r>
            <a:r>
              <a:rPr lang="en-US" sz="1800" dirty="0">
                <a:solidFill>
                  <a:srgbClr val="FF0000"/>
                </a:solidFill>
              </a:rPr>
              <a:t>D, E</a:t>
            </a:r>
            <a:r>
              <a:rPr lang="en-US" sz="1800" dirty="0"/>
              <a:t> in this example. </a:t>
            </a:r>
            <a:endParaRPr lang="en-SE" sz="1800" dirty="0"/>
          </a:p>
        </p:txBody>
      </p:sp>
      <p:sp>
        <p:nvSpPr>
          <p:cNvPr id="9" name="Google Shape;1287;p51">
            <a:extLst>
              <a:ext uri="{FF2B5EF4-FFF2-40B4-BE49-F238E27FC236}">
                <a16:creationId xmlns:a16="http://schemas.microsoft.com/office/drawing/2014/main" id="{CB1A1446-937D-AF13-B122-285E7AB0FCCD}"/>
              </a:ext>
            </a:extLst>
          </p:cNvPr>
          <p:cNvSpPr txBox="1"/>
          <p:nvPr/>
        </p:nvSpPr>
        <p:spPr>
          <a:xfrm>
            <a:off x="9409588" y="3623253"/>
            <a:ext cx="2736900" cy="400079"/>
          </a:xfrm>
          <a:prstGeom prst="rect">
            <a:avLst/>
          </a:prstGeom>
          <a:noFill/>
          <a:ln>
            <a:noFill/>
          </a:ln>
        </p:spPr>
        <p:txBody>
          <a:bodyPr spcFirstLastPara="1" wrap="square" lIns="91425" tIns="91425" rIns="91425" bIns="91425" anchor="t" anchorCtr="0">
            <a:spAutoFit/>
          </a:bodyPr>
          <a:lstStyle/>
          <a:p>
            <a:r>
              <a:rPr lang="en-US" dirty="0">
                <a:latin typeface="+mj-lt"/>
                <a:ea typeface="Quattrocento Sans"/>
                <a:cs typeface="Quattrocento Sans"/>
                <a:sym typeface="Quattrocento Sans"/>
              </a:rPr>
              <a:t>* </a:t>
            </a:r>
            <a:r>
              <a:rPr lang="en-US" dirty="0"/>
              <a:t>Same as Iteration 1 before</a:t>
            </a:r>
            <a:endParaRPr lang="en-SE" dirty="0"/>
          </a:p>
        </p:txBody>
      </p:sp>
    </p:spTree>
    <p:extLst>
      <p:ext uri="{BB962C8B-B14F-4D97-AF65-F5344CB8AC3E}">
        <p14:creationId xmlns:p14="http://schemas.microsoft.com/office/powerpoint/2010/main" val="30783995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295">
          <a:extLst>
            <a:ext uri="{FF2B5EF4-FFF2-40B4-BE49-F238E27FC236}">
              <a16:creationId xmlns:a16="http://schemas.microsoft.com/office/drawing/2014/main" id="{35039ADE-58A9-CD76-123A-4D95EE4AC21D}"/>
            </a:ext>
          </a:extLst>
        </p:cNvPr>
        <p:cNvGrpSpPr/>
        <p:nvPr/>
      </p:nvGrpSpPr>
      <p:grpSpPr>
        <a:xfrm>
          <a:off x="0" y="0"/>
          <a:ext cx="0" cy="0"/>
          <a:chOff x="0" y="0"/>
          <a:chExt cx="0" cy="0"/>
        </a:xfrm>
      </p:grpSpPr>
      <p:sp>
        <p:nvSpPr>
          <p:cNvPr id="1296" name="Google Shape;1296;p52">
            <a:extLst>
              <a:ext uri="{FF2B5EF4-FFF2-40B4-BE49-F238E27FC236}">
                <a16:creationId xmlns:a16="http://schemas.microsoft.com/office/drawing/2014/main" id="{90EE7138-549B-D527-7A5A-BA739E0762D3}"/>
              </a:ext>
            </a:extLst>
          </p:cNvPr>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297" name="Google Shape;1297;p52">
            <a:extLst>
              <a:ext uri="{FF2B5EF4-FFF2-40B4-BE49-F238E27FC236}">
                <a16:creationId xmlns:a16="http://schemas.microsoft.com/office/drawing/2014/main" id="{C5319F60-5810-498F-8694-12D95BDADB99}"/>
              </a:ext>
            </a:extLst>
          </p:cNvPr>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53</a:t>
            </a:fld>
            <a:endParaRPr sz="675" b="1" i="0" u="none" strike="noStrike" cap="none">
              <a:solidFill>
                <a:srgbClr val="4B2A85"/>
              </a:solidFill>
              <a:latin typeface="Calibri"/>
              <a:ea typeface="Calibri"/>
              <a:cs typeface="Calibri"/>
              <a:sym typeface="Calibri"/>
            </a:endParaRPr>
          </a:p>
        </p:txBody>
      </p:sp>
      <p:graphicFrame>
        <p:nvGraphicFramePr>
          <p:cNvPr id="1298" name="Google Shape;1298;p52">
            <a:extLst>
              <a:ext uri="{FF2B5EF4-FFF2-40B4-BE49-F238E27FC236}">
                <a16:creationId xmlns:a16="http://schemas.microsoft.com/office/drawing/2014/main" id="{AC508DE1-0819-4576-D185-42CFC6B4B404}"/>
              </a:ext>
            </a:extLst>
          </p:cNvPr>
          <p:cNvGraphicFramePr/>
          <p:nvPr>
            <p:extLst>
              <p:ext uri="{D42A27DB-BD31-4B8C-83A1-F6EECF244321}">
                <p14:modId xmlns:p14="http://schemas.microsoft.com/office/powerpoint/2010/main" val="370681282"/>
              </p:ext>
            </p:extLst>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6,</a:t>
                      </a:r>
                      <a:r>
                        <a:rPr lang="en-US" sz="1600" b="1" strike="noStrike" dirty="0">
                          <a:solidFill>
                            <a:srgbClr val="0C0C0C"/>
                          </a:solidFill>
                          <a:latin typeface="Quattrocento Sans"/>
                          <a:ea typeface="Quattrocento Sans"/>
                          <a:cs typeface="Quattrocento Sans"/>
                          <a:sym typeface="Quattrocento Sans"/>
                        </a:rPr>
                        <a:t> 5</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dirty="0">
                          <a:solidFill>
                            <a:srgbClr val="0C0C0C"/>
                          </a:solidFill>
                          <a:latin typeface="Quattrocento Sans"/>
                          <a:ea typeface="Quattrocento Sans"/>
                          <a:cs typeface="Quattrocento Sans"/>
                          <a:sym typeface="Quattrocento Sans"/>
                        </a:rPr>
                        <a:t>8,</a:t>
                      </a:r>
                      <a:r>
                        <a:rPr lang="en-US" sz="1600" b="1" strike="noStrike" dirty="0">
                          <a:solidFill>
                            <a:srgbClr val="0C0C0C"/>
                          </a:solidFill>
                          <a:latin typeface="Quattrocento Sans"/>
                          <a:ea typeface="Quattrocento Sans"/>
                          <a:cs typeface="Quattrocento Sans"/>
                          <a:sym typeface="Quattrocento Sans"/>
                        </a:rPr>
                        <a:t> 7</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dirty="0">
                          <a:solidFill>
                            <a:srgbClr val="0C0C0C"/>
                          </a:solidFill>
                          <a:latin typeface="Quattrocento Sans"/>
                          <a:ea typeface="Quattrocento Sans"/>
                          <a:cs typeface="Quattrocento Sans"/>
                          <a:sym typeface="Quattrocento Sans"/>
                        </a:rPr>
                        <a:t>D,</a:t>
                      </a:r>
                      <a:r>
                        <a:rPr lang="en-US" sz="1600" b="1" strike="noStrike" dirty="0">
                          <a:solidFill>
                            <a:srgbClr val="0C0C0C"/>
                          </a:solidFill>
                          <a:latin typeface="Quattrocento Sans"/>
                          <a:ea typeface="Quattrocento Sans"/>
                          <a:cs typeface="Quattrocento Sans"/>
                          <a:sym typeface="Quattrocento Sans"/>
                        </a:rPr>
                        <a:t> A</a:t>
                      </a:r>
                      <a:endParaRPr sz="1600" b="1"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S</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99" name="Google Shape;1299;p52">
            <a:extLst>
              <a:ext uri="{FF2B5EF4-FFF2-40B4-BE49-F238E27FC236}">
                <a16:creationId xmlns:a16="http://schemas.microsoft.com/office/drawing/2014/main" id="{08C15146-A8A8-19DB-154F-6DC742720ED8}"/>
              </a:ext>
            </a:extLst>
          </p:cNvPr>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300" name="Google Shape;1300;p52">
            <a:extLst>
              <a:ext uri="{FF2B5EF4-FFF2-40B4-BE49-F238E27FC236}">
                <a16:creationId xmlns:a16="http://schemas.microsoft.com/office/drawing/2014/main" id="{EEEB037C-B470-E9F6-6B0D-7D765B51302B}"/>
              </a:ext>
            </a:extLst>
          </p:cNvPr>
          <p:cNvGrpSpPr/>
          <p:nvPr/>
        </p:nvGrpSpPr>
        <p:grpSpPr>
          <a:xfrm>
            <a:off x="1701172" y="1426150"/>
            <a:ext cx="4030525" cy="2771784"/>
            <a:chOff x="-2863816" y="1556556"/>
            <a:chExt cx="3022969" cy="2078890"/>
          </a:xfrm>
        </p:grpSpPr>
        <p:sp>
          <p:nvSpPr>
            <p:cNvPr id="1301" name="Google Shape;1301;p52">
              <a:extLst>
                <a:ext uri="{FF2B5EF4-FFF2-40B4-BE49-F238E27FC236}">
                  <a16:creationId xmlns:a16="http://schemas.microsoft.com/office/drawing/2014/main" id="{1C9E182D-8407-CF4E-CFCB-4E488B532D61}"/>
                </a:ext>
              </a:extLst>
            </p:cNvPr>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302" name="Google Shape;1302;p52">
              <a:extLst>
                <a:ext uri="{FF2B5EF4-FFF2-40B4-BE49-F238E27FC236}">
                  <a16:creationId xmlns:a16="http://schemas.microsoft.com/office/drawing/2014/main" id="{0A9D963E-0F5B-42E3-1678-FAF767D3AB19}"/>
                </a:ext>
              </a:extLst>
            </p:cNvPr>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303" name="Google Shape;1303;p52">
              <a:extLst>
                <a:ext uri="{FF2B5EF4-FFF2-40B4-BE49-F238E27FC236}">
                  <a16:creationId xmlns:a16="http://schemas.microsoft.com/office/drawing/2014/main" id="{0C757352-CBF5-49E8-27F5-E4CFA478EE16}"/>
                </a:ext>
              </a:extLst>
            </p:cNvPr>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304" name="Google Shape;1304;p52">
              <a:extLst>
                <a:ext uri="{FF2B5EF4-FFF2-40B4-BE49-F238E27FC236}">
                  <a16:creationId xmlns:a16="http://schemas.microsoft.com/office/drawing/2014/main" id="{BCAB257E-DC1F-35E0-3FF0-2FFF9FFB3F0A}"/>
                </a:ext>
              </a:extLst>
            </p:cNvPr>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305" name="Google Shape;1305;p52">
              <a:extLst>
                <a:ext uri="{FF2B5EF4-FFF2-40B4-BE49-F238E27FC236}">
                  <a16:creationId xmlns:a16="http://schemas.microsoft.com/office/drawing/2014/main" id="{312EE676-9004-E315-85C4-0BDBB4FB0FAE}"/>
                </a:ext>
              </a:extLst>
            </p:cNvPr>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306" name="Google Shape;1306;p52">
              <a:extLst>
                <a:ext uri="{FF2B5EF4-FFF2-40B4-BE49-F238E27FC236}">
                  <a16:creationId xmlns:a16="http://schemas.microsoft.com/office/drawing/2014/main" id="{F9AAAD11-C950-2101-7A5C-514DF77438E0}"/>
                </a:ext>
              </a:extLst>
            </p:cNvPr>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307" name="Google Shape;1307;p52">
              <a:extLst>
                <a:ext uri="{FF2B5EF4-FFF2-40B4-BE49-F238E27FC236}">
                  <a16:creationId xmlns:a16="http://schemas.microsoft.com/office/drawing/2014/main" id="{80172854-23C0-2169-9EA6-A03678F94199}"/>
                </a:ext>
              </a:extLst>
            </p:cNvPr>
            <p:cNvCxnSpPr>
              <a:stCxn id="1301" idx="3"/>
              <a:endCxn id="1303"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308" name="Google Shape;1308;p52">
              <a:extLst>
                <a:ext uri="{FF2B5EF4-FFF2-40B4-BE49-F238E27FC236}">
                  <a16:creationId xmlns:a16="http://schemas.microsoft.com/office/drawing/2014/main" id="{CC382765-D643-F06D-AA69-F2AC6D1F8F6A}"/>
                </a:ext>
              </a:extLst>
            </p:cNvPr>
            <p:cNvCxnSpPr>
              <a:stCxn id="1303" idx="5"/>
              <a:endCxn id="1304"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309" name="Google Shape;1309;p52">
              <a:extLst>
                <a:ext uri="{FF2B5EF4-FFF2-40B4-BE49-F238E27FC236}">
                  <a16:creationId xmlns:a16="http://schemas.microsoft.com/office/drawing/2014/main" id="{3D25317C-D5CD-E307-8E7E-6BAC8B354DC3}"/>
                </a:ext>
              </a:extLst>
            </p:cNvPr>
            <p:cNvCxnSpPr>
              <a:stCxn id="1301" idx="7"/>
              <a:endCxn id="1302"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310" name="Google Shape;1310;p52">
              <a:extLst>
                <a:ext uri="{FF2B5EF4-FFF2-40B4-BE49-F238E27FC236}">
                  <a16:creationId xmlns:a16="http://schemas.microsoft.com/office/drawing/2014/main" id="{77831C99-B5BE-2A7A-F116-9E5163ECB728}"/>
                </a:ext>
              </a:extLst>
            </p:cNvPr>
            <p:cNvCxnSpPr>
              <a:endCxn id="1302"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311" name="Google Shape;1311;p52">
              <a:extLst>
                <a:ext uri="{FF2B5EF4-FFF2-40B4-BE49-F238E27FC236}">
                  <a16:creationId xmlns:a16="http://schemas.microsoft.com/office/drawing/2014/main" id="{A0ED96EC-AA42-3A89-3D6F-4A8673057E8F}"/>
                </a:ext>
              </a:extLst>
            </p:cNvPr>
            <p:cNvCxnSpPr>
              <a:stCxn id="1306" idx="7"/>
              <a:endCxn id="1305"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312" name="Google Shape;1312;p52">
              <a:extLst>
                <a:ext uri="{FF2B5EF4-FFF2-40B4-BE49-F238E27FC236}">
                  <a16:creationId xmlns:a16="http://schemas.microsoft.com/office/drawing/2014/main" id="{712937E7-D87E-1BC4-03FF-45FAA3BA6479}"/>
                </a:ext>
              </a:extLst>
            </p:cNvPr>
            <p:cNvCxnSpPr>
              <a:stCxn id="1302" idx="5"/>
              <a:endCxn id="1306"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313" name="Google Shape;1313;p52">
              <a:extLst>
                <a:ext uri="{FF2B5EF4-FFF2-40B4-BE49-F238E27FC236}">
                  <a16:creationId xmlns:a16="http://schemas.microsoft.com/office/drawing/2014/main" id="{F1E5C403-3F59-08D6-9EB6-96EA1CE8B9FC}"/>
                </a:ext>
              </a:extLst>
            </p:cNvPr>
            <p:cNvCxnSpPr>
              <a:stCxn id="1304" idx="0"/>
              <a:endCxn id="1302"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314" name="Google Shape;1314;p52">
              <a:extLst>
                <a:ext uri="{FF2B5EF4-FFF2-40B4-BE49-F238E27FC236}">
                  <a16:creationId xmlns:a16="http://schemas.microsoft.com/office/drawing/2014/main" id="{D0611322-1F16-551F-2AEE-23C4EFA74BA3}"/>
                </a:ext>
              </a:extLst>
            </p:cNvPr>
            <p:cNvCxnSpPr>
              <a:stCxn id="1304" idx="6"/>
              <a:endCxn id="1306"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315" name="Google Shape;1315;p52">
              <a:extLst>
                <a:ext uri="{FF2B5EF4-FFF2-40B4-BE49-F238E27FC236}">
                  <a16:creationId xmlns:a16="http://schemas.microsoft.com/office/drawing/2014/main" id="{5C6ADD06-8F5E-C027-D8D1-115FD35317D2}"/>
                </a:ext>
              </a:extLst>
            </p:cNvPr>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316" name="Google Shape;1316;p52">
              <a:extLst>
                <a:ext uri="{FF2B5EF4-FFF2-40B4-BE49-F238E27FC236}">
                  <a16:creationId xmlns:a16="http://schemas.microsoft.com/office/drawing/2014/main" id="{B0C105D9-D5E3-ADB4-05D1-931DBBB6D52B}"/>
                </a:ext>
              </a:extLst>
            </p:cNvPr>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17" name="Google Shape;1317;p52">
              <a:extLst>
                <a:ext uri="{FF2B5EF4-FFF2-40B4-BE49-F238E27FC236}">
                  <a16:creationId xmlns:a16="http://schemas.microsoft.com/office/drawing/2014/main" id="{1EE0AD79-E6EB-67E2-0BD5-E12EADB06928}"/>
                </a:ext>
              </a:extLst>
            </p:cNvPr>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8" name="Google Shape;1318;p52">
              <a:extLst>
                <a:ext uri="{FF2B5EF4-FFF2-40B4-BE49-F238E27FC236}">
                  <a16:creationId xmlns:a16="http://schemas.microsoft.com/office/drawing/2014/main" id="{5B3EB09E-E65C-3D93-5CBC-6B26C6CC49BF}"/>
                </a:ext>
              </a:extLst>
            </p:cNvPr>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9" name="Google Shape;1319;p52">
              <a:extLst>
                <a:ext uri="{FF2B5EF4-FFF2-40B4-BE49-F238E27FC236}">
                  <a16:creationId xmlns:a16="http://schemas.microsoft.com/office/drawing/2014/main" id="{3ED2345E-9087-F143-F7D7-13B232343814}"/>
                </a:ext>
              </a:extLst>
            </p:cNvPr>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0" name="Google Shape;1320;p52">
              <a:extLst>
                <a:ext uri="{FF2B5EF4-FFF2-40B4-BE49-F238E27FC236}">
                  <a16:creationId xmlns:a16="http://schemas.microsoft.com/office/drawing/2014/main" id="{035F7370-5392-A859-201A-9F08B91F141F}"/>
                </a:ext>
              </a:extLst>
            </p:cNvPr>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1" name="Google Shape;1321;p52">
              <a:extLst>
                <a:ext uri="{FF2B5EF4-FFF2-40B4-BE49-F238E27FC236}">
                  <a16:creationId xmlns:a16="http://schemas.microsoft.com/office/drawing/2014/main" id="{AF6A02BA-E7E1-EEAB-13C6-0145B4D6751A}"/>
                </a:ext>
              </a:extLst>
            </p:cNvPr>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322" name="Google Shape;1322;p52">
              <a:extLst>
                <a:ext uri="{FF2B5EF4-FFF2-40B4-BE49-F238E27FC236}">
                  <a16:creationId xmlns:a16="http://schemas.microsoft.com/office/drawing/2014/main" id="{F79E5B78-5A69-6AAA-47AB-E3842A014F69}"/>
                </a:ext>
              </a:extLst>
            </p:cNvPr>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323" name="Google Shape;1323;p52">
              <a:extLst>
                <a:ext uri="{FF2B5EF4-FFF2-40B4-BE49-F238E27FC236}">
                  <a16:creationId xmlns:a16="http://schemas.microsoft.com/office/drawing/2014/main" id="{5D9EE00F-B197-C996-919F-920903701BA1}"/>
                </a:ext>
              </a:extLst>
            </p:cNvPr>
            <p:cNvSpPr txBox="1"/>
            <p:nvPr/>
          </p:nvSpPr>
          <p:spPr>
            <a:xfrm>
              <a:off x="-1417649" y="1556556"/>
              <a:ext cx="371700" cy="25389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324" name="Google Shape;1324;p52">
              <a:extLst>
                <a:ext uri="{FF2B5EF4-FFF2-40B4-BE49-F238E27FC236}">
                  <a16:creationId xmlns:a16="http://schemas.microsoft.com/office/drawing/2014/main" id="{B697BEFC-4F7D-1388-CC9D-5FAAEA058058}"/>
                </a:ext>
              </a:extLst>
            </p:cNvPr>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325" name="Google Shape;1325;p52">
              <a:extLst>
                <a:ext uri="{FF2B5EF4-FFF2-40B4-BE49-F238E27FC236}">
                  <a16:creationId xmlns:a16="http://schemas.microsoft.com/office/drawing/2014/main" id="{9FEC6552-8797-5C1C-D167-36149B2A407F}"/>
                </a:ext>
              </a:extLst>
            </p:cNvPr>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326" name="Google Shape;1326;p52">
              <a:extLst>
                <a:ext uri="{FF2B5EF4-FFF2-40B4-BE49-F238E27FC236}">
                  <a16:creationId xmlns:a16="http://schemas.microsoft.com/office/drawing/2014/main" id="{20B8571A-46CE-B963-6C59-21A0AAA8115D}"/>
                </a:ext>
              </a:extLst>
            </p:cNvPr>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327" name="Google Shape;1327;p52">
              <a:extLst>
                <a:ext uri="{FF2B5EF4-FFF2-40B4-BE49-F238E27FC236}">
                  <a16:creationId xmlns:a16="http://schemas.microsoft.com/office/drawing/2014/main" id="{D889B114-20C8-FB4D-12F1-D618D36126A7}"/>
                </a:ext>
              </a:extLst>
            </p:cNvPr>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7</a:t>
              </a:r>
              <a:endParaRPr sz="2000" dirty="0">
                <a:solidFill>
                  <a:srgbClr val="FF0000"/>
                </a:solidFill>
                <a:latin typeface="Calibri"/>
                <a:ea typeface="Calibri"/>
                <a:cs typeface="Calibri"/>
                <a:sym typeface="Calibri"/>
              </a:endParaRPr>
            </a:p>
          </p:txBody>
        </p:sp>
        <p:sp>
          <p:nvSpPr>
            <p:cNvPr id="1328" name="Google Shape;1328;p52">
              <a:extLst>
                <a:ext uri="{FF2B5EF4-FFF2-40B4-BE49-F238E27FC236}">
                  <a16:creationId xmlns:a16="http://schemas.microsoft.com/office/drawing/2014/main" id="{8D724DF3-131D-7C60-BC1C-EAFC50E413B4}"/>
                </a:ext>
              </a:extLst>
            </p:cNvPr>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329" name="Google Shape;1329;p52">
            <a:extLst>
              <a:ext uri="{FF2B5EF4-FFF2-40B4-BE49-F238E27FC236}">
                <a16:creationId xmlns:a16="http://schemas.microsoft.com/office/drawing/2014/main" id="{D55C4258-6833-64CA-8FDE-1281B109067F}"/>
              </a:ext>
            </a:extLst>
          </p:cNvPr>
          <p:cNvSpPr txBox="1"/>
          <p:nvPr/>
        </p:nvSpPr>
        <p:spPr>
          <a:xfrm>
            <a:off x="6240700" y="2419925"/>
            <a:ext cx="56847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ea typeface="Quattrocento Sans"/>
                <a:cs typeface="Quattrocento Sans"/>
                <a:sym typeface="Quattrocento Sans"/>
              </a:rPr>
              <a:t>Iteration 3</a:t>
            </a:r>
            <a:endParaRPr sz="1700" dirty="0">
              <a:latin typeface="+mn-lt"/>
              <a:ea typeface="Quattrocento Sans"/>
              <a:cs typeface="Quattrocento Sans"/>
              <a:sym typeface="Quattrocento Sans"/>
            </a:endParaRPr>
          </a:p>
        </p:txBody>
      </p:sp>
      <p:sp>
        <p:nvSpPr>
          <p:cNvPr id="7" name="TextBox 6">
            <a:extLst>
              <a:ext uri="{FF2B5EF4-FFF2-40B4-BE49-F238E27FC236}">
                <a16:creationId xmlns:a16="http://schemas.microsoft.com/office/drawing/2014/main" id="{B9BBC9EC-CEB3-AFB3-42A0-8FEF9A32B628}"/>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a:t>
            </a:r>
            <a:r>
              <a:rPr lang="en-US" sz="1800" dirty="0">
                <a:solidFill>
                  <a:srgbClr val="FF0000"/>
                </a:solidFill>
              </a:rPr>
              <a:t>D, E</a:t>
            </a:r>
            <a:r>
              <a:rPr lang="en-US" sz="1800" dirty="0"/>
              <a:t> in this example. </a:t>
            </a:r>
            <a:endParaRPr lang="en-SE" sz="1800" dirty="0"/>
          </a:p>
        </p:txBody>
      </p:sp>
      <p:sp>
        <p:nvSpPr>
          <p:cNvPr id="8" name="Google Shape;1287;p51">
            <a:extLst>
              <a:ext uri="{FF2B5EF4-FFF2-40B4-BE49-F238E27FC236}">
                <a16:creationId xmlns:a16="http://schemas.microsoft.com/office/drawing/2014/main" id="{DD185AE0-22A7-EA76-2E10-E1F310E5BFAA}"/>
              </a:ext>
            </a:extLst>
          </p:cNvPr>
          <p:cNvSpPr txBox="1"/>
          <p:nvPr/>
        </p:nvSpPr>
        <p:spPr>
          <a:xfrm>
            <a:off x="9409588" y="3623253"/>
            <a:ext cx="2736900" cy="400079"/>
          </a:xfrm>
          <a:prstGeom prst="rect">
            <a:avLst/>
          </a:prstGeom>
          <a:noFill/>
          <a:ln>
            <a:noFill/>
          </a:ln>
        </p:spPr>
        <p:txBody>
          <a:bodyPr spcFirstLastPara="1" wrap="square" lIns="91425" tIns="91425" rIns="91425" bIns="91425" anchor="t" anchorCtr="0">
            <a:spAutoFit/>
          </a:bodyPr>
          <a:lstStyle/>
          <a:p>
            <a:r>
              <a:rPr lang="en-US" dirty="0">
                <a:latin typeface="+mj-lt"/>
                <a:ea typeface="Quattrocento Sans"/>
                <a:cs typeface="Quattrocento Sans"/>
                <a:sym typeface="Quattrocento Sans"/>
              </a:rPr>
              <a:t>* </a:t>
            </a:r>
            <a:r>
              <a:rPr lang="en-US" dirty="0"/>
              <a:t>Same as Iteration 2 before</a:t>
            </a:r>
            <a:endParaRPr lang="en-SE" dirty="0"/>
          </a:p>
        </p:txBody>
      </p:sp>
    </p:spTree>
    <p:extLst>
      <p:ext uri="{BB962C8B-B14F-4D97-AF65-F5344CB8AC3E}">
        <p14:creationId xmlns:p14="http://schemas.microsoft.com/office/powerpoint/2010/main" val="31215114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295">
          <a:extLst>
            <a:ext uri="{FF2B5EF4-FFF2-40B4-BE49-F238E27FC236}">
              <a16:creationId xmlns:a16="http://schemas.microsoft.com/office/drawing/2014/main" id="{07545A43-003D-E279-E162-E903D77EE975}"/>
            </a:ext>
          </a:extLst>
        </p:cNvPr>
        <p:cNvGrpSpPr/>
        <p:nvPr/>
      </p:nvGrpSpPr>
      <p:grpSpPr>
        <a:xfrm>
          <a:off x="0" y="0"/>
          <a:ext cx="0" cy="0"/>
          <a:chOff x="0" y="0"/>
          <a:chExt cx="0" cy="0"/>
        </a:xfrm>
      </p:grpSpPr>
      <p:sp>
        <p:nvSpPr>
          <p:cNvPr id="1296" name="Google Shape;1296;p52">
            <a:extLst>
              <a:ext uri="{FF2B5EF4-FFF2-40B4-BE49-F238E27FC236}">
                <a16:creationId xmlns:a16="http://schemas.microsoft.com/office/drawing/2014/main" id="{0C38AF30-A2A7-D792-C92C-97A3D71704D8}"/>
              </a:ext>
            </a:extLst>
          </p:cNvPr>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297" name="Google Shape;1297;p52">
            <a:extLst>
              <a:ext uri="{FF2B5EF4-FFF2-40B4-BE49-F238E27FC236}">
                <a16:creationId xmlns:a16="http://schemas.microsoft.com/office/drawing/2014/main" id="{0E8F124A-633A-48FD-F4E5-D6F6EDEF3FA3}"/>
              </a:ext>
            </a:extLst>
          </p:cNvPr>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54</a:t>
            </a:fld>
            <a:endParaRPr sz="675" b="1" i="0" u="none" strike="noStrike" cap="none">
              <a:solidFill>
                <a:srgbClr val="4B2A85"/>
              </a:solidFill>
              <a:latin typeface="Calibri"/>
              <a:ea typeface="Calibri"/>
              <a:cs typeface="Calibri"/>
              <a:sym typeface="Calibri"/>
            </a:endParaRPr>
          </a:p>
        </p:txBody>
      </p:sp>
      <p:graphicFrame>
        <p:nvGraphicFramePr>
          <p:cNvPr id="1298" name="Google Shape;1298;p52">
            <a:extLst>
              <a:ext uri="{FF2B5EF4-FFF2-40B4-BE49-F238E27FC236}">
                <a16:creationId xmlns:a16="http://schemas.microsoft.com/office/drawing/2014/main" id="{FBB2E9FE-EC71-EFF6-EF31-1387326B6B27}"/>
              </a:ext>
            </a:extLst>
          </p:cNvPr>
          <p:cNvGraphicFramePr/>
          <p:nvPr>
            <p:extLst>
              <p:ext uri="{D42A27DB-BD31-4B8C-83A1-F6EECF244321}">
                <p14:modId xmlns:p14="http://schemas.microsoft.com/office/powerpoint/2010/main" val="1444452700"/>
              </p:ext>
            </p:extLst>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noStrike" dirty="0">
                          <a:solidFill>
                            <a:srgbClr val="0C0C0C"/>
                          </a:solidFill>
                          <a:latin typeface="Quattrocento Sans"/>
                          <a:ea typeface="Quattrocento Sans"/>
                          <a:cs typeface="Quattrocento Sans"/>
                          <a:sym typeface="Quattrocento Sans"/>
                        </a:rPr>
                        <a:t>5</a:t>
                      </a:r>
                      <a:endParaRPr sz="1600"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noStrike" dirty="0">
                          <a:solidFill>
                            <a:srgbClr val="0C0C0C"/>
                          </a:solidFill>
                          <a:latin typeface="Quattrocento Sans"/>
                          <a:ea typeface="Quattrocento Sans"/>
                          <a:cs typeface="Quattrocento Sans"/>
                          <a:sym typeface="Quattrocento Sans"/>
                        </a:rPr>
                        <a:t>7</a:t>
                      </a:r>
                      <a:endParaRPr sz="1600" strike="noStrike"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S</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99" name="Google Shape;1299;p52">
            <a:extLst>
              <a:ext uri="{FF2B5EF4-FFF2-40B4-BE49-F238E27FC236}">
                <a16:creationId xmlns:a16="http://schemas.microsoft.com/office/drawing/2014/main" id="{03C7A8AE-85EA-5C91-04BB-393069D4AC96}"/>
              </a:ext>
            </a:extLst>
          </p:cNvPr>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300" name="Google Shape;1300;p52">
            <a:extLst>
              <a:ext uri="{FF2B5EF4-FFF2-40B4-BE49-F238E27FC236}">
                <a16:creationId xmlns:a16="http://schemas.microsoft.com/office/drawing/2014/main" id="{A52CF133-5FFB-B309-9FAB-55694A440E85}"/>
              </a:ext>
            </a:extLst>
          </p:cNvPr>
          <p:cNvGrpSpPr/>
          <p:nvPr/>
        </p:nvGrpSpPr>
        <p:grpSpPr>
          <a:xfrm>
            <a:off x="1701172" y="1426150"/>
            <a:ext cx="4030525" cy="2771784"/>
            <a:chOff x="-2863816" y="1556556"/>
            <a:chExt cx="3022969" cy="2078890"/>
          </a:xfrm>
        </p:grpSpPr>
        <p:sp>
          <p:nvSpPr>
            <p:cNvPr id="1301" name="Google Shape;1301;p52">
              <a:extLst>
                <a:ext uri="{FF2B5EF4-FFF2-40B4-BE49-F238E27FC236}">
                  <a16:creationId xmlns:a16="http://schemas.microsoft.com/office/drawing/2014/main" id="{174BC8C5-8F67-DE95-D520-35096B288493}"/>
                </a:ext>
              </a:extLst>
            </p:cNvPr>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302" name="Google Shape;1302;p52">
              <a:extLst>
                <a:ext uri="{FF2B5EF4-FFF2-40B4-BE49-F238E27FC236}">
                  <a16:creationId xmlns:a16="http://schemas.microsoft.com/office/drawing/2014/main" id="{F160F286-241A-1DAE-0983-552914191393}"/>
                </a:ext>
              </a:extLst>
            </p:cNvPr>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303" name="Google Shape;1303;p52">
              <a:extLst>
                <a:ext uri="{FF2B5EF4-FFF2-40B4-BE49-F238E27FC236}">
                  <a16:creationId xmlns:a16="http://schemas.microsoft.com/office/drawing/2014/main" id="{BFDE0161-0029-26F0-A425-A9883D63FEDE}"/>
                </a:ext>
              </a:extLst>
            </p:cNvPr>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304" name="Google Shape;1304;p52">
              <a:extLst>
                <a:ext uri="{FF2B5EF4-FFF2-40B4-BE49-F238E27FC236}">
                  <a16:creationId xmlns:a16="http://schemas.microsoft.com/office/drawing/2014/main" id="{7DC29089-EBB7-8547-A84B-945F7C54CDC7}"/>
                </a:ext>
              </a:extLst>
            </p:cNvPr>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305" name="Google Shape;1305;p52">
              <a:extLst>
                <a:ext uri="{FF2B5EF4-FFF2-40B4-BE49-F238E27FC236}">
                  <a16:creationId xmlns:a16="http://schemas.microsoft.com/office/drawing/2014/main" id="{C9D70F0C-CED8-9B38-ABC3-26EC1967376D}"/>
                </a:ext>
              </a:extLst>
            </p:cNvPr>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306" name="Google Shape;1306;p52">
              <a:extLst>
                <a:ext uri="{FF2B5EF4-FFF2-40B4-BE49-F238E27FC236}">
                  <a16:creationId xmlns:a16="http://schemas.microsoft.com/office/drawing/2014/main" id="{68A52F73-807A-B8EC-C5C9-129605417278}"/>
                </a:ext>
              </a:extLst>
            </p:cNvPr>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307" name="Google Shape;1307;p52">
              <a:extLst>
                <a:ext uri="{FF2B5EF4-FFF2-40B4-BE49-F238E27FC236}">
                  <a16:creationId xmlns:a16="http://schemas.microsoft.com/office/drawing/2014/main" id="{A4D5E168-5B77-9273-007F-EA247FA25DC2}"/>
                </a:ext>
              </a:extLst>
            </p:cNvPr>
            <p:cNvCxnSpPr>
              <a:stCxn id="1301" idx="3"/>
              <a:endCxn id="1303"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308" name="Google Shape;1308;p52">
              <a:extLst>
                <a:ext uri="{FF2B5EF4-FFF2-40B4-BE49-F238E27FC236}">
                  <a16:creationId xmlns:a16="http://schemas.microsoft.com/office/drawing/2014/main" id="{38F814EF-4945-1817-73E2-8B7F6766A551}"/>
                </a:ext>
              </a:extLst>
            </p:cNvPr>
            <p:cNvCxnSpPr>
              <a:stCxn id="1303" idx="5"/>
              <a:endCxn id="1304"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309" name="Google Shape;1309;p52">
              <a:extLst>
                <a:ext uri="{FF2B5EF4-FFF2-40B4-BE49-F238E27FC236}">
                  <a16:creationId xmlns:a16="http://schemas.microsoft.com/office/drawing/2014/main" id="{F5ABDFF4-FBB5-EEA3-355A-BECE70F82555}"/>
                </a:ext>
              </a:extLst>
            </p:cNvPr>
            <p:cNvCxnSpPr>
              <a:stCxn id="1301" idx="7"/>
              <a:endCxn id="1302"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310" name="Google Shape;1310;p52">
              <a:extLst>
                <a:ext uri="{FF2B5EF4-FFF2-40B4-BE49-F238E27FC236}">
                  <a16:creationId xmlns:a16="http://schemas.microsoft.com/office/drawing/2014/main" id="{146FD90F-5862-2B37-0603-2BC925FD3C45}"/>
                </a:ext>
              </a:extLst>
            </p:cNvPr>
            <p:cNvCxnSpPr>
              <a:endCxn id="1302"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311" name="Google Shape;1311;p52">
              <a:extLst>
                <a:ext uri="{FF2B5EF4-FFF2-40B4-BE49-F238E27FC236}">
                  <a16:creationId xmlns:a16="http://schemas.microsoft.com/office/drawing/2014/main" id="{CF4A70AD-6CE6-144F-FC60-29B432F205B2}"/>
                </a:ext>
              </a:extLst>
            </p:cNvPr>
            <p:cNvCxnSpPr>
              <a:stCxn id="1306" idx="7"/>
              <a:endCxn id="1305"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312" name="Google Shape;1312;p52">
              <a:extLst>
                <a:ext uri="{FF2B5EF4-FFF2-40B4-BE49-F238E27FC236}">
                  <a16:creationId xmlns:a16="http://schemas.microsoft.com/office/drawing/2014/main" id="{8E104C3B-2E90-00EF-7A43-D979048E5488}"/>
                </a:ext>
              </a:extLst>
            </p:cNvPr>
            <p:cNvCxnSpPr>
              <a:stCxn id="1302" idx="5"/>
              <a:endCxn id="1306"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313" name="Google Shape;1313;p52">
              <a:extLst>
                <a:ext uri="{FF2B5EF4-FFF2-40B4-BE49-F238E27FC236}">
                  <a16:creationId xmlns:a16="http://schemas.microsoft.com/office/drawing/2014/main" id="{3365E8EB-F0A3-5FC3-5F1B-AF9E8C7395C4}"/>
                </a:ext>
              </a:extLst>
            </p:cNvPr>
            <p:cNvCxnSpPr>
              <a:stCxn id="1304" idx="0"/>
              <a:endCxn id="1302"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314" name="Google Shape;1314;p52">
              <a:extLst>
                <a:ext uri="{FF2B5EF4-FFF2-40B4-BE49-F238E27FC236}">
                  <a16:creationId xmlns:a16="http://schemas.microsoft.com/office/drawing/2014/main" id="{4FA48D3D-6B96-5378-8FAB-C33E5EF7D9D6}"/>
                </a:ext>
              </a:extLst>
            </p:cNvPr>
            <p:cNvCxnSpPr>
              <a:stCxn id="1304" idx="6"/>
              <a:endCxn id="1306"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315" name="Google Shape;1315;p52">
              <a:extLst>
                <a:ext uri="{FF2B5EF4-FFF2-40B4-BE49-F238E27FC236}">
                  <a16:creationId xmlns:a16="http://schemas.microsoft.com/office/drawing/2014/main" id="{71E13F2A-B0F9-95E9-6866-B85E701E8F88}"/>
                </a:ext>
              </a:extLst>
            </p:cNvPr>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316" name="Google Shape;1316;p52">
              <a:extLst>
                <a:ext uri="{FF2B5EF4-FFF2-40B4-BE49-F238E27FC236}">
                  <a16:creationId xmlns:a16="http://schemas.microsoft.com/office/drawing/2014/main" id="{D5A05C88-FB98-B207-0622-8478DEDD23C3}"/>
                </a:ext>
              </a:extLst>
            </p:cNvPr>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17" name="Google Shape;1317;p52">
              <a:extLst>
                <a:ext uri="{FF2B5EF4-FFF2-40B4-BE49-F238E27FC236}">
                  <a16:creationId xmlns:a16="http://schemas.microsoft.com/office/drawing/2014/main" id="{B01829FD-AE00-F594-0B07-E5EB37CDAD94}"/>
                </a:ext>
              </a:extLst>
            </p:cNvPr>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8" name="Google Shape;1318;p52">
              <a:extLst>
                <a:ext uri="{FF2B5EF4-FFF2-40B4-BE49-F238E27FC236}">
                  <a16:creationId xmlns:a16="http://schemas.microsoft.com/office/drawing/2014/main" id="{13B48D79-09F5-6B72-AB5C-2E157510D111}"/>
                </a:ext>
              </a:extLst>
            </p:cNvPr>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9" name="Google Shape;1319;p52">
              <a:extLst>
                <a:ext uri="{FF2B5EF4-FFF2-40B4-BE49-F238E27FC236}">
                  <a16:creationId xmlns:a16="http://schemas.microsoft.com/office/drawing/2014/main" id="{E7E14B86-AACD-2642-EED8-DD8F65067FC1}"/>
                </a:ext>
              </a:extLst>
            </p:cNvPr>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0" name="Google Shape;1320;p52">
              <a:extLst>
                <a:ext uri="{FF2B5EF4-FFF2-40B4-BE49-F238E27FC236}">
                  <a16:creationId xmlns:a16="http://schemas.microsoft.com/office/drawing/2014/main" id="{B8BE4FE1-395A-1B36-FC34-02C9655B1B83}"/>
                </a:ext>
              </a:extLst>
            </p:cNvPr>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1" name="Google Shape;1321;p52">
              <a:extLst>
                <a:ext uri="{FF2B5EF4-FFF2-40B4-BE49-F238E27FC236}">
                  <a16:creationId xmlns:a16="http://schemas.microsoft.com/office/drawing/2014/main" id="{CEB249DB-3813-FD97-75F1-8E1B296F7F85}"/>
                </a:ext>
              </a:extLst>
            </p:cNvPr>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322" name="Google Shape;1322;p52">
              <a:extLst>
                <a:ext uri="{FF2B5EF4-FFF2-40B4-BE49-F238E27FC236}">
                  <a16:creationId xmlns:a16="http://schemas.microsoft.com/office/drawing/2014/main" id="{31A96956-C673-E6B0-85EE-512F0B3F759F}"/>
                </a:ext>
              </a:extLst>
            </p:cNvPr>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323" name="Google Shape;1323;p52">
              <a:extLst>
                <a:ext uri="{FF2B5EF4-FFF2-40B4-BE49-F238E27FC236}">
                  <a16:creationId xmlns:a16="http://schemas.microsoft.com/office/drawing/2014/main" id="{D39BB429-04E6-C0A3-3219-807CC5B758E9}"/>
                </a:ext>
              </a:extLst>
            </p:cNvPr>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324" name="Google Shape;1324;p52">
              <a:extLst>
                <a:ext uri="{FF2B5EF4-FFF2-40B4-BE49-F238E27FC236}">
                  <a16:creationId xmlns:a16="http://schemas.microsoft.com/office/drawing/2014/main" id="{48E7768B-8E15-4EF3-AB4A-84EE97D35AE6}"/>
                </a:ext>
              </a:extLst>
            </p:cNvPr>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5</a:t>
              </a:r>
              <a:endParaRPr sz="2000" dirty="0">
                <a:solidFill>
                  <a:srgbClr val="FF0000"/>
                </a:solidFill>
                <a:latin typeface="Calibri"/>
                <a:ea typeface="Calibri"/>
                <a:cs typeface="Calibri"/>
                <a:sym typeface="Calibri"/>
              </a:endParaRPr>
            </a:p>
          </p:txBody>
        </p:sp>
        <p:sp>
          <p:nvSpPr>
            <p:cNvPr id="1325" name="Google Shape;1325;p52">
              <a:extLst>
                <a:ext uri="{FF2B5EF4-FFF2-40B4-BE49-F238E27FC236}">
                  <a16:creationId xmlns:a16="http://schemas.microsoft.com/office/drawing/2014/main" id="{372B5EC5-B092-5741-BA13-85C27DE0B3C7}"/>
                </a:ext>
              </a:extLst>
            </p:cNvPr>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326" name="Google Shape;1326;p52">
              <a:extLst>
                <a:ext uri="{FF2B5EF4-FFF2-40B4-BE49-F238E27FC236}">
                  <a16:creationId xmlns:a16="http://schemas.microsoft.com/office/drawing/2014/main" id="{DC68BA45-0BBE-6320-5216-EA3DA27B4D84}"/>
                </a:ext>
              </a:extLst>
            </p:cNvPr>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327" name="Google Shape;1327;p52">
              <a:extLst>
                <a:ext uri="{FF2B5EF4-FFF2-40B4-BE49-F238E27FC236}">
                  <a16:creationId xmlns:a16="http://schemas.microsoft.com/office/drawing/2014/main" id="{7EFE7DBC-8940-2D25-3E11-63A894F061F5}"/>
                </a:ext>
              </a:extLst>
            </p:cNvPr>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Calibri"/>
                  <a:ea typeface="Calibri"/>
                  <a:cs typeface="Calibri"/>
                  <a:sym typeface="Calibri"/>
                </a:rPr>
                <a:t>7</a:t>
              </a:r>
              <a:endParaRPr sz="2000" dirty="0">
                <a:solidFill>
                  <a:srgbClr val="FF0000"/>
                </a:solidFill>
                <a:latin typeface="Calibri"/>
                <a:ea typeface="Calibri"/>
                <a:cs typeface="Calibri"/>
                <a:sym typeface="Calibri"/>
              </a:endParaRPr>
            </a:p>
          </p:txBody>
        </p:sp>
        <p:sp>
          <p:nvSpPr>
            <p:cNvPr id="1328" name="Google Shape;1328;p52">
              <a:extLst>
                <a:ext uri="{FF2B5EF4-FFF2-40B4-BE49-F238E27FC236}">
                  <a16:creationId xmlns:a16="http://schemas.microsoft.com/office/drawing/2014/main" id="{0C48F38B-A054-CD4F-F763-D002BA5D1A3F}"/>
                </a:ext>
              </a:extLst>
            </p:cNvPr>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329" name="Google Shape;1329;p52">
            <a:extLst>
              <a:ext uri="{FF2B5EF4-FFF2-40B4-BE49-F238E27FC236}">
                <a16:creationId xmlns:a16="http://schemas.microsoft.com/office/drawing/2014/main" id="{5FD7BD13-03D8-90D2-566B-1B43DBF12D68}"/>
              </a:ext>
            </a:extLst>
          </p:cNvPr>
          <p:cNvSpPr txBox="1"/>
          <p:nvPr/>
        </p:nvSpPr>
        <p:spPr>
          <a:xfrm>
            <a:off x="6240700" y="2419925"/>
            <a:ext cx="56847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ea typeface="Quattrocento Sans"/>
                <a:cs typeface="Quattrocento Sans"/>
                <a:sym typeface="Quattrocento Sans"/>
              </a:rPr>
              <a:t>Iteration 4</a:t>
            </a:r>
            <a:endParaRPr sz="1700" dirty="0">
              <a:latin typeface="+mn-lt"/>
              <a:ea typeface="Quattrocento Sans"/>
              <a:cs typeface="Quattrocento Sans"/>
              <a:sym typeface="Quattrocento Sans"/>
            </a:endParaRPr>
          </a:p>
        </p:txBody>
      </p:sp>
      <p:sp>
        <p:nvSpPr>
          <p:cNvPr id="1330" name="Google Shape;1330;p52">
            <a:extLst>
              <a:ext uri="{FF2B5EF4-FFF2-40B4-BE49-F238E27FC236}">
                <a16:creationId xmlns:a16="http://schemas.microsoft.com/office/drawing/2014/main" id="{05CE7B3A-3EBA-93C9-4DB9-1AD47F577ACA}"/>
              </a:ext>
            </a:extLst>
          </p:cNvPr>
          <p:cNvSpPr txBox="1"/>
          <p:nvPr/>
        </p:nvSpPr>
        <p:spPr>
          <a:xfrm>
            <a:off x="9455100" y="3054950"/>
            <a:ext cx="2736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No changes!</a:t>
            </a:r>
            <a:endParaRPr dirty="0">
              <a:latin typeface="+mj-lt"/>
              <a:ea typeface="Quattrocento Sans"/>
              <a:cs typeface="Quattrocento Sans"/>
              <a:sym typeface="Quattrocento Sans"/>
            </a:endParaRPr>
          </a:p>
          <a:p>
            <a:pPr marL="0" lvl="0" indent="0" algn="l" rtl="0">
              <a:spcBef>
                <a:spcPts val="0"/>
              </a:spcBef>
              <a:spcAft>
                <a:spcPts val="0"/>
              </a:spcAft>
              <a:buNone/>
            </a:pPr>
            <a:r>
              <a:rPr lang="en-US" dirty="0">
                <a:latin typeface="+mj-lt"/>
                <a:ea typeface="Quattrocento Sans"/>
                <a:cs typeface="Quattrocento Sans"/>
                <a:sym typeface="Quattrocento Sans"/>
              </a:rPr>
              <a:t>This means we can stop early</a:t>
            </a:r>
            <a:endParaRPr dirty="0">
              <a:latin typeface="+mj-lt"/>
              <a:ea typeface="Quattrocento Sans"/>
              <a:cs typeface="Quattrocento Sans"/>
              <a:sym typeface="Quattrocento Sans"/>
            </a:endParaRPr>
          </a:p>
        </p:txBody>
      </p:sp>
      <p:sp>
        <p:nvSpPr>
          <p:cNvPr id="4" name="TextBox 3">
            <a:extLst>
              <a:ext uri="{FF2B5EF4-FFF2-40B4-BE49-F238E27FC236}">
                <a16:creationId xmlns:a16="http://schemas.microsoft.com/office/drawing/2014/main" id="{4199079C-AC36-1B25-3D94-8FFD5A55691E}"/>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a:t>
            </a:r>
            <a:r>
              <a:rPr lang="en-US" sz="1800" dirty="0">
                <a:solidFill>
                  <a:srgbClr val="FF0000"/>
                </a:solidFill>
              </a:rPr>
              <a:t>D, E</a:t>
            </a:r>
            <a:r>
              <a:rPr lang="en-US" sz="1800" dirty="0"/>
              <a:t> in this example. </a:t>
            </a:r>
            <a:endParaRPr lang="en-SE" sz="1800" dirty="0"/>
          </a:p>
        </p:txBody>
      </p:sp>
    </p:spTree>
    <p:extLst>
      <p:ext uri="{BB962C8B-B14F-4D97-AF65-F5344CB8AC3E}">
        <p14:creationId xmlns:p14="http://schemas.microsoft.com/office/powerpoint/2010/main" val="42846806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7DA98-8757-244C-279B-B5FEB6C69184}"/>
              </a:ext>
            </a:extLst>
          </p:cNvPr>
          <p:cNvSpPr>
            <a:spLocks noGrp="1"/>
          </p:cNvSpPr>
          <p:nvPr>
            <p:ph type="title"/>
          </p:nvPr>
        </p:nvSpPr>
        <p:spPr/>
        <p:txBody>
          <a:bodyPr/>
          <a:lstStyle/>
          <a:p>
            <a:r>
              <a:rPr lang="en-US" dirty="0"/>
              <a:t>Bellman-Ford Example II</a:t>
            </a:r>
            <a:endParaRPr lang="en-SE" dirty="0"/>
          </a:p>
        </p:txBody>
      </p:sp>
      <p:sp>
        <p:nvSpPr>
          <p:cNvPr id="177" name="Oval 176">
            <a:extLst>
              <a:ext uri="{FF2B5EF4-FFF2-40B4-BE49-F238E27FC236}">
                <a16:creationId xmlns:a16="http://schemas.microsoft.com/office/drawing/2014/main" id="{F8C965B0-7597-99D6-FBFD-765020F39274}"/>
              </a:ext>
            </a:extLst>
          </p:cNvPr>
          <p:cNvSpPr/>
          <p:nvPr/>
        </p:nvSpPr>
        <p:spPr>
          <a:xfrm>
            <a:off x="3390401" y="1392978"/>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1</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cxnSp>
        <p:nvCxnSpPr>
          <p:cNvPr id="178" name="Straight Connector 177">
            <a:extLst>
              <a:ext uri="{FF2B5EF4-FFF2-40B4-BE49-F238E27FC236}">
                <a16:creationId xmlns:a16="http://schemas.microsoft.com/office/drawing/2014/main" id="{EED5DE21-3927-B758-ECB1-F5E47E2ED468}"/>
              </a:ext>
            </a:extLst>
          </p:cNvPr>
          <p:cNvCxnSpPr>
            <a:cxnSpLocks/>
            <a:stCxn id="192" idx="1"/>
            <a:endCxn id="177" idx="5"/>
          </p:cNvCxnSpPr>
          <p:nvPr/>
        </p:nvCxnSpPr>
        <p:spPr>
          <a:xfrm flipH="1" flipV="1">
            <a:off x="3788421" y="1808457"/>
            <a:ext cx="934059" cy="1090836"/>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79" name="Straight Connector 178">
            <a:extLst>
              <a:ext uri="{FF2B5EF4-FFF2-40B4-BE49-F238E27FC236}">
                <a16:creationId xmlns:a16="http://schemas.microsoft.com/office/drawing/2014/main" id="{BC8691ED-898F-B9A2-FABC-5F8BAC8D745B}"/>
              </a:ext>
            </a:extLst>
          </p:cNvPr>
          <p:cNvCxnSpPr>
            <a:cxnSpLocks/>
            <a:stCxn id="193" idx="5"/>
            <a:endCxn id="196" idx="0"/>
          </p:cNvCxnSpPr>
          <p:nvPr/>
        </p:nvCxnSpPr>
        <p:spPr>
          <a:xfrm>
            <a:off x="5461057" y="2177769"/>
            <a:ext cx="1114828" cy="2025913"/>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0" name="Straight Connector 179">
            <a:extLst>
              <a:ext uri="{FF2B5EF4-FFF2-40B4-BE49-F238E27FC236}">
                <a16:creationId xmlns:a16="http://schemas.microsoft.com/office/drawing/2014/main" id="{F20EFB34-119A-43A2-B914-061EFF35CFED}"/>
              </a:ext>
            </a:extLst>
          </p:cNvPr>
          <p:cNvCxnSpPr>
            <a:cxnSpLocks/>
            <a:stCxn id="197" idx="7"/>
            <a:endCxn id="192" idx="3"/>
          </p:cNvCxnSpPr>
          <p:nvPr/>
        </p:nvCxnSpPr>
        <p:spPr>
          <a:xfrm flipV="1">
            <a:off x="4253029" y="3243488"/>
            <a:ext cx="469451" cy="470850"/>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1" name="Straight Connector 180">
            <a:extLst>
              <a:ext uri="{FF2B5EF4-FFF2-40B4-BE49-F238E27FC236}">
                <a16:creationId xmlns:a16="http://schemas.microsoft.com/office/drawing/2014/main" id="{656572C9-D1DC-0972-1177-75D2FFC2D63B}"/>
              </a:ext>
            </a:extLst>
          </p:cNvPr>
          <p:cNvCxnSpPr>
            <a:cxnSpLocks/>
            <a:stCxn id="193" idx="2"/>
            <a:endCxn id="177" idx="6"/>
          </p:cNvCxnSpPr>
          <p:nvPr/>
        </p:nvCxnSpPr>
        <p:spPr>
          <a:xfrm flipH="1" flipV="1">
            <a:off x="3856709" y="1636360"/>
            <a:ext cx="1206329" cy="369312"/>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82" name="Straight Connector 181">
            <a:extLst>
              <a:ext uri="{FF2B5EF4-FFF2-40B4-BE49-F238E27FC236}">
                <a16:creationId xmlns:a16="http://schemas.microsoft.com/office/drawing/2014/main" id="{CE407D39-35CD-CB67-EA09-9FEFD45A8192}"/>
              </a:ext>
            </a:extLst>
          </p:cNvPr>
          <p:cNvCxnSpPr>
            <a:cxnSpLocks/>
            <a:stCxn id="195" idx="4"/>
            <a:endCxn id="194" idx="0"/>
          </p:cNvCxnSpPr>
          <p:nvPr/>
        </p:nvCxnSpPr>
        <p:spPr>
          <a:xfrm>
            <a:off x="1999135" y="3079377"/>
            <a:ext cx="233154" cy="907873"/>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3" name="Straight Connector 182">
            <a:extLst>
              <a:ext uri="{FF2B5EF4-FFF2-40B4-BE49-F238E27FC236}">
                <a16:creationId xmlns:a16="http://schemas.microsoft.com/office/drawing/2014/main" id="{5B51B340-FC56-5D9C-A7C0-F42B8A806955}"/>
              </a:ext>
            </a:extLst>
          </p:cNvPr>
          <p:cNvCxnSpPr>
            <a:cxnSpLocks/>
            <a:stCxn id="177" idx="4"/>
            <a:endCxn id="198" idx="0"/>
          </p:cNvCxnSpPr>
          <p:nvPr/>
        </p:nvCxnSpPr>
        <p:spPr>
          <a:xfrm flipH="1">
            <a:off x="3292519" y="1879741"/>
            <a:ext cx="331037" cy="890952"/>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4" name="Straight Connector 183">
            <a:extLst>
              <a:ext uri="{FF2B5EF4-FFF2-40B4-BE49-F238E27FC236}">
                <a16:creationId xmlns:a16="http://schemas.microsoft.com/office/drawing/2014/main" id="{38178AA0-4E01-4EBD-EE73-2261642DC1EF}"/>
              </a:ext>
            </a:extLst>
          </p:cNvPr>
          <p:cNvCxnSpPr>
            <a:cxnSpLocks/>
            <a:stCxn id="198" idx="4"/>
            <a:endCxn id="197" idx="1"/>
          </p:cNvCxnSpPr>
          <p:nvPr/>
        </p:nvCxnSpPr>
        <p:spPr>
          <a:xfrm>
            <a:off x="3292519" y="3257456"/>
            <a:ext cx="630779" cy="456882"/>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5" name="Straight Connector 184">
            <a:extLst>
              <a:ext uri="{FF2B5EF4-FFF2-40B4-BE49-F238E27FC236}">
                <a16:creationId xmlns:a16="http://schemas.microsoft.com/office/drawing/2014/main" id="{D823669E-DFC8-C6EE-683D-3B4455C9038F}"/>
              </a:ext>
            </a:extLst>
          </p:cNvPr>
          <p:cNvCxnSpPr>
            <a:cxnSpLocks/>
            <a:stCxn id="194" idx="7"/>
            <a:endCxn id="198" idx="3"/>
          </p:cNvCxnSpPr>
          <p:nvPr/>
        </p:nvCxnSpPr>
        <p:spPr>
          <a:xfrm flipV="1">
            <a:off x="2397154" y="3186172"/>
            <a:ext cx="730499" cy="872361"/>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6" name="Straight Connector 185">
            <a:extLst>
              <a:ext uri="{FF2B5EF4-FFF2-40B4-BE49-F238E27FC236}">
                <a16:creationId xmlns:a16="http://schemas.microsoft.com/office/drawing/2014/main" id="{C74F938A-1911-512E-FB28-5916302651BD}"/>
              </a:ext>
            </a:extLst>
          </p:cNvPr>
          <p:cNvCxnSpPr>
            <a:cxnSpLocks/>
            <a:stCxn id="194" idx="6"/>
            <a:endCxn id="196" idx="3"/>
          </p:cNvCxnSpPr>
          <p:nvPr/>
        </p:nvCxnSpPr>
        <p:spPr>
          <a:xfrm>
            <a:off x="2465443" y="4230632"/>
            <a:ext cx="3945577" cy="388528"/>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7" name="Straight Connector 186">
            <a:extLst>
              <a:ext uri="{FF2B5EF4-FFF2-40B4-BE49-F238E27FC236}">
                <a16:creationId xmlns:a16="http://schemas.microsoft.com/office/drawing/2014/main" id="{F081F514-C338-0009-8620-FF5856A4E8A1}"/>
              </a:ext>
            </a:extLst>
          </p:cNvPr>
          <p:cNvCxnSpPr>
            <a:cxnSpLocks/>
            <a:stCxn id="197" idx="6"/>
            <a:endCxn id="196" idx="2"/>
          </p:cNvCxnSpPr>
          <p:nvPr/>
        </p:nvCxnSpPr>
        <p:spPr>
          <a:xfrm>
            <a:off x="4321318" y="3886436"/>
            <a:ext cx="2021413" cy="560628"/>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8" name="Straight Connector 187">
            <a:extLst>
              <a:ext uri="{FF2B5EF4-FFF2-40B4-BE49-F238E27FC236}">
                <a16:creationId xmlns:a16="http://schemas.microsoft.com/office/drawing/2014/main" id="{14A7C7EF-9414-687F-A14A-A6E95BBD4A28}"/>
              </a:ext>
            </a:extLst>
          </p:cNvPr>
          <p:cNvCxnSpPr>
            <a:cxnSpLocks/>
            <a:stCxn id="197" idx="2"/>
            <a:endCxn id="194" idx="6"/>
          </p:cNvCxnSpPr>
          <p:nvPr/>
        </p:nvCxnSpPr>
        <p:spPr>
          <a:xfrm flipH="1">
            <a:off x="2465443" y="3886436"/>
            <a:ext cx="1389567" cy="344195"/>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89" name="Straight Connector 188">
            <a:extLst>
              <a:ext uri="{FF2B5EF4-FFF2-40B4-BE49-F238E27FC236}">
                <a16:creationId xmlns:a16="http://schemas.microsoft.com/office/drawing/2014/main" id="{0F087B7A-E2D0-A740-ACF4-934C6E0B79F0}"/>
              </a:ext>
            </a:extLst>
          </p:cNvPr>
          <p:cNvCxnSpPr>
            <a:cxnSpLocks/>
            <a:stCxn id="195" idx="6"/>
            <a:endCxn id="198" idx="2"/>
          </p:cNvCxnSpPr>
          <p:nvPr/>
        </p:nvCxnSpPr>
        <p:spPr>
          <a:xfrm>
            <a:off x="2232289" y="2835995"/>
            <a:ext cx="827076" cy="178080"/>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90" name="Straight Connector 189">
            <a:extLst>
              <a:ext uri="{FF2B5EF4-FFF2-40B4-BE49-F238E27FC236}">
                <a16:creationId xmlns:a16="http://schemas.microsoft.com/office/drawing/2014/main" id="{8FB330DB-F794-0268-7081-C6C25163EEEA}"/>
              </a:ext>
            </a:extLst>
          </p:cNvPr>
          <p:cNvCxnSpPr>
            <a:cxnSpLocks/>
            <a:stCxn id="192" idx="2"/>
            <a:endCxn id="198" idx="6"/>
          </p:cNvCxnSpPr>
          <p:nvPr/>
        </p:nvCxnSpPr>
        <p:spPr>
          <a:xfrm flipH="1" flipV="1">
            <a:off x="3525673" y="3014075"/>
            <a:ext cx="1128518" cy="57316"/>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91" name="Straight Connector 190">
            <a:extLst>
              <a:ext uri="{FF2B5EF4-FFF2-40B4-BE49-F238E27FC236}">
                <a16:creationId xmlns:a16="http://schemas.microsoft.com/office/drawing/2014/main" id="{3B28C151-B562-A077-2412-A3D60182E4F2}"/>
              </a:ext>
            </a:extLst>
          </p:cNvPr>
          <p:cNvCxnSpPr>
            <a:cxnSpLocks/>
            <a:stCxn id="177" idx="3"/>
            <a:endCxn id="195" idx="7"/>
          </p:cNvCxnSpPr>
          <p:nvPr/>
        </p:nvCxnSpPr>
        <p:spPr>
          <a:xfrm flipH="1">
            <a:off x="2164000" y="1808457"/>
            <a:ext cx="1294689" cy="855440"/>
          </a:xfrm>
          <a:prstGeom prst="line">
            <a:avLst/>
          </a:prstGeom>
          <a:noFill/>
          <a:ln w="38100" cap="flat" cmpd="sng" algn="ctr">
            <a:solidFill>
              <a:sysClr val="window" lastClr="FFFFFF">
                <a:lumMod val="65000"/>
              </a:sysClr>
            </a:solidFill>
            <a:prstDash val="solid"/>
            <a:headEnd type="triangle" w="med" len="med"/>
            <a:tailEnd type="none" w="med" len="med"/>
          </a:ln>
          <a:effectLst/>
        </p:spPr>
      </p:cxnSp>
      <p:sp>
        <p:nvSpPr>
          <p:cNvPr id="192" name="Oval 191">
            <a:extLst>
              <a:ext uri="{FF2B5EF4-FFF2-40B4-BE49-F238E27FC236}">
                <a16:creationId xmlns:a16="http://schemas.microsoft.com/office/drawing/2014/main" id="{222CEFC4-3AC8-71F6-B851-08C242D23D59}"/>
              </a:ext>
            </a:extLst>
          </p:cNvPr>
          <p:cNvSpPr/>
          <p:nvPr/>
        </p:nvSpPr>
        <p:spPr>
          <a:xfrm>
            <a:off x="4654191" y="2828009"/>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2</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3" name="Oval 192">
            <a:extLst>
              <a:ext uri="{FF2B5EF4-FFF2-40B4-BE49-F238E27FC236}">
                <a16:creationId xmlns:a16="http://schemas.microsoft.com/office/drawing/2014/main" id="{8A3E274E-C8D1-6F3B-46B9-0C2CF7D87B50}"/>
              </a:ext>
            </a:extLst>
          </p:cNvPr>
          <p:cNvSpPr/>
          <p:nvPr/>
        </p:nvSpPr>
        <p:spPr>
          <a:xfrm>
            <a:off x="5063038" y="1762290"/>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3</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4" name="Oval 193">
            <a:extLst>
              <a:ext uri="{FF2B5EF4-FFF2-40B4-BE49-F238E27FC236}">
                <a16:creationId xmlns:a16="http://schemas.microsoft.com/office/drawing/2014/main" id="{9EC1A6C5-E222-7B4B-9A8E-5745293CAE3F}"/>
              </a:ext>
            </a:extLst>
          </p:cNvPr>
          <p:cNvSpPr/>
          <p:nvPr/>
        </p:nvSpPr>
        <p:spPr>
          <a:xfrm>
            <a:off x="1999135" y="3987250"/>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4</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5" name="Oval 194">
            <a:extLst>
              <a:ext uri="{FF2B5EF4-FFF2-40B4-BE49-F238E27FC236}">
                <a16:creationId xmlns:a16="http://schemas.microsoft.com/office/drawing/2014/main" id="{E7EC1BB3-949F-238D-52E3-F90F3BE364B0}"/>
              </a:ext>
            </a:extLst>
          </p:cNvPr>
          <p:cNvSpPr/>
          <p:nvPr/>
        </p:nvSpPr>
        <p:spPr>
          <a:xfrm>
            <a:off x="1765981" y="2592613"/>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0</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6" name="Oval 195">
            <a:extLst>
              <a:ext uri="{FF2B5EF4-FFF2-40B4-BE49-F238E27FC236}">
                <a16:creationId xmlns:a16="http://schemas.microsoft.com/office/drawing/2014/main" id="{784C1F4D-B648-5105-A3FF-71A4E77E3420}"/>
              </a:ext>
            </a:extLst>
          </p:cNvPr>
          <p:cNvSpPr/>
          <p:nvPr/>
        </p:nvSpPr>
        <p:spPr>
          <a:xfrm>
            <a:off x="6342731" y="4203682"/>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6</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7" name="Oval 196">
            <a:extLst>
              <a:ext uri="{FF2B5EF4-FFF2-40B4-BE49-F238E27FC236}">
                <a16:creationId xmlns:a16="http://schemas.microsoft.com/office/drawing/2014/main" id="{1096F690-6558-4EE1-37E8-805AF1B29578}"/>
              </a:ext>
            </a:extLst>
          </p:cNvPr>
          <p:cNvSpPr/>
          <p:nvPr/>
        </p:nvSpPr>
        <p:spPr>
          <a:xfrm>
            <a:off x="3855010" y="3643054"/>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5</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8" name="Oval 197">
            <a:extLst>
              <a:ext uri="{FF2B5EF4-FFF2-40B4-BE49-F238E27FC236}">
                <a16:creationId xmlns:a16="http://schemas.microsoft.com/office/drawing/2014/main" id="{7BB32FBD-3895-5C81-5DF3-44641C401FF5}"/>
              </a:ext>
            </a:extLst>
          </p:cNvPr>
          <p:cNvSpPr/>
          <p:nvPr/>
        </p:nvSpPr>
        <p:spPr>
          <a:xfrm>
            <a:off x="3059365" y="2770693"/>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7</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cxnSp>
        <p:nvCxnSpPr>
          <p:cNvPr id="199" name="Straight Connector 198">
            <a:extLst>
              <a:ext uri="{FF2B5EF4-FFF2-40B4-BE49-F238E27FC236}">
                <a16:creationId xmlns:a16="http://schemas.microsoft.com/office/drawing/2014/main" id="{42671490-C155-B11D-CE77-0F3A6E9EF31A}"/>
              </a:ext>
            </a:extLst>
          </p:cNvPr>
          <p:cNvCxnSpPr>
            <a:cxnSpLocks/>
            <a:stCxn id="193" idx="4"/>
            <a:endCxn id="192" idx="0"/>
          </p:cNvCxnSpPr>
          <p:nvPr/>
        </p:nvCxnSpPr>
        <p:spPr>
          <a:xfrm flipH="1">
            <a:off x="4887345" y="2249053"/>
            <a:ext cx="408847" cy="578956"/>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200" name="Straight Connector 199">
            <a:extLst>
              <a:ext uri="{FF2B5EF4-FFF2-40B4-BE49-F238E27FC236}">
                <a16:creationId xmlns:a16="http://schemas.microsoft.com/office/drawing/2014/main" id="{2795DB69-91A1-5863-768E-08CD359CEA25}"/>
              </a:ext>
            </a:extLst>
          </p:cNvPr>
          <p:cNvCxnSpPr>
            <a:cxnSpLocks/>
            <a:stCxn id="192" idx="5"/>
            <a:endCxn id="196" idx="1"/>
          </p:cNvCxnSpPr>
          <p:nvPr/>
        </p:nvCxnSpPr>
        <p:spPr>
          <a:xfrm>
            <a:off x="5052210" y="3243488"/>
            <a:ext cx="1358809" cy="1031478"/>
          </a:xfrm>
          <a:prstGeom prst="line">
            <a:avLst/>
          </a:prstGeom>
          <a:noFill/>
          <a:ln w="38100" cap="flat" cmpd="sng" algn="ctr">
            <a:solidFill>
              <a:sysClr val="window" lastClr="FFFFFF">
                <a:lumMod val="65000"/>
              </a:sysClr>
            </a:solidFill>
            <a:prstDash val="solid"/>
            <a:headEnd type="none" w="med" len="med"/>
            <a:tailEnd type="triangle" w="med" len="med"/>
          </a:ln>
          <a:effectLst/>
        </p:spPr>
      </p:cxnSp>
      <p:sp>
        <p:nvSpPr>
          <p:cNvPr id="201" name="TextBox 200">
            <a:extLst>
              <a:ext uri="{FF2B5EF4-FFF2-40B4-BE49-F238E27FC236}">
                <a16:creationId xmlns:a16="http://schemas.microsoft.com/office/drawing/2014/main" id="{39DC9DA5-E1EA-BB88-E0A7-484156812192}"/>
              </a:ext>
            </a:extLst>
          </p:cNvPr>
          <p:cNvSpPr txBox="1"/>
          <p:nvPr/>
        </p:nvSpPr>
        <p:spPr>
          <a:xfrm>
            <a:off x="4383386" y="3427973"/>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2" name="TextBox 201">
            <a:extLst>
              <a:ext uri="{FF2B5EF4-FFF2-40B4-BE49-F238E27FC236}">
                <a16:creationId xmlns:a16="http://schemas.microsoft.com/office/drawing/2014/main" id="{B4BF1892-98F4-34F6-2C51-899FA4D3615F}"/>
              </a:ext>
            </a:extLst>
          </p:cNvPr>
          <p:cNvSpPr txBox="1"/>
          <p:nvPr/>
        </p:nvSpPr>
        <p:spPr>
          <a:xfrm>
            <a:off x="4952167" y="2458143"/>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3</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3" name="TextBox 202">
            <a:extLst>
              <a:ext uri="{FF2B5EF4-FFF2-40B4-BE49-F238E27FC236}">
                <a16:creationId xmlns:a16="http://schemas.microsoft.com/office/drawing/2014/main" id="{BAFF3011-D6A9-51EE-8116-9A9EE6EB8C54}"/>
              </a:ext>
            </a:extLst>
          </p:cNvPr>
          <p:cNvSpPr txBox="1"/>
          <p:nvPr/>
        </p:nvSpPr>
        <p:spPr>
          <a:xfrm>
            <a:off x="3455996" y="3398020"/>
            <a:ext cx="209449"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6</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4" name="TextBox 203">
            <a:extLst>
              <a:ext uri="{FF2B5EF4-FFF2-40B4-BE49-F238E27FC236}">
                <a16:creationId xmlns:a16="http://schemas.microsoft.com/office/drawing/2014/main" id="{8A8D6DBF-E82F-6A5E-E19A-ED84773DC9FE}"/>
              </a:ext>
            </a:extLst>
          </p:cNvPr>
          <p:cNvSpPr txBox="1"/>
          <p:nvPr/>
        </p:nvSpPr>
        <p:spPr>
          <a:xfrm>
            <a:off x="3347775" y="2261262"/>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4</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5" name="TextBox 204">
            <a:extLst>
              <a:ext uri="{FF2B5EF4-FFF2-40B4-BE49-F238E27FC236}">
                <a16:creationId xmlns:a16="http://schemas.microsoft.com/office/drawing/2014/main" id="{EA427DEC-0AE5-DF06-E0BC-337A6B138680}"/>
              </a:ext>
            </a:extLst>
          </p:cNvPr>
          <p:cNvSpPr txBox="1"/>
          <p:nvPr/>
        </p:nvSpPr>
        <p:spPr>
          <a:xfrm>
            <a:off x="4124755" y="2240572"/>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12</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6" name="TextBox 205">
            <a:extLst>
              <a:ext uri="{FF2B5EF4-FFF2-40B4-BE49-F238E27FC236}">
                <a16:creationId xmlns:a16="http://schemas.microsoft.com/office/drawing/2014/main" id="{ECC6B257-C8CF-1259-3642-8149454DC3DD}"/>
              </a:ext>
            </a:extLst>
          </p:cNvPr>
          <p:cNvSpPr txBox="1"/>
          <p:nvPr/>
        </p:nvSpPr>
        <p:spPr>
          <a:xfrm>
            <a:off x="2507169" y="2872034"/>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8</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7" name="TextBox 206">
            <a:extLst>
              <a:ext uri="{FF2B5EF4-FFF2-40B4-BE49-F238E27FC236}">
                <a16:creationId xmlns:a16="http://schemas.microsoft.com/office/drawing/2014/main" id="{872095A4-4721-95C9-CA21-0B09C614FB2F}"/>
              </a:ext>
            </a:extLst>
          </p:cNvPr>
          <p:cNvSpPr txBox="1"/>
          <p:nvPr/>
        </p:nvSpPr>
        <p:spPr>
          <a:xfrm>
            <a:off x="4414194" y="1723816"/>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15</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8" name="TextBox 207">
            <a:extLst>
              <a:ext uri="{FF2B5EF4-FFF2-40B4-BE49-F238E27FC236}">
                <a16:creationId xmlns:a16="http://schemas.microsoft.com/office/drawing/2014/main" id="{59507A5B-42E0-83FA-F001-24E248D01C9E}"/>
              </a:ext>
            </a:extLst>
          </p:cNvPr>
          <p:cNvSpPr txBox="1"/>
          <p:nvPr/>
        </p:nvSpPr>
        <p:spPr>
          <a:xfrm>
            <a:off x="2706620" y="2150449"/>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5</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9" name="TextBox 208">
            <a:extLst>
              <a:ext uri="{FF2B5EF4-FFF2-40B4-BE49-F238E27FC236}">
                <a16:creationId xmlns:a16="http://schemas.microsoft.com/office/drawing/2014/main" id="{2530146A-4346-0FF4-3E5D-08DBD578C9C2}"/>
              </a:ext>
            </a:extLst>
          </p:cNvPr>
          <p:cNvSpPr txBox="1"/>
          <p:nvPr/>
        </p:nvSpPr>
        <p:spPr>
          <a:xfrm>
            <a:off x="3991715" y="2941019"/>
            <a:ext cx="209449"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7</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0" name="TextBox 209">
            <a:extLst>
              <a:ext uri="{FF2B5EF4-FFF2-40B4-BE49-F238E27FC236}">
                <a16:creationId xmlns:a16="http://schemas.microsoft.com/office/drawing/2014/main" id="{B1071582-C86E-8050-E468-E7B4AB53119A}"/>
              </a:ext>
            </a:extLst>
          </p:cNvPr>
          <p:cNvSpPr txBox="1"/>
          <p:nvPr/>
        </p:nvSpPr>
        <p:spPr>
          <a:xfrm>
            <a:off x="2017426" y="3416865"/>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9</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1" name="TextBox 210">
            <a:extLst>
              <a:ext uri="{FF2B5EF4-FFF2-40B4-BE49-F238E27FC236}">
                <a16:creationId xmlns:a16="http://schemas.microsoft.com/office/drawing/2014/main" id="{F62BD64C-B7CA-B6C8-B285-BF0C59A2FDA8}"/>
              </a:ext>
            </a:extLst>
          </p:cNvPr>
          <p:cNvSpPr txBox="1"/>
          <p:nvPr/>
        </p:nvSpPr>
        <p:spPr>
          <a:xfrm>
            <a:off x="2707253" y="3462357"/>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5</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2" name="TextBox 211">
            <a:extLst>
              <a:ext uri="{FF2B5EF4-FFF2-40B4-BE49-F238E27FC236}">
                <a16:creationId xmlns:a16="http://schemas.microsoft.com/office/drawing/2014/main" id="{00578A2F-0D50-FA52-9157-C3D2006AA0B4}"/>
              </a:ext>
            </a:extLst>
          </p:cNvPr>
          <p:cNvSpPr txBox="1"/>
          <p:nvPr/>
        </p:nvSpPr>
        <p:spPr>
          <a:xfrm>
            <a:off x="3147909" y="3937227"/>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4</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3" name="TextBox 212">
            <a:extLst>
              <a:ext uri="{FF2B5EF4-FFF2-40B4-BE49-F238E27FC236}">
                <a16:creationId xmlns:a16="http://schemas.microsoft.com/office/drawing/2014/main" id="{A9062A74-8742-82C2-4DF3-9CEE3BB6C1AB}"/>
              </a:ext>
            </a:extLst>
          </p:cNvPr>
          <p:cNvSpPr txBox="1"/>
          <p:nvPr/>
        </p:nvSpPr>
        <p:spPr>
          <a:xfrm>
            <a:off x="5459459" y="3548718"/>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11</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4" name="TextBox 213">
            <a:extLst>
              <a:ext uri="{FF2B5EF4-FFF2-40B4-BE49-F238E27FC236}">
                <a16:creationId xmlns:a16="http://schemas.microsoft.com/office/drawing/2014/main" id="{0FB5262B-F1E8-D94C-3F9F-D543A8594F58}"/>
              </a:ext>
            </a:extLst>
          </p:cNvPr>
          <p:cNvSpPr txBox="1"/>
          <p:nvPr/>
        </p:nvSpPr>
        <p:spPr>
          <a:xfrm>
            <a:off x="5801230" y="2926283"/>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9</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5" name="TextBox 214">
            <a:extLst>
              <a:ext uri="{FF2B5EF4-FFF2-40B4-BE49-F238E27FC236}">
                <a16:creationId xmlns:a16="http://schemas.microsoft.com/office/drawing/2014/main" id="{C357189C-2122-2DB4-F833-B38ED107BCF6}"/>
              </a:ext>
            </a:extLst>
          </p:cNvPr>
          <p:cNvSpPr txBox="1"/>
          <p:nvPr/>
        </p:nvSpPr>
        <p:spPr>
          <a:xfrm>
            <a:off x="4862747" y="4008077"/>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13</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6" name="TextBox 215">
            <a:extLst>
              <a:ext uri="{FF2B5EF4-FFF2-40B4-BE49-F238E27FC236}">
                <a16:creationId xmlns:a16="http://schemas.microsoft.com/office/drawing/2014/main" id="{7FFEDCA1-270D-998F-D46F-5C6C7B20B9B5}"/>
              </a:ext>
            </a:extLst>
          </p:cNvPr>
          <p:cNvSpPr txBox="1"/>
          <p:nvPr/>
        </p:nvSpPr>
        <p:spPr>
          <a:xfrm>
            <a:off x="4129316" y="4317489"/>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20</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7" name="Rectangle 216">
            <a:extLst>
              <a:ext uri="{FF2B5EF4-FFF2-40B4-BE49-F238E27FC236}">
                <a16:creationId xmlns:a16="http://schemas.microsoft.com/office/drawing/2014/main" id="{7C693998-6EE9-6099-B441-DF7D9C711618}"/>
              </a:ext>
            </a:extLst>
          </p:cNvPr>
          <p:cNvSpPr/>
          <p:nvPr/>
        </p:nvSpPr>
        <p:spPr>
          <a:xfrm>
            <a:off x="7335977" y="833333"/>
            <a:ext cx="788999" cy="338554"/>
          </a:xfrm>
          <a:prstGeom prst="rect">
            <a:avLst/>
          </a:prstGeom>
        </p:spPr>
        <p:txBody>
          <a:bodyPr wrap="none">
            <a:spAutoFit/>
          </a:bodyPr>
          <a:lstStyle/>
          <a:p>
            <a:pPr defTabSz="457200">
              <a:buClrTx/>
              <a:buFontTx/>
              <a:buNone/>
            </a:pPr>
            <a:r>
              <a:rPr lang="en-US" sz="1600" kern="1200" dirty="0">
                <a:solidFill>
                  <a:srgbClr val="4F81BD"/>
                </a:solidFill>
                <a:latin typeface="Times New Roman" panose="02020603050405020304" pitchFamily="18" charset="0"/>
                <a:ea typeface="+mn-ea"/>
                <a:cs typeface="Times New Roman" panose="02020603050405020304" pitchFamily="18" charset="0"/>
              </a:rPr>
              <a:t>v  SD[]</a:t>
            </a:r>
          </a:p>
        </p:txBody>
      </p:sp>
      <p:sp>
        <p:nvSpPr>
          <p:cNvPr id="218" name="Rectangle 217">
            <a:extLst>
              <a:ext uri="{FF2B5EF4-FFF2-40B4-BE49-F238E27FC236}">
                <a16:creationId xmlns:a16="http://schemas.microsoft.com/office/drawing/2014/main" id="{4BC38D98-DFC1-CD09-B3C7-AB4ECEAB5619}"/>
              </a:ext>
            </a:extLst>
          </p:cNvPr>
          <p:cNvSpPr/>
          <p:nvPr/>
        </p:nvSpPr>
        <p:spPr>
          <a:xfrm>
            <a:off x="7335977" y="1233767"/>
            <a:ext cx="304221"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2</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3</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4</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6</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7</a:t>
            </a:r>
          </a:p>
        </p:txBody>
      </p:sp>
      <p:cxnSp>
        <p:nvCxnSpPr>
          <p:cNvPr id="219" name="Straight Connector 218">
            <a:extLst>
              <a:ext uri="{FF2B5EF4-FFF2-40B4-BE49-F238E27FC236}">
                <a16:creationId xmlns:a16="http://schemas.microsoft.com/office/drawing/2014/main" id="{BD895017-36B7-2E93-DB7F-9E245201DE7D}"/>
              </a:ext>
            </a:extLst>
          </p:cNvPr>
          <p:cNvCxnSpPr/>
          <p:nvPr/>
        </p:nvCxnSpPr>
        <p:spPr>
          <a:xfrm>
            <a:off x="7289913" y="1179212"/>
            <a:ext cx="1174452" cy="0"/>
          </a:xfrm>
          <a:prstGeom prst="line">
            <a:avLst/>
          </a:prstGeom>
          <a:noFill/>
          <a:ln w="9525" cap="flat" cmpd="sng" algn="ctr">
            <a:solidFill>
              <a:sysClr val="windowText" lastClr="000000">
                <a:shade val="95000"/>
                <a:satMod val="105000"/>
              </a:sysClr>
            </a:solidFill>
            <a:prstDash val="solid"/>
          </a:ln>
          <a:effectLst/>
        </p:spPr>
      </p:cxnSp>
      <mc:AlternateContent xmlns:mc="http://schemas.openxmlformats.org/markup-compatibility/2006" xmlns:a14="http://schemas.microsoft.com/office/drawing/2010/main">
        <mc:Choice Requires="a14">
          <p:sp>
            <p:nvSpPr>
              <p:cNvPr id="220" name="Rectangle 219">
                <a:extLst>
                  <a:ext uri="{FF2B5EF4-FFF2-40B4-BE49-F238E27FC236}">
                    <a16:creationId xmlns:a16="http://schemas.microsoft.com/office/drawing/2014/main" id="{54591220-3DC3-61D6-06EC-DDA81316567C}"/>
                  </a:ext>
                </a:extLst>
              </p:cNvPr>
              <p:cNvSpPr/>
              <p:nvPr/>
            </p:nvSpPr>
            <p:spPr>
              <a:xfrm>
                <a:off x="7841075" y="1204346"/>
                <a:ext cx="304221" cy="1774845"/>
              </a:xfrm>
              <a:prstGeom prst="rect">
                <a:avLst/>
              </a:prstGeom>
              <a:noFill/>
              <a:effectLst/>
            </p:spPr>
            <p:txBody>
              <a:bodyPr wrap="square">
                <a:spAutoFit/>
              </a:bodyPr>
              <a:lstStyle/>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smtClean="0">
                          <a:solidFill>
                            <a:prstClr val="black"/>
                          </a:solidFill>
                          <a:latin typeface="Cambria Math" panose="02040503050406030204" pitchFamily="18" charset="0"/>
                          <a:ea typeface="Cambria Math" panose="02040503050406030204" pitchFamily="18" charset="0"/>
                          <a:cs typeface="Arial Hebrew" pitchFamily="2" charset="-79"/>
                        </a:rPr>
                        <m:t>∞ </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 xmlns:m="http://schemas.openxmlformats.org/officeDocument/2006/math">
                    <m:r>
                      <a:rPr lang="en-US" sz="1200" b="1" i="1" kern="1200" dirty="0" smtClean="0">
                        <a:solidFill>
                          <a:prstClr val="black"/>
                        </a:solidFill>
                        <a:latin typeface="Cambria Math" panose="02040503050406030204" pitchFamily="18" charset="0"/>
                        <a:ea typeface="Cambria Math" panose="02040503050406030204" pitchFamily="18" charset="0"/>
                        <a:cs typeface="Arial Hebrew" pitchFamily="2" charset="-79"/>
                      </a:rPr>
                      <m:t>∞</m:t>
                    </m:r>
                  </m:oMath>
                </a14:m>
                <a:r>
                  <a:rPr lang="en-US" sz="1200" b="1" kern="1200" dirty="0">
                    <a:solidFill>
                      <a:prstClr val="black"/>
                    </a:solidFill>
                    <a:latin typeface="Calibri"/>
                    <a:ea typeface="Cambria Math" panose="02040503050406030204" pitchFamily="18" charset="0"/>
                    <a:cs typeface="Arial Hebrew" pitchFamily="2" charset="-79"/>
                  </a:rPr>
                  <a:t> </a:t>
                </a:r>
                <a14:m>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 </m:t>
                    </m:r>
                  </m:oMath>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kern="1200" dirty="0">
                  <a:solidFill>
                    <a:prstClr val="black"/>
                  </a:solidFill>
                  <a:latin typeface="Times" pitchFamily="2" charset="0"/>
                  <a:ea typeface="+mn-ea"/>
                  <a:cs typeface="Arial Hebrew" pitchFamily="2" charset="-79"/>
                </a:endParaRPr>
              </a:p>
            </p:txBody>
          </p:sp>
        </mc:Choice>
        <mc:Fallback xmlns="">
          <p:sp>
            <p:nvSpPr>
              <p:cNvPr id="220" name="Rectangle 219">
                <a:extLst>
                  <a:ext uri="{FF2B5EF4-FFF2-40B4-BE49-F238E27FC236}">
                    <a16:creationId xmlns:a16="http://schemas.microsoft.com/office/drawing/2014/main" id="{54591220-3DC3-61D6-06EC-DDA81316567C}"/>
                  </a:ext>
                </a:extLst>
              </p:cNvPr>
              <p:cNvSpPr>
                <a:spLocks noRot="1" noChangeAspect="1" noMove="1" noResize="1" noEditPoints="1" noAdjustHandles="1" noChangeArrowheads="1" noChangeShapeType="1" noTextEdit="1"/>
              </p:cNvSpPr>
              <p:nvPr/>
            </p:nvSpPr>
            <p:spPr>
              <a:xfrm>
                <a:off x="7841075" y="1204346"/>
                <a:ext cx="304221" cy="1774845"/>
              </a:xfrm>
              <a:prstGeom prst="rect">
                <a:avLst/>
              </a:prstGeom>
              <a:blipFill>
                <a:blip r:embed="rId3"/>
                <a:stretch>
                  <a:fillRect/>
                </a:stretch>
              </a:blipFill>
              <a:effectLst/>
            </p:spPr>
            <p:txBody>
              <a:bodyPr/>
              <a:lstStyle/>
              <a:p>
                <a:r>
                  <a:rPr lang="en-US">
                    <a:noFill/>
                  </a:rPr>
                  <a:t> </a:t>
                </a:r>
              </a:p>
            </p:txBody>
          </p:sp>
        </mc:Fallback>
      </mc:AlternateContent>
      <p:sp>
        <p:nvSpPr>
          <p:cNvPr id="221" name="Rectangle 220">
            <a:extLst>
              <a:ext uri="{FF2B5EF4-FFF2-40B4-BE49-F238E27FC236}">
                <a16:creationId xmlns:a16="http://schemas.microsoft.com/office/drawing/2014/main" id="{E175A8D4-AEAE-F291-2594-F9F858946689}"/>
              </a:ext>
            </a:extLst>
          </p:cNvPr>
          <p:cNvSpPr/>
          <p:nvPr/>
        </p:nvSpPr>
        <p:spPr>
          <a:xfrm>
            <a:off x="7376967" y="3094579"/>
            <a:ext cx="788999" cy="338554"/>
          </a:xfrm>
          <a:prstGeom prst="rect">
            <a:avLst/>
          </a:prstGeom>
        </p:spPr>
        <p:txBody>
          <a:bodyPr wrap="none">
            <a:spAutoFit/>
          </a:bodyPr>
          <a:lstStyle/>
          <a:p>
            <a:pPr defTabSz="457200">
              <a:buClrTx/>
              <a:buFontTx/>
              <a:buNone/>
            </a:pPr>
            <a:r>
              <a:rPr lang="en-US" sz="1600" kern="1200" dirty="0">
                <a:solidFill>
                  <a:srgbClr val="4F81BD"/>
                </a:solidFill>
                <a:latin typeface="Times New Roman" panose="02020603050405020304" pitchFamily="18" charset="0"/>
                <a:ea typeface="+mn-ea"/>
                <a:cs typeface="Times New Roman" panose="02020603050405020304" pitchFamily="18" charset="0"/>
              </a:rPr>
              <a:t>v  PN[]</a:t>
            </a:r>
          </a:p>
        </p:txBody>
      </p:sp>
      <p:sp>
        <p:nvSpPr>
          <p:cNvPr id="222" name="Rectangle 221">
            <a:extLst>
              <a:ext uri="{FF2B5EF4-FFF2-40B4-BE49-F238E27FC236}">
                <a16:creationId xmlns:a16="http://schemas.microsoft.com/office/drawing/2014/main" id="{036F8D39-4A61-AA4E-EC6E-8FFB9FDD8E1B}"/>
              </a:ext>
            </a:extLst>
          </p:cNvPr>
          <p:cNvSpPr/>
          <p:nvPr/>
        </p:nvSpPr>
        <p:spPr>
          <a:xfrm>
            <a:off x="7376967" y="3486624"/>
            <a:ext cx="304221"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2</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3</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4</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6</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7</a:t>
            </a:r>
          </a:p>
        </p:txBody>
      </p:sp>
      <p:cxnSp>
        <p:nvCxnSpPr>
          <p:cNvPr id="223" name="Straight Connector 222">
            <a:extLst>
              <a:ext uri="{FF2B5EF4-FFF2-40B4-BE49-F238E27FC236}">
                <a16:creationId xmlns:a16="http://schemas.microsoft.com/office/drawing/2014/main" id="{554B694D-1E68-FB8C-3FEE-48303E3BD5C1}"/>
              </a:ext>
            </a:extLst>
          </p:cNvPr>
          <p:cNvCxnSpPr/>
          <p:nvPr/>
        </p:nvCxnSpPr>
        <p:spPr>
          <a:xfrm>
            <a:off x="7330903" y="3432069"/>
            <a:ext cx="1174452" cy="0"/>
          </a:xfrm>
          <a:prstGeom prst="line">
            <a:avLst/>
          </a:prstGeom>
          <a:noFill/>
          <a:ln w="9525" cap="flat" cmpd="sng" algn="ctr">
            <a:solidFill>
              <a:sysClr val="windowText" lastClr="000000">
                <a:shade val="95000"/>
                <a:satMod val="105000"/>
              </a:sysClr>
            </a:solidFill>
            <a:prstDash val="solid"/>
          </a:ln>
          <a:effectLst/>
        </p:spPr>
      </p:cxnSp>
      <p:sp>
        <p:nvSpPr>
          <p:cNvPr id="224" name="Rectangle 223">
            <a:extLst>
              <a:ext uri="{FF2B5EF4-FFF2-40B4-BE49-F238E27FC236}">
                <a16:creationId xmlns:a16="http://schemas.microsoft.com/office/drawing/2014/main" id="{4DC98342-B0A7-6B77-E3AF-DE0C4C711582}"/>
              </a:ext>
            </a:extLst>
          </p:cNvPr>
          <p:cNvSpPr/>
          <p:nvPr/>
        </p:nvSpPr>
        <p:spPr>
          <a:xfrm>
            <a:off x="7882065" y="3465592"/>
            <a:ext cx="304221"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p:txBody>
      </p:sp>
      <p:cxnSp>
        <p:nvCxnSpPr>
          <p:cNvPr id="225" name="Straight Connector 224">
            <a:extLst>
              <a:ext uri="{FF2B5EF4-FFF2-40B4-BE49-F238E27FC236}">
                <a16:creationId xmlns:a16="http://schemas.microsoft.com/office/drawing/2014/main" id="{A663A63C-7723-4479-E92C-56C43542D972}"/>
              </a:ext>
            </a:extLst>
          </p:cNvPr>
          <p:cNvCxnSpPr/>
          <p:nvPr/>
        </p:nvCxnSpPr>
        <p:spPr>
          <a:xfrm>
            <a:off x="7918129" y="1575611"/>
            <a:ext cx="158478" cy="0"/>
          </a:xfrm>
          <a:prstGeom prst="line">
            <a:avLst/>
          </a:prstGeom>
          <a:noFill/>
          <a:ln w="25400" cap="flat" cmpd="sng" algn="ctr">
            <a:solidFill>
              <a:srgbClr val="FF0000"/>
            </a:solidFill>
            <a:prstDash val="solid"/>
          </a:ln>
          <a:effectLst/>
        </p:spPr>
      </p:cxnSp>
      <p:cxnSp>
        <p:nvCxnSpPr>
          <p:cNvPr id="226" name="Straight Connector 225">
            <a:extLst>
              <a:ext uri="{FF2B5EF4-FFF2-40B4-BE49-F238E27FC236}">
                <a16:creationId xmlns:a16="http://schemas.microsoft.com/office/drawing/2014/main" id="{3BB2357E-E643-BA7E-CA28-6EC90480C0FD}"/>
              </a:ext>
            </a:extLst>
          </p:cNvPr>
          <p:cNvCxnSpPr/>
          <p:nvPr/>
        </p:nvCxnSpPr>
        <p:spPr>
          <a:xfrm>
            <a:off x="7920452" y="2786239"/>
            <a:ext cx="158478" cy="0"/>
          </a:xfrm>
          <a:prstGeom prst="line">
            <a:avLst/>
          </a:prstGeom>
          <a:noFill/>
          <a:ln w="25400" cap="flat" cmpd="sng" algn="ctr">
            <a:solidFill>
              <a:srgbClr val="FF0000"/>
            </a:solidFill>
            <a:prstDash val="solid"/>
          </a:ln>
          <a:effectLst/>
        </p:spPr>
      </p:cxnSp>
      <p:cxnSp>
        <p:nvCxnSpPr>
          <p:cNvPr id="227" name="Straight Connector 226">
            <a:extLst>
              <a:ext uri="{FF2B5EF4-FFF2-40B4-BE49-F238E27FC236}">
                <a16:creationId xmlns:a16="http://schemas.microsoft.com/office/drawing/2014/main" id="{FE76345E-913A-52C8-E1AC-E9C9A8CCC83D}"/>
              </a:ext>
            </a:extLst>
          </p:cNvPr>
          <p:cNvCxnSpPr/>
          <p:nvPr/>
        </p:nvCxnSpPr>
        <p:spPr>
          <a:xfrm>
            <a:off x="7920452" y="2172536"/>
            <a:ext cx="158478" cy="0"/>
          </a:xfrm>
          <a:prstGeom prst="line">
            <a:avLst/>
          </a:prstGeom>
          <a:noFill/>
          <a:ln w="25400" cap="flat" cmpd="sng" algn="ctr">
            <a:solidFill>
              <a:srgbClr val="FF0000"/>
            </a:solidFill>
            <a:prstDash val="solid"/>
          </a:ln>
          <a:effectLst/>
        </p:spPr>
      </p:cxnSp>
      <p:sp>
        <p:nvSpPr>
          <p:cNvPr id="228" name="Rectangle 227">
            <a:extLst>
              <a:ext uri="{FF2B5EF4-FFF2-40B4-BE49-F238E27FC236}">
                <a16:creationId xmlns:a16="http://schemas.microsoft.com/office/drawing/2014/main" id="{B53037E5-09AF-5894-C4A5-10308F9EC485}"/>
              </a:ext>
            </a:extLst>
          </p:cNvPr>
          <p:cNvSpPr/>
          <p:nvPr/>
        </p:nvSpPr>
        <p:spPr>
          <a:xfrm>
            <a:off x="8298239" y="1204346"/>
            <a:ext cx="382494"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17</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9</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13</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28</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8</a:t>
            </a:r>
          </a:p>
        </p:txBody>
      </p:sp>
      <p:sp>
        <p:nvSpPr>
          <p:cNvPr id="229" name="Rectangle 228">
            <a:extLst>
              <a:ext uri="{FF2B5EF4-FFF2-40B4-BE49-F238E27FC236}">
                <a16:creationId xmlns:a16="http://schemas.microsoft.com/office/drawing/2014/main" id="{07423DB6-4DDE-FF96-A6D6-1ED6A40C6BE2}"/>
              </a:ext>
            </a:extLst>
          </p:cNvPr>
          <p:cNvSpPr/>
          <p:nvPr/>
        </p:nvSpPr>
        <p:spPr>
          <a:xfrm>
            <a:off x="8298239" y="3486623"/>
            <a:ext cx="304221"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4</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p:txBody>
      </p:sp>
      <p:cxnSp>
        <p:nvCxnSpPr>
          <p:cNvPr id="230" name="Straight Connector 229">
            <a:extLst>
              <a:ext uri="{FF2B5EF4-FFF2-40B4-BE49-F238E27FC236}">
                <a16:creationId xmlns:a16="http://schemas.microsoft.com/office/drawing/2014/main" id="{403BF9A0-2CBF-F0C0-C907-AAB6719F9D4F}"/>
              </a:ext>
            </a:extLst>
          </p:cNvPr>
          <p:cNvCxnSpPr/>
          <p:nvPr/>
        </p:nvCxnSpPr>
        <p:spPr>
          <a:xfrm>
            <a:off x="7934600" y="3814189"/>
            <a:ext cx="158478" cy="0"/>
          </a:xfrm>
          <a:prstGeom prst="line">
            <a:avLst/>
          </a:prstGeom>
          <a:noFill/>
          <a:ln w="25400" cap="flat" cmpd="sng" algn="ctr">
            <a:solidFill>
              <a:srgbClr val="FF0000"/>
            </a:solidFill>
            <a:prstDash val="solid"/>
          </a:ln>
          <a:effectLst/>
        </p:spPr>
      </p:cxnSp>
      <p:cxnSp>
        <p:nvCxnSpPr>
          <p:cNvPr id="231" name="Straight Connector 230">
            <a:extLst>
              <a:ext uri="{FF2B5EF4-FFF2-40B4-BE49-F238E27FC236}">
                <a16:creationId xmlns:a16="http://schemas.microsoft.com/office/drawing/2014/main" id="{A75B0ED1-B95D-08A3-84B2-63739417FCD5}"/>
              </a:ext>
            </a:extLst>
          </p:cNvPr>
          <p:cNvCxnSpPr/>
          <p:nvPr/>
        </p:nvCxnSpPr>
        <p:spPr>
          <a:xfrm>
            <a:off x="7936923" y="5066762"/>
            <a:ext cx="158478" cy="0"/>
          </a:xfrm>
          <a:prstGeom prst="line">
            <a:avLst/>
          </a:prstGeom>
          <a:noFill/>
          <a:ln w="25400" cap="flat" cmpd="sng" algn="ctr">
            <a:solidFill>
              <a:srgbClr val="FF0000"/>
            </a:solidFill>
            <a:prstDash val="solid"/>
          </a:ln>
          <a:effectLst/>
        </p:spPr>
      </p:cxnSp>
      <p:cxnSp>
        <p:nvCxnSpPr>
          <p:cNvPr id="232" name="Straight Connector 231">
            <a:extLst>
              <a:ext uri="{FF2B5EF4-FFF2-40B4-BE49-F238E27FC236}">
                <a16:creationId xmlns:a16="http://schemas.microsoft.com/office/drawing/2014/main" id="{F40584D7-45B9-AD1E-1CD0-9C2E472B588E}"/>
              </a:ext>
            </a:extLst>
          </p:cNvPr>
          <p:cNvCxnSpPr/>
          <p:nvPr/>
        </p:nvCxnSpPr>
        <p:spPr>
          <a:xfrm>
            <a:off x="7936923" y="4444670"/>
            <a:ext cx="158478" cy="0"/>
          </a:xfrm>
          <a:prstGeom prst="line">
            <a:avLst/>
          </a:prstGeom>
          <a:noFill/>
          <a:ln w="25400" cap="flat" cmpd="sng" algn="ctr">
            <a:solidFill>
              <a:srgbClr val="FF0000"/>
            </a:solidFill>
            <a:prstDash val="solid"/>
          </a:ln>
          <a:effectLst/>
        </p:spPr>
      </p:cxnSp>
      <p:cxnSp>
        <p:nvCxnSpPr>
          <p:cNvPr id="233" name="Straight Connector 232">
            <a:extLst>
              <a:ext uri="{FF2B5EF4-FFF2-40B4-BE49-F238E27FC236}">
                <a16:creationId xmlns:a16="http://schemas.microsoft.com/office/drawing/2014/main" id="{B0D36B56-195F-D21D-C1E5-BC6B7D07C7FB}"/>
              </a:ext>
            </a:extLst>
          </p:cNvPr>
          <p:cNvCxnSpPr/>
          <p:nvPr/>
        </p:nvCxnSpPr>
        <p:spPr>
          <a:xfrm>
            <a:off x="7918129" y="1970092"/>
            <a:ext cx="158478" cy="0"/>
          </a:xfrm>
          <a:prstGeom prst="line">
            <a:avLst/>
          </a:prstGeom>
          <a:noFill/>
          <a:ln w="25400" cap="flat" cmpd="sng" algn="ctr">
            <a:solidFill>
              <a:srgbClr val="FF0000"/>
            </a:solidFill>
            <a:prstDash val="solid"/>
          </a:ln>
          <a:effectLst/>
        </p:spPr>
      </p:cxnSp>
      <p:cxnSp>
        <p:nvCxnSpPr>
          <p:cNvPr id="234" name="Straight Connector 233">
            <a:extLst>
              <a:ext uri="{FF2B5EF4-FFF2-40B4-BE49-F238E27FC236}">
                <a16:creationId xmlns:a16="http://schemas.microsoft.com/office/drawing/2014/main" id="{59FE8E67-E524-8520-4122-50077D52376D}"/>
              </a:ext>
            </a:extLst>
          </p:cNvPr>
          <p:cNvCxnSpPr/>
          <p:nvPr/>
        </p:nvCxnSpPr>
        <p:spPr>
          <a:xfrm>
            <a:off x="7918129" y="1764439"/>
            <a:ext cx="158478" cy="0"/>
          </a:xfrm>
          <a:prstGeom prst="line">
            <a:avLst/>
          </a:prstGeom>
          <a:noFill/>
          <a:ln w="25400" cap="flat" cmpd="sng" algn="ctr">
            <a:solidFill>
              <a:srgbClr val="FF0000"/>
            </a:solidFill>
            <a:prstDash val="solid"/>
          </a:ln>
          <a:effectLst/>
        </p:spPr>
      </p:cxnSp>
      <p:cxnSp>
        <p:nvCxnSpPr>
          <p:cNvPr id="235" name="Straight Connector 234">
            <a:extLst>
              <a:ext uri="{FF2B5EF4-FFF2-40B4-BE49-F238E27FC236}">
                <a16:creationId xmlns:a16="http://schemas.microsoft.com/office/drawing/2014/main" id="{9FC7FCA5-B876-3300-FCCC-D477915D16FA}"/>
              </a:ext>
            </a:extLst>
          </p:cNvPr>
          <p:cNvCxnSpPr/>
          <p:nvPr/>
        </p:nvCxnSpPr>
        <p:spPr>
          <a:xfrm>
            <a:off x="7934600" y="4027120"/>
            <a:ext cx="158478" cy="0"/>
          </a:xfrm>
          <a:prstGeom prst="line">
            <a:avLst/>
          </a:prstGeom>
          <a:noFill/>
          <a:ln w="25400" cap="flat" cmpd="sng" algn="ctr">
            <a:solidFill>
              <a:srgbClr val="FF0000"/>
            </a:solidFill>
            <a:prstDash val="solid"/>
          </a:ln>
          <a:effectLst/>
        </p:spPr>
      </p:cxnSp>
      <p:cxnSp>
        <p:nvCxnSpPr>
          <p:cNvPr id="236" name="Straight Connector 235">
            <a:extLst>
              <a:ext uri="{FF2B5EF4-FFF2-40B4-BE49-F238E27FC236}">
                <a16:creationId xmlns:a16="http://schemas.microsoft.com/office/drawing/2014/main" id="{D763D40A-0DB7-DBF3-5501-7D712145423D}"/>
              </a:ext>
            </a:extLst>
          </p:cNvPr>
          <p:cNvCxnSpPr/>
          <p:nvPr/>
        </p:nvCxnSpPr>
        <p:spPr>
          <a:xfrm>
            <a:off x="7934600" y="4235868"/>
            <a:ext cx="158478" cy="0"/>
          </a:xfrm>
          <a:prstGeom prst="line">
            <a:avLst/>
          </a:prstGeom>
          <a:noFill/>
          <a:ln w="25400" cap="flat" cmpd="sng" algn="ctr">
            <a:solidFill>
              <a:srgbClr val="FF0000"/>
            </a:solidFill>
            <a:prstDash val="solid"/>
          </a:ln>
          <a:effectLst/>
        </p:spPr>
      </p:cxnSp>
      <p:sp>
        <p:nvSpPr>
          <p:cNvPr id="237" name="Rectangle 236">
            <a:extLst>
              <a:ext uri="{FF2B5EF4-FFF2-40B4-BE49-F238E27FC236}">
                <a16:creationId xmlns:a16="http://schemas.microsoft.com/office/drawing/2014/main" id="{59929F09-3726-752E-97D4-D5142100A760}"/>
              </a:ext>
            </a:extLst>
          </p:cNvPr>
          <p:cNvSpPr/>
          <p:nvPr/>
        </p:nvSpPr>
        <p:spPr>
          <a:xfrm>
            <a:off x="8669755" y="1204345"/>
            <a:ext cx="382494"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14</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17</a:t>
            </a: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26</a:t>
            </a: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p:txBody>
      </p:sp>
      <p:cxnSp>
        <p:nvCxnSpPr>
          <p:cNvPr id="238" name="Straight Connector 237">
            <a:extLst>
              <a:ext uri="{FF2B5EF4-FFF2-40B4-BE49-F238E27FC236}">
                <a16:creationId xmlns:a16="http://schemas.microsoft.com/office/drawing/2014/main" id="{4E586508-7226-0B34-033A-63ADDF1BD38A}"/>
              </a:ext>
            </a:extLst>
          </p:cNvPr>
          <p:cNvCxnSpPr/>
          <p:nvPr/>
        </p:nvCxnSpPr>
        <p:spPr>
          <a:xfrm>
            <a:off x="7920452" y="2384936"/>
            <a:ext cx="158478" cy="0"/>
          </a:xfrm>
          <a:prstGeom prst="line">
            <a:avLst/>
          </a:prstGeom>
          <a:noFill/>
          <a:ln w="25400" cap="flat" cmpd="sng" algn="ctr">
            <a:solidFill>
              <a:srgbClr val="FF0000"/>
            </a:solidFill>
            <a:prstDash val="solid"/>
          </a:ln>
          <a:effectLst/>
        </p:spPr>
      </p:cxnSp>
      <p:cxnSp>
        <p:nvCxnSpPr>
          <p:cNvPr id="239" name="Straight Connector 238">
            <a:extLst>
              <a:ext uri="{FF2B5EF4-FFF2-40B4-BE49-F238E27FC236}">
                <a16:creationId xmlns:a16="http://schemas.microsoft.com/office/drawing/2014/main" id="{917D96AD-B176-55B8-6164-891CA54F1415}"/>
              </a:ext>
            </a:extLst>
          </p:cNvPr>
          <p:cNvCxnSpPr/>
          <p:nvPr/>
        </p:nvCxnSpPr>
        <p:spPr>
          <a:xfrm>
            <a:off x="8385126" y="1764439"/>
            <a:ext cx="158478" cy="0"/>
          </a:xfrm>
          <a:prstGeom prst="line">
            <a:avLst/>
          </a:prstGeom>
          <a:noFill/>
          <a:ln w="25400" cap="flat" cmpd="sng" algn="ctr">
            <a:solidFill>
              <a:srgbClr val="FF0000"/>
            </a:solidFill>
            <a:prstDash val="solid"/>
          </a:ln>
          <a:effectLst/>
        </p:spPr>
      </p:cxnSp>
      <p:cxnSp>
        <p:nvCxnSpPr>
          <p:cNvPr id="240" name="Straight Connector 239">
            <a:extLst>
              <a:ext uri="{FF2B5EF4-FFF2-40B4-BE49-F238E27FC236}">
                <a16:creationId xmlns:a16="http://schemas.microsoft.com/office/drawing/2014/main" id="{D0DEEE28-EF4E-6BA7-D356-DBC812CEC65F}"/>
              </a:ext>
            </a:extLst>
          </p:cNvPr>
          <p:cNvCxnSpPr/>
          <p:nvPr/>
        </p:nvCxnSpPr>
        <p:spPr>
          <a:xfrm>
            <a:off x="7941448" y="4644847"/>
            <a:ext cx="158478" cy="0"/>
          </a:xfrm>
          <a:prstGeom prst="line">
            <a:avLst/>
          </a:prstGeom>
          <a:noFill/>
          <a:ln w="25400" cap="flat" cmpd="sng" algn="ctr">
            <a:solidFill>
              <a:srgbClr val="FF0000"/>
            </a:solidFill>
            <a:prstDash val="solid"/>
          </a:ln>
          <a:effectLst/>
        </p:spPr>
      </p:cxnSp>
      <p:cxnSp>
        <p:nvCxnSpPr>
          <p:cNvPr id="241" name="Straight Connector 240">
            <a:extLst>
              <a:ext uri="{FF2B5EF4-FFF2-40B4-BE49-F238E27FC236}">
                <a16:creationId xmlns:a16="http://schemas.microsoft.com/office/drawing/2014/main" id="{200FC34D-5141-99A3-01D6-55A9520DE4F3}"/>
              </a:ext>
            </a:extLst>
          </p:cNvPr>
          <p:cNvCxnSpPr/>
          <p:nvPr/>
        </p:nvCxnSpPr>
        <p:spPr>
          <a:xfrm>
            <a:off x="8346877" y="4022954"/>
            <a:ext cx="158478" cy="0"/>
          </a:xfrm>
          <a:prstGeom prst="line">
            <a:avLst/>
          </a:prstGeom>
          <a:noFill/>
          <a:ln w="25400" cap="flat" cmpd="sng" algn="ctr">
            <a:solidFill>
              <a:srgbClr val="FF0000"/>
            </a:solidFill>
            <a:prstDash val="solid"/>
          </a:ln>
          <a:effectLst/>
        </p:spPr>
      </p:cxnSp>
      <p:sp>
        <p:nvSpPr>
          <p:cNvPr id="242" name="Rectangle 241">
            <a:extLst>
              <a:ext uri="{FF2B5EF4-FFF2-40B4-BE49-F238E27FC236}">
                <a16:creationId xmlns:a16="http://schemas.microsoft.com/office/drawing/2014/main" id="{FC076B2A-BE23-9EF7-279E-172722D7E36A}"/>
              </a:ext>
            </a:extLst>
          </p:cNvPr>
          <p:cNvSpPr/>
          <p:nvPr/>
        </p:nvSpPr>
        <p:spPr>
          <a:xfrm>
            <a:off x="8602460" y="3484109"/>
            <a:ext cx="304221"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a:t>
            </a: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5</a:t>
            </a: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p:txBody>
      </p:sp>
      <p:cxnSp>
        <p:nvCxnSpPr>
          <p:cNvPr id="243" name="Straight Connector 242">
            <a:extLst>
              <a:ext uri="{FF2B5EF4-FFF2-40B4-BE49-F238E27FC236}">
                <a16:creationId xmlns:a16="http://schemas.microsoft.com/office/drawing/2014/main" id="{0242BA9F-546B-B579-58C1-987C97CED21C}"/>
              </a:ext>
            </a:extLst>
          </p:cNvPr>
          <p:cNvCxnSpPr/>
          <p:nvPr/>
        </p:nvCxnSpPr>
        <p:spPr>
          <a:xfrm>
            <a:off x="7918129" y="2597299"/>
            <a:ext cx="158478" cy="0"/>
          </a:xfrm>
          <a:prstGeom prst="line">
            <a:avLst/>
          </a:prstGeom>
          <a:noFill/>
          <a:ln w="25400" cap="flat" cmpd="sng" algn="ctr">
            <a:solidFill>
              <a:srgbClr val="FF0000"/>
            </a:solidFill>
            <a:prstDash val="solid"/>
          </a:ln>
          <a:effectLst/>
        </p:spPr>
      </p:cxnSp>
      <p:cxnSp>
        <p:nvCxnSpPr>
          <p:cNvPr id="244" name="Straight Connector 243">
            <a:extLst>
              <a:ext uri="{FF2B5EF4-FFF2-40B4-BE49-F238E27FC236}">
                <a16:creationId xmlns:a16="http://schemas.microsoft.com/office/drawing/2014/main" id="{4EFF0E15-F853-9C85-7389-0AEE50A8B175}"/>
              </a:ext>
            </a:extLst>
          </p:cNvPr>
          <p:cNvCxnSpPr/>
          <p:nvPr/>
        </p:nvCxnSpPr>
        <p:spPr>
          <a:xfrm>
            <a:off x="7950112" y="4857210"/>
            <a:ext cx="158478" cy="0"/>
          </a:xfrm>
          <a:prstGeom prst="line">
            <a:avLst/>
          </a:prstGeom>
          <a:noFill/>
          <a:ln w="25400" cap="flat" cmpd="sng" algn="ctr">
            <a:solidFill>
              <a:srgbClr val="FF0000"/>
            </a:solidFill>
            <a:prstDash val="solid"/>
          </a:ln>
          <a:effectLst/>
        </p:spPr>
      </p:cxnSp>
      <p:cxnSp>
        <p:nvCxnSpPr>
          <p:cNvPr id="245" name="Straight Connector 244">
            <a:extLst>
              <a:ext uri="{FF2B5EF4-FFF2-40B4-BE49-F238E27FC236}">
                <a16:creationId xmlns:a16="http://schemas.microsoft.com/office/drawing/2014/main" id="{8F3869B0-1CDE-902E-9905-6168F13CA789}"/>
              </a:ext>
            </a:extLst>
          </p:cNvPr>
          <p:cNvCxnSpPr>
            <a:cxnSpLocks/>
          </p:cNvCxnSpPr>
          <p:nvPr/>
        </p:nvCxnSpPr>
        <p:spPr>
          <a:xfrm>
            <a:off x="7908505" y="1342128"/>
            <a:ext cx="158478" cy="0"/>
          </a:xfrm>
          <a:prstGeom prst="line">
            <a:avLst/>
          </a:prstGeom>
          <a:noFill/>
          <a:ln w="25400" cap="flat" cmpd="sng" algn="ctr">
            <a:solidFill>
              <a:srgbClr val="FF0000"/>
            </a:solidFill>
            <a:prstDash val="solid"/>
          </a:ln>
          <a:effectLst/>
        </p:spPr>
      </p:cxnSp>
      <p:cxnSp>
        <p:nvCxnSpPr>
          <p:cNvPr id="246" name="Straight Connector 245">
            <a:extLst>
              <a:ext uri="{FF2B5EF4-FFF2-40B4-BE49-F238E27FC236}">
                <a16:creationId xmlns:a16="http://schemas.microsoft.com/office/drawing/2014/main" id="{AE8C4642-05B9-8676-D3E0-2F155A5AE2CC}"/>
              </a:ext>
            </a:extLst>
          </p:cNvPr>
          <p:cNvCxnSpPr/>
          <p:nvPr/>
        </p:nvCxnSpPr>
        <p:spPr>
          <a:xfrm>
            <a:off x="8371110" y="2592980"/>
            <a:ext cx="158478" cy="0"/>
          </a:xfrm>
          <a:prstGeom prst="line">
            <a:avLst/>
          </a:prstGeom>
          <a:noFill/>
          <a:ln w="25400" cap="flat" cmpd="sng" algn="ctr">
            <a:solidFill>
              <a:srgbClr val="FF0000"/>
            </a:solidFill>
            <a:prstDash val="solid"/>
          </a:ln>
          <a:effectLst/>
        </p:spPr>
      </p:cxnSp>
      <p:sp>
        <p:nvSpPr>
          <p:cNvPr id="247" name="Rectangle 246">
            <a:extLst>
              <a:ext uri="{FF2B5EF4-FFF2-40B4-BE49-F238E27FC236}">
                <a16:creationId xmlns:a16="http://schemas.microsoft.com/office/drawing/2014/main" id="{638131C8-FFCB-CA77-B5B5-24657C971446}"/>
              </a:ext>
            </a:extLst>
          </p:cNvPr>
          <p:cNvSpPr/>
          <p:nvPr/>
        </p:nvSpPr>
        <p:spPr>
          <a:xfrm>
            <a:off x="8971048" y="1204344"/>
            <a:ext cx="382494"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25</a:t>
            </a: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p:txBody>
      </p:sp>
      <p:cxnSp>
        <p:nvCxnSpPr>
          <p:cNvPr id="248" name="Straight Connector 247">
            <a:extLst>
              <a:ext uri="{FF2B5EF4-FFF2-40B4-BE49-F238E27FC236}">
                <a16:creationId xmlns:a16="http://schemas.microsoft.com/office/drawing/2014/main" id="{7D4E57E9-3A90-C3D7-D4E8-786866C9E176}"/>
              </a:ext>
            </a:extLst>
          </p:cNvPr>
          <p:cNvCxnSpPr/>
          <p:nvPr/>
        </p:nvCxnSpPr>
        <p:spPr>
          <a:xfrm>
            <a:off x="8352967" y="4863663"/>
            <a:ext cx="158478" cy="0"/>
          </a:xfrm>
          <a:prstGeom prst="line">
            <a:avLst/>
          </a:prstGeom>
          <a:noFill/>
          <a:ln w="25400" cap="flat" cmpd="sng" algn="ctr">
            <a:solidFill>
              <a:srgbClr val="FF0000"/>
            </a:solidFill>
            <a:prstDash val="solid"/>
          </a:ln>
          <a:effectLst/>
        </p:spPr>
      </p:cxnSp>
      <p:sp>
        <p:nvSpPr>
          <p:cNvPr id="249" name="Rectangle 248">
            <a:extLst>
              <a:ext uri="{FF2B5EF4-FFF2-40B4-BE49-F238E27FC236}">
                <a16:creationId xmlns:a16="http://schemas.microsoft.com/office/drawing/2014/main" id="{7BECC633-4C7D-D864-8083-2CA2CD04C24A}"/>
              </a:ext>
            </a:extLst>
          </p:cNvPr>
          <p:cNvSpPr/>
          <p:nvPr/>
        </p:nvSpPr>
        <p:spPr>
          <a:xfrm>
            <a:off x="8855417" y="3476365"/>
            <a:ext cx="304221" cy="1538883"/>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a:t>
            </a:r>
          </a:p>
        </p:txBody>
      </p:sp>
      <p:cxnSp>
        <p:nvCxnSpPr>
          <p:cNvPr id="250" name="Straight Connector 249">
            <a:extLst>
              <a:ext uri="{FF2B5EF4-FFF2-40B4-BE49-F238E27FC236}">
                <a16:creationId xmlns:a16="http://schemas.microsoft.com/office/drawing/2014/main" id="{49511E8C-CCE6-150E-79FB-CD43C6E66C58}"/>
              </a:ext>
            </a:extLst>
          </p:cNvPr>
          <p:cNvCxnSpPr/>
          <p:nvPr/>
        </p:nvCxnSpPr>
        <p:spPr>
          <a:xfrm>
            <a:off x="8754570" y="2579794"/>
            <a:ext cx="158478" cy="0"/>
          </a:xfrm>
          <a:prstGeom prst="line">
            <a:avLst/>
          </a:prstGeom>
          <a:noFill/>
          <a:ln w="25400" cap="flat" cmpd="sng" algn="ctr">
            <a:solidFill>
              <a:srgbClr val="FF0000"/>
            </a:solidFill>
            <a:prstDash val="solid"/>
          </a:ln>
          <a:effectLst/>
        </p:spPr>
      </p:cxnSp>
      <p:cxnSp>
        <p:nvCxnSpPr>
          <p:cNvPr id="251" name="Straight Connector 250">
            <a:extLst>
              <a:ext uri="{FF2B5EF4-FFF2-40B4-BE49-F238E27FC236}">
                <a16:creationId xmlns:a16="http://schemas.microsoft.com/office/drawing/2014/main" id="{35544F66-B9CC-24C3-C940-BCAE278B535C}"/>
              </a:ext>
            </a:extLst>
          </p:cNvPr>
          <p:cNvCxnSpPr/>
          <p:nvPr/>
        </p:nvCxnSpPr>
        <p:spPr>
          <a:xfrm>
            <a:off x="8389957" y="1954292"/>
            <a:ext cx="158478" cy="0"/>
          </a:xfrm>
          <a:prstGeom prst="line">
            <a:avLst/>
          </a:prstGeom>
          <a:noFill/>
          <a:ln w="25400" cap="flat" cmpd="sng" algn="ctr">
            <a:solidFill>
              <a:srgbClr val="FF0000"/>
            </a:solidFill>
            <a:prstDash val="solid"/>
          </a:ln>
          <a:effectLst/>
        </p:spPr>
      </p:cxnSp>
      <p:cxnSp>
        <p:nvCxnSpPr>
          <p:cNvPr id="252" name="Straight Connector 251">
            <a:extLst>
              <a:ext uri="{FF2B5EF4-FFF2-40B4-BE49-F238E27FC236}">
                <a16:creationId xmlns:a16="http://schemas.microsoft.com/office/drawing/2014/main" id="{91AF3E80-49B8-6F16-23EC-D615BF2E95CB}"/>
              </a:ext>
            </a:extLst>
          </p:cNvPr>
          <p:cNvCxnSpPr/>
          <p:nvPr/>
        </p:nvCxnSpPr>
        <p:spPr>
          <a:xfrm>
            <a:off x="8635759" y="4865599"/>
            <a:ext cx="158478" cy="0"/>
          </a:xfrm>
          <a:prstGeom prst="line">
            <a:avLst/>
          </a:prstGeom>
          <a:noFill/>
          <a:ln w="25400" cap="flat" cmpd="sng" algn="ctr">
            <a:solidFill>
              <a:srgbClr val="FF0000"/>
            </a:solidFill>
            <a:prstDash val="solid"/>
          </a:ln>
          <a:effectLst/>
        </p:spPr>
      </p:cxnSp>
      <p:cxnSp>
        <p:nvCxnSpPr>
          <p:cNvPr id="253" name="Straight Connector 252">
            <a:extLst>
              <a:ext uri="{FF2B5EF4-FFF2-40B4-BE49-F238E27FC236}">
                <a16:creationId xmlns:a16="http://schemas.microsoft.com/office/drawing/2014/main" id="{F6999CF0-834D-395D-FDCB-DA91EF79AE3C}"/>
              </a:ext>
            </a:extLst>
          </p:cNvPr>
          <p:cNvCxnSpPr/>
          <p:nvPr/>
        </p:nvCxnSpPr>
        <p:spPr>
          <a:xfrm>
            <a:off x="8343135" y="4244257"/>
            <a:ext cx="158478" cy="0"/>
          </a:xfrm>
          <a:prstGeom prst="line">
            <a:avLst/>
          </a:prstGeom>
          <a:noFill/>
          <a:ln w="25400" cap="flat" cmpd="sng" algn="ctr">
            <a:solidFill>
              <a:srgbClr val="FF0000"/>
            </a:solidFill>
            <a:prstDash val="solid"/>
          </a:ln>
          <a:effectLst/>
        </p:spPr>
      </p:cxnSp>
      <p:sp>
        <p:nvSpPr>
          <p:cNvPr id="255" name="TextBox 254">
            <a:extLst>
              <a:ext uri="{FF2B5EF4-FFF2-40B4-BE49-F238E27FC236}">
                <a16:creationId xmlns:a16="http://schemas.microsoft.com/office/drawing/2014/main" id="{6273343B-83B2-749D-F768-2A3312CCECD1}"/>
              </a:ext>
            </a:extLst>
          </p:cNvPr>
          <p:cNvSpPr txBox="1"/>
          <p:nvPr/>
        </p:nvSpPr>
        <p:spPr>
          <a:xfrm>
            <a:off x="1846438" y="5176933"/>
            <a:ext cx="654346" cy="338554"/>
          </a:xfrm>
          <a:prstGeom prst="rect">
            <a:avLst/>
          </a:prstGeom>
          <a:noFill/>
        </p:spPr>
        <p:txBody>
          <a:bodyPr wrap="none" rtlCol="0">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Iter 1</a:t>
            </a:r>
          </a:p>
        </p:txBody>
      </p:sp>
      <p:sp>
        <p:nvSpPr>
          <p:cNvPr id="256" name="TextBox 255">
            <a:extLst>
              <a:ext uri="{FF2B5EF4-FFF2-40B4-BE49-F238E27FC236}">
                <a16:creationId xmlns:a16="http://schemas.microsoft.com/office/drawing/2014/main" id="{4A9FDB1A-93A1-CB20-0E3D-AD0115265F45}"/>
              </a:ext>
            </a:extLst>
          </p:cNvPr>
          <p:cNvSpPr txBox="1"/>
          <p:nvPr/>
        </p:nvSpPr>
        <p:spPr>
          <a:xfrm>
            <a:off x="2584618" y="5176933"/>
            <a:ext cx="654346" cy="338554"/>
          </a:xfrm>
          <a:prstGeom prst="rect">
            <a:avLst/>
          </a:prstGeom>
          <a:noFill/>
        </p:spPr>
        <p:txBody>
          <a:bodyPr wrap="none" rtlCol="0">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Iter 2</a:t>
            </a:r>
          </a:p>
        </p:txBody>
      </p:sp>
      <p:sp>
        <p:nvSpPr>
          <p:cNvPr id="257" name="TextBox 256">
            <a:extLst>
              <a:ext uri="{FF2B5EF4-FFF2-40B4-BE49-F238E27FC236}">
                <a16:creationId xmlns:a16="http://schemas.microsoft.com/office/drawing/2014/main" id="{7F9FE3E7-1503-19E5-0C6A-76480E0C72A3}"/>
              </a:ext>
            </a:extLst>
          </p:cNvPr>
          <p:cNvSpPr txBox="1"/>
          <p:nvPr/>
        </p:nvSpPr>
        <p:spPr>
          <a:xfrm>
            <a:off x="3322798" y="5176933"/>
            <a:ext cx="654346" cy="338554"/>
          </a:xfrm>
          <a:prstGeom prst="rect">
            <a:avLst/>
          </a:prstGeom>
          <a:noFill/>
        </p:spPr>
        <p:txBody>
          <a:bodyPr wrap="none" rtlCol="0">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Iter 3</a:t>
            </a:r>
          </a:p>
        </p:txBody>
      </p:sp>
      <p:sp>
        <p:nvSpPr>
          <p:cNvPr id="258" name="Rectangle 257">
            <a:extLst>
              <a:ext uri="{FF2B5EF4-FFF2-40B4-BE49-F238E27FC236}">
                <a16:creationId xmlns:a16="http://schemas.microsoft.com/office/drawing/2014/main" id="{0B04E27E-6730-A43C-F923-FF7A349CF77A}"/>
              </a:ext>
            </a:extLst>
          </p:cNvPr>
          <p:cNvSpPr/>
          <p:nvPr/>
        </p:nvSpPr>
        <p:spPr>
          <a:xfrm>
            <a:off x="4060979" y="5176933"/>
            <a:ext cx="4352474" cy="338554"/>
          </a:xfrm>
          <a:prstGeom prst="rect">
            <a:avLst/>
          </a:prstGeom>
        </p:spPr>
        <p:txBody>
          <a:bodyPr wrap="none">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(converged, no further changes, so stop here)</a:t>
            </a:r>
            <a:endParaRPr lang="en-US" sz="1600" kern="1200" dirty="0">
              <a:solidFill>
                <a:prstClr val="black"/>
              </a:solidFill>
              <a:latin typeface="Calibri"/>
              <a:ea typeface="+mn-ea"/>
              <a:cs typeface="+mn-cs"/>
            </a:endParaRPr>
          </a:p>
        </p:txBody>
      </p:sp>
      <p:sp>
        <p:nvSpPr>
          <p:cNvPr id="4" name="TextBox 3">
            <a:extLst>
              <a:ext uri="{FF2B5EF4-FFF2-40B4-BE49-F238E27FC236}">
                <a16:creationId xmlns:a16="http://schemas.microsoft.com/office/drawing/2014/main" id="{89C9429B-C94B-EC5F-C249-DE3878AAC686}"/>
              </a:ext>
            </a:extLst>
          </p:cNvPr>
          <p:cNvSpPr txBox="1"/>
          <p:nvPr/>
        </p:nvSpPr>
        <p:spPr>
          <a:xfrm>
            <a:off x="2570547" y="5777036"/>
            <a:ext cx="6644245"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0, 1, 2, 3, 4, 5, 6, 7 in this example.</a:t>
            </a:r>
          </a:p>
          <a:p>
            <a:r>
              <a:rPr lang="en-GB" sz="1800" kern="1200" dirty="0">
                <a:solidFill>
                  <a:srgbClr val="273239"/>
                </a:solidFill>
                <a:cs typeface="Times New Roman" panose="02020603050405020304" pitchFamily="18" charset="0"/>
              </a:rPr>
              <a:t>Reverse order of edge relaxations will result in slower convergence, but does not affect correctness</a:t>
            </a:r>
            <a:r>
              <a:rPr lang="en-US" sz="1800" dirty="0"/>
              <a:t> </a:t>
            </a:r>
            <a:endParaRPr lang="en-SE" sz="1800" dirty="0"/>
          </a:p>
        </p:txBody>
      </p:sp>
    </p:spTree>
    <p:extLst>
      <p:ext uri="{BB962C8B-B14F-4D97-AF65-F5344CB8AC3E}">
        <p14:creationId xmlns:p14="http://schemas.microsoft.com/office/powerpoint/2010/main" val="3956075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dissolve">
                                      <p:cBhvr>
                                        <p:cTn id="7" dur="500"/>
                                        <p:tgtEl>
                                          <p:spTgt spid="177"/>
                                        </p:tgtEl>
                                      </p:cBhvr>
                                    </p:animEffect>
                                  </p:childTnLst>
                                </p:cTn>
                              </p:par>
                              <p:par>
                                <p:cTn id="8" presetID="9" presetClass="entr" presetSubtype="0" fill="hold" nodeType="withEffect">
                                  <p:stCondLst>
                                    <p:cond delay="0"/>
                                  </p:stCondLst>
                                  <p:childTnLst>
                                    <p:set>
                                      <p:cBhvr>
                                        <p:cTn id="9" dur="1" fill="hold">
                                          <p:stCondLst>
                                            <p:cond delay="0"/>
                                          </p:stCondLst>
                                        </p:cTn>
                                        <p:tgtEl>
                                          <p:spTgt spid="178"/>
                                        </p:tgtEl>
                                        <p:attrNameLst>
                                          <p:attrName>style.visibility</p:attrName>
                                        </p:attrNameLst>
                                      </p:cBhvr>
                                      <p:to>
                                        <p:strVal val="visible"/>
                                      </p:to>
                                    </p:set>
                                    <p:animEffect transition="in" filter="dissolve">
                                      <p:cBhvr>
                                        <p:cTn id="10" dur="500"/>
                                        <p:tgtEl>
                                          <p:spTgt spid="178"/>
                                        </p:tgtEl>
                                      </p:cBhvr>
                                    </p:animEffect>
                                  </p:childTnLst>
                                </p:cTn>
                              </p:par>
                              <p:par>
                                <p:cTn id="11" presetID="9" presetClass="entr" presetSubtype="0" fill="hold" nodeType="withEffect">
                                  <p:stCondLst>
                                    <p:cond delay="0"/>
                                  </p:stCondLst>
                                  <p:childTnLst>
                                    <p:set>
                                      <p:cBhvr>
                                        <p:cTn id="12" dur="1" fill="hold">
                                          <p:stCondLst>
                                            <p:cond delay="0"/>
                                          </p:stCondLst>
                                        </p:cTn>
                                        <p:tgtEl>
                                          <p:spTgt spid="179"/>
                                        </p:tgtEl>
                                        <p:attrNameLst>
                                          <p:attrName>style.visibility</p:attrName>
                                        </p:attrNameLst>
                                      </p:cBhvr>
                                      <p:to>
                                        <p:strVal val="visible"/>
                                      </p:to>
                                    </p:set>
                                    <p:animEffect transition="in" filter="dissolve">
                                      <p:cBhvr>
                                        <p:cTn id="13" dur="500"/>
                                        <p:tgtEl>
                                          <p:spTgt spid="179"/>
                                        </p:tgtEl>
                                      </p:cBhvr>
                                    </p:animEffect>
                                  </p:childTnLst>
                                </p:cTn>
                              </p:par>
                              <p:par>
                                <p:cTn id="14" presetID="9" presetClass="entr" presetSubtype="0" fill="hold" nodeType="withEffect">
                                  <p:stCondLst>
                                    <p:cond delay="0"/>
                                  </p:stCondLst>
                                  <p:childTnLst>
                                    <p:set>
                                      <p:cBhvr>
                                        <p:cTn id="15" dur="1" fill="hold">
                                          <p:stCondLst>
                                            <p:cond delay="0"/>
                                          </p:stCondLst>
                                        </p:cTn>
                                        <p:tgtEl>
                                          <p:spTgt spid="180"/>
                                        </p:tgtEl>
                                        <p:attrNameLst>
                                          <p:attrName>style.visibility</p:attrName>
                                        </p:attrNameLst>
                                      </p:cBhvr>
                                      <p:to>
                                        <p:strVal val="visible"/>
                                      </p:to>
                                    </p:set>
                                    <p:animEffect transition="in" filter="dissolve">
                                      <p:cBhvr>
                                        <p:cTn id="16" dur="500"/>
                                        <p:tgtEl>
                                          <p:spTgt spid="180"/>
                                        </p:tgtEl>
                                      </p:cBhvr>
                                    </p:animEffect>
                                  </p:childTnLst>
                                </p:cTn>
                              </p:par>
                              <p:par>
                                <p:cTn id="17" presetID="9" presetClass="entr" presetSubtype="0" fill="hold" nodeType="withEffect">
                                  <p:stCondLst>
                                    <p:cond delay="0"/>
                                  </p:stCondLst>
                                  <p:childTnLst>
                                    <p:set>
                                      <p:cBhvr>
                                        <p:cTn id="18" dur="1" fill="hold">
                                          <p:stCondLst>
                                            <p:cond delay="0"/>
                                          </p:stCondLst>
                                        </p:cTn>
                                        <p:tgtEl>
                                          <p:spTgt spid="181"/>
                                        </p:tgtEl>
                                        <p:attrNameLst>
                                          <p:attrName>style.visibility</p:attrName>
                                        </p:attrNameLst>
                                      </p:cBhvr>
                                      <p:to>
                                        <p:strVal val="visible"/>
                                      </p:to>
                                    </p:set>
                                    <p:animEffect transition="in" filter="dissolve">
                                      <p:cBhvr>
                                        <p:cTn id="19" dur="500"/>
                                        <p:tgtEl>
                                          <p:spTgt spid="181"/>
                                        </p:tgtEl>
                                      </p:cBhvr>
                                    </p:animEffect>
                                  </p:childTnLst>
                                </p:cTn>
                              </p:par>
                              <p:par>
                                <p:cTn id="20" presetID="9" presetClass="entr" presetSubtype="0" fill="hold" nodeType="withEffect">
                                  <p:stCondLst>
                                    <p:cond delay="0"/>
                                  </p:stCondLst>
                                  <p:childTnLst>
                                    <p:set>
                                      <p:cBhvr>
                                        <p:cTn id="21" dur="1" fill="hold">
                                          <p:stCondLst>
                                            <p:cond delay="0"/>
                                          </p:stCondLst>
                                        </p:cTn>
                                        <p:tgtEl>
                                          <p:spTgt spid="182"/>
                                        </p:tgtEl>
                                        <p:attrNameLst>
                                          <p:attrName>style.visibility</p:attrName>
                                        </p:attrNameLst>
                                      </p:cBhvr>
                                      <p:to>
                                        <p:strVal val="visible"/>
                                      </p:to>
                                    </p:set>
                                    <p:animEffect transition="in" filter="dissolve">
                                      <p:cBhvr>
                                        <p:cTn id="22" dur="500"/>
                                        <p:tgtEl>
                                          <p:spTgt spid="182"/>
                                        </p:tgtEl>
                                      </p:cBhvr>
                                    </p:animEffect>
                                  </p:childTnLst>
                                </p:cTn>
                              </p:par>
                              <p:par>
                                <p:cTn id="23" presetID="9" presetClass="entr" presetSubtype="0" fill="hold" nodeType="withEffect">
                                  <p:stCondLst>
                                    <p:cond delay="0"/>
                                  </p:stCondLst>
                                  <p:childTnLst>
                                    <p:set>
                                      <p:cBhvr>
                                        <p:cTn id="24" dur="1" fill="hold">
                                          <p:stCondLst>
                                            <p:cond delay="0"/>
                                          </p:stCondLst>
                                        </p:cTn>
                                        <p:tgtEl>
                                          <p:spTgt spid="183"/>
                                        </p:tgtEl>
                                        <p:attrNameLst>
                                          <p:attrName>style.visibility</p:attrName>
                                        </p:attrNameLst>
                                      </p:cBhvr>
                                      <p:to>
                                        <p:strVal val="visible"/>
                                      </p:to>
                                    </p:set>
                                    <p:animEffect transition="in" filter="dissolve">
                                      <p:cBhvr>
                                        <p:cTn id="25" dur="500"/>
                                        <p:tgtEl>
                                          <p:spTgt spid="183"/>
                                        </p:tgtEl>
                                      </p:cBhvr>
                                    </p:animEffect>
                                  </p:childTnLst>
                                </p:cTn>
                              </p:par>
                              <p:par>
                                <p:cTn id="26" presetID="9" presetClass="entr" presetSubtype="0" fill="hold" nodeType="withEffect">
                                  <p:stCondLst>
                                    <p:cond delay="0"/>
                                  </p:stCondLst>
                                  <p:childTnLst>
                                    <p:set>
                                      <p:cBhvr>
                                        <p:cTn id="27" dur="1" fill="hold">
                                          <p:stCondLst>
                                            <p:cond delay="0"/>
                                          </p:stCondLst>
                                        </p:cTn>
                                        <p:tgtEl>
                                          <p:spTgt spid="184"/>
                                        </p:tgtEl>
                                        <p:attrNameLst>
                                          <p:attrName>style.visibility</p:attrName>
                                        </p:attrNameLst>
                                      </p:cBhvr>
                                      <p:to>
                                        <p:strVal val="visible"/>
                                      </p:to>
                                    </p:set>
                                    <p:animEffect transition="in" filter="dissolve">
                                      <p:cBhvr>
                                        <p:cTn id="28" dur="500"/>
                                        <p:tgtEl>
                                          <p:spTgt spid="184"/>
                                        </p:tgtEl>
                                      </p:cBhvr>
                                    </p:animEffect>
                                  </p:childTnLst>
                                </p:cTn>
                              </p:par>
                              <p:par>
                                <p:cTn id="29" presetID="9" presetClass="entr" presetSubtype="0" fill="hold" nodeType="withEffect">
                                  <p:stCondLst>
                                    <p:cond delay="0"/>
                                  </p:stCondLst>
                                  <p:childTnLst>
                                    <p:set>
                                      <p:cBhvr>
                                        <p:cTn id="30" dur="1" fill="hold">
                                          <p:stCondLst>
                                            <p:cond delay="0"/>
                                          </p:stCondLst>
                                        </p:cTn>
                                        <p:tgtEl>
                                          <p:spTgt spid="185"/>
                                        </p:tgtEl>
                                        <p:attrNameLst>
                                          <p:attrName>style.visibility</p:attrName>
                                        </p:attrNameLst>
                                      </p:cBhvr>
                                      <p:to>
                                        <p:strVal val="visible"/>
                                      </p:to>
                                    </p:set>
                                    <p:animEffect transition="in" filter="dissolve">
                                      <p:cBhvr>
                                        <p:cTn id="31" dur="500"/>
                                        <p:tgtEl>
                                          <p:spTgt spid="185"/>
                                        </p:tgtEl>
                                      </p:cBhvr>
                                    </p:animEffect>
                                  </p:childTnLst>
                                </p:cTn>
                              </p:par>
                              <p:par>
                                <p:cTn id="32" presetID="9" presetClass="entr" presetSubtype="0" fill="hold" nodeType="withEffect">
                                  <p:stCondLst>
                                    <p:cond delay="0"/>
                                  </p:stCondLst>
                                  <p:childTnLst>
                                    <p:set>
                                      <p:cBhvr>
                                        <p:cTn id="33" dur="1" fill="hold">
                                          <p:stCondLst>
                                            <p:cond delay="0"/>
                                          </p:stCondLst>
                                        </p:cTn>
                                        <p:tgtEl>
                                          <p:spTgt spid="186"/>
                                        </p:tgtEl>
                                        <p:attrNameLst>
                                          <p:attrName>style.visibility</p:attrName>
                                        </p:attrNameLst>
                                      </p:cBhvr>
                                      <p:to>
                                        <p:strVal val="visible"/>
                                      </p:to>
                                    </p:set>
                                    <p:animEffect transition="in" filter="dissolve">
                                      <p:cBhvr>
                                        <p:cTn id="34" dur="500"/>
                                        <p:tgtEl>
                                          <p:spTgt spid="186"/>
                                        </p:tgtEl>
                                      </p:cBhvr>
                                    </p:animEffect>
                                  </p:childTnLst>
                                </p:cTn>
                              </p:par>
                              <p:par>
                                <p:cTn id="35" presetID="9" presetClass="entr" presetSubtype="0" fill="hold" nodeType="withEffect">
                                  <p:stCondLst>
                                    <p:cond delay="0"/>
                                  </p:stCondLst>
                                  <p:childTnLst>
                                    <p:set>
                                      <p:cBhvr>
                                        <p:cTn id="36" dur="1" fill="hold">
                                          <p:stCondLst>
                                            <p:cond delay="0"/>
                                          </p:stCondLst>
                                        </p:cTn>
                                        <p:tgtEl>
                                          <p:spTgt spid="187"/>
                                        </p:tgtEl>
                                        <p:attrNameLst>
                                          <p:attrName>style.visibility</p:attrName>
                                        </p:attrNameLst>
                                      </p:cBhvr>
                                      <p:to>
                                        <p:strVal val="visible"/>
                                      </p:to>
                                    </p:set>
                                    <p:animEffect transition="in" filter="dissolve">
                                      <p:cBhvr>
                                        <p:cTn id="37" dur="500"/>
                                        <p:tgtEl>
                                          <p:spTgt spid="187"/>
                                        </p:tgtEl>
                                      </p:cBhvr>
                                    </p:animEffect>
                                  </p:childTnLst>
                                </p:cTn>
                              </p:par>
                              <p:par>
                                <p:cTn id="38" presetID="9" presetClass="entr" presetSubtype="0" fill="hold" nodeType="withEffect">
                                  <p:stCondLst>
                                    <p:cond delay="0"/>
                                  </p:stCondLst>
                                  <p:childTnLst>
                                    <p:set>
                                      <p:cBhvr>
                                        <p:cTn id="39" dur="1" fill="hold">
                                          <p:stCondLst>
                                            <p:cond delay="0"/>
                                          </p:stCondLst>
                                        </p:cTn>
                                        <p:tgtEl>
                                          <p:spTgt spid="188"/>
                                        </p:tgtEl>
                                        <p:attrNameLst>
                                          <p:attrName>style.visibility</p:attrName>
                                        </p:attrNameLst>
                                      </p:cBhvr>
                                      <p:to>
                                        <p:strVal val="visible"/>
                                      </p:to>
                                    </p:set>
                                    <p:animEffect transition="in" filter="dissolve">
                                      <p:cBhvr>
                                        <p:cTn id="40" dur="500"/>
                                        <p:tgtEl>
                                          <p:spTgt spid="188"/>
                                        </p:tgtEl>
                                      </p:cBhvr>
                                    </p:animEffect>
                                  </p:childTnLst>
                                </p:cTn>
                              </p:par>
                              <p:par>
                                <p:cTn id="41" presetID="9" presetClass="entr" presetSubtype="0" fill="hold" nodeType="withEffect">
                                  <p:stCondLst>
                                    <p:cond delay="0"/>
                                  </p:stCondLst>
                                  <p:childTnLst>
                                    <p:set>
                                      <p:cBhvr>
                                        <p:cTn id="42" dur="1" fill="hold">
                                          <p:stCondLst>
                                            <p:cond delay="0"/>
                                          </p:stCondLst>
                                        </p:cTn>
                                        <p:tgtEl>
                                          <p:spTgt spid="189"/>
                                        </p:tgtEl>
                                        <p:attrNameLst>
                                          <p:attrName>style.visibility</p:attrName>
                                        </p:attrNameLst>
                                      </p:cBhvr>
                                      <p:to>
                                        <p:strVal val="visible"/>
                                      </p:to>
                                    </p:set>
                                    <p:animEffect transition="in" filter="dissolve">
                                      <p:cBhvr>
                                        <p:cTn id="43" dur="500"/>
                                        <p:tgtEl>
                                          <p:spTgt spid="189"/>
                                        </p:tgtEl>
                                      </p:cBhvr>
                                    </p:animEffect>
                                  </p:childTnLst>
                                </p:cTn>
                              </p:par>
                              <p:par>
                                <p:cTn id="44" presetID="9" presetClass="entr" presetSubtype="0" fill="hold" nodeType="withEffect">
                                  <p:stCondLst>
                                    <p:cond delay="0"/>
                                  </p:stCondLst>
                                  <p:childTnLst>
                                    <p:set>
                                      <p:cBhvr>
                                        <p:cTn id="45" dur="1" fill="hold">
                                          <p:stCondLst>
                                            <p:cond delay="0"/>
                                          </p:stCondLst>
                                        </p:cTn>
                                        <p:tgtEl>
                                          <p:spTgt spid="190"/>
                                        </p:tgtEl>
                                        <p:attrNameLst>
                                          <p:attrName>style.visibility</p:attrName>
                                        </p:attrNameLst>
                                      </p:cBhvr>
                                      <p:to>
                                        <p:strVal val="visible"/>
                                      </p:to>
                                    </p:set>
                                    <p:animEffect transition="in" filter="dissolve">
                                      <p:cBhvr>
                                        <p:cTn id="46" dur="500"/>
                                        <p:tgtEl>
                                          <p:spTgt spid="190"/>
                                        </p:tgtEl>
                                      </p:cBhvr>
                                    </p:animEffect>
                                  </p:childTnLst>
                                </p:cTn>
                              </p:par>
                              <p:par>
                                <p:cTn id="47" presetID="9" presetClass="entr" presetSubtype="0" fill="hold" nodeType="withEffect">
                                  <p:stCondLst>
                                    <p:cond delay="0"/>
                                  </p:stCondLst>
                                  <p:childTnLst>
                                    <p:set>
                                      <p:cBhvr>
                                        <p:cTn id="48" dur="1" fill="hold">
                                          <p:stCondLst>
                                            <p:cond delay="0"/>
                                          </p:stCondLst>
                                        </p:cTn>
                                        <p:tgtEl>
                                          <p:spTgt spid="191"/>
                                        </p:tgtEl>
                                        <p:attrNameLst>
                                          <p:attrName>style.visibility</p:attrName>
                                        </p:attrNameLst>
                                      </p:cBhvr>
                                      <p:to>
                                        <p:strVal val="visible"/>
                                      </p:to>
                                    </p:set>
                                    <p:animEffect transition="in" filter="dissolve">
                                      <p:cBhvr>
                                        <p:cTn id="49" dur="500"/>
                                        <p:tgtEl>
                                          <p:spTgt spid="191"/>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192"/>
                                        </p:tgtEl>
                                        <p:attrNameLst>
                                          <p:attrName>style.visibility</p:attrName>
                                        </p:attrNameLst>
                                      </p:cBhvr>
                                      <p:to>
                                        <p:strVal val="visible"/>
                                      </p:to>
                                    </p:set>
                                    <p:animEffect transition="in" filter="dissolve">
                                      <p:cBhvr>
                                        <p:cTn id="52" dur="500"/>
                                        <p:tgtEl>
                                          <p:spTgt spid="192"/>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193"/>
                                        </p:tgtEl>
                                        <p:attrNameLst>
                                          <p:attrName>style.visibility</p:attrName>
                                        </p:attrNameLst>
                                      </p:cBhvr>
                                      <p:to>
                                        <p:strVal val="visible"/>
                                      </p:to>
                                    </p:set>
                                    <p:animEffect transition="in" filter="dissolve">
                                      <p:cBhvr>
                                        <p:cTn id="55" dur="500"/>
                                        <p:tgtEl>
                                          <p:spTgt spid="193"/>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194"/>
                                        </p:tgtEl>
                                        <p:attrNameLst>
                                          <p:attrName>style.visibility</p:attrName>
                                        </p:attrNameLst>
                                      </p:cBhvr>
                                      <p:to>
                                        <p:strVal val="visible"/>
                                      </p:to>
                                    </p:set>
                                    <p:animEffect transition="in" filter="dissolve">
                                      <p:cBhvr>
                                        <p:cTn id="58" dur="500"/>
                                        <p:tgtEl>
                                          <p:spTgt spid="194"/>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195"/>
                                        </p:tgtEl>
                                        <p:attrNameLst>
                                          <p:attrName>style.visibility</p:attrName>
                                        </p:attrNameLst>
                                      </p:cBhvr>
                                      <p:to>
                                        <p:strVal val="visible"/>
                                      </p:to>
                                    </p:set>
                                    <p:animEffect transition="in" filter="dissolve">
                                      <p:cBhvr>
                                        <p:cTn id="61" dur="500"/>
                                        <p:tgtEl>
                                          <p:spTgt spid="195"/>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196"/>
                                        </p:tgtEl>
                                        <p:attrNameLst>
                                          <p:attrName>style.visibility</p:attrName>
                                        </p:attrNameLst>
                                      </p:cBhvr>
                                      <p:to>
                                        <p:strVal val="visible"/>
                                      </p:to>
                                    </p:set>
                                    <p:animEffect transition="in" filter="dissolve">
                                      <p:cBhvr>
                                        <p:cTn id="64" dur="500"/>
                                        <p:tgtEl>
                                          <p:spTgt spid="196"/>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197"/>
                                        </p:tgtEl>
                                        <p:attrNameLst>
                                          <p:attrName>style.visibility</p:attrName>
                                        </p:attrNameLst>
                                      </p:cBhvr>
                                      <p:to>
                                        <p:strVal val="visible"/>
                                      </p:to>
                                    </p:set>
                                    <p:animEffect transition="in" filter="dissolve">
                                      <p:cBhvr>
                                        <p:cTn id="67" dur="500"/>
                                        <p:tgtEl>
                                          <p:spTgt spid="197"/>
                                        </p:tgtEl>
                                      </p:cBhvr>
                                    </p:animEffect>
                                  </p:childTnLst>
                                </p:cTn>
                              </p:par>
                              <p:par>
                                <p:cTn id="68" presetID="9" presetClass="entr" presetSubtype="0" fill="hold" grpId="0" nodeType="withEffect">
                                  <p:stCondLst>
                                    <p:cond delay="0"/>
                                  </p:stCondLst>
                                  <p:childTnLst>
                                    <p:set>
                                      <p:cBhvr>
                                        <p:cTn id="69" dur="1" fill="hold">
                                          <p:stCondLst>
                                            <p:cond delay="0"/>
                                          </p:stCondLst>
                                        </p:cTn>
                                        <p:tgtEl>
                                          <p:spTgt spid="198"/>
                                        </p:tgtEl>
                                        <p:attrNameLst>
                                          <p:attrName>style.visibility</p:attrName>
                                        </p:attrNameLst>
                                      </p:cBhvr>
                                      <p:to>
                                        <p:strVal val="visible"/>
                                      </p:to>
                                    </p:set>
                                    <p:animEffect transition="in" filter="dissolve">
                                      <p:cBhvr>
                                        <p:cTn id="70" dur="500"/>
                                        <p:tgtEl>
                                          <p:spTgt spid="198"/>
                                        </p:tgtEl>
                                      </p:cBhvr>
                                    </p:animEffect>
                                  </p:childTnLst>
                                </p:cTn>
                              </p:par>
                              <p:par>
                                <p:cTn id="71" presetID="9" presetClass="entr" presetSubtype="0" fill="hold" nodeType="withEffect">
                                  <p:stCondLst>
                                    <p:cond delay="0"/>
                                  </p:stCondLst>
                                  <p:childTnLst>
                                    <p:set>
                                      <p:cBhvr>
                                        <p:cTn id="72" dur="1" fill="hold">
                                          <p:stCondLst>
                                            <p:cond delay="0"/>
                                          </p:stCondLst>
                                        </p:cTn>
                                        <p:tgtEl>
                                          <p:spTgt spid="199"/>
                                        </p:tgtEl>
                                        <p:attrNameLst>
                                          <p:attrName>style.visibility</p:attrName>
                                        </p:attrNameLst>
                                      </p:cBhvr>
                                      <p:to>
                                        <p:strVal val="visible"/>
                                      </p:to>
                                    </p:set>
                                    <p:animEffect transition="in" filter="dissolve">
                                      <p:cBhvr>
                                        <p:cTn id="73" dur="500"/>
                                        <p:tgtEl>
                                          <p:spTgt spid="199"/>
                                        </p:tgtEl>
                                      </p:cBhvr>
                                    </p:animEffect>
                                  </p:childTnLst>
                                </p:cTn>
                              </p:par>
                              <p:par>
                                <p:cTn id="74" presetID="9" presetClass="entr" presetSubtype="0" fill="hold" nodeType="withEffect">
                                  <p:stCondLst>
                                    <p:cond delay="0"/>
                                  </p:stCondLst>
                                  <p:childTnLst>
                                    <p:set>
                                      <p:cBhvr>
                                        <p:cTn id="75" dur="1" fill="hold">
                                          <p:stCondLst>
                                            <p:cond delay="0"/>
                                          </p:stCondLst>
                                        </p:cTn>
                                        <p:tgtEl>
                                          <p:spTgt spid="200"/>
                                        </p:tgtEl>
                                        <p:attrNameLst>
                                          <p:attrName>style.visibility</p:attrName>
                                        </p:attrNameLst>
                                      </p:cBhvr>
                                      <p:to>
                                        <p:strVal val="visible"/>
                                      </p:to>
                                    </p:set>
                                    <p:animEffect transition="in" filter="dissolve">
                                      <p:cBhvr>
                                        <p:cTn id="76" dur="500"/>
                                        <p:tgtEl>
                                          <p:spTgt spid="200"/>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201"/>
                                        </p:tgtEl>
                                        <p:attrNameLst>
                                          <p:attrName>style.visibility</p:attrName>
                                        </p:attrNameLst>
                                      </p:cBhvr>
                                      <p:to>
                                        <p:strVal val="visible"/>
                                      </p:to>
                                    </p:set>
                                    <p:animEffect transition="in" filter="dissolve">
                                      <p:cBhvr>
                                        <p:cTn id="79" dur="500"/>
                                        <p:tgtEl>
                                          <p:spTgt spid="201"/>
                                        </p:tgtEl>
                                      </p:cBhvr>
                                    </p:animEffect>
                                  </p:childTnLst>
                                </p:cTn>
                              </p:par>
                              <p:par>
                                <p:cTn id="80" presetID="9" presetClass="entr" presetSubtype="0" fill="hold" grpId="0" nodeType="withEffect">
                                  <p:stCondLst>
                                    <p:cond delay="0"/>
                                  </p:stCondLst>
                                  <p:childTnLst>
                                    <p:set>
                                      <p:cBhvr>
                                        <p:cTn id="81" dur="1" fill="hold">
                                          <p:stCondLst>
                                            <p:cond delay="0"/>
                                          </p:stCondLst>
                                        </p:cTn>
                                        <p:tgtEl>
                                          <p:spTgt spid="202"/>
                                        </p:tgtEl>
                                        <p:attrNameLst>
                                          <p:attrName>style.visibility</p:attrName>
                                        </p:attrNameLst>
                                      </p:cBhvr>
                                      <p:to>
                                        <p:strVal val="visible"/>
                                      </p:to>
                                    </p:set>
                                    <p:animEffect transition="in" filter="dissolve">
                                      <p:cBhvr>
                                        <p:cTn id="82" dur="500"/>
                                        <p:tgtEl>
                                          <p:spTgt spid="202"/>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203"/>
                                        </p:tgtEl>
                                        <p:attrNameLst>
                                          <p:attrName>style.visibility</p:attrName>
                                        </p:attrNameLst>
                                      </p:cBhvr>
                                      <p:to>
                                        <p:strVal val="visible"/>
                                      </p:to>
                                    </p:set>
                                    <p:animEffect transition="in" filter="dissolve">
                                      <p:cBhvr>
                                        <p:cTn id="85" dur="500"/>
                                        <p:tgtEl>
                                          <p:spTgt spid="203"/>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204"/>
                                        </p:tgtEl>
                                        <p:attrNameLst>
                                          <p:attrName>style.visibility</p:attrName>
                                        </p:attrNameLst>
                                      </p:cBhvr>
                                      <p:to>
                                        <p:strVal val="visible"/>
                                      </p:to>
                                    </p:set>
                                    <p:animEffect transition="in" filter="dissolve">
                                      <p:cBhvr>
                                        <p:cTn id="88" dur="500"/>
                                        <p:tgtEl>
                                          <p:spTgt spid="204"/>
                                        </p:tgtEl>
                                      </p:cBhvr>
                                    </p:animEffect>
                                  </p:childTnLst>
                                </p:cTn>
                              </p:par>
                              <p:par>
                                <p:cTn id="89" presetID="9" presetClass="entr" presetSubtype="0" fill="hold" grpId="0" nodeType="withEffect">
                                  <p:stCondLst>
                                    <p:cond delay="0"/>
                                  </p:stCondLst>
                                  <p:childTnLst>
                                    <p:set>
                                      <p:cBhvr>
                                        <p:cTn id="90" dur="1" fill="hold">
                                          <p:stCondLst>
                                            <p:cond delay="0"/>
                                          </p:stCondLst>
                                        </p:cTn>
                                        <p:tgtEl>
                                          <p:spTgt spid="205"/>
                                        </p:tgtEl>
                                        <p:attrNameLst>
                                          <p:attrName>style.visibility</p:attrName>
                                        </p:attrNameLst>
                                      </p:cBhvr>
                                      <p:to>
                                        <p:strVal val="visible"/>
                                      </p:to>
                                    </p:set>
                                    <p:animEffect transition="in" filter="dissolve">
                                      <p:cBhvr>
                                        <p:cTn id="91" dur="500"/>
                                        <p:tgtEl>
                                          <p:spTgt spid="205"/>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206"/>
                                        </p:tgtEl>
                                        <p:attrNameLst>
                                          <p:attrName>style.visibility</p:attrName>
                                        </p:attrNameLst>
                                      </p:cBhvr>
                                      <p:to>
                                        <p:strVal val="visible"/>
                                      </p:to>
                                    </p:set>
                                    <p:animEffect transition="in" filter="dissolve">
                                      <p:cBhvr>
                                        <p:cTn id="94" dur="500"/>
                                        <p:tgtEl>
                                          <p:spTgt spid="206"/>
                                        </p:tgtEl>
                                      </p:cBhvr>
                                    </p:animEffect>
                                  </p:childTnLst>
                                </p:cTn>
                              </p:par>
                              <p:par>
                                <p:cTn id="95" presetID="9" presetClass="entr" presetSubtype="0" fill="hold" grpId="0" nodeType="withEffect">
                                  <p:stCondLst>
                                    <p:cond delay="0"/>
                                  </p:stCondLst>
                                  <p:childTnLst>
                                    <p:set>
                                      <p:cBhvr>
                                        <p:cTn id="96" dur="1" fill="hold">
                                          <p:stCondLst>
                                            <p:cond delay="0"/>
                                          </p:stCondLst>
                                        </p:cTn>
                                        <p:tgtEl>
                                          <p:spTgt spid="207"/>
                                        </p:tgtEl>
                                        <p:attrNameLst>
                                          <p:attrName>style.visibility</p:attrName>
                                        </p:attrNameLst>
                                      </p:cBhvr>
                                      <p:to>
                                        <p:strVal val="visible"/>
                                      </p:to>
                                    </p:set>
                                    <p:animEffect transition="in" filter="dissolve">
                                      <p:cBhvr>
                                        <p:cTn id="97" dur="500"/>
                                        <p:tgtEl>
                                          <p:spTgt spid="207"/>
                                        </p:tgtEl>
                                      </p:cBhvr>
                                    </p:animEffect>
                                  </p:childTnLst>
                                </p:cTn>
                              </p:par>
                              <p:par>
                                <p:cTn id="98" presetID="9" presetClass="entr" presetSubtype="0" fill="hold" grpId="0" nodeType="withEffect">
                                  <p:stCondLst>
                                    <p:cond delay="0"/>
                                  </p:stCondLst>
                                  <p:childTnLst>
                                    <p:set>
                                      <p:cBhvr>
                                        <p:cTn id="99" dur="1" fill="hold">
                                          <p:stCondLst>
                                            <p:cond delay="0"/>
                                          </p:stCondLst>
                                        </p:cTn>
                                        <p:tgtEl>
                                          <p:spTgt spid="208"/>
                                        </p:tgtEl>
                                        <p:attrNameLst>
                                          <p:attrName>style.visibility</p:attrName>
                                        </p:attrNameLst>
                                      </p:cBhvr>
                                      <p:to>
                                        <p:strVal val="visible"/>
                                      </p:to>
                                    </p:set>
                                    <p:animEffect transition="in" filter="dissolve">
                                      <p:cBhvr>
                                        <p:cTn id="100" dur="500"/>
                                        <p:tgtEl>
                                          <p:spTgt spid="208"/>
                                        </p:tgtEl>
                                      </p:cBhvr>
                                    </p:animEffect>
                                  </p:childTnLst>
                                </p:cTn>
                              </p:par>
                              <p:par>
                                <p:cTn id="101" presetID="9" presetClass="entr" presetSubtype="0" fill="hold" grpId="0" nodeType="withEffect">
                                  <p:stCondLst>
                                    <p:cond delay="0"/>
                                  </p:stCondLst>
                                  <p:childTnLst>
                                    <p:set>
                                      <p:cBhvr>
                                        <p:cTn id="102" dur="1" fill="hold">
                                          <p:stCondLst>
                                            <p:cond delay="0"/>
                                          </p:stCondLst>
                                        </p:cTn>
                                        <p:tgtEl>
                                          <p:spTgt spid="209"/>
                                        </p:tgtEl>
                                        <p:attrNameLst>
                                          <p:attrName>style.visibility</p:attrName>
                                        </p:attrNameLst>
                                      </p:cBhvr>
                                      <p:to>
                                        <p:strVal val="visible"/>
                                      </p:to>
                                    </p:set>
                                    <p:animEffect transition="in" filter="dissolve">
                                      <p:cBhvr>
                                        <p:cTn id="103" dur="500"/>
                                        <p:tgtEl>
                                          <p:spTgt spid="209"/>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210"/>
                                        </p:tgtEl>
                                        <p:attrNameLst>
                                          <p:attrName>style.visibility</p:attrName>
                                        </p:attrNameLst>
                                      </p:cBhvr>
                                      <p:to>
                                        <p:strVal val="visible"/>
                                      </p:to>
                                    </p:set>
                                    <p:animEffect transition="in" filter="dissolve">
                                      <p:cBhvr>
                                        <p:cTn id="106" dur="500"/>
                                        <p:tgtEl>
                                          <p:spTgt spid="210"/>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dissolve">
                                      <p:cBhvr>
                                        <p:cTn id="109" dur="500"/>
                                        <p:tgtEl>
                                          <p:spTgt spid="211"/>
                                        </p:tgtEl>
                                      </p:cBhvr>
                                    </p:animEffect>
                                  </p:childTnLst>
                                </p:cTn>
                              </p:par>
                              <p:par>
                                <p:cTn id="110" presetID="9" presetClass="entr" presetSubtype="0" fill="hold" grpId="0" nodeType="withEffect">
                                  <p:stCondLst>
                                    <p:cond delay="0"/>
                                  </p:stCondLst>
                                  <p:childTnLst>
                                    <p:set>
                                      <p:cBhvr>
                                        <p:cTn id="111" dur="1" fill="hold">
                                          <p:stCondLst>
                                            <p:cond delay="0"/>
                                          </p:stCondLst>
                                        </p:cTn>
                                        <p:tgtEl>
                                          <p:spTgt spid="212"/>
                                        </p:tgtEl>
                                        <p:attrNameLst>
                                          <p:attrName>style.visibility</p:attrName>
                                        </p:attrNameLst>
                                      </p:cBhvr>
                                      <p:to>
                                        <p:strVal val="visible"/>
                                      </p:to>
                                    </p:set>
                                    <p:animEffect transition="in" filter="dissolve">
                                      <p:cBhvr>
                                        <p:cTn id="112" dur="500"/>
                                        <p:tgtEl>
                                          <p:spTgt spid="212"/>
                                        </p:tgtEl>
                                      </p:cBhvr>
                                    </p:animEffect>
                                  </p:childTnLst>
                                </p:cTn>
                              </p:par>
                              <p:par>
                                <p:cTn id="113" presetID="9" presetClass="entr" presetSubtype="0" fill="hold" grpId="0" nodeType="withEffect">
                                  <p:stCondLst>
                                    <p:cond delay="0"/>
                                  </p:stCondLst>
                                  <p:childTnLst>
                                    <p:set>
                                      <p:cBhvr>
                                        <p:cTn id="114" dur="1" fill="hold">
                                          <p:stCondLst>
                                            <p:cond delay="0"/>
                                          </p:stCondLst>
                                        </p:cTn>
                                        <p:tgtEl>
                                          <p:spTgt spid="213"/>
                                        </p:tgtEl>
                                        <p:attrNameLst>
                                          <p:attrName>style.visibility</p:attrName>
                                        </p:attrNameLst>
                                      </p:cBhvr>
                                      <p:to>
                                        <p:strVal val="visible"/>
                                      </p:to>
                                    </p:set>
                                    <p:animEffect transition="in" filter="dissolve">
                                      <p:cBhvr>
                                        <p:cTn id="115" dur="500"/>
                                        <p:tgtEl>
                                          <p:spTgt spid="213"/>
                                        </p:tgtEl>
                                      </p:cBhvr>
                                    </p:animEffect>
                                  </p:childTnLst>
                                </p:cTn>
                              </p:par>
                              <p:par>
                                <p:cTn id="116" presetID="9" presetClass="entr" presetSubtype="0" fill="hold" grpId="0" nodeType="withEffect">
                                  <p:stCondLst>
                                    <p:cond delay="0"/>
                                  </p:stCondLst>
                                  <p:childTnLst>
                                    <p:set>
                                      <p:cBhvr>
                                        <p:cTn id="117" dur="1" fill="hold">
                                          <p:stCondLst>
                                            <p:cond delay="0"/>
                                          </p:stCondLst>
                                        </p:cTn>
                                        <p:tgtEl>
                                          <p:spTgt spid="214"/>
                                        </p:tgtEl>
                                        <p:attrNameLst>
                                          <p:attrName>style.visibility</p:attrName>
                                        </p:attrNameLst>
                                      </p:cBhvr>
                                      <p:to>
                                        <p:strVal val="visible"/>
                                      </p:to>
                                    </p:set>
                                    <p:animEffect transition="in" filter="dissolve">
                                      <p:cBhvr>
                                        <p:cTn id="118" dur="500"/>
                                        <p:tgtEl>
                                          <p:spTgt spid="214"/>
                                        </p:tgtEl>
                                      </p:cBhvr>
                                    </p:animEffect>
                                  </p:childTnLst>
                                </p:cTn>
                              </p:par>
                              <p:par>
                                <p:cTn id="119" presetID="9" presetClass="entr" presetSubtype="0" fill="hold" grpId="0" nodeType="withEffect">
                                  <p:stCondLst>
                                    <p:cond delay="0"/>
                                  </p:stCondLst>
                                  <p:childTnLst>
                                    <p:set>
                                      <p:cBhvr>
                                        <p:cTn id="120" dur="1" fill="hold">
                                          <p:stCondLst>
                                            <p:cond delay="0"/>
                                          </p:stCondLst>
                                        </p:cTn>
                                        <p:tgtEl>
                                          <p:spTgt spid="215"/>
                                        </p:tgtEl>
                                        <p:attrNameLst>
                                          <p:attrName>style.visibility</p:attrName>
                                        </p:attrNameLst>
                                      </p:cBhvr>
                                      <p:to>
                                        <p:strVal val="visible"/>
                                      </p:to>
                                    </p:set>
                                    <p:animEffect transition="in" filter="dissolve">
                                      <p:cBhvr>
                                        <p:cTn id="121" dur="500"/>
                                        <p:tgtEl>
                                          <p:spTgt spid="215"/>
                                        </p:tgtEl>
                                      </p:cBhvr>
                                    </p:animEffect>
                                  </p:childTnLst>
                                </p:cTn>
                              </p:par>
                              <p:par>
                                <p:cTn id="122" presetID="9" presetClass="entr" presetSubtype="0" fill="hold" grpId="0" nodeType="withEffect">
                                  <p:stCondLst>
                                    <p:cond delay="0"/>
                                  </p:stCondLst>
                                  <p:childTnLst>
                                    <p:set>
                                      <p:cBhvr>
                                        <p:cTn id="123" dur="1" fill="hold">
                                          <p:stCondLst>
                                            <p:cond delay="0"/>
                                          </p:stCondLst>
                                        </p:cTn>
                                        <p:tgtEl>
                                          <p:spTgt spid="216"/>
                                        </p:tgtEl>
                                        <p:attrNameLst>
                                          <p:attrName>style.visibility</p:attrName>
                                        </p:attrNameLst>
                                      </p:cBhvr>
                                      <p:to>
                                        <p:strVal val="visible"/>
                                      </p:to>
                                    </p:set>
                                    <p:animEffect transition="in" filter="dissolve">
                                      <p:cBhvr>
                                        <p:cTn id="124" dur="500"/>
                                        <p:tgtEl>
                                          <p:spTgt spid="216"/>
                                        </p:tgtEl>
                                      </p:cBhvr>
                                    </p:animEffect>
                                  </p:childTnLst>
                                </p:cTn>
                              </p:par>
                              <p:par>
                                <p:cTn id="125" presetID="9" presetClass="entr" presetSubtype="0" fill="hold" nodeType="withEffect">
                                  <p:stCondLst>
                                    <p:cond delay="0"/>
                                  </p:stCondLst>
                                  <p:childTnLst>
                                    <p:set>
                                      <p:cBhvr>
                                        <p:cTn id="126" dur="1" fill="hold">
                                          <p:stCondLst>
                                            <p:cond delay="0"/>
                                          </p:stCondLst>
                                        </p:cTn>
                                        <p:tgtEl>
                                          <p:spTgt spid="219"/>
                                        </p:tgtEl>
                                        <p:attrNameLst>
                                          <p:attrName>style.visibility</p:attrName>
                                        </p:attrNameLst>
                                      </p:cBhvr>
                                      <p:to>
                                        <p:strVal val="visible"/>
                                      </p:to>
                                    </p:set>
                                    <p:animEffect transition="in" filter="dissolve">
                                      <p:cBhvr>
                                        <p:cTn id="127" dur="500"/>
                                        <p:tgtEl>
                                          <p:spTgt spid="219"/>
                                        </p:tgtEl>
                                      </p:cBhvr>
                                    </p:animEffect>
                                  </p:childTnLst>
                                </p:cTn>
                              </p:par>
                              <p:par>
                                <p:cTn id="128" presetID="9" presetClass="entr" presetSubtype="0" fill="hold" grpId="0" nodeType="withEffect">
                                  <p:stCondLst>
                                    <p:cond delay="0"/>
                                  </p:stCondLst>
                                  <p:childTnLst>
                                    <p:set>
                                      <p:cBhvr>
                                        <p:cTn id="129" dur="1" fill="hold">
                                          <p:stCondLst>
                                            <p:cond delay="0"/>
                                          </p:stCondLst>
                                        </p:cTn>
                                        <p:tgtEl>
                                          <p:spTgt spid="217"/>
                                        </p:tgtEl>
                                        <p:attrNameLst>
                                          <p:attrName>style.visibility</p:attrName>
                                        </p:attrNameLst>
                                      </p:cBhvr>
                                      <p:to>
                                        <p:strVal val="visible"/>
                                      </p:to>
                                    </p:set>
                                    <p:animEffect transition="in" filter="dissolve">
                                      <p:cBhvr>
                                        <p:cTn id="130" dur="500"/>
                                        <p:tgtEl>
                                          <p:spTgt spid="217"/>
                                        </p:tgtEl>
                                      </p:cBhvr>
                                    </p:animEffect>
                                  </p:childTnLst>
                                </p:cTn>
                              </p:par>
                              <p:par>
                                <p:cTn id="131" presetID="9" presetClass="entr" presetSubtype="0" fill="hold" nodeType="withEffect">
                                  <p:stCondLst>
                                    <p:cond delay="0"/>
                                  </p:stCondLst>
                                  <p:childTnLst>
                                    <p:set>
                                      <p:cBhvr>
                                        <p:cTn id="132" dur="1" fill="hold">
                                          <p:stCondLst>
                                            <p:cond delay="0"/>
                                          </p:stCondLst>
                                        </p:cTn>
                                        <p:tgtEl>
                                          <p:spTgt spid="223"/>
                                        </p:tgtEl>
                                        <p:attrNameLst>
                                          <p:attrName>style.visibility</p:attrName>
                                        </p:attrNameLst>
                                      </p:cBhvr>
                                      <p:to>
                                        <p:strVal val="visible"/>
                                      </p:to>
                                    </p:set>
                                    <p:animEffect transition="in" filter="dissolve">
                                      <p:cBhvr>
                                        <p:cTn id="133" dur="500"/>
                                        <p:tgtEl>
                                          <p:spTgt spid="223"/>
                                        </p:tgtEl>
                                      </p:cBhvr>
                                    </p:animEffect>
                                  </p:childTnLst>
                                </p:cTn>
                              </p:par>
                              <p:par>
                                <p:cTn id="134" presetID="9" presetClass="entr" presetSubtype="0" fill="hold" grpId="0" nodeType="withEffect">
                                  <p:stCondLst>
                                    <p:cond delay="0"/>
                                  </p:stCondLst>
                                  <p:childTnLst>
                                    <p:set>
                                      <p:cBhvr>
                                        <p:cTn id="135" dur="1" fill="hold">
                                          <p:stCondLst>
                                            <p:cond delay="0"/>
                                          </p:stCondLst>
                                        </p:cTn>
                                        <p:tgtEl>
                                          <p:spTgt spid="221"/>
                                        </p:tgtEl>
                                        <p:attrNameLst>
                                          <p:attrName>style.visibility</p:attrName>
                                        </p:attrNameLst>
                                      </p:cBhvr>
                                      <p:to>
                                        <p:strVal val="visible"/>
                                      </p:to>
                                    </p:set>
                                    <p:animEffect transition="in" filter="dissolve">
                                      <p:cBhvr>
                                        <p:cTn id="136" dur="500"/>
                                        <p:tgtEl>
                                          <p:spTgt spid="221"/>
                                        </p:tgtEl>
                                      </p:cBhvr>
                                    </p:animEffect>
                                  </p:childTnLst>
                                </p:cTn>
                              </p:par>
                              <p:par>
                                <p:cTn id="137" presetID="9" presetClass="entr" presetSubtype="0" fill="hold" grpId="0" nodeType="withEffect">
                                  <p:stCondLst>
                                    <p:cond delay="0"/>
                                  </p:stCondLst>
                                  <p:childTnLst>
                                    <p:set>
                                      <p:cBhvr>
                                        <p:cTn id="138" dur="1" fill="hold">
                                          <p:stCondLst>
                                            <p:cond delay="0"/>
                                          </p:stCondLst>
                                        </p:cTn>
                                        <p:tgtEl>
                                          <p:spTgt spid="218"/>
                                        </p:tgtEl>
                                        <p:attrNameLst>
                                          <p:attrName>style.visibility</p:attrName>
                                        </p:attrNameLst>
                                      </p:cBhvr>
                                      <p:to>
                                        <p:strVal val="visible"/>
                                      </p:to>
                                    </p:set>
                                    <p:animEffect transition="in" filter="dissolve">
                                      <p:cBhvr>
                                        <p:cTn id="139" dur="500"/>
                                        <p:tgtEl>
                                          <p:spTgt spid="218"/>
                                        </p:tgtEl>
                                      </p:cBhvr>
                                    </p:animEffect>
                                  </p:childTnLst>
                                </p:cTn>
                              </p:par>
                              <p:par>
                                <p:cTn id="140" presetID="9" presetClass="entr" presetSubtype="0" fill="hold" grpId="0" nodeType="withEffect">
                                  <p:stCondLst>
                                    <p:cond delay="0"/>
                                  </p:stCondLst>
                                  <p:childTnLst>
                                    <p:set>
                                      <p:cBhvr>
                                        <p:cTn id="141" dur="1" fill="hold">
                                          <p:stCondLst>
                                            <p:cond delay="0"/>
                                          </p:stCondLst>
                                        </p:cTn>
                                        <p:tgtEl>
                                          <p:spTgt spid="220"/>
                                        </p:tgtEl>
                                        <p:attrNameLst>
                                          <p:attrName>style.visibility</p:attrName>
                                        </p:attrNameLst>
                                      </p:cBhvr>
                                      <p:to>
                                        <p:strVal val="visible"/>
                                      </p:to>
                                    </p:set>
                                    <p:animEffect transition="in" filter="dissolve">
                                      <p:cBhvr>
                                        <p:cTn id="142" dur="500"/>
                                        <p:tgtEl>
                                          <p:spTgt spid="220"/>
                                        </p:tgtEl>
                                      </p:cBhvr>
                                    </p:animEffect>
                                  </p:childTnLst>
                                </p:cTn>
                              </p:par>
                              <p:par>
                                <p:cTn id="143" presetID="9" presetClass="entr" presetSubtype="0" fill="hold" grpId="0" nodeType="withEffect">
                                  <p:stCondLst>
                                    <p:cond delay="0"/>
                                  </p:stCondLst>
                                  <p:childTnLst>
                                    <p:set>
                                      <p:cBhvr>
                                        <p:cTn id="144" dur="1" fill="hold">
                                          <p:stCondLst>
                                            <p:cond delay="0"/>
                                          </p:stCondLst>
                                        </p:cTn>
                                        <p:tgtEl>
                                          <p:spTgt spid="222"/>
                                        </p:tgtEl>
                                        <p:attrNameLst>
                                          <p:attrName>style.visibility</p:attrName>
                                        </p:attrNameLst>
                                      </p:cBhvr>
                                      <p:to>
                                        <p:strVal val="visible"/>
                                      </p:to>
                                    </p:set>
                                    <p:animEffect transition="in" filter="dissolve">
                                      <p:cBhvr>
                                        <p:cTn id="145" dur="500"/>
                                        <p:tgtEl>
                                          <p:spTgt spid="222"/>
                                        </p:tgtEl>
                                      </p:cBhvr>
                                    </p:animEffect>
                                  </p:childTnLst>
                                </p:cTn>
                              </p:par>
                              <p:par>
                                <p:cTn id="146" presetID="9" presetClass="entr" presetSubtype="0" fill="hold" grpId="0" nodeType="withEffect">
                                  <p:stCondLst>
                                    <p:cond delay="0"/>
                                  </p:stCondLst>
                                  <p:childTnLst>
                                    <p:set>
                                      <p:cBhvr>
                                        <p:cTn id="147" dur="1" fill="hold">
                                          <p:stCondLst>
                                            <p:cond delay="0"/>
                                          </p:stCondLst>
                                        </p:cTn>
                                        <p:tgtEl>
                                          <p:spTgt spid="224"/>
                                        </p:tgtEl>
                                        <p:attrNameLst>
                                          <p:attrName>style.visibility</p:attrName>
                                        </p:attrNameLst>
                                      </p:cBhvr>
                                      <p:to>
                                        <p:strVal val="visible"/>
                                      </p:to>
                                    </p:set>
                                    <p:animEffect transition="in" filter="dissolve">
                                      <p:cBhvr>
                                        <p:cTn id="148" dur="500"/>
                                        <p:tgtEl>
                                          <p:spTgt spid="224"/>
                                        </p:tgtEl>
                                      </p:cBhvr>
                                    </p:animEffect>
                                  </p:childTnLst>
                                </p:cTn>
                              </p:par>
                            </p:childTnLst>
                          </p:cTn>
                        </p:par>
                      </p:childTnLst>
                    </p:cTn>
                  </p:par>
                  <p:par>
                    <p:cTn id="149" fill="hold">
                      <p:stCondLst>
                        <p:cond delay="indefinite"/>
                      </p:stCondLst>
                      <p:childTnLst>
                        <p:par>
                          <p:cTn id="150" fill="hold">
                            <p:stCondLst>
                              <p:cond delay="0"/>
                            </p:stCondLst>
                            <p:childTnLst>
                              <p:par>
                                <p:cTn id="151" presetID="9" presetClass="entr" presetSubtype="0" fill="hold" nodeType="clickEffect">
                                  <p:stCondLst>
                                    <p:cond delay="0"/>
                                  </p:stCondLst>
                                  <p:childTnLst>
                                    <p:set>
                                      <p:cBhvr>
                                        <p:cTn id="152" dur="1" fill="hold">
                                          <p:stCondLst>
                                            <p:cond delay="0"/>
                                          </p:stCondLst>
                                        </p:cTn>
                                        <p:tgtEl>
                                          <p:spTgt spid="245"/>
                                        </p:tgtEl>
                                        <p:attrNameLst>
                                          <p:attrName>style.visibility</p:attrName>
                                        </p:attrNameLst>
                                      </p:cBhvr>
                                      <p:to>
                                        <p:strVal val="visible"/>
                                      </p:to>
                                    </p:set>
                                    <p:animEffect transition="in" filter="dissolve">
                                      <p:cBhvr>
                                        <p:cTn id="153" dur="500"/>
                                        <p:tgtEl>
                                          <p:spTgt spid="245"/>
                                        </p:tgtEl>
                                      </p:cBhvr>
                                    </p:animEffect>
                                  </p:childTnLst>
                                </p:cTn>
                              </p:par>
                            </p:childTnLst>
                          </p:cTn>
                        </p:par>
                      </p:childTnLst>
                    </p:cTn>
                  </p:par>
                  <p:par>
                    <p:cTn id="154" fill="hold">
                      <p:stCondLst>
                        <p:cond delay="indefinite"/>
                      </p:stCondLst>
                      <p:childTnLst>
                        <p:par>
                          <p:cTn id="155" fill="hold">
                            <p:stCondLst>
                              <p:cond delay="0"/>
                            </p:stCondLst>
                            <p:childTnLst>
                              <p:par>
                                <p:cTn id="156" presetID="9" presetClass="entr" presetSubtype="0" fill="hold" nodeType="clickEffect">
                                  <p:stCondLst>
                                    <p:cond delay="0"/>
                                  </p:stCondLst>
                                  <p:childTnLst>
                                    <p:set>
                                      <p:cBhvr>
                                        <p:cTn id="157" dur="1" fill="hold">
                                          <p:stCondLst>
                                            <p:cond delay="0"/>
                                          </p:stCondLst>
                                        </p:cTn>
                                        <p:tgtEl>
                                          <p:spTgt spid="228">
                                            <p:txEl>
                                              <p:pRg st="0" end="0"/>
                                            </p:txEl>
                                          </p:spTgt>
                                        </p:tgtEl>
                                        <p:attrNameLst>
                                          <p:attrName>style.visibility</p:attrName>
                                        </p:attrNameLst>
                                      </p:cBhvr>
                                      <p:to>
                                        <p:strVal val="visible"/>
                                      </p:to>
                                    </p:set>
                                    <p:animEffect transition="in" filter="dissolve">
                                      <p:cBhvr>
                                        <p:cTn id="158" dur="500"/>
                                        <p:tgtEl>
                                          <p:spTgt spid="228">
                                            <p:txEl>
                                              <p:pRg st="0" end="0"/>
                                            </p:txEl>
                                          </p:spTgt>
                                        </p:tgtEl>
                                      </p:cBhvr>
                                    </p:animEffect>
                                  </p:childTnLst>
                                </p:cTn>
                              </p:par>
                            </p:childTnLst>
                          </p:cTn>
                        </p:par>
                      </p:childTnLst>
                    </p:cTn>
                  </p:par>
                  <p:par>
                    <p:cTn id="159" fill="hold">
                      <p:stCondLst>
                        <p:cond delay="indefinite"/>
                      </p:stCondLst>
                      <p:childTnLst>
                        <p:par>
                          <p:cTn id="160" fill="hold">
                            <p:stCondLst>
                              <p:cond delay="0"/>
                            </p:stCondLst>
                            <p:childTnLst>
                              <p:par>
                                <p:cTn id="161" presetID="9" presetClass="entr" presetSubtype="0" fill="hold" grpId="0" nodeType="clickEffect">
                                  <p:stCondLst>
                                    <p:cond delay="0"/>
                                  </p:stCondLst>
                                  <p:childTnLst>
                                    <p:set>
                                      <p:cBhvr>
                                        <p:cTn id="162" dur="1" fill="hold">
                                          <p:stCondLst>
                                            <p:cond delay="0"/>
                                          </p:stCondLst>
                                        </p:cTn>
                                        <p:tgtEl>
                                          <p:spTgt spid="255"/>
                                        </p:tgtEl>
                                        <p:attrNameLst>
                                          <p:attrName>style.visibility</p:attrName>
                                        </p:attrNameLst>
                                      </p:cBhvr>
                                      <p:to>
                                        <p:strVal val="visible"/>
                                      </p:to>
                                    </p:set>
                                    <p:animEffect transition="in" filter="dissolve">
                                      <p:cBhvr>
                                        <p:cTn id="163" dur="500"/>
                                        <p:tgtEl>
                                          <p:spTgt spid="255"/>
                                        </p:tgtEl>
                                      </p:cBhvr>
                                    </p:animEffect>
                                  </p:childTnLst>
                                </p:cTn>
                              </p:par>
                            </p:childTnLst>
                          </p:cTn>
                        </p:par>
                      </p:childTnLst>
                    </p:cTn>
                  </p:par>
                  <p:par>
                    <p:cTn id="164" fill="hold">
                      <p:stCondLst>
                        <p:cond delay="indefinite"/>
                      </p:stCondLst>
                      <p:childTnLst>
                        <p:par>
                          <p:cTn id="165" fill="hold">
                            <p:stCondLst>
                              <p:cond delay="0"/>
                            </p:stCondLst>
                            <p:childTnLst>
                              <p:par>
                                <p:cTn id="166" presetID="7" presetClass="emph" presetSubtype="2" fill="hold" nodeType="clickEffect">
                                  <p:stCondLst>
                                    <p:cond delay="0"/>
                                  </p:stCondLst>
                                  <p:childTnLst>
                                    <p:animClr clrSpc="rgb" dir="cw">
                                      <p:cBhvr>
                                        <p:cTn id="167" dur="2000" fill="hold"/>
                                        <p:tgtEl>
                                          <p:spTgt spid="191"/>
                                        </p:tgtEl>
                                        <p:attrNameLst>
                                          <p:attrName>stroke.color</p:attrName>
                                        </p:attrNameLst>
                                      </p:cBhvr>
                                      <p:to>
                                        <a:schemeClr val="accent2"/>
                                      </p:to>
                                    </p:animClr>
                                    <p:set>
                                      <p:cBhvr>
                                        <p:cTn id="168" dur="2000" fill="hold"/>
                                        <p:tgtEl>
                                          <p:spTgt spid="191"/>
                                        </p:tgtEl>
                                        <p:attrNameLst>
                                          <p:attrName>stroke.on</p:attrName>
                                        </p:attrNameLst>
                                      </p:cBhvr>
                                      <p:to>
                                        <p:strVal val="true"/>
                                      </p:to>
                                    </p:set>
                                  </p:childTnLst>
                                </p:cTn>
                              </p:par>
                            </p:childTnLst>
                          </p:cTn>
                        </p:par>
                      </p:childTnLst>
                    </p:cTn>
                  </p:par>
                  <p:par>
                    <p:cTn id="169" fill="hold">
                      <p:stCondLst>
                        <p:cond delay="indefinite"/>
                      </p:stCondLst>
                      <p:childTnLst>
                        <p:par>
                          <p:cTn id="170" fill="hold">
                            <p:stCondLst>
                              <p:cond delay="0"/>
                            </p:stCondLst>
                            <p:childTnLst>
                              <p:par>
                                <p:cTn id="171" presetID="9" presetClass="entr" presetSubtype="0" fill="hold" nodeType="clickEffect">
                                  <p:stCondLst>
                                    <p:cond delay="0"/>
                                  </p:stCondLst>
                                  <p:childTnLst>
                                    <p:set>
                                      <p:cBhvr>
                                        <p:cTn id="172" dur="1" fill="hold">
                                          <p:stCondLst>
                                            <p:cond delay="0"/>
                                          </p:stCondLst>
                                        </p:cTn>
                                        <p:tgtEl>
                                          <p:spTgt spid="225"/>
                                        </p:tgtEl>
                                        <p:attrNameLst>
                                          <p:attrName>style.visibility</p:attrName>
                                        </p:attrNameLst>
                                      </p:cBhvr>
                                      <p:to>
                                        <p:strVal val="visible"/>
                                      </p:to>
                                    </p:set>
                                    <p:animEffect transition="in" filter="dissolve">
                                      <p:cBhvr>
                                        <p:cTn id="173" dur="500"/>
                                        <p:tgtEl>
                                          <p:spTgt spid="225"/>
                                        </p:tgtEl>
                                      </p:cBhvr>
                                    </p:animEffect>
                                  </p:childTnLst>
                                </p:cTn>
                              </p:par>
                            </p:childTnLst>
                          </p:cTn>
                        </p:par>
                      </p:childTnLst>
                    </p:cTn>
                  </p:par>
                  <p:par>
                    <p:cTn id="174" fill="hold">
                      <p:stCondLst>
                        <p:cond delay="indefinite"/>
                      </p:stCondLst>
                      <p:childTnLst>
                        <p:par>
                          <p:cTn id="175" fill="hold">
                            <p:stCondLst>
                              <p:cond delay="0"/>
                            </p:stCondLst>
                            <p:childTnLst>
                              <p:par>
                                <p:cTn id="176" presetID="9" presetClass="entr" presetSubtype="0" fill="hold" nodeType="clickEffect">
                                  <p:stCondLst>
                                    <p:cond delay="0"/>
                                  </p:stCondLst>
                                  <p:childTnLst>
                                    <p:set>
                                      <p:cBhvr>
                                        <p:cTn id="177" dur="1" fill="hold">
                                          <p:stCondLst>
                                            <p:cond delay="0"/>
                                          </p:stCondLst>
                                        </p:cTn>
                                        <p:tgtEl>
                                          <p:spTgt spid="228">
                                            <p:txEl>
                                              <p:pRg st="1" end="1"/>
                                            </p:txEl>
                                          </p:spTgt>
                                        </p:tgtEl>
                                        <p:attrNameLst>
                                          <p:attrName>style.visibility</p:attrName>
                                        </p:attrNameLst>
                                      </p:cBhvr>
                                      <p:to>
                                        <p:strVal val="visible"/>
                                      </p:to>
                                    </p:set>
                                    <p:animEffect transition="in" filter="dissolve">
                                      <p:cBhvr>
                                        <p:cTn id="178" dur="500"/>
                                        <p:tgtEl>
                                          <p:spTgt spid="228">
                                            <p:txEl>
                                              <p:pRg st="1" end="1"/>
                                            </p:txEl>
                                          </p:spTgt>
                                        </p:tgtEl>
                                      </p:cBhvr>
                                    </p:animEffect>
                                  </p:childTnLst>
                                </p:cTn>
                              </p:par>
                            </p:childTnLst>
                          </p:cTn>
                        </p:par>
                      </p:childTnLst>
                    </p:cTn>
                  </p:par>
                  <p:par>
                    <p:cTn id="179" fill="hold">
                      <p:stCondLst>
                        <p:cond delay="indefinite"/>
                      </p:stCondLst>
                      <p:childTnLst>
                        <p:par>
                          <p:cTn id="180" fill="hold">
                            <p:stCondLst>
                              <p:cond delay="0"/>
                            </p:stCondLst>
                            <p:childTnLst>
                              <p:par>
                                <p:cTn id="181" presetID="9" presetClass="entr" presetSubtype="0" fill="hold" nodeType="clickEffect">
                                  <p:stCondLst>
                                    <p:cond delay="0"/>
                                  </p:stCondLst>
                                  <p:childTnLst>
                                    <p:set>
                                      <p:cBhvr>
                                        <p:cTn id="182" dur="1" fill="hold">
                                          <p:stCondLst>
                                            <p:cond delay="0"/>
                                          </p:stCondLst>
                                        </p:cTn>
                                        <p:tgtEl>
                                          <p:spTgt spid="230"/>
                                        </p:tgtEl>
                                        <p:attrNameLst>
                                          <p:attrName>style.visibility</p:attrName>
                                        </p:attrNameLst>
                                      </p:cBhvr>
                                      <p:to>
                                        <p:strVal val="visible"/>
                                      </p:to>
                                    </p:set>
                                    <p:animEffect transition="in" filter="dissolve">
                                      <p:cBhvr>
                                        <p:cTn id="183" dur="500"/>
                                        <p:tgtEl>
                                          <p:spTgt spid="230"/>
                                        </p:tgtEl>
                                      </p:cBhvr>
                                    </p:animEffect>
                                  </p:childTnLst>
                                </p:cTn>
                              </p:par>
                            </p:childTnLst>
                          </p:cTn>
                        </p:par>
                      </p:childTnLst>
                    </p:cTn>
                  </p:par>
                  <p:par>
                    <p:cTn id="184" fill="hold">
                      <p:stCondLst>
                        <p:cond delay="indefinite"/>
                      </p:stCondLst>
                      <p:childTnLst>
                        <p:par>
                          <p:cTn id="185" fill="hold">
                            <p:stCondLst>
                              <p:cond delay="0"/>
                            </p:stCondLst>
                            <p:childTnLst>
                              <p:par>
                                <p:cTn id="186" presetID="9" presetClass="entr" presetSubtype="0" fill="hold" nodeType="clickEffect">
                                  <p:stCondLst>
                                    <p:cond delay="0"/>
                                  </p:stCondLst>
                                  <p:childTnLst>
                                    <p:set>
                                      <p:cBhvr>
                                        <p:cTn id="187" dur="1" fill="hold">
                                          <p:stCondLst>
                                            <p:cond delay="0"/>
                                          </p:stCondLst>
                                        </p:cTn>
                                        <p:tgtEl>
                                          <p:spTgt spid="229">
                                            <p:txEl>
                                              <p:pRg st="1" end="1"/>
                                            </p:txEl>
                                          </p:spTgt>
                                        </p:tgtEl>
                                        <p:attrNameLst>
                                          <p:attrName>style.visibility</p:attrName>
                                        </p:attrNameLst>
                                      </p:cBhvr>
                                      <p:to>
                                        <p:strVal val="visible"/>
                                      </p:to>
                                    </p:set>
                                    <p:animEffect transition="in" filter="dissolve">
                                      <p:cBhvr>
                                        <p:cTn id="188" dur="500"/>
                                        <p:tgtEl>
                                          <p:spTgt spid="229">
                                            <p:txEl>
                                              <p:pRg st="1" end="1"/>
                                            </p:txEl>
                                          </p:spTgt>
                                        </p:tgtEl>
                                      </p:cBhvr>
                                    </p:animEffect>
                                  </p:childTnLst>
                                </p:cTn>
                              </p:par>
                            </p:childTnLst>
                          </p:cTn>
                        </p:par>
                      </p:childTnLst>
                    </p:cTn>
                  </p:par>
                  <p:par>
                    <p:cTn id="189" fill="hold">
                      <p:stCondLst>
                        <p:cond delay="indefinite"/>
                      </p:stCondLst>
                      <p:childTnLst>
                        <p:par>
                          <p:cTn id="190" fill="hold">
                            <p:stCondLst>
                              <p:cond delay="0"/>
                            </p:stCondLst>
                            <p:childTnLst>
                              <p:par>
                                <p:cTn id="191" presetID="7" presetClass="emph" presetSubtype="2" fill="hold" nodeType="clickEffect">
                                  <p:stCondLst>
                                    <p:cond delay="0"/>
                                  </p:stCondLst>
                                  <p:childTnLst>
                                    <p:animClr clrSpc="rgb" dir="cw">
                                      <p:cBhvr>
                                        <p:cTn id="192" dur="2000" fill="hold"/>
                                        <p:tgtEl>
                                          <p:spTgt spid="182"/>
                                        </p:tgtEl>
                                        <p:attrNameLst>
                                          <p:attrName>stroke.color</p:attrName>
                                        </p:attrNameLst>
                                      </p:cBhvr>
                                      <p:to>
                                        <a:schemeClr val="accent2"/>
                                      </p:to>
                                    </p:animClr>
                                    <p:set>
                                      <p:cBhvr>
                                        <p:cTn id="193" dur="2000" fill="hold"/>
                                        <p:tgtEl>
                                          <p:spTgt spid="182"/>
                                        </p:tgtEl>
                                        <p:attrNameLst>
                                          <p:attrName>stroke.on</p:attrName>
                                        </p:attrNameLst>
                                      </p:cBhvr>
                                      <p:to>
                                        <p:strVal val="true"/>
                                      </p:to>
                                    </p:set>
                                  </p:childTnLst>
                                </p:cTn>
                              </p:par>
                            </p:childTnLst>
                          </p:cTn>
                        </p:par>
                      </p:childTnLst>
                    </p:cTn>
                  </p:par>
                  <p:par>
                    <p:cTn id="194" fill="hold">
                      <p:stCondLst>
                        <p:cond delay="indefinite"/>
                      </p:stCondLst>
                      <p:childTnLst>
                        <p:par>
                          <p:cTn id="195" fill="hold">
                            <p:stCondLst>
                              <p:cond delay="0"/>
                            </p:stCondLst>
                            <p:childTnLst>
                              <p:par>
                                <p:cTn id="196" presetID="9" presetClass="entr" presetSubtype="0" fill="hold" nodeType="clickEffect">
                                  <p:stCondLst>
                                    <p:cond delay="0"/>
                                  </p:stCondLst>
                                  <p:childTnLst>
                                    <p:set>
                                      <p:cBhvr>
                                        <p:cTn id="197" dur="1" fill="hold">
                                          <p:stCondLst>
                                            <p:cond delay="0"/>
                                          </p:stCondLst>
                                        </p:cTn>
                                        <p:tgtEl>
                                          <p:spTgt spid="227"/>
                                        </p:tgtEl>
                                        <p:attrNameLst>
                                          <p:attrName>style.visibility</p:attrName>
                                        </p:attrNameLst>
                                      </p:cBhvr>
                                      <p:to>
                                        <p:strVal val="visible"/>
                                      </p:to>
                                    </p:set>
                                    <p:animEffect transition="in" filter="dissolve">
                                      <p:cBhvr>
                                        <p:cTn id="198" dur="500"/>
                                        <p:tgtEl>
                                          <p:spTgt spid="227"/>
                                        </p:tgtEl>
                                      </p:cBhvr>
                                    </p:animEffect>
                                  </p:childTnLst>
                                </p:cTn>
                              </p:par>
                            </p:childTnLst>
                          </p:cTn>
                        </p:par>
                      </p:childTnLst>
                    </p:cTn>
                  </p:par>
                  <p:par>
                    <p:cTn id="199" fill="hold">
                      <p:stCondLst>
                        <p:cond delay="indefinite"/>
                      </p:stCondLst>
                      <p:childTnLst>
                        <p:par>
                          <p:cTn id="200" fill="hold">
                            <p:stCondLst>
                              <p:cond delay="0"/>
                            </p:stCondLst>
                            <p:childTnLst>
                              <p:par>
                                <p:cTn id="201" presetID="9" presetClass="entr" presetSubtype="0" fill="hold" nodeType="clickEffect">
                                  <p:stCondLst>
                                    <p:cond delay="0"/>
                                  </p:stCondLst>
                                  <p:childTnLst>
                                    <p:set>
                                      <p:cBhvr>
                                        <p:cTn id="202" dur="1" fill="hold">
                                          <p:stCondLst>
                                            <p:cond delay="0"/>
                                          </p:stCondLst>
                                        </p:cTn>
                                        <p:tgtEl>
                                          <p:spTgt spid="228">
                                            <p:txEl>
                                              <p:pRg st="4" end="4"/>
                                            </p:txEl>
                                          </p:spTgt>
                                        </p:tgtEl>
                                        <p:attrNameLst>
                                          <p:attrName>style.visibility</p:attrName>
                                        </p:attrNameLst>
                                      </p:cBhvr>
                                      <p:to>
                                        <p:strVal val="visible"/>
                                      </p:to>
                                    </p:set>
                                    <p:animEffect transition="in" filter="dissolve">
                                      <p:cBhvr>
                                        <p:cTn id="203" dur="500"/>
                                        <p:tgtEl>
                                          <p:spTgt spid="228">
                                            <p:txEl>
                                              <p:pRg st="4" end="4"/>
                                            </p:txEl>
                                          </p:spTgt>
                                        </p:tgtEl>
                                      </p:cBhvr>
                                    </p:animEffect>
                                  </p:childTnLst>
                                </p:cTn>
                              </p:par>
                            </p:childTnLst>
                          </p:cTn>
                        </p:par>
                      </p:childTnLst>
                    </p:cTn>
                  </p:par>
                  <p:par>
                    <p:cTn id="204" fill="hold">
                      <p:stCondLst>
                        <p:cond delay="indefinite"/>
                      </p:stCondLst>
                      <p:childTnLst>
                        <p:par>
                          <p:cTn id="205" fill="hold">
                            <p:stCondLst>
                              <p:cond delay="0"/>
                            </p:stCondLst>
                            <p:childTnLst>
                              <p:par>
                                <p:cTn id="206" presetID="9" presetClass="entr" presetSubtype="0" fill="hold" nodeType="clickEffect">
                                  <p:stCondLst>
                                    <p:cond delay="0"/>
                                  </p:stCondLst>
                                  <p:childTnLst>
                                    <p:set>
                                      <p:cBhvr>
                                        <p:cTn id="207" dur="1" fill="hold">
                                          <p:stCondLst>
                                            <p:cond delay="0"/>
                                          </p:stCondLst>
                                        </p:cTn>
                                        <p:tgtEl>
                                          <p:spTgt spid="232"/>
                                        </p:tgtEl>
                                        <p:attrNameLst>
                                          <p:attrName>style.visibility</p:attrName>
                                        </p:attrNameLst>
                                      </p:cBhvr>
                                      <p:to>
                                        <p:strVal val="visible"/>
                                      </p:to>
                                    </p:set>
                                    <p:animEffect transition="in" filter="dissolve">
                                      <p:cBhvr>
                                        <p:cTn id="208" dur="500"/>
                                        <p:tgtEl>
                                          <p:spTgt spid="232"/>
                                        </p:tgtEl>
                                      </p:cBhvr>
                                    </p:animEffect>
                                  </p:childTnLst>
                                </p:cTn>
                              </p:par>
                            </p:childTnLst>
                          </p:cTn>
                        </p:par>
                      </p:childTnLst>
                    </p:cTn>
                  </p:par>
                  <p:par>
                    <p:cTn id="209" fill="hold">
                      <p:stCondLst>
                        <p:cond delay="indefinite"/>
                      </p:stCondLst>
                      <p:childTnLst>
                        <p:par>
                          <p:cTn id="210" fill="hold">
                            <p:stCondLst>
                              <p:cond delay="0"/>
                            </p:stCondLst>
                            <p:childTnLst>
                              <p:par>
                                <p:cTn id="211" presetID="9" presetClass="entr" presetSubtype="0" fill="hold" nodeType="clickEffect">
                                  <p:stCondLst>
                                    <p:cond delay="0"/>
                                  </p:stCondLst>
                                  <p:childTnLst>
                                    <p:set>
                                      <p:cBhvr>
                                        <p:cTn id="212" dur="1" fill="hold">
                                          <p:stCondLst>
                                            <p:cond delay="0"/>
                                          </p:stCondLst>
                                        </p:cTn>
                                        <p:tgtEl>
                                          <p:spTgt spid="229">
                                            <p:txEl>
                                              <p:pRg st="4" end="4"/>
                                            </p:txEl>
                                          </p:spTgt>
                                        </p:tgtEl>
                                        <p:attrNameLst>
                                          <p:attrName>style.visibility</p:attrName>
                                        </p:attrNameLst>
                                      </p:cBhvr>
                                      <p:to>
                                        <p:strVal val="visible"/>
                                      </p:to>
                                    </p:set>
                                    <p:animEffect transition="in" filter="dissolve">
                                      <p:cBhvr>
                                        <p:cTn id="213" dur="500"/>
                                        <p:tgtEl>
                                          <p:spTgt spid="229">
                                            <p:txEl>
                                              <p:pRg st="4" end="4"/>
                                            </p:txEl>
                                          </p:spTgt>
                                        </p:tgtEl>
                                      </p:cBhvr>
                                    </p:animEffect>
                                  </p:childTnLst>
                                </p:cTn>
                              </p:par>
                            </p:childTnLst>
                          </p:cTn>
                        </p:par>
                      </p:childTnLst>
                    </p:cTn>
                  </p:par>
                  <p:par>
                    <p:cTn id="214" fill="hold">
                      <p:stCondLst>
                        <p:cond delay="indefinite"/>
                      </p:stCondLst>
                      <p:childTnLst>
                        <p:par>
                          <p:cTn id="215" fill="hold">
                            <p:stCondLst>
                              <p:cond delay="0"/>
                            </p:stCondLst>
                            <p:childTnLst>
                              <p:par>
                                <p:cTn id="216" presetID="7" presetClass="emph" presetSubtype="2" fill="hold" nodeType="clickEffect">
                                  <p:stCondLst>
                                    <p:cond delay="0"/>
                                  </p:stCondLst>
                                  <p:childTnLst>
                                    <p:animClr clrSpc="rgb" dir="cw">
                                      <p:cBhvr>
                                        <p:cTn id="217" dur="2000" fill="hold"/>
                                        <p:tgtEl>
                                          <p:spTgt spid="189"/>
                                        </p:tgtEl>
                                        <p:attrNameLst>
                                          <p:attrName>stroke.color</p:attrName>
                                        </p:attrNameLst>
                                      </p:cBhvr>
                                      <p:to>
                                        <a:schemeClr val="accent2"/>
                                      </p:to>
                                    </p:animClr>
                                    <p:set>
                                      <p:cBhvr>
                                        <p:cTn id="218" dur="2000" fill="hold"/>
                                        <p:tgtEl>
                                          <p:spTgt spid="189"/>
                                        </p:tgtEl>
                                        <p:attrNameLst>
                                          <p:attrName>stroke.on</p:attrName>
                                        </p:attrNameLst>
                                      </p:cBhvr>
                                      <p:to>
                                        <p:strVal val="true"/>
                                      </p:to>
                                    </p:set>
                                  </p:childTnLst>
                                </p:cTn>
                              </p:par>
                            </p:childTnLst>
                          </p:cTn>
                        </p:par>
                      </p:childTnLst>
                    </p:cTn>
                  </p:par>
                  <p:par>
                    <p:cTn id="219" fill="hold">
                      <p:stCondLst>
                        <p:cond delay="indefinite"/>
                      </p:stCondLst>
                      <p:childTnLst>
                        <p:par>
                          <p:cTn id="220" fill="hold">
                            <p:stCondLst>
                              <p:cond delay="0"/>
                            </p:stCondLst>
                            <p:childTnLst>
                              <p:par>
                                <p:cTn id="221" presetID="9" presetClass="entr" presetSubtype="0" fill="hold" nodeType="clickEffect">
                                  <p:stCondLst>
                                    <p:cond delay="0"/>
                                  </p:stCondLst>
                                  <p:childTnLst>
                                    <p:set>
                                      <p:cBhvr>
                                        <p:cTn id="222" dur="1" fill="hold">
                                          <p:stCondLst>
                                            <p:cond delay="0"/>
                                          </p:stCondLst>
                                        </p:cTn>
                                        <p:tgtEl>
                                          <p:spTgt spid="226"/>
                                        </p:tgtEl>
                                        <p:attrNameLst>
                                          <p:attrName>style.visibility</p:attrName>
                                        </p:attrNameLst>
                                      </p:cBhvr>
                                      <p:to>
                                        <p:strVal val="visible"/>
                                      </p:to>
                                    </p:set>
                                    <p:animEffect transition="in" filter="dissolve">
                                      <p:cBhvr>
                                        <p:cTn id="223" dur="500"/>
                                        <p:tgtEl>
                                          <p:spTgt spid="226"/>
                                        </p:tgtEl>
                                      </p:cBhvr>
                                    </p:animEffect>
                                  </p:childTnLst>
                                </p:cTn>
                              </p:par>
                            </p:childTnLst>
                          </p:cTn>
                        </p:par>
                      </p:childTnLst>
                    </p:cTn>
                  </p:par>
                  <p:par>
                    <p:cTn id="224" fill="hold">
                      <p:stCondLst>
                        <p:cond delay="indefinite"/>
                      </p:stCondLst>
                      <p:childTnLst>
                        <p:par>
                          <p:cTn id="225" fill="hold">
                            <p:stCondLst>
                              <p:cond delay="0"/>
                            </p:stCondLst>
                            <p:childTnLst>
                              <p:par>
                                <p:cTn id="226" presetID="9" presetClass="entr" presetSubtype="0" fill="hold" nodeType="clickEffect">
                                  <p:stCondLst>
                                    <p:cond delay="0"/>
                                  </p:stCondLst>
                                  <p:childTnLst>
                                    <p:set>
                                      <p:cBhvr>
                                        <p:cTn id="227" dur="1" fill="hold">
                                          <p:stCondLst>
                                            <p:cond delay="0"/>
                                          </p:stCondLst>
                                        </p:cTn>
                                        <p:tgtEl>
                                          <p:spTgt spid="228">
                                            <p:txEl>
                                              <p:pRg st="7" end="7"/>
                                            </p:txEl>
                                          </p:spTgt>
                                        </p:tgtEl>
                                        <p:attrNameLst>
                                          <p:attrName>style.visibility</p:attrName>
                                        </p:attrNameLst>
                                      </p:cBhvr>
                                      <p:to>
                                        <p:strVal val="visible"/>
                                      </p:to>
                                    </p:set>
                                    <p:animEffect transition="in" filter="dissolve">
                                      <p:cBhvr>
                                        <p:cTn id="228" dur="500"/>
                                        <p:tgtEl>
                                          <p:spTgt spid="228">
                                            <p:txEl>
                                              <p:pRg st="7" end="7"/>
                                            </p:txEl>
                                          </p:spTgt>
                                        </p:tgtEl>
                                      </p:cBhvr>
                                    </p:animEffect>
                                  </p:childTnLst>
                                </p:cTn>
                              </p:par>
                            </p:childTnLst>
                          </p:cTn>
                        </p:par>
                      </p:childTnLst>
                    </p:cTn>
                  </p:par>
                  <p:par>
                    <p:cTn id="229" fill="hold">
                      <p:stCondLst>
                        <p:cond delay="indefinite"/>
                      </p:stCondLst>
                      <p:childTnLst>
                        <p:par>
                          <p:cTn id="230" fill="hold">
                            <p:stCondLst>
                              <p:cond delay="0"/>
                            </p:stCondLst>
                            <p:childTnLst>
                              <p:par>
                                <p:cTn id="231" presetID="9" presetClass="entr" presetSubtype="0" fill="hold" nodeType="clickEffect">
                                  <p:stCondLst>
                                    <p:cond delay="0"/>
                                  </p:stCondLst>
                                  <p:childTnLst>
                                    <p:set>
                                      <p:cBhvr>
                                        <p:cTn id="232" dur="1" fill="hold">
                                          <p:stCondLst>
                                            <p:cond delay="0"/>
                                          </p:stCondLst>
                                        </p:cTn>
                                        <p:tgtEl>
                                          <p:spTgt spid="231"/>
                                        </p:tgtEl>
                                        <p:attrNameLst>
                                          <p:attrName>style.visibility</p:attrName>
                                        </p:attrNameLst>
                                      </p:cBhvr>
                                      <p:to>
                                        <p:strVal val="visible"/>
                                      </p:to>
                                    </p:set>
                                    <p:animEffect transition="in" filter="dissolve">
                                      <p:cBhvr>
                                        <p:cTn id="233" dur="500"/>
                                        <p:tgtEl>
                                          <p:spTgt spid="231"/>
                                        </p:tgtEl>
                                      </p:cBhvr>
                                    </p:animEffect>
                                  </p:childTnLst>
                                </p:cTn>
                              </p:par>
                            </p:childTnLst>
                          </p:cTn>
                        </p:par>
                      </p:childTnLst>
                    </p:cTn>
                  </p:par>
                  <p:par>
                    <p:cTn id="234" fill="hold">
                      <p:stCondLst>
                        <p:cond delay="indefinite"/>
                      </p:stCondLst>
                      <p:childTnLst>
                        <p:par>
                          <p:cTn id="235" fill="hold">
                            <p:stCondLst>
                              <p:cond delay="0"/>
                            </p:stCondLst>
                            <p:childTnLst>
                              <p:par>
                                <p:cTn id="236" presetID="9" presetClass="entr" presetSubtype="0" fill="hold" nodeType="clickEffect">
                                  <p:stCondLst>
                                    <p:cond delay="0"/>
                                  </p:stCondLst>
                                  <p:childTnLst>
                                    <p:set>
                                      <p:cBhvr>
                                        <p:cTn id="237" dur="1" fill="hold">
                                          <p:stCondLst>
                                            <p:cond delay="0"/>
                                          </p:stCondLst>
                                        </p:cTn>
                                        <p:tgtEl>
                                          <p:spTgt spid="229">
                                            <p:txEl>
                                              <p:pRg st="7" end="7"/>
                                            </p:txEl>
                                          </p:spTgt>
                                        </p:tgtEl>
                                        <p:attrNameLst>
                                          <p:attrName>style.visibility</p:attrName>
                                        </p:attrNameLst>
                                      </p:cBhvr>
                                      <p:to>
                                        <p:strVal val="visible"/>
                                      </p:to>
                                    </p:set>
                                    <p:animEffect transition="in" filter="dissolve">
                                      <p:cBhvr>
                                        <p:cTn id="238" dur="500"/>
                                        <p:tgtEl>
                                          <p:spTgt spid="229">
                                            <p:txEl>
                                              <p:pRg st="7" end="7"/>
                                            </p:txEl>
                                          </p:spTgt>
                                        </p:tgtEl>
                                      </p:cBhvr>
                                    </p:animEffect>
                                  </p:childTnLst>
                                </p:cTn>
                              </p:par>
                            </p:childTnLst>
                          </p:cTn>
                        </p:par>
                      </p:childTnLst>
                    </p:cTn>
                  </p:par>
                  <p:par>
                    <p:cTn id="239" fill="hold">
                      <p:stCondLst>
                        <p:cond delay="indefinite"/>
                      </p:stCondLst>
                      <p:childTnLst>
                        <p:par>
                          <p:cTn id="240" fill="hold">
                            <p:stCondLst>
                              <p:cond delay="0"/>
                            </p:stCondLst>
                            <p:childTnLst>
                              <p:par>
                                <p:cTn id="241" presetID="7" presetClass="emph" presetSubtype="2" fill="hold" nodeType="clickEffect">
                                  <p:stCondLst>
                                    <p:cond delay="0"/>
                                  </p:stCondLst>
                                  <p:childTnLst>
                                    <p:animClr clrSpc="rgb" dir="cw">
                                      <p:cBhvr>
                                        <p:cTn id="242" dur="2000" fill="hold"/>
                                        <p:tgtEl>
                                          <p:spTgt spid="178"/>
                                        </p:tgtEl>
                                        <p:attrNameLst>
                                          <p:attrName>stroke.color</p:attrName>
                                        </p:attrNameLst>
                                      </p:cBhvr>
                                      <p:to>
                                        <a:schemeClr val="accent2"/>
                                      </p:to>
                                    </p:animClr>
                                    <p:set>
                                      <p:cBhvr>
                                        <p:cTn id="243" dur="2000" fill="hold"/>
                                        <p:tgtEl>
                                          <p:spTgt spid="178"/>
                                        </p:tgtEl>
                                        <p:attrNameLst>
                                          <p:attrName>stroke.on</p:attrName>
                                        </p:attrNameLst>
                                      </p:cBhvr>
                                      <p:to>
                                        <p:strVal val="true"/>
                                      </p:to>
                                    </p:set>
                                  </p:childTnLst>
                                </p:cTn>
                              </p:par>
                            </p:childTnLst>
                          </p:cTn>
                        </p:par>
                      </p:childTnLst>
                    </p:cTn>
                  </p:par>
                  <p:par>
                    <p:cTn id="244" fill="hold">
                      <p:stCondLst>
                        <p:cond delay="indefinite"/>
                      </p:stCondLst>
                      <p:childTnLst>
                        <p:par>
                          <p:cTn id="245" fill="hold">
                            <p:stCondLst>
                              <p:cond delay="0"/>
                            </p:stCondLst>
                            <p:childTnLst>
                              <p:par>
                                <p:cTn id="246" presetID="9" presetClass="entr" presetSubtype="0" fill="hold" nodeType="clickEffect">
                                  <p:stCondLst>
                                    <p:cond delay="0"/>
                                  </p:stCondLst>
                                  <p:childTnLst>
                                    <p:set>
                                      <p:cBhvr>
                                        <p:cTn id="247" dur="1" fill="hold">
                                          <p:stCondLst>
                                            <p:cond delay="0"/>
                                          </p:stCondLst>
                                        </p:cTn>
                                        <p:tgtEl>
                                          <p:spTgt spid="234"/>
                                        </p:tgtEl>
                                        <p:attrNameLst>
                                          <p:attrName>style.visibility</p:attrName>
                                        </p:attrNameLst>
                                      </p:cBhvr>
                                      <p:to>
                                        <p:strVal val="visible"/>
                                      </p:to>
                                    </p:set>
                                    <p:animEffect transition="in" filter="dissolve">
                                      <p:cBhvr>
                                        <p:cTn id="248" dur="500"/>
                                        <p:tgtEl>
                                          <p:spTgt spid="234"/>
                                        </p:tgtEl>
                                      </p:cBhvr>
                                    </p:animEffect>
                                  </p:childTnLst>
                                </p:cTn>
                              </p:par>
                            </p:childTnLst>
                          </p:cTn>
                        </p:par>
                      </p:childTnLst>
                    </p:cTn>
                  </p:par>
                  <p:par>
                    <p:cTn id="249" fill="hold">
                      <p:stCondLst>
                        <p:cond delay="indefinite"/>
                      </p:stCondLst>
                      <p:childTnLst>
                        <p:par>
                          <p:cTn id="250" fill="hold">
                            <p:stCondLst>
                              <p:cond delay="0"/>
                            </p:stCondLst>
                            <p:childTnLst>
                              <p:par>
                                <p:cTn id="251" presetID="9" presetClass="entr" presetSubtype="0" fill="hold" nodeType="clickEffect">
                                  <p:stCondLst>
                                    <p:cond delay="0"/>
                                  </p:stCondLst>
                                  <p:childTnLst>
                                    <p:set>
                                      <p:cBhvr>
                                        <p:cTn id="252" dur="1" fill="hold">
                                          <p:stCondLst>
                                            <p:cond delay="0"/>
                                          </p:stCondLst>
                                        </p:cTn>
                                        <p:tgtEl>
                                          <p:spTgt spid="228">
                                            <p:txEl>
                                              <p:pRg st="2" end="2"/>
                                            </p:txEl>
                                          </p:spTgt>
                                        </p:tgtEl>
                                        <p:attrNameLst>
                                          <p:attrName>style.visibility</p:attrName>
                                        </p:attrNameLst>
                                      </p:cBhvr>
                                      <p:to>
                                        <p:strVal val="visible"/>
                                      </p:to>
                                    </p:set>
                                    <p:animEffect transition="in" filter="dissolve">
                                      <p:cBhvr>
                                        <p:cTn id="253" dur="500"/>
                                        <p:tgtEl>
                                          <p:spTgt spid="228">
                                            <p:txEl>
                                              <p:pRg st="2" end="2"/>
                                            </p:txEl>
                                          </p:spTgt>
                                        </p:tgtEl>
                                      </p:cBhvr>
                                    </p:animEffect>
                                  </p:childTnLst>
                                </p:cTn>
                              </p:par>
                            </p:childTnLst>
                          </p:cTn>
                        </p:par>
                      </p:childTnLst>
                    </p:cTn>
                  </p:par>
                  <p:par>
                    <p:cTn id="254" fill="hold">
                      <p:stCondLst>
                        <p:cond delay="indefinite"/>
                      </p:stCondLst>
                      <p:childTnLst>
                        <p:par>
                          <p:cTn id="255" fill="hold">
                            <p:stCondLst>
                              <p:cond delay="0"/>
                            </p:stCondLst>
                            <p:childTnLst>
                              <p:par>
                                <p:cTn id="256" presetID="9" presetClass="entr" presetSubtype="0" fill="hold" nodeType="clickEffect">
                                  <p:stCondLst>
                                    <p:cond delay="0"/>
                                  </p:stCondLst>
                                  <p:childTnLst>
                                    <p:set>
                                      <p:cBhvr>
                                        <p:cTn id="257" dur="1" fill="hold">
                                          <p:stCondLst>
                                            <p:cond delay="0"/>
                                          </p:stCondLst>
                                        </p:cTn>
                                        <p:tgtEl>
                                          <p:spTgt spid="235"/>
                                        </p:tgtEl>
                                        <p:attrNameLst>
                                          <p:attrName>style.visibility</p:attrName>
                                        </p:attrNameLst>
                                      </p:cBhvr>
                                      <p:to>
                                        <p:strVal val="visible"/>
                                      </p:to>
                                    </p:set>
                                    <p:animEffect transition="in" filter="dissolve">
                                      <p:cBhvr>
                                        <p:cTn id="258" dur="500"/>
                                        <p:tgtEl>
                                          <p:spTgt spid="235"/>
                                        </p:tgtEl>
                                      </p:cBhvr>
                                    </p:animEffect>
                                  </p:childTnLst>
                                </p:cTn>
                              </p:par>
                            </p:childTnLst>
                          </p:cTn>
                        </p:par>
                      </p:childTnLst>
                    </p:cTn>
                  </p:par>
                  <p:par>
                    <p:cTn id="259" fill="hold">
                      <p:stCondLst>
                        <p:cond delay="indefinite"/>
                      </p:stCondLst>
                      <p:childTnLst>
                        <p:par>
                          <p:cTn id="260" fill="hold">
                            <p:stCondLst>
                              <p:cond delay="0"/>
                            </p:stCondLst>
                            <p:childTnLst>
                              <p:par>
                                <p:cTn id="261" presetID="9" presetClass="entr" presetSubtype="0" fill="hold" nodeType="clickEffect">
                                  <p:stCondLst>
                                    <p:cond delay="0"/>
                                  </p:stCondLst>
                                  <p:childTnLst>
                                    <p:set>
                                      <p:cBhvr>
                                        <p:cTn id="262" dur="1" fill="hold">
                                          <p:stCondLst>
                                            <p:cond delay="0"/>
                                          </p:stCondLst>
                                        </p:cTn>
                                        <p:tgtEl>
                                          <p:spTgt spid="229">
                                            <p:txEl>
                                              <p:pRg st="2" end="2"/>
                                            </p:txEl>
                                          </p:spTgt>
                                        </p:tgtEl>
                                        <p:attrNameLst>
                                          <p:attrName>style.visibility</p:attrName>
                                        </p:attrNameLst>
                                      </p:cBhvr>
                                      <p:to>
                                        <p:strVal val="visible"/>
                                      </p:to>
                                    </p:set>
                                    <p:animEffect transition="in" filter="dissolve">
                                      <p:cBhvr>
                                        <p:cTn id="263" dur="500"/>
                                        <p:tgtEl>
                                          <p:spTgt spid="229">
                                            <p:txEl>
                                              <p:pRg st="2" end="2"/>
                                            </p:txEl>
                                          </p:spTgt>
                                        </p:tgtEl>
                                      </p:cBhvr>
                                    </p:animEffect>
                                  </p:childTnLst>
                                </p:cTn>
                              </p:par>
                            </p:childTnLst>
                          </p:cTn>
                        </p:par>
                      </p:childTnLst>
                    </p:cTn>
                  </p:par>
                  <p:par>
                    <p:cTn id="264" fill="hold">
                      <p:stCondLst>
                        <p:cond delay="indefinite"/>
                      </p:stCondLst>
                      <p:childTnLst>
                        <p:par>
                          <p:cTn id="265" fill="hold">
                            <p:stCondLst>
                              <p:cond delay="0"/>
                            </p:stCondLst>
                            <p:childTnLst>
                              <p:par>
                                <p:cTn id="266" presetID="7" presetClass="emph" presetSubtype="2" fill="hold" nodeType="clickEffect">
                                  <p:stCondLst>
                                    <p:cond delay="0"/>
                                  </p:stCondLst>
                                  <p:childTnLst>
                                    <p:animClr clrSpc="rgb" dir="cw">
                                      <p:cBhvr>
                                        <p:cTn id="267" dur="2000" fill="hold"/>
                                        <p:tgtEl>
                                          <p:spTgt spid="181"/>
                                        </p:tgtEl>
                                        <p:attrNameLst>
                                          <p:attrName>stroke.color</p:attrName>
                                        </p:attrNameLst>
                                      </p:cBhvr>
                                      <p:to>
                                        <a:schemeClr val="accent2"/>
                                      </p:to>
                                    </p:animClr>
                                    <p:set>
                                      <p:cBhvr>
                                        <p:cTn id="268" dur="2000" fill="hold"/>
                                        <p:tgtEl>
                                          <p:spTgt spid="181"/>
                                        </p:tgtEl>
                                        <p:attrNameLst>
                                          <p:attrName>stroke.on</p:attrName>
                                        </p:attrNameLst>
                                      </p:cBhvr>
                                      <p:to>
                                        <p:strVal val="true"/>
                                      </p:to>
                                    </p:set>
                                  </p:childTnLst>
                                </p:cTn>
                              </p:par>
                            </p:childTnLst>
                          </p:cTn>
                        </p:par>
                      </p:childTnLst>
                    </p:cTn>
                  </p:par>
                  <p:par>
                    <p:cTn id="269" fill="hold">
                      <p:stCondLst>
                        <p:cond delay="indefinite"/>
                      </p:stCondLst>
                      <p:childTnLst>
                        <p:par>
                          <p:cTn id="270" fill="hold">
                            <p:stCondLst>
                              <p:cond delay="0"/>
                            </p:stCondLst>
                            <p:childTnLst>
                              <p:par>
                                <p:cTn id="271" presetID="9" presetClass="entr" presetSubtype="0" fill="hold" nodeType="clickEffect">
                                  <p:stCondLst>
                                    <p:cond delay="0"/>
                                  </p:stCondLst>
                                  <p:childTnLst>
                                    <p:set>
                                      <p:cBhvr>
                                        <p:cTn id="272" dur="1" fill="hold">
                                          <p:stCondLst>
                                            <p:cond delay="0"/>
                                          </p:stCondLst>
                                        </p:cTn>
                                        <p:tgtEl>
                                          <p:spTgt spid="233"/>
                                        </p:tgtEl>
                                        <p:attrNameLst>
                                          <p:attrName>style.visibility</p:attrName>
                                        </p:attrNameLst>
                                      </p:cBhvr>
                                      <p:to>
                                        <p:strVal val="visible"/>
                                      </p:to>
                                    </p:set>
                                    <p:animEffect transition="in" filter="dissolve">
                                      <p:cBhvr>
                                        <p:cTn id="273" dur="500"/>
                                        <p:tgtEl>
                                          <p:spTgt spid="233"/>
                                        </p:tgtEl>
                                      </p:cBhvr>
                                    </p:animEffect>
                                  </p:childTnLst>
                                </p:cTn>
                              </p:par>
                            </p:childTnLst>
                          </p:cTn>
                        </p:par>
                      </p:childTnLst>
                    </p:cTn>
                  </p:par>
                  <p:par>
                    <p:cTn id="274" fill="hold">
                      <p:stCondLst>
                        <p:cond delay="indefinite"/>
                      </p:stCondLst>
                      <p:childTnLst>
                        <p:par>
                          <p:cTn id="275" fill="hold">
                            <p:stCondLst>
                              <p:cond delay="0"/>
                            </p:stCondLst>
                            <p:childTnLst>
                              <p:par>
                                <p:cTn id="276" presetID="9" presetClass="entr" presetSubtype="0" fill="hold" nodeType="clickEffect">
                                  <p:stCondLst>
                                    <p:cond delay="0"/>
                                  </p:stCondLst>
                                  <p:childTnLst>
                                    <p:set>
                                      <p:cBhvr>
                                        <p:cTn id="277" dur="1" fill="hold">
                                          <p:stCondLst>
                                            <p:cond delay="0"/>
                                          </p:stCondLst>
                                        </p:cTn>
                                        <p:tgtEl>
                                          <p:spTgt spid="228">
                                            <p:txEl>
                                              <p:pRg st="3" end="3"/>
                                            </p:txEl>
                                          </p:spTgt>
                                        </p:tgtEl>
                                        <p:attrNameLst>
                                          <p:attrName>style.visibility</p:attrName>
                                        </p:attrNameLst>
                                      </p:cBhvr>
                                      <p:to>
                                        <p:strVal val="visible"/>
                                      </p:to>
                                    </p:set>
                                    <p:animEffect transition="in" filter="dissolve">
                                      <p:cBhvr>
                                        <p:cTn id="278" dur="500"/>
                                        <p:tgtEl>
                                          <p:spTgt spid="228">
                                            <p:txEl>
                                              <p:pRg st="3" end="3"/>
                                            </p:txEl>
                                          </p:spTgt>
                                        </p:tgtEl>
                                      </p:cBhvr>
                                    </p:animEffect>
                                  </p:childTnLst>
                                </p:cTn>
                              </p:par>
                            </p:childTnLst>
                          </p:cTn>
                        </p:par>
                      </p:childTnLst>
                    </p:cTn>
                  </p:par>
                  <p:par>
                    <p:cTn id="279" fill="hold">
                      <p:stCondLst>
                        <p:cond delay="indefinite"/>
                      </p:stCondLst>
                      <p:childTnLst>
                        <p:par>
                          <p:cTn id="280" fill="hold">
                            <p:stCondLst>
                              <p:cond delay="0"/>
                            </p:stCondLst>
                            <p:childTnLst>
                              <p:par>
                                <p:cTn id="281" presetID="9" presetClass="entr" presetSubtype="0" fill="hold" nodeType="clickEffect">
                                  <p:stCondLst>
                                    <p:cond delay="0"/>
                                  </p:stCondLst>
                                  <p:childTnLst>
                                    <p:set>
                                      <p:cBhvr>
                                        <p:cTn id="282" dur="1" fill="hold">
                                          <p:stCondLst>
                                            <p:cond delay="0"/>
                                          </p:stCondLst>
                                        </p:cTn>
                                        <p:tgtEl>
                                          <p:spTgt spid="236"/>
                                        </p:tgtEl>
                                        <p:attrNameLst>
                                          <p:attrName>style.visibility</p:attrName>
                                        </p:attrNameLst>
                                      </p:cBhvr>
                                      <p:to>
                                        <p:strVal val="visible"/>
                                      </p:to>
                                    </p:set>
                                    <p:animEffect transition="in" filter="dissolve">
                                      <p:cBhvr>
                                        <p:cTn id="283" dur="500"/>
                                        <p:tgtEl>
                                          <p:spTgt spid="236"/>
                                        </p:tgtEl>
                                      </p:cBhvr>
                                    </p:animEffect>
                                  </p:childTnLst>
                                </p:cTn>
                              </p:par>
                            </p:childTnLst>
                          </p:cTn>
                        </p:par>
                      </p:childTnLst>
                    </p:cTn>
                  </p:par>
                  <p:par>
                    <p:cTn id="284" fill="hold">
                      <p:stCondLst>
                        <p:cond delay="indefinite"/>
                      </p:stCondLst>
                      <p:childTnLst>
                        <p:par>
                          <p:cTn id="285" fill="hold">
                            <p:stCondLst>
                              <p:cond delay="0"/>
                            </p:stCondLst>
                            <p:childTnLst>
                              <p:par>
                                <p:cTn id="286" presetID="9" presetClass="entr" presetSubtype="0" fill="hold" nodeType="clickEffect">
                                  <p:stCondLst>
                                    <p:cond delay="0"/>
                                  </p:stCondLst>
                                  <p:childTnLst>
                                    <p:set>
                                      <p:cBhvr>
                                        <p:cTn id="287" dur="1" fill="hold">
                                          <p:stCondLst>
                                            <p:cond delay="0"/>
                                          </p:stCondLst>
                                        </p:cTn>
                                        <p:tgtEl>
                                          <p:spTgt spid="229">
                                            <p:txEl>
                                              <p:pRg st="3" end="3"/>
                                            </p:txEl>
                                          </p:spTgt>
                                        </p:tgtEl>
                                        <p:attrNameLst>
                                          <p:attrName>style.visibility</p:attrName>
                                        </p:attrNameLst>
                                      </p:cBhvr>
                                      <p:to>
                                        <p:strVal val="visible"/>
                                      </p:to>
                                    </p:set>
                                    <p:animEffect transition="in" filter="dissolve">
                                      <p:cBhvr>
                                        <p:cTn id="288" dur="500"/>
                                        <p:tgtEl>
                                          <p:spTgt spid="229">
                                            <p:txEl>
                                              <p:pRg st="3" end="3"/>
                                            </p:txEl>
                                          </p:spTgt>
                                        </p:tgtEl>
                                      </p:cBhvr>
                                    </p:animEffect>
                                  </p:childTnLst>
                                </p:cTn>
                              </p:par>
                            </p:childTnLst>
                          </p:cTn>
                        </p:par>
                      </p:childTnLst>
                    </p:cTn>
                  </p:par>
                  <p:par>
                    <p:cTn id="289" fill="hold">
                      <p:stCondLst>
                        <p:cond delay="indefinite"/>
                      </p:stCondLst>
                      <p:childTnLst>
                        <p:par>
                          <p:cTn id="290" fill="hold">
                            <p:stCondLst>
                              <p:cond delay="0"/>
                            </p:stCondLst>
                            <p:childTnLst>
                              <p:par>
                                <p:cTn id="291" presetID="7" presetClass="emph" presetSubtype="2" fill="hold" nodeType="clickEffect">
                                  <p:stCondLst>
                                    <p:cond delay="0"/>
                                  </p:stCondLst>
                                  <p:childTnLst>
                                    <p:animClr clrSpc="rgb" dir="cw">
                                      <p:cBhvr>
                                        <p:cTn id="292" dur="2000" fill="hold"/>
                                        <p:tgtEl>
                                          <p:spTgt spid="183"/>
                                        </p:tgtEl>
                                        <p:attrNameLst>
                                          <p:attrName>stroke.color</p:attrName>
                                        </p:attrNameLst>
                                      </p:cBhvr>
                                      <p:to>
                                        <a:schemeClr val="accent2"/>
                                      </p:to>
                                    </p:animClr>
                                    <p:set>
                                      <p:cBhvr>
                                        <p:cTn id="293" dur="2000" fill="hold"/>
                                        <p:tgtEl>
                                          <p:spTgt spid="183"/>
                                        </p:tgtEl>
                                        <p:attrNameLst>
                                          <p:attrName>stroke.on</p:attrName>
                                        </p:attrNameLst>
                                      </p:cBhvr>
                                      <p:to>
                                        <p:strVal val="true"/>
                                      </p:to>
                                    </p:set>
                                  </p:childTnLst>
                                </p:cTn>
                              </p:par>
                            </p:childTnLst>
                          </p:cTn>
                        </p:par>
                      </p:childTnLst>
                    </p:cTn>
                  </p:par>
                  <p:par>
                    <p:cTn id="294" fill="hold">
                      <p:stCondLst>
                        <p:cond delay="indefinite"/>
                      </p:stCondLst>
                      <p:childTnLst>
                        <p:par>
                          <p:cTn id="295" fill="hold">
                            <p:stCondLst>
                              <p:cond delay="0"/>
                            </p:stCondLst>
                            <p:childTnLst>
                              <p:par>
                                <p:cTn id="296" presetID="7" presetClass="emph" presetSubtype="2" fill="hold" nodeType="clickEffect">
                                  <p:stCondLst>
                                    <p:cond delay="0"/>
                                  </p:stCondLst>
                                  <p:childTnLst>
                                    <p:animClr clrSpc="rgb" dir="cw">
                                      <p:cBhvr>
                                        <p:cTn id="297" dur="2000" fill="hold"/>
                                        <p:tgtEl>
                                          <p:spTgt spid="199"/>
                                        </p:tgtEl>
                                        <p:attrNameLst>
                                          <p:attrName>stroke.color</p:attrName>
                                        </p:attrNameLst>
                                      </p:cBhvr>
                                      <p:to>
                                        <a:schemeClr val="accent2"/>
                                      </p:to>
                                    </p:animClr>
                                    <p:set>
                                      <p:cBhvr>
                                        <p:cTn id="298" dur="2000" fill="hold"/>
                                        <p:tgtEl>
                                          <p:spTgt spid="199"/>
                                        </p:tgtEl>
                                        <p:attrNameLst>
                                          <p:attrName>stroke.on</p:attrName>
                                        </p:attrNameLst>
                                      </p:cBhvr>
                                      <p:to>
                                        <p:strVal val="true"/>
                                      </p:to>
                                    </p:set>
                                  </p:childTnLst>
                                </p:cTn>
                              </p:par>
                            </p:childTnLst>
                          </p:cTn>
                        </p:par>
                      </p:childTnLst>
                    </p:cTn>
                  </p:par>
                  <p:par>
                    <p:cTn id="299" fill="hold">
                      <p:stCondLst>
                        <p:cond delay="indefinite"/>
                      </p:stCondLst>
                      <p:childTnLst>
                        <p:par>
                          <p:cTn id="300" fill="hold">
                            <p:stCondLst>
                              <p:cond delay="0"/>
                            </p:stCondLst>
                            <p:childTnLst>
                              <p:par>
                                <p:cTn id="301" presetID="7" presetClass="emph" presetSubtype="2" fill="hold" nodeType="clickEffect">
                                  <p:stCondLst>
                                    <p:cond delay="0"/>
                                  </p:stCondLst>
                                  <p:childTnLst>
                                    <p:animClr clrSpc="rgb" dir="cw">
                                      <p:cBhvr>
                                        <p:cTn id="302" dur="2000" fill="hold"/>
                                        <p:tgtEl>
                                          <p:spTgt spid="200"/>
                                        </p:tgtEl>
                                        <p:attrNameLst>
                                          <p:attrName>stroke.color</p:attrName>
                                        </p:attrNameLst>
                                      </p:cBhvr>
                                      <p:to>
                                        <a:schemeClr val="accent2"/>
                                      </p:to>
                                    </p:animClr>
                                    <p:set>
                                      <p:cBhvr>
                                        <p:cTn id="303" dur="2000" fill="hold"/>
                                        <p:tgtEl>
                                          <p:spTgt spid="200"/>
                                        </p:tgtEl>
                                        <p:attrNameLst>
                                          <p:attrName>stroke.on</p:attrName>
                                        </p:attrNameLst>
                                      </p:cBhvr>
                                      <p:to>
                                        <p:strVal val="true"/>
                                      </p:to>
                                    </p:set>
                                  </p:childTnLst>
                                </p:cTn>
                              </p:par>
                            </p:childTnLst>
                          </p:cTn>
                        </p:par>
                      </p:childTnLst>
                    </p:cTn>
                  </p:par>
                  <p:par>
                    <p:cTn id="304" fill="hold">
                      <p:stCondLst>
                        <p:cond delay="indefinite"/>
                      </p:stCondLst>
                      <p:childTnLst>
                        <p:par>
                          <p:cTn id="305" fill="hold">
                            <p:stCondLst>
                              <p:cond delay="0"/>
                            </p:stCondLst>
                            <p:childTnLst>
                              <p:par>
                                <p:cTn id="306" presetID="9" presetClass="entr" presetSubtype="0" fill="hold" nodeType="clickEffect">
                                  <p:stCondLst>
                                    <p:cond delay="0"/>
                                  </p:stCondLst>
                                  <p:childTnLst>
                                    <p:set>
                                      <p:cBhvr>
                                        <p:cTn id="307" dur="1" fill="hold">
                                          <p:stCondLst>
                                            <p:cond delay="0"/>
                                          </p:stCondLst>
                                        </p:cTn>
                                        <p:tgtEl>
                                          <p:spTgt spid="243"/>
                                        </p:tgtEl>
                                        <p:attrNameLst>
                                          <p:attrName>style.visibility</p:attrName>
                                        </p:attrNameLst>
                                      </p:cBhvr>
                                      <p:to>
                                        <p:strVal val="visible"/>
                                      </p:to>
                                    </p:set>
                                    <p:animEffect transition="in" filter="dissolve">
                                      <p:cBhvr>
                                        <p:cTn id="308" dur="500"/>
                                        <p:tgtEl>
                                          <p:spTgt spid="243"/>
                                        </p:tgtEl>
                                      </p:cBhvr>
                                    </p:animEffect>
                                  </p:childTnLst>
                                </p:cTn>
                              </p:par>
                            </p:childTnLst>
                          </p:cTn>
                        </p:par>
                      </p:childTnLst>
                    </p:cTn>
                  </p:par>
                  <p:par>
                    <p:cTn id="309" fill="hold">
                      <p:stCondLst>
                        <p:cond delay="indefinite"/>
                      </p:stCondLst>
                      <p:childTnLst>
                        <p:par>
                          <p:cTn id="310" fill="hold">
                            <p:stCondLst>
                              <p:cond delay="0"/>
                            </p:stCondLst>
                            <p:childTnLst>
                              <p:par>
                                <p:cTn id="311" presetID="9" presetClass="entr" presetSubtype="0" fill="hold" nodeType="clickEffect">
                                  <p:stCondLst>
                                    <p:cond delay="0"/>
                                  </p:stCondLst>
                                  <p:childTnLst>
                                    <p:set>
                                      <p:cBhvr>
                                        <p:cTn id="312" dur="1" fill="hold">
                                          <p:stCondLst>
                                            <p:cond delay="0"/>
                                          </p:stCondLst>
                                        </p:cTn>
                                        <p:tgtEl>
                                          <p:spTgt spid="228">
                                            <p:txEl>
                                              <p:pRg st="6" end="6"/>
                                            </p:txEl>
                                          </p:spTgt>
                                        </p:tgtEl>
                                        <p:attrNameLst>
                                          <p:attrName>style.visibility</p:attrName>
                                        </p:attrNameLst>
                                      </p:cBhvr>
                                      <p:to>
                                        <p:strVal val="visible"/>
                                      </p:to>
                                    </p:set>
                                    <p:animEffect transition="in" filter="dissolve">
                                      <p:cBhvr>
                                        <p:cTn id="313" dur="500"/>
                                        <p:tgtEl>
                                          <p:spTgt spid="228">
                                            <p:txEl>
                                              <p:pRg st="6" end="6"/>
                                            </p:txEl>
                                          </p:spTgt>
                                        </p:tgtEl>
                                      </p:cBhvr>
                                    </p:animEffect>
                                  </p:childTnLst>
                                </p:cTn>
                              </p:par>
                            </p:childTnLst>
                          </p:cTn>
                        </p:par>
                      </p:childTnLst>
                    </p:cTn>
                  </p:par>
                  <p:par>
                    <p:cTn id="314" fill="hold">
                      <p:stCondLst>
                        <p:cond delay="indefinite"/>
                      </p:stCondLst>
                      <p:childTnLst>
                        <p:par>
                          <p:cTn id="315" fill="hold">
                            <p:stCondLst>
                              <p:cond delay="0"/>
                            </p:stCondLst>
                            <p:childTnLst>
                              <p:par>
                                <p:cTn id="316" presetID="9" presetClass="entr" presetSubtype="0" fill="hold" nodeType="clickEffect">
                                  <p:stCondLst>
                                    <p:cond delay="0"/>
                                  </p:stCondLst>
                                  <p:childTnLst>
                                    <p:set>
                                      <p:cBhvr>
                                        <p:cTn id="317" dur="1" fill="hold">
                                          <p:stCondLst>
                                            <p:cond delay="0"/>
                                          </p:stCondLst>
                                        </p:cTn>
                                        <p:tgtEl>
                                          <p:spTgt spid="244"/>
                                        </p:tgtEl>
                                        <p:attrNameLst>
                                          <p:attrName>style.visibility</p:attrName>
                                        </p:attrNameLst>
                                      </p:cBhvr>
                                      <p:to>
                                        <p:strVal val="visible"/>
                                      </p:to>
                                    </p:set>
                                    <p:animEffect transition="in" filter="dissolve">
                                      <p:cBhvr>
                                        <p:cTn id="318" dur="500"/>
                                        <p:tgtEl>
                                          <p:spTgt spid="244"/>
                                        </p:tgtEl>
                                      </p:cBhvr>
                                    </p:animEffect>
                                  </p:childTnLst>
                                </p:cTn>
                              </p:par>
                            </p:childTnLst>
                          </p:cTn>
                        </p:par>
                      </p:childTnLst>
                    </p:cTn>
                  </p:par>
                  <p:par>
                    <p:cTn id="319" fill="hold">
                      <p:stCondLst>
                        <p:cond delay="indefinite"/>
                      </p:stCondLst>
                      <p:childTnLst>
                        <p:par>
                          <p:cTn id="320" fill="hold">
                            <p:stCondLst>
                              <p:cond delay="0"/>
                            </p:stCondLst>
                            <p:childTnLst>
                              <p:par>
                                <p:cTn id="321" presetID="9" presetClass="entr" presetSubtype="0" fill="hold" nodeType="clickEffect">
                                  <p:stCondLst>
                                    <p:cond delay="0"/>
                                  </p:stCondLst>
                                  <p:childTnLst>
                                    <p:set>
                                      <p:cBhvr>
                                        <p:cTn id="322" dur="1" fill="hold">
                                          <p:stCondLst>
                                            <p:cond delay="0"/>
                                          </p:stCondLst>
                                        </p:cTn>
                                        <p:tgtEl>
                                          <p:spTgt spid="229">
                                            <p:txEl>
                                              <p:pRg st="6" end="6"/>
                                            </p:txEl>
                                          </p:spTgt>
                                        </p:tgtEl>
                                        <p:attrNameLst>
                                          <p:attrName>style.visibility</p:attrName>
                                        </p:attrNameLst>
                                      </p:cBhvr>
                                      <p:to>
                                        <p:strVal val="visible"/>
                                      </p:to>
                                    </p:set>
                                    <p:animEffect transition="in" filter="dissolve">
                                      <p:cBhvr>
                                        <p:cTn id="323" dur="500"/>
                                        <p:tgtEl>
                                          <p:spTgt spid="229">
                                            <p:txEl>
                                              <p:pRg st="6" end="6"/>
                                            </p:txEl>
                                          </p:spTgt>
                                        </p:tgtEl>
                                      </p:cBhvr>
                                    </p:animEffect>
                                  </p:childTnLst>
                                </p:cTn>
                              </p:par>
                            </p:childTnLst>
                          </p:cTn>
                        </p:par>
                      </p:childTnLst>
                    </p:cTn>
                  </p:par>
                  <p:par>
                    <p:cTn id="324" fill="hold">
                      <p:stCondLst>
                        <p:cond delay="indefinite"/>
                      </p:stCondLst>
                      <p:childTnLst>
                        <p:par>
                          <p:cTn id="325" fill="hold">
                            <p:stCondLst>
                              <p:cond delay="0"/>
                            </p:stCondLst>
                            <p:childTnLst>
                              <p:par>
                                <p:cTn id="326" presetID="7" presetClass="emph" presetSubtype="2" fill="hold" nodeType="clickEffect">
                                  <p:stCondLst>
                                    <p:cond delay="0"/>
                                  </p:stCondLst>
                                  <p:childTnLst>
                                    <p:animClr clrSpc="rgb" dir="cw">
                                      <p:cBhvr>
                                        <p:cTn id="327" dur="2000" fill="hold"/>
                                        <p:tgtEl>
                                          <p:spTgt spid="179"/>
                                        </p:tgtEl>
                                        <p:attrNameLst>
                                          <p:attrName>stroke.color</p:attrName>
                                        </p:attrNameLst>
                                      </p:cBhvr>
                                      <p:to>
                                        <a:schemeClr val="accent2"/>
                                      </p:to>
                                    </p:animClr>
                                    <p:set>
                                      <p:cBhvr>
                                        <p:cTn id="328" dur="2000" fill="hold"/>
                                        <p:tgtEl>
                                          <p:spTgt spid="179"/>
                                        </p:tgtEl>
                                        <p:attrNameLst>
                                          <p:attrName>stroke.on</p:attrName>
                                        </p:attrNameLst>
                                      </p:cBhvr>
                                      <p:to>
                                        <p:strVal val="true"/>
                                      </p:to>
                                    </p:set>
                                  </p:childTnLst>
                                </p:cTn>
                              </p:par>
                            </p:childTnLst>
                          </p:cTn>
                        </p:par>
                      </p:childTnLst>
                    </p:cTn>
                  </p:par>
                  <p:par>
                    <p:cTn id="329" fill="hold">
                      <p:stCondLst>
                        <p:cond delay="indefinite"/>
                      </p:stCondLst>
                      <p:childTnLst>
                        <p:par>
                          <p:cTn id="330" fill="hold">
                            <p:stCondLst>
                              <p:cond delay="0"/>
                            </p:stCondLst>
                            <p:childTnLst>
                              <p:par>
                                <p:cTn id="331" presetID="7" presetClass="emph" presetSubtype="2" fill="hold" nodeType="clickEffect">
                                  <p:stCondLst>
                                    <p:cond delay="0"/>
                                  </p:stCondLst>
                                  <p:childTnLst>
                                    <p:animClr clrSpc="rgb" dir="cw">
                                      <p:cBhvr>
                                        <p:cTn id="332" dur="2000" fill="hold"/>
                                        <p:tgtEl>
                                          <p:spTgt spid="188"/>
                                        </p:tgtEl>
                                        <p:attrNameLst>
                                          <p:attrName>stroke.color</p:attrName>
                                        </p:attrNameLst>
                                      </p:cBhvr>
                                      <p:to>
                                        <a:schemeClr val="accent2"/>
                                      </p:to>
                                    </p:animClr>
                                    <p:set>
                                      <p:cBhvr>
                                        <p:cTn id="333" dur="2000" fill="hold"/>
                                        <p:tgtEl>
                                          <p:spTgt spid="188"/>
                                        </p:tgtEl>
                                        <p:attrNameLst>
                                          <p:attrName>stroke.on</p:attrName>
                                        </p:attrNameLst>
                                      </p:cBhvr>
                                      <p:to>
                                        <p:strVal val="true"/>
                                      </p:to>
                                    </p:set>
                                  </p:childTnLst>
                                </p:cTn>
                              </p:par>
                            </p:childTnLst>
                          </p:cTn>
                        </p:par>
                      </p:childTnLst>
                    </p:cTn>
                  </p:par>
                  <p:par>
                    <p:cTn id="334" fill="hold">
                      <p:stCondLst>
                        <p:cond delay="indefinite"/>
                      </p:stCondLst>
                      <p:childTnLst>
                        <p:par>
                          <p:cTn id="335" fill="hold">
                            <p:stCondLst>
                              <p:cond delay="0"/>
                            </p:stCondLst>
                            <p:childTnLst>
                              <p:par>
                                <p:cTn id="336" presetID="9" presetClass="entr" presetSubtype="0" fill="hold" nodeType="clickEffect">
                                  <p:stCondLst>
                                    <p:cond delay="0"/>
                                  </p:stCondLst>
                                  <p:childTnLst>
                                    <p:set>
                                      <p:cBhvr>
                                        <p:cTn id="337" dur="1" fill="hold">
                                          <p:stCondLst>
                                            <p:cond delay="0"/>
                                          </p:stCondLst>
                                        </p:cTn>
                                        <p:tgtEl>
                                          <p:spTgt spid="238"/>
                                        </p:tgtEl>
                                        <p:attrNameLst>
                                          <p:attrName>style.visibility</p:attrName>
                                        </p:attrNameLst>
                                      </p:cBhvr>
                                      <p:to>
                                        <p:strVal val="visible"/>
                                      </p:to>
                                    </p:set>
                                    <p:animEffect transition="in" filter="dissolve">
                                      <p:cBhvr>
                                        <p:cTn id="338" dur="500"/>
                                        <p:tgtEl>
                                          <p:spTgt spid="238"/>
                                        </p:tgtEl>
                                      </p:cBhvr>
                                    </p:animEffect>
                                  </p:childTnLst>
                                </p:cTn>
                              </p:par>
                            </p:childTnLst>
                          </p:cTn>
                        </p:par>
                      </p:childTnLst>
                    </p:cTn>
                  </p:par>
                  <p:par>
                    <p:cTn id="339" fill="hold">
                      <p:stCondLst>
                        <p:cond delay="indefinite"/>
                      </p:stCondLst>
                      <p:childTnLst>
                        <p:par>
                          <p:cTn id="340" fill="hold">
                            <p:stCondLst>
                              <p:cond delay="0"/>
                            </p:stCondLst>
                            <p:childTnLst>
                              <p:par>
                                <p:cTn id="341" presetID="9" presetClass="entr" presetSubtype="0" fill="hold" nodeType="clickEffect">
                                  <p:stCondLst>
                                    <p:cond delay="0"/>
                                  </p:stCondLst>
                                  <p:childTnLst>
                                    <p:set>
                                      <p:cBhvr>
                                        <p:cTn id="342" dur="1" fill="hold">
                                          <p:stCondLst>
                                            <p:cond delay="0"/>
                                          </p:stCondLst>
                                        </p:cTn>
                                        <p:tgtEl>
                                          <p:spTgt spid="228">
                                            <p:txEl>
                                              <p:pRg st="5" end="5"/>
                                            </p:txEl>
                                          </p:spTgt>
                                        </p:tgtEl>
                                        <p:attrNameLst>
                                          <p:attrName>style.visibility</p:attrName>
                                        </p:attrNameLst>
                                      </p:cBhvr>
                                      <p:to>
                                        <p:strVal val="visible"/>
                                      </p:to>
                                    </p:set>
                                    <p:animEffect transition="in" filter="dissolve">
                                      <p:cBhvr>
                                        <p:cTn id="343" dur="500"/>
                                        <p:tgtEl>
                                          <p:spTgt spid="228">
                                            <p:txEl>
                                              <p:pRg st="5" end="5"/>
                                            </p:txEl>
                                          </p:spTgt>
                                        </p:tgtEl>
                                      </p:cBhvr>
                                    </p:animEffect>
                                  </p:childTnLst>
                                </p:cTn>
                              </p:par>
                            </p:childTnLst>
                          </p:cTn>
                        </p:par>
                      </p:childTnLst>
                    </p:cTn>
                  </p:par>
                  <p:par>
                    <p:cTn id="344" fill="hold">
                      <p:stCondLst>
                        <p:cond delay="indefinite"/>
                      </p:stCondLst>
                      <p:childTnLst>
                        <p:par>
                          <p:cTn id="345" fill="hold">
                            <p:stCondLst>
                              <p:cond delay="0"/>
                            </p:stCondLst>
                            <p:childTnLst>
                              <p:par>
                                <p:cTn id="346" presetID="9" presetClass="entr" presetSubtype="0" fill="hold" nodeType="clickEffect">
                                  <p:stCondLst>
                                    <p:cond delay="0"/>
                                  </p:stCondLst>
                                  <p:childTnLst>
                                    <p:set>
                                      <p:cBhvr>
                                        <p:cTn id="347" dur="1" fill="hold">
                                          <p:stCondLst>
                                            <p:cond delay="0"/>
                                          </p:stCondLst>
                                        </p:cTn>
                                        <p:tgtEl>
                                          <p:spTgt spid="240"/>
                                        </p:tgtEl>
                                        <p:attrNameLst>
                                          <p:attrName>style.visibility</p:attrName>
                                        </p:attrNameLst>
                                      </p:cBhvr>
                                      <p:to>
                                        <p:strVal val="visible"/>
                                      </p:to>
                                    </p:set>
                                    <p:animEffect transition="in" filter="dissolve">
                                      <p:cBhvr>
                                        <p:cTn id="348" dur="500"/>
                                        <p:tgtEl>
                                          <p:spTgt spid="240"/>
                                        </p:tgtEl>
                                      </p:cBhvr>
                                    </p:animEffect>
                                  </p:childTnLst>
                                </p:cTn>
                              </p:par>
                            </p:childTnLst>
                          </p:cTn>
                        </p:par>
                      </p:childTnLst>
                    </p:cTn>
                  </p:par>
                  <p:par>
                    <p:cTn id="349" fill="hold">
                      <p:stCondLst>
                        <p:cond delay="indefinite"/>
                      </p:stCondLst>
                      <p:childTnLst>
                        <p:par>
                          <p:cTn id="350" fill="hold">
                            <p:stCondLst>
                              <p:cond delay="0"/>
                            </p:stCondLst>
                            <p:childTnLst>
                              <p:par>
                                <p:cTn id="351" presetID="9" presetClass="entr" presetSubtype="0" fill="hold" nodeType="clickEffect">
                                  <p:stCondLst>
                                    <p:cond delay="0"/>
                                  </p:stCondLst>
                                  <p:childTnLst>
                                    <p:set>
                                      <p:cBhvr>
                                        <p:cTn id="352" dur="1" fill="hold">
                                          <p:stCondLst>
                                            <p:cond delay="0"/>
                                          </p:stCondLst>
                                        </p:cTn>
                                        <p:tgtEl>
                                          <p:spTgt spid="229">
                                            <p:txEl>
                                              <p:pRg st="5" end="5"/>
                                            </p:txEl>
                                          </p:spTgt>
                                        </p:tgtEl>
                                        <p:attrNameLst>
                                          <p:attrName>style.visibility</p:attrName>
                                        </p:attrNameLst>
                                      </p:cBhvr>
                                      <p:to>
                                        <p:strVal val="visible"/>
                                      </p:to>
                                    </p:set>
                                    <p:animEffect transition="in" filter="dissolve">
                                      <p:cBhvr>
                                        <p:cTn id="353" dur="500"/>
                                        <p:tgtEl>
                                          <p:spTgt spid="229">
                                            <p:txEl>
                                              <p:pRg st="5" end="5"/>
                                            </p:txEl>
                                          </p:spTgt>
                                        </p:tgtEl>
                                      </p:cBhvr>
                                    </p:animEffect>
                                  </p:childTnLst>
                                </p:cTn>
                              </p:par>
                            </p:childTnLst>
                          </p:cTn>
                        </p:par>
                      </p:childTnLst>
                    </p:cTn>
                  </p:par>
                  <p:par>
                    <p:cTn id="354" fill="hold">
                      <p:stCondLst>
                        <p:cond delay="indefinite"/>
                      </p:stCondLst>
                      <p:childTnLst>
                        <p:par>
                          <p:cTn id="355" fill="hold">
                            <p:stCondLst>
                              <p:cond delay="0"/>
                            </p:stCondLst>
                            <p:childTnLst>
                              <p:par>
                                <p:cTn id="356" presetID="7" presetClass="emph" presetSubtype="2" fill="hold" nodeType="clickEffect">
                                  <p:stCondLst>
                                    <p:cond delay="0"/>
                                  </p:stCondLst>
                                  <p:childTnLst>
                                    <p:animClr clrSpc="rgb" dir="cw">
                                      <p:cBhvr>
                                        <p:cTn id="357" dur="2000" fill="hold"/>
                                        <p:tgtEl>
                                          <p:spTgt spid="186"/>
                                        </p:tgtEl>
                                        <p:attrNameLst>
                                          <p:attrName>stroke.color</p:attrName>
                                        </p:attrNameLst>
                                      </p:cBhvr>
                                      <p:to>
                                        <a:schemeClr val="accent2"/>
                                      </p:to>
                                    </p:animClr>
                                    <p:set>
                                      <p:cBhvr>
                                        <p:cTn id="358" dur="2000" fill="hold"/>
                                        <p:tgtEl>
                                          <p:spTgt spid="186"/>
                                        </p:tgtEl>
                                        <p:attrNameLst>
                                          <p:attrName>stroke.on</p:attrName>
                                        </p:attrNameLst>
                                      </p:cBhvr>
                                      <p:to>
                                        <p:strVal val="true"/>
                                      </p:to>
                                    </p:set>
                                  </p:childTnLst>
                                </p:cTn>
                              </p:par>
                            </p:childTnLst>
                          </p:cTn>
                        </p:par>
                      </p:childTnLst>
                    </p:cTn>
                  </p:par>
                  <p:par>
                    <p:cTn id="359" fill="hold">
                      <p:stCondLst>
                        <p:cond delay="indefinite"/>
                      </p:stCondLst>
                      <p:childTnLst>
                        <p:par>
                          <p:cTn id="360" fill="hold">
                            <p:stCondLst>
                              <p:cond delay="0"/>
                            </p:stCondLst>
                            <p:childTnLst>
                              <p:par>
                                <p:cTn id="361" presetID="7" presetClass="emph" presetSubtype="2" fill="hold" nodeType="clickEffect">
                                  <p:stCondLst>
                                    <p:cond delay="0"/>
                                  </p:stCondLst>
                                  <p:childTnLst>
                                    <p:animClr clrSpc="rgb" dir="cw">
                                      <p:cBhvr>
                                        <p:cTn id="362" dur="2000" fill="hold"/>
                                        <p:tgtEl>
                                          <p:spTgt spid="185"/>
                                        </p:tgtEl>
                                        <p:attrNameLst>
                                          <p:attrName>stroke.color</p:attrName>
                                        </p:attrNameLst>
                                      </p:cBhvr>
                                      <p:to>
                                        <a:schemeClr val="accent2"/>
                                      </p:to>
                                    </p:animClr>
                                    <p:set>
                                      <p:cBhvr>
                                        <p:cTn id="363" dur="2000" fill="hold"/>
                                        <p:tgtEl>
                                          <p:spTgt spid="185"/>
                                        </p:tgtEl>
                                        <p:attrNameLst>
                                          <p:attrName>stroke.on</p:attrName>
                                        </p:attrNameLst>
                                      </p:cBhvr>
                                      <p:to>
                                        <p:strVal val="true"/>
                                      </p:to>
                                    </p:set>
                                  </p:childTnLst>
                                </p:cTn>
                              </p:par>
                            </p:childTnLst>
                          </p:cTn>
                        </p:par>
                      </p:childTnLst>
                    </p:cTn>
                  </p:par>
                  <p:par>
                    <p:cTn id="364" fill="hold">
                      <p:stCondLst>
                        <p:cond delay="indefinite"/>
                      </p:stCondLst>
                      <p:childTnLst>
                        <p:par>
                          <p:cTn id="365" fill="hold">
                            <p:stCondLst>
                              <p:cond delay="0"/>
                            </p:stCondLst>
                            <p:childTnLst>
                              <p:par>
                                <p:cTn id="366" presetID="7" presetClass="emph" presetSubtype="2" fill="hold" nodeType="clickEffect">
                                  <p:stCondLst>
                                    <p:cond delay="0"/>
                                  </p:stCondLst>
                                  <p:childTnLst>
                                    <p:animClr clrSpc="rgb" dir="cw">
                                      <p:cBhvr>
                                        <p:cTn id="367" dur="2000" fill="hold"/>
                                        <p:tgtEl>
                                          <p:spTgt spid="180"/>
                                        </p:tgtEl>
                                        <p:attrNameLst>
                                          <p:attrName>stroke.color</p:attrName>
                                        </p:attrNameLst>
                                      </p:cBhvr>
                                      <p:to>
                                        <a:schemeClr val="accent2"/>
                                      </p:to>
                                    </p:animClr>
                                    <p:set>
                                      <p:cBhvr>
                                        <p:cTn id="368" dur="2000" fill="hold"/>
                                        <p:tgtEl>
                                          <p:spTgt spid="180"/>
                                        </p:tgtEl>
                                        <p:attrNameLst>
                                          <p:attrName>stroke.on</p:attrName>
                                        </p:attrNameLst>
                                      </p:cBhvr>
                                      <p:to>
                                        <p:strVal val="true"/>
                                      </p:to>
                                    </p:set>
                                  </p:childTnLst>
                                </p:cTn>
                              </p:par>
                            </p:childTnLst>
                          </p:cTn>
                        </p:par>
                      </p:childTnLst>
                    </p:cTn>
                  </p:par>
                  <p:par>
                    <p:cTn id="369" fill="hold">
                      <p:stCondLst>
                        <p:cond delay="indefinite"/>
                      </p:stCondLst>
                      <p:childTnLst>
                        <p:par>
                          <p:cTn id="370" fill="hold">
                            <p:stCondLst>
                              <p:cond delay="0"/>
                            </p:stCondLst>
                            <p:childTnLst>
                              <p:par>
                                <p:cTn id="371" presetID="9" presetClass="entr" presetSubtype="0" fill="hold" nodeType="clickEffect">
                                  <p:stCondLst>
                                    <p:cond delay="0"/>
                                  </p:stCondLst>
                                  <p:childTnLst>
                                    <p:set>
                                      <p:cBhvr>
                                        <p:cTn id="372" dur="1" fill="hold">
                                          <p:stCondLst>
                                            <p:cond delay="0"/>
                                          </p:stCondLst>
                                        </p:cTn>
                                        <p:tgtEl>
                                          <p:spTgt spid="239"/>
                                        </p:tgtEl>
                                        <p:attrNameLst>
                                          <p:attrName>style.visibility</p:attrName>
                                        </p:attrNameLst>
                                      </p:cBhvr>
                                      <p:to>
                                        <p:strVal val="visible"/>
                                      </p:to>
                                    </p:set>
                                    <p:animEffect transition="in" filter="dissolve">
                                      <p:cBhvr>
                                        <p:cTn id="373" dur="500"/>
                                        <p:tgtEl>
                                          <p:spTgt spid="239"/>
                                        </p:tgtEl>
                                      </p:cBhvr>
                                    </p:animEffect>
                                  </p:childTnLst>
                                </p:cTn>
                              </p:par>
                            </p:childTnLst>
                          </p:cTn>
                        </p:par>
                      </p:childTnLst>
                    </p:cTn>
                  </p:par>
                  <p:par>
                    <p:cTn id="374" fill="hold">
                      <p:stCondLst>
                        <p:cond delay="indefinite"/>
                      </p:stCondLst>
                      <p:childTnLst>
                        <p:par>
                          <p:cTn id="375" fill="hold">
                            <p:stCondLst>
                              <p:cond delay="0"/>
                            </p:stCondLst>
                            <p:childTnLst>
                              <p:par>
                                <p:cTn id="376" presetID="9" presetClass="entr" presetSubtype="0" fill="hold" nodeType="clickEffect">
                                  <p:stCondLst>
                                    <p:cond delay="0"/>
                                  </p:stCondLst>
                                  <p:childTnLst>
                                    <p:set>
                                      <p:cBhvr>
                                        <p:cTn id="377" dur="1" fill="hold">
                                          <p:stCondLst>
                                            <p:cond delay="0"/>
                                          </p:stCondLst>
                                        </p:cTn>
                                        <p:tgtEl>
                                          <p:spTgt spid="237">
                                            <p:txEl>
                                              <p:pRg st="2" end="2"/>
                                            </p:txEl>
                                          </p:spTgt>
                                        </p:tgtEl>
                                        <p:attrNameLst>
                                          <p:attrName>style.visibility</p:attrName>
                                        </p:attrNameLst>
                                      </p:cBhvr>
                                      <p:to>
                                        <p:strVal val="visible"/>
                                      </p:to>
                                    </p:set>
                                    <p:animEffect transition="in" filter="dissolve">
                                      <p:cBhvr>
                                        <p:cTn id="378" dur="500"/>
                                        <p:tgtEl>
                                          <p:spTgt spid="237">
                                            <p:txEl>
                                              <p:pRg st="2" end="2"/>
                                            </p:txEl>
                                          </p:spTgt>
                                        </p:tgtEl>
                                      </p:cBhvr>
                                    </p:animEffect>
                                  </p:childTnLst>
                                </p:cTn>
                              </p:par>
                            </p:childTnLst>
                          </p:cTn>
                        </p:par>
                      </p:childTnLst>
                    </p:cTn>
                  </p:par>
                  <p:par>
                    <p:cTn id="379" fill="hold">
                      <p:stCondLst>
                        <p:cond delay="indefinite"/>
                      </p:stCondLst>
                      <p:childTnLst>
                        <p:par>
                          <p:cTn id="380" fill="hold">
                            <p:stCondLst>
                              <p:cond delay="0"/>
                            </p:stCondLst>
                            <p:childTnLst>
                              <p:par>
                                <p:cTn id="381" presetID="9" presetClass="entr" presetSubtype="0" fill="hold" nodeType="clickEffect">
                                  <p:stCondLst>
                                    <p:cond delay="0"/>
                                  </p:stCondLst>
                                  <p:childTnLst>
                                    <p:set>
                                      <p:cBhvr>
                                        <p:cTn id="382" dur="1" fill="hold">
                                          <p:stCondLst>
                                            <p:cond delay="0"/>
                                          </p:stCondLst>
                                        </p:cTn>
                                        <p:tgtEl>
                                          <p:spTgt spid="241"/>
                                        </p:tgtEl>
                                        <p:attrNameLst>
                                          <p:attrName>style.visibility</p:attrName>
                                        </p:attrNameLst>
                                      </p:cBhvr>
                                      <p:to>
                                        <p:strVal val="visible"/>
                                      </p:to>
                                    </p:set>
                                    <p:animEffect transition="in" filter="dissolve">
                                      <p:cBhvr>
                                        <p:cTn id="383" dur="500"/>
                                        <p:tgtEl>
                                          <p:spTgt spid="241"/>
                                        </p:tgtEl>
                                      </p:cBhvr>
                                    </p:animEffect>
                                  </p:childTnLst>
                                </p:cTn>
                              </p:par>
                            </p:childTnLst>
                          </p:cTn>
                        </p:par>
                      </p:childTnLst>
                    </p:cTn>
                  </p:par>
                  <p:par>
                    <p:cTn id="384" fill="hold">
                      <p:stCondLst>
                        <p:cond delay="indefinite"/>
                      </p:stCondLst>
                      <p:childTnLst>
                        <p:par>
                          <p:cTn id="385" fill="hold">
                            <p:stCondLst>
                              <p:cond delay="0"/>
                            </p:stCondLst>
                            <p:childTnLst>
                              <p:par>
                                <p:cTn id="386" presetID="9" presetClass="entr" presetSubtype="0" fill="hold" nodeType="clickEffect">
                                  <p:stCondLst>
                                    <p:cond delay="0"/>
                                  </p:stCondLst>
                                  <p:childTnLst>
                                    <p:set>
                                      <p:cBhvr>
                                        <p:cTn id="387" dur="1" fill="hold">
                                          <p:stCondLst>
                                            <p:cond delay="0"/>
                                          </p:stCondLst>
                                        </p:cTn>
                                        <p:tgtEl>
                                          <p:spTgt spid="242">
                                            <p:txEl>
                                              <p:pRg st="2" end="2"/>
                                            </p:txEl>
                                          </p:spTgt>
                                        </p:tgtEl>
                                        <p:attrNameLst>
                                          <p:attrName>style.visibility</p:attrName>
                                        </p:attrNameLst>
                                      </p:cBhvr>
                                      <p:to>
                                        <p:strVal val="visible"/>
                                      </p:to>
                                    </p:set>
                                    <p:animEffect transition="in" filter="dissolve">
                                      <p:cBhvr>
                                        <p:cTn id="388" dur="500"/>
                                        <p:tgtEl>
                                          <p:spTgt spid="242">
                                            <p:txEl>
                                              <p:pRg st="2" end="2"/>
                                            </p:txEl>
                                          </p:spTgt>
                                        </p:tgtEl>
                                      </p:cBhvr>
                                    </p:animEffect>
                                  </p:childTnLst>
                                </p:cTn>
                              </p:par>
                            </p:childTnLst>
                          </p:cTn>
                        </p:par>
                      </p:childTnLst>
                    </p:cTn>
                  </p:par>
                  <p:par>
                    <p:cTn id="389" fill="hold">
                      <p:stCondLst>
                        <p:cond delay="indefinite"/>
                      </p:stCondLst>
                      <p:childTnLst>
                        <p:par>
                          <p:cTn id="390" fill="hold">
                            <p:stCondLst>
                              <p:cond delay="0"/>
                            </p:stCondLst>
                            <p:childTnLst>
                              <p:par>
                                <p:cTn id="391" presetID="7" presetClass="emph" presetSubtype="2" fill="hold" nodeType="clickEffect">
                                  <p:stCondLst>
                                    <p:cond delay="0"/>
                                  </p:stCondLst>
                                  <p:childTnLst>
                                    <p:animClr clrSpc="rgb" dir="cw">
                                      <p:cBhvr>
                                        <p:cTn id="392" dur="2000" fill="hold"/>
                                        <p:tgtEl>
                                          <p:spTgt spid="187"/>
                                        </p:tgtEl>
                                        <p:attrNameLst>
                                          <p:attrName>stroke.color</p:attrName>
                                        </p:attrNameLst>
                                      </p:cBhvr>
                                      <p:to>
                                        <a:schemeClr val="accent2"/>
                                      </p:to>
                                    </p:animClr>
                                    <p:set>
                                      <p:cBhvr>
                                        <p:cTn id="393" dur="2000" fill="hold"/>
                                        <p:tgtEl>
                                          <p:spTgt spid="187"/>
                                        </p:tgtEl>
                                        <p:attrNameLst>
                                          <p:attrName>stroke.on</p:attrName>
                                        </p:attrNameLst>
                                      </p:cBhvr>
                                      <p:to>
                                        <p:strVal val="true"/>
                                      </p:to>
                                    </p:set>
                                  </p:childTnLst>
                                </p:cTn>
                              </p:par>
                            </p:childTnLst>
                          </p:cTn>
                        </p:par>
                      </p:childTnLst>
                    </p:cTn>
                  </p:par>
                  <p:par>
                    <p:cTn id="394" fill="hold">
                      <p:stCondLst>
                        <p:cond delay="indefinite"/>
                      </p:stCondLst>
                      <p:childTnLst>
                        <p:par>
                          <p:cTn id="395" fill="hold">
                            <p:stCondLst>
                              <p:cond delay="0"/>
                            </p:stCondLst>
                            <p:childTnLst>
                              <p:par>
                                <p:cTn id="396" presetID="9" presetClass="entr" presetSubtype="0" fill="hold" nodeType="clickEffect">
                                  <p:stCondLst>
                                    <p:cond delay="0"/>
                                  </p:stCondLst>
                                  <p:childTnLst>
                                    <p:set>
                                      <p:cBhvr>
                                        <p:cTn id="397" dur="1" fill="hold">
                                          <p:stCondLst>
                                            <p:cond delay="0"/>
                                          </p:stCondLst>
                                        </p:cTn>
                                        <p:tgtEl>
                                          <p:spTgt spid="246"/>
                                        </p:tgtEl>
                                        <p:attrNameLst>
                                          <p:attrName>style.visibility</p:attrName>
                                        </p:attrNameLst>
                                      </p:cBhvr>
                                      <p:to>
                                        <p:strVal val="visible"/>
                                      </p:to>
                                    </p:set>
                                    <p:animEffect transition="in" filter="dissolve">
                                      <p:cBhvr>
                                        <p:cTn id="398" dur="500"/>
                                        <p:tgtEl>
                                          <p:spTgt spid="246"/>
                                        </p:tgtEl>
                                      </p:cBhvr>
                                    </p:animEffect>
                                  </p:childTnLst>
                                </p:cTn>
                              </p:par>
                            </p:childTnLst>
                          </p:cTn>
                        </p:par>
                      </p:childTnLst>
                    </p:cTn>
                  </p:par>
                  <p:par>
                    <p:cTn id="399" fill="hold">
                      <p:stCondLst>
                        <p:cond delay="indefinite"/>
                      </p:stCondLst>
                      <p:childTnLst>
                        <p:par>
                          <p:cTn id="400" fill="hold">
                            <p:stCondLst>
                              <p:cond delay="0"/>
                            </p:stCondLst>
                            <p:childTnLst>
                              <p:par>
                                <p:cTn id="401" presetID="9" presetClass="entr" presetSubtype="0" fill="hold" nodeType="clickEffect">
                                  <p:stCondLst>
                                    <p:cond delay="0"/>
                                  </p:stCondLst>
                                  <p:childTnLst>
                                    <p:set>
                                      <p:cBhvr>
                                        <p:cTn id="402" dur="1" fill="hold">
                                          <p:stCondLst>
                                            <p:cond delay="0"/>
                                          </p:stCondLst>
                                        </p:cTn>
                                        <p:tgtEl>
                                          <p:spTgt spid="237">
                                            <p:txEl>
                                              <p:pRg st="6" end="6"/>
                                            </p:txEl>
                                          </p:spTgt>
                                        </p:tgtEl>
                                        <p:attrNameLst>
                                          <p:attrName>style.visibility</p:attrName>
                                        </p:attrNameLst>
                                      </p:cBhvr>
                                      <p:to>
                                        <p:strVal val="visible"/>
                                      </p:to>
                                    </p:set>
                                    <p:animEffect transition="in" filter="dissolve">
                                      <p:cBhvr>
                                        <p:cTn id="403" dur="500"/>
                                        <p:tgtEl>
                                          <p:spTgt spid="237">
                                            <p:txEl>
                                              <p:pRg st="6" end="6"/>
                                            </p:txEl>
                                          </p:spTgt>
                                        </p:tgtEl>
                                      </p:cBhvr>
                                    </p:animEffect>
                                  </p:childTnLst>
                                </p:cTn>
                              </p:par>
                            </p:childTnLst>
                          </p:cTn>
                        </p:par>
                      </p:childTnLst>
                    </p:cTn>
                  </p:par>
                  <p:par>
                    <p:cTn id="404" fill="hold">
                      <p:stCondLst>
                        <p:cond delay="indefinite"/>
                      </p:stCondLst>
                      <p:childTnLst>
                        <p:par>
                          <p:cTn id="405" fill="hold">
                            <p:stCondLst>
                              <p:cond delay="0"/>
                            </p:stCondLst>
                            <p:childTnLst>
                              <p:par>
                                <p:cTn id="406" presetID="9" presetClass="entr" presetSubtype="0" fill="hold" nodeType="clickEffect">
                                  <p:stCondLst>
                                    <p:cond delay="0"/>
                                  </p:stCondLst>
                                  <p:childTnLst>
                                    <p:set>
                                      <p:cBhvr>
                                        <p:cTn id="407" dur="1" fill="hold">
                                          <p:stCondLst>
                                            <p:cond delay="0"/>
                                          </p:stCondLst>
                                        </p:cTn>
                                        <p:tgtEl>
                                          <p:spTgt spid="248"/>
                                        </p:tgtEl>
                                        <p:attrNameLst>
                                          <p:attrName>style.visibility</p:attrName>
                                        </p:attrNameLst>
                                      </p:cBhvr>
                                      <p:to>
                                        <p:strVal val="visible"/>
                                      </p:to>
                                    </p:set>
                                    <p:animEffect transition="in" filter="dissolve">
                                      <p:cBhvr>
                                        <p:cTn id="408" dur="500"/>
                                        <p:tgtEl>
                                          <p:spTgt spid="248"/>
                                        </p:tgtEl>
                                      </p:cBhvr>
                                    </p:animEffect>
                                  </p:childTnLst>
                                </p:cTn>
                              </p:par>
                            </p:childTnLst>
                          </p:cTn>
                        </p:par>
                      </p:childTnLst>
                    </p:cTn>
                  </p:par>
                  <p:par>
                    <p:cTn id="409" fill="hold">
                      <p:stCondLst>
                        <p:cond delay="indefinite"/>
                      </p:stCondLst>
                      <p:childTnLst>
                        <p:par>
                          <p:cTn id="410" fill="hold">
                            <p:stCondLst>
                              <p:cond delay="0"/>
                            </p:stCondLst>
                            <p:childTnLst>
                              <p:par>
                                <p:cTn id="411" presetID="9" presetClass="entr" presetSubtype="0" fill="hold" nodeType="clickEffect">
                                  <p:stCondLst>
                                    <p:cond delay="0"/>
                                  </p:stCondLst>
                                  <p:childTnLst>
                                    <p:set>
                                      <p:cBhvr>
                                        <p:cTn id="412" dur="1" fill="hold">
                                          <p:stCondLst>
                                            <p:cond delay="0"/>
                                          </p:stCondLst>
                                        </p:cTn>
                                        <p:tgtEl>
                                          <p:spTgt spid="242">
                                            <p:txEl>
                                              <p:pRg st="6" end="6"/>
                                            </p:txEl>
                                          </p:spTgt>
                                        </p:tgtEl>
                                        <p:attrNameLst>
                                          <p:attrName>style.visibility</p:attrName>
                                        </p:attrNameLst>
                                      </p:cBhvr>
                                      <p:to>
                                        <p:strVal val="visible"/>
                                      </p:to>
                                    </p:set>
                                    <p:animEffect transition="in" filter="dissolve">
                                      <p:cBhvr>
                                        <p:cTn id="413" dur="500"/>
                                        <p:tgtEl>
                                          <p:spTgt spid="242">
                                            <p:txEl>
                                              <p:pRg st="6" end="6"/>
                                            </p:txEl>
                                          </p:spTgt>
                                        </p:tgtEl>
                                      </p:cBhvr>
                                    </p:animEffect>
                                  </p:childTnLst>
                                </p:cTn>
                              </p:par>
                            </p:childTnLst>
                          </p:cTn>
                        </p:par>
                      </p:childTnLst>
                    </p:cTn>
                  </p:par>
                  <p:par>
                    <p:cTn id="414" fill="hold">
                      <p:stCondLst>
                        <p:cond delay="indefinite"/>
                      </p:stCondLst>
                      <p:childTnLst>
                        <p:par>
                          <p:cTn id="415" fill="hold">
                            <p:stCondLst>
                              <p:cond delay="0"/>
                            </p:stCondLst>
                            <p:childTnLst>
                              <p:par>
                                <p:cTn id="416" presetID="7" presetClass="emph" presetSubtype="2" fill="hold" nodeType="clickEffect">
                                  <p:stCondLst>
                                    <p:cond delay="0"/>
                                  </p:stCondLst>
                                  <p:childTnLst>
                                    <p:animClr clrSpc="rgb" dir="cw">
                                      <p:cBhvr>
                                        <p:cTn id="417" dur="2000" fill="hold"/>
                                        <p:tgtEl>
                                          <p:spTgt spid="190"/>
                                        </p:tgtEl>
                                        <p:attrNameLst>
                                          <p:attrName>stroke.color</p:attrName>
                                        </p:attrNameLst>
                                      </p:cBhvr>
                                      <p:to>
                                        <a:schemeClr val="accent2"/>
                                      </p:to>
                                    </p:animClr>
                                    <p:set>
                                      <p:cBhvr>
                                        <p:cTn id="418" dur="2000" fill="hold"/>
                                        <p:tgtEl>
                                          <p:spTgt spid="190"/>
                                        </p:tgtEl>
                                        <p:attrNameLst>
                                          <p:attrName>stroke.on</p:attrName>
                                        </p:attrNameLst>
                                      </p:cBhvr>
                                      <p:to>
                                        <p:strVal val="true"/>
                                      </p:to>
                                    </p:set>
                                  </p:childTnLst>
                                </p:cTn>
                              </p:par>
                            </p:childTnLst>
                          </p:cTn>
                        </p:par>
                      </p:childTnLst>
                    </p:cTn>
                  </p:par>
                  <p:par>
                    <p:cTn id="419" fill="hold">
                      <p:stCondLst>
                        <p:cond delay="indefinite"/>
                      </p:stCondLst>
                      <p:childTnLst>
                        <p:par>
                          <p:cTn id="420" fill="hold">
                            <p:stCondLst>
                              <p:cond delay="0"/>
                            </p:stCondLst>
                            <p:childTnLst>
                              <p:par>
                                <p:cTn id="421" presetID="7" presetClass="emph" presetSubtype="2" fill="hold" nodeType="clickEffect">
                                  <p:stCondLst>
                                    <p:cond delay="0"/>
                                  </p:stCondLst>
                                  <p:childTnLst>
                                    <p:animClr clrSpc="rgb" dir="cw">
                                      <p:cBhvr>
                                        <p:cTn id="422" dur="2000" fill="hold"/>
                                        <p:tgtEl>
                                          <p:spTgt spid="184"/>
                                        </p:tgtEl>
                                        <p:attrNameLst>
                                          <p:attrName>stroke.color</p:attrName>
                                        </p:attrNameLst>
                                      </p:cBhvr>
                                      <p:to>
                                        <a:schemeClr val="accent2"/>
                                      </p:to>
                                    </p:animClr>
                                    <p:set>
                                      <p:cBhvr>
                                        <p:cTn id="423" dur="2000" fill="hold"/>
                                        <p:tgtEl>
                                          <p:spTgt spid="184"/>
                                        </p:tgtEl>
                                        <p:attrNameLst>
                                          <p:attrName>stroke.on</p:attrName>
                                        </p:attrNameLst>
                                      </p:cBhvr>
                                      <p:to>
                                        <p:strVal val="true"/>
                                      </p:to>
                                    </p:set>
                                  </p:childTnLst>
                                </p:cTn>
                              </p:par>
                            </p:childTnLst>
                          </p:cTn>
                        </p:par>
                      </p:childTnLst>
                    </p:cTn>
                  </p:par>
                  <p:par>
                    <p:cTn id="424" fill="hold">
                      <p:stCondLst>
                        <p:cond delay="indefinite"/>
                      </p:stCondLst>
                      <p:childTnLst>
                        <p:par>
                          <p:cTn id="425" fill="hold">
                            <p:stCondLst>
                              <p:cond delay="0"/>
                            </p:stCondLst>
                            <p:childTnLst>
                              <p:par>
                                <p:cTn id="426" presetID="7" presetClass="emph" presetSubtype="2" fill="hold" nodeType="clickEffect">
                                  <p:stCondLst>
                                    <p:cond delay="0"/>
                                  </p:stCondLst>
                                  <p:childTnLst>
                                    <p:animClr clrSpc="rgb" dir="cw">
                                      <p:cBhvr>
                                        <p:cTn id="427" dur="2000" fill="hold"/>
                                        <p:tgtEl>
                                          <p:spTgt spid="191"/>
                                        </p:tgtEl>
                                        <p:attrNameLst>
                                          <p:attrName>stroke.color</p:attrName>
                                        </p:attrNameLst>
                                      </p:cBhvr>
                                      <p:to>
                                        <a:srgbClr val="9C9C9C"/>
                                      </p:to>
                                    </p:animClr>
                                    <p:set>
                                      <p:cBhvr>
                                        <p:cTn id="428" dur="2000" fill="hold"/>
                                        <p:tgtEl>
                                          <p:spTgt spid="191"/>
                                        </p:tgtEl>
                                        <p:attrNameLst>
                                          <p:attrName>stroke.on</p:attrName>
                                        </p:attrNameLst>
                                      </p:cBhvr>
                                      <p:to>
                                        <p:strVal val="true"/>
                                      </p:to>
                                    </p:set>
                                  </p:childTnLst>
                                </p:cTn>
                              </p:par>
                              <p:par>
                                <p:cTn id="429" presetID="7" presetClass="emph" presetSubtype="2" fill="hold" nodeType="withEffect">
                                  <p:stCondLst>
                                    <p:cond delay="0"/>
                                  </p:stCondLst>
                                  <p:childTnLst>
                                    <p:animClr clrSpc="rgb" dir="cw">
                                      <p:cBhvr>
                                        <p:cTn id="430" dur="2000" fill="hold"/>
                                        <p:tgtEl>
                                          <p:spTgt spid="189"/>
                                        </p:tgtEl>
                                        <p:attrNameLst>
                                          <p:attrName>stroke.color</p:attrName>
                                        </p:attrNameLst>
                                      </p:cBhvr>
                                      <p:to>
                                        <a:srgbClr val="9C9C9C"/>
                                      </p:to>
                                    </p:animClr>
                                    <p:set>
                                      <p:cBhvr>
                                        <p:cTn id="431" dur="2000" fill="hold"/>
                                        <p:tgtEl>
                                          <p:spTgt spid="189"/>
                                        </p:tgtEl>
                                        <p:attrNameLst>
                                          <p:attrName>stroke.on</p:attrName>
                                        </p:attrNameLst>
                                      </p:cBhvr>
                                      <p:to>
                                        <p:strVal val="true"/>
                                      </p:to>
                                    </p:set>
                                  </p:childTnLst>
                                </p:cTn>
                              </p:par>
                              <p:par>
                                <p:cTn id="432" presetID="7" presetClass="emph" presetSubtype="2" fill="hold" nodeType="withEffect">
                                  <p:stCondLst>
                                    <p:cond delay="0"/>
                                  </p:stCondLst>
                                  <p:childTnLst>
                                    <p:animClr clrSpc="rgb" dir="cw">
                                      <p:cBhvr>
                                        <p:cTn id="433" dur="2000" fill="hold"/>
                                        <p:tgtEl>
                                          <p:spTgt spid="183"/>
                                        </p:tgtEl>
                                        <p:attrNameLst>
                                          <p:attrName>stroke.color</p:attrName>
                                        </p:attrNameLst>
                                      </p:cBhvr>
                                      <p:to>
                                        <a:srgbClr val="9C9C9C"/>
                                      </p:to>
                                    </p:animClr>
                                    <p:set>
                                      <p:cBhvr>
                                        <p:cTn id="434" dur="2000" fill="hold"/>
                                        <p:tgtEl>
                                          <p:spTgt spid="183"/>
                                        </p:tgtEl>
                                        <p:attrNameLst>
                                          <p:attrName>stroke.on</p:attrName>
                                        </p:attrNameLst>
                                      </p:cBhvr>
                                      <p:to>
                                        <p:strVal val="true"/>
                                      </p:to>
                                    </p:set>
                                  </p:childTnLst>
                                </p:cTn>
                              </p:par>
                              <p:par>
                                <p:cTn id="435" presetID="7" presetClass="emph" presetSubtype="2" fill="hold" nodeType="withEffect">
                                  <p:stCondLst>
                                    <p:cond delay="0"/>
                                  </p:stCondLst>
                                  <p:childTnLst>
                                    <p:animClr clrSpc="rgb" dir="cw">
                                      <p:cBhvr>
                                        <p:cTn id="436" dur="2000" fill="hold"/>
                                        <p:tgtEl>
                                          <p:spTgt spid="178"/>
                                        </p:tgtEl>
                                        <p:attrNameLst>
                                          <p:attrName>stroke.color</p:attrName>
                                        </p:attrNameLst>
                                      </p:cBhvr>
                                      <p:to>
                                        <a:srgbClr val="9C9C9C"/>
                                      </p:to>
                                    </p:animClr>
                                    <p:set>
                                      <p:cBhvr>
                                        <p:cTn id="437" dur="2000" fill="hold"/>
                                        <p:tgtEl>
                                          <p:spTgt spid="178"/>
                                        </p:tgtEl>
                                        <p:attrNameLst>
                                          <p:attrName>stroke.on</p:attrName>
                                        </p:attrNameLst>
                                      </p:cBhvr>
                                      <p:to>
                                        <p:strVal val="true"/>
                                      </p:to>
                                    </p:set>
                                  </p:childTnLst>
                                </p:cTn>
                              </p:par>
                              <p:par>
                                <p:cTn id="438" presetID="7" presetClass="emph" presetSubtype="2" fill="hold" nodeType="withEffect">
                                  <p:stCondLst>
                                    <p:cond delay="0"/>
                                  </p:stCondLst>
                                  <p:childTnLst>
                                    <p:animClr clrSpc="rgb" dir="cw">
                                      <p:cBhvr>
                                        <p:cTn id="439" dur="2000" fill="hold"/>
                                        <p:tgtEl>
                                          <p:spTgt spid="181"/>
                                        </p:tgtEl>
                                        <p:attrNameLst>
                                          <p:attrName>stroke.color</p:attrName>
                                        </p:attrNameLst>
                                      </p:cBhvr>
                                      <p:to>
                                        <a:srgbClr val="9C9C9C"/>
                                      </p:to>
                                    </p:animClr>
                                    <p:set>
                                      <p:cBhvr>
                                        <p:cTn id="440" dur="2000" fill="hold"/>
                                        <p:tgtEl>
                                          <p:spTgt spid="181"/>
                                        </p:tgtEl>
                                        <p:attrNameLst>
                                          <p:attrName>stroke.on</p:attrName>
                                        </p:attrNameLst>
                                      </p:cBhvr>
                                      <p:to>
                                        <p:strVal val="true"/>
                                      </p:to>
                                    </p:set>
                                  </p:childTnLst>
                                </p:cTn>
                              </p:par>
                              <p:par>
                                <p:cTn id="441" presetID="7" presetClass="emph" presetSubtype="2" fill="hold" nodeType="withEffect">
                                  <p:stCondLst>
                                    <p:cond delay="0"/>
                                  </p:stCondLst>
                                  <p:childTnLst>
                                    <p:animClr clrSpc="rgb" dir="cw">
                                      <p:cBhvr>
                                        <p:cTn id="442" dur="2000" fill="hold"/>
                                        <p:tgtEl>
                                          <p:spTgt spid="199"/>
                                        </p:tgtEl>
                                        <p:attrNameLst>
                                          <p:attrName>stroke.color</p:attrName>
                                        </p:attrNameLst>
                                      </p:cBhvr>
                                      <p:to>
                                        <a:srgbClr val="9C9C9C"/>
                                      </p:to>
                                    </p:animClr>
                                    <p:set>
                                      <p:cBhvr>
                                        <p:cTn id="443" dur="2000" fill="hold"/>
                                        <p:tgtEl>
                                          <p:spTgt spid="199"/>
                                        </p:tgtEl>
                                        <p:attrNameLst>
                                          <p:attrName>stroke.on</p:attrName>
                                        </p:attrNameLst>
                                      </p:cBhvr>
                                      <p:to>
                                        <p:strVal val="true"/>
                                      </p:to>
                                    </p:set>
                                  </p:childTnLst>
                                </p:cTn>
                              </p:par>
                              <p:par>
                                <p:cTn id="444" presetID="7" presetClass="emph" presetSubtype="2" fill="hold" nodeType="withEffect">
                                  <p:stCondLst>
                                    <p:cond delay="0"/>
                                  </p:stCondLst>
                                  <p:childTnLst>
                                    <p:animClr clrSpc="rgb" dir="cw">
                                      <p:cBhvr>
                                        <p:cTn id="445" dur="2000" fill="hold"/>
                                        <p:tgtEl>
                                          <p:spTgt spid="179"/>
                                        </p:tgtEl>
                                        <p:attrNameLst>
                                          <p:attrName>stroke.color</p:attrName>
                                        </p:attrNameLst>
                                      </p:cBhvr>
                                      <p:to>
                                        <a:srgbClr val="9C9C9C"/>
                                      </p:to>
                                    </p:animClr>
                                    <p:set>
                                      <p:cBhvr>
                                        <p:cTn id="446" dur="2000" fill="hold"/>
                                        <p:tgtEl>
                                          <p:spTgt spid="179"/>
                                        </p:tgtEl>
                                        <p:attrNameLst>
                                          <p:attrName>stroke.on</p:attrName>
                                        </p:attrNameLst>
                                      </p:cBhvr>
                                      <p:to>
                                        <p:strVal val="true"/>
                                      </p:to>
                                    </p:set>
                                  </p:childTnLst>
                                </p:cTn>
                              </p:par>
                              <p:par>
                                <p:cTn id="447" presetID="7" presetClass="emph" presetSubtype="2" fill="hold" nodeType="withEffect">
                                  <p:stCondLst>
                                    <p:cond delay="0"/>
                                  </p:stCondLst>
                                  <p:childTnLst>
                                    <p:animClr clrSpc="rgb" dir="cw">
                                      <p:cBhvr>
                                        <p:cTn id="448" dur="2000" fill="hold"/>
                                        <p:tgtEl>
                                          <p:spTgt spid="200"/>
                                        </p:tgtEl>
                                        <p:attrNameLst>
                                          <p:attrName>stroke.color</p:attrName>
                                        </p:attrNameLst>
                                      </p:cBhvr>
                                      <p:to>
                                        <a:srgbClr val="9C9C9C"/>
                                      </p:to>
                                    </p:animClr>
                                    <p:set>
                                      <p:cBhvr>
                                        <p:cTn id="449" dur="2000" fill="hold"/>
                                        <p:tgtEl>
                                          <p:spTgt spid="200"/>
                                        </p:tgtEl>
                                        <p:attrNameLst>
                                          <p:attrName>stroke.on</p:attrName>
                                        </p:attrNameLst>
                                      </p:cBhvr>
                                      <p:to>
                                        <p:strVal val="true"/>
                                      </p:to>
                                    </p:set>
                                  </p:childTnLst>
                                </p:cTn>
                              </p:par>
                              <p:par>
                                <p:cTn id="450" presetID="7" presetClass="emph" presetSubtype="2" fill="hold" nodeType="withEffect">
                                  <p:stCondLst>
                                    <p:cond delay="0"/>
                                  </p:stCondLst>
                                  <p:childTnLst>
                                    <p:animClr clrSpc="rgb" dir="cw">
                                      <p:cBhvr>
                                        <p:cTn id="451" dur="2000" fill="hold"/>
                                        <p:tgtEl>
                                          <p:spTgt spid="187"/>
                                        </p:tgtEl>
                                        <p:attrNameLst>
                                          <p:attrName>stroke.color</p:attrName>
                                        </p:attrNameLst>
                                      </p:cBhvr>
                                      <p:to>
                                        <a:srgbClr val="9C9C9C"/>
                                      </p:to>
                                    </p:animClr>
                                    <p:set>
                                      <p:cBhvr>
                                        <p:cTn id="452" dur="2000" fill="hold"/>
                                        <p:tgtEl>
                                          <p:spTgt spid="187"/>
                                        </p:tgtEl>
                                        <p:attrNameLst>
                                          <p:attrName>stroke.on</p:attrName>
                                        </p:attrNameLst>
                                      </p:cBhvr>
                                      <p:to>
                                        <p:strVal val="true"/>
                                      </p:to>
                                    </p:set>
                                  </p:childTnLst>
                                </p:cTn>
                              </p:par>
                              <p:par>
                                <p:cTn id="453" presetID="7" presetClass="emph" presetSubtype="2" fill="hold" nodeType="withEffect">
                                  <p:stCondLst>
                                    <p:cond delay="0"/>
                                  </p:stCondLst>
                                  <p:childTnLst>
                                    <p:animClr clrSpc="rgb" dir="cw">
                                      <p:cBhvr>
                                        <p:cTn id="454" dur="2000" fill="hold"/>
                                        <p:tgtEl>
                                          <p:spTgt spid="186"/>
                                        </p:tgtEl>
                                        <p:attrNameLst>
                                          <p:attrName>stroke.color</p:attrName>
                                        </p:attrNameLst>
                                      </p:cBhvr>
                                      <p:to>
                                        <a:srgbClr val="9C9C9C"/>
                                      </p:to>
                                    </p:animClr>
                                    <p:set>
                                      <p:cBhvr>
                                        <p:cTn id="455" dur="2000" fill="hold"/>
                                        <p:tgtEl>
                                          <p:spTgt spid="186"/>
                                        </p:tgtEl>
                                        <p:attrNameLst>
                                          <p:attrName>stroke.on</p:attrName>
                                        </p:attrNameLst>
                                      </p:cBhvr>
                                      <p:to>
                                        <p:strVal val="true"/>
                                      </p:to>
                                    </p:set>
                                  </p:childTnLst>
                                </p:cTn>
                              </p:par>
                              <p:par>
                                <p:cTn id="456" presetID="7" presetClass="emph" presetSubtype="2" fill="hold" nodeType="withEffect">
                                  <p:stCondLst>
                                    <p:cond delay="0"/>
                                  </p:stCondLst>
                                  <p:childTnLst>
                                    <p:animClr clrSpc="rgb" dir="cw">
                                      <p:cBhvr>
                                        <p:cTn id="457" dur="2000" fill="hold"/>
                                        <p:tgtEl>
                                          <p:spTgt spid="180"/>
                                        </p:tgtEl>
                                        <p:attrNameLst>
                                          <p:attrName>stroke.color</p:attrName>
                                        </p:attrNameLst>
                                      </p:cBhvr>
                                      <p:to>
                                        <a:srgbClr val="9C9C9C"/>
                                      </p:to>
                                    </p:animClr>
                                    <p:set>
                                      <p:cBhvr>
                                        <p:cTn id="458" dur="2000" fill="hold"/>
                                        <p:tgtEl>
                                          <p:spTgt spid="180"/>
                                        </p:tgtEl>
                                        <p:attrNameLst>
                                          <p:attrName>stroke.on</p:attrName>
                                        </p:attrNameLst>
                                      </p:cBhvr>
                                      <p:to>
                                        <p:strVal val="true"/>
                                      </p:to>
                                    </p:set>
                                  </p:childTnLst>
                                </p:cTn>
                              </p:par>
                              <p:par>
                                <p:cTn id="459" presetID="7" presetClass="emph" presetSubtype="2" fill="hold" nodeType="withEffect">
                                  <p:stCondLst>
                                    <p:cond delay="0"/>
                                  </p:stCondLst>
                                  <p:childTnLst>
                                    <p:animClr clrSpc="rgb" dir="cw">
                                      <p:cBhvr>
                                        <p:cTn id="460" dur="2000" fill="hold"/>
                                        <p:tgtEl>
                                          <p:spTgt spid="184"/>
                                        </p:tgtEl>
                                        <p:attrNameLst>
                                          <p:attrName>stroke.color</p:attrName>
                                        </p:attrNameLst>
                                      </p:cBhvr>
                                      <p:to>
                                        <a:srgbClr val="9C9C9C"/>
                                      </p:to>
                                    </p:animClr>
                                    <p:set>
                                      <p:cBhvr>
                                        <p:cTn id="461" dur="2000" fill="hold"/>
                                        <p:tgtEl>
                                          <p:spTgt spid="184"/>
                                        </p:tgtEl>
                                        <p:attrNameLst>
                                          <p:attrName>stroke.on</p:attrName>
                                        </p:attrNameLst>
                                      </p:cBhvr>
                                      <p:to>
                                        <p:strVal val="true"/>
                                      </p:to>
                                    </p:set>
                                  </p:childTnLst>
                                </p:cTn>
                              </p:par>
                              <p:par>
                                <p:cTn id="462" presetID="7" presetClass="emph" presetSubtype="2" fill="hold" nodeType="withEffect">
                                  <p:stCondLst>
                                    <p:cond delay="0"/>
                                  </p:stCondLst>
                                  <p:childTnLst>
                                    <p:animClr clrSpc="rgb" dir="cw">
                                      <p:cBhvr>
                                        <p:cTn id="463" dur="2000" fill="hold"/>
                                        <p:tgtEl>
                                          <p:spTgt spid="185"/>
                                        </p:tgtEl>
                                        <p:attrNameLst>
                                          <p:attrName>stroke.color</p:attrName>
                                        </p:attrNameLst>
                                      </p:cBhvr>
                                      <p:to>
                                        <a:srgbClr val="9C9C9C"/>
                                      </p:to>
                                    </p:animClr>
                                    <p:set>
                                      <p:cBhvr>
                                        <p:cTn id="464" dur="2000" fill="hold"/>
                                        <p:tgtEl>
                                          <p:spTgt spid="185"/>
                                        </p:tgtEl>
                                        <p:attrNameLst>
                                          <p:attrName>stroke.on</p:attrName>
                                        </p:attrNameLst>
                                      </p:cBhvr>
                                      <p:to>
                                        <p:strVal val="true"/>
                                      </p:to>
                                    </p:set>
                                  </p:childTnLst>
                                </p:cTn>
                              </p:par>
                              <p:par>
                                <p:cTn id="465" presetID="7" presetClass="emph" presetSubtype="2" fill="hold" nodeType="withEffect">
                                  <p:stCondLst>
                                    <p:cond delay="0"/>
                                  </p:stCondLst>
                                  <p:childTnLst>
                                    <p:animClr clrSpc="rgb" dir="cw">
                                      <p:cBhvr>
                                        <p:cTn id="466" dur="2000" fill="hold"/>
                                        <p:tgtEl>
                                          <p:spTgt spid="182"/>
                                        </p:tgtEl>
                                        <p:attrNameLst>
                                          <p:attrName>stroke.color</p:attrName>
                                        </p:attrNameLst>
                                      </p:cBhvr>
                                      <p:to>
                                        <a:srgbClr val="9C9C9C"/>
                                      </p:to>
                                    </p:animClr>
                                    <p:set>
                                      <p:cBhvr>
                                        <p:cTn id="467" dur="2000" fill="hold"/>
                                        <p:tgtEl>
                                          <p:spTgt spid="182"/>
                                        </p:tgtEl>
                                        <p:attrNameLst>
                                          <p:attrName>stroke.on</p:attrName>
                                        </p:attrNameLst>
                                      </p:cBhvr>
                                      <p:to>
                                        <p:strVal val="true"/>
                                      </p:to>
                                    </p:set>
                                  </p:childTnLst>
                                </p:cTn>
                              </p:par>
                              <p:par>
                                <p:cTn id="468" presetID="7" presetClass="emph" presetSubtype="2" fill="hold" nodeType="withEffect">
                                  <p:stCondLst>
                                    <p:cond delay="0"/>
                                  </p:stCondLst>
                                  <p:childTnLst>
                                    <p:animClr clrSpc="rgb" dir="cw">
                                      <p:cBhvr>
                                        <p:cTn id="469" dur="2000" fill="hold"/>
                                        <p:tgtEl>
                                          <p:spTgt spid="190"/>
                                        </p:tgtEl>
                                        <p:attrNameLst>
                                          <p:attrName>stroke.color</p:attrName>
                                        </p:attrNameLst>
                                      </p:cBhvr>
                                      <p:to>
                                        <a:srgbClr val="9C9C9C"/>
                                      </p:to>
                                    </p:animClr>
                                    <p:set>
                                      <p:cBhvr>
                                        <p:cTn id="470" dur="2000" fill="hold"/>
                                        <p:tgtEl>
                                          <p:spTgt spid="190"/>
                                        </p:tgtEl>
                                        <p:attrNameLst>
                                          <p:attrName>stroke.on</p:attrName>
                                        </p:attrNameLst>
                                      </p:cBhvr>
                                      <p:to>
                                        <p:strVal val="true"/>
                                      </p:to>
                                    </p:set>
                                  </p:childTnLst>
                                </p:cTn>
                              </p:par>
                              <p:par>
                                <p:cTn id="471" presetID="7" presetClass="emph" presetSubtype="2" fill="hold" nodeType="withEffect">
                                  <p:stCondLst>
                                    <p:cond delay="0"/>
                                  </p:stCondLst>
                                  <p:childTnLst>
                                    <p:animClr clrSpc="rgb" dir="cw">
                                      <p:cBhvr>
                                        <p:cTn id="472" dur="2000" fill="hold"/>
                                        <p:tgtEl>
                                          <p:spTgt spid="188"/>
                                        </p:tgtEl>
                                        <p:attrNameLst>
                                          <p:attrName>stroke.color</p:attrName>
                                        </p:attrNameLst>
                                      </p:cBhvr>
                                      <p:to>
                                        <a:srgbClr val="9C9C9C"/>
                                      </p:to>
                                    </p:animClr>
                                    <p:set>
                                      <p:cBhvr>
                                        <p:cTn id="473" dur="2000" fill="hold"/>
                                        <p:tgtEl>
                                          <p:spTgt spid="188"/>
                                        </p:tgtEl>
                                        <p:attrNameLst>
                                          <p:attrName>stroke.on</p:attrName>
                                        </p:attrNameLst>
                                      </p:cBhvr>
                                      <p:to>
                                        <p:strVal val="true"/>
                                      </p:to>
                                    </p:set>
                                  </p:childTnLst>
                                </p:cTn>
                              </p:par>
                            </p:childTnLst>
                          </p:cTn>
                        </p:par>
                      </p:childTnLst>
                    </p:cTn>
                  </p:par>
                  <p:par>
                    <p:cTn id="474" fill="hold">
                      <p:stCondLst>
                        <p:cond delay="indefinite"/>
                      </p:stCondLst>
                      <p:childTnLst>
                        <p:par>
                          <p:cTn id="475" fill="hold">
                            <p:stCondLst>
                              <p:cond delay="0"/>
                            </p:stCondLst>
                            <p:childTnLst>
                              <p:par>
                                <p:cTn id="476" presetID="9" presetClass="entr" presetSubtype="0" fill="hold" grpId="0" nodeType="clickEffect">
                                  <p:stCondLst>
                                    <p:cond delay="0"/>
                                  </p:stCondLst>
                                  <p:childTnLst>
                                    <p:set>
                                      <p:cBhvr>
                                        <p:cTn id="477" dur="1" fill="hold">
                                          <p:stCondLst>
                                            <p:cond delay="0"/>
                                          </p:stCondLst>
                                        </p:cTn>
                                        <p:tgtEl>
                                          <p:spTgt spid="256"/>
                                        </p:tgtEl>
                                        <p:attrNameLst>
                                          <p:attrName>style.visibility</p:attrName>
                                        </p:attrNameLst>
                                      </p:cBhvr>
                                      <p:to>
                                        <p:strVal val="visible"/>
                                      </p:to>
                                    </p:set>
                                    <p:animEffect transition="in" filter="dissolve">
                                      <p:cBhvr>
                                        <p:cTn id="478" dur="500"/>
                                        <p:tgtEl>
                                          <p:spTgt spid="256"/>
                                        </p:tgtEl>
                                      </p:cBhvr>
                                    </p:animEffect>
                                  </p:childTnLst>
                                </p:cTn>
                              </p:par>
                            </p:childTnLst>
                          </p:cTn>
                        </p:par>
                      </p:childTnLst>
                    </p:cTn>
                  </p:par>
                  <p:par>
                    <p:cTn id="479" fill="hold">
                      <p:stCondLst>
                        <p:cond delay="indefinite"/>
                      </p:stCondLst>
                      <p:childTnLst>
                        <p:par>
                          <p:cTn id="480" fill="hold">
                            <p:stCondLst>
                              <p:cond delay="0"/>
                            </p:stCondLst>
                            <p:childTnLst>
                              <p:par>
                                <p:cTn id="481" presetID="7" presetClass="emph" presetSubtype="2" fill="hold" nodeType="clickEffect">
                                  <p:stCondLst>
                                    <p:cond delay="0"/>
                                  </p:stCondLst>
                                  <p:childTnLst>
                                    <p:animClr clrSpc="rgb" dir="cw">
                                      <p:cBhvr>
                                        <p:cTn id="482" dur="2000" fill="hold"/>
                                        <p:tgtEl>
                                          <p:spTgt spid="191"/>
                                        </p:tgtEl>
                                        <p:attrNameLst>
                                          <p:attrName>stroke.color</p:attrName>
                                        </p:attrNameLst>
                                      </p:cBhvr>
                                      <p:to>
                                        <a:schemeClr val="accent2"/>
                                      </p:to>
                                    </p:animClr>
                                    <p:set>
                                      <p:cBhvr>
                                        <p:cTn id="483" dur="2000" fill="hold"/>
                                        <p:tgtEl>
                                          <p:spTgt spid="191"/>
                                        </p:tgtEl>
                                        <p:attrNameLst>
                                          <p:attrName>stroke.on</p:attrName>
                                        </p:attrNameLst>
                                      </p:cBhvr>
                                      <p:to>
                                        <p:strVal val="true"/>
                                      </p:to>
                                    </p:set>
                                  </p:childTnLst>
                                </p:cTn>
                              </p:par>
                            </p:childTnLst>
                          </p:cTn>
                        </p:par>
                      </p:childTnLst>
                    </p:cTn>
                  </p:par>
                  <p:par>
                    <p:cTn id="484" fill="hold">
                      <p:stCondLst>
                        <p:cond delay="indefinite"/>
                      </p:stCondLst>
                      <p:childTnLst>
                        <p:par>
                          <p:cTn id="485" fill="hold">
                            <p:stCondLst>
                              <p:cond delay="0"/>
                            </p:stCondLst>
                            <p:childTnLst>
                              <p:par>
                                <p:cTn id="486" presetID="7" presetClass="emph" presetSubtype="2" fill="hold" nodeType="clickEffect">
                                  <p:stCondLst>
                                    <p:cond delay="0"/>
                                  </p:stCondLst>
                                  <p:childTnLst>
                                    <p:animClr clrSpc="rgb" dir="cw">
                                      <p:cBhvr>
                                        <p:cTn id="487" dur="2000" fill="hold"/>
                                        <p:tgtEl>
                                          <p:spTgt spid="182"/>
                                        </p:tgtEl>
                                        <p:attrNameLst>
                                          <p:attrName>stroke.color</p:attrName>
                                        </p:attrNameLst>
                                      </p:cBhvr>
                                      <p:to>
                                        <a:schemeClr val="accent2"/>
                                      </p:to>
                                    </p:animClr>
                                    <p:set>
                                      <p:cBhvr>
                                        <p:cTn id="488" dur="2000" fill="hold"/>
                                        <p:tgtEl>
                                          <p:spTgt spid="182"/>
                                        </p:tgtEl>
                                        <p:attrNameLst>
                                          <p:attrName>stroke.on</p:attrName>
                                        </p:attrNameLst>
                                      </p:cBhvr>
                                      <p:to>
                                        <p:strVal val="true"/>
                                      </p:to>
                                    </p:set>
                                  </p:childTnLst>
                                </p:cTn>
                              </p:par>
                            </p:childTnLst>
                          </p:cTn>
                        </p:par>
                      </p:childTnLst>
                    </p:cTn>
                  </p:par>
                  <p:par>
                    <p:cTn id="489" fill="hold">
                      <p:stCondLst>
                        <p:cond delay="indefinite"/>
                      </p:stCondLst>
                      <p:childTnLst>
                        <p:par>
                          <p:cTn id="490" fill="hold">
                            <p:stCondLst>
                              <p:cond delay="0"/>
                            </p:stCondLst>
                            <p:childTnLst>
                              <p:par>
                                <p:cTn id="491" presetID="7" presetClass="emph" presetSubtype="2" fill="hold" nodeType="clickEffect">
                                  <p:stCondLst>
                                    <p:cond delay="0"/>
                                  </p:stCondLst>
                                  <p:childTnLst>
                                    <p:animClr clrSpc="rgb" dir="cw">
                                      <p:cBhvr>
                                        <p:cTn id="492" dur="2000" fill="hold"/>
                                        <p:tgtEl>
                                          <p:spTgt spid="189"/>
                                        </p:tgtEl>
                                        <p:attrNameLst>
                                          <p:attrName>stroke.color</p:attrName>
                                        </p:attrNameLst>
                                      </p:cBhvr>
                                      <p:to>
                                        <a:schemeClr val="accent2"/>
                                      </p:to>
                                    </p:animClr>
                                    <p:set>
                                      <p:cBhvr>
                                        <p:cTn id="493" dur="2000" fill="hold"/>
                                        <p:tgtEl>
                                          <p:spTgt spid="189"/>
                                        </p:tgtEl>
                                        <p:attrNameLst>
                                          <p:attrName>stroke.on</p:attrName>
                                        </p:attrNameLst>
                                      </p:cBhvr>
                                      <p:to>
                                        <p:strVal val="true"/>
                                      </p:to>
                                    </p:set>
                                  </p:childTnLst>
                                </p:cTn>
                              </p:par>
                            </p:childTnLst>
                          </p:cTn>
                        </p:par>
                      </p:childTnLst>
                    </p:cTn>
                  </p:par>
                  <p:par>
                    <p:cTn id="494" fill="hold">
                      <p:stCondLst>
                        <p:cond delay="indefinite"/>
                      </p:stCondLst>
                      <p:childTnLst>
                        <p:par>
                          <p:cTn id="495" fill="hold">
                            <p:stCondLst>
                              <p:cond delay="0"/>
                            </p:stCondLst>
                            <p:childTnLst>
                              <p:par>
                                <p:cTn id="496" presetID="7" presetClass="emph" presetSubtype="2" fill="hold" nodeType="clickEffect">
                                  <p:stCondLst>
                                    <p:cond delay="0"/>
                                  </p:stCondLst>
                                  <p:childTnLst>
                                    <p:animClr clrSpc="rgb" dir="cw">
                                      <p:cBhvr>
                                        <p:cTn id="497" dur="2000" fill="hold"/>
                                        <p:tgtEl>
                                          <p:spTgt spid="178"/>
                                        </p:tgtEl>
                                        <p:attrNameLst>
                                          <p:attrName>stroke.color</p:attrName>
                                        </p:attrNameLst>
                                      </p:cBhvr>
                                      <p:to>
                                        <a:schemeClr val="accent2"/>
                                      </p:to>
                                    </p:animClr>
                                    <p:set>
                                      <p:cBhvr>
                                        <p:cTn id="498" dur="2000" fill="hold"/>
                                        <p:tgtEl>
                                          <p:spTgt spid="178"/>
                                        </p:tgtEl>
                                        <p:attrNameLst>
                                          <p:attrName>stroke.on</p:attrName>
                                        </p:attrNameLst>
                                      </p:cBhvr>
                                      <p:to>
                                        <p:strVal val="true"/>
                                      </p:to>
                                    </p:set>
                                  </p:childTnLst>
                                </p:cTn>
                              </p:par>
                            </p:childTnLst>
                          </p:cTn>
                        </p:par>
                      </p:childTnLst>
                    </p:cTn>
                  </p:par>
                  <p:par>
                    <p:cTn id="499" fill="hold">
                      <p:stCondLst>
                        <p:cond delay="indefinite"/>
                      </p:stCondLst>
                      <p:childTnLst>
                        <p:par>
                          <p:cTn id="500" fill="hold">
                            <p:stCondLst>
                              <p:cond delay="0"/>
                            </p:stCondLst>
                            <p:childTnLst>
                              <p:par>
                                <p:cTn id="501" presetID="7" presetClass="emph" presetSubtype="2" fill="hold" nodeType="clickEffect">
                                  <p:stCondLst>
                                    <p:cond delay="0"/>
                                  </p:stCondLst>
                                  <p:childTnLst>
                                    <p:animClr clrSpc="rgb" dir="cw">
                                      <p:cBhvr>
                                        <p:cTn id="502" dur="2000" fill="hold"/>
                                        <p:tgtEl>
                                          <p:spTgt spid="181"/>
                                        </p:tgtEl>
                                        <p:attrNameLst>
                                          <p:attrName>stroke.color</p:attrName>
                                        </p:attrNameLst>
                                      </p:cBhvr>
                                      <p:to>
                                        <a:schemeClr val="accent2"/>
                                      </p:to>
                                    </p:animClr>
                                    <p:set>
                                      <p:cBhvr>
                                        <p:cTn id="503" dur="2000" fill="hold"/>
                                        <p:tgtEl>
                                          <p:spTgt spid="181"/>
                                        </p:tgtEl>
                                        <p:attrNameLst>
                                          <p:attrName>stroke.on</p:attrName>
                                        </p:attrNameLst>
                                      </p:cBhvr>
                                      <p:to>
                                        <p:strVal val="true"/>
                                      </p:to>
                                    </p:set>
                                  </p:childTnLst>
                                </p:cTn>
                              </p:par>
                            </p:childTnLst>
                          </p:cTn>
                        </p:par>
                      </p:childTnLst>
                    </p:cTn>
                  </p:par>
                  <p:par>
                    <p:cTn id="504" fill="hold">
                      <p:stCondLst>
                        <p:cond delay="indefinite"/>
                      </p:stCondLst>
                      <p:childTnLst>
                        <p:par>
                          <p:cTn id="505" fill="hold">
                            <p:stCondLst>
                              <p:cond delay="0"/>
                            </p:stCondLst>
                            <p:childTnLst>
                              <p:par>
                                <p:cTn id="506" presetID="7" presetClass="emph" presetSubtype="2" fill="hold" nodeType="clickEffect">
                                  <p:stCondLst>
                                    <p:cond delay="0"/>
                                  </p:stCondLst>
                                  <p:childTnLst>
                                    <p:animClr clrSpc="rgb" dir="cw">
                                      <p:cBhvr>
                                        <p:cTn id="507" dur="2000" fill="hold"/>
                                        <p:tgtEl>
                                          <p:spTgt spid="183"/>
                                        </p:tgtEl>
                                        <p:attrNameLst>
                                          <p:attrName>stroke.color</p:attrName>
                                        </p:attrNameLst>
                                      </p:cBhvr>
                                      <p:to>
                                        <a:schemeClr val="accent2"/>
                                      </p:to>
                                    </p:animClr>
                                    <p:set>
                                      <p:cBhvr>
                                        <p:cTn id="508" dur="2000" fill="hold"/>
                                        <p:tgtEl>
                                          <p:spTgt spid="183"/>
                                        </p:tgtEl>
                                        <p:attrNameLst>
                                          <p:attrName>stroke.on</p:attrName>
                                        </p:attrNameLst>
                                      </p:cBhvr>
                                      <p:to>
                                        <p:strVal val="true"/>
                                      </p:to>
                                    </p:set>
                                  </p:childTnLst>
                                </p:cTn>
                              </p:par>
                            </p:childTnLst>
                          </p:cTn>
                        </p:par>
                      </p:childTnLst>
                    </p:cTn>
                  </p:par>
                  <p:par>
                    <p:cTn id="509" fill="hold">
                      <p:stCondLst>
                        <p:cond delay="indefinite"/>
                      </p:stCondLst>
                      <p:childTnLst>
                        <p:par>
                          <p:cTn id="510" fill="hold">
                            <p:stCondLst>
                              <p:cond delay="0"/>
                            </p:stCondLst>
                            <p:childTnLst>
                              <p:par>
                                <p:cTn id="511" presetID="7" presetClass="emph" presetSubtype="2" fill="hold" nodeType="clickEffect">
                                  <p:stCondLst>
                                    <p:cond delay="0"/>
                                  </p:stCondLst>
                                  <p:childTnLst>
                                    <p:animClr clrSpc="rgb" dir="cw">
                                      <p:cBhvr>
                                        <p:cTn id="512" dur="2000" fill="hold"/>
                                        <p:tgtEl>
                                          <p:spTgt spid="199"/>
                                        </p:tgtEl>
                                        <p:attrNameLst>
                                          <p:attrName>stroke.color</p:attrName>
                                        </p:attrNameLst>
                                      </p:cBhvr>
                                      <p:to>
                                        <a:schemeClr val="accent2"/>
                                      </p:to>
                                    </p:animClr>
                                    <p:set>
                                      <p:cBhvr>
                                        <p:cTn id="513" dur="2000" fill="hold"/>
                                        <p:tgtEl>
                                          <p:spTgt spid="199"/>
                                        </p:tgtEl>
                                        <p:attrNameLst>
                                          <p:attrName>stroke.on</p:attrName>
                                        </p:attrNameLst>
                                      </p:cBhvr>
                                      <p:to>
                                        <p:strVal val="true"/>
                                      </p:to>
                                    </p:set>
                                  </p:childTnLst>
                                </p:cTn>
                              </p:par>
                            </p:childTnLst>
                          </p:cTn>
                        </p:par>
                      </p:childTnLst>
                    </p:cTn>
                  </p:par>
                  <p:par>
                    <p:cTn id="514" fill="hold">
                      <p:stCondLst>
                        <p:cond delay="indefinite"/>
                      </p:stCondLst>
                      <p:childTnLst>
                        <p:par>
                          <p:cTn id="515" fill="hold">
                            <p:stCondLst>
                              <p:cond delay="0"/>
                            </p:stCondLst>
                            <p:childTnLst>
                              <p:par>
                                <p:cTn id="516" presetID="9" presetClass="entr" presetSubtype="0" fill="hold" nodeType="clickEffect">
                                  <p:stCondLst>
                                    <p:cond delay="0"/>
                                  </p:stCondLst>
                                  <p:childTnLst>
                                    <p:set>
                                      <p:cBhvr>
                                        <p:cTn id="517" dur="1" fill="hold">
                                          <p:stCondLst>
                                            <p:cond delay="0"/>
                                          </p:stCondLst>
                                        </p:cTn>
                                        <p:tgtEl>
                                          <p:spTgt spid="251"/>
                                        </p:tgtEl>
                                        <p:attrNameLst>
                                          <p:attrName>style.visibility</p:attrName>
                                        </p:attrNameLst>
                                      </p:cBhvr>
                                      <p:to>
                                        <p:strVal val="visible"/>
                                      </p:to>
                                    </p:set>
                                    <p:animEffect transition="in" filter="dissolve">
                                      <p:cBhvr>
                                        <p:cTn id="518" dur="500"/>
                                        <p:tgtEl>
                                          <p:spTgt spid="251"/>
                                        </p:tgtEl>
                                      </p:cBhvr>
                                    </p:animEffect>
                                  </p:childTnLst>
                                </p:cTn>
                              </p:par>
                            </p:childTnLst>
                          </p:cTn>
                        </p:par>
                      </p:childTnLst>
                    </p:cTn>
                  </p:par>
                  <p:par>
                    <p:cTn id="519" fill="hold">
                      <p:stCondLst>
                        <p:cond delay="indefinite"/>
                      </p:stCondLst>
                      <p:childTnLst>
                        <p:par>
                          <p:cTn id="520" fill="hold">
                            <p:stCondLst>
                              <p:cond delay="0"/>
                            </p:stCondLst>
                            <p:childTnLst>
                              <p:par>
                                <p:cTn id="521" presetID="9" presetClass="entr" presetSubtype="0" fill="hold" nodeType="clickEffect">
                                  <p:stCondLst>
                                    <p:cond delay="0"/>
                                  </p:stCondLst>
                                  <p:childTnLst>
                                    <p:set>
                                      <p:cBhvr>
                                        <p:cTn id="522" dur="1" fill="hold">
                                          <p:stCondLst>
                                            <p:cond delay="0"/>
                                          </p:stCondLst>
                                        </p:cTn>
                                        <p:tgtEl>
                                          <p:spTgt spid="237">
                                            <p:txEl>
                                              <p:pRg st="3" end="3"/>
                                            </p:txEl>
                                          </p:spTgt>
                                        </p:tgtEl>
                                        <p:attrNameLst>
                                          <p:attrName>style.visibility</p:attrName>
                                        </p:attrNameLst>
                                      </p:cBhvr>
                                      <p:to>
                                        <p:strVal val="visible"/>
                                      </p:to>
                                    </p:set>
                                    <p:animEffect transition="in" filter="dissolve">
                                      <p:cBhvr>
                                        <p:cTn id="523" dur="500"/>
                                        <p:tgtEl>
                                          <p:spTgt spid="237">
                                            <p:txEl>
                                              <p:pRg st="3" end="3"/>
                                            </p:txEl>
                                          </p:spTgt>
                                        </p:tgtEl>
                                      </p:cBhvr>
                                    </p:animEffect>
                                  </p:childTnLst>
                                </p:cTn>
                              </p:par>
                            </p:childTnLst>
                          </p:cTn>
                        </p:par>
                      </p:childTnLst>
                    </p:cTn>
                  </p:par>
                  <p:par>
                    <p:cTn id="524" fill="hold">
                      <p:stCondLst>
                        <p:cond delay="indefinite"/>
                      </p:stCondLst>
                      <p:childTnLst>
                        <p:par>
                          <p:cTn id="525" fill="hold">
                            <p:stCondLst>
                              <p:cond delay="0"/>
                            </p:stCondLst>
                            <p:childTnLst>
                              <p:par>
                                <p:cTn id="526" presetID="9" presetClass="entr" presetSubtype="0" fill="hold" nodeType="clickEffect">
                                  <p:stCondLst>
                                    <p:cond delay="0"/>
                                  </p:stCondLst>
                                  <p:childTnLst>
                                    <p:set>
                                      <p:cBhvr>
                                        <p:cTn id="527" dur="1" fill="hold">
                                          <p:stCondLst>
                                            <p:cond delay="0"/>
                                          </p:stCondLst>
                                        </p:cTn>
                                        <p:tgtEl>
                                          <p:spTgt spid="253"/>
                                        </p:tgtEl>
                                        <p:attrNameLst>
                                          <p:attrName>style.visibility</p:attrName>
                                        </p:attrNameLst>
                                      </p:cBhvr>
                                      <p:to>
                                        <p:strVal val="visible"/>
                                      </p:to>
                                    </p:set>
                                    <p:animEffect transition="in" filter="dissolve">
                                      <p:cBhvr>
                                        <p:cTn id="528" dur="500"/>
                                        <p:tgtEl>
                                          <p:spTgt spid="253"/>
                                        </p:tgtEl>
                                      </p:cBhvr>
                                    </p:animEffect>
                                  </p:childTnLst>
                                </p:cTn>
                              </p:par>
                            </p:childTnLst>
                          </p:cTn>
                        </p:par>
                      </p:childTnLst>
                    </p:cTn>
                  </p:par>
                  <p:par>
                    <p:cTn id="529" fill="hold">
                      <p:stCondLst>
                        <p:cond delay="indefinite"/>
                      </p:stCondLst>
                      <p:childTnLst>
                        <p:par>
                          <p:cTn id="530" fill="hold">
                            <p:stCondLst>
                              <p:cond delay="0"/>
                            </p:stCondLst>
                            <p:childTnLst>
                              <p:par>
                                <p:cTn id="531" presetID="9" presetClass="entr" presetSubtype="0" fill="hold" nodeType="clickEffect">
                                  <p:stCondLst>
                                    <p:cond delay="0"/>
                                  </p:stCondLst>
                                  <p:childTnLst>
                                    <p:set>
                                      <p:cBhvr>
                                        <p:cTn id="532" dur="1" fill="hold">
                                          <p:stCondLst>
                                            <p:cond delay="0"/>
                                          </p:stCondLst>
                                        </p:cTn>
                                        <p:tgtEl>
                                          <p:spTgt spid="242">
                                            <p:txEl>
                                              <p:pRg st="3" end="3"/>
                                            </p:txEl>
                                          </p:spTgt>
                                        </p:tgtEl>
                                        <p:attrNameLst>
                                          <p:attrName>style.visibility</p:attrName>
                                        </p:attrNameLst>
                                      </p:cBhvr>
                                      <p:to>
                                        <p:strVal val="visible"/>
                                      </p:to>
                                    </p:set>
                                    <p:animEffect transition="in" filter="dissolve">
                                      <p:cBhvr>
                                        <p:cTn id="533" dur="500"/>
                                        <p:tgtEl>
                                          <p:spTgt spid="242">
                                            <p:txEl>
                                              <p:pRg st="3" end="3"/>
                                            </p:txEl>
                                          </p:spTgt>
                                        </p:tgtEl>
                                      </p:cBhvr>
                                    </p:animEffect>
                                  </p:childTnLst>
                                </p:cTn>
                              </p:par>
                            </p:childTnLst>
                          </p:cTn>
                        </p:par>
                      </p:childTnLst>
                    </p:cTn>
                  </p:par>
                  <p:par>
                    <p:cTn id="534" fill="hold">
                      <p:stCondLst>
                        <p:cond delay="indefinite"/>
                      </p:stCondLst>
                      <p:childTnLst>
                        <p:par>
                          <p:cTn id="535" fill="hold">
                            <p:stCondLst>
                              <p:cond delay="0"/>
                            </p:stCondLst>
                            <p:childTnLst>
                              <p:par>
                                <p:cTn id="536" presetID="7" presetClass="emph" presetSubtype="2" fill="hold" nodeType="clickEffect">
                                  <p:stCondLst>
                                    <p:cond delay="0"/>
                                  </p:stCondLst>
                                  <p:childTnLst>
                                    <p:animClr clrSpc="rgb" dir="cw">
                                      <p:cBhvr>
                                        <p:cTn id="537" dur="2000" fill="hold"/>
                                        <p:tgtEl>
                                          <p:spTgt spid="200"/>
                                        </p:tgtEl>
                                        <p:attrNameLst>
                                          <p:attrName>stroke.color</p:attrName>
                                        </p:attrNameLst>
                                      </p:cBhvr>
                                      <p:to>
                                        <a:schemeClr val="accent2"/>
                                      </p:to>
                                    </p:animClr>
                                    <p:set>
                                      <p:cBhvr>
                                        <p:cTn id="538" dur="2000" fill="hold"/>
                                        <p:tgtEl>
                                          <p:spTgt spid="200"/>
                                        </p:tgtEl>
                                        <p:attrNameLst>
                                          <p:attrName>stroke.on</p:attrName>
                                        </p:attrNameLst>
                                      </p:cBhvr>
                                      <p:to>
                                        <p:strVal val="true"/>
                                      </p:to>
                                    </p:set>
                                  </p:childTnLst>
                                </p:cTn>
                              </p:par>
                            </p:childTnLst>
                          </p:cTn>
                        </p:par>
                      </p:childTnLst>
                    </p:cTn>
                  </p:par>
                  <p:par>
                    <p:cTn id="539" fill="hold">
                      <p:stCondLst>
                        <p:cond delay="indefinite"/>
                      </p:stCondLst>
                      <p:childTnLst>
                        <p:par>
                          <p:cTn id="540" fill="hold">
                            <p:stCondLst>
                              <p:cond delay="0"/>
                            </p:stCondLst>
                            <p:childTnLst>
                              <p:par>
                                <p:cTn id="541" presetID="9" presetClass="entr" presetSubtype="0" fill="hold" nodeType="clickEffect">
                                  <p:stCondLst>
                                    <p:cond delay="0"/>
                                  </p:stCondLst>
                                  <p:childTnLst>
                                    <p:set>
                                      <p:cBhvr>
                                        <p:cTn id="542" dur="1" fill="hold">
                                          <p:stCondLst>
                                            <p:cond delay="0"/>
                                          </p:stCondLst>
                                        </p:cTn>
                                        <p:tgtEl>
                                          <p:spTgt spid="250"/>
                                        </p:tgtEl>
                                        <p:attrNameLst>
                                          <p:attrName>style.visibility</p:attrName>
                                        </p:attrNameLst>
                                      </p:cBhvr>
                                      <p:to>
                                        <p:strVal val="visible"/>
                                      </p:to>
                                    </p:set>
                                    <p:animEffect transition="in" filter="dissolve">
                                      <p:cBhvr>
                                        <p:cTn id="543" dur="500"/>
                                        <p:tgtEl>
                                          <p:spTgt spid="250"/>
                                        </p:tgtEl>
                                      </p:cBhvr>
                                    </p:animEffect>
                                  </p:childTnLst>
                                </p:cTn>
                              </p:par>
                            </p:childTnLst>
                          </p:cTn>
                        </p:par>
                      </p:childTnLst>
                    </p:cTn>
                  </p:par>
                  <p:par>
                    <p:cTn id="544" fill="hold">
                      <p:stCondLst>
                        <p:cond delay="indefinite"/>
                      </p:stCondLst>
                      <p:childTnLst>
                        <p:par>
                          <p:cTn id="545" fill="hold">
                            <p:stCondLst>
                              <p:cond delay="0"/>
                            </p:stCondLst>
                            <p:childTnLst>
                              <p:par>
                                <p:cTn id="546" presetID="9" presetClass="entr" presetSubtype="0" fill="hold" nodeType="clickEffect">
                                  <p:stCondLst>
                                    <p:cond delay="0"/>
                                  </p:stCondLst>
                                  <p:childTnLst>
                                    <p:set>
                                      <p:cBhvr>
                                        <p:cTn id="547" dur="1" fill="hold">
                                          <p:stCondLst>
                                            <p:cond delay="0"/>
                                          </p:stCondLst>
                                        </p:cTn>
                                        <p:tgtEl>
                                          <p:spTgt spid="247">
                                            <p:txEl>
                                              <p:pRg st="6" end="6"/>
                                            </p:txEl>
                                          </p:spTgt>
                                        </p:tgtEl>
                                        <p:attrNameLst>
                                          <p:attrName>style.visibility</p:attrName>
                                        </p:attrNameLst>
                                      </p:cBhvr>
                                      <p:to>
                                        <p:strVal val="visible"/>
                                      </p:to>
                                    </p:set>
                                    <p:animEffect transition="in" filter="dissolve">
                                      <p:cBhvr>
                                        <p:cTn id="548" dur="500"/>
                                        <p:tgtEl>
                                          <p:spTgt spid="247">
                                            <p:txEl>
                                              <p:pRg st="6" end="6"/>
                                            </p:txEl>
                                          </p:spTgt>
                                        </p:tgtEl>
                                      </p:cBhvr>
                                    </p:animEffect>
                                  </p:childTnLst>
                                </p:cTn>
                              </p:par>
                            </p:childTnLst>
                          </p:cTn>
                        </p:par>
                      </p:childTnLst>
                    </p:cTn>
                  </p:par>
                  <p:par>
                    <p:cTn id="549" fill="hold">
                      <p:stCondLst>
                        <p:cond delay="indefinite"/>
                      </p:stCondLst>
                      <p:childTnLst>
                        <p:par>
                          <p:cTn id="550" fill="hold">
                            <p:stCondLst>
                              <p:cond delay="0"/>
                            </p:stCondLst>
                            <p:childTnLst>
                              <p:par>
                                <p:cTn id="551" presetID="9" presetClass="entr" presetSubtype="0" fill="hold" nodeType="clickEffect">
                                  <p:stCondLst>
                                    <p:cond delay="0"/>
                                  </p:stCondLst>
                                  <p:childTnLst>
                                    <p:set>
                                      <p:cBhvr>
                                        <p:cTn id="552" dur="1" fill="hold">
                                          <p:stCondLst>
                                            <p:cond delay="0"/>
                                          </p:stCondLst>
                                        </p:cTn>
                                        <p:tgtEl>
                                          <p:spTgt spid="252"/>
                                        </p:tgtEl>
                                        <p:attrNameLst>
                                          <p:attrName>style.visibility</p:attrName>
                                        </p:attrNameLst>
                                      </p:cBhvr>
                                      <p:to>
                                        <p:strVal val="visible"/>
                                      </p:to>
                                    </p:set>
                                    <p:animEffect transition="in" filter="dissolve">
                                      <p:cBhvr>
                                        <p:cTn id="553" dur="500"/>
                                        <p:tgtEl>
                                          <p:spTgt spid="252"/>
                                        </p:tgtEl>
                                      </p:cBhvr>
                                    </p:animEffect>
                                  </p:childTnLst>
                                </p:cTn>
                              </p:par>
                            </p:childTnLst>
                          </p:cTn>
                        </p:par>
                      </p:childTnLst>
                    </p:cTn>
                  </p:par>
                  <p:par>
                    <p:cTn id="554" fill="hold">
                      <p:stCondLst>
                        <p:cond delay="indefinite"/>
                      </p:stCondLst>
                      <p:childTnLst>
                        <p:par>
                          <p:cTn id="555" fill="hold">
                            <p:stCondLst>
                              <p:cond delay="0"/>
                            </p:stCondLst>
                            <p:childTnLst>
                              <p:par>
                                <p:cTn id="556" presetID="9" presetClass="entr" presetSubtype="0" fill="hold" nodeType="clickEffect">
                                  <p:stCondLst>
                                    <p:cond delay="0"/>
                                  </p:stCondLst>
                                  <p:childTnLst>
                                    <p:set>
                                      <p:cBhvr>
                                        <p:cTn id="557" dur="1" fill="hold">
                                          <p:stCondLst>
                                            <p:cond delay="0"/>
                                          </p:stCondLst>
                                        </p:cTn>
                                        <p:tgtEl>
                                          <p:spTgt spid="249">
                                            <p:txEl>
                                              <p:pRg st="6" end="6"/>
                                            </p:txEl>
                                          </p:spTgt>
                                        </p:tgtEl>
                                        <p:attrNameLst>
                                          <p:attrName>style.visibility</p:attrName>
                                        </p:attrNameLst>
                                      </p:cBhvr>
                                      <p:to>
                                        <p:strVal val="visible"/>
                                      </p:to>
                                    </p:set>
                                    <p:animEffect transition="in" filter="dissolve">
                                      <p:cBhvr>
                                        <p:cTn id="558" dur="500"/>
                                        <p:tgtEl>
                                          <p:spTgt spid="249">
                                            <p:txEl>
                                              <p:pRg st="6" end="6"/>
                                            </p:txEl>
                                          </p:spTgt>
                                        </p:tgtEl>
                                      </p:cBhvr>
                                    </p:animEffect>
                                  </p:childTnLst>
                                </p:cTn>
                              </p:par>
                            </p:childTnLst>
                          </p:cTn>
                        </p:par>
                      </p:childTnLst>
                    </p:cTn>
                  </p:par>
                  <p:par>
                    <p:cTn id="559" fill="hold">
                      <p:stCondLst>
                        <p:cond delay="indefinite"/>
                      </p:stCondLst>
                      <p:childTnLst>
                        <p:par>
                          <p:cTn id="560" fill="hold">
                            <p:stCondLst>
                              <p:cond delay="0"/>
                            </p:stCondLst>
                            <p:childTnLst>
                              <p:par>
                                <p:cTn id="561" presetID="7" presetClass="emph" presetSubtype="2" fill="hold" nodeType="clickEffect">
                                  <p:stCondLst>
                                    <p:cond delay="0"/>
                                  </p:stCondLst>
                                  <p:childTnLst>
                                    <p:animClr clrSpc="rgb" dir="cw">
                                      <p:cBhvr>
                                        <p:cTn id="562" dur="2000" fill="hold"/>
                                        <p:tgtEl>
                                          <p:spTgt spid="179"/>
                                        </p:tgtEl>
                                        <p:attrNameLst>
                                          <p:attrName>stroke.color</p:attrName>
                                        </p:attrNameLst>
                                      </p:cBhvr>
                                      <p:to>
                                        <a:schemeClr val="accent2"/>
                                      </p:to>
                                    </p:animClr>
                                    <p:set>
                                      <p:cBhvr>
                                        <p:cTn id="563" dur="2000" fill="hold"/>
                                        <p:tgtEl>
                                          <p:spTgt spid="179"/>
                                        </p:tgtEl>
                                        <p:attrNameLst>
                                          <p:attrName>stroke.on</p:attrName>
                                        </p:attrNameLst>
                                      </p:cBhvr>
                                      <p:to>
                                        <p:strVal val="true"/>
                                      </p:to>
                                    </p:set>
                                  </p:childTnLst>
                                </p:cTn>
                              </p:par>
                            </p:childTnLst>
                          </p:cTn>
                        </p:par>
                      </p:childTnLst>
                    </p:cTn>
                  </p:par>
                  <p:par>
                    <p:cTn id="564" fill="hold">
                      <p:stCondLst>
                        <p:cond delay="indefinite"/>
                      </p:stCondLst>
                      <p:childTnLst>
                        <p:par>
                          <p:cTn id="565" fill="hold">
                            <p:stCondLst>
                              <p:cond delay="0"/>
                            </p:stCondLst>
                            <p:childTnLst>
                              <p:par>
                                <p:cTn id="566" presetID="7" presetClass="emph" presetSubtype="2" fill="hold" nodeType="clickEffect">
                                  <p:stCondLst>
                                    <p:cond delay="0"/>
                                  </p:stCondLst>
                                  <p:childTnLst>
                                    <p:animClr clrSpc="rgb" dir="cw">
                                      <p:cBhvr>
                                        <p:cTn id="567" dur="2000" fill="hold"/>
                                        <p:tgtEl>
                                          <p:spTgt spid="188"/>
                                        </p:tgtEl>
                                        <p:attrNameLst>
                                          <p:attrName>stroke.color</p:attrName>
                                        </p:attrNameLst>
                                      </p:cBhvr>
                                      <p:to>
                                        <a:schemeClr val="accent2"/>
                                      </p:to>
                                    </p:animClr>
                                    <p:set>
                                      <p:cBhvr>
                                        <p:cTn id="568" dur="2000" fill="hold"/>
                                        <p:tgtEl>
                                          <p:spTgt spid="188"/>
                                        </p:tgtEl>
                                        <p:attrNameLst>
                                          <p:attrName>stroke.on</p:attrName>
                                        </p:attrNameLst>
                                      </p:cBhvr>
                                      <p:to>
                                        <p:strVal val="true"/>
                                      </p:to>
                                    </p:set>
                                  </p:childTnLst>
                                </p:cTn>
                              </p:par>
                            </p:childTnLst>
                          </p:cTn>
                        </p:par>
                      </p:childTnLst>
                    </p:cTn>
                  </p:par>
                  <p:par>
                    <p:cTn id="569" fill="hold">
                      <p:stCondLst>
                        <p:cond delay="indefinite"/>
                      </p:stCondLst>
                      <p:childTnLst>
                        <p:par>
                          <p:cTn id="570" fill="hold">
                            <p:stCondLst>
                              <p:cond delay="0"/>
                            </p:stCondLst>
                            <p:childTnLst>
                              <p:par>
                                <p:cTn id="571" presetID="7" presetClass="emph" presetSubtype="2" fill="hold" nodeType="clickEffect">
                                  <p:stCondLst>
                                    <p:cond delay="0"/>
                                  </p:stCondLst>
                                  <p:childTnLst>
                                    <p:animClr clrSpc="rgb" dir="cw">
                                      <p:cBhvr>
                                        <p:cTn id="572" dur="2000" fill="hold"/>
                                        <p:tgtEl>
                                          <p:spTgt spid="186"/>
                                        </p:tgtEl>
                                        <p:attrNameLst>
                                          <p:attrName>stroke.color</p:attrName>
                                        </p:attrNameLst>
                                      </p:cBhvr>
                                      <p:to>
                                        <a:schemeClr val="accent2"/>
                                      </p:to>
                                    </p:animClr>
                                    <p:set>
                                      <p:cBhvr>
                                        <p:cTn id="573" dur="2000" fill="hold"/>
                                        <p:tgtEl>
                                          <p:spTgt spid="186"/>
                                        </p:tgtEl>
                                        <p:attrNameLst>
                                          <p:attrName>stroke.on</p:attrName>
                                        </p:attrNameLst>
                                      </p:cBhvr>
                                      <p:to>
                                        <p:strVal val="true"/>
                                      </p:to>
                                    </p:set>
                                  </p:childTnLst>
                                </p:cTn>
                              </p:par>
                            </p:childTnLst>
                          </p:cTn>
                        </p:par>
                      </p:childTnLst>
                    </p:cTn>
                  </p:par>
                  <p:par>
                    <p:cTn id="574" fill="hold">
                      <p:stCondLst>
                        <p:cond delay="indefinite"/>
                      </p:stCondLst>
                      <p:childTnLst>
                        <p:par>
                          <p:cTn id="575" fill="hold">
                            <p:stCondLst>
                              <p:cond delay="0"/>
                            </p:stCondLst>
                            <p:childTnLst>
                              <p:par>
                                <p:cTn id="576" presetID="7" presetClass="emph" presetSubtype="2" fill="hold" nodeType="clickEffect">
                                  <p:stCondLst>
                                    <p:cond delay="0"/>
                                  </p:stCondLst>
                                  <p:childTnLst>
                                    <p:animClr clrSpc="rgb" dir="cw">
                                      <p:cBhvr>
                                        <p:cTn id="577" dur="2000" fill="hold"/>
                                        <p:tgtEl>
                                          <p:spTgt spid="185"/>
                                        </p:tgtEl>
                                        <p:attrNameLst>
                                          <p:attrName>stroke.color</p:attrName>
                                        </p:attrNameLst>
                                      </p:cBhvr>
                                      <p:to>
                                        <a:schemeClr val="accent2"/>
                                      </p:to>
                                    </p:animClr>
                                    <p:set>
                                      <p:cBhvr>
                                        <p:cTn id="578" dur="2000" fill="hold"/>
                                        <p:tgtEl>
                                          <p:spTgt spid="185"/>
                                        </p:tgtEl>
                                        <p:attrNameLst>
                                          <p:attrName>stroke.on</p:attrName>
                                        </p:attrNameLst>
                                      </p:cBhvr>
                                      <p:to>
                                        <p:strVal val="true"/>
                                      </p:to>
                                    </p:set>
                                  </p:childTnLst>
                                </p:cTn>
                              </p:par>
                            </p:childTnLst>
                          </p:cTn>
                        </p:par>
                      </p:childTnLst>
                    </p:cTn>
                  </p:par>
                  <p:par>
                    <p:cTn id="579" fill="hold">
                      <p:stCondLst>
                        <p:cond delay="indefinite"/>
                      </p:stCondLst>
                      <p:childTnLst>
                        <p:par>
                          <p:cTn id="580" fill="hold">
                            <p:stCondLst>
                              <p:cond delay="0"/>
                            </p:stCondLst>
                            <p:childTnLst>
                              <p:par>
                                <p:cTn id="581" presetID="7" presetClass="emph" presetSubtype="2" fill="hold" nodeType="clickEffect">
                                  <p:stCondLst>
                                    <p:cond delay="0"/>
                                  </p:stCondLst>
                                  <p:childTnLst>
                                    <p:animClr clrSpc="rgb" dir="cw">
                                      <p:cBhvr>
                                        <p:cTn id="582" dur="2000" fill="hold"/>
                                        <p:tgtEl>
                                          <p:spTgt spid="180"/>
                                        </p:tgtEl>
                                        <p:attrNameLst>
                                          <p:attrName>stroke.color</p:attrName>
                                        </p:attrNameLst>
                                      </p:cBhvr>
                                      <p:to>
                                        <a:schemeClr val="accent2"/>
                                      </p:to>
                                    </p:animClr>
                                    <p:set>
                                      <p:cBhvr>
                                        <p:cTn id="583" dur="2000" fill="hold"/>
                                        <p:tgtEl>
                                          <p:spTgt spid="180"/>
                                        </p:tgtEl>
                                        <p:attrNameLst>
                                          <p:attrName>stroke.on</p:attrName>
                                        </p:attrNameLst>
                                      </p:cBhvr>
                                      <p:to>
                                        <p:strVal val="true"/>
                                      </p:to>
                                    </p:set>
                                  </p:childTnLst>
                                </p:cTn>
                              </p:par>
                            </p:childTnLst>
                          </p:cTn>
                        </p:par>
                      </p:childTnLst>
                    </p:cTn>
                  </p:par>
                  <p:par>
                    <p:cTn id="584" fill="hold">
                      <p:stCondLst>
                        <p:cond delay="indefinite"/>
                      </p:stCondLst>
                      <p:childTnLst>
                        <p:par>
                          <p:cTn id="585" fill="hold">
                            <p:stCondLst>
                              <p:cond delay="0"/>
                            </p:stCondLst>
                            <p:childTnLst>
                              <p:par>
                                <p:cTn id="586" presetID="7" presetClass="emph" presetSubtype="2" fill="hold" nodeType="clickEffect">
                                  <p:stCondLst>
                                    <p:cond delay="0"/>
                                  </p:stCondLst>
                                  <p:childTnLst>
                                    <p:animClr clrSpc="rgb" dir="cw">
                                      <p:cBhvr>
                                        <p:cTn id="587" dur="2000" fill="hold"/>
                                        <p:tgtEl>
                                          <p:spTgt spid="187"/>
                                        </p:tgtEl>
                                        <p:attrNameLst>
                                          <p:attrName>stroke.color</p:attrName>
                                        </p:attrNameLst>
                                      </p:cBhvr>
                                      <p:to>
                                        <a:schemeClr val="accent2"/>
                                      </p:to>
                                    </p:animClr>
                                    <p:set>
                                      <p:cBhvr>
                                        <p:cTn id="588" dur="2000" fill="hold"/>
                                        <p:tgtEl>
                                          <p:spTgt spid="187"/>
                                        </p:tgtEl>
                                        <p:attrNameLst>
                                          <p:attrName>stroke.on</p:attrName>
                                        </p:attrNameLst>
                                      </p:cBhvr>
                                      <p:to>
                                        <p:strVal val="true"/>
                                      </p:to>
                                    </p:set>
                                  </p:childTnLst>
                                </p:cTn>
                              </p:par>
                            </p:childTnLst>
                          </p:cTn>
                        </p:par>
                      </p:childTnLst>
                    </p:cTn>
                  </p:par>
                  <p:par>
                    <p:cTn id="589" fill="hold">
                      <p:stCondLst>
                        <p:cond delay="indefinite"/>
                      </p:stCondLst>
                      <p:childTnLst>
                        <p:par>
                          <p:cTn id="590" fill="hold">
                            <p:stCondLst>
                              <p:cond delay="0"/>
                            </p:stCondLst>
                            <p:childTnLst>
                              <p:par>
                                <p:cTn id="591" presetID="7" presetClass="emph" presetSubtype="2" fill="hold" nodeType="clickEffect">
                                  <p:stCondLst>
                                    <p:cond delay="0"/>
                                  </p:stCondLst>
                                  <p:childTnLst>
                                    <p:animClr clrSpc="rgb" dir="cw">
                                      <p:cBhvr>
                                        <p:cTn id="592" dur="2000" fill="hold"/>
                                        <p:tgtEl>
                                          <p:spTgt spid="190"/>
                                        </p:tgtEl>
                                        <p:attrNameLst>
                                          <p:attrName>stroke.color</p:attrName>
                                        </p:attrNameLst>
                                      </p:cBhvr>
                                      <p:to>
                                        <a:schemeClr val="accent2"/>
                                      </p:to>
                                    </p:animClr>
                                    <p:set>
                                      <p:cBhvr>
                                        <p:cTn id="593" dur="2000" fill="hold"/>
                                        <p:tgtEl>
                                          <p:spTgt spid="190"/>
                                        </p:tgtEl>
                                        <p:attrNameLst>
                                          <p:attrName>stroke.on</p:attrName>
                                        </p:attrNameLst>
                                      </p:cBhvr>
                                      <p:to>
                                        <p:strVal val="true"/>
                                      </p:to>
                                    </p:set>
                                  </p:childTnLst>
                                </p:cTn>
                              </p:par>
                            </p:childTnLst>
                          </p:cTn>
                        </p:par>
                      </p:childTnLst>
                    </p:cTn>
                  </p:par>
                  <p:par>
                    <p:cTn id="594" fill="hold">
                      <p:stCondLst>
                        <p:cond delay="indefinite"/>
                      </p:stCondLst>
                      <p:childTnLst>
                        <p:par>
                          <p:cTn id="595" fill="hold">
                            <p:stCondLst>
                              <p:cond delay="0"/>
                            </p:stCondLst>
                            <p:childTnLst>
                              <p:par>
                                <p:cTn id="596" presetID="7" presetClass="emph" presetSubtype="2" fill="hold" nodeType="clickEffect">
                                  <p:stCondLst>
                                    <p:cond delay="0"/>
                                  </p:stCondLst>
                                  <p:childTnLst>
                                    <p:animClr clrSpc="rgb" dir="cw">
                                      <p:cBhvr>
                                        <p:cTn id="597" dur="2000" fill="hold"/>
                                        <p:tgtEl>
                                          <p:spTgt spid="184"/>
                                        </p:tgtEl>
                                        <p:attrNameLst>
                                          <p:attrName>stroke.color</p:attrName>
                                        </p:attrNameLst>
                                      </p:cBhvr>
                                      <p:to>
                                        <a:schemeClr val="accent2"/>
                                      </p:to>
                                    </p:animClr>
                                    <p:set>
                                      <p:cBhvr>
                                        <p:cTn id="598" dur="2000" fill="hold"/>
                                        <p:tgtEl>
                                          <p:spTgt spid="184"/>
                                        </p:tgtEl>
                                        <p:attrNameLst>
                                          <p:attrName>stroke.on</p:attrName>
                                        </p:attrNameLst>
                                      </p:cBhvr>
                                      <p:to>
                                        <p:strVal val="true"/>
                                      </p:to>
                                    </p:set>
                                  </p:childTnLst>
                                </p:cTn>
                              </p:par>
                            </p:childTnLst>
                          </p:cTn>
                        </p:par>
                      </p:childTnLst>
                    </p:cTn>
                  </p:par>
                  <p:par>
                    <p:cTn id="599" fill="hold">
                      <p:stCondLst>
                        <p:cond delay="indefinite"/>
                      </p:stCondLst>
                      <p:childTnLst>
                        <p:par>
                          <p:cTn id="600" fill="hold">
                            <p:stCondLst>
                              <p:cond delay="0"/>
                            </p:stCondLst>
                            <p:childTnLst>
                              <p:par>
                                <p:cTn id="601" presetID="7" presetClass="emph" presetSubtype="2" fill="hold" nodeType="clickEffect">
                                  <p:stCondLst>
                                    <p:cond delay="0"/>
                                  </p:stCondLst>
                                  <p:childTnLst>
                                    <p:animClr clrSpc="rgb" dir="cw">
                                      <p:cBhvr>
                                        <p:cTn id="602" dur="2000" fill="hold"/>
                                        <p:tgtEl>
                                          <p:spTgt spid="191"/>
                                        </p:tgtEl>
                                        <p:attrNameLst>
                                          <p:attrName>stroke.color</p:attrName>
                                        </p:attrNameLst>
                                      </p:cBhvr>
                                      <p:to>
                                        <a:srgbClr val="9C9C9C"/>
                                      </p:to>
                                    </p:animClr>
                                    <p:set>
                                      <p:cBhvr>
                                        <p:cTn id="603" dur="2000" fill="hold"/>
                                        <p:tgtEl>
                                          <p:spTgt spid="191"/>
                                        </p:tgtEl>
                                        <p:attrNameLst>
                                          <p:attrName>stroke.on</p:attrName>
                                        </p:attrNameLst>
                                      </p:cBhvr>
                                      <p:to>
                                        <p:strVal val="true"/>
                                      </p:to>
                                    </p:set>
                                  </p:childTnLst>
                                </p:cTn>
                              </p:par>
                              <p:par>
                                <p:cTn id="604" presetID="7" presetClass="emph" presetSubtype="2" fill="hold" nodeType="withEffect">
                                  <p:stCondLst>
                                    <p:cond delay="0"/>
                                  </p:stCondLst>
                                  <p:childTnLst>
                                    <p:animClr clrSpc="rgb" dir="cw">
                                      <p:cBhvr>
                                        <p:cTn id="605" dur="2000" fill="hold"/>
                                        <p:tgtEl>
                                          <p:spTgt spid="183"/>
                                        </p:tgtEl>
                                        <p:attrNameLst>
                                          <p:attrName>stroke.color</p:attrName>
                                        </p:attrNameLst>
                                      </p:cBhvr>
                                      <p:to>
                                        <a:srgbClr val="9C9C9C"/>
                                      </p:to>
                                    </p:animClr>
                                    <p:set>
                                      <p:cBhvr>
                                        <p:cTn id="606" dur="2000" fill="hold"/>
                                        <p:tgtEl>
                                          <p:spTgt spid="183"/>
                                        </p:tgtEl>
                                        <p:attrNameLst>
                                          <p:attrName>stroke.on</p:attrName>
                                        </p:attrNameLst>
                                      </p:cBhvr>
                                      <p:to>
                                        <p:strVal val="true"/>
                                      </p:to>
                                    </p:set>
                                  </p:childTnLst>
                                </p:cTn>
                              </p:par>
                              <p:par>
                                <p:cTn id="607" presetID="7" presetClass="emph" presetSubtype="2" fill="hold" nodeType="withEffect">
                                  <p:stCondLst>
                                    <p:cond delay="0"/>
                                  </p:stCondLst>
                                  <p:childTnLst>
                                    <p:animClr clrSpc="rgb" dir="cw">
                                      <p:cBhvr>
                                        <p:cTn id="608" dur="2000" fill="hold"/>
                                        <p:tgtEl>
                                          <p:spTgt spid="178"/>
                                        </p:tgtEl>
                                        <p:attrNameLst>
                                          <p:attrName>stroke.color</p:attrName>
                                        </p:attrNameLst>
                                      </p:cBhvr>
                                      <p:to>
                                        <a:srgbClr val="9C9C9C"/>
                                      </p:to>
                                    </p:animClr>
                                    <p:set>
                                      <p:cBhvr>
                                        <p:cTn id="609" dur="2000" fill="hold"/>
                                        <p:tgtEl>
                                          <p:spTgt spid="178"/>
                                        </p:tgtEl>
                                        <p:attrNameLst>
                                          <p:attrName>stroke.on</p:attrName>
                                        </p:attrNameLst>
                                      </p:cBhvr>
                                      <p:to>
                                        <p:strVal val="true"/>
                                      </p:to>
                                    </p:set>
                                  </p:childTnLst>
                                </p:cTn>
                              </p:par>
                              <p:par>
                                <p:cTn id="610" presetID="7" presetClass="emph" presetSubtype="2" fill="hold" nodeType="withEffect">
                                  <p:stCondLst>
                                    <p:cond delay="0"/>
                                  </p:stCondLst>
                                  <p:childTnLst>
                                    <p:animClr clrSpc="rgb" dir="cw">
                                      <p:cBhvr>
                                        <p:cTn id="611" dur="2000" fill="hold"/>
                                        <p:tgtEl>
                                          <p:spTgt spid="181"/>
                                        </p:tgtEl>
                                        <p:attrNameLst>
                                          <p:attrName>stroke.color</p:attrName>
                                        </p:attrNameLst>
                                      </p:cBhvr>
                                      <p:to>
                                        <a:srgbClr val="9C9C9C"/>
                                      </p:to>
                                    </p:animClr>
                                    <p:set>
                                      <p:cBhvr>
                                        <p:cTn id="612" dur="2000" fill="hold"/>
                                        <p:tgtEl>
                                          <p:spTgt spid="181"/>
                                        </p:tgtEl>
                                        <p:attrNameLst>
                                          <p:attrName>stroke.on</p:attrName>
                                        </p:attrNameLst>
                                      </p:cBhvr>
                                      <p:to>
                                        <p:strVal val="true"/>
                                      </p:to>
                                    </p:set>
                                  </p:childTnLst>
                                </p:cTn>
                              </p:par>
                              <p:par>
                                <p:cTn id="613" presetID="7" presetClass="emph" presetSubtype="2" fill="hold" nodeType="withEffect">
                                  <p:stCondLst>
                                    <p:cond delay="0"/>
                                  </p:stCondLst>
                                  <p:childTnLst>
                                    <p:animClr clrSpc="rgb" dir="cw">
                                      <p:cBhvr>
                                        <p:cTn id="614" dur="2000" fill="hold"/>
                                        <p:tgtEl>
                                          <p:spTgt spid="199"/>
                                        </p:tgtEl>
                                        <p:attrNameLst>
                                          <p:attrName>stroke.color</p:attrName>
                                        </p:attrNameLst>
                                      </p:cBhvr>
                                      <p:to>
                                        <a:srgbClr val="9C9C9C"/>
                                      </p:to>
                                    </p:animClr>
                                    <p:set>
                                      <p:cBhvr>
                                        <p:cTn id="615" dur="2000" fill="hold"/>
                                        <p:tgtEl>
                                          <p:spTgt spid="199"/>
                                        </p:tgtEl>
                                        <p:attrNameLst>
                                          <p:attrName>stroke.on</p:attrName>
                                        </p:attrNameLst>
                                      </p:cBhvr>
                                      <p:to>
                                        <p:strVal val="true"/>
                                      </p:to>
                                    </p:set>
                                  </p:childTnLst>
                                </p:cTn>
                              </p:par>
                              <p:par>
                                <p:cTn id="616" presetID="7" presetClass="emph" presetSubtype="2" fill="hold" nodeType="withEffect">
                                  <p:stCondLst>
                                    <p:cond delay="0"/>
                                  </p:stCondLst>
                                  <p:childTnLst>
                                    <p:animClr clrSpc="rgb" dir="cw">
                                      <p:cBhvr>
                                        <p:cTn id="617" dur="2000" fill="hold"/>
                                        <p:tgtEl>
                                          <p:spTgt spid="179"/>
                                        </p:tgtEl>
                                        <p:attrNameLst>
                                          <p:attrName>stroke.color</p:attrName>
                                        </p:attrNameLst>
                                      </p:cBhvr>
                                      <p:to>
                                        <a:srgbClr val="9C9C9C"/>
                                      </p:to>
                                    </p:animClr>
                                    <p:set>
                                      <p:cBhvr>
                                        <p:cTn id="618" dur="2000" fill="hold"/>
                                        <p:tgtEl>
                                          <p:spTgt spid="179"/>
                                        </p:tgtEl>
                                        <p:attrNameLst>
                                          <p:attrName>stroke.on</p:attrName>
                                        </p:attrNameLst>
                                      </p:cBhvr>
                                      <p:to>
                                        <p:strVal val="true"/>
                                      </p:to>
                                    </p:set>
                                  </p:childTnLst>
                                </p:cTn>
                              </p:par>
                              <p:par>
                                <p:cTn id="619" presetID="7" presetClass="emph" presetSubtype="2" fill="hold" nodeType="withEffect">
                                  <p:stCondLst>
                                    <p:cond delay="0"/>
                                  </p:stCondLst>
                                  <p:childTnLst>
                                    <p:animClr clrSpc="rgb" dir="cw">
                                      <p:cBhvr>
                                        <p:cTn id="620" dur="2000" fill="hold"/>
                                        <p:tgtEl>
                                          <p:spTgt spid="200"/>
                                        </p:tgtEl>
                                        <p:attrNameLst>
                                          <p:attrName>stroke.color</p:attrName>
                                        </p:attrNameLst>
                                      </p:cBhvr>
                                      <p:to>
                                        <a:srgbClr val="9C9C9C"/>
                                      </p:to>
                                    </p:animClr>
                                    <p:set>
                                      <p:cBhvr>
                                        <p:cTn id="621" dur="2000" fill="hold"/>
                                        <p:tgtEl>
                                          <p:spTgt spid="200"/>
                                        </p:tgtEl>
                                        <p:attrNameLst>
                                          <p:attrName>stroke.on</p:attrName>
                                        </p:attrNameLst>
                                      </p:cBhvr>
                                      <p:to>
                                        <p:strVal val="true"/>
                                      </p:to>
                                    </p:set>
                                  </p:childTnLst>
                                </p:cTn>
                              </p:par>
                              <p:par>
                                <p:cTn id="622" presetID="7" presetClass="emph" presetSubtype="2" fill="hold" nodeType="withEffect">
                                  <p:stCondLst>
                                    <p:cond delay="0"/>
                                  </p:stCondLst>
                                  <p:childTnLst>
                                    <p:animClr clrSpc="rgb" dir="cw">
                                      <p:cBhvr>
                                        <p:cTn id="623" dur="2000" fill="hold"/>
                                        <p:tgtEl>
                                          <p:spTgt spid="190"/>
                                        </p:tgtEl>
                                        <p:attrNameLst>
                                          <p:attrName>stroke.color</p:attrName>
                                        </p:attrNameLst>
                                      </p:cBhvr>
                                      <p:to>
                                        <a:srgbClr val="9C9C9C"/>
                                      </p:to>
                                    </p:animClr>
                                    <p:set>
                                      <p:cBhvr>
                                        <p:cTn id="624" dur="2000" fill="hold"/>
                                        <p:tgtEl>
                                          <p:spTgt spid="190"/>
                                        </p:tgtEl>
                                        <p:attrNameLst>
                                          <p:attrName>stroke.on</p:attrName>
                                        </p:attrNameLst>
                                      </p:cBhvr>
                                      <p:to>
                                        <p:strVal val="true"/>
                                      </p:to>
                                    </p:set>
                                  </p:childTnLst>
                                </p:cTn>
                              </p:par>
                              <p:par>
                                <p:cTn id="625" presetID="7" presetClass="emph" presetSubtype="2" fill="hold" nodeType="withEffect">
                                  <p:stCondLst>
                                    <p:cond delay="0"/>
                                  </p:stCondLst>
                                  <p:childTnLst>
                                    <p:animClr clrSpc="rgb" dir="cw">
                                      <p:cBhvr>
                                        <p:cTn id="626" dur="2000" fill="hold"/>
                                        <p:tgtEl>
                                          <p:spTgt spid="189"/>
                                        </p:tgtEl>
                                        <p:attrNameLst>
                                          <p:attrName>stroke.color</p:attrName>
                                        </p:attrNameLst>
                                      </p:cBhvr>
                                      <p:to>
                                        <a:srgbClr val="9C9C9C"/>
                                      </p:to>
                                    </p:animClr>
                                    <p:set>
                                      <p:cBhvr>
                                        <p:cTn id="627" dur="2000" fill="hold"/>
                                        <p:tgtEl>
                                          <p:spTgt spid="189"/>
                                        </p:tgtEl>
                                        <p:attrNameLst>
                                          <p:attrName>stroke.on</p:attrName>
                                        </p:attrNameLst>
                                      </p:cBhvr>
                                      <p:to>
                                        <p:strVal val="true"/>
                                      </p:to>
                                    </p:set>
                                  </p:childTnLst>
                                </p:cTn>
                              </p:par>
                              <p:par>
                                <p:cTn id="628" presetID="7" presetClass="emph" presetSubtype="2" fill="hold" nodeType="withEffect">
                                  <p:stCondLst>
                                    <p:cond delay="0"/>
                                  </p:stCondLst>
                                  <p:childTnLst>
                                    <p:animClr clrSpc="rgb" dir="cw">
                                      <p:cBhvr>
                                        <p:cTn id="629" dur="2000" fill="hold"/>
                                        <p:tgtEl>
                                          <p:spTgt spid="185"/>
                                        </p:tgtEl>
                                        <p:attrNameLst>
                                          <p:attrName>stroke.color</p:attrName>
                                        </p:attrNameLst>
                                      </p:cBhvr>
                                      <p:to>
                                        <a:srgbClr val="9C9C9C"/>
                                      </p:to>
                                    </p:animClr>
                                    <p:set>
                                      <p:cBhvr>
                                        <p:cTn id="630" dur="2000" fill="hold"/>
                                        <p:tgtEl>
                                          <p:spTgt spid="185"/>
                                        </p:tgtEl>
                                        <p:attrNameLst>
                                          <p:attrName>stroke.on</p:attrName>
                                        </p:attrNameLst>
                                      </p:cBhvr>
                                      <p:to>
                                        <p:strVal val="true"/>
                                      </p:to>
                                    </p:set>
                                  </p:childTnLst>
                                </p:cTn>
                              </p:par>
                              <p:par>
                                <p:cTn id="631" presetID="7" presetClass="emph" presetSubtype="2" fill="hold" nodeType="withEffect">
                                  <p:stCondLst>
                                    <p:cond delay="0"/>
                                  </p:stCondLst>
                                  <p:childTnLst>
                                    <p:animClr clrSpc="rgb" dir="cw">
                                      <p:cBhvr>
                                        <p:cTn id="632" dur="2000" fill="hold"/>
                                        <p:tgtEl>
                                          <p:spTgt spid="182"/>
                                        </p:tgtEl>
                                        <p:attrNameLst>
                                          <p:attrName>stroke.color</p:attrName>
                                        </p:attrNameLst>
                                      </p:cBhvr>
                                      <p:to>
                                        <a:srgbClr val="9C9C9C"/>
                                      </p:to>
                                    </p:animClr>
                                    <p:set>
                                      <p:cBhvr>
                                        <p:cTn id="633" dur="2000" fill="hold"/>
                                        <p:tgtEl>
                                          <p:spTgt spid="182"/>
                                        </p:tgtEl>
                                        <p:attrNameLst>
                                          <p:attrName>stroke.on</p:attrName>
                                        </p:attrNameLst>
                                      </p:cBhvr>
                                      <p:to>
                                        <p:strVal val="true"/>
                                      </p:to>
                                    </p:set>
                                  </p:childTnLst>
                                </p:cTn>
                              </p:par>
                              <p:par>
                                <p:cTn id="634" presetID="7" presetClass="emph" presetSubtype="2" fill="hold" nodeType="withEffect">
                                  <p:stCondLst>
                                    <p:cond delay="0"/>
                                  </p:stCondLst>
                                  <p:childTnLst>
                                    <p:animClr clrSpc="rgb" dir="cw">
                                      <p:cBhvr>
                                        <p:cTn id="635" dur="2000" fill="hold"/>
                                        <p:tgtEl>
                                          <p:spTgt spid="188"/>
                                        </p:tgtEl>
                                        <p:attrNameLst>
                                          <p:attrName>stroke.color</p:attrName>
                                        </p:attrNameLst>
                                      </p:cBhvr>
                                      <p:to>
                                        <a:srgbClr val="9C9C9C"/>
                                      </p:to>
                                    </p:animClr>
                                    <p:set>
                                      <p:cBhvr>
                                        <p:cTn id="636" dur="2000" fill="hold"/>
                                        <p:tgtEl>
                                          <p:spTgt spid="188"/>
                                        </p:tgtEl>
                                        <p:attrNameLst>
                                          <p:attrName>stroke.on</p:attrName>
                                        </p:attrNameLst>
                                      </p:cBhvr>
                                      <p:to>
                                        <p:strVal val="true"/>
                                      </p:to>
                                    </p:set>
                                  </p:childTnLst>
                                </p:cTn>
                              </p:par>
                              <p:par>
                                <p:cTn id="637" presetID="7" presetClass="emph" presetSubtype="2" fill="hold" nodeType="withEffect">
                                  <p:stCondLst>
                                    <p:cond delay="0"/>
                                  </p:stCondLst>
                                  <p:childTnLst>
                                    <p:animClr clrSpc="rgb" dir="cw">
                                      <p:cBhvr>
                                        <p:cTn id="638" dur="2000" fill="hold"/>
                                        <p:tgtEl>
                                          <p:spTgt spid="186"/>
                                        </p:tgtEl>
                                        <p:attrNameLst>
                                          <p:attrName>stroke.color</p:attrName>
                                        </p:attrNameLst>
                                      </p:cBhvr>
                                      <p:to>
                                        <a:srgbClr val="9C9C9C"/>
                                      </p:to>
                                    </p:animClr>
                                    <p:set>
                                      <p:cBhvr>
                                        <p:cTn id="639" dur="2000" fill="hold"/>
                                        <p:tgtEl>
                                          <p:spTgt spid="186"/>
                                        </p:tgtEl>
                                        <p:attrNameLst>
                                          <p:attrName>stroke.on</p:attrName>
                                        </p:attrNameLst>
                                      </p:cBhvr>
                                      <p:to>
                                        <p:strVal val="true"/>
                                      </p:to>
                                    </p:set>
                                  </p:childTnLst>
                                </p:cTn>
                              </p:par>
                              <p:par>
                                <p:cTn id="640" presetID="7" presetClass="emph" presetSubtype="2" fill="hold" nodeType="withEffect">
                                  <p:stCondLst>
                                    <p:cond delay="0"/>
                                  </p:stCondLst>
                                  <p:childTnLst>
                                    <p:animClr clrSpc="rgb" dir="cw">
                                      <p:cBhvr>
                                        <p:cTn id="641" dur="2000" fill="hold"/>
                                        <p:tgtEl>
                                          <p:spTgt spid="187"/>
                                        </p:tgtEl>
                                        <p:attrNameLst>
                                          <p:attrName>stroke.color</p:attrName>
                                        </p:attrNameLst>
                                      </p:cBhvr>
                                      <p:to>
                                        <a:srgbClr val="9C9C9C"/>
                                      </p:to>
                                    </p:animClr>
                                    <p:set>
                                      <p:cBhvr>
                                        <p:cTn id="642" dur="2000" fill="hold"/>
                                        <p:tgtEl>
                                          <p:spTgt spid="187"/>
                                        </p:tgtEl>
                                        <p:attrNameLst>
                                          <p:attrName>stroke.on</p:attrName>
                                        </p:attrNameLst>
                                      </p:cBhvr>
                                      <p:to>
                                        <p:strVal val="true"/>
                                      </p:to>
                                    </p:set>
                                  </p:childTnLst>
                                </p:cTn>
                              </p:par>
                              <p:par>
                                <p:cTn id="643" presetID="7" presetClass="emph" presetSubtype="2" fill="hold" nodeType="withEffect">
                                  <p:stCondLst>
                                    <p:cond delay="0"/>
                                  </p:stCondLst>
                                  <p:childTnLst>
                                    <p:animClr clrSpc="rgb" dir="cw">
                                      <p:cBhvr>
                                        <p:cTn id="644" dur="2000" fill="hold"/>
                                        <p:tgtEl>
                                          <p:spTgt spid="180"/>
                                        </p:tgtEl>
                                        <p:attrNameLst>
                                          <p:attrName>stroke.color</p:attrName>
                                        </p:attrNameLst>
                                      </p:cBhvr>
                                      <p:to>
                                        <a:srgbClr val="9C9C9C"/>
                                      </p:to>
                                    </p:animClr>
                                    <p:set>
                                      <p:cBhvr>
                                        <p:cTn id="645" dur="2000" fill="hold"/>
                                        <p:tgtEl>
                                          <p:spTgt spid="180"/>
                                        </p:tgtEl>
                                        <p:attrNameLst>
                                          <p:attrName>stroke.on</p:attrName>
                                        </p:attrNameLst>
                                      </p:cBhvr>
                                      <p:to>
                                        <p:strVal val="true"/>
                                      </p:to>
                                    </p:set>
                                  </p:childTnLst>
                                </p:cTn>
                              </p:par>
                              <p:par>
                                <p:cTn id="646" presetID="7" presetClass="emph" presetSubtype="2" fill="hold" nodeType="withEffect">
                                  <p:stCondLst>
                                    <p:cond delay="0"/>
                                  </p:stCondLst>
                                  <p:childTnLst>
                                    <p:animClr clrSpc="rgb" dir="cw">
                                      <p:cBhvr>
                                        <p:cTn id="647" dur="2000" fill="hold"/>
                                        <p:tgtEl>
                                          <p:spTgt spid="184"/>
                                        </p:tgtEl>
                                        <p:attrNameLst>
                                          <p:attrName>stroke.color</p:attrName>
                                        </p:attrNameLst>
                                      </p:cBhvr>
                                      <p:to>
                                        <a:srgbClr val="9C9C9C"/>
                                      </p:to>
                                    </p:animClr>
                                    <p:set>
                                      <p:cBhvr>
                                        <p:cTn id="648" dur="2000" fill="hold"/>
                                        <p:tgtEl>
                                          <p:spTgt spid="184"/>
                                        </p:tgtEl>
                                        <p:attrNameLst>
                                          <p:attrName>stroke.on</p:attrName>
                                        </p:attrNameLst>
                                      </p:cBhvr>
                                      <p:to>
                                        <p:strVal val="true"/>
                                      </p:to>
                                    </p:set>
                                  </p:childTnLst>
                                </p:cTn>
                              </p:par>
                            </p:childTnLst>
                          </p:cTn>
                        </p:par>
                      </p:childTnLst>
                    </p:cTn>
                  </p:par>
                  <p:par>
                    <p:cTn id="649" fill="hold">
                      <p:stCondLst>
                        <p:cond delay="indefinite"/>
                      </p:stCondLst>
                      <p:childTnLst>
                        <p:par>
                          <p:cTn id="650" fill="hold">
                            <p:stCondLst>
                              <p:cond delay="0"/>
                            </p:stCondLst>
                            <p:childTnLst>
                              <p:par>
                                <p:cTn id="651" presetID="9" presetClass="entr" presetSubtype="0" fill="hold" grpId="0" nodeType="clickEffect">
                                  <p:stCondLst>
                                    <p:cond delay="0"/>
                                  </p:stCondLst>
                                  <p:childTnLst>
                                    <p:set>
                                      <p:cBhvr>
                                        <p:cTn id="652" dur="1" fill="hold">
                                          <p:stCondLst>
                                            <p:cond delay="0"/>
                                          </p:stCondLst>
                                        </p:cTn>
                                        <p:tgtEl>
                                          <p:spTgt spid="257"/>
                                        </p:tgtEl>
                                        <p:attrNameLst>
                                          <p:attrName>style.visibility</p:attrName>
                                        </p:attrNameLst>
                                      </p:cBhvr>
                                      <p:to>
                                        <p:strVal val="visible"/>
                                      </p:to>
                                    </p:set>
                                    <p:animEffect transition="in" filter="dissolve">
                                      <p:cBhvr>
                                        <p:cTn id="653" dur="500"/>
                                        <p:tgtEl>
                                          <p:spTgt spid="257"/>
                                        </p:tgtEl>
                                      </p:cBhvr>
                                    </p:animEffect>
                                  </p:childTnLst>
                                </p:cTn>
                              </p:par>
                            </p:childTnLst>
                          </p:cTn>
                        </p:par>
                      </p:childTnLst>
                    </p:cTn>
                  </p:par>
                  <p:par>
                    <p:cTn id="654" fill="hold">
                      <p:stCondLst>
                        <p:cond delay="indefinite"/>
                      </p:stCondLst>
                      <p:childTnLst>
                        <p:par>
                          <p:cTn id="655" fill="hold">
                            <p:stCondLst>
                              <p:cond delay="0"/>
                            </p:stCondLst>
                            <p:childTnLst>
                              <p:par>
                                <p:cTn id="656" presetID="7" presetClass="emph" presetSubtype="2" fill="hold" nodeType="clickEffect">
                                  <p:stCondLst>
                                    <p:cond delay="0"/>
                                  </p:stCondLst>
                                  <p:childTnLst>
                                    <p:animClr clrSpc="rgb" dir="cw">
                                      <p:cBhvr>
                                        <p:cTn id="657" dur="2000" fill="hold"/>
                                        <p:tgtEl>
                                          <p:spTgt spid="191"/>
                                        </p:tgtEl>
                                        <p:attrNameLst>
                                          <p:attrName>stroke.color</p:attrName>
                                        </p:attrNameLst>
                                      </p:cBhvr>
                                      <p:to>
                                        <a:schemeClr val="accent2"/>
                                      </p:to>
                                    </p:animClr>
                                    <p:set>
                                      <p:cBhvr>
                                        <p:cTn id="658" dur="2000" fill="hold"/>
                                        <p:tgtEl>
                                          <p:spTgt spid="191"/>
                                        </p:tgtEl>
                                        <p:attrNameLst>
                                          <p:attrName>stroke.on</p:attrName>
                                        </p:attrNameLst>
                                      </p:cBhvr>
                                      <p:to>
                                        <p:strVal val="true"/>
                                      </p:to>
                                    </p:set>
                                  </p:childTnLst>
                                </p:cTn>
                              </p:par>
                            </p:childTnLst>
                          </p:cTn>
                        </p:par>
                      </p:childTnLst>
                    </p:cTn>
                  </p:par>
                  <p:par>
                    <p:cTn id="659" fill="hold">
                      <p:stCondLst>
                        <p:cond delay="indefinite"/>
                      </p:stCondLst>
                      <p:childTnLst>
                        <p:par>
                          <p:cTn id="660" fill="hold">
                            <p:stCondLst>
                              <p:cond delay="0"/>
                            </p:stCondLst>
                            <p:childTnLst>
                              <p:par>
                                <p:cTn id="661" presetID="7" presetClass="emph" presetSubtype="2" fill="hold" nodeType="clickEffect">
                                  <p:stCondLst>
                                    <p:cond delay="0"/>
                                  </p:stCondLst>
                                  <p:childTnLst>
                                    <p:animClr clrSpc="rgb" dir="cw">
                                      <p:cBhvr>
                                        <p:cTn id="662" dur="2000" fill="hold"/>
                                        <p:tgtEl>
                                          <p:spTgt spid="182"/>
                                        </p:tgtEl>
                                        <p:attrNameLst>
                                          <p:attrName>stroke.color</p:attrName>
                                        </p:attrNameLst>
                                      </p:cBhvr>
                                      <p:to>
                                        <a:schemeClr val="accent2"/>
                                      </p:to>
                                    </p:animClr>
                                    <p:set>
                                      <p:cBhvr>
                                        <p:cTn id="663" dur="2000" fill="hold"/>
                                        <p:tgtEl>
                                          <p:spTgt spid="182"/>
                                        </p:tgtEl>
                                        <p:attrNameLst>
                                          <p:attrName>stroke.on</p:attrName>
                                        </p:attrNameLst>
                                      </p:cBhvr>
                                      <p:to>
                                        <p:strVal val="true"/>
                                      </p:to>
                                    </p:set>
                                  </p:childTnLst>
                                </p:cTn>
                              </p:par>
                            </p:childTnLst>
                          </p:cTn>
                        </p:par>
                      </p:childTnLst>
                    </p:cTn>
                  </p:par>
                  <p:par>
                    <p:cTn id="664" fill="hold">
                      <p:stCondLst>
                        <p:cond delay="indefinite"/>
                      </p:stCondLst>
                      <p:childTnLst>
                        <p:par>
                          <p:cTn id="665" fill="hold">
                            <p:stCondLst>
                              <p:cond delay="0"/>
                            </p:stCondLst>
                            <p:childTnLst>
                              <p:par>
                                <p:cTn id="666" presetID="7" presetClass="emph" presetSubtype="2" fill="hold" nodeType="clickEffect">
                                  <p:stCondLst>
                                    <p:cond delay="0"/>
                                  </p:stCondLst>
                                  <p:childTnLst>
                                    <p:animClr clrSpc="rgb" dir="cw">
                                      <p:cBhvr>
                                        <p:cTn id="667" dur="2000" fill="hold"/>
                                        <p:tgtEl>
                                          <p:spTgt spid="189"/>
                                        </p:tgtEl>
                                        <p:attrNameLst>
                                          <p:attrName>stroke.color</p:attrName>
                                        </p:attrNameLst>
                                      </p:cBhvr>
                                      <p:to>
                                        <a:schemeClr val="accent2"/>
                                      </p:to>
                                    </p:animClr>
                                    <p:set>
                                      <p:cBhvr>
                                        <p:cTn id="668" dur="2000" fill="hold"/>
                                        <p:tgtEl>
                                          <p:spTgt spid="189"/>
                                        </p:tgtEl>
                                        <p:attrNameLst>
                                          <p:attrName>stroke.on</p:attrName>
                                        </p:attrNameLst>
                                      </p:cBhvr>
                                      <p:to>
                                        <p:strVal val="true"/>
                                      </p:to>
                                    </p:set>
                                  </p:childTnLst>
                                </p:cTn>
                              </p:par>
                            </p:childTnLst>
                          </p:cTn>
                        </p:par>
                      </p:childTnLst>
                    </p:cTn>
                  </p:par>
                  <p:par>
                    <p:cTn id="669" fill="hold">
                      <p:stCondLst>
                        <p:cond delay="indefinite"/>
                      </p:stCondLst>
                      <p:childTnLst>
                        <p:par>
                          <p:cTn id="670" fill="hold">
                            <p:stCondLst>
                              <p:cond delay="0"/>
                            </p:stCondLst>
                            <p:childTnLst>
                              <p:par>
                                <p:cTn id="671" presetID="7" presetClass="emph" presetSubtype="2" fill="hold" nodeType="clickEffect">
                                  <p:stCondLst>
                                    <p:cond delay="0"/>
                                  </p:stCondLst>
                                  <p:childTnLst>
                                    <p:animClr clrSpc="rgb" dir="cw">
                                      <p:cBhvr>
                                        <p:cTn id="672" dur="2000" fill="hold"/>
                                        <p:tgtEl>
                                          <p:spTgt spid="178"/>
                                        </p:tgtEl>
                                        <p:attrNameLst>
                                          <p:attrName>stroke.color</p:attrName>
                                        </p:attrNameLst>
                                      </p:cBhvr>
                                      <p:to>
                                        <a:schemeClr val="accent2"/>
                                      </p:to>
                                    </p:animClr>
                                    <p:set>
                                      <p:cBhvr>
                                        <p:cTn id="673" dur="2000" fill="hold"/>
                                        <p:tgtEl>
                                          <p:spTgt spid="178"/>
                                        </p:tgtEl>
                                        <p:attrNameLst>
                                          <p:attrName>stroke.on</p:attrName>
                                        </p:attrNameLst>
                                      </p:cBhvr>
                                      <p:to>
                                        <p:strVal val="true"/>
                                      </p:to>
                                    </p:set>
                                  </p:childTnLst>
                                </p:cTn>
                              </p:par>
                            </p:childTnLst>
                          </p:cTn>
                        </p:par>
                      </p:childTnLst>
                    </p:cTn>
                  </p:par>
                  <p:par>
                    <p:cTn id="674" fill="hold">
                      <p:stCondLst>
                        <p:cond delay="indefinite"/>
                      </p:stCondLst>
                      <p:childTnLst>
                        <p:par>
                          <p:cTn id="675" fill="hold">
                            <p:stCondLst>
                              <p:cond delay="0"/>
                            </p:stCondLst>
                            <p:childTnLst>
                              <p:par>
                                <p:cTn id="676" presetID="7" presetClass="emph" presetSubtype="2" fill="hold" nodeType="clickEffect">
                                  <p:stCondLst>
                                    <p:cond delay="0"/>
                                  </p:stCondLst>
                                  <p:childTnLst>
                                    <p:animClr clrSpc="rgb" dir="cw">
                                      <p:cBhvr>
                                        <p:cTn id="677" dur="2000" fill="hold"/>
                                        <p:tgtEl>
                                          <p:spTgt spid="181"/>
                                        </p:tgtEl>
                                        <p:attrNameLst>
                                          <p:attrName>stroke.color</p:attrName>
                                        </p:attrNameLst>
                                      </p:cBhvr>
                                      <p:to>
                                        <a:schemeClr val="accent2"/>
                                      </p:to>
                                    </p:animClr>
                                    <p:set>
                                      <p:cBhvr>
                                        <p:cTn id="678" dur="2000" fill="hold"/>
                                        <p:tgtEl>
                                          <p:spTgt spid="181"/>
                                        </p:tgtEl>
                                        <p:attrNameLst>
                                          <p:attrName>stroke.on</p:attrName>
                                        </p:attrNameLst>
                                      </p:cBhvr>
                                      <p:to>
                                        <p:strVal val="true"/>
                                      </p:to>
                                    </p:set>
                                  </p:childTnLst>
                                </p:cTn>
                              </p:par>
                            </p:childTnLst>
                          </p:cTn>
                        </p:par>
                      </p:childTnLst>
                    </p:cTn>
                  </p:par>
                  <p:par>
                    <p:cTn id="679" fill="hold">
                      <p:stCondLst>
                        <p:cond delay="indefinite"/>
                      </p:stCondLst>
                      <p:childTnLst>
                        <p:par>
                          <p:cTn id="680" fill="hold">
                            <p:stCondLst>
                              <p:cond delay="0"/>
                            </p:stCondLst>
                            <p:childTnLst>
                              <p:par>
                                <p:cTn id="681" presetID="7" presetClass="emph" presetSubtype="2" fill="hold" nodeType="clickEffect">
                                  <p:stCondLst>
                                    <p:cond delay="0"/>
                                  </p:stCondLst>
                                  <p:childTnLst>
                                    <p:animClr clrSpc="rgb" dir="cw">
                                      <p:cBhvr>
                                        <p:cTn id="682" dur="2000" fill="hold"/>
                                        <p:tgtEl>
                                          <p:spTgt spid="183"/>
                                        </p:tgtEl>
                                        <p:attrNameLst>
                                          <p:attrName>stroke.color</p:attrName>
                                        </p:attrNameLst>
                                      </p:cBhvr>
                                      <p:to>
                                        <a:schemeClr val="accent2"/>
                                      </p:to>
                                    </p:animClr>
                                    <p:set>
                                      <p:cBhvr>
                                        <p:cTn id="683" dur="2000" fill="hold"/>
                                        <p:tgtEl>
                                          <p:spTgt spid="183"/>
                                        </p:tgtEl>
                                        <p:attrNameLst>
                                          <p:attrName>stroke.on</p:attrName>
                                        </p:attrNameLst>
                                      </p:cBhvr>
                                      <p:to>
                                        <p:strVal val="true"/>
                                      </p:to>
                                    </p:set>
                                  </p:childTnLst>
                                </p:cTn>
                              </p:par>
                            </p:childTnLst>
                          </p:cTn>
                        </p:par>
                      </p:childTnLst>
                    </p:cTn>
                  </p:par>
                  <p:par>
                    <p:cTn id="684" fill="hold">
                      <p:stCondLst>
                        <p:cond delay="indefinite"/>
                      </p:stCondLst>
                      <p:childTnLst>
                        <p:par>
                          <p:cTn id="685" fill="hold">
                            <p:stCondLst>
                              <p:cond delay="0"/>
                            </p:stCondLst>
                            <p:childTnLst>
                              <p:par>
                                <p:cTn id="686" presetID="7" presetClass="emph" presetSubtype="2" fill="hold" nodeType="clickEffect">
                                  <p:stCondLst>
                                    <p:cond delay="0"/>
                                  </p:stCondLst>
                                  <p:childTnLst>
                                    <p:animClr clrSpc="rgb" dir="cw">
                                      <p:cBhvr>
                                        <p:cTn id="687" dur="2000" fill="hold"/>
                                        <p:tgtEl>
                                          <p:spTgt spid="199"/>
                                        </p:tgtEl>
                                        <p:attrNameLst>
                                          <p:attrName>stroke.color</p:attrName>
                                        </p:attrNameLst>
                                      </p:cBhvr>
                                      <p:to>
                                        <a:schemeClr val="accent2"/>
                                      </p:to>
                                    </p:animClr>
                                    <p:set>
                                      <p:cBhvr>
                                        <p:cTn id="688" dur="2000" fill="hold"/>
                                        <p:tgtEl>
                                          <p:spTgt spid="199"/>
                                        </p:tgtEl>
                                        <p:attrNameLst>
                                          <p:attrName>stroke.on</p:attrName>
                                        </p:attrNameLst>
                                      </p:cBhvr>
                                      <p:to>
                                        <p:strVal val="true"/>
                                      </p:to>
                                    </p:set>
                                  </p:childTnLst>
                                </p:cTn>
                              </p:par>
                            </p:childTnLst>
                          </p:cTn>
                        </p:par>
                      </p:childTnLst>
                    </p:cTn>
                  </p:par>
                  <p:par>
                    <p:cTn id="689" fill="hold">
                      <p:stCondLst>
                        <p:cond delay="indefinite"/>
                      </p:stCondLst>
                      <p:childTnLst>
                        <p:par>
                          <p:cTn id="690" fill="hold">
                            <p:stCondLst>
                              <p:cond delay="0"/>
                            </p:stCondLst>
                            <p:childTnLst>
                              <p:par>
                                <p:cTn id="691" presetID="7" presetClass="emph" presetSubtype="2" fill="hold" nodeType="clickEffect">
                                  <p:stCondLst>
                                    <p:cond delay="0"/>
                                  </p:stCondLst>
                                  <p:childTnLst>
                                    <p:animClr clrSpc="rgb" dir="cw">
                                      <p:cBhvr>
                                        <p:cTn id="692" dur="2000" fill="hold"/>
                                        <p:tgtEl>
                                          <p:spTgt spid="200"/>
                                        </p:tgtEl>
                                        <p:attrNameLst>
                                          <p:attrName>stroke.color</p:attrName>
                                        </p:attrNameLst>
                                      </p:cBhvr>
                                      <p:to>
                                        <a:schemeClr val="accent2"/>
                                      </p:to>
                                    </p:animClr>
                                    <p:set>
                                      <p:cBhvr>
                                        <p:cTn id="693" dur="2000" fill="hold"/>
                                        <p:tgtEl>
                                          <p:spTgt spid="200"/>
                                        </p:tgtEl>
                                        <p:attrNameLst>
                                          <p:attrName>stroke.on</p:attrName>
                                        </p:attrNameLst>
                                      </p:cBhvr>
                                      <p:to>
                                        <p:strVal val="true"/>
                                      </p:to>
                                    </p:set>
                                  </p:childTnLst>
                                </p:cTn>
                              </p:par>
                            </p:childTnLst>
                          </p:cTn>
                        </p:par>
                      </p:childTnLst>
                    </p:cTn>
                  </p:par>
                  <p:par>
                    <p:cTn id="694" fill="hold">
                      <p:stCondLst>
                        <p:cond delay="indefinite"/>
                      </p:stCondLst>
                      <p:childTnLst>
                        <p:par>
                          <p:cTn id="695" fill="hold">
                            <p:stCondLst>
                              <p:cond delay="0"/>
                            </p:stCondLst>
                            <p:childTnLst>
                              <p:par>
                                <p:cTn id="696" presetID="7" presetClass="emph" presetSubtype="2" fill="hold" nodeType="clickEffect">
                                  <p:stCondLst>
                                    <p:cond delay="0"/>
                                  </p:stCondLst>
                                  <p:childTnLst>
                                    <p:animClr clrSpc="rgb" dir="cw">
                                      <p:cBhvr>
                                        <p:cTn id="697" dur="2000" fill="hold"/>
                                        <p:tgtEl>
                                          <p:spTgt spid="179"/>
                                        </p:tgtEl>
                                        <p:attrNameLst>
                                          <p:attrName>stroke.color</p:attrName>
                                        </p:attrNameLst>
                                      </p:cBhvr>
                                      <p:to>
                                        <a:schemeClr val="accent2"/>
                                      </p:to>
                                    </p:animClr>
                                    <p:set>
                                      <p:cBhvr>
                                        <p:cTn id="698" dur="2000" fill="hold"/>
                                        <p:tgtEl>
                                          <p:spTgt spid="179"/>
                                        </p:tgtEl>
                                        <p:attrNameLst>
                                          <p:attrName>stroke.on</p:attrName>
                                        </p:attrNameLst>
                                      </p:cBhvr>
                                      <p:to>
                                        <p:strVal val="true"/>
                                      </p:to>
                                    </p:set>
                                  </p:childTnLst>
                                </p:cTn>
                              </p:par>
                            </p:childTnLst>
                          </p:cTn>
                        </p:par>
                      </p:childTnLst>
                    </p:cTn>
                  </p:par>
                  <p:par>
                    <p:cTn id="699" fill="hold">
                      <p:stCondLst>
                        <p:cond delay="indefinite"/>
                      </p:stCondLst>
                      <p:childTnLst>
                        <p:par>
                          <p:cTn id="700" fill="hold">
                            <p:stCondLst>
                              <p:cond delay="0"/>
                            </p:stCondLst>
                            <p:childTnLst>
                              <p:par>
                                <p:cTn id="701" presetID="7" presetClass="emph" presetSubtype="2" fill="hold" nodeType="clickEffect">
                                  <p:stCondLst>
                                    <p:cond delay="0"/>
                                  </p:stCondLst>
                                  <p:childTnLst>
                                    <p:animClr clrSpc="rgb" dir="cw">
                                      <p:cBhvr>
                                        <p:cTn id="702" dur="2000" fill="hold"/>
                                        <p:tgtEl>
                                          <p:spTgt spid="188"/>
                                        </p:tgtEl>
                                        <p:attrNameLst>
                                          <p:attrName>stroke.color</p:attrName>
                                        </p:attrNameLst>
                                      </p:cBhvr>
                                      <p:to>
                                        <a:schemeClr val="accent2"/>
                                      </p:to>
                                    </p:animClr>
                                    <p:set>
                                      <p:cBhvr>
                                        <p:cTn id="703" dur="2000" fill="hold"/>
                                        <p:tgtEl>
                                          <p:spTgt spid="188"/>
                                        </p:tgtEl>
                                        <p:attrNameLst>
                                          <p:attrName>stroke.on</p:attrName>
                                        </p:attrNameLst>
                                      </p:cBhvr>
                                      <p:to>
                                        <p:strVal val="true"/>
                                      </p:to>
                                    </p:set>
                                  </p:childTnLst>
                                </p:cTn>
                              </p:par>
                            </p:childTnLst>
                          </p:cTn>
                        </p:par>
                      </p:childTnLst>
                    </p:cTn>
                  </p:par>
                  <p:par>
                    <p:cTn id="704" fill="hold">
                      <p:stCondLst>
                        <p:cond delay="indefinite"/>
                      </p:stCondLst>
                      <p:childTnLst>
                        <p:par>
                          <p:cTn id="705" fill="hold">
                            <p:stCondLst>
                              <p:cond delay="0"/>
                            </p:stCondLst>
                            <p:childTnLst>
                              <p:par>
                                <p:cTn id="706" presetID="7" presetClass="emph" presetSubtype="2" fill="hold" nodeType="clickEffect">
                                  <p:stCondLst>
                                    <p:cond delay="0"/>
                                  </p:stCondLst>
                                  <p:childTnLst>
                                    <p:animClr clrSpc="rgb" dir="cw">
                                      <p:cBhvr>
                                        <p:cTn id="707" dur="2000" fill="hold"/>
                                        <p:tgtEl>
                                          <p:spTgt spid="186"/>
                                        </p:tgtEl>
                                        <p:attrNameLst>
                                          <p:attrName>stroke.color</p:attrName>
                                        </p:attrNameLst>
                                      </p:cBhvr>
                                      <p:to>
                                        <a:schemeClr val="accent2"/>
                                      </p:to>
                                    </p:animClr>
                                    <p:set>
                                      <p:cBhvr>
                                        <p:cTn id="708" dur="2000" fill="hold"/>
                                        <p:tgtEl>
                                          <p:spTgt spid="186"/>
                                        </p:tgtEl>
                                        <p:attrNameLst>
                                          <p:attrName>stroke.on</p:attrName>
                                        </p:attrNameLst>
                                      </p:cBhvr>
                                      <p:to>
                                        <p:strVal val="true"/>
                                      </p:to>
                                    </p:set>
                                  </p:childTnLst>
                                </p:cTn>
                              </p:par>
                            </p:childTnLst>
                          </p:cTn>
                        </p:par>
                      </p:childTnLst>
                    </p:cTn>
                  </p:par>
                  <p:par>
                    <p:cTn id="709" fill="hold">
                      <p:stCondLst>
                        <p:cond delay="indefinite"/>
                      </p:stCondLst>
                      <p:childTnLst>
                        <p:par>
                          <p:cTn id="710" fill="hold">
                            <p:stCondLst>
                              <p:cond delay="0"/>
                            </p:stCondLst>
                            <p:childTnLst>
                              <p:par>
                                <p:cTn id="711" presetID="7" presetClass="emph" presetSubtype="2" fill="hold" nodeType="clickEffect">
                                  <p:stCondLst>
                                    <p:cond delay="0"/>
                                  </p:stCondLst>
                                  <p:childTnLst>
                                    <p:animClr clrSpc="rgb" dir="cw">
                                      <p:cBhvr>
                                        <p:cTn id="712" dur="2000" fill="hold"/>
                                        <p:tgtEl>
                                          <p:spTgt spid="185"/>
                                        </p:tgtEl>
                                        <p:attrNameLst>
                                          <p:attrName>stroke.color</p:attrName>
                                        </p:attrNameLst>
                                      </p:cBhvr>
                                      <p:to>
                                        <a:schemeClr val="accent2"/>
                                      </p:to>
                                    </p:animClr>
                                    <p:set>
                                      <p:cBhvr>
                                        <p:cTn id="713" dur="2000" fill="hold"/>
                                        <p:tgtEl>
                                          <p:spTgt spid="185"/>
                                        </p:tgtEl>
                                        <p:attrNameLst>
                                          <p:attrName>stroke.on</p:attrName>
                                        </p:attrNameLst>
                                      </p:cBhvr>
                                      <p:to>
                                        <p:strVal val="true"/>
                                      </p:to>
                                    </p:set>
                                  </p:childTnLst>
                                </p:cTn>
                              </p:par>
                            </p:childTnLst>
                          </p:cTn>
                        </p:par>
                      </p:childTnLst>
                    </p:cTn>
                  </p:par>
                  <p:par>
                    <p:cTn id="714" fill="hold">
                      <p:stCondLst>
                        <p:cond delay="indefinite"/>
                      </p:stCondLst>
                      <p:childTnLst>
                        <p:par>
                          <p:cTn id="715" fill="hold">
                            <p:stCondLst>
                              <p:cond delay="0"/>
                            </p:stCondLst>
                            <p:childTnLst>
                              <p:par>
                                <p:cTn id="716" presetID="7" presetClass="emph" presetSubtype="2" fill="hold" nodeType="clickEffect">
                                  <p:stCondLst>
                                    <p:cond delay="0"/>
                                  </p:stCondLst>
                                  <p:childTnLst>
                                    <p:animClr clrSpc="rgb" dir="cw">
                                      <p:cBhvr>
                                        <p:cTn id="717" dur="2000" fill="hold"/>
                                        <p:tgtEl>
                                          <p:spTgt spid="180"/>
                                        </p:tgtEl>
                                        <p:attrNameLst>
                                          <p:attrName>stroke.color</p:attrName>
                                        </p:attrNameLst>
                                      </p:cBhvr>
                                      <p:to>
                                        <a:schemeClr val="accent2"/>
                                      </p:to>
                                    </p:animClr>
                                    <p:set>
                                      <p:cBhvr>
                                        <p:cTn id="718" dur="2000" fill="hold"/>
                                        <p:tgtEl>
                                          <p:spTgt spid="180"/>
                                        </p:tgtEl>
                                        <p:attrNameLst>
                                          <p:attrName>stroke.on</p:attrName>
                                        </p:attrNameLst>
                                      </p:cBhvr>
                                      <p:to>
                                        <p:strVal val="true"/>
                                      </p:to>
                                    </p:set>
                                  </p:childTnLst>
                                </p:cTn>
                              </p:par>
                            </p:childTnLst>
                          </p:cTn>
                        </p:par>
                      </p:childTnLst>
                    </p:cTn>
                  </p:par>
                  <p:par>
                    <p:cTn id="719" fill="hold">
                      <p:stCondLst>
                        <p:cond delay="indefinite"/>
                      </p:stCondLst>
                      <p:childTnLst>
                        <p:par>
                          <p:cTn id="720" fill="hold">
                            <p:stCondLst>
                              <p:cond delay="0"/>
                            </p:stCondLst>
                            <p:childTnLst>
                              <p:par>
                                <p:cTn id="721" presetID="7" presetClass="emph" presetSubtype="2" fill="hold" nodeType="clickEffect">
                                  <p:stCondLst>
                                    <p:cond delay="0"/>
                                  </p:stCondLst>
                                  <p:childTnLst>
                                    <p:animClr clrSpc="rgb" dir="cw">
                                      <p:cBhvr>
                                        <p:cTn id="722" dur="2000" fill="hold"/>
                                        <p:tgtEl>
                                          <p:spTgt spid="187"/>
                                        </p:tgtEl>
                                        <p:attrNameLst>
                                          <p:attrName>stroke.color</p:attrName>
                                        </p:attrNameLst>
                                      </p:cBhvr>
                                      <p:to>
                                        <a:schemeClr val="accent2"/>
                                      </p:to>
                                    </p:animClr>
                                    <p:set>
                                      <p:cBhvr>
                                        <p:cTn id="723" dur="2000" fill="hold"/>
                                        <p:tgtEl>
                                          <p:spTgt spid="187"/>
                                        </p:tgtEl>
                                        <p:attrNameLst>
                                          <p:attrName>stroke.on</p:attrName>
                                        </p:attrNameLst>
                                      </p:cBhvr>
                                      <p:to>
                                        <p:strVal val="true"/>
                                      </p:to>
                                    </p:set>
                                  </p:childTnLst>
                                </p:cTn>
                              </p:par>
                            </p:childTnLst>
                          </p:cTn>
                        </p:par>
                      </p:childTnLst>
                    </p:cTn>
                  </p:par>
                  <p:par>
                    <p:cTn id="724" fill="hold">
                      <p:stCondLst>
                        <p:cond delay="indefinite"/>
                      </p:stCondLst>
                      <p:childTnLst>
                        <p:par>
                          <p:cTn id="725" fill="hold">
                            <p:stCondLst>
                              <p:cond delay="0"/>
                            </p:stCondLst>
                            <p:childTnLst>
                              <p:par>
                                <p:cTn id="726" presetID="7" presetClass="emph" presetSubtype="2" fill="hold" nodeType="clickEffect">
                                  <p:stCondLst>
                                    <p:cond delay="0"/>
                                  </p:stCondLst>
                                  <p:childTnLst>
                                    <p:animClr clrSpc="rgb" dir="cw">
                                      <p:cBhvr>
                                        <p:cTn id="727" dur="2000" fill="hold"/>
                                        <p:tgtEl>
                                          <p:spTgt spid="190"/>
                                        </p:tgtEl>
                                        <p:attrNameLst>
                                          <p:attrName>stroke.color</p:attrName>
                                        </p:attrNameLst>
                                      </p:cBhvr>
                                      <p:to>
                                        <a:schemeClr val="accent2"/>
                                      </p:to>
                                    </p:animClr>
                                    <p:set>
                                      <p:cBhvr>
                                        <p:cTn id="728" dur="2000" fill="hold"/>
                                        <p:tgtEl>
                                          <p:spTgt spid="190"/>
                                        </p:tgtEl>
                                        <p:attrNameLst>
                                          <p:attrName>stroke.on</p:attrName>
                                        </p:attrNameLst>
                                      </p:cBhvr>
                                      <p:to>
                                        <p:strVal val="true"/>
                                      </p:to>
                                    </p:set>
                                  </p:childTnLst>
                                </p:cTn>
                              </p:par>
                            </p:childTnLst>
                          </p:cTn>
                        </p:par>
                      </p:childTnLst>
                    </p:cTn>
                  </p:par>
                  <p:par>
                    <p:cTn id="729" fill="hold">
                      <p:stCondLst>
                        <p:cond delay="indefinite"/>
                      </p:stCondLst>
                      <p:childTnLst>
                        <p:par>
                          <p:cTn id="730" fill="hold">
                            <p:stCondLst>
                              <p:cond delay="0"/>
                            </p:stCondLst>
                            <p:childTnLst>
                              <p:par>
                                <p:cTn id="731" presetID="7" presetClass="emph" presetSubtype="2" fill="hold" nodeType="clickEffect">
                                  <p:stCondLst>
                                    <p:cond delay="0"/>
                                  </p:stCondLst>
                                  <p:childTnLst>
                                    <p:animClr clrSpc="rgb" dir="cw">
                                      <p:cBhvr>
                                        <p:cTn id="732" dur="2000" fill="hold"/>
                                        <p:tgtEl>
                                          <p:spTgt spid="184"/>
                                        </p:tgtEl>
                                        <p:attrNameLst>
                                          <p:attrName>stroke.color</p:attrName>
                                        </p:attrNameLst>
                                      </p:cBhvr>
                                      <p:to>
                                        <a:schemeClr val="accent2"/>
                                      </p:to>
                                    </p:animClr>
                                    <p:set>
                                      <p:cBhvr>
                                        <p:cTn id="733" dur="2000" fill="hold"/>
                                        <p:tgtEl>
                                          <p:spTgt spid="184"/>
                                        </p:tgtEl>
                                        <p:attrNameLst>
                                          <p:attrName>stroke.on</p:attrName>
                                        </p:attrNameLst>
                                      </p:cBhvr>
                                      <p:to>
                                        <p:strVal val="true"/>
                                      </p:to>
                                    </p:set>
                                  </p:childTnLst>
                                </p:cTn>
                              </p:par>
                            </p:childTnLst>
                          </p:cTn>
                        </p:par>
                      </p:childTnLst>
                    </p:cTn>
                  </p:par>
                  <p:par>
                    <p:cTn id="734" fill="hold">
                      <p:stCondLst>
                        <p:cond delay="indefinite"/>
                      </p:stCondLst>
                      <p:childTnLst>
                        <p:par>
                          <p:cTn id="735" fill="hold">
                            <p:stCondLst>
                              <p:cond delay="0"/>
                            </p:stCondLst>
                            <p:childTnLst>
                              <p:par>
                                <p:cTn id="736" presetID="9" presetClass="entr" presetSubtype="0" fill="hold" grpId="0" nodeType="clickEffect">
                                  <p:stCondLst>
                                    <p:cond delay="0"/>
                                  </p:stCondLst>
                                  <p:childTnLst>
                                    <p:set>
                                      <p:cBhvr>
                                        <p:cTn id="737" dur="1" fill="hold">
                                          <p:stCondLst>
                                            <p:cond delay="0"/>
                                          </p:stCondLst>
                                        </p:cTn>
                                        <p:tgtEl>
                                          <p:spTgt spid="258"/>
                                        </p:tgtEl>
                                        <p:attrNameLst>
                                          <p:attrName>style.visibility</p:attrName>
                                        </p:attrNameLst>
                                      </p:cBhvr>
                                      <p:to>
                                        <p:strVal val="visible"/>
                                      </p:to>
                                    </p:set>
                                    <p:animEffect transition="in" filter="dissolve">
                                      <p:cBhvr>
                                        <p:cTn id="738" dur="500"/>
                                        <p:tgtEl>
                                          <p:spTgt spid="258"/>
                                        </p:tgtEl>
                                      </p:cBhvr>
                                    </p:animEffect>
                                  </p:childTnLst>
                                </p:cTn>
                              </p:par>
                            </p:childTnLst>
                          </p:cTn>
                        </p:par>
                      </p:childTnLst>
                    </p:cTn>
                  </p:par>
                  <p:par>
                    <p:cTn id="739" fill="hold">
                      <p:stCondLst>
                        <p:cond delay="indefinite"/>
                      </p:stCondLst>
                      <p:childTnLst>
                        <p:par>
                          <p:cTn id="740" fill="hold">
                            <p:stCondLst>
                              <p:cond delay="0"/>
                            </p:stCondLst>
                            <p:childTnLst>
                              <p:par>
                                <p:cTn id="741" presetID="7" presetClass="emph" presetSubtype="2" fill="hold" nodeType="clickEffect">
                                  <p:stCondLst>
                                    <p:cond delay="0"/>
                                  </p:stCondLst>
                                  <p:childTnLst>
                                    <p:animClr clrSpc="rgb" dir="cw">
                                      <p:cBhvr>
                                        <p:cTn id="742" dur="2000" fill="hold"/>
                                        <p:tgtEl>
                                          <p:spTgt spid="191"/>
                                        </p:tgtEl>
                                        <p:attrNameLst>
                                          <p:attrName>stroke.color</p:attrName>
                                        </p:attrNameLst>
                                      </p:cBhvr>
                                      <p:to>
                                        <a:schemeClr val="tx1"/>
                                      </p:to>
                                    </p:animClr>
                                    <p:set>
                                      <p:cBhvr>
                                        <p:cTn id="743" dur="2000" fill="hold"/>
                                        <p:tgtEl>
                                          <p:spTgt spid="191"/>
                                        </p:tgtEl>
                                        <p:attrNameLst>
                                          <p:attrName>stroke.on</p:attrName>
                                        </p:attrNameLst>
                                      </p:cBhvr>
                                      <p:to>
                                        <p:strVal val="true"/>
                                      </p:to>
                                    </p:set>
                                  </p:childTnLst>
                                </p:cTn>
                              </p:par>
                              <p:par>
                                <p:cTn id="744" presetID="7" presetClass="emph" presetSubtype="2" fill="hold" nodeType="withEffect">
                                  <p:stCondLst>
                                    <p:cond delay="0"/>
                                  </p:stCondLst>
                                  <p:childTnLst>
                                    <p:animClr clrSpc="rgb" dir="cw">
                                      <p:cBhvr>
                                        <p:cTn id="745" dur="2000" fill="hold"/>
                                        <p:tgtEl>
                                          <p:spTgt spid="189"/>
                                        </p:tgtEl>
                                        <p:attrNameLst>
                                          <p:attrName>stroke.color</p:attrName>
                                        </p:attrNameLst>
                                      </p:cBhvr>
                                      <p:to>
                                        <a:schemeClr val="tx1"/>
                                      </p:to>
                                    </p:animClr>
                                    <p:set>
                                      <p:cBhvr>
                                        <p:cTn id="746" dur="2000" fill="hold"/>
                                        <p:tgtEl>
                                          <p:spTgt spid="189"/>
                                        </p:tgtEl>
                                        <p:attrNameLst>
                                          <p:attrName>stroke.on</p:attrName>
                                        </p:attrNameLst>
                                      </p:cBhvr>
                                      <p:to>
                                        <p:strVal val="true"/>
                                      </p:to>
                                    </p:set>
                                  </p:childTnLst>
                                </p:cTn>
                              </p:par>
                              <p:par>
                                <p:cTn id="747" presetID="7" presetClass="emph" presetSubtype="2" fill="hold" nodeType="withEffect">
                                  <p:stCondLst>
                                    <p:cond delay="0"/>
                                  </p:stCondLst>
                                  <p:childTnLst>
                                    <p:animClr clrSpc="rgb" dir="cw">
                                      <p:cBhvr>
                                        <p:cTn id="748" dur="2000" fill="hold"/>
                                        <p:tgtEl>
                                          <p:spTgt spid="182"/>
                                        </p:tgtEl>
                                        <p:attrNameLst>
                                          <p:attrName>stroke.color</p:attrName>
                                        </p:attrNameLst>
                                      </p:cBhvr>
                                      <p:to>
                                        <a:schemeClr val="tx1"/>
                                      </p:to>
                                    </p:animClr>
                                    <p:set>
                                      <p:cBhvr>
                                        <p:cTn id="749" dur="2000" fill="hold"/>
                                        <p:tgtEl>
                                          <p:spTgt spid="182"/>
                                        </p:tgtEl>
                                        <p:attrNameLst>
                                          <p:attrName>stroke.on</p:attrName>
                                        </p:attrNameLst>
                                      </p:cBhvr>
                                      <p:to>
                                        <p:strVal val="true"/>
                                      </p:to>
                                    </p:set>
                                  </p:childTnLst>
                                </p:cTn>
                              </p:par>
                              <p:par>
                                <p:cTn id="750" presetID="7" presetClass="emph" presetSubtype="2" fill="hold" nodeType="withEffect">
                                  <p:stCondLst>
                                    <p:cond delay="0"/>
                                  </p:stCondLst>
                                  <p:childTnLst>
                                    <p:animClr clrSpc="rgb" dir="cw">
                                      <p:cBhvr>
                                        <p:cTn id="751" dur="2000" fill="hold"/>
                                        <p:tgtEl>
                                          <p:spTgt spid="188"/>
                                        </p:tgtEl>
                                        <p:attrNameLst>
                                          <p:attrName>stroke.color</p:attrName>
                                        </p:attrNameLst>
                                      </p:cBhvr>
                                      <p:to>
                                        <a:schemeClr val="tx1"/>
                                      </p:to>
                                    </p:animClr>
                                    <p:set>
                                      <p:cBhvr>
                                        <p:cTn id="752" dur="2000" fill="hold"/>
                                        <p:tgtEl>
                                          <p:spTgt spid="188"/>
                                        </p:tgtEl>
                                        <p:attrNameLst>
                                          <p:attrName>stroke.on</p:attrName>
                                        </p:attrNameLst>
                                      </p:cBhvr>
                                      <p:to>
                                        <p:strVal val="true"/>
                                      </p:to>
                                    </p:set>
                                  </p:childTnLst>
                                </p:cTn>
                              </p:par>
                              <p:par>
                                <p:cTn id="753" presetID="7" presetClass="emph" presetSubtype="2" fill="hold" nodeType="withEffect">
                                  <p:stCondLst>
                                    <p:cond delay="0"/>
                                  </p:stCondLst>
                                  <p:childTnLst>
                                    <p:animClr clrSpc="rgb" dir="cw">
                                      <p:cBhvr>
                                        <p:cTn id="754" dur="2000" fill="hold"/>
                                        <p:tgtEl>
                                          <p:spTgt spid="180"/>
                                        </p:tgtEl>
                                        <p:attrNameLst>
                                          <p:attrName>stroke.color</p:attrName>
                                        </p:attrNameLst>
                                      </p:cBhvr>
                                      <p:to>
                                        <a:schemeClr val="tx1"/>
                                      </p:to>
                                    </p:animClr>
                                    <p:set>
                                      <p:cBhvr>
                                        <p:cTn id="755" dur="2000" fill="hold"/>
                                        <p:tgtEl>
                                          <p:spTgt spid="180"/>
                                        </p:tgtEl>
                                        <p:attrNameLst>
                                          <p:attrName>stroke.on</p:attrName>
                                        </p:attrNameLst>
                                      </p:cBhvr>
                                      <p:to>
                                        <p:strVal val="true"/>
                                      </p:to>
                                    </p:set>
                                  </p:childTnLst>
                                </p:cTn>
                              </p:par>
                              <p:par>
                                <p:cTn id="756" presetID="7" presetClass="emph" presetSubtype="2" fill="hold" nodeType="withEffect">
                                  <p:stCondLst>
                                    <p:cond delay="0"/>
                                  </p:stCondLst>
                                  <p:childTnLst>
                                    <p:animClr clrSpc="rgb" dir="cw">
                                      <p:cBhvr>
                                        <p:cTn id="757" dur="2000" fill="hold"/>
                                        <p:tgtEl>
                                          <p:spTgt spid="199"/>
                                        </p:tgtEl>
                                        <p:attrNameLst>
                                          <p:attrName>stroke.color</p:attrName>
                                        </p:attrNameLst>
                                      </p:cBhvr>
                                      <p:to>
                                        <a:schemeClr val="tx1"/>
                                      </p:to>
                                    </p:animClr>
                                    <p:set>
                                      <p:cBhvr>
                                        <p:cTn id="758" dur="2000" fill="hold"/>
                                        <p:tgtEl>
                                          <p:spTgt spid="199"/>
                                        </p:tgtEl>
                                        <p:attrNameLst>
                                          <p:attrName>stroke.on</p:attrName>
                                        </p:attrNameLst>
                                      </p:cBhvr>
                                      <p:to>
                                        <p:strVal val="true"/>
                                      </p:to>
                                    </p:set>
                                  </p:childTnLst>
                                </p:cTn>
                              </p:par>
                              <p:par>
                                <p:cTn id="759" presetID="7" presetClass="emph" presetSubtype="2" fill="hold" nodeType="withEffect">
                                  <p:stCondLst>
                                    <p:cond delay="0"/>
                                  </p:stCondLst>
                                  <p:childTnLst>
                                    <p:animClr clrSpc="rgb" dir="cw">
                                      <p:cBhvr>
                                        <p:cTn id="760" dur="2000" fill="hold"/>
                                        <p:tgtEl>
                                          <p:spTgt spid="200"/>
                                        </p:tgtEl>
                                        <p:attrNameLst>
                                          <p:attrName>stroke.color</p:attrName>
                                        </p:attrNameLst>
                                      </p:cBhvr>
                                      <p:to>
                                        <a:schemeClr val="tx1"/>
                                      </p:to>
                                    </p:animClr>
                                    <p:set>
                                      <p:cBhvr>
                                        <p:cTn id="761" dur="2000" fill="hold"/>
                                        <p:tgtEl>
                                          <p:spTgt spid="200"/>
                                        </p:tgtEl>
                                        <p:attrNameLst>
                                          <p:attrName>stroke.on</p:attrName>
                                        </p:attrNameLst>
                                      </p:cBhvr>
                                      <p:to>
                                        <p:strVal val="true"/>
                                      </p:to>
                                    </p:set>
                                  </p:childTnLst>
                                </p:cTn>
                              </p:par>
                              <p:par>
                                <p:cTn id="762" presetID="7" presetClass="emph" presetSubtype="2" fill="hold" nodeType="withEffect">
                                  <p:stCondLst>
                                    <p:cond delay="0"/>
                                  </p:stCondLst>
                                  <p:childTnLst>
                                    <p:animClr clrSpc="rgb" dir="cw">
                                      <p:cBhvr>
                                        <p:cTn id="763" dur="2000" fill="hold"/>
                                        <p:tgtEl>
                                          <p:spTgt spid="179"/>
                                        </p:tgtEl>
                                        <p:attrNameLst>
                                          <p:attrName>stroke.color</p:attrName>
                                        </p:attrNameLst>
                                      </p:cBhvr>
                                      <p:to>
                                        <a:srgbClr val="9C9C9C"/>
                                      </p:to>
                                    </p:animClr>
                                    <p:set>
                                      <p:cBhvr>
                                        <p:cTn id="764" dur="2000" fill="hold"/>
                                        <p:tgtEl>
                                          <p:spTgt spid="179"/>
                                        </p:tgtEl>
                                        <p:attrNameLst>
                                          <p:attrName>stroke.on</p:attrName>
                                        </p:attrNameLst>
                                      </p:cBhvr>
                                      <p:to>
                                        <p:strVal val="true"/>
                                      </p:to>
                                    </p:set>
                                  </p:childTnLst>
                                </p:cTn>
                              </p:par>
                              <p:par>
                                <p:cTn id="765" presetID="7" presetClass="emph" presetSubtype="2" fill="hold" nodeType="withEffect">
                                  <p:stCondLst>
                                    <p:cond delay="0"/>
                                  </p:stCondLst>
                                  <p:childTnLst>
                                    <p:animClr clrSpc="rgb" dir="cw">
                                      <p:cBhvr>
                                        <p:cTn id="766" dur="2000" fill="hold"/>
                                        <p:tgtEl>
                                          <p:spTgt spid="187"/>
                                        </p:tgtEl>
                                        <p:attrNameLst>
                                          <p:attrName>stroke.color</p:attrName>
                                        </p:attrNameLst>
                                      </p:cBhvr>
                                      <p:to>
                                        <a:srgbClr val="9C9C9C"/>
                                      </p:to>
                                    </p:animClr>
                                    <p:set>
                                      <p:cBhvr>
                                        <p:cTn id="767" dur="2000" fill="hold"/>
                                        <p:tgtEl>
                                          <p:spTgt spid="187"/>
                                        </p:tgtEl>
                                        <p:attrNameLst>
                                          <p:attrName>stroke.on</p:attrName>
                                        </p:attrNameLst>
                                      </p:cBhvr>
                                      <p:to>
                                        <p:strVal val="true"/>
                                      </p:to>
                                    </p:set>
                                  </p:childTnLst>
                                </p:cTn>
                              </p:par>
                              <p:par>
                                <p:cTn id="768" presetID="7" presetClass="emph" presetSubtype="2" fill="hold" nodeType="withEffect">
                                  <p:stCondLst>
                                    <p:cond delay="0"/>
                                  </p:stCondLst>
                                  <p:childTnLst>
                                    <p:animClr clrSpc="rgb" dir="cw">
                                      <p:cBhvr>
                                        <p:cTn id="769" dur="2000" fill="hold"/>
                                        <p:tgtEl>
                                          <p:spTgt spid="186"/>
                                        </p:tgtEl>
                                        <p:attrNameLst>
                                          <p:attrName>stroke.color</p:attrName>
                                        </p:attrNameLst>
                                      </p:cBhvr>
                                      <p:to>
                                        <a:srgbClr val="9C9C9C"/>
                                      </p:to>
                                    </p:animClr>
                                    <p:set>
                                      <p:cBhvr>
                                        <p:cTn id="770" dur="2000" fill="hold"/>
                                        <p:tgtEl>
                                          <p:spTgt spid="186"/>
                                        </p:tgtEl>
                                        <p:attrNameLst>
                                          <p:attrName>stroke.on</p:attrName>
                                        </p:attrNameLst>
                                      </p:cBhvr>
                                      <p:to>
                                        <p:strVal val="true"/>
                                      </p:to>
                                    </p:set>
                                  </p:childTnLst>
                                </p:cTn>
                              </p:par>
                              <p:par>
                                <p:cTn id="771" presetID="7" presetClass="emph" presetSubtype="2" fill="hold" nodeType="withEffect">
                                  <p:stCondLst>
                                    <p:cond delay="0"/>
                                  </p:stCondLst>
                                  <p:childTnLst>
                                    <p:animClr clrSpc="rgb" dir="cw">
                                      <p:cBhvr>
                                        <p:cTn id="772" dur="2000" fill="hold"/>
                                        <p:tgtEl>
                                          <p:spTgt spid="181"/>
                                        </p:tgtEl>
                                        <p:attrNameLst>
                                          <p:attrName>stroke.color</p:attrName>
                                        </p:attrNameLst>
                                      </p:cBhvr>
                                      <p:to>
                                        <a:srgbClr val="9C9C9C"/>
                                      </p:to>
                                    </p:animClr>
                                    <p:set>
                                      <p:cBhvr>
                                        <p:cTn id="773" dur="2000" fill="hold"/>
                                        <p:tgtEl>
                                          <p:spTgt spid="181"/>
                                        </p:tgtEl>
                                        <p:attrNameLst>
                                          <p:attrName>stroke.on</p:attrName>
                                        </p:attrNameLst>
                                      </p:cBhvr>
                                      <p:to>
                                        <p:strVal val="true"/>
                                      </p:to>
                                    </p:set>
                                  </p:childTnLst>
                                </p:cTn>
                              </p:par>
                              <p:par>
                                <p:cTn id="774" presetID="7" presetClass="emph" presetSubtype="2" fill="hold" nodeType="withEffect">
                                  <p:stCondLst>
                                    <p:cond delay="0"/>
                                  </p:stCondLst>
                                  <p:childTnLst>
                                    <p:animClr clrSpc="rgb" dir="cw">
                                      <p:cBhvr>
                                        <p:cTn id="775" dur="2000" fill="hold"/>
                                        <p:tgtEl>
                                          <p:spTgt spid="178"/>
                                        </p:tgtEl>
                                        <p:attrNameLst>
                                          <p:attrName>stroke.color</p:attrName>
                                        </p:attrNameLst>
                                      </p:cBhvr>
                                      <p:to>
                                        <a:srgbClr val="9C9C9C"/>
                                      </p:to>
                                    </p:animClr>
                                    <p:set>
                                      <p:cBhvr>
                                        <p:cTn id="776" dur="2000" fill="hold"/>
                                        <p:tgtEl>
                                          <p:spTgt spid="178"/>
                                        </p:tgtEl>
                                        <p:attrNameLst>
                                          <p:attrName>stroke.on</p:attrName>
                                        </p:attrNameLst>
                                      </p:cBhvr>
                                      <p:to>
                                        <p:strVal val="true"/>
                                      </p:to>
                                    </p:set>
                                  </p:childTnLst>
                                </p:cTn>
                              </p:par>
                              <p:par>
                                <p:cTn id="777" presetID="7" presetClass="emph" presetSubtype="2" fill="hold" nodeType="withEffect">
                                  <p:stCondLst>
                                    <p:cond delay="0"/>
                                  </p:stCondLst>
                                  <p:childTnLst>
                                    <p:animClr clrSpc="rgb" dir="cw">
                                      <p:cBhvr>
                                        <p:cTn id="778" dur="2000" fill="hold"/>
                                        <p:tgtEl>
                                          <p:spTgt spid="183"/>
                                        </p:tgtEl>
                                        <p:attrNameLst>
                                          <p:attrName>stroke.color</p:attrName>
                                        </p:attrNameLst>
                                      </p:cBhvr>
                                      <p:to>
                                        <a:srgbClr val="9C9C9C"/>
                                      </p:to>
                                    </p:animClr>
                                    <p:set>
                                      <p:cBhvr>
                                        <p:cTn id="779" dur="2000" fill="hold"/>
                                        <p:tgtEl>
                                          <p:spTgt spid="183"/>
                                        </p:tgtEl>
                                        <p:attrNameLst>
                                          <p:attrName>stroke.on</p:attrName>
                                        </p:attrNameLst>
                                      </p:cBhvr>
                                      <p:to>
                                        <p:strVal val="true"/>
                                      </p:to>
                                    </p:set>
                                  </p:childTnLst>
                                </p:cTn>
                              </p:par>
                              <p:par>
                                <p:cTn id="780" presetID="7" presetClass="emph" presetSubtype="2" fill="hold" nodeType="withEffect">
                                  <p:stCondLst>
                                    <p:cond delay="0"/>
                                  </p:stCondLst>
                                  <p:childTnLst>
                                    <p:animClr clrSpc="rgb" dir="cw">
                                      <p:cBhvr>
                                        <p:cTn id="781" dur="2000" fill="hold"/>
                                        <p:tgtEl>
                                          <p:spTgt spid="190"/>
                                        </p:tgtEl>
                                        <p:attrNameLst>
                                          <p:attrName>stroke.color</p:attrName>
                                        </p:attrNameLst>
                                      </p:cBhvr>
                                      <p:to>
                                        <a:srgbClr val="9C9C9C"/>
                                      </p:to>
                                    </p:animClr>
                                    <p:set>
                                      <p:cBhvr>
                                        <p:cTn id="782" dur="2000" fill="hold"/>
                                        <p:tgtEl>
                                          <p:spTgt spid="190"/>
                                        </p:tgtEl>
                                        <p:attrNameLst>
                                          <p:attrName>stroke.on</p:attrName>
                                        </p:attrNameLst>
                                      </p:cBhvr>
                                      <p:to>
                                        <p:strVal val="true"/>
                                      </p:to>
                                    </p:set>
                                  </p:childTnLst>
                                </p:cTn>
                              </p:par>
                              <p:par>
                                <p:cTn id="783" presetID="7" presetClass="emph" presetSubtype="2" fill="hold" nodeType="withEffect">
                                  <p:stCondLst>
                                    <p:cond delay="0"/>
                                  </p:stCondLst>
                                  <p:childTnLst>
                                    <p:animClr clrSpc="rgb" dir="cw">
                                      <p:cBhvr>
                                        <p:cTn id="784" dur="2000" fill="hold"/>
                                        <p:tgtEl>
                                          <p:spTgt spid="185"/>
                                        </p:tgtEl>
                                        <p:attrNameLst>
                                          <p:attrName>stroke.color</p:attrName>
                                        </p:attrNameLst>
                                      </p:cBhvr>
                                      <p:to>
                                        <a:srgbClr val="9C9C9C"/>
                                      </p:to>
                                    </p:animClr>
                                    <p:set>
                                      <p:cBhvr>
                                        <p:cTn id="785" dur="2000" fill="hold"/>
                                        <p:tgtEl>
                                          <p:spTgt spid="185"/>
                                        </p:tgtEl>
                                        <p:attrNameLst>
                                          <p:attrName>stroke.on</p:attrName>
                                        </p:attrNameLst>
                                      </p:cBhvr>
                                      <p:to>
                                        <p:strVal val="true"/>
                                      </p:to>
                                    </p:set>
                                  </p:childTnLst>
                                </p:cTn>
                              </p:par>
                              <p:par>
                                <p:cTn id="786" presetID="7" presetClass="emph" presetSubtype="2" fill="hold" nodeType="withEffect">
                                  <p:stCondLst>
                                    <p:cond delay="0"/>
                                  </p:stCondLst>
                                  <p:childTnLst>
                                    <p:animClr clrSpc="rgb" dir="cw">
                                      <p:cBhvr>
                                        <p:cTn id="787" dur="2000" fill="hold"/>
                                        <p:tgtEl>
                                          <p:spTgt spid="184"/>
                                        </p:tgtEl>
                                        <p:attrNameLst>
                                          <p:attrName>stroke.color</p:attrName>
                                        </p:attrNameLst>
                                      </p:cBhvr>
                                      <p:to>
                                        <a:srgbClr val="9C9C9C"/>
                                      </p:to>
                                    </p:animClr>
                                    <p:set>
                                      <p:cBhvr>
                                        <p:cTn id="788" dur="2000" fill="hold"/>
                                        <p:tgtEl>
                                          <p:spTgt spid="184"/>
                                        </p:tgtEl>
                                        <p:attrNameLst>
                                          <p:attrName>stroke.on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92" grpId="0" animBg="1"/>
      <p:bldP spid="193" grpId="0" animBg="1"/>
      <p:bldP spid="194" grpId="0" animBg="1"/>
      <p:bldP spid="195" grpId="0" animBg="1"/>
      <p:bldP spid="196" grpId="0" animBg="1"/>
      <p:bldP spid="197" grpId="0" animBg="1"/>
      <p:bldP spid="198" grpId="0" animBg="1"/>
      <p:bldP spid="201" grpId="0" animBg="1"/>
      <p:bldP spid="202" grpId="0" animBg="1"/>
      <p:bldP spid="203" grpId="0" animBg="1"/>
      <p:bldP spid="204" grpId="0" animBg="1"/>
      <p:bldP spid="205" grpId="0" animBg="1"/>
      <p:bldP spid="206" grpId="0" animBg="1"/>
      <p:bldP spid="207"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p:bldP spid="218" grpId="0"/>
      <p:bldP spid="220" grpId="0"/>
      <p:bldP spid="221" grpId="0"/>
      <p:bldP spid="222" grpId="0"/>
      <p:bldP spid="224" grpId="0"/>
      <p:bldP spid="255" grpId="0"/>
      <p:bldP spid="256" grpId="0"/>
      <p:bldP spid="257" grpId="0"/>
      <p:bldP spid="258"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3DCEA-CB7E-E4AC-C1EE-C63DBC974470}"/>
              </a:ext>
            </a:extLst>
          </p:cNvPr>
          <p:cNvSpPr>
            <a:spLocks noGrp="1"/>
          </p:cNvSpPr>
          <p:nvPr>
            <p:ph type="title"/>
          </p:nvPr>
        </p:nvSpPr>
        <p:spPr/>
        <p:txBody>
          <a:bodyPr/>
          <a:lstStyle/>
          <a:p>
            <a:r>
              <a:rPr lang="en-GB" dirty="0"/>
              <a:t>A Toy Example with Negative Edge Weights</a:t>
            </a:r>
            <a:endParaRPr lang="en-SE" dirty="0"/>
          </a:p>
        </p:txBody>
      </p:sp>
      <p:sp>
        <p:nvSpPr>
          <p:cNvPr id="3" name="Text Placeholder 2">
            <a:extLst>
              <a:ext uri="{FF2B5EF4-FFF2-40B4-BE49-F238E27FC236}">
                <a16:creationId xmlns:a16="http://schemas.microsoft.com/office/drawing/2014/main" id="{A3B6CE28-11AA-4252-D9ED-2CB4E2D72C00}"/>
              </a:ext>
            </a:extLst>
          </p:cNvPr>
          <p:cNvSpPr>
            <a:spLocks noGrp="1"/>
          </p:cNvSpPr>
          <p:nvPr>
            <p:ph type="body" idx="1"/>
          </p:nvPr>
        </p:nvSpPr>
        <p:spPr>
          <a:xfrm>
            <a:off x="746174" y="1568275"/>
            <a:ext cx="10074226" cy="963298"/>
          </a:xfrm>
        </p:spPr>
        <p:txBody>
          <a:bodyPr/>
          <a:lstStyle/>
          <a:p>
            <a:r>
              <a:rPr lang="en-GB" dirty="0"/>
              <a:t>Let’s run Dijkstra’s algorithm, Topological Sort, and Bellman Ford Algorithm on this DAG with a negative edge weight</a:t>
            </a:r>
            <a:endParaRPr lang="en-SE" dirty="0"/>
          </a:p>
        </p:txBody>
      </p:sp>
      <p:grpSp>
        <p:nvGrpSpPr>
          <p:cNvPr id="4" name="Group 4">
            <a:extLst>
              <a:ext uri="{FF2B5EF4-FFF2-40B4-BE49-F238E27FC236}">
                <a16:creationId xmlns:a16="http://schemas.microsoft.com/office/drawing/2014/main" id="{DE9EFA18-8B5E-D3CD-ED3E-D96367B1A347}"/>
              </a:ext>
            </a:extLst>
          </p:cNvPr>
          <p:cNvGrpSpPr>
            <a:grpSpLocks/>
          </p:cNvGrpSpPr>
          <p:nvPr/>
        </p:nvGrpSpPr>
        <p:grpSpPr bwMode="auto">
          <a:xfrm>
            <a:off x="4145697" y="3875102"/>
            <a:ext cx="533400" cy="533400"/>
            <a:chOff x="1824" y="2736"/>
            <a:chExt cx="336" cy="336"/>
          </a:xfrm>
        </p:grpSpPr>
        <p:sp>
          <p:nvSpPr>
            <p:cNvPr id="5" name="Oval 5">
              <a:extLst>
                <a:ext uri="{FF2B5EF4-FFF2-40B4-BE49-F238E27FC236}">
                  <a16:creationId xmlns:a16="http://schemas.microsoft.com/office/drawing/2014/main" id="{72C9238B-2B31-1E99-704F-C0DE11D1C873}"/>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 name="Text Box 6">
              <a:extLst>
                <a:ext uri="{FF2B5EF4-FFF2-40B4-BE49-F238E27FC236}">
                  <a16:creationId xmlns:a16="http://schemas.microsoft.com/office/drawing/2014/main" id="{2016D46A-2C6C-A8FC-F804-484E4C27FDF0}"/>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A</a:t>
              </a:r>
            </a:p>
          </p:txBody>
        </p:sp>
      </p:grpSp>
      <p:grpSp>
        <p:nvGrpSpPr>
          <p:cNvPr id="7" name="Group 7">
            <a:extLst>
              <a:ext uri="{FF2B5EF4-FFF2-40B4-BE49-F238E27FC236}">
                <a16:creationId xmlns:a16="http://schemas.microsoft.com/office/drawing/2014/main" id="{FCDB97BA-AFEA-7D95-2F67-1350C47E4E89}"/>
              </a:ext>
            </a:extLst>
          </p:cNvPr>
          <p:cNvGrpSpPr>
            <a:grpSpLocks/>
          </p:cNvGrpSpPr>
          <p:nvPr/>
        </p:nvGrpSpPr>
        <p:grpSpPr bwMode="auto">
          <a:xfrm>
            <a:off x="5288697" y="2960702"/>
            <a:ext cx="533400" cy="533400"/>
            <a:chOff x="1824" y="2736"/>
            <a:chExt cx="336" cy="336"/>
          </a:xfrm>
        </p:grpSpPr>
        <p:sp>
          <p:nvSpPr>
            <p:cNvPr id="8" name="Oval 8">
              <a:extLst>
                <a:ext uri="{FF2B5EF4-FFF2-40B4-BE49-F238E27FC236}">
                  <a16:creationId xmlns:a16="http://schemas.microsoft.com/office/drawing/2014/main" id="{E539A025-242C-7BF3-F35D-4D8D6CF5D177}"/>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9" name="Text Box 9">
              <a:extLst>
                <a:ext uri="{FF2B5EF4-FFF2-40B4-BE49-F238E27FC236}">
                  <a16:creationId xmlns:a16="http://schemas.microsoft.com/office/drawing/2014/main" id="{347C119A-8E8D-945F-E215-6399DC79B0A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B</a:t>
              </a:r>
            </a:p>
          </p:txBody>
        </p:sp>
      </p:grpSp>
      <p:grpSp>
        <p:nvGrpSpPr>
          <p:cNvPr id="10" name="Group 10">
            <a:extLst>
              <a:ext uri="{FF2B5EF4-FFF2-40B4-BE49-F238E27FC236}">
                <a16:creationId xmlns:a16="http://schemas.microsoft.com/office/drawing/2014/main" id="{377729E1-34BB-51D7-6635-90EEFFD2C186}"/>
              </a:ext>
            </a:extLst>
          </p:cNvPr>
          <p:cNvGrpSpPr>
            <a:grpSpLocks/>
          </p:cNvGrpSpPr>
          <p:nvPr/>
        </p:nvGrpSpPr>
        <p:grpSpPr bwMode="auto">
          <a:xfrm>
            <a:off x="5288697" y="4637102"/>
            <a:ext cx="533400" cy="533400"/>
            <a:chOff x="1824" y="2736"/>
            <a:chExt cx="336" cy="336"/>
          </a:xfrm>
        </p:grpSpPr>
        <p:sp>
          <p:nvSpPr>
            <p:cNvPr id="11" name="Oval 11">
              <a:extLst>
                <a:ext uri="{FF2B5EF4-FFF2-40B4-BE49-F238E27FC236}">
                  <a16:creationId xmlns:a16="http://schemas.microsoft.com/office/drawing/2014/main" id="{0E3BF43A-AE78-B96B-390B-CF4C41E2CC84}"/>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2" name="Text Box 12">
              <a:extLst>
                <a:ext uri="{FF2B5EF4-FFF2-40B4-BE49-F238E27FC236}">
                  <a16:creationId xmlns:a16="http://schemas.microsoft.com/office/drawing/2014/main" id="{738F286A-C493-5811-26BF-4C90729CE5FE}"/>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C</a:t>
              </a:r>
            </a:p>
          </p:txBody>
        </p:sp>
      </p:grpSp>
      <p:sp>
        <p:nvSpPr>
          <p:cNvPr id="13" name="Line 19">
            <a:extLst>
              <a:ext uri="{FF2B5EF4-FFF2-40B4-BE49-F238E27FC236}">
                <a16:creationId xmlns:a16="http://schemas.microsoft.com/office/drawing/2014/main" id="{36F9857A-E441-DA5B-B72C-D1FFDCB14626}"/>
              </a:ext>
            </a:extLst>
          </p:cNvPr>
          <p:cNvSpPr>
            <a:spLocks noChangeShapeType="1"/>
          </p:cNvSpPr>
          <p:nvPr/>
        </p:nvSpPr>
        <p:spPr bwMode="auto">
          <a:xfrm flipV="1">
            <a:off x="4602897" y="3417902"/>
            <a:ext cx="762000" cy="53340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14" name="Line 20">
            <a:extLst>
              <a:ext uri="{FF2B5EF4-FFF2-40B4-BE49-F238E27FC236}">
                <a16:creationId xmlns:a16="http://schemas.microsoft.com/office/drawing/2014/main" id="{98608304-367B-AAEB-5EA4-85923F4A4017}"/>
              </a:ext>
            </a:extLst>
          </p:cNvPr>
          <p:cNvSpPr>
            <a:spLocks noChangeShapeType="1"/>
          </p:cNvSpPr>
          <p:nvPr/>
        </p:nvSpPr>
        <p:spPr bwMode="auto">
          <a:xfrm>
            <a:off x="4602897" y="4332302"/>
            <a:ext cx="723900" cy="49394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a:ln>
                <a:noFill/>
              </a:ln>
              <a:solidFill>
                <a:srgbClr val="000000"/>
              </a:solidFill>
              <a:effectLst/>
              <a:uLnTx/>
              <a:uFillTx/>
              <a:latin typeface="Calibri"/>
              <a:ea typeface="+mn-ea"/>
              <a:cs typeface="+mn-cs"/>
            </a:endParaRPr>
          </a:p>
        </p:txBody>
      </p:sp>
      <p:sp>
        <p:nvSpPr>
          <p:cNvPr id="15" name="Text Box 26">
            <a:extLst>
              <a:ext uri="{FF2B5EF4-FFF2-40B4-BE49-F238E27FC236}">
                <a16:creationId xmlns:a16="http://schemas.microsoft.com/office/drawing/2014/main" id="{B1036261-266D-086F-909A-936BF478A098}"/>
              </a:ext>
            </a:extLst>
          </p:cNvPr>
          <p:cNvSpPr txBox="1">
            <a:spLocks noChangeArrowheads="1"/>
          </p:cNvSpPr>
          <p:nvPr/>
        </p:nvSpPr>
        <p:spPr bwMode="auto">
          <a:xfrm>
            <a:off x="4746758" y="44989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a:latin typeface="Arial" panose="020B0604020202020204" pitchFamily="34" charset="0"/>
                <a:ea typeface="+mn-ea"/>
                <a:cs typeface="+mn-cs"/>
              </a:rPr>
              <a:t>1</a:t>
            </a:r>
          </a:p>
        </p:txBody>
      </p:sp>
      <p:sp>
        <p:nvSpPr>
          <p:cNvPr id="16" name="Text Box 28">
            <a:extLst>
              <a:ext uri="{FF2B5EF4-FFF2-40B4-BE49-F238E27FC236}">
                <a16:creationId xmlns:a16="http://schemas.microsoft.com/office/drawing/2014/main" id="{EB468C8E-A7A4-E30B-3984-8E8581D7A262}"/>
              </a:ext>
            </a:extLst>
          </p:cNvPr>
          <p:cNvSpPr txBox="1">
            <a:spLocks noChangeArrowheads="1"/>
          </p:cNvSpPr>
          <p:nvPr/>
        </p:nvSpPr>
        <p:spPr bwMode="auto">
          <a:xfrm>
            <a:off x="4602897" y="3339082"/>
            <a:ext cx="5714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10</a:t>
            </a:r>
          </a:p>
        </p:txBody>
      </p:sp>
      <p:grpSp>
        <p:nvGrpSpPr>
          <p:cNvPr id="17" name="Group 7">
            <a:extLst>
              <a:ext uri="{FF2B5EF4-FFF2-40B4-BE49-F238E27FC236}">
                <a16:creationId xmlns:a16="http://schemas.microsoft.com/office/drawing/2014/main" id="{7E8CBF33-D31E-A24D-D350-AB02FB17DE3D}"/>
              </a:ext>
            </a:extLst>
          </p:cNvPr>
          <p:cNvGrpSpPr>
            <a:grpSpLocks/>
          </p:cNvGrpSpPr>
          <p:nvPr/>
        </p:nvGrpSpPr>
        <p:grpSpPr bwMode="auto">
          <a:xfrm>
            <a:off x="6469797" y="3796148"/>
            <a:ext cx="533400" cy="533400"/>
            <a:chOff x="1824" y="2736"/>
            <a:chExt cx="336" cy="336"/>
          </a:xfrm>
        </p:grpSpPr>
        <p:sp>
          <p:nvSpPr>
            <p:cNvPr id="18" name="Oval 8">
              <a:extLst>
                <a:ext uri="{FF2B5EF4-FFF2-40B4-BE49-F238E27FC236}">
                  <a16:creationId xmlns:a16="http://schemas.microsoft.com/office/drawing/2014/main" id="{A1F9AEBF-4B9A-0A15-A3D1-FE6D9C082FB5}"/>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9" name="Text Box 9">
              <a:extLst>
                <a:ext uri="{FF2B5EF4-FFF2-40B4-BE49-F238E27FC236}">
                  <a16:creationId xmlns:a16="http://schemas.microsoft.com/office/drawing/2014/main" id="{BCB1CB13-4995-BD68-9939-F9BE834F848C}"/>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D</a:t>
              </a:r>
            </a:p>
          </p:txBody>
        </p:sp>
      </p:grpSp>
      <p:sp>
        <p:nvSpPr>
          <p:cNvPr id="20" name="Line 19">
            <a:extLst>
              <a:ext uri="{FF2B5EF4-FFF2-40B4-BE49-F238E27FC236}">
                <a16:creationId xmlns:a16="http://schemas.microsoft.com/office/drawing/2014/main" id="{6905A666-605C-317D-4E1B-601995C4BC3D}"/>
              </a:ext>
            </a:extLst>
          </p:cNvPr>
          <p:cNvSpPr>
            <a:spLocks noChangeShapeType="1"/>
          </p:cNvSpPr>
          <p:nvPr/>
        </p:nvSpPr>
        <p:spPr bwMode="auto">
          <a:xfrm>
            <a:off x="5822097" y="3394888"/>
            <a:ext cx="685801" cy="533399"/>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1" name="Line 19">
            <a:extLst>
              <a:ext uri="{FF2B5EF4-FFF2-40B4-BE49-F238E27FC236}">
                <a16:creationId xmlns:a16="http://schemas.microsoft.com/office/drawing/2014/main" id="{F9CECFF0-929C-86C0-472B-415B5312EB90}"/>
              </a:ext>
            </a:extLst>
          </p:cNvPr>
          <p:cNvSpPr>
            <a:spLocks noChangeShapeType="1"/>
          </p:cNvSpPr>
          <p:nvPr/>
        </p:nvSpPr>
        <p:spPr bwMode="auto">
          <a:xfrm flipV="1">
            <a:off x="5834387" y="4253349"/>
            <a:ext cx="711610" cy="572893"/>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2" name="Text Box 28">
            <a:extLst>
              <a:ext uri="{FF2B5EF4-FFF2-40B4-BE49-F238E27FC236}">
                <a16:creationId xmlns:a16="http://schemas.microsoft.com/office/drawing/2014/main" id="{D46C8C8F-BE85-7674-F982-EA8F8F8DD1A4}"/>
              </a:ext>
            </a:extLst>
          </p:cNvPr>
          <p:cNvSpPr txBox="1">
            <a:spLocks noChangeArrowheads="1"/>
          </p:cNvSpPr>
          <p:nvPr/>
        </p:nvSpPr>
        <p:spPr bwMode="auto">
          <a:xfrm>
            <a:off x="5993547" y="3339082"/>
            <a:ext cx="8191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-20</a:t>
            </a:r>
          </a:p>
        </p:txBody>
      </p:sp>
      <p:sp>
        <p:nvSpPr>
          <p:cNvPr id="23" name="Text Box 26">
            <a:extLst>
              <a:ext uri="{FF2B5EF4-FFF2-40B4-BE49-F238E27FC236}">
                <a16:creationId xmlns:a16="http://schemas.microsoft.com/office/drawing/2014/main" id="{A07DEEBF-E57C-D76F-E7E1-CE52234E6F7B}"/>
              </a:ext>
            </a:extLst>
          </p:cNvPr>
          <p:cNvSpPr txBox="1">
            <a:spLocks noChangeArrowheads="1"/>
          </p:cNvSpPr>
          <p:nvPr/>
        </p:nvSpPr>
        <p:spPr bwMode="auto">
          <a:xfrm>
            <a:off x="6147543" y="445953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grpSp>
        <p:nvGrpSpPr>
          <p:cNvPr id="24" name="Group 7">
            <a:extLst>
              <a:ext uri="{FF2B5EF4-FFF2-40B4-BE49-F238E27FC236}">
                <a16:creationId xmlns:a16="http://schemas.microsoft.com/office/drawing/2014/main" id="{4503EB64-2367-BCA1-C3D5-A7A21D77D300}"/>
              </a:ext>
            </a:extLst>
          </p:cNvPr>
          <p:cNvGrpSpPr>
            <a:grpSpLocks/>
          </p:cNvGrpSpPr>
          <p:nvPr/>
        </p:nvGrpSpPr>
        <p:grpSpPr bwMode="auto">
          <a:xfrm>
            <a:off x="7633665" y="3796148"/>
            <a:ext cx="533400" cy="533400"/>
            <a:chOff x="1824" y="2736"/>
            <a:chExt cx="336" cy="336"/>
          </a:xfrm>
        </p:grpSpPr>
        <p:sp>
          <p:nvSpPr>
            <p:cNvPr id="25" name="Oval 8">
              <a:extLst>
                <a:ext uri="{FF2B5EF4-FFF2-40B4-BE49-F238E27FC236}">
                  <a16:creationId xmlns:a16="http://schemas.microsoft.com/office/drawing/2014/main" id="{297B49E7-4DB2-8CEE-A959-80A96C0F4D55}"/>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26" name="Text Box 9">
              <a:extLst>
                <a:ext uri="{FF2B5EF4-FFF2-40B4-BE49-F238E27FC236}">
                  <a16:creationId xmlns:a16="http://schemas.microsoft.com/office/drawing/2014/main" id="{8D3093E5-55C3-0875-B606-5996DD3FD652}"/>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E</a:t>
              </a:r>
            </a:p>
          </p:txBody>
        </p:sp>
      </p:grpSp>
      <p:sp>
        <p:nvSpPr>
          <p:cNvPr id="27" name="Line 19">
            <a:extLst>
              <a:ext uri="{FF2B5EF4-FFF2-40B4-BE49-F238E27FC236}">
                <a16:creationId xmlns:a16="http://schemas.microsoft.com/office/drawing/2014/main" id="{7C91377E-9A90-1E85-34C2-1606824186D7}"/>
              </a:ext>
            </a:extLst>
          </p:cNvPr>
          <p:cNvSpPr>
            <a:spLocks noChangeShapeType="1"/>
          </p:cNvSpPr>
          <p:nvPr/>
        </p:nvSpPr>
        <p:spPr bwMode="auto">
          <a:xfrm>
            <a:off x="6976083" y="4098300"/>
            <a:ext cx="674814" cy="1"/>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8" name="Text Box 26">
            <a:extLst>
              <a:ext uri="{FF2B5EF4-FFF2-40B4-BE49-F238E27FC236}">
                <a16:creationId xmlns:a16="http://schemas.microsoft.com/office/drawing/2014/main" id="{685F89E7-2136-2E92-9C57-A1E34F3D2A57}"/>
              </a:ext>
            </a:extLst>
          </p:cNvPr>
          <p:cNvSpPr txBox="1">
            <a:spLocks noChangeArrowheads="1"/>
          </p:cNvSpPr>
          <p:nvPr/>
        </p:nvSpPr>
        <p:spPr bwMode="auto">
          <a:xfrm>
            <a:off x="7171254" y="37750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spTree>
    <p:extLst>
      <p:ext uri="{BB962C8B-B14F-4D97-AF65-F5344CB8AC3E}">
        <p14:creationId xmlns:p14="http://schemas.microsoft.com/office/powerpoint/2010/main" val="7018186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Content Placeholder 4">
                <a:extLst>
                  <a:ext uri="{FF2B5EF4-FFF2-40B4-BE49-F238E27FC236}">
                    <a16:creationId xmlns:a16="http://schemas.microsoft.com/office/drawing/2014/main" id="{662D1BD8-4613-F349-CC67-6BA01DCF919E}"/>
                  </a:ext>
                </a:extLst>
              </p:cNvPr>
              <p:cNvGraphicFramePr>
                <a:graphicFrameLocks/>
              </p:cNvGraphicFramePr>
              <p:nvPr>
                <p:extLst>
                  <p:ext uri="{D42A27DB-BD31-4B8C-83A1-F6EECF244321}">
                    <p14:modId xmlns:p14="http://schemas.microsoft.com/office/powerpoint/2010/main" val="2089840909"/>
                  </p:ext>
                </p:extLst>
              </p:nvPr>
            </p:nvGraphicFramePr>
            <p:xfrm>
              <a:off x="1432856"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134241839"/>
                      </a:ext>
                    </a:extLst>
                  </a:tr>
                </a:tbl>
              </a:graphicData>
            </a:graphic>
          </p:graphicFrame>
        </mc:Choice>
        <mc:Fallback xmlns="">
          <p:graphicFrame>
            <p:nvGraphicFramePr>
              <p:cNvPr id="4" name="Content Placeholder 4">
                <a:extLst>
                  <a:ext uri="{FF2B5EF4-FFF2-40B4-BE49-F238E27FC236}">
                    <a16:creationId xmlns:a16="http://schemas.microsoft.com/office/drawing/2014/main" id="{662D1BD8-4613-F349-CC67-6BA01DCF919E}"/>
                  </a:ext>
                </a:extLst>
              </p:cNvPr>
              <p:cNvGraphicFramePr>
                <a:graphicFrameLocks/>
              </p:cNvGraphicFramePr>
              <p:nvPr>
                <p:extLst>
                  <p:ext uri="{D42A27DB-BD31-4B8C-83A1-F6EECF244321}">
                    <p14:modId xmlns:p14="http://schemas.microsoft.com/office/powerpoint/2010/main" val="2089840909"/>
                  </p:ext>
                </p:extLst>
              </p:nvPr>
            </p:nvGraphicFramePr>
            <p:xfrm>
              <a:off x="1432856"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208197" r="-107792" b="-3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308197" r="-107792" b="-2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408197" r="-107792" b="-1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508197" r="-107792" b="-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134241839"/>
                      </a:ext>
                    </a:extLst>
                  </a:tr>
                </a:tbl>
              </a:graphicData>
            </a:graphic>
          </p:graphicFrame>
        </mc:Fallback>
      </mc:AlternateContent>
      <p:sp>
        <p:nvSpPr>
          <p:cNvPr id="5" name="Arrow: Right 4">
            <a:extLst>
              <a:ext uri="{FF2B5EF4-FFF2-40B4-BE49-F238E27FC236}">
                <a16:creationId xmlns:a16="http://schemas.microsoft.com/office/drawing/2014/main" id="{5CAED2C4-4752-8397-9A78-F8622E9FCAEC}"/>
              </a:ext>
            </a:extLst>
          </p:cNvPr>
          <p:cNvSpPr/>
          <p:nvPr/>
        </p:nvSpPr>
        <p:spPr>
          <a:xfrm>
            <a:off x="2940133" y="210392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a:extLst>
              <a:ext uri="{FF2B5EF4-FFF2-40B4-BE49-F238E27FC236}">
                <a16:creationId xmlns:a16="http://schemas.microsoft.com/office/drawing/2014/main" id="{40C677AE-1214-9D81-1449-76D3797C3122}"/>
              </a:ext>
            </a:extLst>
          </p:cNvPr>
          <p:cNvSpPr txBox="1"/>
          <p:nvPr/>
        </p:nvSpPr>
        <p:spPr>
          <a:xfrm>
            <a:off x="2920832" y="1801871"/>
            <a:ext cx="774571"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A</a:t>
            </a:r>
            <a:endParaRPr lang="en-SE" sz="1800" kern="1200" dirty="0">
              <a:solidFill>
                <a:prstClr val="black"/>
              </a:solidFill>
              <a:latin typeface="Calibri"/>
              <a:ea typeface="+mn-ea"/>
              <a:cs typeface="+mn-cs"/>
            </a:endParaRPr>
          </a:p>
        </p:txBody>
      </p:sp>
      <p:sp>
        <p:nvSpPr>
          <p:cNvPr id="7" name="Arrow: Right 6">
            <a:extLst>
              <a:ext uri="{FF2B5EF4-FFF2-40B4-BE49-F238E27FC236}">
                <a16:creationId xmlns:a16="http://schemas.microsoft.com/office/drawing/2014/main" id="{9B5FEE93-7ADB-0C85-CE29-0EE37CAAA71B}"/>
              </a:ext>
            </a:extLst>
          </p:cNvPr>
          <p:cNvSpPr/>
          <p:nvPr/>
        </p:nvSpPr>
        <p:spPr>
          <a:xfrm>
            <a:off x="5426547" y="210392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a:extLst>
              <a:ext uri="{FF2B5EF4-FFF2-40B4-BE49-F238E27FC236}">
                <a16:creationId xmlns:a16="http://schemas.microsoft.com/office/drawing/2014/main" id="{3B253D31-DF25-EE07-6615-AFFE0303BEEE}"/>
              </a:ext>
            </a:extLst>
          </p:cNvPr>
          <p:cNvSpPr txBox="1"/>
          <p:nvPr/>
        </p:nvSpPr>
        <p:spPr>
          <a:xfrm>
            <a:off x="5430489" y="1801871"/>
            <a:ext cx="764953"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C</a:t>
            </a:r>
            <a:endParaRPr lang="en-SE" sz="1800" kern="1200" dirty="0">
              <a:solidFill>
                <a:prstClr val="black"/>
              </a:solidFill>
              <a:latin typeface="Calibri"/>
              <a:ea typeface="+mn-ea"/>
              <a:cs typeface="+mn-cs"/>
            </a:endParaRPr>
          </a:p>
        </p:txBody>
      </p:sp>
      <mc:AlternateContent xmlns:mc="http://schemas.openxmlformats.org/markup-compatibility/2006" xmlns:a14="http://schemas.microsoft.com/office/drawing/2010/main">
        <mc:Choice Requires="a14">
          <p:graphicFrame>
            <p:nvGraphicFramePr>
              <p:cNvPr id="9" name="Content Placeholder 4">
                <a:extLst>
                  <a:ext uri="{FF2B5EF4-FFF2-40B4-BE49-F238E27FC236}">
                    <a16:creationId xmlns:a16="http://schemas.microsoft.com/office/drawing/2014/main" id="{4F52E41A-278B-3D37-FC81-AC7D7B0055AB}"/>
                  </a:ext>
                </a:extLst>
              </p:cNvPr>
              <p:cNvGraphicFramePr>
                <a:graphicFrameLocks/>
              </p:cNvGraphicFramePr>
              <p:nvPr>
                <p:extLst>
                  <p:ext uri="{D42A27DB-BD31-4B8C-83A1-F6EECF244321}">
                    <p14:modId xmlns:p14="http://schemas.microsoft.com/office/powerpoint/2010/main" val="2195705223"/>
                  </p:ext>
                </p:extLst>
              </p:nvPr>
            </p:nvGraphicFramePr>
            <p:xfrm>
              <a:off x="3876627"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919787611"/>
                      </a:ext>
                    </a:extLst>
                  </a:tr>
                </a:tbl>
              </a:graphicData>
            </a:graphic>
          </p:graphicFrame>
        </mc:Choice>
        <mc:Fallback xmlns="">
          <p:graphicFrame>
            <p:nvGraphicFramePr>
              <p:cNvPr id="9" name="Content Placeholder 4">
                <a:extLst>
                  <a:ext uri="{FF2B5EF4-FFF2-40B4-BE49-F238E27FC236}">
                    <a16:creationId xmlns:a16="http://schemas.microsoft.com/office/drawing/2014/main" id="{4F52E41A-278B-3D37-FC81-AC7D7B0055AB}"/>
                  </a:ext>
                </a:extLst>
              </p:cNvPr>
              <p:cNvGraphicFramePr>
                <a:graphicFrameLocks/>
              </p:cNvGraphicFramePr>
              <p:nvPr>
                <p:extLst>
                  <p:ext uri="{D42A27DB-BD31-4B8C-83A1-F6EECF244321}">
                    <p14:modId xmlns:p14="http://schemas.microsoft.com/office/powerpoint/2010/main" val="2195705223"/>
                  </p:ext>
                </p:extLst>
              </p:nvPr>
            </p:nvGraphicFramePr>
            <p:xfrm>
              <a:off x="3876627"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98718" t="-408197" r="-106410" b="-1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98718" t="-508197" r="-106410" b="-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91978761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0" name="Content Placeholder 4">
                <a:extLst>
                  <a:ext uri="{FF2B5EF4-FFF2-40B4-BE49-F238E27FC236}">
                    <a16:creationId xmlns:a16="http://schemas.microsoft.com/office/drawing/2014/main" id="{7515A77E-5E06-6A38-9A8C-E39E15302A32}"/>
                  </a:ext>
                </a:extLst>
              </p:cNvPr>
              <p:cNvGraphicFramePr>
                <a:graphicFrameLocks/>
              </p:cNvGraphicFramePr>
              <p:nvPr>
                <p:extLst>
                  <p:ext uri="{D42A27DB-BD31-4B8C-83A1-F6EECF244321}">
                    <p14:modId xmlns:p14="http://schemas.microsoft.com/office/powerpoint/2010/main" val="940725802"/>
                  </p:ext>
                </p:extLst>
              </p:nvPr>
            </p:nvGraphicFramePr>
            <p:xfrm>
              <a:off x="6364801" y="1384320"/>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10</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2</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C</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992628607"/>
                      </a:ext>
                    </a:extLst>
                  </a:tr>
                </a:tbl>
              </a:graphicData>
            </a:graphic>
          </p:graphicFrame>
        </mc:Choice>
        <mc:Fallback xmlns="">
          <p:graphicFrame>
            <p:nvGraphicFramePr>
              <p:cNvPr id="10" name="Content Placeholder 4">
                <a:extLst>
                  <a:ext uri="{FF2B5EF4-FFF2-40B4-BE49-F238E27FC236}">
                    <a16:creationId xmlns:a16="http://schemas.microsoft.com/office/drawing/2014/main" id="{7515A77E-5E06-6A38-9A8C-E39E15302A32}"/>
                  </a:ext>
                </a:extLst>
              </p:cNvPr>
              <p:cNvGraphicFramePr>
                <a:graphicFrameLocks/>
              </p:cNvGraphicFramePr>
              <p:nvPr>
                <p:extLst>
                  <p:ext uri="{D42A27DB-BD31-4B8C-83A1-F6EECF244321}">
                    <p14:modId xmlns:p14="http://schemas.microsoft.com/office/powerpoint/2010/main" val="940725802"/>
                  </p:ext>
                </p:extLst>
              </p:nvPr>
            </p:nvGraphicFramePr>
            <p:xfrm>
              <a:off x="6364801" y="1384320"/>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10</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2</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C</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4"/>
                          <a:stretch>
                            <a:fillRect l="-100000" t="-508197" r="-107792" b="-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992628607"/>
                      </a:ext>
                    </a:extLst>
                  </a:tr>
                </a:tbl>
              </a:graphicData>
            </a:graphic>
          </p:graphicFrame>
        </mc:Fallback>
      </mc:AlternateContent>
      <p:sp>
        <p:nvSpPr>
          <p:cNvPr id="11" name="Arrow: Right 10">
            <a:extLst>
              <a:ext uri="{FF2B5EF4-FFF2-40B4-BE49-F238E27FC236}">
                <a16:creationId xmlns:a16="http://schemas.microsoft.com/office/drawing/2014/main" id="{C3555A6B-47E8-6DE2-9889-7289CEE410CD}"/>
              </a:ext>
            </a:extLst>
          </p:cNvPr>
          <p:cNvSpPr/>
          <p:nvPr/>
        </p:nvSpPr>
        <p:spPr>
          <a:xfrm>
            <a:off x="7914721" y="2071893"/>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TextBox 11">
            <a:extLst>
              <a:ext uri="{FF2B5EF4-FFF2-40B4-BE49-F238E27FC236}">
                <a16:creationId xmlns:a16="http://schemas.microsoft.com/office/drawing/2014/main" id="{388B8976-3793-B3B0-7C06-229EAD276BBA}"/>
              </a:ext>
            </a:extLst>
          </p:cNvPr>
          <p:cNvSpPr txBox="1"/>
          <p:nvPr/>
        </p:nvSpPr>
        <p:spPr>
          <a:xfrm>
            <a:off x="7909045" y="1769835"/>
            <a:ext cx="784189"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D</a:t>
            </a:r>
            <a:endParaRPr lang="en-SE" sz="1800" kern="1200" dirty="0">
              <a:solidFill>
                <a:prstClr val="black"/>
              </a:solidFill>
              <a:latin typeface="Calibri"/>
              <a:ea typeface="+mn-ea"/>
              <a:cs typeface="+mn-cs"/>
            </a:endParaRPr>
          </a:p>
        </p:txBody>
      </p:sp>
      <p:graphicFrame>
        <p:nvGraphicFramePr>
          <p:cNvPr id="13" name="Content Placeholder 4">
            <a:extLst>
              <a:ext uri="{FF2B5EF4-FFF2-40B4-BE49-F238E27FC236}">
                <a16:creationId xmlns:a16="http://schemas.microsoft.com/office/drawing/2014/main" id="{C5B13545-60E9-DDF0-B05D-51A88C195F1A}"/>
              </a:ext>
            </a:extLst>
          </p:cNvPr>
          <p:cNvGraphicFramePr>
            <a:graphicFrameLocks/>
          </p:cNvGraphicFramePr>
          <p:nvPr>
            <p:extLst>
              <p:ext uri="{D42A27DB-BD31-4B8C-83A1-F6EECF244321}">
                <p14:modId xmlns:p14="http://schemas.microsoft.com/office/powerpoint/2010/main" val="1494210133"/>
              </p:ext>
            </p:extLst>
          </p:nvPr>
        </p:nvGraphicFramePr>
        <p:xfrm>
          <a:off x="8852975"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10</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2</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3</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D</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334971405"/>
                  </a:ext>
                </a:extLst>
              </a:tr>
            </a:tbl>
          </a:graphicData>
        </a:graphic>
      </p:graphicFrame>
      <p:graphicFrame>
        <p:nvGraphicFramePr>
          <p:cNvPr id="14" name="Content Placeholder 4">
            <a:extLst>
              <a:ext uri="{FF2B5EF4-FFF2-40B4-BE49-F238E27FC236}">
                <a16:creationId xmlns:a16="http://schemas.microsoft.com/office/drawing/2014/main" id="{D0E9A942-2803-8259-B7BC-45090430FA62}"/>
              </a:ext>
            </a:extLst>
          </p:cNvPr>
          <p:cNvGraphicFramePr>
            <a:graphicFrameLocks/>
          </p:cNvGraphicFramePr>
          <p:nvPr>
            <p:extLst>
              <p:ext uri="{D42A27DB-BD31-4B8C-83A1-F6EECF244321}">
                <p14:modId xmlns:p14="http://schemas.microsoft.com/office/powerpoint/2010/main" val="2428344992"/>
              </p:ext>
            </p:extLst>
          </p:nvPr>
        </p:nvGraphicFramePr>
        <p:xfrm>
          <a:off x="1439851" y="3894110"/>
          <a:ext cx="1500819" cy="2225040"/>
        </p:xfrm>
        <a:graphic>
          <a:graphicData uri="http://schemas.openxmlformats.org/drawingml/2006/table">
            <a:tbl>
              <a:tblPr firstRow="1" bandRow="1"/>
              <a:tblGrid>
                <a:gridCol w="491816">
                  <a:extLst>
                    <a:ext uri="{9D8B030D-6E8A-4147-A177-3AD203B41FA5}">
                      <a16:colId xmlns:a16="http://schemas.microsoft.com/office/drawing/2014/main" val="1437393818"/>
                    </a:ext>
                  </a:extLst>
                </a:gridCol>
                <a:gridCol w="498703">
                  <a:extLst>
                    <a:ext uri="{9D8B030D-6E8A-4147-A177-3AD203B41FA5}">
                      <a16:colId xmlns:a16="http://schemas.microsoft.com/office/drawing/2014/main" val="3865283362"/>
                    </a:ext>
                  </a:extLst>
                </a:gridCol>
                <a:gridCol w="510300">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SD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PN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0</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ap="flat" cmpd="sng" algn="ctr">
                      <a:solidFill>
                        <a:sysClr val="window" lastClr="FFFFFF"/>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ap="flat" cmpd="sng" algn="ctr">
                      <a:solidFill>
                        <a:sysClr val="window" lastClr="FFFFFF"/>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ap="flat" cmpd="sng" algn="ctr">
                      <a:solidFill>
                        <a:sysClr val="window" lastClr="FFFFFF"/>
                      </a:solidFill>
                      <a:prstDash val="solid"/>
                      <a:round/>
                      <a:headEnd type="none" w="med" len="med"/>
                      <a:tailEnd type="none" w="med" len="med"/>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2</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3</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ap="flat" cmpd="sng" algn="ctr">
                      <a:solidFill>
                        <a:sysClr val="window" lastClr="FFFFFF"/>
                      </a:solidFill>
                      <a:prstDash val="solid"/>
                      <a:round/>
                      <a:headEnd type="none" w="med" len="med"/>
                      <a:tailEnd type="none" w="med" len="med"/>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ap="flat" cmpd="sng" algn="ctr">
                      <a:solidFill>
                        <a:sysClr val="window" lastClr="FFFFFF"/>
                      </a:solidFill>
                      <a:prstDash val="solid"/>
                      <a:round/>
                      <a:headEnd type="none" w="med" len="med"/>
                      <a:tailEnd type="none" w="med" len="med"/>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687637596"/>
                  </a:ext>
                </a:extLst>
              </a:tr>
            </a:tbl>
          </a:graphicData>
        </a:graphic>
      </p:graphicFrame>
      <p:sp>
        <p:nvSpPr>
          <p:cNvPr id="16" name="TextBox 15">
            <a:extLst>
              <a:ext uri="{FF2B5EF4-FFF2-40B4-BE49-F238E27FC236}">
                <a16:creationId xmlns:a16="http://schemas.microsoft.com/office/drawing/2014/main" id="{0389D789-FCCA-639D-D232-B93B51F09CA3}"/>
              </a:ext>
            </a:extLst>
          </p:cNvPr>
          <p:cNvSpPr txBox="1"/>
          <p:nvPr/>
        </p:nvSpPr>
        <p:spPr>
          <a:xfrm>
            <a:off x="3969417" y="3609360"/>
            <a:ext cx="753731"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E</a:t>
            </a:r>
            <a:endParaRPr lang="en-SE" sz="1800" kern="1200" dirty="0">
              <a:solidFill>
                <a:prstClr val="black"/>
              </a:solidFill>
              <a:latin typeface="Calibri"/>
              <a:ea typeface="+mn-ea"/>
              <a:cs typeface="+mn-cs"/>
            </a:endParaRPr>
          </a:p>
        </p:txBody>
      </p:sp>
      <p:sp>
        <p:nvSpPr>
          <p:cNvPr id="17" name="TextBox 16">
            <a:extLst>
              <a:ext uri="{FF2B5EF4-FFF2-40B4-BE49-F238E27FC236}">
                <a16:creationId xmlns:a16="http://schemas.microsoft.com/office/drawing/2014/main" id="{45BC6440-E444-DCAA-6532-7687F0282BDF}"/>
              </a:ext>
            </a:extLst>
          </p:cNvPr>
          <p:cNvSpPr txBox="1"/>
          <p:nvPr/>
        </p:nvSpPr>
        <p:spPr>
          <a:xfrm>
            <a:off x="7967580" y="5312084"/>
            <a:ext cx="4136822" cy="1477328"/>
          </a:xfrm>
          <a:prstGeom prst="rect">
            <a:avLst/>
          </a:prstGeom>
          <a:solidFill>
            <a:sysClr val="window" lastClr="FFFFFF"/>
          </a:solidFill>
          <a:ln w="25400" cap="flat" cmpd="sng" algn="ctr">
            <a:noFill/>
            <a:prstDash val="solid"/>
          </a:ln>
          <a:effectLst/>
        </p:spPr>
        <p:txBody>
          <a:bodyPr wrap="square" rtlCol="0">
            <a:spAutoFit/>
          </a:bodyPr>
          <a:lstStyle/>
          <a:p>
            <a:pPr marL="0" marR="0" lvl="0" indent="0" defTabSz="45720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chemeClr val="tx1"/>
                </a:solidFill>
                <a:effectLst/>
                <a:uLnTx/>
                <a:uFillTx/>
                <a:latin typeface="Calibri"/>
                <a:ea typeface="+mn-ea"/>
                <a:cs typeface="+mn-cs"/>
              </a:rPr>
              <a:t>Since Dijkstra’s algorithm is a greedy algorithm that always closest unknown node (with the smallest SD), node B with SD of 10 is visited last, so node E’s final SD of 3 is incorrect.</a:t>
            </a:r>
            <a:endParaRPr kumimoji="0" lang="en-SE" sz="1800" b="0" i="0" u="none" strike="noStrike" kern="1200" cap="none" spc="0" normalizeH="0" baseline="0" noProof="0" dirty="0">
              <a:ln>
                <a:noFill/>
              </a:ln>
              <a:solidFill>
                <a:schemeClr val="tx1"/>
              </a:solidFill>
              <a:effectLst/>
              <a:uLnTx/>
              <a:uFillTx/>
              <a:latin typeface="Calibri"/>
              <a:ea typeface="+mn-ea"/>
              <a:cs typeface="+mn-cs"/>
            </a:endParaRPr>
          </a:p>
        </p:txBody>
      </p:sp>
      <p:sp>
        <p:nvSpPr>
          <p:cNvPr id="43" name="Arrow: Right 42">
            <a:extLst>
              <a:ext uri="{FF2B5EF4-FFF2-40B4-BE49-F238E27FC236}">
                <a16:creationId xmlns:a16="http://schemas.microsoft.com/office/drawing/2014/main" id="{42EE730A-8180-9EED-BF15-8E0EB7C264E9}"/>
              </a:ext>
            </a:extLst>
          </p:cNvPr>
          <p:cNvSpPr/>
          <p:nvPr/>
        </p:nvSpPr>
        <p:spPr>
          <a:xfrm>
            <a:off x="3004133" y="4602990"/>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graphicFrame>
        <p:nvGraphicFramePr>
          <p:cNvPr id="45" name="Content Placeholder 4">
            <a:extLst>
              <a:ext uri="{FF2B5EF4-FFF2-40B4-BE49-F238E27FC236}">
                <a16:creationId xmlns:a16="http://schemas.microsoft.com/office/drawing/2014/main" id="{078665E0-545D-16CB-ABCF-707553ED5A19}"/>
              </a:ext>
            </a:extLst>
          </p:cNvPr>
          <p:cNvGraphicFramePr>
            <a:graphicFrameLocks/>
          </p:cNvGraphicFramePr>
          <p:nvPr>
            <p:extLst>
              <p:ext uri="{D42A27DB-BD31-4B8C-83A1-F6EECF244321}">
                <p14:modId xmlns:p14="http://schemas.microsoft.com/office/powerpoint/2010/main" val="3631723356"/>
              </p:ext>
            </p:extLst>
          </p:nvPr>
        </p:nvGraphicFramePr>
        <p:xfrm>
          <a:off x="3862672" y="3894110"/>
          <a:ext cx="1500819" cy="2225040"/>
        </p:xfrm>
        <a:graphic>
          <a:graphicData uri="http://schemas.openxmlformats.org/drawingml/2006/table">
            <a:tbl>
              <a:tblPr firstRow="1" bandRow="1"/>
              <a:tblGrid>
                <a:gridCol w="491816">
                  <a:extLst>
                    <a:ext uri="{9D8B030D-6E8A-4147-A177-3AD203B41FA5}">
                      <a16:colId xmlns:a16="http://schemas.microsoft.com/office/drawing/2014/main" val="1437393818"/>
                    </a:ext>
                  </a:extLst>
                </a:gridCol>
                <a:gridCol w="498703">
                  <a:extLst>
                    <a:ext uri="{9D8B030D-6E8A-4147-A177-3AD203B41FA5}">
                      <a16:colId xmlns:a16="http://schemas.microsoft.com/office/drawing/2014/main" val="3865283362"/>
                    </a:ext>
                  </a:extLst>
                </a:gridCol>
                <a:gridCol w="510300">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SD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PN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0</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B</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3</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687637596"/>
                  </a:ext>
                </a:extLst>
              </a:tr>
            </a:tbl>
          </a:graphicData>
        </a:graphic>
      </p:graphicFrame>
      <p:sp>
        <p:nvSpPr>
          <p:cNvPr id="3" name="TextBox 2">
            <a:extLst>
              <a:ext uri="{FF2B5EF4-FFF2-40B4-BE49-F238E27FC236}">
                <a16:creationId xmlns:a16="http://schemas.microsoft.com/office/drawing/2014/main" id="{E4DA25AA-8BBE-4F5F-8248-D8CA544F63DB}"/>
              </a:ext>
            </a:extLst>
          </p:cNvPr>
          <p:cNvSpPr txBox="1"/>
          <p:nvPr/>
        </p:nvSpPr>
        <p:spPr>
          <a:xfrm>
            <a:off x="2948863" y="4290869"/>
            <a:ext cx="766557"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B</a:t>
            </a:r>
            <a:endParaRPr lang="en-SE" sz="1800" kern="1200" dirty="0">
              <a:solidFill>
                <a:prstClr val="black"/>
              </a:solidFill>
              <a:latin typeface="Calibri"/>
              <a:ea typeface="+mn-ea"/>
              <a:cs typeface="+mn-cs"/>
            </a:endParaRPr>
          </a:p>
        </p:txBody>
      </p:sp>
      <p:sp>
        <p:nvSpPr>
          <p:cNvPr id="47" name="Title 1">
            <a:extLst>
              <a:ext uri="{FF2B5EF4-FFF2-40B4-BE49-F238E27FC236}">
                <a16:creationId xmlns:a16="http://schemas.microsoft.com/office/drawing/2014/main" id="{45428D20-34CE-29BD-11F3-9B047502E18B}"/>
              </a:ext>
            </a:extLst>
          </p:cNvPr>
          <p:cNvSpPr>
            <a:spLocks noGrp="1"/>
          </p:cNvSpPr>
          <p:nvPr>
            <p:ph type="title"/>
          </p:nvPr>
        </p:nvSpPr>
        <p:spPr>
          <a:xfrm>
            <a:off x="575239" y="263276"/>
            <a:ext cx="11187000" cy="1014900"/>
          </a:xfrm>
        </p:spPr>
        <p:txBody>
          <a:bodyPr>
            <a:normAutofit fontScale="90000"/>
          </a:bodyPr>
          <a:lstStyle/>
          <a:p>
            <a:r>
              <a:rPr lang="en-GB" dirty="0"/>
              <a:t>Dijkstra’s algorithm does not work for a graph w/ negative edge weights</a:t>
            </a:r>
            <a:endParaRPr lang="en-SE" dirty="0"/>
          </a:p>
        </p:txBody>
      </p:sp>
      <p:grpSp>
        <p:nvGrpSpPr>
          <p:cNvPr id="55" name="Group 4">
            <a:extLst>
              <a:ext uri="{FF2B5EF4-FFF2-40B4-BE49-F238E27FC236}">
                <a16:creationId xmlns:a16="http://schemas.microsoft.com/office/drawing/2014/main" id="{13A372AD-3425-6EFB-853E-C780F468F786}"/>
              </a:ext>
            </a:extLst>
          </p:cNvPr>
          <p:cNvGrpSpPr>
            <a:grpSpLocks/>
          </p:cNvGrpSpPr>
          <p:nvPr/>
        </p:nvGrpSpPr>
        <p:grpSpPr bwMode="auto">
          <a:xfrm>
            <a:off x="5554990" y="4647391"/>
            <a:ext cx="533400" cy="533400"/>
            <a:chOff x="1824" y="2736"/>
            <a:chExt cx="336" cy="336"/>
          </a:xfrm>
        </p:grpSpPr>
        <p:sp>
          <p:nvSpPr>
            <p:cNvPr id="56" name="Oval 5">
              <a:extLst>
                <a:ext uri="{FF2B5EF4-FFF2-40B4-BE49-F238E27FC236}">
                  <a16:creationId xmlns:a16="http://schemas.microsoft.com/office/drawing/2014/main" id="{FA5E001C-4DBC-9914-52FD-535E5C3979AF}"/>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57" name="Text Box 6">
              <a:extLst>
                <a:ext uri="{FF2B5EF4-FFF2-40B4-BE49-F238E27FC236}">
                  <a16:creationId xmlns:a16="http://schemas.microsoft.com/office/drawing/2014/main" id="{7AF96559-EE1F-C28D-EDA4-0942C0D36AC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A</a:t>
              </a:r>
            </a:p>
          </p:txBody>
        </p:sp>
      </p:grpSp>
      <p:grpSp>
        <p:nvGrpSpPr>
          <p:cNvPr id="58" name="Group 7">
            <a:extLst>
              <a:ext uri="{FF2B5EF4-FFF2-40B4-BE49-F238E27FC236}">
                <a16:creationId xmlns:a16="http://schemas.microsoft.com/office/drawing/2014/main" id="{115C7A4F-EA43-51C3-6E6E-F8F45F767256}"/>
              </a:ext>
            </a:extLst>
          </p:cNvPr>
          <p:cNvGrpSpPr>
            <a:grpSpLocks/>
          </p:cNvGrpSpPr>
          <p:nvPr/>
        </p:nvGrpSpPr>
        <p:grpSpPr bwMode="auto">
          <a:xfrm>
            <a:off x="6697990" y="3732991"/>
            <a:ext cx="533400" cy="533400"/>
            <a:chOff x="1824" y="2736"/>
            <a:chExt cx="336" cy="336"/>
          </a:xfrm>
        </p:grpSpPr>
        <p:sp>
          <p:nvSpPr>
            <p:cNvPr id="59" name="Oval 8">
              <a:extLst>
                <a:ext uri="{FF2B5EF4-FFF2-40B4-BE49-F238E27FC236}">
                  <a16:creationId xmlns:a16="http://schemas.microsoft.com/office/drawing/2014/main" id="{B3DE7520-F24A-28AF-39DF-B601592C9DB0}"/>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0" name="Text Box 9">
              <a:extLst>
                <a:ext uri="{FF2B5EF4-FFF2-40B4-BE49-F238E27FC236}">
                  <a16:creationId xmlns:a16="http://schemas.microsoft.com/office/drawing/2014/main" id="{019D0C76-DC21-C25C-7886-8D0F9AC01115}"/>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B</a:t>
              </a:r>
            </a:p>
          </p:txBody>
        </p:sp>
      </p:grpSp>
      <p:grpSp>
        <p:nvGrpSpPr>
          <p:cNvPr id="61" name="Group 10">
            <a:extLst>
              <a:ext uri="{FF2B5EF4-FFF2-40B4-BE49-F238E27FC236}">
                <a16:creationId xmlns:a16="http://schemas.microsoft.com/office/drawing/2014/main" id="{B759D766-9BCB-1D0B-93F0-0383FB0CEF17}"/>
              </a:ext>
            </a:extLst>
          </p:cNvPr>
          <p:cNvGrpSpPr>
            <a:grpSpLocks/>
          </p:cNvGrpSpPr>
          <p:nvPr/>
        </p:nvGrpSpPr>
        <p:grpSpPr bwMode="auto">
          <a:xfrm>
            <a:off x="6697990" y="5409391"/>
            <a:ext cx="533400" cy="533400"/>
            <a:chOff x="1824" y="2736"/>
            <a:chExt cx="336" cy="336"/>
          </a:xfrm>
        </p:grpSpPr>
        <p:sp>
          <p:nvSpPr>
            <p:cNvPr id="62" name="Oval 11">
              <a:extLst>
                <a:ext uri="{FF2B5EF4-FFF2-40B4-BE49-F238E27FC236}">
                  <a16:creationId xmlns:a16="http://schemas.microsoft.com/office/drawing/2014/main" id="{0155DF7D-0357-B114-1C53-A2CF1A8DD4D2}"/>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3" name="Text Box 12">
              <a:extLst>
                <a:ext uri="{FF2B5EF4-FFF2-40B4-BE49-F238E27FC236}">
                  <a16:creationId xmlns:a16="http://schemas.microsoft.com/office/drawing/2014/main" id="{874E6EDD-0194-5399-8F04-CAEF3EA1ECC4}"/>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C</a:t>
              </a:r>
            </a:p>
          </p:txBody>
        </p:sp>
      </p:grpSp>
      <p:sp>
        <p:nvSpPr>
          <p:cNvPr id="64" name="Line 19">
            <a:extLst>
              <a:ext uri="{FF2B5EF4-FFF2-40B4-BE49-F238E27FC236}">
                <a16:creationId xmlns:a16="http://schemas.microsoft.com/office/drawing/2014/main" id="{020EBFFA-6171-80E1-39A5-B1A41DE06F0D}"/>
              </a:ext>
            </a:extLst>
          </p:cNvPr>
          <p:cNvSpPr>
            <a:spLocks noChangeShapeType="1"/>
          </p:cNvSpPr>
          <p:nvPr/>
        </p:nvSpPr>
        <p:spPr bwMode="auto">
          <a:xfrm flipV="1">
            <a:off x="6012190" y="4190191"/>
            <a:ext cx="762000" cy="53340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65" name="Line 20">
            <a:extLst>
              <a:ext uri="{FF2B5EF4-FFF2-40B4-BE49-F238E27FC236}">
                <a16:creationId xmlns:a16="http://schemas.microsoft.com/office/drawing/2014/main" id="{BA96A306-07AD-DC97-2D98-01785FADD1D6}"/>
              </a:ext>
            </a:extLst>
          </p:cNvPr>
          <p:cNvSpPr>
            <a:spLocks noChangeShapeType="1"/>
          </p:cNvSpPr>
          <p:nvPr/>
        </p:nvSpPr>
        <p:spPr bwMode="auto">
          <a:xfrm>
            <a:off x="6012190" y="5104591"/>
            <a:ext cx="723900" cy="49394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a:ln>
                <a:noFill/>
              </a:ln>
              <a:solidFill>
                <a:srgbClr val="000000"/>
              </a:solidFill>
              <a:effectLst/>
              <a:uLnTx/>
              <a:uFillTx/>
              <a:latin typeface="Calibri"/>
              <a:ea typeface="+mn-ea"/>
              <a:cs typeface="+mn-cs"/>
            </a:endParaRPr>
          </a:p>
        </p:txBody>
      </p:sp>
      <p:sp>
        <p:nvSpPr>
          <p:cNvPr id="66" name="Text Box 26">
            <a:extLst>
              <a:ext uri="{FF2B5EF4-FFF2-40B4-BE49-F238E27FC236}">
                <a16:creationId xmlns:a16="http://schemas.microsoft.com/office/drawing/2014/main" id="{D370FC89-90E0-373D-D0DE-CA73E6D7B405}"/>
              </a:ext>
            </a:extLst>
          </p:cNvPr>
          <p:cNvSpPr txBox="1">
            <a:spLocks noChangeArrowheads="1"/>
          </p:cNvSpPr>
          <p:nvPr/>
        </p:nvSpPr>
        <p:spPr bwMode="auto">
          <a:xfrm>
            <a:off x="6156051" y="5271279"/>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a:latin typeface="Arial" panose="020B0604020202020204" pitchFamily="34" charset="0"/>
                <a:ea typeface="+mn-ea"/>
                <a:cs typeface="+mn-cs"/>
              </a:rPr>
              <a:t>1</a:t>
            </a:r>
          </a:p>
        </p:txBody>
      </p:sp>
      <p:sp>
        <p:nvSpPr>
          <p:cNvPr id="67" name="Text Box 28">
            <a:extLst>
              <a:ext uri="{FF2B5EF4-FFF2-40B4-BE49-F238E27FC236}">
                <a16:creationId xmlns:a16="http://schemas.microsoft.com/office/drawing/2014/main" id="{EEAEB2D3-FFE0-E9D1-4470-35D77ABDF312}"/>
              </a:ext>
            </a:extLst>
          </p:cNvPr>
          <p:cNvSpPr txBox="1">
            <a:spLocks noChangeArrowheads="1"/>
          </p:cNvSpPr>
          <p:nvPr/>
        </p:nvSpPr>
        <p:spPr bwMode="auto">
          <a:xfrm>
            <a:off x="6012190" y="4111371"/>
            <a:ext cx="5714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10</a:t>
            </a:r>
          </a:p>
        </p:txBody>
      </p:sp>
      <p:grpSp>
        <p:nvGrpSpPr>
          <p:cNvPr id="68" name="Group 7">
            <a:extLst>
              <a:ext uri="{FF2B5EF4-FFF2-40B4-BE49-F238E27FC236}">
                <a16:creationId xmlns:a16="http://schemas.microsoft.com/office/drawing/2014/main" id="{3B34E65D-38E1-6B51-9287-6D299267BB3E}"/>
              </a:ext>
            </a:extLst>
          </p:cNvPr>
          <p:cNvGrpSpPr>
            <a:grpSpLocks/>
          </p:cNvGrpSpPr>
          <p:nvPr/>
        </p:nvGrpSpPr>
        <p:grpSpPr bwMode="auto">
          <a:xfrm>
            <a:off x="7879090" y="4568437"/>
            <a:ext cx="533400" cy="533400"/>
            <a:chOff x="1824" y="2736"/>
            <a:chExt cx="336" cy="336"/>
          </a:xfrm>
        </p:grpSpPr>
        <p:sp>
          <p:nvSpPr>
            <p:cNvPr id="69" name="Oval 8">
              <a:extLst>
                <a:ext uri="{FF2B5EF4-FFF2-40B4-BE49-F238E27FC236}">
                  <a16:creationId xmlns:a16="http://schemas.microsoft.com/office/drawing/2014/main" id="{095627BF-784F-8CAC-B51F-C9FFBD00610E}"/>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70" name="Text Box 9">
              <a:extLst>
                <a:ext uri="{FF2B5EF4-FFF2-40B4-BE49-F238E27FC236}">
                  <a16:creationId xmlns:a16="http://schemas.microsoft.com/office/drawing/2014/main" id="{E2DF6012-594C-EAAE-931B-0090B99CBAA3}"/>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D</a:t>
              </a:r>
            </a:p>
          </p:txBody>
        </p:sp>
      </p:grpSp>
      <p:sp>
        <p:nvSpPr>
          <p:cNvPr id="71" name="Line 19">
            <a:extLst>
              <a:ext uri="{FF2B5EF4-FFF2-40B4-BE49-F238E27FC236}">
                <a16:creationId xmlns:a16="http://schemas.microsoft.com/office/drawing/2014/main" id="{BD808A87-1779-BF7A-F210-CE702F691689}"/>
              </a:ext>
            </a:extLst>
          </p:cNvPr>
          <p:cNvSpPr>
            <a:spLocks noChangeShapeType="1"/>
          </p:cNvSpPr>
          <p:nvPr/>
        </p:nvSpPr>
        <p:spPr bwMode="auto">
          <a:xfrm>
            <a:off x="7155190" y="4171839"/>
            <a:ext cx="762001" cy="528737"/>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72" name="Line 19">
            <a:extLst>
              <a:ext uri="{FF2B5EF4-FFF2-40B4-BE49-F238E27FC236}">
                <a16:creationId xmlns:a16="http://schemas.microsoft.com/office/drawing/2014/main" id="{9BF689CC-AAB6-1867-A1A0-2F807D3716E9}"/>
              </a:ext>
            </a:extLst>
          </p:cNvPr>
          <p:cNvSpPr>
            <a:spLocks noChangeShapeType="1"/>
          </p:cNvSpPr>
          <p:nvPr/>
        </p:nvSpPr>
        <p:spPr bwMode="auto">
          <a:xfrm flipV="1">
            <a:off x="7243680" y="5025638"/>
            <a:ext cx="711610" cy="572893"/>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73" name="Text Box 28">
            <a:extLst>
              <a:ext uri="{FF2B5EF4-FFF2-40B4-BE49-F238E27FC236}">
                <a16:creationId xmlns:a16="http://schemas.microsoft.com/office/drawing/2014/main" id="{163A1BC2-A54B-0D68-2BE4-4B802B9940B3}"/>
              </a:ext>
            </a:extLst>
          </p:cNvPr>
          <p:cNvSpPr txBox="1">
            <a:spLocks noChangeArrowheads="1"/>
          </p:cNvSpPr>
          <p:nvPr/>
        </p:nvSpPr>
        <p:spPr bwMode="auto">
          <a:xfrm>
            <a:off x="7402840" y="4111371"/>
            <a:ext cx="8191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-20</a:t>
            </a:r>
          </a:p>
        </p:txBody>
      </p:sp>
      <p:sp>
        <p:nvSpPr>
          <p:cNvPr id="74" name="Text Box 26">
            <a:extLst>
              <a:ext uri="{FF2B5EF4-FFF2-40B4-BE49-F238E27FC236}">
                <a16:creationId xmlns:a16="http://schemas.microsoft.com/office/drawing/2014/main" id="{59DFB037-52D5-B4A0-05B6-4A8DBA80D663}"/>
              </a:ext>
            </a:extLst>
          </p:cNvPr>
          <p:cNvSpPr txBox="1">
            <a:spLocks noChangeArrowheads="1"/>
          </p:cNvSpPr>
          <p:nvPr/>
        </p:nvSpPr>
        <p:spPr bwMode="auto">
          <a:xfrm>
            <a:off x="7556836" y="5231819"/>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grpSp>
        <p:nvGrpSpPr>
          <p:cNvPr id="75" name="Group 7">
            <a:extLst>
              <a:ext uri="{FF2B5EF4-FFF2-40B4-BE49-F238E27FC236}">
                <a16:creationId xmlns:a16="http://schemas.microsoft.com/office/drawing/2014/main" id="{0BADE5A3-2D88-4480-DCA1-4A268ADC92EA}"/>
              </a:ext>
            </a:extLst>
          </p:cNvPr>
          <p:cNvGrpSpPr>
            <a:grpSpLocks/>
          </p:cNvGrpSpPr>
          <p:nvPr/>
        </p:nvGrpSpPr>
        <p:grpSpPr bwMode="auto">
          <a:xfrm>
            <a:off x="9042958" y="4568437"/>
            <a:ext cx="533400" cy="533400"/>
            <a:chOff x="1824" y="2736"/>
            <a:chExt cx="336" cy="336"/>
          </a:xfrm>
        </p:grpSpPr>
        <p:sp>
          <p:nvSpPr>
            <p:cNvPr id="76" name="Oval 8">
              <a:extLst>
                <a:ext uri="{FF2B5EF4-FFF2-40B4-BE49-F238E27FC236}">
                  <a16:creationId xmlns:a16="http://schemas.microsoft.com/office/drawing/2014/main" id="{F8BDDDB5-06DC-08B1-C968-4DC0EB0C5005}"/>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77" name="Text Box 9">
              <a:extLst>
                <a:ext uri="{FF2B5EF4-FFF2-40B4-BE49-F238E27FC236}">
                  <a16:creationId xmlns:a16="http://schemas.microsoft.com/office/drawing/2014/main" id="{79BA7412-58DB-C4B0-63FC-7907C54D5C8F}"/>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E</a:t>
              </a:r>
            </a:p>
          </p:txBody>
        </p:sp>
      </p:grpSp>
      <p:sp>
        <p:nvSpPr>
          <p:cNvPr id="78" name="Line 19">
            <a:extLst>
              <a:ext uri="{FF2B5EF4-FFF2-40B4-BE49-F238E27FC236}">
                <a16:creationId xmlns:a16="http://schemas.microsoft.com/office/drawing/2014/main" id="{5B63E60F-82EC-C3B8-8A98-5EAB4C9A5CD3}"/>
              </a:ext>
            </a:extLst>
          </p:cNvPr>
          <p:cNvSpPr>
            <a:spLocks noChangeShapeType="1"/>
          </p:cNvSpPr>
          <p:nvPr/>
        </p:nvSpPr>
        <p:spPr bwMode="auto">
          <a:xfrm>
            <a:off x="8385376" y="4870589"/>
            <a:ext cx="674814" cy="1"/>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79" name="Text Box 26">
            <a:extLst>
              <a:ext uri="{FF2B5EF4-FFF2-40B4-BE49-F238E27FC236}">
                <a16:creationId xmlns:a16="http://schemas.microsoft.com/office/drawing/2014/main" id="{7BD38426-38FC-51B6-68D4-CAD462128962}"/>
              </a:ext>
            </a:extLst>
          </p:cNvPr>
          <p:cNvSpPr txBox="1">
            <a:spLocks noChangeArrowheads="1"/>
          </p:cNvSpPr>
          <p:nvPr/>
        </p:nvSpPr>
        <p:spPr bwMode="auto">
          <a:xfrm>
            <a:off x="8580547" y="4547379"/>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sp>
        <p:nvSpPr>
          <p:cNvPr id="2" name="Arrow: Right 1">
            <a:extLst>
              <a:ext uri="{FF2B5EF4-FFF2-40B4-BE49-F238E27FC236}">
                <a16:creationId xmlns:a16="http://schemas.microsoft.com/office/drawing/2014/main" id="{F8B6ED20-4F8D-1467-63E2-AEA6D733F0CA}"/>
              </a:ext>
            </a:extLst>
          </p:cNvPr>
          <p:cNvSpPr/>
          <p:nvPr/>
        </p:nvSpPr>
        <p:spPr>
          <a:xfrm>
            <a:off x="494584" y="4602990"/>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a:extLst>
              <a:ext uri="{FF2B5EF4-FFF2-40B4-BE49-F238E27FC236}">
                <a16:creationId xmlns:a16="http://schemas.microsoft.com/office/drawing/2014/main" id="{5BBEE92F-7E7D-7031-0BD6-28B453F18C5B}"/>
              </a:ext>
            </a:extLst>
          </p:cNvPr>
          <p:cNvSpPr txBox="1"/>
          <p:nvPr/>
        </p:nvSpPr>
        <p:spPr>
          <a:xfrm>
            <a:off x="445727" y="4290869"/>
            <a:ext cx="753731"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E</a:t>
            </a:r>
            <a:endParaRPr lang="en-SE" sz="1800" kern="1200" dirty="0">
              <a:solidFill>
                <a:prstClr val="black"/>
              </a:solidFill>
              <a:latin typeface="Calibri"/>
              <a:ea typeface="+mn-ea"/>
              <a:cs typeface="+mn-cs"/>
            </a:endParaRPr>
          </a:p>
        </p:txBody>
      </p:sp>
    </p:spTree>
    <p:extLst>
      <p:ext uri="{BB962C8B-B14F-4D97-AF65-F5344CB8AC3E}">
        <p14:creationId xmlns:p14="http://schemas.microsoft.com/office/powerpoint/2010/main" val="18121565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7E65FD6-F654-1B5E-85B0-D1E8FA21A36F}"/>
              </a:ext>
            </a:extLst>
          </p:cNvPr>
          <p:cNvSpPr>
            <a:spLocks noGrp="1"/>
          </p:cNvSpPr>
          <p:nvPr>
            <p:ph type="body" idx="1"/>
          </p:nvPr>
        </p:nvSpPr>
        <p:spPr>
          <a:xfrm>
            <a:off x="746173" y="1568275"/>
            <a:ext cx="10128303" cy="4665850"/>
          </a:xfrm>
        </p:spPr>
        <p:txBody>
          <a:bodyPr/>
          <a:lstStyle/>
          <a:p>
            <a:r>
              <a:rPr lang="en-GB" dirty="0"/>
              <a:t>Dijkstra’s Algorithm is greedy: each node is visited once, and any node that has been visited should have its shortest distance from the source.</a:t>
            </a:r>
          </a:p>
          <a:p>
            <a:r>
              <a:rPr lang="en-GB" dirty="0"/>
              <a:t>After visiting A, C, D, E, we have computed D’s SD is 2, but after visiting B, D’s SD is updated to -10, which violates the greedy optimal assumption. </a:t>
            </a:r>
          </a:p>
          <a:p>
            <a:r>
              <a:rPr lang="en-GB" dirty="0"/>
              <a:t>Even if we update D’s SD to be -10, its downstream node E’s SD will not be updated.</a:t>
            </a:r>
          </a:p>
          <a:p>
            <a:r>
              <a:rPr lang="en-GB" dirty="0"/>
              <a:t>We cannot visit B before D, since we must visit the closest unknown node (with smallest SD), which is D. (Unlike topological sort, which visits B before D and gets the correct result,)</a:t>
            </a:r>
          </a:p>
        </p:txBody>
      </p:sp>
      <p:sp>
        <p:nvSpPr>
          <p:cNvPr id="6" name="Title 1">
            <a:extLst>
              <a:ext uri="{FF2B5EF4-FFF2-40B4-BE49-F238E27FC236}">
                <a16:creationId xmlns:a16="http://schemas.microsoft.com/office/drawing/2014/main" id="{6EF8DC82-4E5E-6AC3-A12A-B2986DF79FEF}"/>
              </a:ext>
            </a:extLst>
          </p:cNvPr>
          <p:cNvSpPr>
            <a:spLocks noGrp="1"/>
          </p:cNvSpPr>
          <p:nvPr>
            <p:ph type="title"/>
          </p:nvPr>
        </p:nvSpPr>
        <p:spPr>
          <a:xfrm>
            <a:off x="575239" y="263276"/>
            <a:ext cx="11187000" cy="1014900"/>
          </a:xfrm>
        </p:spPr>
        <p:txBody>
          <a:bodyPr>
            <a:normAutofit fontScale="90000"/>
          </a:bodyPr>
          <a:lstStyle/>
          <a:p>
            <a:r>
              <a:rPr lang="en-GB" dirty="0"/>
              <a:t>Dijkstra’s algorithm does not work for a graph w/ negative edge weights</a:t>
            </a:r>
            <a:endParaRPr lang="en-SE" dirty="0"/>
          </a:p>
        </p:txBody>
      </p:sp>
    </p:spTree>
    <p:extLst>
      <p:ext uri="{BB962C8B-B14F-4D97-AF65-F5344CB8AC3E}">
        <p14:creationId xmlns:p14="http://schemas.microsoft.com/office/powerpoint/2010/main" val="10667737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a:extLst>
              <a:ext uri="{FF2B5EF4-FFF2-40B4-BE49-F238E27FC236}">
                <a16:creationId xmlns:a16="http://schemas.microsoft.com/office/drawing/2014/main" id="{4B919293-25D3-DAB2-1E78-02966FA6F151}"/>
              </a:ext>
            </a:extLst>
          </p:cNvPr>
          <p:cNvGrpSpPr>
            <a:grpSpLocks/>
          </p:cNvGrpSpPr>
          <p:nvPr/>
        </p:nvGrpSpPr>
        <p:grpSpPr bwMode="auto">
          <a:xfrm>
            <a:off x="5114815" y="5300402"/>
            <a:ext cx="533400" cy="533400"/>
            <a:chOff x="1824" y="2736"/>
            <a:chExt cx="336" cy="336"/>
          </a:xfrm>
        </p:grpSpPr>
        <p:sp>
          <p:nvSpPr>
            <p:cNvPr id="5" name="Oval 5">
              <a:extLst>
                <a:ext uri="{FF2B5EF4-FFF2-40B4-BE49-F238E27FC236}">
                  <a16:creationId xmlns:a16="http://schemas.microsoft.com/office/drawing/2014/main" id="{E0B6E19E-27B0-8E56-E874-B466EB13120A}"/>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 name="Text Box 6">
              <a:extLst>
                <a:ext uri="{FF2B5EF4-FFF2-40B4-BE49-F238E27FC236}">
                  <a16:creationId xmlns:a16="http://schemas.microsoft.com/office/drawing/2014/main" id="{494AE71A-3200-2AA7-50D9-A118D24C86F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A</a:t>
              </a:r>
            </a:p>
          </p:txBody>
        </p:sp>
      </p:grpSp>
      <p:grpSp>
        <p:nvGrpSpPr>
          <p:cNvPr id="7" name="Group 7">
            <a:extLst>
              <a:ext uri="{FF2B5EF4-FFF2-40B4-BE49-F238E27FC236}">
                <a16:creationId xmlns:a16="http://schemas.microsoft.com/office/drawing/2014/main" id="{791A0F2F-1AD3-C7F3-1583-72A734B34274}"/>
              </a:ext>
            </a:extLst>
          </p:cNvPr>
          <p:cNvGrpSpPr>
            <a:grpSpLocks/>
          </p:cNvGrpSpPr>
          <p:nvPr/>
        </p:nvGrpSpPr>
        <p:grpSpPr bwMode="auto">
          <a:xfrm>
            <a:off x="6257815" y="4386002"/>
            <a:ext cx="533400" cy="533400"/>
            <a:chOff x="1824" y="2736"/>
            <a:chExt cx="336" cy="336"/>
          </a:xfrm>
        </p:grpSpPr>
        <p:sp>
          <p:nvSpPr>
            <p:cNvPr id="8" name="Oval 8">
              <a:extLst>
                <a:ext uri="{FF2B5EF4-FFF2-40B4-BE49-F238E27FC236}">
                  <a16:creationId xmlns:a16="http://schemas.microsoft.com/office/drawing/2014/main" id="{BE987978-6951-80E6-C8C6-BD178D25C863}"/>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9" name="Text Box 9">
              <a:extLst>
                <a:ext uri="{FF2B5EF4-FFF2-40B4-BE49-F238E27FC236}">
                  <a16:creationId xmlns:a16="http://schemas.microsoft.com/office/drawing/2014/main" id="{561915DF-B458-BC79-0C3C-2FE3FA60966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B</a:t>
              </a:r>
            </a:p>
          </p:txBody>
        </p:sp>
      </p:grpSp>
      <p:grpSp>
        <p:nvGrpSpPr>
          <p:cNvPr id="10" name="Group 10">
            <a:extLst>
              <a:ext uri="{FF2B5EF4-FFF2-40B4-BE49-F238E27FC236}">
                <a16:creationId xmlns:a16="http://schemas.microsoft.com/office/drawing/2014/main" id="{C8BF327B-61A3-12C6-9677-2EBE66EE0F27}"/>
              </a:ext>
            </a:extLst>
          </p:cNvPr>
          <p:cNvGrpSpPr>
            <a:grpSpLocks/>
          </p:cNvGrpSpPr>
          <p:nvPr/>
        </p:nvGrpSpPr>
        <p:grpSpPr bwMode="auto">
          <a:xfrm>
            <a:off x="6257815" y="6062402"/>
            <a:ext cx="533400" cy="533400"/>
            <a:chOff x="1824" y="2736"/>
            <a:chExt cx="336" cy="336"/>
          </a:xfrm>
        </p:grpSpPr>
        <p:sp>
          <p:nvSpPr>
            <p:cNvPr id="11" name="Oval 11">
              <a:extLst>
                <a:ext uri="{FF2B5EF4-FFF2-40B4-BE49-F238E27FC236}">
                  <a16:creationId xmlns:a16="http://schemas.microsoft.com/office/drawing/2014/main" id="{13D1B4F7-FFC4-1290-BF76-1FDEDA7C83C8}"/>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2" name="Text Box 12">
              <a:extLst>
                <a:ext uri="{FF2B5EF4-FFF2-40B4-BE49-F238E27FC236}">
                  <a16:creationId xmlns:a16="http://schemas.microsoft.com/office/drawing/2014/main" id="{50018F98-A206-8801-991C-968F8122556F}"/>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C</a:t>
              </a:r>
            </a:p>
          </p:txBody>
        </p:sp>
      </p:grpSp>
      <p:sp>
        <p:nvSpPr>
          <p:cNvPr id="13" name="Line 19">
            <a:extLst>
              <a:ext uri="{FF2B5EF4-FFF2-40B4-BE49-F238E27FC236}">
                <a16:creationId xmlns:a16="http://schemas.microsoft.com/office/drawing/2014/main" id="{E8BF3C59-AADC-C774-50FB-F49096FD64C5}"/>
              </a:ext>
            </a:extLst>
          </p:cNvPr>
          <p:cNvSpPr>
            <a:spLocks noChangeShapeType="1"/>
          </p:cNvSpPr>
          <p:nvPr/>
        </p:nvSpPr>
        <p:spPr bwMode="auto">
          <a:xfrm flipV="1">
            <a:off x="5572015" y="4843202"/>
            <a:ext cx="762000" cy="53340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14" name="Line 20">
            <a:extLst>
              <a:ext uri="{FF2B5EF4-FFF2-40B4-BE49-F238E27FC236}">
                <a16:creationId xmlns:a16="http://schemas.microsoft.com/office/drawing/2014/main" id="{B08801CE-32EB-AFBA-9CE0-762C0219745C}"/>
              </a:ext>
            </a:extLst>
          </p:cNvPr>
          <p:cNvSpPr>
            <a:spLocks noChangeShapeType="1"/>
          </p:cNvSpPr>
          <p:nvPr/>
        </p:nvSpPr>
        <p:spPr bwMode="auto">
          <a:xfrm>
            <a:off x="5572015" y="5757602"/>
            <a:ext cx="723900" cy="49394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a:ln>
                <a:noFill/>
              </a:ln>
              <a:solidFill>
                <a:srgbClr val="000000"/>
              </a:solidFill>
              <a:effectLst/>
              <a:uLnTx/>
              <a:uFillTx/>
              <a:latin typeface="Calibri"/>
              <a:ea typeface="+mn-ea"/>
              <a:cs typeface="+mn-cs"/>
            </a:endParaRPr>
          </a:p>
        </p:txBody>
      </p:sp>
      <p:sp>
        <p:nvSpPr>
          <p:cNvPr id="15" name="Text Box 26">
            <a:extLst>
              <a:ext uri="{FF2B5EF4-FFF2-40B4-BE49-F238E27FC236}">
                <a16:creationId xmlns:a16="http://schemas.microsoft.com/office/drawing/2014/main" id="{15B9CE61-8025-1861-81BC-49FAC2BDBDA2}"/>
              </a:ext>
            </a:extLst>
          </p:cNvPr>
          <p:cNvSpPr txBox="1">
            <a:spLocks noChangeArrowheads="1"/>
          </p:cNvSpPr>
          <p:nvPr/>
        </p:nvSpPr>
        <p:spPr bwMode="auto">
          <a:xfrm>
            <a:off x="5715876" y="59242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a:latin typeface="Arial" panose="020B0604020202020204" pitchFamily="34" charset="0"/>
                <a:ea typeface="+mn-ea"/>
                <a:cs typeface="+mn-cs"/>
              </a:rPr>
              <a:t>1</a:t>
            </a:r>
          </a:p>
        </p:txBody>
      </p:sp>
      <p:sp>
        <p:nvSpPr>
          <p:cNvPr id="16" name="Text Box 28">
            <a:extLst>
              <a:ext uri="{FF2B5EF4-FFF2-40B4-BE49-F238E27FC236}">
                <a16:creationId xmlns:a16="http://schemas.microsoft.com/office/drawing/2014/main" id="{557A4BA5-4D85-DDA6-8136-49601D4C8CD0}"/>
              </a:ext>
            </a:extLst>
          </p:cNvPr>
          <p:cNvSpPr txBox="1">
            <a:spLocks noChangeArrowheads="1"/>
          </p:cNvSpPr>
          <p:nvPr/>
        </p:nvSpPr>
        <p:spPr bwMode="auto">
          <a:xfrm>
            <a:off x="5572015" y="4764382"/>
            <a:ext cx="5714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10</a:t>
            </a:r>
          </a:p>
        </p:txBody>
      </p:sp>
      <p:grpSp>
        <p:nvGrpSpPr>
          <p:cNvPr id="17" name="Group 7">
            <a:extLst>
              <a:ext uri="{FF2B5EF4-FFF2-40B4-BE49-F238E27FC236}">
                <a16:creationId xmlns:a16="http://schemas.microsoft.com/office/drawing/2014/main" id="{91DF1BB9-6542-A2B0-5A4F-A0B250E8E11C}"/>
              </a:ext>
            </a:extLst>
          </p:cNvPr>
          <p:cNvGrpSpPr>
            <a:grpSpLocks/>
          </p:cNvGrpSpPr>
          <p:nvPr/>
        </p:nvGrpSpPr>
        <p:grpSpPr bwMode="auto">
          <a:xfrm>
            <a:off x="7438915" y="5221448"/>
            <a:ext cx="533400" cy="533400"/>
            <a:chOff x="1824" y="2736"/>
            <a:chExt cx="336" cy="336"/>
          </a:xfrm>
        </p:grpSpPr>
        <p:sp>
          <p:nvSpPr>
            <p:cNvPr id="18" name="Oval 8">
              <a:extLst>
                <a:ext uri="{FF2B5EF4-FFF2-40B4-BE49-F238E27FC236}">
                  <a16:creationId xmlns:a16="http://schemas.microsoft.com/office/drawing/2014/main" id="{E5965AEB-16B1-FE5B-0A23-B87738B07D14}"/>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9" name="Text Box 9">
              <a:extLst>
                <a:ext uri="{FF2B5EF4-FFF2-40B4-BE49-F238E27FC236}">
                  <a16:creationId xmlns:a16="http://schemas.microsoft.com/office/drawing/2014/main" id="{F9ED3991-3056-37E1-F315-56EFE83BFB6B}"/>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D</a:t>
              </a:r>
            </a:p>
          </p:txBody>
        </p:sp>
      </p:grpSp>
      <p:sp>
        <p:nvSpPr>
          <p:cNvPr id="20" name="Line 19">
            <a:extLst>
              <a:ext uri="{FF2B5EF4-FFF2-40B4-BE49-F238E27FC236}">
                <a16:creationId xmlns:a16="http://schemas.microsoft.com/office/drawing/2014/main" id="{5682C945-628B-C0DA-714D-2588D6E6419E}"/>
              </a:ext>
            </a:extLst>
          </p:cNvPr>
          <p:cNvSpPr>
            <a:spLocks noChangeShapeType="1"/>
          </p:cNvSpPr>
          <p:nvPr/>
        </p:nvSpPr>
        <p:spPr bwMode="auto">
          <a:xfrm>
            <a:off x="6791215" y="4820188"/>
            <a:ext cx="685801" cy="533399"/>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1" name="Line 19">
            <a:extLst>
              <a:ext uri="{FF2B5EF4-FFF2-40B4-BE49-F238E27FC236}">
                <a16:creationId xmlns:a16="http://schemas.microsoft.com/office/drawing/2014/main" id="{CEEDA6DA-9957-A8EB-E7C1-37FB6D92ECBF}"/>
              </a:ext>
            </a:extLst>
          </p:cNvPr>
          <p:cNvSpPr>
            <a:spLocks noChangeShapeType="1"/>
          </p:cNvSpPr>
          <p:nvPr/>
        </p:nvSpPr>
        <p:spPr bwMode="auto">
          <a:xfrm flipV="1">
            <a:off x="6803505" y="5678649"/>
            <a:ext cx="711610" cy="572893"/>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2" name="Text Box 28">
            <a:extLst>
              <a:ext uri="{FF2B5EF4-FFF2-40B4-BE49-F238E27FC236}">
                <a16:creationId xmlns:a16="http://schemas.microsoft.com/office/drawing/2014/main" id="{4EB1B9A9-2FCA-5DB1-F7E3-9E237E160591}"/>
              </a:ext>
            </a:extLst>
          </p:cNvPr>
          <p:cNvSpPr txBox="1">
            <a:spLocks noChangeArrowheads="1"/>
          </p:cNvSpPr>
          <p:nvPr/>
        </p:nvSpPr>
        <p:spPr bwMode="auto">
          <a:xfrm>
            <a:off x="6962665" y="4764382"/>
            <a:ext cx="8191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-20</a:t>
            </a:r>
          </a:p>
        </p:txBody>
      </p:sp>
      <p:sp>
        <p:nvSpPr>
          <p:cNvPr id="23" name="Text Box 26">
            <a:extLst>
              <a:ext uri="{FF2B5EF4-FFF2-40B4-BE49-F238E27FC236}">
                <a16:creationId xmlns:a16="http://schemas.microsoft.com/office/drawing/2014/main" id="{8E17F3BA-1BAA-1040-CA90-CCBE6B05C49B}"/>
              </a:ext>
            </a:extLst>
          </p:cNvPr>
          <p:cNvSpPr txBox="1">
            <a:spLocks noChangeArrowheads="1"/>
          </p:cNvSpPr>
          <p:nvPr/>
        </p:nvSpPr>
        <p:spPr bwMode="auto">
          <a:xfrm>
            <a:off x="7116661" y="588483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mc:AlternateContent xmlns:mc="http://schemas.openxmlformats.org/markup-compatibility/2006" xmlns:a14="http://schemas.microsoft.com/office/drawing/2010/main">
        <mc:Choice Requires="a14">
          <p:graphicFrame>
            <p:nvGraphicFramePr>
              <p:cNvPr id="24" name="Content Placeholder 4">
                <a:extLst>
                  <a:ext uri="{FF2B5EF4-FFF2-40B4-BE49-F238E27FC236}">
                    <a16:creationId xmlns:a16="http://schemas.microsoft.com/office/drawing/2014/main" id="{2045A80B-E9AC-2762-71A5-4E1494A28997}"/>
                  </a:ext>
                </a:extLst>
              </p:cNvPr>
              <p:cNvGraphicFramePr>
                <a:graphicFrameLocks/>
              </p:cNvGraphicFramePr>
              <p:nvPr>
                <p:extLst>
                  <p:ext uri="{D42A27DB-BD31-4B8C-83A1-F6EECF244321}">
                    <p14:modId xmlns:p14="http://schemas.microsoft.com/office/powerpoint/2010/main" val="2708269293"/>
                  </p:ext>
                </p:extLst>
              </p:nvPr>
            </p:nvGraphicFramePr>
            <p:xfrm>
              <a:off x="3172615" y="194001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688964126"/>
                      </a:ext>
                    </a:extLst>
                  </a:tr>
                </a:tbl>
              </a:graphicData>
            </a:graphic>
          </p:graphicFrame>
        </mc:Choice>
        <mc:Fallback xmlns="">
          <p:graphicFrame>
            <p:nvGraphicFramePr>
              <p:cNvPr id="24" name="Content Placeholder 4">
                <a:extLst>
                  <a:ext uri="{FF2B5EF4-FFF2-40B4-BE49-F238E27FC236}">
                    <a16:creationId xmlns:a16="http://schemas.microsoft.com/office/drawing/2014/main" id="{2045A80B-E9AC-2762-71A5-4E1494A28997}"/>
                  </a:ext>
                </a:extLst>
              </p:cNvPr>
              <p:cNvGraphicFramePr>
                <a:graphicFrameLocks/>
              </p:cNvGraphicFramePr>
              <p:nvPr>
                <p:extLst>
                  <p:ext uri="{D42A27DB-BD31-4B8C-83A1-F6EECF244321}">
                    <p14:modId xmlns:p14="http://schemas.microsoft.com/office/powerpoint/2010/main" val="2708269293"/>
                  </p:ext>
                </p:extLst>
              </p:nvPr>
            </p:nvGraphicFramePr>
            <p:xfrm>
              <a:off x="3172615" y="194001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208197" r="-107792" b="-3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308197" r="-107792" b="-2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408197" r="-107792" b="-1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508197" r="-107792" b="-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688964126"/>
                      </a:ext>
                    </a:extLst>
                  </a:tr>
                </a:tbl>
              </a:graphicData>
            </a:graphic>
          </p:graphicFrame>
        </mc:Fallback>
      </mc:AlternateContent>
      <p:sp>
        <p:nvSpPr>
          <p:cNvPr id="25" name="Arrow: Right 24">
            <a:extLst>
              <a:ext uri="{FF2B5EF4-FFF2-40B4-BE49-F238E27FC236}">
                <a16:creationId xmlns:a16="http://schemas.microsoft.com/office/drawing/2014/main" id="{A00E4B4B-1A60-B27D-1191-42E25B41EC29}"/>
              </a:ext>
            </a:extLst>
          </p:cNvPr>
          <p:cNvSpPr/>
          <p:nvPr/>
        </p:nvSpPr>
        <p:spPr>
          <a:xfrm>
            <a:off x="4679892" y="267429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TextBox 25">
            <a:extLst>
              <a:ext uri="{FF2B5EF4-FFF2-40B4-BE49-F238E27FC236}">
                <a16:creationId xmlns:a16="http://schemas.microsoft.com/office/drawing/2014/main" id="{E7B24418-5AAA-5448-80CB-CFA5C45E4FEC}"/>
              </a:ext>
            </a:extLst>
          </p:cNvPr>
          <p:cNvSpPr txBox="1"/>
          <p:nvPr/>
        </p:nvSpPr>
        <p:spPr>
          <a:xfrm>
            <a:off x="4706727" y="2372241"/>
            <a:ext cx="682303" cy="369332"/>
          </a:xfrm>
          <a:prstGeom prst="rect">
            <a:avLst/>
          </a:prstGeom>
          <a:noFill/>
        </p:spPr>
        <p:txBody>
          <a:bodyPr wrap="none" rtlCol="0">
            <a:spAutoFit/>
          </a:bodyPr>
          <a:lstStyle/>
          <a:p>
            <a:pPr algn="ctr" defTabSz="457200">
              <a:buClrTx/>
              <a:buFontTx/>
              <a:buNone/>
            </a:pPr>
            <a:r>
              <a:rPr lang="en-GB" sz="1800" kern="1200" dirty="0" err="1">
                <a:solidFill>
                  <a:prstClr val="black"/>
                </a:solidFill>
                <a:latin typeface="Calibri"/>
                <a:ea typeface="+mn-ea"/>
                <a:cs typeface="+mn-cs"/>
              </a:rPr>
              <a:t>Iter</a:t>
            </a:r>
            <a:r>
              <a:rPr lang="en-GB" sz="1800" kern="1200" dirty="0">
                <a:solidFill>
                  <a:prstClr val="black"/>
                </a:solidFill>
                <a:latin typeface="Calibri"/>
                <a:ea typeface="+mn-ea"/>
                <a:cs typeface="+mn-cs"/>
              </a:rPr>
              <a:t> 1</a:t>
            </a:r>
            <a:endParaRPr lang="en-SE" sz="1800" kern="1200" dirty="0">
              <a:solidFill>
                <a:prstClr val="black"/>
              </a:solidFill>
              <a:latin typeface="Calibri"/>
              <a:ea typeface="+mn-ea"/>
              <a:cs typeface="+mn-cs"/>
            </a:endParaRPr>
          </a:p>
        </p:txBody>
      </p:sp>
      <p:sp>
        <p:nvSpPr>
          <p:cNvPr id="27" name="Arrow: Right 26">
            <a:extLst>
              <a:ext uri="{FF2B5EF4-FFF2-40B4-BE49-F238E27FC236}">
                <a16:creationId xmlns:a16="http://schemas.microsoft.com/office/drawing/2014/main" id="{9953D331-0E46-D844-FF0C-55808969EC20}"/>
              </a:ext>
            </a:extLst>
          </p:cNvPr>
          <p:cNvSpPr/>
          <p:nvPr/>
        </p:nvSpPr>
        <p:spPr>
          <a:xfrm>
            <a:off x="7166306" y="267429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28" name="TextBox 27">
            <a:extLst>
              <a:ext uri="{FF2B5EF4-FFF2-40B4-BE49-F238E27FC236}">
                <a16:creationId xmlns:a16="http://schemas.microsoft.com/office/drawing/2014/main" id="{25CB2703-6F50-C86A-67B7-FCCE9B821C43}"/>
              </a:ext>
            </a:extLst>
          </p:cNvPr>
          <p:cNvSpPr txBox="1"/>
          <p:nvPr/>
        </p:nvSpPr>
        <p:spPr>
          <a:xfrm>
            <a:off x="7211573" y="2372241"/>
            <a:ext cx="682303" cy="369332"/>
          </a:xfrm>
          <a:prstGeom prst="rect">
            <a:avLst/>
          </a:prstGeom>
          <a:noFill/>
        </p:spPr>
        <p:txBody>
          <a:bodyPr wrap="none" rtlCol="0">
            <a:spAutoFit/>
          </a:bodyPr>
          <a:lstStyle/>
          <a:p>
            <a:pPr algn="ctr" defTabSz="457200">
              <a:buClrTx/>
              <a:buFontTx/>
              <a:buNone/>
            </a:pPr>
            <a:r>
              <a:rPr lang="en-GB" sz="1800" kern="1200" dirty="0" err="1">
                <a:solidFill>
                  <a:prstClr val="black"/>
                </a:solidFill>
                <a:latin typeface="Calibri"/>
                <a:ea typeface="+mn-ea"/>
                <a:cs typeface="+mn-cs"/>
              </a:rPr>
              <a:t>Iter</a:t>
            </a:r>
            <a:r>
              <a:rPr lang="en-GB" sz="1800" kern="1200" dirty="0">
                <a:solidFill>
                  <a:prstClr val="black"/>
                </a:solidFill>
                <a:latin typeface="Calibri"/>
                <a:ea typeface="+mn-ea"/>
                <a:cs typeface="+mn-cs"/>
              </a:rPr>
              <a:t> 2</a:t>
            </a:r>
            <a:endParaRPr lang="en-SE" sz="1800" kern="1200" dirty="0">
              <a:solidFill>
                <a:prstClr val="black"/>
              </a:solidFill>
              <a:latin typeface="Calibri"/>
              <a:ea typeface="+mn-ea"/>
              <a:cs typeface="+mn-cs"/>
            </a:endParaRPr>
          </a:p>
        </p:txBody>
      </p:sp>
      <p:graphicFrame>
        <p:nvGraphicFramePr>
          <p:cNvPr id="29" name="Content Placeholder 4">
            <a:extLst>
              <a:ext uri="{FF2B5EF4-FFF2-40B4-BE49-F238E27FC236}">
                <a16:creationId xmlns:a16="http://schemas.microsoft.com/office/drawing/2014/main" id="{E66DE5A0-B58D-51AA-1F56-DE3073891F79}"/>
              </a:ext>
            </a:extLst>
          </p:cNvPr>
          <p:cNvGraphicFramePr>
            <a:graphicFrameLocks/>
          </p:cNvGraphicFramePr>
          <p:nvPr>
            <p:extLst>
              <p:ext uri="{D42A27DB-BD31-4B8C-83A1-F6EECF244321}">
                <p14:modId xmlns:p14="http://schemas.microsoft.com/office/powerpoint/2010/main" val="1638047953"/>
              </p:ext>
            </p:extLst>
          </p:nvPr>
        </p:nvGraphicFramePr>
        <p:xfrm>
          <a:off x="5616386" y="1940011"/>
          <a:ext cx="1462045" cy="2225040"/>
        </p:xfrm>
        <a:graphic>
          <a:graphicData uri="http://schemas.openxmlformats.org/drawingml/2006/table">
            <a:tbl>
              <a:tblPr firstRow="1" bandRow="1"/>
              <a:tblGrid>
                <a:gridCol w="479110">
                  <a:extLst>
                    <a:ext uri="{9D8B030D-6E8A-4147-A177-3AD203B41FA5}">
                      <a16:colId xmlns:a16="http://schemas.microsoft.com/office/drawing/2014/main" val="1437393818"/>
                    </a:ext>
                  </a:extLst>
                </a:gridCol>
                <a:gridCol w="485819">
                  <a:extLst>
                    <a:ext uri="{9D8B030D-6E8A-4147-A177-3AD203B41FA5}">
                      <a16:colId xmlns:a16="http://schemas.microsoft.com/office/drawing/2014/main" val="3865283362"/>
                    </a:ext>
                  </a:extLst>
                </a:gridCol>
                <a:gridCol w="497116">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B</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rgbClr val="FF0000"/>
                          </a:solidFill>
                        </a:rPr>
                        <a:t>-9</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D</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85280513"/>
                  </a:ext>
                </a:extLst>
              </a:tr>
            </a:tbl>
          </a:graphicData>
        </a:graphic>
      </p:graphicFrame>
      <p:graphicFrame>
        <p:nvGraphicFramePr>
          <p:cNvPr id="30" name="Content Placeholder 4">
            <a:extLst>
              <a:ext uri="{FF2B5EF4-FFF2-40B4-BE49-F238E27FC236}">
                <a16:creationId xmlns:a16="http://schemas.microsoft.com/office/drawing/2014/main" id="{1217BA47-BFE3-28F2-5FAD-6DB2839D55B3}"/>
              </a:ext>
            </a:extLst>
          </p:cNvPr>
          <p:cNvGraphicFramePr>
            <a:graphicFrameLocks/>
          </p:cNvGraphicFramePr>
          <p:nvPr>
            <p:extLst>
              <p:ext uri="{D42A27DB-BD31-4B8C-83A1-F6EECF244321}">
                <p14:modId xmlns:p14="http://schemas.microsoft.com/office/powerpoint/2010/main" val="647624876"/>
              </p:ext>
            </p:extLst>
          </p:nvPr>
        </p:nvGraphicFramePr>
        <p:xfrm>
          <a:off x="8070177" y="1940011"/>
          <a:ext cx="1462045" cy="2225040"/>
        </p:xfrm>
        <a:graphic>
          <a:graphicData uri="http://schemas.openxmlformats.org/drawingml/2006/table">
            <a:tbl>
              <a:tblPr firstRow="1" bandRow="1"/>
              <a:tblGrid>
                <a:gridCol w="479110">
                  <a:extLst>
                    <a:ext uri="{9D8B030D-6E8A-4147-A177-3AD203B41FA5}">
                      <a16:colId xmlns:a16="http://schemas.microsoft.com/office/drawing/2014/main" val="1437393818"/>
                    </a:ext>
                  </a:extLst>
                </a:gridCol>
                <a:gridCol w="485819">
                  <a:extLst>
                    <a:ext uri="{9D8B030D-6E8A-4147-A177-3AD203B41FA5}">
                      <a16:colId xmlns:a16="http://schemas.microsoft.com/office/drawing/2014/main" val="3865283362"/>
                    </a:ext>
                  </a:extLst>
                </a:gridCol>
                <a:gridCol w="497116">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-9</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767273385"/>
                  </a:ext>
                </a:extLst>
              </a:tr>
            </a:tbl>
          </a:graphicData>
        </a:graphic>
      </p:graphicFrame>
      <p:sp>
        <p:nvSpPr>
          <p:cNvPr id="31" name="TextBox 30">
            <a:extLst>
              <a:ext uri="{FF2B5EF4-FFF2-40B4-BE49-F238E27FC236}">
                <a16:creationId xmlns:a16="http://schemas.microsoft.com/office/drawing/2014/main" id="{AF84C5BB-653A-FD1F-6715-21246B579158}"/>
              </a:ext>
            </a:extLst>
          </p:cNvPr>
          <p:cNvSpPr txBox="1"/>
          <p:nvPr/>
        </p:nvSpPr>
        <p:spPr>
          <a:xfrm>
            <a:off x="6983140" y="2961552"/>
            <a:ext cx="1183016" cy="646331"/>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No change</a:t>
            </a:r>
          </a:p>
          <a:p>
            <a:pPr algn="ctr" defTabSz="457200">
              <a:buClrTx/>
              <a:buFontTx/>
              <a:buNone/>
            </a:pPr>
            <a:r>
              <a:rPr lang="en-GB" sz="1800" kern="1200" dirty="0">
                <a:solidFill>
                  <a:prstClr val="black"/>
                </a:solidFill>
                <a:latin typeface="Calibri"/>
                <a:ea typeface="+mn-ea"/>
                <a:cs typeface="+mn-cs"/>
              </a:rPr>
              <a:t>converged</a:t>
            </a:r>
            <a:endParaRPr lang="en-SE" sz="1800" kern="1200" dirty="0">
              <a:solidFill>
                <a:prstClr val="black"/>
              </a:solidFill>
              <a:latin typeface="Calibri"/>
              <a:ea typeface="+mn-ea"/>
              <a:cs typeface="+mn-cs"/>
            </a:endParaRPr>
          </a:p>
        </p:txBody>
      </p:sp>
      <p:grpSp>
        <p:nvGrpSpPr>
          <p:cNvPr id="32" name="Group 7">
            <a:extLst>
              <a:ext uri="{FF2B5EF4-FFF2-40B4-BE49-F238E27FC236}">
                <a16:creationId xmlns:a16="http://schemas.microsoft.com/office/drawing/2014/main" id="{7EDBFB67-22AE-21AE-BBEC-DB701B13CB03}"/>
              </a:ext>
            </a:extLst>
          </p:cNvPr>
          <p:cNvGrpSpPr>
            <a:grpSpLocks/>
          </p:cNvGrpSpPr>
          <p:nvPr/>
        </p:nvGrpSpPr>
        <p:grpSpPr bwMode="auto">
          <a:xfrm>
            <a:off x="8602783" y="5221448"/>
            <a:ext cx="533400" cy="533400"/>
            <a:chOff x="1824" y="2736"/>
            <a:chExt cx="336" cy="336"/>
          </a:xfrm>
        </p:grpSpPr>
        <p:sp>
          <p:nvSpPr>
            <p:cNvPr id="33" name="Oval 8">
              <a:extLst>
                <a:ext uri="{FF2B5EF4-FFF2-40B4-BE49-F238E27FC236}">
                  <a16:creationId xmlns:a16="http://schemas.microsoft.com/office/drawing/2014/main" id="{4F2DFE45-7BA0-B491-6385-DF2CF140EBA9}"/>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34" name="Text Box 9">
              <a:extLst>
                <a:ext uri="{FF2B5EF4-FFF2-40B4-BE49-F238E27FC236}">
                  <a16:creationId xmlns:a16="http://schemas.microsoft.com/office/drawing/2014/main" id="{4B649A80-FC1D-80A5-FCB0-3E456EA31E95}"/>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E</a:t>
              </a:r>
            </a:p>
          </p:txBody>
        </p:sp>
      </p:grpSp>
      <p:sp>
        <p:nvSpPr>
          <p:cNvPr id="35" name="Line 19">
            <a:extLst>
              <a:ext uri="{FF2B5EF4-FFF2-40B4-BE49-F238E27FC236}">
                <a16:creationId xmlns:a16="http://schemas.microsoft.com/office/drawing/2014/main" id="{022AB78E-CC0F-ED7B-EFC1-26ECFDAF8390}"/>
              </a:ext>
            </a:extLst>
          </p:cNvPr>
          <p:cNvSpPr>
            <a:spLocks noChangeShapeType="1"/>
          </p:cNvSpPr>
          <p:nvPr/>
        </p:nvSpPr>
        <p:spPr bwMode="auto">
          <a:xfrm>
            <a:off x="7945201" y="5523600"/>
            <a:ext cx="674814" cy="1"/>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36" name="Text Box 26">
            <a:extLst>
              <a:ext uri="{FF2B5EF4-FFF2-40B4-BE49-F238E27FC236}">
                <a16:creationId xmlns:a16="http://schemas.microsoft.com/office/drawing/2014/main" id="{8C545183-46D0-9F69-3B5C-D06993685F01}"/>
              </a:ext>
            </a:extLst>
          </p:cNvPr>
          <p:cNvSpPr txBox="1">
            <a:spLocks noChangeArrowheads="1"/>
          </p:cNvSpPr>
          <p:nvPr/>
        </p:nvSpPr>
        <p:spPr bwMode="auto">
          <a:xfrm>
            <a:off x="8140372" y="52003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sp>
        <p:nvSpPr>
          <p:cNvPr id="37" name="Text Placeholder 2">
            <a:extLst>
              <a:ext uri="{FF2B5EF4-FFF2-40B4-BE49-F238E27FC236}">
                <a16:creationId xmlns:a16="http://schemas.microsoft.com/office/drawing/2014/main" id="{37677028-2502-A2E6-F987-B7B93B015D71}"/>
              </a:ext>
            </a:extLst>
          </p:cNvPr>
          <p:cNvSpPr txBox="1">
            <a:spLocks/>
          </p:cNvSpPr>
          <p:nvPr/>
        </p:nvSpPr>
        <p:spPr>
          <a:xfrm>
            <a:off x="157910" y="4673897"/>
            <a:ext cx="4783637" cy="1920827"/>
          </a:xfrm>
          <a:prstGeom prst="rect">
            <a:avLst/>
          </a:prstGeom>
          <a:noFill/>
          <a:ln>
            <a:noFill/>
          </a:ln>
        </p:spPr>
        <p:txBody>
          <a:bodyPr spcFirstLastPara="1" wrap="square" lIns="44175" tIns="44175" rIns="44175" bIns="44175" anchor="t" anchorCtr="0">
            <a:normAutofit/>
          </a:bodyPr>
          <a:lstStyle>
            <a:defPPr marR="0" lvl="0" algn="l" rtl="0">
              <a:lnSpc>
                <a:spcPct val="100000"/>
              </a:lnSpc>
              <a:spcBef>
                <a:spcPts val="0"/>
              </a:spcBef>
              <a:spcAft>
                <a:spcPts val="0"/>
              </a:spcAft>
            </a:defPPr>
            <a:lvl1pPr marL="457200" marR="0" lvl="0" indent="-393700" algn="l" rtl="0">
              <a:lnSpc>
                <a:spcPct val="90000"/>
              </a:lnSpc>
              <a:spcBef>
                <a:spcPts val="1200"/>
              </a:spcBef>
              <a:spcAft>
                <a:spcPts val="0"/>
              </a:spcAft>
              <a:buClr>
                <a:srgbClr val="4C3282"/>
              </a:buClr>
              <a:buSzPts val="2600"/>
              <a:buFont typeface="Twentieth Century"/>
              <a:buChar char="●"/>
              <a:defRPr sz="2600" b="0" i="0" u="none" strike="noStrike" cap="none">
                <a:solidFill>
                  <a:schemeClr val="dk1"/>
                </a:solidFill>
                <a:latin typeface="Quattrocento Sans"/>
                <a:ea typeface="Quattrocento Sans"/>
                <a:cs typeface="Quattrocento Sans"/>
                <a:sym typeface="Quattrocento Sans"/>
              </a:defRPr>
            </a:lvl1pPr>
            <a:lvl2pPr marL="914400" marR="0" lvl="1" indent="-361950" algn="l" rtl="0">
              <a:lnSpc>
                <a:spcPct val="90000"/>
              </a:lnSpc>
              <a:spcBef>
                <a:spcPts val="300"/>
              </a:spcBef>
              <a:spcAft>
                <a:spcPts val="0"/>
              </a:spcAft>
              <a:buClr>
                <a:srgbClr val="B6A479"/>
              </a:buClr>
              <a:buSzPts val="2100"/>
              <a:buFont typeface="Quattrocento Sans"/>
              <a:buChar char="○"/>
              <a:defRPr sz="2100" b="0" i="0" u="none" strike="noStrike" cap="none">
                <a:solidFill>
                  <a:schemeClr val="dk1"/>
                </a:solidFill>
                <a:latin typeface="Quattrocento Sans"/>
                <a:ea typeface="Quattrocento Sans"/>
                <a:cs typeface="Quattrocento Sans"/>
                <a:sym typeface="Quattrocento Sans"/>
              </a:defRPr>
            </a:lvl2pPr>
            <a:lvl3pPr marL="1371600" marR="0" lvl="2" indent="-323850" algn="l" rtl="0">
              <a:lnSpc>
                <a:spcPct val="90000"/>
              </a:lnSpc>
              <a:spcBef>
                <a:spcPts val="400"/>
              </a:spcBef>
              <a:spcAft>
                <a:spcPts val="0"/>
              </a:spcAft>
              <a:buClr>
                <a:srgbClr val="B6A479"/>
              </a:buClr>
              <a:buSzPts val="1500"/>
              <a:buFont typeface="Quattrocento Sans"/>
              <a:buChar char="■"/>
              <a:defRPr sz="1500" b="0" i="0" u="none" strike="noStrike" cap="none">
                <a:solidFill>
                  <a:schemeClr val="dk1"/>
                </a:solidFill>
                <a:latin typeface="Quattrocento Sans"/>
                <a:ea typeface="Quattrocento Sans"/>
                <a:cs typeface="Quattrocento Sans"/>
                <a:sym typeface="Quattrocento Sans"/>
              </a:defRPr>
            </a:lvl3pPr>
            <a:lvl4pPr marL="1828800" marR="0" lvl="3"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4pPr>
            <a:lvl5pPr marL="2286000" marR="0" lvl="4"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5pPr>
            <a:lvl6pPr marL="2743200" marR="0" lvl="5"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6pPr>
            <a:lvl7pPr marL="3200400" marR="0" lvl="6"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7pPr>
            <a:lvl8pPr marL="3657600" marR="0" lvl="7"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8pPr>
            <a:lvl9pPr marL="4114800" marR="0" lvl="8" indent="-317500" algn="l" rtl="0">
              <a:lnSpc>
                <a:spcPct val="90000"/>
              </a:lnSpc>
              <a:spcBef>
                <a:spcPts val="400"/>
              </a:spcBef>
              <a:spcAft>
                <a:spcPts val="40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9pPr>
          </a:lstStyle>
          <a:p>
            <a:pPr marL="63500" indent="0">
              <a:buNone/>
            </a:pPr>
            <a:r>
              <a:rPr lang="en-GB" sz="2400" dirty="0">
                <a:latin typeface="+mj-lt"/>
              </a:rPr>
              <a:t>Suppose we visit nodes in this order at each iteration: A, B, C, D, E.  We run for 2 iterations (less than V-1=3 iterations), and converge to the correct SPT</a:t>
            </a:r>
          </a:p>
        </p:txBody>
      </p:sp>
      <p:sp>
        <p:nvSpPr>
          <p:cNvPr id="38" name="Title 1">
            <a:extLst>
              <a:ext uri="{FF2B5EF4-FFF2-40B4-BE49-F238E27FC236}">
                <a16:creationId xmlns:a16="http://schemas.microsoft.com/office/drawing/2014/main" id="{18F84811-1795-4B29-266A-051E9BB2C593}"/>
              </a:ext>
            </a:extLst>
          </p:cNvPr>
          <p:cNvSpPr>
            <a:spLocks noGrp="1"/>
          </p:cNvSpPr>
          <p:nvPr>
            <p:ph type="title"/>
          </p:nvPr>
        </p:nvSpPr>
        <p:spPr>
          <a:xfrm>
            <a:off x="575239" y="263276"/>
            <a:ext cx="11187000" cy="1014900"/>
          </a:xfrm>
        </p:spPr>
        <p:txBody>
          <a:bodyPr>
            <a:normAutofit fontScale="90000"/>
          </a:bodyPr>
          <a:lstStyle/>
          <a:p>
            <a:r>
              <a:rPr lang="en-GB" dirty="0"/>
              <a:t>Bellman Ford works for a graph with negative edge weights</a:t>
            </a:r>
            <a:endParaRPr lang="en-SE" dirty="0"/>
          </a:p>
        </p:txBody>
      </p:sp>
    </p:spTree>
    <p:extLst>
      <p:ext uri="{BB962C8B-B14F-4D97-AF65-F5344CB8AC3E}">
        <p14:creationId xmlns:p14="http://schemas.microsoft.com/office/powerpoint/2010/main" val="28158656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310FB-1934-C4D4-EB0E-C1B2A3F91278}"/>
              </a:ext>
            </a:extLst>
          </p:cNvPr>
          <p:cNvSpPr>
            <a:spLocks noGrp="1"/>
          </p:cNvSpPr>
          <p:nvPr>
            <p:ph type="title"/>
          </p:nvPr>
        </p:nvSpPr>
        <p:spPr/>
        <p:txBody>
          <a:bodyPr>
            <a:normAutofit fontScale="90000"/>
          </a:bodyPr>
          <a:lstStyle/>
          <a:p>
            <a:r>
              <a:rPr lang="en-GB" dirty="0"/>
              <a:t>Dijkstra's Algorithm vs. Bellman-Ford Algorithm</a:t>
            </a:r>
            <a:endParaRPr lang="en-SE" dirty="0"/>
          </a:p>
        </p:txBody>
      </p:sp>
      <p:sp>
        <p:nvSpPr>
          <p:cNvPr id="3" name="Text Placeholder 2">
            <a:extLst>
              <a:ext uri="{FF2B5EF4-FFF2-40B4-BE49-F238E27FC236}">
                <a16:creationId xmlns:a16="http://schemas.microsoft.com/office/drawing/2014/main" id="{AECDFAF2-4C90-F5EA-8464-68F0917510BB}"/>
              </a:ext>
            </a:extLst>
          </p:cNvPr>
          <p:cNvSpPr>
            <a:spLocks noGrp="1"/>
          </p:cNvSpPr>
          <p:nvPr>
            <p:ph type="body" idx="1"/>
          </p:nvPr>
        </p:nvSpPr>
        <p:spPr>
          <a:xfrm>
            <a:off x="575239" y="1035661"/>
            <a:ext cx="11187000" cy="5689207"/>
          </a:xfrm>
        </p:spPr>
        <p:txBody>
          <a:bodyPr/>
          <a:lstStyle/>
          <a:p>
            <a:r>
              <a:rPr lang="en-GB" sz="2400" dirty="0">
                <a:latin typeface="+mj-lt"/>
              </a:rPr>
              <a:t>Dijkstra's Algorithm:</a:t>
            </a:r>
          </a:p>
          <a:p>
            <a:pPr lvl="1"/>
            <a:r>
              <a:rPr lang="en-GB" sz="2000" dirty="0">
                <a:latin typeface="+mj-lt"/>
              </a:rPr>
              <a:t>Uses a priority queue to select the next node to process.</a:t>
            </a:r>
          </a:p>
          <a:p>
            <a:pPr lvl="1"/>
            <a:r>
              <a:rPr lang="en-GB" sz="2000" dirty="0">
                <a:latin typeface="+mj-lt"/>
              </a:rPr>
              <a:t>Greedily selects the node with the smallest tentative distance to source node.</a:t>
            </a:r>
          </a:p>
          <a:p>
            <a:pPr lvl="1"/>
            <a:r>
              <a:rPr lang="en-GB" sz="2000" dirty="0">
                <a:latin typeface="+mj-lt"/>
              </a:rPr>
              <a:t>Works only on graphs with non-negative edge weights.</a:t>
            </a:r>
          </a:p>
          <a:p>
            <a:r>
              <a:rPr lang="en-GB" sz="2400" dirty="0">
                <a:latin typeface="+mj-lt"/>
              </a:rPr>
              <a:t>Bellman-Ford Algorithm:</a:t>
            </a:r>
          </a:p>
          <a:p>
            <a:pPr lvl="1"/>
            <a:r>
              <a:rPr lang="en-GB" sz="2000" dirty="0">
                <a:latin typeface="+mj-lt"/>
              </a:rPr>
              <a:t>Iteratively relaxes all edges V-1 times.</a:t>
            </a:r>
          </a:p>
          <a:p>
            <a:pPr lvl="1"/>
            <a:r>
              <a:rPr lang="en-GB" sz="2000" dirty="0">
                <a:latin typeface="+mj-lt"/>
              </a:rPr>
              <a:t>Can handle graphs with negative edge weights, and can detect negative cycles.</a:t>
            </a:r>
          </a:p>
          <a:p>
            <a:pPr lvl="2"/>
            <a:r>
              <a:rPr lang="en-GB" sz="1800" dirty="0">
                <a:latin typeface="+mj-lt"/>
              </a:rPr>
              <a:t>Relax all the edges one more time, i.e. the V-</a:t>
            </a:r>
            <a:r>
              <a:rPr lang="en-GB" sz="1800" dirty="0" err="1">
                <a:latin typeface="+mj-lt"/>
              </a:rPr>
              <a:t>th</a:t>
            </a:r>
            <a:r>
              <a:rPr lang="en-GB" sz="1800" dirty="0">
                <a:latin typeface="+mj-lt"/>
              </a:rPr>
              <a:t> time. Negative cycle exists if any edge can be further relaxed</a:t>
            </a:r>
          </a:p>
          <a:p>
            <a:pPr lvl="2"/>
            <a:r>
              <a:rPr lang="en-GB" sz="1800" dirty="0">
                <a:latin typeface="+mj-lt"/>
              </a:rPr>
              <a:t>It can find any negative cycle that is reachable from source node s (but not negative cycles that are unreachable from s).</a:t>
            </a:r>
          </a:p>
          <a:p>
            <a:pPr lvl="2"/>
            <a:r>
              <a:rPr lang="en-GB" sz="1800" dirty="0">
                <a:latin typeface="+mj-lt"/>
              </a:rPr>
              <a:t>If there is a negative cycle that is reachable from source node s, then any paths that go through the cycle has distance −∞, since the cost can be reduced by traversing the cycle infinite number of times. </a:t>
            </a:r>
          </a:p>
          <a:p>
            <a:r>
              <a:rPr lang="en-GB" sz="2400" dirty="0">
                <a:latin typeface="+mj-lt"/>
              </a:rPr>
              <a:t>Dijkstra's algorithm is faster and more efficient for graphs with non-negative weights; Bellman-Ford Algorithm is more versatile as it can handle negative weights and detect negative cycles, albeit at the cost of lower efficiency</a:t>
            </a:r>
          </a:p>
        </p:txBody>
      </p:sp>
    </p:spTree>
    <p:extLst>
      <p:ext uri="{BB962C8B-B14F-4D97-AF65-F5344CB8AC3E}">
        <p14:creationId xmlns:p14="http://schemas.microsoft.com/office/powerpoint/2010/main" val="29822670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83FCB-1523-5ABC-4486-4B8EDDFE0FF6}"/>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0B703047-F3C2-5552-B26D-E11BE011C29A}"/>
              </a:ext>
            </a:extLst>
          </p:cNvPr>
          <p:cNvGraphicFramePr>
            <a:graphicFrameLocks noGrp="1"/>
          </p:cNvGraphicFramePr>
          <p:nvPr>
            <p:extLst>
              <p:ext uri="{D42A27DB-BD31-4B8C-83A1-F6EECF244321}">
                <p14:modId xmlns:p14="http://schemas.microsoft.com/office/powerpoint/2010/main" val="4158504932"/>
              </p:ext>
            </p:extLst>
          </p:nvPr>
        </p:nvGraphicFramePr>
        <p:xfrm>
          <a:off x="1025610" y="1645602"/>
          <a:ext cx="10556789" cy="3657600"/>
        </p:xfrm>
        <a:graphic>
          <a:graphicData uri="http://schemas.openxmlformats.org/drawingml/2006/table">
            <a:tbl>
              <a:tblPr firstRow="1" bandRow="1">
                <a:tableStyleId>{5940675A-B579-460E-94D1-54222C63F5DA}</a:tableStyleId>
              </a:tblPr>
              <a:tblGrid>
                <a:gridCol w="2015489">
                  <a:extLst>
                    <a:ext uri="{9D8B030D-6E8A-4147-A177-3AD203B41FA5}">
                      <a16:colId xmlns:a16="http://schemas.microsoft.com/office/drawing/2014/main" val="1986848519"/>
                    </a:ext>
                  </a:extLst>
                </a:gridCol>
                <a:gridCol w="5312069">
                  <a:extLst>
                    <a:ext uri="{9D8B030D-6E8A-4147-A177-3AD203B41FA5}">
                      <a16:colId xmlns:a16="http://schemas.microsoft.com/office/drawing/2014/main" val="2195734352"/>
                    </a:ext>
                  </a:extLst>
                </a:gridCol>
                <a:gridCol w="3229231">
                  <a:extLst>
                    <a:ext uri="{9D8B030D-6E8A-4147-A177-3AD203B41FA5}">
                      <a16:colId xmlns:a16="http://schemas.microsoft.com/office/drawing/2014/main" val="326827845"/>
                    </a:ext>
                  </a:extLst>
                </a:gridCol>
              </a:tblGrid>
              <a:tr h="370840">
                <a:tc>
                  <a:txBody>
                    <a:bodyPr/>
                    <a:lstStyle/>
                    <a:p>
                      <a:pPr algn="ctr"/>
                      <a:r>
                        <a:rPr lang="en-GB" sz="2400" dirty="0"/>
                        <a:t>Algorithm</a:t>
                      </a:r>
                    </a:p>
                  </a:txBody>
                  <a:tcPr>
                    <a:solidFill>
                      <a:schemeClr val="bg1">
                        <a:lumMod val="85000"/>
                      </a:scheme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dirty="0"/>
                        <a:t>Applicability</a:t>
                      </a:r>
                    </a:p>
                  </a:txBody>
                  <a:tcPr>
                    <a:solidFill>
                      <a:schemeClr val="bg1">
                        <a:lumMod val="85000"/>
                      </a:schemeClr>
                    </a:solidFill>
                  </a:tcPr>
                </a:tc>
                <a:tc>
                  <a:txBody>
                    <a:bodyPr/>
                    <a:lstStyle/>
                    <a:p>
                      <a:pPr algn="ctr"/>
                      <a:r>
                        <a:rPr lang="en-GB" sz="2400" dirty="0"/>
                        <a:t>Worst-Case Complexity</a:t>
                      </a:r>
                      <a:endParaRPr lang="en-SE" sz="2400" dirty="0"/>
                    </a:p>
                  </a:txBody>
                  <a:tcPr>
                    <a:solidFill>
                      <a:schemeClr val="bg1">
                        <a:lumMod val="85000"/>
                      </a:schemeClr>
                    </a:solidFill>
                  </a:tcPr>
                </a:tc>
                <a:extLst>
                  <a:ext uri="{0D108BD9-81ED-4DB2-BD59-A6C34878D82A}">
                    <a16:rowId xmlns:a16="http://schemas.microsoft.com/office/drawing/2014/main" val="1849388263"/>
                  </a:ext>
                </a:extLst>
              </a:tr>
              <a:tr h="314317">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dirty="0"/>
                        <a:t>Breadth First Search (BFS)</a:t>
                      </a:r>
                    </a:p>
                  </a:txBody>
                  <a:tcPr/>
                </a:tc>
                <a:tc>
                  <a:txBody>
                    <a:bodyPr/>
                    <a:lstStyle/>
                    <a:p>
                      <a:pPr algn="l"/>
                      <a:r>
                        <a:rPr lang="en-GB" sz="2400" dirty="0"/>
                        <a:t>Unweighted, undirected or directed graph</a:t>
                      </a:r>
                    </a:p>
                  </a:txBody>
                  <a:tcPr/>
                </a:tc>
                <a:tc>
                  <a:txBody>
                    <a:bodyPr/>
                    <a:lstStyle/>
                    <a:p>
                      <a:pPr algn="ctr"/>
                      <a:r>
                        <a:rPr lang="pt-BR" sz="2400" dirty="0"/>
                        <a:t>Adjacency List: O(V + E)</a:t>
                      </a:r>
                    </a:p>
                    <a:p>
                      <a:pPr algn="ctr"/>
                      <a:r>
                        <a:rPr lang="pt-BR" sz="2400" dirty="0"/>
                        <a:t>Adjacency Matrix: O(V²)</a:t>
                      </a:r>
                      <a:endParaRPr lang="en-SE" sz="2400" dirty="0"/>
                    </a:p>
                  </a:txBody>
                  <a:tcPr/>
                </a:tc>
                <a:extLst>
                  <a:ext uri="{0D108BD9-81ED-4DB2-BD59-A6C34878D82A}">
                    <a16:rowId xmlns:a16="http://schemas.microsoft.com/office/drawing/2014/main" val="931226070"/>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dirty="0"/>
                        <a:t>Dijkstra</a:t>
                      </a:r>
                      <a:r>
                        <a:rPr lang="en-GB" sz="2400" kern="1200" dirty="0">
                          <a:solidFill>
                            <a:schemeClr val="dk1"/>
                          </a:solidFill>
                        </a:rPr>
                        <a:t>’s algorithm</a:t>
                      </a:r>
                      <a:endParaRPr lang="en-GB" sz="2400" dirty="0"/>
                    </a:p>
                  </a:txBody>
                  <a:tcPr/>
                </a:tc>
                <a:tc>
                  <a:txBody>
                    <a:bodyPr/>
                    <a:lstStyle/>
                    <a:p>
                      <a:pPr algn="l"/>
                      <a:r>
                        <a:rPr lang="en-GB" sz="2400" dirty="0"/>
                        <a:t>Undirected or directed graph; no negative weights/cycles</a:t>
                      </a:r>
                    </a:p>
                  </a:txBody>
                  <a:tcPr/>
                </a:tc>
                <a:tc>
                  <a:txBody>
                    <a:bodyPr/>
                    <a:lstStyle/>
                    <a:p>
                      <a:pPr algn="ctr"/>
                      <a:r>
                        <a:rPr lang="pt-BR" sz="2400" dirty="0"/>
                        <a:t>O((V+E) log V)</a:t>
                      </a:r>
                    </a:p>
                    <a:p>
                      <a:pPr algn="ctr"/>
                      <a:r>
                        <a:rPr lang="pt-BR" sz="2400" dirty="0"/>
                        <a:t>(binary min-heap)</a:t>
                      </a:r>
                      <a:endParaRPr lang="en-SE" sz="2400" dirty="0"/>
                    </a:p>
                  </a:txBody>
                  <a:tcPr/>
                </a:tc>
                <a:extLst>
                  <a:ext uri="{0D108BD9-81ED-4DB2-BD59-A6C34878D82A}">
                    <a16:rowId xmlns:a16="http://schemas.microsoft.com/office/drawing/2014/main" val="2761924113"/>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kern="1200" dirty="0">
                          <a:solidFill>
                            <a:schemeClr val="dk1"/>
                          </a:solidFill>
                        </a:rPr>
                        <a:t>Bellman-Ford</a:t>
                      </a:r>
                    </a:p>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kern="1200" dirty="0">
                          <a:solidFill>
                            <a:schemeClr val="dk1"/>
                          </a:solidFill>
                        </a:rPr>
                        <a:t>algorithm</a:t>
                      </a:r>
                      <a:endParaRPr lang="en-GB" sz="2400" kern="1200" dirty="0">
                        <a:solidFill>
                          <a:schemeClr val="dk1"/>
                        </a:solidFill>
                        <a:latin typeface="+mn-lt"/>
                        <a:ea typeface="+mn-ea"/>
                        <a:cs typeface="+mn-cs"/>
                      </a:endParaRPr>
                    </a:p>
                  </a:txBody>
                  <a:tcPr/>
                </a:tc>
                <a:tc>
                  <a:txBody>
                    <a:bodyPr/>
                    <a:lstStyle/>
                    <a:p>
                      <a:pPr algn="l"/>
                      <a:r>
                        <a:rPr lang="en-GB" sz="2400" kern="1200" dirty="0">
                          <a:solidFill>
                            <a:schemeClr val="dk1"/>
                          </a:solidFill>
                        </a:rPr>
                        <a:t>Directed graph with negative weights; undirected graph with no negative weights (since a negative weight edge forms a negative cycle by itself)</a:t>
                      </a:r>
                      <a:endParaRPr lang="en-GB" sz="2400" kern="1200" dirty="0">
                        <a:solidFill>
                          <a:schemeClr val="dk1"/>
                        </a:solidFill>
                        <a:latin typeface="+mn-lt"/>
                        <a:ea typeface="+mn-ea"/>
                        <a:cs typeface="+mn-cs"/>
                      </a:endParaRPr>
                    </a:p>
                  </a:txBody>
                  <a:tcPr/>
                </a:tc>
                <a:tc>
                  <a:txBody>
                    <a:bodyPr/>
                    <a:lstStyle/>
                    <a:p>
                      <a:pPr algn="ctr"/>
                      <a:r>
                        <a:rPr lang="en-GB" sz="2400" kern="1200" dirty="0">
                          <a:solidFill>
                            <a:schemeClr val="dk1"/>
                          </a:solidFill>
                        </a:rPr>
                        <a:t>O(VE)</a:t>
                      </a:r>
                      <a:endParaRPr lang="en-SE" sz="2400" kern="1200" dirty="0">
                        <a:solidFill>
                          <a:schemeClr val="dk1"/>
                        </a:solidFill>
                        <a:latin typeface="+mn-lt"/>
                        <a:ea typeface="+mn-ea"/>
                        <a:cs typeface="+mn-cs"/>
                      </a:endParaRPr>
                    </a:p>
                  </a:txBody>
                  <a:tcPr/>
                </a:tc>
                <a:extLst>
                  <a:ext uri="{0D108BD9-81ED-4DB2-BD59-A6C34878D82A}">
                    <a16:rowId xmlns:a16="http://schemas.microsoft.com/office/drawing/2014/main" val="2430469404"/>
                  </a:ext>
                </a:extLst>
              </a:tr>
            </a:tbl>
          </a:graphicData>
        </a:graphic>
      </p:graphicFrame>
      <p:sp>
        <p:nvSpPr>
          <p:cNvPr id="3" name="Title 1">
            <a:extLst>
              <a:ext uri="{FF2B5EF4-FFF2-40B4-BE49-F238E27FC236}">
                <a16:creationId xmlns:a16="http://schemas.microsoft.com/office/drawing/2014/main" id="{A49FFBBD-E427-5620-95FB-460A14A9E230}"/>
              </a:ext>
            </a:extLst>
          </p:cNvPr>
          <p:cNvSpPr txBox="1">
            <a:spLocks/>
          </p:cNvSpPr>
          <p:nvPr/>
        </p:nvSpPr>
        <p:spPr>
          <a:xfrm>
            <a:off x="609600" y="274638"/>
            <a:ext cx="10972800" cy="1143000"/>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3600" kern="1200">
                <a:solidFill>
                  <a:schemeClr val="accent1"/>
                </a:solidFill>
                <a:latin typeface="Helvetica"/>
                <a:ea typeface="+mj-ea"/>
                <a:cs typeface="Helvetica"/>
              </a:defRPr>
            </a:lvl1p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GB" altLang="zh-CN" sz="3900" b="0" i="0" u="none" strike="noStrike" kern="1200" cap="none" spc="0" normalizeH="0" baseline="0" noProof="0" dirty="0">
                <a:ln>
                  <a:noFill/>
                </a:ln>
                <a:solidFill>
                  <a:srgbClr val="0C0C0C"/>
                </a:solidFill>
                <a:effectLst/>
                <a:uLnTx/>
                <a:uFillTx/>
                <a:latin typeface="Arial" panose="020B0604020202020204" pitchFamily="34" charset="0"/>
                <a:ea typeface="宋体" panose="02010600030101010101" pitchFamily="2" charset="-122"/>
                <a:cs typeface="Arial" panose="020B0604020202020204" pitchFamily="34" charset="0"/>
                <a:sym typeface="Quattrocento Sans"/>
              </a:rPr>
              <a:t>Single Source </a:t>
            </a:r>
            <a:r>
              <a:rPr lang="en-GB" altLang="zh-CN" sz="3900" dirty="0">
                <a:solidFill>
                  <a:srgbClr val="0C0C0C"/>
                </a:solidFill>
                <a:latin typeface="Arial" panose="020B0604020202020204" pitchFamily="34" charset="0"/>
                <a:cs typeface="Arial" panose="020B0604020202020204" pitchFamily="34" charset="0"/>
                <a:sym typeface="Quattrocento Sans"/>
              </a:rPr>
              <a:t>Shortest-paths</a:t>
            </a:r>
            <a:r>
              <a:rPr kumimoji="0" lang="en-GB" altLang="zh-CN" sz="3900" b="0" i="0" u="none" strike="noStrike" kern="1200" cap="none" spc="0" normalizeH="0" baseline="0" noProof="0" dirty="0">
                <a:ln>
                  <a:noFill/>
                </a:ln>
                <a:solidFill>
                  <a:srgbClr val="0C0C0C"/>
                </a:solidFill>
                <a:effectLst/>
                <a:uLnTx/>
                <a:uFillTx/>
                <a:latin typeface="Arial" panose="020B0604020202020204" pitchFamily="34" charset="0"/>
                <a:ea typeface="宋体" panose="02010600030101010101" pitchFamily="2" charset="-122"/>
                <a:cs typeface="Arial" panose="020B0604020202020204" pitchFamily="34" charset="0"/>
                <a:sym typeface="Quattrocento Sans"/>
              </a:rPr>
              <a:t> Algorithms Summary</a:t>
            </a:r>
            <a:endParaRPr kumimoji="0" lang="en-SE" sz="3900" b="0" i="0" u="none" strike="noStrike" kern="1200" cap="none" spc="0" normalizeH="0" baseline="0" noProof="0" dirty="0">
              <a:ln>
                <a:noFill/>
              </a:ln>
              <a:solidFill>
                <a:srgbClr val="0C0C0C"/>
              </a:solidFill>
              <a:effectLst/>
              <a:uLnTx/>
              <a:uFillTx/>
              <a:latin typeface="Arial" panose="020B0604020202020204" pitchFamily="34" charset="0"/>
              <a:cs typeface="Arial" panose="020B0604020202020204" pitchFamily="34" charset="0"/>
              <a:sym typeface="Quattrocento Sans"/>
            </a:endParaRPr>
          </a:p>
        </p:txBody>
      </p:sp>
      <p:sp>
        <p:nvSpPr>
          <p:cNvPr id="2" name="Google Shape;14;p1">
            <a:extLst>
              <a:ext uri="{FF2B5EF4-FFF2-40B4-BE49-F238E27FC236}">
                <a16:creationId xmlns:a16="http://schemas.microsoft.com/office/drawing/2014/main" id="{6BF9DEC0-3B72-44A7-E316-16B308BE78FD}"/>
              </a:ext>
            </a:extLst>
          </p:cNvPr>
          <p:cNvSpPr txBox="1"/>
          <p:nvPr/>
        </p:nvSpPr>
        <p:spPr>
          <a:xfrm>
            <a:off x="7913100" y="6497955"/>
            <a:ext cx="4278900" cy="424697"/>
          </a:xfrm>
          <a:prstGeom prst="rect">
            <a:avLst/>
          </a:prstGeom>
          <a:noFill/>
          <a:ln>
            <a:noFill/>
          </a:ln>
        </p:spPr>
        <p:txBody>
          <a:bodyPr spcFirstLastPara="1" wrap="square" lIns="88375" tIns="88375" rIns="88375" bIns="88375" anchor="ctr" anchorCtr="0">
            <a:spAutoFit/>
          </a:bodyPr>
          <a:lstStyle/>
          <a:p>
            <a:pPr marL="0" lvl="0" indent="0" algn="r" rtl="0">
              <a:spcBef>
                <a:spcPts val="0"/>
              </a:spcBef>
              <a:spcAft>
                <a:spcPts val="0"/>
              </a:spcAft>
              <a:buNone/>
            </a:pPr>
            <a:r>
              <a:rPr lang="en-US" sz="1600" dirty="0">
                <a:solidFill>
                  <a:srgbClr val="595959"/>
                </a:solidFill>
                <a:latin typeface="Quattrocento Sans"/>
                <a:ea typeface="Quattrocento Sans"/>
                <a:cs typeface="Quattrocento Sans"/>
                <a:sym typeface="Quattrocento Sans"/>
              </a:rPr>
              <a:t> </a:t>
            </a:r>
            <a:fld id="{00000000-1234-1234-1234-123412341234}" type="slidenum">
              <a:rPr lang="en-US" sz="1300">
                <a:solidFill>
                  <a:srgbClr val="595959"/>
                </a:solidFill>
                <a:latin typeface="Quattrocento Sans"/>
                <a:ea typeface="Quattrocento Sans"/>
                <a:cs typeface="Quattrocento Sans"/>
                <a:sym typeface="Quattrocento Sans"/>
              </a:rPr>
              <a:t>61</a:t>
            </a:fld>
            <a:endParaRPr sz="1300" dirty="0">
              <a:solidFill>
                <a:srgbClr val="595959"/>
              </a:solidFill>
              <a:latin typeface="Quattrocento Sans"/>
              <a:ea typeface="Quattrocento Sans"/>
              <a:cs typeface="Quattrocento Sans"/>
              <a:sym typeface="Quattrocento Sans"/>
            </a:endParaRPr>
          </a:p>
        </p:txBody>
      </p:sp>
    </p:spTree>
    <p:extLst>
      <p:ext uri="{BB962C8B-B14F-4D97-AF65-F5344CB8AC3E}">
        <p14:creationId xmlns:p14="http://schemas.microsoft.com/office/powerpoint/2010/main" val="11426764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00C71-0623-8419-C944-5500D5906872}"/>
              </a:ext>
            </a:extLst>
          </p:cNvPr>
          <p:cNvSpPr>
            <a:spLocks noGrp="1"/>
          </p:cNvSpPr>
          <p:nvPr>
            <p:ph type="title"/>
          </p:nvPr>
        </p:nvSpPr>
        <p:spPr/>
        <p:txBody>
          <a:bodyPr>
            <a:normAutofit/>
          </a:bodyPr>
          <a:lstStyle/>
          <a:p>
            <a:pPr algn="l">
              <a:lnSpc>
                <a:spcPct val="80000"/>
              </a:lnSpc>
              <a:spcBef>
                <a:spcPts val="0"/>
              </a:spcBef>
              <a:buClr>
                <a:srgbClr val="0C0C0C"/>
              </a:buClr>
              <a:buSzPts val="1800"/>
            </a:pPr>
            <a:r>
              <a:rPr lang="en-US" sz="3900" dirty="0">
                <a:solidFill>
                  <a:srgbClr val="0C0C0C"/>
                </a:solidFill>
                <a:latin typeface="Arial" panose="020B0604020202020204" pitchFamily="34" charset="0"/>
                <a:cs typeface="Arial" panose="020B0604020202020204" pitchFamily="34" charset="0"/>
                <a:sym typeface="Quattrocento Sans"/>
              </a:rPr>
              <a:t>Distance Vector vs. Link State Routing </a:t>
            </a:r>
          </a:p>
        </p:txBody>
      </p:sp>
      <p:graphicFrame>
        <p:nvGraphicFramePr>
          <p:cNvPr id="4" name="Content Placeholder 3">
            <a:extLst>
              <a:ext uri="{FF2B5EF4-FFF2-40B4-BE49-F238E27FC236}">
                <a16:creationId xmlns:a16="http://schemas.microsoft.com/office/drawing/2014/main" id="{657250CB-7E21-5D0C-1BC9-BAEF16D96864}"/>
              </a:ext>
            </a:extLst>
          </p:cNvPr>
          <p:cNvGraphicFramePr>
            <a:graphicFrameLocks noGrp="1"/>
          </p:cNvGraphicFramePr>
          <p:nvPr>
            <p:ph idx="1"/>
            <p:extLst>
              <p:ext uri="{D42A27DB-BD31-4B8C-83A1-F6EECF244321}">
                <p14:modId xmlns:p14="http://schemas.microsoft.com/office/powerpoint/2010/main" val="1679973404"/>
              </p:ext>
            </p:extLst>
          </p:nvPr>
        </p:nvGraphicFramePr>
        <p:xfrm>
          <a:off x="609600" y="1772418"/>
          <a:ext cx="10972800" cy="3017520"/>
        </p:xfrm>
        <a:graphic>
          <a:graphicData uri="http://schemas.openxmlformats.org/drawingml/2006/table">
            <a:tbl>
              <a:tblPr>
                <a:tableStyleId>{5940675A-B579-460E-94D1-54222C63F5DA}</a:tableStyleId>
              </a:tblPr>
              <a:tblGrid>
                <a:gridCol w="1898488">
                  <a:extLst>
                    <a:ext uri="{9D8B030D-6E8A-4147-A177-3AD203B41FA5}">
                      <a16:colId xmlns:a16="http://schemas.microsoft.com/office/drawing/2014/main" val="63366681"/>
                    </a:ext>
                  </a:extLst>
                </a:gridCol>
                <a:gridCol w="4446575">
                  <a:extLst>
                    <a:ext uri="{9D8B030D-6E8A-4147-A177-3AD203B41FA5}">
                      <a16:colId xmlns:a16="http://schemas.microsoft.com/office/drawing/2014/main" val="1132787301"/>
                    </a:ext>
                  </a:extLst>
                </a:gridCol>
                <a:gridCol w="4627737">
                  <a:extLst>
                    <a:ext uri="{9D8B030D-6E8A-4147-A177-3AD203B41FA5}">
                      <a16:colId xmlns:a16="http://schemas.microsoft.com/office/drawing/2014/main" val="2588551543"/>
                    </a:ext>
                  </a:extLst>
                </a:gridCol>
              </a:tblGrid>
              <a:tr h="0">
                <a:tc>
                  <a:txBody>
                    <a:bodyPr/>
                    <a:lstStyle/>
                    <a:p>
                      <a:pPr>
                        <a:buNone/>
                      </a:pPr>
                      <a:r>
                        <a:rPr lang="en-US" sz="2400" b="1" dirty="0"/>
                        <a:t>Parameter</a:t>
                      </a:r>
                      <a:endParaRPr lang="en-US" sz="2400" dirty="0"/>
                    </a:p>
                  </a:txBody>
                  <a:tcPr anchor="ctr">
                    <a:solidFill>
                      <a:schemeClr val="bg1">
                        <a:lumMod val="85000"/>
                      </a:schemeClr>
                    </a:solidFill>
                  </a:tcPr>
                </a:tc>
                <a:tc>
                  <a:txBody>
                    <a:bodyPr/>
                    <a:lstStyle/>
                    <a:p>
                      <a:pPr>
                        <a:buNone/>
                      </a:pPr>
                      <a:r>
                        <a:rPr lang="en-US" sz="2400" b="1" dirty="0"/>
                        <a:t>Distance Vector Routing</a:t>
                      </a:r>
                      <a:endParaRPr lang="en-US" sz="2400" dirty="0"/>
                    </a:p>
                  </a:txBody>
                  <a:tcPr anchor="ctr">
                    <a:solidFill>
                      <a:schemeClr val="bg1">
                        <a:lumMod val="85000"/>
                      </a:schemeClr>
                    </a:solidFill>
                  </a:tcPr>
                </a:tc>
                <a:tc>
                  <a:txBody>
                    <a:bodyPr/>
                    <a:lstStyle/>
                    <a:p>
                      <a:pPr>
                        <a:buNone/>
                      </a:pPr>
                      <a:r>
                        <a:rPr lang="en-US" sz="2400" b="1" dirty="0"/>
                        <a:t>Link State Routing</a:t>
                      </a:r>
                      <a:endParaRPr lang="en-US" sz="2400" dirty="0"/>
                    </a:p>
                  </a:txBody>
                  <a:tcPr anchor="ctr">
                    <a:solidFill>
                      <a:schemeClr val="bg1">
                        <a:lumMod val="85000"/>
                      </a:schemeClr>
                    </a:solidFill>
                  </a:tcPr>
                </a:tc>
                <a:extLst>
                  <a:ext uri="{0D108BD9-81ED-4DB2-BD59-A6C34878D82A}">
                    <a16:rowId xmlns:a16="http://schemas.microsoft.com/office/drawing/2014/main" val="542823175"/>
                  </a:ext>
                </a:extLst>
              </a:tr>
              <a:tr h="0">
                <a:tc>
                  <a:txBody>
                    <a:bodyPr/>
                    <a:lstStyle/>
                    <a:p>
                      <a:pPr>
                        <a:buNone/>
                      </a:pPr>
                      <a:r>
                        <a:rPr lang="en-US" sz="2400" b="1"/>
                        <a:t>Routing Information</a:t>
                      </a:r>
                      <a:endParaRPr lang="en-US" sz="2400"/>
                    </a:p>
                  </a:txBody>
                  <a:tcPr anchor="ctr"/>
                </a:tc>
                <a:tc>
                  <a:txBody>
                    <a:bodyPr/>
                    <a:lstStyle/>
                    <a:p>
                      <a:pPr>
                        <a:buNone/>
                      </a:pPr>
                      <a:r>
                        <a:rPr lang="en-US" sz="2400" dirty="0"/>
                        <a:t>Routers share their routing tables with their neighbors.</a:t>
                      </a:r>
                    </a:p>
                  </a:txBody>
                  <a:tcPr anchor="ctr"/>
                </a:tc>
                <a:tc>
                  <a:txBody>
                    <a:bodyPr/>
                    <a:lstStyle/>
                    <a:p>
                      <a:pPr>
                        <a:buNone/>
                      </a:pPr>
                      <a:r>
                        <a:rPr lang="en-US" sz="2400" dirty="0"/>
                        <a:t>Routers share information about the entire network topology.</a:t>
                      </a:r>
                    </a:p>
                  </a:txBody>
                  <a:tcPr anchor="ctr"/>
                </a:tc>
                <a:extLst>
                  <a:ext uri="{0D108BD9-81ED-4DB2-BD59-A6C34878D82A}">
                    <a16:rowId xmlns:a16="http://schemas.microsoft.com/office/drawing/2014/main" val="3148860572"/>
                  </a:ext>
                </a:extLst>
              </a:tr>
              <a:tr h="0">
                <a:tc>
                  <a:txBody>
                    <a:bodyPr/>
                    <a:lstStyle/>
                    <a:p>
                      <a:pPr>
                        <a:buNone/>
                      </a:pPr>
                      <a:r>
                        <a:rPr lang="en-US" sz="2400" b="1"/>
                        <a:t>Convergence</a:t>
                      </a:r>
                      <a:endParaRPr lang="en-US" sz="2400"/>
                    </a:p>
                  </a:txBody>
                  <a:tcPr anchor="ctr"/>
                </a:tc>
                <a:tc>
                  <a:txBody>
                    <a:bodyPr/>
                    <a:lstStyle/>
                    <a:p>
                      <a:pPr>
                        <a:buNone/>
                      </a:pPr>
                      <a:r>
                        <a:rPr lang="en-US" sz="2400"/>
                        <a:t>Slower convergence.</a:t>
                      </a:r>
                    </a:p>
                  </a:txBody>
                  <a:tcPr anchor="ctr"/>
                </a:tc>
                <a:tc>
                  <a:txBody>
                    <a:bodyPr/>
                    <a:lstStyle/>
                    <a:p>
                      <a:pPr>
                        <a:buNone/>
                      </a:pPr>
                      <a:r>
                        <a:rPr lang="en-US" sz="2400"/>
                        <a:t>Faster convergence.</a:t>
                      </a:r>
                    </a:p>
                  </a:txBody>
                  <a:tcPr anchor="ctr"/>
                </a:tc>
                <a:extLst>
                  <a:ext uri="{0D108BD9-81ED-4DB2-BD59-A6C34878D82A}">
                    <a16:rowId xmlns:a16="http://schemas.microsoft.com/office/drawing/2014/main" val="3082385933"/>
                  </a:ext>
                </a:extLst>
              </a:tr>
              <a:tr h="0">
                <a:tc>
                  <a:txBody>
                    <a:bodyPr/>
                    <a:lstStyle/>
                    <a:p>
                      <a:pPr>
                        <a:buNone/>
                      </a:pPr>
                      <a:r>
                        <a:rPr lang="en-US" sz="2400" b="1"/>
                        <a:t>Updates</a:t>
                      </a:r>
                      <a:endParaRPr lang="en-US" sz="2400"/>
                    </a:p>
                  </a:txBody>
                  <a:tcPr anchor="ctr"/>
                </a:tc>
                <a:tc>
                  <a:txBody>
                    <a:bodyPr/>
                    <a:lstStyle/>
                    <a:p>
                      <a:pPr>
                        <a:buNone/>
                      </a:pPr>
                      <a:r>
                        <a:rPr lang="en-US" sz="2400"/>
                        <a:t>Periodic updates are sent to neighboring routers.</a:t>
                      </a:r>
                    </a:p>
                  </a:txBody>
                  <a:tcPr anchor="ctr"/>
                </a:tc>
                <a:tc>
                  <a:txBody>
                    <a:bodyPr/>
                    <a:lstStyle/>
                    <a:p>
                      <a:pPr>
                        <a:buNone/>
                      </a:pPr>
                      <a:r>
                        <a:rPr lang="en-US" sz="2400"/>
                        <a:t>Updates are triggered by changes in the network topology.</a:t>
                      </a:r>
                    </a:p>
                  </a:txBody>
                  <a:tcPr anchor="ctr"/>
                </a:tc>
                <a:extLst>
                  <a:ext uri="{0D108BD9-81ED-4DB2-BD59-A6C34878D82A}">
                    <a16:rowId xmlns:a16="http://schemas.microsoft.com/office/drawing/2014/main" val="2033302490"/>
                  </a:ext>
                </a:extLst>
              </a:tr>
              <a:tr h="0">
                <a:tc>
                  <a:txBody>
                    <a:bodyPr/>
                    <a:lstStyle/>
                    <a:p>
                      <a:pPr>
                        <a:buNone/>
                      </a:pPr>
                      <a:r>
                        <a:rPr lang="en-US" sz="2400" b="1"/>
                        <a:t>Algorithm</a:t>
                      </a:r>
                      <a:endParaRPr lang="en-US" sz="2400"/>
                    </a:p>
                  </a:txBody>
                  <a:tcPr anchor="ctr"/>
                </a:tc>
                <a:tc>
                  <a:txBody>
                    <a:bodyPr/>
                    <a:lstStyle/>
                    <a:p>
                      <a:pPr>
                        <a:buNone/>
                      </a:pPr>
                      <a:r>
                        <a:rPr lang="en-US" sz="2400" dirty="0"/>
                        <a:t>Uses the </a:t>
                      </a:r>
                      <a:r>
                        <a:rPr lang="en-US" sz="2400" b="1" dirty="0"/>
                        <a:t>Bellman-Ford algorithm</a:t>
                      </a:r>
                      <a:r>
                        <a:rPr lang="en-US" sz="2400" dirty="0"/>
                        <a:t>.</a:t>
                      </a:r>
                    </a:p>
                  </a:txBody>
                  <a:tcPr anchor="ctr"/>
                </a:tc>
                <a:tc>
                  <a:txBody>
                    <a:bodyPr/>
                    <a:lstStyle/>
                    <a:p>
                      <a:pPr>
                        <a:buNone/>
                      </a:pPr>
                      <a:r>
                        <a:rPr lang="en-US" sz="2400" dirty="0"/>
                        <a:t>Uses </a:t>
                      </a:r>
                      <a:r>
                        <a:rPr lang="en-US" sz="2400" b="1" dirty="0"/>
                        <a:t>Dijkstra’s algorithm</a:t>
                      </a:r>
                      <a:r>
                        <a:rPr lang="en-US" sz="2400" dirty="0"/>
                        <a:t>.</a:t>
                      </a:r>
                    </a:p>
                  </a:txBody>
                  <a:tcPr anchor="ctr"/>
                </a:tc>
                <a:extLst>
                  <a:ext uri="{0D108BD9-81ED-4DB2-BD59-A6C34878D82A}">
                    <a16:rowId xmlns:a16="http://schemas.microsoft.com/office/drawing/2014/main" val="3412629455"/>
                  </a:ext>
                </a:extLst>
              </a:tr>
            </a:tbl>
          </a:graphicData>
        </a:graphic>
      </p:graphicFrame>
    </p:spTree>
    <p:extLst>
      <p:ext uri="{BB962C8B-B14F-4D97-AF65-F5344CB8AC3E}">
        <p14:creationId xmlns:p14="http://schemas.microsoft.com/office/powerpoint/2010/main" val="15523783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D2C8B-926E-37F4-A882-1095BD86BCE0}"/>
              </a:ext>
            </a:extLst>
          </p:cNvPr>
          <p:cNvSpPr>
            <a:spLocks noGrp="1"/>
          </p:cNvSpPr>
          <p:nvPr>
            <p:ph type="title"/>
          </p:nvPr>
        </p:nvSpPr>
        <p:spPr/>
        <p:txBody>
          <a:bodyPr>
            <a:normAutofit/>
          </a:bodyPr>
          <a:lstStyle/>
          <a:p>
            <a:r>
              <a:rPr lang="en-GB" sz="4000" dirty="0"/>
              <a:t>References</a:t>
            </a:r>
            <a:endParaRPr lang="en-SE" sz="4000" dirty="0"/>
          </a:p>
        </p:txBody>
      </p:sp>
      <p:sp>
        <p:nvSpPr>
          <p:cNvPr id="3" name="Text Placeholder 2">
            <a:extLst>
              <a:ext uri="{FF2B5EF4-FFF2-40B4-BE49-F238E27FC236}">
                <a16:creationId xmlns:a16="http://schemas.microsoft.com/office/drawing/2014/main" id="{F757311E-577B-3217-4E85-D680693EC5B6}"/>
              </a:ext>
            </a:extLst>
          </p:cNvPr>
          <p:cNvSpPr>
            <a:spLocks noGrp="1"/>
          </p:cNvSpPr>
          <p:nvPr>
            <p:ph type="body" idx="1"/>
          </p:nvPr>
        </p:nvSpPr>
        <p:spPr>
          <a:xfrm>
            <a:off x="746174" y="918401"/>
            <a:ext cx="11016065" cy="4467334"/>
          </a:xfrm>
        </p:spPr>
        <p:txBody>
          <a:bodyPr/>
          <a:lstStyle/>
          <a:p>
            <a:r>
              <a:rPr lang="en-GB" sz="1800" dirty="0">
                <a:latin typeface="+mj-lt"/>
              </a:rPr>
              <a:t>Dijkstras Shortest Path Algorithm Explained | With Example | Graph Theory</a:t>
            </a:r>
          </a:p>
          <a:p>
            <a:pPr lvl="1"/>
            <a:r>
              <a:rPr lang="en-GB" sz="1400" dirty="0">
                <a:latin typeface="+mj-lt"/>
                <a:hlinkClick r:id="rId3"/>
              </a:rPr>
              <a:t>https://www.youtube.com/watch?v=bZkzH5x0SKU</a:t>
            </a:r>
            <a:endParaRPr lang="en-GB" sz="1400" dirty="0">
              <a:latin typeface="+mj-lt"/>
            </a:endParaRPr>
          </a:p>
          <a:p>
            <a:r>
              <a:rPr lang="en-GB" sz="1800" dirty="0">
                <a:latin typeface="+mj-lt"/>
              </a:rPr>
              <a:t>Dijkstra's algorithm in 3 minutes</a:t>
            </a:r>
          </a:p>
          <a:p>
            <a:pPr lvl="1"/>
            <a:r>
              <a:rPr lang="en-GB" sz="1400" dirty="0">
                <a:latin typeface="+mj-lt"/>
                <a:hlinkClick r:id="rId4"/>
              </a:rPr>
              <a:t>https://www.youtube.com/watch?v=_lHSawdgXpI</a:t>
            </a:r>
            <a:endParaRPr lang="en-GB" sz="1400" dirty="0">
              <a:latin typeface="+mj-lt"/>
            </a:endParaRPr>
          </a:p>
          <a:p>
            <a:r>
              <a:rPr lang="en-GB" sz="1800" dirty="0">
                <a:latin typeface="+mj-lt"/>
              </a:rPr>
              <a:t>Bellman-Ford, Michael Sambol</a:t>
            </a:r>
          </a:p>
          <a:p>
            <a:pPr lvl="1"/>
            <a:r>
              <a:rPr lang="en-GB" sz="1400" dirty="0">
                <a:latin typeface="+mj-lt"/>
                <a:hlinkClick r:id="rId5"/>
              </a:rPr>
              <a:t>https://www.youtube.com/watch?v=9PHkk0UavIM</a:t>
            </a:r>
            <a:r>
              <a:rPr lang="en-GB" sz="1400" dirty="0">
                <a:latin typeface="+mj-lt"/>
              </a:rPr>
              <a:t> </a:t>
            </a:r>
          </a:p>
          <a:p>
            <a:pPr lvl="1"/>
            <a:r>
              <a:rPr lang="en-GB" sz="1400" dirty="0">
                <a:latin typeface="+mj-lt"/>
                <a:hlinkClick r:id="rId6"/>
              </a:rPr>
              <a:t>https://www.youtube.com/watch?v=obWXjtg0L64</a:t>
            </a:r>
            <a:r>
              <a:rPr lang="en-GB" sz="1400" dirty="0">
                <a:latin typeface="+mj-lt"/>
              </a:rPr>
              <a:t> </a:t>
            </a:r>
          </a:p>
          <a:p>
            <a:r>
              <a:rPr lang="en-GB" sz="1800" dirty="0">
                <a:latin typeface="+mj-lt"/>
              </a:rPr>
              <a:t>Bellman Ford Shortest Path Algorithm</a:t>
            </a:r>
            <a:r>
              <a:rPr lang="en-US" sz="1800" dirty="0">
                <a:latin typeface="+mj-lt"/>
              </a:rPr>
              <a:t>,</a:t>
            </a:r>
            <a:r>
              <a:rPr lang="zh-CN" altLang="en-US" sz="1800" dirty="0">
                <a:latin typeface="+mj-lt"/>
              </a:rPr>
              <a:t> </a:t>
            </a:r>
            <a:r>
              <a:rPr lang="en-GB" sz="1800" dirty="0" err="1">
                <a:latin typeface="+mj-lt"/>
              </a:rPr>
              <a:t>ByteQuest</a:t>
            </a:r>
            <a:endParaRPr lang="en-GB" sz="1800" dirty="0">
              <a:latin typeface="+mj-lt"/>
            </a:endParaRPr>
          </a:p>
          <a:p>
            <a:pPr lvl="1"/>
            <a:r>
              <a:rPr lang="en-GB" sz="1400" dirty="0">
                <a:latin typeface="+mj-lt"/>
                <a:hlinkClick r:id="rId7"/>
              </a:rPr>
              <a:t>https://www.youtube.com/watch?v=B5PmlJACZ9Y</a:t>
            </a:r>
            <a:r>
              <a:rPr lang="en-GB" sz="1400" dirty="0">
                <a:latin typeface="+mj-lt"/>
              </a:rPr>
              <a:t> </a:t>
            </a:r>
          </a:p>
          <a:p>
            <a:r>
              <a:rPr lang="en-GB" sz="1800" dirty="0">
                <a:latin typeface="+mj-lt"/>
              </a:rPr>
              <a:t>Shortest Path Algorithms Explained (Dijkstra's &amp; Bellman-Ford), b001</a:t>
            </a:r>
          </a:p>
          <a:p>
            <a:pPr lvl="1"/>
            <a:r>
              <a:rPr lang="en-GB" sz="1400" dirty="0">
                <a:latin typeface="+mj-lt"/>
                <a:hlinkClick r:id="rId8"/>
              </a:rPr>
              <a:t>https://www.youtube.com/watch?v=TtQi1LVVOUI</a:t>
            </a:r>
            <a:endParaRPr lang="en-GB" sz="1400" dirty="0">
              <a:latin typeface="+mj-lt"/>
            </a:endParaRPr>
          </a:p>
          <a:p>
            <a:r>
              <a:rPr lang="en-GB" sz="2000" dirty="0"/>
              <a:t>[CSE 373 WI24] Lecture 15: Shortest Path</a:t>
            </a:r>
          </a:p>
          <a:p>
            <a:pPr lvl="1"/>
            <a:r>
              <a:rPr lang="en-GB" sz="1800" dirty="0">
                <a:hlinkClick r:id="rId9"/>
              </a:rPr>
              <a:t>https://www.youtube.com/watch?v=L8nhMwhUn4U&amp;list=PLEcoVsAaONjd5n69K84sSmAuvTrTQT_Nl&amp;index=14</a:t>
            </a:r>
            <a:endParaRPr lang="en-SE" sz="1800" dirty="0"/>
          </a:p>
        </p:txBody>
      </p:sp>
    </p:spTree>
    <p:extLst>
      <p:ext uri="{BB962C8B-B14F-4D97-AF65-F5344CB8AC3E}">
        <p14:creationId xmlns:p14="http://schemas.microsoft.com/office/powerpoint/2010/main" val="253701905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HIGHLIGHTER" val="false"/>
</p:tagLst>
</file>

<file path=ppt/theme/theme1.xml><?xml version="1.0" encoding="utf-8"?>
<a:theme xmlns:a="http://schemas.openxmlformats.org/drawingml/2006/main" name="Integral">
  <a:themeElements>
    <a:clrScheme name="Custom 2">
      <a:dk1>
        <a:srgbClr val="000000"/>
      </a:dk1>
      <a:lt1>
        <a:srgbClr val="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33006F"/>
      </a:hlink>
      <a:folHlink>
        <a:srgbClr val="9A7B4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otalTime>2300</TotalTime>
  <Words>8430</Words>
  <Application>Microsoft Office PowerPoint</Application>
  <PresentationFormat>Widescreen</PresentationFormat>
  <Paragraphs>2214</Paragraphs>
  <Slides>63</Slides>
  <Notes>48</Notes>
  <HiddenSlides>0</HiddenSlides>
  <MMClips>0</MMClips>
  <ScaleCrop>false</ScaleCrop>
  <HeadingPairs>
    <vt:vector size="6" baseType="variant">
      <vt:variant>
        <vt:lpstr>Fonts Used</vt:lpstr>
      </vt:variant>
      <vt:variant>
        <vt:i4>19</vt:i4>
      </vt:variant>
      <vt:variant>
        <vt:lpstr>Theme</vt:lpstr>
      </vt:variant>
      <vt:variant>
        <vt:i4>2</vt:i4>
      </vt:variant>
      <vt:variant>
        <vt:lpstr>Slide Titles</vt:lpstr>
      </vt:variant>
      <vt:variant>
        <vt:i4>63</vt:i4>
      </vt:variant>
    </vt:vector>
  </HeadingPairs>
  <TitlesOfParts>
    <vt:vector size="84" baseType="lpstr">
      <vt:lpstr>DejaVu Sans Mono</vt:lpstr>
      <vt:lpstr>KaTeX_Main</vt:lpstr>
      <vt:lpstr>KaTeX_Math</vt:lpstr>
      <vt:lpstr>LucidaGrande</vt:lpstr>
      <vt:lpstr>Noto Sans Symbols</vt:lpstr>
      <vt:lpstr>System Font Regular</vt:lpstr>
      <vt:lpstr>Twentieth Century</vt:lpstr>
      <vt:lpstr>Arial</vt:lpstr>
      <vt:lpstr>Calibri</vt:lpstr>
      <vt:lpstr>Cambria Math</vt:lpstr>
      <vt:lpstr>Consolas</vt:lpstr>
      <vt:lpstr>Georgia</vt:lpstr>
      <vt:lpstr>Helvetica</vt:lpstr>
      <vt:lpstr>Quattrocento Sans</vt:lpstr>
      <vt:lpstr>Roboto Light</vt:lpstr>
      <vt:lpstr>Times</vt:lpstr>
      <vt:lpstr>Times New Roman</vt:lpstr>
      <vt:lpstr>Trebuchet MS</vt:lpstr>
      <vt:lpstr>Wingdings</vt:lpstr>
      <vt:lpstr>Integral</vt:lpstr>
      <vt:lpstr>Office Theme</vt:lpstr>
      <vt:lpstr>Shortest Paths Algorithms</vt:lpstr>
      <vt:lpstr>PowerPoint Presentation</vt:lpstr>
      <vt:lpstr>Review: Graph traversal w/ DFS</vt:lpstr>
      <vt:lpstr>Review: Graph traversal w/ BFS</vt:lpstr>
      <vt:lpstr>BFS for (Unweighted) Shortest Path Problem</vt:lpstr>
      <vt:lpstr>BFS for Shortest Paths in an Unweighted Graph</vt:lpstr>
      <vt:lpstr>Shortest Path Tree</vt:lpstr>
      <vt:lpstr>BFS Time Complexity</vt:lpstr>
      <vt:lpstr>PowerPoint Presentation</vt:lpstr>
      <vt:lpstr>Dijkstra’s Algorithm</vt:lpstr>
      <vt:lpstr>Edge Relaxation</vt:lpstr>
      <vt:lpstr>Generic Shortest-paths Algorithm</vt:lpstr>
      <vt:lpstr>Dijkstra's Algorithm</vt:lpstr>
      <vt:lpstr>Dijkstra’s Algorithm: Idea</vt:lpstr>
      <vt:lpstr>PowerPoint Presentation</vt:lpstr>
      <vt:lpstr>Dijkstra’s Algorithm: Key Properties</vt:lpstr>
      <vt:lpstr>Dijkstra’s Algorithm: Runtime</vt:lpstr>
      <vt:lpstr>Greedy Algorithms</vt:lpstr>
      <vt:lpstr>Resolving Ambiguities</vt:lpstr>
      <vt:lpstr>Example I</vt:lpstr>
      <vt:lpstr>Example I</vt:lpstr>
      <vt:lpstr>Example I</vt:lpstr>
      <vt:lpstr>Example I</vt:lpstr>
      <vt:lpstr>Example I</vt:lpstr>
      <vt:lpstr>Example I</vt:lpstr>
      <vt:lpstr>Example I</vt:lpstr>
      <vt:lpstr>Example I</vt:lpstr>
      <vt:lpstr>Example I Final</vt:lpstr>
      <vt:lpstr>Example I: Interpreting the Results</vt:lpstr>
      <vt:lpstr>Example I Sample Exam Question and Answer</vt:lpstr>
      <vt:lpstr>Example II</vt:lpstr>
      <vt:lpstr>Initialize</vt:lpstr>
      <vt:lpstr>Visit node A</vt:lpstr>
      <vt:lpstr>Visit node B</vt:lpstr>
      <vt:lpstr>Visit node D</vt:lpstr>
      <vt:lpstr>Visit node E</vt:lpstr>
      <vt:lpstr>Visit node F</vt:lpstr>
      <vt:lpstr>Visit node C</vt:lpstr>
      <vt:lpstr>End of Algorithm</vt:lpstr>
      <vt:lpstr>Getting the Shortest Path from A to C</vt:lpstr>
      <vt:lpstr>Example II Exam Question and Answer</vt:lpstr>
      <vt:lpstr>PowerPoint Presentation</vt:lpstr>
      <vt:lpstr>PowerPoint Presentation</vt:lpstr>
      <vt:lpstr>Bellman-Ford Algorithm</vt:lpstr>
      <vt:lpstr>Bellman-Ford Example</vt:lpstr>
      <vt:lpstr>Bellman-Ford Example</vt:lpstr>
      <vt:lpstr>Bellman-Ford Example</vt:lpstr>
      <vt:lpstr>Bellman-Ford Example</vt:lpstr>
      <vt:lpstr>Bellman-Ford Convergence Speed</vt:lpstr>
      <vt:lpstr>Bellman-Ford Example</vt:lpstr>
      <vt:lpstr>Bellman-Ford Example</vt:lpstr>
      <vt:lpstr>Bellman-Ford Example</vt:lpstr>
      <vt:lpstr>Bellman-Ford Example</vt:lpstr>
      <vt:lpstr>Bellman-Ford Example</vt:lpstr>
      <vt:lpstr>Bellman-Ford Example II</vt:lpstr>
      <vt:lpstr>A Toy Example with Negative Edge Weights</vt:lpstr>
      <vt:lpstr>Dijkstra’s algorithm does not work for a graph w/ negative edge weights</vt:lpstr>
      <vt:lpstr>Dijkstra’s algorithm does not work for a graph w/ negative edge weights</vt:lpstr>
      <vt:lpstr>Bellman Ford works for a graph with negative edge weights</vt:lpstr>
      <vt:lpstr>Dijkstra's Algorithm vs. Bellman-Ford Algorithm</vt:lpstr>
      <vt:lpstr>PowerPoint Presentation</vt:lpstr>
      <vt:lpstr>Distance Vector vs. Link State Routing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dc:creator>
  <cp:lastModifiedBy>Zonghua Gu</cp:lastModifiedBy>
  <cp:revision>56</cp:revision>
  <dcterms:modified xsi:type="dcterms:W3CDTF">2026-02-20T01:02:50Z</dcterms:modified>
</cp:coreProperties>
</file>