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54"/>
      <p:bold r:id="rId55"/>
      <p:italic r:id="rId56"/>
      <p:boldItalic r:id="rId57"/>
    </p:embeddedFont>
    <p:embeddedFont>
      <p:font typeface="Roboto Light" panose="02000000000000000000" pitchFamily="2" charset="0"/>
      <p:regular r:id="rId58"/>
      <p:bold r:id="rId59"/>
      <p:italic r:id="rId60"/>
      <p:boldItalic r:id="rId61"/>
    </p:embeddedFont>
    <p:embeddedFont>
      <p:font typeface="Roboto Medium" panose="02000000000000000000" pitchFamily="2" charset="0"/>
      <p:regular r:id="rId62"/>
      <p:bold r:id="rId63"/>
      <p:italic r:id="rId64"/>
      <p:boldItalic r:id="rId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4A3240-9E21-4ABE-83A7-3F0B011E3210}">
  <a:tblStyle styleId="{AE4A3240-9E21-4ABE-83A7-3F0B011E321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0.fntdata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8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schemas.openxmlformats.org/officeDocument/2006/relationships/font" Target="fonts/font11.fntdata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font" Target="fonts/font9.fntdata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7.fntdata"/><Relationship Id="rId65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delSld modSld">
      <pc:chgData name="Zonghua Gu" userId="9a7e1853e1951ef5" providerId="LiveId" clId="{CF1FAA12-072C-4ED5-BA76-0FFFAEFDB88A}" dt="2025-12-31T12:31:14.375" v="1" actId="6549"/>
      <pc:docMkLst>
        <pc:docMk/>
      </pc:docMkLst>
      <pc:sldChg chg="del">
        <pc:chgData name="Zonghua Gu" userId="9a7e1853e1951ef5" providerId="LiveId" clId="{CF1FAA12-072C-4ED5-BA76-0FFFAEFDB88A}" dt="2025-12-31T12:31:12.235" v="0" actId="47"/>
        <pc:sldMkLst>
          <pc:docMk/>
          <pc:sldMk cId="0" sldId="256"/>
        </pc:sldMkLst>
      </pc:sldChg>
      <pc:sldChg chg="modSp mod">
        <pc:chgData name="Zonghua Gu" userId="9a7e1853e1951ef5" providerId="LiveId" clId="{CF1FAA12-072C-4ED5-BA76-0FFFAEFDB88A}" dt="2025-12-31T12:31:14.375" v="1" actId="6549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5-12-31T12:31:14.375" v="1" actId="6549"/>
          <ac:spMkLst>
            <pc:docMk/>
            <pc:sldMk cId="0" sldId="257"/>
            <ac:spMk id="152" creationId="{00000000-0000-0000-0000-000000000000}"/>
          </ac:spMkLst>
        </pc:spChg>
      </pc:sldChg>
      <pc:sldMasterChg chg="delSldLayout">
        <pc:chgData name="Zonghua Gu" userId="9a7e1853e1951ef5" providerId="LiveId" clId="{CF1FAA12-072C-4ED5-BA76-0FFFAEFDB88A}" dt="2025-12-31T12:31:12.235" v="0" actId="47"/>
        <pc:sldMasterMkLst>
          <pc:docMk/>
          <pc:sldMasterMk cId="0" sldId="2147483670"/>
        </pc:sldMasterMkLst>
        <pc:sldLayoutChg chg="del">
          <pc:chgData name="Zonghua Gu" userId="9a7e1853e1951ef5" providerId="LiveId" clId="{CF1FAA12-072C-4ED5-BA76-0FFFAEFDB88A}" dt="2025-12-31T12:31:12.235" v="0" actId="47"/>
          <pc:sldLayoutMkLst>
            <pc:docMk/>
            <pc:sldMasterMk cId="0" sldId="2147483670"/>
            <pc:sldLayoutMk cId="0" sldId="214748364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784e3d3438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784e3d3438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is the outline of what we'll talk about today we're first going to actually drop down some formal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definitions so we should really Define this problem so that we know what we're trying to solve exactly we'll talk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this is a hard problem and the different types of solutions we can apply to it and then we'll talk a little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 about what the solution space looks like so what is it actually mean to come up with an answer what even does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answer itself look like and what makes an answer good what makes an answer bad so today is mostly about definitions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up the problem and then starting next time we're really going to dive into ways to actually solve this problem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today is just an overview of all the definitions and making the problem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concrete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784e3d3438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784e3d3438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 we go the goal is routing and we've sort of already hinted at this problem before but basically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router receives a packet it needs to know should I send it this way should I send it this way that's the question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we're going to spend a lot of time answering so we're going to define the problem we're going to say why do you need routing in the first place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would the internet without routing look like why is it hard what are the algorithms and how do we classify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different types of algorithms and then we'll look at how do you measure the quality of a solution what even does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look like in the first place how do you know if the solution works and how do you know if the solution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so it's a lot of definitions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784e3d3438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2784e3d3438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we need routing we can first imagine a world without routing who needs routing who needs these six lectures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we just go without it so to rewind a little bit remember we said if two machines want to communicate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stick a link between them and now they can talk to each other that's great if I have two machines what if I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five machines well maybe something I could do is I could just add a link between every pair of machines so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at this without routers no one needs routers we'll just install a bunch of links between every pair of machines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now if anyone wants to talk to each other they can just send the packet along the L link to the recipient so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 wants to talk to C okay that's no problem D will just send a packet along this link and it reaches C see no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required we don't need these lectures if you build something like this it's called the full mesh topology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if you have something like five hosts this might be okay but we can already see if you try to do this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 hosts or 100 hosts or the billions of hosts that are in the real internet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not going to scale so I mean even imagine adding a sixth machine to this picture when you add the sixth machine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would have to go and install new links from machine F to all five of these machines so every time I add a new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I have to add a whole bunch of links that's pretty annoying so this topology while it helps us avoid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would create enormous scaling problems and we would never reach the internet scale that said there are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places where you actually want something like this so in some settings maybe you do want a mesh topology which is what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 it when everyone is connected to everyone else maybe you want this because now DNC have a dedicated link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last time we talked about resource sharing well if you have a mesh topology you don't have to share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 with anyone else DNC are the only people using this link no one else is using it if that is a desirable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property to you maybe this is the topology you want to go with it's not going to scale very well it's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very expensive if you want to build this for a lot of machines but if dedicated bandwidth is something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care about maybe this is the way to go so once again we're seeing the network has a lot a lot of trade-offs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here you'd be trading off scalability for really good dedicated performance but if we want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 we can't have this so we need to go finding something else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784e3d3438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784e3d3438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other direction instead of using a whole bunch of links to connect everyone what if we just use the single link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just the single wire and I'm just hooking it up to all five machines so it's one wire five machines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great because now if anyone else comes along we just have to extend that wire and plug it into them so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I have to connect host F to everyone else we just take this wire and plug that same wire into F that's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so this has better scaling properties but there's the problem here and the problem is we no longer have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 of bandwidth in fact everyone has to share the same link for example if a is talking to d e cannot be using the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A and D are using it right now or if B and C are talking well then e can't use the link this is a single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if anyone's talking other people can't use it everyone has to share so even this has scaling problems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to scale this up to the whole internet well then no one's going to be able to talk because only one person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at any time so we've seen both extremes the extreme of connecting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everyone with a dedicated link has scaling issues and the solution where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a single link for everyone has bandwidth issues so neither of these are really good and that's what brings us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as a solution we want more sophisticated topologies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784e3d3438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784e3d3438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here we have not a case where everyone is directly connected like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 mesh but we also don't have a case where everyone's sharing one wire like the single wire approach from earlier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to build topologies that look like this we now need routers and that's something we've already seen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machines sit on the internet and their goal is just to forward data closer to their destination so this gives us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of both worlds we don't need as many links as full mesh so we can scale this more but we also have a lot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capacity so for example if a link goes down we can switch to other ones there's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capacity than if there was just a single Link in the network and so as mentioned earlier if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784e3d3438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2784e3d3438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26:29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link goes down packets can even take a different path through the network and that's something else that's pretty nice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26:34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we'll try to exploit when we design routing protocols sometimes it's the case that a link goes down and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packet can just take a different path that's kind of nice but if you want to use routing if you want to unlock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26:47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solutions that look like this where you can build apologies of your own favorite shapes and connect everyone up in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26:53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way that you want then we need to answer the routing protocol we need to figure out how exactly did D R2 R3 and E know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27:02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this is the path to take or that this is the path to take that's the question we have to formally answer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27:09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what we'll Define today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784e3d3438_0_6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784e3d3438_0_6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we're going to define a model for what the network looks like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we can actually formally Define the routing problem so for our model which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784e3d3438_0_6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2784e3d3438_0_6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admittedly is a little bit of a simplification real life internet does not look the way we are going to build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and along the way I'll point out some of the simplifications we're making but just so that we all have a good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the problem we're trying to solve we're going to make a couple of simplifications just to make our lives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little bit easier so we are going to assume that every machine on the network can be classified into these two types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reality maybe not 100% true but for now we'll assume everything is either 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 host or a router it's one or the other everyone is exactly one of these two types we will also assume end hosts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send and receive packets they don't forward packets so for example my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personal computer is an end host it creates brand new packets to send and it is the final destination of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for example if Google Slides is sending me this picture of a router it's sending it to my computer as its final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destination so my computer is sending and receiving packets however my computer is not forwarding packets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people so it's not the case that I receive a packet and I forward it to someone else the only packets that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me are packets for which I am the Final Destination that's a bit of a simplification but it's what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today the other type of machine on the Internet is a router and for now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will assume that the routers only have one job and that is to forward packets for other people so routers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assume they don't create their own packets we're going to assume they're not the Final Destination I don't ever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to talk to a router I want to talk to other end hosts and routers their only job is to receive a packet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it toward its destination kind of a simplification but for our model good enough and in case you're wondering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routers look like in real life if you go into a data center you see these really big people sized routers in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 you might have a tiny one like this and in a diagram sometimes people draw this symbol which is apparently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universally accepted symbol for router although in our class we tend to draw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squares so for now we'll assume everything is one of these two types later in the class we'll maybe somewhat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relax these assumptions but they are assumptions they'll just give us a model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784e3d3438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2784e3d3438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something else that we'll assume is that our Network looks like a graph and it looks like one of these graphs so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we'll assume that each link connects exactly to machines so for example this link here it connects a and R2 so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going to draw any of those links that connect three or more computers those do exist you actually saw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but for this model that we're currently building we just won't think about this we'll come back to those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so the network is a graph each link connects two and only two machines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more no less and every machine gets some sort of label and here we'll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lazy with our labels and we'll say they're either letters like a b c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numbers like R1 R2 R3 and later we'll come back and think how do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actually give these things meaningful addresses it's not really R3 what is it actually called that's something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come back to later as well but for now just treat the network as a graph it looks like this it's got end hosts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got routers links connect two machines and everyone has a unique unque label that no one else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 so that's our model just to make things a little bit easier as we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dive into routing 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784e3d3438_0_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2784e3d3438_0_7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a little bit more modeling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we've already talked about what packets are they're the basic unit of data that you send and receive and we've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talked about packets having headers we've talked about packets wrapping and unwrapping multiple headers for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we're going to just focus on layer three which means we really just care about the source address and the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address so if you think back to all the layers of the internet at layer three we would write something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like Alice's street address and Bob's street address those are the only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header fields that we care about for now in reality yes other fields exist at higher layers at lower layers 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within this layer but for now we will just think about two header fields to make our lives a little bit easier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likewise we don't care about the payload because doesn't really matter if we sending an image or the contents of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website or the text on this slide whatever you're sending the router is going to forward it using the header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fields and it's not going to open up this payload and say I'm going to forward a picture differently we don't do that so whatever's in here it's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bunch of ones and zeros and we don't care what it is it's a picture it's a video doesn't matter we're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it all the same so it's a little bit of a simplification but it's what we'll be doing for this particular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unit and remember if you come back for the end to- endend lectures everything will get tied up together just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any thoughts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784e3d3438_0_7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784e3d3438_0_7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we've defined the model for the problem we're trying to solve we talked about the network being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graph and all the routers having unique labels we can now start thinking why is this a hard problem why is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take us a bunch of lectures to solve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it seems like all I have to do is find the paths and I'm good but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turns out there are three challenges that make this a pretty hard problem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784e3d3438_0_7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2784e3d3438_0_7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one problem right away is that the network never stays the same so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like someone is handing you a problem and you can take your time solving it and then present me with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and the solution is correct the network graph is constantly changing which also means that the correct answer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routing whatever that means is also changing an answer that's correct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could be incorrect tomorrow or even a couple seconds from now and the reason for this is because the topology itself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stays the same so new people can connect to the network for example when I walked into the lecture hall today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plugged in my computer this was a brand new computer that joined the network so the network changed and so the answer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routing problem also changed and we've also talked about how links can fail or new links can be installed so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link fails or if we add a new link or if we upgrade a link well that's also going to change the network and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could also change the answer so whatever protocols we design they have to be robust to the fact that the network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constantly changing we don't just hand you one picture of the network and ask for an answer it's always changing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time and we always want to be up to date and have the latest answer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2784e3d3438_0_8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2784e3d3438_0_8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challenge is this protocol is distributed and what that means is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 Central Mastermind that can look at the entire graph and think about the answer so it's not the case that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and I can look at the slide and say okay we see that there are eight routers and four hosts in total on this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and I know that but the network doesn't know that for example if your router R2 it might be the case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no idea what's going on all the way out here all that you know about is well I'm neighbors with a and R1 and R3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all you know and you don't know anything else and so turns out routing Protocols are distributed each router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knows a little bit about the network usually things about where they are and their direct neighbors and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means is that everyone has to talk to each other to try and get a more complete picture about what's going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there is no one Central Mastermind living above the entire network that can give you the answer every one knows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little piece of the answer and they have to coordinate with themselves to try and form something that answers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 overall so there going to be a lot of coordination the routers have to talk to each other a lot for example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R3 have to talk to each other and share some information R3 and R seven might have to talk to each other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share some information and another consequence of the distributed protocol is that no one router is going to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answer so it's not going to be the case that R2 by itself can tell you about the entire graph and all of 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truths usually each router has a little piece of the answer that they need to answer the question and when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aggregate every router's information you would get the full solution but in reality each router Only Knows 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little piece of the solution and that's all that it really needs to operate so that's another challenge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is distributed you don't know about what's going on out here if a link fails or someone signs off you don't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but you'd have to talk with your neighbors to really be sure about what's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2784e3d3438_0_9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2784e3d3438_0_9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third challenge that we have to solve is best effort so remember we said at layer three everything is best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effort so all sorts of packets could get dropped when I'm forwarding data a packet could get dropped maybe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has a bug or is over loaded also when the routers talk to each other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R2 and R3 are communicating those packets could get dropped too so we have to be really careful about things being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effort we can never say something like well the packet's going to get there and everything is going to be okay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always have to worry about packets being best efforted and being dropped so in summary we've identified three things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make routing hard the topology is constantly changing it's a distributed problem because no one has a global view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the network and everyone Only Knows part of the answer and the links are best effort and things can get dropped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37:54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as we solve these problems we're going to encounter these challenges over and over again and we will find our ways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around them but that's something we have to deal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2784e3d3438_0_9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2784e3d3438_0_9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at this point we've defined the problem we have talked about why it's a hard problem now let's get a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 level sense of what kinds of solutions are out there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784e3d3438_0_9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784e3d3438_0_9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if you're someone looking for a new routing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protocol to solve this problem what kinds of Protocols are out there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38:33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you could possibly use as a network operator </a:t>
            </a:r>
            <a:r>
              <a:rPr lang="en"/>
              <a:t>and turns out there are tons of these people are inventing them probably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we speak there's lots of different ways to solve this problem and each solution is called a routing protocol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a protocol that solves the routing problem so in this class at least for this part of the class we are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how the real internet solves the routing problem so by real internet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the internet that you and I are currently connected to and later down the line we'll see some other solutions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routing for more specialized approaches so for example if I'm inside a Data Center building does the answer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the routing question change a little bit yeah maybe or what if I'm trying to connect with a group of people like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Docs does that change the routing protocol turns out they do and we'll talk about alternative approaches but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 let's just talk about solving the routing protocol for the general purpose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purpose internet remember that we are thinking in terms of network of networks and what that means is there's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lots of different internet operators and each one operates its own local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the local networks connect with each other to form the big Global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the internet so this is what the network of networks looks like this might be UC Berkeley this might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Stanford UC Berkeley has its own Network Stanford has its own network and they might connect to each other so this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kind of network that we are going to try to solve the problem for and it turns out to solve the problem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isn't just one answer so it's not like the entire internet uses the same routing protocol and in fact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divide the answers to the routing problem into several different protocols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combine to solve the overall problem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2784e3d3438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2784e3d3438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categories of writing protocols one is called intra domain and if you if you've never heard the word intra means within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something and Inter domain routing and that means across to different things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 domain routing protocols those are the ones that help us solve the problem inside a single Network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this is UC Berkeley's Network we could could use an intra domain routing protocol to figure out all the paths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for this specific Network so we don't care about anyone else in anyone else's networks we just care about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the host in our own network that's an intra doain routing protocol these Protocols are designed to solve problems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a single Network sometimes these are also called interior Gateway protocols people like inventing names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things and that's another name that they've given it and each Network crucially can choose their own intad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domain protocols this is really important because remember the internet is Federated and what that means is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a single organization controlling the internet UC Berkeley might be controlling this part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internet and they might have their own priorities and their own constraints and this part of the internet might be run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 Stanford or AT&amp;T and they might have their own priorities in terms of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how big they are how big they are in a geographic sense how far away are the different hosts are they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within a campus on UC Berkeley campus or are they halfway across the world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networks can be different in terms of how many hosts there are the links themselves could be high capacity low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capacity High latency low latency maybe some networks have a lot of support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staff and are very well funded maybe some have to run on a very low budget there's all these different things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each Network unique and different and so it's a good thing that every Network can choose its own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to fit its own needs and as we see routing protocols you'll see the trade-offs between them and why someone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might pick one over the other but basically the idea here is at the intra domain level with within a single one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networks each Network gets a choice they can pick their own protocol that works the best for them based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their needs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2784e3d3438_0_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2784e3d3438_0_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 contrast the other type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internet routing protocol is called interdomain this is the one that lets us compute routes between networks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don't really care what's going on inside the individual networks anymore we more care about connecting these networks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to form the global internet and again sometimes people call this exterior Gateway protocols people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give things different names oh well but these are two different names for the same thing at least for the purposes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this class and here it's not the case that everyone can pick their own so earlier when we were looking inside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everyone can pick their own but now because all the networks are talking to each other it's kind of like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wasting that we talked about if all the networks are talking to each other and all the networks have to uh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to each other and agree with each other on a routing protocol they all have to use the same one everyone has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speak the same language when they're talking to other networks so that we can get all of these networks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so at the inter domain level at least in the modern internet there is one and only one choice if you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connected to the internet you must speak a protocol called bgp border Gateway protocol there will be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lectures on that but this is what all of the modern internet uses if you don't use bgp you are not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Internet it's not going to work so at the intra domain level everyone picked their own at the in domain level you got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speak bgp it's what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uses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2784e3d3438_0_1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2784e3d3438_0_1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so far we've talked about how you classify the routing protocols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we said you can think about some protocols inside a network those are int domain and the individual networks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everyone can decide their own and we talked about interdomain writing protocols those route between networks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everyone has to pick the same one in practice the boundary between these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get a little bit blurred so when we show you the full picture you'll see that sometimes bgp is actually used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a network in addition to between networks so to really get everything to work together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always the case that there's this very clean split it's kind of like when we talked about the layers of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the case that everyone cleanly belongs to a layer it's a nice abstraction model but in real life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can get a little bit blurred but for now that's a pretty useful way to think about the two different classes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protocols and as we go through these specific protocols we'll also classify them in terms of what they are doing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one will make more sense once you see the protocols themselves but some Protocols are based on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is something you'll learn all about and some are based on link State also something I'll learn about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this basically shows you can classify writing protocols along two different axes one is do they operate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one domain or across lots of domains and another one is do they use something called distance vector and 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 like path vector or do they use something called link State and you get one lecture for each of those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you'll see two different approaches to how routing protocols operate so that's kind of the tonomy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the different routing protocols and you haven't seen a single one yet but now you know how to classify them when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do pop up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2784e3d3438_0_1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2784e3d3438_0_1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in the first half of today we did a lot of modeling just to Define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the problem is why it's a hard problem what the solution space looks like how you can CL classify Solutions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based on where they operate and how they operate in the second half of today we're actually going to look 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the solution actually look like so when someone says I've solved the routing problem and they hand you 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answer what does the answer actually look like and how do you assess if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answer is correct does it actually work and how do you assess if the answer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and we have to Define what good means so the second half of today is all about evaluating answers and try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understand what they even look like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784e3d3438_0_10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784e3d3438_0_10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to recap the basic challenge of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when a router receives a packet it looks at its sender field and its destination field and remember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simplified and said those are the only two fields that we currently care about and the router has to use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information from A to B to decide where do I forward this packet should I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that way do I send it that way what do I do with this packet and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ultimately the goal is that packets should get forwarded to their desired destination so this router should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in such a way that it gets closer to its destination whatever that means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router should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in such a way that it gets closer to its destination whatever that means and also something we haven't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explicitly said but I'll Define now we sometimes use the term Next Top to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where the packet is getting forwarded next so if the router sends it along this link and it reaches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here we would say that this router is the next toop router so just a bit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terminology so before we can talk about some good answers and what it would look like to even have a good answer or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 one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784e3d3438_0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784e3d3438_0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let's talk about some answers that are bad so hopefully it doesn't take a lot of convincing to say if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just pick a random link I flip a coin and send it along this one or this one hopefully we agree that's probably a bad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solution if you flip a coin and you flip wrong the packet might just never reach its destination so we hopefully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agree that flipping coins is not the way to go here there's another solution that is very silly and will work which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just send the packet along every link so take a copy and send it that way take a copy send it that way so regardless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which is the correct answer top or bottom this packet is going to get sent along the correct one and also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incorrect one so it's going to work but you're unnecessarily wasting bandwidth you only have to forward this packet one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way but you forward it two ways that's not so great so we've already seen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solutions that are not so great one is random because it's not going to work it's going to sometimes fail to reach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51:58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 destination and sending along every link which works but it wastes bandwidth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52:03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from these two bad Solutions we're already starting to get a sense of what it means to have valid and good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52:09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Solutions the package should probably reach its destination so don't do the coin flip thing and we should not send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52:15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packets along unnecessary links so don't do the send along every link solution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52:21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either so those are two bad Solutions and they give us hints as to what better Solutions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52:28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2784e3d3438_0_1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2784e3d3438_0_1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the internet uses something called destination based forwarding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that means is when you make a decision you are going to completely ignore the from field of the packet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where this packet came from it does not matter if the packet came from a or b or X or Z or anyone else if the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going to be it is going the same way so for example if your router R2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receive a packet for B it does not matter if it came from a or C or D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that way so it's one of those things that feels pretty intuitive once you see it in a picture but it's good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 it out so when you're viewing these packets and deciding where to forward them we are going to totally ignore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field whether a C or D sends it if it's going to B it's going that way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that's called destination based forwarding you decide only based on the destination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 guess something that I haven't explicitly called out yet is if you're using destination based forwarding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if you want to keep track of where to forward packets you can keep a table so here's a nice little table we call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forwarding table because it's going to make forwarding decisions and it says if I ever receive a packet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destined for a I will send it to R1 and if I receive a packet that's destined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B I will send it to R3 and if I receive a packet Destin for C I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also send it to R3 so sometimes two destinations have the same next toop that's totally fine and if I receive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for D I will send it along R4 so notice that this table only Maps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destinations to the next top because that's the only thing that we care about we just say okay if it's going to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 it to R3 so this little table helps us keep track of where packets are getting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forwarded different have question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27854061902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g27854061902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one little terminology note because this is kind of a terminology lecture when these tables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are actually implemented in real life they will often be implemented in terms of physical ports and I think when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the project it also implements next Toops in terms of physical ports so all that this means is if you look at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picture conceptually where you and I can stare at the slide and look at the fancy pictures we can see that when R2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for B it should be forwarded to R3 so we say destination B maps to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 R3 but in real life if you're at a very low level and you're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routers you're not going to be able to see a pretty picture like this where all the routers have nice little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labels when you're programming lowlevel routers all that you know is I have this router it's a box with electronics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and I have plugged in three wires I've plugged in a wire into Port zero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I've plugged a wire into Port one and I've plugged a wire into Port two so in a case like that where you're dealing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wires plugged into ports you would instead say something like if I want to send a packet to destination B please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 it out of the wire that is plugged into port number one and then that wire is connected to R3 so conceptually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would draw it like this in reality people would use port numbers when they're programming these routers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mean the same thing and when possible we'll use this one because it looks nicer but both are valid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approaches and when you do the project if you're ever confused as why as to why are these numbers it's because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working at a lower level or we think about wires plugged into ports by the way these are physical ports they're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 holes on the router that you plug wires into so equivalently this next hop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could be Rewritten as this port table they mean the exact same 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of a side note but something you'll see now and then okay now it's a good time to tell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about the distinction between routing and forwarding so they're two things that sound very similar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actually very different so what is forwarding it's something we've spent the whole day talking about when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receive a packet and we've hidden all the other parts of this packet but this packet says it's going to be well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to look in your table and decide well it looks like packets for Destination B should be forwarded along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Port one so when I receive a packet for B send it that way that's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forwarding you receive a packet from a user and you forward it so that it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closer to its destinatio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7854061902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1" name="Google Shape;701;g27854061902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of a side note but something you'll see now and then okay now it's a good time to tell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about the distinction between routing and forwarding so they're two things that sound very similar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actually very different so what is forwarding it's something we've spent the whole day talking about when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receive a packet and we've hidden all the other parts of this packet but this packet says it's going to be well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to look in your table and decide well it looks like packets for Destination B should be forwarded along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Port one so when I receive a packet for B send it that way that's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forwarding you receive a packet from a user and you forward it so that it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closer to its destination by contrast something that is totally different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routing is the process where you talk with other routers to fill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so you can think of it like forwarding is using this table to forward packets and routing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of actually building this table how did you know that a maps to zero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 maps to one routing is what's going to answer that question so there are two separate things that you have to do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to build the table and that's what routing is going to do and then you have to use the table to forward packets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what forwarding does so in forwarding you receive a packet you forward it in routing you talk to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to learn how to fill in this table and when you talk about designing routing protocols we are talking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right half of the slide not the left half some other differences between forwarding and routing forwarding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local process when you receive a packet you look it up in your table it says send it out of port one so we send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 of port one and that's it it doesn't depend on on anyone else in the network the only person who really has to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anything for forwarding is you the router you receive a packet you use your own knowledge in the form of your table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forward the packet so we call it a local process because no one else has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you with it you have all the tools you have the table you have the packet you forward it no one else has to help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by contrast routing is not so lonely it's more of a collaborative process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routing you're talking to your neighbors who are talking to their neighbors who are talking to their neighbors everyone's talking with 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and communicating to help you fill in this table so this is inherently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global process for example if you're R2 how did you know that B has a next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one well you don't know that you only know about your direct neighbors for example you'd have to talk with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buddy R3 and then they talk to their Buddy b so there's a lot of communication going on between all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different routers and hosts in order for routing to work so forwarding is a local process you can do it by yourself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is a global process you have to talk to other people and expand your reach and think about things further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away something else that's a little bit different between these two is the time scale at which they occur so how often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have to forward a packet well every time a packet arrives you have to forward it and it turns out how often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arrive at routers pretty often routers their whole job is to forward packets so they receive a lot of packets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forwarding happens at Scales of nanc you have to forward millions of packets per second by contrast routing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has to happen when the network changes so if a link fails everyone says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the link failed let's talk to each other and figure out some New Paths or if someone else joins the network okay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someone else join let's talk to each other and find a new path through the network to our newly joined member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turns out we'll talk about this a little bit more when we talk about how routers are actually implemented but forwarding tends to happen at much higher time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scales or rather much shorter time scales than routing because packets get sent all the time but links failing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users joining that happens maybe once every few seconds as opposed to packets which are sent all the time I mean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think about this lecture we showed up and we're leaving an hour later so people joining and leaving is happening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the time scale of hours by contrast when we're using the internet and talking to each other we're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doing that constantly all the time and that's what forwarding is like happens constantly all the time but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difference between forwarding using the table and routing which is building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2785410f2bd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3" name="Google Shape;743;g2785410f2bd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answer to routing looks like it's a table the answer to a routing problem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filling in those tables and when you present a routing algorithm and say this is my brand new routing algorithm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way that we know how it works is we look at how it fills in the tables that's what it means to do routing it's filling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tables so before we were kind of philosophical and thinking about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we're really concrete and we know that the way you solve a routing problem is filling in tables that's how you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so the next thing we're going to try and figure out is how do you know if the solution works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2785410f2b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2785410f2b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thing we have to recognize is that in order for someone to evaluate a solution you have to look at it from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global context in other words you need everyone's tables in order to evaluate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routing is valid so for example let's say I give you this table and I ask you hey can you tell me if this is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will packets sent by any of these hosts to any other hosts reach their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destination well I don't know I know what R2 is going to do R2 is going to send packets Bound for a this way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send packets Bound for B this way and C goes that way and d goes that way that's good but I have no idea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R1 is doing what about R3 what is R4 doing so if I only give you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and that's local state local to a single router I have no idea if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state is valid is this a valid solution to the routing problem I have no idea will this get packets to my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destination I have no idea so when we think about routing State validity we need to think about it from a Global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context not just the answer for a single router and the table for a single router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2785410f2bd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2785410f2bd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instead I want the table for all the routers so this is something that someone can present to me and say I ran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1:03:38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routing protocol and I got this answer r1's table filled in like this and R2 is like this R3 is like this R4 is like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1:03:46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can you tell me if this is valid or not now we can actually answer the question we can think about what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1:03:52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are doing and think about if they're correctly doing their job job of forwarding packets toward their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1:03:58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destinations so to summarize to answer the question of if routing states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1:04:03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valid and if my solution is even correct to begin with I need Global State and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1:04:09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global State I mean everyone needs to provide their tables and I need to analyze all the tables to see if my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answer actually works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what ises it actually mean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valid or correct so at a very high level it means that the forwarding decisions should get the packets toward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their destinations if someone sends a packet and it reaches a router that router should forward the packet toward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their destination but even that's not really well defined so what does it really mean to be valid so let's dig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see if someone hands you a big old table like this or a big set of tables like this how do you actually walk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these tables entry by entry and answer yes this is a correct routing state or no this routing state is broken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where going to figure out next so the claim is a global routing state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g2785410f2bd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2" name="Google Shape;802;g2785410f2bd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valid if and only if there are no dead ends and no Loops that's like a little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theorem that we're going to try and prove so we're going to Define valid in this very specific way no dead ends no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Loops okay what's a dead end what's a loop so a dead end is kind of what you'd expect a packet arrives but there is no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next top so R3 has no idea how to forward this packet so it just drops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that's a dead end this packet got forwarded and R3 got it and R3 says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don't know how to reach B so R3 drops the packet and the packet doesn't reach B that's called the dead end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didn't get there and just as a little side note if the packet arrives at B that's not a dead end that's success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dead end means one of the routers received it and the router couldn't forward it and what about a loop also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kind of what you would expect a loop happens if the packet Cycles around a set of of routers so here's a case where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sends it to R1 which sends it to R2 which sends it to R3 and then to R2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to R3 and then to R2 and it's stuck in a loop forever and this packet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also never reach its destination and by the way in case you're wondering why it's impossible to break out of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Loop remember that forwarding is only based on the destination so R3 is going to say this is a packet for B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for B go that way to R2 and R2 says all packets for B go that way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R3 says all packets for B go that way and because the packet is always meant for B it's never going to escape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Loop so it's not the case that it Loops for five times and then escapes no such thing if you're trapped in a loop you're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stuck forever because everyone's forwarding based on destination and the destination never changes it's always 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everyone's forwarding in a loop for Destination B so once you enter a loop you're pretty much stuck so these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two things we want to avoid and my claim is that if you avoid them you get a valid routing State and the only way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get a routing valid State a global valid routing state is to avoid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problems so I want to prove this if and only if condition do you have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question for example a how about it go to the but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yeah that's a good question so like what if the router sends it along a wrong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hop um that's honestly a good one maybe when we talk about static routing it'll make a little bit more sense I think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would still classify that as a dead end for reasons that you'll see at the very end but for now these are the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conditions yeah that's a good point though maybe I'll fix that next time okay anyway this is a thing that I want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prove so the theorem that I want to prove is this right here I want to check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if there are no dead ends and no Loops it's valid and also that the only way to be valid is to match these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conditions so I'm going to prove this in two directions and to remind you this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2785410f2bd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2785410f2bd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theorem up here it says Global routing states are valid if and only if there are no dead ends and no Loops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I'll walk you through this proof it's kind of a cute little proof I'm going to do it in two directions so the first direction is the necessary Direction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always forget which is which but the necessary basically says this is the only criteria for Success you have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have these two so you must have no dead ends and you must have no Loops in order to guarantee success how do I prove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 dead ends and no Loops are necessary conditions for Success you must have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them this is how I prove it and the proof almost sounds a little bit obvious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it's a little subtle so let's walk through it so the proof goes like this if you hit a dead end you're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reaching the Dead destination hopefully not controversial once you reach the dead end it's not reaching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also if you get stuck in a loop you're not reaching the destination because as we mentioned earlier once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 a loop you cannot Escape it the decision you make is based on the destination and the destination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always the same and you might wonder what if the destination is in the loop you have a loop and the destination B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part of it that's also not going to happen because the destination would not forward the packet it would just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packet and declare success so basically these two little facts which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hopefully were not too difficult prove to us that no dead ends and no Loops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necessary if you have a dead end it's no good if you have a loop it's no good you have to have these two things that's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necessary part so in order for Success both of these have to be true the next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 we're going to show in this proof is that these are the only two things you need that's called sufficiency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first we showed necessary these two things are needed and then we're going to show that nothing else is needed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these two are needed and nothing else is needed we're done these are the only two things we need so that's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necessary 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g2785410f2bd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9" name="Google Shape;839;g2785410f2bd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now let's do sufficient it's kind of the other direction so now we're saying that these are the only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things you need if there are no dead ends and no Loops you're good you don't need anything else and here's why let's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say there are no loops and no dead ends if that's the case then we know that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packet's not going to visit someone someone twice why is that because if you visit someone twice it's a loop so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know that we're never going to visit any router twice we also know that the packet's not going to stop early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said no dead ends so therefore the packet is just going to wander around the network it's never going to visit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twice because there's no Loops it's never going to stop early because there's no dead ends it's going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continue wandering the network in any sort of Direction it likes and because it can never visit a router twice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we said so there's only so many routers you can visit there's not an infinite number of routers So eventually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you wander for long enough even if you take the longest possible path you are going to hit the destination so what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proves is that these two conditions are enough we first showed that these two conditions are needed then we showed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they are enough and because they're needed and they're enough they're the only two conditions we need so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reiterate this proof we first assume that these are the only two conditions that are true and then show that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alone are enough and basically the argument is you're not going to visit anyone twice and you're going to keep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wandering through the network so if you wander forever and you don't visit anyone twice even if you take the worst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possible path you're still going to reach the destination because there's only a finite number of routers you can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hit you're eventually going to get there so both of these directions have been proven and that gives us this theorem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only two things you ever have to check are no deadend Bend and no Loops if you get those two you're good they're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necessary they're sufficient we're done it's kind of a cute little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proof 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2785410f2bd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2785410f2bd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how do you actually check this thing so we now have the condition for correctness when we say things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forwarding packets towards their destination we really mean this specific thing we mean no dead ends no Loops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we say things like the state is valid or packets get forwarded closer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does closer mean it means that it means no dead ends no loops and so now we can connect the two pieces we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said I give you a table and I want to know how the table whether the tables are valid and now we know that valid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means no dead ends no Loops so how do you know if a table gives you no dead ends and no Loops this is what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solve next we're going to put all the pieces together and answer how do you get a set of tables and analyze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tables for dead ends and for loops and the way you're going to do it is we'll draw a picture I like pictures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make things look easier so that's what we'll do so the first thing we'll do is we'll consider every destination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separately so remember the tables have entries for lots of destinations it says for Destination a go that way and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Destination B go that way and for Destination C go that way for now we're going to focus on a single destination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we'll check that one if it's good we'll move on to the next destination and if that's good we'll move on to the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so we'll do this check once per Des destination and if it checks out for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destinations it's valid but we'll do it once per destination so for now I'm going to really focus in on a and what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will do is I'll use this table to draw an arrow in my network diagram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my little Network diagram and this says well if you reach R2 and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for a you're going to forward it to R3 so what will I do I'll draw an arrow from R2 to R3 that represents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forwarding decision to take packets from R2 and forward them to R3 that's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1:14:00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little arrow says and I will repeat this for all the tables so for example r3's table it probably said if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1:14:07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sending packets to a send them to R5 and r4s table probably said if you're sending packets to a send them to R six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so forth so I basically just took every table's a entry and Drew an arrow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 of it and the result has a special name we call it a directed delivery tree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reasons that I think will appear on the next slide 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2785410f2bd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4" name="Google Shape;874;g2785410f2bd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they they do appear on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next slide good so a directed delivery tree is nice because it's a graphical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picture of the path that packets take toward the destination so this is a graphical representation of how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will get forwarded we basically took the tables and redrew them into this nice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picture and these trees have some nice properties so one property is there's only one outgoing Arrow per node so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far when we draw these tables we say if you're going to a forward it to R3 so what that means is if I'm drawing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tree for a well then R2 is going to have a single Arrow to R3 so each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next top per destination and because all the packets for a go one way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have one Arrow coming out of every router and if you look at this picture it's true R2 has one outgoing Arrow R5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has only one outgoing Arrow that's an incoming one doesn't count R4 only has one outgoing Arrow our six only has one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outgoing Arrow so everyone has a single arrow pointing out of them and that's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result of the fact that our tables have one next toop per destination a simplification but one that we'll live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with for now so everyone has one entry per destination and something else useful about delivery trees is that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paths join they will never split again so here's an example where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has two incoming arrows and only one outgoing Arrow there is no way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split them and there's a couple ways to see why the split is not allowed one way to see it is because we said everyone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has one outgoing Arrow if you try to split these paths up you have created two outgoing arrows that is not allowed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cannot do this another way of seeing it is this is destination based forwarding if you have a tree for one destination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namely a well that packet's going to a this pack packet's going to a if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packet's going to a doesn't matter where you got it from you're forwarding it the same way that's what it means to do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based forwarding the only field you're ever going to look at is the destination so if you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whether you get it that way or that way if it's going to a it's going that way that's your only outgoing Arrow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your paths cannot split and you can even see that in this picture we have a red path and a blue path they converge at R4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once they meet at R4 they take the same path to a they do not split again splitting is not allowed so that's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directed delivery tree everyone has one outgoing Arrow once your paths meet they don't split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allowed </a:t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2785410f2bd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6" name="Google Shape;916;g2785410f2bd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this thing also has some other neat properties and in fact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also call it if you think about graph terminology think back to a data structures class like cs61b we call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 an oriented standing tree that's three words so I'll break them all down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oriented means the edges have arrows so all these edges they have arrows okay good that's oriented it's spanning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spanning means the tree touches every node so if you look at all these arrows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 node gets touched there is no node that doesn't have an arrow attached to it everyone gets touched with an arrow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it's a tree which means there are no cycles and no disconnected components everyone's connected to the same tree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disconnected components will become more clear in like two slides but that's that's what these three terms mean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first thing you do is you take your table you draw the directed delivery tree which has these neat properties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you check is it an oriented spanning tree each word gives you something to check do your edges have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arrows do you touch every node do you have any Cycles or disconnected components if you pass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conditions you get a valid delivery tree so you can build any delivery tree someone could give you some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crappy tables that give you the wrong answer you could will build delivery trees they just won't be valid these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three conditions that make a delivery tree valid so you take a table you draw the tree and then you check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three things for valid for validity I suppose and roughly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speaking if you're wondering why these are the three conditions these three conditions combine to give you the fact that if you start anywhere and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follow the edges over and over again that is you obey all the forwarding decisions you're eventually going to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 and these condition give you that the arrows tell you tell you where to go the fact that it's spanning means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start anywhere in the network because every Noe is touched you can start anywhere and there's going to 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 arrow for you and it's a tree which means there's no Cycles no dead ends you're going to reach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so these are the properties we need and if we get these properties we get a valid delivery tree so let's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see how you check these things and that's probably going to be the end of today I may or may not be behind again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it's 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2785410f2bd_0_4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4" name="Google Shape;944;g2785410f2bd_0_4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these are the steps really quickly we'll pick a single destination and remember we repeat these steps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 destination we take our tables and we redraw them as a delivery tree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way we do that is for every table we draw an arrow or for every router we draw an arrow to the next top for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particular destination and there's always only one arrow and then we clear out all the other links with no arrows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check for a valid directed delivery tree and remember that means me no dead ends no Loops it must be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spanning tree touch every node no Cycles no disconnected nodes so it's all the properties we've already seen I want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directed spanning tree that's oriented toward the destination I want no dead ends I want no loops and this gives me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graphical way to check it 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g2785410f2bd_0_4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4" name="Google Shape;954;g2785410f2bd_0_4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here's an example if I give you a bunch of tables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can use the tables to fill in these uh arrows so for example I fill in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arrows </a:t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2785410f2bd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2785410f2bd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first I'll pick one destination remember we do this once for every destination I would have to do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five times to do the check well let's pick a as the destination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g2785410f2bd_0_5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6" name="Google Shape;1056;g2785410f2bd_0_5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open up every router's forwarding table and draw the corresponding arrows you get something like this you </a:t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2785410f2bd_0_7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2785410f2bd_0_7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delete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edges that are not part of the tree and you ask yourself is this a valid oriented spanning tree did you touch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 node stare at this a bit answer is yes did you uh uh do you have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disconnected components no do you have any Cycles no do you have any dead ends no because everything is satisfied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a valid uh directed delivery tree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g2785410f2bd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8" name="Google Shape;1158;g2785410f2bd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here's an example of a routing state that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 and as before what we did is we went to every router and we asked the router the question of where is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top to a and we drew all the arrows we eliminated all of the links that don't have arrows on them and we asked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this a valid oriented spanning tree so it does touch every node that's good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has a bunch of arrows so it's oriented but this is not a tree for two reasons one reason is there's a loop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see how there's a loop here that's not good packets will travel around in the loop and never reach a and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I see is that there are two disconnected components so we have a whole component over here and one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and there's no way to get from one to the other so overall this is not a tree for several reasons probably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most obvious one being that there is a loop so this is not a valid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we can already say that because packets are not going to reach a this is not a valid routing state for example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 sent a packet to a it would sent it here and then that packet would just get stuck in this Loop never to reach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would repeat this for every destination</a:t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g2785410f2bd_0_8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0" name="Google Shape;1210;g2785410f2bd_0_8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another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a state that is not valid so as before we go to Every router we ask the router what its next top is and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we get a directed delivery tree we draw out all the arrows we delete all the arrows we don't care about and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this and we say is this a valid oriented spanning tree it does touch every node that's good has a bunch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arrows that's good but this is not a tree because trees should come in one piece but this one comes in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disconnected pieces you have one piece right here and then you have the second piece with these two routers all alone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 an island and in general when you have disconnected components that's a problem because you have a dead 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there's no way to get from one component to the other component because they are disconnected so this is not a tree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a dead end we can see that and this means that packets are not going to reach their final destination of A</a:t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g2785410f2bd_0_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2" name="Google Shape;1262;g2785410f2bd_0_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time!!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yeah we haven't talked about how to get the tables we are just saying if someone gives me a table check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whether or not it's valid that was the question is do we know how to fill in the tables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the very last thing we need to do to finish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our definitions of the whole routing problem is to talk about what makes a route good</a:t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g2785410f2bd_0_9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9" name="Google Shape;1269;g2785410f2bd_0_9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far we said routes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valid or they're invalid either they reach their destinations or they don't but let's talk about what actually makes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route good versus a route bad so that's what we're going to do in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section to wrap things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g2785410f2bd_0_9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5" name="Google Shape;1275;g2785410f2bd_0_9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if you're someone who's building a network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a very small budget then maybe you care a lot about price or if you're someone who cares about making a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 performance Network maybe you care a lot about the propagation delay but ultimately that's something that you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network operator can choose for yourself so you can assign any costs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to these links to measure the goodness of them and it's actually your choice what good means we're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going to talk about what it means to assign numbers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about shortest paths lowest costs so in general links that you think are good Get Low costs links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you think are really bad get high costs it's kind of what you'd expect so R4 to R8 seems to be a very terrible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for reasons that we don't care about maybe the operator thinks it's very unreliable maybe the operator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doesn't want you to use it who knows but for whatever reason they chose this link has a high cost whereas for example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has a lower cost so we as the routers we don't care where the costs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come from we are just handed a bunch of numbers and we have to use them to compute the best costs through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so there's kind of two different people working here the operator can assign these costs how however they feel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and the routers will just use the costs as they're given to compute routes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doesn't matter where the costs come from for our purposes these could just be totally made of numbers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 is the one that decides these numbers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2785410f2bd_0_9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2785410f2bd_0_9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in least cost routing what we want to do is we want to find the shortest cost so there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might be multiple valid Ting States for example a packet from A to B could go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along this path in blue or it could go along this path in red both would be valid paths in that if you built tables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forward packets in these directions for example R2 forwards to R1 if you built the tables like this and you uh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checked if they were valid both of these would actually be valid they correctly get packets from A to B however one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is better than the other based on the cost that the operator decided so the one on the left in blue has a cost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seven this one has a cost of 14 oh great thanks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if you want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uh hello Earth to zoom does that sound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all right okay that's great I don't have to lose my voice it's a good day all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sorry for all the interruptions hopefully it doesn't happen again so wherever I was uh the one on the left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 a lower cost than the one on the right so even though both of these are valid States one is better than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in particular this one on the left better than this one on the right so when people give you costs suddenly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is a notion of goodness and one path can be better than the other more generally one routing State can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than the other so that's what we're seeing here and just a note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class I actually don't know how common this is I thought it was pretty common and then people called me out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last semester and now I don't know but uh at least in the slides and the notes and things like that for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when we don't put numbers on the edges we usually assume that the number is one so that I don't have to keep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one over and over again that I thought it was more common apparently it's not but now you know so if an edge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doesn't have a label we usually just assume it says one at least for the purpose of this class because I don't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to have to keep writing one everywhere on the slide and as an example if I actually did make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costs one so instead of this being seven or 10 if I actually did assign everyone to one then the shortest path would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the one with the fewest number of hops that is the one that passes through the fewest routers because all the costs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are one so neat little observation for least cost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g2785410f2bd_0_10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3" name="Google Shape;1373;g2785410f2bd_0_10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as mentioned before where do the costs come from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 can decide themselves so either the operator can actually manually go into the routers and tell the routers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link this way has cost five and the link this way has cost 10 and the link that way has cost one so the operator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actually go into the routers and program them to tell the routers about their link costs that is a valid option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programming routers and telling them about the link costs some Auto configuration tools do it exist we won't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about them further but you can imagine some tools exist out there to try and automate this process but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what you have to do is you have to go to Every router and tell them about the cost of their links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costs are local so as we mentioned earlier it's not like there's a mastermind that knows everything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system each router only knows about the things in their local vicinity their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local area so for example R2 might know that okay I have a link going this way that costs one and a link going this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costs one but R2 on its own doesn't necessarily know about other links further in the network to learn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links R2 would have to talk with all the other routers so other properties about costs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might be useful one is that they are always positive integers at least for the purpose of this class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wanted to do negative costs I guess you could but it would be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weird because if you think about all the things we're trying to model for example money or the time it takes to Traverse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or the bandwidth of a link none of these things really make sense when you go negative there's no such thing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traversing an edge and taking negative time to do so to my knowledge so at least for the purposes of this class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will basically always use positive and that means one or greater costs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 single link I cannot really think of real life examples of people using negative costs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will generally assume that costs are symmetrical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that means is traveling the link in One Direction incurs the same cost as traveling the link in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direction there is no difference which way you travel and in general that's true in reality you could actually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links as being asymmetrical that is traveling from A to B costs more than traveling from B to a and maybe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useful if you have a link that for example has high upload bandwidth but low download bandwidth or something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or maybe it's really bad at uploading but it's good at downloading so in real life there could be cases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symmet asymmetric links but at least for the purposes of this class unless we explicitly tell you otherwise we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22:52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draw links as having symmetric costs so traveling from R3 to R5 costs the exact same as in from R5 to R3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true of basically any link I can think of for this class and these two assumptions are somewhat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simplifications in the sense that you can break them but it would be very weird but these assumptions will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protocols a lot nicer so we'll stick with them so now you know where costs come from and how they're programmed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2785410f2bd_0_10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2785410f2bd_0_10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also some properties about how you define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them okay something that hopefully isn't too controversial now that know what good paths are is that a good path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valid so we said there's all these different valid paths one of them is the best in that it provides the least cost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path between destinations and that good path turns out to also be valid and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want to prove for that it's goes like this so we said that costs are all positive and if a cost is positive then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resulting state is not going to have any Loops if all the costs are positive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you pick the best route the best route will not not have any Loops because if you travel in a loop and all the links are positive you would just 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increasing the cost forever so we know that a good path that is least cost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have any loops and that means it's also valid you can also prove that a good path doesn't have any dead ends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it's also valid and so the routes are still destination based they still form a spaning tree all the good paths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valid there's a lot of valid paths but only one best one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Google Shape;1384;g2785410f2bd_0_1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5" name="Google Shape;1385;g2785410f2bd_0_1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final thing about defining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and then we're ready to jump into actual routing protocols there are some routes that just have to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hardcoded at least for the purposes of the protocols we're about to discuss</a:t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g2785410f2bd_0_10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2" name="Google Shape;1392;g2785410f2bd_0_10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remember that in general all the routers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to talk to each other to fill in these tables and this is something we're about to see coming up next is all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talking to each other and filling in their tables but sometimes you have some entries that you just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hard code for whatever reason so for now and if you want to see exactly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works you'll have to come back a bit later when we dig to lower layers but for now we're going to assume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you're directly connected to someone that value is hard coded and we call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a direct route or a static route so for example R1 just knows that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connected to a someone went into R1 and hardcoded the fact that R1 is directly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connected to a so if you want to reach a and you're at R1 the next top is just directly giving it to a later we'll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this actually works using some other lower level protocols but for now just assume that this thing is hardcoded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you're whenever you as a router are directly connected to some hosts someone comes along and hardcodes an entry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forwarding table saying that you are connected to those hosts and you can imagine these are configured by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 or solved by some magic protocol that we haven't talked about yet so what that means is you don't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need routing protocols for these entries someone just comes along and like plops them into your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the routers don't have to talk to each other they all know about their directly connected hosts and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only for hosts that are directly connected so R1 knows that for a it is directly connected and the next toop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a R1 does not know where B C or D are at this point these direct routes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are only for people you are directly connected to along a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785410f2bd_0_1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785410f2bd_0_1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in general this idea of hardcoding routes actually works in other contexts too and some we might see a bit later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class but sometimes you might have a route that you just always want to be there for some reason so maybe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a network and you decide actually you know what I really want all packets for a certain destination to go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way doesn't matter where the destination is I don't care I just want packets to go this way if for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reason you really want a hard code a route like that you can the resulting routes are called Static routes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are hardcoded they're static they don't change and these routes are not related to any routing protocol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27:07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the routers talk to each other and learn about this route that route is just sitting there built in forever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one really uh had to learn that route it's just programmed into the router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Google Shape;1419;g36aff16346a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0" name="Google Shape;1420;g36aff16346a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Defining the Routing Problem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Do We Need Routing?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Modeling the Network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Makes Routing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Types of Routing Protocols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Routing States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Destination-Based Forwarding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Routing State Validity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Least-Cost Routing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Static Routing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Need Routing?</a:t>
            </a:r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4</a:t>
            </a:r>
            <a:r>
              <a:rPr lang="en"/>
              <a:t>, Spring </a:t>
            </a:r>
            <a:r>
              <a:rPr lang="en" dirty="0"/>
              <a:t>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Today's Goal: Routing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Today's goal is </a:t>
            </a:r>
            <a:r>
              <a:rPr lang="en" b="1"/>
              <a:t>routing</a:t>
            </a:r>
            <a:r>
              <a:rPr lang="en"/>
              <a:t>: Finding paths through the network.</a:t>
            </a:r>
            <a:endParaRPr/>
          </a:p>
        </p:txBody>
      </p:sp>
      <p:cxnSp>
        <p:nvCxnSpPr>
          <p:cNvPr id="159" name="Google Shape;159;p26"/>
          <p:cNvCxnSpPr>
            <a:stCxn id="160" idx="6"/>
            <a:endCxn id="161" idx="1"/>
          </p:cNvCxnSpPr>
          <p:nvPr/>
        </p:nvCxnSpPr>
        <p:spPr>
          <a:xfrm>
            <a:off x="2164138" y="3553875"/>
            <a:ext cx="6294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2" name="Google Shape;162;p26"/>
          <p:cNvSpPr/>
          <p:nvPr/>
        </p:nvSpPr>
        <p:spPr>
          <a:xfrm>
            <a:off x="3892025" y="2816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" name="Google Shape;163;p26"/>
          <p:cNvCxnSpPr>
            <a:stCxn id="161" idx="3"/>
            <a:endCxn id="162" idx="1"/>
          </p:cNvCxnSpPr>
          <p:nvPr/>
        </p:nvCxnSpPr>
        <p:spPr>
          <a:xfrm rot="10800000" flipH="1">
            <a:off x="3078550" y="2958675"/>
            <a:ext cx="813600" cy="595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6"/>
          <p:cNvCxnSpPr>
            <a:stCxn id="161" idx="3"/>
            <a:endCxn id="165" idx="1"/>
          </p:cNvCxnSpPr>
          <p:nvPr/>
        </p:nvCxnSpPr>
        <p:spPr>
          <a:xfrm>
            <a:off x="3078550" y="3553875"/>
            <a:ext cx="813600" cy="117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6" name="Google Shape;166;p26"/>
          <p:cNvCxnSpPr>
            <a:stCxn id="162" idx="3"/>
            <a:endCxn id="167" idx="1"/>
          </p:cNvCxnSpPr>
          <p:nvPr/>
        </p:nvCxnSpPr>
        <p:spPr>
          <a:xfrm>
            <a:off x="4177025" y="2958625"/>
            <a:ext cx="1038600" cy="297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168;p26"/>
          <p:cNvCxnSpPr>
            <a:stCxn id="165" idx="3"/>
            <a:endCxn id="167" idx="1"/>
          </p:cNvCxnSpPr>
          <p:nvPr/>
        </p:nvCxnSpPr>
        <p:spPr>
          <a:xfrm rot="10800000" flipH="1">
            <a:off x="4177025" y="3256325"/>
            <a:ext cx="1038600" cy="414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" name="Google Shape;169;p26"/>
          <p:cNvSpPr/>
          <p:nvPr/>
        </p:nvSpPr>
        <p:spPr>
          <a:xfrm>
            <a:off x="4848900" y="4002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" name="Google Shape;170;p26"/>
          <p:cNvCxnSpPr>
            <a:stCxn id="165" idx="3"/>
            <a:endCxn id="169" idx="1"/>
          </p:cNvCxnSpPr>
          <p:nvPr/>
        </p:nvCxnSpPr>
        <p:spPr>
          <a:xfrm>
            <a:off x="4177025" y="3670925"/>
            <a:ext cx="672000" cy="474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" name="Google Shape;171;p26"/>
          <p:cNvSpPr/>
          <p:nvPr/>
        </p:nvSpPr>
        <p:spPr>
          <a:xfrm>
            <a:off x="3398775" y="42579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" name="Google Shape;172;p26"/>
          <p:cNvCxnSpPr>
            <a:stCxn id="171" idx="3"/>
            <a:endCxn id="169" idx="1"/>
          </p:cNvCxnSpPr>
          <p:nvPr/>
        </p:nvCxnSpPr>
        <p:spPr>
          <a:xfrm rot="10800000" flipH="1">
            <a:off x="3683775" y="4145175"/>
            <a:ext cx="1165200" cy="255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" name="Google Shape;173;p26"/>
          <p:cNvSpPr/>
          <p:nvPr/>
        </p:nvSpPr>
        <p:spPr>
          <a:xfrm>
            <a:off x="2660963" y="44088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" name="Google Shape;174;p26"/>
          <p:cNvCxnSpPr>
            <a:stCxn id="173" idx="6"/>
            <a:endCxn id="171" idx="1"/>
          </p:cNvCxnSpPr>
          <p:nvPr/>
        </p:nvCxnSpPr>
        <p:spPr>
          <a:xfrm rot="10800000" flipH="1">
            <a:off x="2945963" y="4400450"/>
            <a:ext cx="452700" cy="150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26"/>
          <p:cNvCxnSpPr>
            <a:stCxn id="169" idx="2"/>
            <a:endCxn id="176" idx="0"/>
          </p:cNvCxnSpPr>
          <p:nvPr/>
        </p:nvCxnSpPr>
        <p:spPr>
          <a:xfrm flipH="1">
            <a:off x="4611600" y="4287600"/>
            <a:ext cx="379800" cy="358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6" name="Google Shape;176;p26"/>
          <p:cNvSpPr/>
          <p:nvPr/>
        </p:nvSpPr>
        <p:spPr>
          <a:xfrm>
            <a:off x="4469175" y="4646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" name="Google Shape;177;p26"/>
          <p:cNvCxnSpPr>
            <a:stCxn id="178" idx="2"/>
            <a:endCxn id="176" idx="3"/>
          </p:cNvCxnSpPr>
          <p:nvPr/>
        </p:nvCxnSpPr>
        <p:spPr>
          <a:xfrm flipH="1">
            <a:off x="4754100" y="4542975"/>
            <a:ext cx="1000200" cy="245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26"/>
          <p:cNvCxnSpPr>
            <a:stCxn id="167" idx="2"/>
            <a:endCxn id="178" idx="0"/>
          </p:cNvCxnSpPr>
          <p:nvPr/>
        </p:nvCxnSpPr>
        <p:spPr>
          <a:xfrm>
            <a:off x="5358250" y="3398775"/>
            <a:ext cx="396000" cy="859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0" name="Google Shape;180;p26"/>
          <p:cNvCxnSpPr>
            <a:stCxn id="181" idx="2"/>
            <a:endCxn id="178" idx="3"/>
          </p:cNvCxnSpPr>
          <p:nvPr/>
        </p:nvCxnSpPr>
        <p:spPr>
          <a:xfrm flipH="1">
            <a:off x="5896813" y="4221775"/>
            <a:ext cx="514200" cy="1788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82" name="Google Shape;182;p26"/>
          <p:cNvSpPr/>
          <p:nvPr/>
        </p:nvSpPr>
        <p:spPr>
          <a:xfrm>
            <a:off x="6011413" y="3205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" name="Google Shape;183;p26"/>
          <p:cNvCxnSpPr>
            <a:stCxn id="182" idx="2"/>
            <a:endCxn id="167" idx="3"/>
          </p:cNvCxnSpPr>
          <p:nvPr/>
        </p:nvCxnSpPr>
        <p:spPr>
          <a:xfrm rot="10800000">
            <a:off x="5500813" y="3256250"/>
            <a:ext cx="510600" cy="9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" name="Google Shape;161;p26"/>
          <p:cNvSpPr/>
          <p:nvPr/>
        </p:nvSpPr>
        <p:spPr>
          <a:xfrm>
            <a:off x="2793550" y="34113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/>
          <p:nvPr/>
        </p:nvSpPr>
        <p:spPr>
          <a:xfrm>
            <a:off x="3892025" y="35284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26"/>
          <p:cNvSpPr/>
          <p:nvPr/>
        </p:nvSpPr>
        <p:spPr>
          <a:xfrm>
            <a:off x="5215750" y="3113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5611800" y="42579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6411013" y="40792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 txBox="1"/>
          <p:nvPr/>
        </p:nvSpPr>
        <p:spPr>
          <a:xfrm>
            <a:off x="107050" y="893847"/>
            <a:ext cx="4308300" cy="14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We'll first formally define the problem.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Why is it needed?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Why is it a hard problem?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What types of algorithms exist?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6"/>
          <p:cNvSpPr txBox="1"/>
          <p:nvPr/>
        </p:nvSpPr>
        <p:spPr>
          <a:xfrm>
            <a:off x="4450450" y="893847"/>
            <a:ext cx="4308300" cy="14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Then, we'll see how to assess a solution.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What does a solution look like?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What makes a solution valid?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What makes a solution good?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6"/>
          <p:cNvSpPr/>
          <p:nvPr/>
        </p:nvSpPr>
        <p:spPr>
          <a:xfrm>
            <a:off x="1879138" y="34113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Need Routing? – Full Mesh Topology</a:t>
            </a:r>
            <a:endParaRPr/>
          </a:p>
        </p:txBody>
      </p:sp>
      <p:sp>
        <p:nvSpPr>
          <p:cNvPr id="191" name="Google Shape;191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5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2 machines want to communicate, we can add a link between them.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we had 5 machines?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could add a link between every pair of machines.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result is called a </a:t>
            </a:r>
            <a:r>
              <a:rPr lang="en" b="1"/>
              <a:t>full-mesh</a:t>
            </a:r>
            <a:r>
              <a:rPr lang="en"/>
              <a:t> topology.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This doesn't scale well. Imagine adding a new machine.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Has benefits in limited settings.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Good if we need dedicated high bandwidth between every pair of machines.</a:t>
            </a:r>
            <a:endParaRPr/>
          </a:p>
        </p:txBody>
      </p:sp>
      <p:sp>
        <p:nvSpPr>
          <p:cNvPr id="192" name="Google Shape;192;p27"/>
          <p:cNvSpPr/>
          <p:nvPr/>
        </p:nvSpPr>
        <p:spPr>
          <a:xfrm>
            <a:off x="3526888" y="3936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27"/>
          <p:cNvCxnSpPr>
            <a:stCxn id="192" idx="6"/>
          </p:cNvCxnSpPr>
          <p:nvPr/>
        </p:nvCxnSpPr>
        <p:spPr>
          <a:xfrm>
            <a:off x="3811888" y="4078650"/>
            <a:ext cx="150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4" name="Google Shape;194;p27"/>
          <p:cNvSpPr/>
          <p:nvPr/>
        </p:nvSpPr>
        <p:spPr>
          <a:xfrm>
            <a:off x="5311888" y="3936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3526888" y="46219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27"/>
          <p:cNvSpPr/>
          <p:nvPr/>
        </p:nvSpPr>
        <p:spPr>
          <a:xfrm>
            <a:off x="5311888" y="46219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27"/>
          <p:cNvSpPr/>
          <p:nvPr/>
        </p:nvSpPr>
        <p:spPr>
          <a:xfrm>
            <a:off x="4419388" y="32585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" name="Google Shape;198;p27"/>
          <p:cNvCxnSpPr>
            <a:stCxn id="195" idx="0"/>
            <a:endCxn id="197" idx="4"/>
          </p:cNvCxnSpPr>
          <p:nvPr/>
        </p:nvCxnSpPr>
        <p:spPr>
          <a:xfrm rot="10800000" flipH="1">
            <a:off x="3669388" y="3543450"/>
            <a:ext cx="892500" cy="1078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9" name="Google Shape;199;p27"/>
          <p:cNvCxnSpPr>
            <a:stCxn id="196" idx="0"/>
            <a:endCxn id="197" idx="4"/>
          </p:cNvCxnSpPr>
          <p:nvPr/>
        </p:nvCxnSpPr>
        <p:spPr>
          <a:xfrm rot="10800000">
            <a:off x="4561888" y="3543450"/>
            <a:ext cx="892500" cy="1078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27"/>
          <p:cNvCxnSpPr>
            <a:stCxn id="192" idx="0"/>
            <a:endCxn id="197" idx="4"/>
          </p:cNvCxnSpPr>
          <p:nvPr/>
        </p:nvCxnSpPr>
        <p:spPr>
          <a:xfrm rot="10800000" flipH="1">
            <a:off x="3669388" y="3543450"/>
            <a:ext cx="892500" cy="392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7"/>
          <p:cNvCxnSpPr>
            <a:stCxn id="194" idx="0"/>
            <a:endCxn id="197" idx="4"/>
          </p:cNvCxnSpPr>
          <p:nvPr/>
        </p:nvCxnSpPr>
        <p:spPr>
          <a:xfrm rot="10800000">
            <a:off x="4561888" y="3543450"/>
            <a:ext cx="892500" cy="392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7"/>
          <p:cNvCxnSpPr>
            <a:stCxn id="195" idx="0"/>
            <a:endCxn id="192" idx="4"/>
          </p:cNvCxnSpPr>
          <p:nvPr/>
        </p:nvCxnSpPr>
        <p:spPr>
          <a:xfrm rot="10800000">
            <a:off x="3669388" y="4221150"/>
            <a:ext cx="0" cy="400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" name="Google Shape;203;p27"/>
          <p:cNvCxnSpPr>
            <a:stCxn id="196" idx="0"/>
            <a:endCxn id="194" idx="4"/>
          </p:cNvCxnSpPr>
          <p:nvPr/>
        </p:nvCxnSpPr>
        <p:spPr>
          <a:xfrm rot="10800000">
            <a:off x="5454388" y="4221150"/>
            <a:ext cx="0" cy="400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4" name="Google Shape;204;p27"/>
          <p:cNvCxnSpPr>
            <a:stCxn id="195" idx="6"/>
            <a:endCxn id="194" idx="2"/>
          </p:cNvCxnSpPr>
          <p:nvPr/>
        </p:nvCxnSpPr>
        <p:spPr>
          <a:xfrm rot="10800000" flipH="1">
            <a:off x="3811888" y="4078650"/>
            <a:ext cx="1500000" cy="685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27"/>
          <p:cNvCxnSpPr>
            <a:stCxn id="196" idx="2"/>
            <a:endCxn id="192" idx="6"/>
          </p:cNvCxnSpPr>
          <p:nvPr/>
        </p:nvCxnSpPr>
        <p:spPr>
          <a:xfrm rot="10800000">
            <a:off x="3811888" y="4078650"/>
            <a:ext cx="1500000" cy="685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7"/>
          <p:cNvCxnSpPr>
            <a:stCxn id="196" idx="2"/>
            <a:endCxn id="195" idx="6"/>
          </p:cNvCxnSpPr>
          <p:nvPr/>
        </p:nvCxnSpPr>
        <p:spPr>
          <a:xfrm rot="10800000">
            <a:off x="3811888" y="4764450"/>
            <a:ext cx="150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Why Do We Need Routing? – Single-Link Topology</a:t>
            </a:r>
            <a:endParaRPr/>
          </a:p>
        </p:txBody>
      </p:sp>
      <p:sp>
        <p:nvSpPr>
          <p:cNvPr id="212" name="Google Shape;212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50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Another approach: Use a single link (wire) to connect all 5 machines.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Scales better than the full-mesh topology.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Less bandwidth available. Everyone has to share the link.</a:t>
            </a:r>
            <a:endParaRPr/>
          </a:p>
        </p:txBody>
      </p:sp>
      <p:sp>
        <p:nvSpPr>
          <p:cNvPr id="213" name="Google Shape;213;p28"/>
          <p:cNvSpPr/>
          <p:nvPr/>
        </p:nvSpPr>
        <p:spPr>
          <a:xfrm>
            <a:off x="3210288" y="4469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28"/>
          <p:cNvSpPr/>
          <p:nvPr/>
        </p:nvSpPr>
        <p:spPr>
          <a:xfrm>
            <a:off x="3819888" y="4469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/>
          <p:nvPr/>
        </p:nvSpPr>
        <p:spPr>
          <a:xfrm>
            <a:off x="4429488" y="4469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8"/>
          <p:cNvSpPr/>
          <p:nvPr/>
        </p:nvSpPr>
        <p:spPr>
          <a:xfrm>
            <a:off x="5039088" y="4469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8"/>
          <p:cNvSpPr/>
          <p:nvPr/>
        </p:nvSpPr>
        <p:spPr>
          <a:xfrm>
            <a:off x="5648688" y="4469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8" name="Google Shape;218;p28"/>
          <p:cNvCxnSpPr/>
          <p:nvPr/>
        </p:nvCxnSpPr>
        <p:spPr>
          <a:xfrm rot="10800000">
            <a:off x="3352800" y="4164200"/>
            <a:ext cx="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28"/>
          <p:cNvCxnSpPr/>
          <p:nvPr/>
        </p:nvCxnSpPr>
        <p:spPr>
          <a:xfrm rot="10800000">
            <a:off x="3962400" y="4164200"/>
            <a:ext cx="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8"/>
          <p:cNvCxnSpPr/>
          <p:nvPr/>
        </p:nvCxnSpPr>
        <p:spPr>
          <a:xfrm rot="10800000">
            <a:off x="4572000" y="4164200"/>
            <a:ext cx="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8"/>
          <p:cNvCxnSpPr/>
          <p:nvPr/>
        </p:nvCxnSpPr>
        <p:spPr>
          <a:xfrm rot="10800000">
            <a:off x="5181600" y="4164200"/>
            <a:ext cx="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8"/>
          <p:cNvCxnSpPr/>
          <p:nvPr/>
        </p:nvCxnSpPr>
        <p:spPr>
          <a:xfrm rot="10800000">
            <a:off x="5791200" y="4164200"/>
            <a:ext cx="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8"/>
          <p:cNvCxnSpPr/>
          <p:nvPr/>
        </p:nvCxnSpPr>
        <p:spPr>
          <a:xfrm>
            <a:off x="3343250" y="4164200"/>
            <a:ext cx="2457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Why Do We Need Routing? – Introducing Routers</a:t>
            </a:r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use more sophisticated topologies, we need to introduce a </a:t>
            </a:r>
            <a:r>
              <a:rPr lang="en" b="1"/>
              <a:t>router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Router: An intermediate machine that can forward data.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we use routers to connect the machines: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use fewer links than the full-mesh topology.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have more capacity than just a single link.</a:t>
            </a:r>
            <a:endParaRPr/>
          </a:p>
        </p:txBody>
      </p:sp>
      <p:sp>
        <p:nvSpPr>
          <p:cNvPr id="230" name="Google Shape;230;p29"/>
          <p:cNvSpPr/>
          <p:nvPr/>
        </p:nvSpPr>
        <p:spPr>
          <a:xfrm>
            <a:off x="4429488" y="33676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1" name="Google Shape;231;p29"/>
          <p:cNvSpPr/>
          <p:nvPr/>
        </p:nvSpPr>
        <p:spPr>
          <a:xfrm>
            <a:off x="4429500" y="3977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p29"/>
          <p:cNvSpPr/>
          <p:nvPr/>
        </p:nvSpPr>
        <p:spPr>
          <a:xfrm>
            <a:off x="3972300" y="4586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9"/>
          <p:cNvSpPr/>
          <p:nvPr/>
        </p:nvSpPr>
        <p:spPr>
          <a:xfrm>
            <a:off x="4886700" y="4586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4" name="Google Shape;234;p29"/>
          <p:cNvCxnSpPr>
            <a:stCxn id="232" idx="0"/>
            <a:endCxn id="231" idx="2"/>
          </p:cNvCxnSpPr>
          <p:nvPr/>
        </p:nvCxnSpPr>
        <p:spPr>
          <a:xfrm rot="10800000" flipH="1">
            <a:off x="4114800" y="4262275"/>
            <a:ext cx="45720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29"/>
          <p:cNvCxnSpPr>
            <a:stCxn id="233" idx="0"/>
            <a:endCxn id="231" idx="2"/>
          </p:cNvCxnSpPr>
          <p:nvPr/>
        </p:nvCxnSpPr>
        <p:spPr>
          <a:xfrm rot="10800000">
            <a:off x="4572000" y="4262275"/>
            <a:ext cx="45720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29"/>
          <p:cNvCxnSpPr>
            <a:stCxn id="233" idx="1"/>
            <a:endCxn id="232" idx="3"/>
          </p:cNvCxnSpPr>
          <p:nvPr/>
        </p:nvCxnSpPr>
        <p:spPr>
          <a:xfrm rot="10800000">
            <a:off x="4257300" y="4729375"/>
            <a:ext cx="629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29"/>
          <p:cNvCxnSpPr>
            <a:stCxn id="230" idx="4"/>
            <a:endCxn id="231" idx="0"/>
          </p:cNvCxnSpPr>
          <p:nvPr/>
        </p:nvCxnSpPr>
        <p:spPr>
          <a:xfrm>
            <a:off x="4571988" y="3652675"/>
            <a:ext cx="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8" name="Google Shape;238;p29"/>
          <p:cNvCxnSpPr>
            <a:stCxn id="239" idx="2"/>
            <a:endCxn id="231" idx="3"/>
          </p:cNvCxnSpPr>
          <p:nvPr/>
        </p:nvCxnSpPr>
        <p:spPr>
          <a:xfrm rot="10800000">
            <a:off x="4714488" y="411977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9" name="Google Shape;239;p29"/>
          <p:cNvSpPr/>
          <p:nvPr/>
        </p:nvSpPr>
        <p:spPr>
          <a:xfrm>
            <a:off x="5648688" y="39772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5648688" y="45868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1" name="Google Shape;241;p29"/>
          <p:cNvCxnSpPr>
            <a:stCxn id="240" idx="2"/>
            <a:endCxn id="233" idx="3"/>
          </p:cNvCxnSpPr>
          <p:nvPr/>
        </p:nvCxnSpPr>
        <p:spPr>
          <a:xfrm rot="10800000">
            <a:off x="5171688" y="4729375"/>
            <a:ext cx="477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2" name="Google Shape;242;p29"/>
          <p:cNvSpPr/>
          <p:nvPr/>
        </p:nvSpPr>
        <p:spPr>
          <a:xfrm>
            <a:off x="3210288" y="39772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29"/>
          <p:cNvSpPr/>
          <p:nvPr/>
        </p:nvSpPr>
        <p:spPr>
          <a:xfrm>
            <a:off x="3210288" y="45868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4" name="Google Shape;244;p29"/>
          <p:cNvCxnSpPr>
            <a:stCxn id="232" idx="1"/>
            <a:endCxn id="243" idx="6"/>
          </p:cNvCxnSpPr>
          <p:nvPr/>
        </p:nvCxnSpPr>
        <p:spPr>
          <a:xfrm rot="10800000">
            <a:off x="3495300" y="4729375"/>
            <a:ext cx="477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29"/>
          <p:cNvCxnSpPr>
            <a:stCxn id="231" idx="1"/>
            <a:endCxn id="242" idx="6"/>
          </p:cNvCxnSpPr>
          <p:nvPr/>
        </p:nvCxnSpPr>
        <p:spPr>
          <a:xfrm rot="10800000">
            <a:off x="3495300" y="411977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Why Do We Need Routing? – Introducing Routers</a:t>
            </a:r>
            <a:endParaRPr/>
          </a:p>
        </p:txBody>
      </p:sp>
      <p:sp>
        <p:nvSpPr>
          <p:cNvPr id="251" name="Google Shape;251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Another benefit: If a link goes down, traffic could use another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now need some way to compute paths through the network: Routing protocols!</a:t>
            </a:r>
            <a:endParaRPr/>
          </a:p>
        </p:txBody>
      </p:sp>
      <p:sp>
        <p:nvSpPr>
          <p:cNvPr id="252" name="Google Shape;252;p30"/>
          <p:cNvSpPr/>
          <p:nvPr/>
        </p:nvSpPr>
        <p:spPr>
          <a:xfrm>
            <a:off x="2424475" y="3075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3" name="Google Shape;253;p30"/>
          <p:cNvSpPr/>
          <p:nvPr/>
        </p:nvSpPr>
        <p:spPr>
          <a:xfrm>
            <a:off x="2424488" y="3685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0"/>
          <p:cNvSpPr/>
          <p:nvPr/>
        </p:nvSpPr>
        <p:spPr>
          <a:xfrm>
            <a:off x="1967288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30"/>
          <p:cNvSpPr/>
          <p:nvPr/>
        </p:nvSpPr>
        <p:spPr>
          <a:xfrm>
            <a:off x="2881688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6" name="Google Shape;256;p30"/>
          <p:cNvCxnSpPr>
            <a:stCxn id="254" idx="0"/>
            <a:endCxn id="253" idx="2"/>
          </p:cNvCxnSpPr>
          <p:nvPr/>
        </p:nvCxnSpPr>
        <p:spPr>
          <a:xfrm rot="10800000" flipH="1">
            <a:off x="2109788" y="3970325"/>
            <a:ext cx="45720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7" name="Google Shape;257;p30"/>
          <p:cNvCxnSpPr>
            <a:stCxn id="255" idx="0"/>
            <a:endCxn id="253" idx="2"/>
          </p:cNvCxnSpPr>
          <p:nvPr/>
        </p:nvCxnSpPr>
        <p:spPr>
          <a:xfrm rot="10800000">
            <a:off x="2566988" y="3970325"/>
            <a:ext cx="45720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8" name="Google Shape;258;p30"/>
          <p:cNvCxnSpPr>
            <a:stCxn id="255" idx="1"/>
            <a:endCxn id="254" idx="3"/>
          </p:cNvCxnSpPr>
          <p:nvPr/>
        </p:nvCxnSpPr>
        <p:spPr>
          <a:xfrm rot="10800000">
            <a:off x="2252288" y="4437425"/>
            <a:ext cx="6294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30"/>
          <p:cNvCxnSpPr>
            <a:stCxn id="252" idx="4"/>
            <a:endCxn id="253" idx="0"/>
          </p:cNvCxnSpPr>
          <p:nvPr/>
        </p:nvCxnSpPr>
        <p:spPr>
          <a:xfrm>
            <a:off x="2566975" y="3360725"/>
            <a:ext cx="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0" name="Google Shape;260;p30"/>
          <p:cNvCxnSpPr>
            <a:stCxn id="261" idx="2"/>
            <a:endCxn id="253" idx="3"/>
          </p:cNvCxnSpPr>
          <p:nvPr/>
        </p:nvCxnSpPr>
        <p:spPr>
          <a:xfrm rot="10800000">
            <a:off x="2709475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1" name="Google Shape;261;p30"/>
          <p:cNvSpPr/>
          <p:nvPr/>
        </p:nvSpPr>
        <p:spPr>
          <a:xfrm>
            <a:off x="3643675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30"/>
          <p:cNvSpPr/>
          <p:nvPr/>
        </p:nvSpPr>
        <p:spPr>
          <a:xfrm>
            <a:off x="3643675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30"/>
          <p:cNvCxnSpPr>
            <a:stCxn id="262" idx="2"/>
            <a:endCxn id="255" idx="3"/>
          </p:cNvCxnSpPr>
          <p:nvPr/>
        </p:nvCxnSpPr>
        <p:spPr>
          <a:xfrm rot="10800000">
            <a:off x="3166675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p30"/>
          <p:cNvSpPr/>
          <p:nvPr/>
        </p:nvSpPr>
        <p:spPr>
          <a:xfrm>
            <a:off x="1205275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0"/>
          <p:cNvSpPr/>
          <p:nvPr/>
        </p:nvSpPr>
        <p:spPr>
          <a:xfrm>
            <a:off x="1205275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6" name="Google Shape;266;p30"/>
          <p:cNvCxnSpPr>
            <a:stCxn id="254" idx="1"/>
            <a:endCxn id="265" idx="6"/>
          </p:cNvCxnSpPr>
          <p:nvPr/>
        </p:nvCxnSpPr>
        <p:spPr>
          <a:xfrm rot="10800000">
            <a:off x="1490288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7" name="Google Shape;267;p30"/>
          <p:cNvCxnSpPr>
            <a:stCxn id="253" idx="1"/>
            <a:endCxn id="264" idx="6"/>
          </p:cNvCxnSpPr>
          <p:nvPr/>
        </p:nvCxnSpPr>
        <p:spPr>
          <a:xfrm rot="10800000">
            <a:off x="1490288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8" name="Google Shape;268;p30"/>
          <p:cNvSpPr/>
          <p:nvPr/>
        </p:nvSpPr>
        <p:spPr>
          <a:xfrm>
            <a:off x="6434500" y="3075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0"/>
          <p:cNvSpPr/>
          <p:nvPr/>
        </p:nvSpPr>
        <p:spPr>
          <a:xfrm>
            <a:off x="6434513" y="3685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30"/>
          <p:cNvSpPr/>
          <p:nvPr/>
        </p:nvSpPr>
        <p:spPr>
          <a:xfrm>
            <a:off x="5977313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30"/>
          <p:cNvSpPr/>
          <p:nvPr/>
        </p:nvSpPr>
        <p:spPr>
          <a:xfrm>
            <a:off x="6891713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2" name="Google Shape;272;p30"/>
          <p:cNvCxnSpPr>
            <a:stCxn id="270" idx="0"/>
            <a:endCxn id="269" idx="2"/>
          </p:cNvCxnSpPr>
          <p:nvPr/>
        </p:nvCxnSpPr>
        <p:spPr>
          <a:xfrm rot="10800000" flipH="1">
            <a:off x="6119813" y="3970325"/>
            <a:ext cx="457200" cy="324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3" name="Google Shape;273;p30"/>
          <p:cNvCxnSpPr>
            <a:stCxn id="271" idx="0"/>
            <a:endCxn id="269" idx="2"/>
          </p:cNvCxnSpPr>
          <p:nvPr/>
        </p:nvCxnSpPr>
        <p:spPr>
          <a:xfrm rot="10800000">
            <a:off x="6577013" y="3970325"/>
            <a:ext cx="457200" cy="324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4" name="Google Shape;274;p30"/>
          <p:cNvCxnSpPr>
            <a:stCxn id="271" idx="1"/>
            <a:endCxn id="270" idx="3"/>
          </p:cNvCxnSpPr>
          <p:nvPr/>
        </p:nvCxnSpPr>
        <p:spPr>
          <a:xfrm rot="10800000">
            <a:off x="6262313" y="4437425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5" name="Google Shape;275;p30"/>
          <p:cNvCxnSpPr>
            <a:stCxn id="268" idx="4"/>
            <a:endCxn id="269" idx="0"/>
          </p:cNvCxnSpPr>
          <p:nvPr/>
        </p:nvCxnSpPr>
        <p:spPr>
          <a:xfrm>
            <a:off x="6577000" y="3360725"/>
            <a:ext cx="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6" name="Google Shape;276;p30"/>
          <p:cNvCxnSpPr>
            <a:stCxn id="277" idx="2"/>
            <a:endCxn id="269" idx="3"/>
          </p:cNvCxnSpPr>
          <p:nvPr/>
        </p:nvCxnSpPr>
        <p:spPr>
          <a:xfrm rot="10800000">
            <a:off x="6719500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7" name="Google Shape;277;p30"/>
          <p:cNvSpPr/>
          <p:nvPr/>
        </p:nvSpPr>
        <p:spPr>
          <a:xfrm>
            <a:off x="7653700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30"/>
          <p:cNvSpPr/>
          <p:nvPr/>
        </p:nvSpPr>
        <p:spPr>
          <a:xfrm>
            <a:off x="7653700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30"/>
          <p:cNvCxnSpPr>
            <a:stCxn id="278" idx="2"/>
            <a:endCxn id="271" idx="3"/>
          </p:cNvCxnSpPr>
          <p:nvPr/>
        </p:nvCxnSpPr>
        <p:spPr>
          <a:xfrm rot="10800000">
            <a:off x="7176700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0" name="Google Shape;280;p30"/>
          <p:cNvSpPr/>
          <p:nvPr/>
        </p:nvSpPr>
        <p:spPr>
          <a:xfrm>
            <a:off x="5215300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30"/>
          <p:cNvSpPr/>
          <p:nvPr/>
        </p:nvSpPr>
        <p:spPr>
          <a:xfrm>
            <a:off x="5215300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2" name="Google Shape;282;p30"/>
          <p:cNvCxnSpPr>
            <a:stCxn id="270" idx="1"/>
            <a:endCxn id="281" idx="6"/>
          </p:cNvCxnSpPr>
          <p:nvPr/>
        </p:nvCxnSpPr>
        <p:spPr>
          <a:xfrm rot="10800000">
            <a:off x="5500313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3" name="Google Shape;283;p30"/>
          <p:cNvCxnSpPr>
            <a:stCxn id="269" idx="1"/>
            <a:endCxn id="280" idx="6"/>
          </p:cNvCxnSpPr>
          <p:nvPr/>
        </p:nvCxnSpPr>
        <p:spPr>
          <a:xfrm rot="10800000">
            <a:off x="5500313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4" name="Google Shape;284;p30"/>
          <p:cNvSpPr txBox="1"/>
          <p:nvPr/>
        </p:nvSpPr>
        <p:spPr>
          <a:xfrm>
            <a:off x="5904125" y="4640350"/>
            <a:ext cx="134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Defining the Routing Problem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Routing?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Modeling the Network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Makes Routing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Types of Routing Protocols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Routing States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Destination-Based Forwarding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Routing State Validity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Least-Cost Routing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Static Routing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90" name="Google Shape;290;p3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Modeling the Network</a:t>
            </a:r>
            <a:endParaRPr/>
          </a:p>
        </p:txBody>
      </p:sp>
      <p:sp>
        <p:nvSpPr>
          <p:cNvPr id="291" name="Google Shape;291;p3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4, CS 168, Spring 2026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Modeling the Network – Routers vs. Hosts</a:t>
            </a:r>
            <a:endParaRPr/>
          </a:p>
        </p:txBody>
      </p:sp>
      <p:sp>
        <p:nvSpPr>
          <p:cNvPr id="297" name="Google Shape;297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assume every machine on the network is one of two types.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End hosts</a:t>
            </a:r>
            <a:r>
              <a:rPr lang="en"/>
              <a:t> send and receive packets, to and from other end hosts.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Your personal computer.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End hosts don't forward intermediate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Routers</a:t>
            </a:r>
            <a:r>
              <a:rPr lang="en"/>
              <a:t> forward intermediate packets.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Your home router, heavy-duty router in a datacenter.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now, assume routers don't send and receive packets of their own.</a:t>
            </a:r>
            <a:endParaRPr/>
          </a:p>
        </p:txBody>
      </p:sp>
      <p:pic>
        <p:nvPicPr>
          <p:cNvPr id="298" name="Google Shape;2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94550" y="4153915"/>
            <a:ext cx="1038725" cy="703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2"/>
          <p:cNvPicPr preferRelativeResize="0"/>
          <p:nvPr/>
        </p:nvPicPr>
        <p:blipFill rotWithShape="1">
          <a:blip r:embed="rId4">
            <a:alphaModFix/>
          </a:blip>
          <a:srcRect t="16561" b="15756"/>
          <a:stretch/>
        </p:blipFill>
        <p:spPr>
          <a:xfrm>
            <a:off x="4274013" y="3543375"/>
            <a:ext cx="2083175" cy="140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32"/>
          <p:cNvPicPr preferRelativeResize="0"/>
          <p:nvPr/>
        </p:nvPicPr>
        <p:blipFill rotWithShape="1">
          <a:blip r:embed="rId5">
            <a:alphaModFix/>
          </a:blip>
          <a:srcRect l="4765" t="5978" r="5152" b="4126"/>
          <a:stretch/>
        </p:blipFill>
        <p:spPr>
          <a:xfrm>
            <a:off x="603250" y="3233800"/>
            <a:ext cx="2898751" cy="17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2"/>
          <p:cNvSpPr txBox="1"/>
          <p:nvPr/>
        </p:nvSpPr>
        <p:spPr>
          <a:xfrm>
            <a:off x="686900" y="3325900"/>
            <a:ext cx="186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Industrial-sized routers.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2"/>
          <p:cNvSpPr txBox="1"/>
          <p:nvPr/>
        </p:nvSpPr>
        <p:spPr>
          <a:xfrm>
            <a:off x="4730900" y="3327975"/>
            <a:ext cx="1169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Home router.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7129200" y="3327963"/>
            <a:ext cx="1169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 symbol in diagrams.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Modeling the Network – Graph</a:t>
            </a:r>
            <a:endParaRPr/>
          </a:p>
        </p:txBody>
      </p:sp>
      <p:sp>
        <p:nvSpPr>
          <p:cNvPr id="309" name="Google Shape;309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draw the network as a graph.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edge represents a link. For now, assume a link connects exactly 2 machines.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now, assume each machine is identified by a unique label.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We'll think more about addressing later.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33"/>
          <p:cNvSpPr/>
          <p:nvPr/>
        </p:nvSpPr>
        <p:spPr>
          <a:xfrm>
            <a:off x="3503188" y="33862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1" name="Google Shape;311;p33"/>
          <p:cNvCxnSpPr>
            <a:stCxn id="310" idx="6"/>
            <a:endCxn id="312" idx="1"/>
          </p:cNvCxnSpPr>
          <p:nvPr/>
        </p:nvCxnSpPr>
        <p:spPr>
          <a:xfrm>
            <a:off x="3788188" y="3528775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3" name="Google Shape;313;p33"/>
          <p:cNvSpPr/>
          <p:nvPr/>
        </p:nvSpPr>
        <p:spPr>
          <a:xfrm>
            <a:off x="5516075" y="2791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4" name="Google Shape;314;p33"/>
          <p:cNvCxnSpPr>
            <a:stCxn id="312" idx="3"/>
            <a:endCxn id="313" idx="1"/>
          </p:cNvCxnSpPr>
          <p:nvPr/>
        </p:nvCxnSpPr>
        <p:spPr>
          <a:xfrm rot="10800000" flipH="1">
            <a:off x="4702600" y="2933575"/>
            <a:ext cx="813600" cy="595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5" name="Google Shape;315;p33"/>
          <p:cNvCxnSpPr>
            <a:stCxn id="312" idx="3"/>
            <a:endCxn id="316" idx="1"/>
          </p:cNvCxnSpPr>
          <p:nvPr/>
        </p:nvCxnSpPr>
        <p:spPr>
          <a:xfrm>
            <a:off x="4702600" y="3528775"/>
            <a:ext cx="813600" cy="11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7" name="Google Shape;317;p33"/>
          <p:cNvCxnSpPr>
            <a:stCxn id="313" idx="3"/>
            <a:endCxn id="318" idx="1"/>
          </p:cNvCxnSpPr>
          <p:nvPr/>
        </p:nvCxnSpPr>
        <p:spPr>
          <a:xfrm>
            <a:off x="5801075" y="2933525"/>
            <a:ext cx="1038600" cy="297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9" name="Google Shape;319;p33"/>
          <p:cNvCxnSpPr>
            <a:stCxn id="316" idx="3"/>
            <a:endCxn id="318" idx="1"/>
          </p:cNvCxnSpPr>
          <p:nvPr/>
        </p:nvCxnSpPr>
        <p:spPr>
          <a:xfrm rot="10800000" flipH="1">
            <a:off x="5801075" y="3231225"/>
            <a:ext cx="1038600" cy="4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0" name="Google Shape;320;p33"/>
          <p:cNvSpPr/>
          <p:nvPr/>
        </p:nvSpPr>
        <p:spPr>
          <a:xfrm>
            <a:off x="6472950" y="3977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1" name="Google Shape;321;p33"/>
          <p:cNvCxnSpPr>
            <a:stCxn id="316" idx="3"/>
            <a:endCxn id="320" idx="1"/>
          </p:cNvCxnSpPr>
          <p:nvPr/>
        </p:nvCxnSpPr>
        <p:spPr>
          <a:xfrm>
            <a:off x="5801075" y="3645825"/>
            <a:ext cx="672000" cy="474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2" name="Google Shape;322;p33"/>
          <p:cNvSpPr/>
          <p:nvPr/>
        </p:nvSpPr>
        <p:spPr>
          <a:xfrm>
            <a:off x="5022825" y="423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3" name="Google Shape;323;p33"/>
          <p:cNvCxnSpPr>
            <a:stCxn id="322" idx="3"/>
            <a:endCxn id="320" idx="1"/>
          </p:cNvCxnSpPr>
          <p:nvPr/>
        </p:nvCxnSpPr>
        <p:spPr>
          <a:xfrm rot="10800000" flipH="1">
            <a:off x="5307825" y="4120075"/>
            <a:ext cx="1165200" cy="255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4" name="Google Shape;324;p33"/>
          <p:cNvSpPr/>
          <p:nvPr/>
        </p:nvSpPr>
        <p:spPr>
          <a:xfrm>
            <a:off x="4285013" y="4383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5" name="Google Shape;325;p33"/>
          <p:cNvCxnSpPr>
            <a:stCxn id="324" idx="6"/>
            <a:endCxn id="322" idx="1"/>
          </p:cNvCxnSpPr>
          <p:nvPr/>
        </p:nvCxnSpPr>
        <p:spPr>
          <a:xfrm rot="10800000" flipH="1">
            <a:off x="4570013" y="4375350"/>
            <a:ext cx="452700" cy="150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6" name="Google Shape;326;p33"/>
          <p:cNvCxnSpPr>
            <a:stCxn id="320" idx="2"/>
            <a:endCxn id="327" idx="0"/>
          </p:cNvCxnSpPr>
          <p:nvPr/>
        </p:nvCxnSpPr>
        <p:spPr>
          <a:xfrm flipH="1">
            <a:off x="6235650" y="4262500"/>
            <a:ext cx="379800" cy="358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7" name="Google Shape;327;p33"/>
          <p:cNvSpPr/>
          <p:nvPr/>
        </p:nvSpPr>
        <p:spPr>
          <a:xfrm>
            <a:off x="6093225" y="4621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8" name="Google Shape;328;p33"/>
          <p:cNvCxnSpPr>
            <a:stCxn id="329" idx="2"/>
            <a:endCxn id="327" idx="3"/>
          </p:cNvCxnSpPr>
          <p:nvPr/>
        </p:nvCxnSpPr>
        <p:spPr>
          <a:xfrm flipH="1">
            <a:off x="6378150" y="4517875"/>
            <a:ext cx="1000200" cy="245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0" name="Google Shape;330;p33"/>
          <p:cNvCxnSpPr>
            <a:stCxn id="318" idx="2"/>
            <a:endCxn id="329" idx="0"/>
          </p:cNvCxnSpPr>
          <p:nvPr/>
        </p:nvCxnSpPr>
        <p:spPr>
          <a:xfrm>
            <a:off x="6982300" y="3373675"/>
            <a:ext cx="396000" cy="85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33"/>
          <p:cNvCxnSpPr>
            <a:stCxn id="332" idx="2"/>
            <a:endCxn id="329" idx="3"/>
          </p:cNvCxnSpPr>
          <p:nvPr/>
        </p:nvCxnSpPr>
        <p:spPr>
          <a:xfrm flipH="1">
            <a:off x="7520863" y="4196675"/>
            <a:ext cx="514200" cy="17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3" name="Google Shape;333;p33"/>
          <p:cNvSpPr/>
          <p:nvPr/>
        </p:nvSpPr>
        <p:spPr>
          <a:xfrm>
            <a:off x="7635463" y="3180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33"/>
          <p:cNvCxnSpPr>
            <a:stCxn id="333" idx="2"/>
            <a:endCxn id="318" idx="3"/>
          </p:cNvCxnSpPr>
          <p:nvPr/>
        </p:nvCxnSpPr>
        <p:spPr>
          <a:xfrm rot="10800000">
            <a:off x="7124863" y="3231150"/>
            <a:ext cx="510600" cy="9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2" name="Google Shape;312;p33"/>
          <p:cNvSpPr/>
          <p:nvPr/>
        </p:nvSpPr>
        <p:spPr>
          <a:xfrm>
            <a:off x="4417600" y="3386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33"/>
          <p:cNvSpPr/>
          <p:nvPr/>
        </p:nvSpPr>
        <p:spPr>
          <a:xfrm>
            <a:off x="5516075" y="3503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3"/>
          <p:cNvSpPr/>
          <p:nvPr/>
        </p:nvSpPr>
        <p:spPr>
          <a:xfrm>
            <a:off x="6839800" y="3088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33"/>
          <p:cNvSpPr/>
          <p:nvPr/>
        </p:nvSpPr>
        <p:spPr>
          <a:xfrm>
            <a:off x="7235850" y="423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33"/>
          <p:cNvSpPr/>
          <p:nvPr/>
        </p:nvSpPr>
        <p:spPr>
          <a:xfrm>
            <a:off x="8035063" y="40541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5" name="Google Shape;335;p33"/>
          <p:cNvSpPr/>
          <p:nvPr/>
        </p:nvSpPr>
        <p:spPr>
          <a:xfrm>
            <a:off x="1114750" y="344198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33"/>
          <p:cNvSpPr/>
          <p:nvPr/>
        </p:nvSpPr>
        <p:spPr>
          <a:xfrm>
            <a:off x="1114754" y="383482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33"/>
          <p:cNvSpPr txBox="1">
            <a:spLocks noGrp="1"/>
          </p:cNvSpPr>
          <p:nvPr>
            <p:ph type="body" idx="1"/>
          </p:nvPr>
        </p:nvSpPr>
        <p:spPr>
          <a:xfrm>
            <a:off x="1475950" y="3373675"/>
            <a:ext cx="1227600" cy="85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= End host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= Router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Modeling the Network – Packets</a:t>
            </a:r>
            <a:endParaRPr/>
          </a:p>
        </p:txBody>
      </p:sp>
      <p:sp>
        <p:nvSpPr>
          <p:cNvPr id="343" name="Google Shape;343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6361500" cy="40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Packets</a:t>
            </a:r>
            <a:r>
              <a:rPr lang="en"/>
              <a:t> are the basic unit of data sent across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Packets have a header with metadata.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now, we only care about the source address and destination address fields.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Packets have a payload with the application data.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Website contents, image, etc.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Routing isn't concerned about the payload. It's just some sequence of 1s and 0s we have to forward.</a:t>
            </a:r>
            <a:endParaRPr/>
          </a:p>
        </p:txBody>
      </p:sp>
      <p:sp>
        <p:nvSpPr>
          <p:cNvPr id="344" name="Google Shape;344;p34"/>
          <p:cNvSpPr/>
          <p:nvPr/>
        </p:nvSpPr>
        <p:spPr>
          <a:xfrm>
            <a:off x="6783550" y="1214500"/>
            <a:ext cx="1990800" cy="49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Source Address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5" name="Google Shape;345;p34"/>
          <p:cNvSpPr/>
          <p:nvPr/>
        </p:nvSpPr>
        <p:spPr>
          <a:xfrm>
            <a:off x="6783550" y="1709000"/>
            <a:ext cx="1990800" cy="49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Destination Address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34"/>
          <p:cNvSpPr/>
          <p:nvPr/>
        </p:nvSpPr>
        <p:spPr>
          <a:xfrm>
            <a:off x="6783550" y="2203400"/>
            <a:ext cx="1990800" cy="17256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Defining the Routing Problem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Routing?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Modeling the Network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What Makes Routing Hard?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Types of Routing Protocols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Routing States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Destination-Based Forwarding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Routing State Validity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Least-Cost Routing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Static Routing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52" name="Google Shape;352;p3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Routing Hard?</a:t>
            </a:r>
            <a:endParaRPr/>
          </a:p>
        </p:txBody>
      </p:sp>
      <p:sp>
        <p:nvSpPr>
          <p:cNvPr id="353" name="Google Shape;353;p3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4, CS 168, Spring 2026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Routing Hard? (1/3) – Changing Topologies</a:t>
            </a:r>
            <a:endParaRPr/>
          </a:p>
        </p:txBody>
      </p:sp>
      <p:sp>
        <p:nvSpPr>
          <p:cNvPr id="359" name="Google Shape;359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network graph is constantly changing.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join and leave the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Links can fail, and new links can be added.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routing protocol needs to be robust to changes.</a:t>
            </a:r>
            <a:endParaRPr/>
          </a:p>
        </p:txBody>
      </p:sp>
      <p:sp>
        <p:nvSpPr>
          <p:cNvPr id="360" name="Google Shape;360;p36"/>
          <p:cNvSpPr/>
          <p:nvPr/>
        </p:nvSpPr>
        <p:spPr>
          <a:xfrm>
            <a:off x="2424475" y="3075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36"/>
          <p:cNvSpPr/>
          <p:nvPr/>
        </p:nvSpPr>
        <p:spPr>
          <a:xfrm>
            <a:off x="2424488" y="3685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36"/>
          <p:cNvSpPr/>
          <p:nvPr/>
        </p:nvSpPr>
        <p:spPr>
          <a:xfrm>
            <a:off x="1967288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36"/>
          <p:cNvSpPr/>
          <p:nvPr/>
        </p:nvSpPr>
        <p:spPr>
          <a:xfrm>
            <a:off x="2881688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4" name="Google Shape;364;p36"/>
          <p:cNvCxnSpPr>
            <a:stCxn id="362" idx="0"/>
            <a:endCxn id="361" idx="2"/>
          </p:cNvCxnSpPr>
          <p:nvPr/>
        </p:nvCxnSpPr>
        <p:spPr>
          <a:xfrm rot="10800000" flipH="1">
            <a:off x="2109788" y="3970325"/>
            <a:ext cx="45720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5" name="Google Shape;365;p36"/>
          <p:cNvCxnSpPr>
            <a:stCxn id="363" idx="0"/>
            <a:endCxn id="361" idx="2"/>
          </p:cNvCxnSpPr>
          <p:nvPr/>
        </p:nvCxnSpPr>
        <p:spPr>
          <a:xfrm rot="10800000">
            <a:off x="2566988" y="3970325"/>
            <a:ext cx="45720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" name="Google Shape;366;p36"/>
          <p:cNvCxnSpPr>
            <a:stCxn id="363" idx="1"/>
            <a:endCxn id="362" idx="3"/>
          </p:cNvCxnSpPr>
          <p:nvPr/>
        </p:nvCxnSpPr>
        <p:spPr>
          <a:xfrm rot="10800000">
            <a:off x="2252288" y="4437425"/>
            <a:ext cx="6294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36"/>
          <p:cNvCxnSpPr>
            <a:stCxn id="360" idx="4"/>
            <a:endCxn id="361" idx="0"/>
          </p:cNvCxnSpPr>
          <p:nvPr/>
        </p:nvCxnSpPr>
        <p:spPr>
          <a:xfrm>
            <a:off x="2566975" y="3360725"/>
            <a:ext cx="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36"/>
          <p:cNvCxnSpPr>
            <a:stCxn id="369" idx="2"/>
            <a:endCxn id="361" idx="3"/>
          </p:cNvCxnSpPr>
          <p:nvPr/>
        </p:nvCxnSpPr>
        <p:spPr>
          <a:xfrm rot="10800000">
            <a:off x="2709475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9" name="Google Shape;369;p36"/>
          <p:cNvSpPr/>
          <p:nvPr/>
        </p:nvSpPr>
        <p:spPr>
          <a:xfrm>
            <a:off x="3643675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3643675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1" name="Google Shape;371;p36"/>
          <p:cNvCxnSpPr>
            <a:stCxn id="370" idx="2"/>
            <a:endCxn id="363" idx="3"/>
          </p:cNvCxnSpPr>
          <p:nvPr/>
        </p:nvCxnSpPr>
        <p:spPr>
          <a:xfrm rot="10800000">
            <a:off x="3166675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p36"/>
          <p:cNvSpPr/>
          <p:nvPr/>
        </p:nvSpPr>
        <p:spPr>
          <a:xfrm>
            <a:off x="1205275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6"/>
          <p:cNvSpPr/>
          <p:nvPr/>
        </p:nvSpPr>
        <p:spPr>
          <a:xfrm>
            <a:off x="1205275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4" name="Google Shape;374;p36"/>
          <p:cNvCxnSpPr>
            <a:stCxn id="362" idx="1"/>
            <a:endCxn id="373" idx="6"/>
          </p:cNvCxnSpPr>
          <p:nvPr/>
        </p:nvCxnSpPr>
        <p:spPr>
          <a:xfrm rot="10800000">
            <a:off x="1490288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6"/>
          <p:cNvCxnSpPr>
            <a:stCxn id="361" idx="1"/>
            <a:endCxn id="372" idx="6"/>
          </p:cNvCxnSpPr>
          <p:nvPr/>
        </p:nvCxnSpPr>
        <p:spPr>
          <a:xfrm rot="10800000">
            <a:off x="1490288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6" name="Google Shape;376;p36"/>
          <p:cNvSpPr/>
          <p:nvPr/>
        </p:nvSpPr>
        <p:spPr>
          <a:xfrm>
            <a:off x="6434500" y="3075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36"/>
          <p:cNvSpPr/>
          <p:nvPr/>
        </p:nvSpPr>
        <p:spPr>
          <a:xfrm>
            <a:off x="6434513" y="3685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36"/>
          <p:cNvSpPr/>
          <p:nvPr/>
        </p:nvSpPr>
        <p:spPr>
          <a:xfrm>
            <a:off x="5977313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36"/>
          <p:cNvSpPr/>
          <p:nvPr/>
        </p:nvSpPr>
        <p:spPr>
          <a:xfrm>
            <a:off x="6891713" y="4294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0" name="Google Shape;380;p36"/>
          <p:cNvCxnSpPr>
            <a:stCxn id="378" idx="0"/>
            <a:endCxn id="377" idx="2"/>
          </p:cNvCxnSpPr>
          <p:nvPr/>
        </p:nvCxnSpPr>
        <p:spPr>
          <a:xfrm rot="10800000" flipH="1">
            <a:off x="6119813" y="3970325"/>
            <a:ext cx="457200" cy="324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1" name="Google Shape;381;p36"/>
          <p:cNvCxnSpPr>
            <a:stCxn id="379" idx="0"/>
            <a:endCxn id="377" idx="2"/>
          </p:cNvCxnSpPr>
          <p:nvPr/>
        </p:nvCxnSpPr>
        <p:spPr>
          <a:xfrm rot="10800000">
            <a:off x="6577013" y="3970325"/>
            <a:ext cx="457200" cy="324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2" name="Google Shape;382;p36"/>
          <p:cNvCxnSpPr>
            <a:stCxn id="379" idx="1"/>
            <a:endCxn id="378" idx="3"/>
          </p:cNvCxnSpPr>
          <p:nvPr/>
        </p:nvCxnSpPr>
        <p:spPr>
          <a:xfrm rot="10800000">
            <a:off x="6262313" y="4437425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83" name="Google Shape;383;p36"/>
          <p:cNvCxnSpPr>
            <a:stCxn id="376" idx="4"/>
            <a:endCxn id="377" idx="0"/>
          </p:cNvCxnSpPr>
          <p:nvPr/>
        </p:nvCxnSpPr>
        <p:spPr>
          <a:xfrm>
            <a:off x="6577000" y="3360725"/>
            <a:ext cx="0" cy="32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4" name="Google Shape;384;p36"/>
          <p:cNvCxnSpPr>
            <a:stCxn id="385" idx="2"/>
            <a:endCxn id="377" idx="3"/>
          </p:cNvCxnSpPr>
          <p:nvPr/>
        </p:nvCxnSpPr>
        <p:spPr>
          <a:xfrm rot="10800000">
            <a:off x="6719500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p36"/>
          <p:cNvSpPr/>
          <p:nvPr/>
        </p:nvSpPr>
        <p:spPr>
          <a:xfrm>
            <a:off x="7653700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6" name="Google Shape;386;p36"/>
          <p:cNvSpPr/>
          <p:nvPr/>
        </p:nvSpPr>
        <p:spPr>
          <a:xfrm>
            <a:off x="7653700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7" name="Google Shape;387;p36"/>
          <p:cNvCxnSpPr>
            <a:stCxn id="386" idx="2"/>
            <a:endCxn id="379" idx="3"/>
          </p:cNvCxnSpPr>
          <p:nvPr/>
        </p:nvCxnSpPr>
        <p:spPr>
          <a:xfrm rot="10800000">
            <a:off x="7176700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8" name="Google Shape;388;p36"/>
          <p:cNvSpPr/>
          <p:nvPr/>
        </p:nvSpPr>
        <p:spPr>
          <a:xfrm>
            <a:off x="5215300" y="3685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36"/>
          <p:cNvSpPr/>
          <p:nvPr/>
        </p:nvSpPr>
        <p:spPr>
          <a:xfrm>
            <a:off x="5215300" y="42949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0" name="Google Shape;390;p36"/>
          <p:cNvCxnSpPr>
            <a:stCxn id="378" idx="1"/>
            <a:endCxn id="389" idx="6"/>
          </p:cNvCxnSpPr>
          <p:nvPr/>
        </p:nvCxnSpPr>
        <p:spPr>
          <a:xfrm rot="10800000">
            <a:off x="5500313" y="443742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1" name="Google Shape;391;p36"/>
          <p:cNvCxnSpPr>
            <a:stCxn id="377" idx="1"/>
            <a:endCxn id="388" idx="6"/>
          </p:cNvCxnSpPr>
          <p:nvPr/>
        </p:nvCxnSpPr>
        <p:spPr>
          <a:xfrm rot="10800000">
            <a:off x="5500313" y="3827825"/>
            <a:ext cx="934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2" name="Google Shape;392;p36"/>
          <p:cNvSpPr txBox="1"/>
          <p:nvPr/>
        </p:nvSpPr>
        <p:spPr>
          <a:xfrm>
            <a:off x="5904125" y="4640350"/>
            <a:ext cx="134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Routing Hard? (2/3) – Distributed Protocols</a:t>
            </a:r>
            <a:endParaRPr/>
          </a:p>
        </p:txBody>
      </p:sp>
      <p:sp>
        <p:nvSpPr>
          <p:cNvPr id="398" name="Google Shape;398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Routers don't have a global, birds-eye view of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link fails, routers don't automatically know about it.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Routing protocols have to be </a:t>
            </a:r>
            <a:r>
              <a:rPr lang="en" b="1"/>
              <a:t>distributed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There's no central mastermind computing the answer.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router computes its own part of the answer.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must coordinate with each other in the protocol.</a:t>
            </a:r>
            <a:endParaRPr/>
          </a:p>
        </p:txBody>
      </p:sp>
      <p:sp>
        <p:nvSpPr>
          <p:cNvPr id="399" name="Google Shape;399;p37"/>
          <p:cNvSpPr/>
          <p:nvPr/>
        </p:nvSpPr>
        <p:spPr>
          <a:xfrm>
            <a:off x="3503188" y="33862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0" name="Google Shape;400;p37"/>
          <p:cNvCxnSpPr>
            <a:stCxn id="399" idx="6"/>
            <a:endCxn id="401" idx="1"/>
          </p:cNvCxnSpPr>
          <p:nvPr/>
        </p:nvCxnSpPr>
        <p:spPr>
          <a:xfrm>
            <a:off x="3788188" y="3528775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2" name="Google Shape;402;p37"/>
          <p:cNvCxnSpPr>
            <a:stCxn id="401" idx="3"/>
            <a:endCxn id="403" idx="1"/>
          </p:cNvCxnSpPr>
          <p:nvPr/>
        </p:nvCxnSpPr>
        <p:spPr>
          <a:xfrm rot="10800000" flipH="1">
            <a:off x="4702600" y="2933575"/>
            <a:ext cx="813600" cy="595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37"/>
          <p:cNvCxnSpPr>
            <a:stCxn id="401" idx="3"/>
            <a:endCxn id="405" idx="1"/>
          </p:cNvCxnSpPr>
          <p:nvPr/>
        </p:nvCxnSpPr>
        <p:spPr>
          <a:xfrm>
            <a:off x="4702600" y="3528775"/>
            <a:ext cx="813600" cy="11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6" name="Google Shape;406;p37"/>
          <p:cNvCxnSpPr>
            <a:stCxn id="403" idx="3"/>
            <a:endCxn id="407" idx="1"/>
          </p:cNvCxnSpPr>
          <p:nvPr/>
        </p:nvCxnSpPr>
        <p:spPr>
          <a:xfrm>
            <a:off x="5801075" y="2933525"/>
            <a:ext cx="1038600" cy="2976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8" name="Google Shape;408;p37"/>
          <p:cNvCxnSpPr>
            <a:stCxn id="405" idx="3"/>
            <a:endCxn id="407" idx="1"/>
          </p:cNvCxnSpPr>
          <p:nvPr/>
        </p:nvCxnSpPr>
        <p:spPr>
          <a:xfrm rot="10800000" flipH="1">
            <a:off x="5801075" y="3231225"/>
            <a:ext cx="1038600" cy="4146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9" name="Google Shape;409;p37"/>
          <p:cNvSpPr/>
          <p:nvPr/>
        </p:nvSpPr>
        <p:spPr>
          <a:xfrm>
            <a:off x="6472950" y="3977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0" name="Google Shape;410;p37"/>
          <p:cNvCxnSpPr>
            <a:stCxn id="405" idx="3"/>
            <a:endCxn id="409" idx="1"/>
          </p:cNvCxnSpPr>
          <p:nvPr/>
        </p:nvCxnSpPr>
        <p:spPr>
          <a:xfrm>
            <a:off x="5801075" y="3645825"/>
            <a:ext cx="672000" cy="4743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1" name="Google Shape;411;p37"/>
          <p:cNvSpPr/>
          <p:nvPr/>
        </p:nvSpPr>
        <p:spPr>
          <a:xfrm>
            <a:off x="5022825" y="423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2" name="Google Shape;412;p37"/>
          <p:cNvCxnSpPr>
            <a:stCxn id="411" idx="3"/>
            <a:endCxn id="409" idx="1"/>
          </p:cNvCxnSpPr>
          <p:nvPr/>
        </p:nvCxnSpPr>
        <p:spPr>
          <a:xfrm rot="10800000" flipH="1">
            <a:off x="5307825" y="4120075"/>
            <a:ext cx="1165200" cy="2553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3" name="Google Shape;413;p37"/>
          <p:cNvSpPr/>
          <p:nvPr/>
        </p:nvSpPr>
        <p:spPr>
          <a:xfrm>
            <a:off x="4285013" y="4383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4" name="Google Shape;414;p37"/>
          <p:cNvCxnSpPr>
            <a:stCxn id="413" idx="6"/>
            <a:endCxn id="411" idx="1"/>
          </p:cNvCxnSpPr>
          <p:nvPr/>
        </p:nvCxnSpPr>
        <p:spPr>
          <a:xfrm rot="10800000" flipH="1">
            <a:off x="4570013" y="4375350"/>
            <a:ext cx="452700" cy="150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5" name="Google Shape;415;p37"/>
          <p:cNvCxnSpPr>
            <a:stCxn id="409" idx="2"/>
            <a:endCxn id="416" idx="0"/>
          </p:cNvCxnSpPr>
          <p:nvPr/>
        </p:nvCxnSpPr>
        <p:spPr>
          <a:xfrm flipH="1">
            <a:off x="6235650" y="4262500"/>
            <a:ext cx="379800" cy="3585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6" name="Google Shape;416;p37"/>
          <p:cNvSpPr/>
          <p:nvPr/>
        </p:nvSpPr>
        <p:spPr>
          <a:xfrm>
            <a:off x="6093225" y="4621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7" name="Google Shape;417;p37"/>
          <p:cNvCxnSpPr>
            <a:stCxn id="418" idx="2"/>
            <a:endCxn id="416" idx="3"/>
          </p:cNvCxnSpPr>
          <p:nvPr/>
        </p:nvCxnSpPr>
        <p:spPr>
          <a:xfrm flipH="1">
            <a:off x="6378150" y="4517875"/>
            <a:ext cx="1000200" cy="245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9" name="Google Shape;419;p37"/>
          <p:cNvCxnSpPr>
            <a:stCxn id="407" idx="2"/>
            <a:endCxn id="418" idx="0"/>
          </p:cNvCxnSpPr>
          <p:nvPr/>
        </p:nvCxnSpPr>
        <p:spPr>
          <a:xfrm>
            <a:off x="6982300" y="3373675"/>
            <a:ext cx="396000" cy="859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0" name="Google Shape;420;p37"/>
          <p:cNvCxnSpPr>
            <a:stCxn id="421" idx="2"/>
            <a:endCxn id="418" idx="3"/>
          </p:cNvCxnSpPr>
          <p:nvPr/>
        </p:nvCxnSpPr>
        <p:spPr>
          <a:xfrm flipH="1">
            <a:off x="7520863" y="4196675"/>
            <a:ext cx="514200" cy="1788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2" name="Google Shape;422;p37"/>
          <p:cNvSpPr/>
          <p:nvPr/>
        </p:nvSpPr>
        <p:spPr>
          <a:xfrm>
            <a:off x="7635463" y="3180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3" name="Google Shape;423;p37"/>
          <p:cNvCxnSpPr>
            <a:stCxn id="422" idx="2"/>
            <a:endCxn id="407" idx="3"/>
          </p:cNvCxnSpPr>
          <p:nvPr/>
        </p:nvCxnSpPr>
        <p:spPr>
          <a:xfrm rot="10800000">
            <a:off x="7124863" y="3231150"/>
            <a:ext cx="510600" cy="915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1" name="Google Shape;401;p37"/>
          <p:cNvSpPr/>
          <p:nvPr/>
        </p:nvSpPr>
        <p:spPr>
          <a:xfrm>
            <a:off x="4417600" y="338627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37"/>
          <p:cNvSpPr/>
          <p:nvPr/>
        </p:nvSpPr>
        <p:spPr>
          <a:xfrm>
            <a:off x="5516075" y="3503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37"/>
          <p:cNvSpPr/>
          <p:nvPr/>
        </p:nvSpPr>
        <p:spPr>
          <a:xfrm>
            <a:off x="6839800" y="3088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37"/>
          <p:cNvSpPr/>
          <p:nvPr/>
        </p:nvSpPr>
        <p:spPr>
          <a:xfrm>
            <a:off x="7235850" y="423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37"/>
          <p:cNvSpPr/>
          <p:nvPr/>
        </p:nvSpPr>
        <p:spPr>
          <a:xfrm>
            <a:off x="8035063" y="40541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7"/>
          <p:cNvSpPr/>
          <p:nvPr/>
        </p:nvSpPr>
        <p:spPr>
          <a:xfrm>
            <a:off x="5516075" y="2791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37"/>
          <p:cNvSpPr txBox="1"/>
          <p:nvPr/>
        </p:nvSpPr>
        <p:spPr>
          <a:xfrm>
            <a:off x="613125" y="3415825"/>
            <a:ext cx="2553600" cy="7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R2 can't see the whole network.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R2 might only be able to know about its direct neighbors.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What Makes Routing Hard? (3/3) – Best-Effort</a:t>
            </a:r>
            <a:endParaRPr/>
          </a:p>
        </p:txBody>
      </p:sp>
      <p:sp>
        <p:nvSpPr>
          <p:cNvPr id="430" name="Google Shape;430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Layer 3, links are best-effort. Packets could get dropped.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summary, challenges of routing: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Topology changes over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Routers don't have a global view of the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Links are best-effort.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Defining the Routing Problem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Routing?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Modeling the Network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Makes Routing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Types of Routing Protocols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Routing States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Destination-Based Forwarding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Routing State Validity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Least-Cost Routing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Static Routing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36" name="Google Shape;436;p3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Routing Protocols</a:t>
            </a:r>
            <a:endParaRPr/>
          </a:p>
        </p:txBody>
      </p:sp>
      <p:sp>
        <p:nvSpPr>
          <p:cNvPr id="437" name="Google Shape;437;p3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4, CS 168, Spring 2026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0"/>
          <p:cNvSpPr/>
          <p:nvPr/>
        </p:nvSpPr>
        <p:spPr>
          <a:xfrm>
            <a:off x="3514750" y="3680675"/>
            <a:ext cx="2141400" cy="130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Protocols – Disclaimer</a:t>
            </a:r>
            <a:endParaRPr/>
          </a:p>
        </p:txBody>
      </p:sp>
      <p:sp>
        <p:nvSpPr>
          <p:cNvPr id="444" name="Google Shape;444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7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an endless number of possible routing protocols.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We're going to talk about the "archetypal Internet."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We'll see some alternative approaches later.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The Internet is a network of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Internet does not have a single giant routing protocol.</a:t>
            </a:r>
            <a:endParaRPr/>
          </a:p>
        </p:txBody>
      </p:sp>
      <p:sp>
        <p:nvSpPr>
          <p:cNvPr id="445" name="Google Shape;445;p40"/>
          <p:cNvSpPr/>
          <p:nvPr/>
        </p:nvSpPr>
        <p:spPr>
          <a:xfrm>
            <a:off x="3351275" y="2546900"/>
            <a:ext cx="2890800" cy="10149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40"/>
          <p:cNvSpPr/>
          <p:nvPr/>
        </p:nvSpPr>
        <p:spPr>
          <a:xfrm>
            <a:off x="6426350" y="2591175"/>
            <a:ext cx="2218800" cy="2222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40"/>
          <p:cNvSpPr/>
          <p:nvPr/>
        </p:nvSpPr>
        <p:spPr>
          <a:xfrm>
            <a:off x="285750" y="2862825"/>
            <a:ext cx="2487600" cy="161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40"/>
          <p:cNvSpPr/>
          <p:nvPr/>
        </p:nvSpPr>
        <p:spPr>
          <a:xfrm>
            <a:off x="1415675" y="367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40"/>
          <p:cNvSpPr/>
          <p:nvPr/>
        </p:nvSpPr>
        <p:spPr>
          <a:xfrm>
            <a:off x="1415675" y="29721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40"/>
          <p:cNvSpPr/>
          <p:nvPr/>
        </p:nvSpPr>
        <p:spPr>
          <a:xfrm>
            <a:off x="2317763" y="3264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40"/>
          <p:cNvSpPr/>
          <p:nvPr/>
        </p:nvSpPr>
        <p:spPr>
          <a:xfrm>
            <a:off x="702163" y="33856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40"/>
          <p:cNvSpPr/>
          <p:nvPr/>
        </p:nvSpPr>
        <p:spPr>
          <a:xfrm>
            <a:off x="702163" y="39732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3" name="Google Shape;453;p40"/>
          <p:cNvCxnSpPr>
            <a:stCxn id="448" idx="1"/>
            <a:endCxn id="451" idx="6"/>
          </p:cNvCxnSpPr>
          <p:nvPr/>
        </p:nvCxnSpPr>
        <p:spPr>
          <a:xfrm rot="10800000">
            <a:off x="987275" y="35282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40"/>
          <p:cNvCxnSpPr>
            <a:stCxn id="448" idx="1"/>
            <a:endCxn id="452" idx="6"/>
          </p:cNvCxnSpPr>
          <p:nvPr/>
        </p:nvCxnSpPr>
        <p:spPr>
          <a:xfrm flipH="1">
            <a:off x="987275" y="38219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40"/>
          <p:cNvCxnSpPr>
            <a:stCxn id="448" idx="3"/>
            <a:endCxn id="450" idx="1"/>
          </p:cNvCxnSpPr>
          <p:nvPr/>
        </p:nvCxnSpPr>
        <p:spPr>
          <a:xfrm rot="10800000" flipH="1">
            <a:off x="1700675" y="3407075"/>
            <a:ext cx="617100" cy="414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40"/>
          <p:cNvCxnSpPr>
            <a:stCxn id="449" idx="2"/>
            <a:endCxn id="448" idx="0"/>
          </p:cNvCxnSpPr>
          <p:nvPr/>
        </p:nvCxnSpPr>
        <p:spPr>
          <a:xfrm>
            <a:off x="1558175" y="3257150"/>
            <a:ext cx="0" cy="422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7" name="Google Shape;457;p40"/>
          <p:cNvSpPr/>
          <p:nvPr/>
        </p:nvSpPr>
        <p:spPr>
          <a:xfrm>
            <a:off x="5818250" y="285046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40"/>
          <p:cNvSpPr/>
          <p:nvPr/>
        </p:nvSpPr>
        <p:spPr>
          <a:xfrm>
            <a:off x="5126075" y="3205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9" name="Google Shape;459;p40"/>
          <p:cNvCxnSpPr>
            <a:stCxn id="457" idx="1"/>
            <a:endCxn id="458" idx="6"/>
          </p:cNvCxnSpPr>
          <p:nvPr/>
        </p:nvCxnSpPr>
        <p:spPr>
          <a:xfrm flipH="1">
            <a:off x="5411150" y="2992963"/>
            <a:ext cx="407100" cy="355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0" name="Google Shape;460;p40"/>
          <p:cNvSpPr/>
          <p:nvPr/>
        </p:nvSpPr>
        <p:spPr>
          <a:xfrm>
            <a:off x="3504288" y="2850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1" name="Google Shape;461;p40"/>
          <p:cNvCxnSpPr>
            <a:stCxn id="457" idx="1"/>
            <a:endCxn id="460" idx="3"/>
          </p:cNvCxnSpPr>
          <p:nvPr/>
        </p:nvCxnSpPr>
        <p:spPr>
          <a:xfrm rot="10800000">
            <a:off x="3789350" y="2992963"/>
            <a:ext cx="2028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2" name="Google Shape;462;p40"/>
          <p:cNvSpPr/>
          <p:nvPr/>
        </p:nvSpPr>
        <p:spPr>
          <a:xfrm>
            <a:off x="3778688" y="401801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3" name="Google Shape;463;p40"/>
          <p:cNvSpPr/>
          <p:nvPr/>
        </p:nvSpPr>
        <p:spPr>
          <a:xfrm>
            <a:off x="5102525" y="40180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4" name="Google Shape;464;p40"/>
          <p:cNvSpPr/>
          <p:nvPr/>
        </p:nvSpPr>
        <p:spPr>
          <a:xfrm>
            <a:off x="3778688" y="446788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5" name="Google Shape;465;p40"/>
          <p:cNvCxnSpPr>
            <a:stCxn id="464" idx="0"/>
            <a:endCxn id="462" idx="2"/>
          </p:cNvCxnSpPr>
          <p:nvPr/>
        </p:nvCxnSpPr>
        <p:spPr>
          <a:xfrm rot="10800000">
            <a:off x="3921188" y="4302886"/>
            <a:ext cx="0" cy="165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40"/>
          <p:cNvCxnSpPr>
            <a:stCxn id="462" idx="3"/>
            <a:endCxn id="463" idx="1"/>
          </p:cNvCxnSpPr>
          <p:nvPr/>
        </p:nvCxnSpPr>
        <p:spPr>
          <a:xfrm>
            <a:off x="4063688" y="4160513"/>
            <a:ext cx="1038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7" name="Google Shape;467;p40"/>
          <p:cNvSpPr/>
          <p:nvPr/>
        </p:nvSpPr>
        <p:spPr>
          <a:xfrm>
            <a:off x="5102525" y="446781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8" name="Google Shape;468;p40"/>
          <p:cNvCxnSpPr>
            <a:stCxn id="467" idx="0"/>
            <a:endCxn id="463" idx="2"/>
          </p:cNvCxnSpPr>
          <p:nvPr/>
        </p:nvCxnSpPr>
        <p:spPr>
          <a:xfrm rot="10800000">
            <a:off x="5245025" y="4303111"/>
            <a:ext cx="0" cy="164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40"/>
          <p:cNvSpPr/>
          <p:nvPr/>
        </p:nvSpPr>
        <p:spPr>
          <a:xfrm>
            <a:off x="6473363" y="34720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40"/>
          <p:cNvSpPr/>
          <p:nvPr/>
        </p:nvSpPr>
        <p:spPr>
          <a:xfrm>
            <a:off x="6834563" y="285046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40"/>
          <p:cNvSpPr/>
          <p:nvPr/>
        </p:nvSpPr>
        <p:spPr>
          <a:xfrm>
            <a:off x="7433075" y="306307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40"/>
          <p:cNvSpPr/>
          <p:nvPr/>
        </p:nvSpPr>
        <p:spPr>
          <a:xfrm>
            <a:off x="7438875" y="38599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40"/>
          <p:cNvSpPr/>
          <p:nvPr/>
        </p:nvSpPr>
        <p:spPr>
          <a:xfrm>
            <a:off x="7067275" y="4355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40"/>
          <p:cNvSpPr/>
          <p:nvPr/>
        </p:nvSpPr>
        <p:spPr>
          <a:xfrm>
            <a:off x="7798850" y="4355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5" name="Google Shape;475;p40"/>
          <p:cNvCxnSpPr>
            <a:stCxn id="474" idx="1"/>
            <a:endCxn id="472" idx="2"/>
          </p:cNvCxnSpPr>
          <p:nvPr/>
        </p:nvCxnSpPr>
        <p:spPr>
          <a:xfrm rot="10800000">
            <a:off x="7581387" y="4144851"/>
            <a:ext cx="259200" cy="252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6" name="Google Shape;476;p40"/>
          <p:cNvCxnSpPr>
            <a:stCxn id="473" idx="7"/>
            <a:endCxn id="472" idx="2"/>
          </p:cNvCxnSpPr>
          <p:nvPr/>
        </p:nvCxnSpPr>
        <p:spPr>
          <a:xfrm rot="10800000" flipH="1">
            <a:off x="7310538" y="4144851"/>
            <a:ext cx="270900" cy="252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7" name="Google Shape;477;p40"/>
          <p:cNvCxnSpPr>
            <a:stCxn id="471" idx="1"/>
            <a:endCxn id="470" idx="3"/>
          </p:cNvCxnSpPr>
          <p:nvPr/>
        </p:nvCxnSpPr>
        <p:spPr>
          <a:xfrm rot="10800000">
            <a:off x="7119575" y="2992876"/>
            <a:ext cx="313500" cy="212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8" name="Google Shape;478;p40"/>
          <p:cNvCxnSpPr>
            <a:stCxn id="471" idx="1"/>
            <a:endCxn id="469" idx="3"/>
          </p:cNvCxnSpPr>
          <p:nvPr/>
        </p:nvCxnSpPr>
        <p:spPr>
          <a:xfrm flipH="1">
            <a:off x="6758375" y="3205576"/>
            <a:ext cx="674700" cy="408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40"/>
          <p:cNvCxnSpPr>
            <a:stCxn id="471" idx="2"/>
            <a:endCxn id="472" idx="0"/>
          </p:cNvCxnSpPr>
          <p:nvPr/>
        </p:nvCxnSpPr>
        <p:spPr>
          <a:xfrm>
            <a:off x="7575575" y="3348076"/>
            <a:ext cx="5700" cy="511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p40"/>
          <p:cNvSpPr/>
          <p:nvPr/>
        </p:nvSpPr>
        <p:spPr>
          <a:xfrm>
            <a:off x="8154500" y="306306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1" name="Google Shape;481;p40"/>
          <p:cNvCxnSpPr>
            <a:stCxn id="471" idx="3"/>
            <a:endCxn id="480" idx="2"/>
          </p:cNvCxnSpPr>
          <p:nvPr/>
        </p:nvCxnSpPr>
        <p:spPr>
          <a:xfrm>
            <a:off x="7718075" y="3205576"/>
            <a:ext cx="436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2" name="Google Shape;482;p40"/>
          <p:cNvCxnSpPr>
            <a:stCxn id="450" idx="3"/>
            <a:endCxn id="462" idx="1"/>
          </p:cNvCxnSpPr>
          <p:nvPr/>
        </p:nvCxnSpPr>
        <p:spPr>
          <a:xfrm>
            <a:off x="2602763" y="3407150"/>
            <a:ext cx="1176000" cy="753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40"/>
          <p:cNvCxnSpPr>
            <a:stCxn id="450" idx="3"/>
            <a:endCxn id="460" idx="1"/>
          </p:cNvCxnSpPr>
          <p:nvPr/>
        </p:nvCxnSpPr>
        <p:spPr>
          <a:xfrm rot="10800000" flipH="1">
            <a:off x="2602763" y="2992850"/>
            <a:ext cx="901500" cy="414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40"/>
          <p:cNvCxnSpPr>
            <a:stCxn id="457" idx="3"/>
            <a:endCxn id="470" idx="1"/>
          </p:cNvCxnSpPr>
          <p:nvPr/>
        </p:nvCxnSpPr>
        <p:spPr>
          <a:xfrm>
            <a:off x="6103250" y="2992963"/>
            <a:ext cx="731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5" name="Google Shape;485;p40"/>
          <p:cNvCxnSpPr>
            <a:stCxn id="463" idx="3"/>
            <a:endCxn id="469" idx="1"/>
          </p:cNvCxnSpPr>
          <p:nvPr/>
        </p:nvCxnSpPr>
        <p:spPr>
          <a:xfrm rot="10800000" flipH="1">
            <a:off x="5387525" y="3614588"/>
            <a:ext cx="1085700" cy="546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6" name="Google Shape;486;p40"/>
          <p:cNvSpPr/>
          <p:nvPr/>
        </p:nvSpPr>
        <p:spPr>
          <a:xfrm>
            <a:off x="4244850" y="31943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7" name="Google Shape;487;p40"/>
          <p:cNvCxnSpPr>
            <a:stCxn id="460" idx="3"/>
            <a:endCxn id="486" idx="2"/>
          </p:cNvCxnSpPr>
          <p:nvPr/>
        </p:nvCxnSpPr>
        <p:spPr>
          <a:xfrm>
            <a:off x="3789288" y="2992975"/>
            <a:ext cx="455700" cy="343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Intra-Domain vs. Inter-Domain Routing</a:t>
            </a:r>
            <a:endParaRPr/>
          </a:p>
        </p:txBody>
      </p:sp>
      <p:sp>
        <p:nvSpPr>
          <p:cNvPr id="493" name="Google Shape;493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Intra-domain</a:t>
            </a:r>
            <a:r>
              <a:rPr lang="en"/>
              <a:t> routing protocols compute routes within a single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called </a:t>
            </a:r>
            <a:r>
              <a:rPr lang="en" b="1"/>
              <a:t>Interior Gateway Protocols (IGPs)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network can choose their own intra-domain protocol based on their needs.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Networks differ in size (geographic, number of hosts), capacity (bandwidth, latency), support (money, staff), etc.</a:t>
            </a:r>
            <a:endParaRPr/>
          </a:p>
        </p:txBody>
      </p:sp>
      <p:sp>
        <p:nvSpPr>
          <p:cNvPr id="494" name="Google Shape;494;p41"/>
          <p:cNvSpPr/>
          <p:nvPr/>
        </p:nvSpPr>
        <p:spPr>
          <a:xfrm>
            <a:off x="3351275" y="2546900"/>
            <a:ext cx="2890800" cy="10149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1"/>
          <p:cNvSpPr/>
          <p:nvPr/>
        </p:nvSpPr>
        <p:spPr>
          <a:xfrm>
            <a:off x="3514750" y="3680675"/>
            <a:ext cx="2141400" cy="130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41"/>
          <p:cNvSpPr/>
          <p:nvPr/>
        </p:nvSpPr>
        <p:spPr>
          <a:xfrm>
            <a:off x="6426350" y="2591175"/>
            <a:ext cx="2218800" cy="2222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7" name="Google Shape;497;p41"/>
          <p:cNvSpPr/>
          <p:nvPr/>
        </p:nvSpPr>
        <p:spPr>
          <a:xfrm>
            <a:off x="285750" y="2862825"/>
            <a:ext cx="2487600" cy="161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41"/>
          <p:cNvSpPr/>
          <p:nvPr/>
        </p:nvSpPr>
        <p:spPr>
          <a:xfrm>
            <a:off x="1415675" y="3679475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41"/>
          <p:cNvSpPr/>
          <p:nvPr/>
        </p:nvSpPr>
        <p:spPr>
          <a:xfrm>
            <a:off x="1415675" y="297215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41"/>
          <p:cNvSpPr/>
          <p:nvPr/>
        </p:nvSpPr>
        <p:spPr>
          <a:xfrm>
            <a:off x="2317763" y="326465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1"/>
          <p:cNvSpPr/>
          <p:nvPr/>
        </p:nvSpPr>
        <p:spPr>
          <a:xfrm>
            <a:off x="702163" y="338567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41"/>
          <p:cNvSpPr/>
          <p:nvPr/>
        </p:nvSpPr>
        <p:spPr>
          <a:xfrm>
            <a:off x="702163" y="397327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3" name="Google Shape;503;p41"/>
          <p:cNvCxnSpPr>
            <a:stCxn id="498" idx="1"/>
            <a:endCxn id="501" idx="6"/>
          </p:cNvCxnSpPr>
          <p:nvPr/>
        </p:nvCxnSpPr>
        <p:spPr>
          <a:xfrm rot="10800000">
            <a:off x="987275" y="3528275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4" name="Google Shape;504;p41"/>
          <p:cNvCxnSpPr>
            <a:stCxn id="498" idx="1"/>
            <a:endCxn id="502" idx="6"/>
          </p:cNvCxnSpPr>
          <p:nvPr/>
        </p:nvCxnSpPr>
        <p:spPr>
          <a:xfrm flipH="1">
            <a:off x="987275" y="3821975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5" name="Google Shape;505;p41"/>
          <p:cNvCxnSpPr>
            <a:stCxn id="498" idx="3"/>
            <a:endCxn id="500" idx="1"/>
          </p:cNvCxnSpPr>
          <p:nvPr/>
        </p:nvCxnSpPr>
        <p:spPr>
          <a:xfrm rot="10800000" flipH="1">
            <a:off x="1700675" y="3407075"/>
            <a:ext cx="617100" cy="414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6" name="Google Shape;506;p41"/>
          <p:cNvCxnSpPr>
            <a:stCxn id="499" idx="2"/>
            <a:endCxn id="498" idx="0"/>
          </p:cNvCxnSpPr>
          <p:nvPr/>
        </p:nvCxnSpPr>
        <p:spPr>
          <a:xfrm>
            <a:off x="1558175" y="3257150"/>
            <a:ext cx="0" cy="422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7" name="Google Shape;507;p41"/>
          <p:cNvSpPr/>
          <p:nvPr/>
        </p:nvSpPr>
        <p:spPr>
          <a:xfrm>
            <a:off x="5818250" y="285046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8" name="Google Shape;508;p41"/>
          <p:cNvSpPr/>
          <p:nvPr/>
        </p:nvSpPr>
        <p:spPr>
          <a:xfrm>
            <a:off x="5126075" y="320557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9" name="Google Shape;509;p41"/>
          <p:cNvCxnSpPr>
            <a:stCxn id="507" idx="1"/>
            <a:endCxn id="508" idx="6"/>
          </p:cNvCxnSpPr>
          <p:nvPr/>
        </p:nvCxnSpPr>
        <p:spPr>
          <a:xfrm flipH="1">
            <a:off x="5411150" y="2992963"/>
            <a:ext cx="407100" cy="3552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0" name="Google Shape;510;p41"/>
          <p:cNvSpPr/>
          <p:nvPr/>
        </p:nvSpPr>
        <p:spPr>
          <a:xfrm>
            <a:off x="3504288" y="2850475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1" name="Google Shape;511;p41"/>
          <p:cNvCxnSpPr>
            <a:stCxn id="507" idx="1"/>
            <a:endCxn id="510" idx="3"/>
          </p:cNvCxnSpPr>
          <p:nvPr/>
        </p:nvCxnSpPr>
        <p:spPr>
          <a:xfrm rot="10800000">
            <a:off x="3789350" y="2992963"/>
            <a:ext cx="20289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p41"/>
          <p:cNvSpPr/>
          <p:nvPr/>
        </p:nvSpPr>
        <p:spPr>
          <a:xfrm>
            <a:off x="3778688" y="401801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1"/>
          <p:cNvSpPr/>
          <p:nvPr/>
        </p:nvSpPr>
        <p:spPr>
          <a:xfrm>
            <a:off x="5102525" y="4018088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41"/>
          <p:cNvSpPr/>
          <p:nvPr/>
        </p:nvSpPr>
        <p:spPr>
          <a:xfrm>
            <a:off x="3778688" y="4467886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5" name="Google Shape;515;p41"/>
          <p:cNvCxnSpPr>
            <a:stCxn id="514" idx="0"/>
            <a:endCxn id="512" idx="2"/>
          </p:cNvCxnSpPr>
          <p:nvPr/>
        </p:nvCxnSpPr>
        <p:spPr>
          <a:xfrm rot="10800000">
            <a:off x="3921188" y="4302886"/>
            <a:ext cx="0" cy="16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41"/>
          <p:cNvCxnSpPr>
            <a:stCxn id="512" idx="3"/>
            <a:endCxn id="513" idx="1"/>
          </p:cNvCxnSpPr>
          <p:nvPr/>
        </p:nvCxnSpPr>
        <p:spPr>
          <a:xfrm>
            <a:off x="4063688" y="4160513"/>
            <a:ext cx="10389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7" name="Google Shape;517;p41"/>
          <p:cNvSpPr/>
          <p:nvPr/>
        </p:nvSpPr>
        <p:spPr>
          <a:xfrm>
            <a:off x="5102525" y="4467811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8" name="Google Shape;518;p41"/>
          <p:cNvCxnSpPr>
            <a:stCxn id="517" idx="0"/>
            <a:endCxn id="513" idx="2"/>
          </p:cNvCxnSpPr>
          <p:nvPr/>
        </p:nvCxnSpPr>
        <p:spPr>
          <a:xfrm rot="10800000">
            <a:off x="5245025" y="4303111"/>
            <a:ext cx="0" cy="164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9" name="Google Shape;519;p41"/>
          <p:cNvSpPr/>
          <p:nvPr/>
        </p:nvSpPr>
        <p:spPr>
          <a:xfrm>
            <a:off x="6473363" y="34720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0" name="Google Shape;520;p41"/>
          <p:cNvSpPr/>
          <p:nvPr/>
        </p:nvSpPr>
        <p:spPr>
          <a:xfrm>
            <a:off x="6834563" y="285046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41"/>
          <p:cNvSpPr/>
          <p:nvPr/>
        </p:nvSpPr>
        <p:spPr>
          <a:xfrm>
            <a:off x="7433075" y="306307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2" name="Google Shape;522;p41"/>
          <p:cNvSpPr/>
          <p:nvPr/>
        </p:nvSpPr>
        <p:spPr>
          <a:xfrm>
            <a:off x="7438875" y="38599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3" name="Google Shape;523;p41"/>
          <p:cNvSpPr/>
          <p:nvPr/>
        </p:nvSpPr>
        <p:spPr>
          <a:xfrm>
            <a:off x="7067275" y="4355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41"/>
          <p:cNvSpPr/>
          <p:nvPr/>
        </p:nvSpPr>
        <p:spPr>
          <a:xfrm>
            <a:off x="7798850" y="4355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5" name="Google Shape;525;p41"/>
          <p:cNvCxnSpPr>
            <a:stCxn id="524" idx="1"/>
            <a:endCxn id="522" idx="2"/>
          </p:cNvCxnSpPr>
          <p:nvPr/>
        </p:nvCxnSpPr>
        <p:spPr>
          <a:xfrm rot="10800000">
            <a:off x="7581387" y="4144851"/>
            <a:ext cx="259200" cy="252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41"/>
          <p:cNvCxnSpPr>
            <a:stCxn id="523" idx="7"/>
            <a:endCxn id="522" idx="2"/>
          </p:cNvCxnSpPr>
          <p:nvPr/>
        </p:nvCxnSpPr>
        <p:spPr>
          <a:xfrm rot="10800000" flipH="1">
            <a:off x="7310538" y="4144851"/>
            <a:ext cx="270900" cy="252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7" name="Google Shape;527;p41"/>
          <p:cNvCxnSpPr>
            <a:stCxn id="521" idx="1"/>
            <a:endCxn id="520" idx="3"/>
          </p:cNvCxnSpPr>
          <p:nvPr/>
        </p:nvCxnSpPr>
        <p:spPr>
          <a:xfrm rot="10800000">
            <a:off x="7119575" y="2992876"/>
            <a:ext cx="313500" cy="212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528;p41"/>
          <p:cNvCxnSpPr>
            <a:stCxn id="521" idx="1"/>
            <a:endCxn id="519" idx="3"/>
          </p:cNvCxnSpPr>
          <p:nvPr/>
        </p:nvCxnSpPr>
        <p:spPr>
          <a:xfrm flipH="1">
            <a:off x="6758375" y="3205576"/>
            <a:ext cx="674700" cy="408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9" name="Google Shape;529;p41"/>
          <p:cNvCxnSpPr>
            <a:stCxn id="521" idx="2"/>
            <a:endCxn id="522" idx="0"/>
          </p:cNvCxnSpPr>
          <p:nvPr/>
        </p:nvCxnSpPr>
        <p:spPr>
          <a:xfrm>
            <a:off x="7575575" y="3348076"/>
            <a:ext cx="5700" cy="511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p41"/>
          <p:cNvSpPr/>
          <p:nvPr/>
        </p:nvSpPr>
        <p:spPr>
          <a:xfrm>
            <a:off x="8154500" y="306306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1" name="Google Shape;531;p41"/>
          <p:cNvCxnSpPr>
            <a:stCxn id="521" idx="3"/>
            <a:endCxn id="530" idx="2"/>
          </p:cNvCxnSpPr>
          <p:nvPr/>
        </p:nvCxnSpPr>
        <p:spPr>
          <a:xfrm>
            <a:off x="7718075" y="3205576"/>
            <a:ext cx="436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2" name="Google Shape;532;p41"/>
          <p:cNvCxnSpPr>
            <a:stCxn id="500" idx="3"/>
            <a:endCxn id="512" idx="1"/>
          </p:cNvCxnSpPr>
          <p:nvPr/>
        </p:nvCxnSpPr>
        <p:spPr>
          <a:xfrm>
            <a:off x="2602763" y="3407150"/>
            <a:ext cx="1176000" cy="7533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3" name="Google Shape;533;p41"/>
          <p:cNvCxnSpPr>
            <a:stCxn id="500" idx="3"/>
            <a:endCxn id="510" idx="1"/>
          </p:cNvCxnSpPr>
          <p:nvPr/>
        </p:nvCxnSpPr>
        <p:spPr>
          <a:xfrm rot="10800000" flipH="1">
            <a:off x="2602763" y="2992850"/>
            <a:ext cx="901500" cy="4143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4" name="Google Shape;534;p41"/>
          <p:cNvCxnSpPr>
            <a:stCxn id="507" idx="3"/>
            <a:endCxn id="520" idx="1"/>
          </p:cNvCxnSpPr>
          <p:nvPr/>
        </p:nvCxnSpPr>
        <p:spPr>
          <a:xfrm>
            <a:off x="6103250" y="2992963"/>
            <a:ext cx="731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5" name="Google Shape;535;p41"/>
          <p:cNvCxnSpPr>
            <a:stCxn id="513" idx="3"/>
            <a:endCxn id="519" idx="1"/>
          </p:cNvCxnSpPr>
          <p:nvPr/>
        </p:nvCxnSpPr>
        <p:spPr>
          <a:xfrm rot="10800000" flipH="1">
            <a:off x="5387525" y="3614588"/>
            <a:ext cx="1085700" cy="546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41"/>
          <p:cNvSpPr/>
          <p:nvPr/>
        </p:nvSpPr>
        <p:spPr>
          <a:xfrm>
            <a:off x="4244850" y="319431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41"/>
          <p:cNvCxnSpPr>
            <a:stCxn id="510" idx="3"/>
            <a:endCxn id="536" idx="2"/>
          </p:cNvCxnSpPr>
          <p:nvPr/>
        </p:nvCxnSpPr>
        <p:spPr>
          <a:xfrm>
            <a:off x="3789288" y="2992975"/>
            <a:ext cx="455700" cy="3438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Intra-Domain vs. Inter-Domain Routing</a:t>
            </a:r>
            <a:endParaRPr/>
          </a:p>
        </p:txBody>
      </p:sp>
      <p:sp>
        <p:nvSpPr>
          <p:cNvPr id="543" name="Google Shape;543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/>
              <a:t>Inter-domain</a:t>
            </a:r>
            <a:r>
              <a:rPr lang="en"/>
              <a:t> routing protocols compute routes between networks..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called </a:t>
            </a:r>
            <a:r>
              <a:rPr lang="en" b="1"/>
              <a:t>Exterior Gateway Protocols (EGPs)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Everybody has to agree on the same protocol.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Internet has used BGP since the 1990s.</a:t>
            </a:r>
            <a:endParaRPr/>
          </a:p>
        </p:txBody>
      </p:sp>
      <p:sp>
        <p:nvSpPr>
          <p:cNvPr id="544" name="Google Shape;544;p42"/>
          <p:cNvSpPr/>
          <p:nvPr/>
        </p:nvSpPr>
        <p:spPr>
          <a:xfrm>
            <a:off x="3351275" y="2546900"/>
            <a:ext cx="2890800" cy="10149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2"/>
          <p:cNvSpPr/>
          <p:nvPr/>
        </p:nvSpPr>
        <p:spPr>
          <a:xfrm>
            <a:off x="3514750" y="3680675"/>
            <a:ext cx="2141400" cy="130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2"/>
          <p:cNvSpPr/>
          <p:nvPr/>
        </p:nvSpPr>
        <p:spPr>
          <a:xfrm>
            <a:off x="6426350" y="2591175"/>
            <a:ext cx="2218800" cy="2222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2"/>
          <p:cNvSpPr/>
          <p:nvPr/>
        </p:nvSpPr>
        <p:spPr>
          <a:xfrm>
            <a:off x="285750" y="2862825"/>
            <a:ext cx="2487600" cy="161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42"/>
          <p:cNvSpPr/>
          <p:nvPr/>
        </p:nvSpPr>
        <p:spPr>
          <a:xfrm>
            <a:off x="1415675" y="3679475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42"/>
          <p:cNvSpPr/>
          <p:nvPr/>
        </p:nvSpPr>
        <p:spPr>
          <a:xfrm>
            <a:off x="1415675" y="297215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42"/>
          <p:cNvSpPr/>
          <p:nvPr/>
        </p:nvSpPr>
        <p:spPr>
          <a:xfrm>
            <a:off x="2317763" y="326465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2"/>
          <p:cNvSpPr/>
          <p:nvPr/>
        </p:nvSpPr>
        <p:spPr>
          <a:xfrm>
            <a:off x="702163" y="338567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42"/>
          <p:cNvSpPr/>
          <p:nvPr/>
        </p:nvSpPr>
        <p:spPr>
          <a:xfrm>
            <a:off x="702163" y="397327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3" name="Google Shape;553;p42"/>
          <p:cNvCxnSpPr>
            <a:stCxn id="548" idx="1"/>
            <a:endCxn id="551" idx="6"/>
          </p:cNvCxnSpPr>
          <p:nvPr/>
        </p:nvCxnSpPr>
        <p:spPr>
          <a:xfrm rot="10800000">
            <a:off x="987275" y="3528275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4" name="Google Shape;554;p42"/>
          <p:cNvCxnSpPr>
            <a:stCxn id="548" idx="1"/>
            <a:endCxn id="552" idx="6"/>
          </p:cNvCxnSpPr>
          <p:nvPr/>
        </p:nvCxnSpPr>
        <p:spPr>
          <a:xfrm flipH="1">
            <a:off x="987275" y="3821975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2"/>
          <p:cNvCxnSpPr>
            <a:stCxn id="548" idx="3"/>
            <a:endCxn id="550" idx="1"/>
          </p:cNvCxnSpPr>
          <p:nvPr/>
        </p:nvCxnSpPr>
        <p:spPr>
          <a:xfrm rot="10800000" flipH="1">
            <a:off x="1700675" y="3407075"/>
            <a:ext cx="617100" cy="414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2"/>
          <p:cNvCxnSpPr>
            <a:stCxn id="549" idx="2"/>
            <a:endCxn id="548" idx="0"/>
          </p:cNvCxnSpPr>
          <p:nvPr/>
        </p:nvCxnSpPr>
        <p:spPr>
          <a:xfrm>
            <a:off x="1558175" y="3257150"/>
            <a:ext cx="0" cy="422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7" name="Google Shape;557;p42"/>
          <p:cNvSpPr/>
          <p:nvPr/>
        </p:nvSpPr>
        <p:spPr>
          <a:xfrm>
            <a:off x="5818250" y="285046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42"/>
          <p:cNvSpPr/>
          <p:nvPr/>
        </p:nvSpPr>
        <p:spPr>
          <a:xfrm>
            <a:off x="5126075" y="320557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9" name="Google Shape;559;p42"/>
          <p:cNvCxnSpPr>
            <a:stCxn id="557" idx="1"/>
            <a:endCxn id="558" idx="6"/>
          </p:cNvCxnSpPr>
          <p:nvPr/>
        </p:nvCxnSpPr>
        <p:spPr>
          <a:xfrm flipH="1">
            <a:off x="5411150" y="2992963"/>
            <a:ext cx="407100" cy="3552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0" name="Google Shape;560;p42"/>
          <p:cNvSpPr/>
          <p:nvPr/>
        </p:nvSpPr>
        <p:spPr>
          <a:xfrm>
            <a:off x="3504288" y="2850475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1" name="Google Shape;561;p42"/>
          <p:cNvCxnSpPr>
            <a:stCxn id="557" idx="1"/>
            <a:endCxn id="560" idx="3"/>
          </p:cNvCxnSpPr>
          <p:nvPr/>
        </p:nvCxnSpPr>
        <p:spPr>
          <a:xfrm rot="10800000">
            <a:off x="3789350" y="2992963"/>
            <a:ext cx="20289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2" name="Google Shape;562;p42"/>
          <p:cNvSpPr/>
          <p:nvPr/>
        </p:nvSpPr>
        <p:spPr>
          <a:xfrm>
            <a:off x="3778688" y="401801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3" name="Google Shape;563;p42"/>
          <p:cNvSpPr/>
          <p:nvPr/>
        </p:nvSpPr>
        <p:spPr>
          <a:xfrm>
            <a:off x="5102525" y="4018088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2"/>
          <p:cNvSpPr/>
          <p:nvPr/>
        </p:nvSpPr>
        <p:spPr>
          <a:xfrm>
            <a:off x="3778688" y="4467886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5" name="Google Shape;565;p42"/>
          <p:cNvCxnSpPr>
            <a:stCxn id="564" idx="0"/>
            <a:endCxn id="562" idx="2"/>
          </p:cNvCxnSpPr>
          <p:nvPr/>
        </p:nvCxnSpPr>
        <p:spPr>
          <a:xfrm rot="10800000">
            <a:off x="3921188" y="4302886"/>
            <a:ext cx="0" cy="16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6" name="Google Shape;566;p42"/>
          <p:cNvCxnSpPr>
            <a:stCxn id="562" idx="3"/>
            <a:endCxn id="563" idx="1"/>
          </p:cNvCxnSpPr>
          <p:nvPr/>
        </p:nvCxnSpPr>
        <p:spPr>
          <a:xfrm>
            <a:off x="4063688" y="4160513"/>
            <a:ext cx="10389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7" name="Google Shape;567;p42"/>
          <p:cNvSpPr/>
          <p:nvPr/>
        </p:nvSpPr>
        <p:spPr>
          <a:xfrm>
            <a:off x="5102525" y="4467811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8" name="Google Shape;568;p42"/>
          <p:cNvCxnSpPr>
            <a:stCxn id="567" idx="0"/>
            <a:endCxn id="563" idx="2"/>
          </p:cNvCxnSpPr>
          <p:nvPr/>
        </p:nvCxnSpPr>
        <p:spPr>
          <a:xfrm rot="10800000">
            <a:off x="5245025" y="4303111"/>
            <a:ext cx="0" cy="164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p42"/>
          <p:cNvSpPr/>
          <p:nvPr/>
        </p:nvSpPr>
        <p:spPr>
          <a:xfrm>
            <a:off x="6473363" y="3472026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2"/>
          <p:cNvSpPr/>
          <p:nvPr/>
        </p:nvSpPr>
        <p:spPr>
          <a:xfrm>
            <a:off x="6834563" y="2850464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1" name="Google Shape;571;p42"/>
          <p:cNvSpPr/>
          <p:nvPr/>
        </p:nvSpPr>
        <p:spPr>
          <a:xfrm>
            <a:off x="7433075" y="3063076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42"/>
          <p:cNvSpPr/>
          <p:nvPr/>
        </p:nvSpPr>
        <p:spPr>
          <a:xfrm>
            <a:off x="7438875" y="3859939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42"/>
          <p:cNvSpPr/>
          <p:nvPr/>
        </p:nvSpPr>
        <p:spPr>
          <a:xfrm>
            <a:off x="7067275" y="4355714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4" name="Google Shape;574;p42"/>
          <p:cNvSpPr/>
          <p:nvPr/>
        </p:nvSpPr>
        <p:spPr>
          <a:xfrm>
            <a:off x="7798850" y="4355714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5" name="Google Shape;575;p42"/>
          <p:cNvCxnSpPr>
            <a:stCxn id="574" idx="1"/>
            <a:endCxn id="572" idx="2"/>
          </p:cNvCxnSpPr>
          <p:nvPr/>
        </p:nvCxnSpPr>
        <p:spPr>
          <a:xfrm rot="10800000">
            <a:off x="7581387" y="4144851"/>
            <a:ext cx="259200" cy="252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6" name="Google Shape;576;p42"/>
          <p:cNvCxnSpPr>
            <a:stCxn id="573" idx="7"/>
            <a:endCxn id="572" idx="2"/>
          </p:cNvCxnSpPr>
          <p:nvPr/>
        </p:nvCxnSpPr>
        <p:spPr>
          <a:xfrm rot="10800000" flipH="1">
            <a:off x="7310538" y="4144851"/>
            <a:ext cx="270900" cy="252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7" name="Google Shape;577;p42"/>
          <p:cNvCxnSpPr>
            <a:stCxn id="571" idx="1"/>
            <a:endCxn id="570" idx="3"/>
          </p:cNvCxnSpPr>
          <p:nvPr/>
        </p:nvCxnSpPr>
        <p:spPr>
          <a:xfrm rot="10800000">
            <a:off x="7119575" y="2992876"/>
            <a:ext cx="313500" cy="212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8" name="Google Shape;578;p42"/>
          <p:cNvCxnSpPr>
            <a:stCxn id="571" idx="1"/>
            <a:endCxn id="569" idx="3"/>
          </p:cNvCxnSpPr>
          <p:nvPr/>
        </p:nvCxnSpPr>
        <p:spPr>
          <a:xfrm flipH="1">
            <a:off x="6758375" y="3205576"/>
            <a:ext cx="674700" cy="408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9" name="Google Shape;579;p42"/>
          <p:cNvCxnSpPr>
            <a:stCxn id="571" idx="2"/>
            <a:endCxn id="572" idx="0"/>
          </p:cNvCxnSpPr>
          <p:nvPr/>
        </p:nvCxnSpPr>
        <p:spPr>
          <a:xfrm>
            <a:off x="7575575" y="3348076"/>
            <a:ext cx="5700" cy="5118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0" name="Google Shape;580;p42"/>
          <p:cNvSpPr/>
          <p:nvPr/>
        </p:nvSpPr>
        <p:spPr>
          <a:xfrm>
            <a:off x="8154500" y="3063064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1" name="Google Shape;581;p42"/>
          <p:cNvCxnSpPr>
            <a:stCxn id="571" idx="3"/>
            <a:endCxn id="580" idx="2"/>
          </p:cNvCxnSpPr>
          <p:nvPr/>
        </p:nvCxnSpPr>
        <p:spPr>
          <a:xfrm>
            <a:off x="7718075" y="3205576"/>
            <a:ext cx="436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2" name="Google Shape;582;p42"/>
          <p:cNvCxnSpPr>
            <a:stCxn id="550" idx="3"/>
            <a:endCxn id="562" idx="1"/>
          </p:cNvCxnSpPr>
          <p:nvPr/>
        </p:nvCxnSpPr>
        <p:spPr>
          <a:xfrm>
            <a:off x="2602763" y="3407150"/>
            <a:ext cx="1176000" cy="753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3" name="Google Shape;583;p42"/>
          <p:cNvCxnSpPr>
            <a:stCxn id="550" idx="3"/>
            <a:endCxn id="560" idx="1"/>
          </p:cNvCxnSpPr>
          <p:nvPr/>
        </p:nvCxnSpPr>
        <p:spPr>
          <a:xfrm rot="10800000" flipH="1">
            <a:off x="2602763" y="2992850"/>
            <a:ext cx="901500" cy="4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4" name="Google Shape;584;p42"/>
          <p:cNvCxnSpPr>
            <a:stCxn id="557" idx="3"/>
            <a:endCxn id="570" idx="1"/>
          </p:cNvCxnSpPr>
          <p:nvPr/>
        </p:nvCxnSpPr>
        <p:spPr>
          <a:xfrm>
            <a:off x="6103250" y="2992963"/>
            <a:ext cx="731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5" name="Google Shape;585;p42"/>
          <p:cNvCxnSpPr>
            <a:stCxn id="563" idx="3"/>
            <a:endCxn id="569" idx="1"/>
          </p:cNvCxnSpPr>
          <p:nvPr/>
        </p:nvCxnSpPr>
        <p:spPr>
          <a:xfrm rot="10800000" flipH="1">
            <a:off x="5387525" y="3614588"/>
            <a:ext cx="1085700" cy="546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p42"/>
          <p:cNvSpPr/>
          <p:nvPr/>
        </p:nvSpPr>
        <p:spPr>
          <a:xfrm>
            <a:off x="4244850" y="319431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7" name="Google Shape;587;p42"/>
          <p:cNvCxnSpPr>
            <a:stCxn id="560" idx="3"/>
            <a:endCxn id="586" idx="2"/>
          </p:cNvCxnSpPr>
          <p:nvPr/>
        </p:nvCxnSpPr>
        <p:spPr>
          <a:xfrm>
            <a:off x="3789288" y="2992975"/>
            <a:ext cx="455700" cy="3438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Classifying Routing Protocols</a:t>
            </a:r>
            <a:endParaRPr/>
          </a:p>
        </p:txBody>
      </p:sp>
      <p:sp>
        <p:nvSpPr>
          <p:cNvPr id="593" name="Google Shape;593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00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Classifying routing protocols by </a:t>
            </a:r>
            <a:r>
              <a:rPr lang="en" i="1"/>
              <a:t>where</a:t>
            </a:r>
            <a:r>
              <a:rPr lang="en"/>
              <a:t> they operate: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Let individual networks choose how to route </a:t>
            </a:r>
            <a:r>
              <a:rPr lang="en" i="1"/>
              <a:t>inside</a:t>
            </a:r>
            <a:r>
              <a:rPr lang="en"/>
              <a:t> their network. (Intra-domain.)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all networks agree on how to route </a:t>
            </a:r>
            <a:r>
              <a:rPr lang="en" i="1"/>
              <a:t>between</a:t>
            </a:r>
            <a:r>
              <a:rPr lang="en"/>
              <a:t> each other. (Inter-domain.)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practice, the lines between intra-domain and inter-domain routing are blurred.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BGP is sometimes used inside networks, as well as between networks.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also classify routing protocols by </a:t>
            </a:r>
            <a:r>
              <a:rPr lang="en" i="1"/>
              <a:t>how</a:t>
            </a:r>
            <a:r>
              <a:rPr lang="en"/>
              <a:t> they operate: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Distance-vector protocols.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Path-vector protocols. (An extension to the distance-vector idea.)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Link-state protocols.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Defining the Routing Problem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Routing?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Modeling the Network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Makes Routing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Types of Routing Protocols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Routing States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Destination-Based Forwarding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Routing State Validity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Least-Cost Routing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Static Routing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99" name="Google Shape;599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Destination-Based Forwarding</a:t>
            </a:r>
            <a:endParaRPr/>
          </a:p>
        </p:txBody>
      </p:sp>
      <p:sp>
        <p:nvSpPr>
          <p:cNvPr id="600" name="Google Shape;600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4, CS 168, Spring 2026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Decisions</a:t>
            </a:r>
            <a:endParaRPr/>
          </a:p>
        </p:txBody>
      </p:sp>
      <p:sp>
        <p:nvSpPr>
          <p:cNvPr id="606" name="Google Shape;60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basic challenge: When a packet arrives at a router, how does the router know where to send it next, such that it will eventually arrive at the desired destination?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</a:t>
            </a:r>
            <a:r>
              <a:rPr lang="en" b="1"/>
              <a:t>next hop</a:t>
            </a:r>
            <a:r>
              <a:rPr lang="en"/>
              <a:t> is where to forward the packet next.</a:t>
            </a:r>
            <a:endParaRPr/>
          </a:p>
        </p:txBody>
      </p:sp>
      <p:sp>
        <p:nvSpPr>
          <p:cNvPr id="607" name="Google Shape;607;p45"/>
          <p:cNvSpPr/>
          <p:nvPr/>
        </p:nvSpPr>
        <p:spPr>
          <a:xfrm>
            <a:off x="3686388" y="3744943"/>
            <a:ext cx="933000" cy="28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45"/>
          <p:cNvSpPr/>
          <p:nvPr/>
        </p:nvSpPr>
        <p:spPr>
          <a:xfrm>
            <a:off x="3686388" y="4029943"/>
            <a:ext cx="933000" cy="28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45"/>
          <p:cNvSpPr/>
          <p:nvPr/>
        </p:nvSpPr>
        <p:spPr>
          <a:xfrm>
            <a:off x="3686388" y="4314943"/>
            <a:ext cx="933000" cy="5097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45"/>
          <p:cNvSpPr/>
          <p:nvPr/>
        </p:nvSpPr>
        <p:spPr>
          <a:xfrm>
            <a:off x="2677988" y="2426325"/>
            <a:ext cx="1753200" cy="509700"/>
          </a:xfrm>
          <a:prstGeom prst="wedgeRoundRectCallout">
            <a:avLst>
              <a:gd name="adj1" fmla="val 34878"/>
              <a:gd name="adj2" fmla="val 10232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Which way do I forward this packet?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1" name="Google Shape;611;p45"/>
          <p:cNvCxnSpPr>
            <a:endCxn id="612" idx="1"/>
          </p:cNvCxnSpPr>
          <p:nvPr/>
        </p:nvCxnSpPr>
        <p:spPr>
          <a:xfrm>
            <a:off x="3351300" y="3405550"/>
            <a:ext cx="6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3" name="Google Shape;613;p45"/>
          <p:cNvCxnSpPr>
            <a:stCxn id="612" idx="3"/>
            <a:endCxn id="614" idx="1"/>
          </p:cNvCxnSpPr>
          <p:nvPr/>
        </p:nvCxnSpPr>
        <p:spPr>
          <a:xfrm rot="10800000" flipH="1">
            <a:off x="4295400" y="3100750"/>
            <a:ext cx="2001000" cy="304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5" name="Google Shape;615;p45"/>
          <p:cNvCxnSpPr>
            <a:stCxn id="612" idx="3"/>
            <a:endCxn id="616" idx="1"/>
          </p:cNvCxnSpPr>
          <p:nvPr/>
        </p:nvCxnSpPr>
        <p:spPr>
          <a:xfrm>
            <a:off x="4295400" y="3405550"/>
            <a:ext cx="200100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p45"/>
          <p:cNvSpPr/>
          <p:nvPr/>
        </p:nvSpPr>
        <p:spPr>
          <a:xfrm>
            <a:off x="4010400" y="32630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5"/>
          <p:cNvSpPr txBox="1"/>
          <p:nvPr/>
        </p:nvSpPr>
        <p:spPr>
          <a:xfrm>
            <a:off x="5119563" y="3701875"/>
            <a:ext cx="194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45"/>
          <p:cNvSpPr txBox="1"/>
          <p:nvPr/>
        </p:nvSpPr>
        <p:spPr>
          <a:xfrm>
            <a:off x="5119563" y="2886743"/>
            <a:ext cx="194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9" name="Google Shape;619;p45"/>
          <p:cNvCxnSpPr/>
          <p:nvPr/>
        </p:nvCxnSpPr>
        <p:spPr>
          <a:xfrm rot="10800000" flipH="1">
            <a:off x="4831488" y="3029388"/>
            <a:ext cx="929100" cy="14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20" name="Google Shape;620;p45"/>
          <p:cNvCxnSpPr/>
          <p:nvPr/>
        </p:nvCxnSpPr>
        <p:spPr>
          <a:xfrm>
            <a:off x="4831488" y="3638988"/>
            <a:ext cx="929100" cy="14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21" name="Google Shape;621;p45"/>
          <p:cNvCxnSpPr/>
          <p:nvPr/>
        </p:nvCxnSpPr>
        <p:spPr>
          <a:xfrm>
            <a:off x="2945587" y="3405550"/>
            <a:ext cx="346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22" name="Google Shape;622;p45"/>
          <p:cNvCxnSpPr/>
          <p:nvPr/>
        </p:nvCxnSpPr>
        <p:spPr>
          <a:xfrm rot="10800000" flipH="1">
            <a:off x="6336675" y="3042975"/>
            <a:ext cx="342600" cy="5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23" name="Google Shape;623;p45"/>
          <p:cNvCxnSpPr/>
          <p:nvPr/>
        </p:nvCxnSpPr>
        <p:spPr>
          <a:xfrm>
            <a:off x="6336675" y="3716869"/>
            <a:ext cx="342600" cy="5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Decisions</a:t>
            </a:r>
            <a:endParaRPr/>
          </a:p>
        </p:txBody>
      </p:sp>
      <p:sp>
        <p:nvSpPr>
          <p:cNvPr id="629" name="Google Shape;629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 bad strategies: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along a random link – bad because packet might not reach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along every link – bad because wasting bandwidth.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formalize what a solution looks like, and what makes it valid/good.</a:t>
            </a:r>
            <a:endParaRPr/>
          </a:p>
        </p:txBody>
      </p:sp>
      <p:sp>
        <p:nvSpPr>
          <p:cNvPr id="630" name="Google Shape;630;p46"/>
          <p:cNvSpPr/>
          <p:nvPr/>
        </p:nvSpPr>
        <p:spPr>
          <a:xfrm>
            <a:off x="3686388" y="3744943"/>
            <a:ext cx="933000" cy="28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46"/>
          <p:cNvSpPr/>
          <p:nvPr/>
        </p:nvSpPr>
        <p:spPr>
          <a:xfrm>
            <a:off x="3686388" y="4029943"/>
            <a:ext cx="933000" cy="28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46"/>
          <p:cNvSpPr/>
          <p:nvPr/>
        </p:nvSpPr>
        <p:spPr>
          <a:xfrm>
            <a:off x="3686388" y="4314943"/>
            <a:ext cx="933000" cy="5097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46"/>
          <p:cNvSpPr/>
          <p:nvPr/>
        </p:nvSpPr>
        <p:spPr>
          <a:xfrm>
            <a:off x="2677988" y="2426325"/>
            <a:ext cx="1753200" cy="509700"/>
          </a:xfrm>
          <a:prstGeom prst="wedgeRoundRectCallout">
            <a:avLst>
              <a:gd name="adj1" fmla="val 34878"/>
              <a:gd name="adj2" fmla="val 10232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Which way do I forward this packet?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46"/>
          <p:cNvCxnSpPr>
            <a:endCxn id="635" idx="1"/>
          </p:cNvCxnSpPr>
          <p:nvPr/>
        </p:nvCxnSpPr>
        <p:spPr>
          <a:xfrm>
            <a:off x="3351300" y="3405550"/>
            <a:ext cx="6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p46"/>
          <p:cNvCxnSpPr>
            <a:stCxn id="635" idx="3"/>
          </p:cNvCxnSpPr>
          <p:nvPr/>
        </p:nvCxnSpPr>
        <p:spPr>
          <a:xfrm rot="10800000" flipH="1">
            <a:off x="4295400" y="3100750"/>
            <a:ext cx="2001000" cy="304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7" name="Google Shape;637;p46"/>
          <p:cNvCxnSpPr>
            <a:stCxn id="635" idx="3"/>
          </p:cNvCxnSpPr>
          <p:nvPr/>
        </p:nvCxnSpPr>
        <p:spPr>
          <a:xfrm>
            <a:off x="4295400" y="3405550"/>
            <a:ext cx="200100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5" name="Google Shape;635;p46"/>
          <p:cNvSpPr/>
          <p:nvPr/>
        </p:nvSpPr>
        <p:spPr>
          <a:xfrm>
            <a:off x="4010400" y="32630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p46"/>
          <p:cNvSpPr txBox="1"/>
          <p:nvPr/>
        </p:nvSpPr>
        <p:spPr>
          <a:xfrm>
            <a:off x="5119563" y="3701875"/>
            <a:ext cx="194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9" name="Google Shape;639;p46"/>
          <p:cNvSpPr txBox="1"/>
          <p:nvPr/>
        </p:nvSpPr>
        <p:spPr>
          <a:xfrm>
            <a:off x="5119563" y="2886743"/>
            <a:ext cx="194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46"/>
          <p:cNvCxnSpPr/>
          <p:nvPr/>
        </p:nvCxnSpPr>
        <p:spPr>
          <a:xfrm rot="10800000" flipH="1">
            <a:off x="4831488" y="3029388"/>
            <a:ext cx="929100" cy="14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1" name="Google Shape;641;p46"/>
          <p:cNvCxnSpPr/>
          <p:nvPr/>
        </p:nvCxnSpPr>
        <p:spPr>
          <a:xfrm>
            <a:off x="4831488" y="3638988"/>
            <a:ext cx="929100" cy="14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2" name="Google Shape;642;p46"/>
          <p:cNvCxnSpPr/>
          <p:nvPr/>
        </p:nvCxnSpPr>
        <p:spPr>
          <a:xfrm>
            <a:off x="2945587" y="3405550"/>
            <a:ext cx="346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46"/>
          <p:cNvCxnSpPr/>
          <p:nvPr/>
        </p:nvCxnSpPr>
        <p:spPr>
          <a:xfrm rot="10800000" flipH="1">
            <a:off x="6336675" y="3042975"/>
            <a:ext cx="342600" cy="5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44" name="Google Shape;644;p46"/>
          <p:cNvCxnSpPr/>
          <p:nvPr/>
        </p:nvCxnSpPr>
        <p:spPr>
          <a:xfrm>
            <a:off x="6336675" y="3716869"/>
            <a:ext cx="342600" cy="5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Decisions</a:t>
            </a:r>
            <a:endParaRPr/>
          </a:p>
        </p:txBody>
      </p:sp>
      <p:sp>
        <p:nvSpPr>
          <p:cNvPr id="650" name="Google Shape;65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Internet uses </a:t>
            </a:r>
            <a:r>
              <a:rPr lang="en" b="1"/>
              <a:t>destination-based forwarding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router keeps a table, mapping destinations to next hops.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decision only depends on the destination field of the packet.</a:t>
            </a:r>
            <a:endParaRPr/>
          </a:p>
        </p:txBody>
      </p:sp>
      <p:graphicFrame>
        <p:nvGraphicFramePr>
          <p:cNvPr id="651" name="Google Shape;651;p47"/>
          <p:cNvGraphicFramePr/>
          <p:nvPr/>
        </p:nvGraphicFramePr>
        <p:xfrm>
          <a:off x="5819407" y="3484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52" name="Google Shape;652;p47"/>
          <p:cNvSpPr txBox="1"/>
          <p:nvPr/>
        </p:nvSpPr>
        <p:spPr>
          <a:xfrm>
            <a:off x="1414175" y="3816250"/>
            <a:ext cx="1356300" cy="7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When a packet arrives, look up the destination...</a:t>
            </a:r>
            <a:endParaRPr/>
          </a:p>
        </p:txBody>
      </p:sp>
      <p:sp>
        <p:nvSpPr>
          <p:cNvPr id="653" name="Google Shape;653;p47"/>
          <p:cNvSpPr txBox="1"/>
          <p:nvPr/>
        </p:nvSpPr>
        <p:spPr>
          <a:xfrm>
            <a:off x="4181650" y="3848575"/>
            <a:ext cx="1439400" cy="7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...and send along the corresponding next hop.</a:t>
            </a:r>
            <a:endParaRPr/>
          </a:p>
        </p:txBody>
      </p:sp>
      <p:sp>
        <p:nvSpPr>
          <p:cNvPr id="654" name="Google Shape;654;p47"/>
          <p:cNvSpPr/>
          <p:nvPr/>
        </p:nvSpPr>
        <p:spPr>
          <a:xfrm>
            <a:off x="2946938" y="3664218"/>
            <a:ext cx="933000" cy="2850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47"/>
          <p:cNvSpPr/>
          <p:nvPr/>
        </p:nvSpPr>
        <p:spPr>
          <a:xfrm>
            <a:off x="2946938" y="3949218"/>
            <a:ext cx="933000" cy="28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47"/>
          <p:cNvSpPr/>
          <p:nvPr/>
        </p:nvSpPr>
        <p:spPr>
          <a:xfrm>
            <a:off x="2946938" y="4234218"/>
            <a:ext cx="933000" cy="5097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47"/>
          <p:cNvSpPr/>
          <p:nvPr/>
        </p:nvSpPr>
        <p:spPr>
          <a:xfrm>
            <a:off x="4419400" y="259307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47"/>
          <p:cNvSpPr/>
          <p:nvPr/>
        </p:nvSpPr>
        <p:spPr>
          <a:xfrm>
            <a:off x="3581200" y="2593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9" name="Google Shape;659;p47"/>
          <p:cNvCxnSpPr>
            <a:stCxn id="658" idx="3"/>
            <a:endCxn id="657" idx="1"/>
          </p:cNvCxnSpPr>
          <p:nvPr/>
        </p:nvCxnSpPr>
        <p:spPr>
          <a:xfrm>
            <a:off x="3866200" y="27355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0" name="Google Shape;660;p47"/>
          <p:cNvSpPr/>
          <p:nvPr/>
        </p:nvSpPr>
        <p:spPr>
          <a:xfrm>
            <a:off x="2742988" y="2593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1" name="Google Shape;661;p47"/>
          <p:cNvCxnSpPr>
            <a:stCxn id="660" idx="6"/>
            <a:endCxn id="658" idx="1"/>
          </p:cNvCxnSpPr>
          <p:nvPr/>
        </p:nvCxnSpPr>
        <p:spPr>
          <a:xfrm>
            <a:off x="3027988" y="27355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2" name="Google Shape;662;p47"/>
          <p:cNvSpPr/>
          <p:nvPr/>
        </p:nvSpPr>
        <p:spPr>
          <a:xfrm>
            <a:off x="5257600" y="2212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3" name="Google Shape;663;p47"/>
          <p:cNvSpPr/>
          <p:nvPr/>
        </p:nvSpPr>
        <p:spPr>
          <a:xfrm>
            <a:off x="5257600" y="2974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4" name="Google Shape;664;p47"/>
          <p:cNvCxnSpPr>
            <a:stCxn id="657" idx="3"/>
            <a:endCxn id="662" idx="1"/>
          </p:cNvCxnSpPr>
          <p:nvPr/>
        </p:nvCxnSpPr>
        <p:spPr>
          <a:xfrm rot="10800000" flipH="1">
            <a:off x="4704400" y="2354575"/>
            <a:ext cx="5532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5" name="Google Shape;665;p47"/>
          <p:cNvCxnSpPr>
            <a:stCxn id="657" idx="3"/>
            <a:endCxn id="663" idx="1"/>
          </p:cNvCxnSpPr>
          <p:nvPr/>
        </p:nvCxnSpPr>
        <p:spPr>
          <a:xfrm>
            <a:off x="4704400" y="2735575"/>
            <a:ext cx="5532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p47"/>
          <p:cNvSpPr/>
          <p:nvPr/>
        </p:nvSpPr>
        <p:spPr>
          <a:xfrm>
            <a:off x="6095788" y="19806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47"/>
          <p:cNvSpPr/>
          <p:nvPr/>
        </p:nvSpPr>
        <p:spPr>
          <a:xfrm>
            <a:off x="6095788" y="24378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8" name="Google Shape;668;p47"/>
          <p:cNvCxnSpPr>
            <a:stCxn id="662" idx="3"/>
            <a:endCxn id="666" idx="2"/>
          </p:cNvCxnSpPr>
          <p:nvPr/>
        </p:nvCxnSpPr>
        <p:spPr>
          <a:xfrm rot="10800000" flipH="1">
            <a:off x="5542600" y="2123275"/>
            <a:ext cx="553200" cy="23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9" name="Google Shape;669;p47"/>
          <p:cNvCxnSpPr>
            <a:stCxn id="662" idx="3"/>
            <a:endCxn id="667" idx="2"/>
          </p:cNvCxnSpPr>
          <p:nvPr/>
        </p:nvCxnSpPr>
        <p:spPr>
          <a:xfrm>
            <a:off x="5542600" y="2354575"/>
            <a:ext cx="553200" cy="22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0" name="Google Shape;670;p47"/>
          <p:cNvSpPr/>
          <p:nvPr/>
        </p:nvSpPr>
        <p:spPr>
          <a:xfrm>
            <a:off x="6095788" y="2971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1" name="Google Shape;671;p47"/>
          <p:cNvCxnSpPr>
            <a:stCxn id="663" idx="3"/>
            <a:endCxn id="670" idx="2"/>
          </p:cNvCxnSpPr>
          <p:nvPr/>
        </p:nvCxnSpPr>
        <p:spPr>
          <a:xfrm rot="10800000" flipH="1">
            <a:off x="5542600" y="3113875"/>
            <a:ext cx="553200" cy="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2" name="Google Shape;672;p47"/>
          <p:cNvCxnSpPr/>
          <p:nvPr/>
        </p:nvCxnSpPr>
        <p:spPr>
          <a:xfrm rot="10800000" flipH="1">
            <a:off x="4780600" y="2342875"/>
            <a:ext cx="348900" cy="240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Decisions</a:t>
            </a:r>
            <a:endParaRPr/>
          </a:p>
        </p:txBody>
      </p:sp>
      <p:sp>
        <p:nvSpPr>
          <p:cNvPr id="678" name="Google Shape;678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6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real life, the table often uses physical ports instead of next hops.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Conceptual: "Send to next-hop of R3."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Reality: "Send out of physical port 1."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We'll use the conceptual picture for simplicity.</a:t>
            </a:r>
            <a:endParaRPr/>
          </a:p>
        </p:txBody>
      </p:sp>
      <p:graphicFrame>
        <p:nvGraphicFramePr>
          <p:cNvPr id="679" name="Google Shape;679;p48"/>
          <p:cNvGraphicFramePr/>
          <p:nvPr/>
        </p:nvGraphicFramePr>
        <p:xfrm>
          <a:off x="2530707" y="3514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 (Conceptual)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80" name="Google Shape;680;p48"/>
          <p:cNvSpPr/>
          <p:nvPr/>
        </p:nvSpPr>
        <p:spPr>
          <a:xfrm>
            <a:off x="4419400" y="259307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1" name="Google Shape;681;p48"/>
          <p:cNvSpPr/>
          <p:nvPr/>
        </p:nvSpPr>
        <p:spPr>
          <a:xfrm>
            <a:off x="3581200" y="2593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2" name="Google Shape;682;p48"/>
          <p:cNvCxnSpPr>
            <a:stCxn id="681" idx="3"/>
            <a:endCxn id="680" idx="1"/>
          </p:cNvCxnSpPr>
          <p:nvPr/>
        </p:nvCxnSpPr>
        <p:spPr>
          <a:xfrm>
            <a:off x="3866200" y="27355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p48"/>
          <p:cNvSpPr/>
          <p:nvPr/>
        </p:nvSpPr>
        <p:spPr>
          <a:xfrm>
            <a:off x="2742988" y="2593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4" name="Google Shape;684;p48"/>
          <p:cNvCxnSpPr>
            <a:stCxn id="683" idx="6"/>
            <a:endCxn id="681" idx="1"/>
          </p:cNvCxnSpPr>
          <p:nvPr/>
        </p:nvCxnSpPr>
        <p:spPr>
          <a:xfrm>
            <a:off x="3027988" y="27355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p48"/>
          <p:cNvSpPr/>
          <p:nvPr/>
        </p:nvSpPr>
        <p:spPr>
          <a:xfrm>
            <a:off x="5257600" y="2212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6" name="Google Shape;686;p48"/>
          <p:cNvSpPr/>
          <p:nvPr/>
        </p:nvSpPr>
        <p:spPr>
          <a:xfrm>
            <a:off x="5257600" y="2974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7" name="Google Shape;687;p48"/>
          <p:cNvCxnSpPr>
            <a:stCxn id="680" idx="3"/>
            <a:endCxn id="685" idx="1"/>
          </p:cNvCxnSpPr>
          <p:nvPr/>
        </p:nvCxnSpPr>
        <p:spPr>
          <a:xfrm rot="10800000" flipH="1">
            <a:off x="4704400" y="2354575"/>
            <a:ext cx="5532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8" name="Google Shape;688;p48"/>
          <p:cNvCxnSpPr>
            <a:stCxn id="680" idx="3"/>
            <a:endCxn id="686" idx="1"/>
          </p:cNvCxnSpPr>
          <p:nvPr/>
        </p:nvCxnSpPr>
        <p:spPr>
          <a:xfrm>
            <a:off x="4704400" y="2735575"/>
            <a:ext cx="5532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p48"/>
          <p:cNvSpPr/>
          <p:nvPr/>
        </p:nvSpPr>
        <p:spPr>
          <a:xfrm>
            <a:off x="6095788" y="19806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48"/>
          <p:cNvSpPr/>
          <p:nvPr/>
        </p:nvSpPr>
        <p:spPr>
          <a:xfrm>
            <a:off x="6095788" y="24378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1" name="Google Shape;691;p48"/>
          <p:cNvCxnSpPr>
            <a:stCxn id="685" idx="3"/>
            <a:endCxn id="689" idx="2"/>
          </p:cNvCxnSpPr>
          <p:nvPr/>
        </p:nvCxnSpPr>
        <p:spPr>
          <a:xfrm rot="10800000" flipH="1">
            <a:off x="5542600" y="2123275"/>
            <a:ext cx="553200" cy="23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2" name="Google Shape;692;p48"/>
          <p:cNvCxnSpPr>
            <a:stCxn id="685" idx="3"/>
            <a:endCxn id="690" idx="2"/>
          </p:cNvCxnSpPr>
          <p:nvPr/>
        </p:nvCxnSpPr>
        <p:spPr>
          <a:xfrm>
            <a:off x="5542600" y="2354575"/>
            <a:ext cx="553200" cy="22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3" name="Google Shape;693;p48"/>
          <p:cNvSpPr/>
          <p:nvPr/>
        </p:nvSpPr>
        <p:spPr>
          <a:xfrm>
            <a:off x="6095788" y="2971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48"/>
          <p:cNvCxnSpPr>
            <a:stCxn id="686" idx="3"/>
            <a:endCxn id="693" idx="2"/>
          </p:cNvCxnSpPr>
          <p:nvPr/>
        </p:nvCxnSpPr>
        <p:spPr>
          <a:xfrm rot="10800000" flipH="1">
            <a:off x="5542600" y="3113875"/>
            <a:ext cx="553200" cy="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5" name="Google Shape;695;p48"/>
          <p:cNvSpPr txBox="1"/>
          <p:nvPr/>
        </p:nvSpPr>
        <p:spPr>
          <a:xfrm>
            <a:off x="4294275" y="2534075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endParaRPr/>
          </a:p>
        </p:txBody>
      </p:sp>
      <p:sp>
        <p:nvSpPr>
          <p:cNvPr id="696" name="Google Shape;696;p48"/>
          <p:cNvSpPr txBox="1"/>
          <p:nvPr/>
        </p:nvSpPr>
        <p:spPr>
          <a:xfrm>
            <a:off x="4719375" y="2452500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697" name="Google Shape;697;p48"/>
          <p:cNvSpPr txBox="1"/>
          <p:nvPr/>
        </p:nvSpPr>
        <p:spPr>
          <a:xfrm>
            <a:off x="4719375" y="2780350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graphicFrame>
        <p:nvGraphicFramePr>
          <p:cNvPr id="698" name="Google Shape;698;p48"/>
          <p:cNvGraphicFramePr/>
          <p:nvPr/>
        </p:nvGraphicFramePr>
        <p:xfrm>
          <a:off x="4572007" y="3500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 (Reality)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vs. Forwarding</a:t>
            </a:r>
            <a:endParaRPr/>
          </a:p>
        </p:txBody>
      </p:sp>
      <p:sp>
        <p:nvSpPr>
          <p:cNvPr id="704" name="Google Shape;704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464900" cy="27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Forwarding: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Look up packet's destination in table, and send packet to neighbor.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Inherently </a:t>
            </a:r>
            <a:r>
              <a:rPr lang="en" i="1"/>
              <a:t>local</a:t>
            </a:r>
            <a:r>
              <a:rPr lang="en"/>
              <a:t>. Depends only on arriving packet and local table.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Occurs every time a packet arrives (nanoseconds).</a:t>
            </a:r>
            <a:endParaRPr/>
          </a:p>
        </p:txBody>
      </p:sp>
      <p:sp>
        <p:nvSpPr>
          <p:cNvPr id="705" name="Google Shape;705;p49"/>
          <p:cNvSpPr/>
          <p:nvPr/>
        </p:nvSpPr>
        <p:spPr>
          <a:xfrm>
            <a:off x="855099" y="3765763"/>
            <a:ext cx="576900" cy="28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6" name="Google Shape;706;p49"/>
          <p:cNvCxnSpPr>
            <a:endCxn id="707" idx="1"/>
          </p:cNvCxnSpPr>
          <p:nvPr/>
        </p:nvCxnSpPr>
        <p:spPr>
          <a:xfrm>
            <a:off x="855100" y="4128338"/>
            <a:ext cx="6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8" name="Google Shape;708;p49"/>
          <p:cNvCxnSpPr>
            <a:stCxn id="707" idx="3"/>
          </p:cNvCxnSpPr>
          <p:nvPr/>
        </p:nvCxnSpPr>
        <p:spPr>
          <a:xfrm rot="10800000" flipH="1">
            <a:off x="1799200" y="3881438"/>
            <a:ext cx="921300" cy="246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7" name="Google Shape;707;p49"/>
          <p:cNvSpPr/>
          <p:nvPr/>
        </p:nvSpPr>
        <p:spPr>
          <a:xfrm>
            <a:off x="1514200" y="3985838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9" name="Google Shape;709;p49"/>
          <p:cNvCxnSpPr/>
          <p:nvPr/>
        </p:nvCxnSpPr>
        <p:spPr>
          <a:xfrm rot="10800000" flipH="1">
            <a:off x="2136863" y="3851863"/>
            <a:ext cx="420600" cy="11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0" name="Google Shape;710;p49"/>
          <p:cNvCxnSpPr/>
          <p:nvPr/>
        </p:nvCxnSpPr>
        <p:spPr>
          <a:xfrm>
            <a:off x="449387" y="4128338"/>
            <a:ext cx="346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11" name="Google Shape;711;p49"/>
          <p:cNvCxnSpPr/>
          <p:nvPr/>
        </p:nvCxnSpPr>
        <p:spPr>
          <a:xfrm rot="10800000" flipH="1">
            <a:off x="2775175" y="3768863"/>
            <a:ext cx="365100" cy="9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12" name="Google Shape;712;p49"/>
          <p:cNvCxnSpPr/>
          <p:nvPr/>
        </p:nvCxnSpPr>
        <p:spPr>
          <a:xfrm>
            <a:off x="2785575" y="4392638"/>
            <a:ext cx="324300" cy="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13" name="Google Shape;713;p49"/>
          <p:cNvCxnSpPr>
            <a:stCxn id="707" idx="3"/>
          </p:cNvCxnSpPr>
          <p:nvPr/>
        </p:nvCxnSpPr>
        <p:spPr>
          <a:xfrm>
            <a:off x="1799200" y="4128338"/>
            <a:ext cx="921300" cy="246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14" name="Google Shape;714;p49"/>
          <p:cNvGraphicFramePr/>
          <p:nvPr/>
        </p:nvGraphicFramePr>
        <p:xfrm>
          <a:off x="3499307" y="3367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15" name="Google Shape;715;p49"/>
          <p:cNvSpPr txBox="1"/>
          <p:nvPr/>
        </p:nvSpPr>
        <p:spPr>
          <a:xfrm>
            <a:off x="1881400" y="3866663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716" name="Google Shape;716;p49"/>
          <p:cNvSpPr txBox="1"/>
          <p:nvPr/>
        </p:nvSpPr>
        <p:spPr>
          <a:xfrm>
            <a:off x="1881400" y="4194813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717" name="Google Shape;717;p49"/>
          <p:cNvSpPr txBox="1"/>
          <p:nvPr/>
        </p:nvSpPr>
        <p:spPr>
          <a:xfrm>
            <a:off x="1385925" y="4159838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endParaRPr/>
          </a:p>
        </p:txBody>
      </p:sp>
      <p:sp>
        <p:nvSpPr>
          <p:cNvPr id="718" name="Google Shape;718;p49"/>
          <p:cNvSpPr/>
          <p:nvPr/>
        </p:nvSpPr>
        <p:spPr>
          <a:xfrm>
            <a:off x="7197775" y="3980188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9" name="Google Shape;719;p49"/>
          <p:cNvSpPr/>
          <p:nvPr/>
        </p:nvSpPr>
        <p:spPr>
          <a:xfrm>
            <a:off x="6511975" y="39801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0" name="Google Shape;720;p49"/>
          <p:cNvCxnSpPr>
            <a:stCxn id="719" idx="3"/>
            <a:endCxn id="718" idx="1"/>
          </p:cNvCxnSpPr>
          <p:nvPr/>
        </p:nvCxnSpPr>
        <p:spPr>
          <a:xfrm>
            <a:off x="6796975" y="4122688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1" name="Google Shape;721;p49"/>
          <p:cNvSpPr/>
          <p:nvPr/>
        </p:nvSpPr>
        <p:spPr>
          <a:xfrm>
            <a:off x="5826163" y="39801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2" name="Google Shape;722;p49"/>
          <p:cNvCxnSpPr>
            <a:stCxn id="721" idx="6"/>
            <a:endCxn id="719" idx="1"/>
          </p:cNvCxnSpPr>
          <p:nvPr/>
        </p:nvCxnSpPr>
        <p:spPr>
          <a:xfrm>
            <a:off x="6111163" y="4122688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p49"/>
          <p:cNvSpPr/>
          <p:nvPr/>
        </p:nvSpPr>
        <p:spPr>
          <a:xfrm>
            <a:off x="7883575" y="36753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4" name="Google Shape;724;p49"/>
          <p:cNvSpPr/>
          <p:nvPr/>
        </p:nvSpPr>
        <p:spPr>
          <a:xfrm>
            <a:off x="7883575" y="42849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5" name="Google Shape;725;p49"/>
          <p:cNvCxnSpPr>
            <a:stCxn id="718" idx="3"/>
            <a:endCxn id="723" idx="1"/>
          </p:cNvCxnSpPr>
          <p:nvPr/>
        </p:nvCxnSpPr>
        <p:spPr>
          <a:xfrm rot="10800000" flipH="1">
            <a:off x="7482775" y="3817888"/>
            <a:ext cx="40080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p49"/>
          <p:cNvCxnSpPr>
            <a:stCxn id="718" idx="3"/>
            <a:endCxn id="724" idx="1"/>
          </p:cNvCxnSpPr>
          <p:nvPr/>
        </p:nvCxnSpPr>
        <p:spPr>
          <a:xfrm>
            <a:off x="7482775" y="4122688"/>
            <a:ext cx="400800" cy="30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7" name="Google Shape;727;p49"/>
          <p:cNvSpPr/>
          <p:nvPr/>
        </p:nvSpPr>
        <p:spPr>
          <a:xfrm>
            <a:off x="8569363" y="350387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8" name="Google Shape;728;p49"/>
          <p:cNvSpPr/>
          <p:nvPr/>
        </p:nvSpPr>
        <p:spPr>
          <a:xfrm>
            <a:off x="8569363" y="384125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9" name="Google Shape;729;p49"/>
          <p:cNvCxnSpPr>
            <a:stCxn id="723" idx="3"/>
            <a:endCxn id="727" idx="2"/>
          </p:cNvCxnSpPr>
          <p:nvPr/>
        </p:nvCxnSpPr>
        <p:spPr>
          <a:xfrm rot="10800000" flipH="1">
            <a:off x="8168575" y="3646288"/>
            <a:ext cx="400800" cy="171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0" name="Google Shape;730;p49"/>
          <p:cNvCxnSpPr>
            <a:stCxn id="723" idx="3"/>
            <a:endCxn id="728" idx="2"/>
          </p:cNvCxnSpPr>
          <p:nvPr/>
        </p:nvCxnSpPr>
        <p:spPr>
          <a:xfrm>
            <a:off x="8168575" y="3817888"/>
            <a:ext cx="400800" cy="16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1" name="Google Shape;731;p49"/>
          <p:cNvSpPr/>
          <p:nvPr/>
        </p:nvSpPr>
        <p:spPr>
          <a:xfrm>
            <a:off x="8569363" y="42821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2" name="Google Shape;732;p49"/>
          <p:cNvCxnSpPr>
            <a:stCxn id="724" idx="3"/>
            <a:endCxn id="731" idx="2"/>
          </p:cNvCxnSpPr>
          <p:nvPr/>
        </p:nvCxnSpPr>
        <p:spPr>
          <a:xfrm rot="10800000" flipH="1">
            <a:off x="8168575" y="4424788"/>
            <a:ext cx="400800" cy="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3" name="Google Shape;733;p49"/>
          <p:cNvSpPr txBox="1"/>
          <p:nvPr/>
        </p:nvSpPr>
        <p:spPr>
          <a:xfrm>
            <a:off x="7072650" y="3921188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endParaRPr/>
          </a:p>
        </p:txBody>
      </p:sp>
      <p:sp>
        <p:nvSpPr>
          <p:cNvPr id="734" name="Google Shape;734;p49"/>
          <p:cNvSpPr txBox="1"/>
          <p:nvPr/>
        </p:nvSpPr>
        <p:spPr>
          <a:xfrm>
            <a:off x="7515389" y="3792575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735" name="Google Shape;735;p49"/>
          <p:cNvSpPr txBox="1"/>
          <p:nvPr/>
        </p:nvSpPr>
        <p:spPr>
          <a:xfrm>
            <a:off x="7515389" y="4214500"/>
            <a:ext cx="95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736" name="Google Shape;736;p49"/>
          <p:cNvSpPr txBox="1"/>
          <p:nvPr/>
        </p:nvSpPr>
        <p:spPr>
          <a:xfrm>
            <a:off x="900700" y="4765400"/>
            <a:ext cx="1770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Forwarding is local.</a:t>
            </a:r>
            <a:endParaRPr/>
          </a:p>
        </p:txBody>
      </p:sp>
      <p:sp>
        <p:nvSpPr>
          <p:cNvPr id="737" name="Google Shape;737;p49"/>
          <p:cNvSpPr txBox="1"/>
          <p:nvPr/>
        </p:nvSpPr>
        <p:spPr>
          <a:xfrm>
            <a:off x="6454975" y="4765400"/>
            <a:ext cx="1770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Routing is global.</a:t>
            </a:r>
            <a:endParaRPr/>
          </a:p>
        </p:txBody>
      </p:sp>
      <p:sp>
        <p:nvSpPr>
          <p:cNvPr id="738" name="Google Shape;738;p49"/>
          <p:cNvSpPr txBox="1">
            <a:spLocks noGrp="1"/>
          </p:cNvSpPr>
          <p:nvPr>
            <p:ph type="body" idx="1"/>
          </p:nvPr>
        </p:nvSpPr>
        <p:spPr>
          <a:xfrm>
            <a:off x="4571950" y="400725"/>
            <a:ext cx="4464900" cy="27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Communicates with other routers to determine how to populate tables.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Inherently </a:t>
            </a:r>
            <a:r>
              <a:rPr lang="en" i="1"/>
              <a:t>global</a:t>
            </a:r>
            <a:r>
              <a:rPr lang="en"/>
              <a:t>. Must know about all destinations, not just local ones.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Occurs every time the network changes (e.g. a link fails).</a:t>
            </a:r>
            <a:endParaRPr/>
          </a:p>
        </p:txBody>
      </p:sp>
      <p:sp>
        <p:nvSpPr>
          <p:cNvPr id="739" name="Google Shape;739;p49"/>
          <p:cNvSpPr/>
          <p:nvPr/>
        </p:nvSpPr>
        <p:spPr>
          <a:xfrm>
            <a:off x="7324075" y="3318540"/>
            <a:ext cx="1303200" cy="572200"/>
          </a:xfrm>
          <a:custGeom>
            <a:avLst/>
            <a:gdLst/>
            <a:ahLst/>
            <a:cxnLst/>
            <a:rect l="l" t="t" r="r" b="b"/>
            <a:pathLst>
              <a:path w="52128" h="22888" extrusionOk="0">
                <a:moveTo>
                  <a:pt x="0" y="22888"/>
                </a:moveTo>
                <a:cubicBezTo>
                  <a:pt x="3060" y="19194"/>
                  <a:pt x="9669" y="3636"/>
                  <a:pt x="18357" y="721"/>
                </a:cubicBezTo>
                <a:cubicBezTo>
                  <a:pt x="27045" y="-2194"/>
                  <a:pt x="46500" y="4617"/>
                  <a:pt x="52128" y="5396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40" name="Google Shape;740;p49"/>
          <p:cNvSpPr txBox="1"/>
          <p:nvPr/>
        </p:nvSpPr>
        <p:spPr>
          <a:xfrm>
            <a:off x="7337325" y="3059200"/>
            <a:ext cx="773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 local!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5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Defining the Routing Problem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Routing?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Modeling the Network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Makes Routing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Types of Routing Protocols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Routing States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Destination-Based Forwarding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Routing State Validity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Least-Cost Routing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Static Routing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46" name="Google Shape;746;p5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State Validity</a:t>
            </a:r>
            <a:endParaRPr/>
          </a:p>
        </p:txBody>
      </p:sp>
      <p:sp>
        <p:nvSpPr>
          <p:cNvPr id="747" name="Google Shape;747;p5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4, CS 168, Spring 2026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State Validity is Global</a:t>
            </a:r>
            <a:endParaRPr/>
          </a:p>
        </p:txBody>
      </p:sp>
      <p:sp>
        <p:nvSpPr>
          <p:cNvPr id="753" name="Google Shape;753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routing state is </a:t>
            </a:r>
            <a:r>
              <a:rPr lang="en" b="1"/>
              <a:t>valid</a:t>
            </a:r>
            <a:r>
              <a:rPr lang="en"/>
              <a:t> if packets actually reach their destinations.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lang="en" b="1"/>
              <a:t>local</a:t>
            </a:r>
            <a:r>
              <a:rPr lang="en"/>
              <a:t> routing state is a table in a single router.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itself, the state in a single router can't be evaluated for validity.</a:t>
            </a:r>
            <a:endParaRPr/>
          </a:p>
        </p:txBody>
      </p:sp>
      <p:sp>
        <p:nvSpPr>
          <p:cNvPr id="754" name="Google Shape;754;p51"/>
          <p:cNvSpPr/>
          <p:nvPr/>
        </p:nvSpPr>
        <p:spPr>
          <a:xfrm>
            <a:off x="4419400" y="2745475"/>
            <a:ext cx="285000" cy="2850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51"/>
          <p:cNvSpPr/>
          <p:nvPr/>
        </p:nvSpPr>
        <p:spPr>
          <a:xfrm>
            <a:off x="3581200" y="2745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6" name="Google Shape;756;p51"/>
          <p:cNvCxnSpPr>
            <a:stCxn id="755" idx="3"/>
            <a:endCxn id="754" idx="1"/>
          </p:cNvCxnSpPr>
          <p:nvPr/>
        </p:nvCxnSpPr>
        <p:spPr>
          <a:xfrm>
            <a:off x="3866200" y="28879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7" name="Google Shape;757;p51"/>
          <p:cNvSpPr/>
          <p:nvPr/>
        </p:nvSpPr>
        <p:spPr>
          <a:xfrm>
            <a:off x="2742988" y="2745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8" name="Google Shape;758;p51"/>
          <p:cNvCxnSpPr>
            <a:stCxn id="757" idx="6"/>
            <a:endCxn id="755" idx="1"/>
          </p:cNvCxnSpPr>
          <p:nvPr/>
        </p:nvCxnSpPr>
        <p:spPr>
          <a:xfrm>
            <a:off x="3027988" y="28879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p51"/>
          <p:cNvSpPr/>
          <p:nvPr/>
        </p:nvSpPr>
        <p:spPr>
          <a:xfrm>
            <a:off x="5257600" y="24824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51"/>
          <p:cNvSpPr/>
          <p:nvPr/>
        </p:nvSpPr>
        <p:spPr>
          <a:xfrm>
            <a:off x="5257600" y="300849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1" name="Google Shape;761;p51"/>
          <p:cNvCxnSpPr>
            <a:stCxn id="754" idx="3"/>
            <a:endCxn id="759" idx="1"/>
          </p:cNvCxnSpPr>
          <p:nvPr/>
        </p:nvCxnSpPr>
        <p:spPr>
          <a:xfrm rot="10800000" flipH="1">
            <a:off x="4704400" y="2624875"/>
            <a:ext cx="553200" cy="263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2" name="Google Shape;762;p51"/>
          <p:cNvCxnSpPr>
            <a:stCxn id="754" idx="3"/>
            <a:endCxn id="760" idx="1"/>
          </p:cNvCxnSpPr>
          <p:nvPr/>
        </p:nvCxnSpPr>
        <p:spPr>
          <a:xfrm>
            <a:off x="4704400" y="2887975"/>
            <a:ext cx="553200" cy="263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3" name="Google Shape;763;p51"/>
          <p:cNvSpPr/>
          <p:nvPr/>
        </p:nvSpPr>
        <p:spPr>
          <a:xfrm>
            <a:off x="6095788" y="23095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51"/>
          <p:cNvSpPr/>
          <p:nvPr/>
        </p:nvSpPr>
        <p:spPr>
          <a:xfrm>
            <a:off x="6095788" y="26497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5" name="Google Shape;765;p51"/>
          <p:cNvCxnSpPr>
            <a:stCxn id="759" idx="3"/>
            <a:endCxn id="763" idx="2"/>
          </p:cNvCxnSpPr>
          <p:nvPr/>
        </p:nvCxnSpPr>
        <p:spPr>
          <a:xfrm rot="10800000" flipH="1">
            <a:off x="5542600" y="2452151"/>
            <a:ext cx="553200" cy="17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6" name="Google Shape;766;p51"/>
          <p:cNvCxnSpPr>
            <a:stCxn id="759" idx="3"/>
            <a:endCxn id="764" idx="2"/>
          </p:cNvCxnSpPr>
          <p:nvPr/>
        </p:nvCxnSpPr>
        <p:spPr>
          <a:xfrm>
            <a:off x="5542600" y="2624951"/>
            <a:ext cx="553200" cy="16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7" name="Google Shape;767;p51"/>
          <p:cNvSpPr/>
          <p:nvPr/>
        </p:nvSpPr>
        <p:spPr>
          <a:xfrm>
            <a:off x="6095788" y="300567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8" name="Google Shape;768;p51"/>
          <p:cNvCxnSpPr>
            <a:stCxn id="760" idx="3"/>
            <a:endCxn id="767" idx="2"/>
          </p:cNvCxnSpPr>
          <p:nvPr/>
        </p:nvCxnSpPr>
        <p:spPr>
          <a:xfrm rot="10800000" flipH="1">
            <a:off x="5542600" y="3148299"/>
            <a:ext cx="553200" cy="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69" name="Google Shape;769;p51"/>
          <p:cNvGraphicFramePr/>
          <p:nvPr/>
        </p:nvGraphicFramePr>
        <p:xfrm>
          <a:off x="2194532" y="3514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70" name="Google Shape;770;p51"/>
          <p:cNvSpPr txBox="1"/>
          <p:nvPr/>
        </p:nvSpPr>
        <p:spPr>
          <a:xfrm>
            <a:off x="4704400" y="3801275"/>
            <a:ext cx="3423900" cy="8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this local state valid?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Will it get my packets to their destinations?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 way to tell from just this info!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1" name="Google Shape;771;p51"/>
          <p:cNvSpPr txBox="1"/>
          <p:nvPr/>
        </p:nvSpPr>
        <p:spPr>
          <a:xfrm>
            <a:off x="3119900" y="3135650"/>
            <a:ext cx="112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51"/>
          <p:cNvSpPr txBox="1"/>
          <p:nvPr/>
        </p:nvSpPr>
        <p:spPr>
          <a:xfrm rot="-2700000">
            <a:off x="2008233" y="3314481"/>
            <a:ext cx="112854" cy="277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3" name="Google Shape;773;p51"/>
          <p:cNvSpPr txBox="1"/>
          <p:nvPr/>
        </p:nvSpPr>
        <p:spPr>
          <a:xfrm rot="2700000">
            <a:off x="4182548" y="3314487"/>
            <a:ext cx="112854" cy="277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51"/>
          <p:cNvSpPr txBox="1"/>
          <p:nvPr/>
        </p:nvSpPr>
        <p:spPr>
          <a:xfrm>
            <a:off x="148825" y="4613475"/>
            <a:ext cx="131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term "routing state validity" might only be used at Berkeley.</a:t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Routing State Validity is Global</a:t>
            </a:r>
            <a:endParaRPr/>
          </a:p>
        </p:txBody>
      </p:sp>
      <p:sp>
        <p:nvSpPr>
          <p:cNvPr id="780" name="Google Shape;780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lang="en" b="1"/>
              <a:t>global</a:t>
            </a:r>
            <a:r>
              <a:rPr lang="en"/>
              <a:t> routing state is a collection of tables in all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Global state determines the paths a packet takes.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Global state is valid if it produces forwarding decisions that deliver packets to their destinations.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Given a global state, how can you tell if it's valid?</a:t>
            </a:r>
            <a:endParaRPr/>
          </a:p>
        </p:txBody>
      </p:sp>
      <p:graphicFrame>
        <p:nvGraphicFramePr>
          <p:cNvPr id="781" name="Google Shape;781;p52"/>
          <p:cNvGraphicFramePr/>
          <p:nvPr/>
        </p:nvGraphicFramePr>
        <p:xfrm>
          <a:off x="541557" y="3514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82" name="Google Shape;782;p52"/>
          <p:cNvGraphicFramePr/>
          <p:nvPr/>
        </p:nvGraphicFramePr>
        <p:xfrm>
          <a:off x="2598957" y="3514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83" name="Google Shape;783;p52"/>
          <p:cNvGraphicFramePr/>
          <p:nvPr/>
        </p:nvGraphicFramePr>
        <p:xfrm>
          <a:off x="4656357" y="3514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84" name="Google Shape;784;p52"/>
          <p:cNvGraphicFramePr/>
          <p:nvPr/>
        </p:nvGraphicFramePr>
        <p:xfrm>
          <a:off x="6713757" y="3514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85" name="Google Shape;785;p52"/>
          <p:cNvSpPr/>
          <p:nvPr/>
        </p:nvSpPr>
        <p:spPr>
          <a:xfrm>
            <a:off x="4419400" y="2745475"/>
            <a:ext cx="285000" cy="2850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52"/>
          <p:cNvSpPr/>
          <p:nvPr/>
        </p:nvSpPr>
        <p:spPr>
          <a:xfrm>
            <a:off x="3581200" y="2745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7" name="Google Shape;787;p52"/>
          <p:cNvCxnSpPr>
            <a:stCxn id="786" idx="3"/>
            <a:endCxn id="785" idx="1"/>
          </p:cNvCxnSpPr>
          <p:nvPr/>
        </p:nvCxnSpPr>
        <p:spPr>
          <a:xfrm>
            <a:off x="3866200" y="28879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8" name="Google Shape;788;p52"/>
          <p:cNvSpPr/>
          <p:nvPr/>
        </p:nvSpPr>
        <p:spPr>
          <a:xfrm>
            <a:off x="2742988" y="2745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9" name="Google Shape;789;p52"/>
          <p:cNvCxnSpPr>
            <a:stCxn id="788" idx="6"/>
            <a:endCxn id="786" idx="1"/>
          </p:cNvCxnSpPr>
          <p:nvPr/>
        </p:nvCxnSpPr>
        <p:spPr>
          <a:xfrm>
            <a:off x="3027988" y="288797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p52"/>
          <p:cNvSpPr/>
          <p:nvPr/>
        </p:nvSpPr>
        <p:spPr>
          <a:xfrm>
            <a:off x="5257600" y="24824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1" name="Google Shape;791;p52"/>
          <p:cNvSpPr/>
          <p:nvPr/>
        </p:nvSpPr>
        <p:spPr>
          <a:xfrm>
            <a:off x="5257600" y="300849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2" name="Google Shape;792;p52"/>
          <p:cNvCxnSpPr>
            <a:stCxn id="785" idx="3"/>
            <a:endCxn id="790" idx="1"/>
          </p:cNvCxnSpPr>
          <p:nvPr/>
        </p:nvCxnSpPr>
        <p:spPr>
          <a:xfrm rot="10800000" flipH="1">
            <a:off x="4704400" y="2624875"/>
            <a:ext cx="553200" cy="263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52"/>
          <p:cNvCxnSpPr>
            <a:stCxn id="785" idx="3"/>
            <a:endCxn id="791" idx="1"/>
          </p:cNvCxnSpPr>
          <p:nvPr/>
        </p:nvCxnSpPr>
        <p:spPr>
          <a:xfrm>
            <a:off x="4704400" y="2887975"/>
            <a:ext cx="553200" cy="263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4" name="Google Shape;794;p52"/>
          <p:cNvSpPr/>
          <p:nvPr/>
        </p:nvSpPr>
        <p:spPr>
          <a:xfrm>
            <a:off x="6095788" y="23095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5" name="Google Shape;795;p52"/>
          <p:cNvSpPr/>
          <p:nvPr/>
        </p:nvSpPr>
        <p:spPr>
          <a:xfrm>
            <a:off x="6095788" y="26497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6" name="Google Shape;796;p52"/>
          <p:cNvCxnSpPr>
            <a:stCxn id="790" idx="3"/>
            <a:endCxn id="794" idx="2"/>
          </p:cNvCxnSpPr>
          <p:nvPr/>
        </p:nvCxnSpPr>
        <p:spPr>
          <a:xfrm rot="10800000" flipH="1">
            <a:off x="5542600" y="2452151"/>
            <a:ext cx="553200" cy="17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7" name="Google Shape;797;p52"/>
          <p:cNvCxnSpPr>
            <a:stCxn id="790" idx="3"/>
            <a:endCxn id="795" idx="2"/>
          </p:cNvCxnSpPr>
          <p:nvPr/>
        </p:nvCxnSpPr>
        <p:spPr>
          <a:xfrm>
            <a:off x="5542600" y="2624951"/>
            <a:ext cx="553200" cy="16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8" name="Google Shape;798;p52"/>
          <p:cNvSpPr/>
          <p:nvPr/>
        </p:nvSpPr>
        <p:spPr>
          <a:xfrm>
            <a:off x="6095788" y="300567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9" name="Google Shape;799;p52"/>
          <p:cNvCxnSpPr>
            <a:stCxn id="791" idx="3"/>
            <a:endCxn id="798" idx="2"/>
          </p:cNvCxnSpPr>
          <p:nvPr/>
        </p:nvCxnSpPr>
        <p:spPr>
          <a:xfrm rot="10800000" flipH="1">
            <a:off x="5542600" y="3148299"/>
            <a:ext cx="553200" cy="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global routing state is valid </a:t>
            </a:r>
            <a:r>
              <a:rPr lang="en" i="1"/>
              <a:t>if and only if</a:t>
            </a:r>
            <a:r>
              <a:rPr lang="en"/>
              <a:t> there are no dead ends and no loops.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Dead end</a:t>
            </a:r>
            <a:r>
              <a:rPr lang="en"/>
              <a:t>: A packet arrives at a router, but there is no next hop to forward it.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arriving at destination doesn't count as a dead end.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Loop</a:t>
            </a:r>
            <a:r>
              <a:rPr lang="en"/>
              <a:t>: A packet cycles around the same set of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forwarding only depends on destination field, if a packet gets stuck in a loop, it can never escape.</a:t>
            </a:r>
            <a:endParaRPr/>
          </a:p>
        </p:txBody>
      </p:sp>
      <p:sp>
        <p:nvSpPr>
          <p:cNvPr id="805" name="Google Shape;805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State Validity Conditions</a:t>
            </a:r>
            <a:endParaRPr/>
          </a:p>
        </p:txBody>
      </p:sp>
      <p:cxnSp>
        <p:nvCxnSpPr>
          <p:cNvPr id="806" name="Google Shape;806;p53"/>
          <p:cNvCxnSpPr>
            <a:stCxn id="807" idx="6"/>
            <a:endCxn id="808" idx="1"/>
          </p:cNvCxnSpPr>
          <p:nvPr/>
        </p:nvCxnSpPr>
        <p:spPr>
          <a:xfrm>
            <a:off x="850638" y="2363150"/>
            <a:ext cx="6294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9" name="Google Shape;809;p53"/>
          <p:cNvCxnSpPr>
            <a:stCxn id="808" idx="3"/>
            <a:endCxn id="810" idx="1"/>
          </p:cNvCxnSpPr>
          <p:nvPr/>
        </p:nvCxnSpPr>
        <p:spPr>
          <a:xfrm>
            <a:off x="1765050" y="2363150"/>
            <a:ext cx="6294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1" name="Google Shape;811;p53"/>
          <p:cNvCxnSpPr>
            <a:stCxn id="810" idx="3"/>
            <a:endCxn id="812" idx="1"/>
          </p:cNvCxnSpPr>
          <p:nvPr/>
        </p:nvCxnSpPr>
        <p:spPr>
          <a:xfrm>
            <a:off x="2679450" y="2363150"/>
            <a:ext cx="6294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3" name="Google Shape;813;p53"/>
          <p:cNvCxnSpPr>
            <a:stCxn id="812" idx="3"/>
            <a:endCxn id="814" idx="1"/>
          </p:cNvCxnSpPr>
          <p:nvPr/>
        </p:nvCxnSpPr>
        <p:spPr>
          <a:xfrm>
            <a:off x="3593850" y="2363150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5" name="Google Shape;815;p53"/>
          <p:cNvCxnSpPr>
            <a:stCxn id="814" idx="3"/>
            <a:endCxn id="816" idx="2"/>
          </p:cNvCxnSpPr>
          <p:nvPr/>
        </p:nvCxnSpPr>
        <p:spPr>
          <a:xfrm>
            <a:off x="4508250" y="2363150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8" name="Google Shape;808;p53"/>
          <p:cNvSpPr/>
          <p:nvPr/>
        </p:nvSpPr>
        <p:spPr>
          <a:xfrm>
            <a:off x="1480050" y="2220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53"/>
          <p:cNvSpPr/>
          <p:nvPr/>
        </p:nvSpPr>
        <p:spPr>
          <a:xfrm>
            <a:off x="565638" y="22206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0" name="Google Shape;810;p53"/>
          <p:cNvSpPr/>
          <p:nvPr/>
        </p:nvSpPr>
        <p:spPr>
          <a:xfrm>
            <a:off x="2394450" y="2220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2" name="Google Shape;812;p53"/>
          <p:cNvSpPr/>
          <p:nvPr/>
        </p:nvSpPr>
        <p:spPr>
          <a:xfrm>
            <a:off x="3308850" y="2220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53"/>
          <p:cNvSpPr/>
          <p:nvPr/>
        </p:nvSpPr>
        <p:spPr>
          <a:xfrm>
            <a:off x="4223250" y="2220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53"/>
          <p:cNvSpPr/>
          <p:nvPr/>
        </p:nvSpPr>
        <p:spPr>
          <a:xfrm>
            <a:off x="5137638" y="22206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53"/>
          <p:cNvSpPr txBox="1"/>
          <p:nvPr/>
        </p:nvSpPr>
        <p:spPr>
          <a:xfrm>
            <a:off x="5730050" y="2255450"/>
            <a:ext cx="2828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Uh oh. R3 didn't forward the packet.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8" name="Google Shape;818;p53"/>
          <p:cNvCxnSpPr>
            <a:stCxn id="819" idx="6"/>
            <a:endCxn id="820" idx="1"/>
          </p:cNvCxnSpPr>
          <p:nvPr/>
        </p:nvCxnSpPr>
        <p:spPr>
          <a:xfrm>
            <a:off x="850638" y="4420550"/>
            <a:ext cx="6294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1" name="Google Shape;821;p53"/>
          <p:cNvCxnSpPr>
            <a:stCxn id="820" idx="3"/>
            <a:endCxn id="822" idx="1"/>
          </p:cNvCxnSpPr>
          <p:nvPr/>
        </p:nvCxnSpPr>
        <p:spPr>
          <a:xfrm>
            <a:off x="1765050" y="4420550"/>
            <a:ext cx="6294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3" name="Google Shape;823;p53"/>
          <p:cNvCxnSpPr>
            <a:stCxn id="824" idx="3"/>
            <a:endCxn id="825" idx="1"/>
          </p:cNvCxnSpPr>
          <p:nvPr/>
        </p:nvCxnSpPr>
        <p:spPr>
          <a:xfrm>
            <a:off x="3593850" y="4420550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6" name="Google Shape;826;p53"/>
          <p:cNvCxnSpPr>
            <a:stCxn id="825" idx="3"/>
            <a:endCxn id="827" idx="2"/>
          </p:cNvCxnSpPr>
          <p:nvPr/>
        </p:nvCxnSpPr>
        <p:spPr>
          <a:xfrm>
            <a:off x="4508250" y="4420550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20" name="Google Shape;820;p53"/>
          <p:cNvSpPr/>
          <p:nvPr/>
        </p:nvSpPr>
        <p:spPr>
          <a:xfrm>
            <a:off x="1480050" y="42780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53"/>
          <p:cNvSpPr/>
          <p:nvPr/>
        </p:nvSpPr>
        <p:spPr>
          <a:xfrm>
            <a:off x="565638" y="4278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53"/>
          <p:cNvSpPr/>
          <p:nvPr/>
        </p:nvSpPr>
        <p:spPr>
          <a:xfrm>
            <a:off x="4223250" y="42780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53"/>
          <p:cNvSpPr/>
          <p:nvPr/>
        </p:nvSpPr>
        <p:spPr>
          <a:xfrm>
            <a:off x="5137638" y="4278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53"/>
          <p:cNvSpPr txBox="1"/>
          <p:nvPr/>
        </p:nvSpPr>
        <p:spPr>
          <a:xfrm>
            <a:off x="5730050" y="4188950"/>
            <a:ext cx="2437500" cy="4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Uh oh. Packet is stuck looping between R2 and R3.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53"/>
          <p:cNvSpPr/>
          <p:nvPr/>
        </p:nvSpPr>
        <p:spPr>
          <a:xfrm>
            <a:off x="2678975" y="4202855"/>
            <a:ext cx="627550" cy="169950"/>
          </a:xfrm>
          <a:custGeom>
            <a:avLst/>
            <a:gdLst/>
            <a:ahLst/>
            <a:cxnLst/>
            <a:rect l="l" t="t" r="r" b="b"/>
            <a:pathLst>
              <a:path w="25102" h="6798" extrusionOk="0">
                <a:moveTo>
                  <a:pt x="0" y="6798"/>
                </a:moveTo>
                <a:cubicBezTo>
                  <a:pt x="2067" y="5665"/>
                  <a:pt x="8218" y="25"/>
                  <a:pt x="12402" y="0"/>
                </a:cubicBezTo>
                <a:cubicBezTo>
                  <a:pt x="16586" y="-25"/>
                  <a:pt x="22985" y="5541"/>
                  <a:pt x="25102" y="6649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30" name="Google Shape;830;p53"/>
          <p:cNvSpPr/>
          <p:nvPr/>
        </p:nvSpPr>
        <p:spPr>
          <a:xfrm rot="10800000" flipH="1">
            <a:off x="2678975" y="4477773"/>
            <a:ext cx="627550" cy="169950"/>
          </a:xfrm>
          <a:custGeom>
            <a:avLst/>
            <a:gdLst/>
            <a:ahLst/>
            <a:cxnLst/>
            <a:rect l="l" t="t" r="r" b="b"/>
            <a:pathLst>
              <a:path w="25102" h="6798" extrusionOk="0">
                <a:moveTo>
                  <a:pt x="0" y="6798"/>
                </a:moveTo>
                <a:cubicBezTo>
                  <a:pt x="2067" y="5665"/>
                  <a:pt x="8218" y="25"/>
                  <a:pt x="12402" y="0"/>
                </a:cubicBezTo>
                <a:cubicBezTo>
                  <a:pt x="16586" y="-25"/>
                  <a:pt x="22985" y="5541"/>
                  <a:pt x="25102" y="6649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22" name="Google Shape;822;p53"/>
          <p:cNvSpPr/>
          <p:nvPr/>
        </p:nvSpPr>
        <p:spPr>
          <a:xfrm>
            <a:off x="2394450" y="42780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53"/>
          <p:cNvSpPr/>
          <p:nvPr/>
        </p:nvSpPr>
        <p:spPr>
          <a:xfrm>
            <a:off x="3308850" y="42780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Routing State Validity Proof</a:t>
            </a:r>
            <a:endParaRPr/>
          </a:p>
        </p:txBody>
      </p:sp>
      <p:sp>
        <p:nvSpPr>
          <p:cNvPr id="836" name="Google Shape;836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global routing state is valid (i.e. packets reach their destination)</a:t>
            </a:r>
            <a:br>
              <a:rPr lang="en"/>
            </a:br>
            <a:r>
              <a:rPr lang="en" i="1"/>
              <a:t>if and only if</a:t>
            </a:r>
            <a:r>
              <a:rPr lang="en"/>
              <a:t> there are no dead ends and no loops.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prove this, we to check both directions (necessary and sufficient).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Packets reach their destination </a:t>
            </a:r>
            <a:r>
              <a:rPr lang="en" i="1"/>
              <a:t>only if</a:t>
            </a:r>
            <a:r>
              <a:rPr lang="en"/>
              <a:t> there are no dead ends and loops. (Necessary.)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Proof: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hit a dead end, you'll never reach 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get stuck in a loop, you'll never reach the destination.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destination-based forwarding, no way to escape the loop.</a:t>
            </a:r>
            <a:br>
              <a:rPr lang="en"/>
            </a:br>
            <a:r>
              <a:rPr lang="en"/>
              <a:t>Forwarding decision is the same every time the packet arrives at a router.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Destination isn't part of the loop. It wouldn't have forwarded the packet!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Routing State Validity Proof</a:t>
            </a:r>
            <a:endParaRPr/>
          </a:p>
        </p:txBody>
      </p:sp>
      <p:sp>
        <p:nvSpPr>
          <p:cNvPr id="842" name="Google Shape;842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If</a:t>
            </a:r>
            <a:r>
              <a:rPr lang="en"/>
              <a:t> there are no dead ends and loops, packets will reach their destination. (Sufficient.)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Proof: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Assume there are no loops and dead ends. Then: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won't visit the same router twice. (We said no loops.)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won't stop before hitting destination. (We said no dead ends.)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must keep wandering the network, visiting different routers.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There are only a finite number of unique routers to visit.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So the packet must eventually hit the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proven both directions!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Verifying Routing State Validity</a:t>
            </a:r>
            <a:endParaRPr/>
          </a:p>
        </p:txBody>
      </p:sp>
      <p:sp>
        <p:nvSpPr>
          <p:cNvPr id="848" name="Google Shape;848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4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global routing state is valid </a:t>
            </a:r>
            <a:r>
              <a:rPr lang="en" i="1"/>
              <a:t>if and only if</a:t>
            </a:r>
            <a:r>
              <a:rPr lang="en"/>
              <a:t> there are no dead ends and no loops.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apply this condition to check if a global state is valid?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Strategy: Check each destination separately.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a given destination: Use the tables to see how each router forwards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next-hop becomes an outgoing arrow.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 is a </a:t>
            </a:r>
            <a:r>
              <a:rPr lang="en" b="1"/>
              <a:t>directed delivery tree</a:t>
            </a:r>
            <a:r>
              <a:rPr lang="en"/>
              <a:t> for that destination.</a:t>
            </a:r>
            <a:endParaRPr/>
          </a:p>
        </p:txBody>
      </p:sp>
      <p:graphicFrame>
        <p:nvGraphicFramePr>
          <p:cNvPr id="849" name="Google Shape;849;p56"/>
          <p:cNvGraphicFramePr/>
          <p:nvPr/>
        </p:nvGraphicFramePr>
        <p:xfrm>
          <a:off x="635594" y="3261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50" name="Google Shape;850;p56"/>
          <p:cNvSpPr/>
          <p:nvPr/>
        </p:nvSpPr>
        <p:spPr>
          <a:xfrm>
            <a:off x="2807213" y="3586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56"/>
          <p:cNvSpPr/>
          <p:nvPr/>
        </p:nvSpPr>
        <p:spPr>
          <a:xfrm>
            <a:off x="3679788" y="31114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2" name="Google Shape;852;p56"/>
          <p:cNvSpPr/>
          <p:nvPr/>
        </p:nvSpPr>
        <p:spPr>
          <a:xfrm>
            <a:off x="3808963" y="3827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56"/>
          <p:cNvSpPr/>
          <p:nvPr/>
        </p:nvSpPr>
        <p:spPr>
          <a:xfrm>
            <a:off x="4748438" y="33503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4" name="Google Shape;854;p56"/>
          <p:cNvSpPr/>
          <p:nvPr/>
        </p:nvSpPr>
        <p:spPr>
          <a:xfrm>
            <a:off x="4253163" y="4443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56"/>
          <p:cNvSpPr/>
          <p:nvPr/>
        </p:nvSpPr>
        <p:spPr>
          <a:xfrm>
            <a:off x="5137363" y="4158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56"/>
          <p:cNvSpPr/>
          <p:nvPr/>
        </p:nvSpPr>
        <p:spPr>
          <a:xfrm>
            <a:off x="6051775" y="41586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7" name="Google Shape;857;p56"/>
          <p:cNvCxnSpPr>
            <a:stCxn id="850" idx="3"/>
            <a:endCxn id="851" idx="1"/>
          </p:cNvCxnSpPr>
          <p:nvPr/>
        </p:nvCxnSpPr>
        <p:spPr>
          <a:xfrm rot="10800000" flipH="1">
            <a:off x="3092213" y="3253875"/>
            <a:ext cx="587700" cy="474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8" name="Google Shape;858;p56"/>
          <p:cNvCxnSpPr>
            <a:stCxn id="851" idx="3"/>
            <a:endCxn id="853" idx="1"/>
          </p:cNvCxnSpPr>
          <p:nvPr/>
        </p:nvCxnSpPr>
        <p:spPr>
          <a:xfrm>
            <a:off x="3964788" y="3253925"/>
            <a:ext cx="783600" cy="239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9" name="Google Shape;859;p56"/>
          <p:cNvCxnSpPr>
            <a:stCxn id="853" idx="2"/>
            <a:endCxn id="855" idx="0"/>
          </p:cNvCxnSpPr>
          <p:nvPr/>
        </p:nvCxnSpPr>
        <p:spPr>
          <a:xfrm>
            <a:off x="4890938" y="3635375"/>
            <a:ext cx="388800" cy="523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0" name="Google Shape;860;p56"/>
          <p:cNvCxnSpPr>
            <a:stCxn id="855" idx="3"/>
            <a:endCxn id="856" idx="2"/>
          </p:cNvCxnSpPr>
          <p:nvPr/>
        </p:nvCxnSpPr>
        <p:spPr>
          <a:xfrm>
            <a:off x="5422363" y="4301150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1" name="Google Shape;861;p56"/>
          <p:cNvCxnSpPr>
            <a:stCxn id="854" idx="3"/>
            <a:endCxn id="855" idx="1"/>
          </p:cNvCxnSpPr>
          <p:nvPr/>
        </p:nvCxnSpPr>
        <p:spPr>
          <a:xfrm rot="10800000" flipH="1">
            <a:off x="4538163" y="4301150"/>
            <a:ext cx="599100" cy="285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2" name="Google Shape;862;p56"/>
          <p:cNvCxnSpPr>
            <a:stCxn id="854" idx="0"/>
            <a:endCxn id="853" idx="2"/>
          </p:cNvCxnSpPr>
          <p:nvPr/>
        </p:nvCxnSpPr>
        <p:spPr>
          <a:xfrm rot="10800000" flipH="1">
            <a:off x="4395663" y="3635450"/>
            <a:ext cx="495300" cy="808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3" name="Google Shape;863;p56"/>
          <p:cNvCxnSpPr>
            <a:stCxn id="852" idx="2"/>
            <a:endCxn id="854" idx="0"/>
          </p:cNvCxnSpPr>
          <p:nvPr/>
        </p:nvCxnSpPr>
        <p:spPr>
          <a:xfrm>
            <a:off x="3951463" y="4112025"/>
            <a:ext cx="444300" cy="331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4" name="Google Shape;864;p56"/>
          <p:cNvCxnSpPr>
            <a:stCxn id="852" idx="3"/>
            <a:endCxn id="853" idx="1"/>
          </p:cNvCxnSpPr>
          <p:nvPr/>
        </p:nvCxnSpPr>
        <p:spPr>
          <a:xfrm rot="10800000" flipH="1">
            <a:off x="4093963" y="3492825"/>
            <a:ext cx="654600" cy="47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5" name="Google Shape;865;p56"/>
          <p:cNvCxnSpPr>
            <a:stCxn id="850" idx="3"/>
            <a:endCxn id="852" idx="1"/>
          </p:cNvCxnSpPr>
          <p:nvPr/>
        </p:nvCxnSpPr>
        <p:spPr>
          <a:xfrm>
            <a:off x="3092213" y="3728775"/>
            <a:ext cx="716700" cy="24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6" name="Google Shape;866;p56"/>
          <p:cNvCxnSpPr/>
          <p:nvPr/>
        </p:nvCxnSpPr>
        <p:spPr>
          <a:xfrm>
            <a:off x="3297963" y="3700700"/>
            <a:ext cx="408000" cy="133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67" name="Google Shape;867;p56"/>
          <p:cNvCxnSpPr/>
          <p:nvPr/>
        </p:nvCxnSpPr>
        <p:spPr>
          <a:xfrm>
            <a:off x="3934144" y="4211355"/>
            <a:ext cx="275400" cy="20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68" name="Google Shape;868;p56"/>
          <p:cNvCxnSpPr/>
          <p:nvPr/>
        </p:nvCxnSpPr>
        <p:spPr>
          <a:xfrm>
            <a:off x="4184963" y="3211050"/>
            <a:ext cx="402900" cy="123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69" name="Google Shape;869;p56"/>
          <p:cNvCxnSpPr/>
          <p:nvPr/>
        </p:nvCxnSpPr>
        <p:spPr>
          <a:xfrm rot="10800000" flipH="1">
            <a:off x="4384238" y="3766575"/>
            <a:ext cx="294600" cy="482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70" name="Google Shape;870;p56"/>
          <p:cNvCxnSpPr/>
          <p:nvPr/>
        </p:nvCxnSpPr>
        <p:spPr>
          <a:xfrm>
            <a:off x="5105988" y="3711175"/>
            <a:ext cx="225000" cy="300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71" name="Google Shape;871;p56"/>
          <p:cNvCxnSpPr/>
          <p:nvPr/>
        </p:nvCxnSpPr>
        <p:spPr>
          <a:xfrm>
            <a:off x="5574788" y="4389775"/>
            <a:ext cx="3753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Verifying Routing State Validity</a:t>
            </a:r>
            <a:endParaRPr/>
          </a:p>
        </p:txBody>
      </p:sp>
      <p:sp>
        <p:nvSpPr>
          <p:cNvPr id="877" name="Google Shape;877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lang="en" b="1"/>
              <a:t>directed delivery tree</a:t>
            </a:r>
            <a:r>
              <a:rPr lang="en"/>
              <a:t> shows how packets get forwarded toward one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each router, 1 next-hop per destination. 1 outgoing arrow per node!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Once paths meet, they never split. (Same destination = same next hop.)</a:t>
            </a:r>
            <a:endParaRPr/>
          </a:p>
        </p:txBody>
      </p:sp>
      <p:cxnSp>
        <p:nvCxnSpPr>
          <p:cNvPr id="878" name="Google Shape;878;p57"/>
          <p:cNvCxnSpPr/>
          <p:nvPr/>
        </p:nvCxnSpPr>
        <p:spPr>
          <a:xfrm flipH="1">
            <a:off x="2905725" y="1143000"/>
            <a:ext cx="336000" cy="1770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9" name="Google Shape;879;p57"/>
          <p:cNvSpPr txBox="1"/>
          <p:nvPr/>
        </p:nvSpPr>
        <p:spPr>
          <a:xfrm>
            <a:off x="3271895" y="1039400"/>
            <a:ext cx="2171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For now, ok to assume this.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57"/>
          <p:cNvSpPr txBox="1"/>
          <p:nvPr/>
        </p:nvSpPr>
        <p:spPr>
          <a:xfrm>
            <a:off x="5520100" y="3119075"/>
            <a:ext cx="1746300" cy="4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Paths meet at R4 and never split again.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1" name="Google Shape;881;p57"/>
          <p:cNvSpPr/>
          <p:nvPr/>
        </p:nvSpPr>
        <p:spPr>
          <a:xfrm>
            <a:off x="2395788" y="2210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2" name="Google Shape;882;p57"/>
          <p:cNvCxnSpPr/>
          <p:nvPr/>
        </p:nvCxnSpPr>
        <p:spPr>
          <a:xfrm>
            <a:off x="1763275" y="2153900"/>
            <a:ext cx="597300" cy="16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3" name="Google Shape;883;p57"/>
          <p:cNvCxnSpPr/>
          <p:nvPr/>
        </p:nvCxnSpPr>
        <p:spPr>
          <a:xfrm rot="10800000" flipH="1">
            <a:off x="1763275" y="2382500"/>
            <a:ext cx="597300" cy="1602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4" name="Google Shape;884;p57"/>
          <p:cNvCxnSpPr/>
          <p:nvPr/>
        </p:nvCxnSpPr>
        <p:spPr>
          <a:xfrm>
            <a:off x="2707738" y="2346288"/>
            <a:ext cx="486600" cy="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5" name="Google Shape;885;p57"/>
          <p:cNvSpPr txBox="1"/>
          <p:nvPr/>
        </p:nvSpPr>
        <p:spPr>
          <a:xfrm>
            <a:off x="719150" y="2207700"/>
            <a:ext cx="91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Allowed: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57"/>
          <p:cNvSpPr/>
          <p:nvPr/>
        </p:nvSpPr>
        <p:spPr>
          <a:xfrm>
            <a:off x="6510588" y="2210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7" name="Google Shape;887;p57"/>
          <p:cNvCxnSpPr/>
          <p:nvPr/>
        </p:nvCxnSpPr>
        <p:spPr>
          <a:xfrm>
            <a:off x="5878075" y="2153900"/>
            <a:ext cx="597300" cy="16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8" name="Google Shape;888;p57"/>
          <p:cNvCxnSpPr/>
          <p:nvPr/>
        </p:nvCxnSpPr>
        <p:spPr>
          <a:xfrm rot="10800000" flipH="1">
            <a:off x="5878075" y="2382500"/>
            <a:ext cx="597300" cy="1602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9" name="Google Shape;889;p57"/>
          <p:cNvSpPr txBox="1"/>
          <p:nvPr/>
        </p:nvSpPr>
        <p:spPr>
          <a:xfrm>
            <a:off x="4452325" y="2207700"/>
            <a:ext cx="1297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allowed: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57"/>
          <p:cNvCxnSpPr/>
          <p:nvPr/>
        </p:nvCxnSpPr>
        <p:spPr>
          <a:xfrm rot="10800000" flipH="1">
            <a:off x="6868675" y="2153900"/>
            <a:ext cx="597300" cy="16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91" name="Google Shape;891;p57"/>
          <p:cNvCxnSpPr/>
          <p:nvPr/>
        </p:nvCxnSpPr>
        <p:spPr>
          <a:xfrm>
            <a:off x="6868675" y="2382500"/>
            <a:ext cx="597300" cy="1602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2" name="Google Shape;892;p57"/>
          <p:cNvSpPr/>
          <p:nvPr/>
        </p:nvSpPr>
        <p:spPr>
          <a:xfrm>
            <a:off x="2807213" y="3586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57"/>
          <p:cNvSpPr/>
          <p:nvPr/>
        </p:nvSpPr>
        <p:spPr>
          <a:xfrm>
            <a:off x="3679788" y="31114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57"/>
          <p:cNvSpPr/>
          <p:nvPr/>
        </p:nvSpPr>
        <p:spPr>
          <a:xfrm>
            <a:off x="3808963" y="3827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57"/>
          <p:cNvSpPr/>
          <p:nvPr/>
        </p:nvSpPr>
        <p:spPr>
          <a:xfrm>
            <a:off x="4748438" y="33503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57"/>
          <p:cNvSpPr/>
          <p:nvPr/>
        </p:nvSpPr>
        <p:spPr>
          <a:xfrm>
            <a:off x="4253163" y="4443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57"/>
          <p:cNvSpPr/>
          <p:nvPr/>
        </p:nvSpPr>
        <p:spPr>
          <a:xfrm>
            <a:off x="5137363" y="4158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57"/>
          <p:cNvSpPr/>
          <p:nvPr/>
        </p:nvSpPr>
        <p:spPr>
          <a:xfrm>
            <a:off x="6051775" y="41586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9" name="Google Shape;899;p57"/>
          <p:cNvCxnSpPr>
            <a:stCxn id="892" idx="3"/>
            <a:endCxn id="893" idx="1"/>
          </p:cNvCxnSpPr>
          <p:nvPr/>
        </p:nvCxnSpPr>
        <p:spPr>
          <a:xfrm rot="10800000" flipH="1">
            <a:off x="3092213" y="3253875"/>
            <a:ext cx="587700" cy="474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0" name="Google Shape;900;p57"/>
          <p:cNvCxnSpPr>
            <a:stCxn id="893" idx="3"/>
            <a:endCxn id="895" idx="1"/>
          </p:cNvCxnSpPr>
          <p:nvPr/>
        </p:nvCxnSpPr>
        <p:spPr>
          <a:xfrm>
            <a:off x="3964788" y="3253925"/>
            <a:ext cx="783600" cy="239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1" name="Google Shape;901;p57"/>
          <p:cNvCxnSpPr>
            <a:stCxn id="895" idx="2"/>
            <a:endCxn id="897" idx="0"/>
          </p:cNvCxnSpPr>
          <p:nvPr/>
        </p:nvCxnSpPr>
        <p:spPr>
          <a:xfrm>
            <a:off x="4890938" y="3635375"/>
            <a:ext cx="388800" cy="523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2" name="Google Shape;902;p57"/>
          <p:cNvCxnSpPr>
            <a:stCxn id="897" idx="3"/>
            <a:endCxn id="898" idx="2"/>
          </p:cNvCxnSpPr>
          <p:nvPr/>
        </p:nvCxnSpPr>
        <p:spPr>
          <a:xfrm>
            <a:off x="5422363" y="4301150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3" name="Google Shape;903;p57"/>
          <p:cNvCxnSpPr>
            <a:stCxn id="896" idx="3"/>
            <a:endCxn id="897" idx="1"/>
          </p:cNvCxnSpPr>
          <p:nvPr/>
        </p:nvCxnSpPr>
        <p:spPr>
          <a:xfrm rot="10800000" flipH="1">
            <a:off x="4538163" y="4301150"/>
            <a:ext cx="599100" cy="285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4" name="Google Shape;904;p57"/>
          <p:cNvCxnSpPr>
            <a:stCxn id="896" idx="0"/>
            <a:endCxn id="895" idx="2"/>
          </p:cNvCxnSpPr>
          <p:nvPr/>
        </p:nvCxnSpPr>
        <p:spPr>
          <a:xfrm rot="10800000" flipH="1">
            <a:off x="4395663" y="3635450"/>
            <a:ext cx="495300" cy="808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5" name="Google Shape;905;p57"/>
          <p:cNvCxnSpPr>
            <a:stCxn id="894" idx="2"/>
            <a:endCxn id="896" idx="0"/>
          </p:cNvCxnSpPr>
          <p:nvPr/>
        </p:nvCxnSpPr>
        <p:spPr>
          <a:xfrm>
            <a:off x="3951463" y="4112025"/>
            <a:ext cx="444300" cy="331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6" name="Google Shape;906;p57"/>
          <p:cNvCxnSpPr>
            <a:stCxn id="894" idx="3"/>
            <a:endCxn id="895" idx="1"/>
          </p:cNvCxnSpPr>
          <p:nvPr/>
        </p:nvCxnSpPr>
        <p:spPr>
          <a:xfrm rot="10800000" flipH="1">
            <a:off x="4093963" y="3492825"/>
            <a:ext cx="654600" cy="47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7" name="Google Shape;907;p57"/>
          <p:cNvCxnSpPr>
            <a:stCxn id="892" idx="3"/>
            <a:endCxn id="894" idx="1"/>
          </p:cNvCxnSpPr>
          <p:nvPr/>
        </p:nvCxnSpPr>
        <p:spPr>
          <a:xfrm>
            <a:off x="3092213" y="3728775"/>
            <a:ext cx="716700" cy="24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8" name="Google Shape;908;p57"/>
          <p:cNvCxnSpPr/>
          <p:nvPr/>
        </p:nvCxnSpPr>
        <p:spPr>
          <a:xfrm>
            <a:off x="3297963" y="3700700"/>
            <a:ext cx="408000" cy="1335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9" name="Google Shape;909;p57"/>
          <p:cNvCxnSpPr/>
          <p:nvPr/>
        </p:nvCxnSpPr>
        <p:spPr>
          <a:xfrm>
            <a:off x="3934144" y="4211355"/>
            <a:ext cx="275400" cy="2073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0" name="Google Shape;910;p57"/>
          <p:cNvCxnSpPr/>
          <p:nvPr/>
        </p:nvCxnSpPr>
        <p:spPr>
          <a:xfrm>
            <a:off x="4184963" y="3211050"/>
            <a:ext cx="402900" cy="123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1" name="Google Shape;911;p57"/>
          <p:cNvCxnSpPr/>
          <p:nvPr/>
        </p:nvCxnSpPr>
        <p:spPr>
          <a:xfrm rot="10800000" flipH="1">
            <a:off x="4384238" y="3766575"/>
            <a:ext cx="294600" cy="4821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2" name="Google Shape;912;p57"/>
          <p:cNvCxnSpPr/>
          <p:nvPr/>
        </p:nvCxnSpPr>
        <p:spPr>
          <a:xfrm>
            <a:off x="5105988" y="3711175"/>
            <a:ext cx="225000" cy="3003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3" name="Google Shape;913;p57"/>
          <p:cNvCxnSpPr/>
          <p:nvPr/>
        </p:nvCxnSpPr>
        <p:spPr>
          <a:xfrm>
            <a:off x="5574788" y="4389775"/>
            <a:ext cx="375300" cy="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Verifying Routing State Validity</a:t>
            </a:r>
            <a:endParaRPr/>
          </a:p>
        </p:txBody>
      </p:sp>
      <p:sp>
        <p:nvSpPr>
          <p:cNvPr id="919" name="Google Shape;919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valid directed delivery tree is an </a:t>
            </a:r>
            <a:r>
              <a:rPr lang="en" b="1"/>
              <a:t>oriented spanning tree</a:t>
            </a:r>
            <a:r>
              <a:rPr lang="en"/>
              <a:t> rooted at the destination.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Oriented = Edges have arrows.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Spanning = Tree touches every node.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Tree = No cycles, no disconnected components.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edges point toward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Starting at any node and following edges will reach the destination.</a:t>
            </a:r>
            <a:endParaRPr/>
          </a:p>
        </p:txBody>
      </p:sp>
      <p:sp>
        <p:nvSpPr>
          <p:cNvPr id="920" name="Google Shape;920;p58"/>
          <p:cNvSpPr/>
          <p:nvPr/>
        </p:nvSpPr>
        <p:spPr>
          <a:xfrm>
            <a:off x="2807213" y="3586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1" name="Google Shape;921;p58"/>
          <p:cNvSpPr/>
          <p:nvPr/>
        </p:nvSpPr>
        <p:spPr>
          <a:xfrm>
            <a:off x="3679788" y="31114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2" name="Google Shape;922;p58"/>
          <p:cNvSpPr/>
          <p:nvPr/>
        </p:nvSpPr>
        <p:spPr>
          <a:xfrm>
            <a:off x="3808963" y="3827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58"/>
          <p:cNvSpPr/>
          <p:nvPr/>
        </p:nvSpPr>
        <p:spPr>
          <a:xfrm>
            <a:off x="4748438" y="33503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58"/>
          <p:cNvSpPr/>
          <p:nvPr/>
        </p:nvSpPr>
        <p:spPr>
          <a:xfrm>
            <a:off x="4253163" y="4443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5" name="Google Shape;925;p58"/>
          <p:cNvSpPr/>
          <p:nvPr/>
        </p:nvSpPr>
        <p:spPr>
          <a:xfrm>
            <a:off x="5137363" y="41586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58"/>
          <p:cNvSpPr/>
          <p:nvPr/>
        </p:nvSpPr>
        <p:spPr>
          <a:xfrm>
            <a:off x="6051775" y="41586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7" name="Google Shape;927;p58"/>
          <p:cNvCxnSpPr>
            <a:stCxn id="920" idx="3"/>
            <a:endCxn id="921" idx="1"/>
          </p:cNvCxnSpPr>
          <p:nvPr/>
        </p:nvCxnSpPr>
        <p:spPr>
          <a:xfrm rot="10800000" flipH="1">
            <a:off x="3092213" y="3253875"/>
            <a:ext cx="587700" cy="474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8" name="Google Shape;928;p58"/>
          <p:cNvCxnSpPr>
            <a:stCxn id="921" idx="3"/>
            <a:endCxn id="923" idx="1"/>
          </p:cNvCxnSpPr>
          <p:nvPr/>
        </p:nvCxnSpPr>
        <p:spPr>
          <a:xfrm>
            <a:off x="3964788" y="3253925"/>
            <a:ext cx="783600" cy="239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9" name="Google Shape;929;p58"/>
          <p:cNvCxnSpPr>
            <a:stCxn id="923" idx="2"/>
            <a:endCxn id="925" idx="0"/>
          </p:cNvCxnSpPr>
          <p:nvPr/>
        </p:nvCxnSpPr>
        <p:spPr>
          <a:xfrm>
            <a:off x="4890938" y="3635375"/>
            <a:ext cx="388800" cy="523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0" name="Google Shape;930;p58"/>
          <p:cNvCxnSpPr>
            <a:stCxn id="925" idx="3"/>
            <a:endCxn id="926" idx="2"/>
          </p:cNvCxnSpPr>
          <p:nvPr/>
        </p:nvCxnSpPr>
        <p:spPr>
          <a:xfrm>
            <a:off x="5422363" y="4301150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1" name="Google Shape;931;p58"/>
          <p:cNvCxnSpPr>
            <a:stCxn id="924" idx="3"/>
            <a:endCxn id="925" idx="1"/>
          </p:cNvCxnSpPr>
          <p:nvPr/>
        </p:nvCxnSpPr>
        <p:spPr>
          <a:xfrm rot="10800000" flipH="1">
            <a:off x="4538163" y="4301150"/>
            <a:ext cx="599100" cy="285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2" name="Google Shape;932;p58"/>
          <p:cNvCxnSpPr>
            <a:stCxn id="924" idx="0"/>
            <a:endCxn id="923" idx="2"/>
          </p:cNvCxnSpPr>
          <p:nvPr/>
        </p:nvCxnSpPr>
        <p:spPr>
          <a:xfrm rot="10800000" flipH="1">
            <a:off x="4395663" y="3635450"/>
            <a:ext cx="495300" cy="808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3" name="Google Shape;933;p58"/>
          <p:cNvCxnSpPr>
            <a:stCxn id="922" idx="2"/>
            <a:endCxn id="924" idx="0"/>
          </p:cNvCxnSpPr>
          <p:nvPr/>
        </p:nvCxnSpPr>
        <p:spPr>
          <a:xfrm>
            <a:off x="3951463" y="4112025"/>
            <a:ext cx="444300" cy="331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4" name="Google Shape;934;p58"/>
          <p:cNvCxnSpPr>
            <a:stCxn id="922" idx="3"/>
            <a:endCxn id="923" idx="1"/>
          </p:cNvCxnSpPr>
          <p:nvPr/>
        </p:nvCxnSpPr>
        <p:spPr>
          <a:xfrm rot="10800000" flipH="1">
            <a:off x="4093963" y="3492825"/>
            <a:ext cx="654600" cy="47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5" name="Google Shape;935;p58"/>
          <p:cNvCxnSpPr>
            <a:stCxn id="920" idx="3"/>
            <a:endCxn id="922" idx="1"/>
          </p:cNvCxnSpPr>
          <p:nvPr/>
        </p:nvCxnSpPr>
        <p:spPr>
          <a:xfrm>
            <a:off x="3092213" y="3728775"/>
            <a:ext cx="716700" cy="24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6" name="Google Shape;936;p58"/>
          <p:cNvCxnSpPr/>
          <p:nvPr/>
        </p:nvCxnSpPr>
        <p:spPr>
          <a:xfrm>
            <a:off x="3297963" y="3700700"/>
            <a:ext cx="408000" cy="133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7" name="Google Shape;937;p58"/>
          <p:cNvCxnSpPr/>
          <p:nvPr/>
        </p:nvCxnSpPr>
        <p:spPr>
          <a:xfrm>
            <a:off x="3934144" y="4211355"/>
            <a:ext cx="275400" cy="20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8" name="Google Shape;938;p58"/>
          <p:cNvCxnSpPr/>
          <p:nvPr/>
        </p:nvCxnSpPr>
        <p:spPr>
          <a:xfrm>
            <a:off x="4184963" y="3211050"/>
            <a:ext cx="402900" cy="123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9" name="Google Shape;939;p58"/>
          <p:cNvCxnSpPr/>
          <p:nvPr/>
        </p:nvCxnSpPr>
        <p:spPr>
          <a:xfrm rot="10800000" flipH="1">
            <a:off x="4384238" y="3766575"/>
            <a:ext cx="294600" cy="482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0" name="Google Shape;940;p58"/>
          <p:cNvCxnSpPr/>
          <p:nvPr/>
        </p:nvCxnSpPr>
        <p:spPr>
          <a:xfrm>
            <a:off x="5105988" y="3711175"/>
            <a:ext cx="225000" cy="300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1" name="Google Shape;941;p58"/>
          <p:cNvCxnSpPr/>
          <p:nvPr/>
        </p:nvCxnSpPr>
        <p:spPr>
          <a:xfrm>
            <a:off x="5574788" y="4389775"/>
            <a:ext cx="3753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Verifying Routing State Validity – Steps</a:t>
            </a:r>
            <a:endParaRPr/>
          </a:p>
        </p:txBody>
      </p:sp>
      <p:sp>
        <p:nvSpPr>
          <p:cNvPr id="947" name="Google Shape;947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3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 single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For each router, draw an arrow to the next-hop.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Destination-based forwarding = there is only one outgoing arrow.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Delete all links with no arrows.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State is valid if and only if the remaining graph is a valid directed delivery tree.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dead ends. (Node with no outgoing arrow.)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loops. (Cycles in the graph.)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directed spanning tree where all edges point toward the destination.</a:t>
            </a:r>
            <a:br>
              <a:rPr lang="en"/>
            </a:b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Repeat for every destination!</a:t>
            </a:r>
            <a:endParaRPr/>
          </a:p>
        </p:txBody>
      </p:sp>
      <p:cxnSp>
        <p:nvCxnSpPr>
          <p:cNvPr id="948" name="Google Shape;948;p59"/>
          <p:cNvCxnSpPr/>
          <p:nvPr/>
        </p:nvCxnSpPr>
        <p:spPr>
          <a:xfrm rot="10800000" flipH="1">
            <a:off x="2512900" y="3010975"/>
            <a:ext cx="150900" cy="1764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9" name="Google Shape;949;p59"/>
          <p:cNvSpPr txBox="1"/>
          <p:nvPr/>
        </p:nvSpPr>
        <p:spPr>
          <a:xfrm>
            <a:off x="959724" y="3151525"/>
            <a:ext cx="163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Touches every node.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0" name="Google Shape;950;p59"/>
          <p:cNvCxnSpPr/>
          <p:nvPr/>
        </p:nvCxnSpPr>
        <p:spPr>
          <a:xfrm rot="10800000">
            <a:off x="3378825" y="3022750"/>
            <a:ext cx="110400" cy="1587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1" name="Google Shape;951;p59"/>
          <p:cNvSpPr txBox="1"/>
          <p:nvPr/>
        </p:nvSpPr>
        <p:spPr>
          <a:xfrm>
            <a:off x="3318475" y="3151525"/>
            <a:ext cx="281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cycles. No disconnected nodes.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Verifying Routing State Validity – Steps</a:t>
            </a:r>
            <a:endParaRPr/>
          </a:p>
        </p:txBody>
      </p:sp>
      <p:sp>
        <p:nvSpPr>
          <p:cNvPr id="957" name="Google Shape;957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Is this global routing state valid?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Recall: Global routing state = what's in all the forwarding tables.</a:t>
            </a:r>
            <a:endParaRPr/>
          </a:p>
        </p:txBody>
      </p:sp>
      <p:cxnSp>
        <p:nvCxnSpPr>
          <p:cNvPr id="958" name="Google Shape;958;p60"/>
          <p:cNvCxnSpPr>
            <a:stCxn id="959" idx="2"/>
            <a:endCxn id="960" idx="0"/>
          </p:cNvCxnSpPr>
          <p:nvPr/>
        </p:nvCxnSpPr>
        <p:spPr>
          <a:xfrm>
            <a:off x="2510113" y="2015250"/>
            <a:ext cx="846300" cy="70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61" name="Google Shape;961;p60"/>
          <p:cNvCxnSpPr>
            <a:stCxn id="959" idx="2"/>
            <a:endCxn id="962" idx="0"/>
          </p:cNvCxnSpPr>
          <p:nvPr/>
        </p:nvCxnSpPr>
        <p:spPr>
          <a:xfrm flipH="1">
            <a:off x="1825213" y="2015250"/>
            <a:ext cx="684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63" name="Google Shape;963;p60"/>
          <p:cNvCxnSpPr>
            <a:stCxn id="962" idx="2"/>
            <a:endCxn id="964" idx="0"/>
          </p:cNvCxnSpPr>
          <p:nvPr/>
        </p:nvCxnSpPr>
        <p:spPr>
          <a:xfrm>
            <a:off x="1825163" y="2848150"/>
            <a:ext cx="514200" cy="126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65" name="Google Shape;965;p60"/>
          <p:cNvCxnSpPr>
            <a:stCxn id="966" idx="3"/>
          </p:cNvCxnSpPr>
          <p:nvPr/>
        </p:nvCxnSpPr>
        <p:spPr>
          <a:xfrm>
            <a:off x="5308688" y="3007175"/>
            <a:ext cx="1471500" cy="954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67" name="Google Shape;967;p60"/>
          <p:cNvCxnSpPr>
            <a:stCxn id="968" idx="2"/>
            <a:endCxn id="966" idx="0"/>
          </p:cNvCxnSpPr>
          <p:nvPr/>
        </p:nvCxnSpPr>
        <p:spPr>
          <a:xfrm flipH="1">
            <a:off x="5166313" y="2184588"/>
            <a:ext cx="166200" cy="68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69" name="Google Shape;969;p60"/>
          <p:cNvCxnSpPr>
            <a:stCxn id="968" idx="3"/>
            <a:endCxn id="970" idx="1"/>
          </p:cNvCxnSpPr>
          <p:nvPr/>
        </p:nvCxnSpPr>
        <p:spPr>
          <a:xfrm>
            <a:off x="5475013" y="2042088"/>
            <a:ext cx="2025900" cy="68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71" name="Google Shape;971;p60"/>
          <p:cNvCxnSpPr>
            <a:stCxn id="964" idx="3"/>
            <a:endCxn id="972" idx="1"/>
          </p:cNvCxnSpPr>
          <p:nvPr/>
        </p:nvCxnSpPr>
        <p:spPr>
          <a:xfrm>
            <a:off x="2481963" y="4251975"/>
            <a:ext cx="927300" cy="452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73" name="Google Shape;973;p60"/>
          <p:cNvCxnSpPr>
            <a:stCxn id="974" idx="3"/>
          </p:cNvCxnSpPr>
          <p:nvPr/>
        </p:nvCxnSpPr>
        <p:spPr>
          <a:xfrm>
            <a:off x="4045113" y="3690175"/>
            <a:ext cx="1036800" cy="3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75" name="Google Shape;975;p60"/>
          <p:cNvCxnSpPr>
            <a:endCxn id="976" idx="3"/>
          </p:cNvCxnSpPr>
          <p:nvPr/>
        </p:nvCxnSpPr>
        <p:spPr>
          <a:xfrm rot="10800000">
            <a:off x="5366688" y="4105375"/>
            <a:ext cx="1414200" cy="6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77" name="Google Shape;977;p60"/>
          <p:cNvCxnSpPr>
            <a:stCxn id="974" idx="2"/>
            <a:endCxn id="972" idx="0"/>
          </p:cNvCxnSpPr>
          <p:nvPr/>
        </p:nvCxnSpPr>
        <p:spPr>
          <a:xfrm flipH="1">
            <a:off x="3551613" y="3832675"/>
            <a:ext cx="351000" cy="72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78" name="Google Shape;978;p60"/>
          <p:cNvCxnSpPr>
            <a:stCxn id="962" idx="3"/>
            <a:endCxn id="960" idx="1"/>
          </p:cNvCxnSpPr>
          <p:nvPr/>
        </p:nvCxnSpPr>
        <p:spPr>
          <a:xfrm>
            <a:off x="1967663" y="2705650"/>
            <a:ext cx="1246200" cy="152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79" name="Google Shape;979;p60"/>
          <p:cNvCxnSpPr>
            <a:stCxn id="964" idx="3"/>
            <a:endCxn id="974" idx="1"/>
          </p:cNvCxnSpPr>
          <p:nvPr/>
        </p:nvCxnSpPr>
        <p:spPr>
          <a:xfrm rot="10800000" flipH="1">
            <a:off x="2481963" y="3690075"/>
            <a:ext cx="1278300" cy="56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0" name="Google Shape;980;p60"/>
          <p:cNvCxnSpPr>
            <a:stCxn id="972" idx="3"/>
          </p:cNvCxnSpPr>
          <p:nvPr/>
        </p:nvCxnSpPr>
        <p:spPr>
          <a:xfrm rot="10800000" flipH="1">
            <a:off x="3694213" y="4183300"/>
            <a:ext cx="1388400" cy="52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1" name="Google Shape;981;p60"/>
          <p:cNvCxnSpPr>
            <a:stCxn id="964" idx="0"/>
            <a:endCxn id="960" idx="2"/>
          </p:cNvCxnSpPr>
          <p:nvPr/>
        </p:nvCxnSpPr>
        <p:spPr>
          <a:xfrm rot="10800000" flipH="1">
            <a:off x="2339463" y="3000375"/>
            <a:ext cx="1017000" cy="1109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2" name="Google Shape;982;p60"/>
          <p:cNvCxnSpPr>
            <a:stCxn id="974" idx="3"/>
            <a:endCxn id="966" idx="1"/>
          </p:cNvCxnSpPr>
          <p:nvPr/>
        </p:nvCxnSpPr>
        <p:spPr>
          <a:xfrm rot="10800000" flipH="1">
            <a:off x="4045113" y="3007075"/>
            <a:ext cx="978600" cy="683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3" name="Google Shape;983;p60"/>
          <p:cNvCxnSpPr>
            <a:stCxn id="959" idx="3"/>
            <a:endCxn id="968" idx="1"/>
          </p:cNvCxnSpPr>
          <p:nvPr/>
        </p:nvCxnSpPr>
        <p:spPr>
          <a:xfrm>
            <a:off x="2652613" y="1872750"/>
            <a:ext cx="2537400" cy="16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4" name="Google Shape;984;p60"/>
          <p:cNvCxnSpPr>
            <a:stCxn id="960" idx="3"/>
            <a:endCxn id="968" idx="1"/>
          </p:cNvCxnSpPr>
          <p:nvPr/>
        </p:nvCxnSpPr>
        <p:spPr>
          <a:xfrm rot="10800000" flipH="1">
            <a:off x="3498938" y="2042150"/>
            <a:ext cx="1691100" cy="81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5" name="Google Shape;985;p60"/>
          <p:cNvCxnSpPr>
            <a:stCxn id="966" idx="2"/>
            <a:endCxn id="976" idx="0"/>
          </p:cNvCxnSpPr>
          <p:nvPr/>
        </p:nvCxnSpPr>
        <p:spPr>
          <a:xfrm>
            <a:off x="5166188" y="3149675"/>
            <a:ext cx="57900" cy="813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6" name="Google Shape;986;p60"/>
          <p:cNvCxnSpPr>
            <a:stCxn id="960" idx="3"/>
            <a:endCxn id="974" idx="0"/>
          </p:cNvCxnSpPr>
          <p:nvPr/>
        </p:nvCxnSpPr>
        <p:spPr>
          <a:xfrm>
            <a:off x="3498938" y="2857850"/>
            <a:ext cx="403800" cy="689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7" name="Google Shape;987;p60"/>
          <p:cNvCxnSpPr>
            <a:stCxn id="970" idx="2"/>
            <a:endCxn id="988" idx="0"/>
          </p:cNvCxnSpPr>
          <p:nvPr/>
        </p:nvCxnSpPr>
        <p:spPr>
          <a:xfrm flipH="1">
            <a:off x="6922188" y="2864675"/>
            <a:ext cx="721200" cy="103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9" name="Google Shape;989;p60"/>
          <p:cNvCxnSpPr>
            <a:stCxn id="970" idx="0"/>
            <a:endCxn id="990" idx="4"/>
          </p:cNvCxnSpPr>
          <p:nvPr/>
        </p:nvCxnSpPr>
        <p:spPr>
          <a:xfrm rot="10800000">
            <a:off x="7643388" y="2177675"/>
            <a:ext cx="0" cy="40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1" name="Google Shape;991;p60"/>
          <p:cNvCxnSpPr>
            <a:stCxn id="992" idx="6"/>
            <a:endCxn id="959" idx="1"/>
          </p:cNvCxnSpPr>
          <p:nvPr/>
        </p:nvCxnSpPr>
        <p:spPr>
          <a:xfrm>
            <a:off x="1819575" y="1872750"/>
            <a:ext cx="548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60"/>
          <p:cNvCxnSpPr>
            <a:stCxn id="994" idx="6"/>
            <a:endCxn id="962" idx="1"/>
          </p:cNvCxnSpPr>
          <p:nvPr/>
        </p:nvCxnSpPr>
        <p:spPr>
          <a:xfrm>
            <a:off x="1293650" y="2705650"/>
            <a:ext cx="38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5" name="Google Shape;995;p60"/>
          <p:cNvCxnSpPr>
            <a:stCxn id="996" idx="2"/>
            <a:endCxn id="988" idx="3"/>
          </p:cNvCxnSpPr>
          <p:nvPr/>
        </p:nvCxnSpPr>
        <p:spPr>
          <a:xfrm rot="10800000">
            <a:off x="7064525" y="4043250"/>
            <a:ext cx="794100" cy="28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7" name="Google Shape;997;p60"/>
          <p:cNvCxnSpPr>
            <a:stCxn id="976" idx="2"/>
            <a:endCxn id="998" idx="0"/>
          </p:cNvCxnSpPr>
          <p:nvPr/>
        </p:nvCxnSpPr>
        <p:spPr>
          <a:xfrm>
            <a:off x="5224188" y="4247875"/>
            <a:ext cx="0" cy="299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9" name="Google Shape;999;p60"/>
          <p:cNvCxnSpPr>
            <a:stCxn id="972" idx="3"/>
            <a:endCxn id="1000" idx="2"/>
          </p:cNvCxnSpPr>
          <p:nvPr/>
        </p:nvCxnSpPr>
        <p:spPr>
          <a:xfrm>
            <a:off x="3694213" y="4704100"/>
            <a:ext cx="519600" cy="117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1" name="Google Shape;1001;p60"/>
          <p:cNvCxnSpPr>
            <a:stCxn id="960" idx="3"/>
            <a:endCxn id="966" idx="1"/>
          </p:cNvCxnSpPr>
          <p:nvPr/>
        </p:nvCxnSpPr>
        <p:spPr>
          <a:xfrm>
            <a:off x="3498938" y="2857850"/>
            <a:ext cx="1524900" cy="1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6" name="Google Shape;996;p60"/>
          <p:cNvSpPr/>
          <p:nvPr/>
        </p:nvSpPr>
        <p:spPr>
          <a:xfrm>
            <a:off x="7858625" y="41893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60"/>
          <p:cNvSpPr/>
          <p:nvPr/>
        </p:nvSpPr>
        <p:spPr>
          <a:xfrm>
            <a:off x="7500900" y="1892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8" name="Google Shape;998;p60"/>
          <p:cNvSpPr/>
          <p:nvPr/>
        </p:nvSpPr>
        <p:spPr>
          <a:xfrm>
            <a:off x="5081700" y="4546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0" name="Google Shape;1000;p60"/>
          <p:cNvSpPr/>
          <p:nvPr/>
        </p:nvSpPr>
        <p:spPr>
          <a:xfrm>
            <a:off x="4213725" y="46795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60"/>
          <p:cNvSpPr/>
          <p:nvPr/>
        </p:nvSpPr>
        <p:spPr>
          <a:xfrm>
            <a:off x="1008650" y="2563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60"/>
          <p:cNvSpPr/>
          <p:nvPr/>
        </p:nvSpPr>
        <p:spPr>
          <a:xfrm>
            <a:off x="1534575" y="1730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60"/>
          <p:cNvSpPr/>
          <p:nvPr/>
        </p:nvSpPr>
        <p:spPr>
          <a:xfrm>
            <a:off x="2367613" y="1730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0"/>
          <p:cNvSpPr/>
          <p:nvPr/>
        </p:nvSpPr>
        <p:spPr>
          <a:xfrm>
            <a:off x="1682663" y="25631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0" name="Google Shape;960;p60"/>
          <p:cNvSpPr/>
          <p:nvPr/>
        </p:nvSpPr>
        <p:spPr>
          <a:xfrm>
            <a:off x="3213938" y="2715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0"/>
          <p:cNvSpPr/>
          <p:nvPr/>
        </p:nvSpPr>
        <p:spPr>
          <a:xfrm>
            <a:off x="2196963" y="410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0"/>
          <p:cNvSpPr/>
          <p:nvPr/>
        </p:nvSpPr>
        <p:spPr>
          <a:xfrm>
            <a:off x="3760113" y="3547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0"/>
          <p:cNvSpPr/>
          <p:nvPr/>
        </p:nvSpPr>
        <p:spPr>
          <a:xfrm>
            <a:off x="3409213" y="4561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0"/>
          <p:cNvSpPr/>
          <p:nvPr/>
        </p:nvSpPr>
        <p:spPr>
          <a:xfrm>
            <a:off x="5190013" y="18995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60"/>
          <p:cNvSpPr/>
          <p:nvPr/>
        </p:nvSpPr>
        <p:spPr>
          <a:xfrm>
            <a:off x="5023688" y="2864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0"/>
          <p:cNvSpPr/>
          <p:nvPr/>
        </p:nvSpPr>
        <p:spPr>
          <a:xfrm>
            <a:off x="7500888" y="2579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60"/>
          <p:cNvSpPr/>
          <p:nvPr/>
        </p:nvSpPr>
        <p:spPr>
          <a:xfrm>
            <a:off x="5081688" y="396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60"/>
          <p:cNvSpPr/>
          <p:nvPr/>
        </p:nvSpPr>
        <p:spPr>
          <a:xfrm>
            <a:off x="6779563" y="39007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2" name="Google Shape;1002;p60"/>
          <p:cNvCxnSpPr>
            <a:stCxn id="966" idx="3"/>
          </p:cNvCxnSpPr>
          <p:nvPr/>
        </p:nvCxnSpPr>
        <p:spPr>
          <a:xfrm rot="10800000" flipH="1">
            <a:off x="5308688" y="2792675"/>
            <a:ext cx="2192700" cy="214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Verifying Routing State Validity – Steps</a:t>
            </a:r>
            <a:endParaRPr/>
          </a:p>
        </p:txBody>
      </p:sp>
      <p:sp>
        <p:nvSpPr>
          <p:cNvPr id="1008" name="Google Shape;1008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 Pick a single destination. We'll pick A.</a:t>
            </a:r>
            <a:endParaRPr/>
          </a:p>
        </p:txBody>
      </p:sp>
      <p:cxnSp>
        <p:nvCxnSpPr>
          <p:cNvPr id="1009" name="Google Shape;1009;p61"/>
          <p:cNvCxnSpPr>
            <a:stCxn id="1010" idx="2"/>
            <a:endCxn id="1011" idx="0"/>
          </p:cNvCxnSpPr>
          <p:nvPr/>
        </p:nvCxnSpPr>
        <p:spPr>
          <a:xfrm>
            <a:off x="2510113" y="2015250"/>
            <a:ext cx="846300" cy="70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12" name="Google Shape;1012;p61"/>
          <p:cNvCxnSpPr>
            <a:stCxn id="1010" idx="2"/>
            <a:endCxn id="1013" idx="0"/>
          </p:cNvCxnSpPr>
          <p:nvPr/>
        </p:nvCxnSpPr>
        <p:spPr>
          <a:xfrm flipH="1">
            <a:off x="1825213" y="2015250"/>
            <a:ext cx="684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14" name="Google Shape;1014;p61"/>
          <p:cNvCxnSpPr>
            <a:stCxn id="1013" idx="2"/>
            <a:endCxn id="1015" idx="0"/>
          </p:cNvCxnSpPr>
          <p:nvPr/>
        </p:nvCxnSpPr>
        <p:spPr>
          <a:xfrm>
            <a:off x="1825163" y="2848150"/>
            <a:ext cx="514200" cy="126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16" name="Google Shape;1016;p61"/>
          <p:cNvCxnSpPr>
            <a:stCxn id="1017" idx="3"/>
          </p:cNvCxnSpPr>
          <p:nvPr/>
        </p:nvCxnSpPr>
        <p:spPr>
          <a:xfrm>
            <a:off x="5308688" y="3007175"/>
            <a:ext cx="1471500" cy="954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18" name="Google Shape;1018;p61"/>
          <p:cNvCxnSpPr>
            <a:stCxn id="1019" idx="2"/>
            <a:endCxn id="1017" idx="0"/>
          </p:cNvCxnSpPr>
          <p:nvPr/>
        </p:nvCxnSpPr>
        <p:spPr>
          <a:xfrm flipH="1">
            <a:off x="5166313" y="2184588"/>
            <a:ext cx="166200" cy="68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20" name="Google Shape;1020;p61"/>
          <p:cNvCxnSpPr>
            <a:stCxn id="1019" idx="3"/>
            <a:endCxn id="1021" idx="1"/>
          </p:cNvCxnSpPr>
          <p:nvPr/>
        </p:nvCxnSpPr>
        <p:spPr>
          <a:xfrm>
            <a:off x="5475013" y="2042088"/>
            <a:ext cx="2025900" cy="68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22" name="Google Shape;1022;p61"/>
          <p:cNvCxnSpPr>
            <a:stCxn id="1015" idx="3"/>
            <a:endCxn id="1023" idx="1"/>
          </p:cNvCxnSpPr>
          <p:nvPr/>
        </p:nvCxnSpPr>
        <p:spPr>
          <a:xfrm>
            <a:off x="2481963" y="4251975"/>
            <a:ext cx="927300" cy="452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24" name="Google Shape;1024;p61"/>
          <p:cNvCxnSpPr>
            <a:stCxn id="1025" idx="3"/>
          </p:cNvCxnSpPr>
          <p:nvPr/>
        </p:nvCxnSpPr>
        <p:spPr>
          <a:xfrm>
            <a:off x="4045113" y="3690175"/>
            <a:ext cx="1036800" cy="3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26" name="Google Shape;1026;p61"/>
          <p:cNvCxnSpPr>
            <a:endCxn id="1027" idx="3"/>
          </p:cNvCxnSpPr>
          <p:nvPr/>
        </p:nvCxnSpPr>
        <p:spPr>
          <a:xfrm rot="10800000">
            <a:off x="5366688" y="4105375"/>
            <a:ext cx="1414200" cy="6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28" name="Google Shape;1028;p61"/>
          <p:cNvCxnSpPr>
            <a:stCxn id="1025" idx="2"/>
            <a:endCxn id="1023" idx="0"/>
          </p:cNvCxnSpPr>
          <p:nvPr/>
        </p:nvCxnSpPr>
        <p:spPr>
          <a:xfrm flipH="1">
            <a:off x="3551613" y="3832675"/>
            <a:ext cx="351000" cy="72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29" name="Google Shape;1029;p61"/>
          <p:cNvCxnSpPr>
            <a:stCxn id="1013" idx="3"/>
            <a:endCxn id="1011" idx="1"/>
          </p:cNvCxnSpPr>
          <p:nvPr/>
        </p:nvCxnSpPr>
        <p:spPr>
          <a:xfrm>
            <a:off x="1967663" y="2705650"/>
            <a:ext cx="1246200" cy="152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0" name="Google Shape;1030;p61"/>
          <p:cNvCxnSpPr>
            <a:stCxn id="1015" idx="3"/>
            <a:endCxn id="1025" idx="1"/>
          </p:cNvCxnSpPr>
          <p:nvPr/>
        </p:nvCxnSpPr>
        <p:spPr>
          <a:xfrm rot="10800000" flipH="1">
            <a:off x="2481963" y="3690075"/>
            <a:ext cx="1278300" cy="56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1" name="Google Shape;1031;p61"/>
          <p:cNvCxnSpPr>
            <a:stCxn id="1023" idx="3"/>
          </p:cNvCxnSpPr>
          <p:nvPr/>
        </p:nvCxnSpPr>
        <p:spPr>
          <a:xfrm rot="10800000" flipH="1">
            <a:off x="3694213" y="4183300"/>
            <a:ext cx="1388400" cy="52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2" name="Google Shape;1032;p61"/>
          <p:cNvCxnSpPr>
            <a:stCxn id="1015" idx="0"/>
            <a:endCxn id="1011" idx="2"/>
          </p:cNvCxnSpPr>
          <p:nvPr/>
        </p:nvCxnSpPr>
        <p:spPr>
          <a:xfrm rot="10800000" flipH="1">
            <a:off x="2339463" y="3000375"/>
            <a:ext cx="1017000" cy="1109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3" name="Google Shape;1033;p61"/>
          <p:cNvCxnSpPr>
            <a:stCxn id="1025" idx="3"/>
            <a:endCxn id="1017" idx="1"/>
          </p:cNvCxnSpPr>
          <p:nvPr/>
        </p:nvCxnSpPr>
        <p:spPr>
          <a:xfrm rot="10800000" flipH="1">
            <a:off x="4045113" y="3007075"/>
            <a:ext cx="978600" cy="683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4" name="Google Shape;1034;p61"/>
          <p:cNvCxnSpPr>
            <a:stCxn id="1010" idx="3"/>
            <a:endCxn id="1019" idx="1"/>
          </p:cNvCxnSpPr>
          <p:nvPr/>
        </p:nvCxnSpPr>
        <p:spPr>
          <a:xfrm>
            <a:off x="2652613" y="1872750"/>
            <a:ext cx="2537400" cy="16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5" name="Google Shape;1035;p61"/>
          <p:cNvCxnSpPr>
            <a:stCxn id="1011" idx="3"/>
            <a:endCxn id="1019" idx="1"/>
          </p:cNvCxnSpPr>
          <p:nvPr/>
        </p:nvCxnSpPr>
        <p:spPr>
          <a:xfrm rot="10800000" flipH="1">
            <a:off x="3498938" y="2042150"/>
            <a:ext cx="1691100" cy="81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6" name="Google Shape;1036;p61"/>
          <p:cNvCxnSpPr>
            <a:stCxn id="1017" idx="2"/>
            <a:endCxn id="1027" idx="0"/>
          </p:cNvCxnSpPr>
          <p:nvPr/>
        </p:nvCxnSpPr>
        <p:spPr>
          <a:xfrm>
            <a:off x="5166188" y="3149675"/>
            <a:ext cx="57900" cy="813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7" name="Google Shape;1037;p61"/>
          <p:cNvCxnSpPr>
            <a:stCxn id="1011" idx="3"/>
            <a:endCxn id="1025" idx="0"/>
          </p:cNvCxnSpPr>
          <p:nvPr/>
        </p:nvCxnSpPr>
        <p:spPr>
          <a:xfrm>
            <a:off x="3498938" y="2857850"/>
            <a:ext cx="403800" cy="689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8" name="Google Shape;1038;p61"/>
          <p:cNvCxnSpPr>
            <a:stCxn id="1021" idx="2"/>
            <a:endCxn id="1039" idx="0"/>
          </p:cNvCxnSpPr>
          <p:nvPr/>
        </p:nvCxnSpPr>
        <p:spPr>
          <a:xfrm flipH="1">
            <a:off x="6922188" y="2864675"/>
            <a:ext cx="721200" cy="103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40" name="Google Shape;1040;p61"/>
          <p:cNvCxnSpPr>
            <a:stCxn id="1021" idx="0"/>
            <a:endCxn id="1041" idx="4"/>
          </p:cNvCxnSpPr>
          <p:nvPr/>
        </p:nvCxnSpPr>
        <p:spPr>
          <a:xfrm rot="10800000">
            <a:off x="7643388" y="2177675"/>
            <a:ext cx="0" cy="402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42" name="Google Shape;1042;p61"/>
          <p:cNvCxnSpPr>
            <a:stCxn id="1043" idx="6"/>
            <a:endCxn id="1010" idx="1"/>
          </p:cNvCxnSpPr>
          <p:nvPr/>
        </p:nvCxnSpPr>
        <p:spPr>
          <a:xfrm>
            <a:off x="1819575" y="1872750"/>
            <a:ext cx="548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44" name="Google Shape;1044;p61"/>
          <p:cNvCxnSpPr>
            <a:stCxn id="1045" idx="6"/>
            <a:endCxn id="1013" idx="1"/>
          </p:cNvCxnSpPr>
          <p:nvPr/>
        </p:nvCxnSpPr>
        <p:spPr>
          <a:xfrm>
            <a:off x="1293650" y="2705650"/>
            <a:ext cx="389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46" name="Google Shape;1046;p61"/>
          <p:cNvCxnSpPr>
            <a:stCxn id="1047" idx="2"/>
            <a:endCxn id="1039" idx="3"/>
          </p:cNvCxnSpPr>
          <p:nvPr/>
        </p:nvCxnSpPr>
        <p:spPr>
          <a:xfrm rot="10800000">
            <a:off x="7064525" y="4043250"/>
            <a:ext cx="794100" cy="28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48" name="Google Shape;1048;p61"/>
          <p:cNvCxnSpPr>
            <a:stCxn id="1027" idx="2"/>
            <a:endCxn id="1049" idx="0"/>
          </p:cNvCxnSpPr>
          <p:nvPr/>
        </p:nvCxnSpPr>
        <p:spPr>
          <a:xfrm>
            <a:off x="5224188" y="4247875"/>
            <a:ext cx="0" cy="299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0" name="Google Shape;1050;p61"/>
          <p:cNvCxnSpPr>
            <a:stCxn id="1023" idx="3"/>
            <a:endCxn id="1051" idx="2"/>
          </p:cNvCxnSpPr>
          <p:nvPr/>
        </p:nvCxnSpPr>
        <p:spPr>
          <a:xfrm>
            <a:off x="3694213" y="4704100"/>
            <a:ext cx="519600" cy="117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2" name="Google Shape;1052;p61"/>
          <p:cNvCxnSpPr>
            <a:stCxn id="1011" idx="3"/>
            <a:endCxn id="1017" idx="1"/>
          </p:cNvCxnSpPr>
          <p:nvPr/>
        </p:nvCxnSpPr>
        <p:spPr>
          <a:xfrm>
            <a:off x="3498938" y="2857850"/>
            <a:ext cx="1524900" cy="1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47" name="Google Shape;1047;p61"/>
          <p:cNvSpPr/>
          <p:nvPr/>
        </p:nvSpPr>
        <p:spPr>
          <a:xfrm>
            <a:off x="7858625" y="41893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61"/>
          <p:cNvSpPr/>
          <p:nvPr/>
        </p:nvSpPr>
        <p:spPr>
          <a:xfrm>
            <a:off x="7500900" y="1892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61"/>
          <p:cNvSpPr/>
          <p:nvPr/>
        </p:nvSpPr>
        <p:spPr>
          <a:xfrm>
            <a:off x="5081700" y="4546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61"/>
          <p:cNvSpPr/>
          <p:nvPr/>
        </p:nvSpPr>
        <p:spPr>
          <a:xfrm>
            <a:off x="4213725" y="46795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61"/>
          <p:cNvSpPr/>
          <p:nvPr/>
        </p:nvSpPr>
        <p:spPr>
          <a:xfrm>
            <a:off x="1008650" y="2563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1"/>
          <p:cNvSpPr/>
          <p:nvPr/>
        </p:nvSpPr>
        <p:spPr>
          <a:xfrm>
            <a:off x="1534575" y="1730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61"/>
          <p:cNvSpPr/>
          <p:nvPr/>
        </p:nvSpPr>
        <p:spPr>
          <a:xfrm>
            <a:off x="3213938" y="2715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5" name="Google Shape;1015;p61"/>
          <p:cNvSpPr/>
          <p:nvPr/>
        </p:nvSpPr>
        <p:spPr>
          <a:xfrm>
            <a:off x="2196963" y="410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5" name="Google Shape;1025;p61"/>
          <p:cNvSpPr/>
          <p:nvPr/>
        </p:nvSpPr>
        <p:spPr>
          <a:xfrm>
            <a:off x="3760113" y="3547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61"/>
          <p:cNvSpPr/>
          <p:nvPr/>
        </p:nvSpPr>
        <p:spPr>
          <a:xfrm>
            <a:off x="5190013" y="18995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61"/>
          <p:cNvSpPr/>
          <p:nvPr/>
        </p:nvSpPr>
        <p:spPr>
          <a:xfrm>
            <a:off x="5023688" y="2864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61"/>
          <p:cNvSpPr/>
          <p:nvPr/>
        </p:nvSpPr>
        <p:spPr>
          <a:xfrm>
            <a:off x="6779563" y="39007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0" name="Google Shape;1010;p61"/>
          <p:cNvSpPr/>
          <p:nvPr/>
        </p:nvSpPr>
        <p:spPr>
          <a:xfrm>
            <a:off x="2367613" y="1730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61"/>
          <p:cNvSpPr/>
          <p:nvPr/>
        </p:nvSpPr>
        <p:spPr>
          <a:xfrm>
            <a:off x="1682663" y="25631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61"/>
          <p:cNvSpPr/>
          <p:nvPr/>
        </p:nvSpPr>
        <p:spPr>
          <a:xfrm>
            <a:off x="3409213" y="4561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61"/>
          <p:cNvSpPr/>
          <p:nvPr/>
        </p:nvSpPr>
        <p:spPr>
          <a:xfrm>
            <a:off x="7500888" y="2579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7" name="Google Shape;1027;p61"/>
          <p:cNvSpPr/>
          <p:nvPr/>
        </p:nvSpPr>
        <p:spPr>
          <a:xfrm>
            <a:off x="5081688" y="396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3" name="Google Shape;1053;p61"/>
          <p:cNvCxnSpPr>
            <a:stCxn id="1017" idx="3"/>
          </p:cNvCxnSpPr>
          <p:nvPr/>
        </p:nvCxnSpPr>
        <p:spPr>
          <a:xfrm rot="10800000" flipH="1">
            <a:off x="5308688" y="2792675"/>
            <a:ext cx="2192700" cy="214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Verifying Routing State Validity – Steps</a:t>
            </a:r>
            <a:endParaRPr/>
          </a:p>
        </p:txBody>
      </p:sp>
      <p:sp>
        <p:nvSpPr>
          <p:cNvPr id="1059" name="Google Shape;1059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2. For each router, draw an arrow to the next-hop.</a:t>
            </a:r>
            <a:endParaRPr/>
          </a:p>
        </p:txBody>
      </p:sp>
      <p:cxnSp>
        <p:nvCxnSpPr>
          <p:cNvPr id="1060" name="Google Shape;1060;p62"/>
          <p:cNvCxnSpPr>
            <a:stCxn id="1061" idx="2"/>
            <a:endCxn id="1062" idx="0"/>
          </p:cNvCxnSpPr>
          <p:nvPr/>
        </p:nvCxnSpPr>
        <p:spPr>
          <a:xfrm>
            <a:off x="2510113" y="2015250"/>
            <a:ext cx="846300" cy="700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63" name="Google Shape;1063;p62"/>
          <p:cNvCxnSpPr>
            <a:stCxn id="1061" idx="2"/>
            <a:endCxn id="1064" idx="0"/>
          </p:cNvCxnSpPr>
          <p:nvPr/>
        </p:nvCxnSpPr>
        <p:spPr>
          <a:xfrm flipH="1">
            <a:off x="1825213" y="2015250"/>
            <a:ext cx="684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65" name="Google Shape;1065;p62"/>
          <p:cNvCxnSpPr>
            <a:stCxn id="1064" idx="2"/>
            <a:endCxn id="1066" idx="0"/>
          </p:cNvCxnSpPr>
          <p:nvPr/>
        </p:nvCxnSpPr>
        <p:spPr>
          <a:xfrm>
            <a:off x="1825163" y="2848150"/>
            <a:ext cx="514200" cy="126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67" name="Google Shape;1067;p62"/>
          <p:cNvCxnSpPr>
            <a:stCxn id="1068" idx="3"/>
          </p:cNvCxnSpPr>
          <p:nvPr/>
        </p:nvCxnSpPr>
        <p:spPr>
          <a:xfrm>
            <a:off x="5308688" y="3007175"/>
            <a:ext cx="1471500" cy="9549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69" name="Google Shape;1069;p62"/>
          <p:cNvCxnSpPr>
            <a:stCxn id="1070" idx="2"/>
            <a:endCxn id="1068" idx="0"/>
          </p:cNvCxnSpPr>
          <p:nvPr/>
        </p:nvCxnSpPr>
        <p:spPr>
          <a:xfrm flipH="1">
            <a:off x="5166313" y="2184588"/>
            <a:ext cx="166200" cy="68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71" name="Google Shape;1071;p62"/>
          <p:cNvCxnSpPr>
            <a:stCxn id="1070" idx="3"/>
            <a:endCxn id="1072" idx="1"/>
          </p:cNvCxnSpPr>
          <p:nvPr/>
        </p:nvCxnSpPr>
        <p:spPr>
          <a:xfrm>
            <a:off x="5475013" y="2042088"/>
            <a:ext cx="2025900" cy="680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73" name="Google Shape;1073;p62"/>
          <p:cNvCxnSpPr>
            <a:stCxn id="1066" idx="3"/>
            <a:endCxn id="1074" idx="1"/>
          </p:cNvCxnSpPr>
          <p:nvPr/>
        </p:nvCxnSpPr>
        <p:spPr>
          <a:xfrm>
            <a:off x="2481963" y="4251975"/>
            <a:ext cx="927300" cy="452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75" name="Google Shape;1075;p62"/>
          <p:cNvCxnSpPr>
            <a:stCxn id="1076" idx="3"/>
          </p:cNvCxnSpPr>
          <p:nvPr/>
        </p:nvCxnSpPr>
        <p:spPr>
          <a:xfrm>
            <a:off x="4045113" y="3690175"/>
            <a:ext cx="1036800" cy="3384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77" name="Google Shape;1077;p62"/>
          <p:cNvCxnSpPr>
            <a:endCxn id="1078" idx="3"/>
          </p:cNvCxnSpPr>
          <p:nvPr/>
        </p:nvCxnSpPr>
        <p:spPr>
          <a:xfrm rot="10800000">
            <a:off x="5366688" y="4105375"/>
            <a:ext cx="1414200" cy="6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sm" len="sm"/>
            <a:tailEnd type="none" w="sm" len="sm"/>
          </a:ln>
        </p:spPr>
      </p:cxnSp>
      <p:cxnSp>
        <p:nvCxnSpPr>
          <p:cNvPr id="1079" name="Google Shape;1079;p62"/>
          <p:cNvCxnSpPr>
            <a:stCxn id="1076" idx="2"/>
            <a:endCxn id="1074" idx="0"/>
          </p:cNvCxnSpPr>
          <p:nvPr/>
        </p:nvCxnSpPr>
        <p:spPr>
          <a:xfrm flipH="1">
            <a:off x="3551613" y="3832675"/>
            <a:ext cx="351000" cy="72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0" name="Google Shape;1080;p62"/>
          <p:cNvCxnSpPr>
            <a:stCxn id="1064" idx="3"/>
            <a:endCxn id="1062" idx="1"/>
          </p:cNvCxnSpPr>
          <p:nvPr/>
        </p:nvCxnSpPr>
        <p:spPr>
          <a:xfrm>
            <a:off x="1967663" y="2705650"/>
            <a:ext cx="1246200" cy="152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81" name="Google Shape;1081;p62"/>
          <p:cNvCxnSpPr>
            <a:stCxn id="1066" idx="3"/>
            <a:endCxn id="1076" idx="1"/>
          </p:cNvCxnSpPr>
          <p:nvPr/>
        </p:nvCxnSpPr>
        <p:spPr>
          <a:xfrm rot="10800000" flipH="1">
            <a:off x="2481963" y="3690075"/>
            <a:ext cx="1278300" cy="56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2" name="Google Shape;1082;p62"/>
          <p:cNvCxnSpPr>
            <a:stCxn id="1074" idx="3"/>
          </p:cNvCxnSpPr>
          <p:nvPr/>
        </p:nvCxnSpPr>
        <p:spPr>
          <a:xfrm rot="10800000" flipH="1">
            <a:off x="3694213" y="4183300"/>
            <a:ext cx="1388400" cy="5208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83" name="Google Shape;1083;p62"/>
          <p:cNvCxnSpPr>
            <a:stCxn id="1066" idx="0"/>
            <a:endCxn id="1062" idx="2"/>
          </p:cNvCxnSpPr>
          <p:nvPr/>
        </p:nvCxnSpPr>
        <p:spPr>
          <a:xfrm rot="10800000" flipH="1">
            <a:off x="2339463" y="3000375"/>
            <a:ext cx="1017000" cy="1109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4" name="Google Shape;1084;p62"/>
          <p:cNvCxnSpPr>
            <a:stCxn id="1076" idx="3"/>
            <a:endCxn id="1068" idx="1"/>
          </p:cNvCxnSpPr>
          <p:nvPr/>
        </p:nvCxnSpPr>
        <p:spPr>
          <a:xfrm rot="10800000" flipH="1">
            <a:off x="4045113" y="3007075"/>
            <a:ext cx="978600" cy="683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5" name="Google Shape;1085;p62"/>
          <p:cNvCxnSpPr>
            <a:stCxn id="1068" idx="3"/>
          </p:cNvCxnSpPr>
          <p:nvPr/>
        </p:nvCxnSpPr>
        <p:spPr>
          <a:xfrm rot="10800000" flipH="1">
            <a:off x="5308688" y="2792675"/>
            <a:ext cx="2192700" cy="214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6" name="Google Shape;1086;p62"/>
          <p:cNvCxnSpPr>
            <a:stCxn id="1061" idx="3"/>
            <a:endCxn id="1070" idx="1"/>
          </p:cNvCxnSpPr>
          <p:nvPr/>
        </p:nvCxnSpPr>
        <p:spPr>
          <a:xfrm>
            <a:off x="2652613" y="1872750"/>
            <a:ext cx="2537400" cy="16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7" name="Google Shape;1087;p62"/>
          <p:cNvCxnSpPr>
            <a:stCxn id="1062" idx="3"/>
            <a:endCxn id="1070" idx="1"/>
          </p:cNvCxnSpPr>
          <p:nvPr/>
        </p:nvCxnSpPr>
        <p:spPr>
          <a:xfrm rot="10800000" flipH="1">
            <a:off x="3498938" y="2042150"/>
            <a:ext cx="1691100" cy="81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8" name="Google Shape;1088;p62"/>
          <p:cNvCxnSpPr>
            <a:stCxn id="1068" idx="2"/>
            <a:endCxn id="1078" idx="0"/>
          </p:cNvCxnSpPr>
          <p:nvPr/>
        </p:nvCxnSpPr>
        <p:spPr>
          <a:xfrm>
            <a:off x="5166188" y="3149675"/>
            <a:ext cx="57900" cy="813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89" name="Google Shape;1089;p62"/>
          <p:cNvCxnSpPr>
            <a:stCxn id="1062" idx="3"/>
            <a:endCxn id="1076" idx="0"/>
          </p:cNvCxnSpPr>
          <p:nvPr/>
        </p:nvCxnSpPr>
        <p:spPr>
          <a:xfrm>
            <a:off x="3498938" y="2857850"/>
            <a:ext cx="403800" cy="689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90" name="Google Shape;1090;p62"/>
          <p:cNvCxnSpPr>
            <a:stCxn id="1072" idx="2"/>
            <a:endCxn id="1091" idx="0"/>
          </p:cNvCxnSpPr>
          <p:nvPr/>
        </p:nvCxnSpPr>
        <p:spPr>
          <a:xfrm flipH="1">
            <a:off x="6922188" y="2864675"/>
            <a:ext cx="721200" cy="1036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092" name="Google Shape;1092;p62"/>
          <p:cNvCxnSpPr>
            <a:stCxn id="1072" idx="0"/>
            <a:endCxn id="1093" idx="4"/>
          </p:cNvCxnSpPr>
          <p:nvPr/>
        </p:nvCxnSpPr>
        <p:spPr>
          <a:xfrm rot="10800000">
            <a:off x="7643388" y="2177675"/>
            <a:ext cx="0" cy="402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4" name="Google Shape;1094;p62"/>
          <p:cNvCxnSpPr>
            <a:stCxn id="1095" idx="6"/>
            <a:endCxn id="1061" idx="1"/>
          </p:cNvCxnSpPr>
          <p:nvPr/>
        </p:nvCxnSpPr>
        <p:spPr>
          <a:xfrm>
            <a:off x="1819575" y="1872750"/>
            <a:ext cx="548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6" name="Google Shape;1096;p62"/>
          <p:cNvCxnSpPr>
            <a:stCxn id="1097" idx="6"/>
            <a:endCxn id="1064" idx="1"/>
          </p:cNvCxnSpPr>
          <p:nvPr/>
        </p:nvCxnSpPr>
        <p:spPr>
          <a:xfrm>
            <a:off x="1293650" y="2705650"/>
            <a:ext cx="389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8" name="Google Shape;1098;p62"/>
          <p:cNvCxnSpPr>
            <a:stCxn id="1078" idx="2"/>
            <a:endCxn id="1099" idx="0"/>
          </p:cNvCxnSpPr>
          <p:nvPr/>
        </p:nvCxnSpPr>
        <p:spPr>
          <a:xfrm>
            <a:off x="5224188" y="4247875"/>
            <a:ext cx="0" cy="299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0" name="Google Shape;1100;p62"/>
          <p:cNvCxnSpPr>
            <a:stCxn id="1074" idx="3"/>
            <a:endCxn id="1101" idx="2"/>
          </p:cNvCxnSpPr>
          <p:nvPr/>
        </p:nvCxnSpPr>
        <p:spPr>
          <a:xfrm>
            <a:off x="3694213" y="4704100"/>
            <a:ext cx="519600" cy="117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2" name="Google Shape;1102;p62"/>
          <p:cNvCxnSpPr>
            <a:stCxn id="1062" idx="3"/>
            <a:endCxn id="1068" idx="1"/>
          </p:cNvCxnSpPr>
          <p:nvPr/>
        </p:nvCxnSpPr>
        <p:spPr>
          <a:xfrm>
            <a:off x="3498938" y="2857850"/>
            <a:ext cx="1524900" cy="1494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1093" name="Google Shape;1093;p62"/>
          <p:cNvSpPr/>
          <p:nvPr/>
        </p:nvSpPr>
        <p:spPr>
          <a:xfrm>
            <a:off x="7500900" y="1892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62"/>
          <p:cNvSpPr/>
          <p:nvPr/>
        </p:nvSpPr>
        <p:spPr>
          <a:xfrm>
            <a:off x="5081700" y="4546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62"/>
          <p:cNvSpPr/>
          <p:nvPr/>
        </p:nvSpPr>
        <p:spPr>
          <a:xfrm>
            <a:off x="4213725" y="46795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62"/>
          <p:cNvSpPr/>
          <p:nvPr/>
        </p:nvSpPr>
        <p:spPr>
          <a:xfrm>
            <a:off x="1008650" y="2563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62"/>
          <p:cNvSpPr/>
          <p:nvPr/>
        </p:nvSpPr>
        <p:spPr>
          <a:xfrm>
            <a:off x="1534575" y="1730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62"/>
          <p:cNvSpPr/>
          <p:nvPr/>
        </p:nvSpPr>
        <p:spPr>
          <a:xfrm>
            <a:off x="3213938" y="2715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6" name="Google Shape;1066;p62"/>
          <p:cNvSpPr/>
          <p:nvPr/>
        </p:nvSpPr>
        <p:spPr>
          <a:xfrm>
            <a:off x="2196963" y="410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62"/>
          <p:cNvSpPr/>
          <p:nvPr/>
        </p:nvSpPr>
        <p:spPr>
          <a:xfrm>
            <a:off x="3760113" y="3547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62"/>
          <p:cNvSpPr/>
          <p:nvPr/>
        </p:nvSpPr>
        <p:spPr>
          <a:xfrm>
            <a:off x="5190013" y="18995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62"/>
          <p:cNvSpPr/>
          <p:nvPr/>
        </p:nvSpPr>
        <p:spPr>
          <a:xfrm>
            <a:off x="5023688" y="2864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62"/>
          <p:cNvSpPr/>
          <p:nvPr/>
        </p:nvSpPr>
        <p:spPr>
          <a:xfrm>
            <a:off x="2367613" y="1730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62"/>
          <p:cNvSpPr/>
          <p:nvPr/>
        </p:nvSpPr>
        <p:spPr>
          <a:xfrm>
            <a:off x="1682663" y="25631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62"/>
          <p:cNvSpPr/>
          <p:nvPr/>
        </p:nvSpPr>
        <p:spPr>
          <a:xfrm>
            <a:off x="3409213" y="4561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62"/>
          <p:cNvSpPr/>
          <p:nvPr/>
        </p:nvSpPr>
        <p:spPr>
          <a:xfrm>
            <a:off x="7500888" y="2579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62"/>
          <p:cNvSpPr/>
          <p:nvPr/>
        </p:nvSpPr>
        <p:spPr>
          <a:xfrm>
            <a:off x="5081688" y="396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3" name="Google Shape;1103;p62"/>
          <p:cNvCxnSpPr>
            <a:stCxn id="1091" idx="3"/>
            <a:endCxn id="1104" idx="2"/>
          </p:cNvCxnSpPr>
          <p:nvPr/>
        </p:nvCxnSpPr>
        <p:spPr>
          <a:xfrm>
            <a:off x="7064563" y="4043250"/>
            <a:ext cx="794100" cy="288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1104" name="Google Shape;1104;p62"/>
          <p:cNvSpPr/>
          <p:nvPr/>
        </p:nvSpPr>
        <p:spPr>
          <a:xfrm>
            <a:off x="7858625" y="41893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p62"/>
          <p:cNvSpPr/>
          <p:nvPr/>
        </p:nvSpPr>
        <p:spPr>
          <a:xfrm>
            <a:off x="6779563" y="39007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Verifying Routing State Validity – Steps</a:t>
            </a:r>
            <a:endParaRPr/>
          </a:p>
        </p:txBody>
      </p:sp>
      <p:sp>
        <p:nvSpPr>
          <p:cNvPr id="1110" name="Google Shape;1110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3. Delete all links with no arrows.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4. State is valid for A! Spanning tree where all edges point toward the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5. Repeat for the other destinations.</a:t>
            </a:r>
            <a:endParaRPr/>
          </a:p>
        </p:txBody>
      </p:sp>
      <p:cxnSp>
        <p:nvCxnSpPr>
          <p:cNvPr id="1111" name="Google Shape;1111;p63"/>
          <p:cNvCxnSpPr>
            <a:stCxn id="1112" idx="2"/>
            <a:endCxn id="1113" idx="0"/>
          </p:cNvCxnSpPr>
          <p:nvPr/>
        </p:nvCxnSpPr>
        <p:spPr>
          <a:xfrm>
            <a:off x="2510113" y="2015250"/>
            <a:ext cx="846300" cy="700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14" name="Google Shape;1114;p63"/>
          <p:cNvCxnSpPr>
            <a:stCxn id="1112" idx="2"/>
            <a:endCxn id="1115" idx="0"/>
          </p:cNvCxnSpPr>
          <p:nvPr/>
        </p:nvCxnSpPr>
        <p:spPr>
          <a:xfrm flipH="1">
            <a:off x="1825213" y="2015250"/>
            <a:ext cx="684900" cy="5478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16" name="Google Shape;1116;p63"/>
          <p:cNvCxnSpPr>
            <a:stCxn id="1115" idx="2"/>
            <a:endCxn id="1117" idx="0"/>
          </p:cNvCxnSpPr>
          <p:nvPr/>
        </p:nvCxnSpPr>
        <p:spPr>
          <a:xfrm>
            <a:off x="1825163" y="2848150"/>
            <a:ext cx="514200" cy="1261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18" name="Google Shape;1118;p63"/>
          <p:cNvCxnSpPr>
            <a:stCxn id="1119" idx="3"/>
          </p:cNvCxnSpPr>
          <p:nvPr/>
        </p:nvCxnSpPr>
        <p:spPr>
          <a:xfrm>
            <a:off x="5308688" y="3007175"/>
            <a:ext cx="1471500" cy="9549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20" name="Google Shape;1120;p63"/>
          <p:cNvCxnSpPr>
            <a:stCxn id="1121" idx="2"/>
            <a:endCxn id="1119" idx="0"/>
          </p:cNvCxnSpPr>
          <p:nvPr/>
        </p:nvCxnSpPr>
        <p:spPr>
          <a:xfrm flipH="1">
            <a:off x="5166313" y="2184588"/>
            <a:ext cx="166200" cy="680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2" name="Google Shape;1122;p63"/>
          <p:cNvCxnSpPr>
            <a:stCxn id="1121" idx="3"/>
            <a:endCxn id="1123" idx="1"/>
          </p:cNvCxnSpPr>
          <p:nvPr/>
        </p:nvCxnSpPr>
        <p:spPr>
          <a:xfrm>
            <a:off x="5475013" y="2042088"/>
            <a:ext cx="2025900" cy="680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24" name="Google Shape;1124;p63"/>
          <p:cNvCxnSpPr>
            <a:stCxn id="1117" idx="3"/>
            <a:endCxn id="1125" idx="1"/>
          </p:cNvCxnSpPr>
          <p:nvPr/>
        </p:nvCxnSpPr>
        <p:spPr>
          <a:xfrm>
            <a:off x="2481963" y="4251975"/>
            <a:ext cx="927300" cy="452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26" name="Google Shape;1126;p63"/>
          <p:cNvCxnSpPr>
            <a:stCxn id="1127" idx="3"/>
          </p:cNvCxnSpPr>
          <p:nvPr/>
        </p:nvCxnSpPr>
        <p:spPr>
          <a:xfrm>
            <a:off x="4045113" y="3690175"/>
            <a:ext cx="1036800" cy="3384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28" name="Google Shape;1128;p63"/>
          <p:cNvCxnSpPr>
            <a:endCxn id="1129" idx="3"/>
          </p:cNvCxnSpPr>
          <p:nvPr/>
        </p:nvCxnSpPr>
        <p:spPr>
          <a:xfrm rot="10800000">
            <a:off x="5366688" y="4105375"/>
            <a:ext cx="1414200" cy="6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sm" len="sm"/>
            <a:tailEnd type="none" w="sm" len="sm"/>
          </a:ln>
        </p:spPr>
      </p:cxnSp>
      <p:cxnSp>
        <p:nvCxnSpPr>
          <p:cNvPr id="1130" name="Google Shape;1130;p63"/>
          <p:cNvCxnSpPr>
            <a:stCxn id="1127" idx="2"/>
            <a:endCxn id="1125" idx="0"/>
          </p:cNvCxnSpPr>
          <p:nvPr/>
        </p:nvCxnSpPr>
        <p:spPr>
          <a:xfrm flipH="1">
            <a:off x="3551613" y="3832675"/>
            <a:ext cx="351000" cy="729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31" name="Google Shape;1131;p63"/>
          <p:cNvCxnSpPr>
            <a:stCxn id="1115" idx="3"/>
            <a:endCxn id="1113" idx="1"/>
          </p:cNvCxnSpPr>
          <p:nvPr/>
        </p:nvCxnSpPr>
        <p:spPr>
          <a:xfrm>
            <a:off x="1967663" y="2705650"/>
            <a:ext cx="1246200" cy="152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32" name="Google Shape;1132;p63"/>
          <p:cNvCxnSpPr>
            <a:stCxn id="1117" idx="3"/>
            <a:endCxn id="1127" idx="1"/>
          </p:cNvCxnSpPr>
          <p:nvPr/>
        </p:nvCxnSpPr>
        <p:spPr>
          <a:xfrm rot="10800000" flipH="1">
            <a:off x="2481963" y="3690075"/>
            <a:ext cx="1278300" cy="561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33" name="Google Shape;1133;p63"/>
          <p:cNvCxnSpPr>
            <a:stCxn id="1125" idx="3"/>
          </p:cNvCxnSpPr>
          <p:nvPr/>
        </p:nvCxnSpPr>
        <p:spPr>
          <a:xfrm rot="10800000" flipH="1">
            <a:off x="3694213" y="4183300"/>
            <a:ext cx="1388400" cy="5208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34" name="Google Shape;1134;p63"/>
          <p:cNvCxnSpPr>
            <a:stCxn id="1117" idx="0"/>
            <a:endCxn id="1113" idx="2"/>
          </p:cNvCxnSpPr>
          <p:nvPr/>
        </p:nvCxnSpPr>
        <p:spPr>
          <a:xfrm rot="10800000" flipH="1">
            <a:off x="2339463" y="3000375"/>
            <a:ext cx="1017000" cy="1109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35" name="Google Shape;1135;p63"/>
          <p:cNvCxnSpPr>
            <a:stCxn id="1127" idx="3"/>
            <a:endCxn id="1119" idx="1"/>
          </p:cNvCxnSpPr>
          <p:nvPr/>
        </p:nvCxnSpPr>
        <p:spPr>
          <a:xfrm rot="10800000" flipH="1">
            <a:off x="4045113" y="3007075"/>
            <a:ext cx="978600" cy="683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36" name="Google Shape;1136;p63"/>
          <p:cNvCxnSpPr>
            <a:stCxn id="1119" idx="3"/>
          </p:cNvCxnSpPr>
          <p:nvPr/>
        </p:nvCxnSpPr>
        <p:spPr>
          <a:xfrm rot="10800000" flipH="1">
            <a:off x="5308688" y="2792675"/>
            <a:ext cx="2192700" cy="2145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37" name="Google Shape;1137;p63"/>
          <p:cNvCxnSpPr>
            <a:stCxn id="1112" idx="3"/>
            <a:endCxn id="1121" idx="1"/>
          </p:cNvCxnSpPr>
          <p:nvPr/>
        </p:nvCxnSpPr>
        <p:spPr>
          <a:xfrm>
            <a:off x="2652613" y="1872750"/>
            <a:ext cx="2537400" cy="169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38" name="Google Shape;1138;p63"/>
          <p:cNvCxnSpPr>
            <a:stCxn id="1113" idx="3"/>
            <a:endCxn id="1121" idx="1"/>
          </p:cNvCxnSpPr>
          <p:nvPr/>
        </p:nvCxnSpPr>
        <p:spPr>
          <a:xfrm rot="10800000" flipH="1">
            <a:off x="3498938" y="2042150"/>
            <a:ext cx="1691100" cy="815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39" name="Google Shape;1139;p63"/>
          <p:cNvCxnSpPr>
            <a:stCxn id="1119" idx="2"/>
            <a:endCxn id="1129" idx="0"/>
          </p:cNvCxnSpPr>
          <p:nvPr/>
        </p:nvCxnSpPr>
        <p:spPr>
          <a:xfrm>
            <a:off x="5166188" y="3149675"/>
            <a:ext cx="57900" cy="8133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40" name="Google Shape;1140;p63"/>
          <p:cNvCxnSpPr>
            <a:stCxn id="1113" idx="3"/>
            <a:endCxn id="1127" idx="0"/>
          </p:cNvCxnSpPr>
          <p:nvPr/>
        </p:nvCxnSpPr>
        <p:spPr>
          <a:xfrm>
            <a:off x="3498938" y="2857850"/>
            <a:ext cx="403800" cy="68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41" name="Google Shape;1141;p63"/>
          <p:cNvCxnSpPr>
            <a:stCxn id="1123" idx="2"/>
            <a:endCxn id="1142" idx="0"/>
          </p:cNvCxnSpPr>
          <p:nvPr/>
        </p:nvCxnSpPr>
        <p:spPr>
          <a:xfrm flipH="1">
            <a:off x="6922188" y="2864675"/>
            <a:ext cx="721200" cy="1036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43" name="Google Shape;1143;p63"/>
          <p:cNvCxnSpPr>
            <a:stCxn id="1123" idx="0"/>
            <a:endCxn id="1144" idx="4"/>
          </p:cNvCxnSpPr>
          <p:nvPr/>
        </p:nvCxnSpPr>
        <p:spPr>
          <a:xfrm rot="10800000">
            <a:off x="7643388" y="2177675"/>
            <a:ext cx="0" cy="402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5" name="Google Shape;1145;p63"/>
          <p:cNvCxnSpPr>
            <a:stCxn id="1146" idx="6"/>
            <a:endCxn id="1112" idx="1"/>
          </p:cNvCxnSpPr>
          <p:nvPr/>
        </p:nvCxnSpPr>
        <p:spPr>
          <a:xfrm>
            <a:off x="1819575" y="1872750"/>
            <a:ext cx="548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7" name="Google Shape;1147;p63"/>
          <p:cNvCxnSpPr>
            <a:stCxn id="1148" idx="6"/>
            <a:endCxn id="1115" idx="1"/>
          </p:cNvCxnSpPr>
          <p:nvPr/>
        </p:nvCxnSpPr>
        <p:spPr>
          <a:xfrm>
            <a:off x="1293650" y="2705650"/>
            <a:ext cx="389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9" name="Google Shape;1149;p63"/>
          <p:cNvCxnSpPr>
            <a:stCxn id="1129" idx="2"/>
            <a:endCxn id="1150" idx="0"/>
          </p:cNvCxnSpPr>
          <p:nvPr/>
        </p:nvCxnSpPr>
        <p:spPr>
          <a:xfrm>
            <a:off x="5224188" y="4247875"/>
            <a:ext cx="0" cy="299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1" name="Google Shape;1151;p63"/>
          <p:cNvCxnSpPr>
            <a:stCxn id="1125" idx="3"/>
            <a:endCxn id="1152" idx="2"/>
          </p:cNvCxnSpPr>
          <p:nvPr/>
        </p:nvCxnSpPr>
        <p:spPr>
          <a:xfrm>
            <a:off x="3694213" y="4704100"/>
            <a:ext cx="519600" cy="117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3" name="Google Shape;1153;p63"/>
          <p:cNvCxnSpPr>
            <a:stCxn id="1113" idx="3"/>
            <a:endCxn id="1119" idx="1"/>
          </p:cNvCxnSpPr>
          <p:nvPr/>
        </p:nvCxnSpPr>
        <p:spPr>
          <a:xfrm>
            <a:off x="3498938" y="2857850"/>
            <a:ext cx="1524900" cy="1494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1144" name="Google Shape;1144;p63"/>
          <p:cNvSpPr/>
          <p:nvPr/>
        </p:nvSpPr>
        <p:spPr>
          <a:xfrm>
            <a:off x="7500900" y="1892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0" name="Google Shape;1150;p63"/>
          <p:cNvSpPr/>
          <p:nvPr/>
        </p:nvSpPr>
        <p:spPr>
          <a:xfrm>
            <a:off x="5081700" y="4546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63"/>
          <p:cNvSpPr/>
          <p:nvPr/>
        </p:nvSpPr>
        <p:spPr>
          <a:xfrm>
            <a:off x="4213725" y="46795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63"/>
          <p:cNvSpPr/>
          <p:nvPr/>
        </p:nvSpPr>
        <p:spPr>
          <a:xfrm>
            <a:off x="1008650" y="2563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63"/>
          <p:cNvSpPr/>
          <p:nvPr/>
        </p:nvSpPr>
        <p:spPr>
          <a:xfrm>
            <a:off x="1534575" y="1730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3" name="Google Shape;1113;p63"/>
          <p:cNvSpPr/>
          <p:nvPr/>
        </p:nvSpPr>
        <p:spPr>
          <a:xfrm>
            <a:off x="3213938" y="2715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7" name="Google Shape;1117;p63"/>
          <p:cNvSpPr/>
          <p:nvPr/>
        </p:nvSpPr>
        <p:spPr>
          <a:xfrm>
            <a:off x="2196963" y="410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7" name="Google Shape;1127;p63"/>
          <p:cNvSpPr/>
          <p:nvPr/>
        </p:nvSpPr>
        <p:spPr>
          <a:xfrm>
            <a:off x="3760113" y="3547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63"/>
          <p:cNvSpPr/>
          <p:nvPr/>
        </p:nvSpPr>
        <p:spPr>
          <a:xfrm>
            <a:off x="5190013" y="18995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63"/>
          <p:cNvSpPr/>
          <p:nvPr/>
        </p:nvSpPr>
        <p:spPr>
          <a:xfrm>
            <a:off x="5023688" y="2864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63"/>
          <p:cNvSpPr/>
          <p:nvPr/>
        </p:nvSpPr>
        <p:spPr>
          <a:xfrm>
            <a:off x="2367613" y="1730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63"/>
          <p:cNvSpPr/>
          <p:nvPr/>
        </p:nvSpPr>
        <p:spPr>
          <a:xfrm>
            <a:off x="1682663" y="25631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63"/>
          <p:cNvSpPr/>
          <p:nvPr/>
        </p:nvSpPr>
        <p:spPr>
          <a:xfrm>
            <a:off x="3409213" y="4561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63"/>
          <p:cNvSpPr/>
          <p:nvPr/>
        </p:nvSpPr>
        <p:spPr>
          <a:xfrm>
            <a:off x="7500888" y="2579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9" name="Google Shape;1129;p63"/>
          <p:cNvSpPr/>
          <p:nvPr/>
        </p:nvSpPr>
        <p:spPr>
          <a:xfrm>
            <a:off x="5081688" y="396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4" name="Google Shape;1154;p63"/>
          <p:cNvCxnSpPr>
            <a:stCxn id="1142" idx="3"/>
            <a:endCxn id="1155" idx="2"/>
          </p:cNvCxnSpPr>
          <p:nvPr/>
        </p:nvCxnSpPr>
        <p:spPr>
          <a:xfrm>
            <a:off x="7064563" y="4043250"/>
            <a:ext cx="794100" cy="288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1155" name="Google Shape;1155;p63"/>
          <p:cNvSpPr/>
          <p:nvPr/>
        </p:nvSpPr>
        <p:spPr>
          <a:xfrm>
            <a:off x="7858625" y="41893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63"/>
          <p:cNvSpPr/>
          <p:nvPr/>
        </p:nvSpPr>
        <p:spPr>
          <a:xfrm>
            <a:off x="6779563" y="39007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Verifying Routing State Validity – Invalid State Example</a:t>
            </a:r>
            <a:endParaRPr/>
          </a:p>
        </p:txBody>
      </p:sp>
      <p:sp>
        <p:nvSpPr>
          <p:cNvPr id="1161" name="Google Shape;1161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Is this valid?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 – Not a spanning tree, because there's a loop.</a:t>
            </a:r>
            <a:endParaRPr/>
          </a:p>
        </p:txBody>
      </p:sp>
      <p:cxnSp>
        <p:nvCxnSpPr>
          <p:cNvPr id="1162" name="Google Shape;1162;p64"/>
          <p:cNvCxnSpPr>
            <a:stCxn id="1163" idx="2"/>
            <a:endCxn id="1164" idx="0"/>
          </p:cNvCxnSpPr>
          <p:nvPr/>
        </p:nvCxnSpPr>
        <p:spPr>
          <a:xfrm>
            <a:off x="2510113" y="2015250"/>
            <a:ext cx="846300" cy="700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65" name="Google Shape;1165;p64"/>
          <p:cNvCxnSpPr>
            <a:stCxn id="1163" idx="2"/>
            <a:endCxn id="1166" idx="0"/>
          </p:cNvCxnSpPr>
          <p:nvPr/>
        </p:nvCxnSpPr>
        <p:spPr>
          <a:xfrm flipH="1">
            <a:off x="1825213" y="2015250"/>
            <a:ext cx="684900" cy="5478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67" name="Google Shape;1167;p64"/>
          <p:cNvCxnSpPr>
            <a:stCxn id="1166" idx="2"/>
            <a:endCxn id="1168" idx="0"/>
          </p:cNvCxnSpPr>
          <p:nvPr/>
        </p:nvCxnSpPr>
        <p:spPr>
          <a:xfrm>
            <a:off x="1825163" y="2848150"/>
            <a:ext cx="514200" cy="1261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69" name="Google Shape;1169;p64"/>
          <p:cNvCxnSpPr>
            <a:stCxn id="1170" idx="3"/>
          </p:cNvCxnSpPr>
          <p:nvPr/>
        </p:nvCxnSpPr>
        <p:spPr>
          <a:xfrm>
            <a:off x="5308688" y="3007175"/>
            <a:ext cx="1471500" cy="954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71" name="Google Shape;1171;p64"/>
          <p:cNvCxnSpPr>
            <a:stCxn id="1172" idx="2"/>
            <a:endCxn id="1170" idx="0"/>
          </p:cNvCxnSpPr>
          <p:nvPr/>
        </p:nvCxnSpPr>
        <p:spPr>
          <a:xfrm flipH="1">
            <a:off x="5166313" y="2184588"/>
            <a:ext cx="166200" cy="680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73" name="Google Shape;1173;p64"/>
          <p:cNvCxnSpPr>
            <a:stCxn id="1172" idx="3"/>
            <a:endCxn id="1174" idx="1"/>
          </p:cNvCxnSpPr>
          <p:nvPr/>
        </p:nvCxnSpPr>
        <p:spPr>
          <a:xfrm>
            <a:off x="5475013" y="2042088"/>
            <a:ext cx="2025900" cy="680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75" name="Google Shape;1175;p64"/>
          <p:cNvCxnSpPr>
            <a:stCxn id="1168" idx="3"/>
            <a:endCxn id="1176" idx="1"/>
          </p:cNvCxnSpPr>
          <p:nvPr/>
        </p:nvCxnSpPr>
        <p:spPr>
          <a:xfrm>
            <a:off x="2481963" y="4251975"/>
            <a:ext cx="927300" cy="452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77" name="Google Shape;1177;p64"/>
          <p:cNvCxnSpPr>
            <a:stCxn id="1178" idx="3"/>
          </p:cNvCxnSpPr>
          <p:nvPr/>
        </p:nvCxnSpPr>
        <p:spPr>
          <a:xfrm>
            <a:off x="4045113" y="3690175"/>
            <a:ext cx="1036800" cy="3384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79" name="Google Shape;1179;p64"/>
          <p:cNvCxnSpPr>
            <a:endCxn id="1180" idx="3"/>
          </p:cNvCxnSpPr>
          <p:nvPr/>
        </p:nvCxnSpPr>
        <p:spPr>
          <a:xfrm rot="10800000">
            <a:off x="5366688" y="4105375"/>
            <a:ext cx="1414200" cy="6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sm" len="sm"/>
            <a:tailEnd type="none" w="sm" len="sm"/>
          </a:ln>
        </p:spPr>
      </p:cxnSp>
      <p:cxnSp>
        <p:nvCxnSpPr>
          <p:cNvPr id="1181" name="Google Shape;1181;p64"/>
          <p:cNvCxnSpPr>
            <a:stCxn id="1178" idx="2"/>
            <a:endCxn id="1176" idx="0"/>
          </p:cNvCxnSpPr>
          <p:nvPr/>
        </p:nvCxnSpPr>
        <p:spPr>
          <a:xfrm flipH="1">
            <a:off x="3551613" y="3832675"/>
            <a:ext cx="351000" cy="729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82" name="Google Shape;1182;p64"/>
          <p:cNvCxnSpPr>
            <a:stCxn id="1166" idx="3"/>
            <a:endCxn id="1164" idx="1"/>
          </p:cNvCxnSpPr>
          <p:nvPr/>
        </p:nvCxnSpPr>
        <p:spPr>
          <a:xfrm>
            <a:off x="1967663" y="2705650"/>
            <a:ext cx="1246200" cy="152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83" name="Google Shape;1183;p64"/>
          <p:cNvCxnSpPr>
            <a:stCxn id="1168" idx="3"/>
            <a:endCxn id="1178" idx="1"/>
          </p:cNvCxnSpPr>
          <p:nvPr/>
        </p:nvCxnSpPr>
        <p:spPr>
          <a:xfrm rot="10800000" flipH="1">
            <a:off x="2481963" y="3690075"/>
            <a:ext cx="1278300" cy="561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84" name="Google Shape;1184;p64"/>
          <p:cNvCxnSpPr>
            <a:stCxn id="1176" idx="3"/>
          </p:cNvCxnSpPr>
          <p:nvPr/>
        </p:nvCxnSpPr>
        <p:spPr>
          <a:xfrm rot="10800000" flipH="1">
            <a:off x="3694213" y="4183300"/>
            <a:ext cx="1388400" cy="5208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85" name="Google Shape;1185;p64"/>
          <p:cNvCxnSpPr>
            <a:stCxn id="1168" idx="0"/>
            <a:endCxn id="1164" idx="2"/>
          </p:cNvCxnSpPr>
          <p:nvPr/>
        </p:nvCxnSpPr>
        <p:spPr>
          <a:xfrm rot="10800000" flipH="1">
            <a:off x="2339463" y="3000375"/>
            <a:ext cx="1017000" cy="1109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86" name="Google Shape;1186;p64"/>
          <p:cNvCxnSpPr>
            <a:stCxn id="1178" idx="3"/>
            <a:endCxn id="1170" idx="1"/>
          </p:cNvCxnSpPr>
          <p:nvPr/>
        </p:nvCxnSpPr>
        <p:spPr>
          <a:xfrm rot="10800000" flipH="1">
            <a:off x="4045113" y="3007075"/>
            <a:ext cx="978600" cy="683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87" name="Google Shape;1187;p64"/>
          <p:cNvCxnSpPr>
            <a:stCxn id="1170" idx="3"/>
          </p:cNvCxnSpPr>
          <p:nvPr/>
        </p:nvCxnSpPr>
        <p:spPr>
          <a:xfrm rot="10800000" flipH="1">
            <a:off x="5308688" y="2792675"/>
            <a:ext cx="2192700" cy="2145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88" name="Google Shape;1188;p64"/>
          <p:cNvCxnSpPr>
            <a:stCxn id="1163" idx="3"/>
            <a:endCxn id="1172" idx="1"/>
          </p:cNvCxnSpPr>
          <p:nvPr/>
        </p:nvCxnSpPr>
        <p:spPr>
          <a:xfrm>
            <a:off x="2652613" y="1872750"/>
            <a:ext cx="2537400" cy="169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sm" len="sm"/>
            <a:tailEnd type="none" w="sm" len="sm"/>
          </a:ln>
        </p:spPr>
      </p:cxnSp>
      <p:cxnSp>
        <p:nvCxnSpPr>
          <p:cNvPr id="1189" name="Google Shape;1189;p64"/>
          <p:cNvCxnSpPr>
            <a:stCxn id="1164" idx="3"/>
            <a:endCxn id="1172" idx="1"/>
          </p:cNvCxnSpPr>
          <p:nvPr/>
        </p:nvCxnSpPr>
        <p:spPr>
          <a:xfrm rot="10800000" flipH="1">
            <a:off x="3498938" y="2042150"/>
            <a:ext cx="1691100" cy="8157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90" name="Google Shape;1190;p64"/>
          <p:cNvCxnSpPr>
            <a:stCxn id="1170" idx="2"/>
            <a:endCxn id="1180" idx="0"/>
          </p:cNvCxnSpPr>
          <p:nvPr/>
        </p:nvCxnSpPr>
        <p:spPr>
          <a:xfrm>
            <a:off x="5166188" y="3149675"/>
            <a:ext cx="57900" cy="8133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1" name="Google Shape;1191;p64"/>
          <p:cNvCxnSpPr>
            <a:stCxn id="1164" idx="3"/>
            <a:endCxn id="1178" idx="0"/>
          </p:cNvCxnSpPr>
          <p:nvPr/>
        </p:nvCxnSpPr>
        <p:spPr>
          <a:xfrm>
            <a:off x="3498938" y="2857850"/>
            <a:ext cx="403800" cy="68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2" name="Google Shape;1192;p64"/>
          <p:cNvCxnSpPr>
            <a:stCxn id="1174" idx="2"/>
            <a:endCxn id="1193" idx="0"/>
          </p:cNvCxnSpPr>
          <p:nvPr/>
        </p:nvCxnSpPr>
        <p:spPr>
          <a:xfrm flipH="1">
            <a:off x="6922188" y="2864675"/>
            <a:ext cx="721200" cy="1036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194" name="Google Shape;1194;p64"/>
          <p:cNvCxnSpPr>
            <a:stCxn id="1174" idx="0"/>
            <a:endCxn id="1195" idx="4"/>
          </p:cNvCxnSpPr>
          <p:nvPr/>
        </p:nvCxnSpPr>
        <p:spPr>
          <a:xfrm rot="10800000">
            <a:off x="7643388" y="2177675"/>
            <a:ext cx="0" cy="402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6" name="Google Shape;1196;p64"/>
          <p:cNvCxnSpPr>
            <a:stCxn id="1197" idx="6"/>
            <a:endCxn id="1163" idx="1"/>
          </p:cNvCxnSpPr>
          <p:nvPr/>
        </p:nvCxnSpPr>
        <p:spPr>
          <a:xfrm>
            <a:off x="1819575" y="1872750"/>
            <a:ext cx="548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8" name="Google Shape;1198;p64"/>
          <p:cNvCxnSpPr>
            <a:stCxn id="1199" idx="6"/>
            <a:endCxn id="1166" idx="1"/>
          </p:cNvCxnSpPr>
          <p:nvPr/>
        </p:nvCxnSpPr>
        <p:spPr>
          <a:xfrm>
            <a:off x="1293650" y="2705650"/>
            <a:ext cx="389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0" name="Google Shape;1200;p64"/>
          <p:cNvCxnSpPr>
            <a:stCxn id="1180" idx="2"/>
            <a:endCxn id="1201" idx="0"/>
          </p:cNvCxnSpPr>
          <p:nvPr/>
        </p:nvCxnSpPr>
        <p:spPr>
          <a:xfrm>
            <a:off x="5224188" y="4247875"/>
            <a:ext cx="0" cy="299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2" name="Google Shape;1202;p64"/>
          <p:cNvCxnSpPr>
            <a:stCxn id="1176" idx="3"/>
            <a:endCxn id="1203" idx="2"/>
          </p:cNvCxnSpPr>
          <p:nvPr/>
        </p:nvCxnSpPr>
        <p:spPr>
          <a:xfrm>
            <a:off x="3694213" y="4704100"/>
            <a:ext cx="519600" cy="117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4" name="Google Shape;1204;p64"/>
          <p:cNvCxnSpPr>
            <a:stCxn id="1164" idx="3"/>
            <a:endCxn id="1170" idx="1"/>
          </p:cNvCxnSpPr>
          <p:nvPr/>
        </p:nvCxnSpPr>
        <p:spPr>
          <a:xfrm>
            <a:off x="3498938" y="2857850"/>
            <a:ext cx="1524900" cy="1494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95" name="Google Shape;1195;p64"/>
          <p:cNvSpPr/>
          <p:nvPr/>
        </p:nvSpPr>
        <p:spPr>
          <a:xfrm>
            <a:off x="7500900" y="1892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64"/>
          <p:cNvSpPr/>
          <p:nvPr/>
        </p:nvSpPr>
        <p:spPr>
          <a:xfrm>
            <a:off x="5081700" y="4546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3" name="Google Shape;1203;p64"/>
          <p:cNvSpPr/>
          <p:nvPr/>
        </p:nvSpPr>
        <p:spPr>
          <a:xfrm>
            <a:off x="4213725" y="46795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p64"/>
          <p:cNvSpPr/>
          <p:nvPr/>
        </p:nvSpPr>
        <p:spPr>
          <a:xfrm>
            <a:off x="1008650" y="2563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64"/>
          <p:cNvSpPr/>
          <p:nvPr/>
        </p:nvSpPr>
        <p:spPr>
          <a:xfrm>
            <a:off x="1534575" y="1730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64"/>
          <p:cNvSpPr/>
          <p:nvPr/>
        </p:nvSpPr>
        <p:spPr>
          <a:xfrm>
            <a:off x="3213938" y="2715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64"/>
          <p:cNvSpPr/>
          <p:nvPr/>
        </p:nvSpPr>
        <p:spPr>
          <a:xfrm>
            <a:off x="2196963" y="410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64"/>
          <p:cNvSpPr/>
          <p:nvPr/>
        </p:nvSpPr>
        <p:spPr>
          <a:xfrm>
            <a:off x="3760113" y="3547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64"/>
          <p:cNvSpPr/>
          <p:nvPr/>
        </p:nvSpPr>
        <p:spPr>
          <a:xfrm>
            <a:off x="5190013" y="18995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0" name="Google Shape;1170;p64"/>
          <p:cNvSpPr/>
          <p:nvPr/>
        </p:nvSpPr>
        <p:spPr>
          <a:xfrm>
            <a:off x="5023688" y="2864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64"/>
          <p:cNvSpPr/>
          <p:nvPr/>
        </p:nvSpPr>
        <p:spPr>
          <a:xfrm>
            <a:off x="2367613" y="1730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6" name="Google Shape;1166;p64"/>
          <p:cNvSpPr/>
          <p:nvPr/>
        </p:nvSpPr>
        <p:spPr>
          <a:xfrm>
            <a:off x="1682663" y="25631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64"/>
          <p:cNvSpPr/>
          <p:nvPr/>
        </p:nvSpPr>
        <p:spPr>
          <a:xfrm>
            <a:off x="3409213" y="4561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64"/>
          <p:cNvSpPr/>
          <p:nvPr/>
        </p:nvSpPr>
        <p:spPr>
          <a:xfrm>
            <a:off x="7500888" y="2579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64"/>
          <p:cNvSpPr/>
          <p:nvPr/>
        </p:nvSpPr>
        <p:spPr>
          <a:xfrm>
            <a:off x="5081688" y="396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5" name="Google Shape;1205;p64"/>
          <p:cNvCxnSpPr>
            <a:stCxn id="1193" idx="3"/>
            <a:endCxn id="1206" idx="2"/>
          </p:cNvCxnSpPr>
          <p:nvPr/>
        </p:nvCxnSpPr>
        <p:spPr>
          <a:xfrm>
            <a:off x="7064563" y="4043250"/>
            <a:ext cx="794100" cy="288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1206" name="Google Shape;1206;p64"/>
          <p:cNvSpPr/>
          <p:nvPr/>
        </p:nvSpPr>
        <p:spPr>
          <a:xfrm>
            <a:off x="7858625" y="41893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64"/>
          <p:cNvSpPr/>
          <p:nvPr/>
        </p:nvSpPr>
        <p:spPr>
          <a:xfrm>
            <a:off x="6779563" y="39007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64"/>
          <p:cNvSpPr txBox="1"/>
          <p:nvPr/>
        </p:nvSpPr>
        <p:spPr>
          <a:xfrm>
            <a:off x="2588163" y="2506788"/>
            <a:ext cx="51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Loop!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Verifying Routing State Validity – Invalid State Example</a:t>
            </a:r>
            <a:endParaRPr/>
          </a:p>
        </p:txBody>
      </p:sp>
      <p:sp>
        <p:nvSpPr>
          <p:cNvPr id="1213" name="Google Shape;1213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Is this valid?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 – Not a spanning tree, because there's a disconnected component (dead end).</a:t>
            </a:r>
            <a:endParaRPr/>
          </a:p>
        </p:txBody>
      </p:sp>
      <p:cxnSp>
        <p:nvCxnSpPr>
          <p:cNvPr id="1214" name="Google Shape;1214;p65"/>
          <p:cNvCxnSpPr>
            <a:stCxn id="1215" idx="2"/>
            <a:endCxn id="1216" idx="0"/>
          </p:cNvCxnSpPr>
          <p:nvPr/>
        </p:nvCxnSpPr>
        <p:spPr>
          <a:xfrm>
            <a:off x="2510113" y="2015250"/>
            <a:ext cx="846300" cy="7002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217" name="Google Shape;1217;p65"/>
          <p:cNvCxnSpPr>
            <a:stCxn id="1215" idx="2"/>
            <a:endCxn id="1218" idx="0"/>
          </p:cNvCxnSpPr>
          <p:nvPr/>
        </p:nvCxnSpPr>
        <p:spPr>
          <a:xfrm flipH="1">
            <a:off x="1825213" y="2015250"/>
            <a:ext cx="684900" cy="5478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19" name="Google Shape;1219;p65"/>
          <p:cNvCxnSpPr>
            <a:stCxn id="1218" idx="2"/>
            <a:endCxn id="1220" idx="0"/>
          </p:cNvCxnSpPr>
          <p:nvPr/>
        </p:nvCxnSpPr>
        <p:spPr>
          <a:xfrm>
            <a:off x="1825163" y="2848150"/>
            <a:ext cx="514200" cy="1261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21" name="Google Shape;1221;p65"/>
          <p:cNvCxnSpPr>
            <a:stCxn id="1222" idx="3"/>
          </p:cNvCxnSpPr>
          <p:nvPr/>
        </p:nvCxnSpPr>
        <p:spPr>
          <a:xfrm>
            <a:off x="5308688" y="3007175"/>
            <a:ext cx="1471500" cy="9549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223" name="Google Shape;1223;p65"/>
          <p:cNvCxnSpPr>
            <a:stCxn id="1224" idx="2"/>
            <a:endCxn id="1222" idx="0"/>
          </p:cNvCxnSpPr>
          <p:nvPr/>
        </p:nvCxnSpPr>
        <p:spPr>
          <a:xfrm flipH="1">
            <a:off x="5166313" y="2184588"/>
            <a:ext cx="166200" cy="680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25" name="Google Shape;1225;p65"/>
          <p:cNvCxnSpPr>
            <a:stCxn id="1224" idx="3"/>
            <a:endCxn id="1226" idx="1"/>
          </p:cNvCxnSpPr>
          <p:nvPr/>
        </p:nvCxnSpPr>
        <p:spPr>
          <a:xfrm>
            <a:off x="5475013" y="2042088"/>
            <a:ext cx="2025900" cy="680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227" name="Google Shape;1227;p65"/>
          <p:cNvCxnSpPr>
            <a:stCxn id="1220" idx="3"/>
            <a:endCxn id="1228" idx="1"/>
          </p:cNvCxnSpPr>
          <p:nvPr/>
        </p:nvCxnSpPr>
        <p:spPr>
          <a:xfrm>
            <a:off x="2481963" y="4251975"/>
            <a:ext cx="927300" cy="452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229" name="Google Shape;1229;p65"/>
          <p:cNvCxnSpPr>
            <a:stCxn id="1230" idx="3"/>
          </p:cNvCxnSpPr>
          <p:nvPr/>
        </p:nvCxnSpPr>
        <p:spPr>
          <a:xfrm>
            <a:off x="4045113" y="3690175"/>
            <a:ext cx="1036800" cy="3384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231" name="Google Shape;1231;p65"/>
          <p:cNvCxnSpPr>
            <a:endCxn id="1232" idx="3"/>
          </p:cNvCxnSpPr>
          <p:nvPr/>
        </p:nvCxnSpPr>
        <p:spPr>
          <a:xfrm rot="10800000">
            <a:off x="5366688" y="4105375"/>
            <a:ext cx="1414200" cy="6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sm" len="sm"/>
            <a:tailEnd type="none" w="sm" len="sm"/>
          </a:ln>
        </p:spPr>
      </p:cxnSp>
      <p:cxnSp>
        <p:nvCxnSpPr>
          <p:cNvPr id="1233" name="Google Shape;1233;p65"/>
          <p:cNvCxnSpPr>
            <a:stCxn id="1230" idx="2"/>
            <a:endCxn id="1228" idx="0"/>
          </p:cNvCxnSpPr>
          <p:nvPr/>
        </p:nvCxnSpPr>
        <p:spPr>
          <a:xfrm flipH="1">
            <a:off x="3551613" y="3832675"/>
            <a:ext cx="351000" cy="729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34" name="Google Shape;1234;p65"/>
          <p:cNvCxnSpPr>
            <a:stCxn id="1218" idx="3"/>
            <a:endCxn id="1216" idx="1"/>
          </p:cNvCxnSpPr>
          <p:nvPr/>
        </p:nvCxnSpPr>
        <p:spPr>
          <a:xfrm>
            <a:off x="1967663" y="2705650"/>
            <a:ext cx="1246200" cy="152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235" name="Google Shape;1235;p65"/>
          <p:cNvCxnSpPr>
            <a:stCxn id="1220" idx="3"/>
            <a:endCxn id="1230" idx="1"/>
          </p:cNvCxnSpPr>
          <p:nvPr/>
        </p:nvCxnSpPr>
        <p:spPr>
          <a:xfrm rot="10800000" flipH="1">
            <a:off x="2481963" y="3690075"/>
            <a:ext cx="1278300" cy="561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36" name="Google Shape;1236;p65"/>
          <p:cNvCxnSpPr>
            <a:stCxn id="1228" idx="3"/>
          </p:cNvCxnSpPr>
          <p:nvPr/>
        </p:nvCxnSpPr>
        <p:spPr>
          <a:xfrm rot="10800000" flipH="1">
            <a:off x="3694213" y="4183300"/>
            <a:ext cx="1388400" cy="5208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cxnSp>
        <p:nvCxnSpPr>
          <p:cNvPr id="1237" name="Google Shape;1237;p65"/>
          <p:cNvCxnSpPr>
            <a:stCxn id="1220" idx="0"/>
            <a:endCxn id="1216" idx="2"/>
          </p:cNvCxnSpPr>
          <p:nvPr/>
        </p:nvCxnSpPr>
        <p:spPr>
          <a:xfrm rot="10800000" flipH="1">
            <a:off x="2339463" y="3000375"/>
            <a:ext cx="1017000" cy="1109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38" name="Google Shape;1238;p65"/>
          <p:cNvCxnSpPr>
            <a:stCxn id="1230" idx="3"/>
            <a:endCxn id="1222" idx="1"/>
          </p:cNvCxnSpPr>
          <p:nvPr/>
        </p:nvCxnSpPr>
        <p:spPr>
          <a:xfrm rot="10800000" flipH="1">
            <a:off x="4045113" y="3007075"/>
            <a:ext cx="978600" cy="683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39" name="Google Shape;1239;p65"/>
          <p:cNvCxnSpPr>
            <a:stCxn id="1222" idx="3"/>
          </p:cNvCxnSpPr>
          <p:nvPr/>
        </p:nvCxnSpPr>
        <p:spPr>
          <a:xfrm rot="10800000" flipH="1">
            <a:off x="5308688" y="2792675"/>
            <a:ext cx="2192700" cy="2145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40" name="Google Shape;1240;p65"/>
          <p:cNvCxnSpPr>
            <a:stCxn id="1215" idx="3"/>
            <a:endCxn id="1224" idx="1"/>
          </p:cNvCxnSpPr>
          <p:nvPr/>
        </p:nvCxnSpPr>
        <p:spPr>
          <a:xfrm>
            <a:off x="2652613" y="1872750"/>
            <a:ext cx="2537400" cy="169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41" name="Google Shape;1241;p65"/>
          <p:cNvCxnSpPr>
            <a:stCxn id="1216" idx="3"/>
            <a:endCxn id="1224" idx="1"/>
          </p:cNvCxnSpPr>
          <p:nvPr/>
        </p:nvCxnSpPr>
        <p:spPr>
          <a:xfrm rot="10800000" flipH="1">
            <a:off x="3498938" y="2042150"/>
            <a:ext cx="1691100" cy="815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42" name="Google Shape;1242;p65"/>
          <p:cNvCxnSpPr>
            <a:stCxn id="1222" idx="2"/>
            <a:endCxn id="1232" idx="0"/>
          </p:cNvCxnSpPr>
          <p:nvPr/>
        </p:nvCxnSpPr>
        <p:spPr>
          <a:xfrm>
            <a:off x="5166188" y="3149675"/>
            <a:ext cx="57900" cy="8133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43" name="Google Shape;1243;p65"/>
          <p:cNvCxnSpPr>
            <a:stCxn id="1216" idx="3"/>
            <a:endCxn id="1230" idx="0"/>
          </p:cNvCxnSpPr>
          <p:nvPr/>
        </p:nvCxnSpPr>
        <p:spPr>
          <a:xfrm>
            <a:off x="3498938" y="2857850"/>
            <a:ext cx="403800" cy="68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44" name="Google Shape;1244;p65"/>
          <p:cNvCxnSpPr>
            <a:stCxn id="1226" idx="2"/>
            <a:endCxn id="1245" idx="0"/>
          </p:cNvCxnSpPr>
          <p:nvPr/>
        </p:nvCxnSpPr>
        <p:spPr>
          <a:xfrm flipH="1">
            <a:off x="6922188" y="2864675"/>
            <a:ext cx="721200" cy="1036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46" name="Google Shape;1246;p65"/>
          <p:cNvCxnSpPr>
            <a:stCxn id="1226" idx="0"/>
            <a:endCxn id="1247" idx="4"/>
          </p:cNvCxnSpPr>
          <p:nvPr/>
        </p:nvCxnSpPr>
        <p:spPr>
          <a:xfrm rot="10800000">
            <a:off x="7643388" y="2177675"/>
            <a:ext cx="0" cy="4020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8" name="Google Shape;1248;p65"/>
          <p:cNvCxnSpPr>
            <a:stCxn id="1249" idx="6"/>
            <a:endCxn id="1215" idx="1"/>
          </p:cNvCxnSpPr>
          <p:nvPr/>
        </p:nvCxnSpPr>
        <p:spPr>
          <a:xfrm>
            <a:off x="1819575" y="1872750"/>
            <a:ext cx="548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50" name="Google Shape;1250;p65"/>
          <p:cNvCxnSpPr>
            <a:stCxn id="1251" idx="6"/>
            <a:endCxn id="1218" idx="1"/>
          </p:cNvCxnSpPr>
          <p:nvPr/>
        </p:nvCxnSpPr>
        <p:spPr>
          <a:xfrm>
            <a:off x="1293650" y="2705650"/>
            <a:ext cx="3891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52" name="Google Shape;1252;p65"/>
          <p:cNvCxnSpPr>
            <a:stCxn id="1232" idx="2"/>
            <a:endCxn id="1253" idx="0"/>
          </p:cNvCxnSpPr>
          <p:nvPr/>
        </p:nvCxnSpPr>
        <p:spPr>
          <a:xfrm>
            <a:off x="5224188" y="4247875"/>
            <a:ext cx="0" cy="299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54" name="Google Shape;1254;p65"/>
          <p:cNvCxnSpPr>
            <a:stCxn id="1228" idx="3"/>
            <a:endCxn id="1255" idx="2"/>
          </p:cNvCxnSpPr>
          <p:nvPr/>
        </p:nvCxnSpPr>
        <p:spPr>
          <a:xfrm>
            <a:off x="3694213" y="4704100"/>
            <a:ext cx="519600" cy="1179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56" name="Google Shape;1256;p65"/>
          <p:cNvCxnSpPr>
            <a:stCxn id="1216" idx="3"/>
            <a:endCxn id="1222" idx="1"/>
          </p:cNvCxnSpPr>
          <p:nvPr/>
        </p:nvCxnSpPr>
        <p:spPr>
          <a:xfrm>
            <a:off x="3498938" y="2857850"/>
            <a:ext cx="1524900" cy="1494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1247" name="Google Shape;1247;p65"/>
          <p:cNvSpPr/>
          <p:nvPr/>
        </p:nvSpPr>
        <p:spPr>
          <a:xfrm>
            <a:off x="7500900" y="18927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3" name="Google Shape;1253;p65"/>
          <p:cNvSpPr/>
          <p:nvPr/>
        </p:nvSpPr>
        <p:spPr>
          <a:xfrm>
            <a:off x="5081700" y="4546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5" name="Google Shape;1255;p65"/>
          <p:cNvSpPr/>
          <p:nvPr/>
        </p:nvSpPr>
        <p:spPr>
          <a:xfrm>
            <a:off x="4213725" y="46795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1" name="Google Shape;1251;p65"/>
          <p:cNvSpPr/>
          <p:nvPr/>
        </p:nvSpPr>
        <p:spPr>
          <a:xfrm>
            <a:off x="1008650" y="25631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9" name="Google Shape;1249;p65"/>
          <p:cNvSpPr/>
          <p:nvPr/>
        </p:nvSpPr>
        <p:spPr>
          <a:xfrm>
            <a:off x="1534575" y="17302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6" name="Google Shape;1216;p65"/>
          <p:cNvSpPr/>
          <p:nvPr/>
        </p:nvSpPr>
        <p:spPr>
          <a:xfrm>
            <a:off x="3213938" y="2715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0" name="Google Shape;1220;p65"/>
          <p:cNvSpPr/>
          <p:nvPr/>
        </p:nvSpPr>
        <p:spPr>
          <a:xfrm>
            <a:off x="2196963" y="410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0" name="Google Shape;1230;p65"/>
          <p:cNvSpPr/>
          <p:nvPr/>
        </p:nvSpPr>
        <p:spPr>
          <a:xfrm>
            <a:off x="3760113" y="3547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4" name="Google Shape;1224;p65"/>
          <p:cNvSpPr/>
          <p:nvPr/>
        </p:nvSpPr>
        <p:spPr>
          <a:xfrm>
            <a:off x="5190013" y="18995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2" name="Google Shape;1222;p65"/>
          <p:cNvSpPr/>
          <p:nvPr/>
        </p:nvSpPr>
        <p:spPr>
          <a:xfrm>
            <a:off x="5023688" y="2864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5" name="Google Shape;1215;p65"/>
          <p:cNvSpPr/>
          <p:nvPr/>
        </p:nvSpPr>
        <p:spPr>
          <a:xfrm>
            <a:off x="2367613" y="1730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p65"/>
          <p:cNvSpPr/>
          <p:nvPr/>
        </p:nvSpPr>
        <p:spPr>
          <a:xfrm>
            <a:off x="1682663" y="25631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8" name="Google Shape;1228;p65"/>
          <p:cNvSpPr/>
          <p:nvPr/>
        </p:nvSpPr>
        <p:spPr>
          <a:xfrm>
            <a:off x="3409213" y="4561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65"/>
          <p:cNvSpPr/>
          <p:nvPr/>
        </p:nvSpPr>
        <p:spPr>
          <a:xfrm>
            <a:off x="7500888" y="25796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65"/>
          <p:cNvSpPr/>
          <p:nvPr/>
        </p:nvSpPr>
        <p:spPr>
          <a:xfrm>
            <a:off x="5081688" y="39628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7" name="Google Shape;1257;p65"/>
          <p:cNvCxnSpPr>
            <a:stCxn id="1245" idx="3"/>
            <a:endCxn id="1258" idx="2"/>
          </p:cNvCxnSpPr>
          <p:nvPr/>
        </p:nvCxnSpPr>
        <p:spPr>
          <a:xfrm>
            <a:off x="7064563" y="4043250"/>
            <a:ext cx="794100" cy="2886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triangle" w="sm" len="sm"/>
          </a:ln>
        </p:spPr>
      </p:cxnSp>
      <p:sp>
        <p:nvSpPr>
          <p:cNvPr id="1258" name="Google Shape;1258;p65"/>
          <p:cNvSpPr/>
          <p:nvPr/>
        </p:nvSpPr>
        <p:spPr>
          <a:xfrm>
            <a:off x="7858625" y="41893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5" name="Google Shape;1245;p65"/>
          <p:cNvSpPr/>
          <p:nvPr/>
        </p:nvSpPr>
        <p:spPr>
          <a:xfrm>
            <a:off x="6779563" y="39007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9" name="Google Shape;1259;p65"/>
          <p:cNvSpPr txBox="1"/>
          <p:nvPr/>
        </p:nvSpPr>
        <p:spPr>
          <a:xfrm>
            <a:off x="7858675" y="2594725"/>
            <a:ext cx="846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Dead end!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Google Shape;1264;p6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Defining the Routing Problem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Routing?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Modeling the Network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Makes Routing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Types of Routing Protocols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Routing States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Destination-Based Forwarding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Routing State Validity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Least-Cost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Static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6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Least-Cost Routing</a:t>
            </a:r>
            <a:endParaRPr/>
          </a:p>
        </p:txBody>
      </p:sp>
      <p:sp>
        <p:nvSpPr>
          <p:cNvPr id="1266" name="Google Shape;1266;p6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4, CS 168, Spring 2026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Least-Cost Routing</a:t>
            </a:r>
            <a:endParaRPr/>
          </a:p>
        </p:txBody>
      </p:sp>
      <p:sp>
        <p:nvSpPr>
          <p:cNvPr id="1272" name="Google Shape;1272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now know what a </a:t>
            </a:r>
            <a:r>
              <a:rPr lang="en" i="1"/>
              <a:t>valid</a:t>
            </a:r>
            <a:r>
              <a:rPr lang="en"/>
              <a:t> solution looks like (no loops, no dead ends).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makes a solution </a:t>
            </a:r>
            <a:r>
              <a:rPr lang="en" i="1"/>
              <a:t>good</a:t>
            </a:r>
            <a:r>
              <a:rPr lang="en"/>
              <a:t>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Many different ways to define good, including: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Propagation delay.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Distance.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Unreliability.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constraints.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Google Shape;1277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Least-Cost Routing – Definition</a:t>
            </a:r>
            <a:endParaRPr/>
          </a:p>
        </p:txBody>
      </p:sp>
      <p:sp>
        <p:nvSpPr>
          <p:cNvPr id="1278" name="Google Shape;1278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Least-cost routing</a:t>
            </a:r>
            <a:r>
              <a:rPr lang="en"/>
              <a:t>: Assign costs to every edge, and find paths with lowest cost.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Cost depends on the metric the operator wants to minimize.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Costs can be arbitrary. Routing protocols don't care where the costs come from.</a:t>
            </a:r>
            <a:endParaRPr/>
          </a:p>
        </p:txBody>
      </p:sp>
      <p:sp>
        <p:nvSpPr>
          <p:cNvPr id="1279" name="Google Shape;1279;p68"/>
          <p:cNvSpPr/>
          <p:nvPr/>
        </p:nvSpPr>
        <p:spPr>
          <a:xfrm>
            <a:off x="2153450" y="3414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0" name="Google Shape;1280;p68"/>
          <p:cNvCxnSpPr>
            <a:stCxn id="1279" idx="6"/>
            <a:endCxn id="1281" idx="1"/>
          </p:cNvCxnSpPr>
          <p:nvPr/>
        </p:nvCxnSpPr>
        <p:spPr>
          <a:xfrm>
            <a:off x="2438450" y="3557225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82" name="Google Shape;1282;p68"/>
          <p:cNvSpPr/>
          <p:nvPr/>
        </p:nvSpPr>
        <p:spPr>
          <a:xfrm>
            <a:off x="4166338" y="281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3" name="Google Shape;1283;p68"/>
          <p:cNvCxnSpPr>
            <a:stCxn id="1281" idx="3"/>
            <a:endCxn id="1282" idx="1"/>
          </p:cNvCxnSpPr>
          <p:nvPr/>
        </p:nvCxnSpPr>
        <p:spPr>
          <a:xfrm rot="10800000" flipH="1">
            <a:off x="3352863" y="2962025"/>
            <a:ext cx="813600" cy="595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4" name="Google Shape;1284;p68"/>
          <p:cNvCxnSpPr>
            <a:stCxn id="1281" idx="3"/>
            <a:endCxn id="1285" idx="1"/>
          </p:cNvCxnSpPr>
          <p:nvPr/>
        </p:nvCxnSpPr>
        <p:spPr>
          <a:xfrm>
            <a:off x="3352863" y="3557225"/>
            <a:ext cx="813600" cy="11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6" name="Google Shape;1286;p68"/>
          <p:cNvCxnSpPr>
            <a:stCxn id="1282" idx="3"/>
            <a:endCxn id="1287" idx="1"/>
          </p:cNvCxnSpPr>
          <p:nvPr/>
        </p:nvCxnSpPr>
        <p:spPr>
          <a:xfrm>
            <a:off x="4451338" y="2961975"/>
            <a:ext cx="1038600" cy="297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8" name="Google Shape;1288;p68"/>
          <p:cNvCxnSpPr>
            <a:stCxn id="1285" idx="3"/>
            <a:endCxn id="1287" idx="1"/>
          </p:cNvCxnSpPr>
          <p:nvPr/>
        </p:nvCxnSpPr>
        <p:spPr>
          <a:xfrm rot="10800000" flipH="1">
            <a:off x="4451338" y="3259675"/>
            <a:ext cx="1038600" cy="4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89" name="Google Shape;1289;p68"/>
          <p:cNvSpPr/>
          <p:nvPr/>
        </p:nvSpPr>
        <p:spPr>
          <a:xfrm>
            <a:off x="5123213" y="400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0" name="Google Shape;1290;p68"/>
          <p:cNvCxnSpPr>
            <a:stCxn id="1285" idx="3"/>
            <a:endCxn id="1289" idx="1"/>
          </p:cNvCxnSpPr>
          <p:nvPr/>
        </p:nvCxnSpPr>
        <p:spPr>
          <a:xfrm>
            <a:off x="4451338" y="3674275"/>
            <a:ext cx="672000" cy="474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1" name="Google Shape;1291;p68"/>
          <p:cNvSpPr/>
          <p:nvPr/>
        </p:nvSpPr>
        <p:spPr>
          <a:xfrm>
            <a:off x="3673088" y="4261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2" name="Google Shape;1292;p68"/>
          <p:cNvCxnSpPr>
            <a:stCxn id="1291" idx="3"/>
            <a:endCxn id="1289" idx="1"/>
          </p:cNvCxnSpPr>
          <p:nvPr/>
        </p:nvCxnSpPr>
        <p:spPr>
          <a:xfrm rot="10800000" flipH="1">
            <a:off x="3958088" y="4148525"/>
            <a:ext cx="1165200" cy="255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3" name="Google Shape;1293;p68"/>
          <p:cNvSpPr/>
          <p:nvPr/>
        </p:nvSpPr>
        <p:spPr>
          <a:xfrm>
            <a:off x="2935275" y="4412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4" name="Google Shape;1294;p68"/>
          <p:cNvCxnSpPr>
            <a:stCxn id="1293" idx="6"/>
            <a:endCxn id="1291" idx="1"/>
          </p:cNvCxnSpPr>
          <p:nvPr/>
        </p:nvCxnSpPr>
        <p:spPr>
          <a:xfrm rot="10800000" flipH="1">
            <a:off x="3220275" y="4403800"/>
            <a:ext cx="452700" cy="150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5" name="Google Shape;1295;p68"/>
          <p:cNvCxnSpPr>
            <a:stCxn id="1289" idx="2"/>
            <a:endCxn id="1296" idx="0"/>
          </p:cNvCxnSpPr>
          <p:nvPr/>
        </p:nvCxnSpPr>
        <p:spPr>
          <a:xfrm flipH="1">
            <a:off x="4885913" y="4290950"/>
            <a:ext cx="379800" cy="358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6" name="Google Shape;1296;p68"/>
          <p:cNvSpPr/>
          <p:nvPr/>
        </p:nvSpPr>
        <p:spPr>
          <a:xfrm>
            <a:off x="4743488" y="4649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7" name="Google Shape;1297;p68"/>
          <p:cNvCxnSpPr>
            <a:stCxn id="1298" idx="2"/>
            <a:endCxn id="1296" idx="3"/>
          </p:cNvCxnSpPr>
          <p:nvPr/>
        </p:nvCxnSpPr>
        <p:spPr>
          <a:xfrm flipH="1">
            <a:off x="5028413" y="4546325"/>
            <a:ext cx="1000200" cy="245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9" name="Google Shape;1299;p68"/>
          <p:cNvCxnSpPr>
            <a:stCxn id="1287" idx="2"/>
            <a:endCxn id="1298" idx="0"/>
          </p:cNvCxnSpPr>
          <p:nvPr/>
        </p:nvCxnSpPr>
        <p:spPr>
          <a:xfrm>
            <a:off x="5632563" y="3402125"/>
            <a:ext cx="396000" cy="85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0" name="Google Shape;1300;p68"/>
          <p:cNvCxnSpPr>
            <a:stCxn id="1301" idx="2"/>
            <a:endCxn id="1298" idx="3"/>
          </p:cNvCxnSpPr>
          <p:nvPr/>
        </p:nvCxnSpPr>
        <p:spPr>
          <a:xfrm flipH="1">
            <a:off x="6171125" y="4225125"/>
            <a:ext cx="514200" cy="17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2" name="Google Shape;1302;p68"/>
          <p:cNvSpPr/>
          <p:nvPr/>
        </p:nvSpPr>
        <p:spPr>
          <a:xfrm>
            <a:off x="6285725" y="32086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3" name="Google Shape;1303;p68"/>
          <p:cNvCxnSpPr>
            <a:stCxn id="1302" idx="2"/>
            <a:endCxn id="1287" idx="3"/>
          </p:cNvCxnSpPr>
          <p:nvPr/>
        </p:nvCxnSpPr>
        <p:spPr>
          <a:xfrm rot="10800000">
            <a:off x="5775125" y="3259600"/>
            <a:ext cx="510600" cy="9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81" name="Google Shape;1281;p68"/>
          <p:cNvSpPr/>
          <p:nvPr/>
        </p:nvSpPr>
        <p:spPr>
          <a:xfrm>
            <a:off x="3067863" y="34147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5" name="Google Shape;1285;p68"/>
          <p:cNvSpPr/>
          <p:nvPr/>
        </p:nvSpPr>
        <p:spPr>
          <a:xfrm>
            <a:off x="4166338" y="3531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7" name="Google Shape;1287;p68"/>
          <p:cNvSpPr/>
          <p:nvPr/>
        </p:nvSpPr>
        <p:spPr>
          <a:xfrm>
            <a:off x="5490063" y="3117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8" name="Google Shape;1298;p68"/>
          <p:cNvSpPr/>
          <p:nvPr/>
        </p:nvSpPr>
        <p:spPr>
          <a:xfrm>
            <a:off x="5886113" y="42613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1" name="Google Shape;1301;p68"/>
          <p:cNvSpPr/>
          <p:nvPr/>
        </p:nvSpPr>
        <p:spPr>
          <a:xfrm>
            <a:off x="6685325" y="40826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4" name="Google Shape;1304;p68"/>
          <p:cNvSpPr txBox="1"/>
          <p:nvPr/>
        </p:nvSpPr>
        <p:spPr>
          <a:xfrm>
            <a:off x="2684013" y="3351100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1305" name="Google Shape;1305;p68"/>
          <p:cNvSpPr txBox="1"/>
          <p:nvPr/>
        </p:nvSpPr>
        <p:spPr>
          <a:xfrm>
            <a:off x="3668002" y="3044530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1306" name="Google Shape;1306;p68"/>
          <p:cNvSpPr txBox="1"/>
          <p:nvPr/>
        </p:nvSpPr>
        <p:spPr>
          <a:xfrm>
            <a:off x="4885913" y="2854263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1307" name="Google Shape;1307;p68"/>
          <p:cNvSpPr txBox="1"/>
          <p:nvPr/>
        </p:nvSpPr>
        <p:spPr>
          <a:xfrm>
            <a:off x="5833175" y="3698500"/>
            <a:ext cx="22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/>
          </a:p>
        </p:txBody>
      </p:sp>
      <p:sp>
        <p:nvSpPr>
          <p:cNvPr id="1308" name="Google Shape;1308;p68"/>
          <p:cNvSpPr txBox="1"/>
          <p:nvPr/>
        </p:nvSpPr>
        <p:spPr>
          <a:xfrm>
            <a:off x="3377525" y="426132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1309" name="Google Shape;1309;p68"/>
          <p:cNvSpPr txBox="1"/>
          <p:nvPr/>
        </p:nvSpPr>
        <p:spPr>
          <a:xfrm>
            <a:off x="3746438" y="360137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1310" name="Google Shape;1310;p68"/>
          <p:cNvSpPr txBox="1"/>
          <p:nvPr/>
        </p:nvSpPr>
        <p:spPr>
          <a:xfrm>
            <a:off x="4816838" y="3751913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1311" name="Google Shape;1311;p68"/>
          <p:cNvSpPr txBox="1"/>
          <p:nvPr/>
        </p:nvSpPr>
        <p:spPr>
          <a:xfrm>
            <a:off x="4972800" y="3449513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1312" name="Google Shape;1312;p68"/>
          <p:cNvSpPr txBox="1"/>
          <p:nvPr/>
        </p:nvSpPr>
        <p:spPr>
          <a:xfrm>
            <a:off x="5522075" y="4684338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1313" name="Google Shape;1313;p68"/>
          <p:cNvSpPr txBox="1"/>
          <p:nvPr/>
        </p:nvSpPr>
        <p:spPr>
          <a:xfrm>
            <a:off x="4484050" y="4296113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1314" name="Google Shape;1314;p68"/>
          <p:cNvSpPr txBox="1"/>
          <p:nvPr/>
        </p:nvSpPr>
        <p:spPr>
          <a:xfrm>
            <a:off x="6028563" y="3069663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1315" name="Google Shape;1315;p68"/>
          <p:cNvSpPr txBox="1"/>
          <p:nvPr/>
        </p:nvSpPr>
        <p:spPr>
          <a:xfrm>
            <a:off x="6406538" y="4330913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1316" name="Google Shape;1316;p68"/>
          <p:cNvSpPr txBox="1"/>
          <p:nvPr/>
        </p:nvSpPr>
        <p:spPr>
          <a:xfrm>
            <a:off x="5090463" y="4446988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Least-Cost Routing – Definition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1322" name="Google Shape;1322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least-cost routing, routers should forward packets such that they take the lowest-cost path to the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Example: If all costs are 1, the protocol finds paths with the fewest hops.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Usually, if edges are unlabeled, assume they have cost 1.</a:t>
            </a:r>
            <a:endParaRPr/>
          </a:p>
        </p:txBody>
      </p:sp>
      <p:sp>
        <p:nvSpPr>
          <p:cNvPr id="1323" name="Google Shape;1323;p69"/>
          <p:cNvSpPr/>
          <p:nvPr/>
        </p:nvSpPr>
        <p:spPr>
          <a:xfrm>
            <a:off x="223925" y="35995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4" name="Google Shape;1324;p69"/>
          <p:cNvCxnSpPr>
            <a:stCxn id="1323" idx="6"/>
            <a:endCxn id="1325" idx="1"/>
          </p:cNvCxnSpPr>
          <p:nvPr/>
        </p:nvCxnSpPr>
        <p:spPr>
          <a:xfrm>
            <a:off x="508925" y="3742063"/>
            <a:ext cx="3246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26" name="Google Shape;1326;p69"/>
          <p:cNvSpPr txBox="1"/>
          <p:nvPr/>
        </p:nvSpPr>
        <p:spPr>
          <a:xfrm>
            <a:off x="602038" y="35324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1325" name="Google Shape;1325;p69"/>
          <p:cNvSpPr/>
          <p:nvPr/>
        </p:nvSpPr>
        <p:spPr>
          <a:xfrm>
            <a:off x="833463" y="359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7" name="Google Shape;1327;p69"/>
          <p:cNvSpPr/>
          <p:nvPr/>
        </p:nvSpPr>
        <p:spPr>
          <a:xfrm>
            <a:off x="1595463" y="3218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8" name="Google Shape;1328;p69"/>
          <p:cNvSpPr/>
          <p:nvPr/>
        </p:nvSpPr>
        <p:spPr>
          <a:xfrm>
            <a:off x="2357463" y="2837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69"/>
          <p:cNvSpPr/>
          <p:nvPr/>
        </p:nvSpPr>
        <p:spPr>
          <a:xfrm>
            <a:off x="2357463" y="436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0" name="Google Shape;1330;p69"/>
          <p:cNvSpPr/>
          <p:nvPr/>
        </p:nvSpPr>
        <p:spPr>
          <a:xfrm>
            <a:off x="3271863" y="359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1" name="Google Shape;1331;p69"/>
          <p:cNvCxnSpPr>
            <a:endCxn id="1328" idx="1"/>
          </p:cNvCxnSpPr>
          <p:nvPr/>
        </p:nvCxnSpPr>
        <p:spPr>
          <a:xfrm rot="10800000" flipH="1">
            <a:off x="1883763" y="2980075"/>
            <a:ext cx="473700" cy="292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2" name="Google Shape;1332;p69"/>
          <p:cNvCxnSpPr>
            <a:stCxn id="1325" idx="3"/>
            <a:endCxn id="1329" idx="1"/>
          </p:cNvCxnSpPr>
          <p:nvPr/>
        </p:nvCxnSpPr>
        <p:spPr>
          <a:xfrm>
            <a:off x="1118463" y="3742075"/>
            <a:ext cx="12390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3" name="Google Shape;1333;p69"/>
          <p:cNvCxnSpPr>
            <a:stCxn id="1329" idx="0"/>
            <a:endCxn id="1328" idx="2"/>
          </p:cNvCxnSpPr>
          <p:nvPr/>
        </p:nvCxnSpPr>
        <p:spPr>
          <a:xfrm rot="10800000">
            <a:off x="2499963" y="3122575"/>
            <a:ext cx="0" cy="1239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4" name="Google Shape;1334;p69"/>
          <p:cNvCxnSpPr>
            <a:stCxn id="1330" idx="1"/>
            <a:endCxn id="1328" idx="3"/>
          </p:cNvCxnSpPr>
          <p:nvPr/>
        </p:nvCxnSpPr>
        <p:spPr>
          <a:xfrm rot="10800000">
            <a:off x="2642463" y="2980075"/>
            <a:ext cx="6294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5" name="Google Shape;1335;p69"/>
          <p:cNvCxnSpPr>
            <a:stCxn id="1329" idx="3"/>
            <a:endCxn id="1330" idx="1"/>
          </p:cNvCxnSpPr>
          <p:nvPr/>
        </p:nvCxnSpPr>
        <p:spPr>
          <a:xfrm rot="10800000" flipH="1">
            <a:off x="2642463" y="3742075"/>
            <a:ext cx="629400" cy="762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6" name="Google Shape;1336;p69"/>
          <p:cNvCxnSpPr>
            <a:stCxn id="1325" idx="3"/>
          </p:cNvCxnSpPr>
          <p:nvPr/>
        </p:nvCxnSpPr>
        <p:spPr>
          <a:xfrm rot="10800000" flipH="1">
            <a:off x="1118463" y="3448075"/>
            <a:ext cx="478800" cy="294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7" name="Google Shape;1337;p69"/>
          <p:cNvCxnSpPr>
            <a:stCxn id="1330" idx="3"/>
            <a:endCxn id="1338" idx="2"/>
          </p:cNvCxnSpPr>
          <p:nvPr/>
        </p:nvCxnSpPr>
        <p:spPr>
          <a:xfrm>
            <a:off x="3556863" y="3742075"/>
            <a:ext cx="4770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9" name="Google Shape;1339;p69"/>
          <p:cNvSpPr txBox="1"/>
          <p:nvPr/>
        </p:nvSpPr>
        <p:spPr>
          <a:xfrm>
            <a:off x="3682832" y="35324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1340" name="Google Shape;1340;p69"/>
          <p:cNvSpPr txBox="1"/>
          <p:nvPr/>
        </p:nvSpPr>
        <p:spPr>
          <a:xfrm>
            <a:off x="1288713" y="335173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1341" name="Google Shape;1341;p69"/>
          <p:cNvSpPr txBox="1"/>
          <p:nvPr/>
        </p:nvSpPr>
        <p:spPr>
          <a:xfrm>
            <a:off x="1981338" y="29071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1342" name="Google Shape;1342;p69"/>
          <p:cNvSpPr txBox="1"/>
          <p:nvPr/>
        </p:nvSpPr>
        <p:spPr>
          <a:xfrm>
            <a:off x="1617613" y="41461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1343" name="Google Shape;1343;p69"/>
          <p:cNvSpPr txBox="1"/>
          <p:nvPr/>
        </p:nvSpPr>
        <p:spPr>
          <a:xfrm>
            <a:off x="2555420" y="35995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1344" name="Google Shape;1344;p69"/>
          <p:cNvSpPr txBox="1"/>
          <p:nvPr/>
        </p:nvSpPr>
        <p:spPr>
          <a:xfrm>
            <a:off x="2968913" y="41461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1345" name="Google Shape;1345;p69"/>
          <p:cNvSpPr txBox="1"/>
          <p:nvPr/>
        </p:nvSpPr>
        <p:spPr>
          <a:xfrm>
            <a:off x="2968925" y="3122575"/>
            <a:ext cx="239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/>
          </a:p>
        </p:txBody>
      </p:sp>
      <p:sp>
        <p:nvSpPr>
          <p:cNvPr id="1346" name="Google Shape;1346;p69"/>
          <p:cNvSpPr/>
          <p:nvPr/>
        </p:nvSpPr>
        <p:spPr>
          <a:xfrm>
            <a:off x="4858125" y="35995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7" name="Google Shape;1347;p69"/>
          <p:cNvCxnSpPr>
            <a:stCxn id="1346" idx="6"/>
            <a:endCxn id="1348" idx="1"/>
          </p:cNvCxnSpPr>
          <p:nvPr/>
        </p:nvCxnSpPr>
        <p:spPr>
          <a:xfrm>
            <a:off x="5143125" y="3742063"/>
            <a:ext cx="324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9" name="Google Shape;1349;p69"/>
          <p:cNvSpPr txBox="1"/>
          <p:nvPr/>
        </p:nvSpPr>
        <p:spPr>
          <a:xfrm>
            <a:off x="5236238" y="35324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348" name="Google Shape;1348;p69"/>
          <p:cNvSpPr/>
          <p:nvPr/>
        </p:nvSpPr>
        <p:spPr>
          <a:xfrm>
            <a:off x="5467663" y="359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0" name="Google Shape;1350;p69"/>
          <p:cNvSpPr/>
          <p:nvPr/>
        </p:nvSpPr>
        <p:spPr>
          <a:xfrm>
            <a:off x="6229663" y="3218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1" name="Google Shape;1351;p69"/>
          <p:cNvSpPr/>
          <p:nvPr/>
        </p:nvSpPr>
        <p:spPr>
          <a:xfrm>
            <a:off x="6991663" y="2837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2" name="Google Shape;1352;p69"/>
          <p:cNvSpPr/>
          <p:nvPr/>
        </p:nvSpPr>
        <p:spPr>
          <a:xfrm>
            <a:off x="6991663" y="436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3" name="Google Shape;1353;p69"/>
          <p:cNvSpPr/>
          <p:nvPr/>
        </p:nvSpPr>
        <p:spPr>
          <a:xfrm>
            <a:off x="7906063" y="359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4" name="Google Shape;1354;p69"/>
          <p:cNvCxnSpPr>
            <a:endCxn id="1351" idx="1"/>
          </p:cNvCxnSpPr>
          <p:nvPr/>
        </p:nvCxnSpPr>
        <p:spPr>
          <a:xfrm rot="10800000" flipH="1">
            <a:off x="6517963" y="2980075"/>
            <a:ext cx="473700" cy="2925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55" name="Google Shape;1355;p69"/>
          <p:cNvCxnSpPr>
            <a:stCxn id="1348" idx="3"/>
            <a:endCxn id="1352" idx="1"/>
          </p:cNvCxnSpPr>
          <p:nvPr/>
        </p:nvCxnSpPr>
        <p:spPr>
          <a:xfrm>
            <a:off x="5752663" y="3742075"/>
            <a:ext cx="12390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56" name="Google Shape;1356;p69"/>
          <p:cNvCxnSpPr>
            <a:stCxn id="1352" idx="0"/>
            <a:endCxn id="1351" idx="2"/>
          </p:cNvCxnSpPr>
          <p:nvPr/>
        </p:nvCxnSpPr>
        <p:spPr>
          <a:xfrm rot="10800000">
            <a:off x="7134163" y="3122575"/>
            <a:ext cx="0" cy="123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57" name="Google Shape;1357;p69"/>
          <p:cNvCxnSpPr>
            <a:stCxn id="1353" idx="1"/>
            <a:endCxn id="1351" idx="3"/>
          </p:cNvCxnSpPr>
          <p:nvPr/>
        </p:nvCxnSpPr>
        <p:spPr>
          <a:xfrm rot="10800000">
            <a:off x="7276663" y="2980075"/>
            <a:ext cx="629400" cy="762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58" name="Google Shape;1358;p69"/>
          <p:cNvCxnSpPr>
            <a:stCxn id="1352" idx="3"/>
            <a:endCxn id="1353" idx="1"/>
          </p:cNvCxnSpPr>
          <p:nvPr/>
        </p:nvCxnSpPr>
        <p:spPr>
          <a:xfrm rot="10800000" flipH="1">
            <a:off x="7276663" y="3742075"/>
            <a:ext cx="6294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59" name="Google Shape;1359;p69"/>
          <p:cNvCxnSpPr>
            <a:stCxn id="1348" idx="3"/>
          </p:cNvCxnSpPr>
          <p:nvPr/>
        </p:nvCxnSpPr>
        <p:spPr>
          <a:xfrm rot="10800000" flipH="1">
            <a:off x="5752663" y="3448075"/>
            <a:ext cx="478800" cy="294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0" name="Google Shape;1360;p69"/>
          <p:cNvSpPr/>
          <p:nvPr/>
        </p:nvSpPr>
        <p:spPr>
          <a:xfrm>
            <a:off x="8668025" y="35995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69"/>
          <p:cNvCxnSpPr>
            <a:stCxn id="1353" idx="3"/>
            <a:endCxn id="1360" idx="2"/>
          </p:cNvCxnSpPr>
          <p:nvPr/>
        </p:nvCxnSpPr>
        <p:spPr>
          <a:xfrm>
            <a:off x="8191063" y="3742075"/>
            <a:ext cx="477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62" name="Google Shape;1362;p69"/>
          <p:cNvSpPr txBox="1"/>
          <p:nvPr/>
        </p:nvSpPr>
        <p:spPr>
          <a:xfrm>
            <a:off x="8317032" y="35324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363" name="Google Shape;1363;p69"/>
          <p:cNvSpPr txBox="1"/>
          <p:nvPr/>
        </p:nvSpPr>
        <p:spPr>
          <a:xfrm>
            <a:off x="5922913" y="335173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364" name="Google Shape;1364;p69"/>
          <p:cNvSpPr txBox="1"/>
          <p:nvPr/>
        </p:nvSpPr>
        <p:spPr>
          <a:xfrm>
            <a:off x="6615538" y="29071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365" name="Google Shape;1365;p69"/>
          <p:cNvSpPr txBox="1"/>
          <p:nvPr/>
        </p:nvSpPr>
        <p:spPr>
          <a:xfrm>
            <a:off x="6251813" y="41461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1366" name="Google Shape;1366;p69"/>
          <p:cNvSpPr txBox="1"/>
          <p:nvPr/>
        </p:nvSpPr>
        <p:spPr>
          <a:xfrm>
            <a:off x="7189620" y="35995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1367" name="Google Shape;1367;p69"/>
          <p:cNvSpPr txBox="1"/>
          <p:nvPr/>
        </p:nvSpPr>
        <p:spPr>
          <a:xfrm>
            <a:off x="7603113" y="4146185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1368" name="Google Shape;1368;p69"/>
          <p:cNvSpPr txBox="1"/>
          <p:nvPr/>
        </p:nvSpPr>
        <p:spPr>
          <a:xfrm>
            <a:off x="7603125" y="3122575"/>
            <a:ext cx="239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338" name="Google Shape;1338;p69"/>
          <p:cNvSpPr/>
          <p:nvPr/>
        </p:nvSpPr>
        <p:spPr>
          <a:xfrm>
            <a:off x="4033825" y="35995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9" name="Google Shape;1369;p69"/>
          <p:cNvSpPr txBox="1"/>
          <p:nvPr/>
        </p:nvSpPr>
        <p:spPr>
          <a:xfrm>
            <a:off x="1597276" y="4800663"/>
            <a:ext cx="1410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→ B Cost = 7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1370" name="Google Shape;1370;p69"/>
          <p:cNvSpPr txBox="1"/>
          <p:nvPr/>
        </p:nvSpPr>
        <p:spPr>
          <a:xfrm>
            <a:off x="6331126" y="4800663"/>
            <a:ext cx="1410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→ B Cost = 14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Least-Cost Routing – Properties</a:t>
            </a:r>
            <a:endParaRPr/>
          </a:p>
        </p:txBody>
      </p:sp>
      <p:sp>
        <p:nvSpPr>
          <p:cNvPr id="1376" name="Google Shape;1376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Where do costs come from?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Costs are local to a router. Each router knows the cost of its own links.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practice, generally configured by an operator.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Some protocols allow for auto-configuration.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 of costs: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Costs are always positive integers.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Can't traverse an edge and make a path cheaper.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Consistent with almost any practical metric you'd use.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Costs are always symmetrical.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→ B costs the same as B → A.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Exceptions possible in theory (e.g. different upload/download bandwidth).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These two assumptions will simplify our protocols.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Google Shape;1381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Least-Cost Routing — Good Paths</a:t>
            </a:r>
            <a:endParaRPr/>
          </a:p>
        </p:txBody>
      </p:sp>
      <p:sp>
        <p:nvSpPr>
          <p:cNvPr id="1382" name="Google Shape;1382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Good</a:t>
            </a:r>
            <a:r>
              <a:rPr lang="en"/>
              <a:t> paths (least-cost) also </a:t>
            </a:r>
            <a:r>
              <a:rPr lang="en" i="1"/>
              <a:t>valid</a:t>
            </a:r>
            <a:r>
              <a:rPr lang="en"/>
              <a:t> paths (no loops, no dead ends).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Costs are positive, so there are no loops. They'd only increase the cost.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are still destination-based.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still form a spanning tree.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Google Shape;1387;p72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Defining the Routing Problem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Routing?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Modeling the Network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Makes Routing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Types of Routing Protocols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Routing States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Destination-Based Forwarding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Routing State Validity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Least-Cost Routing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Static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8" name="Google Shape;1388;p7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Static Routing</a:t>
            </a:r>
            <a:endParaRPr/>
          </a:p>
        </p:txBody>
      </p:sp>
      <p:sp>
        <p:nvSpPr>
          <p:cNvPr id="1389" name="Google Shape;1389;p7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4, CS 168, Spring 2026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Google Shape;1394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Special Route Types</a:t>
            </a:r>
            <a:endParaRPr/>
          </a:p>
        </p:txBody>
      </p:sp>
      <p:sp>
        <p:nvSpPr>
          <p:cNvPr id="1395" name="Google Shape;1395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7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In a routing protocol, routers talk to each other to populate forwarding tables and learn paths to destinations.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 table entries can be manually hard-coded.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Connected/Direct</a:t>
            </a:r>
            <a:r>
              <a:rPr lang="en"/>
              <a:t> routes let us forward to things we're connected to directly.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These routes are created when the operator configures the router.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routing protocol needed for these entries.</a:t>
            </a:r>
            <a:endParaRPr/>
          </a:p>
        </p:txBody>
      </p:sp>
      <p:sp>
        <p:nvSpPr>
          <p:cNvPr id="1396" name="Google Shape;1396;p73"/>
          <p:cNvSpPr/>
          <p:nvPr/>
        </p:nvSpPr>
        <p:spPr>
          <a:xfrm>
            <a:off x="5561175" y="407106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7" name="Google Shape;1397;p73"/>
          <p:cNvSpPr/>
          <p:nvPr/>
        </p:nvSpPr>
        <p:spPr>
          <a:xfrm>
            <a:off x="4722975" y="4071063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8" name="Google Shape;1398;p73"/>
          <p:cNvCxnSpPr>
            <a:stCxn id="1397" idx="3"/>
            <a:endCxn id="1396" idx="1"/>
          </p:cNvCxnSpPr>
          <p:nvPr/>
        </p:nvCxnSpPr>
        <p:spPr>
          <a:xfrm>
            <a:off x="5007975" y="4213563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9" name="Google Shape;1399;p73"/>
          <p:cNvSpPr/>
          <p:nvPr/>
        </p:nvSpPr>
        <p:spPr>
          <a:xfrm>
            <a:off x="3884763" y="40710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0" name="Google Shape;1400;p73"/>
          <p:cNvCxnSpPr>
            <a:stCxn id="1399" idx="6"/>
            <a:endCxn id="1397" idx="1"/>
          </p:cNvCxnSpPr>
          <p:nvPr/>
        </p:nvCxnSpPr>
        <p:spPr>
          <a:xfrm>
            <a:off x="4169763" y="4213563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1" name="Google Shape;1401;p73"/>
          <p:cNvSpPr/>
          <p:nvPr/>
        </p:nvSpPr>
        <p:spPr>
          <a:xfrm>
            <a:off x="6399375" y="369006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02" name="Google Shape;1402;p73"/>
          <p:cNvSpPr/>
          <p:nvPr/>
        </p:nvSpPr>
        <p:spPr>
          <a:xfrm>
            <a:off x="6399375" y="445206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3" name="Google Shape;1403;p73"/>
          <p:cNvCxnSpPr>
            <a:stCxn id="1396" idx="3"/>
            <a:endCxn id="1401" idx="1"/>
          </p:cNvCxnSpPr>
          <p:nvPr/>
        </p:nvCxnSpPr>
        <p:spPr>
          <a:xfrm rot="10800000" flipH="1">
            <a:off x="5846175" y="3832563"/>
            <a:ext cx="5532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4" name="Google Shape;1404;p73"/>
          <p:cNvCxnSpPr>
            <a:stCxn id="1396" idx="3"/>
            <a:endCxn id="1402" idx="1"/>
          </p:cNvCxnSpPr>
          <p:nvPr/>
        </p:nvCxnSpPr>
        <p:spPr>
          <a:xfrm>
            <a:off x="5846175" y="4213563"/>
            <a:ext cx="5532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5" name="Google Shape;1405;p73"/>
          <p:cNvSpPr/>
          <p:nvPr/>
        </p:nvSpPr>
        <p:spPr>
          <a:xfrm>
            <a:off x="7237563" y="34586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06" name="Google Shape;1406;p73"/>
          <p:cNvSpPr/>
          <p:nvPr/>
        </p:nvSpPr>
        <p:spPr>
          <a:xfrm>
            <a:off x="7237563" y="39158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7" name="Google Shape;1407;p73"/>
          <p:cNvCxnSpPr>
            <a:stCxn id="1401" idx="3"/>
            <a:endCxn id="1405" idx="2"/>
          </p:cNvCxnSpPr>
          <p:nvPr/>
        </p:nvCxnSpPr>
        <p:spPr>
          <a:xfrm rot="10800000" flipH="1">
            <a:off x="6684375" y="3601263"/>
            <a:ext cx="553200" cy="23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8" name="Google Shape;1408;p73"/>
          <p:cNvCxnSpPr>
            <a:stCxn id="1401" idx="3"/>
            <a:endCxn id="1406" idx="2"/>
          </p:cNvCxnSpPr>
          <p:nvPr/>
        </p:nvCxnSpPr>
        <p:spPr>
          <a:xfrm>
            <a:off x="6684375" y="3832563"/>
            <a:ext cx="553200" cy="22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9" name="Google Shape;1409;p73"/>
          <p:cNvSpPr/>
          <p:nvPr/>
        </p:nvSpPr>
        <p:spPr>
          <a:xfrm>
            <a:off x="7237563" y="44492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0" name="Google Shape;1410;p73"/>
          <p:cNvCxnSpPr>
            <a:stCxn id="1402" idx="3"/>
            <a:endCxn id="1409" idx="2"/>
          </p:cNvCxnSpPr>
          <p:nvPr/>
        </p:nvCxnSpPr>
        <p:spPr>
          <a:xfrm rot="10800000" flipH="1">
            <a:off x="6684375" y="4591863"/>
            <a:ext cx="553200" cy="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11" name="Google Shape;1411;p73"/>
          <p:cNvGraphicFramePr/>
          <p:nvPr/>
        </p:nvGraphicFramePr>
        <p:xfrm>
          <a:off x="1601232" y="3494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Special Route Types</a:t>
            </a:r>
            <a:endParaRPr/>
          </a:p>
        </p:txBody>
      </p:sp>
      <p:sp>
        <p:nvSpPr>
          <p:cNvPr id="1417" name="Google Shape;1417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 table entries can be manually hard-coded.</a:t>
            </a:r>
            <a:endParaRPr b="1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Static</a:t>
            </a:r>
            <a:r>
              <a:rPr lang="en"/>
              <a:t> routes are hard-coded entries that we always want to be there.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 isn't necessarily directly connected to 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route is static because: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It never changes.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routing protocol used to discover 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Again, often manually created by an operator.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Routing Principles</a:t>
            </a:r>
            <a:endParaRPr/>
          </a:p>
        </p:txBody>
      </p:sp>
      <p:sp>
        <p:nvSpPr>
          <p:cNvPr id="1423" name="Google Shape;1423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Routing allows us to find </a:t>
            </a:r>
            <a:r>
              <a:rPr lang="en" b="1"/>
              <a:t>paths</a:t>
            </a:r>
            <a:r>
              <a:rPr lang="en"/>
              <a:t> through the network. </a:t>
            </a:r>
            <a:endParaRPr b="1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to handle constant change, a non-global view, and best-effort links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are both intra-domain (choices!) and inter-domain routing protocols (BGP)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Internet uses </a:t>
            </a:r>
            <a:r>
              <a:rPr lang="en" b="1"/>
              <a:t>destination-based forwarding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router keeps a table, mapping destinations to next hops.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a valid directed delivery tree with </a:t>
            </a:r>
            <a:r>
              <a:rPr lang="en" b="1"/>
              <a:t>no dead ends and no loops</a:t>
            </a:r>
            <a:r>
              <a:rPr lang="en"/>
              <a:t>! </a:t>
            </a:r>
            <a:endParaRPr/>
          </a:p>
        </p:txBody>
      </p:sp>
      <p:cxnSp>
        <p:nvCxnSpPr>
          <p:cNvPr id="1424" name="Google Shape;1424;p75"/>
          <p:cNvCxnSpPr>
            <a:stCxn id="1425" idx="6"/>
            <a:endCxn id="1426" idx="1"/>
          </p:cNvCxnSpPr>
          <p:nvPr/>
        </p:nvCxnSpPr>
        <p:spPr>
          <a:xfrm>
            <a:off x="1467137" y="3594045"/>
            <a:ext cx="5931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7" name="Google Shape;1427;p75"/>
          <p:cNvSpPr/>
          <p:nvPr/>
        </p:nvSpPr>
        <p:spPr>
          <a:xfrm>
            <a:off x="3095269" y="2941075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8" name="Google Shape;1428;p75"/>
          <p:cNvCxnSpPr>
            <a:stCxn id="1426" idx="3"/>
            <a:endCxn id="1427" idx="1"/>
          </p:cNvCxnSpPr>
          <p:nvPr/>
        </p:nvCxnSpPr>
        <p:spPr>
          <a:xfrm rot="10800000" flipH="1">
            <a:off x="2328737" y="3067245"/>
            <a:ext cx="766500" cy="526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9" name="Google Shape;1429;p75"/>
          <p:cNvCxnSpPr>
            <a:stCxn id="1426" idx="3"/>
            <a:endCxn id="1430" idx="1"/>
          </p:cNvCxnSpPr>
          <p:nvPr/>
        </p:nvCxnSpPr>
        <p:spPr>
          <a:xfrm>
            <a:off x="2328737" y="3594045"/>
            <a:ext cx="766500" cy="1035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31" name="Google Shape;1431;p75"/>
          <p:cNvCxnSpPr>
            <a:stCxn id="1427" idx="3"/>
            <a:endCxn id="1432" idx="1"/>
          </p:cNvCxnSpPr>
          <p:nvPr/>
        </p:nvCxnSpPr>
        <p:spPr>
          <a:xfrm>
            <a:off x="3363769" y="3067225"/>
            <a:ext cx="978900" cy="263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3" name="Google Shape;1433;p75"/>
          <p:cNvCxnSpPr>
            <a:stCxn id="1430" idx="3"/>
            <a:endCxn id="1432" idx="1"/>
          </p:cNvCxnSpPr>
          <p:nvPr/>
        </p:nvCxnSpPr>
        <p:spPr>
          <a:xfrm rot="10800000" flipH="1">
            <a:off x="3363769" y="3330739"/>
            <a:ext cx="978900" cy="3669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34" name="Google Shape;1434;p75"/>
          <p:cNvSpPr/>
          <p:nvPr/>
        </p:nvSpPr>
        <p:spPr>
          <a:xfrm>
            <a:off x="3996880" y="3991152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5" name="Google Shape;1435;p75"/>
          <p:cNvCxnSpPr>
            <a:stCxn id="1430" idx="3"/>
            <a:endCxn id="1434" idx="1"/>
          </p:cNvCxnSpPr>
          <p:nvPr/>
        </p:nvCxnSpPr>
        <p:spPr>
          <a:xfrm>
            <a:off x="3363769" y="3697639"/>
            <a:ext cx="633000" cy="419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6" name="Google Shape;1436;p75"/>
          <p:cNvSpPr/>
          <p:nvPr/>
        </p:nvSpPr>
        <p:spPr>
          <a:xfrm>
            <a:off x="2630507" y="4217169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7" name="Google Shape;1437;p75"/>
          <p:cNvCxnSpPr>
            <a:stCxn id="1436" idx="3"/>
            <a:endCxn id="1434" idx="1"/>
          </p:cNvCxnSpPr>
          <p:nvPr/>
        </p:nvCxnSpPr>
        <p:spPr>
          <a:xfrm rot="10800000" flipH="1">
            <a:off x="2899007" y="4117419"/>
            <a:ext cx="1098000" cy="225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8" name="Google Shape;1438;p75"/>
          <p:cNvSpPr/>
          <p:nvPr/>
        </p:nvSpPr>
        <p:spPr>
          <a:xfrm>
            <a:off x="1935307" y="4350700"/>
            <a:ext cx="268500" cy="2523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75"/>
          <p:cNvCxnSpPr>
            <a:stCxn id="1438" idx="6"/>
            <a:endCxn id="1436" idx="1"/>
          </p:cNvCxnSpPr>
          <p:nvPr/>
        </p:nvCxnSpPr>
        <p:spPr>
          <a:xfrm rot="10800000" flipH="1">
            <a:off x="2203807" y="4343350"/>
            <a:ext cx="426600" cy="133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0" name="Google Shape;1440;p75"/>
          <p:cNvCxnSpPr>
            <a:stCxn id="1434" idx="2"/>
            <a:endCxn id="1441" idx="0"/>
          </p:cNvCxnSpPr>
          <p:nvPr/>
        </p:nvCxnSpPr>
        <p:spPr>
          <a:xfrm flipH="1">
            <a:off x="3773230" y="4243452"/>
            <a:ext cx="357900" cy="317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1" name="Google Shape;1441;p75"/>
          <p:cNvSpPr/>
          <p:nvPr/>
        </p:nvSpPr>
        <p:spPr>
          <a:xfrm>
            <a:off x="3639086" y="4560764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75"/>
          <p:cNvCxnSpPr>
            <a:stCxn id="1443" idx="2"/>
            <a:endCxn id="1441" idx="3"/>
          </p:cNvCxnSpPr>
          <p:nvPr/>
        </p:nvCxnSpPr>
        <p:spPr>
          <a:xfrm flipH="1">
            <a:off x="3907668" y="4469469"/>
            <a:ext cx="942300" cy="217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4" name="Google Shape;1444;p75"/>
          <p:cNvCxnSpPr>
            <a:stCxn id="1432" idx="2"/>
            <a:endCxn id="1443" idx="0"/>
          </p:cNvCxnSpPr>
          <p:nvPr/>
        </p:nvCxnSpPr>
        <p:spPr>
          <a:xfrm>
            <a:off x="4476792" y="3456807"/>
            <a:ext cx="373200" cy="7605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45" name="Google Shape;1445;p75"/>
          <p:cNvCxnSpPr>
            <a:stCxn id="1446" idx="2"/>
            <a:endCxn id="1443" idx="3"/>
          </p:cNvCxnSpPr>
          <p:nvPr/>
        </p:nvCxnSpPr>
        <p:spPr>
          <a:xfrm flipH="1">
            <a:off x="4984272" y="4185163"/>
            <a:ext cx="484500" cy="158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447" name="Google Shape;1447;p75"/>
          <p:cNvSpPr/>
          <p:nvPr/>
        </p:nvSpPr>
        <p:spPr>
          <a:xfrm>
            <a:off x="5092251" y="3285466"/>
            <a:ext cx="268500" cy="2523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8" name="Google Shape;1448;p75"/>
          <p:cNvCxnSpPr>
            <a:stCxn id="1447" idx="2"/>
            <a:endCxn id="1432" idx="3"/>
          </p:cNvCxnSpPr>
          <p:nvPr/>
        </p:nvCxnSpPr>
        <p:spPr>
          <a:xfrm rot="10800000">
            <a:off x="4611051" y="3330616"/>
            <a:ext cx="481200" cy="81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75"/>
          <p:cNvSpPr/>
          <p:nvPr/>
        </p:nvSpPr>
        <p:spPr>
          <a:xfrm>
            <a:off x="2060237" y="3467895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0" name="Google Shape;1430;p75"/>
          <p:cNvSpPr/>
          <p:nvPr/>
        </p:nvSpPr>
        <p:spPr>
          <a:xfrm>
            <a:off x="3095269" y="3571489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2" name="Google Shape;1432;p75"/>
          <p:cNvSpPr/>
          <p:nvPr/>
        </p:nvSpPr>
        <p:spPr>
          <a:xfrm>
            <a:off x="4342542" y="3204507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3" name="Google Shape;1443;p75"/>
          <p:cNvSpPr/>
          <p:nvPr/>
        </p:nvSpPr>
        <p:spPr>
          <a:xfrm>
            <a:off x="4715718" y="4217169"/>
            <a:ext cx="268500" cy="2523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6" name="Google Shape;1446;p75"/>
          <p:cNvSpPr/>
          <p:nvPr/>
        </p:nvSpPr>
        <p:spPr>
          <a:xfrm>
            <a:off x="5468772" y="4059013"/>
            <a:ext cx="268500" cy="2523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5" name="Google Shape;1425;p75"/>
          <p:cNvSpPr/>
          <p:nvPr/>
        </p:nvSpPr>
        <p:spPr>
          <a:xfrm>
            <a:off x="1198637" y="3467895"/>
            <a:ext cx="268500" cy="2523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449" name="Google Shape;1449;p75"/>
          <p:cNvGraphicFramePr/>
          <p:nvPr/>
        </p:nvGraphicFramePr>
        <p:xfrm>
          <a:off x="6056669" y="3188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{AE4A3240-9E21-4ABE-83A7-3F0B011E3210}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 (Conceptual)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0" name="Google Shape;1450;p75"/>
          <p:cNvSpPr txBox="1"/>
          <p:nvPr/>
        </p:nvSpPr>
        <p:spPr>
          <a:xfrm>
            <a:off x="7654225" y="2203850"/>
            <a:ext cx="1426200" cy="7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Static or direct routes can be hard coded!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17655</Words>
  <Application>Microsoft Office PowerPoint</Application>
  <PresentationFormat>On-screen Show (16:9)</PresentationFormat>
  <Paragraphs>2199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Roboto Medium</vt:lpstr>
      <vt:lpstr>Roboto</vt:lpstr>
      <vt:lpstr>Roboto Light</vt:lpstr>
      <vt:lpstr>Simple Lecture</vt:lpstr>
      <vt:lpstr>Why Do We Need Routing?</vt:lpstr>
      <vt:lpstr>Today's Goal: Routing</vt:lpstr>
      <vt:lpstr>Why Do We Need Routing? – Full Mesh Topology</vt:lpstr>
      <vt:lpstr>Why Do We Need Routing? – Single-Link Topology</vt:lpstr>
      <vt:lpstr>Why Do We Need Routing? – Introducing Routers</vt:lpstr>
      <vt:lpstr>Why Do We Need Routing? – Introducing Routers</vt:lpstr>
      <vt:lpstr>Modeling the Network</vt:lpstr>
      <vt:lpstr>Modeling the Network – Routers vs. Hosts</vt:lpstr>
      <vt:lpstr>Modeling the Network – Graph</vt:lpstr>
      <vt:lpstr>Modeling the Network – Packets</vt:lpstr>
      <vt:lpstr>What Makes Routing Hard?</vt:lpstr>
      <vt:lpstr>What Makes Routing Hard? (1/3) – Changing Topologies</vt:lpstr>
      <vt:lpstr>What Makes Routing Hard? (2/3) – Distributed Protocols</vt:lpstr>
      <vt:lpstr>What Makes Routing Hard? (3/3) – Best-Effort</vt:lpstr>
      <vt:lpstr>Types of Routing Protocols</vt:lpstr>
      <vt:lpstr>Routing Protocols – Disclaimer</vt:lpstr>
      <vt:lpstr>Intra-Domain vs. Inter-Domain Routing</vt:lpstr>
      <vt:lpstr>Intra-Domain vs. Inter-Domain Routing</vt:lpstr>
      <vt:lpstr>Classifying Routing Protocols</vt:lpstr>
      <vt:lpstr>Destination-Based Forwarding</vt:lpstr>
      <vt:lpstr>Routing Decisions</vt:lpstr>
      <vt:lpstr>Routing Decisions</vt:lpstr>
      <vt:lpstr>Routing Decisions</vt:lpstr>
      <vt:lpstr>Routing Decisions</vt:lpstr>
      <vt:lpstr>Routing vs. Forwarding</vt:lpstr>
      <vt:lpstr>Routing State Validity</vt:lpstr>
      <vt:lpstr>Routing State Validity is Global</vt:lpstr>
      <vt:lpstr>Routing State Validity is Global</vt:lpstr>
      <vt:lpstr>Routing State Validity Conditions</vt:lpstr>
      <vt:lpstr>Routing State Validity Proof</vt:lpstr>
      <vt:lpstr>Routing State Validity Proof</vt:lpstr>
      <vt:lpstr>Verifying Routing State Validity</vt:lpstr>
      <vt:lpstr>Verifying Routing State Validity</vt:lpstr>
      <vt:lpstr>Verifying Routing State Validity</vt:lpstr>
      <vt:lpstr>Verifying Routing State Validity – Steps</vt:lpstr>
      <vt:lpstr>Verifying Routing State Validity – Steps</vt:lpstr>
      <vt:lpstr>Verifying Routing State Validity – Steps</vt:lpstr>
      <vt:lpstr>Verifying Routing State Validity – Steps</vt:lpstr>
      <vt:lpstr>Verifying Routing State Validity – Steps</vt:lpstr>
      <vt:lpstr>Verifying Routing State Validity – Invalid State Example</vt:lpstr>
      <vt:lpstr>Verifying Routing State Validity – Invalid State Example</vt:lpstr>
      <vt:lpstr>Least-Cost Routing</vt:lpstr>
      <vt:lpstr>Least-Cost Routing</vt:lpstr>
      <vt:lpstr>Least-Cost Routing – Definition</vt:lpstr>
      <vt:lpstr>Least-Cost Routing – Definition</vt:lpstr>
      <vt:lpstr>Least-Cost Routing – Properties</vt:lpstr>
      <vt:lpstr>Least-Cost Routing — Good Paths</vt:lpstr>
      <vt:lpstr>Static Routing</vt:lpstr>
      <vt:lpstr>Special Route Types</vt:lpstr>
      <vt:lpstr>Special Route Types</vt:lpstr>
      <vt:lpstr>Summary: Routing Principles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</cp:revision>
  <dcterms:modified xsi:type="dcterms:W3CDTF">2025-12-31T12:31:15Z</dcterms:modified>
</cp:coreProperties>
</file>