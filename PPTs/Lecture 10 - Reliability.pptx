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</p:sldIdLst>
  <p:sldSz cy="5143500" cx="9144000"/>
  <p:notesSz cx="6858000" cy="9144000"/>
  <p:embeddedFontLst>
    <p:embeddedFont>
      <p:font typeface="Roboto Medium"/>
      <p:regular r:id="rId88"/>
      <p:bold r:id="rId89"/>
      <p:italic r:id="rId90"/>
      <p:boldItalic r:id="rId91"/>
    </p:embeddedFont>
    <p:embeddedFont>
      <p:font typeface="Roboto"/>
      <p:regular r:id="rId92"/>
      <p:bold r:id="rId93"/>
      <p:italic r:id="rId94"/>
      <p:boldItalic r:id="rId95"/>
    </p:embeddedFont>
    <p:embeddedFont>
      <p:font typeface="Roboto Light"/>
      <p:regular r:id="rId96"/>
      <p:bold r:id="rId97"/>
      <p:italic r:id="rId98"/>
      <p:boldItalic r:id="rId9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95" Type="http://schemas.openxmlformats.org/officeDocument/2006/relationships/font" Target="fonts/Roboto-boldItalic.fntdata"/><Relationship Id="rId94" Type="http://schemas.openxmlformats.org/officeDocument/2006/relationships/font" Target="fonts/Roboto-italic.fntdata"/><Relationship Id="rId97" Type="http://schemas.openxmlformats.org/officeDocument/2006/relationships/font" Target="fonts/RobotoLight-bold.fntdata"/><Relationship Id="rId96" Type="http://schemas.openxmlformats.org/officeDocument/2006/relationships/font" Target="fonts/RobotoLight-regular.fntdata"/><Relationship Id="rId11" Type="http://schemas.openxmlformats.org/officeDocument/2006/relationships/slide" Target="slides/slide6.xml"/><Relationship Id="rId99" Type="http://schemas.openxmlformats.org/officeDocument/2006/relationships/font" Target="fonts/RobotoLight-boldItalic.fntdata"/><Relationship Id="rId10" Type="http://schemas.openxmlformats.org/officeDocument/2006/relationships/slide" Target="slides/slide5.xml"/><Relationship Id="rId98" Type="http://schemas.openxmlformats.org/officeDocument/2006/relationships/font" Target="fonts/RobotoLight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91" Type="http://schemas.openxmlformats.org/officeDocument/2006/relationships/font" Target="fonts/RobotoMedium-boldItalic.fntdata"/><Relationship Id="rId90" Type="http://schemas.openxmlformats.org/officeDocument/2006/relationships/font" Target="fonts/RobotoMedium-italic.fntdata"/><Relationship Id="rId93" Type="http://schemas.openxmlformats.org/officeDocument/2006/relationships/font" Target="fonts/Roboto-bold.fntdata"/><Relationship Id="rId92" Type="http://schemas.openxmlformats.org/officeDocument/2006/relationships/font" Target="fonts/Roboto-regular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84" Type="http://schemas.openxmlformats.org/officeDocument/2006/relationships/slide" Target="slides/slide79.xml"/><Relationship Id="rId83" Type="http://schemas.openxmlformats.org/officeDocument/2006/relationships/slide" Target="slides/slide78.xml"/><Relationship Id="rId86" Type="http://schemas.openxmlformats.org/officeDocument/2006/relationships/slide" Target="slides/slide81.xml"/><Relationship Id="rId85" Type="http://schemas.openxmlformats.org/officeDocument/2006/relationships/slide" Target="slides/slide80.xml"/><Relationship Id="rId88" Type="http://schemas.openxmlformats.org/officeDocument/2006/relationships/font" Target="fonts/RobotoMedium-regular.fntdata"/><Relationship Id="rId87" Type="http://schemas.openxmlformats.org/officeDocument/2006/relationships/slide" Target="slides/slide82.xml"/><Relationship Id="rId89" Type="http://schemas.openxmlformats.org/officeDocument/2006/relationships/font" Target="fonts/RobotoMedium-bold.fntdata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75" Type="http://schemas.openxmlformats.org/officeDocument/2006/relationships/slide" Target="slides/slide70.xml"/><Relationship Id="rId74" Type="http://schemas.openxmlformats.org/officeDocument/2006/relationships/slide" Target="slides/slide69.xml"/><Relationship Id="rId77" Type="http://schemas.openxmlformats.org/officeDocument/2006/relationships/slide" Target="slides/slide72.xml"/><Relationship Id="rId76" Type="http://schemas.openxmlformats.org/officeDocument/2006/relationships/slide" Target="slides/slide71.xml"/><Relationship Id="rId79" Type="http://schemas.openxmlformats.org/officeDocument/2006/relationships/slide" Target="slides/slide74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66" Type="http://schemas.openxmlformats.org/officeDocument/2006/relationships/slide" Target="slides/slide61.xml"/><Relationship Id="rId65" Type="http://schemas.openxmlformats.org/officeDocument/2006/relationships/slide" Target="slides/slide60.xml"/><Relationship Id="rId68" Type="http://schemas.openxmlformats.org/officeDocument/2006/relationships/slide" Target="slides/slide63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69" Type="http://schemas.openxmlformats.org/officeDocument/2006/relationships/slide" Target="slides/slide6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55" Type="http://schemas.openxmlformats.org/officeDocument/2006/relationships/slide" Target="slides/slide50.xml"/><Relationship Id="rId54" Type="http://schemas.openxmlformats.org/officeDocument/2006/relationships/slide" Target="slides/slide49.xml"/><Relationship Id="rId57" Type="http://schemas.openxmlformats.org/officeDocument/2006/relationships/slide" Target="slides/slide52.xml"/><Relationship Id="rId56" Type="http://schemas.openxmlformats.org/officeDocument/2006/relationships/slide" Target="slides/slide51.xml"/><Relationship Id="rId59" Type="http://schemas.openxmlformats.org/officeDocument/2006/relationships/slide" Target="slides/slide54.xml"/><Relationship Id="rId58" Type="http://schemas.openxmlformats.org/officeDocument/2006/relationships/slide" Target="slides/slide5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4bf034c0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4bf034c0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before we start actually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designing protocols let's start by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discussing what we want to actually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 at layer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ea4bf034c0_0_140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ea4bf034c0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0:19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 so as a reminder this is probably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review from when we talked about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layers of the internet but let's cover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one more time layer three allowed us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send pack gets anywhere in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internet we achieved Global routing as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result of all the routing protocols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saw in the last unit now layer three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was thinking in terms of packets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individually and each router received 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and forwarded it independently of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other packets that was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abstraction level at layer three and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reason why we didn't stop at Layer Three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because of two major problems one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IP is best effort packets can be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lost corrupted reordered delayed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duplicated all things that we will see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today and try to solve the other problem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is that thinking about packets is hard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ea4bf034c0_0_2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ea4bf034c0_0_2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two major problems one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IP is best effort packets can 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lost corrupted reordered delayed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duplicated all things that we will see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today and try to solve the other problem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thinking about packets is hard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imagine if you wanted to write a program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sends a file to someone else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would be very annoying if you had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write code to split the file up into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packets and then write code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how to reassemble the packets that's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really annoying we want to give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programmers a more convenient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abstraction that they can write code 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top of so that's what layer 4 is going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fix for us it's going to add new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features on top of layer three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ea4bf034c0_0_2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ea4bf034c0_0_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before we dive into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designing these two protocols let's talk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these features that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provide the first feature that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provide at layer 4 is demultiplexing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with ports this is probably something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you've already seen but remember that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layer three allows us to Dem Multiplex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using the protocol field in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 header so when I receive a packet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unclear what all that stuff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green is is it a TCP packet is it a UDP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when I'm operating at IP level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know what this payload is so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solve that we are going to use an extra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 field not pictured on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slide to pass the packet to the correct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code whether that is the TCP code or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UDP code so that's what happened 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layer 3 hopefully review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a4bf034c0_0_3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ea4bf034c0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now at layer 4 we have a similar problem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once you unwrap the TCP header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process it it is not clear what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comes next what do we do with this stuff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blue what application at layer 7even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I pass this packet to and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applications I can pass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3:18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to are the different applications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internet on my computer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my computer is running slack 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chat and that's using the internet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3:28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it's running an email server that also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uses the internet and it's running a web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browser that also uses the internet so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need to figure out what application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3:38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we send the TCP payload to that's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the demultiplexing is going to do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3:45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ea4bf034c0_0_3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ea4bf034c0_0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as a summary of all the Dem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multiplexing features we've seen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is still kind of in the review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session of this lecture at layer 3 we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3:57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use the protocol field to Dem multiply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 layer 4 and pick the right layer 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Protocol and at layer 4 we demultiplex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using ports to identify the correct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4:07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layer 7 application that we pass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packet up to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ea4bf034c0_0_3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ea4bf034c0_0_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another way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can think of the port is the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connection point between the application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operating system the application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operating system both know that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4:59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fire fox has port number 20 so all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for Firefox are labeled port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 20 and as a reminder also there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5:08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are logical ports which is what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5:10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we're looking at now do not confuse them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5:12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with physical ports which we will see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5:14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later but all of this unit we will be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5:16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talking about logical ports not physical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5:21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ones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ea4bf034c0_0_2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ea4bf034c0_0_2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one final note on ports that 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5:24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maybe also review is that some ports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5:27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public and wellknown and some are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5:29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private they're kind of like room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numbers in a house so if you're in your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5:33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own house you can name name your rooms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ea4bf034c0_0_3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ea4bf034c0_0_3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lot of the next two lectures will 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about building reliability using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unreliable delivery as a building block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already have unreliable delivery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extra features do we have to build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achieve reliability we're going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spend a lot of time think thinking about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do note that some layer 4 protocols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namely TCP guarantee reliability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guarantees associated with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whereas other protocols actually do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you can actually choose a layer four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 that doesn't provide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but does provide some of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other features like abstractions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ports so layer 4 is actually used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lots of different features reliability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just one of them and TCP has it but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UDP does not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a4bf034c0_0_4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a4bf034c0_0_4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it worth spending an hour to animate this? No.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all the layer 4 features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offer us new abstractions that were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previously not possible in the layer 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Model so the way that I think about this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you move to higher layers you stop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thinking in terms of individual packets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processed independently and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thinking about Connections 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flows and the connection is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longlasting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between two people who for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exchanging lots of data so that's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way to think about the data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passing through the internet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abstraction that programmers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higher layers want to use I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imagine I start a connection with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I send them a file they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receive the file great I don't have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the underlying individual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being sent through the network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as we move from layer 3 to layer 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stop thinking in terms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packets and start thinking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of connections which is a more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useful way to think about network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operations for end users and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particular if you use TCP the type of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connection you get is something called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Bite stream and I think of a bite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stream like a big long pipe and what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is you feed some btes into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pipe and those same bites appear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order on the other side and in between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could go through multiple hops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might have to resent some bites that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but none of that is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application programmer's concern from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point of view of the application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programmer they create a bite stream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whatever they feed in on one end will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appear on the other end so it's just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tube anything you shove in on one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side shows up on the other side and you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to worry about the underlying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layer 4 layer three implementation so we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Connections and if we use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TCP we get B streams check out this cool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ea4bf034c0_0_4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ea4bf034c0_0_4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it worth spending an hour to animate this? No.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another one is UDP and UDP gives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abstraction called Data GRS 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kind of like the packet mindset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again although still have ports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other useful features but if you choose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use UDP you don't get the by stream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instead you have to process each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one by one and UDP is best effort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is no reliability so things can be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duplicated they can show up out of order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get dropped or corrupted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application has to process things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accordingly so to summarize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highlevel picture of the transport layer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protocols that exist there are two main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choices that you can make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ea4bf034c0_0_4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ea4bf034c0_0_4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ea4bf034c0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ea4bf034c0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ea4bf034c0_0_566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ea4bf034c0_0_5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2ea4bf034c0_0_5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2ea4bf034c0_0_5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ea4bf034c0_0_5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ea4bf034c0_0_5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ea4bf034c0_0_5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ea4bf034c0_0_5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ea4bf034c0_0_5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ea4bf034c0_0_5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are now going to build our very first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to do so I have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remind you about timing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 way you read this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center is on the left the recipient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the right and an arrow represents 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of data being sent and time moves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down as you go down this picture so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delay of the packet is the vertical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the time it's sent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 time it's received and there's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called roundtrip time which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how long it takes to send a packet 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 the response and that is also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labeled on our picture so just remember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that is how you read these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since we will be seeing a lot of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ea4bf034c0_0_6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ea4bf034c0_0_6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start with a super simple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reliability protocol and then we'll make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better and expand it to be more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General so let's try to achieve at least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once delivery the packet can arrive once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 multiple times is also okay and let's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 to achieve it for just a single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package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sender is sending one and only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packet that's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if we can get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packet to arrive at the destination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reliably we win it's okay if it arrives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multiple times that's fine it's okay if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fail and announce the failure because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not connected to the internet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fine too but we want to get 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least once delivery so there are five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that we talked about earlier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effort service model if we 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solve all of these problems we have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achieved at least once delivery so let's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1:32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through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2ea4bf034c0_0_6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2ea4bf034c0_0_6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2ea4bf034c0_0_6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2ea4bf034c0_0_6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2ea4bf034c0_0_6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2ea4bf034c0_0_6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2ea4bf034c0_0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2ea4bf034c0_0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ea4bf034c0_0_7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2ea4bf034c0_0_7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ea4bf034c0_0_7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2ea4bf034c0_0_7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2ea4bf034c0_0_8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2ea4bf034c0_0_8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2ea4bf034c0_0_8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2ea4bf034c0_0_8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2ea4bf034c0_0_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2ea4bf034c0_0_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ea4bf034c0_0_9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ea4bf034c0_0_9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2ea4bf034c0_0_9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2ea4bf034c0_0_9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ea4bf034c0_0_95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2ea4bf034c0_0_9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2ea4bf034c0_0_9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2ea4bf034c0_0_9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2ea4bf034c0_0_9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2ea4bf034c0_0_9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2ea4bf034c0_0_10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2ea4bf034c0_0_10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2ea4bf034c0_0_10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2ea4bf034c0_0_10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ea4bf034c0_0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ea4bf034c0_0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ea4bf034c0_0_1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2ea4bf034c0_0_1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2ea4bf034c0_0_12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3" name="Google Shape;763;g2ea4bf034c0_0_12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2ea4bf034c0_0_1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2ea4bf034c0_0_1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ea4bf034c0_0_1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ea4bf034c0_0_1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2ea4bf034c0_0_1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2ea4bf034c0_0_1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2ea4bf034c0_0_13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2ea4bf034c0_0_1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2ea4bf034c0_0_13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g2ea4bf034c0_0_1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2ea4bf034c0_0_14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" name="Google Shape;903;g2ea4bf034c0_0_14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2ea4bf034c0_0_16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2ea4bf034c0_0_16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3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4bf034c0_0_1221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4bf034c0_0_1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let's talk about the other two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constraints on setting 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4bf034c0_0_17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4bf034c0_0_17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are three goals we've already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looked at the first one and that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filling the pipe by using the equation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wal rtt times bandwidth we were able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find a value of w that kept the sender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busy at all times continually sending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things into the network and never idling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0:26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doing nothing but there are two more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goals that we need to balance and these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probably cause W to decrease so the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first constraint was Us increasing W all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up until I kept the center busy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the time and then two and three will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cause W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decrease so number two is something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called flow control and the idea here is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cannot overload the recipient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6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4bf034c0_0_17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4bf034c0_0_17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9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a4bf034c0_0_17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a4bf034c0_0_17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quiz: What did packet 3 say?</a:t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g2ea4bf034c0_0_17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6" name="Google Shape;1106;g2ea4bf034c0_0_17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5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2ea4bf034c0_0_17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7" name="Google Shape;1127;g2ea4bf034c0_0_17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2ea4bf034c0_0_18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2ea4bf034c0_0_18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3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2ea4bf034c0_0_1828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2ea4bf034c0_0_18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4bf034c0_0_18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4bf034c0_0_18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4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2ea4bf034c0_0_18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6" name="Google Shape;1186;g2ea4bf034c0_0_18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6" name="Shape 1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Google Shape;1207;g2ea4bf034c0_0_18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8" name="Google Shape;1208;g2ea4bf034c0_0_18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g2ea4bf034c0_0_19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7" name="Google Shape;1237;g2ea4bf034c0_0_19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2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ea4bf034c0_0_19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ea4bf034c0_0_19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ea4bf034c0_0_1993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ea4bf034c0_0_19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5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ea4bf034c0_0_19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ea4bf034c0_0_19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2" name="Shape 1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Google Shape;1283;g2ea4bf034c0_0_20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4" name="Google Shape;1284;g2ea4bf034c0_0_2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7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g2ea4bf034c0_0_20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9" name="Google Shape;1299;g2ea4bf034c0_0_20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2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2ea4bf034c0_0_20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2ea4bf034c0_0_20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3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a4bf034c0_0_20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a4bf034c0_0_20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9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g2ea4bf034c0_0_20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1" name="Google Shape;1341;g2ea4bf034c0_0_20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6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g2ea4bf034c0_0_2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8" name="Google Shape;1348;g2ea4bf034c0_0_2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2ea4bf034c0_0_20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2ea4bf034c0_0_20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0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2ea4bf034c0_0_20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2" name="Google Shape;1362;g2ea4bf034c0_0_20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7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g2ea4bf034c0_0_2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9" name="Google Shape;1369;g2ea4bf034c0_0_2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4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g2ea4bf034c0_0_2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6" name="Google Shape;1376;g2ea4bf034c0_0_2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g2ea4bf034c0_0_2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3" name="Google Shape;1383;g2ea4bf034c0_0_2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a4bf034c0_0_2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a4bf034c0_0_2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6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2ea4bf034c0_0_2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2ea4bf034c0_0_2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3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2ea4bf034c0_0_2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2ea4bf034c0_0_2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0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2ea4bf034c0_0_2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2ea4bf034c0_0_2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7" name="Shape 1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Google Shape;1418;g2ea4bf034c0_0_2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" name="Google Shape;1419;g2ea4bf034c0_0_2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4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g2ea4bf034c0_0_2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6" name="Google Shape;1426;g2ea4bf034c0_0_2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g2ea4bf034c0_0_2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3" name="Google Shape;1433;g2ea4bf034c0_0_2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7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ea4bf034c0_0_2004:notes"/>
          <p:cNvSpPr/>
          <p:nvPr>
            <p:ph idx="2" type="sldImg"/>
          </p:nvPr>
        </p:nvSpPr>
        <p:spPr>
          <a:xfrm>
            <a:off x="381187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ea4bf034c0_0_20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4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g2ea4bf034c0_0_20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6" name="Google Shape;1446;g2ea4bf034c0_0_20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0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2ea4bf034c0_0_20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2ea4bf034c0_0_20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2ea4bf034c0_0_20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8" name="Google Shape;1458;g2ea4bf034c0_0_20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SECTION_TITLE_AND_DESCRIPTION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" name="Google Shape;28;p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right">
  <p:cSld name="SECTION_TITLE_AND_DESCRIPTION_2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" type="subTitle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mo slide left">
  <p:cSld name="SECTION_TITLE_AND_DESCRIPTION_2_1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">
  <p:cSld name="SECTION_TITLE_AND_DESCRIPTION_2_1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1">
  <p:cSld name="SECTION_TITLE_AND_DESCRIPTION_2_1_1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ide Puzzle Solution">
  <p:cSld name="SECTION_TITLE_AND_DESCRIPTION_2_1_1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" type="subTitle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b="1" sz="25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_3">
  <p:cSld name="SECTION_TITLE_AND_DESCRIPTION_3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" name="Google Shape;89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0" name="Google Shape;9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/>
          <p:nvPr>
            <p:ph idx="2" type="body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/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ark">
  <p:cSld name="BLANK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lude">
  <p:cSld name="SECTION_TITLE_AND_DESCRIPTION_1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cap="flat" cmpd="sng" w="19050">
            <a:solidFill>
              <a:srgbClr val="BF9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2" name="Google Shape;112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left">
  <p:cSld name="SECTION_TITLE_AND_DESCRIPTION_1_1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20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left, Heading">
  <p:cSld name="SECTION_TITLE_AND_DESCRIPTION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/>
          <p:nvPr>
            <p:ph idx="1" type="body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1"/>
          <p:cNvSpPr txBox="1"/>
          <p:nvPr>
            <p:ph idx="2" type="body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3" type="subTitle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27" name="Google Shape;127;p21"/>
          <p:cNvSpPr txBox="1"/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de on right">
  <p:cSld name="SECTION_TITLE_AND_DESCRIPTION_1_2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2" type="body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23" Type="http://schemas.openxmlformats.org/officeDocument/2006/relationships/theme" Target="../theme/theme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2900" lvl="1" marL="914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2900" lvl="2" marL="1371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2900" lvl="3" marL="1828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2900" lvl="4" marL="22860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2900" lvl="5" marL="27432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2900" lvl="6" marL="32004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2900" lvl="7" marL="36576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2900" lvl="8" marL="41148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Spring 2026</a:t>
            </a: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Reliability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10 (Transport 1)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cxnSp>
        <p:nvCxnSpPr>
          <p:cNvPr id="146" name="Google Shape;146;p24"/>
          <p:cNvCxnSpPr/>
          <p:nvPr/>
        </p:nvCxnSpPr>
        <p:spPr>
          <a:xfrm>
            <a:off x="4579975" y="593800"/>
            <a:ext cx="0" cy="2146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" name="Google Shape;147;p24"/>
          <p:cNvCxnSpPr/>
          <p:nvPr/>
        </p:nvCxnSpPr>
        <p:spPr>
          <a:xfrm>
            <a:off x="7601375" y="593800"/>
            <a:ext cx="0" cy="2146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8" name="Google Shape;148;p24"/>
          <p:cNvCxnSpPr/>
          <p:nvPr/>
        </p:nvCxnSpPr>
        <p:spPr>
          <a:xfrm flipH="1">
            <a:off x="4587082" y="119278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9" name="Google Shape;149;p24"/>
          <p:cNvCxnSpPr/>
          <p:nvPr/>
        </p:nvCxnSpPr>
        <p:spPr>
          <a:xfrm>
            <a:off x="4581950" y="78304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0" name="Google Shape;150;p24"/>
          <p:cNvCxnSpPr/>
          <p:nvPr/>
        </p:nvCxnSpPr>
        <p:spPr>
          <a:xfrm>
            <a:off x="4581950" y="93544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1" name="Google Shape;151;p24"/>
          <p:cNvCxnSpPr/>
          <p:nvPr/>
        </p:nvCxnSpPr>
        <p:spPr>
          <a:xfrm>
            <a:off x="4581950" y="108784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2" name="Google Shape;152;p24"/>
          <p:cNvCxnSpPr/>
          <p:nvPr/>
        </p:nvCxnSpPr>
        <p:spPr>
          <a:xfrm>
            <a:off x="4581950" y="124024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3" name="Google Shape;153;p24"/>
          <p:cNvCxnSpPr/>
          <p:nvPr/>
        </p:nvCxnSpPr>
        <p:spPr>
          <a:xfrm flipH="1">
            <a:off x="4587082" y="149758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4" name="Google Shape;154;p24"/>
          <p:cNvSpPr txBox="1"/>
          <p:nvPr/>
        </p:nvSpPr>
        <p:spPr>
          <a:xfrm>
            <a:off x="4364436" y="610236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7564825" y="1004579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" name="Google Shape;156;p24"/>
          <p:cNvCxnSpPr/>
          <p:nvPr/>
        </p:nvCxnSpPr>
        <p:spPr>
          <a:xfrm flipH="1">
            <a:off x="4587082" y="164998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7" name="Google Shape;157;p24"/>
          <p:cNvCxnSpPr/>
          <p:nvPr/>
        </p:nvCxnSpPr>
        <p:spPr>
          <a:xfrm flipH="1">
            <a:off x="5639482" y="1345189"/>
            <a:ext cx="1956300" cy="2409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8" name="Google Shape;158;p24"/>
          <p:cNvSpPr txBox="1"/>
          <p:nvPr/>
        </p:nvSpPr>
        <p:spPr>
          <a:xfrm>
            <a:off x="5460199" y="144971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" name="Google Shape;159;p24"/>
          <p:cNvCxnSpPr/>
          <p:nvPr/>
        </p:nvCxnSpPr>
        <p:spPr>
          <a:xfrm>
            <a:off x="4581950" y="215464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0" name="Google Shape;160;p24"/>
          <p:cNvSpPr txBox="1"/>
          <p:nvPr/>
        </p:nvSpPr>
        <p:spPr>
          <a:xfrm>
            <a:off x="4364436" y="1981836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Transport Layer 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Implementing Reliability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6" name="Google Shape;166;p25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Design Goals</a:t>
            </a:r>
            <a:endParaRPr/>
          </a:p>
        </p:txBody>
      </p:sp>
      <p:sp>
        <p:nvSpPr>
          <p:cNvPr id="167" name="Google Shape;167;p25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10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 3 (IP) gave us the ability to send packets anywhere in the Internet.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Abstraction level: Packets individually sent through the network.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IP offers best-effort delivery.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Packets can be lost, corrupted, reordered, delayed, or duplicated.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Applications don't want to think about packets and best-effort.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Programmers want to think in terms of a more convenient abstraction.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 4 (Transport) builds extra features on top of Layer 3.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TCP</a:t>
            </a:r>
            <a:r>
              <a:rPr lang="en"/>
              <a:t> (Transmission Control Protocol): Adds </a:t>
            </a:r>
            <a:r>
              <a:rPr i="1" lang="en"/>
              <a:t>de-multiplexing</a:t>
            </a:r>
            <a:r>
              <a:rPr lang="en"/>
              <a:t> and </a:t>
            </a:r>
            <a:r>
              <a:rPr i="1" lang="en"/>
              <a:t>reliability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UDP</a:t>
            </a:r>
            <a:r>
              <a:rPr lang="en"/>
              <a:t> (User Datagram Protocol): Adds </a:t>
            </a:r>
            <a:r>
              <a:rPr i="1" lang="en"/>
              <a:t>de-multiplexing</a:t>
            </a:r>
            <a:r>
              <a:rPr lang="en"/>
              <a:t> only.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protocols provide a more useful abstraction to programmers.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check out each of these features.</a:t>
            </a:r>
            <a:endParaRPr/>
          </a:p>
        </p:txBody>
      </p:sp>
      <p:sp>
        <p:nvSpPr>
          <p:cNvPr id="173" name="Google Shape;173;p2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fmla="val 16667" name="adj"/>
            </a:avLst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180" name="Google Shape;180;p27"/>
          <p:cNvSpPr txBox="1"/>
          <p:nvPr>
            <p:ph idx="1" type="body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Protocol field in IP Header (L3) supports de-multiplexing between L4 protocols.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Should I pass this packet to the TCP code or the UDP code?</a:t>
            </a:r>
            <a:endParaRPr/>
          </a:p>
        </p:txBody>
      </p:sp>
      <p:sp>
        <p:nvSpPr>
          <p:cNvPr id="181" name="Google Shape;181;p27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7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7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7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7391850" y="2970200"/>
            <a:ext cx="1548300" cy="1615200"/>
          </a:xfrm>
          <a:prstGeom prst="rect">
            <a:avLst/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(TCP? UDP?)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Google Shape;196;p27"/>
          <p:cNvCxnSpPr>
            <a:stCxn id="182" idx="0"/>
            <a:endCxn id="183" idx="2"/>
          </p:cNvCxnSpPr>
          <p:nvPr/>
        </p:nvCxnSpPr>
        <p:spPr>
          <a:xfrm rot="10800000">
            <a:off x="3674100" y="3498200"/>
            <a:ext cx="586200" cy="279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7" name="Google Shape;197;p27"/>
          <p:cNvCxnSpPr>
            <a:stCxn id="182" idx="0"/>
            <a:endCxn id="184" idx="2"/>
          </p:cNvCxnSpPr>
          <p:nvPr/>
        </p:nvCxnSpPr>
        <p:spPr>
          <a:xfrm flipH="1" rot="10800000">
            <a:off x="4260300" y="3498200"/>
            <a:ext cx="586200" cy="279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28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fmla="val 16667" name="adj"/>
            </a:avLst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" name="Google Shape;205;p2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 field in TCP header</a:t>
            </a:r>
            <a:r>
              <a:rPr lang="en"/>
              <a:t> (L4) supports de-multiplexing between L7 applications.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Which application should I pass this packet to?</a:t>
            </a:r>
            <a:endParaRPr/>
          </a:p>
        </p:txBody>
      </p:sp>
      <p:sp>
        <p:nvSpPr>
          <p:cNvPr id="207" name="Google Shape;207;p28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8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8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8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3" name="Google Shape;213;p28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28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8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8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>
            <a:stCxn id="209" idx="0"/>
            <a:endCxn id="214" idx="2"/>
          </p:cNvCxnSpPr>
          <p:nvPr/>
        </p:nvCxnSpPr>
        <p:spPr>
          <a:xfrm rot="10800000">
            <a:off x="1915500" y="2517800"/>
            <a:ext cx="1758600" cy="586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21" name="Google Shape;221;p28"/>
          <p:cNvCxnSpPr>
            <a:stCxn id="209" idx="0"/>
            <a:endCxn id="213" idx="2"/>
          </p:cNvCxnSpPr>
          <p:nvPr/>
        </p:nvCxnSpPr>
        <p:spPr>
          <a:xfrm rot="10800000">
            <a:off x="3087900" y="2517800"/>
            <a:ext cx="586200" cy="586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22" name="Google Shape;222;p28"/>
          <p:cNvCxnSpPr>
            <a:stCxn id="209" idx="0"/>
            <a:endCxn id="211" idx="2"/>
          </p:cNvCxnSpPr>
          <p:nvPr/>
        </p:nvCxnSpPr>
        <p:spPr>
          <a:xfrm flipH="1" rot="10800000">
            <a:off x="3674100" y="2517800"/>
            <a:ext cx="586200" cy="586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9"/>
          <p:cNvSpPr/>
          <p:nvPr/>
        </p:nvSpPr>
        <p:spPr>
          <a:xfrm>
            <a:off x="7391850" y="2970200"/>
            <a:ext cx="1548300" cy="468000"/>
          </a:xfrm>
          <a:prstGeom prst="rect">
            <a:avLst/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7391850" y="3438200"/>
            <a:ext cx="1548300" cy="11472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(Slack? Email?)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fmla="val 16667" name="adj"/>
            </a:avLst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31" name="Google Shape;231;p29"/>
          <p:cNvSpPr txBox="1"/>
          <p:nvPr>
            <p:ph idx="1" type="body"/>
          </p:nvPr>
        </p:nvSpPr>
        <p:spPr>
          <a:xfrm>
            <a:off x="107050" y="402200"/>
            <a:ext cx="8909700" cy="123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Protocol (L3) and port (L4) together allow us to de-multiplex arriving packets.</a:t>
            </a:r>
            <a:endParaRPr/>
          </a:p>
        </p:txBody>
      </p:sp>
      <p:sp>
        <p:nvSpPr>
          <p:cNvPr id="232" name="Google Shape;232;p29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9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9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9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9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9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9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9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29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29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" name="Google Shape;244;p29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29"/>
          <p:cNvSpPr/>
          <p:nvPr/>
        </p:nvSpPr>
        <p:spPr>
          <a:xfrm>
            <a:off x="1899450" y="2517800"/>
            <a:ext cx="2164875" cy="2155142"/>
          </a:xfrm>
          <a:custGeom>
            <a:rect b="b" l="l" r="r" t="t"/>
            <a:pathLst>
              <a:path extrusionOk="0" h="85905" w="86595">
                <a:moveTo>
                  <a:pt x="85905" y="85905"/>
                </a:moveTo>
                <a:cubicBezTo>
                  <a:pt x="85606" y="81352"/>
                  <a:pt x="88541" y="67364"/>
                  <a:pt x="84108" y="58588"/>
                </a:cubicBezTo>
                <a:cubicBezTo>
                  <a:pt x="79675" y="49812"/>
                  <a:pt x="71827" y="40527"/>
                  <a:pt x="59307" y="33248"/>
                </a:cubicBezTo>
                <a:cubicBezTo>
                  <a:pt x="46787" y="25969"/>
                  <a:pt x="18871" y="20457"/>
                  <a:pt x="8986" y="14916"/>
                </a:cubicBezTo>
                <a:cubicBezTo>
                  <a:pt x="-898" y="9375"/>
                  <a:pt x="1498" y="2486"/>
                  <a:pt x="0" y="0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246" name="Google Shape;246;p29"/>
          <p:cNvSpPr/>
          <p:nvPr/>
        </p:nvSpPr>
        <p:spPr>
          <a:xfrm>
            <a:off x="3096300" y="2521725"/>
            <a:ext cx="1091476" cy="2147626"/>
          </a:xfrm>
          <a:custGeom>
            <a:rect b="b" l="l" r="r" t="t"/>
            <a:pathLst>
              <a:path extrusionOk="0" h="85725" w="43729">
                <a:moveTo>
                  <a:pt x="43132" y="85725"/>
                </a:moveTo>
                <a:cubicBezTo>
                  <a:pt x="42982" y="80543"/>
                  <a:pt x="44990" y="65747"/>
                  <a:pt x="42234" y="54634"/>
                </a:cubicBezTo>
                <a:cubicBezTo>
                  <a:pt x="39478" y="43522"/>
                  <a:pt x="33068" y="26568"/>
                  <a:pt x="26598" y="19050"/>
                </a:cubicBezTo>
                <a:cubicBezTo>
                  <a:pt x="20128" y="11532"/>
                  <a:pt x="7848" y="12700"/>
                  <a:pt x="3415" y="9525"/>
                </a:cubicBezTo>
                <a:cubicBezTo>
                  <a:pt x="-1018" y="6350"/>
                  <a:pt x="569" y="1588"/>
                  <a:pt x="0" y="0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247" name="Google Shape;247;p29"/>
          <p:cNvSpPr/>
          <p:nvPr/>
        </p:nvSpPr>
        <p:spPr>
          <a:xfrm>
            <a:off x="4528375" y="2526450"/>
            <a:ext cx="895885" cy="2147625"/>
          </a:xfrm>
          <a:custGeom>
            <a:rect b="b" l="l" r="r" t="t"/>
            <a:pathLst>
              <a:path extrusionOk="0" h="85905" w="37897">
                <a:moveTo>
                  <a:pt x="337" y="85905"/>
                </a:moveTo>
                <a:cubicBezTo>
                  <a:pt x="337" y="80783"/>
                  <a:pt x="-382" y="66196"/>
                  <a:pt x="337" y="55173"/>
                </a:cubicBezTo>
                <a:cubicBezTo>
                  <a:pt x="1056" y="44150"/>
                  <a:pt x="-891" y="26928"/>
                  <a:pt x="4650" y="19769"/>
                </a:cubicBezTo>
                <a:cubicBezTo>
                  <a:pt x="10191" y="12610"/>
                  <a:pt x="28044" y="15516"/>
                  <a:pt x="33585" y="12221"/>
                </a:cubicBezTo>
                <a:cubicBezTo>
                  <a:pt x="39126" y="8926"/>
                  <a:pt x="37179" y="2037"/>
                  <a:pt x="37898" y="0"/>
                </a:cubicBezTo>
              </a:path>
            </a:pathLst>
          </a:cu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248" name="Google Shape;248;p29"/>
          <p:cNvSpPr/>
          <p:nvPr/>
        </p:nvSpPr>
        <p:spPr>
          <a:xfrm>
            <a:off x="7391850" y="2502200"/>
            <a:ext cx="1548300" cy="4680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0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fmla="val 16667" name="adj"/>
            </a:avLst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Feature: De-Multiplexing with Ports</a:t>
            </a:r>
            <a:endParaRPr/>
          </a:p>
        </p:txBody>
      </p:sp>
      <p:sp>
        <p:nvSpPr>
          <p:cNvPr id="255" name="Google Shape;255;p30"/>
          <p:cNvSpPr txBox="1"/>
          <p:nvPr>
            <p:ph idx="1" type="body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the attachment point between the application and the OS.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allow data to pass between the </a:t>
            </a:r>
            <a:r>
              <a:rPr lang="en"/>
              <a:t>application</a:t>
            </a:r>
            <a:r>
              <a:rPr lang="en"/>
              <a:t> and the OS, without mixing up data between applications.</a:t>
            </a:r>
            <a:endParaRPr/>
          </a:p>
        </p:txBody>
      </p:sp>
      <p:sp>
        <p:nvSpPr>
          <p:cNvPr id="256" name="Google Shape;256;p30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0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30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30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30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30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30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fmla="val 16667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0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30"/>
          <p:cNvCxnSpPr>
            <a:stCxn id="263" idx="2"/>
          </p:cNvCxnSpPr>
          <p:nvPr/>
        </p:nvCxnSpPr>
        <p:spPr>
          <a:xfrm>
            <a:off x="1915500" y="2517800"/>
            <a:ext cx="534900" cy="46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270" name="Google Shape;270;p30"/>
          <p:cNvCxnSpPr>
            <a:stCxn id="262" idx="2"/>
          </p:cNvCxnSpPr>
          <p:nvPr/>
        </p:nvCxnSpPr>
        <p:spPr>
          <a:xfrm>
            <a:off x="3087900" y="2517800"/>
            <a:ext cx="472200" cy="4071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271" name="Google Shape;271;p30"/>
          <p:cNvCxnSpPr>
            <a:stCxn id="260" idx="2"/>
            <a:endCxn id="253" idx="0"/>
          </p:cNvCxnSpPr>
          <p:nvPr/>
        </p:nvCxnSpPr>
        <p:spPr>
          <a:xfrm>
            <a:off x="4260300" y="2517800"/>
            <a:ext cx="0" cy="411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272" name="Google Shape;272;p30"/>
          <p:cNvCxnSpPr>
            <a:stCxn id="261" idx="2"/>
          </p:cNvCxnSpPr>
          <p:nvPr/>
        </p:nvCxnSpPr>
        <p:spPr>
          <a:xfrm flipH="1">
            <a:off x="5127300" y="2517800"/>
            <a:ext cx="305400" cy="4071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273" name="Google Shape;273;p30"/>
          <p:cNvCxnSpPr>
            <a:stCxn id="264" idx="2"/>
          </p:cNvCxnSpPr>
          <p:nvPr/>
        </p:nvCxnSpPr>
        <p:spPr>
          <a:xfrm flipH="1">
            <a:off x="6100200" y="2517800"/>
            <a:ext cx="504900" cy="483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274" name="Google Shape;274;p30"/>
          <p:cNvSpPr txBox="1"/>
          <p:nvPr/>
        </p:nvSpPr>
        <p:spPr>
          <a:xfrm>
            <a:off x="6427550" y="3501800"/>
            <a:ext cx="2531700" cy="1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Warning: Naming conflict.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333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Logical ports: L4 header field (what you're looking at now).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333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Physical ports: On a router, the place you plug in a link.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are often called "ports."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De-Multiplexing with Ports</a:t>
            </a:r>
            <a:endParaRPr/>
          </a:p>
        </p:txBody>
      </p:sp>
      <p:sp>
        <p:nvSpPr>
          <p:cNvPr id="280" name="Google Shape;280;p31"/>
          <p:cNvSpPr txBox="1"/>
          <p:nvPr>
            <p:ph idx="1" type="body"/>
          </p:nvPr>
        </p:nvSpPr>
        <p:spPr>
          <a:xfrm>
            <a:off x="107050" y="402200"/>
            <a:ext cx="8909700" cy="459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Analogy: Ports are like room numbers in a house/building.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address is the same, but the room number specifies one person in the house.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can be anything in private </a:t>
            </a:r>
            <a:r>
              <a:rPr lang="en"/>
              <a:t>houses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Room numbers should be well-known and constant in public buildings.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identify applications on a specific machine.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Port numbers are 16 bits long.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private computers, ports can be anything.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"Ephemeral" port numbers: 1024–65535.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pick a random port number.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public services, ports should be well-known and public.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Examples: SSH (22), HTTP (80).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Services can listen for requests on a well-known port.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Users know the appropriate port number to contact.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2"/>
          <p:cNvSpPr txBox="1"/>
          <p:nvPr>
            <p:ph idx="1" type="body"/>
          </p:nvPr>
        </p:nvSpPr>
        <p:spPr>
          <a:xfrm>
            <a:off x="107050" y="402200"/>
            <a:ext cx="8909700" cy="231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Many </a:t>
            </a:r>
            <a:r>
              <a:rPr lang="en"/>
              <a:t>application</a:t>
            </a:r>
            <a:r>
              <a:rPr lang="en"/>
              <a:t> semantics involve reliable delivery.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File transfer.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Implemented by TCP, but not UDP.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Challenge: Building a reliable service (L4) on top of unreliable packet delivery (L3).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We'll spend most of today and next time building this.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3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Reliability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3"/>
          <p:cNvSpPr/>
          <p:nvPr/>
        </p:nvSpPr>
        <p:spPr>
          <a:xfrm>
            <a:off x="5738200" y="3349000"/>
            <a:ext cx="2120100" cy="15075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33"/>
          <p:cNvSpPr/>
          <p:nvPr/>
        </p:nvSpPr>
        <p:spPr>
          <a:xfrm>
            <a:off x="1295375" y="3366900"/>
            <a:ext cx="2468400" cy="15075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33"/>
          <p:cNvSpPr/>
          <p:nvPr/>
        </p:nvSpPr>
        <p:spPr>
          <a:xfrm rot="10800000">
            <a:off x="5556700" y="4241701"/>
            <a:ext cx="181500" cy="583500"/>
          </a:xfrm>
          <a:prstGeom prst="ellipse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3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Bytestream</a:t>
            </a:r>
            <a:endParaRPr/>
          </a:p>
        </p:txBody>
      </p:sp>
      <p:sp>
        <p:nvSpPr>
          <p:cNvPr id="295" name="Google Shape;295;p33"/>
          <p:cNvSpPr txBox="1"/>
          <p:nvPr>
            <p:ph idx="1" type="body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implementing reliability gives the application a new abstraction.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reliability (L3): Unreliable packet abstraction.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 individual packets, which might be dropped/corrupted/re-ordered.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reliability (L4): </a:t>
            </a:r>
            <a:r>
              <a:rPr lang="en"/>
              <a:t>Reliable </a:t>
            </a:r>
            <a:r>
              <a:rPr b="1" lang="en"/>
              <a:t>b</a:t>
            </a:r>
            <a:r>
              <a:rPr b="1" lang="en"/>
              <a:t>ytestream abstraction</a:t>
            </a:r>
            <a:r>
              <a:rPr lang="en"/>
              <a:t>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Sender application sends an arbitrary-length string of bytes.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same bytes appear, in order, at the recipient application.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Applications can think in terms of </a:t>
            </a:r>
            <a:r>
              <a:rPr b="1" lang="en"/>
              <a:t>connections</a:t>
            </a:r>
            <a:r>
              <a:rPr lang="en"/>
              <a:t> (aka sessions),</a:t>
            </a:r>
            <a:br>
              <a:rPr lang="en"/>
            </a:br>
            <a:r>
              <a:rPr lang="en"/>
              <a:t>instead of </a:t>
            </a:r>
            <a:r>
              <a:rPr lang="en"/>
              <a:t>individual</a:t>
            </a:r>
            <a:r>
              <a:rPr lang="en"/>
              <a:t> packets.</a:t>
            </a:r>
            <a:endParaRPr/>
          </a:p>
        </p:txBody>
      </p:sp>
      <p:sp>
        <p:nvSpPr>
          <p:cNvPr id="296" name="Google Shape;296;p33"/>
          <p:cNvSpPr txBox="1"/>
          <p:nvPr/>
        </p:nvSpPr>
        <p:spPr>
          <a:xfrm>
            <a:off x="1371600" y="4291775"/>
            <a:ext cx="7944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Arbitrary data...so I tied an onion to my belt, which was the 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style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at the time...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97" name="Google Shape;297;p33"/>
          <p:cNvGrpSpPr/>
          <p:nvPr/>
        </p:nvGrpSpPr>
        <p:grpSpPr>
          <a:xfrm>
            <a:off x="3763772" y="4241675"/>
            <a:ext cx="1895903" cy="583525"/>
            <a:chOff x="3763772" y="3708275"/>
            <a:chExt cx="1895903" cy="583525"/>
          </a:xfrm>
        </p:grpSpPr>
        <p:sp>
          <p:nvSpPr>
            <p:cNvPr id="298" name="Google Shape;298;p33"/>
            <p:cNvSpPr/>
            <p:nvPr/>
          </p:nvSpPr>
          <p:spPr>
            <a:xfrm flipH="1" rot="10800000">
              <a:off x="3763772" y="3708300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9" name="Google Shape;299;p33"/>
            <p:cNvSpPr/>
            <p:nvPr/>
          </p:nvSpPr>
          <p:spPr>
            <a:xfrm rot="10800000">
              <a:off x="4211350" y="3708275"/>
              <a:ext cx="1136100" cy="583500"/>
            </a:xfrm>
            <a:prstGeom prst="rect">
              <a:avLst/>
            </a:prstGeom>
            <a:solidFill>
              <a:srgbClr val="B6D7A8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0" name="Google Shape;300;p33"/>
            <p:cNvSpPr/>
            <p:nvPr/>
          </p:nvSpPr>
          <p:spPr>
            <a:xfrm flipH="1" rot="10800000">
              <a:off x="5053125" y="3708275"/>
              <a:ext cx="606550" cy="583500"/>
            </a:xfrm>
            <a:prstGeom prst="flowChartOnlineStorage">
              <a:avLst/>
            </a:prstGeom>
            <a:solidFill>
              <a:srgbClr val="B6D7A8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1" name="Google Shape;301;p33"/>
            <p:cNvSpPr/>
            <p:nvPr/>
          </p:nvSpPr>
          <p:spPr>
            <a:xfrm rot="10800000">
              <a:off x="4191549" y="3712650"/>
              <a:ext cx="372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2" name="Google Shape;302;p33"/>
            <p:cNvSpPr/>
            <p:nvPr/>
          </p:nvSpPr>
          <p:spPr>
            <a:xfrm rot="10800000">
              <a:off x="5029900" y="3712651"/>
              <a:ext cx="146100" cy="574200"/>
            </a:xfrm>
            <a:prstGeom prst="rect">
              <a:avLst/>
            </a:prstGeom>
            <a:solidFill>
              <a:srgbClr val="B6D7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03" name="Google Shape;303;p33"/>
          <p:cNvSpPr txBox="1"/>
          <p:nvPr/>
        </p:nvSpPr>
        <p:spPr>
          <a:xfrm>
            <a:off x="3808600" y="4333350"/>
            <a:ext cx="1748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04" name="Google Shape;304;p33"/>
          <p:cNvGrpSpPr/>
          <p:nvPr/>
        </p:nvGrpSpPr>
        <p:grpSpPr>
          <a:xfrm>
            <a:off x="8975" y="3366850"/>
            <a:ext cx="1462800" cy="1507500"/>
            <a:chOff x="8975" y="3366850"/>
            <a:chExt cx="1462800" cy="1507500"/>
          </a:xfrm>
        </p:grpSpPr>
        <p:sp>
          <p:nvSpPr>
            <p:cNvPr id="305" name="Google Shape;305;p33"/>
            <p:cNvSpPr/>
            <p:nvPr/>
          </p:nvSpPr>
          <p:spPr>
            <a:xfrm>
              <a:off x="8975" y="3366850"/>
              <a:ext cx="1286400" cy="1507500"/>
            </a:xfrm>
            <a:prstGeom prst="rect">
              <a:avLst/>
            </a:prstGeom>
            <a:solidFill>
              <a:srgbClr val="9FC5E8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Recipient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6" name="Google Shape;306;p33"/>
            <p:cNvSpPr/>
            <p:nvPr/>
          </p:nvSpPr>
          <p:spPr>
            <a:xfrm>
              <a:off x="1219175" y="3371350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07" name="Google Shape;307;p33"/>
          <p:cNvGrpSpPr/>
          <p:nvPr/>
        </p:nvGrpSpPr>
        <p:grpSpPr>
          <a:xfrm>
            <a:off x="7696175" y="3349000"/>
            <a:ext cx="1448450" cy="1507500"/>
            <a:chOff x="7696175" y="3349000"/>
            <a:chExt cx="1448450" cy="1507500"/>
          </a:xfrm>
        </p:grpSpPr>
        <p:sp>
          <p:nvSpPr>
            <p:cNvPr id="308" name="Google Shape;308;p33"/>
            <p:cNvSpPr/>
            <p:nvPr/>
          </p:nvSpPr>
          <p:spPr>
            <a:xfrm>
              <a:off x="7858225" y="3349000"/>
              <a:ext cx="1286400" cy="1507500"/>
            </a:xfrm>
            <a:prstGeom prst="rect">
              <a:avLst/>
            </a:prstGeom>
            <a:solidFill>
              <a:srgbClr val="9FC5E8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Sender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Application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9" name="Google Shape;309;p33"/>
            <p:cNvSpPr/>
            <p:nvPr/>
          </p:nvSpPr>
          <p:spPr>
            <a:xfrm>
              <a:off x="7696175" y="3353378"/>
              <a:ext cx="252600" cy="14988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Transport Layer Feature: New Abstractions: Datagram</a:t>
            </a:r>
            <a:endParaRPr/>
          </a:p>
        </p:txBody>
      </p:sp>
      <p:sp>
        <p:nvSpPr>
          <p:cNvPr id="315" name="Google Shape;315;p34"/>
          <p:cNvSpPr txBox="1"/>
          <p:nvPr>
            <p:ph idx="1" type="body"/>
          </p:nvPr>
        </p:nvSpPr>
        <p:spPr>
          <a:xfrm>
            <a:off x="107050" y="402200"/>
            <a:ext cx="8909700" cy="293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UDP does not implement reliability, and it gives users the </a:t>
            </a:r>
            <a:r>
              <a:rPr b="1" lang="en"/>
              <a:t>datagram abstraction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Basically the same as the Layer 3 packet abstraction.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best-effort.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</a:t>
            </a:r>
            <a:r>
              <a:rPr lang="en"/>
              <a:t>application</a:t>
            </a:r>
            <a:r>
              <a:rPr lang="en"/>
              <a:t> is responsible for splitting data into limited-size packets.</a:t>
            </a:r>
            <a:endParaRPr/>
          </a:p>
        </p:txBody>
      </p:sp>
      <p:sp>
        <p:nvSpPr>
          <p:cNvPr id="316" name="Google Shape;316;p34"/>
          <p:cNvSpPr/>
          <p:nvPr/>
        </p:nvSpPr>
        <p:spPr>
          <a:xfrm>
            <a:off x="8975" y="3366850"/>
            <a:ext cx="1286400" cy="15075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4"/>
          <p:cNvSpPr/>
          <p:nvPr/>
        </p:nvSpPr>
        <p:spPr>
          <a:xfrm>
            <a:off x="7858225" y="3349000"/>
            <a:ext cx="1286400" cy="15075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4"/>
          <p:cNvSpPr/>
          <p:nvPr/>
        </p:nvSpPr>
        <p:spPr>
          <a:xfrm>
            <a:off x="1626875" y="3514000"/>
            <a:ext cx="1286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34"/>
          <p:cNvSpPr/>
          <p:nvPr/>
        </p:nvSpPr>
        <p:spPr>
          <a:xfrm>
            <a:off x="3988550" y="3561975"/>
            <a:ext cx="1286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34"/>
          <p:cNvSpPr/>
          <p:nvPr/>
        </p:nvSpPr>
        <p:spPr>
          <a:xfrm>
            <a:off x="2932200" y="4043175"/>
            <a:ext cx="1286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belt,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34"/>
          <p:cNvSpPr/>
          <p:nvPr/>
        </p:nvSpPr>
        <p:spPr>
          <a:xfrm>
            <a:off x="5100400" y="4378900"/>
            <a:ext cx="1286400" cy="303900"/>
          </a:xfrm>
          <a:prstGeom prst="roundRect">
            <a:avLst>
              <a:gd fmla="val 16667" name="adj"/>
            </a:avLst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rPr>
              <a:t>was the style</a:t>
            </a:r>
            <a:endParaRPr>
              <a:solidFill>
                <a:srgbClr val="99999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34"/>
          <p:cNvSpPr/>
          <p:nvPr/>
        </p:nvSpPr>
        <p:spPr>
          <a:xfrm>
            <a:off x="6386800" y="3669600"/>
            <a:ext cx="1286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 teh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4"/>
          <p:cNvSpPr txBox="1"/>
          <p:nvPr/>
        </p:nvSpPr>
        <p:spPr>
          <a:xfrm>
            <a:off x="6720100" y="319780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Corrupted.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4"/>
          <p:cNvCxnSpPr>
            <a:stCxn id="323" idx="2"/>
            <a:endCxn id="322" idx="0"/>
          </p:cNvCxnSpPr>
          <p:nvPr/>
        </p:nvCxnSpPr>
        <p:spPr>
          <a:xfrm flipH="1">
            <a:off x="7030150" y="3437800"/>
            <a:ext cx="166500" cy="231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25" name="Google Shape;325;p34"/>
          <p:cNvSpPr txBox="1"/>
          <p:nvPr/>
        </p:nvSpPr>
        <p:spPr>
          <a:xfrm>
            <a:off x="3988550" y="3081850"/>
            <a:ext cx="953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4"/>
          <p:cNvCxnSpPr>
            <a:stCxn id="325" idx="2"/>
            <a:endCxn id="319" idx="0"/>
          </p:cNvCxnSpPr>
          <p:nvPr/>
        </p:nvCxnSpPr>
        <p:spPr>
          <a:xfrm>
            <a:off x="4465100" y="3321850"/>
            <a:ext cx="166800" cy="2400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27" name="Google Shape;327;p34"/>
          <p:cNvSpPr txBox="1"/>
          <p:nvPr/>
        </p:nvSpPr>
        <p:spPr>
          <a:xfrm>
            <a:off x="6835150" y="4410850"/>
            <a:ext cx="723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Dropped.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8" name="Google Shape;328;p34"/>
          <p:cNvCxnSpPr>
            <a:stCxn id="327" idx="1"/>
            <a:endCxn id="321" idx="3"/>
          </p:cNvCxnSpPr>
          <p:nvPr/>
        </p:nvCxnSpPr>
        <p:spPr>
          <a:xfrm rot="10800000">
            <a:off x="6386950" y="4530850"/>
            <a:ext cx="448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29" name="Google Shape;329;p34"/>
          <p:cNvSpPr/>
          <p:nvPr/>
        </p:nvSpPr>
        <p:spPr>
          <a:xfrm>
            <a:off x="1626875" y="4530850"/>
            <a:ext cx="1286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34"/>
          <p:cNvSpPr txBox="1"/>
          <p:nvPr/>
        </p:nvSpPr>
        <p:spPr>
          <a:xfrm>
            <a:off x="3361475" y="4562800"/>
            <a:ext cx="791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1" name="Google Shape;331;p34"/>
          <p:cNvCxnSpPr>
            <a:stCxn id="330" idx="1"/>
            <a:endCxn id="329" idx="3"/>
          </p:cNvCxnSpPr>
          <p:nvPr/>
        </p:nvCxnSpPr>
        <p:spPr>
          <a:xfrm rot="10800000">
            <a:off x="2913275" y="4682800"/>
            <a:ext cx="4482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5"/>
          <p:cNvSpPr txBox="1"/>
          <p:nvPr/>
        </p:nvSpPr>
        <p:spPr>
          <a:xfrm>
            <a:off x="6310013" y="2007800"/>
            <a:ext cx="12822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460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460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Bytestream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460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Reliability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35"/>
          <p:cNvSpPr/>
          <p:nvPr/>
        </p:nvSpPr>
        <p:spPr>
          <a:xfrm>
            <a:off x="6367025" y="3006125"/>
            <a:ext cx="1058100" cy="2637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3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Protocols</a:t>
            </a:r>
            <a:endParaRPr/>
          </a:p>
        </p:txBody>
      </p:sp>
      <p:sp>
        <p:nvSpPr>
          <p:cNvPr id="339" name="Google Shape;339;p35"/>
          <p:cNvSpPr txBox="1"/>
          <p:nvPr>
            <p:ph idx="1" type="body"/>
          </p:nvPr>
        </p:nvSpPr>
        <p:spPr>
          <a:xfrm>
            <a:off x="107050" y="402200"/>
            <a:ext cx="5997300" cy="43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choices of protocols at Layer 4: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 de-multiplexing with ports.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Both offer</a:t>
            </a:r>
            <a:r>
              <a:rPr lang="en"/>
              <a:t> a more useful abstraction to applications.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protocol offers a different abstraction.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additionally offers reliability.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programmer can choose which one to use.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needed: Choose TCP.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File transfer.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reliability isn't needed: Choose UDP.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Live streaming.</a:t>
            </a:r>
            <a:endParaRPr/>
          </a:p>
        </p:txBody>
      </p:sp>
      <p:sp>
        <p:nvSpPr>
          <p:cNvPr id="340" name="Google Shape;340;p35"/>
          <p:cNvSpPr txBox="1"/>
          <p:nvPr/>
        </p:nvSpPr>
        <p:spPr>
          <a:xfrm>
            <a:off x="6307800" y="123422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Transport Layer Protocols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35"/>
          <p:cNvSpPr txBox="1"/>
          <p:nvPr/>
        </p:nvSpPr>
        <p:spPr>
          <a:xfrm>
            <a:off x="7716488" y="2007800"/>
            <a:ext cx="1282200" cy="10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UDP</a:t>
            </a:r>
            <a:endParaRPr u="sng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460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Ports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14605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-"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Datagram abstraction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5"/>
          <p:cNvCxnSpPr>
            <a:stCxn id="340" idx="2"/>
            <a:endCxn id="336" idx="0"/>
          </p:cNvCxnSpPr>
          <p:nvPr/>
        </p:nvCxnSpPr>
        <p:spPr>
          <a:xfrm flipH="1">
            <a:off x="6951150" y="1505125"/>
            <a:ext cx="703200" cy="502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3" name="Google Shape;343;p35"/>
          <p:cNvCxnSpPr>
            <a:stCxn id="340" idx="2"/>
            <a:endCxn id="341" idx="0"/>
          </p:cNvCxnSpPr>
          <p:nvPr/>
        </p:nvCxnSpPr>
        <p:spPr>
          <a:xfrm>
            <a:off x="7654350" y="1505125"/>
            <a:ext cx="703200" cy="502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4" name="Google Shape;344;p35"/>
          <p:cNvSpPr txBox="1"/>
          <p:nvPr/>
        </p:nvSpPr>
        <p:spPr>
          <a:xfrm>
            <a:off x="6384000" y="3299675"/>
            <a:ext cx="19878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We're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about to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spend a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lot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of time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here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, but don't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forget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the bigger picture.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Transport Layer is Implemented at End Hosts</a:t>
            </a:r>
            <a:endParaRPr/>
          </a:p>
        </p:txBody>
      </p:sp>
      <p:sp>
        <p:nvSpPr>
          <p:cNvPr id="350" name="Google Shape;350;p36"/>
          <p:cNvSpPr txBox="1"/>
          <p:nvPr>
            <p:ph idx="1" type="body"/>
          </p:nvPr>
        </p:nvSpPr>
        <p:spPr>
          <a:xfrm>
            <a:off x="107050" y="402200"/>
            <a:ext cx="8909700" cy="21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TCP and UDP are implemented at end hosts, not intermediate routers.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De-multiplexing: Give the packet to the appropriate application...on the </a:t>
            </a:r>
            <a:r>
              <a:rPr i="1" lang="en"/>
              <a:t>end host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 a better abstraction...for the </a:t>
            </a:r>
            <a:r>
              <a:rPr i="1" lang="en"/>
              <a:t>end hosts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 at end hosts: End-to-end principle.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Alternate design: Make every link between routers reliable.</a:t>
            </a:r>
            <a:br>
              <a:rPr lang="en"/>
            </a:br>
            <a:r>
              <a:rPr lang="en"/>
              <a:t>Not what we chose to do.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>
            <a:off x="457200" y="3736653"/>
            <a:ext cx="1325700" cy="3555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6"/>
          <p:cNvSpPr/>
          <p:nvPr/>
        </p:nvSpPr>
        <p:spPr>
          <a:xfrm>
            <a:off x="457200" y="3381513"/>
            <a:ext cx="1325700" cy="3555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6"/>
          <p:cNvSpPr/>
          <p:nvPr/>
        </p:nvSpPr>
        <p:spPr>
          <a:xfrm>
            <a:off x="457200" y="4091792"/>
            <a:ext cx="1325700" cy="35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6"/>
          <p:cNvSpPr/>
          <p:nvPr/>
        </p:nvSpPr>
        <p:spPr>
          <a:xfrm>
            <a:off x="457200" y="3026374"/>
            <a:ext cx="1325700" cy="355500"/>
          </a:xfrm>
          <a:prstGeom prst="rect">
            <a:avLst/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6"/>
          <p:cNvSpPr/>
          <p:nvPr/>
        </p:nvSpPr>
        <p:spPr>
          <a:xfrm>
            <a:off x="457200" y="2671235"/>
            <a:ext cx="1325700" cy="3555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6"/>
          <p:cNvSpPr txBox="1"/>
          <p:nvPr/>
        </p:nvSpPr>
        <p:spPr>
          <a:xfrm>
            <a:off x="457200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(Sender)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6"/>
          <p:cNvSpPr/>
          <p:nvPr/>
        </p:nvSpPr>
        <p:spPr>
          <a:xfrm>
            <a:off x="7365349" y="3736653"/>
            <a:ext cx="1325700" cy="3555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6"/>
          <p:cNvSpPr/>
          <p:nvPr/>
        </p:nvSpPr>
        <p:spPr>
          <a:xfrm>
            <a:off x="7365349" y="3381513"/>
            <a:ext cx="1325700" cy="3555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36"/>
          <p:cNvSpPr/>
          <p:nvPr/>
        </p:nvSpPr>
        <p:spPr>
          <a:xfrm>
            <a:off x="7365349" y="4091792"/>
            <a:ext cx="1325700" cy="35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36"/>
          <p:cNvSpPr/>
          <p:nvPr/>
        </p:nvSpPr>
        <p:spPr>
          <a:xfrm>
            <a:off x="7365349" y="3026374"/>
            <a:ext cx="1325700" cy="355500"/>
          </a:xfrm>
          <a:prstGeom prst="rect">
            <a:avLst/>
          </a:prstGeom>
          <a:solidFill>
            <a:srgbClr val="B6D7A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4. Transport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36"/>
          <p:cNvSpPr/>
          <p:nvPr/>
        </p:nvSpPr>
        <p:spPr>
          <a:xfrm>
            <a:off x="7365349" y="2671235"/>
            <a:ext cx="1325700" cy="3555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7. Application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36"/>
          <p:cNvSpPr txBox="1"/>
          <p:nvPr/>
        </p:nvSpPr>
        <p:spPr>
          <a:xfrm>
            <a:off x="7365349" y="4446935"/>
            <a:ext cx="1325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End Host (Recipient)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36"/>
          <p:cNvSpPr/>
          <p:nvPr/>
        </p:nvSpPr>
        <p:spPr>
          <a:xfrm>
            <a:off x="2217091" y="3737028"/>
            <a:ext cx="1325700" cy="3555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6"/>
          <p:cNvSpPr/>
          <p:nvPr/>
        </p:nvSpPr>
        <p:spPr>
          <a:xfrm>
            <a:off x="2217091" y="3381888"/>
            <a:ext cx="1325700" cy="3555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2217091" y="4092167"/>
            <a:ext cx="1325700" cy="35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221709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6"/>
          <p:cNvSpPr/>
          <p:nvPr/>
        </p:nvSpPr>
        <p:spPr>
          <a:xfrm>
            <a:off x="3934266" y="3737028"/>
            <a:ext cx="1325700" cy="3555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3934266" y="3381888"/>
            <a:ext cx="1325700" cy="3555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6"/>
          <p:cNvSpPr/>
          <p:nvPr/>
        </p:nvSpPr>
        <p:spPr>
          <a:xfrm>
            <a:off x="3934266" y="4092167"/>
            <a:ext cx="1325700" cy="35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6"/>
          <p:cNvSpPr txBox="1"/>
          <p:nvPr/>
        </p:nvSpPr>
        <p:spPr>
          <a:xfrm>
            <a:off x="3934266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6"/>
          <p:cNvSpPr/>
          <p:nvPr/>
        </p:nvSpPr>
        <p:spPr>
          <a:xfrm>
            <a:off x="5605441" y="3737028"/>
            <a:ext cx="1325700" cy="3555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2. Link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2" name="Google Shape;372;p36"/>
          <p:cNvSpPr/>
          <p:nvPr/>
        </p:nvSpPr>
        <p:spPr>
          <a:xfrm>
            <a:off x="5605441" y="3381888"/>
            <a:ext cx="1325700" cy="3555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3. IP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6"/>
          <p:cNvSpPr/>
          <p:nvPr/>
        </p:nvSpPr>
        <p:spPr>
          <a:xfrm>
            <a:off x="5605441" y="4092167"/>
            <a:ext cx="1325700" cy="35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1. Physical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36"/>
          <p:cNvSpPr txBox="1"/>
          <p:nvPr/>
        </p:nvSpPr>
        <p:spPr>
          <a:xfrm>
            <a:off x="5605441" y="4447310"/>
            <a:ext cx="1325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5" name="Google Shape;375;p36"/>
          <p:cNvCxnSpPr>
            <a:stCxn id="353" idx="3"/>
            <a:endCxn id="365" idx="1"/>
          </p:cNvCxnSpPr>
          <p:nvPr/>
        </p:nvCxnSpPr>
        <p:spPr>
          <a:xfrm>
            <a:off x="1782900" y="4269542"/>
            <a:ext cx="434100" cy="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6" name="Google Shape;376;p36"/>
          <p:cNvCxnSpPr>
            <a:stCxn id="365" idx="3"/>
            <a:endCxn id="369" idx="1"/>
          </p:cNvCxnSpPr>
          <p:nvPr/>
        </p:nvCxnSpPr>
        <p:spPr>
          <a:xfrm>
            <a:off x="3542791" y="4269917"/>
            <a:ext cx="391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7" name="Google Shape;377;p36"/>
          <p:cNvCxnSpPr>
            <a:stCxn id="369" idx="3"/>
            <a:endCxn id="373" idx="1"/>
          </p:cNvCxnSpPr>
          <p:nvPr/>
        </p:nvCxnSpPr>
        <p:spPr>
          <a:xfrm>
            <a:off x="5259966" y="4269917"/>
            <a:ext cx="345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8" name="Google Shape;378;p36"/>
          <p:cNvCxnSpPr>
            <a:stCxn id="373" idx="3"/>
            <a:endCxn id="359" idx="1"/>
          </p:cNvCxnSpPr>
          <p:nvPr/>
        </p:nvCxnSpPr>
        <p:spPr>
          <a:xfrm flipH="1" rot="10800000">
            <a:off x="6931141" y="4269617"/>
            <a:ext cx="434100" cy="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79" name="Google Shape;379;p36"/>
          <p:cNvCxnSpPr>
            <a:stCxn id="371" idx="3"/>
            <a:endCxn id="357" idx="1"/>
          </p:cNvCxnSpPr>
          <p:nvPr/>
        </p:nvCxnSpPr>
        <p:spPr>
          <a:xfrm flipH="1" rot="10800000">
            <a:off x="6931141" y="3914478"/>
            <a:ext cx="434100" cy="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0" name="Google Shape;380;p36"/>
          <p:cNvCxnSpPr>
            <a:stCxn id="367" idx="3"/>
            <a:endCxn id="371" idx="1"/>
          </p:cNvCxnSpPr>
          <p:nvPr/>
        </p:nvCxnSpPr>
        <p:spPr>
          <a:xfrm>
            <a:off x="5259966" y="3914778"/>
            <a:ext cx="345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1" name="Google Shape;381;p36"/>
          <p:cNvCxnSpPr>
            <a:stCxn id="363" idx="3"/>
            <a:endCxn id="367" idx="1"/>
          </p:cNvCxnSpPr>
          <p:nvPr/>
        </p:nvCxnSpPr>
        <p:spPr>
          <a:xfrm>
            <a:off x="3542791" y="3914778"/>
            <a:ext cx="391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2" name="Google Shape;382;p36"/>
          <p:cNvCxnSpPr>
            <a:stCxn id="351" idx="3"/>
            <a:endCxn id="363" idx="1"/>
          </p:cNvCxnSpPr>
          <p:nvPr/>
        </p:nvCxnSpPr>
        <p:spPr>
          <a:xfrm>
            <a:off x="1782900" y="3914403"/>
            <a:ext cx="434100" cy="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3" name="Google Shape;383;p36"/>
          <p:cNvCxnSpPr>
            <a:stCxn id="352" idx="3"/>
            <a:endCxn id="364" idx="1"/>
          </p:cNvCxnSpPr>
          <p:nvPr/>
        </p:nvCxnSpPr>
        <p:spPr>
          <a:xfrm>
            <a:off x="1782900" y="3559263"/>
            <a:ext cx="434100" cy="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4" name="Google Shape;384;p36"/>
          <p:cNvCxnSpPr>
            <a:stCxn id="364" idx="3"/>
            <a:endCxn id="368" idx="1"/>
          </p:cNvCxnSpPr>
          <p:nvPr/>
        </p:nvCxnSpPr>
        <p:spPr>
          <a:xfrm>
            <a:off x="3542791" y="3559638"/>
            <a:ext cx="391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5" name="Google Shape;385;p36"/>
          <p:cNvCxnSpPr>
            <a:stCxn id="368" idx="3"/>
            <a:endCxn id="372" idx="1"/>
          </p:cNvCxnSpPr>
          <p:nvPr/>
        </p:nvCxnSpPr>
        <p:spPr>
          <a:xfrm>
            <a:off x="5259966" y="3559638"/>
            <a:ext cx="345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6" name="Google Shape;386;p36"/>
          <p:cNvCxnSpPr>
            <a:stCxn id="372" idx="3"/>
            <a:endCxn id="358" idx="1"/>
          </p:cNvCxnSpPr>
          <p:nvPr/>
        </p:nvCxnSpPr>
        <p:spPr>
          <a:xfrm flipH="1" rot="10800000">
            <a:off x="6931141" y="3559338"/>
            <a:ext cx="434100" cy="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7" name="Google Shape;387;p36"/>
          <p:cNvCxnSpPr>
            <a:stCxn id="354" idx="3"/>
            <a:endCxn id="360" idx="1"/>
          </p:cNvCxnSpPr>
          <p:nvPr/>
        </p:nvCxnSpPr>
        <p:spPr>
          <a:xfrm>
            <a:off x="1782900" y="3204124"/>
            <a:ext cx="5582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88" name="Google Shape;388;p36"/>
          <p:cNvCxnSpPr>
            <a:stCxn id="355" idx="3"/>
            <a:endCxn id="361" idx="1"/>
          </p:cNvCxnSpPr>
          <p:nvPr/>
        </p:nvCxnSpPr>
        <p:spPr>
          <a:xfrm>
            <a:off x="1782900" y="2848985"/>
            <a:ext cx="5582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triangl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7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Single Packet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94" name="Google Shape;394;p37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Reliability:</a:t>
            </a:r>
            <a:br>
              <a:rPr lang="en"/>
            </a:br>
            <a:r>
              <a:rPr lang="en"/>
              <a:t>Single Packet</a:t>
            </a:r>
            <a:endParaRPr/>
          </a:p>
        </p:txBody>
      </p:sp>
      <p:sp>
        <p:nvSpPr>
          <p:cNvPr id="395" name="Google Shape;395;p37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10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Reliability</a:t>
            </a:r>
            <a:endParaRPr/>
          </a:p>
        </p:txBody>
      </p:sp>
      <p:sp>
        <p:nvSpPr>
          <p:cNvPr id="401" name="Google Shape;401;p38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Challenge: Building a reliable service (L4) on top of unreliable packet delivery (L3).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We'll spend most of today and next time building this.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Our goal is to bridge the gap between the </a:t>
            </a:r>
            <a:r>
              <a:rPr i="1" lang="en"/>
              <a:t>packet abstraction</a:t>
            </a:r>
            <a:r>
              <a:rPr lang="en"/>
              <a:t> and the</a:t>
            </a:r>
            <a:r>
              <a:rPr i="1" lang="en"/>
              <a:t> bytestream abstraction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Goals for reliable transfer: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Correctness: The destination receives every packet, uncorrupted, in order.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Timeliness: Minimize time until data is transferred.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Efficiency: Minimize use of bandwidth.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Avoid sending packets unnecessarily.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 of inefficient protocol: Send 1000 copies of every packet.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Reliability</a:t>
            </a:r>
            <a:endParaRPr/>
          </a:p>
        </p:txBody>
      </p:sp>
      <p:sp>
        <p:nvSpPr>
          <p:cNvPr id="407" name="Google Shape;407;p3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 different definitions of reliability: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Best-effort delivery.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At-least-once</a:t>
            </a:r>
            <a:r>
              <a:rPr lang="en"/>
              <a:t> delivery: </a:t>
            </a:r>
            <a:r>
              <a:rPr lang="en"/>
              <a:t>Every packet arrives, but some might arrive more than once (duplicates).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Exactly-once</a:t>
            </a:r>
            <a:r>
              <a:rPr lang="en"/>
              <a:t> delivery: Every packet arrives exactly once.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plan for bridging the abstraction gap: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transport layer: Use IP (best-effort delivery) to build </a:t>
            </a:r>
            <a:r>
              <a:rPr i="1" lang="en"/>
              <a:t>at-least-once</a:t>
            </a:r>
            <a:r>
              <a:rPr lang="en"/>
              <a:t> delivery.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get rid of duplicates and pass the result to the application.</a:t>
            </a:r>
            <a:br>
              <a:rPr lang="en"/>
            </a:br>
            <a:r>
              <a:rPr lang="en"/>
              <a:t>This gives the application </a:t>
            </a:r>
            <a:r>
              <a:rPr i="1" lang="en"/>
              <a:t>exactly-once</a:t>
            </a:r>
            <a:r>
              <a:rPr lang="en"/>
              <a:t> delivery.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Defining Reliability</a:t>
            </a:r>
            <a:endParaRPr/>
          </a:p>
        </p:txBody>
      </p:sp>
      <p:sp>
        <p:nvSpPr>
          <p:cNvPr id="413" name="Google Shape;413;p4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reliability protocol is allowed to give up, but must announce it to the application.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Computer not connected to Internet.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is not magic. Can't deliver packets if the computer is not connected.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can never falsely claim to deliver a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8" name="Google Shape;418;p41"/>
          <p:cNvCxnSpPr/>
          <p:nvPr/>
        </p:nvCxnSpPr>
        <p:spPr>
          <a:xfrm>
            <a:off x="3039500" y="931825"/>
            <a:ext cx="3009600" cy="749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19" name="Google Shape;419;p4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Reminder: Timing Diagrams</a:t>
            </a:r>
            <a:endParaRPr/>
          </a:p>
        </p:txBody>
      </p:sp>
      <p:cxnSp>
        <p:nvCxnSpPr>
          <p:cNvPr id="420" name="Google Shape;420;p41"/>
          <p:cNvCxnSpPr/>
          <p:nvPr/>
        </p:nvCxnSpPr>
        <p:spPr>
          <a:xfrm>
            <a:off x="3037525" y="599875"/>
            <a:ext cx="0" cy="38481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1" name="Google Shape;421;p41"/>
          <p:cNvSpPr txBox="1"/>
          <p:nvPr/>
        </p:nvSpPr>
        <p:spPr>
          <a:xfrm>
            <a:off x="2485075" y="4447975"/>
            <a:ext cx="1104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2" name="Google Shape;422;p41"/>
          <p:cNvCxnSpPr/>
          <p:nvPr/>
        </p:nvCxnSpPr>
        <p:spPr>
          <a:xfrm>
            <a:off x="6058934" y="599875"/>
            <a:ext cx="0" cy="38481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3" name="Google Shape;423;p41"/>
          <p:cNvSpPr txBox="1"/>
          <p:nvPr/>
        </p:nvSpPr>
        <p:spPr>
          <a:xfrm>
            <a:off x="5458934" y="4447975"/>
            <a:ext cx="12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4" name="Google Shape;424;p41"/>
          <p:cNvCxnSpPr/>
          <p:nvPr/>
        </p:nvCxnSpPr>
        <p:spPr>
          <a:xfrm>
            <a:off x="6261100" y="3049475"/>
            <a:ext cx="0" cy="8889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25" name="Google Shape;425;p41"/>
          <p:cNvSpPr txBox="1"/>
          <p:nvPr/>
        </p:nvSpPr>
        <p:spPr>
          <a:xfrm>
            <a:off x="6261100" y="3186125"/>
            <a:ext cx="2273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increases as we move down the diagram.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6" name="Google Shape;426;p41"/>
          <p:cNvCxnSpPr/>
          <p:nvPr/>
        </p:nvCxnSpPr>
        <p:spPr>
          <a:xfrm flipH="1">
            <a:off x="3039500" y="1737159"/>
            <a:ext cx="3009600" cy="749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427" name="Google Shape;427;p41"/>
          <p:cNvGrpSpPr/>
          <p:nvPr/>
        </p:nvGrpSpPr>
        <p:grpSpPr>
          <a:xfrm>
            <a:off x="2715500" y="931825"/>
            <a:ext cx="192000" cy="1556000"/>
            <a:chOff x="2715500" y="931825"/>
            <a:chExt cx="192000" cy="1556000"/>
          </a:xfrm>
        </p:grpSpPr>
        <p:cxnSp>
          <p:nvCxnSpPr>
            <p:cNvPr id="428" name="Google Shape;428;p41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41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41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431" name="Google Shape;431;p41"/>
          <p:cNvGrpSpPr/>
          <p:nvPr/>
        </p:nvGrpSpPr>
        <p:grpSpPr>
          <a:xfrm>
            <a:off x="6191950" y="931825"/>
            <a:ext cx="192000" cy="746600"/>
            <a:chOff x="6191950" y="931825"/>
            <a:chExt cx="192000" cy="746600"/>
          </a:xfrm>
        </p:grpSpPr>
        <p:cxnSp>
          <p:nvCxnSpPr>
            <p:cNvPr id="432" name="Google Shape;432;p41"/>
            <p:cNvCxnSpPr/>
            <p:nvPr/>
          </p:nvCxnSpPr>
          <p:spPr>
            <a:xfrm>
              <a:off x="6287961" y="933519"/>
              <a:ext cx="0" cy="7449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3" name="Google Shape;433;p41"/>
            <p:cNvCxnSpPr/>
            <p:nvPr/>
          </p:nvCxnSpPr>
          <p:spPr>
            <a:xfrm>
              <a:off x="6191950" y="931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4" name="Google Shape;434;p41"/>
            <p:cNvCxnSpPr/>
            <p:nvPr/>
          </p:nvCxnSpPr>
          <p:spPr>
            <a:xfrm>
              <a:off x="6191950" y="16784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35" name="Google Shape;435;p41"/>
          <p:cNvSpPr txBox="1"/>
          <p:nvPr/>
        </p:nvSpPr>
        <p:spPr>
          <a:xfrm>
            <a:off x="6383950" y="1106425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One-way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41"/>
          <p:cNvSpPr txBox="1"/>
          <p:nvPr/>
        </p:nvSpPr>
        <p:spPr>
          <a:xfrm>
            <a:off x="1284450" y="1402025"/>
            <a:ext cx="1420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Round-trip time (RTT)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442" name="Google Shape;442;p4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start with providing </a:t>
            </a:r>
            <a:r>
              <a:rPr i="1" lang="en"/>
              <a:t>at-least-once</a:t>
            </a:r>
            <a:r>
              <a:rPr lang="en"/>
              <a:t> delivery for a single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deal with 5 problems from the best-effort service model: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dropped.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corrupted.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delayed.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duplicated.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reordered.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43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448" name="Google Shape;448;p43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49" name="Google Shape;449;p43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0" name="Google Shape;450;p4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Designing Reliability for a Single Packet</a:t>
            </a:r>
            <a:endParaRPr/>
          </a:p>
        </p:txBody>
      </p:sp>
      <p:sp>
        <p:nvSpPr>
          <p:cNvPr id="451" name="Google Shape;451;p43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packet is sent. How does the sender know if it was received successfully?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The recipient replies with an </a:t>
            </a:r>
            <a:r>
              <a:rPr b="1" lang="en"/>
              <a:t>acknowledgment</a:t>
            </a:r>
            <a:r>
              <a:rPr lang="en"/>
              <a:t> (ack).</a:t>
            </a:r>
            <a:endParaRPr/>
          </a:p>
        </p:txBody>
      </p:sp>
      <p:cxnSp>
        <p:nvCxnSpPr>
          <p:cNvPr id="452" name="Google Shape;452;p43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53" name="Google Shape;453;p43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4" name="Google Shape;454;p43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5" name="Google Shape;455;p43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6" name="Google Shape;456;p43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1" name="Google Shape;461;p44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62" name="Google Shape;462;p44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63" name="Google Shape;463;p44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64" name="Google Shape;464;p4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</a:t>
            </a:r>
            <a:r>
              <a:rPr lang="en">
                <a:solidFill>
                  <a:schemeClr val="accent3"/>
                </a:solidFill>
              </a:rPr>
              <a:t>1/5</a:t>
            </a:r>
            <a:r>
              <a:rPr lang="en">
                <a:solidFill>
                  <a:schemeClr val="accent3"/>
                </a:solidFill>
              </a:rPr>
              <a:t>: Dropped Packets</a:t>
            </a:r>
            <a:endParaRPr/>
          </a:p>
        </p:txBody>
      </p:sp>
      <p:sp>
        <p:nvSpPr>
          <p:cNvPr id="465" name="Google Shape;465;p44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Set a timer when we send the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timer expires and we don't get the ack, resend the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get the ack, cancel the timer.</a:t>
            </a:r>
            <a:endParaRPr/>
          </a:p>
        </p:txBody>
      </p:sp>
      <p:cxnSp>
        <p:nvCxnSpPr>
          <p:cNvPr id="466" name="Google Shape;466;p44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67" name="Google Shape;467;p44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8" name="Google Shape;468;p44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9" name="Google Shape;469;p44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70" name="Google Shape;470;p44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44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44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44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4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75" name="Google Shape;475;p44"/>
          <p:cNvSpPr txBox="1"/>
          <p:nvPr/>
        </p:nvSpPr>
        <p:spPr>
          <a:xfrm>
            <a:off x="4481475" y="20965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6" name="Google Shape;476;p44"/>
          <p:cNvCxnSpPr>
            <a:stCxn id="471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cap="flat" cmpd="sng" w="9525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77" name="Google Shape;477;p44"/>
          <p:cNvCxnSpPr>
            <a:stCxn id="472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78" name="Google Shape;478;p44"/>
          <p:cNvCxnSpPr>
            <a:stCxn id="473" idx="3"/>
          </p:cNvCxnSpPr>
          <p:nvPr/>
        </p:nvCxnSpPr>
        <p:spPr>
          <a:xfrm flipH="1" rot="10800000">
            <a:off x="2722225" y="3247875"/>
            <a:ext cx="262800" cy="166500"/>
          </a:xfrm>
          <a:prstGeom prst="straightConnector1">
            <a:avLst/>
          </a:prstGeom>
          <a:noFill/>
          <a:ln cap="flat" cmpd="sng" w="9525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79" name="Google Shape;479;p44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0" name="Google Shape;480;p44"/>
          <p:cNvCxnSpPr>
            <a:stCxn id="479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oogle Shape;485;p45"/>
          <p:cNvGrpSpPr/>
          <p:nvPr/>
        </p:nvGrpSpPr>
        <p:grpSpPr>
          <a:xfrm>
            <a:off x="3039475" y="3657600"/>
            <a:ext cx="3015000" cy="530546"/>
            <a:chOff x="3039475" y="2514600"/>
            <a:chExt cx="3015000" cy="530546"/>
          </a:xfrm>
        </p:grpSpPr>
        <p:cxnSp>
          <p:nvCxnSpPr>
            <p:cNvPr id="486" name="Google Shape;486;p45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487" name="Google Shape;487;p45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88" name="Google Shape;488;p4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1/5</a:t>
            </a:r>
            <a:r>
              <a:rPr lang="en">
                <a:solidFill>
                  <a:schemeClr val="accent3"/>
                </a:solidFill>
              </a:rPr>
              <a:t>: Dropped Packets</a:t>
            </a:r>
            <a:endParaRPr/>
          </a:p>
        </p:txBody>
      </p:sp>
      <p:sp>
        <p:nvSpPr>
          <p:cNvPr id="489" name="Google Shape;489;p45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 ack gets dropped?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timer expires, and the packet gets resent. Repeat until the ack arrives.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destination received the packet twice, but that's okay (</a:t>
            </a:r>
            <a:r>
              <a:rPr i="1" lang="en"/>
              <a:t>at-least-once</a:t>
            </a:r>
            <a:r>
              <a:rPr lang="en"/>
              <a:t> delivery).</a:t>
            </a:r>
            <a:endParaRPr/>
          </a:p>
        </p:txBody>
      </p:sp>
      <p:cxnSp>
        <p:nvCxnSpPr>
          <p:cNvPr id="490" name="Google Shape;490;p45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91" name="Google Shape;491;p45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2" name="Google Shape;492;p45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93" name="Google Shape;493;p45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5"/>
          <p:cNvSpPr txBox="1"/>
          <p:nvPr/>
        </p:nvSpPr>
        <p:spPr>
          <a:xfrm>
            <a:off x="1794175" y="1883500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Start timer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5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45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97" name="Google Shape;497;p45"/>
          <p:cNvSpPr txBox="1"/>
          <p:nvPr/>
        </p:nvSpPr>
        <p:spPr>
          <a:xfrm>
            <a:off x="4445532" y="262990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8" name="Google Shape;498;p45"/>
          <p:cNvCxnSpPr>
            <a:stCxn id="494" idx="3"/>
          </p:cNvCxnSpPr>
          <p:nvPr/>
        </p:nvCxnSpPr>
        <p:spPr>
          <a:xfrm>
            <a:off x="2722375" y="2018950"/>
            <a:ext cx="279000" cy="0"/>
          </a:xfrm>
          <a:prstGeom prst="straightConnector1">
            <a:avLst/>
          </a:prstGeom>
          <a:noFill/>
          <a:ln cap="flat" cmpd="sng" w="9525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99" name="Google Shape;499;p45"/>
          <p:cNvCxnSpPr>
            <a:stCxn id="495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00" name="Google Shape;500;p45"/>
          <p:cNvSpPr txBox="1"/>
          <p:nvPr/>
        </p:nvSpPr>
        <p:spPr>
          <a:xfrm>
            <a:off x="1656450" y="3964725"/>
            <a:ext cx="1065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Cancel timer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1" name="Google Shape;501;p45"/>
          <p:cNvCxnSpPr>
            <a:stCxn id="500" idx="3"/>
          </p:cNvCxnSpPr>
          <p:nvPr/>
        </p:nvCxnSpPr>
        <p:spPr>
          <a:xfrm>
            <a:off x="2722350" y="4100175"/>
            <a:ext cx="2790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02" name="Google Shape;502;p45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503" name="Google Shape;503;p45"/>
          <p:cNvGrpSpPr/>
          <p:nvPr/>
        </p:nvGrpSpPr>
        <p:grpSpPr>
          <a:xfrm>
            <a:off x="4621728" y="2541698"/>
            <a:ext cx="1440000" cy="432898"/>
            <a:chOff x="4621728" y="2541698"/>
            <a:chExt cx="1440000" cy="432898"/>
          </a:xfrm>
        </p:grpSpPr>
        <p:cxnSp>
          <p:nvCxnSpPr>
            <p:cNvPr id="504" name="Google Shape;504;p45"/>
            <p:cNvCxnSpPr/>
            <p:nvPr/>
          </p:nvCxnSpPr>
          <p:spPr>
            <a:xfrm flipH="1">
              <a:off x="4621728" y="2541698"/>
              <a:ext cx="1440000" cy="2265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05" name="Google Shape;505;p45"/>
            <p:cNvSpPr txBox="1"/>
            <p:nvPr/>
          </p:nvSpPr>
          <p:spPr>
            <a:xfrm rot="-510186">
              <a:off x="5168111" y="266013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06" name="Google Shape;506;p45"/>
          <p:cNvSpPr txBox="1"/>
          <p:nvPr/>
        </p:nvSpPr>
        <p:spPr>
          <a:xfrm>
            <a:off x="1617325" y="3278925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  <a:latin typeface="Roboto"/>
                <a:ea typeface="Roboto"/>
                <a:cs typeface="Roboto"/>
                <a:sym typeface="Roboto"/>
              </a:rPr>
              <a:t>Restart timer</a:t>
            </a:r>
            <a:endParaRPr>
              <a:solidFill>
                <a:schemeClr val="accent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7" name="Google Shape;507;p45"/>
          <p:cNvCxnSpPr>
            <a:stCxn id="506" idx="3"/>
          </p:cNvCxnSpPr>
          <p:nvPr/>
        </p:nvCxnSpPr>
        <p:spPr>
          <a:xfrm flipH="1" rot="10800000">
            <a:off x="2722225" y="3247875"/>
            <a:ext cx="262800" cy="166500"/>
          </a:xfrm>
          <a:prstGeom prst="straightConnector1">
            <a:avLst/>
          </a:prstGeom>
          <a:noFill/>
          <a:ln cap="flat" cmpd="sng" w="9525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Problem 1/5: Dropped Packets</a:t>
            </a:r>
            <a:endParaRPr/>
          </a:p>
        </p:txBody>
      </p:sp>
      <p:sp>
        <p:nvSpPr>
          <p:cNvPr id="513" name="Google Shape;513;p46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set the timer length?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 long: Delays delivery.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 short: Causes unnecessary retransmission.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Ideally: Timer is proportional to RTT (round-trip time).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Intuition: RTT is when you expected to see the ack.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practice: Measuring the RTT is non-trivial.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RTT varies depending on what path the packet takes.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RTT varies along a fixed path: packet could get stuck in queues at links.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8" name="Google Shape;518;p47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519" name="Google Shape;519;p47"/>
          <p:cNvGrpSpPr/>
          <p:nvPr/>
        </p:nvGrpSpPr>
        <p:grpSpPr>
          <a:xfrm>
            <a:off x="3039475" y="3505200"/>
            <a:ext cx="3015000" cy="530546"/>
            <a:chOff x="3039475" y="2514600"/>
            <a:chExt cx="3015000" cy="530546"/>
          </a:xfrm>
        </p:grpSpPr>
        <p:cxnSp>
          <p:nvCxnSpPr>
            <p:cNvPr id="520" name="Google Shape;520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21" name="Google Shape;521;p47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2" name="Google Shape;522;p4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</a:t>
            </a:r>
            <a:r>
              <a:rPr lang="en">
                <a:solidFill>
                  <a:schemeClr val="accent3"/>
                </a:solidFill>
              </a:rPr>
              <a:t>: Corrupted Packets</a:t>
            </a:r>
            <a:endParaRPr/>
          </a:p>
        </p:txBody>
      </p:sp>
      <p:sp>
        <p:nvSpPr>
          <p:cNvPr id="523" name="Google Shape;523;p47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 a checksum to detect corruption. 2 approaches to dealing with a bad checksum: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 1: When you get a corrupt packet, send a </a:t>
            </a:r>
            <a:r>
              <a:rPr b="1" lang="en"/>
              <a:t>negative acknowledgement</a:t>
            </a:r>
            <a:r>
              <a:rPr lang="en"/>
              <a:t> (nack).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sees the nack and resends.</a:t>
            </a:r>
            <a:endParaRPr/>
          </a:p>
        </p:txBody>
      </p:sp>
      <p:cxnSp>
        <p:nvCxnSpPr>
          <p:cNvPr id="524" name="Google Shape;524;p4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25" name="Google Shape;525;p4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4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27" name="Google Shape;527;p4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8" name="Google Shape;528;p47"/>
          <p:cNvCxnSpPr/>
          <p:nvPr/>
        </p:nvCxnSpPr>
        <p:spPr>
          <a:xfrm>
            <a:off x="3039500" y="303292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29" name="Google Shape;529;p47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47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47"/>
          <p:cNvSpPr/>
          <p:nvPr/>
        </p:nvSpPr>
        <p:spPr>
          <a:xfrm>
            <a:off x="4399475" y="2114967"/>
            <a:ext cx="233457" cy="239152"/>
          </a:xfrm>
          <a:custGeom>
            <a:rect b="b" l="l" r="r" t="t"/>
            <a:pathLst>
              <a:path extrusionOk="0" h="9239" w="8859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sp>
      <p:grpSp>
        <p:nvGrpSpPr>
          <p:cNvPr id="532" name="Google Shape;532;p47"/>
          <p:cNvGrpSpPr/>
          <p:nvPr/>
        </p:nvGrpSpPr>
        <p:grpSpPr>
          <a:xfrm>
            <a:off x="3039475" y="2514600"/>
            <a:ext cx="3015000" cy="533292"/>
            <a:chOff x="3039475" y="2514600"/>
            <a:chExt cx="3015000" cy="533292"/>
          </a:xfrm>
        </p:grpSpPr>
        <p:cxnSp>
          <p:nvCxnSpPr>
            <p:cNvPr id="533" name="Google Shape;533;p47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34" name="Google Shape;534;p47"/>
            <p:cNvSpPr txBox="1"/>
            <p:nvPr/>
          </p:nvSpPr>
          <p:spPr>
            <a:xfrm rot="-510472">
              <a:off x="4344095" y="2729532"/>
              <a:ext cx="482611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nack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9" name="Google Shape;539;p48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540" name="Google Shape;540;p48"/>
          <p:cNvGrpSpPr/>
          <p:nvPr/>
        </p:nvGrpSpPr>
        <p:grpSpPr>
          <a:xfrm>
            <a:off x="3039475" y="3733800"/>
            <a:ext cx="3015000" cy="530546"/>
            <a:chOff x="3039475" y="2514600"/>
            <a:chExt cx="3015000" cy="530546"/>
          </a:xfrm>
        </p:grpSpPr>
        <p:cxnSp>
          <p:nvCxnSpPr>
            <p:cNvPr id="541" name="Google Shape;541;p48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42" name="Google Shape;542;p48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43" name="Google Shape;543;p4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2/5: Corrupted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44" name="Google Shape;544;p48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2: When you get a corrupt packet, ignore it (don't send the ack).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Sender times out and resends.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Both solutions work. TCP uses this one (no nacks).</a:t>
            </a:r>
            <a:endParaRPr/>
          </a:p>
        </p:txBody>
      </p:sp>
      <p:cxnSp>
        <p:nvCxnSpPr>
          <p:cNvPr id="545" name="Google Shape;545;p48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6" name="Google Shape;546;p48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8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8" name="Google Shape;548;p48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9" name="Google Shape;549;p48"/>
          <p:cNvCxnSpPr/>
          <p:nvPr/>
        </p:nvCxnSpPr>
        <p:spPr>
          <a:xfrm>
            <a:off x="3039500" y="326152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50" name="Google Shape;550;p48"/>
          <p:cNvSpPr txBox="1"/>
          <p:nvPr/>
        </p:nvSpPr>
        <p:spPr>
          <a:xfrm>
            <a:off x="6128475" y="2300850"/>
            <a:ext cx="16716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    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Bad checksum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8"/>
          <p:cNvSpPr/>
          <p:nvPr/>
        </p:nvSpPr>
        <p:spPr>
          <a:xfrm rot="501261">
            <a:off x="4407757" y="2094519"/>
            <a:ext cx="216801" cy="28930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48"/>
          <p:cNvSpPr/>
          <p:nvPr/>
        </p:nvSpPr>
        <p:spPr>
          <a:xfrm>
            <a:off x="4399475" y="2114967"/>
            <a:ext cx="233457" cy="239152"/>
          </a:xfrm>
          <a:custGeom>
            <a:rect b="b" l="l" r="r" t="t"/>
            <a:pathLst>
              <a:path extrusionOk="0" h="9239" w="8859">
                <a:moveTo>
                  <a:pt x="0" y="4191"/>
                </a:moveTo>
                <a:lnTo>
                  <a:pt x="3810" y="0"/>
                </a:lnTo>
                <a:lnTo>
                  <a:pt x="6001" y="9239"/>
                </a:lnTo>
                <a:lnTo>
                  <a:pt x="8859" y="5429"/>
                </a:lnTo>
              </a:path>
            </a:pathLst>
          </a:cu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553" name="Google Shape;553;p48"/>
          <p:cNvSpPr txBox="1"/>
          <p:nvPr/>
        </p:nvSpPr>
        <p:spPr>
          <a:xfrm>
            <a:off x="1794175" y="31265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4" name="Google Shape;554;p48"/>
          <p:cNvCxnSpPr>
            <a:stCxn id="553" idx="3"/>
          </p:cNvCxnSpPr>
          <p:nvPr/>
        </p:nvCxnSpPr>
        <p:spPr>
          <a:xfrm>
            <a:off x="2722375" y="3261975"/>
            <a:ext cx="2790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9" name="Google Shape;559;p49"/>
          <p:cNvCxnSpPr/>
          <p:nvPr/>
        </p:nvCxnSpPr>
        <p:spPr>
          <a:xfrm>
            <a:off x="4478400" y="2402700"/>
            <a:ext cx="1568700" cy="215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560" name="Google Shape;560;p49"/>
          <p:cNvGrpSpPr/>
          <p:nvPr/>
        </p:nvGrpSpPr>
        <p:grpSpPr>
          <a:xfrm>
            <a:off x="3039475" y="2667000"/>
            <a:ext cx="3015000" cy="530546"/>
            <a:chOff x="3039475" y="2514600"/>
            <a:chExt cx="3015000" cy="530546"/>
          </a:xfrm>
        </p:grpSpPr>
        <p:cxnSp>
          <p:nvCxnSpPr>
            <p:cNvPr id="561" name="Google Shape;561;p49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62" name="Google Shape;562;p49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63" name="Google Shape;563;p4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3/5: Delayed Packets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64" name="Google Shape;564;p49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Minor delay: No problem. The ack still arrives before the timeout.</a:t>
            </a:r>
            <a:endParaRPr/>
          </a:p>
        </p:txBody>
      </p:sp>
      <p:cxnSp>
        <p:nvCxnSpPr>
          <p:cNvPr id="565" name="Google Shape;565;p49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66" name="Google Shape;566;p49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7" name="Google Shape;567;p49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68" name="Google Shape;568;p49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9" name="Google Shape;569;p49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70" name="Google Shape;570;p49"/>
          <p:cNvCxnSpPr/>
          <p:nvPr/>
        </p:nvCxnSpPr>
        <p:spPr>
          <a:xfrm>
            <a:off x="4470931" y="2241312"/>
            <a:ext cx="0" cy="1707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5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3/5</a:t>
            </a:r>
            <a:r>
              <a:rPr lang="en">
                <a:solidFill>
                  <a:schemeClr val="accent3"/>
                </a:solidFill>
              </a:rPr>
              <a:t>: Delayed Packets</a:t>
            </a:r>
            <a:endParaRPr/>
          </a:p>
        </p:txBody>
      </p:sp>
      <p:cxnSp>
        <p:nvCxnSpPr>
          <p:cNvPr id="576" name="Google Shape;576;p50"/>
          <p:cNvCxnSpPr/>
          <p:nvPr/>
        </p:nvCxnSpPr>
        <p:spPr>
          <a:xfrm>
            <a:off x="4478400" y="3012300"/>
            <a:ext cx="1568700" cy="215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577" name="Google Shape;577;p50"/>
          <p:cNvGrpSpPr/>
          <p:nvPr/>
        </p:nvGrpSpPr>
        <p:grpSpPr>
          <a:xfrm>
            <a:off x="3039475" y="3276600"/>
            <a:ext cx="3015000" cy="530546"/>
            <a:chOff x="3039475" y="2514600"/>
            <a:chExt cx="3015000" cy="530546"/>
          </a:xfrm>
        </p:grpSpPr>
        <p:cxnSp>
          <p:nvCxnSpPr>
            <p:cNvPr id="578" name="Google Shape;578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79" name="Google Shape;579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80" name="Google Shape;580;p50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Longer delay: Sender times out and resends.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receives two acks. That's fine.</a:t>
            </a:r>
            <a:endParaRPr/>
          </a:p>
        </p:txBody>
      </p:sp>
      <p:cxnSp>
        <p:nvCxnSpPr>
          <p:cNvPr id="581" name="Google Shape;581;p5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5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5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4" name="Google Shape;584;p5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5" name="Google Shape;585;p50"/>
          <p:cNvCxnSpPr/>
          <p:nvPr/>
        </p:nvCxnSpPr>
        <p:spPr>
          <a:xfrm>
            <a:off x="3039500" y="2023274"/>
            <a:ext cx="1440000" cy="2265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86" name="Google Shape;586;p50"/>
          <p:cNvCxnSpPr/>
          <p:nvPr/>
        </p:nvCxnSpPr>
        <p:spPr>
          <a:xfrm>
            <a:off x="4470931" y="2241312"/>
            <a:ext cx="0" cy="780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7" name="Google Shape;587;p50"/>
          <p:cNvSpPr txBox="1"/>
          <p:nvPr/>
        </p:nvSpPr>
        <p:spPr>
          <a:xfrm>
            <a:off x="1794175" y="3050325"/>
            <a:ext cx="9282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8" name="Google Shape;588;p50"/>
          <p:cNvCxnSpPr>
            <a:stCxn id="587" idx="3"/>
          </p:cNvCxnSpPr>
          <p:nvPr/>
        </p:nvCxnSpPr>
        <p:spPr>
          <a:xfrm>
            <a:off x="2722375" y="3185775"/>
            <a:ext cx="2790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89" name="Google Shape;589;p50"/>
          <p:cNvCxnSpPr/>
          <p:nvPr/>
        </p:nvCxnSpPr>
        <p:spPr>
          <a:xfrm>
            <a:off x="3039500" y="318532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590" name="Google Shape;590;p50"/>
          <p:cNvGrpSpPr/>
          <p:nvPr/>
        </p:nvGrpSpPr>
        <p:grpSpPr>
          <a:xfrm>
            <a:off x="3039475" y="3690466"/>
            <a:ext cx="3015000" cy="530546"/>
            <a:chOff x="3039475" y="2514600"/>
            <a:chExt cx="3015000" cy="530546"/>
          </a:xfrm>
        </p:grpSpPr>
        <p:cxnSp>
          <p:nvCxnSpPr>
            <p:cNvPr id="591" name="Google Shape;591;p5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592" name="Google Shape;592;p50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Problem 4/5</a:t>
            </a:r>
            <a:r>
              <a:rPr lang="en">
                <a:solidFill>
                  <a:schemeClr val="accent3"/>
                </a:solidFill>
              </a:rPr>
              <a:t>: Duplicated Packets</a:t>
            </a:r>
            <a:endParaRPr/>
          </a:p>
        </p:txBody>
      </p:sp>
      <p:grpSp>
        <p:nvGrpSpPr>
          <p:cNvPr id="598" name="Google Shape;598;p51"/>
          <p:cNvGrpSpPr/>
          <p:nvPr/>
        </p:nvGrpSpPr>
        <p:grpSpPr>
          <a:xfrm>
            <a:off x="3039475" y="2514600"/>
            <a:ext cx="3015000" cy="530546"/>
            <a:chOff x="3039475" y="2514600"/>
            <a:chExt cx="3015000" cy="530546"/>
          </a:xfrm>
        </p:grpSpPr>
        <p:cxnSp>
          <p:nvCxnSpPr>
            <p:cNvPr id="599" name="Google Shape;599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00" name="Google Shape;600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51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recipient gets the packet twice, and the sender receives two acks. That's fine.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would the network even duplicate a packet?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Usually, because of link-level reliability gone wrong (very rare).</a:t>
            </a:r>
            <a:endParaRPr/>
          </a:p>
        </p:txBody>
      </p:sp>
      <p:cxnSp>
        <p:nvCxnSpPr>
          <p:cNvPr id="602" name="Google Shape;602;p51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3" name="Google Shape;603;p51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4" name="Google Shape;604;p51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5" name="Google Shape;605;p51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06" name="Google Shape;606;p51"/>
          <p:cNvGrpSpPr/>
          <p:nvPr/>
        </p:nvGrpSpPr>
        <p:grpSpPr>
          <a:xfrm>
            <a:off x="3039475" y="2852266"/>
            <a:ext cx="3015000" cy="530546"/>
            <a:chOff x="3039475" y="2514600"/>
            <a:chExt cx="3015000" cy="530546"/>
          </a:xfrm>
        </p:grpSpPr>
        <p:cxnSp>
          <p:nvCxnSpPr>
            <p:cNvPr id="607" name="Google Shape;607;p5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08" name="Google Shape;608;p51"/>
            <p:cNvSpPr txBox="1"/>
            <p:nvPr/>
          </p:nvSpPr>
          <p:spPr>
            <a:xfrm rot="-510186">
              <a:off x="4362736" y="2730686"/>
              <a:ext cx="430128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09" name="Google Shape;609;p51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0" name="Google Shape;610;p51"/>
          <p:cNvCxnSpPr/>
          <p:nvPr/>
        </p:nvCxnSpPr>
        <p:spPr>
          <a:xfrm>
            <a:off x="4478400" y="2594039"/>
            <a:ext cx="1568700" cy="2151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1" name="Google Shape;611;p51"/>
          <p:cNvCxnSpPr/>
          <p:nvPr/>
        </p:nvCxnSpPr>
        <p:spPr>
          <a:xfrm>
            <a:off x="4484350" y="2235120"/>
            <a:ext cx="0" cy="3690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17" name="Google Shape;617;p52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packet, and start a timer.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ack doesn't arrive before the </a:t>
            </a:r>
            <a:r>
              <a:rPr lang="en"/>
              <a:t>timer goes off, resend packet and reset timer.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ack arrives, reset timer.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receive the packet, send the ack.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solved all </a:t>
            </a:r>
            <a:r>
              <a:rPr lang="en"/>
              <a:t>5 problems from the best-effort service model: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dropped. </a:t>
            </a:r>
            <a:r>
              <a:rPr lang="en" sz="1400">
                <a:solidFill>
                  <a:schemeClr val="accent3"/>
                </a:solidFill>
              </a:rPr>
              <a:t>(timeout and resend)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corrupted. </a:t>
            </a:r>
            <a:r>
              <a:rPr lang="en" sz="1400">
                <a:solidFill>
                  <a:schemeClr val="accent3"/>
                </a:solidFill>
              </a:rPr>
              <a:t>(nack, or timeout and resend)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delayed.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duplicated. </a:t>
            </a:r>
            <a:r>
              <a:rPr lang="en" sz="1400">
                <a:solidFill>
                  <a:schemeClr val="accent3"/>
                </a:solidFill>
              </a:rPr>
              <a:t>(data received multiple times)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Packets can be reordered. </a:t>
            </a:r>
            <a:r>
              <a:rPr lang="en" sz="1400">
                <a:solidFill>
                  <a:schemeClr val="accent3"/>
                </a:solidFill>
              </a:rPr>
              <a:t>(not relevant in single-packet case)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5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Designing Reliability for a Single Packet</a:t>
            </a:r>
            <a:endParaRPr/>
          </a:p>
        </p:txBody>
      </p:sp>
      <p:sp>
        <p:nvSpPr>
          <p:cNvPr id="623" name="Google Shape;623;p5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did we learn from this protocol?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Checksums</a:t>
            </a:r>
            <a:r>
              <a:rPr lang="en"/>
              <a:t> help detect corruption.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should send </a:t>
            </a:r>
            <a:r>
              <a:rPr i="1" lang="en"/>
              <a:t>feedback</a:t>
            </a:r>
            <a:r>
              <a:rPr lang="en"/>
              <a:t>: ack (positive), possibly also nack (negative).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</a:t>
            </a:r>
            <a:r>
              <a:rPr i="1" lang="en"/>
              <a:t>retransmits</a:t>
            </a:r>
            <a:r>
              <a:rPr lang="en"/>
              <a:t> lost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</a:t>
            </a:r>
            <a:r>
              <a:rPr i="1" lang="en"/>
              <a:t>timeout</a:t>
            </a:r>
            <a:r>
              <a:rPr lang="en"/>
              <a:t> to decide when to resend a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1" lang="en"/>
              <a:t>At-least-once</a:t>
            </a:r>
            <a:r>
              <a:rPr lang="en"/>
              <a:t> delivery </a:t>
            </a:r>
            <a:r>
              <a:rPr lang="en"/>
              <a:t>simplifies</a:t>
            </a:r>
            <a:r>
              <a:rPr lang="en"/>
              <a:t> our protocol.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Recipient can receive the same packet more than once.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can see the same ack/nack more than once.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achieve </a:t>
            </a:r>
            <a:r>
              <a:rPr i="1" lang="en"/>
              <a:t>exactly-once</a:t>
            </a:r>
            <a:r>
              <a:rPr lang="en"/>
              <a:t> delivery, recipient simply discards duplicates.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54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Multiple Packets (Windows)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629" name="Google Shape;629;p54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Packets, Windows</a:t>
            </a:r>
            <a:endParaRPr/>
          </a:p>
        </p:txBody>
      </p:sp>
      <p:sp>
        <p:nvSpPr>
          <p:cNvPr id="630" name="Google Shape;630;p54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10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5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Designing Reliability for Multiple Packets</a:t>
            </a:r>
            <a:endParaRPr/>
          </a:p>
        </p:txBody>
      </p:sp>
      <p:sp>
        <p:nvSpPr>
          <p:cNvPr id="636" name="Google Shape;636;p55"/>
          <p:cNvSpPr txBox="1"/>
          <p:nvPr>
            <p:ph idx="1" type="body"/>
          </p:nvPr>
        </p:nvSpPr>
        <p:spPr>
          <a:xfrm>
            <a:off x="107050" y="402200"/>
            <a:ext cx="8909700" cy="24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use the single-packet solution repeatedly to support sending multiple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 extra design component: </a:t>
            </a:r>
            <a:r>
              <a:rPr b="1" lang="en"/>
              <a:t>sequence numbers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packet with a unique, increasing number.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Label each ack with which numbered packet is being acked.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Solves reordering – use numbers to reorder packets.</a:t>
            </a:r>
            <a:endParaRPr/>
          </a:p>
        </p:txBody>
      </p:sp>
      <p:sp>
        <p:nvSpPr>
          <p:cNvPr id="637" name="Google Shape;637;p55"/>
          <p:cNvSpPr/>
          <p:nvPr/>
        </p:nvSpPr>
        <p:spPr>
          <a:xfrm>
            <a:off x="8975" y="2970147"/>
            <a:ext cx="1286400" cy="19041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8" name="Google Shape;638;p55"/>
          <p:cNvSpPr/>
          <p:nvPr/>
        </p:nvSpPr>
        <p:spPr>
          <a:xfrm>
            <a:off x="7858225" y="2947600"/>
            <a:ext cx="1286400" cy="1904100"/>
          </a:xfrm>
          <a:prstGeom prst="rect">
            <a:avLst/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9" name="Google Shape;639;p55"/>
          <p:cNvSpPr/>
          <p:nvPr/>
        </p:nvSpPr>
        <p:spPr>
          <a:xfrm>
            <a:off x="1707550" y="3209200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0" name="Google Shape;640;p55"/>
          <p:cNvSpPr/>
          <p:nvPr/>
        </p:nvSpPr>
        <p:spPr>
          <a:xfrm>
            <a:off x="4133005" y="3561975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55"/>
          <p:cNvSpPr/>
          <p:nvPr/>
        </p:nvSpPr>
        <p:spPr>
          <a:xfrm>
            <a:off x="3174477" y="4043175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3.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belt, which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55"/>
          <p:cNvSpPr/>
          <p:nvPr/>
        </p:nvSpPr>
        <p:spPr>
          <a:xfrm>
            <a:off x="5054294" y="4378900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3" name="Google Shape;643;p55"/>
          <p:cNvSpPr/>
          <p:nvPr/>
        </p:nvSpPr>
        <p:spPr>
          <a:xfrm>
            <a:off x="5966553" y="3669600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55"/>
          <p:cNvSpPr/>
          <p:nvPr/>
        </p:nvSpPr>
        <p:spPr>
          <a:xfrm>
            <a:off x="1707550" y="4530850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55"/>
          <p:cNvSpPr txBox="1"/>
          <p:nvPr/>
        </p:nvSpPr>
        <p:spPr>
          <a:xfrm>
            <a:off x="1872700" y="3754125"/>
            <a:ext cx="111510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Duplicates. Same number.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6" name="Google Shape;646;p55"/>
          <p:cNvCxnSpPr>
            <a:stCxn id="645" idx="0"/>
            <a:endCxn id="639" idx="2"/>
          </p:cNvCxnSpPr>
          <p:nvPr/>
        </p:nvCxnSpPr>
        <p:spPr>
          <a:xfrm rot="10800000">
            <a:off x="2430250" y="3513225"/>
            <a:ext cx="0" cy="240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47" name="Google Shape;647;p55"/>
          <p:cNvSpPr txBox="1"/>
          <p:nvPr/>
        </p:nvSpPr>
        <p:spPr>
          <a:xfrm>
            <a:off x="3387625" y="2642800"/>
            <a:ext cx="10191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 of order. Use numbers to rearrange.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55"/>
          <p:cNvCxnSpPr>
            <a:stCxn id="647" idx="2"/>
            <a:endCxn id="641" idx="0"/>
          </p:cNvCxnSpPr>
          <p:nvPr/>
        </p:nvCxnSpPr>
        <p:spPr>
          <a:xfrm>
            <a:off x="3897175" y="3252400"/>
            <a:ext cx="0" cy="7908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49" name="Google Shape;649;p55"/>
          <p:cNvCxnSpPr>
            <a:stCxn id="647" idx="3"/>
            <a:endCxn id="640" idx="0"/>
          </p:cNvCxnSpPr>
          <p:nvPr/>
        </p:nvCxnSpPr>
        <p:spPr>
          <a:xfrm>
            <a:off x="4406725" y="2947600"/>
            <a:ext cx="449100" cy="6144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50" name="Google Shape;650;p55"/>
          <p:cNvCxnSpPr>
            <a:stCxn id="645" idx="2"/>
            <a:endCxn id="644" idx="0"/>
          </p:cNvCxnSpPr>
          <p:nvPr/>
        </p:nvCxnSpPr>
        <p:spPr>
          <a:xfrm>
            <a:off x="2430250" y="4178925"/>
            <a:ext cx="0" cy="35190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5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Sequence Numbers</a:t>
            </a:r>
            <a:endParaRPr/>
          </a:p>
        </p:txBody>
      </p:sp>
      <p:sp>
        <p:nvSpPr>
          <p:cNvPr id="656" name="Google Shape;656;p56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packet has a unique, increasing sequence number.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Acks indicate which packet is being acked.</a:t>
            </a:r>
            <a:endParaRPr/>
          </a:p>
        </p:txBody>
      </p:sp>
      <p:grpSp>
        <p:nvGrpSpPr>
          <p:cNvPr id="657" name="Google Shape;657;p56"/>
          <p:cNvGrpSpPr/>
          <p:nvPr/>
        </p:nvGrpSpPr>
        <p:grpSpPr>
          <a:xfrm>
            <a:off x="3039475" y="2514600"/>
            <a:ext cx="3015000" cy="556273"/>
            <a:chOff x="3039475" y="2514600"/>
            <a:chExt cx="3015000" cy="556273"/>
          </a:xfrm>
        </p:grpSpPr>
        <p:cxnSp>
          <p:nvCxnSpPr>
            <p:cNvPr id="658" name="Google Shape;658;p56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59" name="Google Shape;659;p56"/>
            <p:cNvSpPr txBox="1"/>
            <p:nvPr/>
          </p:nvSpPr>
          <p:spPr>
            <a:xfrm rot="-510881">
              <a:off x="4189074" y="2733463"/>
              <a:ext cx="739551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(1)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60" name="Google Shape;660;p56"/>
          <p:cNvCxnSpPr/>
          <p:nvPr/>
        </p:nvCxnSpPr>
        <p:spPr>
          <a:xfrm>
            <a:off x="3039500" y="202327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61" name="Google Shape;661;p56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2" name="Google Shape;662;p56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3" name="Google Shape;663;p56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4" name="Google Shape;664;p56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65" name="Google Shape;665;p56"/>
          <p:cNvGrpSpPr/>
          <p:nvPr/>
        </p:nvGrpSpPr>
        <p:grpSpPr>
          <a:xfrm>
            <a:off x="3039475" y="3505200"/>
            <a:ext cx="3015000" cy="556273"/>
            <a:chOff x="3039475" y="2514600"/>
            <a:chExt cx="3015000" cy="556273"/>
          </a:xfrm>
        </p:grpSpPr>
        <p:cxnSp>
          <p:nvCxnSpPr>
            <p:cNvPr id="666" name="Google Shape;666;p56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67" name="Google Shape;667;p56"/>
            <p:cNvSpPr txBox="1"/>
            <p:nvPr/>
          </p:nvSpPr>
          <p:spPr>
            <a:xfrm rot="-510881">
              <a:off x="4189074" y="2733463"/>
              <a:ext cx="739551" cy="284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(2)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668" name="Google Shape;668;p56"/>
          <p:cNvCxnSpPr/>
          <p:nvPr/>
        </p:nvCxnSpPr>
        <p:spPr>
          <a:xfrm>
            <a:off x="3039500" y="3013874"/>
            <a:ext cx="3007800" cy="4419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Stop-and-Wait Protocol</a:t>
            </a:r>
            <a:endParaRPr/>
          </a:p>
        </p:txBody>
      </p:sp>
      <p:sp>
        <p:nvSpPr>
          <p:cNvPr id="674" name="Google Shape;674;p57"/>
          <p:cNvSpPr txBox="1"/>
          <p:nvPr>
            <p:ph idx="1" type="body"/>
          </p:nvPr>
        </p:nvSpPr>
        <p:spPr>
          <a:xfrm>
            <a:off x="107050" y="402200"/>
            <a:ext cx="3008700" cy="444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Naive approach: Wait for packet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 to be acked before sending packet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i+1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correct, but really slow.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Throughput: One packet per RTT.</a:t>
            </a:r>
            <a:endParaRPr/>
          </a:p>
        </p:txBody>
      </p:sp>
      <p:cxnSp>
        <p:nvCxnSpPr>
          <p:cNvPr id="675" name="Google Shape;675;p57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6" name="Google Shape;676;p57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7" name="Google Shape;677;p57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8" name="Google Shape;678;p57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79" name="Google Shape;679;p57"/>
          <p:cNvGrpSpPr/>
          <p:nvPr/>
        </p:nvGrpSpPr>
        <p:grpSpPr>
          <a:xfrm>
            <a:off x="3953900" y="801875"/>
            <a:ext cx="3008700" cy="524199"/>
            <a:chOff x="3039500" y="1868675"/>
            <a:chExt cx="3008700" cy="524199"/>
          </a:xfrm>
        </p:grpSpPr>
        <p:cxnSp>
          <p:nvCxnSpPr>
            <p:cNvPr id="680" name="Google Shape;680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81" name="Google Shape;681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2" name="Google Shape;682;p57"/>
          <p:cNvGrpSpPr/>
          <p:nvPr/>
        </p:nvGrpSpPr>
        <p:grpSpPr>
          <a:xfrm>
            <a:off x="3953900" y="1244246"/>
            <a:ext cx="3008700" cy="539028"/>
            <a:chOff x="3039500" y="2311046"/>
            <a:chExt cx="3008700" cy="539028"/>
          </a:xfrm>
        </p:grpSpPr>
        <p:cxnSp>
          <p:nvCxnSpPr>
            <p:cNvPr id="683" name="Google Shape;683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84" name="Google Shape;684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(1)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5" name="Google Shape;685;p57"/>
          <p:cNvGrpSpPr/>
          <p:nvPr/>
        </p:nvGrpSpPr>
        <p:grpSpPr>
          <a:xfrm>
            <a:off x="3953900" y="1716275"/>
            <a:ext cx="3008700" cy="524199"/>
            <a:chOff x="3039500" y="1868675"/>
            <a:chExt cx="3008700" cy="524199"/>
          </a:xfrm>
        </p:grpSpPr>
        <p:cxnSp>
          <p:nvCxnSpPr>
            <p:cNvPr id="686" name="Google Shape;686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87" name="Google Shape;687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8" name="Google Shape;688;p57"/>
          <p:cNvGrpSpPr/>
          <p:nvPr/>
        </p:nvGrpSpPr>
        <p:grpSpPr>
          <a:xfrm>
            <a:off x="3953900" y="2158646"/>
            <a:ext cx="3008700" cy="539028"/>
            <a:chOff x="3039500" y="2311046"/>
            <a:chExt cx="3008700" cy="539028"/>
          </a:xfrm>
        </p:grpSpPr>
        <p:cxnSp>
          <p:nvCxnSpPr>
            <p:cNvPr id="689" name="Google Shape;689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90" name="Google Shape;690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(2)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1" name="Google Shape;691;p57"/>
          <p:cNvGrpSpPr/>
          <p:nvPr/>
        </p:nvGrpSpPr>
        <p:grpSpPr>
          <a:xfrm>
            <a:off x="3953900" y="2783075"/>
            <a:ext cx="3008700" cy="524199"/>
            <a:chOff x="3039500" y="1868675"/>
            <a:chExt cx="3008700" cy="524199"/>
          </a:xfrm>
        </p:grpSpPr>
        <p:cxnSp>
          <p:nvCxnSpPr>
            <p:cNvPr id="692" name="Google Shape;692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93" name="Google Shape;693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4" name="Google Shape;694;p57"/>
          <p:cNvGrpSpPr/>
          <p:nvPr/>
        </p:nvGrpSpPr>
        <p:grpSpPr>
          <a:xfrm>
            <a:off x="3953900" y="3225446"/>
            <a:ext cx="3008700" cy="539028"/>
            <a:chOff x="3039500" y="2311046"/>
            <a:chExt cx="3008700" cy="539028"/>
          </a:xfrm>
        </p:grpSpPr>
        <p:cxnSp>
          <p:nvCxnSpPr>
            <p:cNvPr id="695" name="Google Shape;695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96" name="Google Shape;696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(3)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97" name="Google Shape;697;p57"/>
          <p:cNvGrpSpPr/>
          <p:nvPr/>
        </p:nvGrpSpPr>
        <p:grpSpPr>
          <a:xfrm>
            <a:off x="3953900" y="3697475"/>
            <a:ext cx="3008700" cy="524199"/>
            <a:chOff x="3039500" y="1868675"/>
            <a:chExt cx="3008700" cy="524199"/>
          </a:xfrm>
        </p:grpSpPr>
        <p:cxnSp>
          <p:nvCxnSpPr>
            <p:cNvPr id="698" name="Google Shape;698;p57"/>
            <p:cNvCxnSpPr/>
            <p:nvPr/>
          </p:nvCxnSpPr>
          <p:spPr>
            <a:xfrm>
              <a:off x="3039500" y="20232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699" name="Google Shape;699;p57"/>
            <p:cNvSpPr txBox="1"/>
            <p:nvPr/>
          </p:nvSpPr>
          <p:spPr>
            <a:xfrm rot="420251">
              <a:off x="3985312" y="1936474"/>
              <a:ext cx="1129227" cy="2841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0" name="Google Shape;700;p57"/>
          <p:cNvGrpSpPr/>
          <p:nvPr/>
        </p:nvGrpSpPr>
        <p:grpSpPr>
          <a:xfrm>
            <a:off x="3953900" y="4139846"/>
            <a:ext cx="3008700" cy="539028"/>
            <a:chOff x="3039500" y="2311046"/>
            <a:chExt cx="3008700" cy="539028"/>
          </a:xfrm>
        </p:grpSpPr>
        <p:cxnSp>
          <p:nvCxnSpPr>
            <p:cNvPr id="701" name="Google Shape;701;p57"/>
            <p:cNvCxnSpPr/>
            <p:nvPr/>
          </p:nvCxnSpPr>
          <p:spPr>
            <a:xfrm flipH="1">
              <a:off x="3039500" y="2480474"/>
              <a:ext cx="3008700" cy="369600"/>
            </a:xfrm>
            <a:prstGeom prst="straightConnector1">
              <a:avLst/>
            </a:prstGeom>
            <a:noFill/>
            <a:ln cap="flat" cmpd="sng" w="19050">
              <a:solidFill>
                <a:srgbClr val="6AA84F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sp>
          <p:nvSpPr>
            <p:cNvPr id="702" name="Google Shape;702;p57"/>
            <p:cNvSpPr txBox="1"/>
            <p:nvPr/>
          </p:nvSpPr>
          <p:spPr>
            <a:xfrm rot="-422970">
              <a:off x="3985209" y="2379276"/>
              <a:ext cx="1129337" cy="28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7425" lIns="27425" spcFirstLastPara="1" rIns="27425" wrap="square" tIns="27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ack (4)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3" name="Google Shape;703;p57"/>
          <p:cNvGrpSpPr/>
          <p:nvPr/>
        </p:nvGrpSpPr>
        <p:grpSpPr>
          <a:xfrm>
            <a:off x="7820900" y="931855"/>
            <a:ext cx="192000" cy="3747004"/>
            <a:chOff x="2715500" y="931825"/>
            <a:chExt cx="192000" cy="1556000"/>
          </a:xfrm>
        </p:grpSpPr>
        <p:cxnSp>
          <p:nvCxnSpPr>
            <p:cNvPr id="704" name="Google Shape;704;p57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5" name="Google Shape;705;p57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6" name="Google Shape;706;p57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07" name="Google Shape;707;p57"/>
          <p:cNvSpPr txBox="1"/>
          <p:nvPr/>
        </p:nvSpPr>
        <p:spPr>
          <a:xfrm>
            <a:off x="7949949" y="2343200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5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13" name="Google Shape;713;p58"/>
          <p:cNvSpPr txBox="1"/>
          <p:nvPr>
            <p:ph idx="1" type="body"/>
          </p:nvPr>
        </p:nvSpPr>
        <p:spPr>
          <a:xfrm>
            <a:off x="107050" y="402200"/>
            <a:ext cx="3105600" cy="445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Better approach: Send more packets while waiting for acks.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</a:t>
            </a:r>
            <a:r>
              <a:rPr b="1" lang="en"/>
              <a:t>in flight</a:t>
            </a:r>
            <a:r>
              <a:rPr lang="en"/>
              <a:t> simultaneously.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flight: Packet has been sent, but has not been acked yet.</a:t>
            </a:r>
            <a:endParaRPr/>
          </a:p>
        </p:txBody>
      </p:sp>
      <p:sp>
        <p:nvSpPr>
          <p:cNvPr id="714" name="Google Shape;714;p58"/>
          <p:cNvSpPr txBox="1"/>
          <p:nvPr/>
        </p:nvSpPr>
        <p:spPr>
          <a:xfrm>
            <a:off x="33994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58"/>
          <p:cNvSpPr txBox="1"/>
          <p:nvPr/>
        </p:nvSpPr>
        <p:spPr>
          <a:xfrm>
            <a:off x="63733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6" name="Google Shape;716;p58"/>
          <p:cNvCxnSpPr/>
          <p:nvPr/>
        </p:nvCxnSpPr>
        <p:spPr>
          <a:xfrm flipH="1">
            <a:off x="3959032" y="13662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17" name="Google Shape;717;p58"/>
          <p:cNvCxnSpPr/>
          <p:nvPr/>
        </p:nvCxnSpPr>
        <p:spPr>
          <a:xfrm>
            <a:off x="3953900" y="9564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18" name="Google Shape;718;p58"/>
          <p:cNvCxnSpPr/>
          <p:nvPr/>
        </p:nvCxnSpPr>
        <p:spPr>
          <a:xfrm>
            <a:off x="3953900" y="11088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19" name="Google Shape;719;p58"/>
          <p:cNvCxnSpPr/>
          <p:nvPr/>
        </p:nvCxnSpPr>
        <p:spPr>
          <a:xfrm>
            <a:off x="3953900" y="1261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0" name="Google Shape;720;p58"/>
          <p:cNvCxnSpPr/>
          <p:nvPr/>
        </p:nvCxnSpPr>
        <p:spPr>
          <a:xfrm>
            <a:off x="3953900" y="14136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1" name="Google Shape;721;p58"/>
          <p:cNvCxnSpPr/>
          <p:nvPr/>
        </p:nvCxnSpPr>
        <p:spPr>
          <a:xfrm flipH="1">
            <a:off x="3959032" y="15186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2" name="Google Shape;722;p58"/>
          <p:cNvCxnSpPr/>
          <p:nvPr/>
        </p:nvCxnSpPr>
        <p:spPr>
          <a:xfrm flipH="1">
            <a:off x="3959032" y="16710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23" name="Google Shape;723;p58"/>
          <p:cNvCxnSpPr/>
          <p:nvPr/>
        </p:nvCxnSpPr>
        <p:spPr>
          <a:xfrm flipH="1">
            <a:off x="3959032" y="18234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4" name="Google Shape;724;p58"/>
          <p:cNvSpPr txBox="1"/>
          <p:nvPr/>
        </p:nvSpPr>
        <p:spPr>
          <a:xfrm>
            <a:off x="3736386" y="7836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58"/>
          <p:cNvSpPr txBox="1"/>
          <p:nvPr/>
        </p:nvSpPr>
        <p:spPr>
          <a:xfrm>
            <a:off x="6936779" y="1177993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6" name="Google Shape;726;p58"/>
          <p:cNvCxnSpPr/>
          <p:nvPr/>
        </p:nvCxnSpPr>
        <p:spPr>
          <a:xfrm>
            <a:off x="6973325" y="740450"/>
            <a:ext cx="0" cy="4036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27" name="Google Shape;727;p58"/>
          <p:cNvCxnSpPr/>
          <p:nvPr/>
        </p:nvCxnSpPr>
        <p:spPr>
          <a:xfrm>
            <a:off x="3951925" y="740450"/>
            <a:ext cx="0" cy="4036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728" name="Google Shape;728;p58"/>
          <p:cNvGrpSpPr/>
          <p:nvPr/>
        </p:nvGrpSpPr>
        <p:grpSpPr>
          <a:xfrm>
            <a:off x="7820900" y="931886"/>
            <a:ext cx="192000" cy="1261138"/>
            <a:chOff x="2715500" y="931825"/>
            <a:chExt cx="192000" cy="1556000"/>
          </a:xfrm>
        </p:grpSpPr>
        <p:cxnSp>
          <p:nvCxnSpPr>
            <p:cNvPr id="729" name="Google Shape;729;p58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0" name="Google Shape;730;p58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1" name="Google Shape;731;p58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32" name="Google Shape;732;p58"/>
          <p:cNvSpPr txBox="1"/>
          <p:nvPr/>
        </p:nvSpPr>
        <p:spPr>
          <a:xfrm>
            <a:off x="7949950" y="1135375"/>
            <a:ext cx="10008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time to send 4 packets.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5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38" name="Google Shape;738;p59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Have multiple packets in flight simultaneously.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Could we send all the packets at once?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No, limited by bandwidth (at sender, router, and destination).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Window-based algorithms: Limit the amount of packets in flight.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Maximum </a:t>
            </a:r>
            <a:r>
              <a:rPr i="1" lang="en"/>
              <a:t>W</a:t>
            </a:r>
            <a:r>
              <a:rPr lang="en"/>
              <a:t> packets can be in-flight (sent, but not acked) at any time.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is the size of the </a:t>
            </a:r>
            <a:r>
              <a:rPr b="1" lang="en"/>
              <a:t>window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stay inside the window limit: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Start: Send </a:t>
            </a:r>
            <a:r>
              <a:rPr i="1" lang="en"/>
              <a:t>W</a:t>
            </a:r>
            <a:r>
              <a:rPr lang="en"/>
              <a:t>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time a packet gets acked, send the next packet in line.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isn't necessary for correctness, but is added for efficiency (performance).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Window-Based Algorithms</a:t>
            </a:r>
            <a:endParaRPr/>
          </a:p>
        </p:txBody>
      </p:sp>
      <p:sp>
        <p:nvSpPr>
          <p:cNvPr id="744" name="Google Shape;744;p60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Start: Send </a:t>
            </a:r>
            <a:r>
              <a:rPr i="1" lang="en"/>
              <a:t>W</a:t>
            </a:r>
            <a:r>
              <a:rPr lang="en"/>
              <a:t> = 4 packets.			In-flight packets: {1, 2, 3, 4}.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ack(1) arrives: Send 5.		In-flight packets: {2, 3, 4, 5}.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ack(2) arrives: Send 6.		In-flight packets: {3, 4, 5, 6}.</a:t>
            </a:r>
            <a:endParaRPr/>
          </a:p>
        </p:txBody>
      </p:sp>
      <p:cxnSp>
        <p:nvCxnSpPr>
          <p:cNvPr id="745" name="Google Shape;745;p6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46" name="Google Shape;746;p6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7" name="Google Shape;747;p6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48" name="Google Shape;748;p6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9" name="Google Shape;749;p60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50" name="Google Shape;750;p6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51" name="Google Shape;751;p60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52" name="Google Shape;752;p60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53" name="Google Shape;753;p60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54" name="Google Shape;754;p60"/>
          <p:cNvCxnSpPr/>
          <p:nvPr/>
        </p:nvCxnSpPr>
        <p:spPr>
          <a:xfrm flipH="1">
            <a:off x="3044632" y="25854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55" name="Google Shape;755;p60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60"/>
          <p:cNvSpPr txBox="1"/>
          <p:nvPr/>
        </p:nvSpPr>
        <p:spPr>
          <a:xfrm>
            <a:off x="6022379" y="2244793"/>
            <a:ext cx="667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60"/>
          <p:cNvCxnSpPr/>
          <p:nvPr/>
        </p:nvCxnSpPr>
        <p:spPr>
          <a:xfrm>
            <a:off x="3039500" y="28614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58" name="Google Shape;758;p60"/>
          <p:cNvCxnSpPr/>
          <p:nvPr/>
        </p:nvCxnSpPr>
        <p:spPr>
          <a:xfrm>
            <a:off x="3039500" y="30138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59" name="Google Shape;759;p60"/>
          <p:cNvSpPr txBox="1"/>
          <p:nvPr/>
        </p:nvSpPr>
        <p:spPr>
          <a:xfrm>
            <a:off x="2821986" y="2688661"/>
            <a:ext cx="264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60"/>
          <p:cNvSpPr txBox="1"/>
          <p:nvPr/>
        </p:nvSpPr>
        <p:spPr>
          <a:xfrm>
            <a:off x="4110225" y="4315625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6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766" name="Google Shape;766;p6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big should the window be?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i="1" lang="en"/>
              <a:t>W</a:t>
            </a:r>
            <a:r>
              <a:rPr lang="en"/>
              <a:t> to balance three goals: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pipe")...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...but don't overload </a:t>
            </a:r>
            <a:r>
              <a:rPr lang="en"/>
              <a:t>the recipient (flow control)...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...and don't overload </a:t>
            </a:r>
            <a:r>
              <a:rPr lang="en"/>
              <a:t>links (congestion control)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772" name="Google Shape;772;p62"/>
          <p:cNvSpPr txBox="1"/>
          <p:nvPr>
            <p:ph idx="1" type="body"/>
          </p:nvPr>
        </p:nvSpPr>
        <p:spPr>
          <a:xfrm>
            <a:off x="107050" y="402200"/>
            <a:ext cx="8909700" cy="46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First goal: </a:t>
            </a:r>
            <a:r>
              <a:rPr lang="en"/>
              <a:t>Take advantage of network capacity ("fill the pipe").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should never be sitting idle.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i="1" lang="en"/>
              <a:t>W</a:t>
            </a:r>
            <a:r>
              <a:rPr lang="en"/>
              <a:t> large enough to keep the sender constantly busy.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to compute this </a:t>
            </a:r>
            <a:r>
              <a:rPr i="1" lang="en"/>
              <a:t>W</a:t>
            </a:r>
            <a:r>
              <a:rPr lang="en"/>
              <a:t>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Suppose RTT = 5 seconds, and bandwidth = 10 packets per second.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Let's focus on the very first RTT.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the first 5 seconds, no acks arrive.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want the sender to be constantly busy for all 5 seconds.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many packets can be sent in 5 seconds?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(5 seconds) × (10 packets per second) = 50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Thus, </a:t>
            </a:r>
            <a:r>
              <a:rPr i="1" lang="en"/>
              <a:t>W</a:t>
            </a:r>
            <a:r>
              <a:rPr lang="en"/>
              <a:t> = 50 packets keeps the sender busy.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&lt; 50 means the sender reaches the limit before any acks, and has to sit idle.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generally: </a:t>
            </a:r>
            <a:r>
              <a:rPr i="1" lang="en"/>
              <a:t>W</a:t>
            </a:r>
            <a:r>
              <a:rPr lang="en"/>
              <a:t> = RTT × bandwidth.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778" name="Google Shape;778;p63"/>
          <p:cNvSpPr txBox="1"/>
          <p:nvPr>
            <p:ph idx="1" type="body"/>
          </p:nvPr>
        </p:nvSpPr>
        <p:spPr>
          <a:xfrm>
            <a:off x="107050" y="402200"/>
            <a:ext cx="8909700" cy="13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sending the maximum </a:t>
            </a:r>
            <a:r>
              <a:rPr i="1" lang="en"/>
              <a:t>W</a:t>
            </a:r>
            <a:r>
              <a:rPr lang="en"/>
              <a:t> = 4 packets, the sender sits idle, waiting for ack(1).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window size is too small to fill the pipe.</a:t>
            </a:r>
            <a:endParaRPr/>
          </a:p>
        </p:txBody>
      </p:sp>
      <p:cxnSp>
        <p:nvCxnSpPr>
          <p:cNvPr id="779" name="Google Shape;779;p63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0" name="Google Shape;780;p63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3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2" name="Google Shape;782;p63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3" name="Google Shape;783;p63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84" name="Google Shape;784;p63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85" name="Google Shape;785;p63"/>
          <p:cNvSpPr txBox="1"/>
          <p:nvPr/>
        </p:nvSpPr>
        <p:spPr>
          <a:xfrm>
            <a:off x="6022379" y="2244793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3"/>
          <p:cNvSpPr txBox="1"/>
          <p:nvPr/>
        </p:nvSpPr>
        <p:spPr>
          <a:xfrm>
            <a:off x="2821986" y="2690200"/>
            <a:ext cx="264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63"/>
          <p:cNvSpPr txBox="1"/>
          <p:nvPr/>
        </p:nvSpPr>
        <p:spPr>
          <a:xfrm>
            <a:off x="4110225" y="4315625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4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88" name="Google Shape;788;p63"/>
          <p:cNvGrpSpPr/>
          <p:nvPr/>
        </p:nvGrpSpPr>
        <p:grpSpPr>
          <a:xfrm>
            <a:off x="2553775" y="2023264"/>
            <a:ext cx="192000" cy="779400"/>
            <a:chOff x="2715500" y="931825"/>
            <a:chExt cx="192000" cy="1556000"/>
          </a:xfrm>
        </p:grpSpPr>
        <p:cxnSp>
          <p:nvCxnSpPr>
            <p:cNvPr id="789" name="Google Shape;789;p63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0" name="Google Shape;790;p63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91" name="Google Shape;791;p63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92" name="Google Shape;792;p63"/>
          <p:cNvSpPr txBox="1"/>
          <p:nvPr/>
        </p:nvSpPr>
        <p:spPr>
          <a:xfrm>
            <a:off x="1180950" y="2212875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first RTT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3" name="Google Shape;793;p63"/>
          <p:cNvCxnSpPr/>
          <p:nvPr/>
        </p:nvCxnSpPr>
        <p:spPr>
          <a:xfrm>
            <a:off x="3039500" y="216968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94" name="Google Shape;794;p63"/>
          <p:cNvCxnSpPr/>
          <p:nvPr/>
        </p:nvCxnSpPr>
        <p:spPr>
          <a:xfrm>
            <a:off x="3039500" y="2316093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95" name="Google Shape;795;p63"/>
          <p:cNvCxnSpPr/>
          <p:nvPr/>
        </p:nvCxnSpPr>
        <p:spPr>
          <a:xfrm>
            <a:off x="3039500" y="2462503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96" name="Google Shape;796;p63"/>
          <p:cNvSpPr txBox="1"/>
          <p:nvPr/>
        </p:nvSpPr>
        <p:spPr>
          <a:xfrm>
            <a:off x="2821986" y="1868433"/>
            <a:ext cx="264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3"/>
          <p:cNvCxnSpPr/>
          <p:nvPr/>
        </p:nvCxnSpPr>
        <p:spPr>
          <a:xfrm>
            <a:off x="3039500" y="2843503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6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803" name="Google Shape;803;p64"/>
          <p:cNvSpPr txBox="1"/>
          <p:nvPr>
            <p:ph idx="1" type="body"/>
          </p:nvPr>
        </p:nvSpPr>
        <p:spPr>
          <a:xfrm>
            <a:off x="107050" y="402200"/>
            <a:ext cx="8909700" cy="13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is busy the entire RTT sending </a:t>
            </a:r>
            <a:r>
              <a:rPr i="1" lang="en"/>
              <a:t>W</a:t>
            </a:r>
            <a:r>
              <a:rPr lang="en"/>
              <a:t> = 6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ack(1) arrives just as the last of the 6 packets leaves.</a:t>
            </a:r>
            <a:endParaRPr/>
          </a:p>
        </p:txBody>
      </p:sp>
      <p:cxnSp>
        <p:nvCxnSpPr>
          <p:cNvPr id="804" name="Google Shape;804;p64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5" name="Google Shape;805;p64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6" name="Google Shape;806;p64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7" name="Google Shape;807;p64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8" name="Google Shape;808;p64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09" name="Google Shape;809;p64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0" name="Google Shape;810;p64"/>
          <p:cNvCxnSpPr/>
          <p:nvPr/>
        </p:nvCxnSpPr>
        <p:spPr>
          <a:xfrm>
            <a:off x="3039500" y="216968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1" name="Google Shape;811;p64"/>
          <p:cNvCxnSpPr/>
          <p:nvPr/>
        </p:nvCxnSpPr>
        <p:spPr>
          <a:xfrm>
            <a:off x="3039500" y="2316093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12" name="Google Shape;812;p64"/>
          <p:cNvCxnSpPr/>
          <p:nvPr/>
        </p:nvCxnSpPr>
        <p:spPr>
          <a:xfrm>
            <a:off x="3039500" y="2462503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13" name="Google Shape;813;p64"/>
          <p:cNvSpPr txBox="1"/>
          <p:nvPr/>
        </p:nvSpPr>
        <p:spPr>
          <a:xfrm>
            <a:off x="2821986" y="1868433"/>
            <a:ext cx="2643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1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2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3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4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5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6</a:t>
            </a:r>
            <a:endParaRPr sz="9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Roboto"/>
                <a:ea typeface="Roboto"/>
                <a:cs typeface="Roboto"/>
                <a:sym typeface="Roboto"/>
              </a:rPr>
              <a:t>7</a:t>
            </a:r>
            <a:endParaRPr sz="9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64"/>
          <p:cNvSpPr txBox="1"/>
          <p:nvPr/>
        </p:nvSpPr>
        <p:spPr>
          <a:xfrm>
            <a:off x="6022379" y="2244793"/>
            <a:ext cx="66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5" name="Google Shape;815;p64"/>
          <p:cNvCxnSpPr/>
          <p:nvPr/>
        </p:nvCxnSpPr>
        <p:spPr>
          <a:xfrm>
            <a:off x="3039500" y="2843503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16" name="Google Shape;816;p64"/>
          <p:cNvSpPr txBox="1"/>
          <p:nvPr/>
        </p:nvSpPr>
        <p:spPr>
          <a:xfrm>
            <a:off x="4110225" y="4315625"/>
            <a:ext cx="87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6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17" name="Google Shape;817;p64"/>
          <p:cNvGrpSpPr/>
          <p:nvPr/>
        </p:nvGrpSpPr>
        <p:grpSpPr>
          <a:xfrm>
            <a:off x="2553775" y="2023264"/>
            <a:ext cx="192000" cy="779400"/>
            <a:chOff x="2715500" y="931825"/>
            <a:chExt cx="192000" cy="1556000"/>
          </a:xfrm>
        </p:grpSpPr>
        <p:cxnSp>
          <p:nvCxnSpPr>
            <p:cNvPr id="818" name="Google Shape;818;p64"/>
            <p:cNvCxnSpPr/>
            <p:nvPr/>
          </p:nvCxnSpPr>
          <p:spPr>
            <a:xfrm>
              <a:off x="2811500" y="933519"/>
              <a:ext cx="0" cy="15543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19" name="Google Shape;819;p64"/>
            <p:cNvCxnSpPr/>
            <p:nvPr/>
          </p:nvCxnSpPr>
          <p:spPr>
            <a:xfrm>
              <a:off x="2715500" y="931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20" name="Google Shape;820;p64"/>
            <p:cNvCxnSpPr/>
            <p:nvPr/>
          </p:nvCxnSpPr>
          <p:spPr>
            <a:xfrm>
              <a:off x="2715500" y="2487825"/>
              <a:ext cx="192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21" name="Google Shape;821;p64"/>
          <p:cNvSpPr txBox="1"/>
          <p:nvPr/>
        </p:nvSpPr>
        <p:spPr>
          <a:xfrm>
            <a:off x="1180950" y="2212875"/>
            <a:ext cx="142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first RTT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22" name="Google Shape;822;p64"/>
          <p:cNvCxnSpPr/>
          <p:nvPr/>
        </p:nvCxnSpPr>
        <p:spPr>
          <a:xfrm>
            <a:off x="3039500" y="2590940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23" name="Google Shape;823;p64"/>
          <p:cNvCxnSpPr/>
          <p:nvPr/>
        </p:nvCxnSpPr>
        <p:spPr>
          <a:xfrm>
            <a:off x="3039500" y="2713388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6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endParaRPr/>
          </a:p>
        </p:txBody>
      </p:sp>
      <p:sp>
        <p:nvSpPr>
          <p:cNvPr id="829" name="Google Shape;829;p6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fill the pipe: </a:t>
            </a:r>
            <a:r>
              <a:rPr i="1" lang="en"/>
              <a:t>W</a:t>
            </a:r>
            <a:r>
              <a:rPr lang="en"/>
              <a:t> = RTT × bandwidth.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exactly is the bandwidth?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minimum ("bottleneck") link bandwidth along the path.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tells us how fast packets can be sent (without clogging the network).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could rewrite this in terms of bytes, not packets.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× (packet size) = RTT × bandwidth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window size, in packets, and </a:t>
            </a:r>
            <a:r>
              <a:rPr i="1" lang="en"/>
              <a:t>W</a:t>
            </a:r>
            <a:r>
              <a:rPr lang="en"/>
              <a:t> × (packet size) = window size, in bytes.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now measured in bits/second, not packets/second.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gives us an </a:t>
            </a:r>
            <a:r>
              <a:rPr i="1" lang="en"/>
              <a:t>upper bound</a:t>
            </a:r>
            <a:r>
              <a:rPr lang="en"/>
              <a:t> on the desired size of </a:t>
            </a:r>
            <a:r>
              <a:rPr i="1" lang="en"/>
              <a:t>W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other two conditions (don't overload recipient and network) might impose stricter limits and decrease </a:t>
            </a:r>
            <a:r>
              <a:rPr i="1" lang="en"/>
              <a:t>W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66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6"/>
          <p:cNvSpPr/>
          <p:nvPr/>
        </p:nvSpPr>
        <p:spPr>
          <a:xfrm>
            <a:off x="4671775" y="3509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6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6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8" name="Google Shape;838;p66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9" name="Google Shape;839;p66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0" name="Google Shape;840;p66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6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66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66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66"/>
          <p:cNvSpPr/>
          <p:nvPr/>
        </p:nvSpPr>
        <p:spPr>
          <a:xfrm>
            <a:off x="404575" y="918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66"/>
          <p:cNvSpPr/>
          <p:nvPr/>
        </p:nvSpPr>
        <p:spPr>
          <a:xfrm>
            <a:off x="480775" y="842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6"/>
          <p:cNvSpPr/>
          <p:nvPr/>
        </p:nvSpPr>
        <p:spPr>
          <a:xfrm>
            <a:off x="556975" y="766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6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 (</a:t>
            </a:r>
            <a:r>
              <a:rPr i="1" lang="en">
                <a:solidFill>
                  <a:schemeClr val="accent3"/>
                </a:solidFill>
              </a:rPr>
              <a:t>W</a:t>
            </a:r>
            <a:r>
              <a:rPr lang="en">
                <a:solidFill>
                  <a:schemeClr val="accent3"/>
                </a:solidFill>
              </a:rPr>
              <a:t> = 6)</a:t>
            </a:r>
            <a:endParaRPr/>
          </a:p>
        </p:txBody>
      </p:sp>
      <p:sp>
        <p:nvSpPr>
          <p:cNvPr id="848" name="Google Shape;848;p66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9" name="Google Shape;849;p66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50" name="Google Shape;850;p66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51" name="Google Shape;851;p66"/>
          <p:cNvCxnSpPr/>
          <p:nvPr/>
        </p:nvCxnSpPr>
        <p:spPr>
          <a:xfrm flipH="1" rot="10800000">
            <a:off x="3078141" y="899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52" name="Google Shape;852;p66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3" name="Google Shape;853;p66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4" name="Google Shape;854;p66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55" name="Google Shape;855;p66"/>
          <p:cNvSpPr txBox="1"/>
          <p:nvPr/>
        </p:nvSpPr>
        <p:spPr>
          <a:xfrm>
            <a:off x="287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66"/>
          <p:cNvSpPr txBox="1"/>
          <p:nvPr/>
        </p:nvSpPr>
        <p:spPr>
          <a:xfrm>
            <a:off x="3602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66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6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6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6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6"/>
          <p:cNvSpPr/>
          <p:nvPr/>
        </p:nvSpPr>
        <p:spPr>
          <a:xfrm>
            <a:off x="4976575" y="918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6"/>
          <p:cNvSpPr/>
          <p:nvPr/>
        </p:nvSpPr>
        <p:spPr>
          <a:xfrm>
            <a:off x="5052775" y="842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6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4" name="Google Shape;864;p66"/>
          <p:cNvCxnSpPr/>
          <p:nvPr/>
        </p:nvCxnSpPr>
        <p:spPr>
          <a:xfrm flipH="1" rot="10800000">
            <a:off x="7650141" y="899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65" name="Google Shape;865;p66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6" name="Google Shape;866;p66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7" name="Google Shape;867;p66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68" name="Google Shape;868;p66"/>
          <p:cNvSpPr txBox="1"/>
          <p:nvPr/>
        </p:nvSpPr>
        <p:spPr>
          <a:xfrm>
            <a:off x="4859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66"/>
          <p:cNvSpPr txBox="1"/>
          <p:nvPr/>
        </p:nvSpPr>
        <p:spPr>
          <a:xfrm>
            <a:off x="8174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66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66"/>
          <p:cNvSpPr/>
          <p:nvPr/>
        </p:nvSpPr>
        <p:spPr>
          <a:xfrm>
            <a:off x="175975" y="3433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66"/>
          <p:cNvSpPr/>
          <p:nvPr/>
        </p:nvSpPr>
        <p:spPr>
          <a:xfrm>
            <a:off x="252175" y="3357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66"/>
          <p:cNvSpPr/>
          <p:nvPr/>
        </p:nvSpPr>
        <p:spPr>
          <a:xfrm>
            <a:off x="328375" y="3281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66"/>
          <p:cNvSpPr/>
          <p:nvPr/>
        </p:nvSpPr>
        <p:spPr>
          <a:xfrm>
            <a:off x="404575" y="3204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66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66"/>
          <p:cNvCxnSpPr/>
          <p:nvPr/>
        </p:nvCxnSpPr>
        <p:spPr>
          <a:xfrm flipH="1" rot="10800000">
            <a:off x="3078141" y="3185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77" name="Google Shape;877;p66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8" name="Google Shape;878;p66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79" name="Google Shape;879;p66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80" name="Google Shape;880;p66"/>
          <p:cNvSpPr txBox="1"/>
          <p:nvPr/>
        </p:nvSpPr>
        <p:spPr>
          <a:xfrm>
            <a:off x="287866" y="4757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1" name="Google Shape;881;p66"/>
          <p:cNvSpPr txBox="1"/>
          <p:nvPr/>
        </p:nvSpPr>
        <p:spPr>
          <a:xfrm>
            <a:off x="3602066" y="4757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66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66"/>
          <p:cNvSpPr/>
          <p:nvPr/>
        </p:nvSpPr>
        <p:spPr>
          <a:xfrm>
            <a:off x="4747975" y="3433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66"/>
          <p:cNvSpPr/>
          <p:nvPr/>
        </p:nvSpPr>
        <p:spPr>
          <a:xfrm>
            <a:off x="4824175" y="3357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66"/>
          <p:cNvSpPr/>
          <p:nvPr/>
        </p:nvSpPr>
        <p:spPr>
          <a:xfrm>
            <a:off x="4900375" y="3281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6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6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8" name="Google Shape;888;p66"/>
          <p:cNvCxnSpPr/>
          <p:nvPr/>
        </p:nvCxnSpPr>
        <p:spPr>
          <a:xfrm flipH="1" rot="10800000">
            <a:off x="7650141" y="3185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89" name="Google Shape;889;p66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66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91" name="Google Shape;891;p66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892" name="Google Shape;892;p66"/>
          <p:cNvSpPr txBox="1"/>
          <p:nvPr/>
        </p:nvSpPr>
        <p:spPr>
          <a:xfrm>
            <a:off x="4859866" y="4757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66"/>
          <p:cNvSpPr txBox="1"/>
          <p:nvPr/>
        </p:nvSpPr>
        <p:spPr>
          <a:xfrm>
            <a:off x="8174066" y="4757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66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6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6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6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66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66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6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67"/>
          <p:cNvSpPr/>
          <p:nvPr/>
        </p:nvSpPr>
        <p:spPr>
          <a:xfrm>
            <a:off x="99775" y="3509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7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7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67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67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67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67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67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6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r>
              <a:rPr lang="en">
                <a:solidFill>
                  <a:schemeClr val="accent3"/>
                </a:solidFill>
              </a:rPr>
              <a:t> (</a:t>
            </a:r>
            <a:r>
              <a:rPr i="1" lang="en">
                <a:solidFill>
                  <a:schemeClr val="accent3"/>
                </a:solidFill>
              </a:rPr>
              <a:t>W</a:t>
            </a:r>
            <a:r>
              <a:rPr lang="en">
                <a:solidFill>
                  <a:schemeClr val="accent3"/>
                </a:solidFill>
              </a:rPr>
              <a:t> = 6)</a:t>
            </a:r>
            <a:endParaRPr/>
          </a:p>
        </p:txBody>
      </p:sp>
      <p:sp>
        <p:nvSpPr>
          <p:cNvPr id="914" name="Google Shape;914;p67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5" name="Google Shape;915;p67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6" name="Google Shape;916;p67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7" name="Google Shape;917;p67"/>
          <p:cNvCxnSpPr/>
          <p:nvPr/>
        </p:nvCxnSpPr>
        <p:spPr>
          <a:xfrm flipH="1" rot="10800000">
            <a:off x="3078141" y="899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18" name="Google Shape;918;p67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9" name="Google Shape;919;p67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20" name="Google Shape;920;p67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21" name="Google Shape;921;p67"/>
          <p:cNvSpPr txBox="1"/>
          <p:nvPr/>
        </p:nvSpPr>
        <p:spPr>
          <a:xfrm>
            <a:off x="287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2" name="Google Shape;922;p67"/>
          <p:cNvSpPr txBox="1"/>
          <p:nvPr/>
        </p:nvSpPr>
        <p:spPr>
          <a:xfrm>
            <a:off x="3602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67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67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5" name="Google Shape;925;p67"/>
          <p:cNvCxnSpPr/>
          <p:nvPr/>
        </p:nvCxnSpPr>
        <p:spPr>
          <a:xfrm flipH="1" rot="10800000">
            <a:off x="7650141" y="899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26" name="Google Shape;926;p67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7" name="Google Shape;927;p67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28" name="Google Shape;928;p67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29" name="Google Shape;929;p67"/>
          <p:cNvSpPr txBox="1"/>
          <p:nvPr/>
        </p:nvSpPr>
        <p:spPr>
          <a:xfrm>
            <a:off x="4859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7"/>
          <p:cNvSpPr txBox="1"/>
          <p:nvPr/>
        </p:nvSpPr>
        <p:spPr>
          <a:xfrm>
            <a:off x="8174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67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7"/>
          <p:cNvSpPr/>
          <p:nvPr/>
        </p:nvSpPr>
        <p:spPr>
          <a:xfrm>
            <a:off x="1943350" y="3001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3" name="Google Shape;933;p67"/>
          <p:cNvCxnSpPr/>
          <p:nvPr/>
        </p:nvCxnSpPr>
        <p:spPr>
          <a:xfrm flipH="1" rot="10800000">
            <a:off x="3078141" y="3185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34" name="Google Shape;934;p67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5" name="Google Shape;935;p67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6" name="Google Shape;936;p67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37" name="Google Shape;937;p67"/>
          <p:cNvSpPr txBox="1"/>
          <p:nvPr/>
        </p:nvSpPr>
        <p:spPr>
          <a:xfrm>
            <a:off x="287866" y="4757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67"/>
          <p:cNvSpPr txBox="1"/>
          <p:nvPr/>
        </p:nvSpPr>
        <p:spPr>
          <a:xfrm>
            <a:off x="3602066" y="4757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67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67"/>
          <p:cNvSpPr/>
          <p:nvPr/>
        </p:nvSpPr>
        <p:spPr>
          <a:xfrm>
            <a:off x="6965650" y="3001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67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2" name="Google Shape;942;p67"/>
          <p:cNvCxnSpPr/>
          <p:nvPr/>
        </p:nvCxnSpPr>
        <p:spPr>
          <a:xfrm flipH="1" rot="10800000">
            <a:off x="7650141" y="3185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43" name="Google Shape;943;p67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67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45" name="Google Shape;945;p67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46" name="Google Shape;946;p67"/>
          <p:cNvSpPr txBox="1"/>
          <p:nvPr/>
        </p:nvSpPr>
        <p:spPr>
          <a:xfrm>
            <a:off x="4859866" y="4757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67"/>
          <p:cNvSpPr txBox="1"/>
          <p:nvPr/>
        </p:nvSpPr>
        <p:spPr>
          <a:xfrm>
            <a:off x="8174066" y="4757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67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67"/>
          <p:cNvSpPr/>
          <p:nvPr/>
        </p:nvSpPr>
        <p:spPr>
          <a:xfrm>
            <a:off x="1493050" y="3001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67"/>
          <p:cNvSpPr/>
          <p:nvPr/>
        </p:nvSpPr>
        <p:spPr>
          <a:xfrm>
            <a:off x="6515350" y="3001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67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67"/>
          <p:cNvSpPr/>
          <p:nvPr/>
        </p:nvSpPr>
        <p:spPr>
          <a:xfrm>
            <a:off x="6065050" y="715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67"/>
          <p:cNvSpPr/>
          <p:nvPr/>
        </p:nvSpPr>
        <p:spPr>
          <a:xfrm>
            <a:off x="6515350" y="715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67"/>
          <p:cNvSpPr/>
          <p:nvPr/>
        </p:nvSpPr>
        <p:spPr>
          <a:xfrm>
            <a:off x="2393650" y="3001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67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67"/>
          <p:cNvSpPr/>
          <p:nvPr/>
        </p:nvSpPr>
        <p:spPr>
          <a:xfrm>
            <a:off x="1493050" y="715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67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67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67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0" name="Google Shape;960;p67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67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7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67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7"/>
          <p:cNvSpPr/>
          <p:nvPr/>
        </p:nvSpPr>
        <p:spPr>
          <a:xfrm rot="-5400000">
            <a:off x="6912525" y="4097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ack(4)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67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67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67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7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67"/>
          <p:cNvSpPr/>
          <p:nvPr/>
        </p:nvSpPr>
        <p:spPr>
          <a:xfrm>
            <a:off x="8481775" y="3509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67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67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67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67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67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68"/>
          <p:cNvSpPr/>
          <p:nvPr/>
        </p:nvSpPr>
        <p:spPr>
          <a:xfrm>
            <a:off x="99775" y="3738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68"/>
          <p:cNvSpPr/>
          <p:nvPr/>
        </p:nvSpPr>
        <p:spPr>
          <a:xfrm>
            <a:off x="99775" y="1223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68"/>
          <p:cNvSpPr/>
          <p:nvPr/>
        </p:nvSpPr>
        <p:spPr>
          <a:xfrm>
            <a:off x="4671775" y="1223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68"/>
          <p:cNvSpPr/>
          <p:nvPr/>
        </p:nvSpPr>
        <p:spPr>
          <a:xfrm rot="-5400000">
            <a:off x="1840375" y="2503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68"/>
          <p:cNvSpPr/>
          <p:nvPr/>
        </p:nvSpPr>
        <p:spPr>
          <a:xfrm rot="-5400000">
            <a:off x="6412375" y="217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8"/>
          <p:cNvSpPr/>
          <p:nvPr/>
        </p:nvSpPr>
        <p:spPr>
          <a:xfrm rot="-5400000">
            <a:off x="6412375" y="2503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68"/>
          <p:cNvSpPr/>
          <p:nvPr/>
        </p:nvSpPr>
        <p:spPr>
          <a:xfrm>
            <a:off x="175975" y="1147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68"/>
          <p:cNvSpPr/>
          <p:nvPr/>
        </p:nvSpPr>
        <p:spPr>
          <a:xfrm>
            <a:off x="252175" y="1071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6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Setting Window Size (1/3): Filling the Pipe</a:t>
            </a:r>
            <a:r>
              <a:rPr lang="en">
                <a:solidFill>
                  <a:schemeClr val="accent3"/>
                </a:solidFill>
              </a:rPr>
              <a:t> (</a:t>
            </a:r>
            <a:r>
              <a:rPr i="1" lang="en">
                <a:solidFill>
                  <a:schemeClr val="accent3"/>
                </a:solidFill>
              </a:rPr>
              <a:t>W</a:t>
            </a:r>
            <a:r>
              <a:rPr lang="en">
                <a:solidFill>
                  <a:schemeClr val="accent3"/>
                </a:solidFill>
              </a:rPr>
              <a:t> = 3)</a:t>
            </a:r>
            <a:endParaRPr/>
          </a:p>
        </p:txBody>
      </p:sp>
      <p:sp>
        <p:nvSpPr>
          <p:cNvPr id="995" name="Google Shape;995;p68"/>
          <p:cNvSpPr/>
          <p:nvPr/>
        </p:nvSpPr>
        <p:spPr>
          <a:xfrm rot="-5400000">
            <a:off x="1840375" y="217248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68"/>
          <p:cNvCxnSpPr/>
          <p:nvPr/>
        </p:nvCxnSpPr>
        <p:spPr>
          <a:xfrm>
            <a:off x="4572000" y="393600"/>
            <a:ext cx="0" cy="4759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7" name="Google Shape;997;p68"/>
          <p:cNvCxnSpPr/>
          <p:nvPr/>
        </p:nvCxnSpPr>
        <p:spPr>
          <a:xfrm>
            <a:off x="400" y="2763350"/>
            <a:ext cx="9143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98" name="Google Shape;998;p68"/>
          <p:cNvCxnSpPr/>
          <p:nvPr/>
        </p:nvCxnSpPr>
        <p:spPr>
          <a:xfrm flipH="1" rot="10800000">
            <a:off x="3078141" y="899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999" name="Google Shape;999;p68"/>
          <p:cNvSpPr/>
          <p:nvPr/>
        </p:nvSpPr>
        <p:spPr>
          <a:xfrm rot="5400000">
            <a:off x="1840375" y="1158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0" name="Google Shape;1000;p68"/>
          <p:cNvCxnSpPr/>
          <p:nvPr/>
        </p:nvCxnSpPr>
        <p:spPr>
          <a:xfrm>
            <a:off x="1463732" y="610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01" name="Google Shape;1001;p68"/>
          <p:cNvCxnSpPr/>
          <p:nvPr/>
        </p:nvCxnSpPr>
        <p:spPr>
          <a:xfrm>
            <a:off x="1463732" y="2391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02" name="Google Shape;1002;p68"/>
          <p:cNvSpPr txBox="1"/>
          <p:nvPr/>
        </p:nvSpPr>
        <p:spPr>
          <a:xfrm>
            <a:off x="287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68"/>
          <p:cNvSpPr txBox="1"/>
          <p:nvPr/>
        </p:nvSpPr>
        <p:spPr>
          <a:xfrm>
            <a:off x="3602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68"/>
          <p:cNvSpPr txBox="1"/>
          <p:nvPr/>
        </p:nvSpPr>
        <p:spPr>
          <a:xfrm>
            <a:off x="1817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68"/>
          <p:cNvSpPr/>
          <p:nvPr/>
        </p:nvSpPr>
        <p:spPr>
          <a:xfrm>
            <a:off x="4747975" y="11474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6" name="Google Shape;1006;p68"/>
          <p:cNvCxnSpPr/>
          <p:nvPr/>
        </p:nvCxnSpPr>
        <p:spPr>
          <a:xfrm flipH="1" rot="10800000">
            <a:off x="7650141" y="899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07" name="Google Shape;1007;p68"/>
          <p:cNvSpPr/>
          <p:nvPr/>
        </p:nvSpPr>
        <p:spPr>
          <a:xfrm rot="5400000">
            <a:off x="6412375" y="1158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8" name="Google Shape;1008;p68"/>
          <p:cNvCxnSpPr/>
          <p:nvPr/>
        </p:nvCxnSpPr>
        <p:spPr>
          <a:xfrm>
            <a:off x="6035732" y="610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09" name="Google Shape;1009;p68"/>
          <p:cNvCxnSpPr/>
          <p:nvPr/>
        </p:nvCxnSpPr>
        <p:spPr>
          <a:xfrm>
            <a:off x="6035732" y="2391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10" name="Google Shape;1010;p68"/>
          <p:cNvSpPr txBox="1"/>
          <p:nvPr/>
        </p:nvSpPr>
        <p:spPr>
          <a:xfrm>
            <a:off x="4859866" y="2471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68"/>
          <p:cNvSpPr txBox="1"/>
          <p:nvPr/>
        </p:nvSpPr>
        <p:spPr>
          <a:xfrm>
            <a:off x="8174066" y="2471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68"/>
          <p:cNvSpPr txBox="1"/>
          <p:nvPr/>
        </p:nvSpPr>
        <p:spPr>
          <a:xfrm>
            <a:off x="6389266" y="1363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3" name="Google Shape;1013;p68"/>
          <p:cNvCxnSpPr/>
          <p:nvPr/>
        </p:nvCxnSpPr>
        <p:spPr>
          <a:xfrm flipH="1" rot="10800000">
            <a:off x="3078141" y="3185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14" name="Google Shape;1014;p68"/>
          <p:cNvSpPr/>
          <p:nvPr/>
        </p:nvSpPr>
        <p:spPr>
          <a:xfrm rot="5400000">
            <a:off x="1840375" y="3444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5" name="Google Shape;1015;p68"/>
          <p:cNvCxnSpPr/>
          <p:nvPr/>
        </p:nvCxnSpPr>
        <p:spPr>
          <a:xfrm>
            <a:off x="1463732" y="2896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16" name="Google Shape;1016;p68"/>
          <p:cNvCxnSpPr/>
          <p:nvPr/>
        </p:nvCxnSpPr>
        <p:spPr>
          <a:xfrm>
            <a:off x="1463732" y="4677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17" name="Google Shape;1017;p68"/>
          <p:cNvSpPr txBox="1"/>
          <p:nvPr/>
        </p:nvSpPr>
        <p:spPr>
          <a:xfrm>
            <a:off x="287866" y="4757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8" name="Google Shape;1018;p68"/>
          <p:cNvSpPr txBox="1"/>
          <p:nvPr/>
        </p:nvSpPr>
        <p:spPr>
          <a:xfrm>
            <a:off x="3602066" y="4757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68"/>
          <p:cNvSpPr txBox="1"/>
          <p:nvPr/>
        </p:nvSpPr>
        <p:spPr>
          <a:xfrm>
            <a:off x="1817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68"/>
          <p:cNvSpPr/>
          <p:nvPr/>
        </p:nvSpPr>
        <p:spPr>
          <a:xfrm>
            <a:off x="6065050" y="3001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1" name="Google Shape;1021;p68"/>
          <p:cNvCxnSpPr/>
          <p:nvPr/>
        </p:nvCxnSpPr>
        <p:spPr>
          <a:xfrm flipH="1" rot="10800000">
            <a:off x="7650141" y="3185925"/>
            <a:ext cx="600" cy="1096200"/>
          </a:xfrm>
          <a:prstGeom prst="curvedConnector3">
            <a:avLst>
              <a:gd fmla="val 75070833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22" name="Google Shape;1022;p68"/>
          <p:cNvSpPr/>
          <p:nvPr/>
        </p:nvSpPr>
        <p:spPr>
          <a:xfrm rot="5400000">
            <a:off x="6412375" y="3444114"/>
            <a:ext cx="595500" cy="1591200"/>
          </a:xfrm>
          <a:prstGeom prst="can">
            <a:avLst>
              <a:gd fmla="val 25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3" name="Google Shape;1023;p68"/>
          <p:cNvCxnSpPr/>
          <p:nvPr/>
        </p:nvCxnSpPr>
        <p:spPr>
          <a:xfrm>
            <a:off x="6035732" y="2896075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24" name="Google Shape;1024;p68"/>
          <p:cNvCxnSpPr/>
          <p:nvPr/>
        </p:nvCxnSpPr>
        <p:spPr>
          <a:xfrm>
            <a:off x="6035732" y="4677450"/>
            <a:ext cx="1314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025" name="Google Shape;1025;p68"/>
          <p:cNvSpPr txBox="1"/>
          <p:nvPr/>
        </p:nvSpPr>
        <p:spPr>
          <a:xfrm>
            <a:off x="4859866" y="4757025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68"/>
          <p:cNvSpPr txBox="1"/>
          <p:nvPr/>
        </p:nvSpPr>
        <p:spPr>
          <a:xfrm>
            <a:off x="8174066" y="475702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7" name="Google Shape;1027;p68"/>
          <p:cNvSpPr txBox="1"/>
          <p:nvPr/>
        </p:nvSpPr>
        <p:spPr>
          <a:xfrm>
            <a:off x="6389266" y="3649288"/>
            <a:ext cx="6075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68"/>
          <p:cNvSpPr/>
          <p:nvPr/>
        </p:nvSpPr>
        <p:spPr>
          <a:xfrm>
            <a:off x="6965650" y="715125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68"/>
          <p:cNvSpPr/>
          <p:nvPr/>
        </p:nvSpPr>
        <p:spPr>
          <a:xfrm>
            <a:off x="1943350" y="715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68"/>
          <p:cNvSpPr/>
          <p:nvPr/>
        </p:nvSpPr>
        <p:spPr>
          <a:xfrm>
            <a:off x="2393650" y="715113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68"/>
          <p:cNvSpPr/>
          <p:nvPr/>
        </p:nvSpPr>
        <p:spPr>
          <a:xfrm rot="-5400000">
            <a:off x="2340525" y="1811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68"/>
          <p:cNvSpPr/>
          <p:nvPr/>
        </p:nvSpPr>
        <p:spPr>
          <a:xfrm rot="-5400000">
            <a:off x="6912525" y="1811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68"/>
          <p:cNvSpPr/>
          <p:nvPr/>
        </p:nvSpPr>
        <p:spPr>
          <a:xfrm rot="-5400000">
            <a:off x="6443800" y="1810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68"/>
          <p:cNvSpPr/>
          <p:nvPr/>
        </p:nvSpPr>
        <p:spPr>
          <a:xfrm rot="-5400000">
            <a:off x="2340525" y="4097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68"/>
          <p:cNvSpPr/>
          <p:nvPr/>
        </p:nvSpPr>
        <p:spPr>
          <a:xfrm rot="-5400000">
            <a:off x="1871800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68"/>
          <p:cNvSpPr/>
          <p:nvPr/>
        </p:nvSpPr>
        <p:spPr>
          <a:xfrm rot="-5400000">
            <a:off x="1403075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68"/>
          <p:cNvSpPr/>
          <p:nvPr/>
        </p:nvSpPr>
        <p:spPr>
          <a:xfrm rot="-5400000">
            <a:off x="6912525" y="409777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ack(4)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68"/>
          <p:cNvSpPr/>
          <p:nvPr/>
        </p:nvSpPr>
        <p:spPr>
          <a:xfrm rot="-5400000">
            <a:off x="6443800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ack(3)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68"/>
          <p:cNvSpPr/>
          <p:nvPr/>
        </p:nvSpPr>
        <p:spPr>
          <a:xfrm rot="-5400000">
            <a:off x="5975075" y="4096025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ack(2)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68"/>
          <p:cNvSpPr/>
          <p:nvPr/>
        </p:nvSpPr>
        <p:spPr>
          <a:xfrm>
            <a:off x="5232375" y="4392138"/>
            <a:ext cx="593400" cy="2853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ack(1)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68"/>
          <p:cNvSpPr/>
          <p:nvPr/>
        </p:nvSpPr>
        <p:spPr>
          <a:xfrm>
            <a:off x="3681175" y="1452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68"/>
          <p:cNvSpPr/>
          <p:nvPr/>
        </p:nvSpPr>
        <p:spPr>
          <a:xfrm>
            <a:off x="8253175" y="1452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8"/>
          <p:cNvSpPr/>
          <p:nvPr/>
        </p:nvSpPr>
        <p:spPr>
          <a:xfrm>
            <a:off x="3681175" y="3738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68"/>
          <p:cNvSpPr/>
          <p:nvPr/>
        </p:nvSpPr>
        <p:spPr>
          <a:xfrm>
            <a:off x="8253175" y="3738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68"/>
          <p:cNvSpPr/>
          <p:nvPr/>
        </p:nvSpPr>
        <p:spPr>
          <a:xfrm>
            <a:off x="8329375" y="1376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68"/>
          <p:cNvSpPr/>
          <p:nvPr/>
        </p:nvSpPr>
        <p:spPr>
          <a:xfrm>
            <a:off x="3757375" y="3662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68"/>
          <p:cNvSpPr/>
          <p:nvPr/>
        </p:nvSpPr>
        <p:spPr>
          <a:xfrm>
            <a:off x="3833575" y="3585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68"/>
          <p:cNvSpPr/>
          <p:nvPr/>
        </p:nvSpPr>
        <p:spPr>
          <a:xfrm>
            <a:off x="8329375" y="3662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68"/>
          <p:cNvSpPr/>
          <p:nvPr/>
        </p:nvSpPr>
        <p:spPr>
          <a:xfrm>
            <a:off x="8405575" y="3585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68"/>
          <p:cNvSpPr/>
          <p:nvPr/>
        </p:nvSpPr>
        <p:spPr>
          <a:xfrm>
            <a:off x="328375" y="995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68"/>
          <p:cNvSpPr/>
          <p:nvPr/>
        </p:nvSpPr>
        <p:spPr>
          <a:xfrm>
            <a:off x="4824175" y="1071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68"/>
          <p:cNvSpPr/>
          <p:nvPr/>
        </p:nvSpPr>
        <p:spPr>
          <a:xfrm>
            <a:off x="4900375" y="995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68"/>
          <p:cNvSpPr/>
          <p:nvPr/>
        </p:nvSpPr>
        <p:spPr>
          <a:xfrm>
            <a:off x="175975" y="3662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8"/>
          <p:cNvSpPr/>
          <p:nvPr/>
        </p:nvSpPr>
        <p:spPr>
          <a:xfrm>
            <a:off x="252175" y="3585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8"/>
          <p:cNvSpPr/>
          <p:nvPr/>
        </p:nvSpPr>
        <p:spPr>
          <a:xfrm>
            <a:off x="328375" y="35096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68"/>
          <p:cNvSpPr/>
          <p:nvPr/>
        </p:nvSpPr>
        <p:spPr>
          <a:xfrm>
            <a:off x="4671775" y="37382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68"/>
          <p:cNvSpPr/>
          <p:nvPr/>
        </p:nvSpPr>
        <p:spPr>
          <a:xfrm>
            <a:off x="4747975" y="36620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68"/>
          <p:cNvSpPr/>
          <p:nvPr/>
        </p:nvSpPr>
        <p:spPr>
          <a:xfrm>
            <a:off x="4824175" y="3585850"/>
            <a:ext cx="450300" cy="5955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68"/>
          <p:cNvSpPr txBox="1"/>
          <p:nvPr/>
        </p:nvSpPr>
        <p:spPr>
          <a:xfrm>
            <a:off x="372981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68"/>
          <p:cNvSpPr txBox="1"/>
          <p:nvPr/>
        </p:nvSpPr>
        <p:spPr>
          <a:xfrm>
            <a:off x="8174066" y="490075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68"/>
          <p:cNvSpPr txBox="1"/>
          <p:nvPr/>
        </p:nvSpPr>
        <p:spPr>
          <a:xfrm>
            <a:off x="372981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68"/>
          <p:cNvSpPr txBox="1"/>
          <p:nvPr/>
        </p:nvSpPr>
        <p:spPr>
          <a:xfrm>
            <a:off x="8174066" y="2879176"/>
            <a:ext cx="783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flight: 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6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69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Avoiding Overload</a:t>
            </a:r>
            <a:b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(Flow and Congestion Control)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068" name="Google Shape;1068;p69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Avoiding Overload: Flow Control and Congestion Control</a:t>
            </a:r>
            <a:endParaRPr sz="3200"/>
          </a:p>
        </p:txBody>
      </p:sp>
      <p:sp>
        <p:nvSpPr>
          <p:cNvPr id="1069" name="Google Shape;1069;p69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10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075" name="Google Shape;1075;p70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big should the window be?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i="1" lang="en"/>
              <a:t>W</a:t>
            </a:r>
            <a:r>
              <a:rPr lang="en"/>
              <a:t> to balance three goals: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pipe")... </a:t>
            </a:r>
            <a:r>
              <a:rPr lang="en" sz="1400">
                <a:solidFill>
                  <a:schemeClr val="accent3"/>
                </a:solidFill>
              </a:rPr>
              <a:t>(set </a:t>
            </a:r>
            <a:r>
              <a:rPr i="1" lang="en" sz="1400">
                <a:solidFill>
                  <a:schemeClr val="accent3"/>
                </a:solidFill>
              </a:rPr>
              <a:t>W</a:t>
            </a:r>
            <a:r>
              <a:rPr lang="en" sz="1400">
                <a:solidFill>
                  <a:schemeClr val="accent3"/>
                </a:solidFill>
              </a:rPr>
              <a:t> = RTT × bandwidth)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...but don't overload the recipient (flow control)...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...and don't overload links (congestion control).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9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1"/>
          <p:cNvSpPr txBox="1"/>
          <p:nvPr>
            <p:ph idx="1" type="body"/>
          </p:nvPr>
        </p:nvSpPr>
        <p:spPr>
          <a:xfrm>
            <a:off x="107050" y="402200"/>
            <a:ext cx="8909700" cy="231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Consider the recipient: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might receive packets out-of-order, but can only deliver packets to the application in order.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recipient must </a:t>
            </a:r>
            <a:r>
              <a:rPr i="1" lang="en"/>
              <a:t>buffer</a:t>
            </a:r>
            <a:r>
              <a:rPr lang="en"/>
              <a:t> incoming packets that are out of order.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stay in the buffer until all "missing" packets arrive.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make sure the recipient doesn't run out of buffer space.</a:t>
            </a:r>
            <a:endParaRPr/>
          </a:p>
        </p:txBody>
      </p:sp>
      <p:sp>
        <p:nvSpPr>
          <p:cNvPr id="1081" name="Google Shape;1081;p7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 (</a:t>
            </a:r>
            <a:r>
              <a:rPr lang="en"/>
              <a:t>2/3</a:t>
            </a:r>
            <a:r>
              <a:rPr lang="en"/>
              <a:t>): Don't Overload Recipient (Flow Control)</a:t>
            </a:r>
            <a:endParaRPr/>
          </a:p>
        </p:txBody>
      </p:sp>
      <p:sp>
        <p:nvSpPr>
          <p:cNvPr id="1082" name="Google Shape;1082;p71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fmla="val -59537" name="adj1"/>
              <a:gd fmla="val -44670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application expects 3 next, but the sender gave me 4 and 5.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hold on to 4 and 5 while waiting for 3 to arrive.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71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71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71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71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71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71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72"/>
          <p:cNvSpPr txBox="1"/>
          <p:nvPr>
            <p:ph idx="1" type="body"/>
          </p:nvPr>
        </p:nvSpPr>
        <p:spPr>
          <a:xfrm>
            <a:off x="107050" y="402200"/>
            <a:ext cx="8909700" cy="24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/>
              <a:t>Flow control</a:t>
            </a:r>
            <a:r>
              <a:rPr lang="en"/>
              <a:t> ensures the recipient has enough buffer space for out-of-order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Recipient tells the sender how much space it has left.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size of remaining space is called the </a:t>
            </a:r>
            <a:r>
              <a:rPr b="1" lang="en"/>
              <a:t>advertised window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value is carried in ack messages.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Sender adjusts its window accordingly.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Number of packets in flight must be less than the recipient's advertised window.</a:t>
            </a:r>
            <a:endParaRPr/>
          </a:p>
        </p:txBody>
      </p:sp>
      <p:sp>
        <p:nvSpPr>
          <p:cNvPr id="1094" name="Google Shape;1094;p72"/>
          <p:cNvSpPr/>
          <p:nvPr/>
        </p:nvSpPr>
        <p:spPr>
          <a:xfrm>
            <a:off x="3197625" y="2986625"/>
            <a:ext cx="2102700" cy="19488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(2/3): Don't Overload Recipient (Flow Control)</a:t>
            </a:r>
            <a:endParaRPr/>
          </a:p>
        </p:txBody>
      </p:sp>
      <p:sp>
        <p:nvSpPr>
          <p:cNvPr id="1096" name="Google Shape;1096;p72"/>
          <p:cNvSpPr/>
          <p:nvPr/>
        </p:nvSpPr>
        <p:spPr>
          <a:xfrm>
            <a:off x="554475" y="2986625"/>
            <a:ext cx="2102700" cy="1948800"/>
          </a:xfrm>
          <a:prstGeom prst="rect">
            <a:avLst/>
          </a:prstGeom>
          <a:solidFill>
            <a:srgbClr val="CFE2F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2"/>
          <p:cNvSpPr/>
          <p:nvPr/>
        </p:nvSpPr>
        <p:spPr>
          <a:xfrm>
            <a:off x="883125" y="3650750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So I tied 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2"/>
          <p:cNvSpPr/>
          <p:nvPr/>
        </p:nvSpPr>
        <p:spPr>
          <a:xfrm>
            <a:off x="883130" y="4054125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onion to my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2"/>
          <p:cNvSpPr/>
          <p:nvPr/>
        </p:nvSpPr>
        <p:spPr>
          <a:xfrm>
            <a:off x="3526269" y="3650738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was the style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2"/>
          <p:cNvSpPr/>
          <p:nvPr/>
        </p:nvSpPr>
        <p:spPr>
          <a:xfrm>
            <a:off x="3526278" y="4054113"/>
            <a:ext cx="1445400" cy="3039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5. at the time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2"/>
          <p:cNvSpPr/>
          <p:nvPr/>
        </p:nvSpPr>
        <p:spPr>
          <a:xfrm>
            <a:off x="5656125" y="3264475"/>
            <a:ext cx="2933400" cy="1217700"/>
          </a:xfrm>
          <a:prstGeom prst="wedgeRoundRectCallout">
            <a:avLst>
              <a:gd fmla="val -59537" name="adj1"/>
              <a:gd fmla="val -44670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By the way, I only have enough space for 2 more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2"/>
          <p:cNvCxnSpPr/>
          <p:nvPr/>
        </p:nvCxnSpPr>
        <p:spPr>
          <a:xfrm>
            <a:off x="5750625" y="4655975"/>
            <a:ext cx="27444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03" name="Google Shape;1103;p72"/>
          <p:cNvSpPr txBox="1"/>
          <p:nvPr/>
        </p:nvSpPr>
        <p:spPr>
          <a:xfrm>
            <a:off x="5750625" y="4694800"/>
            <a:ext cx="27453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7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8" name="Google Shape;1108;p73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1109" name="Google Shape;1109;p73"/>
          <p:cNvSpPr/>
          <p:nvPr/>
        </p:nvSpPr>
        <p:spPr>
          <a:xfrm>
            <a:off x="1685450" y="3995425"/>
            <a:ext cx="3464022" cy="865998"/>
          </a:xfrm>
          <a:custGeom>
            <a:rect b="b" l="l" r="r" t="t"/>
            <a:pathLst>
              <a:path extrusionOk="0" h="42919" w="131064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triangle"/>
            <a:tailEnd len="med" w="med" type="triangle"/>
          </a:ln>
        </p:spPr>
      </p:sp>
      <p:sp>
        <p:nvSpPr>
          <p:cNvPr id="1110" name="Google Shape;1110;p7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11" name="Google Shape;1111;p73"/>
          <p:cNvSpPr txBox="1"/>
          <p:nvPr>
            <p:ph idx="1" type="body"/>
          </p:nvPr>
        </p:nvSpPr>
        <p:spPr>
          <a:xfrm>
            <a:off x="107050" y="402200"/>
            <a:ext cx="8909700" cy="26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Previously, we set </a:t>
            </a:r>
            <a:r>
              <a:rPr i="1" lang="en"/>
              <a:t>W</a:t>
            </a:r>
            <a:r>
              <a:rPr lang="en"/>
              <a:t> to fully </a:t>
            </a:r>
            <a:r>
              <a:rPr lang="en"/>
              <a:t>consume the bottleneck link bandwidth.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S–D would set </a:t>
            </a:r>
            <a:r>
              <a:rPr i="1" lang="en"/>
              <a:t>W</a:t>
            </a:r>
            <a:r>
              <a:rPr lang="en"/>
              <a:t> to send data at 1 Gbps.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practice, the bottleneck is shared with other flows.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With the red flow, S–D should only send at 0.5 Gbps.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sender should only consume </a:t>
            </a:r>
            <a:r>
              <a:rPr i="1" lang="en"/>
              <a:t>its share</a:t>
            </a:r>
            <a:r>
              <a:rPr lang="en"/>
              <a:t> of the bandwidth.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But, how do we compute this share?</a:t>
            </a:r>
            <a:endParaRPr/>
          </a:p>
        </p:txBody>
      </p:sp>
      <p:sp>
        <p:nvSpPr>
          <p:cNvPr id="1112" name="Google Shape;1112;p73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73"/>
          <p:cNvCxnSpPr>
            <a:stCxn id="1114" idx="6"/>
            <a:endCxn id="1112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4" name="Google Shape;1114;p73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3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3"/>
          <p:cNvCxnSpPr>
            <a:stCxn id="1112" idx="3"/>
            <a:endCxn id="1115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7" name="Google Shape;1117;p73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3"/>
          <p:cNvCxnSpPr>
            <a:stCxn id="1115" idx="3"/>
            <a:endCxn id="1117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9" name="Google Shape;1119;p73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3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73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73"/>
          <p:cNvSpPr txBox="1"/>
          <p:nvPr/>
        </p:nvSpPr>
        <p:spPr>
          <a:xfrm>
            <a:off x="6724125" y="4112675"/>
            <a:ext cx="2220000" cy="7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Recall: </a:t>
            </a:r>
            <a:r>
              <a:rPr i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RTT × bandwidth.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</a:t>
            </a:r>
            <a:r>
              <a:rPr i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bandwidth are proportional (roughly speaking).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73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73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8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p7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Setting Window Size (3/3): Don't Overload Network (Congestion Control)</a:t>
            </a:r>
            <a:endParaRPr/>
          </a:p>
        </p:txBody>
      </p:sp>
      <p:sp>
        <p:nvSpPr>
          <p:cNvPr id="1130" name="Google Shape;1130;p74"/>
          <p:cNvSpPr txBox="1"/>
          <p:nvPr>
            <p:ph idx="1" type="body"/>
          </p:nvPr>
        </p:nvSpPr>
        <p:spPr>
          <a:xfrm>
            <a:off x="107050" y="402200"/>
            <a:ext cx="8909700" cy="237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TCP code implements a </a:t>
            </a:r>
            <a:r>
              <a:rPr b="1" lang="en"/>
              <a:t>congestion control algorithm</a:t>
            </a:r>
            <a:r>
              <a:rPr lang="en"/>
              <a:t> that dynamically computes the sender's share of bandwidth.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output of the algorithm is a </a:t>
            </a:r>
            <a:r>
              <a:rPr b="1" lang="en"/>
              <a:t>congestion window</a:t>
            </a:r>
            <a:r>
              <a:rPr lang="en"/>
              <a:t> (cwnd).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algorithm balances a few goals (e.g. performance, avoid overload, fairness).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about the algorithms later.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today: The sender runs magic algorithm and outputs a congestion window.</a:t>
            </a:r>
            <a:endParaRPr/>
          </a:p>
        </p:txBody>
      </p:sp>
      <p:sp>
        <p:nvSpPr>
          <p:cNvPr id="1131" name="Google Shape;1131;p74"/>
          <p:cNvSpPr txBox="1"/>
          <p:nvPr/>
        </p:nvSpPr>
        <p:spPr>
          <a:xfrm>
            <a:off x="6724125" y="4112675"/>
            <a:ext cx="2220000" cy="7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Recall: </a:t>
            </a:r>
            <a:r>
              <a:rPr i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RTT × bandwidth.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</a:t>
            </a:r>
            <a:r>
              <a:rPr i="1"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bandwidth are proportional (roughly speaking).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74"/>
          <p:cNvSpPr/>
          <p:nvPr/>
        </p:nvSpPr>
        <p:spPr>
          <a:xfrm>
            <a:off x="610725" y="2934400"/>
            <a:ext cx="3160800" cy="636900"/>
          </a:xfrm>
          <a:prstGeom prst="wedgeRoundRectCallout">
            <a:avLst>
              <a:gd fmla="val -35419" name="adj1"/>
              <a:gd fmla="val 82423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magically decided that </a:t>
            </a:r>
            <a:r>
              <a:rPr i="1" lang="en"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7 avoids overloading the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74"/>
          <p:cNvCxnSpPr/>
          <p:nvPr/>
        </p:nvCxnSpPr>
        <p:spPr>
          <a:xfrm>
            <a:off x="1213150" y="3911425"/>
            <a:ext cx="4306800" cy="0"/>
          </a:xfrm>
          <a:prstGeom prst="straightConnector1">
            <a:avLst/>
          </a:prstGeom>
          <a:noFill/>
          <a:ln cap="flat" cmpd="sng" w="19050">
            <a:solidFill>
              <a:srgbClr val="F1C232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1134" name="Google Shape;1134;p74"/>
          <p:cNvSpPr/>
          <p:nvPr/>
        </p:nvSpPr>
        <p:spPr>
          <a:xfrm>
            <a:off x="1685450" y="3995425"/>
            <a:ext cx="3464022" cy="865998"/>
          </a:xfrm>
          <a:custGeom>
            <a:rect b="b" l="l" r="r" t="t"/>
            <a:pathLst>
              <a:path extrusionOk="0" h="42919" w="131064">
                <a:moveTo>
                  <a:pt x="0" y="41776"/>
                </a:moveTo>
                <a:cubicBezTo>
                  <a:pt x="4847" y="35680"/>
                  <a:pt x="13272" y="11444"/>
                  <a:pt x="29083" y="5200"/>
                </a:cubicBezTo>
                <a:cubicBezTo>
                  <a:pt x="44895" y="-1044"/>
                  <a:pt x="77872" y="-1975"/>
                  <a:pt x="94869" y="4311"/>
                </a:cubicBezTo>
                <a:cubicBezTo>
                  <a:pt x="111866" y="10598"/>
                  <a:pt x="125032" y="36484"/>
                  <a:pt x="131064" y="42919"/>
                </a:cubicBezTo>
              </a:path>
            </a:pathLst>
          </a:custGeom>
          <a:noFill/>
          <a:ln cap="flat" cmpd="sng" w="19050">
            <a:solidFill>
              <a:srgbClr val="FF00FF"/>
            </a:solidFill>
            <a:prstDash val="solid"/>
            <a:round/>
            <a:headEnd len="med" w="med" type="triangle"/>
            <a:tailEnd len="med" w="med" type="triangle"/>
          </a:ln>
        </p:spPr>
      </p:sp>
      <p:sp>
        <p:nvSpPr>
          <p:cNvPr id="1135" name="Google Shape;1135;p74"/>
          <p:cNvSpPr/>
          <p:nvPr/>
        </p:nvSpPr>
        <p:spPr>
          <a:xfrm>
            <a:off x="2460378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6" name="Google Shape;1136;p74"/>
          <p:cNvCxnSpPr>
            <a:stCxn id="1137" idx="6"/>
            <a:endCxn id="1135" idx="1"/>
          </p:cNvCxnSpPr>
          <p:nvPr/>
        </p:nvCxnSpPr>
        <p:spPr>
          <a:xfrm>
            <a:off x="1215288" y="3970175"/>
            <a:ext cx="1245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37" name="Google Shape;1137;p74"/>
          <p:cNvSpPr/>
          <p:nvPr/>
        </p:nvSpPr>
        <p:spPr>
          <a:xfrm>
            <a:off x="930288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4"/>
          <p:cNvSpPr/>
          <p:nvPr/>
        </p:nvSpPr>
        <p:spPr>
          <a:xfrm>
            <a:off x="3990453" y="3827675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74"/>
          <p:cNvCxnSpPr>
            <a:stCxn id="1135" idx="3"/>
            <a:endCxn id="1138" idx="1"/>
          </p:cNvCxnSpPr>
          <p:nvPr/>
        </p:nvCxnSpPr>
        <p:spPr>
          <a:xfrm>
            <a:off x="2745378" y="3970175"/>
            <a:ext cx="1245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0" name="Google Shape;1140;p74"/>
          <p:cNvSpPr/>
          <p:nvPr/>
        </p:nvSpPr>
        <p:spPr>
          <a:xfrm>
            <a:off x="5520513" y="3827675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74"/>
          <p:cNvCxnSpPr>
            <a:stCxn id="1138" idx="3"/>
            <a:endCxn id="1140" idx="2"/>
          </p:cNvCxnSpPr>
          <p:nvPr/>
        </p:nvCxnSpPr>
        <p:spPr>
          <a:xfrm>
            <a:off x="4275453" y="3970175"/>
            <a:ext cx="1245000" cy="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42" name="Google Shape;1142;p74"/>
          <p:cNvSpPr txBox="1"/>
          <p:nvPr/>
        </p:nvSpPr>
        <p:spPr>
          <a:xfrm>
            <a:off x="12302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4"/>
          <p:cNvSpPr txBox="1"/>
          <p:nvPr/>
        </p:nvSpPr>
        <p:spPr>
          <a:xfrm>
            <a:off x="2760450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4"/>
          <p:cNvSpPr txBox="1"/>
          <p:nvPr/>
        </p:nvSpPr>
        <p:spPr>
          <a:xfrm>
            <a:off x="4275525" y="3626947"/>
            <a:ext cx="12300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 Gbps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4"/>
          <p:cNvSpPr txBox="1"/>
          <p:nvPr/>
        </p:nvSpPr>
        <p:spPr>
          <a:xfrm>
            <a:off x="1811925" y="4569575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4"/>
          <p:cNvSpPr txBox="1"/>
          <p:nvPr/>
        </p:nvSpPr>
        <p:spPr>
          <a:xfrm>
            <a:off x="1086225" y="4028400"/>
            <a:ext cx="948600" cy="2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0.5 Gbps</a:t>
            </a:r>
            <a:endParaRPr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0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7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Window Size</a:t>
            </a:r>
            <a:endParaRPr/>
          </a:p>
        </p:txBody>
      </p:sp>
      <p:sp>
        <p:nvSpPr>
          <p:cNvPr id="1152" name="Google Shape;1152;p7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big should the window be?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i="1" lang="en"/>
              <a:t>W</a:t>
            </a:r>
            <a:r>
              <a:rPr lang="en"/>
              <a:t> to balance three goals: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pipe")... </a:t>
            </a:r>
            <a:r>
              <a:rPr lang="en" sz="1400">
                <a:solidFill>
                  <a:schemeClr val="accent3"/>
                </a:solidFill>
              </a:rPr>
              <a:t>(set </a:t>
            </a:r>
            <a:r>
              <a:rPr i="1" lang="en" sz="1400">
                <a:solidFill>
                  <a:schemeClr val="accent3"/>
                </a:solidFill>
              </a:rPr>
              <a:t>W</a:t>
            </a:r>
            <a:r>
              <a:rPr lang="en" sz="1400">
                <a:solidFill>
                  <a:schemeClr val="accent3"/>
                </a:solidFill>
              </a:rPr>
              <a:t> = RTT × bandwidth)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...but don't overload the recipient (flow control).</a:t>
            </a:r>
            <a:r>
              <a:rPr lang="en"/>
              <a:t>.. </a:t>
            </a:r>
            <a:r>
              <a:rPr lang="en" sz="1400">
                <a:solidFill>
                  <a:schemeClr val="accent3"/>
                </a:solidFill>
              </a:rPr>
              <a:t>(set </a:t>
            </a:r>
            <a:r>
              <a:rPr i="1" lang="en" sz="1400">
                <a:solidFill>
                  <a:schemeClr val="accent3"/>
                </a:solidFill>
              </a:rPr>
              <a:t>W</a:t>
            </a:r>
            <a:r>
              <a:rPr lang="en" sz="1400">
                <a:solidFill>
                  <a:schemeClr val="accent3"/>
                </a:solidFill>
              </a:rPr>
              <a:t> = recipient's advertised window)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...and don't overload links (congestion control). </a:t>
            </a:r>
            <a:r>
              <a:rPr lang="en" sz="1400">
                <a:solidFill>
                  <a:schemeClr val="accent3"/>
                </a:solidFill>
              </a:rPr>
              <a:t>(set </a:t>
            </a:r>
            <a:r>
              <a:rPr i="1" lang="en" sz="1400">
                <a:solidFill>
                  <a:schemeClr val="accent3"/>
                </a:solidFill>
              </a:rPr>
              <a:t>W</a:t>
            </a:r>
            <a:r>
              <a:rPr lang="en" sz="1400">
                <a:solidFill>
                  <a:schemeClr val="accent3"/>
                </a:solidFill>
              </a:rPr>
              <a:t> = sender's congestion window)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Ideally: </a:t>
            </a:r>
            <a:r>
              <a:rPr i="1" lang="en">
                <a:solidFill>
                  <a:srgbClr val="000000"/>
                </a:solidFill>
              </a:rPr>
              <a:t>W</a:t>
            </a:r>
            <a:r>
              <a:rPr lang="en">
                <a:solidFill>
                  <a:srgbClr val="000000"/>
                </a:solidFill>
              </a:rPr>
              <a:t> is set to the minimum of the 3 values.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In practice: </a:t>
            </a:r>
            <a:r>
              <a:rPr i="1" lang="en">
                <a:solidFill>
                  <a:srgbClr val="000000"/>
                </a:solidFill>
              </a:rPr>
              <a:t>W</a:t>
            </a:r>
            <a:r>
              <a:rPr lang="en">
                <a:solidFill>
                  <a:srgbClr val="000000"/>
                </a:solidFill>
              </a:rPr>
              <a:t> is the minimum of advertised window (2) and congestion window (3).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Congestion window ≤ pipe-filling window.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Equal if we're the only connection, less than if sharing bandwidth with others.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It's hard for the sender to discover the bottleneck bandwidth and calculate (1).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6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76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Smarter Acknowledgments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8" name="Google Shape;1158;p76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Acknowledgments</a:t>
            </a:r>
            <a:endParaRPr/>
          </a:p>
        </p:txBody>
      </p:sp>
      <p:sp>
        <p:nvSpPr>
          <p:cNvPr id="1159" name="Google Shape;1159;p76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10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3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7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Ack Strategy (</a:t>
            </a:r>
            <a:r>
              <a:rPr lang="en">
                <a:solidFill>
                  <a:schemeClr val="accent3"/>
                </a:solidFill>
              </a:rPr>
              <a:t>1/3</a:t>
            </a:r>
            <a:r>
              <a:rPr lang="en">
                <a:solidFill>
                  <a:schemeClr val="accent3"/>
                </a:solidFill>
              </a:rPr>
              <a:t>): Individual Packet Acks</a:t>
            </a:r>
            <a:endParaRPr/>
          </a:p>
        </p:txBody>
      </p:sp>
      <p:sp>
        <p:nvSpPr>
          <p:cNvPr id="1165" name="Google Shape;1165;p77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design so far</a:t>
            </a:r>
            <a:r>
              <a:rPr lang="en"/>
              <a:t>: </a:t>
            </a:r>
            <a:r>
              <a:rPr b="1" lang="en"/>
              <a:t>Individual packet acks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you receive packet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, send ack(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/>
              <a:t>).</a:t>
            </a:r>
            <a:endParaRPr/>
          </a:p>
        </p:txBody>
      </p:sp>
      <p:cxnSp>
        <p:nvCxnSpPr>
          <p:cNvPr id="1166" name="Google Shape;1166;p77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7" name="Google Shape;1167;p77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8" name="Google Shape;1168;p77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9" name="Google Shape;1169;p77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0" name="Google Shape;1170;p77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71" name="Google Shape;1171;p77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72" name="Google Shape;1172;p77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73" name="Google Shape;1173;p77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74" name="Google Shape;1174;p77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75" name="Google Shape;1175;p77"/>
          <p:cNvCxnSpPr/>
          <p:nvPr/>
        </p:nvCxnSpPr>
        <p:spPr>
          <a:xfrm flipH="1">
            <a:off x="3044632" y="27378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76" name="Google Shape;1176;p77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77"/>
          <p:cNvSpPr txBox="1"/>
          <p:nvPr/>
        </p:nvSpPr>
        <p:spPr>
          <a:xfrm>
            <a:off x="6022375" y="2244804"/>
            <a:ext cx="667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ack(1)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ack(2)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ack(3)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ack(4)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78" name="Google Shape;1178;p77"/>
          <p:cNvCxnSpPr/>
          <p:nvPr/>
        </p:nvCxnSpPr>
        <p:spPr>
          <a:xfrm flipH="1">
            <a:off x="3044632" y="28902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79" name="Google Shape;1179;p77"/>
          <p:cNvCxnSpPr/>
          <p:nvPr/>
        </p:nvCxnSpPr>
        <p:spPr>
          <a:xfrm flipH="1">
            <a:off x="4097032" y="2585414"/>
            <a:ext cx="1956300" cy="2409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80" name="Google Shape;1180;p77"/>
          <p:cNvSpPr txBox="1"/>
          <p:nvPr/>
        </p:nvSpPr>
        <p:spPr>
          <a:xfrm>
            <a:off x="3917749" y="2689935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77"/>
          <p:cNvCxnSpPr/>
          <p:nvPr/>
        </p:nvCxnSpPr>
        <p:spPr>
          <a:xfrm>
            <a:off x="3039500" y="33948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82" name="Google Shape;1182;p77"/>
          <p:cNvSpPr txBox="1"/>
          <p:nvPr/>
        </p:nvSpPr>
        <p:spPr>
          <a:xfrm>
            <a:off x="2821986" y="3222061"/>
            <a:ext cx="264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77"/>
          <p:cNvSpPr txBox="1"/>
          <p:nvPr/>
        </p:nvSpPr>
        <p:spPr>
          <a:xfrm>
            <a:off x="6118100" y="3625600"/>
            <a:ext cx="14595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Unnecessary and avoidable retransmission!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7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7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Ack Strategy (2/3): Full Information </a:t>
            </a:r>
            <a:r>
              <a:rPr lang="en">
                <a:solidFill>
                  <a:schemeClr val="accent3"/>
                </a:solidFill>
              </a:rPr>
              <a:t>Acks</a:t>
            </a:r>
            <a:endParaRPr/>
          </a:p>
        </p:txBody>
      </p:sp>
      <p:sp>
        <p:nvSpPr>
          <p:cNvPr id="1189" name="Google Shape;1189;p78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Smarter idea: </a:t>
            </a:r>
            <a:r>
              <a:rPr b="1" lang="en"/>
              <a:t>F</a:t>
            </a:r>
            <a:r>
              <a:rPr b="1" lang="en"/>
              <a:t>ull information acks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you receive a packet, send an ack listing </a:t>
            </a:r>
            <a:r>
              <a:rPr i="1" lang="en"/>
              <a:t>every packet received</a:t>
            </a:r>
            <a:r>
              <a:rPr lang="en"/>
              <a:t>.</a:t>
            </a:r>
            <a:endParaRPr/>
          </a:p>
        </p:txBody>
      </p:sp>
      <p:cxnSp>
        <p:nvCxnSpPr>
          <p:cNvPr id="1190" name="Google Shape;1190;p78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1" name="Google Shape;1191;p78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78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3" name="Google Shape;1193;p78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4" name="Google Shape;1194;p78"/>
          <p:cNvCxnSpPr/>
          <p:nvPr/>
        </p:nvCxnSpPr>
        <p:spPr>
          <a:xfrm flipH="1">
            <a:off x="3044632" y="24330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95" name="Google Shape;1195;p78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96" name="Google Shape;1196;p78"/>
          <p:cNvCxnSpPr/>
          <p:nvPr/>
        </p:nvCxnSpPr>
        <p:spPr>
          <a:xfrm>
            <a:off x="3039500" y="21756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97" name="Google Shape;1197;p78"/>
          <p:cNvCxnSpPr/>
          <p:nvPr/>
        </p:nvCxnSpPr>
        <p:spPr>
          <a:xfrm>
            <a:off x="3039500" y="23280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98" name="Google Shape;1198;p78"/>
          <p:cNvCxnSpPr/>
          <p:nvPr/>
        </p:nvCxnSpPr>
        <p:spPr>
          <a:xfrm>
            <a:off x="3039500" y="24804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99" name="Google Shape;1199;p78"/>
          <p:cNvCxnSpPr/>
          <p:nvPr/>
        </p:nvCxnSpPr>
        <p:spPr>
          <a:xfrm flipH="1">
            <a:off x="3044632" y="27378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00" name="Google Shape;1200;p78"/>
          <p:cNvSpPr txBox="1"/>
          <p:nvPr/>
        </p:nvSpPr>
        <p:spPr>
          <a:xfrm>
            <a:off x="2821986" y="1850461"/>
            <a:ext cx="264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78"/>
          <p:cNvSpPr txBox="1"/>
          <p:nvPr/>
        </p:nvSpPr>
        <p:spPr>
          <a:xfrm>
            <a:off x="6022375" y="2244800"/>
            <a:ext cx="1555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1.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1, 2.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1, </a:t>
            </a:r>
            <a:r>
              <a:rPr b="1"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, 3.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1, </a:t>
            </a:r>
            <a:r>
              <a:rPr b="1"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0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, 3, 4.</a:t>
            </a:r>
            <a:endParaRPr sz="10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2" name="Google Shape;1202;p78"/>
          <p:cNvCxnSpPr/>
          <p:nvPr/>
        </p:nvCxnSpPr>
        <p:spPr>
          <a:xfrm flipH="1">
            <a:off x="3044632" y="289021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3" name="Google Shape;1203;p78"/>
          <p:cNvCxnSpPr/>
          <p:nvPr/>
        </p:nvCxnSpPr>
        <p:spPr>
          <a:xfrm flipH="1">
            <a:off x="4097032" y="2585414"/>
            <a:ext cx="1956300" cy="2409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04" name="Google Shape;1204;p78"/>
          <p:cNvSpPr txBox="1"/>
          <p:nvPr/>
        </p:nvSpPr>
        <p:spPr>
          <a:xfrm>
            <a:off x="3917749" y="2689935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5" name="Google Shape;1205;p78"/>
          <p:cNvSpPr txBox="1"/>
          <p:nvPr/>
        </p:nvSpPr>
        <p:spPr>
          <a:xfrm>
            <a:off x="1349825" y="2963904"/>
            <a:ext cx="16806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Sender learns that 2 was received.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9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10" name="Google Shape;1210;p79"/>
          <p:cNvCxnSpPr/>
          <p:nvPr/>
        </p:nvCxnSpPr>
        <p:spPr>
          <a:xfrm flipH="1">
            <a:off x="3044632" y="345218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11" name="Google Shape;1211;p79"/>
          <p:cNvCxnSpPr/>
          <p:nvPr/>
        </p:nvCxnSpPr>
        <p:spPr>
          <a:xfrm flipH="1">
            <a:off x="3044632" y="312833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12" name="Google Shape;1212;p79"/>
          <p:cNvCxnSpPr/>
          <p:nvPr/>
        </p:nvCxnSpPr>
        <p:spPr>
          <a:xfrm flipH="1">
            <a:off x="3044632" y="278543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13" name="Google Shape;1213;p7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Ack Strategy (2/3): Full Information Acks</a:t>
            </a:r>
            <a:endParaRPr/>
          </a:p>
        </p:txBody>
      </p:sp>
      <p:sp>
        <p:nvSpPr>
          <p:cNvPr id="1214" name="Google Shape;1214;p79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Full information ack format: "All packets 1~</a:t>
            </a:r>
            <a:r>
              <a:rPr i="1" lang="en"/>
              <a:t>n</a:t>
            </a:r>
            <a:r>
              <a:rPr lang="en"/>
              <a:t>, plus [</a:t>
            </a:r>
            <a:r>
              <a:rPr i="1" lang="en"/>
              <a:t>list out all other packets</a:t>
            </a:r>
            <a:r>
              <a:rPr lang="en"/>
              <a:t>]."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"I received all packets up to 12, plus 14, 15, 16."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Problem: The list can get long.</a:t>
            </a:r>
            <a:endParaRPr/>
          </a:p>
        </p:txBody>
      </p:sp>
      <p:sp>
        <p:nvSpPr>
          <p:cNvPr id="1215" name="Google Shape;1215;p79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6" name="Google Shape;1216;p79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7" name="Google Shape;1217;p79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8" name="Google Shape;1218;p79"/>
          <p:cNvCxnSpPr/>
          <p:nvPr/>
        </p:nvCxnSpPr>
        <p:spPr>
          <a:xfrm flipH="1">
            <a:off x="3044632" y="2437776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19" name="Google Shape;1219;p79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20" name="Google Shape;1220;p79"/>
          <p:cNvCxnSpPr/>
          <p:nvPr/>
        </p:nvCxnSpPr>
        <p:spPr>
          <a:xfrm>
            <a:off x="3039500" y="234712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21" name="Google Shape;1221;p79"/>
          <p:cNvSpPr txBox="1"/>
          <p:nvPr/>
        </p:nvSpPr>
        <p:spPr>
          <a:xfrm>
            <a:off x="2821986" y="1850461"/>
            <a:ext cx="2643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1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2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3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4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5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6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7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2" name="Google Shape;1222;p79"/>
          <p:cNvSpPr txBox="1"/>
          <p:nvPr/>
        </p:nvSpPr>
        <p:spPr>
          <a:xfrm>
            <a:off x="6022375" y="2273375"/>
            <a:ext cx="23082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plus [3].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plus [3, 5].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plus [3, 5, 7].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3" name="Google Shape;1223;p79"/>
          <p:cNvSpPr txBox="1"/>
          <p:nvPr/>
        </p:nvSpPr>
        <p:spPr>
          <a:xfrm>
            <a:off x="4645224" y="225906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4" name="Google Shape;1224;p79"/>
          <p:cNvCxnSpPr/>
          <p:nvPr/>
        </p:nvCxnSpPr>
        <p:spPr>
          <a:xfrm>
            <a:off x="3039500" y="2185199"/>
            <a:ext cx="1624200" cy="19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25" name="Google Shape;1225;p79"/>
          <p:cNvCxnSpPr/>
          <p:nvPr/>
        </p:nvCxnSpPr>
        <p:spPr>
          <a:xfrm>
            <a:off x="3039500" y="2687277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26" name="Google Shape;1226;p79"/>
          <p:cNvCxnSpPr/>
          <p:nvPr/>
        </p:nvCxnSpPr>
        <p:spPr>
          <a:xfrm>
            <a:off x="3039500" y="299482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27" name="Google Shape;1227;p79"/>
          <p:cNvSpPr txBox="1"/>
          <p:nvPr/>
        </p:nvSpPr>
        <p:spPr>
          <a:xfrm>
            <a:off x="293450" y="2291575"/>
            <a:ext cx="20622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every even-numbered packet is dropped: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"Received all up to 1, plus [3, 5, 7, ..., 999]."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8" name="Google Shape;1228;p79"/>
          <p:cNvSpPr/>
          <p:nvPr/>
        </p:nvSpPr>
        <p:spPr>
          <a:xfrm rot="-5400000">
            <a:off x="1270875" y="3015450"/>
            <a:ext cx="138600" cy="1090500"/>
          </a:xfrm>
          <a:prstGeom prst="lef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9" name="Google Shape;1229;p79"/>
          <p:cNvSpPr txBox="1"/>
          <p:nvPr/>
        </p:nvSpPr>
        <p:spPr>
          <a:xfrm>
            <a:off x="795075" y="3593276"/>
            <a:ext cx="10905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Long.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0" name="Google Shape;1230;p79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31" name="Google Shape;1231;p79"/>
          <p:cNvSpPr txBox="1"/>
          <p:nvPr/>
        </p:nvSpPr>
        <p:spPr>
          <a:xfrm>
            <a:off x="4645224" y="25908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2" name="Google Shape;1232;p79"/>
          <p:cNvCxnSpPr/>
          <p:nvPr/>
        </p:nvCxnSpPr>
        <p:spPr>
          <a:xfrm>
            <a:off x="3039500" y="2516987"/>
            <a:ext cx="1624200" cy="19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33" name="Google Shape;1233;p79"/>
          <p:cNvSpPr txBox="1"/>
          <p:nvPr/>
        </p:nvSpPr>
        <p:spPr>
          <a:xfrm>
            <a:off x="4645224" y="29337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4" name="Google Shape;1234;p79"/>
          <p:cNvCxnSpPr/>
          <p:nvPr/>
        </p:nvCxnSpPr>
        <p:spPr>
          <a:xfrm>
            <a:off x="3039500" y="2859887"/>
            <a:ext cx="1624200" cy="19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8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8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Ack Strategy (3/3): Cumulative Acks</a:t>
            </a:r>
            <a:endParaRPr/>
          </a:p>
        </p:txBody>
      </p:sp>
      <p:sp>
        <p:nvSpPr>
          <p:cNvPr id="1240" name="Google Shape;1240;p80"/>
          <p:cNvSpPr txBox="1"/>
          <p:nvPr>
            <p:ph idx="1" type="body"/>
          </p:nvPr>
        </p:nvSpPr>
        <p:spPr>
          <a:xfrm>
            <a:off x="107050" y="402200"/>
            <a:ext cx="8909700" cy="13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TCP actually uses</a:t>
            </a:r>
            <a:r>
              <a:rPr lang="en"/>
              <a:t>: </a:t>
            </a:r>
            <a:r>
              <a:rPr b="1" lang="en"/>
              <a:t>Cumulative acks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"I received all packets up to 12, </a:t>
            </a:r>
            <a:r>
              <a:rPr lang="en" strike="sngStrike"/>
              <a:t>plus 14, 15, 16</a:t>
            </a:r>
            <a:r>
              <a:rPr lang="en"/>
              <a:t>." (Full info, minus the list.)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Ack the highest sequence number for which all previous packets have been received.</a:t>
            </a:r>
            <a:endParaRPr/>
          </a:p>
        </p:txBody>
      </p:sp>
      <p:cxnSp>
        <p:nvCxnSpPr>
          <p:cNvPr id="1241" name="Google Shape;1241;p80"/>
          <p:cNvCxnSpPr/>
          <p:nvPr/>
        </p:nvCxnSpPr>
        <p:spPr>
          <a:xfrm flipH="1">
            <a:off x="3044632" y="345218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42" name="Google Shape;1242;p80"/>
          <p:cNvCxnSpPr/>
          <p:nvPr/>
        </p:nvCxnSpPr>
        <p:spPr>
          <a:xfrm flipH="1">
            <a:off x="3044632" y="312833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43" name="Google Shape;1243;p80"/>
          <p:cNvCxnSpPr/>
          <p:nvPr/>
        </p:nvCxnSpPr>
        <p:spPr>
          <a:xfrm flipH="1">
            <a:off x="3044632" y="2785439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44" name="Google Shape;1244;p8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80"/>
          <p:cNvCxnSpPr/>
          <p:nvPr/>
        </p:nvCxnSpPr>
        <p:spPr>
          <a:xfrm>
            <a:off x="60589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46" name="Google Shape;1246;p8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91425" spcFirstLastPara="1" rIns="91425" wrap="square" tIns="27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0"/>
          <p:cNvCxnSpPr/>
          <p:nvPr/>
        </p:nvCxnSpPr>
        <p:spPr>
          <a:xfrm flipH="1">
            <a:off x="3044632" y="2437776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6AA84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48" name="Google Shape;1248;p80"/>
          <p:cNvCxnSpPr/>
          <p:nvPr/>
        </p:nvCxnSpPr>
        <p:spPr>
          <a:xfrm>
            <a:off x="3039500" y="202327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49" name="Google Shape;1249;p80"/>
          <p:cNvCxnSpPr/>
          <p:nvPr/>
        </p:nvCxnSpPr>
        <p:spPr>
          <a:xfrm>
            <a:off x="3039500" y="234712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50" name="Google Shape;1250;p80"/>
          <p:cNvSpPr txBox="1"/>
          <p:nvPr/>
        </p:nvSpPr>
        <p:spPr>
          <a:xfrm>
            <a:off x="2821986" y="1850461"/>
            <a:ext cx="2643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1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2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3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4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5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6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"/>
                <a:ea typeface="Roboto"/>
                <a:cs typeface="Roboto"/>
                <a:sym typeface="Roboto"/>
              </a:rPr>
              <a:t>7</a:t>
            </a: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1" name="Google Shape;1251;p80"/>
          <p:cNvSpPr txBox="1"/>
          <p:nvPr/>
        </p:nvSpPr>
        <p:spPr>
          <a:xfrm>
            <a:off x="6022375" y="2273375"/>
            <a:ext cx="23082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Received all up to 1, </a:t>
            </a:r>
            <a:r>
              <a:rPr lang="en" sz="1100" strike="sngStrike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plus [3, 5, 7]</a:t>
            </a:r>
            <a:r>
              <a:rPr lang="en" sz="11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2" name="Google Shape;1252;p80"/>
          <p:cNvSpPr txBox="1"/>
          <p:nvPr/>
        </p:nvSpPr>
        <p:spPr>
          <a:xfrm>
            <a:off x="4645224" y="2259060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3" name="Google Shape;1253;p80"/>
          <p:cNvCxnSpPr/>
          <p:nvPr/>
        </p:nvCxnSpPr>
        <p:spPr>
          <a:xfrm>
            <a:off x="3039500" y="2185199"/>
            <a:ext cx="1624200" cy="19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54" name="Google Shape;1254;p80"/>
          <p:cNvCxnSpPr/>
          <p:nvPr/>
        </p:nvCxnSpPr>
        <p:spPr>
          <a:xfrm>
            <a:off x="3039500" y="2687277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55" name="Google Shape;1255;p80"/>
          <p:cNvCxnSpPr/>
          <p:nvPr/>
        </p:nvCxnSpPr>
        <p:spPr>
          <a:xfrm>
            <a:off x="3039500" y="2994824"/>
            <a:ext cx="3008700" cy="3696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56" name="Google Shape;1256;p80"/>
          <p:cNvSpPr txBox="1"/>
          <p:nvPr/>
        </p:nvSpPr>
        <p:spPr>
          <a:xfrm>
            <a:off x="293450" y="2291575"/>
            <a:ext cx="20622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every even-numbered packet is dropped: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"Received all up to 1, </a:t>
            </a:r>
            <a:r>
              <a:rPr lang="en" strike="sngStrik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plus [3, 5, 7, ..., 999]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Shorter, but more ambiguous.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7" name="Google Shape;1257;p80"/>
          <p:cNvCxnSpPr/>
          <p:nvPr/>
        </p:nvCxnSpPr>
        <p:spPr>
          <a:xfrm>
            <a:off x="3037525" y="1834024"/>
            <a:ext cx="0" cy="2943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58" name="Google Shape;1258;p80"/>
          <p:cNvSpPr txBox="1"/>
          <p:nvPr/>
        </p:nvSpPr>
        <p:spPr>
          <a:xfrm>
            <a:off x="4645224" y="25908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9" name="Google Shape;1259;p80"/>
          <p:cNvCxnSpPr/>
          <p:nvPr/>
        </p:nvCxnSpPr>
        <p:spPr>
          <a:xfrm>
            <a:off x="3039500" y="2516987"/>
            <a:ext cx="1624200" cy="19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60" name="Google Shape;1260;p80"/>
          <p:cNvSpPr txBox="1"/>
          <p:nvPr/>
        </p:nvSpPr>
        <p:spPr>
          <a:xfrm>
            <a:off x="4645224" y="2933748"/>
            <a:ext cx="2028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✗</a:t>
            </a:r>
            <a:endParaRPr b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1" name="Google Shape;1261;p80"/>
          <p:cNvCxnSpPr/>
          <p:nvPr/>
        </p:nvCxnSpPr>
        <p:spPr>
          <a:xfrm>
            <a:off x="3039500" y="2859887"/>
            <a:ext cx="1624200" cy="197400"/>
          </a:xfrm>
          <a:prstGeom prst="straightConnector1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5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8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 Strategies</a:t>
            </a:r>
            <a:endParaRPr/>
          </a:p>
        </p:txBody>
      </p:sp>
      <p:sp>
        <p:nvSpPr>
          <p:cNvPr id="1267" name="Google Shape;1267;p8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Individual packet acks: Each ack corresponds to one packet.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Pros: Compact, simple.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Cons: Loss of ack packet always requires retransmission.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Full information acks: Each ack lists all packets received.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Pros: Complete information on data packets. More resilient to ack loss.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Cons: Could require sizable overhead in bad cases.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Cumulative</a:t>
            </a:r>
            <a:r>
              <a:rPr lang="en"/>
              <a:t> acks: Each ack says, "all packets up to </a:t>
            </a:r>
            <a:r>
              <a:rPr i="1" lang="en"/>
              <a:t>n</a:t>
            </a:r>
            <a:r>
              <a:rPr lang="en"/>
              <a:t> received."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Pros: Compact. More resilient to ack loss </a:t>
            </a:r>
            <a:r>
              <a:rPr lang="en"/>
              <a:t>(than individual acks)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Cons: Incomplete information on which packets arrived.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uses cumulative acks.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82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Detecting Loss Early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Alternate Designs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73" name="Google Shape;1273;p82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Loss Early</a:t>
            </a:r>
            <a:endParaRPr/>
          </a:p>
        </p:txBody>
      </p:sp>
      <p:sp>
        <p:nvSpPr>
          <p:cNvPr id="1274" name="Google Shape;1274;p82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10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8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p8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Smarter Loss Detection</a:t>
            </a:r>
            <a:endParaRPr/>
          </a:p>
        </p:txBody>
      </p:sp>
      <p:sp>
        <p:nvSpPr>
          <p:cNvPr id="1280" name="Google Shape;1280;p83"/>
          <p:cNvSpPr txBox="1"/>
          <p:nvPr>
            <p:ph idx="1" type="body"/>
          </p:nvPr>
        </p:nvSpPr>
        <p:spPr>
          <a:xfrm>
            <a:off x="107050" y="402200"/>
            <a:ext cx="8909700" cy="412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 far, we detect loss by waiting for a timeout.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 length is roughly RTT (a few milliseconds).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Another approach: Detect loss when acks for subsequent packets arrive.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receive acks for 1, 2, 3, 4, 6, 7, 8, 9, we probably lost 5.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Declare a packet lost if </a:t>
            </a:r>
            <a:r>
              <a:rPr i="1" lang="en"/>
              <a:t>k</a:t>
            </a:r>
            <a:r>
              <a:rPr lang="en"/>
              <a:t> subsequent packets are acked.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i="1" lang="en"/>
              <a:t>k</a:t>
            </a:r>
            <a:r>
              <a:rPr lang="en"/>
              <a:t> = 3 is common.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arrive every few nanoseconds, so this approach usually detects loss way earlier.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Implementing ack-based loss detection depends on the type of ack we're using.</a:t>
            </a:r>
            <a:endParaRPr/>
          </a:p>
        </p:txBody>
      </p:sp>
      <p:sp>
        <p:nvSpPr>
          <p:cNvPr id="1281" name="Google Shape;1281;p83"/>
          <p:cNvSpPr txBox="1"/>
          <p:nvPr/>
        </p:nvSpPr>
        <p:spPr>
          <a:xfrm>
            <a:off x="6076750" y="46597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 millisecond = 1,000,000 nanoseconds.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5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p8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Ack-Based Loss Detection: Individual Acks</a:t>
            </a:r>
            <a:endParaRPr/>
          </a:p>
        </p:txBody>
      </p:sp>
      <p:sp>
        <p:nvSpPr>
          <p:cNvPr id="1287" name="Google Shape;1287;p84"/>
          <p:cNvSpPr txBox="1"/>
          <p:nvPr>
            <p:ph idx="1" type="body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Individual</a:t>
            </a:r>
            <a:r>
              <a:rPr lang="en"/>
              <a:t> acks: Declare a packet lost if </a:t>
            </a:r>
            <a:r>
              <a:rPr i="1" lang="en"/>
              <a:t>k</a:t>
            </a:r>
            <a:r>
              <a:rPr lang="en"/>
              <a:t> subsequent packets are acked.</a:t>
            </a:r>
            <a:endParaRPr/>
          </a:p>
        </p:txBody>
      </p:sp>
      <p:sp>
        <p:nvSpPr>
          <p:cNvPr id="1288" name="Google Shape;1288;p84"/>
          <p:cNvSpPr/>
          <p:nvPr/>
        </p:nvSpPr>
        <p:spPr>
          <a:xfrm>
            <a:off x="287400" y="2199950"/>
            <a:ext cx="4848000" cy="19488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9" name="Google Shape;1289;p84"/>
          <p:cNvSpPr/>
          <p:nvPr/>
        </p:nvSpPr>
        <p:spPr>
          <a:xfrm>
            <a:off x="484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0" name="Google Shape;1290;p84"/>
          <p:cNvSpPr/>
          <p:nvPr/>
        </p:nvSpPr>
        <p:spPr>
          <a:xfrm>
            <a:off x="1648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ack(2)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1" name="Google Shape;1291;p84"/>
          <p:cNvSpPr/>
          <p:nvPr/>
        </p:nvSpPr>
        <p:spPr>
          <a:xfrm>
            <a:off x="2812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ack(3)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2" name="Google Shape;1292;p84"/>
          <p:cNvSpPr/>
          <p:nvPr/>
        </p:nvSpPr>
        <p:spPr>
          <a:xfrm>
            <a:off x="3976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ack(4)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3" name="Google Shape;1293;p84"/>
          <p:cNvSpPr/>
          <p:nvPr/>
        </p:nvSpPr>
        <p:spPr>
          <a:xfrm>
            <a:off x="1648501" y="36114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ack(6)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4" name="Google Shape;1294;p84"/>
          <p:cNvSpPr/>
          <p:nvPr/>
        </p:nvSpPr>
        <p:spPr>
          <a:xfrm>
            <a:off x="2812501" y="36114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ack(7)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5" name="Google Shape;1295;p84"/>
          <p:cNvSpPr/>
          <p:nvPr/>
        </p:nvSpPr>
        <p:spPr>
          <a:xfrm>
            <a:off x="3976501" y="36114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ack(8)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6" name="Google Shape;1296;p84"/>
          <p:cNvSpPr/>
          <p:nvPr/>
        </p:nvSpPr>
        <p:spPr>
          <a:xfrm>
            <a:off x="5572200" y="2495550"/>
            <a:ext cx="3235800" cy="1010400"/>
          </a:xfrm>
          <a:prstGeom prst="wedgeRoundRectCallout">
            <a:avLst>
              <a:gd fmla="val -59537" name="adj1"/>
              <a:gd fmla="val -44670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received ack(6), ack(7), and ack(8).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assume 5 is lost and resend it.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8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Ack-Based Loss Detection: Full-Information Acks</a:t>
            </a:r>
            <a:endParaRPr/>
          </a:p>
        </p:txBody>
      </p:sp>
      <p:sp>
        <p:nvSpPr>
          <p:cNvPr id="1302" name="Google Shape;1302;p85"/>
          <p:cNvSpPr txBox="1"/>
          <p:nvPr>
            <p:ph idx="1" type="body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Full-information </a:t>
            </a:r>
            <a:r>
              <a:rPr lang="en"/>
              <a:t>acks: Declare a packet lost if </a:t>
            </a:r>
            <a:r>
              <a:rPr i="1" lang="en"/>
              <a:t>k</a:t>
            </a:r>
            <a:r>
              <a:rPr lang="en"/>
              <a:t> subsequent packets are acked.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see the gap in packets: "up to 4, plus 6, 7, 8" → 5 is missing.</a:t>
            </a:r>
            <a:endParaRPr/>
          </a:p>
        </p:txBody>
      </p:sp>
      <p:sp>
        <p:nvSpPr>
          <p:cNvPr id="1303" name="Google Shape;1303;p85"/>
          <p:cNvSpPr/>
          <p:nvPr/>
        </p:nvSpPr>
        <p:spPr>
          <a:xfrm>
            <a:off x="287400" y="2199950"/>
            <a:ext cx="5736600" cy="19488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4" name="Google Shape;1304;p85"/>
          <p:cNvSpPr/>
          <p:nvPr/>
        </p:nvSpPr>
        <p:spPr>
          <a:xfrm>
            <a:off x="512000" y="2925650"/>
            <a:ext cx="114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5" name="Google Shape;1305;p85"/>
          <p:cNvSpPr/>
          <p:nvPr/>
        </p:nvSpPr>
        <p:spPr>
          <a:xfrm>
            <a:off x="1893864" y="2925650"/>
            <a:ext cx="114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6" name="Google Shape;1306;p85"/>
          <p:cNvSpPr/>
          <p:nvPr/>
        </p:nvSpPr>
        <p:spPr>
          <a:xfrm>
            <a:off x="3275729" y="2925650"/>
            <a:ext cx="114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7" name="Google Shape;1307;p85"/>
          <p:cNvSpPr/>
          <p:nvPr/>
        </p:nvSpPr>
        <p:spPr>
          <a:xfrm>
            <a:off x="4657593" y="2925650"/>
            <a:ext cx="114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85"/>
          <p:cNvSpPr/>
          <p:nvPr/>
        </p:nvSpPr>
        <p:spPr>
          <a:xfrm>
            <a:off x="1893875" y="3452000"/>
            <a:ext cx="1141800" cy="4944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4,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plus 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9" name="Google Shape;1309;p85"/>
          <p:cNvSpPr/>
          <p:nvPr/>
        </p:nvSpPr>
        <p:spPr>
          <a:xfrm>
            <a:off x="3275738" y="3452000"/>
            <a:ext cx="1141800" cy="4944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4,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plus 6, 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0" name="Google Shape;1310;p85"/>
          <p:cNvSpPr/>
          <p:nvPr/>
        </p:nvSpPr>
        <p:spPr>
          <a:xfrm>
            <a:off x="4657600" y="3452000"/>
            <a:ext cx="1141800" cy="4944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4, plus 6, 7, 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1" name="Google Shape;1311;p85"/>
          <p:cNvSpPr/>
          <p:nvPr/>
        </p:nvSpPr>
        <p:spPr>
          <a:xfrm>
            <a:off x="6500400" y="2495550"/>
            <a:ext cx="2352000" cy="1244400"/>
          </a:xfrm>
          <a:prstGeom prst="wedgeRoundRectCallout">
            <a:avLst>
              <a:gd fmla="val -59537" name="adj1"/>
              <a:gd fmla="val -44670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received acks for 6, 7, 8.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I'll assume 5 is lost and resend it.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5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8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Ack-Based Loss Detection: </a:t>
            </a:r>
            <a:r>
              <a:rPr lang="en"/>
              <a:t>Cumulative</a:t>
            </a:r>
            <a:r>
              <a:rPr lang="en"/>
              <a:t> Acks</a:t>
            </a:r>
            <a:endParaRPr/>
          </a:p>
        </p:txBody>
      </p:sp>
      <p:sp>
        <p:nvSpPr>
          <p:cNvPr id="1317" name="Google Shape;1317;p86"/>
          <p:cNvSpPr txBox="1"/>
          <p:nvPr>
            <p:ph idx="1" type="body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Cumulative acks: Declare loss if </a:t>
            </a:r>
            <a:r>
              <a:rPr i="1" lang="en"/>
              <a:t>k</a:t>
            </a:r>
            <a:r>
              <a:rPr lang="en"/>
              <a:t> </a:t>
            </a:r>
            <a:r>
              <a:rPr b="1" lang="en"/>
              <a:t>duplicate acks</a:t>
            </a:r>
            <a:r>
              <a:rPr lang="en"/>
              <a:t> are received.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Duplicate acks: Later packets (6, 7, 8) received, but there's a gap, so the "up to 4" cumulative ack cannot increase.</a:t>
            </a:r>
            <a:endParaRPr/>
          </a:p>
        </p:txBody>
      </p:sp>
      <p:sp>
        <p:nvSpPr>
          <p:cNvPr id="1318" name="Google Shape;1318;p86"/>
          <p:cNvSpPr/>
          <p:nvPr/>
        </p:nvSpPr>
        <p:spPr>
          <a:xfrm>
            <a:off x="287400" y="2199950"/>
            <a:ext cx="4848000" cy="19488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Sender OS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(running TCP)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86"/>
          <p:cNvSpPr/>
          <p:nvPr/>
        </p:nvSpPr>
        <p:spPr>
          <a:xfrm>
            <a:off x="484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0" name="Google Shape;1320;p86"/>
          <p:cNvSpPr/>
          <p:nvPr/>
        </p:nvSpPr>
        <p:spPr>
          <a:xfrm>
            <a:off x="1648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1" name="Google Shape;1321;p86"/>
          <p:cNvSpPr/>
          <p:nvPr/>
        </p:nvSpPr>
        <p:spPr>
          <a:xfrm>
            <a:off x="2812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2" name="Google Shape;1322;p86"/>
          <p:cNvSpPr/>
          <p:nvPr/>
        </p:nvSpPr>
        <p:spPr>
          <a:xfrm>
            <a:off x="3976501" y="30780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3" name="Google Shape;1323;p86"/>
          <p:cNvSpPr/>
          <p:nvPr/>
        </p:nvSpPr>
        <p:spPr>
          <a:xfrm>
            <a:off x="1648501" y="36114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4" name="Google Shape;1324;p86"/>
          <p:cNvSpPr/>
          <p:nvPr/>
        </p:nvSpPr>
        <p:spPr>
          <a:xfrm>
            <a:off x="2812501" y="36114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5" name="Google Shape;1325;p86"/>
          <p:cNvSpPr/>
          <p:nvPr/>
        </p:nvSpPr>
        <p:spPr>
          <a:xfrm>
            <a:off x="3976501" y="3611450"/>
            <a:ext cx="961800" cy="334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up to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6" name="Google Shape;1326;p86"/>
          <p:cNvSpPr/>
          <p:nvPr/>
        </p:nvSpPr>
        <p:spPr>
          <a:xfrm>
            <a:off x="5572200" y="2495550"/>
            <a:ext cx="3235800" cy="1907100"/>
          </a:xfrm>
          <a:prstGeom prst="wedgeRoundRectCallout">
            <a:avLst>
              <a:gd fmla="val -59537" name="adj1"/>
              <a:gd fmla="val -44670" name="adj2"/>
              <a:gd fmla="val 0" name="adj3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received 3 copies of "up to 4" (plus the original).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That means 3 extra packets were received (and none of them are 5).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I'll assume 5 is lost and resend it.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7" name="Google Shape;1327;p86"/>
          <p:cNvSpPr txBox="1"/>
          <p:nvPr/>
        </p:nvSpPr>
        <p:spPr>
          <a:xfrm>
            <a:off x="1753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6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8" name="Google Shape;1328;p86"/>
          <p:cNvCxnSpPr>
            <a:stCxn id="1327" idx="0"/>
            <a:endCxn id="1323" idx="2"/>
          </p:cNvCxnSpPr>
          <p:nvPr/>
        </p:nvCxnSpPr>
        <p:spPr>
          <a:xfrm rot="10800000">
            <a:off x="2129400" y="3946313"/>
            <a:ext cx="0" cy="349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29" name="Google Shape;1329;p86"/>
          <p:cNvSpPr txBox="1"/>
          <p:nvPr/>
        </p:nvSpPr>
        <p:spPr>
          <a:xfrm>
            <a:off x="2917500" y="4295513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7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0" name="Google Shape;1330;p86"/>
          <p:cNvCxnSpPr>
            <a:stCxn id="1329" idx="0"/>
            <a:endCxn id="1324" idx="2"/>
          </p:cNvCxnSpPr>
          <p:nvPr/>
        </p:nvCxnSpPr>
        <p:spPr>
          <a:xfrm rot="10800000">
            <a:off x="3293400" y="3946313"/>
            <a:ext cx="0" cy="349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31" name="Google Shape;1331;p86"/>
          <p:cNvSpPr txBox="1"/>
          <p:nvPr/>
        </p:nvSpPr>
        <p:spPr>
          <a:xfrm>
            <a:off x="4081500" y="4295438"/>
            <a:ext cx="751800" cy="5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for 8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dup #3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2" name="Google Shape;1332;p86"/>
          <p:cNvCxnSpPr>
            <a:stCxn id="1331" idx="0"/>
            <a:endCxn id="1325" idx="2"/>
          </p:cNvCxnSpPr>
          <p:nvPr/>
        </p:nvCxnSpPr>
        <p:spPr>
          <a:xfrm rot="10800000">
            <a:off x="4457400" y="3946238"/>
            <a:ext cx="0" cy="349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6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8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Responding to Loss</a:t>
            </a:r>
            <a:endParaRPr/>
          </a:p>
        </p:txBody>
      </p:sp>
      <p:sp>
        <p:nvSpPr>
          <p:cNvPr id="1338" name="Google Shape;1338;p87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Timeouts: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keep a separate timer for each packet.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timer expires, resend the corresponding packet.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Subsequent acks: </a:t>
            </a:r>
            <a:r>
              <a:rPr i="1" lang="en" sz="1400">
                <a:solidFill>
                  <a:schemeClr val="accent3"/>
                </a:solidFill>
              </a:rPr>
              <a:t>(This strategy is sometimes called "fast retransmit.")</a:t>
            </a:r>
            <a:endParaRPr i="1"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Resend the un-acked packet. But which packet is that?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ambiguity with individual and full-information acks.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</a:t>
            </a:r>
            <a:r>
              <a:rPr lang="en"/>
              <a:t>ambiguity</a:t>
            </a:r>
            <a:r>
              <a:rPr lang="en"/>
              <a:t> with cumulative acks and a single packet loss.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Possibly ambiguous with </a:t>
            </a:r>
            <a:r>
              <a:rPr i="1" lang="en"/>
              <a:t>cumulative acks</a:t>
            </a:r>
            <a:r>
              <a:rPr lang="en"/>
              <a:t> and </a:t>
            </a:r>
            <a:r>
              <a:rPr i="1" lang="en"/>
              <a:t>multiple losses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2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p8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Responding to Loss: Individual Acks, Multiple Losses</a:t>
            </a:r>
            <a:endParaRPr/>
          </a:p>
        </p:txBody>
      </p:sp>
      <p:sp>
        <p:nvSpPr>
          <p:cNvPr id="1344" name="Google Shape;1344;p88"/>
          <p:cNvSpPr txBox="1"/>
          <p:nvPr>
            <p:ph idx="1" type="body"/>
          </p:nvPr>
        </p:nvSpPr>
        <p:spPr>
          <a:xfrm>
            <a:off x="107050" y="402200"/>
            <a:ext cx="568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</a:t>
            </a:r>
            <a:endParaRPr/>
          </a:p>
        </p:txBody>
      </p:sp>
      <p:sp>
        <p:nvSpPr>
          <p:cNvPr id="1345" name="Google Shape;1345;p88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9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8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Individual Acks, Multiple Losses</a:t>
            </a:r>
            <a:endParaRPr/>
          </a:p>
        </p:txBody>
      </p:sp>
      <p:sp>
        <p:nvSpPr>
          <p:cNvPr id="1351" name="Google Shape;1351;p89"/>
          <p:cNvSpPr txBox="1"/>
          <p:nvPr>
            <p:ph idx="1" type="body"/>
          </p:nvPr>
        </p:nvSpPr>
        <p:spPr>
          <a:xfrm>
            <a:off x="107050" y="402200"/>
            <a:ext cx="568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</a:t>
            </a:r>
            <a:r>
              <a:rPr lang="en" sz="2800">
                <a:solidFill>
                  <a:srgbClr val="6AA84F"/>
                </a:solidFill>
              </a:rPr>
              <a:t>4</a:t>
            </a:r>
            <a:r>
              <a:rPr lang="en" sz="2800">
                <a:solidFill>
                  <a:schemeClr val="accent2"/>
                </a:solidFill>
              </a:rPr>
              <a:t>  5  6  7  8  9</a:t>
            </a:r>
            <a:endParaRPr sz="2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4 arrives → Send 9</a:t>
            </a:r>
            <a:endParaRPr/>
          </a:p>
        </p:txBody>
      </p:sp>
      <p:sp>
        <p:nvSpPr>
          <p:cNvPr id="1352" name="Google Shape;1352;p89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6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9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Individual Acks, Multiple Losses</a:t>
            </a:r>
            <a:endParaRPr/>
          </a:p>
        </p:txBody>
      </p:sp>
      <p:sp>
        <p:nvSpPr>
          <p:cNvPr id="1358" name="Google Shape;1358;p90"/>
          <p:cNvSpPr txBox="1"/>
          <p:nvPr>
            <p:ph idx="1" type="body"/>
          </p:nvPr>
        </p:nvSpPr>
        <p:spPr>
          <a:xfrm>
            <a:off x="107050" y="402200"/>
            <a:ext cx="568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</a:t>
            </a:r>
            <a:r>
              <a:rPr lang="en" sz="2800">
                <a:solidFill>
                  <a:srgbClr val="6AA84F"/>
                </a:solidFill>
              </a:rPr>
              <a:t>4</a:t>
            </a:r>
            <a:r>
              <a:rPr lang="en" sz="2800">
                <a:solidFill>
                  <a:schemeClr val="accent2"/>
                </a:solidFill>
              </a:rPr>
              <a:t>  5  </a:t>
            </a:r>
            <a:r>
              <a:rPr lang="en" sz="2800">
                <a:solidFill>
                  <a:srgbClr val="6AA84F"/>
                </a:solidFill>
              </a:rPr>
              <a:t>6</a:t>
            </a:r>
            <a:r>
              <a:rPr lang="en" sz="2800">
                <a:solidFill>
                  <a:schemeClr val="accent2"/>
                </a:solidFill>
              </a:rPr>
              <a:t>  7  8  9  10</a:t>
            </a:r>
            <a:endParaRPr sz="2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4 arrives → Send 9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6 arrives → Send 10</a:t>
            </a:r>
            <a:endParaRPr/>
          </a:p>
        </p:txBody>
      </p:sp>
      <p:sp>
        <p:nvSpPr>
          <p:cNvPr id="1359" name="Google Shape;1359;p90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3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p9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Individual Acks, Multiple Losses</a:t>
            </a:r>
            <a:endParaRPr/>
          </a:p>
        </p:txBody>
      </p:sp>
      <p:sp>
        <p:nvSpPr>
          <p:cNvPr id="1365" name="Google Shape;1365;p91"/>
          <p:cNvSpPr txBox="1"/>
          <p:nvPr>
            <p:ph idx="1" type="body"/>
          </p:nvPr>
        </p:nvSpPr>
        <p:spPr>
          <a:xfrm>
            <a:off x="107050" y="402200"/>
            <a:ext cx="568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</a:t>
            </a:r>
            <a:r>
              <a:rPr lang="en" sz="2800">
                <a:solidFill>
                  <a:srgbClr val="6AA84F"/>
                </a:solidFill>
              </a:rPr>
              <a:t>4</a:t>
            </a:r>
            <a:r>
              <a:rPr lang="en" sz="2800">
                <a:solidFill>
                  <a:schemeClr val="accent2"/>
                </a:solidFill>
              </a:rPr>
              <a:t>  5  </a:t>
            </a:r>
            <a:r>
              <a:rPr lang="en" sz="2800">
                <a:solidFill>
                  <a:srgbClr val="6AA84F"/>
                </a:solidFill>
              </a:rPr>
              <a:t>6</a:t>
            </a:r>
            <a:r>
              <a:rPr lang="en" sz="2800">
                <a:solidFill>
                  <a:schemeClr val="accent2"/>
                </a:solidFill>
              </a:rPr>
              <a:t>  </a:t>
            </a:r>
            <a:r>
              <a:rPr lang="en" sz="2800">
                <a:solidFill>
                  <a:srgbClr val="6AA84F"/>
                </a:solidFill>
              </a:rPr>
              <a:t>7</a:t>
            </a:r>
            <a:r>
              <a:rPr lang="en" sz="2800">
                <a:solidFill>
                  <a:schemeClr val="accent2"/>
                </a:solidFill>
              </a:rPr>
              <a:t>  8  9  10  11</a:t>
            </a:r>
            <a:endParaRPr sz="2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4 arrives → Send 9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6 arrives → Send 10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7 arrives → Send 11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[4, 6, 7] acked → Declare 3 lost. </a:t>
            </a:r>
            <a:r>
              <a:rPr b="1" lang="en"/>
              <a:t>Resend 3.</a:t>
            </a:r>
            <a:endParaRPr b="1"/>
          </a:p>
        </p:txBody>
      </p:sp>
      <p:sp>
        <p:nvSpPr>
          <p:cNvPr id="1366" name="Google Shape;1366;p91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0" name="Shape 1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Google Shape;1371;p92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Individual Acks, Multiple Losses</a:t>
            </a:r>
            <a:endParaRPr/>
          </a:p>
        </p:txBody>
      </p:sp>
      <p:sp>
        <p:nvSpPr>
          <p:cNvPr id="1372" name="Google Shape;1372;p92"/>
          <p:cNvSpPr txBox="1"/>
          <p:nvPr>
            <p:ph idx="1" type="body"/>
          </p:nvPr>
        </p:nvSpPr>
        <p:spPr>
          <a:xfrm>
            <a:off x="107050" y="402200"/>
            <a:ext cx="568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</a:t>
            </a:r>
            <a:r>
              <a:rPr lang="en" sz="2800">
                <a:solidFill>
                  <a:srgbClr val="6AA84F"/>
                </a:solidFill>
              </a:rPr>
              <a:t>4</a:t>
            </a:r>
            <a:r>
              <a:rPr lang="en" sz="2800">
                <a:solidFill>
                  <a:schemeClr val="accent2"/>
                </a:solidFill>
              </a:rPr>
              <a:t>  5  </a:t>
            </a:r>
            <a:r>
              <a:rPr lang="en" sz="2800">
                <a:solidFill>
                  <a:srgbClr val="6AA84F"/>
                </a:solidFill>
              </a:rPr>
              <a:t>6</a:t>
            </a:r>
            <a:r>
              <a:rPr lang="en" sz="2800">
                <a:solidFill>
                  <a:schemeClr val="accent2"/>
                </a:solidFill>
              </a:rPr>
              <a:t>  </a:t>
            </a:r>
            <a:r>
              <a:rPr lang="en" sz="2800">
                <a:solidFill>
                  <a:srgbClr val="6AA84F"/>
                </a:solidFill>
              </a:rPr>
              <a:t>7</a:t>
            </a:r>
            <a:r>
              <a:rPr lang="en" sz="2800">
                <a:solidFill>
                  <a:schemeClr val="accent2"/>
                </a:solidFill>
              </a:rPr>
              <a:t>  </a:t>
            </a:r>
            <a:r>
              <a:rPr lang="en" sz="2800">
                <a:solidFill>
                  <a:srgbClr val="6AA84F"/>
                </a:solidFill>
              </a:rPr>
              <a:t>8</a:t>
            </a:r>
            <a:r>
              <a:rPr lang="en" sz="2800">
                <a:solidFill>
                  <a:schemeClr val="accent2"/>
                </a:solidFill>
              </a:rPr>
              <a:t>  9  10  11  12</a:t>
            </a:r>
            <a:endParaRPr sz="2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4 arrives → Send 9.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6 arrives → Send 10.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7 arrives → Send 11.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[4, 6, 7] acked → Declare 3 lost. </a:t>
            </a:r>
            <a:r>
              <a:rPr b="1" lang="en"/>
              <a:t>Resend 3.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8 arrives → Send 12.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[6, 7, 8] acked → Declare 5 lost. </a:t>
            </a:r>
            <a:r>
              <a:rPr b="1" lang="en"/>
              <a:t>Resend 5.</a:t>
            </a:r>
            <a:endParaRPr/>
          </a:p>
        </p:txBody>
      </p:sp>
      <p:sp>
        <p:nvSpPr>
          <p:cNvPr id="1373" name="Google Shape;1373;p92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7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9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Individual Acks, Multiple Losses</a:t>
            </a:r>
            <a:endParaRPr/>
          </a:p>
        </p:txBody>
      </p:sp>
      <p:sp>
        <p:nvSpPr>
          <p:cNvPr id="1379" name="Google Shape;1379;p93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</a:t>
            </a:r>
            <a:r>
              <a:rPr lang="en" sz="2800">
                <a:solidFill>
                  <a:srgbClr val="6AA84F"/>
                </a:solidFill>
              </a:rPr>
              <a:t>4</a:t>
            </a:r>
            <a:r>
              <a:rPr lang="en" sz="2800">
                <a:solidFill>
                  <a:schemeClr val="accent2"/>
                </a:solidFill>
              </a:rPr>
              <a:t>  5  </a:t>
            </a:r>
            <a:r>
              <a:rPr lang="en" sz="2800">
                <a:solidFill>
                  <a:srgbClr val="6AA84F"/>
                </a:solidFill>
              </a:rPr>
              <a:t>6</a:t>
            </a:r>
            <a:r>
              <a:rPr lang="en" sz="2800">
                <a:solidFill>
                  <a:schemeClr val="accent2"/>
                </a:solidFill>
              </a:rPr>
              <a:t>  </a:t>
            </a:r>
            <a:r>
              <a:rPr lang="en" sz="2800">
                <a:solidFill>
                  <a:srgbClr val="6AA84F"/>
                </a:solidFill>
              </a:rPr>
              <a:t>7</a:t>
            </a:r>
            <a:r>
              <a:rPr lang="en" sz="2800">
                <a:solidFill>
                  <a:schemeClr val="accent2"/>
                </a:solidFill>
              </a:rPr>
              <a:t>  </a:t>
            </a:r>
            <a:r>
              <a:rPr lang="en" sz="2800">
                <a:solidFill>
                  <a:srgbClr val="6AA84F"/>
                </a:solidFill>
              </a:rPr>
              <a:t>8</a:t>
            </a:r>
            <a:r>
              <a:rPr lang="en" sz="2800">
                <a:solidFill>
                  <a:schemeClr val="accent2"/>
                </a:solidFill>
              </a:rPr>
              <a:t>  </a:t>
            </a:r>
            <a:r>
              <a:rPr lang="en" sz="2800">
                <a:solidFill>
                  <a:srgbClr val="6AA84F"/>
                </a:solidFill>
              </a:rPr>
              <a:t>9</a:t>
            </a:r>
            <a:r>
              <a:rPr lang="en" sz="2800">
                <a:solidFill>
                  <a:schemeClr val="accent2"/>
                </a:solidFill>
              </a:rPr>
              <a:t>  10  11  12  13</a:t>
            </a:r>
            <a:endParaRPr sz="2800"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4 arrives → Send 9.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6 arrives → Send 10.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7 arrives → Send 11.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[4, 6, 7] acked → Declare 3 lost. </a:t>
            </a:r>
            <a:r>
              <a:rPr b="1" lang="en"/>
              <a:t>Resend 3.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8 arrives → Send 12.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[6, 7, 8] acked → Declare 5 lost. </a:t>
            </a:r>
            <a:r>
              <a:rPr b="1" lang="en"/>
              <a:t>Resend 5.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9 arrives → Send 13.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(etc.)</a:t>
            </a:r>
            <a:endParaRPr/>
          </a:p>
        </p:txBody>
      </p:sp>
      <p:sp>
        <p:nvSpPr>
          <p:cNvPr id="1380" name="Google Shape;1380;p93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4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p9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386" name="Google Shape;1386;p94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</a:t>
            </a:r>
            <a:endParaRPr sz="2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0</a:t>
            </a:r>
            <a:endParaRPr/>
          </a:p>
        </p:txBody>
      </p:sp>
      <p:sp>
        <p:nvSpPr>
          <p:cNvPr id="1387" name="Google Shape;1387;p94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9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393" name="Google Shape;1393;p95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</a:t>
            </a:r>
            <a:endParaRPr sz="2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1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</p:txBody>
      </p:sp>
      <p:sp>
        <p:nvSpPr>
          <p:cNvPr id="1394" name="Google Shape;1394;p95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395" name="Google Shape;1395;p95"/>
          <p:cNvSpPr txBox="1"/>
          <p:nvPr/>
        </p:nvSpPr>
        <p:spPr>
          <a:xfrm>
            <a:off x="107050" y="4101500"/>
            <a:ext cx="481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It might look like there's 7 packets in flight.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But the duplicate ACK 3 tells us one of them was received.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just don't know which one, so we can't mark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9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96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1" name="Google Shape;1401;p96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</a:t>
            </a:r>
            <a:endParaRPr sz="2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2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</p:txBody>
      </p:sp>
      <p:sp>
        <p:nvSpPr>
          <p:cNvPr id="1402" name="Google Shape;1402;p96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6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97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08" name="Google Shape;1408;p97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</a:t>
            </a:r>
            <a:endParaRPr sz="2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3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b="1" lang="en"/>
              <a:t>Resend 3.</a:t>
            </a:r>
            <a:endParaRPr/>
          </a:p>
        </p:txBody>
      </p:sp>
      <p:sp>
        <p:nvSpPr>
          <p:cNvPr id="1409" name="Google Shape;1409;p97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3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p98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15" name="Google Shape;1415;p98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</a:t>
            </a:r>
            <a:endParaRPr sz="2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4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b="1" lang="en"/>
              <a:t>Resend 3.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</p:txBody>
      </p:sp>
      <p:sp>
        <p:nvSpPr>
          <p:cNvPr id="1416" name="Google Shape;1416;p98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0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p99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22" name="Google Shape;1422;p99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</a:t>
            </a:r>
            <a:endParaRPr sz="2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5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b="1" lang="en"/>
              <a:t>Resend 3.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</p:txBody>
      </p:sp>
      <p:sp>
        <p:nvSpPr>
          <p:cNvPr id="1423" name="Google Shape;1423;p99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7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100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29" name="Google Shape;1429;p100"/>
          <p:cNvSpPr txBox="1"/>
          <p:nvPr>
            <p:ph idx="1" type="body"/>
          </p:nvPr>
        </p:nvSpPr>
        <p:spPr>
          <a:xfrm>
            <a:off x="107050" y="402200"/>
            <a:ext cx="59289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6AA84F"/>
                </a:solidFill>
              </a:rPr>
              <a:t>1  2</a:t>
            </a:r>
            <a:r>
              <a:rPr lang="en" sz="2800"/>
              <a:t>  </a:t>
            </a:r>
            <a:r>
              <a:rPr lang="en" sz="2800">
                <a:solidFill>
                  <a:schemeClr val="accent2"/>
                </a:solidFill>
              </a:rPr>
              <a:t>3  4  5  6  7  8  9  10 11 12 13 14</a:t>
            </a:r>
            <a:endParaRPr sz="28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# duplicate acks = 6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4)</a:t>
            </a:r>
            <a:r>
              <a:rPr lang="en"/>
              <a:t> ACK 3 → Send 9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6)</a:t>
            </a:r>
            <a:r>
              <a:rPr lang="en"/>
              <a:t> ACK 3 → Send 10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7)</a:t>
            </a:r>
            <a:r>
              <a:rPr lang="en"/>
              <a:t> ACK 3 → Send 11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3 times. </a:t>
            </a:r>
            <a:r>
              <a:rPr b="1" lang="en"/>
              <a:t>Resend 3.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8)</a:t>
            </a:r>
            <a:r>
              <a:rPr lang="en"/>
              <a:t> ACK 3 → Send 12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9)</a:t>
            </a:r>
            <a:r>
              <a:rPr lang="en"/>
              <a:t> ACK 3 → Send 13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7B7B7"/>
                </a:solidFill>
              </a:rPr>
              <a:t>(for packet 10)</a:t>
            </a:r>
            <a:r>
              <a:rPr lang="en"/>
              <a:t> ACK 3 → Send 14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ACK 3 duplicated 6 times.</a:t>
            </a:r>
            <a:br>
              <a:rPr lang="en"/>
            </a:br>
            <a:r>
              <a:rPr lang="en"/>
              <a:t>Resend 3? Resend 4? Resend 5?</a:t>
            </a:r>
            <a:endParaRPr/>
          </a:p>
        </p:txBody>
      </p:sp>
      <p:sp>
        <p:nvSpPr>
          <p:cNvPr id="1430" name="Google Shape;1430;p100"/>
          <p:cNvSpPr txBox="1"/>
          <p:nvPr>
            <p:ph idx="1" type="body"/>
          </p:nvPr>
        </p:nvSpPr>
        <p:spPr>
          <a:xfrm>
            <a:off x="6036000" y="402200"/>
            <a:ext cx="29400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k</a:t>
            </a:r>
            <a:r>
              <a:rPr lang="en"/>
              <a:t> = 3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lost after 3 later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W</a:t>
            </a:r>
            <a:r>
              <a:rPr lang="en"/>
              <a:t> = 6</a:t>
            </a:r>
            <a:br>
              <a:rPr lang="en"/>
            </a:b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6 packets in flight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red = in flight</a:t>
            </a:r>
            <a:endParaRPr>
              <a:solidFill>
                <a:schemeClr val="accent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800"/>
              <a:buChar char="●"/>
            </a:pPr>
            <a:r>
              <a:rPr lang="en">
                <a:solidFill>
                  <a:srgbClr val="6AA84F"/>
                </a:solidFill>
              </a:rPr>
              <a:t>green = acked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P</a:t>
            </a:r>
            <a:r>
              <a:rPr lang="en"/>
              <a:t>ackets 3 and 5 are lost (but sender doesn't know).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and 2 already acked.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4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101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Responding to Loss: Cumulative Acks, Multiple Losses</a:t>
            </a:r>
            <a:endParaRPr/>
          </a:p>
        </p:txBody>
      </p:sp>
      <p:sp>
        <p:nvSpPr>
          <p:cNvPr id="1436" name="Google Shape;1436;p101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Problem: Cumulative acks don't tell the sender exactly which packets were received.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3 copies of ACK 7 means: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received everything up to (not including) 7.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received 3 more packets after that (none are 7), but I didn't say which ones.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can tell us </a:t>
            </a:r>
            <a:r>
              <a:rPr i="1" lang="en"/>
              <a:t>how many</a:t>
            </a:r>
            <a:r>
              <a:rPr lang="en"/>
              <a:t> packets to send.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we have 6 packets in-flight, 3 were received, so we can send 3 more.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this doesn't tell us </a:t>
            </a:r>
            <a:r>
              <a:rPr i="1" lang="en"/>
              <a:t>which</a:t>
            </a:r>
            <a:r>
              <a:rPr lang="en"/>
              <a:t> packets to resend.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Ambiguity leads to ad-hoc heuristics.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Unfortunately, TCP uses cumulative acks, so we have to deal with this ambiguity.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0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p102"/>
          <p:cNvSpPr txBox="1"/>
          <p:nvPr>
            <p:ph idx="1" type="body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Transport Layer Design Goals</a:t>
            </a:r>
            <a:endParaRPr>
              <a:solidFill>
                <a:srgbClr val="B7B7B7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Reliability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Single Packet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Multiple Packets (Windows)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Avoiding Overload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(Flow and Congestion Control)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Smarter Acknowledgments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Detecting Loss Early</a:t>
            </a:r>
            <a:endParaRPr>
              <a:solidFill>
                <a:srgbClr val="B7B7B7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b="1"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Alternate Designs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2" name="Google Shape;1442;p102"/>
          <p:cNvSpPr txBox="1"/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</a:t>
            </a:r>
            <a:endParaRPr/>
          </a:p>
        </p:txBody>
      </p:sp>
      <p:sp>
        <p:nvSpPr>
          <p:cNvPr id="1443" name="Google Shape;1443;p102"/>
          <p:cNvSpPr txBox="1"/>
          <p:nvPr>
            <p:ph idx="2" type="subTitle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10</a:t>
            </a:r>
            <a:r>
              <a:rPr lang="en"/>
              <a:t>, CS 168, </a:t>
            </a:r>
            <a:r>
              <a:rPr lang="en"/>
              <a:t>Spring 2026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7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103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Designs</a:t>
            </a:r>
            <a:r>
              <a:rPr lang="en"/>
              <a:t> to Implementing Reliability</a:t>
            </a:r>
            <a:endParaRPr/>
          </a:p>
        </p:txBody>
      </p:sp>
      <p:sp>
        <p:nvSpPr>
          <p:cNvPr id="1449" name="Google Shape;1449;p103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implemented reliability by re-sending lost packets.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Another possible approach: Sender </a:t>
            </a:r>
            <a:r>
              <a:rPr b="1" lang="en"/>
              <a:t>encodes</a:t>
            </a:r>
            <a:r>
              <a:rPr lang="en"/>
              <a:t> the data to be resilient to loss.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 idea: Add some redundancy to the data itself.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have </a:t>
            </a:r>
            <a:r>
              <a:rPr i="1" lang="en"/>
              <a:t>k</a:t>
            </a:r>
            <a:r>
              <a:rPr lang="en"/>
              <a:t> = 5 packets to send.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encode them into </a:t>
            </a:r>
            <a:r>
              <a:rPr i="1" lang="en"/>
              <a:t>n</a:t>
            </a:r>
            <a:r>
              <a:rPr lang="en"/>
              <a:t> = 20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Original packets can be recovered if you receive any </a:t>
            </a:r>
            <a:r>
              <a:rPr i="1" lang="en"/>
              <a:t>k</a:t>
            </a:r>
            <a:r>
              <a:rPr lang="en"/>
              <a:t>' = 10 encoded packets.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i="1" lang="en"/>
              <a:t>n</a:t>
            </a:r>
            <a:r>
              <a:rPr lang="en"/>
              <a:t> &gt; </a:t>
            </a:r>
            <a:r>
              <a:rPr i="1" lang="en"/>
              <a:t>k</a:t>
            </a:r>
            <a:r>
              <a:rPr lang="en"/>
              <a:t>' &gt; </a:t>
            </a:r>
            <a:r>
              <a:rPr i="1" lang="en"/>
              <a:t>k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Efficiency depends on </a:t>
            </a:r>
            <a:r>
              <a:rPr i="1" lang="en"/>
              <a:t>k</a:t>
            </a:r>
            <a:r>
              <a:rPr lang="en"/>
              <a:t>' / </a:t>
            </a:r>
            <a:r>
              <a:rPr i="1" lang="en"/>
              <a:t>k</a:t>
            </a:r>
            <a:r>
              <a:rPr lang="en"/>
              <a:t>. (How many encoded packets needed to recover.)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Vast literature exists on coding schemes.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Examples: Fountain codes, raptor codes.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Historically, not used very much, but that could change... (e.g. video streaming).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104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Design Choices</a:t>
            </a:r>
            <a:endParaRPr/>
          </a:p>
        </p:txBody>
      </p:sp>
      <p:sp>
        <p:nvSpPr>
          <p:cNvPr id="1455" name="Google Shape;1455;p104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covered all the basic building blocks of TCP.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Checksums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Acknowledgments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Retransmissions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Sequence numbers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Windows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Along the way, we sometimes had to pick one design out of </a:t>
            </a:r>
            <a:r>
              <a:rPr lang="en"/>
              <a:t>several alternatives.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send a nack if the packet is corrupted?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TCP: No.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use individual, full-information, or cumulative acks?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TCP: Cumulative.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we detect loss with timeouts, subsequent acks, or both?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i="1" lang="en" sz="1400">
                <a:solidFill>
                  <a:schemeClr val="accent3"/>
                </a:solidFill>
              </a:rPr>
              <a:t>TCP: Both.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105"/>
          <p:cNvSpPr txBox="1"/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Design Choices</a:t>
            </a:r>
            <a:endParaRPr/>
          </a:p>
        </p:txBody>
      </p:sp>
      <p:sp>
        <p:nvSpPr>
          <p:cNvPr id="1461" name="Google Shape;1461;p105"/>
          <p:cNvSpPr txBox="1"/>
          <p:nvPr>
            <p:ph idx="1" type="body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made specific design choices (e.g. we chose cumulative acks).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you make different choices, you'll get different reliability protocols.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Stop-and-wait: Set </a:t>
            </a:r>
            <a:r>
              <a:rPr i="1" lang="en"/>
              <a:t>W</a:t>
            </a:r>
            <a:r>
              <a:rPr lang="en"/>
              <a:t> = 1.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Go-Back-N is another reliability protocol.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Understanding how to design and evaluate a reliability protocol is more important than memorizing the details of any specific implementation!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