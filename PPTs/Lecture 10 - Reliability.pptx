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6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2" r:id="rId25"/>
    <p:sldId id="283" r:id="rId26"/>
    <p:sldId id="284" r:id="rId27"/>
    <p:sldId id="285" r:id="rId28"/>
    <p:sldId id="286" r:id="rId29"/>
    <p:sldId id="287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7" r:id="rId38"/>
    <p:sldId id="298" r:id="rId39"/>
    <p:sldId id="299" r:id="rId40"/>
    <p:sldId id="300" r:id="rId41"/>
    <p:sldId id="338" r:id="rId42"/>
    <p:sldId id="301" r:id="rId43"/>
    <p:sldId id="302" r:id="rId44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2" r:id="rId52"/>
    <p:sldId id="313" r:id="rId53"/>
    <p:sldId id="314" r:id="rId54"/>
    <p:sldId id="319" r:id="rId55"/>
    <p:sldId id="339" r:id="rId56"/>
    <p:sldId id="326" r:id="rId57"/>
    <p:sldId id="327" r:id="rId58"/>
    <p:sldId id="328" r:id="rId59"/>
    <p:sldId id="329" r:id="rId60"/>
    <p:sldId id="330" r:id="rId61"/>
    <p:sldId id="331" r:id="rId62"/>
    <p:sldId id="332" r:id="rId63"/>
    <p:sldId id="333" r:id="rId64"/>
    <p:sldId id="334" r:id="rId65"/>
    <p:sldId id="335" r:id="rId66"/>
    <p:sldId id="336" r:id="rId67"/>
    <p:sldId id="337" r:id="rId68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70"/>
      <p:bold r:id="rId71"/>
      <p:italic r:id="rId72"/>
      <p:boldItalic r:id="rId73"/>
    </p:embeddedFont>
    <p:embeddedFont>
      <p:font typeface="Roboto" panose="02000000000000000000" pitchFamily="2" charset="0"/>
      <p:regular r:id="rId74"/>
      <p:bold r:id="rId75"/>
      <p:italic r:id="rId76"/>
      <p:boldItalic r:id="rId77"/>
    </p:embeddedFont>
    <p:embeddedFont>
      <p:font typeface="Roboto Light" panose="02000000000000000000" pitchFamily="2" charset="0"/>
      <p:regular r:id="rId78"/>
      <p:bold r:id="rId79"/>
      <p:italic r:id="rId80"/>
      <p:boldItalic r:id="rId81"/>
    </p:embeddedFont>
    <p:embeddedFont>
      <p:font typeface="Roboto Medium" panose="02000000000000000000" pitchFamily="2" charset="0"/>
      <p:regular r:id="rId82"/>
      <p:bold r:id="rId83"/>
      <p:italic r:id="rId84"/>
      <p:boldItalic r:id="rId8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138857-CB90-4AE5-880B-AEF5529F8684}" v="1" dt="2026-04-16T19:31:45.1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065" autoAdjust="0"/>
  </p:normalViewPr>
  <p:slideViewPr>
    <p:cSldViewPr snapToGrid="0">
      <p:cViewPr varScale="1">
        <p:scale>
          <a:sx n="99" d="100"/>
          <a:sy n="99" d="100"/>
        </p:scale>
        <p:origin x="1170" y="7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15.fntdata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5.fntdata"/><Relationship Id="rId79" Type="http://schemas.openxmlformats.org/officeDocument/2006/relationships/font" Target="fonts/font10.fntdata"/><Relationship Id="rId5" Type="http://schemas.openxmlformats.org/officeDocument/2006/relationships/slide" Target="slides/slide4.xml"/><Relationship Id="rId90" Type="http://schemas.microsoft.com/office/2016/11/relationships/changesInfo" Target="changesInfos/changesInfo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77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3.fntdata"/><Relationship Id="rId80" Type="http://schemas.openxmlformats.org/officeDocument/2006/relationships/font" Target="fonts/font11.fntdata"/><Relationship Id="rId85" Type="http://schemas.openxmlformats.org/officeDocument/2006/relationships/font" Target="fonts/font1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1.fntdata"/><Relationship Id="rId75" Type="http://schemas.openxmlformats.org/officeDocument/2006/relationships/font" Target="fonts/font6.fntdata"/><Relationship Id="rId83" Type="http://schemas.openxmlformats.org/officeDocument/2006/relationships/font" Target="fonts/font14.fntdata"/><Relationship Id="rId88" Type="http://schemas.openxmlformats.org/officeDocument/2006/relationships/theme" Target="theme/theme1.xml"/><Relationship Id="rId9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4.fntdata"/><Relationship Id="rId78" Type="http://schemas.openxmlformats.org/officeDocument/2006/relationships/font" Target="fonts/font9.fntdata"/><Relationship Id="rId81" Type="http://schemas.openxmlformats.org/officeDocument/2006/relationships/font" Target="fonts/font12.fntdata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7.fntdata"/><Relationship Id="rId7" Type="http://schemas.openxmlformats.org/officeDocument/2006/relationships/slide" Target="slides/slide6.xml"/><Relationship Id="rId71" Type="http://schemas.openxmlformats.org/officeDocument/2006/relationships/font" Target="fonts/font2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font" Target="fonts/font13.fntdata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E5C75BF5-3A3B-45BA-A108-76224E8C35B7}"/>
    <pc:docChg chg="undo custSel addSld delSld modSld">
      <pc:chgData name="Zonghua Gu" userId="9a7e1853e1951ef5" providerId="LiveId" clId="{E5C75BF5-3A3B-45BA-A108-76224E8C35B7}" dt="2026-04-15T01:04:45.866" v="248" actId="47"/>
      <pc:docMkLst>
        <pc:docMk/>
      </pc:docMkLst>
      <pc:sldChg chg="modSp mod">
        <pc:chgData name="Zonghua Gu" userId="9a7e1853e1951ef5" providerId="LiveId" clId="{E5C75BF5-3A3B-45BA-A108-76224E8C35B7}" dt="2026-04-15T01:02:10.197" v="69" actId="20577"/>
        <pc:sldMkLst>
          <pc:docMk/>
          <pc:sldMk cId="0" sldId="318"/>
        </pc:sldMkLst>
        <pc:spChg chg="mod">
          <ac:chgData name="Zonghua Gu" userId="9a7e1853e1951ef5" providerId="LiveId" clId="{E5C75BF5-3A3B-45BA-A108-76224E8C35B7}" dt="2026-04-15T01:02:10.197" v="69" actId="20577"/>
          <ac:spMkLst>
            <pc:docMk/>
            <pc:sldMk cId="0" sldId="318"/>
            <ac:spMk id="1318" creationId="{00000000-0000-0000-0000-000000000000}"/>
          </ac:spMkLst>
        </pc:spChg>
      </pc:sldChg>
      <pc:sldChg chg="modSp new del mod">
        <pc:chgData name="Zonghua Gu" userId="9a7e1853e1951ef5" providerId="LiveId" clId="{E5C75BF5-3A3B-45BA-A108-76224E8C35B7}" dt="2026-04-15T01:04:45.866" v="248" actId="47"/>
        <pc:sldMkLst>
          <pc:docMk/>
          <pc:sldMk cId="297540773" sldId="339"/>
        </pc:sldMkLst>
        <pc:spChg chg="mod">
          <ac:chgData name="Zonghua Gu" userId="9a7e1853e1951ef5" providerId="LiveId" clId="{E5C75BF5-3A3B-45BA-A108-76224E8C35B7}" dt="2026-04-15T01:00:29.648" v="5"/>
          <ac:spMkLst>
            <pc:docMk/>
            <pc:sldMk cId="297540773" sldId="339"/>
            <ac:spMk id="2" creationId="{135A43B6-8248-BFDC-440F-819C98877DF2}"/>
          </ac:spMkLst>
        </pc:spChg>
        <pc:spChg chg="mod">
          <ac:chgData name="Zonghua Gu" userId="9a7e1853e1951ef5" providerId="LiveId" clId="{E5C75BF5-3A3B-45BA-A108-76224E8C35B7}" dt="2026-04-15T01:04:42.949" v="247" actId="27636"/>
          <ac:spMkLst>
            <pc:docMk/>
            <pc:sldMk cId="297540773" sldId="339"/>
            <ac:spMk id="3" creationId="{DFA40AAC-F224-5D43-A870-2978581BECAC}"/>
          </ac:spMkLst>
        </pc:spChg>
      </pc:sldChg>
      <pc:sldChg chg="new del">
        <pc:chgData name="Zonghua Gu" userId="9a7e1853e1951ef5" providerId="LiveId" clId="{E5C75BF5-3A3B-45BA-A108-76224E8C35B7}" dt="2026-04-15T01:00:47.507" v="17" actId="47"/>
        <pc:sldMkLst>
          <pc:docMk/>
          <pc:sldMk cId="51256936" sldId="340"/>
        </pc:sldMkLst>
      </pc:sldChg>
    </pc:docChg>
  </pc:docChgLst>
  <pc:docChgLst>
    <pc:chgData name="Zonghua Gu" userId="9a7e1853e1951ef5" providerId="LiveId" clId="{CF1FAA12-072C-4ED5-BA76-0FFFAEFDB88A}"/>
    <pc:docChg chg="undo redo custSel delSld modSld">
      <pc:chgData name="Zonghua Gu" userId="9a7e1853e1951ef5" providerId="LiveId" clId="{CF1FAA12-072C-4ED5-BA76-0FFFAEFDB88A}" dt="2026-04-16T19:32:30.727" v="317" actId="207"/>
      <pc:docMkLst>
        <pc:docMk/>
      </pc:docMkLst>
      <pc:sldChg chg="modSp mod">
        <pc:chgData name="Zonghua Gu" userId="9a7e1853e1951ef5" providerId="LiveId" clId="{CF1FAA12-072C-4ED5-BA76-0FFFAEFDB88A}" dt="2026-04-14T19:33:30.859" v="234" actId="14100"/>
        <pc:sldMkLst>
          <pc:docMk/>
          <pc:sldMk cId="0" sldId="295"/>
        </pc:sldMkLst>
        <pc:cxnChg chg="mod">
          <ac:chgData name="Zonghua Gu" userId="9a7e1853e1951ef5" providerId="LiveId" clId="{CF1FAA12-072C-4ED5-BA76-0FFFAEFDB88A}" dt="2026-04-14T19:33:30.859" v="234" actId="14100"/>
          <ac:cxnSpMkLst>
            <pc:docMk/>
            <pc:sldMk cId="0" sldId="295"/>
            <ac:cxnSpMk id="6" creationId="{C7982609-CEFC-3602-BA19-911BDC1177F4}"/>
          </ac:cxnSpMkLst>
        </pc:cxnChg>
      </pc:sldChg>
      <pc:sldChg chg="addSp modSp mod modNotes">
        <pc:chgData name="Zonghua Gu" userId="9a7e1853e1951ef5" providerId="LiveId" clId="{CF1FAA12-072C-4ED5-BA76-0FFFAEFDB88A}" dt="2026-04-16T19:32:30.727" v="317" actId="207"/>
        <pc:sldMkLst>
          <pc:docMk/>
          <pc:sldMk cId="0" sldId="326"/>
        </pc:sldMkLst>
        <pc:spChg chg="add mod">
          <ac:chgData name="Zonghua Gu" userId="9a7e1853e1951ef5" providerId="LiveId" clId="{CF1FAA12-072C-4ED5-BA76-0FFFAEFDB88A}" dt="2026-04-16T19:32:30.727" v="317" actId="207"/>
          <ac:spMkLst>
            <pc:docMk/>
            <pc:sldMk cId="0" sldId="326"/>
            <ac:spMk id="2" creationId="{280ACCFD-4692-F47A-B9F8-3FC78D081BD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a4bf034c0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a4bf034c0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Slides template credit: Josh Hug, Lisa Yan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before we start actually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designing protocols let's start by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discussing what we want to actually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Implement at layer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ea4bf034c0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2ea4bf034c0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0:19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 so as a reminder this is probably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0:22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review from when we talked about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0:24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layers of the internet but let's cover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0:26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it one more time layer three allowed us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0:29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to send pack gets anywhere in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0:31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internet we achieved Global routing as a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0:34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result of all the routing protocols that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0:35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we saw in the last unit now layer three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0:39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was thinking in terms of packets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0:40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individually and each router received a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0:43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packet and forwarded it independently of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0:46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all the other packets that was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0:48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abstraction level at layer three and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0:51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reason why we didn't stop at Layer Three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0:53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is because of two major problems one is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0:56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that IP is best effort packets can be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0:59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lost corrupted reordered delayed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duplicated all things that we will see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today and try to solve the other problem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1:07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is that thinking about packets is hard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2ea4bf034c0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2ea4bf034c0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" dirty="0"/>
              <a:t>two major problems one is</a:t>
            </a:r>
            <a:r>
              <a:rPr lang="en-US" dirty="0"/>
              <a:t>Let's check out each of these features.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IP is best effort packets can be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lost corrupted reordered delayed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duplicated all things that we will see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today and try to solve the other problem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is that thinking about packets is hard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imagine if you wanted to write a program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sends a file to someone else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would be very annoying if you had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write code to split the file up into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individual packets and then write code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for how to reassemble the packets that's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really annoying we want to give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programmers a more convenient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abstraction that they can write code 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top of so that's what layer 4 is going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fix for us it's going to add new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features on top of layer three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ea4bf034c0_0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2ea4bf034c0_0_2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before we dive into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designing these two protocols let's talk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about these features that they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provide the first feature that we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provide at layer 4 is demultiplexing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with ports this is probably something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you've already seen but remember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layer three allows us to Dem Multiplex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packets using the protocol field in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IP header so when I receive a packet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it's unclear what all that stuff in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green is is it a TCP packet is it a UDP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packet when I'm operating at IP level I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don't know what this payload is so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solve that we are going to use an extra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protocol field not pictured on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slide to pass the packet to the correct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code whether that is the TCP code or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UDP code so that's what happened 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layer 3 hopefully review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ea4bf034c0_0_3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2ea4bf034c0_0_3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now at layer 4 we have a similar problem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where once you unwrap the TCP header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process it it is not clear what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comes next what do we do with this stuff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blue what application at layer 7even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 I pass this packet to and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different applications I can pass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to are the different applications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using the internet on my computer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maybe my computer is running slack 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chat and that's using the internet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it's running an email server that also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uses the internet and it's running a web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browser that also uses the internet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need to figure out what application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 we send the TCP payload to that's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what the demultiplexing is going to do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us 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ea4bf034c0_0_3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2ea4bf034c0_0_3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so as a summary of all the Dem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multiplexing features we've seen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is still kind of in the review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session of this lecture at layer 3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use the protocol field to Dem multiply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to layer 4 and pick the right layer 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Protocol and at layer 4 we demultiplex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using ports to identify the correct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layer 7 application that we pass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packet up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ea4bf034c0_0_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2ea4bf034c0_0_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so another way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Warning: Naming conflict.</a:t>
            </a:r>
          </a:p>
          <a:p>
            <a:pPr marL="228600" lvl="0" indent="-1333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Logical ports: L4 header field (what you're looking at now).</a:t>
            </a:r>
          </a:p>
          <a:p>
            <a:pPr marL="228600" lvl="0" indent="-1333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Physical ports: On a router, the place you plug in a link.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Both are often called "ports."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you can think of the port is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connection point between the application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and the operating system the application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and the operating system both know that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fire fox has port number 20 so all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5:02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packets for Firefox are labeled port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5:05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number 20 and as a reminder also there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5:08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are are logical ports which is what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5:10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we're looking at now do not confuse them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5:12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with physical ports which we will see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5:14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later but all of this unit we will be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5:16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talking about logical ports not physical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5:21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ones 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ea4bf034c0_0_2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2ea4bf034c0_0_2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one final note on ports that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maybe also review is that some ports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public and wellknown and some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private they're kind of like room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numbers in a house so if you're in your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own house you can name name your rooms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2ea4bf034c0_0_3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2ea4bf034c0_0_3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We'll spend most of today and next time building this.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 lot of the next two lectures will be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all about building reliability using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unreliable delivery as a building block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we already have unreliable delivery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what extra features do we have to build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achieve reliability we're going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spend a lot of time think thinking about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this do note that some layer 4 protocols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namely TCP guarantee reliability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have guarantees associated with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whereas other protocols actually do not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you can actually choose a layer four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protocol that doesn't provide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reliability but does provide some of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other features like abstractions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ports so layer 4 is actually used for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lots of different features reliability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is just one of them and TCP has it but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UDP does not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ea4bf034c0_0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ea4bf034c0_0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Was it worth spending an hour to animate this? 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summarize all the layer 4 features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offer us new abstractions that were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previously not possible in the layer 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Model so the way that I think about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you move to higher layers you stop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thinking in terms of individual packets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are processed independently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 thinking about Connections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flows and the connection is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longlasting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connection between two people who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exchanging lots of data so that's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different way to think about the data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passing through the internet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the abstraction that programmers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at higher layers want to use I want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imagine I start a connection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someone else I send them a file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receive the file great I don't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about the underlying individual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being sent through the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as we move from layer 3 to layer 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going to stop thinking in terms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individual packets and start thinking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terms of connections which is a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useful way to think about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operations for end users and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particular if you use TCP the type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connection you get is something called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Bite stream and I think of a bite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stream like a big long pipe and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happens is you feed some btes into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pipe and those same bites appear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order on the other side and in between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could go through multiple hops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might have to resent some bites that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dropped but none of that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application programmer's concern from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point of view of the application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programmer they create a bite stream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whatever they feed in on one end will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appear on the other end so it's just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big tube anything you shove in on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side shows up on the other side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don't have to worry about the underlying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layer 4 layer three implementation so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about Connections and if we 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TCP we get B streams check out this cool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animation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ea4bf034c0_0_4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2ea4bf034c0_0_4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Was it worth spending an hour to animate this? No.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another one is UDP and UDP gives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different abstraction called Data GRS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it's kind of like the packet mindset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again although still have ports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other useful features but if you choose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use UDP you don't get the by stream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instead you have to process each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packet one by one and UDP is best effort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3:41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there is no reliability so things can be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duplicated they can show up out of order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they can get dropped or corrupted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3:49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application has to process things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accordingly so to summarize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highlevel picture of the transport layer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protocols that exist there are two main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choices that you can make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2ea4bf034c0_0_4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2ea4bf034c0_0_4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We're about to spend a lot of time here, but don't forget the bigger picture.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ea4bf034c0_0_4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ea4bf034c0_0_4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2ea4bf034c0_0_5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2ea4bf034c0_0_5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2ea4bf034c0_0_5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2ea4bf034c0_0_5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/>
              <a:t>at-least-once and exactly-once could be reinforced by explicitly stating that </a:t>
            </a: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2ea4bf034c0_0_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2ea4bf034c0_0_5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are now going to build our very first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reliability protocol to do so I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remind you about timing diagrams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the way you read this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center is on the left the recipient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the right and an arrow represents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piece of data being sent and time moves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down as you go down this picture so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delay of the packet is the vertical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difference between the time it's sent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the time it's received and there's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called roundtrip time which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how long it takes to send a packet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get the response and that is also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labeled on our picture so just remember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that is how you read these diagrams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since we will be seeing a lot of them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ea4bf034c0_0_6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2ea4bf034c0_0_6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going to start with a super simple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reliability protocol and then we'll make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better and expand it to be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General so let's try to achieve at least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once delivery the packet can arrive once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or multiple times is also okay and let's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try to achieve it for just a single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package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the sender is sending one and only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packet that's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if we can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packet to arrive at the destination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reliably we win it's okay if it arrives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multiple times that's fine it's okay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fail and announce the failure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not connected to the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fine too but we want to get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least once delivery so there are five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problems that we talked about earlier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best effort service model if we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solve all of these problems we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achieved at least once delivery so let's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 through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2ea4bf034c0_0_6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2ea4bf034c0_0_6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2ea4bf034c0_0_6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9" name="Google Shape;459;g2ea4bf034c0_0_6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2ea4bf034c0_0_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2ea4bf034c0_0_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2ea4bf034c0_0_7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2ea4bf034c0_0_7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2ea4bf034c0_0_7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2ea4bf034c0_0_7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2ea4bf034c0_0_7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7" name="Google Shape;537;g2ea4bf034c0_0_7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2ea4bf034c0_0_8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2ea4bf034c0_0_8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2ea4bf034c0_0_9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5" name="Google Shape;595;g2ea4bf034c0_0_9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ea4bf034c0_0_9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ea4bf034c0_0_9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2ea4bf034c0_0_9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2ea4bf034c0_0_9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2ea4bf034c0_0_9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2ea4bf034c0_0_9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2ea4bf034c0_0_9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3" name="Google Shape;633;g2ea4bf034c0_0_9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2ea4bf034c0_0_10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Google Shape;671;g2ea4bf034c0_0_10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2ea4bf034c0_0_1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2ea4bf034c0_0_1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ea4bf034c0_0_1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ea4bf034c0_0_1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ea4bf034c0_0_11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2ea4bf034c0_0_11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2ea4bf034c0_0_1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3" name="Google Shape;763;g2ea4bf034c0_0_1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g2ea4bf034c0_0_1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g2ea4bf034c0_0_1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ea4bf034c0_0_1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ea4bf034c0_0_1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2ea4bf034c0_0_1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6" name="Google Shape;826;g2ea4bf034c0_0_1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g2ea4bf034c0_0_13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g2ea4bf034c0_0_13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Google Shape;902;g2ea4bf034c0_0_14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3" name="Google Shape;903;g2ea4bf034c0_0_14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g2ea4bf034c0_0_16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4" name="Google Shape;984;g2ea4bf034c0_0_16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0">
          <a:extLst>
            <a:ext uri="{FF2B5EF4-FFF2-40B4-BE49-F238E27FC236}">
              <a16:creationId xmlns:a16="http://schemas.microsoft.com/office/drawing/2014/main" id="{AE718FC3-176E-6346-9520-1470E4324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2ea4bf034c0_0_1711:notes">
            <a:extLst>
              <a:ext uri="{FF2B5EF4-FFF2-40B4-BE49-F238E27FC236}">
                <a16:creationId xmlns:a16="http://schemas.microsoft.com/office/drawing/2014/main" id="{48AD83CA-8A7D-CA4D-B4C0-A643C80CA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2" name="Google Shape;1072;g2ea4bf034c0_0_1711:notes">
            <a:extLst>
              <a:ext uri="{FF2B5EF4-FFF2-40B4-BE49-F238E27FC236}">
                <a16:creationId xmlns:a16="http://schemas.microsoft.com/office/drawing/2014/main" id="{7B6F9D4F-E550-6315-F1B2-8A4402A406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" dirty="0"/>
              <a:t>0:08 </a:t>
            </a:r>
            <a:r>
              <a:rPr lang="en-US" altLang="zh-CN" dirty="0"/>
              <a:t>Stop-and-wait inefficiency (W=1)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there are three goals we've already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looked at the first one and that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filling the pipe by using the equation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wal rtt </a:t>
            </a:r>
            <a:r>
              <a:rPr lang="en" dirty="0"/>
              <a:t>times bandwidth we were able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find a value of w that kept the sender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busy at all times continually sending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things into the network and never idling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doing nothing but there are two more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goals that we need to balance and these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will probably cause W to decrease so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first constraint was Us increasing W all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way up until I kept the center busy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all the time and then two and three will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cause W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decrease so number two is something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called flow control and the idea here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 cannot overload the recipient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2939109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2ea4bf034c0_0_1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2ea4bf034c0_0_1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let's talk about the other two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constraints on setting 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2ea4bf034c0_0_17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2" name="Google Shape;1072;g2ea4bf034c0_0_17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there are three goals we've already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looked at the first one and that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filling the pipe by using the equation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wal rtt </a:t>
            </a:r>
            <a:r>
              <a:rPr lang="en" dirty="0"/>
              <a:t>times bandwidth we were able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find a value of w that kept the sender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busy at all times continually sending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things into the network and never idling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doing nothing but there are two more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goals that we need to balance and these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will probably cause W to decrease so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first constraint was Us increasing W all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way up until I kept the center busy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all the time and then two and three will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cause W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decrease so number two is something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called flow control and the idea here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 cannot overload the recipient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g2ea4bf034c0_0_17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8" name="Google Shape;1078;g2ea4bf034c0_0_17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Memory quiz: What did packet 3 say?</a:t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g2ea4bf034c0_0_17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1" name="Google Shape;1091;g2ea4bf034c0_0_17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Memory quiz: What did packet 3 say?</a:t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Google Shape;1105;g2ea4bf034c0_0_1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6" name="Google Shape;1106;g2ea4bf034c0_0_1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g2ea4bf034c0_0_17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7" name="Google Shape;1127;g2ea4bf034c0_0_17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g2ea4bf034c0_0_18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9" name="Google Shape;1149;g2ea4bf034c0_0_18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Recall: </a:t>
            </a:r>
            <a:r>
              <a:rPr lang="en-US" sz="11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= RTT 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× bandwidth.</a:t>
            </a: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 </a:t>
            </a:r>
            <a:r>
              <a:rPr lang="en-US" sz="11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bandwidth are proportional (roughly speaking).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g2ea4bf034c0_0_18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5" name="Google Shape;1155;g2ea4bf034c0_0_18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g2ea4bf034c0_0_18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2" name="Google Shape;1162;g2ea4bf034c0_0_18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Google Shape;1236;g2ea4bf034c0_0_19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7" name="Google Shape;1237;g2ea4bf034c0_0_19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Shorter, but more ambiguous.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g2ea4bf034c0_0_19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4" name="Google Shape;1264;g2ea4bf034c0_0_19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Full information acks: Each ack lists all packets received.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Pros: Complete information on data packets. More resilient to ack loss.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Cons: Could require sizable overhead in bad cases.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2ea4bf034c0_0_19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2ea4bf034c0_0_19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Google Shape;1334;g2ea4bf034c0_0_20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5" name="Google Shape;1335;g2ea4bf034c0_0_20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No ambiguity with individual and full-information acks.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Subsequent acks: </a:t>
            </a:r>
            <a:r>
              <a:rPr lang="en-US" altLang="zh-CN" sz="1100" i="1" dirty="0">
                <a:solidFill>
                  <a:schemeClr val="accent3"/>
                </a:solidFill>
              </a:rPr>
              <a:t>(This strategy is sometimes called "fast retransmit.")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So far, we detect loss by waiting for a timeout.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Timeout length is roughly RTT (a few milliseconds).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Another approach: Detect loss when acks for subsequent packets arrive.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Packets arrive every few nanoseconds, so this approach usually detects loss way earlier.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US" altLang="zh-CN" dirty="0"/>
          </a:p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tabLst/>
              <a:defRPr/>
            </a:pPr>
            <a:r>
              <a:rPr lang="en" altLang="zh-CN" dirty="0"/>
              <a:t>Resend the un-acked packet. But which packet is that?</a:t>
            </a:r>
          </a:p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tabLst/>
              <a:defRPr/>
            </a:pPr>
            <a:r>
              <a:rPr lang="en-US" altLang="zh-CN" dirty="0"/>
              <a:t>No ambiguity with cumulative acks and a single packet loss.</a:t>
            </a:r>
          </a:p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tabLst/>
              <a:defRPr/>
            </a:pPr>
            <a:r>
              <a:rPr lang="en-US" altLang="zh-CN" dirty="0"/>
              <a:t>TCP retransmits the </a:t>
            </a:r>
            <a:r>
              <a:rPr lang="en-US" altLang="zh-CN" b="1" dirty="0"/>
              <a:t>leftmost unacknowledged</a:t>
            </a:r>
            <a:r>
              <a:rPr lang="en-US" altLang="zh-CN" dirty="0"/>
              <a:t> segment</a:t>
            </a:r>
          </a:p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tabLst/>
              <a:defRPr/>
            </a:pPr>
            <a:endParaRPr lang="en" altLang="zh-CN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zh-CN" sz="1100" i="1" dirty="0">
              <a:solidFill>
                <a:schemeClr val="accent3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zh-C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2">
          <a:extLst>
            <a:ext uri="{FF2B5EF4-FFF2-40B4-BE49-F238E27FC236}">
              <a16:creationId xmlns:a16="http://schemas.microsoft.com/office/drawing/2014/main" id="{5055B8BC-8076-AB5C-FAFB-6269DF92B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g2ea4bf034c0_0_2056:notes">
            <a:extLst>
              <a:ext uri="{FF2B5EF4-FFF2-40B4-BE49-F238E27FC236}">
                <a16:creationId xmlns:a16="http://schemas.microsoft.com/office/drawing/2014/main" id="{A765D720-C604-9B5C-D1D7-F48F4B3078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4" name="Google Shape;1314;g2ea4bf034c0_0_2056:notes">
            <a:extLst>
              <a:ext uri="{FF2B5EF4-FFF2-40B4-BE49-F238E27FC236}">
                <a16:creationId xmlns:a16="http://schemas.microsoft.com/office/drawing/2014/main" id="{3D720E02-3697-666A-8B6D-75F365D828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 fontAlgn="base">
              <a:buNone/>
            </a:pPr>
            <a:endParaRPr lang="nl-NL" altLang="zh-CN" dirty="0"/>
          </a:p>
          <a:p>
            <a:pPr marL="11430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nl-NL" altLang="zh-CN" dirty="0"/>
              <a:t>Example:</a:t>
            </a:r>
          </a:p>
          <a:p>
            <a:pPr marL="114300" indent="0" fontAlgn="base">
              <a:buNone/>
            </a:pPr>
            <a:endParaRPr lang="nl-NL" altLang="zh-CN" dirty="0"/>
          </a:p>
          <a:p>
            <a:pPr marL="114300" indent="0" fontAlgn="base">
              <a:buNone/>
            </a:pPr>
            <a:endParaRPr lang="nl-NL" altLang="zh-CN" dirty="0"/>
          </a:p>
          <a:p>
            <a:pPr marL="11430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Example: Later packets (6, 7, 8) received, but there's a gap, so the "up to 4" cumulative ack cannot increase.</a:t>
            </a:r>
          </a:p>
          <a:p>
            <a:pPr marL="114300" indent="0" fontAlgn="base">
              <a:buNone/>
            </a:pPr>
            <a:endParaRPr lang="nl-NL" altLang="zh-CN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If we receive acks for 1, 2, 3, 4, 6, 7, 8, 9, we probably lost 5.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Declare a packet lost if </a:t>
            </a:r>
            <a:r>
              <a:rPr lang="en-US" altLang="zh-CN" i="1" dirty="0"/>
              <a:t>k</a:t>
            </a:r>
            <a:r>
              <a:rPr lang="en-US" altLang="zh-CN" dirty="0"/>
              <a:t> subsequent packets are </a:t>
            </a:r>
            <a:r>
              <a:rPr lang="en-US" altLang="zh-CN" dirty="0" err="1"/>
              <a:t>acked</a:t>
            </a:r>
            <a:r>
              <a:rPr lang="en-US" altLang="zh-CN" dirty="0"/>
              <a:t>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altLang="zh-CN" i="1" dirty="0"/>
              <a:t>k</a:t>
            </a:r>
            <a:r>
              <a:rPr lang="en-US" altLang="zh-CN" dirty="0"/>
              <a:t> = 3 is common.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zh-CN" dirty="0"/>
          </a:p>
          <a:p>
            <a:pPr marL="114300" indent="0" fontAlgn="base">
              <a:buNone/>
            </a:pPr>
            <a:endParaRPr lang="nl-NL" altLang="zh-CN" dirty="0"/>
          </a:p>
          <a:p>
            <a:endParaRPr lang="zh-CN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0582772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382;g2ea4bf034c0_0_2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3" name="Google Shape;1383;g2ea4bf034c0_0_2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2ea4bf034c0_0_2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0" name="Google Shape;1390;g2ea4bf034c0_0_2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2ea4bf034c0_0_2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2ea4bf034c0_0_2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Google Shape;1404;g2ea4bf034c0_0_2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5" name="Google Shape;1405;g2ea4bf034c0_0_2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g2ea4bf034c0_0_2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2" name="Google Shape;1412;g2ea4bf034c0_0_2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Google Shape;1418;g2ea4bf034c0_0_2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9" name="Google Shape;1419;g2ea4bf034c0_0_2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Google Shape;1425;g2ea4bf034c0_0_2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6" name="Google Shape;1426;g2ea4bf034c0_0_2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Google Shape;1432;g2ea4bf034c0_0_2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3" name="Google Shape;1433;g2ea4bf034c0_0_2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Unfortunately, TCP uses cumulative acks, so we have to deal with this ambiguity.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g2ea4bf034c0_0_20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9" name="Google Shape;1439;g2ea4bf034c0_0_20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Google Shape;1445;g2ea4bf034c0_0_20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6" name="Google Shape;1446;g2ea4bf034c0_0_20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Google Shape;1451;g2ea4bf034c0_0_20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2" name="Google Shape;1452;g2ea4bf034c0_0_20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2ea4bf034c0_0_2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8" name="Google Shape;1458;g2ea4bf034c0_0_2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Reliability</a:t>
            </a:r>
            <a:endParaRPr sz="3600" dirty="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10 (Transport 1)</a:t>
            </a:r>
            <a:endParaRPr sz="1200" dirty="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cxnSp>
        <p:nvCxnSpPr>
          <p:cNvPr id="146" name="Google Shape;146;p24"/>
          <p:cNvCxnSpPr/>
          <p:nvPr/>
        </p:nvCxnSpPr>
        <p:spPr>
          <a:xfrm>
            <a:off x="4579975" y="593800"/>
            <a:ext cx="0" cy="2146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" name="Google Shape;147;p24"/>
          <p:cNvCxnSpPr/>
          <p:nvPr/>
        </p:nvCxnSpPr>
        <p:spPr>
          <a:xfrm>
            <a:off x="7601375" y="593800"/>
            <a:ext cx="0" cy="2146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" name="Google Shape;148;p24"/>
          <p:cNvCxnSpPr/>
          <p:nvPr/>
        </p:nvCxnSpPr>
        <p:spPr>
          <a:xfrm flipH="1">
            <a:off x="4587082" y="119278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9" name="Google Shape;149;p24"/>
          <p:cNvCxnSpPr/>
          <p:nvPr/>
        </p:nvCxnSpPr>
        <p:spPr>
          <a:xfrm>
            <a:off x="4581950" y="7830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0" name="Google Shape;150;p24"/>
          <p:cNvCxnSpPr/>
          <p:nvPr/>
        </p:nvCxnSpPr>
        <p:spPr>
          <a:xfrm>
            <a:off x="4581950" y="9354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1" name="Google Shape;151;p24"/>
          <p:cNvCxnSpPr/>
          <p:nvPr/>
        </p:nvCxnSpPr>
        <p:spPr>
          <a:xfrm>
            <a:off x="4581950" y="10878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2" name="Google Shape;152;p24"/>
          <p:cNvCxnSpPr/>
          <p:nvPr/>
        </p:nvCxnSpPr>
        <p:spPr>
          <a:xfrm>
            <a:off x="4581950" y="12402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3" name="Google Shape;153;p24"/>
          <p:cNvCxnSpPr/>
          <p:nvPr/>
        </p:nvCxnSpPr>
        <p:spPr>
          <a:xfrm flipH="1">
            <a:off x="4587082" y="149758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4" name="Google Shape;154;p24"/>
          <p:cNvSpPr txBox="1"/>
          <p:nvPr/>
        </p:nvSpPr>
        <p:spPr>
          <a:xfrm>
            <a:off x="4364436" y="610236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" name="Google Shape;155;p24"/>
          <p:cNvSpPr txBox="1"/>
          <p:nvPr/>
        </p:nvSpPr>
        <p:spPr>
          <a:xfrm>
            <a:off x="7564825" y="1004579"/>
            <a:ext cx="6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ack(3)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ack(4)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" name="Google Shape;156;p24"/>
          <p:cNvCxnSpPr/>
          <p:nvPr/>
        </p:nvCxnSpPr>
        <p:spPr>
          <a:xfrm flipH="1">
            <a:off x="4587082" y="164998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7" name="Google Shape;157;p24"/>
          <p:cNvCxnSpPr/>
          <p:nvPr/>
        </p:nvCxnSpPr>
        <p:spPr>
          <a:xfrm flipH="1">
            <a:off x="5639482" y="1345189"/>
            <a:ext cx="1956300" cy="2409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8" name="Google Shape;158;p24"/>
          <p:cNvSpPr txBox="1"/>
          <p:nvPr/>
        </p:nvSpPr>
        <p:spPr>
          <a:xfrm>
            <a:off x="5460199" y="144971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" name="Google Shape;159;p24"/>
          <p:cNvCxnSpPr/>
          <p:nvPr/>
        </p:nvCxnSpPr>
        <p:spPr>
          <a:xfrm>
            <a:off x="4581950" y="21546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0" name="Google Shape;160;p24"/>
          <p:cNvSpPr txBox="1"/>
          <p:nvPr/>
        </p:nvSpPr>
        <p:spPr>
          <a:xfrm>
            <a:off x="4364436" y="1981836"/>
            <a:ext cx="264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8EF5DF-CD8B-424C-EBE6-BDC6941B2E31}"/>
              </a:ext>
            </a:extLst>
          </p:cNvPr>
          <p:cNvSpPr txBox="1"/>
          <p:nvPr/>
        </p:nvSpPr>
        <p:spPr>
          <a:xfrm>
            <a:off x="3526681" y="4865536"/>
            <a:ext cx="20906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Slides credit: CS 168 @ UC Berkeley</a:t>
            </a:r>
          </a:p>
        </p:txBody>
      </p:sp>
      <p:sp>
        <p:nvSpPr>
          <p:cNvPr id="3" name="Google Shape;167;p25">
            <a:extLst>
              <a:ext uri="{FF2B5EF4-FFF2-40B4-BE49-F238E27FC236}">
                <a16:creationId xmlns:a16="http://schemas.microsoft.com/office/drawing/2014/main" id="{9DCBF6EB-77EC-5FB1-DA8A-EA092556BDAB}"/>
              </a:ext>
            </a:extLst>
          </p:cNvPr>
          <p:cNvSpPr txBox="1">
            <a:spLocks/>
          </p:cNvSpPr>
          <p:nvPr/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n-US"/>
              <a:t>Lecture 10, Spring 2026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Transport Layer Design Goals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Implementing Reliability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6" name="Google Shape;166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Design Goals</a:t>
            </a:r>
            <a:endParaRPr/>
          </a:p>
        </p:txBody>
      </p:sp>
      <p:sp>
        <p:nvSpPr>
          <p:cNvPr id="167" name="Google Shape;167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Layer 3 (IP) gave us the ability to send packets anywhere in the Internet.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Abstraction level: Packets individually sent through the network.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Problem: IP offers best-effort delivery.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Packets can be lost, corrupted, reordered, delayed, or duplicated.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Problem: Applications don't want to think about packets and best-effort.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Programmers want to think in terms of a more convenient abstraction.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Layer 4 (Transport) builds extra features on top of Layer 3.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TCP</a:t>
            </a:r>
            <a:r>
              <a:rPr lang="en" dirty="0"/>
              <a:t> (Transmission Control Protocol): Adds </a:t>
            </a:r>
            <a:r>
              <a:rPr lang="en" i="1" dirty="0"/>
              <a:t>de-multiplexing</a:t>
            </a:r>
            <a:r>
              <a:rPr lang="en" dirty="0"/>
              <a:t> and </a:t>
            </a:r>
            <a:r>
              <a:rPr lang="en" i="1" dirty="0"/>
              <a:t>reliability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UDP</a:t>
            </a:r>
            <a:r>
              <a:rPr lang="en" dirty="0"/>
              <a:t> (User Datagram Protocol): Adds </a:t>
            </a:r>
            <a:r>
              <a:rPr lang="en" i="1" dirty="0"/>
              <a:t>de-multiplexing</a:t>
            </a:r>
            <a:r>
              <a:rPr lang="en" dirty="0"/>
              <a:t> only.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Both protocols provide a more useful abstraction to programmers.</a:t>
            </a:r>
            <a:endParaRPr dirty="0"/>
          </a:p>
        </p:txBody>
      </p:sp>
      <p:sp>
        <p:nvSpPr>
          <p:cNvPr id="173" name="Google Shape;173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Protocols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" name="Google Shape;179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Protocol field in IP Header (L3) supports de-multiplexing between L4 protocols.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Should I pass this packet to the TCP code or the UDP code?</a:t>
            </a:r>
            <a:endParaRPr/>
          </a:p>
        </p:txBody>
      </p:sp>
      <p:sp>
        <p:nvSpPr>
          <p:cNvPr id="181" name="Google Shape;181;p27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7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" name="Google Shape;185;p27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" name="Google Shape;186;p27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" name="Google Shape;187;p27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7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27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27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27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27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" name="Google Shape;193;p27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4" name="Google Shape;194;p27"/>
          <p:cNvSpPr/>
          <p:nvPr/>
        </p:nvSpPr>
        <p:spPr>
          <a:xfrm>
            <a:off x="7391850" y="2502200"/>
            <a:ext cx="1548300" cy="4680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" name="Google Shape;195;p27"/>
          <p:cNvSpPr/>
          <p:nvPr/>
        </p:nvSpPr>
        <p:spPr>
          <a:xfrm>
            <a:off x="7391850" y="2970200"/>
            <a:ext cx="1548300" cy="16152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(TCP? UDP?)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6" name="Google Shape;196;p27"/>
          <p:cNvCxnSpPr>
            <a:stCxn id="182" idx="0"/>
            <a:endCxn id="183" idx="2"/>
          </p:cNvCxnSpPr>
          <p:nvPr/>
        </p:nvCxnSpPr>
        <p:spPr>
          <a:xfrm rot="10800000">
            <a:off x="3674100" y="3498200"/>
            <a:ext cx="586200" cy="279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7" name="Google Shape;197;p27"/>
          <p:cNvCxnSpPr>
            <a:stCxn id="182" idx="0"/>
            <a:endCxn id="184" idx="2"/>
          </p:cNvCxnSpPr>
          <p:nvPr/>
        </p:nvCxnSpPr>
        <p:spPr>
          <a:xfrm rot="10800000" flipH="1">
            <a:off x="4260300" y="3498200"/>
            <a:ext cx="586200" cy="279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8"/>
          <p:cNvSpPr/>
          <p:nvPr/>
        </p:nvSpPr>
        <p:spPr>
          <a:xfrm>
            <a:off x="7391850" y="2970200"/>
            <a:ext cx="1548300" cy="4680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3" name="Google Shape;203;p28"/>
          <p:cNvSpPr/>
          <p:nvPr/>
        </p:nvSpPr>
        <p:spPr>
          <a:xfrm>
            <a:off x="7391850" y="3438200"/>
            <a:ext cx="1548300" cy="11472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(Slack? Email?)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4" name="Google Shape;204;p28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5" name="Google Shape;205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206" name="Google Shape;206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 field in TCP header (L4) supports de-multiplexing between L7 applications.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Which application should I pass this packet to?</a:t>
            </a:r>
            <a:endParaRPr/>
          </a:p>
        </p:txBody>
      </p:sp>
      <p:sp>
        <p:nvSpPr>
          <p:cNvPr id="207" name="Google Shape;207;p28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8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" name="Google Shape;209;p28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0" name="Google Shape;210;p28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" name="Google Shape;211;p28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" name="Google Shape;212;p28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3" name="Google Shape;213;p28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4" name="Google Shape;214;p28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5" name="Google Shape;215;p28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6" name="Google Shape;216;p28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7" name="Google Shape;217;p28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28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28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0" name="Google Shape;220;p28"/>
          <p:cNvCxnSpPr>
            <a:stCxn id="209" idx="0"/>
            <a:endCxn id="214" idx="2"/>
          </p:cNvCxnSpPr>
          <p:nvPr/>
        </p:nvCxnSpPr>
        <p:spPr>
          <a:xfrm rot="10800000">
            <a:off x="1915500" y="2517800"/>
            <a:ext cx="1758600" cy="58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1" name="Google Shape;221;p28"/>
          <p:cNvCxnSpPr>
            <a:stCxn id="209" idx="0"/>
            <a:endCxn id="213" idx="2"/>
          </p:cNvCxnSpPr>
          <p:nvPr/>
        </p:nvCxnSpPr>
        <p:spPr>
          <a:xfrm rot="10800000">
            <a:off x="3087900" y="2517800"/>
            <a:ext cx="586200" cy="58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2" name="Google Shape;222;p28"/>
          <p:cNvCxnSpPr>
            <a:stCxn id="209" idx="0"/>
            <a:endCxn id="211" idx="2"/>
          </p:cNvCxnSpPr>
          <p:nvPr/>
        </p:nvCxnSpPr>
        <p:spPr>
          <a:xfrm rot="10800000" flipH="1">
            <a:off x="3674100" y="2517800"/>
            <a:ext cx="586200" cy="58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9"/>
          <p:cNvSpPr/>
          <p:nvPr/>
        </p:nvSpPr>
        <p:spPr>
          <a:xfrm>
            <a:off x="7391850" y="2970200"/>
            <a:ext cx="1548300" cy="4680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8" name="Google Shape;228;p29"/>
          <p:cNvSpPr/>
          <p:nvPr/>
        </p:nvSpPr>
        <p:spPr>
          <a:xfrm>
            <a:off x="7391850" y="3438200"/>
            <a:ext cx="1548300" cy="11472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(Slack? Email?)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9" name="Google Shape;229;p29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0" name="Google Shape;230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231" name="Google Shape;231;p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3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Protocol (L3) and port (L4) together allow us to de-multiplex arriving packets.</a:t>
            </a:r>
            <a:endParaRPr/>
          </a:p>
        </p:txBody>
      </p:sp>
      <p:sp>
        <p:nvSpPr>
          <p:cNvPr id="232" name="Google Shape;232;p29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3" name="Google Shape;233;p29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29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5" name="Google Shape;235;p29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29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29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8" name="Google Shape;238;p29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9" name="Google Shape;239;p29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0" name="Google Shape;240;p29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29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2" name="Google Shape;242;p29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3" name="Google Shape;243;p29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4" name="Google Shape;244;p29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5" name="Google Shape;245;p29"/>
          <p:cNvSpPr/>
          <p:nvPr/>
        </p:nvSpPr>
        <p:spPr>
          <a:xfrm>
            <a:off x="1899450" y="2517800"/>
            <a:ext cx="2164875" cy="2155142"/>
          </a:xfrm>
          <a:custGeom>
            <a:avLst/>
            <a:gdLst/>
            <a:ahLst/>
            <a:cxnLst/>
            <a:rect l="l" t="t" r="r" b="b"/>
            <a:pathLst>
              <a:path w="86595" h="85905" extrusionOk="0">
                <a:moveTo>
                  <a:pt x="85905" y="85905"/>
                </a:moveTo>
                <a:cubicBezTo>
                  <a:pt x="85606" y="81352"/>
                  <a:pt x="88541" y="67364"/>
                  <a:pt x="84108" y="58588"/>
                </a:cubicBezTo>
                <a:cubicBezTo>
                  <a:pt x="79675" y="49812"/>
                  <a:pt x="71827" y="40527"/>
                  <a:pt x="59307" y="33248"/>
                </a:cubicBezTo>
                <a:cubicBezTo>
                  <a:pt x="46787" y="25969"/>
                  <a:pt x="18871" y="20457"/>
                  <a:pt x="8986" y="14916"/>
                </a:cubicBezTo>
                <a:cubicBezTo>
                  <a:pt x="-898" y="9375"/>
                  <a:pt x="1498" y="2486"/>
                  <a:pt x="0" y="0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Google Shape;246;p29"/>
          <p:cNvSpPr/>
          <p:nvPr/>
        </p:nvSpPr>
        <p:spPr>
          <a:xfrm>
            <a:off x="3096300" y="2521725"/>
            <a:ext cx="1091476" cy="2147626"/>
          </a:xfrm>
          <a:custGeom>
            <a:avLst/>
            <a:gdLst/>
            <a:ahLst/>
            <a:cxnLst/>
            <a:rect l="l" t="t" r="r" b="b"/>
            <a:pathLst>
              <a:path w="43729" h="85725" extrusionOk="0">
                <a:moveTo>
                  <a:pt x="43132" y="85725"/>
                </a:moveTo>
                <a:cubicBezTo>
                  <a:pt x="42982" y="80543"/>
                  <a:pt x="44990" y="65747"/>
                  <a:pt x="42234" y="54634"/>
                </a:cubicBezTo>
                <a:cubicBezTo>
                  <a:pt x="39478" y="43522"/>
                  <a:pt x="33068" y="26568"/>
                  <a:pt x="26598" y="19050"/>
                </a:cubicBezTo>
                <a:cubicBezTo>
                  <a:pt x="20128" y="11532"/>
                  <a:pt x="7848" y="12700"/>
                  <a:pt x="3415" y="9525"/>
                </a:cubicBezTo>
                <a:cubicBezTo>
                  <a:pt x="-1018" y="6350"/>
                  <a:pt x="569" y="1588"/>
                  <a:pt x="0" y="0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Google Shape;247;p29"/>
          <p:cNvSpPr/>
          <p:nvPr/>
        </p:nvSpPr>
        <p:spPr>
          <a:xfrm>
            <a:off x="4528375" y="2526450"/>
            <a:ext cx="895885" cy="2147625"/>
          </a:xfrm>
          <a:custGeom>
            <a:avLst/>
            <a:gdLst/>
            <a:ahLst/>
            <a:cxnLst/>
            <a:rect l="l" t="t" r="r" b="b"/>
            <a:pathLst>
              <a:path w="37897" h="85905" extrusionOk="0">
                <a:moveTo>
                  <a:pt x="337" y="85905"/>
                </a:moveTo>
                <a:cubicBezTo>
                  <a:pt x="337" y="80783"/>
                  <a:pt x="-382" y="66196"/>
                  <a:pt x="337" y="55173"/>
                </a:cubicBezTo>
                <a:cubicBezTo>
                  <a:pt x="1056" y="44150"/>
                  <a:pt x="-891" y="26928"/>
                  <a:pt x="4650" y="19769"/>
                </a:cubicBezTo>
                <a:cubicBezTo>
                  <a:pt x="10191" y="12610"/>
                  <a:pt x="28044" y="15516"/>
                  <a:pt x="33585" y="12221"/>
                </a:cubicBezTo>
                <a:cubicBezTo>
                  <a:pt x="39126" y="8926"/>
                  <a:pt x="37179" y="2037"/>
                  <a:pt x="37898" y="0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Google Shape;248;p29"/>
          <p:cNvSpPr/>
          <p:nvPr/>
        </p:nvSpPr>
        <p:spPr>
          <a:xfrm>
            <a:off x="7391850" y="2502200"/>
            <a:ext cx="1548300" cy="4680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0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Operating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System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4" name="Google Shape;254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255" name="Google Shape;255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identify the attachment point between the application and the OS.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allow data to pass between the application and the OS, without mixing up data between applications.</a:t>
            </a:r>
            <a:endParaRPr/>
          </a:p>
        </p:txBody>
      </p:sp>
      <p:sp>
        <p:nvSpPr>
          <p:cNvPr id="256" name="Google Shape;256;p30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30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30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9" name="Google Shape;259;p30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0" name="Google Shape;260;p30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" name="Google Shape;261;p30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30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30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30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Game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5" name="Google Shape;265;p30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6" name="Google Shape;266;p30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7" name="Google Shape;267;p30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30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9" name="Google Shape;269;p30"/>
          <p:cNvCxnSpPr>
            <a:cxnSpLocks/>
            <a:stCxn id="263" idx="2"/>
          </p:cNvCxnSpPr>
          <p:nvPr/>
        </p:nvCxnSpPr>
        <p:spPr>
          <a:xfrm>
            <a:off x="1915500" y="2517800"/>
            <a:ext cx="534900" cy="463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70" name="Google Shape;270;p30"/>
          <p:cNvCxnSpPr>
            <a:cxnSpLocks/>
            <a:stCxn id="262" idx="2"/>
          </p:cNvCxnSpPr>
          <p:nvPr/>
        </p:nvCxnSpPr>
        <p:spPr>
          <a:xfrm>
            <a:off x="3087900" y="2517800"/>
            <a:ext cx="472200" cy="407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71" name="Google Shape;271;p30"/>
          <p:cNvCxnSpPr>
            <a:cxnSpLocks/>
            <a:stCxn id="260" idx="2"/>
            <a:endCxn id="253" idx="0"/>
          </p:cNvCxnSpPr>
          <p:nvPr/>
        </p:nvCxnSpPr>
        <p:spPr>
          <a:xfrm>
            <a:off x="4260300" y="2517800"/>
            <a:ext cx="0" cy="411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72" name="Google Shape;272;p30"/>
          <p:cNvCxnSpPr>
            <a:cxnSpLocks/>
            <a:stCxn id="261" idx="2"/>
          </p:cNvCxnSpPr>
          <p:nvPr/>
        </p:nvCxnSpPr>
        <p:spPr>
          <a:xfrm flipH="1">
            <a:off x="5127300" y="2517800"/>
            <a:ext cx="305400" cy="407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73" name="Google Shape;273;p30"/>
          <p:cNvCxnSpPr>
            <a:cxnSpLocks/>
            <a:stCxn id="264" idx="2"/>
          </p:cNvCxnSpPr>
          <p:nvPr/>
        </p:nvCxnSpPr>
        <p:spPr>
          <a:xfrm flipH="1">
            <a:off x="6100200" y="2517800"/>
            <a:ext cx="504900" cy="483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Transport Layer Feature: De-Multiplexing with Ports</a:t>
            </a:r>
            <a:endParaRPr/>
          </a:p>
        </p:txBody>
      </p:sp>
      <p:sp>
        <p:nvSpPr>
          <p:cNvPr id="280" name="Google Shape;280;p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9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Analogy: Ports are like room numbers in a house/building.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address is the same, but the room number specifies one person in the house.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Room numbers can be anything in private houses.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Room numbers should be well-known and constant in public buildings.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identify applications on a specific machine.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Port numbers are 16 bits long.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 private computers, ports can be anything.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"Ephemeral" port numbers: 1024–65535.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Applications can pick a random port number.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 public services, ports should be well-known and public.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Examples: SSH (22), HTTP (80).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Services can listen for requests on a well-known port.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Users know the appropriate port number to contact.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1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Many application semantics involve reliable delivery.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Example: File transfer.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Implemented by TCP, but not UDP.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Challenge: Building a reliable service (L4) on top of unreliable packet delivery (L3).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86" name="Google Shape;286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Transport Layer Feature: Reliability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3"/>
          <p:cNvSpPr/>
          <p:nvPr/>
        </p:nvSpPr>
        <p:spPr>
          <a:xfrm>
            <a:off x="5738200" y="3349000"/>
            <a:ext cx="2120100" cy="1507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2" name="Google Shape;292;p33"/>
          <p:cNvSpPr/>
          <p:nvPr/>
        </p:nvSpPr>
        <p:spPr>
          <a:xfrm>
            <a:off x="1295375" y="3366900"/>
            <a:ext cx="2468400" cy="1507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3" name="Google Shape;293;p33"/>
          <p:cNvSpPr/>
          <p:nvPr/>
        </p:nvSpPr>
        <p:spPr>
          <a:xfrm rot="10800000">
            <a:off x="5556700" y="4241701"/>
            <a:ext cx="181500" cy="583500"/>
          </a:xfrm>
          <a:prstGeom prst="ellipse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Transport Layer Feature: New Abstractions: Bytestream</a:t>
            </a:r>
            <a:endParaRPr/>
          </a:p>
        </p:txBody>
      </p:sp>
      <p:sp>
        <p:nvSpPr>
          <p:cNvPr id="295" name="Google Shape;295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9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implementing reliability gives the application a new abstraction.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Without reliability (L3): Unreliable packet abstraction.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Send individual packets, which might be dropped/corrupted/re-ordered.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With reliability (L4): Reliable </a:t>
            </a:r>
            <a:r>
              <a:rPr lang="en" b="1"/>
              <a:t>bytestream abstraction</a:t>
            </a:r>
            <a:r>
              <a:rPr lang="en"/>
              <a:t>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Sender application sends an arbitrary-length string of bytes.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same bytes appear, in order, at the recipient application.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Applications can think in terms of </a:t>
            </a:r>
            <a:r>
              <a:rPr lang="en" b="1"/>
              <a:t>connections</a:t>
            </a:r>
            <a:r>
              <a:rPr lang="en"/>
              <a:t> (aka sessions),</a:t>
            </a:r>
            <a:br>
              <a:rPr lang="en"/>
            </a:br>
            <a:r>
              <a:rPr lang="en"/>
              <a:t>instead of individual packets.</a:t>
            </a:r>
            <a:endParaRPr/>
          </a:p>
        </p:txBody>
      </p:sp>
      <p:sp>
        <p:nvSpPr>
          <p:cNvPr id="296" name="Google Shape;296;p33"/>
          <p:cNvSpPr txBox="1"/>
          <p:nvPr/>
        </p:nvSpPr>
        <p:spPr>
          <a:xfrm>
            <a:off x="1371600" y="4291775"/>
            <a:ext cx="7944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Arbitrary data...so I tied an onion to my belt, which was the style at the time...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97" name="Google Shape;297;p33"/>
          <p:cNvGrpSpPr/>
          <p:nvPr/>
        </p:nvGrpSpPr>
        <p:grpSpPr>
          <a:xfrm>
            <a:off x="3763772" y="4241675"/>
            <a:ext cx="1895903" cy="583525"/>
            <a:chOff x="3763772" y="3708275"/>
            <a:chExt cx="1895903" cy="583525"/>
          </a:xfrm>
        </p:grpSpPr>
        <p:sp>
          <p:nvSpPr>
            <p:cNvPr id="298" name="Google Shape;298;p33"/>
            <p:cNvSpPr/>
            <p:nvPr/>
          </p:nvSpPr>
          <p:spPr>
            <a:xfrm rot="10800000" flipH="1">
              <a:off x="3763772" y="3708300"/>
              <a:ext cx="606550" cy="583500"/>
            </a:xfrm>
            <a:prstGeom prst="flowChartOnlineStorage">
              <a:avLst/>
            </a:prstGeom>
            <a:solidFill>
              <a:srgbClr val="B6D7A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9" name="Google Shape;299;p33"/>
            <p:cNvSpPr/>
            <p:nvPr/>
          </p:nvSpPr>
          <p:spPr>
            <a:xfrm rot="10800000">
              <a:off x="4211350" y="3708275"/>
              <a:ext cx="1136100" cy="583500"/>
            </a:xfrm>
            <a:prstGeom prst="rect">
              <a:avLst/>
            </a:prstGeom>
            <a:solidFill>
              <a:srgbClr val="B6D7A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0" name="Google Shape;300;p33"/>
            <p:cNvSpPr/>
            <p:nvPr/>
          </p:nvSpPr>
          <p:spPr>
            <a:xfrm rot="10800000" flipH="1">
              <a:off x="5053125" y="3708275"/>
              <a:ext cx="606550" cy="583500"/>
            </a:xfrm>
            <a:prstGeom prst="flowChartOnlineStorage">
              <a:avLst/>
            </a:prstGeom>
            <a:solidFill>
              <a:srgbClr val="B6D7A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1" name="Google Shape;301;p33"/>
            <p:cNvSpPr/>
            <p:nvPr/>
          </p:nvSpPr>
          <p:spPr>
            <a:xfrm rot="10800000">
              <a:off x="4191549" y="3712650"/>
              <a:ext cx="37200" cy="574200"/>
            </a:xfrm>
            <a:prstGeom prst="rect">
              <a:avLst/>
            </a:prstGeom>
            <a:solidFill>
              <a:srgbClr val="B6D7A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2" name="Google Shape;302;p33"/>
            <p:cNvSpPr/>
            <p:nvPr/>
          </p:nvSpPr>
          <p:spPr>
            <a:xfrm rot="10800000">
              <a:off x="5029900" y="3712651"/>
              <a:ext cx="146100" cy="574200"/>
            </a:xfrm>
            <a:prstGeom prst="rect">
              <a:avLst/>
            </a:prstGeom>
            <a:solidFill>
              <a:srgbClr val="B6D7A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303" name="Google Shape;303;p33"/>
          <p:cNvSpPr txBox="1"/>
          <p:nvPr/>
        </p:nvSpPr>
        <p:spPr>
          <a:xfrm>
            <a:off x="3808600" y="4333350"/>
            <a:ext cx="1748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Transport Layer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04" name="Google Shape;304;p33"/>
          <p:cNvGrpSpPr/>
          <p:nvPr/>
        </p:nvGrpSpPr>
        <p:grpSpPr>
          <a:xfrm>
            <a:off x="8975" y="3366850"/>
            <a:ext cx="1462800" cy="1507500"/>
            <a:chOff x="8975" y="3366850"/>
            <a:chExt cx="1462800" cy="1507500"/>
          </a:xfrm>
        </p:grpSpPr>
        <p:sp>
          <p:nvSpPr>
            <p:cNvPr id="305" name="Google Shape;305;p33"/>
            <p:cNvSpPr/>
            <p:nvPr/>
          </p:nvSpPr>
          <p:spPr>
            <a:xfrm>
              <a:off x="8975" y="3366850"/>
              <a:ext cx="1286400" cy="1507500"/>
            </a:xfrm>
            <a:prstGeom prst="rect">
              <a:avLst/>
            </a:prstGeom>
            <a:solidFill>
              <a:srgbClr val="9FC5E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Recipient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Application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6" name="Google Shape;306;p33"/>
            <p:cNvSpPr/>
            <p:nvPr/>
          </p:nvSpPr>
          <p:spPr>
            <a:xfrm>
              <a:off x="1219175" y="3371350"/>
              <a:ext cx="252600" cy="14988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07" name="Google Shape;307;p33"/>
          <p:cNvGrpSpPr/>
          <p:nvPr/>
        </p:nvGrpSpPr>
        <p:grpSpPr>
          <a:xfrm>
            <a:off x="7696175" y="3349000"/>
            <a:ext cx="1448450" cy="1507500"/>
            <a:chOff x="7696175" y="3349000"/>
            <a:chExt cx="1448450" cy="1507500"/>
          </a:xfrm>
        </p:grpSpPr>
        <p:sp>
          <p:nvSpPr>
            <p:cNvPr id="308" name="Google Shape;308;p33"/>
            <p:cNvSpPr/>
            <p:nvPr/>
          </p:nvSpPr>
          <p:spPr>
            <a:xfrm>
              <a:off x="7858225" y="3349000"/>
              <a:ext cx="1286400" cy="1507500"/>
            </a:xfrm>
            <a:prstGeom prst="rect">
              <a:avLst/>
            </a:prstGeom>
            <a:solidFill>
              <a:srgbClr val="9FC5E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Sender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Application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9" name="Google Shape;309;p33"/>
            <p:cNvSpPr/>
            <p:nvPr/>
          </p:nvSpPr>
          <p:spPr>
            <a:xfrm>
              <a:off x="7696175" y="3353378"/>
              <a:ext cx="252600" cy="14988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0"/>
                            </p:stCondLst>
                            <p:childTnLst>
                              <p:par>
                                <p:cTn id="9" presetID="2" presetClass="exit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00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Transport Layer Feature: New Abstractions: Datagram</a:t>
            </a:r>
            <a:endParaRPr/>
          </a:p>
        </p:txBody>
      </p:sp>
      <p:sp>
        <p:nvSpPr>
          <p:cNvPr id="315" name="Google Shape;315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9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UDP does not implement reliability, and it gives users the </a:t>
            </a:r>
            <a:r>
              <a:rPr lang="en" b="1"/>
              <a:t>datagram abstraction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Basically the same as the Layer 3 packet abstraction.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Still best-effort.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application is responsible for splitting data into limited-size packets.</a:t>
            </a:r>
            <a:endParaRPr/>
          </a:p>
        </p:txBody>
      </p:sp>
      <p:sp>
        <p:nvSpPr>
          <p:cNvPr id="316" name="Google Shape;316;p34"/>
          <p:cNvSpPr/>
          <p:nvPr/>
        </p:nvSpPr>
        <p:spPr>
          <a:xfrm>
            <a:off x="8975" y="3366850"/>
            <a:ext cx="1286400" cy="1507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34"/>
          <p:cNvSpPr/>
          <p:nvPr/>
        </p:nvSpPr>
        <p:spPr>
          <a:xfrm>
            <a:off x="7858225" y="3349000"/>
            <a:ext cx="1286400" cy="1507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34"/>
          <p:cNvSpPr/>
          <p:nvPr/>
        </p:nvSpPr>
        <p:spPr>
          <a:xfrm>
            <a:off x="1626875" y="3514000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9" name="Google Shape;319;p34"/>
          <p:cNvSpPr/>
          <p:nvPr/>
        </p:nvSpPr>
        <p:spPr>
          <a:xfrm>
            <a:off x="3988550" y="3561975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0" name="Google Shape;320;p34"/>
          <p:cNvSpPr/>
          <p:nvPr/>
        </p:nvSpPr>
        <p:spPr>
          <a:xfrm>
            <a:off x="2932200" y="4043175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belt, which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1" name="Google Shape;321;p34"/>
          <p:cNvSpPr/>
          <p:nvPr/>
        </p:nvSpPr>
        <p:spPr>
          <a:xfrm>
            <a:off x="5100400" y="4378900"/>
            <a:ext cx="1286400" cy="3039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was the style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2" name="Google Shape;322;p34"/>
          <p:cNvSpPr/>
          <p:nvPr/>
        </p:nvSpPr>
        <p:spPr>
          <a:xfrm>
            <a:off x="6386800" y="3669600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 teh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34"/>
          <p:cNvSpPr txBox="1"/>
          <p:nvPr/>
        </p:nvSpPr>
        <p:spPr>
          <a:xfrm>
            <a:off x="6720100" y="3197800"/>
            <a:ext cx="9531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Corrupted.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4" name="Google Shape;324;p34"/>
          <p:cNvCxnSpPr>
            <a:stCxn id="323" idx="2"/>
            <a:endCxn id="322" idx="0"/>
          </p:cNvCxnSpPr>
          <p:nvPr/>
        </p:nvCxnSpPr>
        <p:spPr>
          <a:xfrm flipH="1">
            <a:off x="7030150" y="3437800"/>
            <a:ext cx="166500" cy="231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5" name="Google Shape;325;p34"/>
          <p:cNvSpPr txBox="1"/>
          <p:nvPr/>
        </p:nvSpPr>
        <p:spPr>
          <a:xfrm>
            <a:off x="3988550" y="3081850"/>
            <a:ext cx="9531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Out of order.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6" name="Google Shape;326;p34"/>
          <p:cNvCxnSpPr>
            <a:stCxn id="325" idx="2"/>
            <a:endCxn id="319" idx="0"/>
          </p:cNvCxnSpPr>
          <p:nvPr/>
        </p:nvCxnSpPr>
        <p:spPr>
          <a:xfrm>
            <a:off x="4465100" y="3321850"/>
            <a:ext cx="166800" cy="2400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7" name="Google Shape;327;p34"/>
          <p:cNvSpPr txBox="1"/>
          <p:nvPr/>
        </p:nvSpPr>
        <p:spPr>
          <a:xfrm>
            <a:off x="6835150" y="4410850"/>
            <a:ext cx="7230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Dropped.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8" name="Google Shape;328;p34"/>
          <p:cNvCxnSpPr>
            <a:stCxn id="327" idx="1"/>
            <a:endCxn id="321" idx="3"/>
          </p:cNvCxnSpPr>
          <p:nvPr/>
        </p:nvCxnSpPr>
        <p:spPr>
          <a:xfrm rot="10800000">
            <a:off x="6386950" y="4530850"/>
            <a:ext cx="4482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9" name="Google Shape;329;p34"/>
          <p:cNvSpPr/>
          <p:nvPr/>
        </p:nvSpPr>
        <p:spPr>
          <a:xfrm>
            <a:off x="1626875" y="4530850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0" name="Google Shape;330;p34"/>
          <p:cNvSpPr txBox="1"/>
          <p:nvPr/>
        </p:nvSpPr>
        <p:spPr>
          <a:xfrm>
            <a:off x="3361475" y="4562800"/>
            <a:ext cx="791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Duplicate.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1" name="Google Shape;331;p34"/>
          <p:cNvCxnSpPr>
            <a:stCxn id="330" idx="1"/>
            <a:endCxn id="329" idx="3"/>
          </p:cNvCxnSpPr>
          <p:nvPr/>
        </p:nvCxnSpPr>
        <p:spPr>
          <a:xfrm rot="10800000">
            <a:off x="2913275" y="4682800"/>
            <a:ext cx="4482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5"/>
          <p:cNvSpPr txBox="1"/>
          <p:nvPr/>
        </p:nvSpPr>
        <p:spPr>
          <a:xfrm>
            <a:off x="6310013" y="2007800"/>
            <a:ext cx="12822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TCP</a:t>
            </a:r>
            <a:endParaRPr u="sng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Ports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Bytestream abstraction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Reliability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7" name="Google Shape;337;p35"/>
          <p:cNvSpPr/>
          <p:nvPr/>
        </p:nvSpPr>
        <p:spPr>
          <a:xfrm>
            <a:off x="6367025" y="3006125"/>
            <a:ext cx="10581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8" name="Google Shape;338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Protocols</a:t>
            </a:r>
            <a:endParaRPr/>
          </a:p>
        </p:txBody>
      </p:sp>
      <p:sp>
        <p:nvSpPr>
          <p:cNvPr id="339" name="Google Shape;339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97300" cy="43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Two choices of protocols at Layer 4: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Both offer de-multiplexing with ports.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Both offer a more useful abstraction to applications.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Each protocol offers a different abstraction.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additionally offers reliability.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programmer can choose which one to use.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reliability needed: Choose TCP.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File transfer.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reliability isn't needed: Choose UDP.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Live streaming.</a:t>
            </a:r>
            <a:endParaRPr/>
          </a:p>
        </p:txBody>
      </p:sp>
      <p:sp>
        <p:nvSpPr>
          <p:cNvPr id="340" name="Google Shape;340;p35"/>
          <p:cNvSpPr txBox="1"/>
          <p:nvPr/>
        </p:nvSpPr>
        <p:spPr>
          <a:xfrm>
            <a:off x="6307800" y="1234225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Transport Layer Protocols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1" name="Google Shape;341;p35"/>
          <p:cNvSpPr txBox="1"/>
          <p:nvPr/>
        </p:nvSpPr>
        <p:spPr>
          <a:xfrm>
            <a:off x="7716488" y="2007800"/>
            <a:ext cx="1282200" cy="10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UDP</a:t>
            </a:r>
            <a:endParaRPr u="sng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Ports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Datagram abstraction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2" name="Google Shape;342;p35"/>
          <p:cNvCxnSpPr>
            <a:stCxn id="340" idx="2"/>
            <a:endCxn id="336" idx="0"/>
          </p:cNvCxnSpPr>
          <p:nvPr/>
        </p:nvCxnSpPr>
        <p:spPr>
          <a:xfrm flipH="1">
            <a:off x="6951150" y="1505125"/>
            <a:ext cx="703200" cy="50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3" name="Google Shape;343;p35"/>
          <p:cNvCxnSpPr>
            <a:stCxn id="340" idx="2"/>
            <a:endCxn id="341" idx="0"/>
          </p:cNvCxnSpPr>
          <p:nvPr/>
        </p:nvCxnSpPr>
        <p:spPr>
          <a:xfrm>
            <a:off x="7654350" y="1505125"/>
            <a:ext cx="703200" cy="50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is Implemented at End Hosts</a:t>
            </a:r>
            <a:endParaRPr/>
          </a:p>
        </p:txBody>
      </p:sp>
      <p:sp>
        <p:nvSpPr>
          <p:cNvPr id="350" name="Google Shape;350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1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Both TCP and UDP are implemented at end hosts, not intermediate routers.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De-multiplexing: Give the packet to the appropriate application...on the </a:t>
            </a:r>
            <a:r>
              <a:rPr lang="en" i="1"/>
              <a:t>end host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Provide a better abstraction...for the </a:t>
            </a:r>
            <a:r>
              <a:rPr lang="en" i="1"/>
              <a:t>end hosts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Reliability at end hosts: End-to-end principle.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Alternate design: Make every link between routers reliable.</a:t>
            </a:r>
            <a:br>
              <a:rPr lang="en"/>
            </a:br>
            <a:r>
              <a:rPr lang="en"/>
              <a:t>Not what we chose to do.</a:t>
            </a:r>
            <a:endParaRPr/>
          </a:p>
        </p:txBody>
      </p:sp>
      <p:sp>
        <p:nvSpPr>
          <p:cNvPr id="351" name="Google Shape;351;p36"/>
          <p:cNvSpPr/>
          <p:nvPr/>
        </p:nvSpPr>
        <p:spPr>
          <a:xfrm>
            <a:off x="457200" y="3736653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36"/>
          <p:cNvSpPr/>
          <p:nvPr/>
        </p:nvSpPr>
        <p:spPr>
          <a:xfrm>
            <a:off x="457200" y="3381513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36"/>
          <p:cNvSpPr/>
          <p:nvPr/>
        </p:nvSpPr>
        <p:spPr>
          <a:xfrm>
            <a:off x="457200" y="4091792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4" name="Google Shape;354;p36"/>
          <p:cNvSpPr/>
          <p:nvPr/>
        </p:nvSpPr>
        <p:spPr>
          <a:xfrm>
            <a:off x="457200" y="3026374"/>
            <a:ext cx="1325700" cy="3555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4. Transport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5" name="Google Shape;355;p36"/>
          <p:cNvSpPr/>
          <p:nvPr/>
        </p:nvSpPr>
        <p:spPr>
          <a:xfrm>
            <a:off x="457200" y="2671235"/>
            <a:ext cx="1325700" cy="355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7. Application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36"/>
          <p:cNvSpPr txBox="1"/>
          <p:nvPr/>
        </p:nvSpPr>
        <p:spPr>
          <a:xfrm>
            <a:off x="457200" y="4446935"/>
            <a:ext cx="1325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End Host (Sender)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7" name="Google Shape;357;p36"/>
          <p:cNvSpPr/>
          <p:nvPr/>
        </p:nvSpPr>
        <p:spPr>
          <a:xfrm>
            <a:off x="7365349" y="3736653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8" name="Google Shape;358;p36"/>
          <p:cNvSpPr/>
          <p:nvPr/>
        </p:nvSpPr>
        <p:spPr>
          <a:xfrm>
            <a:off x="7365349" y="3381513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9" name="Google Shape;359;p36"/>
          <p:cNvSpPr/>
          <p:nvPr/>
        </p:nvSpPr>
        <p:spPr>
          <a:xfrm>
            <a:off x="7365349" y="4091792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0" name="Google Shape;360;p36"/>
          <p:cNvSpPr/>
          <p:nvPr/>
        </p:nvSpPr>
        <p:spPr>
          <a:xfrm>
            <a:off x="7365349" y="3026374"/>
            <a:ext cx="1325700" cy="3555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4. Transport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1" name="Google Shape;361;p36"/>
          <p:cNvSpPr/>
          <p:nvPr/>
        </p:nvSpPr>
        <p:spPr>
          <a:xfrm>
            <a:off x="7365349" y="2671235"/>
            <a:ext cx="1325700" cy="355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7. Application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2" name="Google Shape;362;p36"/>
          <p:cNvSpPr txBox="1"/>
          <p:nvPr/>
        </p:nvSpPr>
        <p:spPr>
          <a:xfrm>
            <a:off x="7365349" y="4446935"/>
            <a:ext cx="1325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End Host (Recipient)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3" name="Google Shape;363;p36"/>
          <p:cNvSpPr/>
          <p:nvPr/>
        </p:nvSpPr>
        <p:spPr>
          <a:xfrm>
            <a:off x="2217091" y="3737028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36"/>
          <p:cNvSpPr/>
          <p:nvPr/>
        </p:nvSpPr>
        <p:spPr>
          <a:xfrm>
            <a:off x="2217091" y="3381888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5" name="Google Shape;365;p36"/>
          <p:cNvSpPr/>
          <p:nvPr/>
        </p:nvSpPr>
        <p:spPr>
          <a:xfrm>
            <a:off x="2217091" y="4092167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6" name="Google Shape;366;p36"/>
          <p:cNvSpPr txBox="1"/>
          <p:nvPr/>
        </p:nvSpPr>
        <p:spPr>
          <a:xfrm>
            <a:off x="2217091" y="4447310"/>
            <a:ext cx="1325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7" name="Google Shape;367;p36"/>
          <p:cNvSpPr/>
          <p:nvPr/>
        </p:nvSpPr>
        <p:spPr>
          <a:xfrm>
            <a:off x="3934266" y="3737028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8" name="Google Shape;368;p36"/>
          <p:cNvSpPr/>
          <p:nvPr/>
        </p:nvSpPr>
        <p:spPr>
          <a:xfrm>
            <a:off x="3934266" y="3381888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36"/>
          <p:cNvSpPr/>
          <p:nvPr/>
        </p:nvSpPr>
        <p:spPr>
          <a:xfrm>
            <a:off x="3934266" y="4092167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0" name="Google Shape;370;p36"/>
          <p:cNvSpPr txBox="1"/>
          <p:nvPr/>
        </p:nvSpPr>
        <p:spPr>
          <a:xfrm>
            <a:off x="3934266" y="4447310"/>
            <a:ext cx="1325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1" name="Google Shape;371;p36"/>
          <p:cNvSpPr/>
          <p:nvPr/>
        </p:nvSpPr>
        <p:spPr>
          <a:xfrm>
            <a:off x="5605441" y="3737028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2" name="Google Shape;372;p36"/>
          <p:cNvSpPr/>
          <p:nvPr/>
        </p:nvSpPr>
        <p:spPr>
          <a:xfrm>
            <a:off x="5605441" y="3381888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3" name="Google Shape;373;p36"/>
          <p:cNvSpPr/>
          <p:nvPr/>
        </p:nvSpPr>
        <p:spPr>
          <a:xfrm>
            <a:off x="5605441" y="4092167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4" name="Google Shape;374;p36"/>
          <p:cNvSpPr txBox="1"/>
          <p:nvPr/>
        </p:nvSpPr>
        <p:spPr>
          <a:xfrm>
            <a:off x="5605441" y="4447310"/>
            <a:ext cx="1325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5" name="Google Shape;375;p36"/>
          <p:cNvCxnSpPr>
            <a:stCxn id="353" idx="3"/>
            <a:endCxn id="365" idx="1"/>
          </p:cNvCxnSpPr>
          <p:nvPr/>
        </p:nvCxnSpPr>
        <p:spPr>
          <a:xfrm>
            <a:off x="1782900" y="4269542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76" name="Google Shape;376;p36"/>
          <p:cNvCxnSpPr>
            <a:stCxn id="365" idx="3"/>
            <a:endCxn id="369" idx="1"/>
          </p:cNvCxnSpPr>
          <p:nvPr/>
        </p:nvCxnSpPr>
        <p:spPr>
          <a:xfrm>
            <a:off x="3542791" y="4269917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77" name="Google Shape;377;p36"/>
          <p:cNvCxnSpPr>
            <a:stCxn id="369" idx="3"/>
            <a:endCxn id="373" idx="1"/>
          </p:cNvCxnSpPr>
          <p:nvPr/>
        </p:nvCxnSpPr>
        <p:spPr>
          <a:xfrm>
            <a:off x="5259966" y="4269917"/>
            <a:ext cx="345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78" name="Google Shape;378;p36"/>
          <p:cNvCxnSpPr>
            <a:stCxn id="373" idx="3"/>
            <a:endCxn id="359" idx="1"/>
          </p:cNvCxnSpPr>
          <p:nvPr/>
        </p:nvCxnSpPr>
        <p:spPr>
          <a:xfrm rot="10800000" flipH="1">
            <a:off x="6931141" y="4269617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79" name="Google Shape;379;p36"/>
          <p:cNvCxnSpPr>
            <a:stCxn id="371" idx="3"/>
            <a:endCxn id="357" idx="1"/>
          </p:cNvCxnSpPr>
          <p:nvPr/>
        </p:nvCxnSpPr>
        <p:spPr>
          <a:xfrm rot="10800000" flipH="1">
            <a:off x="6931141" y="3914478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0" name="Google Shape;380;p36"/>
          <p:cNvCxnSpPr>
            <a:stCxn id="367" idx="3"/>
            <a:endCxn id="371" idx="1"/>
          </p:cNvCxnSpPr>
          <p:nvPr/>
        </p:nvCxnSpPr>
        <p:spPr>
          <a:xfrm>
            <a:off x="5259966" y="3914778"/>
            <a:ext cx="345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1" name="Google Shape;381;p36"/>
          <p:cNvCxnSpPr>
            <a:stCxn id="363" idx="3"/>
            <a:endCxn id="367" idx="1"/>
          </p:cNvCxnSpPr>
          <p:nvPr/>
        </p:nvCxnSpPr>
        <p:spPr>
          <a:xfrm>
            <a:off x="3542791" y="3914778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2" name="Google Shape;382;p36"/>
          <p:cNvCxnSpPr>
            <a:stCxn id="351" idx="3"/>
            <a:endCxn id="363" idx="1"/>
          </p:cNvCxnSpPr>
          <p:nvPr/>
        </p:nvCxnSpPr>
        <p:spPr>
          <a:xfrm>
            <a:off x="1782900" y="3914403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3" name="Google Shape;383;p36"/>
          <p:cNvCxnSpPr>
            <a:stCxn id="352" idx="3"/>
            <a:endCxn id="364" idx="1"/>
          </p:cNvCxnSpPr>
          <p:nvPr/>
        </p:nvCxnSpPr>
        <p:spPr>
          <a:xfrm>
            <a:off x="1782900" y="3559263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4" name="Google Shape;384;p36"/>
          <p:cNvCxnSpPr>
            <a:stCxn id="364" idx="3"/>
            <a:endCxn id="368" idx="1"/>
          </p:cNvCxnSpPr>
          <p:nvPr/>
        </p:nvCxnSpPr>
        <p:spPr>
          <a:xfrm>
            <a:off x="3542791" y="3559638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5" name="Google Shape;385;p36"/>
          <p:cNvCxnSpPr>
            <a:stCxn id="368" idx="3"/>
            <a:endCxn id="372" idx="1"/>
          </p:cNvCxnSpPr>
          <p:nvPr/>
        </p:nvCxnSpPr>
        <p:spPr>
          <a:xfrm>
            <a:off x="5259966" y="3559638"/>
            <a:ext cx="345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6" name="Google Shape;386;p36"/>
          <p:cNvCxnSpPr>
            <a:stCxn id="372" idx="3"/>
            <a:endCxn id="358" idx="1"/>
          </p:cNvCxnSpPr>
          <p:nvPr/>
        </p:nvCxnSpPr>
        <p:spPr>
          <a:xfrm rot="10800000" flipH="1">
            <a:off x="6931141" y="3559338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7" name="Google Shape;387;p36"/>
          <p:cNvCxnSpPr>
            <a:stCxn id="354" idx="3"/>
            <a:endCxn id="360" idx="1"/>
          </p:cNvCxnSpPr>
          <p:nvPr/>
        </p:nvCxnSpPr>
        <p:spPr>
          <a:xfrm>
            <a:off x="1782900" y="3204124"/>
            <a:ext cx="5582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8" name="Google Shape;388;p36"/>
          <p:cNvCxnSpPr>
            <a:stCxn id="355" idx="3"/>
            <a:endCxn id="361" idx="1"/>
          </p:cNvCxnSpPr>
          <p:nvPr/>
        </p:nvCxnSpPr>
        <p:spPr>
          <a:xfrm>
            <a:off x="1782900" y="2848985"/>
            <a:ext cx="5582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7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Single Packet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394" name="Google Shape;394;p37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Reliability:</a:t>
            </a:r>
            <a:br>
              <a:rPr lang="en"/>
            </a:br>
            <a:r>
              <a:rPr lang="en"/>
              <a:t>Single Packet</a:t>
            </a:r>
            <a:endParaRPr/>
          </a:p>
        </p:txBody>
      </p:sp>
      <p:sp>
        <p:nvSpPr>
          <p:cNvPr id="395" name="Google Shape;395;p37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Reliability</a:t>
            </a:r>
            <a:endParaRPr/>
          </a:p>
        </p:txBody>
      </p:sp>
      <p:sp>
        <p:nvSpPr>
          <p:cNvPr id="401" name="Google Shape;401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Challenge: Building a reliable service (L4) on top of unreliable packet delivery (L3).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Bridge the gap between the </a:t>
            </a:r>
            <a:r>
              <a:rPr lang="en" i="1" dirty="0"/>
              <a:t>packet abstraction</a:t>
            </a:r>
            <a:r>
              <a:rPr lang="en" dirty="0"/>
              <a:t> and the</a:t>
            </a:r>
            <a:r>
              <a:rPr lang="en" i="1" dirty="0"/>
              <a:t> bytestream abstraction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Goals for reliable transfer: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Correctness: The destination receives every packet, uncorrupted, in order.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Timeliness: Minimize time until data is transferred.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Efficiency: Minimize use of bandwidth.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Avoid sending packets unnecessarily.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Example of inefficient protocol: Send 1000 copies of every packet.</a:t>
            </a:r>
          </a:p>
          <a:p>
            <a:pPr marL="0" lvl="0" indent="0">
              <a:buNone/>
            </a:pPr>
            <a:r>
              <a:rPr lang="en-US" dirty="0"/>
              <a:t>3 different definitions of reliability:</a:t>
            </a:r>
          </a:p>
          <a:p>
            <a:pPr lvl="0"/>
            <a:r>
              <a:rPr lang="en-US" dirty="0"/>
              <a:t>Best-effort delivery.</a:t>
            </a:r>
          </a:p>
          <a:p>
            <a:pPr lvl="0">
              <a:spcBef>
                <a:spcPts val="0"/>
              </a:spcBef>
            </a:pPr>
            <a:r>
              <a:rPr lang="en-US" i="1" dirty="0"/>
              <a:t>At-least-once</a:t>
            </a:r>
            <a:r>
              <a:rPr lang="en-US" dirty="0"/>
              <a:t> delivery: Every packet arrives, but some might arrive more than once (duplicates).</a:t>
            </a:r>
          </a:p>
          <a:p>
            <a:pPr lvl="0">
              <a:spcBef>
                <a:spcPts val="0"/>
              </a:spcBef>
            </a:pPr>
            <a:r>
              <a:rPr lang="en-US" i="1" dirty="0"/>
              <a:t>Exactly-once</a:t>
            </a:r>
            <a:r>
              <a:rPr lang="en-US" dirty="0"/>
              <a:t> delivery: Every packet arrives exactly once.</a:t>
            </a:r>
          </a:p>
          <a:p>
            <a:pPr lvl="1">
              <a:spcBef>
                <a:spcPts val="0"/>
              </a:spcBef>
            </a:pPr>
            <a:r>
              <a:rPr lang="en-US" dirty="0"/>
              <a:t>At transport layer: Use IP (best-effort delivery) to build </a:t>
            </a:r>
            <a:r>
              <a:rPr lang="en-US" dirty="0">
                <a:solidFill>
                  <a:srgbClr val="C00000"/>
                </a:solidFill>
              </a:rPr>
              <a:t>at-least-once</a:t>
            </a:r>
            <a:r>
              <a:rPr lang="en-US" dirty="0"/>
              <a:t> delivery.</a:t>
            </a:r>
          </a:p>
          <a:p>
            <a:pPr lvl="1">
              <a:spcBef>
                <a:spcPts val="0"/>
              </a:spcBef>
            </a:pPr>
            <a:r>
              <a:rPr lang="en-US" dirty="0"/>
              <a:t>Then, get rid of duplicates and pass the result to the application to build </a:t>
            </a:r>
            <a:r>
              <a:rPr lang="en-US" dirty="0">
                <a:solidFill>
                  <a:srgbClr val="C00000"/>
                </a:solidFill>
              </a:rPr>
              <a:t>exactly-once</a:t>
            </a:r>
            <a:r>
              <a:rPr lang="en-US" dirty="0"/>
              <a:t> delivery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TCP achieves exactly-once </a:t>
            </a:r>
            <a:r>
              <a:rPr lang="en-US" altLang="zh-CN" i="1" dirty="0"/>
              <a:t>at the byte stream abstraction</a:t>
            </a:r>
            <a:r>
              <a:rPr lang="en-US" altLang="zh-CN" dirty="0"/>
              <a:t>, not at the packet level.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8" name="Google Shape;418;p41"/>
          <p:cNvCxnSpPr/>
          <p:nvPr/>
        </p:nvCxnSpPr>
        <p:spPr>
          <a:xfrm>
            <a:off x="3039500" y="931825"/>
            <a:ext cx="3009600" cy="74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19" name="Google Shape;419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Reminder: Timing Diagrams</a:t>
            </a:r>
            <a:endParaRPr/>
          </a:p>
        </p:txBody>
      </p:sp>
      <p:cxnSp>
        <p:nvCxnSpPr>
          <p:cNvPr id="420" name="Google Shape;420;p41"/>
          <p:cNvCxnSpPr/>
          <p:nvPr/>
        </p:nvCxnSpPr>
        <p:spPr>
          <a:xfrm>
            <a:off x="3037525" y="599875"/>
            <a:ext cx="0" cy="3848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1" name="Google Shape;421;p41"/>
          <p:cNvSpPr txBox="1"/>
          <p:nvPr/>
        </p:nvSpPr>
        <p:spPr>
          <a:xfrm>
            <a:off x="2485075" y="4447975"/>
            <a:ext cx="1104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2" name="Google Shape;422;p41"/>
          <p:cNvCxnSpPr/>
          <p:nvPr/>
        </p:nvCxnSpPr>
        <p:spPr>
          <a:xfrm>
            <a:off x="6058934" y="599875"/>
            <a:ext cx="0" cy="3848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3" name="Google Shape;423;p41"/>
          <p:cNvSpPr txBox="1"/>
          <p:nvPr/>
        </p:nvSpPr>
        <p:spPr>
          <a:xfrm>
            <a:off x="5458934" y="4447975"/>
            <a:ext cx="12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4" name="Google Shape;424;p41"/>
          <p:cNvCxnSpPr/>
          <p:nvPr/>
        </p:nvCxnSpPr>
        <p:spPr>
          <a:xfrm>
            <a:off x="6261100" y="3049475"/>
            <a:ext cx="0" cy="888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25" name="Google Shape;425;p41"/>
          <p:cNvSpPr txBox="1"/>
          <p:nvPr/>
        </p:nvSpPr>
        <p:spPr>
          <a:xfrm>
            <a:off x="6261100" y="3186125"/>
            <a:ext cx="22734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increases as we move down the diagram.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6" name="Google Shape;426;p41"/>
          <p:cNvCxnSpPr/>
          <p:nvPr/>
        </p:nvCxnSpPr>
        <p:spPr>
          <a:xfrm flipH="1">
            <a:off x="3039500" y="1737159"/>
            <a:ext cx="3009600" cy="74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427" name="Google Shape;427;p41"/>
          <p:cNvGrpSpPr/>
          <p:nvPr/>
        </p:nvGrpSpPr>
        <p:grpSpPr>
          <a:xfrm>
            <a:off x="2715500" y="931825"/>
            <a:ext cx="192000" cy="1556000"/>
            <a:chOff x="2715500" y="931825"/>
            <a:chExt cx="192000" cy="1556000"/>
          </a:xfrm>
        </p:grpSpPr>
        <p:cxnSp>
          <p:nvCxnSpPr>
            <p:cNvPr id="428" name="Google Shape;428;p41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29" name="Google Shape;429;p41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0" name="Google Shape;430;p41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31" name="Google Shape;431;p41"/>
          <p:cNvGrpSpPr/>
          <p:nvPr/>
        </p:nvGrpSpPr>
        <p:grpSpPr>
          <a:xfrm>
            <a:off x="6191950" y="931825"/>
            <a:ext cx="192000" cy="746600"/>
            <a:chOff x="6191950" y="931825"/>
            <a:chExt cx="192000" cy="746600"/>
          </a:xfrm>
        </p:grpSpPr>
        <p:cxnSp>
          <p:nvCxnSpPr>
            <p:cNvPr id="432" name="Google Shape;432;p41"/>
            <p:cNvCxnSpPr/>
            <p:nvPr/>
          </p:nvCxnSpPr>
          <p:spPr>
            <a:xfrm>
              <a:off x="6287961" y="933519"/>
              <a:ext cx="0" cy="7449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3" name="Google Shape;433;p41"/>
            <p:cNvCxnSpPr/>
            <p:nvPr/>
          </p:nvCxnSpPr>
          <p:spPr>
            <a:xfrm>
              <a:off x="619195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4" name="Google Shape;434;p41"/>
            <p:cNvCxnSpPr/>
            <p:nvPr/>
          </p:nvCxnSpPr>
          <p:spPr>
            <a:xfrm>
              <a:off x="6191950" y="16784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35" name="Google Shape;435;p41"/>
          <p:cNvSpPr txBox="1"/>
          <p:nvPr/>
        </p:nvSpPr>
        <p:spPr>
          <a:xfrm>
            <a:off x="6383950" y="1106425"/>
            <a:ext cx="1420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One-way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6" name="Google Shape;436;p41"/>
          <p:cNvSpPr txBox="1"/>
          <p:nvPr/>
        </p:nvSpPr>
        <p:spPr>
          <a:xfrm>
            <a:off x="1284450" y="1402025"/>
            <a:ext cx="1420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Round-trip time (RTT)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Designing Reliability for a Single Packet</a:t>
            </a:r>
            <a:endParaRPr/>
          </a:p>
        </p:txBody>
      </p:sp>
      <p:sp>
        <p:nvSpPr>
          <p:cNvPr id="442" name="Google Shape;442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dirty="0"/>
              <a:t>A reliability protocol is allowed to give up, but must announce it to the application.</a:t>
            </a:r>
          </a:p>
          <a:p>
            <a:pPr lvl="0"/>
            <a:r>
              <a:rPr lang="en-US" dirty="0"/>
              <a:t>Example: Computer not connected to Internet.</a:t>
            </a:r>
          </a:p>
          <a:p>
            <a:pPr lvl="0">
              <a:spcBef>
                <a:spcPts val="0"/>
              </a:spcBef>
            </a:pPr>
            <a:r>
              <a:rPr lang="en-US" dirty="0"/>
              <a:t>TCP can never falsely claim to deliver a packet.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Let's start with providing </a:t>
            </a:r>
            <a:r>
              <a:rPr lang="en" i="1" dirty="0"/>
              <a:t>at-least-once</a:t>
            </a:r>
            <a:r>
              <a:rPr lang="en" dirty="0"/>
              <a:t> delivery for a single packet.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have to deal with 5 problems from the best-effort service model: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dropped.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corrupted.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delayed.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duplicated.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reordered.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7" name="Google Shape;447;p43"/>
          <p:cNvGrpSpPr/>
          <p:nvPr/>
        </p:nvGrpSpPr>
        <p:grpSpPr>
          <a:xfrm>
            <a:off x="3039475" y="2514600"/>
            <a:ext cx="3015000" cy="530546"/>
            <a:chOff x="3039475" y="2514600"/>
            <a:chExt cx="3015000" cy="530546"/>
          </a:xfrm>
        </p:grpSpPr>
        <p:cxnSp>
          <p:nvCxnSpPr>
            <p:cNvPr id="448" name="Google Shape;448;p43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49" name="Google Shape;449;p43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50" name="Google Shape;450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Designing Reliability for a Single Packet</a:t>
            </a:r>
            <a:endParaRPr/>
          </a:p>
        </p:txBody>
      </p:sp>
      <p:sp>
        <p:nvSpPr>
          <p:cNvPr id="451" name="Google Shape;451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packet is sent. How does the sender know if it was received successfully?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The recipient replies with an </a:t>
            </a:r>
            <a:r>
              <a:rPr lang="en" b="1"/>
              <a:t>acknowledgment</a:t>
            </a:r>
            <a:r>
              <a:rPr lang="en"/>
              <a:t> (ack).</a:t>
            </a:r>
            <a:endParaRPr/>
          </a:p>
        </p:txBody>
      </p:sp>
      <p:cxnSp>
        <p:nvCxnSpPr>
          <p:cNvPr id="452" name="Google Shape;452;p43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3" name="Google Shape;453;p43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4" name="Google Shape;454;p43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5" name="Google Shape;455;p43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6" name="Google Shape;456;p43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1" name="Google Shape;461;p44"/>
          <p:cNvGrpSpPr/>
          <p:nvPr/>
        </p:nvGrpSpPr>
        <p:grpSpPr>
          <a:xfrm>
            <a:off x="3039475" y="3657600"/>
            <a:ext cx="3015000" cy="530546"/>
            <a:chOff x="3039475" y="2514600"/>
            <a:chExt cx="3015000" cy="530546"/>
          </a:xfrm>
        </p:grpSpPr>
        <p:cxnSp>
          <p:nvCxnSpPr>
            <p:cNvPr id="462" name="Google Shape;462;p44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63" name="Google Shape;463;p44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64" name="Google Shape;464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1/5: Dropped Packets</a:t>
            </a:r>
            <a:endParaRPr/>
          </a:p>
        </p:txBody>
      </p:sp>
      <p:sp>
        <p:nvSpPr>
          <p:cNvPr id="465" name="Google Shape;465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Set a timer when we send the packet.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the timer expires and we don't get the ack, resend the packet.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get the ack, cancel the timer.</a:t>
            </a:r>
            <a:endParaRPr/>
          </a:p>
        </p:txBody>
      </p:sp>
      <p:cxnSp>
        <p:nvCxnSpPr>
          <p:cNvPr id="466" name="Google Shape;466;p44"/>
          <p:cNvCxnSpPr/>
          <p:nvPr/>
        </p:nvCxnSpPr>
        <p:spPr>
          <a:xfrm>
            <a:off x="3039500" y="2023274"/>
            <a:ext cx="1440000" cy="226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7" name="Google Shape;467;p44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8" name="Google Shape;468;p44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69" name="Google Shape;469;p44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0" name="Google Shape;470;p44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p44"/>
          <p:cNvSpPr txBox="1"/>
          <p:nvPr/>
        </p:nvSpPr>
        <p:spPr>
          <a:xfrm>
            <a:off x="1794175" y="1883500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Start timer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2" name="Google Shape;472;p44"/>
          <p:cNvSpPr txBox="1"/>
          <p:nvPr/>
        </p:nvSpPr>
        <p:spPr>
          <a:xfrm>
            <a:off x="1794175" y="30503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3" name="Google Shape;473;p44"/>
          <p:cNvSpPr txBox="1"/>
          <p:nvPr/>
        </p:nvSpPr>
        <p:spPr>
          <a:xfrm>
            <a:off x="1617325" y="3278925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rPr>
              <a:t>Restart timer</a:t>
            </a:r>
            <a:endParaRPr>
              <a:solidFill>
                <a:schemeClr val="accent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4" name="Google Shape;474;p44"/>
          <p:cNvCxnSpPr/>
          <p:nvPr/>
        </p:nvCxnSpPr>
        <p:spPr>
          <a:xfrm>
            <a:off x="3039500" y="31853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75" name="Google Shape;475;p44"/>
          <p:cNvSpPr txBox="1"/>
          <p:nvPr/>
        </p:nvSpPr>
        <p:spPr>
          <a:xfrm>
            <a:off x="4481475" y="209650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6" name="Google Shape;476;p44"/>
          <p:cNvCxnSpPr>
            <a:stCxn id="471" idx="3"/>
          </p:cNvCxnSpPr>
          <p:nvPr/>
        </p:nvCxnSpPr>
        <p:spPr>
          <a:xfrm>
            <a:off x="2722375" y="2018950"/>
            <a:ext cx="279000" cy="0"/>
          </a:xfrm>
          <a:prstGeom prst="straightConnector1">
            <a:avLst/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7" name="Google Shape;477;p44"/>
          <p:cNvCxnSpPr>
            <a:stCxn id="472" idx="3"/>
          </p:cNvCxnSpPr>
          <p:nvPr/>
        </p:nvCxnSpPr>
        <p:spPr>
          <a:xfrm>
            <a:off x="2722375" y="31857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8" name="Google Shape;478;p44"/>
          <p:cNvCxnSpPr>
            <a:stCxn id="473" idx="3"/>
          </p:cNvCxnSpPr>
          <p:nvPr/>
        </p:nvCxnSpPr>
        <p:spPr>
          <a:xfrm rot="10800000" flipH="1">
            <a:off x="2722225" y="3247875"/>
            <a:ext cx="262800" cy="166500"/>
          </a:xfrm>
          <a:prstGeom prst="straightConnector1">
            <a:avLst/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79" name="Google Shape;479;p44"/>
          <p:cNvSpPr txBox="1"/>
          <p:nvPr/>
        </p:nvSpPr>
        <p:spPr>
          <a:xfrm>
            <a:off x="1656450" y="3964725"/>
            <a:ext cx="1065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Cancel timer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0" name="Google Shape;480;p44"/>
          <p:cNvCxnSpPr>
            <a:stCxn id="479" idx="3"/>
          </p:cNvCxnSpPr>
          <p:nvPr/>
        </p:nvCxnSpPr>
        <p:spPr>
          <a:xfrm>
            <a:off x="2722350" y="41001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5" name="Google Shape;485;p45"/>
          <p:cNvGrpSpPr/>
          <p:nvPr/>
        </p:nvGrpSpPr>
        <p:grpSpPr>
          <a:xfrm>
            <a:off x="3039475" y="3657600"/>
            <a:ext cx="3015000" cy="530546"/>
            <a:chOff x="3039475" y="2514600"/>
            <a:chExt cx="3015000" cy="530546"/>
          </a:xfrm>
        </p:grpSpPr>
        <p:cxnSp>
          <p:nvCxnSpPr>
            <p:cNvPr id="486" name="Google Shape;486;p45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87" name="Google Shape;487;p45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88" name="Google Shape;488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1/5: Dropped Packets</a:t>
            </a:r>
            <a:endParaRPr/>
          </a:p>
        </p:txBody>
      </p:sp>
      <p:sp>
        <p:nvSpPr>
          <p:cNvPr id="489" name="Google Shape;489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the ack gets dropped?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timer expires, and the packet gets resent. Repeat until the ack arrives.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destination received the packet twice, but that's okay (</a:t>
            </a:r>
            <a:r>
              <a:rPr lang="en" i="1"/>
              <a:t>at-least-once</a:t>
            </a:r>
            <a:r>
              <a:rPr lang="en"/>
              <a:t> delivery).</a:t>
            </a:r>
            <a:endParaRPr/>
          </a:p>
        </p:txBody>
      </p:sp>
      <p:cxnSp>
        <p:nvCxnSpPr>
          <p:cNvPr id="490" name="Google Shape;490;p45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1" name="Google Shape;491;p45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2" name="Google Shape;492;p45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3" name="Google Shape;493;p45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4" name="Google Shape;494;p45"/>
          <p:cNvSpPr txBox="1"/>
          <p:nvPr/>
        </p:nvSpPr>
        <p:spPr>
          <a:xfrm>
            <a:off x="1794175" y="1883500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Start timer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45"/>
          <p:cNvSpPr txBox="1"/>
          <p:nvPr/>
        </p:nvSpPr>
        <p:spPr>
          <a:xfrm>
            <a:off x="1794175" y="30503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6" name="Google Shape;496;p45"/>
          <p:cNvCxnSpPr/>
          <p:nvPr/>
        </p:nvCxnSpPr>
        <p:spPr>
          <a:xfrm>
            <a:off x="3039500" y="31853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97" name="Google Shape;497;p45"/>
          <p:cNvSpPr txBox="1"/>
          <p:nvPr/>
        </p:nvSpPr>
        <p:spPr>
          <a:xfrm>
            <a:off x="4445532" y="262990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8" name="Google Shape;498;p45"/>
          <p:cNvCxnSpPr>
            <a:stCxn id="494" idx="3"/>
          </p:cNvCxnSpPr>
          <p:nvPr/>
        </p:nvCxnSpPr>
        <p:spPr>
          <a:xfrm>
            <a:off x="2722375" y="2018950"/>
            <a:ext cx="279000" cy="0"/>
          </a:xfrm>
          <a:prstGeom prst="straightConnector1">
            <a:avLst/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99" name="Google Shape;499;p45"/>
          <p:cNvCxnSpPr>
            <a:stCxn id="495" idx="3"/>
          </p:cNvCxnSpPr>
          <p:nvPr/>
        </p:nvCxnSpPr>
        <p:spPr>
          <a:xfrm>
            <a:off x="2722375" y="31857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0" name="Google Shape;500;p45"/>
          <p:cNvSpPr txBox="1"/>
          <p:nvPr/>
        </p:nvSpPr>
        <p:spPr>
          <a:xfrm>
            <a:off x="1656450" y="3964725"/>
            <a:ext cx="1065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Cancel timer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1" name="Google Shape;501;p45"/>
          <p:cNvCxnSpPr>
            <a:stCxn id="500" idx="3"/>
          </p:cNvCxnSpPr>
          <p:nvPr/>
        </p:nvCxnSpPr>
        <p:spPr>
          <a:xfrm>
            <a:off x="2722350" y="41001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2" name="Google Shape;502;p45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03" name="Google Shape;503;p45"/>
          <p:cNvGrpSpPr/>
          <p:nvPr/>
        </p:nvGrpSpPr>
        <p:grpSpPr>
          <a:xfrm>
            <a:off x="4621728" y="2541698"/>
            <a:ext cx="1440000" cy="432898"/>
            <a:chOff x="4621728" y="2541698"/>
            <a:chExt cx="1440000" cy="432898"/>
          </a:xfrm>
        </p:grpSpPr>
        <p:cxnSp>
          <p:nvCxnSpPr>
            <p:cNvPr id="504" name="Google Shape;504;p45"/>
            <p:cNvCxnSpPr/>
            <p:nvPr/>
          </p:nvCxnSpPr>
          <p:spPr>
            <a:xfrm flipH="1">
              <a:off x="4621728" y="2541698"/>
              <a:ext cx="1440000" cy="2265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05" name="Google Shape;505;p45"/>
            <p:cNvSpPr txBox="1"/>
            <p:nvPr/>
          </p:nvSpPr>
          <p:spPr>
            <a:xfrm rot="-510186">
              <a:off x="5168111" y="266013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06" name="Google Shape;506;p45"/>
          <p:cNvSpPr txBox="1"/>
          <p:nvPr/>
        </p:nvSpPr>
        <p:spPr>
          <a:xfrm>
            <a:off x="1617325" y="3278925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rPr>
              <a:t>Restart timer</a:t>
            </a:r>
            <a:endParaRPr>
              <a:solidFill>
                <a:schemeClr val="accent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7" name="Google Shape;507;p45"/>
          <p:cNvCxnSpPr>
            <a:stCxn id="506" idx="3"/>
          </p:cNvCxnSpPr>
          <p:nvPr/>
        </p:nvCxnSpPr>
        <p:spPr>
          <a:xfrm rot="10800000" flipH="1">
            <a:off x="2722225" y="3247875"/>
            <a:ext cx="262800" cy="166500"/>
          </a:xfrm>
          <a:prstGeom prst="straightConnector1">
            <a:avLst/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Problem 1/5: Dropped Packets</a:t>
            </a:r>
            <a:endParaRPr/>
          </a:p>
        </p:txBody>
      </p:sp>
      <p:sp>
        <p:nvSpPr>
          <p:cNvPr id="513" name="Google Shape;513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do we set the timer length?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Too long: Delays delivery.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Too short: Causes unnecessary retransmission.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Ideally: Timer is proportional to RTT (round-trip time).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Intuition: RTT is when you expected to see the ack.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 practice: Measuring the RTT is non-trivial.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RTT varies depending on what path the packet takes.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RTT varies along a fixed path: packet could get stuck in queues at links.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8" name="Google Shape;518;p47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19" name="Google Shape;519;p47"/>
          <p:cNvGrpSpPr/>
          <p:nvPr/>
        </p:nvGrpSpPr>
        <p:grpSpPr>
          <a:xfrm>
            <a:off x="3039475" y="3505200"/>
            <a:ext cx="3015000" cy="530546"/>
            <a:chOff x="3039475" y="2514600"/>
            <a:chExt cx="3015000" cy="530546"/>
          </a:xfrm>
        </p:grpSpPr>
        <p:cxnSp>
          <p:nvCxnSpPr>
            <p:cNvPr id="520" name="Google Shape;520;p47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21" name="Google Shape;521;p47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22" name="Google Shape;522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2/5: Corrupted Packets</a:t>
            </a:r>
            <a:endParaRPr/>
          </a:p>
        </p:txBody>
      </p:sp>
      <p:sp>
        <p:nvSpPr>
          <p:cNvPr id="523" name="Google Shape;523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Add a checksum to detect corruption. 2 approaches to dealing with a bad checksum: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 1: When you get a corrupt packet, send a </a:t>
            </a:r>
            <a:r>
              <a:rPr lang="en" b="1"/>
              <a:t>negative acknowledgement</a:t>
            </a:r>
            <a:r>
              <a:rPr lang="en"/>
              <a:t> (nack).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Sender sees the nack and resends.</a:t>
            </a:r>
            <a:endParaRPr/>
          </a:p>
        </p:txBody>
      </p:sp>
      <p:cxnSp>
        <p:nvCxnSpPr>
          <p:cNvPr id="524" name="Google Shape;524;p47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5" name="Google Shape;525;p47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6" name="Google Shape;526;p47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7" name="Google Shape;527;p47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8" name="Google Shape;528;p47"/>
          <p:cNvCxnSpPr/>
          <p:nvPr/>
        </p:nvCxnSpPr>
        <p:spPr>
          <a:xfrm>
            <a:off x="3039500" y="30329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9" name="Google Shape;529;p47"/>
          <p:cNvSpPr txBox="1"/>
          <p:nvPr/>
        </p:nvSpPr>
        <p:spPr>
          <a:xfrm>
            <a:off x="6128475" y="2300850"/>
            <a:ext cx="1671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    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Bad checksum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0" name="Google Shape;530;p47"/>
          <p:cNvSpPr/>
          <p:nvPr/>
        </p:nvSpPr>
        <p:spPr>
          <a:xfrm rot="501261">
            <a:off x="4407757" y="2094519"/>
            <a:ext cx="216801" cy="2893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1" name="Google Shape;531;p47"/>
          <p:cNvSpPr/>
          <p:nvPr/>
        </p:nvSpPr>
        <p:spPr>
          <a:xfrm>
            <a:off x="4399475" y="2114967"/>
            <a:ext cx="233457" cy="239152"/>
          </a:xfrm>
          <a:custGeom>
            <a:avLst/>
            <a:gdLst/>
            <a:ahLst/>
            <a:cxnLst/>
            <a:rect l="l" t="t" r="r" b="b"/>
            <a:pathLst>
              <a:path w="8859" h="9239" extrusionOk="0">
                <a:moveTo>
                  <a:pt x="0" y="4191"/>
                </a:moveTo>
                <a:lnTo>
                  <a:pt x="3810" y="0"/>
                </a:lnTo>
                <a:lnTo>
                  <a:pt x="6001" y="9239"/>
                </a:lnTo>
                <a:lnTo>
                  <a:pt x="8859" y="5429"/>
                </a:ln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532" name="Google Shape;532;p47"/>
          <p:cNvGrpSpPr/>
          <p:nvPr/>
        </p:nvGrpSpPr>
        <p:grpSpPr>
          <a:xfrm>
            <a:off x="3039475" y="2514600"/>
            <a:ext cx="3015000" cy="533292"/>
            <a:chOff x="3039475" y="2514600"/>
            <a:chExt cx="3015000" cy="533292"/>
          </a:xfrm>
        </p:grpSpPr>
        <p:cxnSp>
          <p:nvCxnSpPr>
            <p:cNvPr id="533" name="Google Shape;533;p47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34" name="Google Shape;534;p47"/>
            <p:cNvSpPr txBox="1"/>
            <p:nvPr/>
          </p:nvSpPr>
          <p:spPr>
            <a:xfrm rot="-510472">
              <a:off x="4344095" y="2729532"/>
              <a:ext cx="482611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nack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9" name="Google Shape;539;p48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40" name="Google Shape;540;p48"/>
          <p:cNvGrpSpPr/>
          <p:nvPr/>
        </p:nvGrpSpPr>
        <p:grpSpPr>
          <a:xfrm>
            <a:off x="3039475" y="3733800"/>
            <a:ext cx="3015000" cy="530546"/>
            <a:chOff x="3039475" y="2514600"/>
            <a:chExt cx="3015000" cy="530546"/>
          </a:xfrm>
        </p:grpSpPr>
        <p:cxnSp>
          <p:nvCxnSpPr>
            <p:cNvPr id="541" name="Google Shape;541;p48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2" name="Google Shape;542;p48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43" name="Google Shape;543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2/5: Corrupted Packets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544" name="Google Shape;544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Solution 2: When you get a corrupt packet, ignore it (don't send the ack).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Sender times out and resends.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Both solutions work. TCP uses this one (no nacks).</a:t>
            </a:r>
            <a:endParaRPr/>
          </a:p>
        </p:txBody>
      </p:sp>
      <p:cxnSp>
        <p:nvCxnSpPr>
          <p:cNvPr id="545" name="Google Shape;545;p48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6" name="Google Shape;546;p48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7" name="Google Shape;547;p48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8" name="Google Shape;548;p48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9" name="Google Shape;549;p48"/>
          <p:cNvCxnSpPr/>
          <p:nvPr/>
        </p:nvCxnSpPr>
        <p:spPr>
          <a:xfrm>
            <a:off x="3039500" y="32615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50" name="Google Shape;550;p48"/>
          <p:cNvSpPr txBox="1"/>
          <p:nvPr/>
        </p:nvSpPr>
        <p:spPr>
          <a:xfrm>
            <a:off x="6128475" y="2300850"/>
            <a:ext cx="1671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    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Bad checksum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48"/>
          <p:cNvSpPr/>
          <p:nvPr/>
        </p:nvSpPr>
        <p:spPr>
          <a:xfrm rot="501261">
            <a:off x="4407757" y="2094519"/>
            <a:ext cx="216801" cy="2893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2" name="Google Shape;552;p48"/>
          <p:cNvSpPr/>
          <p:nvPr/>
        </p:nvSpPr>
        <p:spPr>
          <a:xfrm>
            <a:off x="4399475" y="2114967"/>
            <a:ext cx="233457" cy="239152"/>
          </a:xfrm>
          <a:custGeom>
            <a:avLst/>
            <a:gdLst/>
            <a:ahLst/>
            <a:cxnLst/>
            <a:rect l="l" t="t" r="r" b="b"/>
            <a:pathLst>
              <a:path w="8859" h="9239" extrusionOk="0">
                <a:moveTo>
                  <a:pt x="0" y="4191"/>
                </a:moveTo>
                <a:lnTo>
                  <a:pt x="3810" y="0"/>
                </a:lnTo>
                <a:lnTo>
                  <a:pt x="6001" y="9239"/>
                </a:lnTo>
                <a:lnTo>
                  <a:pt x="8859" y="5429"/>
                </a:ln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53" name="Google Shape;553;p48"/>
          <p:cNvSpPr txBox="1"/>
          <p:nvPr/>
        </p:nvSpPr>
        <p:spPr>
          <a:xfrm>
            <a:off x="1794175" y="31265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54" name="Google Shape;554;p48"/>
          <p:cNvCxnSpPr>
            <a:stCxn id="553" idx="3"/>
          </p:cNvCxnSpPr>
          <p:nvPr/>
        </p:nvCxnSpPr>
        <p:spPr>
          <a:xfrm>
            <a:off x="2722375" y="32619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3/5: Delayed Packets</a:t>
            </a:r>
            <a:endParaRPr/>
          </a:p>
        </p:txBody>
      </p:sp>
      <p:cxnSp>
        <p:nvCxnSpPr>
          <p:cNvPr id="576" name="Google Shape;576;p50"/>
          <p:cNvCxnSpPr/>
          <p:nvPr/>
        </p:nvCxnSpPr>
        <p:spPr>
          <a:xfrm>
            <a:off x="4478400" y="3012300"/>
            <a:ext cx="1568700" cy="215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77" name="Google Shape;577;p50"/>
          <p:cNvGrpSpPr/>
          <p:nvPr/>
        </p:nvGrpSpPr>
        <p:grpSpPr>
          <a:xfrm>
            <a:off x="3039475" y="3276600"/>
            <a:ext cx="3015000" cy="530546"/>
            <a:chOff x="3039475" y="2514600"/>
            <a:chExt cx="3015000" cy="530546"/>
          </a:xfrm>
        </p:grpSpPr>
        <p:cxnSp>
          <p:nvCxnSpPr>
            <p:cNvPr id="578" name="Google Shape;578;p50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79" name="Google Shape;579;p50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80" name="Google Shape;580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Longer delay: Sender times out and resends.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receives two acks. That's fine.</a:t>
            </a:r>
            <a:endParaRPr/>
          </a:p>
        </p:txBody>
      </p:sp>
      <p:cxnSp>
        <p:nvCxnSpPr>
          <p:cNvPr id="581" name="Google Shape;581;p50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2" name="Google Shape;582;p50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3" name="Google Shape;583;p50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4" name="Google Shape;584;p50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5" name="Google Shape;585;p50"/>
          <p:cNvCxnSpPr/>
          <p:nvPr/>
        </p:nvCxnSpPr>
        <p:spPr>
          <a:xfrm>
            <a:off x="3039500" y="2023274"/>
            <a:ext cx="1440000" cy="226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6" name="Google Shape;586;p50"/>
          <p:cNvCxnSpPr/>
          <p:nvPr/>
        </p:nvCxnSpPr>
        <p:spPr>
          <a:xfrm>
            <a:off x="4470931" y="2241312"/>
            <a:ext cx="0" cy="7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7" name="Google Shape;587;p50"/>
          <p:cNvSpPr txBox="1"/>
          <p:nvPr/>
        </p:nvSpPr>
        <p:spPr>
          <a:xfrm>
            <a:off x="1794175" y="30503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8" name="Google Shape;588;p50"/>
          <p:cNvCxnSpPr>
            <a:stCxn id="587" idx="3"/>
          </p:cNvCxnSpPr>
          <p:nvPr/>
        </p:nvCxnSpPr>
        <p:spPr>
          <a:xfrm>
            <a:off x="2722375" y="31857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89" name="Google Shape;589;p50"/>
          <p:cNvCxnSpPr/>
          <p:nvPr/>
        </p:nvCxnSpPr>
        <p:spPr>
          <a:xfrm>
            <a:off x="3039500" y="31853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90" name="Google Shape;590;p50"/>
          <p:cNvGrpSpPr/>
          <p:nvPr/>
        </p:nvGrpSpPr>
        <p:grpSpPr>
          <a:xfrm>
            <a:off x="3039475" y="3690466"/>
            <a:ext cx="3015000" cy="530546"/>
            <a:chOff x="3039475" y="2514600"/>
            <a:chExt cx="3015000" cy="530546"/>
          </a:xfrm>
        </p:grpSpPr>
        <p:cxnSp>
          <p:nvCxnSpPr>
            <p:cNvPr id="591" name="Google Shape;591;p50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2" name="Google Shape;592;p50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4/5: Duplicated Packets</a:t>
            </a:r>
            <a:endParaRPr/>
          </a:p>
        </p:txBody>
      </p:sp>
      <p:grpSp>
        <p:nvGrpSpPr>
          <p:cNvPr id="598" name="Google Shape;598;p51"/>
          <p:cNvGrpSpPr/>
          <p:nvPr/>
        </p:nvGrpSpPr>
        <p:grpSpPr>
          <a:xfrm>
            <a:off x="3039475" y="2514600"/>
            <a:ext cx="3015000" cy="530546"/>
            <a:chOff x="3039475" y="2514600"/>
            <a:chExt cx="3015000" cy="530546"/>
          </a:xfrm>
        </p:grpSpPr>
        <p:cxnSp>
          <p:nvCxnSpPr>
            <p:cNvPr id="599" name="Google Shape;599;p51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0" name="Google Shape;600;p51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01" name="Google Shape;601;p5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recipient gets the packet twice, and the sender receives two acks. That's fine.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Why would the network even duplicate a packet?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Usually, because of link-level reliability gone wrong (very rare).</a:t>
            </a:r>
            <a:endParaRPr/>
          </a:p>
        </p:txBody>
      </p:sp>
      <p:cxnSp>
        <p:nvCxnSpPr>
          <p:cNvPr id="602" name="Google Shape;602;p51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3" name="Google Shape;603;p51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4" name="Google Shape;604;p51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5" name="Google Shape;605;p51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06" name="Google Shape;606;p51"/>
          <p:cNvGrpSpPr/>
          <p:nvPr/>
        </p:nvGrpSpPr>
        <p:grpSpPr>
          <a:xfrm>
            <a:off x="3039475" y="2852266"/>
            <a:ext cx="3015000" cy="530546"/>
            <a:chOff x="3039475" y="2514600"/>
            <a:chExt cx="3015000" cy="530546"/>
          </a:xfrm>
        </p:grpSpPr>
        <p:cxnSp>
          <p:nvCxnSpPr>
            <p:cNvPr id="607" name="Google Shape;607;p51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8" name="Google Shape;608;p51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609" name="Google Shape;609;p51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0" name="Google Shape;610;p51"/>
          <p:cNvCxnSpPr/>
          <p:nvPr/>
        </p:nvCxnSpPr>
        <p:spPr>
          <a:xfrm>
            <a:off x="4478400" y="2594039"/>
            <a:ext cx="1568700" cy="215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1" name="Google Shape;611;p51"/>
          <p:cNvCxnSpPr/>
          <p:nvPr/>
        </p:nvCxnSpPr>
        <p:spPr>
          <a:xfrm>
            <a:off x="4484350" y="2235120"/>
            <a:ext cx="0" cy="36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Designing Reliability for a Single Packet</a:t>
            </a:r>
            <a:endParaRPr/>
          </a:p>
        </p:txBody>
      </p:sp>
      <p:sp>
        <p:nvSpPr>
          <p:cNvPr id="617" name="Google Shape;617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Sender: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 packet, and start a timer.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 ack doesn't arrive before the timer goes off, resend packet and reset timer.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ack arrives, reset timer.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Recipient: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you receive the packet, send the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solved all 5 problems from the best-effort service model: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dropped. </a:t>
            </a:r>
            <a:r>
              <a:rPr lang="en" sz="1400">
                <a:solidFill>
                  <a:schemeClr val="accent3"/>
                </a:solidFill>
              </a:rPr>
              <a:t>(timeout and resend)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corrupted. </a:t>
            </a:r>
            <a:r>
              <a:rPr lang="en" sz="1400">
                <a:solidFill>
                  <a:schemeClr val="accent3"/>
                </a:solidFill>
              </a:rPr>
              <a:t>(nack, or timeout and resend)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delayed. </a:t>
            </a:r>
            <a:r>
              <a:rPr lang="en" sz="1400">
                <a:solidFill>
                  <a:schemeClr val="accent3"/>
                </a:solidFill>
              </a:rPr>
              <a:t>(data received multiple times)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duplicated. </a:t>
            </a:r>
            <a:r>
              <a:rPr lang="en" sz="1400">
                <a:solidFill>
                  <a:schemeClr val="accent3"/>
                </a:solidFill>
              </a:rPr>
              <a:t>(data received multiple times)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reordered. </a:t>
            </a:r>
            <a:r>
              <a:rPr lang="en" sz="1400">
                <a:solidFill>
                  <a:schemeClr val="accent3"/>
                </a:solidFill>
              </a:rPr>
              <a:t>(not relevant in single-packet case)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Designing Reliability for a Single Packet</a:t>
            </a:r>
            <a:endParaRPr/>
          </a:p>
        </p:txBody>
      </p:sp>
      <p:sp>
        <p:nvSpPr>
          <p:cNvPr id="623" name="Google Shape;623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did we learn from this protocol?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Checksums</a:t>
            </a:r>
            <a:r>
              <a:rPr lang="en"/>
              <a:t> help detect corruption.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recipient should send </a:t>
            </a:r>
            <a:r>
              <a:rPr lang="en" i="1"/>
              <a:t>feedback</a:t>
            </a:r>
            <a:r>
              <a:rPr lang="en"/>
              <a:t>: ack (positive), possibly also nack (negative).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</a:t>
            </a:r>
            <a:r>
              <a:rPr lang="en" i="1"/>
              <a:t>retransmits</a:t>
            </a:r>
            <a:r>
              <a:rPr lang="en"/>
              <a:t> lost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a </a:t>
            </a:r>
            <a:r>
              <a:rPr lang="en" i="1"/>
              <a:t>timeout</a:t>
            </a:r>
            <a:r>
              <a:rPr lang="en"/>
              <a:t> to decide when to resend a packet.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At-least-once</a:t>
            </a:r>
            <a:r>
              <a:rPr lang="en"/>
              <a:t> delivery simplifies our protocol.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Recipient can receive the same packet more than once.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can see the same ack/nack more than once.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achieve </a:t>
            </a:r>
            <a:r>
              <a:rPr lang="en" i="1"/>
              <a:t>exactly-once</a:t>
            </a:r>
            <a:r>
              <a:rPr lang="en"/>
              <a:t> delivery, recipient simply discards duplicates.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54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Multiple Packets (Windows)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629" name="Google Shape;629;p5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Packets, Windows</a:t>
            </a:r>
            <a:endParaRPr/>
          </a:p>
        </p:txBody>
      </p:sp>
      <p:sp>
        <p:nvSpPr>
          <p:cNvPr id="630" name="Google Shape;630;p5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Designing Reliability for Multiple Packets</a:t>
            </a:r>
            <a:endParaRPr dirty="0"/>
          </a:p>
        </p:txBody>
      </p:sp>
      <p:sp>
        <p:nvSpPr>
          <p:cNvPr id="636" name="Google Shape;636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can use the single-packet solution repeatedly to support sending multiple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One extra design component: </a:t>
            </a:r>
            <a:r>
              <a:rPr lang="en" b="1"/>
              <a:t>sequence numbers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Label each packet with a unique, increasing number.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Label each ack with which numbered packet is being acked.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Solves reordering – use numbers to reorder packets.</a:t>
            </a:r>
            <a:endParaRPr/>
          </a:p>
        </p:txBody>
      </p:sp>
      <p:sp>
        <p:nvSpPr>
          <p:cNvPr id="637" name="Google Shape;637;p55"/>
          <p:cNvSpPr/>
          <p:nvPr/>
        </p:nvSpPr>
        <p:spPr>
          <a:xfrm>
            <a:off x="8975" y="2970147"/>
            <a:ext cx="1286400" cy="19041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8" name="Google Shape;638;p55"/>
          <p:cNvSpPr/>
          <p:nvPr/>
        </p:nvSpPr>
        <p:spPr>
          <a:xfrm>
            <a:off x="7858225" y="2947600"/>
            <a:ext cx="1286400" cy="19041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9" name="Google Shape;639;p55"/>
          <p:cNvSpPr/>
          <p:nvPr/>
        </p:nvSpPr>
        <p:spPr>
          <a:xfrm>
            <a:off x="1707550" y="320920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0" name="Google Shape;640;p55"/>
          <p:cNvSpPr/>
          <p:nvPr/>
        </p:nvSpPr>
        <p:spPr>
          <a:xfrm>
            <a:off x="4133005" y="3561975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1" name="Google Shape;641;p55"/>
          <p:cNvSpPr/>
          <p:nvPr/>
        </p:nvSpPr>
        <p:spPr>
          <a:xfrm>
            <a:off x="3174477" y="4043175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3. belt, which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2" name="Google Shape;642;p55"/>
          <p:cNvSpPr/>
          <p:nvPr/>
        </p:nvSpPr>
        <p:spPr>
          <a:xfrm>
            <a:off x="5054294" y="437890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was the style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3" name="Google Shape;643;p55"/>
          <p:cNvSpPr/>
          <p:nvPr/>
        </p:nvSpPr>
        <p:spPr>
          <a:xfrm>
            <a:off x="5966553" y="366960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5. at the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4" name="Google Shape;644;p55"/>
          <p:cNvSpPr/>
          <p:nvPr/>
        </p:nvSpPr>
        <p:spPr>
          <a:xfrm>
            <a:off x="1707550" y="453085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5" name="Google Shape;645;p55"/>
          <p:cNvSpPr txBox="1"/>
          <p:nvPr/>
        </p:nvSpPr>
        <p:spPr>
          <a:xfrm>
            <a:off x="1872700" y="3754125"/>
            <a:ext cx="11151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Duplicates. Same number.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6" name="Google Shape;646;p55"/>
          <p:cNvCxnSpPr>
            <a:stCxn id="645" idx="0"/>
            <a:endCxn id="639" idx="2"/>
          </p:cNvCxnSpPr>
          <p:nvPr/>
        </p:nvCxnSpPr>
        <p:spPr>
          <a:xfrm rot="10800000">
            <a:off x="2430250" y="3513225"/>
            <a:ext cx="0" cy="240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47" name="Google Shape;647;p55"/>
          <p:cNvSpPr txBox="1"/>
          <p:nvPr/>
        </p:nvSpPr>
        <p:spPr>
          <a:xfrm>
            <a:off x="3387625" y="2642800"/>
            <a:ext cx="10191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Out of order. Use numbers to rearrange.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8" name="Google Shape;648;p55"/>
          <p:cNvCxnSpPr>
            <a:stCxn id="647" idx="2"/>
            <a:endCxn id="641" idx="0"/>
          </p:cNvCxnSpPr>
          <p:nvPr/>
        </p:nvCxnSpPr>
        <p:spPr>
          <a:xfrm>
            <a:off x="3897175" y="3252400"/>
            <a:ext cx="0" cy="790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49" name="Google Shape;649;p55"/>
          <p:cNvCxnSpPr>
            <a:stCxn id="647" idx="3"/>
            <a:endCxn id="640" idx="0"/>
          </p:cNvCxnSpPr>
          <p:nvPr/>
        </p:nvCxnSpPr>
        <p:spPr>
          <a:xfrm>
            <a:off x="4406725" y="2947600"/>
            <a:ext cx="449100" cy="6144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50" name="Google Shape;650;p55"/>
          <p:cNvCxnSpPr>
            <a:stCxn id="645" idx="2"/>
            <a:endCxn id="644" idx="0"/>
          </p:cNvCxnSpPr>
          <p:nvPr/>
        </p:nvCxnSpPr>
        <p:spPr>
          <a:xfrm>
            <a:off x="2430250" y="4178925"/>
            <a:ext cx="0" cy="351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Stop-and-Wait Protocol</a:t>
            </a:r>
            <a:endParaRPr/>
          </a:p>
        </p:txBody>
      </p:sp>
      <p:sp>
        <p:nvSpPr>
          <p:cNvPr id="674" name="Google Shape;674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3008700" cy="444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altLang="zh-CN" dirty="0"/>
              <a:t>Each packet has a unique, increasing sequence number.</a:t>
            </a:r>
          </a:p>
          <a:p>
            <a:pPr marL="0" lvl="0" indent="0">
              <a:buNone/>
            </a:pPr>
            <a:r>
              <a:rPr lang="en-US" altLang="zh-CN" dirty="0"/>
              <a:t>Acks indicate which packet is being </a:t>
            </a:r>
            <a:r>
              <a:rPr lang="en-US" altLang="zh-CN" dirty="0" err="1"/>
              <a:t>acked</a:t>
            </a:r>
            <a:r>
              <a:rPr lang="en-US" altLang="zh-CN" dirty="0"/>
              <a:t>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Naive approach: Wait for packet 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dirty="0"/>
              <a:t> to be acked before sending packet 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i+1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is correct, but really slow.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Throughput: One packet per RTT.</a:t>
            </a:r>
            <a:endParaRPr dirty="0"/>
          </a:p>
        </p:txBody>
      </p:sp>
      <p:cxnSp>
        <p:nvCxnSpPr>
          <p:cNvPr id="675" name="Google Shape;675;p57"/>
          <p:cNvCxnSpPr/>
          <p:nvPr/>
        </p:nvCxnSpPr>
        <p:spPr>
          <a:xfrm>
            <a:off x="3951925" y="740450"/>
            <a:ext cx="0" cy="403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6" name="Google Shape;676;p57"/>
          <p:cNvSpPr txBox="1"/>
          <p:nvPr/>
        </p:nvSpPr>
        <p:spPr>
          <a:xfrm>
            <a:off x="33994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7" name="Google Shape;677;p57"/>
          <p:cNvCxnSpPr/>
          <p:nvPr/>
        </p:nvCxnSpPr>
        <p:spPr>
          <a:xfrm>
            <a:off x="6973325" y="740450"/>
            <a:ext cx="0" cy="403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8" name="Google Shape;678;p57"/>
          <p:cNvSpPr txBox="1"/>
          <p:nvPr/>
        </p:nvSpPr>
        <p:spPr>
          <a:xfrm>
            <a:off x="63733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79" name="Google Shape;679;p57"/>
          <p:cNvGrpSpPr/>
          <p:nvPr/>
        </p:nvGrpSpPr>
        <p:grpSpPr>
          <a:xfrm>
            <a:off x="3953900" y="801875"/>
            <a:ext cx="3008700" cy="524199"/>
            <a:chOff x="3039500" y="1868675"/>
            <a:chExt cx="3008700" cy="524199"/>
          </a:xfrm>
        </p:grpSpPr>
        <p:cxnSp>
          <p:nvCxnSpPr>
            <p:cNvPr id="680" name="Google Shape;680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81" name="Google Shape;681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2" name="Google Shape;682;p57"/>
          <p:cNvGrpSpPr/>
          <p:nvPr/>
        </p:nvGrpSpPr>
        <p:grpSpPr>
          <a:xfrm>
            <a:off x="3953900" y="1244246"/>
            <a:ext cx="3008700" cy="539028"/>
            <a:chOff x="3039500" y="2311046"/>
            <a:chExt cx="3008700" cy="539028"/>
          </a:xfrm>
        </p:grpSpPr>
        <p:cxnSp>
          <p:nvCxnSpPr>
            <p:cNvPr id="683" name="Google Shape;683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84" name="Google Shape;684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(1)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5" name="Google Shape;685;p57"/>
          <p:cNvGrpSpPr/>
          <p:nvPr/>
        </p:nvGrpSpPr>
        <p:grpSpPr>
          <a:xfrm>
            <a:off x="3953900" y="1716275"/>
            <a:ext cx="3008700" cy="524199"/>
            <a:chOff x="3039500" y="1868675"/>
            <a:chExt cx="3008700" cy="524199"/>
          </a:xfrm>
        </p:grpSpPr>
        <p:cxnSp>
          <p:nvCxnSpPr>
            <p:cNvPr id="686" name="Google Shape;686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87" name="Google Shape;687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8" name="Google Shape;688;p57"/>
          <p:cNvGrpSpPr/>
          <p:nvPr/>
        </p:nvGrpSpPr>
        <p:grpSpPr>
          <a:xfrm>
            <a:off x="3953900" y="2158646"/>
            <a:ext cx="3008700" cy="539028"/>
            <a:chOff x="3039500" y="2311046"/>
            <a:chExt cx="3008700" cy="539028"/>
          </a:xfrm>
        </p:grpSpPr>
        <p:cxnSp>
          <p:nvCxnSpPr>
            <p:cNvPr id="689" name="Google Shape;689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0" name="Google Shape;690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(2)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1" name="Google Shape;691;p57"/>
          <p:cNvGrpSpPr/>
          <p:nvPr/>
        </p:nvGrpSpPr>
        <p:grpSpPr>
          <a:xfrm>
            <a:off x="3953900" y="2783075"/>
            <a:ext cx="3008700" cy="524199"/>
            <a:chOff x="3039500" y="1868675"/>
            <a:chExt cx="3008700" cy="524199"/>
          </a:xfrm>
        </p:grpSpPr>
        <p:cxnSp>
          <p:nvCxnSpPr>
            <p:cNvPr id="692" name="Google Shape;692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3" name="Google Shape;693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4" name="Google Shape;694;p57"/>
          <p:cNvGrpSpPr/>
          <p:nvPr/>
        </p:nvGrpSpPr>
        <p:grpSpPr>
          <a:xfrm>
            <a:off x="3953900" y="3225446"/>
            <a:ext cx="3008700" cy="539028"/>
            <a:chOff x="3039500" y="2311046"/>
            <a:chExt cx="3008700" cy="539028"/>
          </a:xfrm>
        </p:grpSpPr>
        <p:cxnSp>
          <p:nvCxnSpPr>
            <p:cNvPr id="695" name="Google Shape;695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6" name="Google Shape;696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(3)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7" name="Google Shape;697;p57"/>
          <p:cNvGrpSpPr/>
          <p:nvPr/>
        </p:nvGrpSpPr>
        <p:grpSpPr>
          <a:xfrm>
            <a:off x="3953900" y="3697475"/>
            <a:ext cx="3008700" cy="524199"/>
            <a:chOff x="3039500" y="1868675"/>
            <a:chExt cx="3008700" cy="524199"/>
          </a:xfrm>
        </p:grpSpPr>
        <p:cxnSp>
          <p:nvCxnSpPr>
            <p:cNvPr id="698" name="Google Shape;698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9" name="Google Shape;699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0" name="Google Shape;700;p57"/>
          <p:cNvGrpSpPr/>
          <p:nvPr/>
        </p:nvGrpSpPr>
        <p:grpSpPr>
          <a:xfrm>
            <a:off x="3953900" y="4139846"/>
            <a:ext cx="3008700" cy="539028"/>
            <a:chOff x="3039500" y="2311046"/>
            <a:chExt cx="3008700" cy="539028"/>
          </a:xfrm>
        </p:grpSpPr>
        <p:cxnSp>
          <p:nvCxnSpPr>
            <p:cNvPr id="701" name="Google Shape;701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702" name="Google Shape;702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(4)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3" name="Google Shape;703;p57"/>
          <p:cNvGrpSpPr/>
          <p:nvPr/>
        </p:nvGrpSpPr>
        <p:grpSpPr>
          <a:xfrm>
            <a:off x="7820900" y="931855"/>
            <a:ext cx="192000" cy="3747004"/>
            <a:chOff x="2715500" y="931825"/>
            <a:chExt cx="192000" cy="1556000"/>
          </a:xfrm>
        </p:grpSpPr>
        <p:cxnSp>
          <p:nvCxnSpPr>
            <p:cNvPr id="704" name="Google Shape;704;p57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5" name="Google Shape;705;p57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6" name="Google Shape;706;p57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07" name="Google Shape;707;p57"/>
          <p:cNvSpPr txBox="1"/>
          <p:nvPr/>
        </p:nvSpPr>
        <p:spPr>
          <a:xfrm>
            <a:off x="7949949" y="2343200"/>
            <a:ext cx="10008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Total time to send 4 packets.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Window-Based Algorithms</a:t>
            </a:r>
            <a:endParaRPr/>
          </a:p>
        </p:txBody>
      </p:sp>
      <p:sp>
        <p:nvSpPr>
          <p:cNvPr id="713" name="Google Shape;713;p5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3105600" cy="445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Better approach: Send more packets while waiting for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Idea: Have multiple packets </a:t>
            </a:r>
            <a:r>
              <a:rPr lang="en" b="1"/>
              <a:t>in flight</a:t>
            </a:r>
            <a:r>
              <a:rPr lang="en"/>
              <a:t> simultaneously.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flight: Packet has been sent, but has not been acked yet.</a:t>
            </a:r>
            <a:endParaRPr/>
          </a:p>
        </p:txBody>
      </p:sp>
      <p:sp>
        <p:nvSpPr>
          <p:cNvPr id="714" name="Google Shape;714;p58"/>
          <p:cNvSpPr txBox="1"/>
          <p:nvPr/>
        </p:nvSpPr>
        <p:spPr>
          <a:xfrm>
            <a:off x="33994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5" name="Google Shape;715;p58"/>
          <p:cNvSpPr txBox="1"/>
          <p:nvPr/>
        </p:nvSpPr>
        <p:spPr>
          <a:xfrm>
            <a:off x="63733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6" name="Google Shape;716;p58"/>
          <p:cNvCxnSpPr/>
          <p:nvPr/>
        </p:nvCxnSpPr>
        <p:spPr>
          <a:xfrm flipH="1">
            <a:off x="3959032" y="13662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7" name="Google Shape;717;p58"/>
          <p:cNvCxnSpPr/>
          <p:nvPr/>
        </p:nvCxnSpPr>
        <p:spPr>
          <a:xfrm>
            <a:off x="3953900" y="9564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8" name="Google Shape;718;p58"/>
          <p:cNvCxnSpPr/>
          <p:nvPr/>
        </p:nvCxnSpPr>
        <p:spPr>
          <a:xfrm>
            <a:off x="3953900" y="11088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9" name="Google Shape;719;p58"/>
          <p:cNvCxnSpPr/>
          <p:nvPr/>
        </p:nvCxnSpPr>
        <p:spPr>
          <a:xfrm>
            <a:off x="3953900" y="12612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0" name="Google Shape;720;p58"/>
          <p:cNvCxnSpPr/>
          <p:nvPr/>
        </p:nvCxnSpPr>
        <p:spPr>
          <a:xfrm>
            <a:off x="3953900" y="14136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1" name="Google Shape;721;p58"/>
          <p:cNvCxnSpPr/>
          <p:nvPr/>
        </p:nvCxnSpPr>
        <p:spPr>
          <a:xfrm flipH="1">
            <a:off x="3959032" y="15186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2" name="Google Shape;722;p58"/>
          <p:cNvCxnSpPr/>
          <p:nvPr/>
        </p:nvCxnSpPr>
        <p:spPr>
          <a:xfrm flipH="1">
            <a:off x="3959032" y="16710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3" name="Google Shape;723;p58"/>
          <p:cNvCxnSpPr/>
          <p:nvPr/>
        </p:nvCxnSpPr>
        <p:spPr>
          <a:xfrm flipH="1">
            <a:off x="3959032" y="18234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24" name="Google Shape;724;p58"/>
          <p:cNvSpPr txBox="1"/>
          <p:nvPr/>
        </p:nvSpPr>
        <p:spPr>
          <a:xfrm>
            <a:off x="3736386" y="783661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5" name="Google Shape;725;p58"/>
          <p:cNvSpPr txBox="1"/>
          <p:nvPr/>
        </p:nvSpPr>
        <p:spPr>
          <a:xfrm>
            <a:off x="6936779" y="1177993"/>
            <a:ext cx="6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ack(3)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ack(4)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6" name="Google Shape;726;p58"/>
          <p:cNvCxnSpPr/>
          <p:nvPr/>
        </p:nvCxnSpPr>
        <p:spPr>
          <a:xfrm>
            <a:off x="6973325" y="740450"/>
            <a:ext cx="0" cy="403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7" name="Google Shape;727;p58"/>
          <p:cNvCxnSpPr/>
          <p:nvPr/>
        </p:nvCxnSpPr>
        <p:spPr>
          <a:xfrm>
            <a:off x="3951925" y="740450"/>
            <a:ext cx="0" cy="403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28" name="Google Shape;728;p58"/>
          <p:cNvGrpSpPr/>
          <p:nvPr/>
        </p:nvGrpSpPr>
        <p:grpSpPr>
          <a:xfrm>
            <a:off x="7820900" y="931886"/>
            <a:ext cx="192000" cy="1261138"/>
            <a:chOff x="2715500" y="931825"/>
            <a:chExt cx="192000" cy="1556000"/>
          </a:xfrm>
        </p:grpSpPr>
        <p:cxnSp>
          <p:nvCxnSpPr>
            <p:cNvPr id="729" name="Google Shape;729;p58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0" name="Google Shape;730;p58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1" name="Google Shape;731;p58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2" name="Google Shape;732;p58"/>
          <p:cNvSpPr txBox="1"/>
          <p:nvPr/>
        </p:nvSpPr>
        <p:spPr>
          <a:xfrm>
            <a:off x="7949950" y="1135375"/>
            <a:ext cx="10008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Total time to send 4 packets.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Window-Based Algorithms</a:t>
            </a:r>
            <a:endParaRPr/>
          </a:p>
        </p:txBody>
      </p:sp>
      <p:sp>
        <p:nvSpPr>
          <p:cNvPr id="738" name="Google Shape;738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Idea: Have multiple packets in flight simultaneously.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Could we send all the packets at once?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No, limited by bandwidth (at sender, router, and destination).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Window-based algorithms: Limit the amount of packets in flight.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Maximum </a:t>
            </a:r>
            <a:r>
              <a:rPr lang="en" i="1"/>
              <a:t>W</a:t>
            </a:r>
            <a:r>
              <a:rPr lang="en"/>
              <a:t> packets can be in-flight (sent, but not acked) at any time.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is the size of the </a:t>
            </a:r>
            <a:r>
              <a:rPr lang="en" b="1"/>
              <a:t>window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 stay inside the window limit: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Start: Send </a:t>
            </a:r>
            <a:r>
              <a:rPr lang="en" i="1"/>
              <a:t>W</a:t>
            </a:r>
            <a:r>
              <a:rPr lang="en"/>
              <a:t>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time a packet gets acked, send the next packet in line.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Window isn't necessary for correctness, but is added for efficiency (performance).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Window-Based Algorithms</a:t>
            </a:r>
            <a:endParaRPr/>
          </a:p>
        </p:txBody>
      </p:sp>
      <p:sp>
        <p:nvSpPr>
          <p:cNvPr id="744" name="Google Shape;744;p6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Start: Send </a:t>
            </a:r>
            <a:r>
              <a:rPr lang="en" i="1"/>
              <a:t>W</a:t>
            </a:r>
            <a:r>
              <a:rPr lang="en"/>
              <a:t> = 4 packets.			In-flight packets: {1, 2, 3, 4}.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ack(1) arrives: Send 5.		In-flight packets: {2, 3, 4, 5}.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ack(2) arrives: Send 6.		In-flight packets: {3, 4, 5, 6}.</a:t>
            </a:r>
            <a:endParaRPr/>
          </a:p>
        </p:txBody>
      </p:sp>
      <p:cxnSp>
        <p:nvCxnSpPr>
          <p:cNvPr id="745" name="Google Shape;745;p60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6" name="Google Shape;746;p60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7" name="Google Shape;747;p60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8" name="Google Shape;748;p60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9" name="Google Shape;749;p60"/>
          <p:cNvCxnSpPr/>
          <p:nvPr/>
        </p:nvCxnSpPr>
        <p:spPr>
          <a:xfrm flipH="1">
            <a:off x="3044632" y="24330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0" name="Google Shape;750;p60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1" name="Google Shape;751;p60"/>
          <p:cNvCxnSpPr/>
          <p:nvPr/>
        </p:nvCxnSpPr>
        <p:spPr>
          <a:xfrm>
            <a:off x="3039500" y="21756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2" name="Google Shape;752;p60"/>
          <p:cNvCxnSpPr/>
          <p:nvPr/>
        </p:nvCxnSpPr>
        <p:spPr>
          <a:xfrm>
            <a:off x="3039500" y="23280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3" name="Google Shape;753;p60"/>
          <p:cNvCxnSpPr/>
          <p:nvPr/>
        </p:nvCxnSpPr>
        <p:spPr>
          <a:xfrm>
            <a:off x="3039500" y="24804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4" name="Google Shape;754;p60"/>
          <p:cNvCxnSpPr/>
          <p:nvPr/>
        </p:nvCxnSpPr>
        <p:spPr>
          <a:xfrm flipH="1">
            <a:off x="3044632" y="25854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55" name="Google Shape;755;p60"/>
          <p:cNvSpPr txBox="1"/>
          <p:nvPr/>
        </p:nvSpPr>
        <p:spPr>
          <a:xfrm>
            <a:off x="2821986" y="1850461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6" name="Google Shape;756;p60"/>
          <p:cNvSpPr txBox="1"/>
          <p:nvPr/>
        </p:nvSpPr>
        <p:spPr>
          <a:xfrm>
            <a:off x="6022379" y="2244793"/>
            <a:ext cx="667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7" name="Google Shape;757;p60"/>
          <p:cNvCxnSpPr/>
          <p:nvPr/>
        </p:nvCxnSpPr>
        <p:spPr>
          <a:xfrm>
            <a:off x="3039500" y="28614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8" name="Google Shape;758;p60"/>
          <p:cNvCxnSpPr/>
          <p:nvPr/>
        </p:nvCxnSpPr>
        <p:spPr>
          <a:xfrm>
            <a:off x="3039500" y="30138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59" name="Google Shape;759;p60"/>
          <p:cNvSpPr txBox="1"/>
          <p:nvPr/>
        </p:nvSpPr>
        <p:spPr>
          <a:xfrm>
            <a:off x="2821986" y="2688661"/>
            <a:ext cx="264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0" name="Google Shape;760;p60"/>
          <p:cNvSpPr txBox="1"/>
          <p:nvPr/>
        </p:nvSpPr>
        <p:spPr>
          <a:xfrm>
            <a:off x="4110225" y="4315625"/>
            <a:ext cx="876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4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Setting Window Size</a:t>
            </a:r>
            <a:endParaRPr dirty="0"/>
          </a:p>
        </p:txBody>
      </p:sp>
      <p:sp>
        <p:nvSpPr>
          <p:cNvPr id="766" name="Google Shape;766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big should the window be?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Pick window size </a:t>
            </a:r>
            <a:r>
              <a:rPr lang="en" i="1"/>
              <a:t>W</a:t>
            </a:r>
            <a:r>
              <a:rPr lang="en"/>
              <a:t> to balance three goals: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Take advantage of network capacity ("fill the pipe")...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...but don't overload the recipient (flow control)...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...and don't overload links (congestion control).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(1/3): Filling the Pipe</a:t>
            </a:r>
            <a:endParaRPr/>
          </a:p>
        </p:txBody>
      </p:sp>
      <p:sp>
        <p:nvSpPr>
          <p:cNvPr id="772" name="Google Shape;772;p62"/>
          <p:cNvSpPr txBox="1">
            <a:spLocks noGrp="1"/>
          </p:cNvSpPr>
          <p:nvPr>
            <p:ph type="body" idx="1"/>
          </p:nvPr>
        </p:nvSpPr>
        <p:spPr>
          <a:xfrm>
            <a:off x="107049" y="402200"/>
            <a:ext cx="6095795" cy="474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goal: Take advantage of network capacity ("fill the pipe").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sender should never be sitting idle.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Set </a:t>
            </a:r>
            <a:r>
              <a:rPr lang="en" i="1" dirty="0"/>
              <a:t>W</a:t>
            </a:r>
            <a:r>
              <a:rPr lang="en" dirty="0"/>
              <a:t> large enough to keep the sender constantly busy.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to compute this </a:t>
            </a:r>
            <a:r>
              <a:rPr lang="en" i="1" dirty="0"/>
              <a:t>W</a:t>
            </a:r>
            <a:r>
              <a:rPr lang="en" dirty="0"/>
              <a:t>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Suppose RTT = 5 seconds, and bandwidth = 10 packets per second.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Let's focus on the very first RTT.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For the first 5 seconds, no acks arrive.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want the sender to be constantly busy for all 5 seconds.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How many packets can be sent in 5 seconds?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(5 seconds) × (10 packets per second) = 50 packets.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Thus, </a:t>
            </a:r>
            <a:r>
              <a:rPr lang="en" i="1" dirty="0"/>
              <a:t>W</a:t>
            </a:r>
            <a:r>
              <a:rPr lang="en" dirty="0"/>
              <a:t> = 50 packets keeps the sender busy.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&lt; 50 means the sender reaches the limit before any acks, and has to sit idle.</a:t>
            </a:r>
            <a:endParaRPr dirty="0"/>
          </a:p>
          <a:p>
            <a:pPr marL="0" lvl="0" indent="0">
              <a:buNone/>
            </a:pPr>
            <a:r>
              <a:rPr lang="en" dirty="0"/>
              <a:t>More generally: </a:t>
            </a:r>
            <a:r>
              <a:rPr lang="en" altLang="zh-CN" i="1" dirty="0">
                <a:solidFill>
                  <a:schemeClr val="tx1"/>
                </a:solidFill>
              </a:rPr>
              <a:t>W</a:t>
            </a:r>
            <a:r>
              <a:rPr lang="en" altLang="zh-CN" dirty="0">
                <a:solidFill>
                  <a:schemeClr val="tx1"/>
                </a:solidFill>
              </a:rPr>
              <a:t> ≤ </a:t>
            </a:r>
            <a:r>
              <a:rPr lang="en" dirty="0"/>
              <a:t>Bandwidth Delay Product (BDP) = </a:t>
            </a:r>
            <a:r>
              <a:rPr lang="en" dirty="0">
                <a:solidFill>
                  <a:srgbClr val="C00000"/>
                </a:solidFill>
              </a:rPr>
              <a:t>RTT × bandwidth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1838;p55">
            <a:extLst>
              <a:ext uri="{FF2B5EF4-FFF2-40B4-BE49-F238E27FC236}">
                <a16:creationId xmlns:a16="http://schemas.microsoft.com/office/drawing/2014/main" id="{AB00CA09-080D-B313-1CAA-F7B02145B72B}"/>
              </a:ext>
            </a:extLst>
          </p:cNvPr>
          <p:cNvSpPr/>
          <p:nvPr/>
        </p:nvSpPr>
        <p:spPr>
          <a:xfrm>
            <a:off x="6624600" y="2306506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1" name="Google Shape;1867;p55">
            <a:extLst>
              <a:ext uri="{FF2B5EF4-FFF2-40B4-BE49-F238E27FC236}">
                <a16:creationId xmlns:a16="http://schemas.microsoft.com/office/drawing/2014/main" id="{7691B56D-7D1A-52AB-0F92-CD2F630468BF}"/>
              </a:ext>
            </a:extLst>
          </p:cNvPr>
          <p:cNvGrpSpPr/>
          <p:nvPr/>
        </p:nvGrpSpPr>
        <p:grpSpPr>
          <a:xfrm>
            <a:off x="6292500" y="2306496"/>
            <a:ext cx="179700" cy="914429"/>
            <a:chOff x="2338450" y="3338450"/>
            <a:chExt cx="179700" cy="836700"/>
          </a:xfrm>
        </p:grpSpPr>
        <p:cxnSp>
          <p:nvCxnSpPr>
            <p:cNvPr id="32" name="Google Shape;1868;p55">
              <a:extLst>
                <a:ext uri="{FF2B5EF4-FFF2-40B4-BE49-F238E27FC236}">
                  <a16:creationId xmlns:a16="http://schemas.microsoft.com/office/drawing/2014/main" id="{EC2C512E-C669-B411-C696-D8E88D9A3748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1869;p55">
              <a:extLst>
                <a:ext uri="{FF2B5EF4-FFF2-40B4-BE49-F238E27FC236}">
                  <a16:creationId xmlns:a16="http://schemas.microsoft.com/office/drawing/2014/main" id="{4BB63F9A-38FB-1C8D-8E00-68133C7C2CFF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1870;p55">
              <a:extLst>
                <a:ext uri="{FF2B5EF4-FFF2-40B4-BE49-F238E27FC236}">
                  <a16:creationId xmlns:a16="http://schemas.microsoft.com/office/drawing/2014/main" id="{3F0A362C-C86F-69E0-A605-CF0FFE19EA8E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Google Shape;1871;p55">
            <a:extLst>
              <a:ext uri="{FF2B5EF4-FFF2-40B4-BE49-F238E27FC236}">
                <a16:creationId xmlns:a16="http://schemas.microsoft.com/office/drawing/2014/main" id="{88D15A1A-0798-D8C6-CA6F-2D8DA962E1C4}"/>
              </a:ext>
            </a:extLst>
          </p:cNvPr>
          <p:cNvSpPr txBox="1"/>
          <p:nvPr/>
        </p:nvSpPr>
        <p:spPr>
          <a:xfrm rot="-5400000">
            <a:off x="5658500" y="2628256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6" name="Google Shape;1872;p55">
            <a:extLst>
              <a:ext uri="{FF2B5EF4-FFF2-40B4-BE49-F238E27FC236}">
                <a16:creationId xmlns:a16="http://schemas.microsoft.com/office/drawing/2014/main" id="{84AF72FF-0FB7-B818-B4D2-895681CDAA22}"/>
              </a:ext>
            </a:extLst>
          </p:cNvPr>
          <p:cNvGrpSpPr/>
          <p:nvPr/>
        </p:nvGrpSpPr>
        <p:grpSpPr>
          <a:xfrm rot="5400000">
            <a:off x="7696242" y="2301800"/>
            <a:ext cx="179700" cy="2322763"/>
            <a:chOff x="2338450" y="3338450"/>
            <a:chExt cx="179700" cy="836700"/>
          </a:xfrm>
        </p:grpSpPr>
        <p:cxnSp>
          <p:nvCxnSpPr>
            <p:cNvPr id="37" name="Google Shape;1873;p55">
              <a:extLst>
                <a:ext uri="{FF2B5EF4-FFF2-40B4-BE49-F238E27FC236}">
                  <a16:creationId xmlns:a16="http://schemas.microsoft.com/office/drawing/2014/main" id="{46E18007-444F-85EF-2CF0-C012873E3EE1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8" name="Google Shape;1874;p55">
              <a:extLst>
                <a:ext uri="{FF2B5EF4-FFF2-40B4-BE49-F238E27FC236}">
                  <a16:creationId xmlns:a16="http://schemas.microsoft.com/office/drawing/2014/main" id="{87D5B1E1-DB80-626E-0D2D-073B997FC781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" name="Google Shape;1875;p55">
              <a:extLst>
                <a:ext uri="{FF2B5EF4-FFF2-40B4-BE49-F238E27FC236}">
                  <a16:creationId xmlns:a16="http://schemas.microsoft.com/office/drawing/2014/main" id="{A8C97024-9826-E758-729C-290DF6D27FAA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0" name="Google Shape;1876;p55">
            <a:extLst>
              <a:ext uri="{FF2B5EF4-FFF2-40B4-BE49-F238E27FC236}">
                <a16:creationId xmlns:a16="http://schemas.microsoft.com/office/drawing/2014/main" id="{9590DC5F-8674-4E54-F2FF-21A54499A879}"/>
              </a:ext>
            </a:extLst>
          </p:cNvPr>
          <p:cNvSpPr txBox="1"/>
          <p:nvPr/>
        </p:nvSpPr>
        <p:spPr>
          <a:xfrm>
            <a:off x="6982500" y="3461906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1877;p55">
            <a:extLst>
              <a:ext uri="{FF2B5EF4-FFF2-40B4-BE49-F238E27FC236}">
                <a16:creationId xmlns:a16="http://schemas.microsoft.com/office/drawing/2014/main" id="{C289252B-7343-2104-80EA-93E311AF3E54}"/>
              </a:ext>
            </a:extLst>
          </p:cNvPr>
          <p:cNvSpPr txBox="1"/>
          <p:nvPr/>
        </p:nvSpPr>
        <p:spPr>
          <a:xfrm>
            <a:off x="6398650" y="3796344"/>
            <a:ext cx="2618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(1/3): Filling the Pipe</a:t>
            </a:r>
            <a:endParaRPr dirty="0"/>
          </a:p>
        </p:txBody>
      </p:sp>
      <p:sp>
        <p:nvSpPr>
          <p:cNvPr id="778" name="Google Shape;778;p63"/>
          <p:cNvSpPr txBox="1">
            <a:spLocks noGrp="1"/>
          </p:cNvSpPr>
          <p:nvPr>
            <p:ph type="body" idx="1"/>
          </p:nvPr>
        </p:nvSpPr>
        <p:spPr>
          <a:xfrm>
            <a:off x="170865" y="365489"/>
            <a:ext cx="4292350" cy="13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After sending the maximum </a:t>
            </a:r>
            <a:r>
              <a:rPr lang="en" i="1" dirty="0"/>
              <a:t>W</a:t>
            </a:r>
            <a:r>
              <a:rPr lang="en" dirty="0"/>
              <a:t> = 4 packets, the sender sits idle, waiting for ack(1). This window size is too small to fill the pipe.</a:t>
            </a:r>
            <a:endParaRPr dirty="0"/>
          </a:p>
        </p:txBody>
      </p:sp>
      <p:cxnSp>
        <p:nvCxnSpPr>
          <p:cNvPr id="779" name="Google Shape;779;p63"/>
          <p:cNvCxnSpPr/>
          <p:nvPr/>
        </p:nvCxnSpPr>
        <p:spPr>
          <a:xfrm>
            <a:off x="1388725" y="1676550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0" name="Google Shape;780;p63"/>
          <p:cNvSpPr txBox="1"/>
          <p:nvPr/>
        </p:nvSpPr>
        <p:spPr>
          <a:xfrm>
            <a:off x="836275" y="4619950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1" name="Google Shape;781;p63"/>
          <p:cNvCxnSpPr/>
          <p:nvPr/>
        </p:nvCxnSpPr>
        <p:spPr>
          <a:xfrm>
            <a:off x="4410125" y="1676550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2" name="Google Shape;782;p63"/>
          <p:cNvSpPr txBox="1"/>
          <p:nvPr/>
        </p:nvSpPr>
        <p:spPr>
          <a:xfrm>
            <a:off x="3810134" y="4619950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3" name="Google Shape;783;p63"/>
          <p:cNvCxnSpPr/>
          <p:nvPr/>
        </p:nvCxnSpPr>
        <p:spPr>
          <a:xfrm flipH="1">
            <a:off x="1395832" y="227554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84" name="Google Shape;784;p63"/>
          <p:cNvCxnSpPr/>
          <p:nvPr/>
        </p:nvCxnSpPr>
        <p:spPr>
          <a:xfrm>
            <a:off x="1390700" y="186580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85" name="Google Shape;785;p63"/>
          <p:cNvSpPr txBox="1"/>
          <p:nvPr/>
        </p:nvSpPr>
        <p:spPr>
          <a:xfrm>
            <a:off x="4373579" y="2087319"/>
            <a:ext cx="667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6" name="Google Shape;786;p63"/>
          <p:cNvSpPr txBox="1"/>
          <p:nvPr/>
        </p:nvSpPr>
        <p:spPr>
          <a:xfrm>
            <a:off x="1173186" y="2532726"/>
            <a:ext cx="2643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5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7" name="Google Shape;787;p63"/>
          <p:cNvSpPr txBox="1"/>
          <p:nvPr/>
        </p:nvSpPr>
        <p:spPr>
          <a:xfrm>
            <a:off x="2461425" y="4158151"/>
            <a:ext cx="876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4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88" name="Google Shape;788;p63"/>
          <p:cNvGrpSpPr/>
          <p:nvPr/>
        </p:nvGrpSpPr>
        <p:grpSpPr>
          <a:xfrm>
            <a:off x="904975" y="1865790"/>
            <a:ext cx="192000" cy="779400"/>
            <a:chOff x="2715500" y="931825"/>
            <a:chExt cx="192000" cy="1556000"/>
          </a:xfrm>
        </p:grpSpPr>
        <p:cxnSp>
          <p:nvCxnSpPr>
            <p:cNvPr id="789" name="Google Shape;789;p63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0" name="Google Shape;790;p63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1" name="Google Shape;791;p63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92" name="Google Shape;792;p63"/>
          <p:cNvSpPr txBox="1"/>
          <p:nvPr/>
        </p:nvSpPr>
        <p:spPr>
          <a:xfrm>
            <a:off x="-467850" y="2055401"/>
            <a:ext cx="1420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RTT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3" name="Google Shape;793;p63"/>
          <p:cNvCxnSpPr/>
          <p:nvPr/>
        </p:nvCxnSpPr>
        <p:spPr>
          <a:xfrm>
            <a:off x="1390700" y="201221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94" name="Google Shape;794;p63"/>
          <p:cNvCxnSpPr/>
          <p:nvPr/>
        </p:nvCxnSpPr>
        <p:spPr>
          <a:xfrm>
            <a:off x="1390700" y="215861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95" name="Google Shape;795;p63"/>
          <p:cNvCxnSpPr/>
          <p:nvPr/>
        </p:nvCxnSpPr>
        <p:spPr>
          <a:xfrm>
            <a:off x="1390700" y="230502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96" name="Google Shape;796;p63"/>
          <p:cNvSpPr txBox="1"/>
          <p:nvPr/>
        </p:nvSpPr>
        <p:spPr>
          <a:xfrm>
            <a:off x="1173186" y="1710959"/>
            <a:ext cx="26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1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2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3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4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7" name="Google Shape;797;p63"/>
          <p:cNvCxnSpPr/>
          <p:nvPr/>
        </p:nvCxnSpPr>
        <p:spPr>
          <a:xfrm>
            <a:off x="1390700" y="268602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" name="Google Shape;804;p64">
            <a:extLst>
              <a:ext uri="{FF2B5EF4-FFF2-40B4-BE49-F238E27FC236}">
                <a16:creationId xmlns:a16="http://schemas.microsoft.com/office/drawing/2014/main" id="{8CF38C31-E625-2CF0-E067-39DDBAAD8CF3}"/>
              </a:ext>
            </a:extLst>
          </p:cNvPr>
          <p:cNvCxnSpPr/>
          <p:nvPr/>
        </p:nvCxnSpPr>
        <p:spPr>
          <a:xfrm>
            <a:off x="5579935" y="1681351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Google Shape;805;p64">
            <a:extLst>
              <a:ext uri="{FF2B5EF4-FFF2-40B4-BE49-F238E27FC236}">
                <a16:creationId xmlns:a16="http://schemas.microsoft.com/office/drawing/2014/main" id="{8888D279-026E-ABB2-1C20-9306F6CD76FB}"/>
              </a:ext>
            </a:extLst>
          </p:cNvPr>
          <p:cNvSpPr txBox="1"/>
          <p:nvPr/>
        </p:nvSpPr>
        <p:spPr>
          <a:xfrm>
            <a:off x="5027485" y="4624751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" name="Google Shape;806;p64">
            <a:extLst>
              <a:ext uri="{FF2B5EF4-FFF2-40B4-BE49-F238E27FC236}">
                <a16:creationId xmlns:a16="http://schemas.microsoft.com/office/drawing/2014/main" id="{C7889C93-7E6F-9B4F-3E92-59B275C96E0E}"/>
              </a:ext>
            </a:extLst>
          </p:cNvPr>
          <p:cNvCxnSpPr/>
          <p:nvPr/>
        </p:nvCxnSpPr>
        <p:spPr>
          <a:xfrm>
            <a:off x="8601335" y="1681351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807;p64">
            <a:extLst>
              <a:ext uri="{FF2B5EF4-FFF2-40B4-BE49-F238E27FC236}">
                <a16:creationId xmlns:a16="http://schemas.microsoft.com/office/drawing/2014/main" id="{790869A1-51AA-20D7-1B18-712A0A014067}"/>
              </a:ext>
            </a:extLst>
          </p:cNvPr>
          <p:cNvSpPr txBox="1"/>
          <p:nvPr/>
        </p:nvSpPr>
        <p:spPr>
          <a:xfrm>
            <a:off x="8001344" y="4624751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" name="Google Shape;808;p64">
            <a:extLst>
              <a:ext uri="{FF2B5EF4-FFF2-40B4-BE49-F238E27FC236}">
                <a16:creationId xmlns:a16="http://schemas.microsoft.com/office/drawing/2014/main" id="{C7982609-CEFC-3602-BA19-911BDC1177F4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5579935" y="2261470"/>
            <a:ext cx="2984854" cy="400845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" name="Google Shape;809;p64">
            <a:extLst>
              <a:ext uri="{FF2B5EF4-FFF2-40B4-BE49-F238E27FC236}">
                <a16:creationId xmlns:a16="http://schemas.microsoft.com/office/drawing/2014/main" id="{7CE31F67-22F8-98D1-3081-FD6C5D889CE2}"/>
              </a:ext>
            </a:extLst>
          </p:cNvPr>
          <p:cNvCxnSpPr/>
          <p:nvPr/>
        </p:nvCxnSpPr>
        <p:spPr>
          <a:xfrm>
            <a:off x="5581910" y="1870601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Google Shape;810;p64">
            <a:extLst>
              <a:ext uri="{FF2B5EF4-FFF2-40B4-BE49-F238E27FC236}">
                <a16:creationId xmlns:a16="http://schemas.microsoft.com/office/drawing/2014/main" id="{F8CDE673-0D33-019E-A22C-897BF30BE0DA}"/>
              </a:ext>
            </a:extLst>
          </p:cNvPr>
          <p:cNvCxnSpPr/>
          <p:nvPr/>
        </p:nvCxnSpPr>
        <p:spPr>
          <a:xfrm>
            <a:off x="5581910" y="2017011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" name="Google Shape;811;p64">
            <a:extLst>
              <a:ext uri="{FF2B5EF4-FFF2-40B4-BE49-F238E27FC236}">
                <a16:creationId xmlns:a16="http://schemas.microsoft.com/office/drawing/2014/main" id="{200F4FA5-61E2-2C4D-F782-0EFFFF4891C6}"/>
              </a:ext>
            </a:extLst>
          </p:cNvPr>
          <p:cNvCxnSpPr/>
          <p:nvPr/>
        </p:nvCxnSpPr>
        <p:spPr>
          <a:xfrm>
            <a:off x="5581910" y="216342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" name="Google Shape;812;p64">
            <a:extLst>
              <a:ext uri="{FF2B5EF4-FFF2-40B4-BE49-F238E27FC236}">
                <a16:creationId xmlns:a16="http://schemas.microsoft.com/office/drawing/2014/main" id="{0DC2191D-353C-4EC3-0D1D-0E2BE8D3F34C}"/>
              </a:ext>
            </a:extLst>
          </p:cNvPr>
          <p:cNvCxnSpPr/>
          <p:nvPr/>
        </p:nvCxnSpPr>
        <p:spPr>
          <a:xfrm>
            <a:off x="5581910" y="230983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" name="Google Shape;813;p64">
            <a:extLst>
              <a:ext uri="{FF2B5EF4-FFF2-40B4-BE49-F238E27FC236}">
                <a16:creationId xmlns:a16="http://schemas.microsoft.com/office/drawing/2014/main" id="{C86909A4-4206-164F-BA38-32AF5C805CD2}"/>
              </a:ext>
            </a:extLst>
          </p:cNvPr>
          <p:cNvSpPr txBox="1"/>
          <p:nvPr/>
        </p:nvSpPr>
        <p:spPr>
          <a:xfrm>
            <a:off x="5364396" y="1715760"/>
            <a:ext cx="264300" cy="11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1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2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3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4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5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6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7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814;p64">
            <a:extLst>
              <a:ext uri="{FF2B5EF4-FFF2-40B4-BE49-F238E27FC236}">
                <a16:creationId xmlns:a16="http://schemas.microsoft.com/office/drawing/2014/main" id="{545DFDCD-1E9F-6D88-B825-909FC289F0D0}"/>
              </a:ext>
            </a:extLst>
          </p:cNvPr>
          <p:cNvSpPr txBox="1"/>
          <p:nvPr/>
        </p:nvSpPr>
        <p:spPr>
          <a:xfrm>
            <a:off x="8564789" y="2092120"/>
            <a:ext cx="667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 dirty="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" name="Google Shape;815;p64">
            <a:extLst>
              <a:ext uri="{FF2B5EF4-FFF2-40B4-BE49-F238E27FC236}">
                <a16:creationId xmlns:a16="http://schemas.microsoft.com/office/drawing/2014/main" id="{1FF5AA0D-C84A-B3C9-1C9F-6D951EBCD41A}"/>
              </a:ext>
            </a:extLst>
          </p:cNvPr>
          <p:cNvCxnSpPr/>
          <p:nvPr/>
        </p:nvCxnSpPr>
        <p:spPr>
          <a:xfrm>
            <a:off x="5581910" y="269083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Google Shape;816;p64">
            <a:extLst>
              <a:ext uri="{FF2B5EF4-FFF2-40B4-BE49-F238E27FC236}">
                <a16:creationId xmlns:a16="http://schemas.microsoft.com/office/drawing/2014/main" id="{8C7F0EB4-DF31-BAEE-1C24-493C7448B727}"/>
              </a:ext>
            </a:extLst>
          </p:cNvPr>
          <p:cNvSpPr txBox="1"/>
          <p:nvPr/>
        </p:nvSpPr>
        <p:spPr>
          <a:xfrm>
            <a:off x="6652635" y="4162952"/>
            <a:ext cx="876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6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5" name="Google Shape;817;p64">
            <a:extLst>
              <a:ext uri="{FF2B5EF4-FFF2-40B4-BE49-F238E27FC236}">
                <a16:creationId xmlns:a16="http://schemas.microsoft.com/office/drawing/2014/main" id="{192EDEED-F63D-573D-A0EA-93B17C05A575}"/>
              </a:ext>
            </a:extLst>
          </p:cNvPr>
          <p:cNvGrpSpPr/>
          <p:nvPr/>
        </p:nvGrpSpPr>
        <p:grpSpPr>
          <a:xfrm>
            <a:off x="5096185" y="1870591"/>
            <a:ext cx="192000" cy="779400"/>
            <a:chOff x="2715500" y="931825"/>
            <a:chExt cx="192000" cy="1556000"/>
          </a:xfrm>
        </p:grpSpPr>
        <p:cxnSp>
          <p:nvCxnSpPr>
            <p:cNvPr id="16" name="Google Shape;818;p64">
              <a:extLst>
                <a:ext uri="{FF2B5EF4-FFF2-40B4-BE49-F238E27FC236}">
                  <a16:creationId xmlns:a16="http://schemas.microsoft.com/office/drawing/2014/main" id="{0F9795D4-7A12-4BB2-CA81-7B2AFDB2A535}"/>
                </a:ext>
              </a:extLst>
            </p:cNvPr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819;p64">
              <a:extLst>
                <a:ext uri="{FF2B5EF4-FFF2-40B4-BE49-F238E27FC236}">
                  <a16:creationId xmlns:a16="http://schemas.microsoft.com/office/drawing/2014/main" id="{82C476C1-F4E4-F2F1-F706-0CF6409DD499}"/>
                </a:ext>
              </a:extLst>
            </p:cNvPr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820;p64">
              <a:extLst>
                <a:ext uri="{FF2B5EF4-FFF2-40B4-BE49-F238E27FC236}">
                  <a16:creationId xmlns:a16="http://schemas.microsoft.com/office/drawing/2014/main" id="{F7591CB2-E20E-F797-A3E2-B75E1EB375DA}"/>
                </a:ext>
              </a:extLst>
            </p:cNvPr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" name="Google Shape;821;p64">
            <a:extLst>
              <a:ext uri="{FF2B5EF4-FFF2-40B4-BE49-F238E27FC236}">
                <a16:creationId xmlns:a16="http://schemas.microsoft.com/office/drawing/2014/main" id="{31C7E1E1-8FD7-F402-8932-37C8D33D8B81}"/>
              </a:ext>
            </a:extLst>
          </p:cNvPr>
          <p:cNvSpPr txBox="1"/>
          <p:nvPr/>
        </p:nvSpPr>
        <p:spPr>
          <a:xfrm>
            <a:off x="3723360" y="2060202"/>
            <a:ext cx="1420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RTT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" name="Google Shape;822;p64">
            <a:extLst>
              <a:ext uri="{FF2B5EF4-FFF2-40B4-BE49-F238E27FC236}">
                <a16:creationId xmlns:a16="http://schemas.microsoft.com/office/drawing/2014/main" id="{AC20DDB1-CFDB-8CF2-7740-2BD872D3B963}"/>
              </a:ext>
            </a:extLst>
          </p:cNvPr>
          <p:cNvCxnSpPr/>
          <p:nvPr/>
        </p:nvCxnSpPr>
        <p:spPr>
          <a:xfrm>
            <a:off x="5581910" y="2438267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" name="Google Shape;823;p64">
            <a:extLst>
              <a:ext uri="{FF2B5EF4-FFF2-40B4-BE49-F238E27FC236}">
                <a16:creationId xmlns:a16="http://schemas.microsoft.com/office/drawing/2014/main" id="{6F5849CC-4C67-8336-2344-995FF536D0EB}"/>
              </a:ext>
            </a:extLst>
          </p:cNvPr>
          <p:cNvCxnSpPr/>
          <p:nvPr/>
        </p:nvCxnSpPr>
        <p:spPr>
          <a:xfrm>
            <a:off x="5581910" y="2560715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" name="Google Shape;778;p63">
            <a:extLst>
              <a:ext uri="{FF2B5EF4-FFF2-40B4-BE49-F238E27FC236}">
                <a16:creationId xmlns:a16="http://schemas.microsoft.com/office/drawing/2014/main" id="{F2C23665-58A2-61D7-59D1-0E998576A9BC}"/>
              </a:ext>
            </a:extLst>
          </p:cNvPr>
          <p:cNvSpPr txBox="1">
            <a:spLocks/>
          </p:cNvSpPr>
          <p:nvPr/>
        </p:nvSpPr>
        <p:spPr>
          <a:xfrm>
            <a:off x="4619280" y="365489"/>
            <a:ext cx="4292350" cy="13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>
              <a:buNone/>
            </a:pPr>
            <a:r>
              <a:rPr lang="en-US" altLang="zh-CN" dirty="0"/>
              <a:t>The sender is busy the entire RTT sending </a:t>
            </a:r>
            <a:r>
              <a:rPr lang="en-US" altLang="zh-CN" i="1" dirty="0"/>
              <a:t>W</a:t>
            </a:r>
            <a:r>
              <a:rPr lang="en-US" altLang="zh-CN" dirty="0"/>
              <a:t> = 6 packets. ack(1) arrives just as the last of the 6 packets leaves.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(1/3): Filling the Pipe</a:t>
            </a:r>
            <a:endParaRPr/>
          </a:p>
        </p:txBody>
      </p:sp>
      <p:sp>
        <p:nvSpPr>
          <p:cNvPr id="829" name="Google Shape;829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To fill the pipe: </a:t>
            </a:r>
            <a:r>
              <a:rPr lang="en" i="1" dirty="0"/>
              <a:t>W</a:t>
            </a:r>
            <a:r>
              <a:rPr lang="en" dirty="0"/>
              <a:t> </a:t>
            </a:r>
            <a:r>
              <a:rPr lang="en"/>
              <a:t>= RTT </a:t>
            </a:r>
            <a:r>
              <a:rPr lang="en" dirty="0"/>
              <a:t>× bandwidth.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What exactly is the bandwidth?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minimum ("bottleneck") link bandwidth along the path.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tells us how fast packets can be sent (without clogging the network).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could rewrite this in terms of bytes, not packets.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× (packet size) </a:t>
            </a:r>
            <a:r>
              <a:rPr lang="en"/>
              <a:t>= RTT </a:t>
            </a:r>
            <a:r>
              <a:rPr lang="en" dirty="0"/>
              <a:t>× bandwidth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= window size, in packets, and </a:t>
            </a:r>
            <a:r>
              <a:rPr lang="en" i="1" dirty="0"/>
              <a:t>W</a:t>
            </a:r>
            <a:r>
              <a:rPr lang="en" dirty="0"/>
              <a:t> × (packet size) = window size, in bytes.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Bandwidth now measured in bits/second, not packets/second.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gives us an </a:t>
            </a:r>
            <a:r>
              <a:rPr lang="en" i="1" dirty="0"/>
              <a:t>upper bound</a:t>
            </a:r>
            <a:r>
              <a:rPr lang="en" dirty="0"/>
              <a:t> on the desired size of </a:t>
            </a:r>
            <a:r>
              <a:rPr lang="en" i="1" dirty="0"/>
              <a:t>W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other two conditions (don't overload recipient and network) might impose stricter limits and decrease </a:t>
            </a:r>
            <a:r>
              <a:rPr lang="en" i="1" dirty="0"/>
              <a:t>W</a:t>
            </a:r>
            <a:r>
              <a:rPr lang="e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66"/>
          <p:cNvSpPr/>
          <p:nvPr/>
        </p:nvSpPr>
        <p:spPr>
          <a:xfrm>
            <a:off x="4671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66"/>
          <p:cNvSpPr/>
          <p:nvPr/>
        </p:nvSpPr>
        <p:spPr>
          <a:xfrm>
            <a:off x="46717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6" name="Google Shape;836;p66"/>
          <p:cNvSpPr/>
          <p:nvPr/>
        </p:nvSpPr>
        <p:spPr>
          <a:xfrm>
            <a:off x="997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7" name="Google Shape;837;p66"/>
          <p:cNvSpPr/>
          <p:nvPr/>
        </p:nvSpPr>
        <p:spPr>
          <a:xfrm>
            <a:off x="99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8" name="Google Shape;838;p66"/>
          <p:cNvSpPr/>
          <p:nvPr/>
        </p:nvSpPr>
        <p:spPr>
          <a:xfrm rot="-5400000">
            <a:off x="1840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9" name="Google Shape;839;p66"/>
          <p:cNvSpPr/>
          <p:nvPr/>
        </p:nvSpPr>
        <p:spPr>
          <a:xfrm rot="-5400000">
            <a:off x="6412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0" name="Google Shape;840;p66"/>
          <p:cNvSpPr/>
          <p:nvPr/>
        </p:nvSpPr>
        <p:spPr>
          <a:xfrm rot="-5400000">
            <a:off x="6412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1" name="Google Shape;841;p66"/>
          <p:cNvSpPr/>
          <p:nvPr/>
        </p:nvSpPr>
        <p:spPr>
          <a:xfrm>
            <a:off x="175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2" name="Google Shape;842;p66"/>
          <p:cNvSpPr/>
          <p:nvPr/>
        </p:nvSpPr>
        <p:spPr>
          <a:xfrm>
            <a:off x="252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3" name="Google Shape;843;p66"/>
          <p:cNvSpPr/>
          <p:nvPr/>
        </p:nvSpPr>
        <p:spPr>
          <a:xfrm>
            <a:off x="328375" y="995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4" name="Google Shape;844;p66"/>
          <p:cNvSpPr/>
          <p:nvPr/>
        </p:nvSpPr>
        <p:spPr>
          <a:xfrm>
            <a:off x="404575" y="918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5" name="Google Shape;845;p66"/>
          <p:cNvSpPr/>
          <p:nvPr/>
        </p:nvSpPr>
        <p:spPr>
          <a:xfrm>
            <a:off x="480775" y="842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p66"/>
          <p:cNvSpPr/>
          <p:nvPr/>
        </p:nvSpPr>
        <p:spPr>
          <a:xfrm>
            <a:off x="556975" y="766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7" name="Google Shape;847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(1/3): Filling the Pipe (</a:t>
            </a:r>
            <a:r>
              <a:rPr lang="en" i="1" dirty="0">
                <a:solidFill>
                  <a:srgbClr val="C00000"/>
                </a:solidFill>
              </a:rPr>
              <a:t>W</a:t>
            </a:r>
            <a:r>
              <a:rPr lang="en" dirty="0">
                <a:solidFill>
                  <a:srgbClr val="C00000"/>
                </a:solidFill>
              </a:rPr>
              <a:t> = 6</a:t>
            </a:r>
            <a:r>
              <a:rPr lang="en" dirty="0">
                <a:solidFill>
                  <a:schemeClr val="accent3"/>
                </a:solidFill>
              </a:rPr>
              <a:t>)</a:t>
            </a:r>
            <a:endParaRPr dirty="0"/>
          </a:p>
        </p:txBody>
      </p:sp>
      <p:sp>
        <p:nvSpPr>
          <p:cNvPr id="848" name="Google Shape;848;p66"/>
          <p:cNvSpPr/>
          <p:nvPr/>
        </p:nvSpPr>
        <p:spPr>
          <a:xfrm rot="-5400000">
            <a:off x="1840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9" name="Google Shape;849;p66"/>
          <p:cNvCxnSpPr/>
          <p:nvPr/>
        </p:nvCxnSpPr>
        <p:spPr>
          <a:xfrm>
            <a:off x="4572000" y="393600"/>
            <a:ext cx="0" cy="475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0" name="Google Shape;850;p66"/>
          <p:cNvCxnSpPr/>
          <p:nvPr/>
        </p:nvCxnSpPr>
        <p:spPr>
          <a:xfrm>
            <a:off x="400" y="2763350"/>
            <a:ext cx="9143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1" name="Google Shape;851;p66"/>
          <p:cNvCxnSpPr/>
          <p:nvPr/>
        </p:nvCxnSpPr>
        <p:spPr>
          <a:xfrm rot="10800000" flipH="1">
            <a:off x="3078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52" name="Google Shape;852;p66"/>
          <p:cNvSpPr/>
          <p:nvPr/>
        </p:nvSpPr>
        <p:spPr>
          <a:xfrm rot="5400000">
            <a:off x="1840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3" name="Google Shape;853;p66"/>
          <p:cNvCxnSpPr/>
          <p:nvPr/>
        </p:nvCxnSpPr>
        <p:spPr>
          <a:xfrm>
            <a:off x="1463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54" name="Google Shape;854;p66"/>
          <p:cNvCxnSpPr/>
          <p:nvPr/>
        </p:nvCxnSpPr>
        <p:spPr>
          <a:xfrm>
            <a:off x="1463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55" name="Google Shape;855;p66"/>
          <p:cNvSpPr txBox="1"/>
          <p:nvPr/>
        </p:nvSpPr>
        <p:spPr>
          <a:xfrm>
            <a:off x="287866" y="2471025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6" name="Google Shape;856;p66"/>
          <p:cNvSpPr txBox="1"/>
          <p:nvPr/>
        </p:nvSpPr>
        <p:spPr>
          <a:xfrm>
            <a:off x="3602066" y="247102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7" name="Google Shape;857;p66"/>
          <p:cNvSpPr txBox="1"/>
          <p:nvPr/>
        </p:nvSpPr>
        <p:spPr>
          <a:xfrm>
            <a:off x="1817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66"/>
          <p:cNvSpPr/>
          <p:nvPr/>
        </p:nvSpPr>
        <p:spPr>
          <a:xfrm>
            <a:off x="4747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66"/>
          <p:cNvSpPr/>
          <p:nvPr/>
        </p:nvSpPr>
        <p:spPr>
          <a:xfrm>
            <a:off x="4824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66"/>
          <p:cNvSpPr/>
          <p:nvPr/>
        </p:nvSpPr>
        <p:spPr>
          <a:xfrm>
            <a:off x="4900375" y="995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66"/>
          <p:cNvSpPr/>
          <p:nvPr/>
        </p:nvSpPr>
        <p:spPr>
          <a:xfrm>
            <a:off x="4976575" y="918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66"/>
          <p:cNvSpPr/>
          <p:nvPr/>
        </p:nvSpPr>
        <p:spPr>
          <a:xfrm>
            <a:off x="5052775" y="842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66"/>
          <p:cNvSpPr/>
          <p:nvPr/>
        </p:nvSpPr>
        <p:spPr>
          <a:xfrm>
            <a:off x="60650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4" name="Google Shape;864;p66"/>
          <p:cNvCxnSpPr/>
          <p:nvPr/>
        </p:nvCxnSpPr>
        <p:spPr>
          <a:xfrm rot="10800000" flipH="1">
            <a:off x="7650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65" name="Google Shape;865;p66"/>
          <p:cNvSpPr/>
          <p:nvPr/>
        </p:nvSpPr>
        <p:spPr>
          <a:xfrm rot="5400000">
            <a:off x="6412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6" name="Google Shape;866;p66"/>
          <p:cNvCxnSpPr/>
          <p:nvPr/>
        </p:nvCxnSpPr>
        <p:spPr>
          <a:xfrm>
            <a:off x="6035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67" name="Google Shape;867;p66"/>
          <p:cNvCxnSpPr/>
          <p:nvPr/>
        </p:nvCxnSpPr>
        <p:spPr>
          <a:xfrm>
            <a:off x="6035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68" name="Google Shape;868;p66"/>
          <p:cNvSpPr txBox="1"/>
          <p:nvPr/>
        </p:nvSpPr>
        <p:spPr>
          <a:xfrm>
            <a:off x="4859865" y="2471025"/>
            <a:ext cx="1675923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1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66"/>
          <p:cNvSpPr txBox="1"/>
          <p:nvPr/>
        </p:nvSpPr>
        <p:spPr>
          <a:xfrm>
            <a:off x="7942568" y="2471025"/>
            <a:ext cx="1156063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waits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0" name="Google Shape;870;p66"/>
          <p:cNvSpPr txBox="1"/>
          <p:nvPr/>
        </p:nvSpPr>
        <p:spPr>
          <a:xfrm>
            <a:off x="6389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1" name="Google Shape;871;p66"/>
          <p:cNvSpPr/>
          <p:nvPr/>
        </p:nvSpPr>
        <p:spPr>
          <a:xfrm>
            <a:off x="175975" y="3433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2" name="Google Shape;872;p66"/>
          <p:cNvSpPr/>
          <p:nvPr/>
        </p:nvSpPr>
        <p:spPr>
          <a:xfrm>
            <a:off x="252175" y="3357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3" name="Google Shape;873;p66"/>
          <p:cNvSpPr/>
          <p:nvPr/>
        </p:nvSpPr>
        <p:spPr>
          <a:xfrm>
            <a:off x="328375" y="3281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4" name="Google Shape;874;p66"/>
          <p:cNvSpPr/>
          <p:nvPr/>
        </p:nvSpPr>
        <p:spPr>
          <a:xfrm>
            <a:off x="404575" y="3204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5" name="Google Shape;875;p66"/>
          <p:cNvSpPr/>
          <p:nvPr/>
        </p:nvSpPr>
        <p:spPr>
          <a:xfrm>
            <a:off x="19433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6" name="Google Shape;876;p66"/>
          <p:cNvCxnSpPr/>
          <p:nvPr/>
        </p:nvCxnSpPr>
        <p:spPr>
          <a:xfrm rot="10800000" flipH="1">
            <a:off x="3078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77" name="Google Shape;877;p66"/>
          <p:cNvSpPr/>
          <p:nvPr/>
        </p:nvSpPr>
        <p:spPr>
          <a:xfrm rot="5400000">
            <a:off x="1840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8" name="Google Shape;878;p66"/>
          <p:cNvCxnSpPr/>
          <p:nvPr/>
        </p:nvCxnSpPr>
        <p:spPr>
          <a:xfrm>
            <a:off x="1463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79" name="Google Shape;879;p66"/>
          <p:cNvCxnSpPr/>
          <p:nvPr/>
        </p:nvCxnSpPr>
        <p:spPr>
          <a:xfrm>
            <a:off x="1463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80" name="Google Shape;880;p66"/>
          <p:cNvSpPr txBox="1"/>
          <p:nvPr/>
        </p:nvSpPr>
        <p:spPr>
          <a:xfrm>
            <a:off x="287866" y="4757025"/>
            <a:ext cx="1655484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2</a:t>
            </a:r>
          </a:p>
        </p:txBody>
      </p:sp>
      <p:sp>
        <p:nvSpPr>
          <p:cNvPr id="881" name="Google Shape;881;p66"/>
          <p:cNvSpPr txBox="1"/>
          <p:nvPr/>
        </p:nvSpPr>
        <p:spPr>
          <a:xfrm>
            <a:off x="3421061" y="4757752"/>
            <a:ext cx="1145909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waits</a:t>
            </a:r>
          </a:p>
        </p:txBody>
      </p:sp>
      <p:sp>
        <p:nvSpPr>
          <p:cNvPr id="882" name="Google Shape;882;p66"/>
          <p:cNvSpPr txBox="1"/>
          <p:nvPr/>
        </p:nvSpPr>
        <p:spPr>
          <a:xfrm>
            <a:off x="1817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3" name="Google Shape;883;p66"/>
          <p:cNvSpPr/>
          <p:nvPr/>
        </p:nvSpPr>
        <p:spPr>
          <a:xfrm>
            <a:off x="4747975" y="3433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4" name="Google Shape;884;p66"/>
          <p:cNvSpPr/>
          <p:nvPr/>
        </p:nvSpPr>
        <p:spPr>
          <a:xfrm>
            <a:off x="4824175" y="3357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5" name="Google Shape;885;p66"/>
          <p:cNvSpPr/>
          <p:nvPr/>
        </p:nvSpPr>
        <p:spPr>
          <a:xfrm>
            <a:off x="4900375" y="3281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66"/>
          <p:cNvSpPr/>
          <p:nvPr/>
        </p:nvSpPr>
        <p:spPr>
          <a:xfrm>
            <a:off x="69656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66"/>
          <p:cNvSpPr/>
          <p:nvPr/>
        </p:nvSpPr>
        <p:spPr>
          <a:xfrm>
            <a:off x="6065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8" name="Google Shape;888;p66"/>
          <p:cNvCxnSpPr/>
          <p:nvPr/>
        </p:nvCxnSpPr>
        <p:spPr>
          <a:xfrm rot="10800000" flipH="1">
            <a:off x="7650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89" name="Google Shape;889;p66"/>
          <p:cNvSpPr/>
          <p:nvPr/>
        </p:nvSpPr>
        <p:spPr>
          <a:xfrm rot="5400000">
            <a:off x="6412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0" name="Google Shape;890;p66"/>
          <p:cNvCxnSpPr/>
          <p:nvPr/>
        </p:nvCxnSpPr>
        <p:spPr>
          <a:xfrm>
            <a:off x="6035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91" name="Google Shape;891;p66"/>
          <p:cNvCxnSpPr/>
          <p:nvPr/>
        </p:nvCxnSpPr>
        <p:spPr>
          <a:xfrm>
            <a:off x="6035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92" name="Google Shape;892;p66"/>
          <p:cNvSpPr txBox="1"/>
          <p:nvPr/>
        </p:nvSpPr>
        <p:spPr>
          <a:xfrm>
            <a:off x="4859865" y="4757025"/>
            <a:ext cx="1675919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3</a:t>
            </a:r>
          </a:p>
        </p:txBody>
      </p:sp>
      <p:sp>
        <p:nvSpPr>
          <p:cNvPr id="893" name="Google Shape;893;p66"/>
          <p:cNvSpPr txBox="1"/>
          <p:nvPr/>
        </p:nvSpPr>
        <p:spPr>
          <a:xfrm>
            <a:off x="7921680" y="4775053"/>
            <a:ext cx="1125315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waits</a:t>
            </a:r>
          </a:p>
        </p:txBody>
      </p:sp>
      <p:sp>
        <p:nvSpPr>
          <p:cNvPr id="894" name="Google Shape;894;p66"/>
          <p:cNvSpPr txBox="1"/>
          <p:nvPr/>
        </p:nvSpPr>
        <p:spPr>
          <a:xfrm>
            <a:off x="6389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66"/>
          <p:cNvSpPr/>
          <p:nvPr/>
        </p:nvSpPr>
        <p:spPr>
          <a:xfrm>
            <a:off x="1493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66"/>
          <p:cNvSpPr/>
          <p:nvPr/>
        </p:nvSpPr>
        <p:spPr>
          <a:xfrm>
            <a:off x="65153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66"/>
          <p:cNvSpPr txBox="1"/>
          <p:nvPr/>
        </p:nvSpPr>
        <p:spPr>
          <a:xfrm>
            <a:off x="372981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8" name="Google Shape;898;p66"/>
          <p:cNvSpPr txBox="1"/>
          <p:nvPr/>
        </p:nvSpPr>
        <p:spPr>
          <a:xfrm>
            <a:off x="817406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9" name="Google Shape;899;p66"/>
          <p:cNvSpPr txBox="1"/>
          <p:nvPr/>
        </p:nvSpPr>
        <p:spPr>
          <a:xfrm>
            <a:off x="372981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66"/>
          <p:cNvSpPr txBox="1"/>
          <p:nvPr/>
        </p:nvSpPr>
        <p:spPr>
          <a:xfrm>
            <a:off x="817406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67"/>
          <p:cNvSpPr/>
          <p:nvPr/>
        </p:nvSpPr>
        <p:spPr>
          <a:xfrm>
            <a:off x="997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6" name="Google Shape;906;p67"/>
          <p:cNvSpPr/>
          <p:nvPr/>
        </p:nvSpPr>
        <p:spPr>
          <a:xfrm>
            <a:off x="99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67"/>
          <p:cNvSpPr/>
          <p:nvPr/>
        </p:nvSpPr>
        <p:spPr>
          <a:xfrm>
            <a:off x="4671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8" name="Google Shape;908;p67"/>
          <p:cNvSpPr/>
          <p:nvPr/>
        </p:nvSpPr>
        <p:spPr>
          <a:xfrm rot="-5400000">
            <a:off x="1840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9" name="Google Shape;909;p67"/>
          <p:cNvSpPr/>
          <p:nvPr/>
        </p:nvSpPr>
        <p:spPr>
          <a:xfrm rot="-5400000">
            <a:off x="6412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0" name="Google Shape;910;p67"/>
          <p:cNvSpPr/>
          <p:nvPr/>
        </p:nvSpPr>
        <p:spPr>
          <a:xfrm rot="-5400000">
            <a:off x="6412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1" name="Google Shape;911;p67"/>
          <p:cNvSpPr/>
          <p:nvPr/>
        </p:nvSpPr>
        <p:spPr>
          <a:xfrm>
            <a:off x="175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2" name="Google Shape;912;p67"/>
          <p:cNvSpPr/>
          <p:nvPr/>
        </p:nvSpPr>
        <p:spPr>
          <a:xfrm>
            <a:off x="252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3" name="Google Shape;913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(2/3): Filling the Pipe (</a:t>
            </a:r>
            <a:r>
              <a:rPr lang="en" i="1" dirty="0">
                <a:solidFill>
                  <a:srgbClr val="C00000"/>
                </a:solidFill>
              </a:rPr>
              <a:t>W</a:t>
            </a:r>
            <a:r>
              <a:rPr lang="en" dirty="0">
                <a:solidFill>
                  <a:srgbClr val="C00000"/>
                </a:solidFill>
              </a:rPr>
              <a:t> = 6</a:t>
            </a:r>
            <a:r>
              <a:rPr lang="en" dirty="0">
                <a:solidFill>
                  <a:schemeClr val="accent3"/>
                </a:solidFill>
              </a:rPr>
              <a:t>)</a:t>
            </a:r>
            <a:endParaRPr dirty="0"/>
          </a:p>
        </p:txBody>
      </p:sp>
      <p:sp>
        <p:nvSpPr>
          <p:cNvPr id="914" name="Google Shape;914;p67"/>
          <p:cNvSpPr/>
          <p:nvPr/>
        </p:nvSpPr>
        <p:spPr>
          <a:xfrm rot="-5400000">
            <a:off x="1840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5" name="Google Shape;915;p67"/>
          <p:cNvCxnSpPr/>
          <p:nvPr/>
        </p:nvCxnSpPr>
        <p:spPr>
          <a:xfrm>
            <a:off x="4572000" y="393600"/>
            <a:ext cx="0" cy="475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6" name="Google Shape;916;p67"/>
          <p:cNvCxnSpPr/>
          <p:nvPr/>
        </p:nvCxnSpPr>
        <p:spPr>
          <a:xfrm>
            <a:off x="400" y="2763350"/>
            <a:ext cx="9143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7" name="Google Shape;917;p67"/>
          <p:cNvCxnSpPr/>
          <p:nvPr/>
        </p:nvCxnSpPr>
        <p:spPr>
          <a:xfrm rot="10800000" flipH="1">
            <a:off x="3078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18" name="Google Shape;918;p67"/>
          <p:cNvSpPr/>
          <p:nvPr/>
        </p:nvSpPr>
        <p:spPr>
          <a:xfrm rot="5400000">
            <a:off x="1840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9" name="Google Shape;919;p67"/>
          <p:cNvCxnSpPr/>
          <p:nvPr/>
        </p:nvCxnSpPr>
        <p:spPr>
          <a:xfrm>
            <a:off x="1463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0" name="Google Shape;920;p67"/>
          <p:cNvCxnSpPr/>
          <p:nvPr/>
        </p:nvCxnSpPr>
        <p:spPr>
          <a:xfrm>
            <a:off x="1463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21" name="Google Shape;921;p67"/>
          <p:cNvSpPr txBox="1"/>
          <p:nvPr/>
        </p:nvSpPr>
        <p:spPr>
          <a:xfrm>
            <a:off x="287866" y="2471025"/>
            <a:ext cx="1655484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4</a:t>
            </a:r>
          </a:p>
        </p:txBody>
      </p:sp>
      <p:sp>
        <p:nvSpPr>
          <p:cNvPr id="922" name="Google Shape;922;p67"/>
          <p:cNvSpPr txBox="1"/>
          <p:nvPr/>
        </p:nvSpPr>
        <p:spPr>
          <a:xfrm>
            <a:off x="2911627" y="2367289"/>
            <a:ext cx="1631231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1, sends ack(1)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3" name="Google Shape;923;p67"/>
          <p:cNvSpPr txBox="1"/>
          <p:nvPr/>
        </p:nvSpPr>
        <p:spPr>
          <a:xfrm>
            <a:off x="1817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4" name="Google Shape;924;p67"/>
          <p:cNvSpPr/>
          <p:nvPr/>
        </p:nvSpPr>
        <p:spPr>
          <a:xfrm>
            <a:off x="4747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5" name="Google Shape;925;p67"/>
          <p:cNvCxnSpPr/>
          <p:nvPr/>
        </p:nvCxnSpPr>
        <p:spPr>
          <a:xfrm rot="10800000" flipH="1">
            <a:off x="7650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26" name="Google Shape;926;p67"/>
          <p:cNvSpPr/>
          <p:nvPr/>
        </p:nvSpPr>
        <p:spPr>
          <a:xfrm rot="5400000">
            <a:off x="6412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7" name="Google Shape;927;p67"/>
          <p:cNvCxnSpPr/>
          <p:nvPr/>
        </p:nvCxnSpPr>
        <p:spPr>
          <a:xfrm>
            <a:off x="6035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8" name="Google Shape;928;p67"/>
          <p:cNvCxnSpPr/>
          <p:nvPr/>
        </p:nvCxnSpPr>
        <p:spPr>
          <a:xfrm>
            <a:off x="6035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29" name="Google Shape;929;p67"/>
          <p:cNvSpPr txBox="1"/>
          <p:nvPr/>
        </p:nvSpPr>
        <p:spPr>
          <a:xfrm>
            <a:off x="4859866" y="2471025"/>
            <a:ext cx="1655484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5</a:t>
            </a:r>
          </a:p>
        </p:txBody>
      </p:sp>
      <p:sp>
        <p:nvSpPr>
          <p:cNvPr id="930" name="Google Shape;930;p67"/>
          <p:cNvSpPr txBox="1"/>
          <p:nvPr/>
        </p:nvSpPr>
        <p:spPr>
          <a:xfrm>
            <a:off x="7520080" y="2378980"/>
            <a:ext cx="156383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2, sends ack(2)</a:t>
            </a:r>
          </a:p>
        </p:txBody>
      </p:sp>
      <p:sp>
        <p:nvSpPr>
          <p:cNvPr id="931" name="Google Shape;931;p67"/>
          <p:cNvSpPr txBox="1"/>
          <p:nvPr/>
        </p:nvSpPr>
        <p:spPr>
          <a:xfrm>
            <a:off x="6389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2" name="Google Shape;932;p67"/>
          <p:cNvSpPr/>
          <p:nvPr/>
        </p:nvSpPr>
        <p:spPr>
          <a:xfrm>
            <a:off x="19433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3" name="Google Shape;933;p67"/>
          <p:cNvCxnSpPr/>
          <p:nvPr/>
        </p:nvCxnSpPr>
        <p:spPr>
          <a:xfrm rot="10800000" flipH="1">
            <a:off x="3078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34" name="Google Shape;934;p67"/>
          <p:cNvSpPr/>
          <p:nvPr/>
        </p:nvSpPr>
        <p:spPr>
          <a:xfrm rot="5400000">
            <a:off x="1840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5" name="Google Shape;935;p67"/>
          <p:cNvCxnSpPr/>
          <p:nvPr/>
        </p:nvCxnSpPr>
        <p:spPr>
          <a:xfrm>
            <a:off x="1463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6" name="Google Shape;936;p67"/>
          <p:cNvCxnSpPr/>
          <p:nvPr/>
        </p:nvCxnSpPr>
        <p:spPr>
          <a:xfrm>
            <a:off x="1463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37" name="Google Shape;937;p67"/>
          <p:cNvSpPr txBox="1"/>
          <p:nvPr/>
        </p:nvSpPr>
        <p:spPr>
          <a:xfrm>
            <a:off x="287865" y="4757025"/>
            <a:ext cx="1655484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6</a:t>
            </a:r>
          </a:p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Now pipe is full</a:t>
            </a:r>
          </a:p>
        </p:txBody>
      </p:sp>
      <p:sp>
        <p:nvSpPr>
          <p:cNvPr id="938" name="Google Shape;938;p67"/>
          <p:cNvSpPr txBox="1"/>
          <p:nvPr/>
        </p:nvSpPr>
        <p:spPr>
          <a:xfrm>
            <a:off x="2944484" y="4688840"/>
            <a:ext cx="1630309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3, sends ack(3)</a:t>
            </a:r>
          </a:p>
        </p:txBody>
      </p:sp>
      <p:sp>
        <p:nvSpPr>
          <p:cNvPr id="939" name="Google Shape;939;p67"/>
          <p:cNvSpPr txBox="1"/>
          <p:nvPr/>
        </p:nvSpPr>
        <p:spPr>
          <a:xfrm>
            <a:off x="1817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0" name="Google Shape;940;p67"/>
          <p:cNvSpPr/>
          <p:nvPr/>
        </p:nvSpPr>
        <p:spPr>
          <a:xfrm>
            <a:off x="69656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1" name="Google Shape;941;p67"/>
          <p:cNvSpPr/>
          <p:nvPr/>
        </p:nvSpPr>
        <p:spPr>
          <a:xfrm>
            <a:off x="6065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2" name="Google Shape;942;p67"/>
          <p:cNvCxnSpPr/>
          <p:nvPr/>
        </p:nvCxnSpPr>
        <p:spPr>
          <a:xfrm rot="10800000" flipH="1">
            <a:off x="7650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43" name="Google Shape;943;p67"/>
          <p:cNvSpPr/>
          <p:nvPr/>
        </p:nvSpPr>
        <p:spPr>
          <a:xfrm rot="5400000">
            <a:off x="6412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4" name="Google Shape;944;p67"/>
          <p:cNvCxnSpPr/>
          <p:nvPr/>
        </p:nvCxnSpPr>
        <p:spPr>
          <a:xfrm>
            <a:off x="6035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5" name="Google Shape;945;p67"/>
          <p:cNvCxnSpPr/>
          <p:nvPr/>
        </p:nvCxnSpPr>
        <p:spPr>
          <a:xfrm>
            <a:off x="6035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46" name="Google Shape;946;p67"/>
          <p:cNvSpPr txBox="1"/>
          <p:nvPr/>
        </p:nvSpPr>
        <p:spPr>
          <a:xfrm>
            <a:off x="4792211" y="4713299"/>
            <a:ext cx="1655484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receives ack(1),  sends packet 7</a:t>
            </a:r>
          </a:p>
        </p:txBody>
      </p:sp>
      <p:sp>
        <p:nvSpPr>
          <p:cNvPr id="947" name="Google Shape;947;p67"/>
          <p:cNvSpPr txBox="1"/>
          <p:nvPr/>
        </p:nvSpPr>
        <p:spPr>
          <a:xfrm>
            <a:off x="7476279" y="4713299"/>
            <a:ext cx="1607634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4, sends ack(4)</a:t>
            </a:r>
          </a:p>
        </p:txBody>
      </p:sp>
      <p:sp>
        <p:nvSpPr>
          <p:cNvPr id="948" name="Google Shape;948;p67"/>
          <p:cNvSpPr txBox="1"/>
          <p:nvPr/>
        </p:nvSpPr>
        <p:spPr>
          <a:xfrm>
            <a:off x="6389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67"/>
          <p:cNvSpPr/>
          <p:nvPr/>
        </p:nvSpPr>
        <p:spPr>
          <a:xfrm>
            <a:off x="1493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67"/>
          <p:cNvSpPr/>
          <p:nvPr/>
        </p:nvSpPr>
        <p:spPr>
          <a:xfrm>
            <a:off x="65153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1" name="Google Shape;951;p67"/>
          <p:cNvSpPr/>
          <p:nvPr/>
        </p:nvSpPr>
        <p:spPr>
          <a:xfrm>
            <a:off x="69656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2" name="Google Shape;952;p67"/>
          <p:cNvSpPr/>
          <p:nvPr/>
        </p:nvSpPr>
        <p:spPr>
          <a:xfrm>
            <a:off x="60650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3" name="Google Shape;953;p67"/>
          <p:cNvSpPr/>
          <p:nvPr/>
        </p:nvSpPr>
        <p:spPr>
          <a:xfrm>
            <a:off x="65153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4" name="Google Shape;954;p67"/>
          <p:cNvSpPr/>
          <p:nvPr/>
        </p:nvSpPr>
        <p:spPr>
          <a:xfrm>
            <a:off x="23936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5" name="Google Shape;955;p67"/>
          <p:cNvSpPr/>
          <p:nvPr/>
        </p:nvSpPr>
        <p:spPr>
          <a:xfrm>
            <a:off x="19433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6" name="Google Shape;956;p67"/>
          <p:cNvSpPr/>
          <p:nvPr/>
        </p:nvSpPr>
        <p:spPr>
          <a:xfrm>
            <a:off x="14930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7" name="Google Shape;957;p67"/>
          <p:cNvSpPr/>
          <p:nvPr/>
        </p:nvSpPr>
        <p:spPr>
          <a:xfrm>
            <a:off x="23936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8" name="Google Shape;958;p67"/>
          <p:cNvSpPr/>
          <p:nvPr/>
        </p:nvSpPr>
        <p:spPr>
          <a:xfrm rot="-5400000">
            <a:off x="2340525" y="1811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9" name="Google Shape;959;p67"/>
          <p:cNvSpPr/>
          <p:nvPr/>
        </p:nvSpPr>
        <p:spPr>
          <a:xfrm rot="-5400000">
            <a:off x="6912525" y="1811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0" name="Google Shape;960;p67"/>
          <p:cNvSpPr/>
          <p:nvPr/>
        </p:nvSpPr>
        <p:spPr>
          <a:xfrm rot="-5400000">
            <a:off x="6443800" y="1810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1" name="Google Shape;961;p67"/>
          <p:cNvSpPr/>
          <p:nvPr/>
        </p:nvSpPr>
        <p:spPr>
          <a:xfrm rot="-5400000">
            <a:off x="2340525" y="4097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2" name="Google Shape;962;p67"/>
          <p:cNvSpPr/>
          <p:nvPr/>
        </p:nvSpPr>
        <p:spPr>
          <a:xfrm rot="-5400000">
            <a:off x="1871800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3" name="Google Shape;963;p67"/>
          <p:cNvSpPr/>
          <p:nvPr/>
        </p:nvSpPr>
        <p:spPr>
          <a:xfrm rot="-5400000">
            <a:off x="1403075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4" name="Google Shape;964;p67"/>
          <p:cNvSpPr/>
          <p:nvPr/>
        </p:nvSpPr>
        <p:spPr>
          <a:xfrm rot="-5400000">
            <a:off x="6912525" y="4097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ack(4)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5" name="Google Shape;965;p67"/>
          <p:cNvSpPr/>
          <p:nvPr/>
        </p:nvSpPr>
        <p:spPr>
          <a:xfrm rot="-5400000">
            <a:off x="6443800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6" name="Google Shape;966;p67"/>
          <p:cNvSpPr/>
          <p:nvPr/>
        </p:nvSpPr>
        <p:spPr>
          <a:xfrm rot="-5400000">
            <a:off x="5975075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67"/>
          <p:cNvSpPr/>
          <p:nvPr/>
        </p:nvSpPr>
        <p:spPr>
          <a:xfrm>
            <a:off x="3681175" y="1452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67"/>
          <p:cNvSpPr/>
          <p:nvPr/>
        </p:nvSpPr>
        <p:spPr>
          <a:xfrm>
            <a:off x="8253175" y="1452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67"/>
          <p:cNvSpPr/>
          <p:nvPr/>
        </p:nvSpPr>
        <p:spPr>
          <a:xfrm>
            <a:off x="36811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0" name="Google Shape;970;p67"/>
          <p:cNvSpPr/>
          <p:nvPr/>
        </p:nvSpPr>
        <p:spPr>
          <a:xfrm>
            <a:off x="82531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67"/>
          <p:cNvSpPr/>
          <p:nvPr/>
        </p:nvSpPr>
        <p:spPr>
          <a:xfrm>
            <a:off x="8329375" y="1376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67"/>
          <p:cNvSpPr/>
          <p:nvPr/>
        </p:nvSpPr>
        <p:spPr>
          <a:xfrm>
            <a:off x="37573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3" name="Google Shape;973;p67"/>
          <p:cNvSpPr/>
          <p:nvPr/>
        </p:nvSpPr>
        <p:spPr>
          <a:xfrm>
            <a:off x="38335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67"/>
          <p:cNvSpPr/>
          <p:nvPr/>
        </p:nvSpPr>
        <p:spPr>
          <a:xfrm>
            <a:off x="83293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5" name="Google Shape;975;p67"/>
          <p:cNvSpPr/>
          <p:nvPr/>
        </p:nvSpPr>
        <p:spPr>
          <a:xfrm>
            <a:off x="84055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6" name="Google Shape;976;p67"/>
          <p:cNvSpPr/>
          <p:nvPr/>
        </p:nvSpPr>
        <p:spPr>
          <a:xfrm>
            <a:off x="84817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7" name="Google Shape;977;p67"/>
          <p:cNvSpPr/>
          <p:nvPr/>
        </p:nvSpPr>
        <p:spPr>
          <a:xfrm>
            <a:off x="5232375" y="4392138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8" name="Google Shape;978;p67"/>
          <p:cNvSpPr txBox="1"/>
          <p:nvPr/>
        </p:nvSpPr>
        <p:spPr>
          <a:xfrm>
            <a:off x="372981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9" name="Google Shape;979;p67"/>
          <p:cNvSpPr txBox="1"/>
          <p:nvPr/>
        </p:nvSpPr>
        <p:spPr>
          <a:xfrm>
            <a:off x="817406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0" name="Google Shape;980;p67"/>
          <p:cNvSpPr txBox="1"/>
          <p:nvPr/>
        </p:nvSpPr>
        <p:spPr>
          <a:xfrm>
            <a:off x="372981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1" name="Google Shape;981;p67"/>
          <p:cNvSpPr txBox="1"/>
          <p:nvPr/>
        </p:nvSpPr>
        <p:spPr>
          <a:xfrm>
            <a:off x="817406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p68"/>
          <p:cNvSpPr/>
          <p:nvPr/>
        </p:nvSpPr>
        <p:spPr>
          <a:xfrm>
            <a:off x="997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7" name="Google Shape;987;p68"/>
          <p:cNvSpPr/>
          <p:nvPr/>
        </p:nvSpPr>
        <p:spPr>
          <a:xfrm>
            <a:off x="99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8" name="Google Shape;988;p68"/>
          <p:cNvSpPr/>
          <p:nvPr/>
        </p:nvSpPr>
        <p:spPr>
          <a:xfrm>
            <a:off x="4671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9" name="Google Shape;989;p68"/>
          <p:cNvSpPr/>
          <p:nvPr/>
        </p:nvSpPr>
        <p:spPr>
          <a:xfrm rot="-5400000">
            <a:off x="1840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0" name="Google Shape;990;p68"/>
          <p:cNvSpPr/>
          <p:nvPr/>
        </p:nvSpPr>
        <p:spPr>
          <a:xfrm rot="-5400000">
            <a:off x="6412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1" name="Google Shape;991;p68"/>
          <p:cNvSpPr/>
          <p:nvPr/>
        </p:nvSpPr>
        <p:spPr>
          <a:xfrm rot="-5400000">
            <a:off x="6412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2" name="Google Shape;992;p68"/>
          <p:cNvSpPr/>
          <p:nvPr/>
        </p:nvSpPr>
        <p:spPr>
          <a:xfrm>
            <a:off x="175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3" name="Google Shape;993;p68"/>
          <p:cNvSpPr/>
          <p:nvPr/>
        </p:nvSpPr>
        <p:spPr>
          <a:xfrm>
            <a:off x="252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p6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(3/3): Filling the Pipe (</a:t>
            </a:r>
            <a:r>
              <a:rPr lang="en" i="1" dirty="0">
                <a:solidFill>
                  <a:srgbClr val="C00000"/>
                </a:solidFill>
              </a:rPr>
              <a:t>W</a:t>
            </a:r>
            <a:r>
              <a:rPr lang="en" dirty="0">
                <a:solidFill>
                  <a:srgbClr val="C00000"/>
                </a:solidFill>
              </a:rPr>
              <a:t> = 3</a:t>
            </a:r>
            <a:r>
              <a:rPr lang="en" dirty="0">
                <a:solidFill>
                  <a:schemeClr val="accent3"/>
                </a:solidFill>
              </a:rPr>
              <a:t>), window too small</a:t>
            </a:r>
            <a:endParaRPr dirty="0"/>
          </a:p>
        </p:txBody>
      </p:sp>
      <p:sp>
        <p:nvSpPr>
          <p:cNvPr id="995" name="Google Shape;995;p68"/>
          <p:cNvSpPr/>
          <p:nvPr/>
        </p:nvSpPr>
        <p:spPr>
          <a:xfrm rot="-5400000">
            <a:off x="1840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6" name="Google Shape;996;p68"/>
          <p:cNvCxnSpPr/>
          <p:nvPr/>
        </p:nvCxnSpPr>
        <p:spPr>
          <a:xfrm>
            <a:off x="4572000" y="393600"/>
            <a:ext cx="0" cy="475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7" name="Google Shape;997;p68"/>
          <p:cNvCxnSpPr/>
          <p:nvPr/>
        </p:nvCxnSpPr>
        <p:spPr>
          <a:xfrm>
            <a:off x="400" y="2763350"/>
            <a:ext cx="9143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8" name="Google Shape;998;p68"/>
          <p:cNvCxnSpPr/>
          <p:nvPr/>
        </p:nvCxnSpPr>
        <p:spPr>
          <a:xfrm rot="10800000" flipH="1">
            <a:off x="3078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99" name="Google Shape;999;p68"/>
          <p:cNvSpPr/>
          <p:nvPr/>
        </p:nvSpPr>
        <p:spPr>
          <a:xfrm rot="5400000">
            <a:off x="1840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0" name="Google Shape;1000;p68"/>
          <p:cNvCxnSpPr/>
          <p:nvPr/>
        </p:nvCxnSpPr>
        <p:spPr>
          <a:xfrm>
            <a:off x="1463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01" name="Google Shape;1001;p68"/>
          <p:cNvCxnSpPr/>
          <p:nvPr/>
        </p:nvCxnSpPr>
        <p:spPr>
          <a:xfrm>
            <a:off x="1463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02" name="Google Shape;1002;p68"/>
          <p:cNvSpPr txBox="1"/>
          <p:nvPr/>
        </p:nvSpPr>
        <p:spPr>
          <a:xfrm>
            <a:off x="51322" y="2367252"/>
            <a:ext cx="150580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waits since pipe is full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4" name="Google Shape;1004;p68"/>
          <p:cNvSpPr txBox="1"/>
          <p:nvPr/>
        </p:nvSpPr>
        <p:spPr>
          <a:xfrm>
            <a:off x="1817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5" name="Google Shape;1005;p68"/>
          <p:cNvSpPr/>
          <p:nvPr/>
        </p:nvSpPr>
        <p:spPr>
          <a:xfrm>
            <a:off x="4747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6" name="Google Shape;1006;p68"/>
          <p:cNvCxnSpPr/>
          <p:nvPr/>
        </p:nvCxnSpPr>
        <p:spPr>
          <a:xfrm rot="10800000" flipH="1">
            <a:off x="7650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07" name="Google Shape;1007;p68"/>
          <p:cNvSpPr/>
          <p:nvPr/>
        </p:nvSpPr>
        <p:spPr>
          <a:xfrm rot="5400000">
            <a:off x="6412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8" name="Google Shape;1008;p68"/>
          <p:cNvCxnSpPr/>
          <p:nvPr/>
        </p:nvCxnSpPr>
        <p:spPr>
          <a:xfrm>
            <a:off x="6035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09" name="Google Shape;1009;p68"/>
          <p:cNvCxnSpPr/>
          <p:nvPr/>
        </p:nvCxnSpPr>
        <p:spPr>
          <a:xfrm>
            <a:off x="6035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12" name="Google Shape;1012;p68"/>
          <p:cNvSpPr txBox="1"/>
          <p:nvPr/>
        </p:nvSpPr>
        <p:spPr>
          <a:xfrm>
            <a:off x="6389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3" name="Google Shape;1013;p68"/>
          <p:cNvCxnSpPr/>
          <p:nvPr/>
        </p:nvCxnSpPr>
        <p:spPr>
          <a:xfrm rot="10800000" flipH="1">
            <a:off x="3078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14" name="Google Shape;1014;p68"/>
          <p:cNvSpPr/>
          <p:nvPr/>
        </p:nvSpPr>
        <p:spPr>
          <a:xfrm rot="5400000">
            <a:off x="1840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5" name="Google Shape;1015;p68"/>
          <p:cNvCxnSpPr/>
          <p:nvPr/>
        </p:nvCxnSpPr>
        <p:spPr>
          <a:xfrm>
            <a:off x="1463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16" name="Google Shape;1016;p68"/>
          <p:cNvCxnSpPr/>
          <p:nvPr/>
        </p:nvCxnSpPr>
        <p:spPr>
          <a:xfrm>
            <a:off x="1463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19" name="Google Shape;1019;p68"/>
          <p:cNvSpPr txBox="1"/>
          <p:nvPr/>
        </p:nvSpPr>
        <p:spPr>
          <a:xfrm>
            <a:off x="1817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0" name="Google Shape;1020;p68"/>
          <p:cNvSpPr/>
          <p:nvPr/>
        </p:nvSpPr>
        <p:spPr>
          <a:xfrm>
            <a:off x="6065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1" name="Google Shape;1021;p68"/>
          <p:cNvCxnSpPr/>
          <p:nvPr/>
        </p:nvCxnSpPr>
        <p:spPr>
          <a:xfrm rot="10800000" flipH="1">
            <a:off x="7650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22" name="Google Shape;1022;p68"/>
          <p:cNvSpPr/>
          <p:nvPr/>
        </p:nvSpPr>
        <p:spPr>
          <a:xfrm rot="5400000">
            <a:off x="6412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3" name="Google Shape;1023;p68"/>
          <p:cNvCxnSpPr/>
          <p:nvPr/>
        </p:nvCxnSpPr>
        <p:spPr>
          <a:xfrm>
            <a:off x="6035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4" name="Google Shape;1024;p68"/>
          <p:cNvCxnSpPr/>
          <p:nvPr/>
        </p:nvCxnSpPr>
        <p:spPr>
          <a:xfrm>
            <a:off x="6035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27" name="Google Shape;1027;p68"/>
          <p:cNvSpPr txBox="1"/>
          <p:nvPr/>
        </p:nvSpPr>
        <p:spPr>
          <a:xfrm>
            <a:off x="6389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8" name="Google Shape;1028;p68"/>
          <p:cNvSpPr/>
          <p:nvPr/>
        </p:nvSpPr>
        <p:spPr>
          <a:xfrm>
            <a:off x="69656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9" name="Google Shape;1029;p68"/>
          <p:cNvSpPr/>
          <p:nvPr/>
        </p:nvSpPr>
        <p:spPr>
          <a:xfrm>
            <a:off x="19433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0" name="Google Shape;1030;p68"/>
          <p:cNvSpPr/>
          <p:nvPr/>
        </p:nvSpPr>
        <p:spPr>
          <a:xfrm>
            <a:off x="23936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1" name="Google Shape;1031;p68"/>
          <p:cNvSpPr/>
          <p:nvPr/>
        </p:nvSpPr>
        <p:spPr>
          <a:xfrm rot="-5400000">
            <a:off x="2340525" y="1811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2" name="Google Shape;1032;p68"/>
          <p:cNvSpPr/>
          <p:nvPr/>
        </p:nvSpPr>
        <p:spPr>
          <a:xfrm rot="-5400000">
            <a:off x="6912525" y="1811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3" name="Google Shape;1033;p68"/>
          <p:cNvSpPr/>
          <p:nvPr/>
        </p:nvSpPr>
        <p:spPr>
          <a:xfrm rot="-5400000">
            <a:off x="6443800" y="1810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4" name="Google Shape;1034;p68"/>
          <p:cNvSpPr/>
          <p:nvPr/>
        </p:nvSpPr>
        <p:spPr>
          <a:xfrm rot="-5400000">
            <a:off x="2340525" y="4097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5" name="Google Shape;1035;p68"/>
          <p:cNvSpPr/>
          <p:nvPr/>
        </p:nvSpPr>
        <p:spPr>
          <a:xfrm rot="-5400000">
            <a:off x="1871800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6" name="Google Shape;1036;p68"/>
          <p:cNvSpPr/>
          <p:nvPr/>
        </p:nvSpPr>
        <p:spPr>
          <a:xfrm rot="-5400000">
            <a:off x="1403075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8" name="Google Shape;1038;p68"/>
          <p:cNvSpPr/>
          <p:nvPr/>
        </p:nvSpPr>
        <p:spPr>
          <a:xfrm rot="-5400000">
            <a:off x="6443800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9" name="Google Shape;1039;p68"/>
          <p:cNvSpPr/>
          <p:nvPr/>
        </p:nvSpPr>
        <p:spPr>
          <a:xfrm rot="-5400000">
            <a:off x="5975075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0" name="Google Shape;1040;p68"/>
          <p:cNvSpPr/>
          <p:nvPr/>
        </p:nvSpPr>
        <p:spPr>
          <a:xfrm>
            <a:off x="5232375" y="4392138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1" name="Google Shape;1041;p68"/>
          <p:cNvSpPr/>
          <p:nvPr/>
        </p:nvSpPr>
        <p:spPr>
          <a:xfrm>
            <a:off x="3681175" y="1452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2" name="Google Shape;1042;p68"/>
          <p:cNvSpPr/>
          <p:nvPr/>
        </p:nvSpPr>
        <p:spPr>
          <a:xfrm>
            <a:off x="8253175" y="1452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3" name="Google Shape;1043;p68"/>
          <p:cNvSpPr/>
          <p:nvPr/>
        </p:nvSpPr>
        <p:spPr>
          <a:xfrm>
            <a:off x="36811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4" name="Google Shape;1044;p68"/>
          <p:cNvSpPr/>
          <p:nvPr/>
        </p:nvSpPr>
        <p:spPr>
          <a:xfrm>
            <a:off x="82531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5" name="Google Shape;1045;p68"/>
          <p:cNvSpPr/>
          <p:nvPr/>
        </p:nvSpPr>
        <p:spPr>
          <a:xfrm>
            <a:off x="8329375" y="1376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6" name="Google Shape;1046;p68"/>
          <p:cNvSpPr/>
          <p:nvPr/>
        </p:nvSpPr>
        <p:spPr>
          <a:xfrm>
            <a:off x="37573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7" name="Google Shape;1047;p68"/>
          <p:cNvSpPr/>
          <p:nvPr/>
        </p:nvSpPr>
        <p:spPr>
          <a:xfrm>
            <a:off x="38335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8" name="Google Shape;1048;p68"/>
          <p:cNvSpPr/>
          <p:nvPr/>
        </p:nvSpPr>
        <p:spPr>
          <a:xfrm>
            <a:off x="83293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68"/>
          <p:cNvSpPr/>
          <p:nvPr/>
        </p:nvSpPr>
        <p:spPr>
          <a:xfrm>
            <a:off x="84055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3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0" name="Google Shape;1050;p68"/>
          <p:cNvSpPr/>
          <p:nvPr/>
        </p:nvSpPr>
        <p:spPr>
          <a:xfrm>
            <a:off x="328375" y="995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68"/>
          <p:cNvSpPr/>
          <p:nvPr/>
        </p:nvSpPr>
        <p:spPr>
          <a:xfrm>
            <a:off x="4824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68"/>
          <p:cNvSpPr/>
          <p:nvPr/>
        </p:nvSpPr>
        <p:spPr>
          <a:xfrm>
            <a:off x="4900375" y="995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68"/>
          <p:cNvSpPr/>
          <p:nvPr/>
        </p:nvSpPr>
        <p:spPr>
          <a:xfrm>
            <a:off x="1759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68"/>
          <p:cNvSpPr/>
          <p:nvPr/>
        </p:nvSpPr>
        <p:spPr>
          <a:xfrm>
            <a:off x="2521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5" name="Google Shape;1055;p68"/>
          <p:cNvSpPr/>
          <p:nvPr/>
        </p:nvSpPr>
        <p:spPr>
          <a:xfrm>
            <a:off x="3283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6" name="Google Shape;1056;p68"/>
          <p:cNvSpPr/>
          <p:nvPr/>
        </p:nvSpPr>
        <p:spPr>
          <a:xfrm>
            <a:off x="46717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7" name="Google Shape;1057;p68"/>
          <p:cNvSpPr/>
          <p:nvPr/>
        </p:nvSpPr>
        <p:spPr>
          <a:xfrm>
            <a:off x="47479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8" name="Google Shape;1058;p68"/>
          <p:cNvSpPr/>
          <p:nvPr/>
        </p:nvSpPr>
        <p:spPr>
          <a:xfrm>
            <a:off x="48241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p68"/>
          <p:cNvSpPr txBox="1"/>
          <p:nvPr/>
        </p:nvSpPr>
        <p:spPr>
          <a:xfrm>
            <a:off x="372981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0" name="Google Shape;1060;p68"/>
          <p:cNvSpPr txBox="1"/>
          <p:nvPr/>
        </p:nvSpPr>
        <p:spPr>
          <a:xfrm>
            <a:off x="817406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1" name="Google Shape;1061;p68"/>
          <p:cNvSpPr txBox="1"/>
          <p:nvPr/>
        </p:nvSpPr>
        <p:spPr>
          <a:xfrm>
            <a:off x="372981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2" name="Google Shape;1062;p68"/>
          <p:cNvSpPr txBox="1"/>
          <p:nvPr/>
        </p:nvSpPr>
        <p:spPr>
          <a:xfrm>
            <a:off x="817406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002;p68">
            <a:extLst>
              <a:ext uri="{FF2B5EF4-FFF2-40B4-BE49-F238E27FC236}">
                <a16:creationId xmlns:a16="http://schemas.microsoft.com/office/drawing/2014/main" id="{82E43FCC-DF98-97D3-1386-BFCE7832960B}"/>
              </a:ext>
            </a:extLst>
          </p:cNvPr>
          <p:cNvSpPr txBox="1"/>
          <p:nvPr/>
        </p:nvSpPr>
        <p:spPr>
          <a:xfrm>
            <a:off x="4529929" y="2367252"/>
            <a:ext cx="150580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</a:t>
            </a:r>
            <a:r>
              <a:rPr lang="en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waits</a:t>
            </a: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since pipe is full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1002;p68">
            <a:extLst>
              <a:ext uri="{FF2B5EF4-FFF2-40B4-BE49-F238E27FC236}">
                <a16:creationId xmlns:a16="http://schemas.microsoft.com/office/drawing/2014/main" id="{F82D0528-7741-0723-E006-34111BAC1787}"/>
              </a:ext>
            </a:extLst>
          </p:cNvPr>
          <p:cNvSpPr txBox="1"/>
          <p:nvPr/>
        </p:nvSpPr>
        <p:spPr>
          <a:xfrm>
            <a:off x="51322" y="4686671"/>
            <a:ext cx="150580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</a:t>
            </a:r>
            <a:r>
              <a:rPr lang="en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waits</a:t>
            </a: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since pipe is full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930;p67">
            <a:extLst>
              <a:ext uri="{FF2B5EF4-FFF2-40B4-BE49-F238E27FC236}">
                <a16:creationId xmlns:a16="http://schemas.microsoft.com/office/drawing/2014/main" id="{2B7D93DD-4802-F220-2BD4-8EB60CF634B1}"/>
              </a:ext>
            </a:extLst>
          </p:cNvPr>
          <p:cNvSpPr txBox="1"/>
          <p:nvPr/>
        </p:nvSpPr>
        <p:spPr>
          <a:xfrm>
            <a:off x="2964366" y="2357280"/>
            <a:ext cx="156383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1, sends ack(1)</a:t>
            </a:r>
          </a:p>
        </p:txBody>
      </p:sp>
      <p:sp>
        <p:nvSpPr>
          <p:cNvPr id="5" name="Google Shape;930;p67">
            <a:extLst>
              <a:ext uri="{FF2B5EF4-FFF2-40B4-BE49-F238E27FC236}">
                <a16:creationId xmlns:a16="http://schemas.microsoft.com/office/drawing/2014/main" id="{D693DEFE-167B-9FB3-50A5-3B5627A1792B}"/>
              </a:ext>
            </a:extLst>
          </p:cNvPr>
          <p:cNvSpPr txBox="1"/>
          <p:nvPr/>
        </p:nvSpPr>
        <p:spPr>
          <a:xfrm>
            <a:off x="7520080" y="2378980"/>
            <a:ext cx="156383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2, sends ack(2)</a:t>
            </a:r>
          </a:p>
        </p:txBody>
      </p:sp>
      <p:sp>
        <p:nvSpPr>
          <p:cNvPr id="6" name="Google Shape;930;p67">
            <a:extLst>
              <a:ext uri="{FF2B5EF4-FFF2-40B4-BE49-F238E27FC236}">
                <a16:creationId xmlns:a16="http://schemas.microsoft.com/office/drawing/2014/main" id="{724E15AB-E5B4-A7C5-FC98-E39460F4E989}"/>
              </a:ext>
            </a:extLst>
          </p:cNvPr>
          <p:cNvSpPr txBox="1"/>
          <p:nvPr/>
        </p:nvSpPr>
        <p:spPr>
          <a:xfrm>
            <a:off x="2936676" y="4686671"/>
            <a:ext cx="156383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3, sends ack(3)</a:t>
            </a:r>
          </a:p>
        </p:txBody>
      </p:sp>
      <p:sp>
        <p:nvSpPr>
          <p:cNvPr id="7" name="Google Shape;946;p67">
            <a:extLst>
              <a:ext uri="{FF2B5EF4-FFF2-40B4-BE49-F238E27FC236}">
                <a16:creationId xmlns:a16="http://schemas.microsoft.com/office/drawing/2014/main" id="{566C1090-50B2-AED8-51D9-231F51D320A8}"/>
              </a:ext>
            </a:extLst>
          </p:cNvPr>
          <p:cNvSpPr txBox="1"/>
          <p:nvPr/>
        </p:nvSpPr>
        <p:spPr>
          <a:xfrm>
            <a:off x="4792211" y="4713299"/>
            <a:ext cx="1655484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receives ack(1),  sends packet 5</a:t>
            </a:r>
          </a:p>
        </p:txBody>
      </p:sp>
      <p:sp>
        <p:nvSpPr>
          <p:cNvPr id="8" name="Google Shape;947;p67">
            <a:extLst>
              <a:ext uri="{FF2B5EF4-FFF2-40B4-BE49-F238E27FC236}">
                <a16:creationId xmlns:a16="http://schemas.microsoft.com/office/drawing/2014/main" id="{50785801-EC9C-4310-0322-AF6AEE02341F}"/>
              </a:ext>
            </a:extLst>
          </p:cNvPr>
          <p:cNvSpPr txBox="1"/>
          <p:nvPr/>
        </p:nvSpPr>
        <p:spPr>
          <a:xfrm>
            <a:off x="7650140" y="4832798"/>
            <a:ext cx="1479283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</a:t>
            </a:r>
            <a:r>
              <a:rPr lang="en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waits</a:t>
            </a:r>
            <a:endParaRPr lang="en-US" altLang="zh-CN"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3">
          <a:extLst>
            <a:ext uri="{FF2B5EF4-FFF2-40B4-BE49-F238E27FC236}">
              <a16:creationId xmlns:a16="http://schemas.microsoft.com/office/drawing/2014/main" id="{DEDC2B0C-046E-BF6A-ACB8-2083A6AFB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70">
            <a:extLst>
              <a:ext uri="{FF2B5EF4-FFF2-40B4-BE49-F238E27FC236}">
                <a16:creationId xmlns:a16="http://schemas.microsoft.com/office/drawing/2014/main" id="{A1679BE0-8E1D-ECAA-2E1E-5C0A0AE802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</a:t>
            </a:r>
            <a:endParaRPr/>
          </a:p>
        </p:txBody>
      </p:sp>
      <p:sp>
        <p:nvSpPr>
          <p:cNvPr id="1075" name="Google Shape;1075;p70">
            <a:extLst>
              <a:ext uri="{FF2B5EF4-FFF2-40B4-BE49-F238E27FC236}">
                <a16:creationId xmlns:a16="http://schemas.microsoft.com/office/drawing/2014/main" id="{65DFAEA6-3EF5-615B-B306-346356F3E6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en-US" altLang="zh-CN" dirty="0"/>
              <a:t>These diagrams illustrate:</a:t>
            </a:r>
          </a:p>
          <a:p>
            <a:r>
              <a:rPr lang="en-US" altLang="zh-CN" dirty="0"/>
              <a:t>Fully utilized pipe (W = BDP)</a:t>
            </a:r>
          </a:p>
          <a:p>
            <a:r>
              <a:rPr lang="en-US" altLang="zh-CN" dirty="0"/>
              <a:t>Underfilled pipe (W &lt; BDP)</a:t>
            </a:r>
          </a:p>
          <a:p>
            <a:r>
              <a:rPr lang="en-US" altLang="zh-CN" dirty="0"/>
              <a:t>Sliding window behavior (send on ACK)</a:t>
            </a:r>
          </a:p>
          <a:p>
            <a:pPr marL="114300" indent="0">
              <a:buNone/>
            </a:pPr>
            <a:r>
              <a:rPr lang="en-US" altLang="zh-CN" dirty="0"/>
              <a:t>Window size does not affect correctness. It affects throughput. Observe the difference:</a:t>
            </a:r>
          </a:p>
          <a:p>
            <a:r>
              <a:rPr lang="en-US" altLang="zh-CN" dirty="0"/>
              <a:t>With W = 6:</a:t>
            </a:r>
            <a:br>
              <a:rPr lang="en-US" altLang="zh-CN" dirty="0"/>
            </a:br>
            <a:r>
              <a:rPr lang="en-US" altLang="zh-CN" dirty="0"/>
              <a:t>Sender never idles.</a:t>
            </a:r>
          </a:p>
          <a:p>
            <a:r>
              <a:rPr lang="en-US" altLang="zh-CN" dirty="0"/>
              <a:t>With W = 3:</a:t>
            </a:r>
            <a:br>
              <a:rPr lang="en-US" altLang="zh-CN" dirty="0"/>
            </a:br>
            <a:r>
              <a:rPr lang="en-US" altLang="zh-CN" dirty="0"/>
              <a:t>The sender is idle from t=3 to t=7, waiting for acks from </a:t>
            </a:r>
            <a:r>
              <a:rPr lang="en-US" altLang="zh-CN" dirty="0" err="1"/>
              <a:t>receipient</a:t>
            </a:r>
            <a:r>
              <a:rPr lang="en-US" altLang="zh-CN" dirty="0"/>
              <a:t>.</a:t>
            </a:r>
            <a:br>
              <a:rPr lang="en-US" altLang="zh-CN" dirty="0"/>
            </a:br>
            <a:r>
              <a:rPr lang="en-US" altLang="zh-CN" dirty="0"/>
              <a:t>That’s 4 time units of wasted bandwidth.</a:t>
            </a:r>
          </a:p>
          <a:p>
            <a:r>
              <a:rPr lang="en-US" altLang="zh-CN" dirty="0"/>
              <a:t>This illustrates underfilling the bandwidth-delay product.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790267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p69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Avoiding Overload</a:t>
            </a:r>
            <a:b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(Flow and Congestion Control)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068" name="Google Shape;1068;p69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Avoiding Overload: Flow Control and Congestion Control</a:t>
            </a:r>
            <a:endParaRPr sz="3200"/>
          </a:p>
        </p:txBody>
      </p:sp>
      <p:sp>
        <p:nvSpPr>
          <p:cNvPr id="1069" name="Google Shape;1069;p69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</a:t>
            </a:r>
            <a:endParaRPr/>
          </a:p>
        </p:txBody>
      </p:sp>
      <p:sp>
        <p:nvSpPr>
          <p:cNvPr id="1075" name="Google Shape;1075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big should the window be?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Pick window size </a:t>
            </a:r>
            <a:r>
              <a:rPr lang="en" i="1" dirty="0"/>
              <a:t>W</a:t>
            </a:r>
            <a:r>
              <a:rPr lang="en" dirty="0"/>
              <a:t> to balance three goals: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Take advantage of network capacity ("fill the pipe")... </a:t>
            </a:r>
            <a:r>
              <a:rPr lang="en" sz="1400" dirty="0">
                <a:solidFill>
                  <a:schemeClr val="accent3"/>
                </a:solidFill>
              </a:rPr>
              <a:t>(set </a:t>
            </a:r>
            <a:r>
              <a:rPr lang="en" sz="1400" i="1" dirty="0">
                <a:solidFill>
                  <a:schemeClr val="accent3"/>
                </a:solidFill>
              </a:rPr>
              <a:t>W</a:t>
            </a:r>
            <a:r>
              <a:rPr lang="en" sz="1400" dirty="0">
                <a:solidFill>
                  <a:schemeClr val="accent3"/>
                </a:solidFill>
              </a:rPr>
              <a:t> </a:t>
            </a:r>
            <a:r>
              <a:rPr lang="en" sz="1400">
                <a:solidFill>
                  <a:schemeClr val="accent3"/>
                </a:solidFill>
              </a:rPr>
              <a:t>= RTT </a:t>
            </a:r>
            <a:r>
              <a:rPr lang="en" sz="1400" dirty="0">
                <a:solidFill>
                  <a:schemeClr val="accent3"/>
                </a:solidFill>
              </a:rPr>
              <a:t>× bandwidth)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...but don't overload the recipient (flow control)...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...and don't overload links (congestion control).</a:t>
            </a:r>
            <a:endParaRPr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Consider the recipient: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might receive packets out-of-order, but can only deliver packets to the application in order.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recipient must </a:t>
            </a:r>
            <a:r>
              <a:rPr lang="en" i="1"/>
              <a:t>buffer</a:t>
            </a:r>
            <a:r>
              <a:rPr lang="en"/>
              <a:t> incoming packets that are out of order.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Packets stay in the buffer until all "missing" packets arrive.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have to make sure the recipient doesn't run out of buffer space.</a:t>
            </a:r>
            <a:endParaRPr/>
          </a:p>
        </p:txBody>
      </p:sp>
      <p:sp>
        <p:nvSpPr>
          <p:cNvPr id="1081" name="Google Shape;1081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 (2/3): Don't Overload Recipient (Flow Control)</a:t>
            </a:r>
            <a:endParaRPr/>
          </a:p>
        </p:txBody>
      </p:sp>
      <p:sp>
        <p:nvSpPr>
          <p:cNvPr id="1082" name="Google Shape;1082;p71"/>
          <p:cNvSpPr/>
          <p:nvPr/>
        </p:nvSpPr>
        <p:spPr>
          <a:xfrm>
            <a:off x="5656125" y="3264475"/>
            <a:ext cx="2933400" cy="1217700"/>
          </a:xfrm>
          <a:prstGeom prst="wedgeRoundRectCallout">
            <a:avLst>
              <a:gd name="adj1" fmla="val -59537"/>
              <a:gd name="adj2" fmla="val -44670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The application expects 3 next, but the sender gave me 4 and 5.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hold on to 4 and 5 while waiting for 3 to arrive.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3" name="Google Shape;1083;p71"/>
          <p:cNvSpPr/>
          <p:nvPr/>
        </p:nvSpPr>
        <p:spPr>
          <a:xfrm>
            <a:off x="3197625" y="2986625"/>
            <a:ext cx="2102700" cy="19488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OS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(running TCP)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4" name="Google Shape;1084;p71"/>
          <p:cNvSpPr/>
          <p:nvPr/>
        </p:nvSpPr>
        <p:spPr>
          <a:xfrm>
            <a:off x="554475" y="2986625"/>
            <a:ext cx="2102700" cy="1948800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5" name="Google Shape;1085;p71"/>
          <p:cNvSpPr/>
          <p:nvPr/>
        </p:nvSpPr>
        <p:spPr>
          <a:xfrm>
            <a:off x="883125" y="365075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6" name="Google Shape;1086;p71"/>
          <p:cNvSpPr/>
          <p:nvPr/>
        </p:nvSpPr>
        <p:spPr>
          <a:xfrm>
            <a:off x="883130" y="4054125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7" name="Google Shape;1087;p71"/>
          <p:cNvSpPr/>
          <p:nvPr/>
        </p:nvSpPr>
        <p:spPr>
          <a:xfrm>
            <a:off x="3526269" y="3650738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was the style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8" name="Google Shape;1088;p71"/>
          <p:cNvSpPr/>
          <p:nvPr/>
        </p:nvSpPr>
        <p:spPr>
          <a:xfrm>
            <a:off x="3526278" y="4054113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5. at the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p7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Flow control</a:t>
            </a:r>
            <a:r>
              <a:rPr lang="en"/>
              <a:t> ensures the recipient has enough buffer space for out-of-order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Recipient tells the sender how much space it has left.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size of remaining space is called the </a:t>
            </a:r>
            <a:r>
              <a:rPr lang="en" b="1"/>
              <a:t>advertised window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value is carried in ack messages.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Sender adjusts its window accordingly.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Number of packets in flight must be less than the recipient's advertised window.</a:t>
            </a:r>
            <a:endParaRPr/>
          </a:p>
        </p:txBody>
      </p:sp>
      <p:sp>
        <p:nvSpPr>
          <p:cNvPr id="1094" name="Google Shape;1094;p72"/>
          <p:cNvSpPr/>
          <p:nvPr/>
        </p:nvSpPr>
        <p:spPr>
          <a:xfrm>
            <a:off x="3197625" y="2986625"/>
            <a:ext cx="2102700" cy="19488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OS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(running TCP)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(2/3): Don't Overload Recipient (Flow Control)</a:t>
            </a:r>
            <a:endParaRPr/>
          </a:p>
        </p:txBody>
      </p:sp>
      <p:sp>
        <p:nvSpPr>
          <p:cNvPr id="1096" name="Google Shape;1096;p72"/>
          <p:cNvSpPr/>
          <p:nvPr/>
        </p:nvSpPr>
        <p:spPr>
          <a:xfrm>
            <a:off x="554475" y="2986625"/>
            <a:ext cx="2102700" cy="1948800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72"/>
          <p:cNvSpPr/>
          <p:nvPr/>
        </p:nvSpPr>
        <p:spPr>
          <a:xfrm>
            <a:off x="883125" y="365075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8" name="Google Shape;1098;p72"/>
          <p:cNvSpPr/>
          <p:nvPr/>
        </p:nvSpPr>
        <p:spPr>
          <a:xfrm>
            <a:off x="883130" y="4054125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9" name="Google Shape;1099;p72"/>
          <p:cNvSpPr/>
          <p:nvPr/>
        </p:nvSpPr>
        <p:spPr>
          <a:xfrm>
            <a:off x="3526269" y="3650738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was the style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0" name="Google Shape;1100;p72"/>
          <p:cNvSpPr/>
          <p:nvPr/>
        </p:nvSpPr>
        <p:spPr>
          <a:xfrm>
            <a:off x="3526278" y="4054113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5. at the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1" name="Google Shape;1101;p72"/>
          <p:cNvSpPr/>
          <p:nvPr/>
        </p:nvSpPr>
        <p:spPr>
          <a:xfrm>
            <a:off x="5656125" y="3264475"/>
            <a:ext cx="2933400" cy="1217700"/>
          </a:xfrm>
          <a:prstGeom prst="wedgeRoundRectCallout">
            <a:avLst>
              <a:gd name="adj1" fmla="val -59537"/>
              <a:gd name="adj2" fmla="val -44670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ack(5).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By the way, I only have enough space for 2 more packets.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2" name="Google Shape;1102;p72"/>
          <p:cNvCxnSpPr/>
          <p:nvPr/>
        </p:nvCxnSpPr>
        <p:spPr>
          <a:xfrm>
            <a:off x="5750625" y="4655975"/>
            <a:ext cx="27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3" name="Google Shape;1103;p72"/>
          <p:cNvSpPr txBox="1"/>
          <p:nvPr/>
        </p:nvSpPr>
        <p:spPr>
          <a:xfrm>
            <a:off x="5750625" y="4694800"/>
            <a:ext cx="2745300" cy="3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8" name="Google Shape;1108;p73"/>
          <p:cNvCxnSpPr/>
          <p:nvPr/>
        </p:nvCxnSpPr>
        <p:spPr>
          <a:xfrm>
            <a:off x="1213150" y="3911425"/>
            <a:ext cx="4306800" cy="0"/>
          </a:xfrm>
          <a:prstGeom prst="straightConnector1">
            <a:avLst/>
          </a:prstGeom>
          <a:noFill/>
          <a:ln w="19050" cap="flat" cmpd="sng">
            <a:solidFill>
              <a:srgbClr val="F1C23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09" name="Google Shape;1109;p73"/>
          <p:cNvSpPr/>
          <p:nvPr/>
        </p:nvSpPr>
        <p:spPr>
          <a:xfrm>
            <a:off x="1685450" y="3995425"/>
            <a:ext cx="3464022" cy="865998"/>
          </a:xfrm>
          <a:custGeom>
            <a:avLst/>
            <a:gdLst/>
            <a:ahLst/>
            <a:cxnLst/>
            <a:rect l="l" t="t" r="r" b="b"/>
            <a:pathLst>
              <a:path w="131064" h="42919" extrusionOk="0">
                <a:moveTo>
                  <a:pt x="0" y="41776"/>
                </a:moveTo>
                <a:cubicBezTo>
                  <a:pt x="4847" y="35680"/>
                  <a:pt x="13272" y="11444"/>
                  <a:pt x="29083" y="5200"/>
                </a:cubicBezTo>
                <a:cubicBezTo>
                  <a:pt x="44895" y="-1044"/>
                  <a:pt x="77872" y="-1975"/>
                  <a:pt x="94869" y="4311"/>
                </a:cubicBezTo>
                <a:cubicBezTo>
                  <a:pt x="111866" y="10598"/>
                  <a:pt x="125032" y="36484"/>
                  <a:pt x="131064" y="42919"/>
                </a:cubicBezTo>
              </a:path>
            </a:pathLst>
          </a:custGeom>
          <a:noFill/>
          <a:ln w="19050" cap="flat" cmpd="sng">
            <a:solidFill>
              <a:srgbClr val="FF00FF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10" name="Google Shape;1110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(3/3): Don't Overload Network (Congestion Control)</a:t>
            </a:r>
            <a:endParaRPr/>
          </a:p>
        </p:txBody>
      </p:sp>
      <p:sp>
        <p:nvSpPr>
          <p:cNvPr id="1111" name="Google Shape;1111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Previously, we set </a:t>
            </a:r>
            <a:r>
              <a:rPr lang="en" i="1"/>
              <a:t>W</a:t>
            </a:r>
            <a:r>
              <a:rPr lang="en"/>
              <a:t> to fully consume the bottleneck link bandwidth.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S–D would set </a:t>
            </a:r>
            <a:r>
              <a:rPr lang="en" i="1"/>
              <a:t>W</a:t>
            </a:r>
            <a:r>
              <a:rPr lang="en"/>
              <a:t> to send data at 1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practice, the bottleneck is shared with other flows.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With the red flow, S–D should only send at 0.5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sender should only consume </a:t>
            </a:r>
            <a:r>
              <a:rPr lang="en" i="1"/>
              <a:t>its share</a:t>
            </a:r>
            <a:r>
              <a:rPr lang="en"/>
              <a:t> of the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But, how do we compute this share?</a:t>
            </a:r>
            <a:endParaRPr/>
          </a:p>
        </p:txBody>
      </p:sp>
      <p:sp>
        <p:nvSpPr>
          <p:cNvPr id="1112" name="Google Shape;1112;p73"/>
          <p:cNvSpPr/>
          <p:nvPr/>
        </p:nvSpPr>
        <p:spPr>
          <a:xfrm>
            <a:off x="2460378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3" name="Google Shape;1113;p73"/>
          <p:cNvCxnSpPr>
            <a:stCxn id="1114" idx="6"/>
            <a:endCxn id="1112" idx="1"/>
          </p:cNvCxnSpPr>
          <p:nvPr/>
        </p:nvCxnSpPr>
        <p:spPr>
          <a:xfrm>
            <a:off x="1215288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4" name="Google Shape;1114;p73"/>
          <p:cNvSpPr/>
          <p:nvPr/>
        </p:nvSpPr>
        <p:spPr>
          <a:xfrm>
            <a:off x="930288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5" name="Google Shape;1115;p73"/>
          <p:cNvSpPr/>
          <p:nvPr/>
        </p:nvSpPr>
        <p:spPr>
          <a:xfrm>
            <a:off x="3990453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6" name="Google Shape;1116;p73"/>
          <p:cNvCxnSpPr>
            <a:stCxn id="1112" idx="3"/>
            <a:endCxn id="1115" idx="1"/>
          </p:cNvCxnSpPr>
          <p:nvPr/>
        </p:nvCxnSpPr>
        <p:spPr>
          <a:xfrm>
            <a:off x="2745378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7" name="Google Shape;1117;p73"/>
          <p:cNvSpPr/>
          <p:nvPr/>
        </p:nvSpPr>
        <p:spPr>
          <a:xfrm>
            <a:off x="5520513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8" name="Google Shape;1118;p73"/>
          <p:cNvCxnSpPr>
            <a:stCxn id="1115" idx="3"/>
            <a:endCxn id="1117" idx="2"/>
          </p:cNvCxnSpPr>
          <p:nvPr/>
        </p:nvCxnSpPr>
        <p:spPr>
          <a:xfrm>
            <a:off x="4275453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9" name="Google Shape;1119;p73"/>
          <p:cNvSpPr txBox="1"/>
          <p:nvPr/>
        </p:nvSpPr>
        <p:spPr>
          <a:xfrm>
            <a:off x="12302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0" name="Google Shape;1120;p73"/>
          <p:cNvSpPr txBox="1"/>
          <p:nvPr/>
        </p:nvSpPr>
        <p:spPr>
          <a:xfrm>
            <a:off x="2760450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73"/>
          <p:cNvSpPr txBox="1"/>
          <p:nvPr/>
        </p:nvSpPr>
        <p:spPr>
          <a:xfrm>
            <a:off x="42755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73"/>
          <p:cNvSpPr txBox="1"/>
          <p:nvPr/>
        </p:nvSpPr>
        <p:spPr>
          <a:xfrm>
            <a:off x="1811925" y="4569575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73"/>
          <p:cNvSpPr txBox="1"/>
          <p:nvPr/>
        </p:nvSpPr>
        <p:spPr>
          <a:xfrm>
            <a:off x="1086225" y="4028400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1C23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p7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(3/3): Don't Overload Network (Congestion Control)</a:t>
            </a:r>
            <a:endParaRPr dirty="0"/>
          </a:p>
        </p:txBody>
      </p:sp>
      <p:sp>
        <p:nvSpPr>
          <p:cNvPr id="1130" name="Google Shape;1130;p7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7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sender's TCP code implements a </a:t>
            </a:r>
            <a:r>
              <a:rPr lang="en" b="1"/>
              <a:t>congestion control algorithm</a:t>
            </a:r>
            <a:r>
              <a:rPr lang="en"/>
              <a:t> that dynamically computes the sender's share of bandwidth.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output of the algorithm is a </a:t>
            </a:r>
            <a:r>
              <a:rPr lang="en" b="1"/>
              <a:t>congestion window</a:t>
            </a:r>
            <a:r>
              <a:rPr lang="en"/>
              <a:t> (cwnd).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algorithm balances a few goals (e.g. performance, avoid overload, fairness).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More about the algorithms later.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today: The sender runs magic algorithm and outputs a congestion window.</a:t>
            </a:r>
            <a:endParaRPr/>
          </a:p>
        </p:txBody>
      </p:sp>
      <p:sp>
        <p:nvSpPr>
          <p:cNvPr id="1132" name="Google Shape;1132;p74"/>
          <p:cNvSpPr/>
          <p:nvPr/>
        </p:nvSpPr>
        <p:spPr>
          <a:xfrm>
            <a:off x="610725" y="2934400"/>
            <a:ext cx="3160800" cy="636900"/>
          </a:xfrm>
          <a:prstGeom prst="wedgeRoundRectCallout">
            <a:avLst>
              <a:gd name="adj1" fmla="val -35419"/>
              <a:gd name="adj2" fmla="val 82423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have magically decided that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= 7 avoids overloading the network.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3" name="Google Shape;1133;p74"/>
          <p:cNvCxnSpPr/>
          <p:nvPr/>
        </p:nvCxnSpPr>
        <p:spPr>
          <a:xfrm>
            <a:off x="1213150" y="3911425"/>
            <a:ext cx="4306800" cy="0"/>
          </a:xfrm>
          <a:prstGeom prst="straightConnector1">
            <a:avLst/>
          </a:prstGeom>
          <a:noFill/>
          <a:ln w="19050" cap="flat" cmpd="sng">
            <a:solidFill>
              <a:srgbClr val="F1C23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34" name="Google Shape;1134;p74"/>
          <p:cNvSpPr/>
          <p:nvPr/>
        </p:nvSpPr>
        <p:spPr>
          <a:xfrm>
            <a:off x="1685450" y="3995425"/>
            <a:ext cx="3464022" cy="865998"/>
          </a:xfrm>
          <a:custGeom>
            <a:avLst/>
            <a:gdLst/>
            <a:ahLst/>
            <a:cxnLst/>
            <a:rect l="l" t="t" r="r" b="b"/>
            <a:pathLst>
              <a:path w="131064" h="42919" extrusionOk="0">
                <a:moveTo>
                  <a:pt x="0" y="41776"/>
                </a:moveTo>
                <a:cubicBezTo>
                  <a:pt x="4847" y="35680"/>
                  <a:pt x="13272" y="11444"/>
                  <a:pt x="29083" y="5200"/>
                </a:cubicBezTo>
                <a:cubicBezTo>
                  <a:pt x="44895" y="-1044"/>
                  <a:pt x="77872" y="-1975"/>
                  <a:pt x="94869" y="4311"/>
                </a:cubicBezTo>
                <a:cubicBezTo>
                  <a:pt x="111866" y="10598"/>
                  <a:pt x="125032" y="36484"/>
                  <a:pt x="131064" y="42919"/>
                </a:cubicBezTo>
              </a:path>
            </a:pathLst>
          </a:custGeom>
          <a:noFill/>
          <a:ln w="19050" cap="flat" cmpd="sng">
            <a:solidFill>
              <a:srgbClr val="FF00FF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35" name="Google Shape;1135;p74"/>
          <p:cNvSpPr/>
          <p:nvPr/>
        </p:nvSpPr>
        <p:spPr>
          <a:xfrm>
            <a:off x="2460378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6" name="Google Shape;1136;p74"/>
          <p:cNvCxnSpPr>
            <a:stCxn id="1137" idx="6"/>
            <a:endCxn id="1135" idx="1"/>
          </p:cNvCxnSpPr>
          <p:nvPr/>
        </p:nvCxnSpPr>
        <p:spPr>
          <a:xfrm>
            <a:off x="1215288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37" name="Google Shape;1137;p74"/>
          <p:cNvSpPr/>
          <p:nvPr/>
        </p:nvSpPr>
        <p:spPr>
          <a:xfrm>
            <a:off x="930288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74"/>
          <p:cNvSpPr/>
          <p:nvPr/>
        </p:nvSpPr>
        <p:spPr>
          <a:xfrm>
            <a:off x="3990453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9" name="Google Shape;1139;p74"/>
          <p:cNvCxnSpPr>
            <a:stCxn id="1135" idx="3"/>
            <a:endCxn id="1138" idx="1"/>
          </p:cNvCxnSpPr>
          <p:nvPr/>
        </p:nvCxnSpPr>
        <p:spPr>
          <a:xfrm>
            <a:off x="2745378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0" name="Google Shape;1140;p74"/>
          <p:cNvSpPr/>
          <p:nvPr/>
        </p:nvSpPr>
        <p:spPr>
          <a:xfrm>
            <a:off x="5520513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1" name="Google Shape;1141;p74"/>
          <p:cNvCxnSpPr>
            <a:stCxn id="1138" idx="3"/>
            <a:endCxn id="1140" idx="2"/>
          </p:cNvCxnSpPr>
          <p:nvPr/>
        </p:nvCxnSpPr>
        <p:spPr>
          <a:xfrm>
            <a:off x="4275453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2" name="Google Shape;1142;p74"/>
          <p:cNvSpPr txBox="1"/>
          <p:nvPr/>
        </p:nvSpPr>
        <p:spPr>
          <a:xfrm>
            <a:off x="12302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3" name="Google Shape;1143;p74"/>
          <p:cNvSpPr txBox="1"/>
          <p:nvPr/>
        </p:nvSpPr>
        <p:spPr>
          <a:xfrm>
            <a:off x="2760450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4" name="Google Shape;1144;p74"/>
          <p:cNvSpPr txBox="1"/>
          <p:nvPr/>
        </p:nvSpPr>
        <p:spPr>
          <a:xfrm>
            <a:off x="42755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5" name="Google Shape;1145;p74"/>
          <p:cNvSpPr txBox="1"/>
          <p:nvPr/>
        </p:nvSpPr>
        <p:spPr>
          <a:xfrm>
            <a:off x="1811925" y="4569575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p74"/>
          <p:cNvSpPr txBox="1"/>
          <p:nvPr/>
        </p:nvSpPr>
        <p:spPr>
          <a:xfrm>
            <a:off x="1086225" y="4028400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1C23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</a:t>
            </a:r>
            <a:endParaRPr/>
          </a:p>
        </p:txBody>
      </p:sp>
      <p:sp>
        <p:nvSpPr>
          <p:cNvPr id="1152" name="Google Shape;1152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big should the window be?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Pick window size </a:t>
            </a:r>
            <a:r>
              <a:rPr lang="en" i="1" dirty="0"/>
              <a:t>W</a:t>
            </a:r>
            <a:r>
              <a:rPr lang="en" dirty="0"/>
              <a:t> to balance three goals: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Take advantage of network capacity ("fill the pipe")... </a:t>
            </a:r>
            <a:r>
              <a:rPr lang="en" sz="1400" dirty="0">
                <a:solidFill>
                  <a:schemeClr val="accent3"/>
                </a:solidFill>
              </a:rPr>
              <a:t>(set </a:t>
            </a:r>
            <a:r>
              <a:rPr lang="en" sz="1400" i="1" dirty="0">
                <a:solidFill>
                  <a:schemeClr val="accent3"/>
                </a:solidFill>
              </a:rPr>
              <a:t>W</a:t>
            </a:r>
            <a:r>
              <a:rPr lang="en" sz="1400" dirty="0">
                <a:solidFill>
                  <a:schemeClr val="accent3"/>
                </a:solidFill>
              </a:rPr>
              <a:t> </a:t>
            </a:r>
            <a:r>
              <a:rPr lang="en" sz="1400">
                <a:solidFill>
                  <a:schemeClr val="accent3"/>
                </a:solidFill>
              </a:rPr>
              <a:t>= RTT </a:t>
            </a:r>
            <a:r>
              <a:rPr lang="en" sz="1400" dirty="0">
                <a:solidFill>
                  <a:schemeClr val="accent3"/>
                </a:solidFill>
              </a:rPr>
              <a:t>× bandwidth)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...but don't overload the recipient (flow control)... </a:t>
            </a:r>
            <a:r>
              <a:rPr lang="en" sz="1400" dirty="0">
                <a:solidFill>
                  <a:schemeClr val="accent3"/>
                </a:solidFill>
              </a:rPr>
              <a:t>(set </a:t>
            </a:r>
            <a:r>
              <a:rPr lang="en" sz="1400" i="1" dirty="0">
                <a:solidFill>
                  <a:schemeClr val="accent3"/>
                </a:solidFill>
              </a:rPr>
              <a:t>W</a:t>
            </a:r>
            <a:r>
              <a:rPr lang="en" sz="1400" dirty="0">
                <a:solidFill>
                  <a:schemeClr val="accent3"/>
                </a:solidFill>
              </a:rPr>
              <a:t> = recipient's advertised window)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...and don't overload links (congestion control). </a:t>
            </a:r>
            <a:r>
              <a:rPr lang="en" sz="1400" dirty="0">
                <a:solidFill>
                  <a:schemeClr val="accent3"/>
                </a:solidFill>
              </a:rPr>
              <a:t>(set </a:t>
            </a:r>
            <a:r>
              <a:rPr lang="en" sz="1400" i="1" dirty="0">
                <a:solidFill>
                  <a:schemeClr val="accent3"/>
                </a:solidFill>
              </a:rPr>
              <a:t>W</a:t>
            </a:r>
            <a:r>
              <a:rPr lang="en" sz="1400" dirty="0">
                <a:solidFill>
                  <a:schemeClr val="accent3"/>
                </a:solidFill>
              </a:rPr>
              <a:t> = sender's congestion window)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</a:rPr>
              <a:t>Ideally: </a:t>
            </a:r>
            <a:r>
              <a:rPr lang="en" i="1" dirty="0">
                <a:solidFill>
                  <a:srgbClr val="000000"/>
                </a:solidFill>
              </a:rPr>
              <a:t>W</a:t>
            </a:r>
            <a:r>
              <a:rPr lang="en" dirty="0">
                <a:solidFill>
                  <a:srgbClr val="000000"/>
                </a:solidFill>
              </a:rPr>
              <a:t> is set to the minimum of the 3 values.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</a:rPr>
              <a:t>In practice: </a:t>
            </a:r>
            <a:r>
              <a:rPr lang="en" i="1" dirty="0">
                <a:solidFill>
                  <a:srgbClr val="000000"/>
                </a:solidFill>
              </a:rPr>
              <a:t>W</a:t>
            </a:r>
            <a:r>
              <a:rPr lang="en" dirty="0">
                <a:solidFill>
                  <a:srgbClr val="000000"/>
                </a:solidFill>
              </a:rPr>
              <a:t> is the minimum of advertised window (2) and congestion window (3).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Congestion window ≤ pipe-filling window.</a:t>
            </a:r>
            <a:br>
              <a:rPr lang="en" dirty="0">
                <a:solidFill>
                  <a:srgbClr val="000000"/>
                </a:solidFill>
              </a:rPr>
            </a:br>
            <a:r>
              <a:rPr lang="en" dirty="0">
                <a:solidFill>
                  <a:srgbClr val="000000"/>
                </a:solidFill>
              </a:rPr>
              <a:t>Equal if we're the only connection, less than if sharing bandwidth with others.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It's hard for the sender to discover the bottleneck bandwidth and calculate (1).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Google Shape;1157;p76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Smarter Acknowledgments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158" name="Google Shape;1158;p76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Smarter Acknowledgments</a:t>
            </a:r>
            <a:endParaRPr/>
          </a:p>
        </p:txBody>
      </p:sp>
      <p:sp>
        <p:nvSpPr>
          <p:cNvPr id="1159" name="Google Shape;1159;p76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Ack Strategy: Individual Packet Acks</a:t>
            </a:r>
            <a:endParaRPr dirty="0"/>
          </a:p>
        </p:txBody>
      </p:sp>
      <p:sp>
        <p:nvSpPr>
          <p:cNvPr id="1165" name="Google Shape;1165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Our design so far: </a:t>
            </a:r>
            <a:r>
              <a:rPr lang="en" b="1"/>
              <a:t>Individual packet acks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you receive packet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/>
              <a:t>, send ack(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/>
              <a:t>).</a:t>
            </a:r>
            <a:endParaRPr/>
          </a:p>
        </p:txBody>
      </p:sp>
      <p:cxnSp>
        <p:nvCxnSpPr>
          <p:cNvPr id="1166" name="Google Shape;1166;p77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7" name="Google Shape;1167;p77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8" name="Google Shape;1168;p77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9" name="Google Shape;1169;p77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70" name="Google Shape;1170;p77"/>
          <p:cNvCxnSpPr/>
          <p:nvPr/>
        </p:nvCxnSpPr>
        <p:spPr>
          <a:xfrm flipH="1">
            <a:off x="3044632" y="24330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1" name="Google Shape;1171;p77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2" name="Google Shape;1172;p77"/>
          <p:cNvCxnSpPr/>
          <p:nvPr/>
        </p:nvCxnSpPr>
        <p:spPr>
          <a:xfrm>
            <a:off x="3039500" y="21756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3" name="Google Shape;1173;p77"/>
          <p:cNvCxnSpPr/>
          <p:nvPr/>
        </p:nvCxnSpPr>
        <p:spPr>
          <a:xfrm>
            <a:off x="3039500" y="23280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4" name="Google Shape;1174;p77"/>
          <p:cNvCxnSpPr/>
          <p:nvPr/>
        </p:nvCxnSpPr>
        <p:spPr>
          <a:xfrm>
            <a:off x="3039500" y="24804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5" name="Google Shape;1175;p77"/>
          <p:cNvCxnSpPr/>
          <p:nvPr/>
        </p:nvCxnSpPr>
        <p:spPr>
          <a:xfrm flipH="1">
            <a:off x="3044632" y="27378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76" name="Google Shape;1176;p77"/>
          <p:cNvSpPr txBox="1"/>
          <p:nvPr/>
        </p:nvSpPr>
        <p:spPr>
          <a:xfrm>
            <a:off x="2821986" y="1850461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7" name="Google Shape;1177;p77"/>
          <p:cNvSpPr txBox="1"/>
          <p:nvPr/>
        </p:nvSpPr>
        <p:spPr>
          <a:xfrm>
            <a:off x="6022375" y="2244804"/>
            <a:ext cx="6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ack(3)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ack(4)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78" name="Google Shape;1178;p77"/>
          <p:cNvCxnSpPr/>
          <p:nvPr/>
        </p:nvCxnSpPr>
        <p:spPr>
          <a:xfrm flipH="1">
            <a:off x="3044632" y="28902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9" name="Google Shape;1179;p77"/>
          <p:cNvCxnSpPr/>
          <p:nvPr/>
        </p:nvCxnSpPr>
        <p:spPr>
          <a:xfrm flipH="1">
            <a:off x="4097032" y="2585414"/>
            <a:ext cx="1956300" cy="2409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0" name="Google Shape;1180;p77"/>
          <p:cNvSpPr txBox="1"/>
          <p:nvPr/>
        </p:nvSpPr>
        <p:spPr>
          <a:xfrm>
            <a:off x="3917749" y="2689935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1" name="Google Shape;1181;p77"/>
          <p:cNvCxnSpPr/>
          <p:nvPr/>
        </p:nvCxnSpPr>
        <p:spPr>
          <a:xfrm>
            <a:off x="3039500" y="33948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2" name="Google Shape;1182;p77"/>
          <p:cNvSpPr txBox="1"/>
          <p:nvPr/>
        </p:nvSpPr>
        <p:spPr>
          <a:xfrm>
            <a:off x="2821986" y="3222061"/>
            <a:ext cx="264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77"/>
          <p:cNvSpPr txBox="1"/>
          <p:nvPr/>
        </p:nvSpPr>
        <p:spPr>
          <a:xfrm>
            <a:off x="6118100" y="3625600"/>
            <a:ext cx="14595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Unnecessary and avoidable retransmission!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p8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Ack Strategy: Cumulative Acks</a:t>
            </a:r>
            <a:endParaRPr dirty="0"/>
          </a:p>
        </p:txBody>
      </p:sp>
      <p:sp>
        <p:nvSpPr>
          <p:cNvPr id="1240" name="Google Shape;1240;p8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TCP uses: </a:t>
            </a:r>
            <a:r>
              <a:rPr lang="en" b="1" dirty="0"/>
              <a:t>Cumulative acks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Example: "I received all packets up to 12, </a:t>
            </a:r>
            <a:r>
              <a:rPr lang="en" strike="sngStrike" dirty="0"/>
              <a:t>plus 14, 15, 16</a:t>
            </a:r>
            <a:r>
              <a:rPr lang="en" dirty="0"/>
              <a:t>." (do not ack later packets.)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Ack the highest sequence number for which all previous packets have been received.</a:t>
            </a:r>
            <a:endParaRPr dirty="0"/>
          </a:p>
        </p:txBody>
      </p:sp>
      <p:cxnSp>
        <p:nvCxnSpPr>
          <p:cNvPr id="1241" name="Google Shape;1241;p80"/>
          <p:cNvCxnSpPr/>
          <p:nvPr/>
        </p:nvCxnSpPr>
        <p:spPr>
          <a:xfrm flipH="1">
            <a:off x="3044632" y="345218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2" name="Google Shape;1242;p80"/>
          <p:cNvCxnSpPr/>
          <p:nvPr/>
        </p:nvCxnSpPr>
        <p:spPr>
          <a:xfrm flipH="1">
            <a:off x="3044632" y="312833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3" name="Google Shape;1243;p80"/>
          <p:cNvCxnSpPr/>
          <p:nvPr/>
        </p:nvCxnSpPr>
        <p:spPr>
          <a:xfrm flipH="1">
            <a:off x="3044632" y="278543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44" name="Google Shape;1244;p80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5" name="Google Shape;1245;p80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46" name="Google Shape;1246;p80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7" name="Google Shape;1247;p80"/>
          <p:cNvCxnSpPr/>
          <p:nvPr/>
        </p:nvCxnSpPr>
        <p:spPr>
          <a:xfrm flipH="1">
            <a:off x="3044632" y="2437776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8" name="Google Shape;1248;p80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9" name="Google Shape;1249;p80"/>
          <p:cNvCxnSpPr/>
          <p:nvPr/>
        </p:nvCxnSpPr>
        <p:spPr>
          <a:xfrm>
            <a:off x="3039500" y="234712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50" name="Google Shape;1250;p80"/>
          <p:cNvSpPr txBox="1"/>
          <p:nvPr/>
        </p:nvSpPr>
        <p:spPr>
          <a:xfrm>
            <a:off x="2821986" y="1850461"/>
            <a:ext cx="2643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1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2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3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4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5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6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7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1" name="Google Shape;1251;p80"/>
          <p:cNvSpPr txBox="1"/>
          <p:nvPr/>
        </p:nvSpPr>
        <p:spPr>
          <a:xfrm>
            <a:off x="6022375" y="2273375"/>
            <a:ext cx="23082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</a:t>
            </a:r>
            <a:r>
              <a:rPr lang="en" sz="1100" strike="sngStrike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plus [3]</a:t>
            </a: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</a:t>
            </a:r>
            <a:r>
              <a:rPr lang="en" sz="1100" strike="sngStrike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plus [3, 5]</a:t>
            </a: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</a:t>
            </a:r>
            <a:r>
              <a:rPr lang="en" sz="1100" strike="sngStrike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plus [3, 5, 7]</a:t>
            </a: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2" name="Google Shape;1252;p80"/>
          <p:cNvSpPr txBox="1"/>
          <p:nvPr/>
        </p:nvSpPr>
        <p:spPr>
          <a:xfrm>
            <a:off x="4645224" y="225906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3" name="Google Shape;1253;p80"/>
          <p:cNvCxnSpPr/>
          <p:nvPr/>
        </p:nvCxnSpPr>
        <p:spPr>
          <a:xfrm>
            <a:off x="3039500" y="2185199"/>
            <a:ext cx="1624200" cy="19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54" name="Google Shape;1254;p80"/>
          <p:cNvCxnSpPr/>
          <p:nvPr/>
        </p:nvCxnSpPr>
        <p:spPr>
          <a:xfrm>
            <a:off x="3039500" y="2687277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55" name="Google Shape;1255;p80"/>
          <p:cNvCxnSpPr/>
          <p:nvPr/>
        </p:nvCxnSpPr>
        <p:spPr>
          <a:xfrm>
            <a:off x="3039500" y="299482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56" name="Google Shape;1256;p80"/>
          <p:cNvSpPr txBox="1"/>
          <p:nvPr/>
        </p:nvSpPr>
        <p:spPr>
          <a:xfrm>
            <a:off x="293450" y="2291575"/>
            <a:ext cx="2062200" cy="1261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If every even-numbered packet is dropped: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"Received all up to 1, </a:t>
            </a:r>
            <a:r>
              <a:rPr lang="en" strike="sngStrike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plus [3, 5, 7, ..., 999]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."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7" name="Google Shape;1257;p80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58" name="Google Shape;1258;p80"/>
          <p:cNvSpPr txBox="1"/>
          <p:nvPr/>
        </p:nvSpPr>
        <p:spPr>
          <a:xfrm>
            <a:off x="4645224" y="2590848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9" name="Google Shape;1259;p80"/>
          <p:cNvCxnSpPr/>
          <p:nvPr/>
        </p:nvCxnSpPr>
        <p:spPr>
          <a:xfrm>
            <a:off x="3039500" y="2516987"/>
            <a:ext cx="1624200" cy="19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60" name="Google Shape;1260;p80"/>
          <p:cNvSpPr txBox="1"/>
          <p:nvPr/>
        </p:nvSpPr>
        <p:spPr>
          <a:xfrm>
            <a:off x="4645224" y="2933748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1" name="Google Shape;1261;p80"/>
          <p:cNvCxnSpPr/>
          <p:nvPr/>
        </p:nvCxnSpPr>
        <p:spPr>
          <a:xfrm>
            <a:off x="3039500" y="2859887"/>
            <a:ext cx="1624200" cy="19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Google Shape;1266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Ack Strategies</a:t>
            </a:r>
            <a:endParaRPr/>
          </a:p>
        </p:txBody>
      </p:sp>
      <p:sp>
        <p:nvSpPr>
          <p:cNvPr id="1267" name="Google Shape;1267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Individual packet acks: Each ack corresponds to one packet.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Pros: Compact, simple.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Cons: Loss of ack packet always requires retransmission.</a:t>
            </a:r>
            <a:endParaRPr dirty="0"/>
          </a:p>
          <a:p>
            <a:pPr marL="0" lvl="0" indent="0">
              <a:buNone/>
            </a:pPr>
            <a:r>
              <a:rPr lang="en" altLang="zh-CN" dirty="0"/>
              <a:t>cumulative acks</a:t>
            </a:r>
            <a:r>
              <a:rPr lang="en" dirty="0"/>
              <a:t>: Each ack says, "all packets up to </a:t>
            </a:r>
            <a:r>
              <a:rPr lang="en" i="1" dirty="0"/>
              <a:t>n</a:t>
            </a:r>
            <a:r>
              <a:rPr lang="en" dirty="0"/>
              <a:t> received."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Cumulative acks reveal “</a:t>
            </a:r>
            <a:r>
              <a:rPr lang="en-US" dirty="0">
                <a:solidFill>
                  <a:srgbClr val="C00000"/>
                </a:solidFill>
              </a:rPr>
              <a:t>how much contiguous data arrived</a:t>
            </a:r>
            <a:r>
              <a:rPr lang="en-US" dirty="0"/>
              <a:t>” not “exactly which packets arrived.”</a:t>
            </a:r>
            <a:endParaRPr lang="en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Pros: Compact. More resilient to ack loss (than individual acks).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Cons: Incomplete information on which packets arrived.</a:t>
            </a:r>
            <a:endParaRPr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82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Detecting Loss Early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273" name="Google Shape;1273;p82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Loss Early</a:t>
            </a:r>
            <a:endParaRPr/>
          </a:p>
        </p:txBody>
      </p:sp>
      <p:sp>
        <p:nvSpPr>
          <p:cNvPr id="1274" name="Google Shape;1274;p82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Google Shape;1337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Responding to Loss</a:t>
            </a:r>
            <a:endParaRPr/>
          </a:p>
        </p:txBody>
      </p:sp>
      <p:sp>
        <p:nvSpPr>
          <p:cNvPr id="1338" name="Google Shape;1338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altLang="zh-CN" dirty="0"/>
              <a:t>So far, we detect loss by </a:t>
            </a:r>
            <a:r>
              <a:rPr lang="en-US" altLang="zh-CN" dirty="0">
                <a:solidFill>
                  <a:srgbClr val="C00000"/>
                </a:solidFill>
              </a:rPr>
              <a:t>waiting for a timeout</a:t>
            </a:r>
            <a:r>
              <a:rPr lang="en-US" altLang="zh-CN" dirty="0"/>
              <a:t>.</a:t>
            </a:r>
          </a:p>
          <a:p>
            <a:pPr lvl="0"/>
            <a:r>
              <a:rPr lang="en-US" altLang="zh-CN" dirty="0"/>
              <a:t>Timeout length is roughly RTT (a few milliseconds).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keep a separate timer for each packet. (</a:t>
            </a:r>
            <a:r>
              <a:rPr lang="en-US" dirty="0"/>
              <a:t>Real TCP implementations typically keep one RTO timer for the earliest un-</a:t>
            </a:r>
            <a:r>
              <a:rPr lang="en-US" dirty="0" err="1"/>
              <a:t>acked</a:t>
            </a:r>
            <a:r>
              <a:rPr lang="en-US" dirty="0"/>
              <a:t> segment.</a:t>
            </a:r>
            <a:r>
              <a:rPr lang="en" dirty="0"/>
              <a:t>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a timer expires, resend the corresponding packet.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C00000"/>
                </a:solidFill>
              </a:rPr>
              <a:t>Fast retransmit</a:t>
            </a:r>
            <a:r>
              <a:rPr lang="en-US" dirty="0"/>
              <a:t>:</a:t>
            </a:r>
            <a:r>
              <a:rPr lang="zh-CN" altLang="en-US" dirty="0"/>
              <a:t> </a:t>
            </a:r>
            <a:r>
              <a:rPr lang="en-US" dirty="0"/>
              <a:t>Detect loss when acks for subsequent packets arrive. Since packets arrive every few nanoseconds, this approach detects loss and retransmits earlier.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Ambiguous with </a:t>
            </a:r>
            <a:r>
              <a:rPr lang="en" i="1" dirty="0"/>
              <a:t>cumulative acks</a:t>
            </a:r>
            <a:r>
              <a:rPr lang="en" dirty="0"/>
              <a:t> and </a:t>
            </a:r>
            <a:r>
              <a:rPr lang="en" i="1" dirty="0"/>
              <a:t>multiple losses</a:t>
            </a:r>
            <a:r>
              <a:rPr lang="en" dirty="0"/>
              <a:t>, since </a:t>
            </a:r>
            <a:r>
              <a:rPr lang="en-US" dirty="0"/>
              <a:t>cumulative ACKs don’t reveal which packets were received</a:t>
            </a:r>
            <a:r>
              <a:rPr lang="en" dirty="0"/>
              <a:t>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5">
          <a:extLst>
            <a:ext uri="{FF2B5EF4-FFF2-40B4-BE49-F238E27FC236}">
              <a16:creationId xmlns:a16="http://schemas.microsoft.com/office/drawing/2014/main" id="{D3889839-2D94-E016-2094-701F2D976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Google Shape;1316;p86">
            <a:extLst>
              <a:ext uri="{FF2B5EF4-FFF2-40B4-BE49-F238E27FC236}">
                <a16:creationId xmlns:a16="http://schemas.microsoft.com/office/drawing/2014/main" id="{57CC2C19-CB5E-6A01-12C9-08E850FC9F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Ack-Based Loss Detection: Cumulative Acks</a:t>
            </a:r>
            <a:endParaRPr dirty="0"/>
          </a:p>
        </p:txBody>
      </p:sp>
      <p:sp>
        <p:nvSpPr>
          <p:cNvPr id="1317" name="Google Shape;1317;p86">
            <a:extLst>
              <a:ext uri="{FF2B5EF4-FFF2-40B4-BE49-F238E27FC236}">
                <a16:creationId xmlns:a16="http://schemas.microsoft.com/office/drawing/2014/main" id="{D17258DD-3C73-48BA-FBD2-767DDD9790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296322"/>
            <a:ext cx="8950323" cy="11282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 dirty="0"/>
              <a:t>Cumulative acks: Declare loss if </a:t>
            </a:r>
            <a:r>
              <a:rPr lang="en" sz="1600" i="1" dirty="0"/>
              <a:t>k</a:t>
            </a:r>
            <a:r>
              <a:rPr lang="en" sz="1600" dirty="0"/>
              <a:t> </a:t>
            </a:r>
            <a:r>
              <a:rPr lang="en" sz="1600" b="1" dirty="0"/>
              <a:t>duplicate acks</a:t>
            </a:r>
            <a:r>
              <a:rPr lang="en" sz="1600" dirty="0"/>
              <a:t> are received. </a:t>
            </a:r>
            <a:endParaRPr lang="en-US" sz="16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C00000"/>
                </a:solidFill>
              </a:rPr>
              <a:t>k = 3 </a:t>
            </a:r>
            <a:r>
              <a:rPr lang="en-US" sz="1600" dirty="0"/>
              <a:t>was chosen historically (empirical compromise between reordering and loss).</a:t>
            </a:r>
          </a:p>
        </p:txBody>
      </p:sp>
      <p:sp>
        <p:nvSpPr>
          <p:cNvPr id="4" name="Google Shape;1317;p86">
            <a:extLst>
              <a:ext uri="{FF2B5EF4-FFF2-40B4-BE49-F238E27FC236}">
                <a16:creationId xmlns:a16="http://schemas.microsoft.com/office/drawing/2014/main" id="{0814B9D3-7E93-7028-E42D-BF9334D69319}"/>
              </a:ext>
            </a:extLst>
          </p:cNvPr>
          <p:cNvSpPr txBox="1">
            <a:spLocks/>
          </p:cNvSpPr>
          <p:nvPr/>
        </p:nvSpPr>
        <p:spPr>
          <a:xfrm>
            <a:off x="86627" y="1104848"/>
            <a:ext cx="3185962" cy="17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14300" indent="0" fontAlgn="base">
              <a:buNone/>
            </a:pPr>
            <a:r>
              <a:rPr lang="nl-NL" altLang="zh-CN" sz="1400" dirty="0"/>
              <a:t>Sender transmits</a:t>
            </a:r>
            <a:r>
              <a:rPr lang="en-US" altLang="zh-CN" sz="1400" dirty="0"/>
              <a:t>:</a:t>
            </a:r>
            <a:endParaRPr lang="nl-NL" altLang="zh-CN" sz="1400" dirty="0"/>
          </a:p>
          <a:p>
            <a:pPr lvl="1" fontAlgn="base"/>
            <a:r>
              <a:rPr lang="nl-NL" altLang="zh-CN" sz="1400" dirty="0"/>
              <a:t>Seq 1000</a:t>
            </a:r>
          </a:p>
          <a:p>
            <a:pPr lvl="1" fontAlgn="base"/>
            <a:r>
              <a:rPr lang="nl-NL" altLang="zh-CN" sz="1400" dirty="0"/>
              <a:t>Seq 2000</a:t>
            </a:r>
          </a:p>
          <a:p>
            <a:pPr lvl="1" fontAlgn="base"/>
            <a:r>
              <a:rPr lang="nl-NL" altLang="zh-CN" sz="1400" b="1" i="1" dirty="0"/>
              <a:t>Seq 3000 Dropped in flight</a:t>
            </a:r>
          </a:p>
          <a:p>
            <a:pPr lvl="1" fontAlgn="base"/>
            <a:r>
              <a:rPr lang="nl-NL" altLang="zh-CN" sz="1400" dirty="0"/>
              <a:t>Seq 4000</a:t>
            </a:r>
          </a:p>
          <a:p>
            <a:pPr lvl="1" fontAlgn="base"/>
            <a:r>
              <a:rPr lang="nl-NL" altLang="zh-CN" sz="1400" dirty="0"/>
              <a:t>Seq 5000</a:t>
            </a:r>
          </a:p>
          <a:p>
            <a:pPr lvl="1" fontAlgn="base"/>
            <a:r>
              <a:rPr lang="nl-NL" altLang="zh-CN" sz="1400" dirty="0"/>
              <a:t>Seq 6000</a:t>
            </a:r>
          </a:p>
        </p:txBody>
      </p:sp>
      <p:sp>
        <p:nvSpPr>
          <p:cNvPr id="5" name="Google Shape;1317;p86">
            <a:extLst>
              <a:ext uri="{FF2B5EF4-FFF2-40B4-BE49-F238E27FC236}">
                <a16:creationId xmlns:a16="http://schemas.microsoft.com/office/drawing/2014/main" id="{F1ACAC42-3DB6-9999-6448-D621B4A056EB}"/>
              </a:ext>
            </a:extLst>
          </p:cNvPr>
          <p:cNvSpPr txBox="1">
            <a:spLocks/>
          </p:cNvSpPr>
          <p:nvPr/>
        </p:nvSpPr>
        <p:spPr>
          <a:xfrm>
            <a:off x="3080084" y="1113448"/>
            <a:ext cx="5997712" cy="17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14300" indent="0" fontAlgn="base">
              <a:buNone/>
            </a:pPr>
            <a:r>
              <a:rPr lang="nl-NL" altLang="zh-CN" sz="1400" dirty="0"/>
              <a:t>Receiver acks:</a:t>
            </a:r>
          </a:p>
          <a:p>
            <a:pPr lvl="1" fontAlgn="base"/>
            <a:r>
              <a:rPr lang="nl-NL" altLang="zh-CN" sz="1400" dirty="0"/>
              <a:t>ACK 2000 (I have received up to Seq 1999, and am expecting Seq 2000)</a:t>
            </a:r>
          </a:p>
          <a:p>
            <a:pPr lvl="1" fontAlgn="base"/>
            <a:r>
              <a:rPr lang="nl-NL" altLang="zh-CN" sz="1400" dirty="0"/>
              <a:t>ACK 3000 (I have received up to Seq 2999, and am expecting Seq 2000)</a:t>
            </a:r>
          </a:p>
          <a:p>
            <a:pPr lvl="1" fontAlgn="base"/>
            <a:r>
              <a:rPr lang="nl-NL" altLang="zh-CN" sz="1400" dirty="0"/>
              <a:t>ACK 3000 (I have received up to Seq 2999, and am expecting Seq 2000)</a:t>
            </a:r>
          </a:p>
          <a:p>
            <a:pPr lvl="1" fontAlgn="base"/>
            <a:r>
              <a:rPr lang="nl-NL" altLang="zh-CN" sz="1400" dirty="0"/>
              <a:t>ACK 3000 (I have received up to Seq 2999, and am expecting Seq 2000)</a:t>
            </a:r>
          </a:p>
          <a:p>
            <a:pPr lvl="1" fontAlgn="base"/>
            <a:r>
              <a:rPr lang="nl-NL" altLang="zh-CN" sz="1400" dirty="0"/>
              <a:t>ACK 3000 (I have received up to Seq 2999, and am expecting Seq 2000) </a:t>
            </a:r>
          </a:p>
          <a:p>
            <a:pPr marL="571500" lvl="1" indent="0" fontAlgn="base">
              <a:buNone/>
            </a:pPr>
            <a:r>
              <a:rPr lang="en-US" altLang="zh-CN" sz="1400" dirty="0"/>
              <a:t>k = 3 </a:t>
            </a:r>
            <a:r>
              <a:rPr lang="nl-NL" altLang="zh-CN" sz="1400" dirty="0"/>
              <a:t>duplicate ACKs indicate packet loss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CCACAC-8D55-9F8B-454C-A3E81EC18C2F}"/>
              </a:ext>
            </a:extLst>
          </p:cNvPr>
          <p:cNvCxnSpPr/>
          <p:nvPr/>
        </p:nvCxnSpPr>
        <p:spPr>
          <a:xfrm>
            <a:off x="1915427" y="1722923"/>
            <a:ext cx="1819175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D9C584E-697E-3FBB-A032-9EFF90FF36BB}"/>
              </a:ext>
            </a:extLst>
          </p:cNvPr>
          <p:cNvCxnSpPr>
            <a:cxnSpLocks/>
          </p:cNvCxnSpPr>
          <p:nvPr/>
        </p:nvCxnSpPr>
        <p:spPr>
          <a:xfrm>
            <a:off x="1915427" y="2031260"/>
            <a:ext cx="1819175" cy="230678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8F81FB4-A3C0-C68A-50F7-1B98EA9F9B75}"/>
              </a:ext>
            </a:extLst>
          </p:cNvPr>
          <p:cNvCxnSpPr>
            <a:cxnSpLocks/>
          </p:cNvCxnSpPr>
          <p:nvPr/>
        </p:nvCxnSpPr>
        <p:spPr>
          <a:xfrm>
            <a:off x="1915427" y="2705357"/>
            <a:ext cx="1819175" cy="16741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F24303E-2146-07D5-F1CA-1A309EE7A4A9}"/>
              </a:ext>
            </a:extLst>
          </p:cNvPr>
          <p:cNvCxnSpPr>
            <a:cxnSpLocks/>
          </p:cNvCxnSpPr>
          <p:nvPr/>
        </p:nvCxnSpPr>
        <p:spPr>
          <a:xfrm>
            <a:off x="1915426" y="3040675"/>
            <a:ext cx="1819175" cy="34981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35C7241-EE2E-09D3-4D93-A27096002BB9}"/>
              </a:ext>
            </a:extLst>
          </p:cNvPr>
          <p:cNvCxnSpPr>
            <a:cxnSpLocks/>
          </p:cNvCxnSpPr>
          <p:nvPr/>
        </p:nvCxnSpPr>
        <p:spPr>
          <a:xfrm>
            <a:off x="1915425" y="3373291"/>
            <a:ext cx="1819175" cy="574443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281735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Google Shape;1385;p9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386" name="Google Shape;1386;p9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0</a:t>
            </a:r>
            <a:endParaRPr/>
          </a:p>
        </p:txBody>
      </p:sp>
      <p:sp>
        <p:nvSpPr>
          <p:cNvPr id="1387" name="Google Shape;1387;p94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0ACCFD-4692-F47A-B9F8-3FC78D081BDC}"/>
              </a:ext>
            </a:extLst>
          </p:cNvPr>
          <p:cNvSpPr txBox="1"/>
          <p:nvPr/>
        </p:nvSpPr>
        <p:spPr>
          <a:xfrm>
            <a:off x="5850674" y="4202736"/>
            <a:ext cx="3067330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ACK 3: means that packets up to 2 </a:t>
            </a:r>
          </a:p>
          <a:p>
            <a:r>
              <a:rPr lang="en-US" dirty="0"/>
              <a:t>are received, and receiver expects packet 3.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p9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Responding to Loss: Cumulative Acks, Multiple Losses</a:t>
            </a:r>
            <a:endParaRPr dirty="0"/>
          </a:p>
        </p:txBody>
      </p:sp>
      <p:sp>
        <p:nvSpPr>
          <p:cNvPr id="1393" name="Google Shape;1393;p9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1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</p:txBody>
      </p:sp>
      <p:sp>
        <p:nvSpPr>
          <p:cNvPr id="1394" name="Google Shape;1394;p95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Assumptions: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k</a:t>
            </a:r>
            <a:r>
              <a:rPr lang="en" dirty="0"/>
              <a:t> = 3</a:t>
            </a:r>
            <a:br>
              <a:rPr lang="en" dirty="0"/>
            </a:b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lost after 3 later acks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= 6</a:t>
            </a:r>
            <a:br>
              <a:rPr lang="en" dirty="0"/>
            </a:b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6 packets in flight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 dirty="0">
                <a:solidFill>
                  <a:schemeClr val="accent2"/>
                </a:solidFill>
              </a:rPr>
              <a:t>red = in flight</a:t>
            </a:r>
            <a:endParaRPr dirty="0"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 dirty="0">
                <a:solidFill>
                  <a:srgbClr val="6AA84F"/>
                </a:solidFill>
              </a:rPr>
              <a:t>green = acked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P</a:t>
            </a:r>
            <a:r>
              <a:rPr lang="en" dirty="0"/>
              <a:t>ackets 3 and 5 are lost (but sender doesn't know).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 and 2 already acked.</a:t>
            </a:r>
            <a:endParaRPr dirty="0">
              <a:solidFill>
                <a:srgbClr val="000000"/>
              </a:solidFill>
            </a:endParaRPr>
          </a:p>
        </p:txBody>
      </p:sp>
      <p:sp>
        <p:nvSpPr>
          <p:cNvPr id="1395" name="Google Shape;1395;p95"/>
          <p:cNvSpPr txBox="1"/>
          <p:nvPr/>
        </p:nvSpPr>
        <p:spPr>
          <a:xfrm>
            <a:off x="107050" y="4101500"/>
            <a:ext cx="48120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It might look like there's 7 packets in flight.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But the duplicate ACK 3 tells us one of them was received.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just don't know which one, so we can't mark it.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DC67C1-5850-43F5-BE8D-726A8AA07901}"/>
              </a:ext>
            </a:extLst>
          </p:cNvPr>
          <p:cNvSpPr txBox="1"/>
          <p:nvPr/>
        </p:nvSpPr>
        <p:spPr>
          <a:xfrm>
            <a:off x="5850674" y="4202736"/>
            <a:ext cx="3067330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ACK 3: means that packets up to 2 </a:t>
            </a:r>
          </a:p>
          <a:p>
            <a:r>
              <a:rPr lang="en-US" dirty="0"/>
              <a:t>are received, and receiver expects packet 3.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Google Shape;1400;p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01" name="Google Shape;1401;p9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2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</p:txBody>
      </p:sp>
      <p:sp>
        <p:nvSpPr>
          <p:cNvPr id="1402" name="Google Shape;1402;p96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Assumptions: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k</a:t>
            </a:r>
            <a:r>
              <a:rPr lang="en" dirty="0"/>
              <a:t> = 3</a:t>
            </a:r>
            <a:br>
              <a:rPr lang="en" dirty="0"/>
            </a:b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lost after 3 later acks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= 6</a:t>
            </a:r>
            <a:br>
              <a:rPr lang="en" dirty="0"/>
            </a:b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6 packets in flight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 dirty="0">
                <a:solidFill>
                  <a:schemeClr val="accent2"/>
                </a:solidFill>
              </a:rPr>
              <a:t>red = in flight</a:t>
            </a:r>
            <a:endParaRPr dirty="0"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 dirty="0">
                <a:solidFill>
                  <a:srgbClr val="6AA84F"/>
                </a:solidFill>
              </a:rPr>
              <a:t>green = acked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P</a:t>
            </a:r>
            <a:r>
              <a:rPr lang="en" dirty="0"/>
              <a:t>ackets 3 and 5 are lost (but sender doesn't know).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 and 2 already acked.</a:t>
            </a:r>
            <a:endParaRPr dirty="0"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E7CFD-BF5E-1D51-97D6-4814801B8771}"/>
              </a:ext>
            </a:extLst>
          </p:cNvPr>
          <p:cNvSpPr txBox="1"/>
          <p:nvPr/>
        </p:nvSpPr>
        <p:spPr>
          <a:xfrm>
            <a:off x="5850674" y="4202736"/>
            <a:ext cx="3067330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ACK 3: means that packets up to 2 </a:t>
            </a:r>
          </a:p>
          <a:p>
            <a:r>
              <a:rPr lang="en-US" dirty="0"/>
              <a:t>are received, and receiver expects packet 3.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Google Shape;1407;p9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08" name="Google Shape;1408;p9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3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lang="en" b="1"/>
              <a:t>Resend 3.</a:t>
            </a:r>
            <a:endParaRPr/>
          </a:p>
        </p:txBody>
      </p:sp>
      <p:sp>
        <p:nvSpPr>
          <p:cNvPr id="1409" name="Google Shape;1409;p97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3E9F4F-8EDD-DB6B-6051-D35FE7928B48}"/>
              </a:ext>
            </a:extLst>
          </p:cNvPr>
          <p:cNvSpPr txBox="1"/>
          <p:nvPr/>
        </p:nvSpPr>
        <p:spPr>
          <a:xfrm>
            <a:off x="5850674" y="4202736"/>
            <a:ext cx="3067330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ACK 3: means that packets up to 2 </a:t>
            </a:r>
          </a:p>
          <a:p>
            <a:r>
              <a:rPr lang="en-US" dirty="0"/>
              <a:t>are received, and receiver expects packet 3.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Google Shape;1414;p9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15" name="Google Shape;1415;p9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3  4  5  6  7  8  9  10 11 12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4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lang="en" b="1"/>
              <a:t>Resend 3.</a:t>
            </a:r>
            <a:endParaRPr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8)</a:t>
            </a:r>
            <a:r>
              <a:rPr lang="en"/>
              <a:t> ACK 3 → Send 12</a:t>
            </a:r>
            <a:endParaRPr/>
          </a:p>
        </p:txBody>
      </p:sp>
      <p:sp>
        <p:nvSpPr>
          <p:cNvPr id="1416" name="Google Shape;1416;p98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956B57-564D-A2E9-6626-F8FD71AABF52}"/>
              </a:ext>
            </a:extLst>
          </p:cNvPr>
          <p:cNvSpPr txBox="1"/>
          <p:nvPr/>
        </p:nvSpPr>
        <p:spPr>
          <a:xfrm>
            <a:off x="5850674" y="4202736"/>
            <a:ext cx="3067330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ACK 3: means that packets up to 2 </a:t>
            </a:r>
          </a:p>
          <a:p>
            <a:r>
              <a:rPr lang="en-US" dirty="0"/>
              <a:t>are received, and receiver expects packet 3.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Google Shape;1421;p9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22" name="Google Shape;1422;p9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3  4  5  6  7  8  9  10 11 12 13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5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lang="en" b="1"/>
              <a:t>Resend 3.</a:t>
            </a:r>
            <a:endParaRPr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8)</a:t>
            </a:r>
            <a:r>
              <a:rPr lang="en"/>
              <a:t> ACK 3 → Send 12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9)</a:t>
            </a:r>
            <a:r>
              <a:rPr lang="en"/>
              <a:t> ACK 3 → Send 13</a:t>
            </a:r>
            <a:endParaRPr/>
          </a:p>
        </p:txBody>
      </p:sp>
      <p:sp>
        <p:nvSpPr>
          <p:cNvPr id="1423" name="Google Shape;1423;p99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C0546D-BC1B-4AC5-2309-74A1B37FA40F}"/>
              </a:ext>
            </a:extLst>
          </p:cNvPr>
          <p:cNvSpPr txBox="1"/>
          <p:nvPr/>
        </p:nvSpPr>
        <p:spPr>
          <a:xfrm>
            <a:off x="5850674" y="4202736"/>
            <a:ext cx="3067330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ACK 3: means that packets up to 2 </a:t>
            </a:r>
          </a:p>
          <a:p>
            <a:r>
              <a:rPr lang="en-US" dirty="0"/>
              <a:t>are received, and receiver expects packet 3.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Google Shape;1428;p10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Responding to Loss: Cumulative Acks, Multiple Losses</a:t>
            </a:r>
            <a:endParaRPr dirty="0"/>
          </a:p>
        </p:txBody>
      </p:sp>
      <p:sp>
        <p:nvSpPr>
          <p:cNvPr id="1429" name="Google Shape;1429;p10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3  4  5  6  7  8  9  10 11 12 13 14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6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lang="en" b="1"/>
              <a:t>Resend 3.</a:t>
            </a:r>
            <a:endParaRPr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8)</a:t>
            </a:r>
            <a:r>
              <a:rPr lang="en"/>
              <a:t> ACK 3 → Send 12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9)</a:t>
            </a:r>
            <a:r>
              <a:rPr lang="en"/>
              <a:t> ACK 3 → Send 13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10)</a:t>
            </a:r>
            <a:r>
              <a:rPr lang="en"/>
              <a:t> ACK 3 → Send 14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6 times.</a:t>
            </a:r>
            <a:br>
              <a:rPr lang="en"/>
            </a:br>
            <a:r>
              <a:rPr lang="en"/>
              <a:t>Resend 3? Resend 4? Resend 5?</a:t>
            </a:r>
            <a:endParaRPr/>
          </a:p>
        </p:txBody>
      </p:sp>
      <p:sp>
        <p:nvSpPr>
          <p:cNvPr id="1430" name="Google Shape;1430;p100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125CF9-3745-6C00-9F09-67D4C3A77A07}"/>
              </a:ext>
            </a:extLst>
          </p:cNvPr>
          <p:cNvSpPr txBox="1"/>
          <p:nvPr/>
        </p:nvSpPr>
        <p:spPr>
          <a:xfrm>
            <a:off x="5850674" y="4202736"/>
            <a:ext cx="3067330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ACK 3: means that packets up to 2 </a:t>
            </a:r>
          </a:p>
          <a:p>
            <a:r>
              <a:rPr lang="en-US" dirty="0"/>
              <a:t>are received, and receiver expects packet 3.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p10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36" name="Google Shape;1436;p10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Problem: Cumulative acks don't tell the sender exactly which packets were received.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3 copies of ACK 7 means: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 received everything up to (not including) 7.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 received 3 more packets after that (none are 7), but I didn't say which ones.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can tell us </a:t>
            </a:r>
            <a:r>
              <a:rPr lang="en" i="1" dirty="0"/>
              <a:t>how many</a:t>
            </a:r>
            <a:r>
              <a:rPr lang="en" dirty="0"/>
              <a:t> packets to send.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we have 6 packets in-flight, 3 were received, so we can send 3 more.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But this doesn't tell us </a:t>
            </a:r>
            <a:r>
              <a:rPr lang="en" i="1" dirty="0"/>
              <a:t>which</a:t>
            </a:r>
            <a:r>
              <a:rPr lang="en" dirty="0"/>
              <a:t> packets to resend.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Ambiguity leads to ad-hoc heuristics.</a:t>
            </a:r>
            <a:endParaRPr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Google Shape;1441;p102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Alternate Designs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2" name="Google Shape;1442;p102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 Designs</a:t>
            </a:r>
            <a:endParaRPr/>
          </a:p>
        </p:txBody>
      </p:sp>
      <p:sp>
        <p:nvSpPr>
          <p:cNvPr id="1443" name="Google Shape;1443;p102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p10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 Designs to Implementing Reliability</a:t>
            </a:r>
            <a:endParaRPr/>
          </a:p>
        </p:txBody>
      </p:sp>
      <p:sp>
        <p:nvSpPr>
          <p:cNvPr id="1449" name="Google Shape;1449;p10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implemented reliability by re-sending lost packets.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Another possible approach: Sender </a:t>
            </a:r>
            <a:r>
              <a:rPr lang="en" b="1" dirty="0"/>
              <a:t>encodes</a:t>
            </a:r>
            <a:r>
              <a:rPr lang="en" dirty="0"/>
              <a:t> the data to be resilient to loss.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Basic idea: Add some redundancy to the data itself.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Example: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have </a:t>
            </a:r>
            <a:r>
              <a:rPr lang="en" i="1" dirty="0"/>
              <a:t>k</a:t>
            </a:r>
            <a:r>
              <a:rPr lang="en" dirty="0"/>
              <a:t> = 5 packets to send.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encode them into </a:t>
            </a:r>
            <a:r>
              <a:rPr lang="en" i="1" dirty="0"/>
              <a:t>n</a:t>
            </a:r>
            <a:r>
              <a:rPr lang="en" dirty="0"/>
              <a:t> = 20 packets.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Original packets can be recovered if you receive any </a:t>
            </a:r>
            <a:r>
              <a:rPr lang="en" i="1" dirty="0"/>
              <a:t>k</a:t>
            </a:r>
            <a:r>
              <a:rPr lang="en" dirty="0"/>
              <a:t>' = 10 encoded packets.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n</a:t>
            </a:r>
            <a:r>
              <a:rPr lang="en" dirty="0"/>
              <a:t> &gt; </a:t>
            </a:r>
            <a:r>
              <a:rPr lang="en" i="1" dirty="0"/>
              <a:t>k</a:t>
            </a:r>
            <a:r>
              <a:rPr lang="en" dirty="0"/>
              <a:t>' &gt; </a:t>
            </a:r>
            <a:r>
              <a:rPr lang="en" i="1" dirty="0"/>
              <a:t>k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Efficiency depends on </a:t>
            </a:r>
            <a:r>
              <a:rPr lang="en" i="1" dirty="0"/>
              <a:t>k</a:t>
            </a:r>
            <a:r>
              <a:rPr lang="en" dirty="0"/>
              <a:t>' / </a:t>
            </a:r>
            <a:r>
              <a:rPr lang="en" i="1" dirty="0"/>
              <a:t>k</a:t>
            </a:r>
            <a:r>
              <a:rPr lang="en" dirty="0"/>
              <a:t>. (How many encoded packets needed to recover.)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Vast literature exists on coding schemes.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Examples: Fountain codes, raptor codes.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Useful for real-time applications such as video streaming.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10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Design Choices</a:t>
            </a:r>
            <a:endParaRPr/>
          </a:p>
        </p:txBody>
      </p:sp>
      <p:sp>
        <p:nvSpPr>
          <p:cNvPr id="1455" name="Google Shape;1455;p10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We've covered all the basic building blocks of TCP.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Checksums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Acknowledgments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Timeouts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Retransmissions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Sequence numbers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Windows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Along the way, we sometimes had to pick one design out of several alternatives.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we send a nack if the packet is corrupted?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TCP: No.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we use individual, full-information, or cumulative acks?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TCP: Cumulative.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we detect loss with timeouts, subsequent acks, or both?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TCP: Both.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p10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Design Choices</a:t>
            </a:r>
            <a:endParaRPr/>
          </a:p>
        </p:txBody>
      </p:sp>
      <p:sp>
        <p:nvSpPr>
          <p:cNvPr id="1461" name="Google Shape;1461;p10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TCP made specific design choices (e.g. we chose cumulative acks).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If you make different choices, you'll get different reliability protocols.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Stop-and-wait: Set </a:t>
            </a:r>
            <a:r>
              <a:rPr lang="en" i="1" dirty="0"/>
              <a:t>W</a:t>
            </a:r>
            <a:r>
              <a:rPr lang="en" dirty="0"/>
              <a:t> = 1.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Go-Back-N is another reliability protocol.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531</TotalTime>
  <Words>8606</Words>
  <Application>Microsoft Office PowerPoint</Application>
  <PresentationFormat>On-screen Show (16:9)</PresentationFormat>
  <Paragraphs>1615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3" baseType="lpstr">
      <vt:lpstr>Arial</vt:lpstr>
      <vt:lpstr>Consolas</vt:lpstr>
      <vt:lpstr>Roboto Medium</vt:lpstr>
      <vt:lpstr>Roboto Light</vt:lpstr>
      <vt:lpstr>Roboto</vt:lpstr>
      <vt:lpstr>Simple Lecture</vt:lpstr>
      <vt:lpstr>PowerPoint Presentation</vt:lpstr>
      <vt:lpstr>Transport Layer Design Goals</vt:lpstr>
      <vt:lpstr>Transport Layer Protocols</vt:lpstr>
      <vt:lpstr>Transport Layer Feature: De-Multiplexing with Ports</vt:lpstr>
      <vt:lpstr>Transport Layer Feature: De-Multiplexing with Ports</vt:lpstr>
      <vt:lpstr>Transport Layer Feature: De-Multiplexing with Ports</vt:lpstr>
      <vt:lpstr>Transport Layer Feature: De-Multiplexing with Ports</vt:lpstr>
      <vt:lpstr>Transport Layer Feature: De-Multiplexing with Ports</vt:lpstr>
      <vt:lpstr>Transport Layer Feature: Reliability</vt:lpstr>
      <vt:lpstr>Transport Layer Feature: New Abstractions: Bytestream</vt:lpstr>
      <vt:lpstr>Transport Layer Feature: New Abstractions: Datagram</vt:lpstr>
      <vt:lpstr>Transport Layer Protocols</vt:lpstr>
      <vt:lpstr>Transport Layer is Implemented at End Hosts</vt:lpstr>
      <vt:lpstr>Implementing Reliability: Single Packet</vt:lpstr>
      <vt:lpstr>Implementing Reliability</vt:lpstr>
      <vt:lpstr>Reminder: Timing Diagrams</vt:lpstr>
      <vt:lpstr>Designing Reliability for a Single Packet</vt:lpstr>
      <vt:lpstr>Designing Reliability for a Single Packet</vt:lpstr>
      <vt:lpstr>Problem 1/5: Dropped Packets</vt:lpstr>
      <vt:lpstr>Problem 1/5: Dropped Packets</vt:lpstr>
      <vt:lpstr>Problem 1/5: Dropped Packets</vt:lpstr>
      <vt:lpstr>Problem 2/5: Corrupted Packets</vt:lpstr>
      <vt:lpstr>Problem 2/5: Corrupted Packets</vt:lpstr>
      <vt:lpstr>Problem 3/5: Delayed Packets</vt:lpstr>
      <vt:lpstr>Problem 4/5: Duplicated Packets</vt:lpstr>
      <vt:lpstr>Designing Reliability for a Single Packet</vt:lpstr>
      <vt:lpstr>Designing Reliability for a Single Packet</vt:lpstr>
      <vt:lpstr>Multiple Packets, Windows</vt:lpstr>
      <vt:lpstr>Designing Reliability for Multiple Packets</vt:lpstr>
      <vt:lpstr>Stop-and-Wait Protocol</vt:lpstr>
      <vt:lpstr>Window-Based Algorithms</vt:lpstr>
      <vt:lpstr>Window-Based Algorithms</vt:lpstr>
      <vt:lpstr>Window-Based Algorithms</vt:lpstr>
      <vt:lpstr>Setting Window Size</vt:lpstr>
      <vt:lpstr>Setting Window Size (1/3): Filling the Pipe</vt:lpstr>
      <vt:lpstr>Setting Window Size (1/3): Filling the Pipe</vt:lpstr>
      <vt:lpstr>Setting Window Size (1/3): Filling the Pipe</vt:lpstr>
      <vt:lpstr>Setting Window Size (1/3): Filling the Pipe (W = 6)</vt:lpstr>
      <vt:lpstr>Setting Window Size (2/3): Filling the Pipe (W = 6)</vt:lpstr>
      <vt:lpstr>Setting Window Size (3/3): Filling the Pipe (W = 3), window too small</vt:lpstr>
      <vt:lpstr>Setting Window Size</vt:lpstr>
      <vt:lpstr>Avoiding Overload: Flow Control and Congestion Control</vt:lpstr>
      <vt:lpstr>Setting Window Size</vt:lpstr>
      <vt:lpstr>Setting Window Size (2/3): Don't Overload Recipient (Flow Control)</vt:lpstr>
      <vt:lpstr>Setting Window Size (2/3): Don't Overload Recipient (Flow Control)</vt:lpstr>
      <vt:lpstr>Setting Window Size (3/3): Don't Overload Network (Congestion Control)</vt:lpstr>
      <vt:lpstr>Setting Window Size (3/3): Don't Overload Network (Congestion Control)</vt:lpstr>
      <vt:lpstr>Setting Window Size</vt:lpstr>
      <vt:lpstr>Smarter Acknowledgments</vt:lpstr>
      <vt:lpstr>Ack Strategy: Individual Packet Acks</vt:lpstr>
      <vt:lpstr>Ack Strategy: Cumulative Acks</vt:lpstr>
      <vt:lpstr>Ack Strategies</vt:lpstr>
      <vt:lpstr>Detecting Loss Early</vt:lpstr>
      <vt:lpstr>Responding to Loss</vt:lpstr>
      <vt:lpstr>Ack-Based Loss Detection: Cumulative Acks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Alternate Designs</vt:lpstr>
      <vt:lpstr>Alternate Designs to Implementing Reliability</vt:lpstr>
      <vt:lpstr>Summary: Design Choices</vt:lpstr>
      <vt:lpstr>Other Design Choices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18</cp:revision>
  <dcterms:modified xsi:type="dcterms:W3CDTF">2026-05-08T00:00:52Z</dcterms:modified>
</cp:coreProperties>
</file>