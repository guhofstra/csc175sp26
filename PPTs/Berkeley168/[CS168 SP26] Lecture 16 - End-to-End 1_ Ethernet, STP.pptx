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144000"/>
  <p:embeddedFontLst>
    <p:embeddedFont>
      <p:font typeface="Roboto Medium"/>
      <p:regular r:id="rId76"/>
      <p:bold r:id="rId77"/>
      <p:italic r:id="rId78"/>
      <p:boldItalic r:id="rId79"/>
    </p:embeddedFont>
    <p:embeddedFont>
      <p:font typeface="Roboto"/>
      <p:regular r:id="rId80"/>
      <p:bold r:id="rId81"/>
      <p:italic r:id="rId82"/>
      <p:boldItalic r:id="rId83"/>
    </p:embeddedFont>
    <p:embeddedFont>
      <p:font typeface="Roboto Light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C231CD-BB20-4D48-8181-7CBB25D36281}">
  <a:tblStyle styleId="{57C231CD-BB20-4D48-8181-7CBB25D362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Light-regular.fntdata"/><Relationship Id="rId83" Type="http://schemas.openxmlformats.org/officeDocument/2006/relationships/font" Target="fonts/Roboto-boldItalic.fntdata"/><Relationship Id="rId42" Type="http://schemas.openxmlformats.org/officeDocument/2006/relationships/slide" Target="slides/slide36.xml"/><Relationship Id="rId86" Type="http://schemas.openxmlformats.org/officeDocument/2006/relationships/font" Target="fonts/RobotoLight-italic.fntdata"/><Relationship Id="rId41" Type="http://schemas.openxmlformats.org/officeDocument/2006/relationships/slide" Target="slides/slide35.xml"/><Relationship Id="rId85" Type="http://schemas.openxmlformats.org/officeDocument/2006/relationships/font" Target="fonts/RobotoLight-bold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schemas.openxmlformats.org/officeDocument/2006/relationships/font" Target="fonts/RobotoLight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-regular.fntdata"/><Relationship Id="rId82" Type="http://schemas.openxmlformats.org/officeDocument/2006/relationships/font" Target="fonts/Roboto-italic.fntdata"/><Relationship Id="rId81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RobotoMedium-bold.fntdata"/><Relationship Id="rId32" Type="http://schemas.openxmlformats.org/officeDocument/2006/relationships/slide" Target="slides/slide26.xml"/><Relationship Id="rId76" Type="http://schemas.openxmlformats.org/officeDocument/2006/relationships/font" Target="fonts/RobotoMedium-regular.fntdata"/><Relationship Id="rId35" Type="http://schemas.openxmlformats.org/officeDocument/2006/relationships/slide" Target="slides/slide29.xml"/><Relationship Id="rId79" Type="http://schemas.openxmlformats.org/officeDocument/2006/relationships/font" Target="fonts/RobotoMedium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Medium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ebdbf0f4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ebdbf0f4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ebdbf0f4b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ebdbf0f4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f039b4b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f039b4b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f039b4b7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f039b4b7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f039b4b7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f039b4b7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f039b4b7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ef039b4b7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f039b4b70_0_7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ef039b4b70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ef039b4b7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ef039b4b7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ef039b4b7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ef039b4b7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ef039b4b70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ef039b4b70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ef039b4b7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ef039b4b7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f039b4b70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f039b4b70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ef039b4b70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ef039b4b70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ef039b4b70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ef039b4b70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ef039b4b70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ef039b4b7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ef039b4b70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ef039b4b70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ef039b4b70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ef039b4b70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ef039b4b70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ef039b4b70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ef039b4b70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ef039b4b70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f039b4b70_0_7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ef039b4b70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ef039b4b70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ef039b4b70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ef039b4b70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ef039b4b70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ef039b4b70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ef039b4b70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ef039b4b70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ef039b4b70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ef039b4b70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ef039b4b70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f039b4b70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f039b4b70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ef039b4b70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ef039b4b70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ef039b4b70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ef039b4b70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ef039b4b70_0_8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ef039b4b70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ef039b4b70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ef039b4b70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f039b4b70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f039b4b70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47d29c176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47d29c1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47d29c176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47d29c176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47d29c176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47d29c176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47d29c176f_0_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47d29c176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47d29c176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47d29c176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47d29c176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47d29c176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47d29c176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47d29c176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47d29c176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47d29c176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47d29c176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47d29c176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47d29c176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47d29c176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47d29c176f_0_2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47d29c176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47d29c176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47d29c176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47d29c176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47d29c176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47d29c176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47d29c176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47d29c176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347d29c176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47d29c176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47d29c176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47d29c176f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47d29c176f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47d29c176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47d29c176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47d29c176f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47d29c176f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47d29c176f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347d29c176f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47d29c176f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47d29c176f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47d29c176f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47d29c176f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47d29c176f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47d29c176f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47d29c176f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47d29c176f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47d29c176f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47d29c176f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47d29c176f_0_7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347d29c176f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347d29c176f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347d29c176f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347d29c176f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347d29c176f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47d29c176f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47d29c176f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347d29c176f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347d29c176f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347d29c176f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347d29c176f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347d29c176f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347d29c176f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47d29c176f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347d29c176f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347d29c176f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347d29c176f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47d29c176f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47d29c176f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347d29c176f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347d29c176f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47d29c176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47d29c176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47d29c176f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347d29c176f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en.wikipedia.org/wiki/MAC_address#Bit-reversed_notation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en.wikipedia.org/wiki/MAC_address#Bit-reversed_notation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Murphy McCauley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Ethernet, STP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16</a:t>
            </a: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(End-to-End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>
            <a:stCxn id="147" idx="0"/>
            <a:endCxn id="148" idx="2"/>
          </p:cNvCxnSpPr>
          <p:nvPr/>
        </p:nvCxnSpPr>
        <p:spPr>
          <a:xfrm flipH="1" rot="10800000">
            <a:off x="7317825" y="5527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4"/>
          <p:cNvCxnSpPr>
            <a:stCxn id="150" idx="0"/>
            <a:endCxn id="148" idx="2"/>
          </p:cNvCxnSpPr>
          <p:nvPr/>
        </p:nvCxnSpPr>
        <p:spPr>
          <a:xfrm rot="10800000">
            <a:off x="7775025" y="5527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4"/>
          <p:cNvCxnSpPr>
            <a:stCxn id="147" idx="2"/>
            <a:endCxn id="152" idx="0"/>
          </p:cNvCxnSpPr>
          <p:nvPr/>
        </p:nvCxnSpPr>
        <p:spPr>
          <a:xfrm>
            <a:off x="7317825" y="13147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54" idx="0"/>
            <a:endCxn id="152" idx="2"/>
          </p:cNvCxnSpPr>
          <p:nvPr/>
        </p:nvCxnSpPr>
        <p:spPr>
          <a:xfrm rot="10800000">
            <a:off x="7317825" y="22291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4"/>
          <p:cNvCxnSpPr>
            <a:stCxn id="154" idx="0"/>
            <a:endCxn id="150" idx="2"/>
          </p:cNvCxnSpPr>
          <p:nvPr/>
        </p:nvCxnSpPr>
        <p:spPr>
          <a:xfrm flipH="1" rot="10800000">
            <a:off x="7775025" y="13147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4"/>
          <p:cNvCxnSpPr>
            <a:stCxn id="157" idx="0"/>
            <a:endCxn id="152" idx="2"/>
          </p:cNvCxnSpPr>
          <p:nvPr/>
        </p:nvCxnSpPr>
        <p:spPr>
          <a:xfrm flipH="1" rot="10800000">
            <a:off x="6860625" y="22291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>
            <a:stCxn id="157" idx="2"/>
            <a:endCxn id="159" idx="0"/>
          </p:cNvCxnSpPr>
          <p:nvPr/>
        </p:nvCxnSpPr>
        <p:spPr>
          <a:xfrm>
            <a:off x="6860625" y="31435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4"/>
          <p:cNvCxnSpPr>
            <a:stCxn id="154" idx="2"/>
            <a:endCxn id="159" idx="0"/>
          </p:cNvCxnSpPr>
          <p:nvPr/>
        </p:nvCxnSpPr>
        <p:spPr>
          <a:xfrm flipH="1">
            <a:off x="7317825" y="31435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>
            <a:stCxn id="147" idx="2"/>
          </p:cNvCxnSpPr>
          <p:nvPr/>
        </p:nvCxnSpPr>
        <p:spPr>
          <a:xfrm>
            <a:off x="7317825" y="1314725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4"/>
          <p:cNvSpPr txBox="1"/>
          <p:nvPr/>
        </p:nvSpPr>
        <p:spPr>
          <a:xfrm>
            <a:off x="7091325" y="1314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flipH="1">
            <a:off x="8169525" y="1314725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4"/>
          <p:cNvSpPr txBox="1"/>
          <p:nvPr/>
        </p:nvSpPr>
        <p:spPr>
          <a:xfrm>
            <a:off x="7967030" y="1314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" name="Google Shape;165;p24"/>
          <p:cNvCxnSpPr/>
          <p:nvPr/>
        </p:nvCxnSpPr>
        <p:spPr>
          <a:xfrm flipH="1">
            <a:off x="7563525" y="5527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4"/>
          <p:cNvSpPr txBox="1"/>
          <p:nvPr/>
        </p:nvSpPr>
        <p:spPr>
          <a:xfrm>
            <a:off x="7396125" y="552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7951990" y="552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>
            <a:off x="7775028" y="5524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4"/>
          <p:cNvSpPr/>
          <p:nvPr/>
        </p:nvSpPr>
        <p:spPr>
          <a:xfrm>
            <a:off x="7622625" y="24792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6986550" y="22291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7447165" y="22291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24"/>
          <p:cNvCxnSpPr/>
          <p:nvPr/>
        </p:nvCxnSpPr>
        <p:spPr>
          <a:xfrm>
            <a:off x="7317828" y="22288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4"/>
          <p:cNvCxnSpPr/>
          <p:nvPr/>
        </p:nvCxnSpPr>
        <p:spPr>
          <a:xfrm flipH="1">
            <a:off x="7138728" y="22291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4"/>
          <p:cNvSpPr txBox="1"/>
          <p:nvPr/>
        </p:nvSpPr>
        <p:spPr>
          <a:xfrm>
            <a:off x="6989965" y="31435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>
            <a:off x="6860628" y="31432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4"/>
          <p:cNvSpPr txBox="1"/>
          <p:nvPr/>
        </p:nvSpPr>
        <p:spPr>
          <a:xfrm>
            <a:off x="7443750" y="31435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4"/>
          <p:cNvCxnSpPr/>
          <p:nvPr/>
        </p:nvCxnSpPr>
        <p:spPr>
          <a:xfrm flipH="1">
            <a:off x="7595928" y="31435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4"/>
          <p:cNvSpPr txBox="1"/>
          <p:nvPr/>
        </p:nvSpPr>
        <p:spPr>
          <a:xfrm>
            <a:off x="8180590" y="7813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" name="Google Shape;178;p24"/>
          <p:cNvCxnSpPr/>
          <p:nvPr/>
        </p:nvCxnSpPr>
        <p:spPr>
          <a:xfrm flipH="1">
            <a:off x="7317750" y="831800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4"/>
          <p:cNvSpPr/>
          <p:nvPr/>
        </p:nvSpPr>
        <p:spPr>
          <a:xfrm>
            <a:off x="7165425" y="1009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7189990" y="7813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" name="Google Shape;180;p24"/>
          <p:cNvCxnSpPr/>
          <p:nvPr/>
        </p:nvCxnSpPr>
        <p:spPr>
          <a:xfrm>
            <a:off x="7317825" y="1714925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4"/>
          <p:cNvSpPr txBox="1"/>
          <p:nvPr/>
        </p:nvSpPr>
        <p:spPr>
          <a:xfrm>
            <a:off x="7091325" y="17149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7165425" y="1924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24"/>
          <p:cNvCxnSpPr/>
          <p:nvPr/>
        </p:nvCxnSpPr>
        <p:spPr>
          <a:xfrm>
            <a:off x="8053725" y="831800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4"/>
          <p:cNvSpPr/>
          <p:nvPr/>
        </p:nvSpPr>
        <p:spPr>
          <a:xfrm>
            <a:off x="8079825" y="1009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" name="Google Shape;183;p24"/>
          <p:cNvCxnSpPr/>
          <p:nvPr/>
        </p:nvCxnSpPr>
        <p:spPr>
          <a:xfrm flipH="1">
            <a:off x="7318150" y="35483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4"/>
          <p:cNvSpPr txBox="1"/>
          <p:nvPr/>
        </p:nvSpPr>
        <p:spPr>
          <a:xfrm>
            <a:off x="7469490" y="354433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" name="Google Shape;185;p24"/>
          <p:cNvCxnSpPr/>
          <p:nvPr/>
        </p:nvCxnSpPr>
        <p:spPr>
          <a:xfrm>
            <a:off x="7165425" y="35483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7165425" y="3753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6964342" y="354433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24"/>
          <p:cNvCxnSpPr/>
          <p:nvPr/>
        </p:nvCxnSpPr>
        <p:spPr>
          <a:xfrm>
            <a:off x="7622625" y="26338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4"/>
          <p:cNvCxnSpPr/>
          <p:nvPr/>
        </p:nvCxnSpPr>
        <p:spPr>
          <a:xfrm flipH="1">
            <a:off x="6860625" y="26338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4"/>
          <p:cNvSpPr/>
          <p:nvPr/>
        </p:nvSpPr>
        <p:spPr>
          <a:xfrm>
            <a:off x="6708225" y="28387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6989965" y="2628403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7443750" y="2628403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4"/>
          <p:cNvCxnSpPr/>
          <p:nvPr/>
        </p:nvCxnSpPr>
        <p:spPr>
          <a:xfrm flipH="1">
            <a:off x="7775350" y="2633550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4"/>
          <p:cNvSpPr txBox="1"/>
          <p:nvPr/>
        </p:nvSpPr>
        <p:spPr>
          <a:xfrm>
            <a:off x="7835645" y="2628403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622625" y="28387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Local Hosts</a:t>
            </a:r>
            <a:endParaRPr/>
          </a:p>
        </p:txBody>
      </p:sp>
      <p:sp>
        <p:nvSpPr>
          <p:cNvPr id="198" name="Google Shape;198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Connecting Local Hosts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Layer</a:t>
            </a:r>
            <a:endParaRPr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107050" y="402200"/>
            <a:ext cx="4023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Today: A closer look at Layer 2.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Ethernet: How do we send data inside a local network?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ARP: How do we connect Layer 2 and Layer 3?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DHCP: What happens when you join the network for the first time?</a:t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5462600" y="3424850"/>
            <a:ext cx="1369200" cy="50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5462600" y="2919950"/>
            <a:ext cx="1369200" cy="504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5462600" y="2415050"/>
            <a:ext cx="1369200" cy="50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5462600" y="1910150"/>
            <a:ext cx="1369200" cy="50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5462600" y="1405250"/>
            <a:ext cx="1369200" cy="504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5130670" y="14576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5130670" y="19625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5130670" y="24674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5130670" y="29723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5130670" y="34772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6859025" y="14576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(DNS, HTTP)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6859025" y="19625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(TCP, UDP)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6859025" y="24674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6859025" y="29723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(Ethernet)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6859025" y="34772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(Optical fiber, copper)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Local Hosts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1639975" y="833500"/>
            <a:ext cx="3923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far, we've assumed that every link connects exactly two machines: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649675" y="7728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" name="Google Shape;228;p27"/>
          <p:cNvCxnSpPr>
            <a:stCxn id="229" idx="7"/>
            <a:endCxn id="227" idx="2"/>
          </p:cNvCxnSpPr>
          <p:nvPr/>
        </p:nvCxnSpPr>
        <p:spPr>
          <a:xfrm flipH="1" rot="10800000">
            <a:off x="6435725" y="1057912"/>
            <a:ext cx="3564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7"/>
          <p:cNvSpPr/>
          <p:nvPr/>
        </p:nvSpPr>
        <p:spPr>
          <a:xfrm>
            <a:off x="6192463" y="13062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106863" y="13062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30" idx="1"/>
            <a:endCxn id="227" idx="2"/>
          </p:cNvCxnSpPr>
          <p:nvPr/>
        </p:nvCxnSpPr>
        <p:spPr>
          <a:xfrm rot="10800000">
            <a:off x="6792200" y="1057912"/>
            <a:ext cx="3564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7"/>
          <p:cNvSpPr txBox="1"/>
          <p:nvPr/>
        </p:nvSpPr>
        <p:spPr>
          <a:xfrm>
            <a:off x="1639975" y="2319663"/>
            <a:ext cx="3923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reality, a single wire can connect multiple computers: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6649675" y="206981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" name="Google Shape;234;p27"/>
          <p:cNvCxnSpPr/>
          <p:nvPr/>
        </p:nvCxnSpPr>
        <p:spPr>
          <a:xfrm>
            <a:off x="5945575" y="2653125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7"/>
          <p:cNvSpPr/>
          <p:nvPr/>
        </p:nvSpPr>
        <p:spPr>
          <a:xfrm>
            <a:off x="6192463" y="2944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7106863" y="2944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" name="Google Shape;237;p27"/>
          <p:cNvCxnSpPr>
            <a:endCxn id="233" idx="2"/>
          </p:cNvCxnSpPr>
          <p:nvPr/>
        </p:nvCxnSpPr>
        <p:spPr>
          <a:xfrm rot="10800000">
            <a:off x="6792175" y="2354813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>
            <a:stCxn id="235" idx="0"/>
          </p:cNvCxnSpPr>
          <p:nvPr/>
        </p:nvCxnSpPr>
        <p:spPr>
          <a:xfrm rot="10800000">
            <a:off x="6334963" y="2658713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>
            <a:stCxn id="236" idx="0"/>
          </p:cNvCxnSpPr>
          <p:nvPr/>
        </p:nvCxnSpPr>
        <p:spPr>
          <a:xfrm rot="10800000">
            <a:off x="7249363" y="2658713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7"/>
          <p:cNvSpPr txBox="1"/>
          <p:nvPr/>
        </p:nvSpPr>
        <p:spPr>
          <a:xfrm>
            <a:off x="1639975" y="3957700"/>
            <a:ext cx="40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the wire's perspective, the router is just a machine like any other: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" name="Google Shape;241;p27"/>
          <p:cNvCxnSpPr/>
          <p:nvPr/>
        </p:nvCxnSpPr>
        <p:spPr>
          <a:xfrm>
            <a:off x="5945575" y="4291162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7"/>
          <p:cNvSpPr/>
          <p:nvPr/>
        </p:nvSpPr>
        <p:spPr>
          <a:xfrm>
            <a:off x="6192463" y="45823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7106863" y="45823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>
            <a:endCxn id="245" idx="4"/>
          </p:cNvCxnSpPr>
          <p:nvPr/>
        </p:nvCxnSpPr>
        <p:spPr>
          <a:xfrm rot="10800000">
            <a:off x="6792163" y="3992838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>
            <a:stCxn id="242" idx="0"/>
          </p:cNvCxnSpPr>
          <p:nvPr/>
        </p:nvCxnSpPr>
        <p:spPr>
          <a:xfrm rot="10800000">
            <a:off x="6334963" y="4296750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7"/>
          <p:cNvCxnSpPr>
            <a:stCxn id="243" idx="0"/>
          </p:cNvCxnSpPr>
          <p:nvPr/>
        </p:nvCxnSpPr>
        <p:spPr>
          <a:xfrm rot="10800000">
            <a:off x="7249363" y="4296750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7"/>
          <p:cNvSpPr/>
          <p:nvPr/>
        </p:nvSpPr>
        <p:spPr>
          <a:xfrm>
            <a:off x="6649663" y="37078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Connecting Local Hosts</a:t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1394938" y="18490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28"/>
          <p:cNvCxnSpPr>
            <a:stCxn id="253" idx="6"/>
          </p:cNvCxnSpPr>
          <p:nvPr/>
        </p:nvCxnSpPr>
        <p:spPr>
          <a:xfrm>
            <a:off x="1679938" y="1991550"/>
            <a:ext cx="150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8"/>
          <p:cNvSpPr/>
          <p:nvPr/>
        </p:nvSpPr>
        <p:spPr>
          <a:xfrm>
            <a:off x="3179938" y="18490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1394938" y="2534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3179938" y="2534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2287438" y="117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" name="Google Shape;259;p28"/>
          <p:cNvCxnSpPr>
            <a:stCxn id="256" idx="0"/>
            <a:endCxn id="258" idx="4"/>
          </p:cNvCxnSpPr>
          <p:nvPr/>
        </p:nvCxnSpPr>
        <p:spPr>
          <a:xfrm flipH="1" rot="10800000">
            <a:off x="1537438" y="1456350"/>
            <a:ext cx="892500" cy="107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8"/>
          <p:cNvCxnSpPr>
            <a:stCxn id="257" idx="0"/>
            <a:endCxn id="258" idx="4"/>
          </p:cNvCxnSpPr>
          <p:nvPr/>
        </p:nvCxnSpPr>
        <p:spPr>
          <a:xfrm rot="10800000">
            <a:off x="2429938" y="1456350"/>
            <a:ext cx="892500" cy="107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8"/>
          <p:cNvCxnSpPr>
            <a:stCxn id="253" idx="0"/>
            <a:endCxn id="258" idx="4"/>
          </p:cNvCxnSpPr>
          <p:nvPr/>
        </p:nvCxnSpPr>
        <p:spPr>
          <a:xfrm flipH="1" rot="10800000">
            <a:off x="1537438" y="1456350"/>
            <a:ext cx="8925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8"/>
          <p:cNvCxnSpPr>
            <a:stCxn id="255" idx="0"/>
            <a:endCxn id="258" idx="4"/>
          </p:cNvCxnSpPr>
          <p:nvPr/>
        </p:nvCxnSpPr>
        <p:spPr>
          <a:xfrm rot="10800000">
            <a:off x="2429938" y="1456350"/>
            <a:ext cx="8925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8"/>
          <p:cNvCxnSpPr>
            <a:stCxn id="256" idx="0"/>
            <a:endCxn id="253" idx="4"/>
          </p:cNvCxnSpPr>
          <p:nvPr/>
        </p:nvCxnSpPr>
        <p:spPr>
          <a:xfrm rot="10800000">
            <a:off x="1537438" y="213405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8"/>
          <p:cNvCxnSpPr>
            <a:stCxn id="257" idx="0"/>
            <a:endCxn id="255" idx="4"/>
          </p:cNvCxnSpPr>
          <p:nvPr/>
        </p:nvCxnSpPr>
        <p:spPr>
          <a:xfrm rot="10800000">
            <a:off x="3322438" y="213405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8"/>
          <p:cNvCxnSpPr>
            <a:stCxn id="256" idx="6"/>
            <a:endCxn id="255" idx="2"/>
          </p:cNvCxnSpPr>
          <p:nvPr/>
        </p:nvCxnSpPr>
        <p:spPr>
          <a:xfrm flipH="1" rot="10800000">
            <a:off x="1679938" y="1991550"/>
            <a:ext cx="150000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8"/>
          <p:cNvCxnSpPr>
            <a:stCxn id="257" idx="2"/>
            <a:endCxn id="253" idx="6"/>
          </p:cNvCxnSpPr>
          <p:nvPr/>
        </p:nvCxnSpPr>
        <p:spPr>
          <a:xfrm rot="10800000">
            <a:off x="1679938" y="1991550"/>
            <a:ext cx="150000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8"/>
          <p:cNvCxnSpPr>
            <a:stCxn id="257" idx="2"/>
            <a:endCxn id="256" idx="6"/>
          </p:cNvCxnSpPr>
          <p:nvPr/>
        </p:nvCxnSpPr>
        <p:spPr>
          <a:xfrm rot="10800000">
            <a:off x="1679938" y="2677350"/>
            <a:ext cx="150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56182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62278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8374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4470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80566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28"/>
          <p:cNvCxnSpPr/>
          <p:nvPr/>
        </p:nvCxnSpPr>
        <p:spPr>
          <a:xfrm rot="10800000">
            <a:off x="57607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8"/>
          <p:cNvCxnSpPr/>
          <p:nvPr/>
        </p:nvCxnSpPr>
        <p:spPr>
          <a:xfrm rot="10800000">
            <a:off x="63703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8"/>
          <p:cNvCxnSpPr/>
          <p:nvPr/>
        </p:nvCxnSpPr>
        <p:spPr>
          <a:xfrm rot="10800000">
            <a:off x="69799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8"/>
          <p:cNvCxnSpPr/>
          <p:nvPr/>
        </p:nvCxnSpPr>
        <p:spPr>
          <a:xfrm rot="10800000">
            <a:off x="75895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8"/>
          <p:cNvCxnSpPr/>
          <p:nvPr/>
        </p:nvCxnSpPr>
        <p:spPr>
          <a:xfrm rot="10800000">
            <a:off x="81991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8"/>
          <p:cNvCxnSpPr/>
          <p:nvPr/>
        </p:nvCxnSpPr>
        <p:spPr>
          <a:xfrm>
            <a:off x="5751200" y="1696650"/>
            <a:ext cx="245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28"/>
          <p:cNvSpPr txBox="1"/>
          <p:nvPr>
            <p:ph idx="1" type="body"/>
          </p:nvPr>
        </p:nvSpPr>
        <p:spPr>
          <a:xfrm>
            <a:off x="107050" y="402200"/>
            <a:ext cx="8909700" cy="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could we connect hosts in a local network?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350050" y="3290200"/>
            <a:ext cx="41598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Mesh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Link between every pair of machines.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every new host, we have to add new links to every other host.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Need a lot of (physical) ports per host.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5274600" y="3290200"/>
            <a:ext cx="3410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Bus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 single wire for all machines.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Introduces a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shared media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Media</a:t>
            </a:r>
            <a:endParaRPr/>
          </a:p>
        </p:txBody>
      </p: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107050" y="402200"/>
            <a:ext cx="8909700" cy="28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Shared media</a:t>
            </a:r>
            <a:r>
              <a:rPr lang="en"/>
              <a:t>: Many machines using the same wire.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multiple machines transmit at the same time, signals will </a:t>
            </a:r>
            <a:r>
              <a:rPr i="1" lang="en"/>
              <a:t>interfere</a:t>
            </a:r>
            <a:r>
              <a:rPr lang="en"/>
              <a:t> or </a:t>
            </a:r>
            <a:r>
              <a:rPr i="1" lang="en"/>
              <a:t>collide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People talking simultaneously on a group call.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Shared media is not necessarily a wire.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be light signals on a shared optical fiber.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radio waves on a shared wireless link.</a:t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32102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38198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44294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50390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56486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" name="Google Shape;293;p29"/>
          <p:cNvCxnSpPr/>
          <p:nvPr/>
        </p:nvCxnSpPr>
        <p:spPr>
          <a:xfrm rot="10800000">
            <a:off x="33528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9"/>
          <p:cNvCxnSpPr/>
          <p:nvPr/>
        </p:nvCxnSpPr>
        <p:spPr>
          <a:xfrm rot="10800000">
            <a:off x="39624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9"/>
          <p:cNvCxnSpPr/>
          <p:nvPr/>
        </p:nvCxnSpPr>
        <p:spPr>
          <a:xfrm rot="10800000">
            <a:off x="45720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9"/>
          <p:cNvCxnSpPr/>
          <p:nvPr/>
        </p:nvCxnSpPr>
        <p:spPr>
          <a:xfrm rot="10800000">
            <a:off x="51816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9"/>
          <p:cNvCxnSpPr/>
          <p:nvPr/>
        </p:nvCxnSpPr>
        <p:spPr>
          <a:xfrm rot="10800000">
            <a:off x="57912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9"/>
          <p:cNvCxnSpPr/>
          <p:nvPr/>
        </p:nvCxnSpPr>
        <p:spPr>
          <a:xfrm>
            <a:off x="3343250" y="3770700"/>
            <a:ext cx="24576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9"/>
          <p:cNvSpPr/>
          <p:nvPr/>
        </p:nvSpPr>
        <p:spPr>
          <a:xfrm>
            <a:off x="1984800" y="4259325"/>
            <a:ext cx="900900" cy="393600"/>
          </a:xfrm>
          <a:prstGeom prst="wedgeRoundRectCallout">
            <a:avLst>
              <a:gd fmla="val 74453" name="adj1"/>
              <a:gd fmla="val -57127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Blah blah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6258300" y="4259325"/>
            <a:ext cx="900900" cy="393600"/>
          </a:xfrm>
          <a:prstGeom prst="wedgeRoundRectCallout">
            <a:avLst>
              <a:gd fmla="val -75674" name="adj1"/>
              <a:gd fmla="val -58765" name="adj2"/>
              <a:gd fmla="val 0" name="adj3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Blah blah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5008800" y="4408300"/>
            <a:ext cx="3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??!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4399200" y="4408300"/>
            <a:ext cx="3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??!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3789600" y="4408300"/>
            <a:ext cx="3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??!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09" name="Google Shape;309;p3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</a:t>
            </a:r>
            <a:endParaRPr/>
          </a:p>
        </p:txBody>
      </p:sp>
      <p:sp>
        <p:nvSpPr>
          <p:cNvPr id="310" name="Google Shape;310;p3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</a:t>
            </a:r>
            <a:endParaRPr/>
          </a:p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107050" y="402200"/>
            <a:ext cx="8909700" cy="22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multiple access protocol</a:t>
            </a:r>
            <a:r>
              <a:rPr lang="en"/>
              <a:t> allocates the shared media to everyone wanting to use it.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types of approaches.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Several protocols of each </a:t>
            </a:r>
            <a:r>
              <a:rPr lang="en"/>
              <a:t>type.</a:t>
            </a:r>
            <a:endParaRPr/>
          </a:p>
        </p:txBody>
      </p:sp>
      <p:cxnSp>
        <p:nvCxnSpPr>
          <p:cNvPr id="322" name="Google Shape;322;p31"/>
          <p:cNvCxnSpPr>
            <a:stCxn id="323" idx="2"/>
            <a:endCxn id="324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1"/>
          <p:cNvCxnSpPr>
            <a:stCxn id="323" idx="2"/>
            <a:endCxn id="326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>
            <a:stCxn id="323" idx="2"/>
            <a:endCxn id="328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1"/>
          <p:cNvCxnSpPr>
            <a:stCxn id="330" idx="2"/>
            <a:endCxn id="331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1"/>
          <p:cNvCxnSpPr>
            <a:stCxn id="330" idx="2"/>
            <a:endCxn id="333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" name="Google Shape;336;p31"/>
          <p:cNvCxnSpPr>
            <a:stCxn id="330" idx="2"/>
            <a:endCxn id="337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1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" name="Google Shape;338;p31"/>
          <p:cNvCxnSpPr>
            <a:stCxn id="335" idx="2"/>
            <a:endCxn id="339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1"/>
          <p:cNvCxnSpPr>
            <a:stCxn id="335" idx="2"/>
            <a:endCxn id="341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1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31"/>
          <p:cNvCxnSpPr>
            <a:stCxn id="334" idx="2"/>
            <a:endCxn id="344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1"/>
          <p:cNvCxnSpPr>
            <a:stCxn id="334" idx="2"/>
            <a:endCxn id="346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31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(</a:t>
            </a:r>
            <a:r>
              <a:rPr lang="en"/>
              <a:t>1/3</a:t>
            </a:r>
            <a:r>
              <a:rPr lang="en"/>
              <a:t>) – Multiplexing</a:t>
            </a:r>
            <a:endParaRPr/>
          </a:p>
        </p:txBody>
      </p:sp>
      <p:sp>
        <p:nvSpPr>
          <p:cNvPr id="358" name="Google Shape;358;p32"/>
          <p:cNvSpPr txBox="1"/>
          <p:nvPr>
            <p:ph idx="1" type="body"/>
          </p:nvPr>
        </p:nvSpPr>
        <p:spPr>
          <a:xfrm>
            <a:off x="107050" y="402200"/>
            <a:ext cx="8909700" cy="29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Allocate a fixed slice of resources to each node.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Frequency-based</a:t>
            </a:r>
            <a:r>
              <a:rPr lang="en"/>
              <a:t> multiplexing: Divide medium into frequency channels.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Time-based</a:t>
            </a:r>
            <a:r>
              <a:rPr lang="en"/>
              <a:t> multiplexing: Give each node some fixed time slots.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Can be wasteful.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only so much frequency/time available to allocate.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node has nothing to say, some frequency/time goes unused.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32"/>
          <p:cNvCxnSpPr>
            <a:stCxn id="360" idx="2"/>
            <a:endCxn id="361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2"/>
          <p:cNvCxnSpPr>
            <a:stCxn id="360" idx="2"/>
            <a:endCxn id="363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2"/>
          <p:cNvCxnSpPr>
            <a:stCxn id="360" idx="2"/>
            <a:endCxn id="365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2"/>
          <p:cNvCxnSpPr>
            <a:stCxn id="367" idx="2"/>
            <a:endCxn id="368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2"/>
          <p:cNvCxnSpPr>
            <a:stCxn id="367" idx="2"/>
            <a:endCxn id="370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2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" name="Google Shape;373;p32"/>
          <p:cNvCxnSpPr>
            <a:stCxn id="367" idx="2"/>
            <a:endCxn id="374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2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2"/>
          <p:cNvCxnSpPr>
            <a:stCxn id="372" idx="2"/>
            <a:endCxn id="376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2"/>
          <p:cNvCxnSpPr>
            <a:stCxn id="372" idx="2"/>
            <a:endCxn id="378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32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" name="Google Shape;380;p32"/>
          <p:cNvCxnSpPr>
            <a:stCxn id="371" idx="2"/>
            <a:endCxn id="381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2"/>
          <p:cNvCxnSpPr>
            <a:stCxn id="371" idx="2"/>
            <a:endCxn id="383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32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107050" y="402200"/>
            <a:ext cx="8909700" cy="22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Nodes take turns speaking.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Polling protocols</a:t>
            </a:r>
            <a:r>
              <a:rPr lang="en"/>
              <a:t>: A coordinator decides when each node can speak.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I2C.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Token passing</a:t>
            </a:r>
            <a:r>
              <a:rPr lang="en"/>
              <a:t>: Pass a virtual token around. Only the node with the token can speak.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IBM Token Ring, FDDI.</a:t>
            </a:r>
            <a:endParaRPr/>
          </a:p>
        </p:txBody>
      </p:sp>
      <p:cxnSp>
        <p:nvCxnSpPr>
          <p:cNvPr id="396" name="Google Shape;396;p33"/>
          <p:cNvCxnSpPr>
            <a:stCxn id="397" idx="2"/>
            <a:endCxn id="398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3"/>
          <p:cNvCxnSpPr>
            <a:stCxn id="397" idx="2"/>
            <a:endCxn id="400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3"/>
          <p:cNvCxnSpPr>
            <a:stCxn id="397" idx="2"/>
            <a:endCxn id="402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3"/>
          <p:cNvCxnSpPr>
            <a:stCxn id="404" idx="2"/>
            <a:endCxn id="405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3"/>
          <p:cNvCxnSpPr>
            <a:stCxn id="404" idx="2"/>
            <a:endCxn id="407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33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33"/>
          <p:cNvCxnSpPr>
            <a:stCxn id="404" idx="2"/>
            <a:endCxn id="411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3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" name="Google Shape;412;p33"/>
          <p:cNvCxnSpPr>
            <a:stCxn id="409" idx="2"/>
            <a:endCxn id="413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3"/>
          <p:cNvCxnSpPr>
            <a:stCxn id="409" idx="2"/>
            <a:endCxn id="415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3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" name="Google Shape;417;p33"/>
          <p:cNvCxnSpPr>
            <a:stCxn id="408" idx="2"/>
            <a:endCxn id="418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3"/>
          <p:cNvCxnSpPr>
            <a:stCxn id="408" idx="2"/>
            <a:endCxn id="420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3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427" name="Google Shape;427;p34"/>
          <p:cNvSpPr txBox="1"/>
          <p:nvPr>
            <p:ph idx="1" type="body"/>
          </p:nvPr>
        </p:nvSpPr>
        <p:spPr>
          <a:xfrm>
            <a:off x="107050" y="402200"/>
            <a:ext cx="89097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Polling protocols</a:t>
            </a:r>
            <a:r>
              <a:rPr lang="en"/>
              <a:t>: A coordinator decides when each node can speak.</a:t>
            </a:r>
            <a:endParaRPr b="1"/>
          </a:p>
        </p:txBody>
      </p:sp>
      <p:sp>
        <p:nvSpPr>
          <p:cNvPr id="428" name="Google Shape;428;p34"/>
          <p:cNvSpPr/>
          <p:nvPr/>
        </p:nvSpPr>
        <p:spPr>
          <a:xfrm>
            <a:off x="6110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2206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18302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24398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2" name="Google Shape;432;p34"/>
          <p:cNvCxnSpPr/>
          <p:nvPr/>
        </p:nvCxnSpPr>
        <p:spPr>
          <a:xfrm rot="10800000">
            <a:off x="7535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4"/>
          <p:cNvCxnSpPr/>
          <p:nvPr/>
        </p:nvCxnSpPr>
        <p:spPr>
          <a:xfrm rot="10800000">
            <a:off x="13631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4"/>
          <p:cNvCxnSpPr/>
          <p:nvPr/>
        </p:nvCxnSpPr>
        <p:spPr>
          <a:xfrm rot="10800000">
            <a:off x="19727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4"/>
          <p:cNvCxnSpPr/>
          <p:nvPr/>
        </p:nvCxnSpPr>
        <p:spPr>
          <a:xfrm rot="10800000">
            <a:off x="25823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4"/>
          <p:cNvCxnSpPr/>
          <p:nvPr/>
        </p:nvCxnSpPr>
        <p:spPr>
          <a:xfrm rot="10800000">
            <a:off x="3407913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4"/>
          <p:cNvCxnSpPr/>
          <p:nvPr/>
        </p:nvCxnSpPr>
        <p:spPr>
          <a:xfrm>
            <a:off x="743988" y="1490875"/>
            <a:ext cx="267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34"/>
          <p:cNvSpPr/>
          <p:nvPr/>
        </p:nvSpPr>
        <p:spPr>
          <a:xfrm>
            <a:off x="2957463" y="1795675"/>
            <a:ext cx="900900" cy="28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Coordinator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4138763" y="1323325"/>
            <a:ext cx="1678800" cy="639900"/>
          </a:xfrm>
          <a:prstGeom prst="wedgeRoundRectCallout">
            <a:avLst>
              <a:gd fmla="val -60660" name="adj1"/>
              <a:gd fmla="val 44398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A, do you have something to say?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571488" y="2404525"/>
            <a:ext cx="1678800" cy="393600"/>
          </a:xfrm>
          <a:prstGeom prst="wedgeRoundRectCallout">
            <a:avLst>
              <a:gd fmla="val -36746" name="adj1"/>
              <a:gd fmla="val -9779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Yes, blah blah blah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4"/>
          <p:cNvSpPr txBox="1"/>
          <p:nvPr/>
        </p:nvSpPr>
        <p:spPr>
          <a:xfrm>
            <a:off x="6223663" y="1581025"/>
            <a:ext cx="2024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can speak for as long as it needs.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2" name="Google Shape;442;p34"/>
          <p:cNvGrpSpPr/>
          <p:nvPr/>
        </p:nvGrpSpPr>
        <p:grpSpPr>
          <a:xfrm>
            <a:off x="615038" y="3641450"/>
            <a:ext cx="3247338" cy="589800"/>
            <a:chOff x="615038" y="3489050"/>
            <a:chExt cx="3247338" cy="589800"/>
          </a:xfrm>
        </p:grpSpPr>
        <p:sp>
          <p:nvSpPr>
            <p:cNvPr id="443" name="Google Shape;443;p34"/>
            <p:cNvSpPr/>
            <p:nvPr/>
          </p:nvSpPr>
          <p:spPr>
            <a:xfrm>
              <a:off x="6150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12246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18342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24438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7" name="Google Shape;447;p34"/>
            <p:cNvCxnSpPr/>
            <p:nvPr/>
          </p:nvCxnSpPr>
          <p:spPr>
            <a:xfrm rot="10800000">
              <a:off x="7575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34"/>
            <p:cNvCxnSpPr/>
            <p:nvPr/>
          </p:nvCxnSpPr>
          <p:spPr>
            <a:xfrm rot="10800000">
              <a:off x="13671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34"/>
            <p:cNvCxnSpPr/>
            <p:nvPr/>
          </p:nvCxnSpPr>
          <p:spPr>
            <a:xfrm rot="10800000">
              <a:off x="19767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34"/>
            <p:cNvCxnSpPr/>
            <p:nvPr/>
          </p:nvCxnSpPr>
          <p:spPr>
            <a:xfrm rot="10800000">
              <a:off x="25863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34"/>
            <p:cNvCxnSpPr/>
            <p:nvPr/>
          </p:nvCxnSpPr>
          <p:spPr>
            <a:xfrm rot="10800000">
              <a:off x="3411925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34"/>
            <p:cNvCxnSpPr/>
            <p:nvPr/>
          </p:nvCxnSpPr>
          <p:spPr>
            <a:xfrm>
              <a:off x="748000" y="3489050"/>
              <a:ext cx="2673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3" name="Google Shape;453;p34"/>
            <p:cNvSpPr/>
            <p:nvPr/>
          </p:nvSpPr>
          <p:spPr>
            <a:xfrm>
              <a:off x="2961475" y="3793850"/>
              <a:ext cx="900900" cy="2850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Coordinator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4" name="Google Shape;454;p34"/>
          <p:cNvSpPr/>
          <p:nvPr/>
        </p:nvSpPr>
        <p:spPr>
          <a:xfrm>
            <a:off x="4142775" y="3473900"/>
            <a:ext cx="1678800" cy="639900"/>
          </a:xfrm>
          <a:prstGeom prst="wedgeRoundRectCallout">
            <a:avLst>
              <a:gd fmla="val -60660" name="adj1"/>
              <a:gd fmla="val 44398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B, do you have something to say?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1367150" y="4447225"/>
            <a:ext cx="439200" cy="393600"/>
          </a:xfrm>
          <a:prstGeom prst="wedgeRoundRectCallout">
            <a:avLst>
              <a:gd fmla="val -39023" name="adj1"/>
              <a:gd fmla="val -76772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4"/>
          <p:cNvSpPr txBox="1"/>
          <p:nvPr/>
        </p:nvSpPr>
        <p:spPr>
          <a:xfrm>
            <a:off x="6223675" y="3590000"/>
            <a:ext cx="2673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has nothing to say.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Coordinator can immediately move on to 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462" name="Google Shape;462;p35"/>
          <p:cNvSpPr txBox="1"/>
          <p:nvPr>
            <p:ph idx="1" type="body"/>
          </p:nvPr>
        </p:nvSpPr>
        <p:spPr>
          <a:xfrm>
            <a:off x="107050" y="402200"/>
            <a:ext cx="89097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Token passing</a:t>
            </a:r>
            <a:r>
              <a:rPr lang="en"/>
              <a:t>: Pass a virtual token around. Only the node with the token can speak.</a:t>
            </a:r>
            <a:endParaRPr/>
          </a:p>
        </p:txBody>
      </p:sp>
      <p:grpSp>
        <p:nvGrpSpPr>
          <p:cNvPr id="463" name="Google Shape;463;p35"/>
          <p:cNvGrpSpPr/>
          <p:nvPr/>
        </p:nvGrpSpPr>
        <p:grpSpPr>
          <a:xfrm>
            <a:off x="611025" y="1490875"/>
            <a:ext cx="2113800" cy="589800"/>
            <a:chOff x="611025" y="1490875"/>
            <a:chExt cx="2113800" cy="589800"/>
          </a:xfrm>
        </p:grpSpPr>
        <p:sp>
          <p:nvSpPr>
            <p:cNvPr id="464" name="Google Shape;464;p35"/>
            <p:cNvSpPr/>
            <p:nvPr/>
          </p:nvSpPr>
          <p:spPr>
            <a:xfrm>
              <a:off x="6110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12206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18302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24398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8" name="Google Shape;468;p35"/>
            <p:cNvCxnSpPr/>
            <p:nvPr/>
          </p:nvCxnSpPr>
          <p:spPr>
            <a:xfrm rot="10800000">
              <a:off x="7535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35"/>
            <p:cNvCxnSpPr/>
            <p:nvPr/>
          </p:nvCxnSpPr>
          <p:spPr>
            <a:xfrm rot="10800000">
              <a:off x="13631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35"/>
            <p:cNvCxnSpPr/>
            <p:nvPr/>
          </p:nvCxnSpPr>
          <p:spPr>
            <a:xfrm rot="10800000">
              <a:off x="19727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35"/>
            <p:cNvCxnSpPr/>
            <p:nvPr/>
          </p:nvCxnSpPr>
          <p:spPr>
            <a:xfrm rot="10800000">
              <a:off x="25823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35"/>
            <p:cNvCxnSpPr/>
            <p:nvPr/>
          </p:nvCxnSpPr>
          <p:spPr>
            <a:xfrm>
              <a:off x="744000" y="1490875"/>
              <a:ext cx="18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3" name="Google Shape;473;p35"/>
          <p:cNvSpPr/>
          <p:nvPr/>
        </p:nvSpPr>
        <p:spPr>
          <a:xfrm>
            <a:off x="615050" y="2521763"/>
            <a:ext cx="1309200" cy="393600"/>
          </a:xfrm>
          <a:prstGeom prst="wedgeRoundRectCallout">
            <a:avLst>
              <a:gd fmla="val -36746" name="adj1"/>
              <a:gd fmla="val -9779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Blah blah blah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5"/>
          <p:cNvSpPr txBox="1"/>
          <p:nvPr/>
        </p:nvSpPr>
        <p:spPr>
          <a:xfrm>
            <a:off x="4164825" y="1439425"/>
            <a:ext cx="3863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holds the token.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can speak for as long as it needs.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A is done, it passes the token to B.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5" name="Google Shape;475;p35"/>
          <p:cNvGrpSpPr/>
          <p:nvPr/>
        </p:nvGrpSpPr>
        <p:grpSpPr>
          <a:xfrm>
            <a:off x="615038" y="3641450"/>
            <a:ext cx="2113800" cy="589800"/>
            <a:chOff x="615038" y="3641450"/>
            <a:chExt cx="2113800" cy="589800"/>
          </a:xfrm>
        </p:grpSpPr>
        <p:sp>
          <p:nvSpPr>
            <p:cNvPr id="476" name="Google Shape;476;p35"/>
            <p:cNvSpPr/>
            <p:nvPr/>
          </p:nvSpPr>
          <p:spPr>
            <a:xfrm>
              <a:off x="6150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12246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18342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24438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80" name="Google Shape;480;p35"/>
            <p:cNvCxnSpPr/>
            <p:nvPr/>
          </p:nvCxnSpPr>
          <p:spPr>
            <a:xfrm rot="10800000">
              <a:off x="7575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35"/>
            <p:cNvCxnSpPr/>
            <p:nvPr/>
          </p:nvCxnSpPr>
          <p:spPr>
            <a:xfrm rot="10800000">
              <a:off x="13671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35"/>
            <p:cNvCxnSpPr/>
            <p:nvPr/>
          </p:nvCxnSpPr>
          <p:spPr>
            <a:xfrm rot="10800000">
              <a:off x="19767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35"/>
            <p:cNvCxnSpPr/>
            <p:nvPr/>
          </p:nvCxnSpPr>
          <p:spPr>
            <a:xfrm rot="10800000">
              <a:off x="25863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35"/>
            <p:cNvCxnSpPr/>
            <p:nvPr/>
          </p:nvCxnSpPr>
          <p:spPr>
            <a:xfrm>
              <a:off x="746761" y="3641450"/>
              <a:ext cx="1848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5" name="Google Shape;485;p35"/>
          <p:cNvSpPr txBox="1"/>
          <p:nvPr/>
        </p:nvSpPr>
        <p:spPr>
          <a:xfrm>
            <a:off x="4164824" y="3731600"/>
            <a:ext cx="3774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has nothing to say.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can immediately pass the token to 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507225" y="2041207"/>
            <a:ext cx="492600" cy="24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Token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1120850" y="4191789"/>
            <a:ext cx="492600" cy="24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Token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6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6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498" name="Google Shape;498;p36"/>
          <p:cNvSpPr txBox="1"/>
          <p:nvPr>
            <p:ph idx="1" type="body"/>
          </p:nvPr>
        </p:nvSpPr>
        <p:spPr>
          <a:xfrm>
            <a:off x="107050" y="402200"/>
            <a:ext cx="8909700" cy="26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Nodes take turns speaking.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No more time wasted on idling.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someone has nothing to say, immediately move 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Complexity.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Need to implement inter-node communication.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do we elect the central coordinator?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if two nodes both think they have the token?</a:t>
            </a:r>
            <a:endParaRPr/>
          </a:p>
        </p:txBody>
      </p:sp>
      <p:cxnSp>
        <p:nvCxnSpPr>
          <p:cNvPr id="499" name="Google Shape;499;p36"/>
          <p:cNvCxnSpPr>
            <a:stCxn id="500" idx="2"/>
            <a:endCxn id="501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6"/>
          <p:cNvCxnSpPr>
            <a:stCxn id="500" idx="2"/>
            <a:endCxn id="503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6"/>
          <p:cNvCxnSpPr>
            <a:stCxn id="500" idx="2"/>
            <a:endCxn id="505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6"/>
          <p:cNvCxnSpPr>
            <a:stCxn id="507" idx="2"/>
            <a:endCxn id="508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6"/>
          <p:cNvCxnSpPr>
            <a:stCxn id="507" idx="2"/>
            <a:endCxn id="510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36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6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3" name="Google Shape;513;p36"/>
          <p:cNvCxnSpPr>
            <a:stCxn id="507" idx="2"/>
            <a:endCxn id="514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36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" name="Google Shape;515;p36"/>
          <p:cNvCxnSpPr>
            <a:stCxn id="512" idx="2"/>
            <a:endCxn id="516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6"/>
          <p:cNvCxnSpPr>
            <a:stCxn id="512" idx="2"/>
            <a:endCxn id="518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36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6"/>
          <p:cNvCxnSpPr>
            <a:stCxn id="511" idx="2"/>
            <a:endCxn id="521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6"/>
          <p:cNvCxnSpPr>
            <a:stCxn id="511" idx="2"/>
            <a:endCxn id="523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36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7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</a:t>
            </a:r>
            <a:endParaRPr/>
          </a:p>
        </p:txBody>
      </p:sp>
      <p:sp>
        <p:nvSpPr>
          <p:cNvPr id="535" name="Google Shape;535;p37"/>
          <p:cNvSpPr txBox="1"/>
          <p:nvPr>
            <p:ph idx="1" type="body"/>
          </p:nvPr>
        </p:nvSpPr>
        <p:spPr>
          <a:xfrm>
            <a:off x="107050" y="402200"/>
            <a:ext cx="8909700" cy="22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Nodes talk whenever they have something to say.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Deal with collisions when they occur.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Simplicity. No coordinators or tokens.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6" name="Google Shape;536;p37"/>
          <p:cNvCxnSpPr>
            <a:stCxn id="537" idx="2"/>
            <a:endCxn id="538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37"/>
          <p:cNvCxnSpPr>
            <a:stCxn id="537" idx="2"/>
            <a:endCxn id="540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7"/>
          <p:cNvCxnSpPr>
            <a:stCxn id="537" idx="2"/>
            <a:endCxn id="542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7"/>
          <p:cNvCxnSpPr>
            <a:stCxn id="544" idx="2"/>
            <a:endCxn id="545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7"/>
          <p:cNvCxnSpPr>
            <a:stCxn id="544" idx="2"/>
            <a:endCxn id="547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7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" name="Google Shape;550;p37"/>
          <p:cNvCxnSpPr>
            <a:stCxn id="544" idx="2"/>
            <a:endCxn id="551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7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" name="Google Shape;552;p37"/>
          <p:cNvCxnSpPr>
            <a:stCxn id="549" idx="2"/>
            <a:endCxn id="553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7"/>
          <p:cNvCxnSpPr>
            <a:stCxn id="549" idx="2"/>
            <a:endCxn id="555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37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7"/>
          <p:cNvCxnSpPr>
            <a:stCxn id="548" idx="2"/>
            <a:endCxn id="558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7"/>
          <p:cNvCxnSpPr>
            <a:stCxn id="548" idx="2"/>
            <a:endCxn id="560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37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8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8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 – ALOHA</a:t>
            </a:r>
            <a:endParaRPr/>
          </a:p>
        </p:txBody>
      </p:sp>
      <p:sp>
        <p:nvSpPr>
          <p:cNvPr id="572" name="Google Shape;572;p38"/>
          <p:cNvSpPr txBox="1"/>
          <p:nvPr>
            <p:ph idx="1" type="body"/>
          </p:nvPr>
        </p:nvSpPr>
        <p:spPr>
          <a:xfrm>
            <a:off x="107050" y="402200"/>
            <a:ext cx="8909700" cy="27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ALOHA</a:t>
            </a:r>
            <a:r>
              <a:rPr lang="en"/>
              <a:t> random access scheme: "rude" version.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have a packet, just send it.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Recipient replies with an 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nodes send simultaneously, collision </a:t>
            </a:r>
            <a:r>
              <a:rPr lang="en"/>
              <a:t>corrupts</a:t>
            </a:r>
            <a:r>
              <a:rPr lang="en"/>
              <a:t> the packets.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ack!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don't get an ack: Wait some random amount of time, then resend.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Randomness helps avoid another collision.</a:t>
            </a:r>
            <a:endParaRPr/>
          </a:p>
        </p:txBody>
      </p:sp>
      <p:cxnSp>
        <p:nvCxnSpPr>
          <p:cNvPr id="573" name="Google Shape;573;p38"/>
          <p:cNvCxnSpPr>
            <a:stCxn id="574" idx="2"/>
            <a:endCxn id="575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8"/>
          <p:cNvCxnSpPr>
            <a:stCxn id="574" idx="2"/>
            <a:endCxn id="577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8"/>
          <p:cNvCxnSpPr>
            <a:stCxn id="574" idx="2"/>
            <a:endCxn id="579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8"/>
          <p:cNvCxnSpPr>
            <a:stCxn id="581" idx="2"/>
            <a:endCxn id="582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8"/>
          <p:cNvCxnSpPr>
            <a:stCxn id="581" idx="2"/>
            <a:endCxn id="584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38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7" name="Google Shape;587;p38"/>
          <p:cNvCxnSpPr>
            <a:stCxn id="581" idx="2"/>
            <a:endCxn id="588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38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8"/>
          <p:cNvCxnSpPr>
            <a:stCxn id="586" idx="2"/>
            <a:endCxn id="590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8"/>
          <p:cNvCxnSpPr>
            <a:stCxn id="586" idx="2"/>
            <a:endCxn id="592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38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8"/>
          <p:cNvCxnSpPr>
            <a:stCxn id="585" idx="2"/>
            <a:endCxn id="595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8"/>
          <p:cNvCxnSpPr>
            <a:stCxn id="585" idx="2"/>
            <a:endCxn id="597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38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9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9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9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9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 – CSMA</a:t>
            </a:r>
            <a:endParaRPr/>
          </a:p>
        </p:txBody>
      </p:sp>
      <p:sp>
        <p:nvSpPr>
          <p:cNvPr id="609" name="Google Shape;609;p39"/>
          <p:cNvSpPr txBox="1"/>
          <p:nvPr>
            <p:ph idx="1" type="body"/>
          </p:nvPr>
        </p:nvSpPr>
        <p:spPr>
          <a:xfrm>
            <a:off x="107050" y="402200"/>
            <a:ext cx="8909700" cy="27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CSMA</a:t>
            </a:r>
            <a:r>
              <a:rPr lang="en"/>
              <a:t> (Carrier Sense Multiple Access)</a:t>
            </a:r>
            <a:r>
              <a:rPr lang="en"/>
              <a:t>: "polite" version.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</a:t>
            </a:r>
            <a:r>
              <a:rPr lang="en"/>
              <a:t>listen</a:t>
            </a:r>
            <a:r>
              <a:rPr lang="en"/>
              <a:t> to see if anyone is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start sending when it's quiet.</a:t>
            </a:r>
            <a:endParaRPr/>
          </a:p>
        </p:txBody>
      </p:sp>
      <p:cxnSp>
        <p:nvCxnSpPr>
          <p:cNvPr id="610" name="Google Shape;610;p39"/>
          <p:cNvCxnSpPr>
            <a:stCxn id="611" idx="2"/>
            <a:endCxn id="612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39"/>
          <p:cNvCxnSpPr>
            <a:stCxn id="611" idx="2"/>
            <a:endCxn id="614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9"/>
          <p:cNvCxnSpPr>
            <a:stCxn id="611" idx="2"/>
            <a:endCxn id="616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9"/>
          <p:cNvCxnSpPr>
            <a:stCxn id="618" idx="2"/>
            <a:endCxn id="619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9"/>
          <p:cNvCxnSpPr>
            <a:stCxn id="618" idx="2"/>
            <a:endCxn id="621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39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4" name="Google Shape;624;p39"/>
          <p:cNvCxnSpPr>
            <a:stCxn id="618" idx="2"/>
            <a:endCxn id="625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39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6" name="Google Shape;626;p39"/>
          <p:cNvCxnSpPr>
            <a:stCxn id="623" idx="2"/>
            <a:endCxn id="627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9"/>
          <p:cNvCxnSpPr>
            <a:stCxn id="623" idx="2"/>
            <a:endCxn id="629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9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1" name="Google Shape;631;p39"/>
          <p:cNvCxnSpPr>
            <a:stCxn id="622" idx="2"/>
            <a:endCxn id="632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9"/>
          <p:cNvCxnSpPr>
            <a:stCxn id="622" idx="2"/>
            <a:endCxn id="634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39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Access Protocols (3/3) – Random Access – CSMA and Propagation Delay</a:t>
            </a:r>
            <a:endParaRPr/>
          </a:p>
        </p:txBody>
      </p:sp>
      <p:sp>
        <p:nvSpPr>
          <p:cNvPr id="641" name="Google Shape;641;p40"/>
          <p:cNvSpPr txBox="1"/>
          <p:nvPr>
            <p:ph idx="1" type="body"/>
          </p:nvPr>
        </p:nvSpPr>
        <p:spPr>
          <a:xfrm>
            <a:off x="107050" y="402200"/>
            <a:ext cx="48603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CSMA does not necessarily avoid collisions, because of </a:t>
            </a:r>
            <a:r>
              <a:rPr b="1" lang="en"/>
              <a:t>propagation delay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t=0: B starts sending.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 takes time to reach A, C, 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t=2: D wants to 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 hasn't reached D yet!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 thinks it's quiet and starts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Collision!</a:t>
            </a:r>
            <a:endParaRPr/>
          </a:p>
        </p:txBody>
      </p:sp>
      <p:cxnSp>
        <p:nvCxnSpPr>
          <p:cNvPr id="642" name="Google Shape;642;p40"/>
          <p:cNvCxnSpPr/>
          <p:nvPr/>
        </p:nvCxnSpPr>
        <p:spPr>
          <a:xfrm>
            <a:off x="6168925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0"/>
          <p:cNvCxnSpPr/>
          <p:nvPr/>
        </p:nvCxnSpPr>
        <p:spPr>
          <a:xfrm>
            <a:off x="6808567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0"/>
          <p:cNvCxnSpPr/>
          <p:nvPr/>
        </p:nvCxnSpPr>
        <p:spPr>
          <a:xfrm>
            <a:off x="7448208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0"/>
          <p:cNvCxnSpPr/>
          <p:nvPr/>
        </p:nvCxnSpPr>
        <p:spPr>
          <a:xfrm>
            <a:off x="8087850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40"/>
          <p:cNvSpPr/>
          <p:nvPr/>
        </p:nvSpPr>
        <p:spPr>
          <a:xfrm>
            <a:off x="5622850" y="1884525"/>
            <a:ext cx="2919000" cy="2448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		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47" name="Google Shape;647;p40"/>
          <p:cNvSpPr txBox="1"/>
          <p:nvPr/>
        </p:nvSpPr>
        <p:spPr>
          <a:xfrm>
            <a:off x="5883925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6523563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40"/>
          <p:cNvSpPr txBox="1"/>
          <p:nvPr/>
        </p:nvSpPr>
        <p:spPr>
          <a:xfrm>
            <a:off x="7163213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40"/>
          <p:cNvSpPr txBox="1"/>
          <p:nvPr/>
        </p:nvSpPr>
        <p:spPr>
          <a:xfrm>
            <a:off x="7802863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1" name="Google Shape;651;p40"/>
          <p:cNvCxnSpPr/>
          <p:nvPr/>
        </p:nvCxnSpPr>
        <p:spPr>
          <a:xfrm>
            <a:off x="5390975" y="1921375"/>
            <a:ext cx="0" cy="1108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40"/>
          <p:cNvSpPr txBox="1"/>
          <p:nvPr/>
        </p:nvSpPr>
        <p:spPr>
          <a:xfrm rot="-5400000">
            <a:off x="4983275" y="1992175"/>
            <a:ext cx="57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i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3" name="Google Shape;653;p40"/>
          <p:cNvCxnSpPr/>
          <p:nvPr/>
        </p:nvCxnSpPr>
        <p:spPr>
          <a:xfrm>
            <a:off x="5628275" y="1316475"/>
            <a:ext cx="2920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4" name="Google Shape;654;p40"/>
          <p:cNvSpPr txBox="1"/>
          <p:nvPr/>
        </p:nvSpPr>
        <p:spPr>
          <a:xfrm>
            <a:off x="6580894" y="1071075"/>
            <a:ext cx="9456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space</a:t>
            </a:r>
            <a:endParaRPr i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0"/>
          <p:cNvSpPr/>
          <p:nvPr/>
        </p:nvSpPr>
        <p:spPr>
          <a:xfrm>
            <a:off x="5624975" y="1890150"/>
            <a:ext cx="2920175" cy="1605875"/>
          </a:xfrm>
          <a:custGeom>
            <a:rect b="b" l="l" r="r" t="t"/>
            <a:pathLst>
              <a:path extrusionOk="0" h="64235" w="116807">
                <a:moveTo>
                  <a:pt x="48102" y="0"/>
                </a:moveTo>
                <a:lnTo>
                  <a:pt x="132" y="26268"/>
                </a:lnTo>
                <a:lnTo>
                  <a:pt x="0" y="64235"/>
                </a:lnTo>
                <a:lnTo>
                  <a:pt x="49351" y="34353"/>
                </a:lnTo>
                <a:lnTo>
                  <a:pt x="116807" y="60273"/>
                </a:lnTo>
                <a:lnTo>
                  <a:pt x="116417" y="24283"/>
                </a:lnTo>
                <a:close/>
              </a:path>
            </a:pathLst>
          </a:custGeom>
          <a:solidFill>
            <a:srgbClr val="FF0000">
              <a:alpha val="4747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6" name="Google Shape;656;p40"/>
          <p:cNvSpPr/>
          <p:nvPr/>
        </p:nvSpPr>
        <p:spPr>
          <a:xfrm>
            <a:off x="5628275" y="2232650"/>
            <a:ext cx="2917025" cy="2047225"/>
          </a:xfrm>
          <a:custGeom>
            <a:rect b="b" l="l" r="r" t="t"/>
            <a:pathLst>
              <a:path extrusionOk="0" h="81889" w="116681">
                <a:moveTo>
                  <a:pt x="98028" y="0"/>
                </a:moveTo>
                <a:lnTo>
                  <a:pt x="0" y="56489"/>
                </a:lnTo>
                <a:lnTo>
                  <a:pt x="0" y="81889"/>
                </a:lnTo>
                <a:lnTo>
                  <a:pt x="99219" y="19976"/>
                </a:lnTo>
                <a:lnTo>
                  <a:pt x="116681" y="27914"/>
                </a:lnTo>
                <a:lnTo>
                  <a:pt x="116681" y="7805"/>
                </a:lnTo>
                <a:close/>
              </a:path>
            </a:pathLst>
          </a:custGeom>
          <a:solidFill>
            <a:srgbClr val="5E00FF">
              <a:alpha val="4747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1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 – CSMA/CD</a:t>
            </a:r>
            <a:endParaRPr/>
          </a:p>
        </p:txBody>
      </p:sp>
      <p:sp>
        <p:nvSpPr>
          <p:cNvPr id="667" name="Google Shape;667;p41"/>
          <p:cNvSpPr txBox="1"/>
          <p:nvPr>
            <p:ph idx="1" type="body"/>
          </p:nvPr>
        </p:nvSpPr>
        <p:spPr>
          <a:xfrm>
            <a:off x="107050" y="402200"/>
            <a:ext cx="89097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CSMA/CD</a:t>
            </a:r>
            <a:r>
              <a:rPr lang="en"/>
              <a:t> (Carrier Sense Multiple Access with Collision Detection):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Listen before sending, but also </a:t>
            </a:r>
            <a:r>
              <a:rPr i="1" lang="en"/>
              <a:t>while</a:t>
            </a:r>
            <a:r>
              <a:rPr lang="en"/>
              <a:t> you're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someone else sending, stop! Collision detected.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CSMA/CD uses </a:t>
            </a:r>
            <a:r>
              <a:rPr b="1" lang="en"/>
              <a:t>binary exponential backoff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every collision, wait up to twice as long before resending.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After first collision: Wait between 0–4 seconds.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resend collides again: Wait between 0–8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Resends fast when possible, slowing down when necessary (e.g. many senders).</a:t>
            </a:r>
            <a:endParaRPr/>
          </a:p>
        </p:txBody>
      </p:sp>
      <p:cxnSp>
        <p:nvCxnSpPr>
          <p:cNvPr id="668" name="Google Shape;668;p41"/>
          <p:cNvCxnSpPr>
            <a:stCxn id="669" idx="2"/>
            <a:endCxn id="670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1"/>
          <p:cNvCxnSpPr>
            <a:stCxn id="669" idx="2"/>
            <a:endCxn id="672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41"/>
          <p:cNvCxnSpPr>
            <a:stCxn id="669" idx="2"/>
            <a:endCxn id="674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41"/>
          <p:cNvCxnSpPr>
            <a:stCxn id="676" idx="2"/>
            <a:endCxn id="677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1"/>
          <p:cNvCxnSpPr>
            <a:stCxn id="676" idx="2"/>
            <a:endCxn id="679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41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41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2" name="Google Shape;682;p41"/>
          <p:cNvCxnSpPr>
            <a:stCxn id="676" idx="2"/>
            <a:endCxn id="683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41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4" name="Google Shape;684;p41"/>
          <p:cNvCxnSpPr>
            <a:stCxn id="681" idx="2"/>
            <a:endCxn id="685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1"/>
          <p:cNvCxnSpPr>
            <a:stCxn id="681" idx="2"/>
            <a:endCxn id="687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41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9" name="Google Shape;689;p41"/>
          <p:cNvCxnSpPr>
            <a:stCxn id="680" idx="2"/>
            <a:endCxn id="690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1"/>
          <p:cNvCxnSpPr>
            <a:stCxn id="680" idx="2"/>
            <a:endCxn id="692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41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Multiple Access Protocols</a:t>
            </a:r>
            <a:endParaRPr/>
          </a:p>
        </p:txBody>
      </p:sp>
      <p:sp>
        <p:nvSpPr>
          <p:cNvPr id="699" name="Google Shape;699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was that protocol called ALOHA, anyway?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Norman Abramson had a problem at the University of Hawaii in 1968.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allow users on other islands to access the central hub computer?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ALOHANet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Additive Links Online Hawaii Area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 Hugely influential.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Shared wireless medium between all the computers.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ALOHANet used two frequencies: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Hub transmits on its own </a:t>
            </a:r>
            <a:r>
              <a:rPr lang="en">
                <a:solidFill>
                  <a:schemeClr val="accent2"/>
                </a:solidFill>
              </a:rPr>
              <a:t>frequency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One sender = no collisions.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 remote nodes listen to this frequency.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remote sites transmit on the other </a:t>
            </a:r>
            <a:r>
              <a:rPr lang="en">
                <a:solidFill>
                  <a:srgbClr val="0000FF"/>
                </a:solidFill>
              </a:rPr>
              <a:t>frequency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May collide. Use ALOHA to deal with collisions.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the hub listens to this frequency.</a:t>
            </a:r>
            <a:endParaRPr/>
          </a:p>
        </p:txBody>
      </p:sp>
      <p:sp>
        <p:nvSpPr>
          <p:cNvPr id="700" name="Google Shape;700;p42"/>
          <p:cNvSpPr/>
          <p:nvPr/>
        </p:nvSpPr>
        <p:spPr>
          <a:xfrm>
            <a:off x="8261725" y="286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8261725" y="347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8261725" y="4085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6966325" y="347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2"/>
          <p:cNvCxnSpPr>
            <a:stCxn id="703" idx="6"/>
          </p:cNvCxnSpPr>
          <p:nvPr/>
        </p:nvCxnSpPr>
        <p:spPr>
          <a:xfrm>
            <a:off x="7251325" y="3618300"/>
            <a:ext cx="510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2"/>
          <p:cNvCxnSpPr>
            <a:endCxn id="700" idx="2"/>
          </p:cNvCxnSpPr>
          <p:nvPr/>
        </p:nvCxnSpPr>
        <p:spPr>
          <a:xfrm>
            <a:off x="7750825" y="3008700"/>
            <a:ext cx="510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6" name="Google Shape;706;p42"/>
          <p:cNvCxnSpPr>
            <a:endCxn id="702" idx="2"/>
          </p:cNvCxnSpPr>
          <p:nvPr/>
        </p:nvCxnSpPr>
        <p:spPr>
          <a:xfrm>
            <a:off x="7750825" y="4227900"/>
            <a:ext cx="510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Sending Packets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12" name="Google Shape;712;p4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Ethernet Packets</a:t>
            </a:r>
            <a:endParaRPr/>
          </a:p>
        </p:txBody>
      </p:sp>
      <p:sp>
        <p:nvSpPr>
          <p:cNvPr id="713" name="Google Shape;713;p4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as LAN Network Protocol</a:t>
            </a:r>
            <a:endParaRPr/>
          </a:p>
        </p:txBody>
      </p:sp>
      <p:sp>
        <p:nvSpPr>
          <p:cNvPr id="719" name="Google Shape;719;p4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Local Area Networks (LANs) are generally Ethernet.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Machines in the same LAN can exchange messages directly at Layer 2!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IPs, routers, forwarding,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If we're in the same room, we can talk without using the postal system.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Addressing</a:t>
            </a:r>
            <a:endParaRPr/>
          </a:p>
        </p:txBody>
      </p:sp>
      <p:sp>
        <p:nvSpPr>
          <p:cNvPr id="725" name="Google Shape;725;p45"/>
          <p:cNvSpPr txBox="1"/>
          <p:nvPr>
            <p:ph idx="1" type="body"/>
          </p:nvPr>
        </p:nvSpPr>
        <p:spPr>
          <a:xfrm>
            <a:off x="107050" y="402200"/>
            <a:ext cx="8909700" cy="26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layer 2, each machine has a </a:t>
            </a:r>
            <a:r>
              <a:rPr b="1" lang="en"/>
              <a:t>MAC address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Media Access Control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even if you don't have an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48 bits, written in hex, 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f8:ff:c2:2b:36:16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Stored permanently on the machine ("burned in").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Often can be overridden by software.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Allocated according to organization, e.g. manufacturer of the machine.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Globally unique. You might plug your computer in anywhere.</a:t>
            </a:r>
            <a:endParaRPr/>
          </a:p>
        </p:txBody>
      </p:sp>
      <p:sp>
        <p:nvSpPr>
          <p:cNvPr id="726" name="Google Shape;726;p45"/>
          <p:cNvSpPr/>
          <p:nvPr/>
        </p:nvSpPr>
        <p:spPr>
          <a:xfrm>
            <a:off x="2160700" y="3378318"/>
            <a:ext cx="301500" cy="342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2462325" y="3378325"/>
            <a:ext cx="2289300" cy="3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0111111111111101000011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4751625" y="3378275"/>
            <a:ext cx="2442900" cy="342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1101010001101100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01101000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9" name="Google Shape;729;p45"/>
          <p:cNvCxnSpPr>
            <a:stCxn id="730" idx="0"/>
            <a:endCxn id="726" idx="2"/>
          </p:cNvCxnSpPr>
          <p:nvPr/>
        </p:nvCxnSpPr>
        <p:spPr>
          <a:xfrm rot="10800000">
            <a:off x="2311463" y="3720475"/>
            <a:ext cx="0" cy="3147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0" name="Google Shape;730;p45"/>
          <p:cNvSpPr txBox="1"/>
          <p:nvPr/>
        </p:nvSpPr>
        <p:spPr>
          <a:xfrm>
            <a:off x="1929263" y="4035175"/>
            <a:ext cx="764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2 bits of flags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1" name="Google Shape;731;p45"/>
          <p:cNvCxnSpPr>
            <a:stCxn id="732" idx="0"/>
            <a:endCxn id="727" idx="2"/>
          </p:cNvCxnSpPr>
          <p:nvPr/>
        </p:nvCxnSpPr>
        <p:spPr>
          <a:xfrm rot="10800000">
            <a:off x="3606988" y="3720775"/>
            <a:ext cx="0" cy="314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2" name="Google Shape;732;p45"/>
          <p:cNvSpPr txBox="1"/>
          <p:nvPr/>
        </p:nvSpPr>
        <p:spPr>
          <a:xfrm>
            <a:off x="2932888" y="4035175"/>
            <a:ext cx="134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22-bit manufacturer ID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3" name="Google Shape;733;p45"/>
          <p:cNvCxnSpPr>
            <a:stCxn id="734" idx="0"/>
          </p:cNvCxnSpPr>
          <p:nvPr/>
        </p:nvCxnSpPr>
        <p:spPr>
          <a:xfrm rot="10800000">
            <a:off x="5973088" y="3720475"/>
            <a:ext cx="0" cy="314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p45"/>
          <p:cNvSpPr txBox="1"/>
          <p:nvPr/>
        </p:nvSpPr>
        <p:spPr>
          <a:xfrm>
            <a:off x="5298988" y="4034875"/>
            <a:ext cx="134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-bit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machine ID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7157950" y="4715300"/>
            <a:ext cx="185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Beware of endianness.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LAN Communication</a:t>
            </a:r>
            <a:endParaRPr/>
          </a:p>
        </p:txBody>
      </p:sp>
      <p:sp>
        <p:nvSpPr>
          <p:cNvPr id="741" name="Google Shape;741;p4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Ethernet supports three types of communication: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Unicast</a:t>
            </a:r>
            <a:r>
              <a:rPr lang="en"/>
              <a:t>: Send a packet to a single recipient.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Broadcast</a:t>
            </a:r>
            <a:r>
              <a:rPr lang="en"/>
              <a:t>: Send a packet to everyone on the local </a:t>
            </a:r>
            <a:r>
              <a:rPr lang="en"/>
              <a:t>network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Multicast</a:t>
            </a:r>
            <a:r>
              <a:rPr lang="en"/>
              <a:t>: Send a packet to everyone in a specific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Machines in the local network can join groups.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LAN Communication (</a:t>
            </a:r>
            <a:r>
              <a:rPr lang="en"/>
              <a:t>1/3</a:t>
            </a:r>
            <a:r>
              <a:rPr lang="en"/>
              <a:t>) – Unicast</a:t>
            </a:r>
            <a:endParaRPr/>
          </a:p>
        </p:txBody>
      </p:sp>
      <p:sp>
        <p:nvSpPr>
          <p:cNvPr id="747" name="Google Shape;747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Unicast</a:t>
            </a:r>
            <a:r>
              <a:rPr lang="en"/>
              <a:t>: Send a packet to a single recipient.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= the recipient's MAC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On a shared medium, everybody gets the signal.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get a packet, check the destination to see if it's meant for you.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not, ignore the packet.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Types of LAN Communication (2/3) – Broadcast</a:t>
            </a:r>
            <a:endParaRPr/>
          </a:p>
        </p:txBody>
      </p:sp>
      <p:sp>
        <p:nvSpPr>
          <p:cNvPr id="753" name="Google Shape;753;p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Broadcast</a:t>
            </a:r>
            <a:r>
              <a:rPr lang="en"/>
              <a:t>: Send a packet to everyone on the local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already reaches everybody on the shared medium.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just need to make sure everyone knows it's meant for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= the broadcast address,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FF:FF:FF:FF:FF:FF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Types of LAN Communication (3/3) – Multicast</a:t>
            </a:r>
            <a:endParaRPr/>
          </a:p>
        </p:txBody>
      </p:sp>
      <p:sp>
        <p:nvSpPr>
          <p:cNvPr id="759" name="Google Shape;759;p49"/>
          <p:cNvSpPr txBox="1"/>
          <p:nvPr>
            <p:ph idx="1" type="body"/>
          </p:nvPr>
        </p:nvSpPr>
        <p:spPr>
          <a:xfrm>
            <a:off x="107050" y="402200"/>
            <a:ext cx="89097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Multicast</a:t>
            </a:r>
            <a:r>
              <a:rPr lang="en"/>
              <a:t>: Send a packet to everyone in a specific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Again, everyone gets the packet – need to ensure the group knows it's for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group has a </a:t>
            </a:r>
            <a:r>
              <a:rPr i="1" lang="en"/>
              <a:t>group address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Individual computer's address: First bit 0.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Group address: First bit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is just a special case of multicast, where everyone is in a group.</a:t>
            </a:r>
            <a:endParaRPr/>
          </a:p>
        </p:txBody>
      </p:sp>
      <p:sp>
        <p:nvSpPr>
          <p:cNvPr id="760" name="Google Shape;760;p49"/>
          <p:cNvSpPr/>
          <p:nvPr/>
        </p:nvSpPr>
        <p:spPr>
          <a:xfrm>
            <a:off x="2160700" y="3683118"/>
            <a:ext cx="301500" cy="342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2462325" y="3683125"/>
            <a:ext cx="2289300" cy="3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0111111111111101000011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4751625" y="3683075"/>
            <a:ext cx="2442900" cy="342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110101000110110001101000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3" name="Google Shape;763;p49"/>
          <p:cNvCxnSpPr/>
          <p:nvPr/>
        </p:nvCxnSpPr>
        <p:spPr>
          <a:xfrm flipH="1" rot="10800000">
            <a:off x="1547450" y="3843200"/>
            <a:ext cx="573000" cy="3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4" name="Google Shape;764;p49"/>
          <p:cNvSpPr txBox="1"/>
          <p:nvPr/>
        </p:nvSpPr>
        <p:spPr>
          <a:xfrm>
            <a:off x="458099" y="4240925"/>
            <a:ext cx="1443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this bit is 1, it's a group address.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49"/>
          <p:cNvSpPr txBox="1"/>
          <p:nvPr/>
        </p:nvSpPr>
        <p:spPr>
          <a:xfrm>
            <a:off x="7157950" y="4715300"/>
            <a:ext cx="185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Beware of endianness.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Types of LAN Communication (3/3) – Multicast</a:t>
            </a:r>
            <a:endParaRPr/>
          </a:p>
        </p:txBody>
      </p:sp>
      <p:sp>
        <p:nvSpPr>
          <p:cNvPr id="771" name="Google Shape;771;p5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of using multicast: Bonjour/mDNS.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Invented by Apple.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Apple products join a multicast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Apple devices can multicast to the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iPhone says: "Hey, local Apple products, can anyone play music?"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Apple TV says: "Hey, local Apple products, I'm an Apple TV."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Actually uses DNS advertisements that are sent to multicast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Uses specific DNS record types (e.g. SRV) to advertise capabilities.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Packet Structure</a:t>
            </a:r>
            <a:endParaRPr/>
          </a:p>
        </p:txBody>
      </p:sp>
      <p:sp>
        <p:nvSpPr>
          <p:cNvPr id="777" name="Google Shape;777;p51"/>
          <p:cNvSpPr txBox="1"/>
          <p:nvPr>
            <p:ph idx="1" type="body"/>
          </p:nvPr>
        </p:nvSpPr>
        <p:spPr>
          <a:xfrm>
            <a:off x="107050" y="402200"/>
            <a:ext cx="8909700" cy="15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data packet in Ethernet is often called a </a:t>
            </a:r>
            <a:r>
              <a:rPr i="1" lang="en"/>
              <a:t>frame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fields (destination, source, type, checksum) similar to IP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additional fields to separate packets on the wire.</a:t>
            </a:r>
            <a:endParaRPr/>
          </a:p>
        </p:txBody>
      </p:sp>
      <p:sp>
        <p:nvSpPr>
          <p:cNvPr id="778" name="Google Shape;778;p51"/>
          <p:cNvSpPr/>
          <p:nvPr/>
        </p:nvSpPr>
        <p:spPr>
          <a:xfrm>
            <a:off x="428800" y="3654906"/>
            <a:ext cx="1276200" cy="641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Preamble (7)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51"/>
          <p:cNvSpPr/>
          <p:nvPr/>
        </p:nvSpPr>
        <p:spPr>
          <a:xfrm>
            <a:off x="1705000" y="3654906"/>
            <a:ext cx="411000" cy="641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SFD 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51"/>
          <p:cNvSpPr/>
          <p:nvPr/>
        </p:nvSpPr>
        <p:spPr>
          <a:xfrm>
            <a:off x="2115800" y="3654906"/>
            <a:ext cx="1093800" cy="6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MAC 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3209600" y="3654825"/>
            <a:ext cx="1093800" cy="6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MAC 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4303400" y="3654906"/>
            <a:ext cx="517200" cy="641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Type (2)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51"/>
          <p:cNvSpPr/>
          <p:nvPr/>
        </p:nvSpPr>
        <p:spPr>
          <a:xfrm>
            <a:off x="4820400" y="3654900"/>
            <a:ext cx="957600" cy="641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51"/>
          <p:cNvSpPr/>
          <p:nvPr/>
        </p:nvSpPr>
        <p:spPr>
          <a:xfrm>
            <a:off x="5778100" y="3654825"/>
            <a:ext cx="729300" cy="641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FCS (4)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51"/>
          <p:cNvSpPr/>
          <p:nvPr/>
        </p:nvSpPr>
        <p:spPr>
          <a:xfrm>
            <a:off x="6507400" y="3654906"/>
            <a:ext cx="2187600" cy="641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IPG (12)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51"/>
          <p:cNvCxnSpPr>
            <a:stCxn id="787" idx="2"/>
            <a:endCxn id="788" idx="0"/>
          </p:cNvCxnSpPr>
          <p:nvPr/>
        </p:nvCxnSpPr>
        <p:spPr>
          <a:xfrm>
            <a:off x="1272400" y="3249800"/>
            <a:ext cx="0" cy="405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7" name="Google Shape;787;p51"/>
          <p:cNvSpPr txBox="1"/>
          <p:nvPr/>
        </p:nvSpPr>
        <p:spPr>
          <a:xfrm>
            <a:off x="483550" y="2763500"/>
            <a:ext cx="1577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Signal start of new packet on wire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9" name="Google Shape;789;p51"/>
          <p:cNvCxnSpPr>
            <a:stCxn id="790" idx="0"/>
            <a:endCxn id="780" idx="2"/>
          </p:cNvCxnSpPr>
          <p:nvPr/>
        </p:nvCxnSpPr>
        <p:spPr>
          <a:xfrm rot="10800000">
            <a:off x="2662700" y="4296200"/>
            <a:ext cx="0" cy="359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0" name="Google Shape;790;p51"/>
          <p:cNvSpPr txBox="1"/>
          <p:nvPr/>
        </p:nvSpPr>
        <p:spPr>
          <a:xfrm>
            <a:off x="2135300" y="4655300"/>
            <a:ext cx="105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Destination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51"/>
          <p:cNvSpPr txBox="1"/>
          <p:nvPr/>
        </p:nvSpPr>
        <p:spPr>
          <a:xfrm>
            <a:off x="3500000" y="2763500"/>
            <a:ext cx="212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Demultiplex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(is payload IPv4 or IPv6?)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2" name="Google Shape;792;p51"/>
          <p:cNvCxnSpPr>
            <a:stCxn id="793" idx="0"/>
            <a:endCxn id="781" idx="2"/>
          </p:cNvCxnSpPr>
          <p:nvPr/>
        </p:nvCxnSpPr>
        <p:spPr>
          <a:xfrm rot="10800000">
            <a:off x="3756500" y="4296200"/>
            <a:ext cx="0" cy="359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p51"/>
          <p:cNvSpPr txBox="1"/>
          <p:nvPr/>
        </p:nvSpPr>
        <p:spPr>
          <a:xfrm>
            <a:off x="3229100" y="4655300"/>
            <a:ext cx="105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4" name="Google Shape;794;p51"/>
          <p:cNvCxnSpPr>
            <a:stCxn id="791" idx="2"/>
            <a:endCxn id="782" idx="0"/>
          </p:cNvCxnSpPr>
          <p:nvPr/>
        </p:nvCxnSpPr>
        <p:spPr>
          <a:xfrm>
            <a:off x="4562000" y="3249800"/>
            <a:ext cx="0" cy="405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51"/>
          <p:cNvCxnSpPr>
            <a:stCxn id="796" idx="2"/>
            <a:endCxn id="785" idx="0"/>
          </p:cNvCxnSpPr>
          <p:nvPr/>
        </p:nvCxnSpPr>
        <p:spPr>
          <a:xfrm>
            <a:off x="7601200" y="3249800"/>
            <a:ext cx="0" cy="405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51"/>
          <p:cNvSpPr txBox="1"/>
          <p:nvPr/>
        </p:nvSpPr>
        <p:spPr>
          <a:xfrm>
            <a:off x="6963100" y="2763500"/>
            <a:ext cx="1276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Signal end of packet on wire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51"/>
          <p:cNvCxnSpPr>
            <a:stCxn id="798" idx="0"/>
          </p:cNvCxnSpPr>
          <p:nvPr/>
        </p:nvCxnSpPr>
        <p:spPr>
          <a:xfrm rot="10800000">
            <a:off x="6142750" y="4296200"/>
            <a:ext cx="0" cy="3591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51"/>
          <p:cNvSpPr txBox="1"/>
          <p:nvPr/>
        </p:nvSpPr>
        <p:spPr>
          <a:xfrm>
            <a:off x="5615350" y="4655300"/>
            <a:ext cx="105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Checksum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04" name="Google Shape;804;p5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Networks</a:t>
            </a:r>
            <a:endParaRPr/>
          </a:p>
        </p:txBody>
      </p:sp>
      <p:sp>
        <p:nvSpPr>
          <p:cNvPr id="805" name="Google Shape;805;p5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Networks</a:t>
            </a:r>
            <a:endParaRPr/>
          </a:p>
        </p:txBody>
      </p:sp>
      <p:sp>
        <p:nvSpPr>
          <p:cNvPr id="811" name="Google Shape;811;p53"/>
          <p:cNvSpPr txBox="1"/>
          <p:nvPr>
            <p:ph idx="1" type="body"/>
          </p:nvPr>
        </p:nvSpPr>
        <p:spPr>
          <a:xfrm>
            <a:off x="107050" y="402200"/>
            <a:ext cx="89097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use more than one wire in a local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Switches</a:t>
            </a:r>
            <a:r>
              <a:rPr lang="en"/>
              <a:t> need to forward packets toward their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switch receives a broadcast packet: Send it to every neighbor.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is more complicated. Need to know who's in the group.</a:t>
            </a:r>
            <a:endParaRPr/>
          </a:p>
        </p:txBody>
      </p:sp>
      <p:sp>
        <p:nvSpPr>
          <p:cNvPr id="812" name="Google Shape;812;p53"/>
          <p:cNvSpPr/>
          <p:nvPr/>
        </p:nvSpPr>
        <p:spPr>
          <a:xfrm>
            <a:off x="44295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3"/>
          <p:cNvSpPr/>
          <p:nvPr/>
        </p:nvSpPr>
        <p:spPr>
          <a:xfrm>
            <a:off x="35913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3"/>
          <p:cNvCxnSpPr>
            <a:stCxn id="813" idx="3"/>
            <a:endCxn id="812" idx="1"/>
          </p:cNvCxnSpPr>
          <p:nvPr/>
        </p:nvCxnSpPr>
        <p:spPr>
          <a:xfrm>
            <a:off x="3876300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53"/>
          <p:cNvSpPr/>
          <p:nvPr/>
        </p:nvSpPr>
        <p:spPr>
          <a:xfrm>
            <a:off x="2753088" y="4054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3"/>
          <p:cNvCxnSpPr>
            <a:stCxn id="815" idx="6"/>
            <a:endCxn id="813" idx="1"/>
          </p:cNvCxnSpPr>
          <p:nvPr/>
        </p:nvCxnSpPr>
        <p:spPr>
          <a:xfrm>
            <a:off x="3038088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3"/>
          <p:cNvSpPr/>
          <p:nvPr/>
        </p:nvSpPr>
        <p:spPr>
          <a:xfrm>
            <a:off x="5267700" y="3673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53"/>
          <p:cNvSpPr/>
          <p:nvPr/>
        </p:nvSpPr>
        <p:spPr>
          <a:xfrm>
            <a:off x="5267700" y="4435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9" name="Google Shape;819;p53"/>
          <p:cNvCxnSpPr>
            <a:stCxn id="812" idx="3"/>
            <a:endCxn id="817" idx="1"/>
          </p:cNvCxnSpPr>
          <p:nvPr/>
        </p:nvCxnSpPr>
        <p:spPr>
          <a:xfrm flipH="1" rot="10800000">
            <a:off x="4714500" y="3816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53"/>
          <p:cNvCxnSpPr>
            <a:stCxn id="812" idx="3"/>
            <a:endCxn id="818" idx="1"/>
          </p:cNvCxnSpPr>
          <p:nvPr/>
        </p:nvCxnSpPr>
        <p:spPr>
          <a:xfrm>
            <a:off x="4714500" y="4197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53"/>
          <p:cNvSpPr/>
          <p:nvPr/>
        </p:nvSpPr>
        <p:spPr>
          <a:xfrm>
            <a:off x="6105888" y="344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53"/>
          <p:cNvSpPr/>
          <p:nvPr/>
        </p:nvSpPr>
        <p:spPr>
          <a:xfrm>
            <a:off x="6105888" y="3899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3" name="Google Shape;823;p53"/>
          <p:cNvCxnSpPr>
            <a:stCxn id="817" idx="3"/>
            <a:endCxn id="821" idx="2"/>
          </p:cNvCxnSpPr>
          <p:nvPr/>
        </p:nvCxnSpPr>
        <p:spPr>
          <a:xfrm flipH="1" rot="10800000">
            <a:off x="5552700" y="3584875"/>
            <a:ext cx="553200" cy="23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3"/>
          <p:cNvCxnSpPr>
            <a:stCxn id="817" idx="3"/>
            <a:endCxn id="822" idx="2"/>
          </p:cNvCxnSpPr>
          <p:nvPr/>
        </p:nvCxnSpPr>
        <p:spPr>
          <a:xfrm>
            <a:off x="5552700" y="3816175"/>
            <a:ext cx="553200" cy="225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3"/>
          <p:cNvSpPr/>
          <p:nvPr/>
        </p:nvSpPr>
        <p:spPr>
          <a:xfrm>
            <a:off x="6105888" y="4432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53"/>
          <p:cNvCxnSpPr>
            <a:stCxn id="818" idx="3"/>
            <a:endCxn id="825" idx="2"/>
          </p:cNvCxnSpPr>
          <p:nvPr/>
        </p:nvCxnSpPr>
        <p:spPr>
          <a:xfrm flipH="1" rot="10800000">
            <a:off x="5552700" y="4575475"/>
            <a:ext cx="5532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Networks</a:t>
            </a:r>
            <a:endParaRPr/>
          </a:p>
        </p:txBody>
      </p:sp>
      <p:sp>
        <p:nvSpPr>
          <p:cNvPr id="832" name="Google Shape;832;p54"/>
          <p:cNvSpPr txBox="1"/>
          <p:nvPr>
            <p:ph idx="1" type="body"/>
          </p:nvPr>
        </p:nvSpPr>
        <p:spPr>
          <a:xfrm>
            <a:off x="107050" y="402200"/>
            <a:ext cx="89097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protocols from Layer 3 can also be used at Layer 2.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Destinations are MAC addresses, instead of IP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MAC addresses can't be aggregated.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Allocated by manufacturer, not geographically.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why Layer 2 can't scale to the Internet.</a:t>
            </a:r>
            <a:endParaRPr/>
          </a:p>
        </p:txBody>
      </p:sp>
      <p:sp>
        <p:nvSpPr>
          <p:cNvPr id="833" name="Google Shape;833;p54"/>
          <p:cNvSpPr/>
          <p:nvPr/>
        </p:nvSpPr>
        <p:spPr>
          <a:xfrm>
            <a:off x="44295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54"/>
          <p:cNvSpPr/>
          <p:nvPr/>
        </p:nvSpPr>
        <p:spPr>
          <a:xfrm>
            <a:off x="35913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5" name="Google Shape;835;p54"/>
          <p:cNvCxnSpPr>
            <a:stCxn id="834" idx="3"/>
            <a:endCxn id="833" idx="1"/>
          </p:cNvCxnSpPr>
          <p:nvPr/>
        </p:nvCxnSpPr>
        <p:spPr>
          <a:xfrm>
            <a:off x="3876300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54"/>
          <p:cNvSpPr/>
          <p:nvPr/>
        </p:nvSpPr>
        <p:spPr>
          <a:xfrm>
            <a:off x="2753088" y="4054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7" name="Google Shape;837;p54"/>
          <p:cNvCxnSpPr>
            <a:stCxn id="836" idx="6"/>
            <a:endCxn id="834" idx="1"/>
          </p:cNvCxnSpPr>
          <p:nvPr/>
        </p:nvCxnSpPr>
        <p:spPr>
          <a:xfrm>
            <a:off x="3038088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54"/>
          <p:cNvSpPr/>
          <p:nvPr/>
        </p:nvSpPr>
        <p:spPr>
          <a:xfrm>
            <a:off x="5267700" y="3673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54"/>
          <p:cNvSpPr/>
          <p:nvPr/>
        </p:nvSpPr>
        <p:spPr>
          <a:xfrm>
            <a:off x="5267700" y="4435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0" name="Google Shape;840;p54"/>
          <p:cNvCxnSpPr>
            <a:stCxn id="833" idx="3"/>
            <a:endCxn id="838" idx="1"/>
          </p:cNvCxnSpPr>
          <p:nvPr/>
        </p:nvCxnSpPr>
        <p:spPr>
          <a:xfrm flipH="1" rot="10800000">
            <a:off x="4714500" y="3816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4"/>
          <p:cNvCxnSpPr>
            <a:stCxn id="833" idx="3"/>
            <a:endCxn id="839" idx="1"/>
          </p:cNvCxnSpPr>
          <p:nvPr/>
        </p:nvCxnSpPr>
        <p:spPr>
          <a:xfrm>
            <a:off x="4714500" y="4197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54"/>
          <p:cNvSpPr/>
          <p:nvPr/>
        </p:nvSpPr>
        <p:spPr>
          <a:xfrm>
            <a:off x="6105888" y="344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54"/>
          <p:cNvSpPr/>
          <p:nvPr/>
        </p:nvSpPr>
        <p:spPr>
          <a:xfrm>
            <a:off x="6105888" y="3899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54"/>
          <p:cNvCxnSpPr>
            <a:stCxn id="838" idx="3"/>
            <a:endCxn id="842" idx="2"/>
          </p:cNvCxnSpPr>
          <p:nvPr/>
        </p:nvCxnSpPr>
        <p:spPr>
          <a:xfrm flipH="1" rot="10800000">
            <a:off x="5552700" y="3584875"/>
            <a:ext cx="553200" cy="23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54"/>
          <p:cNvCxnSpPr>
            <a:stCxn id="838" idx="3"/>
            <a:endCxn id="843" idx="2"/>
          </p:cNvCxnSpPr>
          <p:nvPr/>
        </p:nvCxnSpPr>
        <p:spPr>
          <a:xfrm>
            <a:off x="5552700" y="3816175"/>
            <a:ext cx="553200" cy="225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54"/>
          <p:cNvSpPr/>
          <p:nvPr/>
        </p:nvSpPr>
        <p:spPr>
          <a:xfrm>
            <a:off x="6105888" y="4432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7" name="Google Shape;847;p54"/>
          <p:cNvCxnSpPr>
            <a:stCxn id="839" idx="3"/>
            <a:endCxn id="846" idx="2"/>
          </p:cNvCxnSpPr>
          <p:nvPr/>
        </p:nvCxnSpPr>
        <p:spPr>
          <a:xfrm flipH="1" rot="10800000">
            <a:off x="5552700" y="4575475"/>
            <a:ext cx="5532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48" name="Google Shape;848;p54"/>
          <p:cNvGraphicFramePr/>
          <p:nvPr/>
        </p:nvGraphicFramePr>
        <p:xfrm>
          <a:off x="311207" y="347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987600"/>
                <a:gridCol w="901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54" name="Google Shape;854;p5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855" name="Google Shape;855;p5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Naive Approach: Flooding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6"/>
          <p:cNvSpPr txBox="1"/>
          <p:nvPr>
            <p:ph idx="1" type="body"/>
          </p:nvPr>
        </p:nvSpPr>
        <p:spPr>
          <a:xfrm>
            <a:off x="107050" y="402200"/>
            <a:ext cx="8909700" cy="25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send it out of all ports, except the incoming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this work?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Yes. The packet will reach everyone, including the destination.</a:t>
            </a:r>
            <a:endParaRPr sz="1200"/>
          </a:p>
        </p:txBody>
      </p:sp>
      <p:sp>
        <p:nvSpPr>
          <p:cNvPr id="861" name="Google Shape;861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62" name="Google Shape;862;p56"/>
          <p:cNvSpPr/>
          <p:nvPr/>
        </p:nvSpPr>
        <p:spPr>
          <a:xfrm>
            <a:off x="4994100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3" name="Google Shape;863;p56"/>
          <p:cNvCxnSpPr>
            <a:endCxn id="862" idx="1"/>
          </p:cNvCxnSpPr>
          <p:nvPr/>
        </p:nvCxnSpPr>
        <p:spPr>
          <a:xfrm>
            <a:off x="2885100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4" name="Google Shape;864;p56"/>
          <p:cNvSpPr/>
          <p:nvPr/>
        </p:nvSpPr>
        <p:spPr>
          <a:xfrm>
            <a:off x="3497450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5" name="Google Shape;865;p56"/>
          <p:cNvCxnSpPr/>
          <p:nvPr/>
        </p:nvCxnSpPr>
        <p:spPr>
          <a:xfrm rot="10800000">
            <a:off x="3451545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66" name="Google Shape;866;p56"/>
          <p:cNvCxnSpPr/>
          <p:nvPr/>
        </p:nvCxnSpPr>
        <p:spPr>
          <a:xfrm flipH="1">
            <a:off x="5375200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67" name="Google Shape;867;p56"/>
          <p:cNvCxnSpPr>
            <a:stCxn id="862" idx="3"/>
          </p:cNvCxnSpPr>
          <p:nvPr/>
        </p:nvCxnSpPr>
        <p:spPr>
          <a:xfrm flipH="1" rot="10800000">
            <a:off x="5298900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56"/>
          <p:cNvCxnSpPr>
            <a:stCxn id="862" idx="3"/>
          </p:cNvCxnSpPr>
          <p:nvPr/>
        </p:nvCxnSpPr>
        <p:spPr>
          <a:xfrm flipH="1" rot="10800000">
            <a:off x="5298900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56"/>
          <p:cNvCxnSpPr>
            <a:stCxn id="862" idx="3"/>
          </p:cNvCxnSpPr>
          <p:nvPr/>
        </p:nvCxnSpPr>
        <p:spPr>
          <a:xfrm>
            <a:off x="5298900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56"/>
          <p:cNvCxnSpPr>
            <a:stCxn id="862" idx="3"/>
          </p:cNvCxnSpPr>
          <p:nvPr/>
        </p:nvCxnSpPr>
        <p:spPr>
          <a:xfrm>
            <a:off x="5298900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56"/>
          <p:cNvCxnSpPr/>
          <p:nvPr/>
        </p:nvCxnSpPr>
        <p:spPr>
          <a:xfrm rot="10800000">
            <a:off x="5375100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2" name="Google Shape;872;p56"/>
          <p:cNvCxnSpPr/>
          <p:nvPr/>
        </p:nvCxnSpPr>
        <p:spPr>
          <a:xfrm flipH="1">
            <a:off x="5527600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3" name="Google Shape;873;p56"/>
          <p:cNvCxnSpPr/>
          <p:nvPr/>
        </p:nvCxnSpPr>
        <p:spPr>
          <a:xfrm rot="10800000">
            <a:off x="5527600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4" name="Google Shape;874;p56"/>
          <p:cNvSpPr txBox="1"/>
          <p:nvPr/>
        </p:nvSpPr>
        <p:spPr>
          <a:xfrm>
            <a:off x="2928350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5" name="Google Shape;875;p56"/>
          <p:cNvCxnSpPr/>
          <p:nvPr/>
        </p:nvCxnSpPr>
        <p:spPr>
          <a:xfrm rot="10800000">
            <a:off x="3451545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56"/>
          <p:cNvSpPr txBox="1"/>
          <p:nvPr/>
        </p:nvSpPr>
        <p:spPr>
          <a:xfrm>
            <a:off x="3715250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7"/>
          <p:cNvSpPr txBox="1"/>
          <p:nvPr>
            <p:ph idx="1" type="body"/>
          </p:nvPr>
        </p:nvSpPr>
        <p:spPr>
          <a:xfrm>
            <a:off x="107050" y="402200"/>
            <a:ext cx="89097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to other hosts (not the destination).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Use learning switches to build forwarding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Loops create broadcast storms.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Use STP to remove loops.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a good Layer 2 routing protocol.</a:t>
            </a:r>
            <a:endParaRPr/>
          </a:p>
        </p:txBody>
      </p:sp>
      <p:sp>
        <p:nvSpPr>
          <p:cNvPr id="882" name="Google Shape;882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83" name="Google Shape;883;p57"/>
          <p:cNvSpPr/>
          <p:nvPr/>
        </p:nvSpPr>
        <p:spPr>
          <a:xfrm>
            <a:off x="4994075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4" name="Google Shape;884;p57"/>
          <p:cNvCxnSpPr>
            <a:endCxn id="883" idx="1"/>
          </p:cNvCxnSpPr>
          <p:nvPr/>
        </p:nvCxnSpPr>
        <p:spPr>
          <a:xfrm>
            <a:off x="2885075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57"/>
          <p:cNvSpPr/>
          <p:nvPr/>
        </p:nvSpPr>
        <p:spPr>
          <a:xfrm>
            <a:off x="3497425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6" name="Google Shape;886;p57"/>
          <p:cNvCxnSpPr/>
          <p:nvPr/>
        </p:nvCxnSpPr>
        <p:spPr>
          <a:xfrm rot="10800000">
            <a:off x="3451520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7" name="Google Shape;887;p57"/>
          <p:cNvCxnSpPr/>
          <p:nvPr/>
        </p:nvCxnSpPr>
        <p:spPr>
          <a:xfrm flipH="1">
            <a:off x="5375175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8" name="Google Shape;888;p57"/>
          <p:cNvCxnSpPr>
            <a:stCxn id="883" idx="3"/>
          </p:cNvCxnSpPr>
          <p:nvPr/>
        </p:nvCxnSpPr>
        <p:spPr>
          <a:xfrm flipH="1" rot="10800000">
            <a:off x="5298875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7"/>
          <p:cNvCxnSpPr>
            <a:stCxn id="883" idx="3"/>
          </p:cNvCxnSpPr>
          <p:nvPr/>
        </p:nvCxnSpPr>
        <p:spPr>
          <a:xfrm flipH="1" rot="10800000">
            <a:off x="5298875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57"/>
          <p:cNvCxnSpPr>
            <a:stCxn id="883" idx="3"/>
          </p:cNvCxnSpPr>
          <p:nvPr/>
        </p:nvCxnSpPr>
        <p:spPr>
          <a:xfrm>
            <a:off x="5298875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7"/>
          <p:cNvCxnSpPr>
            <a:stCxn id="883" idx="3"/>
          </p:cNvCxnSpPr>
          <p:nvPr/>
        </p:nvCxnSpPr>
        <p:spPr>
          <a:xfrm>
            <a:off x="5298875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57"/>
          <p:cNvCxnSpPr/>
          <p:nvPr/>
        </p:nvCxnSpPr>
        <p:spPr>
          <a:xfrm rot="10800000">
            <a:off x="5375075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3" name="Google Shape;893;p57"/>
          <p:cNvCxnSpPr/>
          <p:nvPr/>
        </p:nvCxnSpPr>
        <p:spPr>
          <a:xfrm flipH="1">
            <a:off x="5527575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4" name="Google Shape;894;p57"/>
          <p:cNvCxnSpPr/>
          <p:nvPr/>
        </p:nvCxnSpPr>
        <p:spPr>
          <a:xfrm rot="10800000">
            <a:off x="5527575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5" name="Google Shape;895;p57"/>
          <p:cNvSpPr txBox="1"/>
          <p:nvPr/>
        </p:nvSpPr>
        <p:spPr>
          <a:xfrm>
            <a:off x="2928325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6" name="Google Shape;896;p57"/>
          <p:cNvCxnSpPr/>
          <p:nvPr/>
        </p:nvCxnSpPr>
        <p:spPr>
          <a:xfrm rot="10800000">
            <a:off x="3451520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57"/>
          <p:cNvSpPr txBox="1"/>
          <p:nvPr/>
        </p:nvSpPr>
        <p:spPr>
          <a:xfrm>
            <a:off x="3715225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Learning Switches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3" name="Google Shape;903;p5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</a:t>
            </a:r>
            <a:endParaRPr/>
          </a:p>
        </p:txBody>
      </p:sp>
      <p:sp>
        <p:nvSpPr>
          <p:cNvPr id="904" name="Google Shape;904;p5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to other hosts (not the destination).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Use learning switches to build forwarding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Loops create broadcast storms.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Use STP to remove loops.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a good Layer 2 routing protocol.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Switches: Motivation</a:t>
            </a:r>
            <a:endParaRPr/>
          </a:p>
        </p:txBody>
      </p:sp>
      <p:sp>
        <p:nvSpPr>
          <p:cNvPr id="911" name="Google Shape;911;p59"/>
          <p:cNvSpPr/>
          <p:nvPr/>
        </p:nvSpPr>
        <p:spPr>
          <a:xfrm>
            <a:off x="173175" y="924225"/>
            <a:ext cx="6967200" cy="6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59"/>
          <p:cNvSpPr txBox="1"/>
          <p:nvPr/>
        </p:nvSpPr>
        <p:spPr>
          <a:xfrm>
            <a:off x="5256750" y="3249275"/>
            <a:ext cx="351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could run a routing protocol to fix this, but we'll instead use learning switches, which are simpler.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9"/>
          <p:cNvSpPr/>
          <p:nvPr/>
        </p:nvSpPr>
        <p:spPr>
          <a:xfrm>
            <a:off x="7140375" y="1242725"/>
            <a:ext cx="826425" cy="2006554"/>
          </a:xfrm>
          <a:custGeom>
            <a:rect b="b" l="l" r="r" t="t"/>
            <a:pathLst>
              <a:path extrusionOk="0" h="79562" w="33057">
                <a:moveTo>
                  <a:pt x="33057" y="79562"/>
                </a:moveTo>
                <a:lnTo>
                  <a:pt x="33057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8" name="Google Shape;918;p60"/>
          <p:cNvGraphicFramePr/>
          <p:nvPr/>
        </p:nvGraphicFramePr>
        <p:xfrm>
          <a:off x="4244682" y="43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9" name="Google Shape;919;p60"/>
          <p:cNvGraphicFramePr/>
          <p:nvPr/>
        </p:nvGraphicFramePr>
        <p:xfrm>
          <a:off x="4244682" y="43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920" name="Google Shape;920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Learning Switches: Routing Process</a:t>
            </a:r>
            <a:endParaRPr/>
          </a:p>
        </p:txBody>
      </p:sp>
      <p:sp>
        <p:nvSpPr>
          <p:cNvPr id="921" name="Google Shape;921;p60"/>
          <p:cNvSpPr txBox="1"/>
          <p:nvPr>
            <p:ph idx="1" type="body"/>
          </p:nvPr>
        </p:nvSpPr>
        <p:spPr>
          <a:xfrm>
            <a:off x="107050" y="402200"/>
            <a:ext cx="8909700" cy="22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When you receive a data packet, you get a clue about where the </a:t>
            </a:r>
            <a:r>
              <a:rPr b="1" lang="en"/>
              <a:t>sender</a:t>
            </a:r>
            <a:r>
              <a:rPr lang="en"/>
              <a:t> is.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from host A comes from the west...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...then host A must be to my west!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this idea to add a table entry for the </a:t>
            </a:r>
            <a:r>
              <a:rPr b="1" lang="en"/>
              <a:t>sender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more packets get sent, more table entries get added.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The packet only helps you learn about the sender, not the receiver.</a:t>
            </a:r>
            <a:endParaRPr/>
          </a:p>
        </p:txBody>
      </p:sp>
      <p:sp>
        <p:nvSpPr>
          <p:cNvPr id="922" name="Google Shape;922;p60"/>
          <p:cNvSpPr/>
          <p:nvPr/>
        </p:nvSpPr>
        <p:spPr>
          <a:xfrm>
            <a:off x="4692400" y="3638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3" name="Google Shape;923;p60"/>
          <p:cNvCxnSpPr>
            <a:stCxn id="924" idx="3"/>
            <a:endCxn id="922" idx="1"/>
          </p:cNvCxnSpPr>
          <p:nvPr/>
        </p:nvCxnSpPr>
        <p:spPr>
          <a:xfrm>
            <a:off x="3320800" y="37909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60"/>
          <p:cNvCxnSpPr>
            <a:stCxn id="922" idx="3"/>
            <a:endCxn id="926" idx="1"/>
          </p:cNvCxnSpPr>
          <p:nvPr/>
        </p:nvCxnSpPr>
        <p:spPr>
          <a:xfrm flipH="1" rot="10800000">
            <a:off x="4997200" y="3409900"/>
            <a:ext cx="1524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60"/>
          <p:cNvCxnSpPr>
            <a:stCxn id="922" idx="3"/>
            <a:endCxn id="928" idx="1"/>
          </p:cNvCxnSpPr>
          <p:nvPr/>
        </p:nvCxnSpPr>
        <p:spPr>
          <a:xfrm>
            <a:off x="4997200" y="3790900"/>
            <a:ext cx="1524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60"/>
          <p:cNvCxnSpPr/>
          <p:nvPr/>
        </p:nvCxnSpPr>
        <p:spPr>
          <a:xfrm>
            <a:off x="3397000" y="371470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60"/>
          <p:cNvSpPr/>
          <p:nvPr/>
        </p:nvSpPr>
        <p:spPr>
          <a:xfrm>
            <a:off x="3016000" y="3638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60"/>
          <p:cNvSpPr/>
          <p:nvPr/>
        </p:nvSpPr>
        <p:spPr>
          <a:xfrm>
            <a:off x="6521200" y="3257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60"/>
          <p:cNvSpPr/>
          <p:nvPr/>
        </p:nvSpPr>
        <p:spPr>
          <a:xfrm>
            <a:off x="6521200" y="401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0"/>
          <p:cNvSpPr/>
          <p:nvPr/>
        </p:nvSpPr>
        <p:spPr>
          <a:xfrm>
            <a:off x="2634100" y="40111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60"/>
          <p:cNvSpPr/>
          <p:nvPr/>
        </p:nvSpPr>
        <p:spPr>
          <a:xfrm>
            <a:off x="4310500" y="40111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60"/>
          <p:cNvSpPr/>
          <p:nvPr/>
        </p:nvSpPr>
        <p:spPr>
          <a:xfrm>
            <a:off x="293475" y="2856050"/>
            <a:ext cx="4018500" cy="593400"/>
          </a:xfrm>
          <a:prstGeom prst="wedgeRoundRectCallout">
            <a:avLst>
              <a:gd fmla="val 62910" name="adj1"/>
              <a:gd fmla="val 5953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packet from A came from R1 (to my west).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Therefore, A must be toward R1 (to my west).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7" name="Google Shape;937;p61"/>
          <p:cNvGraphicFramePr/>
          <p:nvPr/>
        </p:nvGraphicFramePr>
        <p:xfrm>
          <a:off x="1882482" y="3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8" name="Google Shape;938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Switches: Forwarding Process</a:t>
            </a:r>
            <a:endParaRPr/>
          </a:p>
        </p:txBody>
      </p:sp>
      <p:sp>
        <p:nvSpPr>
          <p:cNvPr id="939" name="Google Shape;939;p61"/>
          <p:cNvSpPr txBox="1"/>
          <p:nvPr>
            <p:ph idx="1" type="body"/>
          </p:nvPr>
        </p:nvSpPr>
        <p:spPr>
          <a:xfrm>
            <a:off x="107050" y="402200"/>
            <a:ext cx="8909700" cy="16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Forwarding is </a:t>
            </a:r>
            <a:r>
              <a:rPr b="1" lang="en"/>
              <a:t>destination-based</a:t>
            </a:r>
            <a:r>
              <a:rPr lang="en"/>
              <a:t>: Use the destination to decide the next-hop.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destination exists in the table: Forward to corresponding next-hop.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destination is not in the table: Flood out of all ports (except incoming port).</a:t>
            </a:r>
            <a:endParaRPr/>
          </a:p>
        </p:txBody>
      </p:sp>
      <p:sp>
        <p:nvSpPr>
          <p:cNvPr id="940" name="Google Shape;940;p61"/>
          <p:cNvSpPr/>
          <p:nvPr/>
        </p:nvSpPr>
        <p:spPr>
          <a:xfrm>
            <a:off x="23302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1" name="Google Shape;941;p61"/>
          <p:cNvCxnSpPr>
            <a:stCxn id="942" idx="3"/>
            <a:endCxn id="940" idx="1"/>
          </p:cNvCxnSpPr>
          <p:nvPr/>
        </p:nvCxnSpPr>
        <p:spPr>
          <a:xfrm>
            <a:off x="958600" y="28003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61"/>
          <p:cNvCxnSpPr>
            <a:stCxn id="940" idx="3"/>
            <a:endCxn id="944" idx="1"/>
          </p:cNvCxnSpPr>
          <p:nvPr/>
        </p:nvCxnSpPr>
        <p:spPr>
          <a:xfrm flipH="1" rot="10800000">
            <a:off x="2635000" y="23431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61"/>
          <p:cNvCxnSpPr>
            <a:stCxn id="940" idx="3"/>
            <a:endCxn id="946" idx="1"/>
          </p:cNvCxnSpPr>
          <p:nvPr/>
        </p:nvCxnSpPr>
        <p:spPr>
          <a:xfrm>
            <a:off x="2635000" y="28003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61"/>
          <p:cNvCxnSpPr/>
          <p:nvPr/>
        </p:nvCxnSpPr>
        <p:spPr>
          <a:xfrm>
            <a:off x="1034800" y="272410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" name="Google Shape;942;p61"/>
          <p:cNvSpPr/>
          <p:nvPr/>
        </p:nvSpPr>
        <p:spPr>
          <a:xfrm>
            <a:off x="6538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61"/>
          <p:cNvSpPr/>
          <p:nvPr/>
        </p:nvSpPr>
        <p:spPr>
          <a:xfrm>
            <a:off x="3625600" y="219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61"/>
          <p:cNvSpPr/>
          <p:nvPr/>
        </p:nvSpPr>
        <p:spPr>
          <a:xfrm>
            <a:off x="3625600" y="310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1"/>
          <p:cNvSpPr/>
          <p:nvPr/>
        </p:nvSpPr>
        <p:spPr>
          <a:xfrm>
            <a:off x="19483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61"/>
          <p:cNvSpPr/>
          <p:nvPr/>
        </p:nvSpPr>
        <p:spPr>
          <a:xfrm>
            <a:off x="36256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61"/>
          <p:cNvCxnSpPr>
            <a:stCxn id="940" idx="3"/>
            <a:endCxn id="949" idx="1"/>
          </p:cNvCxnSpPr>
          <p:nvPr/>
        </p:nvCxnSpPr>
        <p:spPr>
          <a:xfrm>
            <a:off x="2635000" y="280030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61"/>
          <p:cNvSpPr/>
          <p:nvPr/>
        </p:nvSpPr>
        <p:spPr>
          <a:xfrm>
            <a:off x="2719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2" name="Google Shape;952;p61"/>
          <p:cNvCxnSpPr/>
          <p:nvPr/>
        </p:nvCxnSpPr>
        <p:spPr>
          <a:xfrm flipH="1" rot="10800000">
            <a:off x="2939800" y="2438250"/>
            <a:ext cx="289200" cy="13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61"/>
          <p:cNvCxnSpPr/>
          <p:nvPr/>
        </p:nvCxnSpPr>
        <p:spPr>
          <a:xfrm>
            <a:off x="2939800" y="27232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61"/>
          <p:cNvCxnSpPr/>
          <p:nvPr/>
        </p:nvCxnSpPr>
        <p:spPr>
          <a:xfrm>
            <a:off x="2939800" y="2876500"/>
            <a:ext cx="289200" cy="13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55" name="Google Shape;955;p61"/>
          <p:cNvGraphicFramePr/>
          <p:nvPr/>
        </p:nvGraphicFramePr>
        <p:xfrm>
          <a:off x="6606882" y="3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6" name="Google Shape;956;p61"/>
          <p:cNvSpPr/>
          <p:nvPr/>
        </p:nvSpPr>
        <p:spPr>
          <a:xfrm>
            <a:off x="70546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61"/>
          <p:cNvCxnSpPr>
            <a:stCxn id="958" idx="3"/>
            <a:endCxn id="956" idx="1"/>
          </p:cNvCxnSpPr>
          <p:nvPr/>
        </p:nvCxnSpPr>
        <p:spPr>
          <a:xfrm>
            <a:off x="5683000" y="28003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61"/>
          <p:cNvCxnSpPr>
            <a:stCxn id="956" idx="3"/>
            <a:endCxn id="960" idx="1"/>
          </p:cNvCxnSpPr>
          <p:nvPr/>
        </p:nvCxnSpPr>
        <p:spPr>
          <a:xfrm flipH="1" rot="10800000">
            <a:off x="7359400" y="23431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1"/>
          <p:cNvCxnSpPr>
            <a:stCxn id="956" idx="3"/>
            <a:endCxn id="962" idx="1"/>
          </p:cNvCxnSpPr>
          <p:nvPr/>
        </p:nvCxnSpPr>
        <p:spPr>
          <a:xfrm>
            <a:off x="7359400" y="28003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1"/>
          <p:cNvCxnSpPr/>
          <p:nvPr/>
        </p:nvCxnSpPr>
        <p:spPr>
          <a:xfrm>
            <a:off x="5759200" y="272410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61"/>
          <p:cNvSpPr/>
          <p:nvPr/>
        </p:nvSpPr>
        <p:spPr>
          <a:xfrm>
            <a:off x="53782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61"/>
          <p:cNvSpPr/>
          <p:nvPr/>
        </p:nvSpPr>
        <p:spPr>
          <a:xfrm>
            <a:off x="8350000" y="219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61"/>
          <p:cNvSpPr/>
          <p:nvPr/>
        </p:nvSpPr>
        <p:spPr>
          <a:xfrm>
            <a:off x="8350000" y="310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1"/>
          <p:cNvSpPr/>
          <p:nvPr/>
        </p:nvSpPr>
        <p:spPr>
          <a:xfrm>
            <a:off x="66727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61"/>
          <p:cNvSpPr/>
          <p:nvPr/>
        </p:nvSpPr>
        <p:spPr>
          <a:xfrm>
            <a:off x="83500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6" name="Google Shape;966;p61"/>
          <p:cNvCxnSpPr>
            <a:stCxn id="956" idx="3"/>
            <a:endCxn id="965" idx="1"/>
          </p:cNvCxnSpPr>
          <p:nvPr/>
        </p:nvCxnSpPr>
        <p:spPr>
          <a:xfrm>
            <a:off x="7359400" y="280030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61"/>
          <p:cNvSpPr/>
          <p:nvPr/>
        </p:nvSpPr>
        <p:spPr>
          <a:xfrm>
            <a:off x="49963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8" name="Google Shape;968;p61"/>
          <p:cNvCxnSpPr/>
          <p:nvPr/>
        </p:nvCxnSpPr>
        <p:spPr>
          <a:xfrm flipH="1" rot="10800000">
            <a:off x="7664200" y="2438250"/>
            <a:ext cx="289200" cy="13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9" name="Google Shape;969;p61"/>
          <p:cNvSpPr txBox="1"/>
          <p:nvPr/>
        </p:nvSpPr>
        <p:spPr>
          <a:xfrm>
            <a:off x="413800" y="4171900"/>
            <a:ext cx="35166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1: No entry for B (destination) in table.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Flood the packet to all ports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(except incoming port).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1"/>
          <p:cNvSpPr txBox="1"/>
          <p:nvPr/>
        </p:nvSpPr>
        <p:spPr>
          <a:xfrm>
            <a:off x="5138200" y="4171900"/>
            <a:ext cx="35166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2: Entry for B (destination) is in table.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table entry to forward to next-hop.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2"/>
          <p:cNvSpPr/>
          <p:nvPr/>
        </p:nvSpPr>
        <p:spPr>
          <a:xfrm>
            <a:off x="1295400" y="3071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Learning Switches: Example</a:t>
            </a:r>
            <a:endParaRPr/>
          </a:p>
        </p:txBody>
      </p:sp>
      <p:sp>
        <p:nvSpPr>
          <p:cNvPr id="977" name="Google Shape;977;p62"/>
          <p:cNvSpPr txBox="1"/>
          <p:nvPr>
            <p:ph idx="1" type="body"/>
          </p:nvPr>
        </p:nvSpPr>
        <p:spPr>
          <a:xfrm>
            <a:off x="107050" y="402200"/>
            <a:ext cx="8909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tables start empty. Nobody has an entry for B, so the packet gets flooded.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Along the way, everyone gets a clue about A's location, and adds a table entry for A.</a:t>
            </a:r>
            <a:endParaRPr/>
          </a:p>
        </p:txBody>
      </p:sp>
      <p:sp>
        <p:nvSpPr>
          <p:cNvPr id="978" name="Google Shape;978;p62"/>
          <p:cNvSpPr/>
          <p:nvPr/>
        </p:nvSpPr>
        <p:spPr>
          <a:xfrm>
            <a:off x="2590800" y="3071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62"/>
          <p:cNvSpPr/>
          <p:nvPr/>
        </p:nvSpPr>
        <p:spPr>
          <a:xfrm>
            <a:off x="44196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62"/>
          <p:cNvSpPr/>
          <p:nvPr/>
        </p:nvSpPr>
        <p:spPr>
          <a:xfrm>
            <a:off x="44196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62"/>
          <p:cNvSpPr/>
          <p:nvPr/>
        </p:nvSpPr>
        <p:spPr>
          <a:xfrm>
            <a:off x="62484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62"/>
          <p:cNvSpPr/>
          <p:nvPr/>
        </p:nvSpPr>
        <p:spPr>
          <a:xfrm>
            <a:off x="62484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3" name="Google Shape;983;p62"/>
          <p:cNvCxnSpPr>
            <a:stCxn id="975" idx="6"/>
            <a:endCxn id="978" idx="1"/>
          </p:cNvCxnSpPr>
          <p:nvPr/>
        </p:nvCxnSpPr>
        <p:spPr>
          <a:xfrm>
            <a:off x="1600200" y="32241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62"/>
          <p:cNvSpPr/>
          <p:nvPr/>
        </p:nvSpPr>
        <p:spPr>
          <a:xfrm>
            <a:off x="7543800" y="24621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62"/>
          <p:cNvSpPr/>
          <p:nvPr/>
        </p:nvSpPr>
        <p:spPr>
          <a:xfrm>
            <a:off x="7543800" y="3681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6" name="Google Shape;986;p62"/>
          <p:cNvCxnSpPr>
            <a:stCxn id="981" idx="3"/>
            <a:endCxn id="984" idx="2"/>
          </p:cNvCxnSpPr>
          <p:nvPr/>
        </p:nvCxnSpPr>
        <p:spPr>
          <a:xfrm>
            <a:off x="6553200" y="26145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62"/>
          <p:cNvCxnSpPr>
            <a:stCxn id="982" idx="3"/>
            <a:endCxn id="985" idx="2"/>
          </p:cNvCxnSpPr>
          <p:nvPr/>
        </p:nvCxnSpPr>
        <p:spPr>
          <a:xfrm>
            <a:off x="6553200" y="38337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62"/>
          <p:cNvCxnSpPr>
            <a:stCxn id="980" idx="3"/>
            <a:endCxn id="982" idx="1"/>
          </p:cNvCxnSpPr>
          <p:nvPr/>
        </p:nvCxnSpPr>
        <p:spPr>
          <a:xfrm>
            <a:off x="4724400" y="38337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62"/>
          <p:cNvCxnSpPr>
            <a:stCxn id="979" idx="3"/>
            <a:endCxn id="981" idx="1"/>
          </p:cNvCxnSpPr>
          <p:nvPr/>
        </p:nvCxnSpPr>
        <p:spPr>
          <a:xfrm>
            <a:off x="4724400" y="26145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62"/>
          <p:cNvCxnSpPr>
            <a:stCxn id="978" idx="3"/>
            <a:endCxn id="979" idx="1"/>
          </p:cNvCxnSpPr>
          <p:nvPr/>
        </p:nvCxnSpPr>
        <p:spPr>
          <a:xfrm flipH="1" rot="10800000">
            <a:off x="2895600" y="26145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62"/>
          <p:cNvCxnSpPr>
            <a:stCxn id="978" idx="3"/>
            <a:endCxn id="980" idx="1"/>
          </p:cNvCxnSpPr>
          <p:nvPr/>
        </p:nvCxnSpPr>
        <p:spPr>
          <a:xfrm>
            <a:off x="2895600" y="32241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92" name="Google Shape;992;p62"/>
          <p:cNvGraphicFramePr/>
          <p:nvPr/>
        </p:nvGraphicFramePr>
        <p:xfrm>
          <a:off x="39718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3" name="Google Shape;993;p62"/>
          <p:cNvGraphicFramePr/>
          <p:nvPr/>
        </p:nvGraphicFramePr>
        <p:xfrm>
          <a:off x="58006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" name="Google Shape;994;p62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5" name="Google Shape;995;p62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6" name="Google Shape;996;p62"/>
          <p:cNvSpPr/>
          <p:nvPr/>
        </p:nvSpPr>
        <p:spPr>
          <a:xfrm>
            <a:off x="9135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2"/>
          <p:cNvSpPr/>
          <p:nvPr/>
        </p:nvSpPr>
        <p:spPr>
          <a:xfrm>
            <a:off x="22089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62"/>
          <p:cNvSpPr/>
          <p:nvPr/>
        </p:nvSpPr>
        <p:spPr>
          <a:xfrm>
            <a:off x="40276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62"/>
          <p:cNvSpPr/>
          <p:nvPr/>
        </p:nvSpPr>
        <p:spPr>
          <a:xfrm>
            <a:off x="5866475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62"/>
          <p:cNvSpPr/>
          <p:nvPr/>
        </p:nvSpPr>
        <p:spPr>
          <a:xfrm>
            <a:off x="71619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62"/>
          <p:cNvSpPr/>
          <p:nvPr/>
        </p:nvSpPr>
        <p:spPr>
          <a:xfrm>
            <a:off x="4027600" y="33765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62"/>
          <p:cNvSpPr/>
          <p:nvPr/>
        </p:nvSpPr>
        <p:spPr>
          <a:xfrm>
            <a:off x="5866475" y="33765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62"/>
          <p:cNvSpPr/>
          <p:nvPr/>
        </p:nvSpPr>
        <p:spPr>
          <a:xfrm>
            <a:off x="7161900" y="33765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04" name="Google Shape;1004;p62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5" name="Google Shape;1005;p62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6" name="Google Shape;1006;p62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7" name="Google Shape;1007;p62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8" name="Google Shape;1008;p62"/>
          <p:cNvGraphicFramePr/>
          <p:nvPr/>
        </p:nvGraphicFramePr>
        <p:xfrm>
          <a:off x="39718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9" name="Google Shape;1009;p62"/>
          <p:cNvGraphicFramePr/>
          <p:nvPr/>
        </p:nvGraphicFramePr>
        <p:xfrm>
          <a:off x="58006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C9DAF8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10" name="Google Shape;1010;p62"/>
          <p:cNvCxnSpPr/>
          <p:nvPr/>
        </p:nvCxnSpPr>
        <p:spPr>
          <a:xfrm>
            <a:off x="1676400" y="31479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1" name="Google Shape;1011;p62"/>
          <p:cNvCxnSpPr/>
          <p:nvPr/>
        </p:nvCxnSpPr>
        <p:spPr>
          <a:xfrm>
            <a:off x="48006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2" name="Google Shape;1012;p62"/>
          <p:cNvCxnSpPr/>
          <p:nvPr/>
        </p:nvCxnSpPr>
        <p:spPr>
          <a:xfrm>
            <a:off x="4800600" y="37575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3" name="Google Shape;1013;p62"/>
          <p:cNvCxnSpPr/>
          <p:nvPr/>
        </p:nvCxnSpPr>
        <p:spPr>
          <a:xfrm>
            <a:off x="66294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62"/>
          <p:cNvCxnSpPr/>
          <p:nvPr/>
        </p:nvCxnSpPr>
        <p:spPr>
          <a:xfrm>
            <a:off x="6629400" y="37575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5" name="Google Shape;1015;p62"/>
          <p:cNvCxnSpPr/>
          <p:nvPr/>
        </p:nvCxnSpPr>
        <p:spPr>
          <a:xfrm flipH="1" rot="10800000">
            <a:off x="2971800" y="2974175"/>
            <a:ext cx="364800" cy="145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2"/>
          <p:cNvCxnSpPr/>
          <p:nvPr/>
        </p:nvCxnSpPr>
        <p:spPr>
          <a:xfrm>
            <a:off x="2971800" y="3328925"/>
            <a:ext cx="364800" cy="145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7" name="Google Shape;1017;p62"/>
          <p:cNvSpPr txBox="1"/>
          <p:nvPr/>
        </p:nvSpPr>
        <p:spPr>
          <a:xfrm>
            <a:off x="76200" y="4704000"/>
            <a:ext cx="2290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slide probably needs to be viewed with animation to make sense.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2" name="Google Shape;1022;p63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3" name="Google Shape;1023;p63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4" name="Google Shape;1024;p63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5" name="Google Shape;1025;p63"/>
          <p:cNvGraphicFramePr/>
          <p:nvPr/>
        </p:nvGraphicFramePr>
        <p:xfrm>
          <a:off x="39718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6" name="Google Shape;1026;p63"/>
          <p:cNvGraphicFramePr/>
          <p:nvPr/>
        </p:nvGraphicFramePr>
        <p:xfrm>
          <a:off x="58006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7" name="Google Shape;1027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Learning Switches: Example</a:t>
            </a:r>
            <a:endParaRPr/>
          </a:p>
        </p:txBody>
      </p:sp>
      <p:sp>
        <p:nvSpPr>
          <p:cNvPr id="1028" name="Google Shape;1028;p63"/>
          <p:cNvSpPr txBox="1"/>
          <p:nvPr>
            <p:ph idx="1" type="body"/>
          </p:nvPr>
        </p:nvSpPr>
        <p:spPr>
          <a:xfrm>
            <a:off x="107050" y="402200"/>
            <a:ext cx="8909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packet can get directly forwarded to A (no flooding) using the forwarding tables.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along the B-to-A path get a clue about B's location, and add a table entry for B.</a:t>
            </a:r>
            <a:endParaRPr/>
          </a:p>
        </p:txBody>
      </p:sp>
      <p:sp>
        <p:nvSpPr>
          <p:cNvPr id="1029" name="Google Shape;1029;p63"/>
          <p:cNvSpPr/>
          <p:nvPr/>
        </p:nvSpPr>
        <p:spPr>
          <a:xfrm>
            <a:off x="1295400" y="3071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3"/>
          <p:cNvSpPr/>
          <p:nvPr/>
        </p:nvSpPr>
        <p:spPr>
          <a:xfrm>
            <a:off x="2590800" y="3071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63"/>
          <p:cNvSpPr/>
          <p:nvPr/>
        </p:nvSpPr>
        <p:spPr>
          <a:xfrm>
            <a:off x="44196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63"/>
          <p:cNvSpPr/>
          <p:nvPr/>
        </p:nvSpPr>
        <p:spPr>
          <a:xfrm>
            <a:off x="44196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63"/>
          <p:cNvSpPr/>
          <p:nvPr/>
        </p:nvSpPr>
        <p:spPr>
          <a:xfrm>
            <a:off x="62484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63"/>
          <p:cNvSpPr/>
          <p:nvPr/>
        </p:nvSpPr>
        <p:spPr>
          <a:xfrm>
            <a:off x="62484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5" name="Google Shape;1035;p63"/>
          <p:cNvCxnSpPr>
            <a:stCxn id="1029" idx="6"/>
            <a:endCxn id="1030" idx="1"/>
          </p:cNvCxnSpPr>
          <p:nvPr/>
        </p:nvCxnSpPr>
        <p:spPr>
          <a:xfrm>
            <a:off x="1600200" y="32241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63"/>
          <p:cNvSpPr/>
          <p:nvPr/>
        </p:nvSpPr>
        <p:spPr>
          <a:xfrm>
            <a:off x="7543800" y="24621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63"/>
          <p:cNvSpPr/>
          <p:nvPr/>
        </p:nvSpPr>
        <p:spPr>
          <a:xfrm>
            <a:off x="7543800" y="3681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8" name="Google Shape;1038;p63"/>
          <p:cNvCxnSpPr>
            <a:stCxn id="1033" idx="3"/>
            <a:endCxn id="1036" idx="2"/>
          </p:cNvCxnSpPr>
          <p:nvPr/>
        </p:nvCxnSpPr>
        <p:spPr>
          <a:xfrm>
            <a:off x="6553200" y="26145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63"/>
          <p:cNvCxnSpPr>
            <a:stCxn id="1034" idx="3"/>
            <a:endCxn id="1037" idx="2"/>
          </p:cNvCxnSpPr>
          <p:nvPr/>
        </p:nvCxnSpPr>
        <p:spPr>
          <a:xfrm>
            <a:off x="6553200" y="38337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63"/>
          <p:cNvCxnSpPr>
            <a:stCxn id="1032" idx="3"/>
            <a:endCxn id="1034" idx="1"/>
          </p:cNvCxnSpPr>
          <p:nvPr/>
        </p:nvCxnSpPr>
        <p:spPr>
          <a:xfrm>
            <a:off x="4724400" y="38337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63"/>
          <p:cNvCxnSpPr>
            <a:stCxn id="1031" idx="3"/>
            <a:endCxn id="1033" idx="1"/>
          </p:cNvCxnSpPr>
          <p:nvPr/>
        </p:nvCxnSpPr>
        <p:spPr>
          <a:xfrm>
            <a:off x="4724400" y="26145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63"/>
          <p:cNvCxnSpPr>
            <a:stCxn id="1030" idx="3"/>
            <a:endCxn id="1031" idx="1"/>
          </p:cNvCxnSpPr>
          <p:nvPr/>
        </p:nvCxnSpPr>
        <p:spPr>
          <a:xfrm flipH="1" rot="10800000">
            <a:off x="2895600" y="26145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63"/>
          <p:cNvCxnSpPr>
            <a:stCxn id="1030" idx="3"/>
            <a:endCxn id="1032" idx="1"/>
          </p:cNvCxnSpPr>
          <p:nvPr/>
        </p:nvCxnSpPr>
        <p:spPr>
          <a:xfrm>
            <a:off x="2895600" y="32241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63"/>
          <p:cNvSpPr/>
          <p:nvPr/>
        </p:nvSpPr>
        <p:spPr>
          <a:xfrm>
            <a:off x="9135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40276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63"/>
          <p:cNvSpPr/>
          <p:nvPr/>
        </p:nvSpPr>
        <p:spPr>
          <a:xfrm>
            <a:off x="5866475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63"/>
          <p:cNvSpPr/>
          <p:nvPr/>
        </p:nvSpPr>
        <p:spPr>
          <a:xfrm>
            <a:off x="71619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3"/>
          <p:cNvCxnSpPr/>
          <p:nvPr/>
        </p:nvCxnSpPr>
        <p:spPr>
          <a:xfrm>
            <a:off x="2209800" y="31479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49" name="Google Shape;1049;p63"/>
          <p:cNvCxnSpPr/>
          <p:nvPr/>
        </p:nvCxnSpPr>
        <p:spPr>
          <a:xfrm>
            <a:off x="58674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0" name="Google Shape;1050;p63"/>
          <p:cNvCxnSpPr/>
          <p:nvPr/>
        </p:nvCxnSpPr>
        <p:spPr>
          <a:xfrm>
            <a:off x="71628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1" name="Google Shape;1051;p63"/>
          <p:cNvCxnSpPr/>
          <p:nvPr/>
        </p:nvCxnSpPr>
        <p:spPr>
          <a:xfrm flipH="1" rot="10800000">
            <a:off x="3978600" y="2538350"/>
            <a:ext cx="364800" cy="145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2" name="Google Shape;1052;p63"/>
          <p:cNvSpPr txBox="1"/>
          <p:nvPr/>
        </p:nvSpPr>
        <p:spPr>
          <a:xfrm>
            <a:off x="76200" y="4704000"/>
            <a:ext cx="2290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slide probably needs to be viewed with animation to make sense.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53" name="Google Shape;1053;p63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4" name="Google Shape;1054;p63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5" name="Google Shape;1055;p63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056" name="Google Shape;1056;p63"/>
          <p:cNvSpPr/>
          <p:nvPr/>
        </p:nvSpPr>
        <p:spPr>
          <a:xfrm>
            <a:off x="22089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Switches: Expiring Routes</a:t>
            </a:r>
            <a:endParaRPr/>
          </a:p>
        </p:txBody>
      </p:sp>
      <p:sp>
        <p:nvSpPr>
          <p:cNvPr id="1062" name="Google Shape;1062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table entry is associated with a TTL. If the TTL reaches 0, the entry is deleted.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allows invalid routes (e.g. link goes down) to eventually expire.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Spanning Tree Protocol (STP)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6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 Protocol (STP)</a:t>
            </a:r>
            <a:endParaRPr/>
          </a:p>
        </p:txBody>
      </p:sp>
      <p:sp>
        <p:nvSpPr>
          <p:cNvPr id="1069" name="Google Shape;1069;p6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Packet is sent to other hosts (not the destination).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Use learning switches to build forwarding tables.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Loops create broadcast storms.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STP to remove loops.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a good Layer 2 routing protocol.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Spanning Tree Protocol: Motivation</a:t>
            </a:r>
            <a:endParaRPr/>
          </a:p>
        </p:txBody>
      </p:sp>
      <p:sp>
        <p:nvSpPr>
          <p:cNvPr id="1076" name="Google Shape;1076;p66"/>
          <p:cNvSpPr/>
          <p:nvPr/>
        </p:nvSpPr>
        <p:spPr>
          <a:xfrm>
            <a:off x="173175" y="1580875"/>
            <a:ext cx="4776000" cy="6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66"/>
          <p:cNvSpPr txBox="1"/>
          <p:nvPr/>
        </p:nvSpPr>
        <p:spPr>
          <a:xfrm>
            <a:off x="4910225" y="3249275"/>
            <a:ext cx="38601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We'll now build a protocol for removing loops.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After the loops are removed, we can use learning switches to build forwarding tables and forward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6"/>
          <p:cNvSpPr/>
          <p:nvPr/>
        </p:nvSpPr>
        <p:spPr>
          <a:xfrm>
            <a:off x="4949175" y="1868075"/>
            <a:ext cx="3017608" cy="1381196"/>
          </a:xfrm>
          <a:custGeom>
            <a:rect b="b" l="l" r="r" t="t"/>
            <a:pathLst>
              <a:path extrusionOk="0" h="79562" w="33057">
                <a:moveTo>
                  <a:pt x="33057" y="79562"/>
                </a:moveTo>
                <a:lnTo>
                  <a:pt x="33057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7"/>
          <p:cNvSpPr txBox="1"/>
          <p:nvPr>
            <p:ph idx="1" type="body"/>
          </p:nvPr>
        </p:nvSpPr>
        <p:spPr>
          <a:xfrm>
            <a:off x="107050" y="402200"/>
            <a:ext cx="89097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Loops can cause </a:t>
            </a:r>
            <a:r>
              <a:rPr b="1" lang="en"/>
              <a:t>broadcast storms</a:t>
            </a:r>
            <a:r>
              <a:rPr lang="en"/>
              <a:t>: Packets get forwarded around a loop forever.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Forwarding tables don't help. If the tables are empty, everyone floods the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switches don't help. We can install entries for the sender, but we still don't know where the receiver is, so the packet still gets flooded forever.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flooding out of the incoming port doesn't help.</a:t>
            </a:r>
            <a:br>
              <a:rPr lang="en"/>
            </a:br>
            <a:r>
              <a:rPr lang="en"/>
              <a:t>Packets could travel in loops of length 3 or more. (See example below.)</a:t>
            </a:r>
            <a:endParaRPr/>
          </a:p>
        </p:txBody>
      </p:sp>
      <p:sp>
        <p:nvSpPr>
          <p:cNvPr id="1084" name="Google Shape;1084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Spanning Tree Protocol: Motivation</a:t>
            </a:r>
            <a:endParaRPr/>
          </a:p>
        </p:txBody>
      </p:sp>
      <p:sp>
        <p:nvSpPr>
          <p:cNvPr id="1085" name="Google Shape;1085;p67"/>
          <p:cNvSpPr/>
          <p:nvPr/>
        </p:nvSpPr>
        <p:spPr>
          <a:xfrm>
            <a:off x="18288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67"/>
          <p:cNvSpPr/>
          <p:nvPr/>
        </p:nvSpPr>
        <p:spPr>
          <a:xfrm>
            <a:off x="29718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7" name="Google Shape;1087;p67"/>
          <p:cNvCxnSpPr>
            <a:stCxn id="1085" idx="6"/>
            <a:endCxn id="1086" idx="1"/>
          </p:cNvCxnSpPr>
          <p:nvPr/>
        </p:nvCxnSpPr>
        <p:spPr>
          <a:xfrm>
            <a:off x="21336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8" name="Google Shape;1088;p67"/>
          <p:cNvSpPr/>
          <p:nvPr/>
        </p:nvSpPr>
        <p:spPr>
          <a:xfrm>
            <a:off x="4419600" y="4271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67"/>
          <p:cNvSpPr/>
          <p:nvPr/>
        </p:nvSpPr>
        <p:spPr>
          <a:xfrm>
            <a:off x="4419600" y="3052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67"/>
          <p:cNvSpPr/>
          <p:nvPr/>
        </p:nvSpPr>
        <p:spPr>
          <a:xfrm>
            <a:off x="58674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67"/>
          <p:cNvCxnSpPr>
            <a:stCxn id="1086" idx="3"/>
            <a:endCxn id="1089" idx="1"/>
          </p:cNvCxnSpPr>
          <p:nvPr/>
        </p:nvCxnSpPr>
        <p:spPr>
          <a:xfrm flipH="1" rot="10800000">
            <a:off x="3276600" y="32051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67"/>
          <p:cNvCxnSpPr>
            <a:stCxn id="1088" idx="3"/>
            <a:endCxn id="1090" idx="1"/>
          </p:cNvCxnSpPr>
          <p:nvPr/>
        </p:nvCxnSpPr>
        <p:spPr>
          <a:xfrm flipH="1" rot="10800000">
            <a:off x="47244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67"/>
          <p:cNvCxnSpPr>
            <a:stCxn id="1086" idx="3"/>
            <a:endCxn id="1088" idx="1"/>
          </p:cNvCxnSpPr>
          <p:nvPr/>
        </p:nvCxnSpPr>
        <p:spPr>
          <a:xfrm>
            <a:off x="32766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67"/>
          <p:cNvCxnSpPr>
            <a:stCxn id="1089" idx="3"/>
            <a:endCxn id="1090" idx="1"/>
          </p:cNvCxnSpPr>
          <p:nvPr/>
        </p:nvCxnSpPr>
        <p:spPr>
          <a:xfrm>
            <a:off x="4724400" y="32051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67"/>
          <p:cNvCxnSpPr>
            <a:stCxn id="1090" idx="3"/>
            <a:endCxn id="1096" idx="2"/>
          </p:cNvCxnSpPr>
          <p:nvPr/>
        </p:nvCxnSpPr>
        <p:spPr>
          <a:xfrm>
            <a:off x="61722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" name="Google Shape;1096;p67"/>
          <p:cNvSpPr/>
          <p:nvPr/>
        </p:nvSpPr>
        <p:spPr>
          <a:xfrm>
            <a:off x="70104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7" name="Google Shape;1097;p67"/>
          <p:cNvCxnSpPr/>
          <p:nvPr/>
        </p:nvCxnSpPr>
        <p:spPr>
          <a:xfrm>
            <a:off x="22098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67"/>
          <p:cNvCxnSpPr/>
          <p:nvPr/>
        </p:nvCxnSpPr>
        <p:spPr>
          <a:xfrm flipH="1" rot="10800000">
            <a:off x="34419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67"/>
          <p:cNvCxnSpPr/>
          <p:nvPr/>
        </p:nvCxnSpPr>
        <p:spPr>
          <a:xfrm>
            <a:off x="34419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67"/>
          <p:cNvCxnSpPr/>
          <p:nvPr/>
        </p:nvCxnSpPr>
        <p:spPr>
          <a:xfrm>
            <a:off x="48897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67"/>
          <p:cNvCxnSpPr/>
          <p:nvPr/>
        </p:nvCxnSpPr>
        <p:spPr>
          <a:xfrm flipH="1" rot="10800000">
            <a:off x="48897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67"/>
          <p:cNvCxnSpPr/>
          <p:nvPr/>
        </p:nvCxnSpPr>
        <p:spPr>
          <a:xfrm>
            <a:off x="62484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7"/>
          <p:cNvCxnSpPr/>
          <p:nvPr/>
        </p:nvCxnSpPr>
        <p:spPr>
          <a:xfrm>
            <a:off x="6248400" y="40695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7"/>
          <p:cNvCxnSpPr/>
          <p:nvPr/>
        </p:nvCxnSpPr>
        <p:spPr>
          <a:xfrm>
            <a:off x="48897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5" name="Google Shape;1105;p67"/>
          <p:cNvCxnSpPr/>
          <p:nvPr/>
        </p:nvCxnSpPr>
        <p:spPr>
          <a:xfrm flipH="1" rot="10800000">
            <a:off x="34419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6" name="Google Shape;1106;p67"/>
          <p:cNvCxnSpPr/>
          <p:nvPr/>
        </p:nvCxnSpPr>
        <p:spPr>
          <a:xfrm>
            <a:off x="34419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7" name="Google Shape;1107;p67"/>
          <p:cNvCxnSpPr/>
          <p:nvPr/>
        </p:nvCxnSpPr>
        <p:spPr>
          <a:xfrm flipH="1" rot="10800000">
            <a:off x="34419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67"/>
          <p:cNvCxnSpPr/>
          <p:nvPr/>
        </p:nvCxnSpPr>
        <p:spPr>
          <a:xfrm>
            <a:off x="2209800" y="40695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9" name="Google Shape;1109;p67"/>
          <p:cNvCxnSpPr/>
          <p:nvPr/>
        </p:nvCxnSpPr>
        <p:spPr>
          <a:xfrm>
            <a:off x="34419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67"/>
          <p:cNvCxnSpPr/>
          <p:nvPr/>
        </p:nvCxnSpPr>
        <p:spPr>
          <a:xfrm>
            <a:off x="2209800" y="42219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1" name="Google Shape;1111;p67"/>
          <p:cNvCxnSpPr/>
          <p:nvPr/>
        </p:nvCxnSpPr>
        <p:spPr>
          <a:xfrm>
            <a:off x="48897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67"/>
          <p:cNvCxnSpPr/>
          <p:nvPr/>
        </p:nvCxnSpPr>
        <p:spPr>
          <a:xfrm flipH="1" rot="10800000">
            <a:off x="48897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67"/>
          <p:cNvCxnSpPr/>
          <p:nvPr/>
        </p:nvCxnSpPr>
        <p:spPr>
          <a:xfrm>
            <a:off x="6248400" y="42219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67"/>
          <p:cNvCxnSpPr/>
          <p:nvPr/>
        </p:nvCxnSpPr>
        <p:spPr>
          <a:xfrm flipH="1" rot="10800000">
            <a:off x="4889700" y="44747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5" name="Google Shape;1115;p67"/>
          <p:cNvCxnSpPr/>
          <p:nvPr/>
        </p:nvCxnSpPr>
        <p:spPr>
          <a:xfrm>
            <a:off x="6248400" y="43743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6" name="Google Shape;1116;p67"/>
          <p:cNvCxnSpPr/>
          <p:nvPr/>
        </p:nvCxnSpPr>
        <p:spPr>
          <a:xfrm>
            <a:off x="4889700" y="27221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7" name="Google Shape;1117;p67"/>
          <p:cNvCxnSpPr/>
          <p:nvPr/>
        </p:nvCxnSpPr>
        <p:spPr>
          <a:xfrm flipH="1" rot="10800000">
            <a:off x="3441900" y="27221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8" name="Google Shape;1118;p67"/>
          <p:cNvCxnSpPr/>
          <p:nvPr/>
        </p:nvCxnSpPr>
        <p:spPr>
          <a:xfrm>
            <a:off x="3441900" y="44747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9" name="Google Shape;1119;p67"/>
          <p:cNvSpPr txBox="1"/>
          <p:nvPr/>
        </p:nvSpPr>
        <p:spPr>
          <a:xfrm>
            <a:off x="107050" y="4400600"/>
            <a:ext cx="3056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is just for clarity. A copy of the packet loops clockwise forever (red), and another copy loops counterclockwise forever (blue).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0" name="Google Shape;1120;p67"/>
          <p:cNvCxnSpPr/>
          <p:nvPr/>
        </p:nvCxnSpPr>
        <p:spPr>
          <a:xfrm>
            <a:off x="22098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67"/>
          <p:cNvCxnSpPr/>
          <p:nvPr/>
        </p:nvCxnSpPr>
        <p:spPr>
          <a:xfrm flipH="1" rot="10800000">
            <a:off x="34419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67"/>
          <p:cNvCxnSpPr/>
          <p:nvPr/>
        </p:nvCxnSpPr>
        <p:spPr>
          <a:xfrm>
            <a:off x="34419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67"/>
          <p:cNvCxnSpPr/>
          <p:nvPr/>
        </p:nvCxnSpPr>
        <p:spPr>
          <a:xfrm>
            <a:off x="48897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67"/>
          <p:cNvCxnSpPr/>
          <p:nvPr/>
        </p:nvCxnSpPr>
        <p:spPr>
          <a:xfrm flipH="1" rot="10800000">
            <a:off x="48897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67"/>
          <p:cNvCxnSpPr/>
          <p:nvPr/>
        </p:nvCxnSpPr>
        <p:spPr>
          <a:xfrm flipH="1" rot="10800000">
            <a:off x="48897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6" name="Google Shape;1126;p67"/>
          <p:cNvCxnSpPr/>
          <p:nvPr/>
        </p:nvCxnSpPr>
        <p:spPr>
          <a:xfrm flipH="1" rot="10800000">
            <a:off x="48897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7" name="Google Shape;1127;p67"/>
          <p:cNvCxnSpPr/>
          <p:nvPr/>
        </p:nvCxnSpPr>
        <p:spPr>
          <a:xfrm>
            <a:off x="48897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8" name="Google Shape;1128;p67"/>
          <p:cNvCxnSpPr/>
          <p:nvPr/>
        </p:nvCxnSpPr>
        <p:spPr>
          <a:xfrm>
            <a:off x="34419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9" name="Google Shape;1129;p67"/>
          <p:cNvCxnSpPr/>
          <p:nvPr/>
        </p:nvCxnSpPr>
        <p:spPr>
          <a:xfrm flipH="1" rot="10800000">
            <a:off x="34419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0" name="Google Shape;1130;p67"/>
          <p:cNvCxnSpPr/>
          <p:nvPr/>
        </p:nvCxnSpPr>
        <p:spPr>
          <a:xfrm>
            <a:off x="34419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67"/>
          <p:cNvCxnSpPr/>
          <p:nvPr/>
        </p:nvCxnSpPr>
        <p:spPr>
          <a:xfrm flipH="1" rot="10800000">
            <a:off x="34419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2" name="Google Shape;1132;p67"/>
          <p:cNvCxnSpPr/>
          <p:nvPr/>
        </p:nvCxnSpPr>
        <p:spPr>
          <a:xfrm>
            <a:off x="48897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67"/>
          <p:cNvCxnSpPr/>
          <p:nvPr/>
        </p:nvCxnSpPr>
        <p:spPr>
          <a:xfrm flipH="1" rot="10800000">
            <a:off x="48897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67"/>
          <p:cNvCxnSpPr/>
          <p:nvPr/>
        </p:nvCxnSpPr>
        <p:spPr>
          <a:xfrm flipH="1" rot="10800000">
            <a:off x="4889700" y="44747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5" name="Google Shape;1135;p67"/>
          <p:cNvCxnSpPr/>
          <p:nvPr/>
        </p:nvCxnSpPr>
        <p:spPr>
          <a:xfrm>
            <a:off x="4889700" y="27221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Spanning Tree Protocol: Motivation</a:t>
            </a:r>
            <a:endParaRPr/>
          </a:p>
        </p:txBody>
      </p:sp>
      <p:sp>
        <p:nvSpPr>
          <p:cNvPr id="1141" name="Google Shape;1141;p68"/>
          <p:cNvSpPr txBox="1"/>
          <p:nvPr>
            <p:ph idx="1" type="body"/>
          </p:nvPr>
        </p:nvSpPr>
        <p:spPr>
          <a:xfrm>
            <a:off x="107050" y="402200"/>
            <a:ext cx="8909700" cy="24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 "Disable" links to remove all the loops.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now design the </a:t>
            </a:r>
            <a:r>
              <a:rPr b="1" lang="en"/>
              <a:t>Spanning Tree Protocol (STP)</a:t>
            </a:r>
            <a:r>
              <a:rPr lang="en"/>
              <a:t> to achieve this.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loops are removed, we can use learning switches to route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Some other possible solutions, besides STP: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Drop packets when TTL expires: Won't work, because Ethernet header doesn't have a TTL field.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Drop packets we've seen before: Won't work, because Ethernet header doesn't have an ID field for identifying duplicates.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42" name="Google Shape;1142;p68"/>
          <p:cNvSpPr/>
          <p:nvPr/>
        </p:nvSpPr>
        <p:spPr>
          <a:xfrm>
            <a:off x="18288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68"/>
          <p:cNvSpPr/>
          <p:nvPr/>
        </p:nvSpPr>
        <p:spPr>
          <a:xfrm>
            <a:off x="29718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4" name="Google Shape;1144;p68"/>
          <p:cNvCxnSpPr>
            <a:stCxn id="1142" idx="6"/>
            <a:endCxn id="1143" idx="1"/>
          </p:cNvCxnSpPr>
          <p:nvPr/>
        </p:nvCxnSpPr>
        <p:spPr>
          <a:xfrm>
            <a:off x="21336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68"/>
          <p:cNvSpPr/>
          <p:nvPr/>
        </p:nvSpPr>
        <p:spPr>
          <a:xfrm>
            <a:off x="4419600" y="4271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68"/>
          <p:cNvSpPr/>
          <p:nvPr/>
        </p:nvSpPr>
        <p:spPr>
          <a:xfrm>
            <a:off x="4419600" y="3052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68"/>
          <p:cNvSpPr/>
          <p:nvPr/>
        </p:nvSpPr>
        <p:spPr>
          <a:xfrm>
            <a:off x="58674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8" name="Google Shape;1148;p68"/>
          <p:cNvCxnSpPr>
            <a:stCxn id="1143" idx="3"/>
            <a:endCxn id="1146" idx="1"/>
          </p:cNvCxnSpPr>
          <p:nvPr/>
        </p:nvCxnSpPr>
        <p:spPr>
          <a:xfrm flipH="1" rot="10800000">
            <a:off x="3276600" y="32051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68"/>
          <p:cNvCxnSpPr>
            <a:stCxn id="1145" idx="3"/>
            <a:endCxn id="1147" idx="1"/>
          </p:cNvCxnSpPr>
          <p:nvPr/>
        </p:nvCxnSpPr>
        <p:spPr>
          <a:xfrm flipH="1" rot="10800000">
            <a:off x="47244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68"/>
          <p:cNvCxnSpPr>
            <a:stCxn id="1143" idx="3"/>
            <a:endCxn id="1145" idx="1"/>
          </p:cNvCxnSpPr>
          <p:nvPr/>
        </p:nvCxnSpPr>
        <p:spPr>
          <a:xfrm>
            <a:off x="32766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68"/>
          <p:cNvCxnSpPr>
            <a:stCxn id="1147" idx="3"/>
            <a:endCxn id="1152" idx="2"/>
          </p:cNvCxnSpPr>
          <p:nvPr/>
        </p:nvCxnSpPr>
        <p:spPr>
          <a:xfrm>
            <a:off x="61722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68"/>
          <p:cNvSpPr/>
          <p:nvPr/>
        </p:nvSpPr>
        <p:spPr>
          <a:xfrm>
            <a:off x="70104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68"/>
          <p:cNvCxnSpPr/>
          <p:nvPr/>
        </p:nvCxnSpPr>
        <p:spPr>
          <a:xfrm>
            <a:off x="62484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68"/>
          <p:cNvCxnSpPr/>
          <p:nvPr/>
        </p:nvCxnSpPr>
        <p:spPr>
          <a:xfrm>
            <a:off x="22098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68"/>
          <p:cNvCxnSpPr/>
          <p:nvPr/>
        </p:nvCxnSpPr>
        <p:spPr>
          <a:xfrm flipH="1" rot="10800000">
            <a:off x="34419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68"/>
          <p:cNvCxnSpPr/>
          <p:nvPr/>
        </p:nvCxnSpPr>
        <p:spPr>
          <a:xfrm>
            <a:off x="34419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68"/>
          <p:cNvCxnSpPr/>
          <p:nvPr/>
        </p:nvCxnSpPr>
        <p:spPr>
          <a:xfrm flipH="1" rot="10800000">
            <a:off x="48897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68"/>
          <p:cNvCxnSpPr>
            <a:stCxn id="1146" idx="3"/>
            <a:endCxn id="1147" idx="1"/>
          </p:cNvCxnSpPr>
          <p:nvPr/>
        </p:nvCxnSpPr>
        <p:spPr>
          <a:xfrm>
            <a:off x="4724400" y="3205100"/>
            <a:ext cx="11430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STP Ignores Hosts</a:t>
            </a:r>
            <a:endParaRPr/>
          </a:p>
        </p:txBody>
      </p:sp>
      <p:sp>
        <p:nvSpPr>
          <p:cNvPr id="1164" name="Google Shape;1164;p69"/>
          <p:cNvSpPr txBox="1"/>
          <p:nvPr>
            <p:ph idx="1" type="body"/>
          </p:nvPr>
        </p:nvSpPr>
        <p:spPr>
          <a:xfrm>
            <a:off x="107050" y="402200"/>
            <a:ext cx="660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don't participate in STP.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will do the job of disabling links to remove loops.</a:t>
            </a:r>
            <a:endParaRPr/>
          </a:p>
        </p:txBody>
      </p:sp>
      <p:sp>
        <p:nvSpPr>
          <p:cNvPr id="1165" name="Google Shape;1165;p69"/>
          <p:cNvSpPr/>
          <p:nvPr/>
        </p:nvSpPr>
        <p:spPr>
          <a:xfrm>
            <a:off x="7318275" y="838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69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7" name="Google Shape;1167;p69"/>
          <p:cNvCxnSpPr>
            <a:stCxn id="1165" idx="6"/>
            <a:endCxn id="1166" idx="1"/>
          </p:cNvCxnSpPr>
          <p:nvPr/>
        </p:nvCxnSpPr>
        <p:spPr>
          <a:xfrm>
            <a:off x="7623075" y="991100"/>
            <a:ext cx="152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69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69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0" name="Google Shape;1170;p69"/>
          <p:cNvCxnSpPr>
            <a:stCxn id="1168" idx="0"/>
            <a:endCxn id="1166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69"/>
          <p:cNvCxnSpPr>
            <a:stCxn id="1169" idx="0"/>
            <a:endCxn id="1166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2" name="Google Shape;1172;p69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3" name="Google Shape;1173;p69"/>
          <p:cNvCxnSpPr>
            <a:stCxn id="1168" idx="2"/>
            <a:endCxn id="1172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69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5" name="Google Shape;1175;p69"/>
          <p:cNvCxnSpPr>
            <a:stCxn id="1174" idx="0"/>
            <a:endCxn id="1172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69"/>
          <p:cNvCxnSpPr>
            <a:stCxn id="1174" idx="0"/>
            <a:endCxn id="1169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7" name="Google Shape;1177;p69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69"/>
          <p:cNvCxnSpPr>
            <a:stCxn id="1177" idx="0"/>
            <a:endCxn id="1172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69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0" name="Google Shape;1180;p69"/>
          <p:cNvCxnSpPr>
            <a:stCxn id="1177" idx="2"/>
            <a:endCxn id="1179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9"/>
          <p:cNvCxnSpPr>
            <a:stCxn id="1174" idx="2"/>
            <a:endCxn id="1179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69"/>
          <p:cNvCxnSpPr>
            <a:stCxn id="1169" idx="3"/>
            <a:endCxn id="1183" idx="2"/>
          </p:cNvCxnSpPr>
          <p:nvPr/>
        </p:nvCxnSpPr>
        <p:spPr>
          <a:xfrm>
            <a:off x="8537475" y="1753100"/>
            <a:ext cx="152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3" name="Google Shape;1183;p69"/>
          <p:cNvSpPr/>
          <p:nvPr/>
        </p:nvSpPr>
        <p:spPr>
          <a:xfrm>
            <a:off x="8689875" y="1600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69"/>
          <p:cNvSpPr/>
          <p:nvPr/>
        </p:nvSpPr>
        <p:spPr>
          <a:xfrm>
            <a:off x="7318275" y="4801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5" name="Google Shape;1185;p69"/>
          <p:cNvCxnSpPr>
            <a:stCxn id="1179" idx="2"/>
            <a:endCxn id="1184" idx="0"/>
          </p:cNvCxnSpPr>
          <p:nvPr/>
        </p:nvCxnSpPr>
        <p:spPr>
          <a:xfrm>
            <a:off x="7470675" y="4648700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69"/>
          <p:cNvSpPr/>
          <p:nvPr/>
        </p:nvSpPr>
        <p:spPr>
          <a:xfrm>
            <a:off x="7318275" y="838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7" name="Google Shape;1187;p69"/>
          <p:cNvCxnSpPr>
            <a:stCxn id="1186" idx="6"/>
            <a:endCxn id="1166" idx="1"/>
          </p:cNvCxnSpPr>
          <p:nvPr/>
        </p:nvCxnSpPr>
        <p:spPr>
          <a:xfrm>
            <a:off x="7623075" y="9911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9"/>
          <p:cNvCxnSpPr>
            <a:stCxn id="1169" idx="3"/>
            <a:endCxn id="1189" idx="2"/>
          </p:cNvCxnSpPr>
          <p:nvPr/>
        </p:nvCxnSpPr>
        <p:spPr>
          <a:xfrm>
            <a:off x="8537475" y="17531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69"/>
          <p:cNvSpPr/>
          <p:nvPr/>
        </p:nvSpPr>
        <p:spPr>
          <a:xfrm>
            <a:off x="8689875" y="1600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69"/>
          <p:cNvSpPr/>
          <p:nvPr/>
        </p:nvSpPr>
        <p:spPr>
          <a:xfrm>
            <a:off x="7318275" y="4801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69"/>
          <p:cNvCxnSpPr>
            <a:stCxn id="1179" idx="2"/>
            <a:endCxn id="1190" idx="0"/>
          </p:cNvCxnSpPr>
          <p:nvPr/>
        </p:nvCxnSpPr>
        <p:spPr>
          <a:xfrm>
            <a:off x="7470675" y="46487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0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1: </a:t>
            </a:r>
            <a:r>
              <a:rPr lang="en"/>
              <a:t>Electing a Root</a:t>
            </a:r>
            <a:endParaRPr/>
          </a:p>
        </p:txBody>
      </p:sp>
      <p:sp>
        <p:nvSpPr>
          <p:cNvPr id="1198" name="Google Shape;1198;p70"/>
          <p:cNvSpPr txBox="1"/>
          <p:nvPr>
            <p:ph idx="1" type="body"/>
          </p:nvPr>
        </p:nvSpPr>
        <p:spPr>
          <a:xfrm>
            <a:off x="107050" y="402200"/>
            <a:ext cx="660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1: Elect one of the routers to be a </a:t>
            </a:r>
            <a:r>
              <a:rPr b="1" lang="en"/>
              <a:t>root switch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is assigned an 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root switch is the router with the </a:t>
            </a:r>
            <a:r>
              <a:rPr b="1" lang="en"/>
              <a:t>lowest ID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router's ID consists of two values, put together: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Priority</a:t>
            </a:r>
            <a:r>
              <a:rPr lang="en"/>
              <a:t>: Manually set by operator.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MAC address</a:t>
            </a:r>
            <a:r>
              <a:rPr lang="en"/>
              <a:t> of router.</a:t>
            </a:r>
            <a:br>
              <a:rPr lang="en"/>
            </a:br>
            <a:r>
              <a:rPr lang="en"/>
              <a:t>Used as tiebreaker if two routers have the same priority.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pick a root switch?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Manually</a:t>
            </a:r>
            <a:r>
              <a:rPr lang="en"/>
              <a:t>: Operator sets a low priority on the chosen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Default</a:t>
            </a:r>
            <a:r>
              <a:rPr lang="en"/>
              <a:t>: All routers have the same default priority value.</a:t>
            </a:r>
            <a:br>
              <a:rPr lang="en"/>
            </a:br>
            <a:r>
              <a:rPr lang="en"/>
              <a:t>If operator doesn't override the default, the router with the lowest MAC address is the root.</a:t>
            </a:r>
            <a:endParaRPr/>
          </a:p>
        </p:txBody>
      </p:sp>
      <p:sp>
        <p:nvSpPr>
          <p:cNvPr id="1199" name="Google Shape;1199;p70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70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0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0"/>
          <p:cNvCxnSpPr>
            <a:stCxn id="1200" idx="0"/>
            <a:endCxn id="1199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70"/>
          <p:cNvCxnSpPr>
            <a:stCxn id="1201" idx="0"/>
            <a:endCxn id="1199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70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5" name="Google Shape;1205;p70"/>
          <p:cNvCxnSpPr>
            <a:stCxn id="1200" idx="2"/>
            <a:endCxn id="1204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70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7" name="Google Shape;1207;p70"/>
          <p:cNvCxnSpPr>
            <a:stCxn id="1206" idx="0"/>
            <a:endCxn id="1204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70"/>
          <p:cNvCxnSpPr>
            <a:stCxn id="1206" idx="0"/>
            <a:endCxn id="1201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70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0" name="Google Shape;1210;p70"/>
          <p:cNvCxnSpPr>
            <a:stCxn id="1209" idx="0"/>
            <a:endCxn id="1204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70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2" name="Google Shape;1212;p70"/>
          <p:cNvCxnSpPr>
            <a:stCxn id="1209" idx="2"/>
            <a:endCxn id="1211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70"/>
          <p:cNvCxnSpPr>
            <a:stCxn id="1206" idx="2"/>
            <a:endCxn id="1211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70"/>
          <p:cNvSpPr txBox="1"/>
          <p:nvPr/>
        </p:nvSpPr>
        <p:spPr>
          <a:xfrm>
            <a:off x="5974700" y="449200"/>
            <a:ext cx="18771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We'll assume the ID is the router number.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Thus, R1 is the root.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2: </a:t>
            </a:r>
            <a:r>
              <a:rPr lang="en"/>
              <a:t>Labeling Ports</a:t>
            </a:r>
            <a:endParaRPr/>
          </a:p>
        </p:txBody>
      </p:sp>
      <p:sp>
        <p:nvSpPr>
          <p:cNvPr id="1220" name="Google Shape;1220;p71"/>
          <p:cNvSpPr txBox="1"/>
          <p:nvPr>
            <p:ph idx="1" type="body"/>
          </p:nvPr>
        </p:nvSpPr>
        <p:spPr>
          <a:xfrm>
            <a:off x="107050" y="402200"/>
            <a:ext cx="89097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2: Each router labels each of its ports as one of three types:</a:t>
            </a:r>
            <a:endParaRPr/>
          </a:p>
        </p:txBody>
      </p:sp>
      <p:cxnSp>
        <p:nvCxnSpPr>
          <p:cNvPr id="1221" name="Google Shape;1221;p71"/>
          <p:cNvCxnSpPr>
            <a:stCxn id="1222" idx="2"/>
            <a:endCxn id="1223" idx="0"/>
          </p:cNvCxnSpPr>
          <p:nvPr/>
        </p:nvCxnSpPr>
        <p:spPr>
          <a:xfrm flipH="1">
            <a:off x="3565975" y="2946100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71"/>
          <p:cNvCxnSpPr>
            <a:stCxn id="1222" idx="2"/>
          </p:cNvCxnSpPr>
          <p:nvPr/>
        </p:nvCxnSpPr>
        <p:spPr>
          <a:xfrm flipH="1">
            <a:off x="3786775" y="2946100"/>
            <a:ext cx="160200" cy="255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5" name="Google Shape;1225;p71"/>
          <p:cNvSpPr txBox="1"/>
          <p:nvPr/>
        </p:nvSpPr>
        <p:spPr>
          <a:xfrm>
            <a:off x="3576249" y="29461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1"/>
          <p:cNvSpPr/>
          <p:nvPr/>
        </p:nvSpPr>
        <p:spPr>
          <a:xfrm>
            <a:off x="3413575" y="3555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6" name="Google Shape;1226;p71"/>
          <p:cNvCxnSpPr>
            <a:stCxn id="1227" idx="2"/>
            <a:endCxn id="1222" idx="0"/>
          </p:cNvCxnSpPr>
          <p:nvPr/>
        </p:nvCxnSpPr>
        <p:spPr>
          <a:xfrm>
            <a:off x="3946975" y="20317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71"/>
          <p:cNvSpPr/>
          <p:nvPr/>
        </p:nvSpPr>
        <p:spPr>
          <a:xfrm>
            <a:off x="3794575" y="1726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8" name="Google Shape;1228;p71"/>
          <p:cNvCxnSpPr>
            <a:endCxn id="1222" idx="0"/>
          </p:cNvCxnSpPr>
          <p:nvPr/>
        </p:nvCxnSpPr>
        <p:spPr>
          <a:xfrm>
            <a:off x="3946975" y="2224000"/>
            <a:ext cx="0" cy="41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9" name="Google Shape;1229;p71"/>
          <p:cNvSpPr txBox="1"/>
          <p:nvPr/>
        </p:nvSpPr>
        <p:spPr>
          <a:xfrm>
            <a:off x="3947005" y="2165711"/>
            <a:ext cx="24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71"/>
          <p:cNvSpPr/>
          <p:nvPr/>
        </p:nvSpPr>
        <p:spPr>
          <a:xfrm>
            <a:off x="3184975" y="1726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71"/>
          <p:cNvSpPr/>
          <p:nvPr/>
        </p:nvSpPr>
        <p:spPr>
          <a:xfrm>
            <a:off x="4175575" y="3555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2" name="Google Shape;1232;p71"/>
          <p:cNvCxnSpPr>
            <a:stCxn id="1222" idx="2"/>
            <a:endCxn id="1231" idx="0"/>
          </p:cNvCxnSpPr>
          <p:nvPr/>
        </p:nvCxnSpPr>
        <p:spPr>
          <a:xfrm>
            <a:off x="3946975" y="2946100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71"/>
          <p:cNvCxnSpPr>
            <a:stCxn id="1222" idx="2"/>
          </p:cNvCxnSpPr>
          <p:nvPr/>
        </p:nvCxnSpPr>
        <p:spPr>
          <a:xfrm>
            <a:off x="3946975" y="2946100"/>
            <a:ext cx="160200" cy="255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4" name="Google Shape;1234;p71"/>
          <p:cNvSpPr txBox="1"/>
          <p:nvPr/>
        </p:nvSpPr>
        <p:spPr>
          <a:xfrm>
            <a:off x="4089071" y="29461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5" name="Google Shape;1235;p71"/>
          <p:cNvCxnSpPr>
            <a:stCxn id="1222" idx="0"/>
            <a:endCxn id="1230" idx="2"/>
          </p:cNvCxnSpPr>
          <p:nvPr/>
        </p:nvCxnSpPr>
        <p:spPr>
          <a:xfrm rot="10800000">
            <a:off x="3337375" y="2031700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71"/>
          <p:cNvSpPr txBox="1"/>
          <p:nvPr/>
        </p:nvSpPr>
        <p:spPr>
          <a:xfrm>
            <a:off x="3492223" y="24013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7" name="Google Shape;1237;p71"/>
          <p:cNvCxnSpPr>
            <a:stCxn id="1222" idx="0"/>
            <a:endCxn id="1238" idx="2"/>
          </p:cNvCxnSpPr>
          <p:nvPr/>
        </p:nvCxnSpPr>
        <p:spPr>
          <a:xfrm flipH="1" rot="10800000">
            <a:off x="3946975" y="2031700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71"/>
          <p:cNvCxnSpPr>
            <a:stCxn id="1222" idx="0"/>
          </p:cNvCxnSpPr>
          <p:nvPr/>
        </p:nvCxnSpPr>
        <p:spPr>
          <a:xfrm flipH="1" rot="10800000">
            <a:off x="3946975" y="2364700"/>
            <a:ext cx="276600" cy="27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0" name="Google Shape;1240;p71"/>
          <p:cNvSpPr txBox="1"/>
          <p:nvPr/>
        </p:nvSpPr>
        <p:spPr>
          <a:xfrm>
            <a:off x="4157445" y="24013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1"/>
          <p:cNvSpPr/>
          <p:nvPr/>
        </p:nvSpPr>
        <p:spPr>
          <a:xfrm>
            <a:off x="4404175" y="1726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1" name="Google Shape;1241;p71"/>
          <p:cNvCxnSpPr>
            <a:stCxn id="1222" idx="0"/>
          </p:cNvCxnSpPr>
          <p:nvPr/>
        </p:nvCxnSpPr>
        <p:spPr>
          <a:xfrm rot="10800000">
            <a:off x="3670375" y="2364700"/>
            <a:ext cx="276600" cy="27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71"/>
          <p:cNvSpPr/>
          <p:nvPr/>
        </p:nvSpPr>
        <p:spPr>
          <a:xfrm>
            <a:off x="3794575" y="264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1"/>
          <p:cNvSpPr/>
          <p:nvPr/>
        </p:nvSpPr>
        <p:spPr>
          <a:xfrm>
            <a:off x="2788375" y="1670650"/>
            <a:ext cx="91800" cy="41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1"/>
          <p:cNvSpPr txBox="1"/>
          <p:nvPr/>
        </p:nvSpPr>
        <p:spPr>
          <a:xfrm>
            <a:off x="1084374" y="1636150"/>
            <a:ext cx="170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Routers distance &lt;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the root.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71"/>
          <p:cNvSpPr/>
          <p:nvPr/>
        </p:nvSpPr>
        <p:spPr>
          <a:xfrm>
            <a:off x="2788375" y="3499450"/>
            <a:ext cx="91800" cy="41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5" name="Google Shape;1245;p71"/>
          <p:cNvSpPr txBox="1"/>
          <p:nvPr/>
        </p:nvSpPr>
        <p:spPr>
          <a:xfrm>
            <a:off x="1084374" y="3464950"/>
            <a:ext cx="170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Routers distance &gt;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the root.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6" name="Google Shape;1246;p71"/>
          <p:cNvSpPr txBox="1"/>
          <p:nvPr/>
        </p:nvSpPr>
        <p:spPr>
          <a:xfrm>
            <a:off x="879725" y="2658250"/>
            <a:ext cx="1873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 is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root.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71"/>
          <p:cNvSpPr/>
          <p:nvPr/>
        </p:nvSpPr>
        <p:spPr>
          <a:xfrm>
            <a:off x="2788375" y="2585050"/>
            <a:ext cx="91800" cy="41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1"/>
          <p:cNvSpPr txBox="1"/>
          <p:nvPr/>
        </p:nvSpPr>
        <p:spPr>
          <a:xfrm>
            <a:off x="5290375" y="1839850"/>
            <a:ext cx="2973900" cy="19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Out of the ports leading to routers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closer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to the root: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180340" lvl="0" marL="27432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Root Port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is the one along the least-cost path to the root.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Blocked Ports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are all the other ports (not along least-cost path).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Designated Ports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lead to routers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further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from the root.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Port Labels: Designated Ports</a:t>
            </a:r>
            <a:endParaRPr/>
          </a:p>
        </p:txBody>
      </p:sp>
      <p:sp>
        <p:nvSpPr>
          <p:cNvPr id="1254" name="Google Shape;1254;p72"/>
          <p:cNvSpPr txBox="1"/>
          <p:nvPr>
            <p:ph idx="1" type="body"/>
          </p:nvPr>
        </p:nvSpPr>
        <p:spPr>
          <a:xfrm>
            <a:off x="107050" y="402200"/>
            <a:ext cx="4008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The </a:t>
            </a: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>
                <a:solidFill>
                  <a:srgbClr val="6AA84F"/>
                </a:solidFill>
              </a:rPr>
              <a:t> is the one along the least-cost path to the root.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255" name="Google Shape;1255;p72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6" name="Google Shape;1256;p72"/>
          <p:cNvCxnSpPr>
            <a:stCxn id="1257" idx="0"/>
            <a:endCxn id="1258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72"/>
          <p:cNvCxnSpPr>
            <a:stCxn id="1255" idx="0"/>
            <a:endCxn id="1258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72"/>
          <p:cNvCxnSpPr>
            <a:stCxn id="1257" idx="2"/>
            <a:endCxn id="1261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72"/>
          <p:cNvCxnSpPr>
            <a:stCxn id="1263" idx="0"/>
            <a:endCxn id="1261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72"/>
          <p:cNvCxnSpPr>
            <a:stCxn id="1263" idx="0"/>
            <a:endCxn id="1255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72"/>
          <p:cNvCxnSpPr>
            <a:stCxn id="1266" idx="0"/>
            <a:endCxn id="1261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72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8" name="Google Shape;1268;p72"/>
          <p:cNvCxnSpPr>
            <a:stCxn id="1266" idx="2"/>
            <a:endCxn id="1267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72"/>
          <p:cNvCxnSpPr>
            <a:stCxn id="1263" idx="2"/>
            <a:endCxn id="1267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72"/>
          <p:cNvCxnSpPr>
            <a:stCxn id="1257" idx="2"/>
            <a:endCxn id="1271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72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72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3" name="Google Shape;1273;p72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4" name="Google Shape;1274;p72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5" name="Google Shape;1275;p72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6" name="Google Shape;1276;p72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72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8" name="Google Shape;1278;p72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72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72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72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72"/>
          <p:cNvCxnSpPr/>
          <p:nvPr/>
        </p:nvCxnSpPr>
        <p:spPr>
          <a:xfrm>
            <a:off x="7470678" y="28196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2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72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4" name="Google Shape;1284;p72"/>
          <p:cNvCxnSpPr/>
          <p:nvPr/>
        </p:nvCxnSpPr>
        <p:spPr>
          <a:xfrm>
            <a:off x="7013478" y="37340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72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72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72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6" name="Google Shape;1286;p72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72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Port Labels: Root Ports</a:t>
            </a:r>
            <a:endParaRPr/>
          </a:p>
        </p:txBody>
      </p:sp>
      <p:sp>
        <p:nvSpPr>
          <p:cNvPr id="1292" name="Google Shape;1292;p73"/>
          <p:cNvSpPr txBox="1"/>
          <p:nvPr>
            <p:ph idx="1" type="body"/>
          </p:nvPr>
        </p:nvSpPr>
        <p:spPr>
          <a:xfrm>
            <a:off x="107050" y="402200"/>
            <a:ext cx="4008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The </a:t>
            </a: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>
                <a:solidFill>
                  <a:srgbClr val="6AA84F"/>
                </a:solidFill>
              </a:rPr>
              <a:t> is the one along the least-cost path to the root.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endParaRPr/>
          </a:p>
        </p:txBody>
      </p:sp>
      <p:cxnSp>
        <p:nvCxnSpPr>
          <p:cNvPr id="1293" name="Google Shape;1293;p73"/>
          <p:cNvCxnSpPr>
            <a:stCxn id="1294" idx="0"/>
            <a:endCxn id="1295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73"/>
          <p:cNvCxnSpPr>
            <a:stCxn id="1297" idx="0"/>
            <a:endCxn id="1295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73"/>
          <p:cNvCxnSpPr>
            <a:stCxn id="1294" idx="2"/>
            <a:endCxn id="1299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73"/>
          <p:cNvCxnSpPr>
            <a:stCxn id="1301" idx="0"/>
            <a:endCxn id="1299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73"/>
          <p:cNvCxnSpPr>
            <a:stCxn id="1301" idx="0"/>
            <a:endCxn id="1297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73"/>
          <p:cNvCxnSpPr>
            <a:stCxn id="1304" idx="0"/>
            <a:endCxn id="1299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73"/>
          <p:cNvCxnSpPr>
            <a:stCxn id="1304" idx="2"/>
            <a:endCxn id="1306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7" name="Google Shape;1307;p73"/>
          <p:cNvCxnSpPr>
            <a:stCxn id="1301" idx="2"/>
            <a:endCxn id="1306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73"/>
          <p:cNvCxnSpPr>
            <a:stCxn id="1294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p73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0" name="Google Shape;1310;p73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73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2" name="Google Shape;1312;p73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73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73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5" name="Google Shape;1315;p73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73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73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7" name="Google Shape;1317;p73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8" name="Google Shape;1318;p73"/>
          <p:cNvCxnSpPr/>
          <p:nvPr/>
        </p:nvCxnSpPr>
        <p:spPr>
          <a:xfrm>
            <a:off x="7470678" y="28196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73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73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1" name="Google Shape;1321;p73"/>
          <p:cNvCxnSpPr/>
          <p:nvPr/>
        </p:nvCxnSpPr>
        <p:spPr>
          <a:xfrm>
            <a:off x="7013478" y="37340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73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3" name="Google Shape;1323;p73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73"/>
          <p:cNvSpPr txBox="1"/>
          <p:nvPr/>
        </p:nvSpPr>
        <p:spPr>
          <a:xfrm>
            <a:off x="83334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5" name="Google Shape;1325;p73"/>
          <p:cNvCxnSpPr/>
          <p:nvPr/>
        </p:nvCxnSpPr>
        <p:spPr>
          <a:xfrm flipH="1">
            <a:off x="7470600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73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73"/>
          <p:cNvSpPr txBox="1"/>
          <p:nvPr/>
        </p:nvSpPr>
        <p:spPr>
          <a:xfrm>
            <a:off x="73428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7" name="Google Shape;1327;p73"/>
          <p:cNvCxnSpPr/>
          <p:nvPr/>
        </p:nvCxnSpPr>
        <p:spPr>
          <a:xfrm>
            <a:off x="7470675" y="23057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73"/>
          <p:cNvSpPr txBox="1"/>
          <p:nvPr/>
        </p:nvSpPr>
        <p:spPr>
          <a:xfrm>
            <a:off x="7244175" y="2305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9" name="Google Shape;1299;p73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9" name="Google Shape;1329;p73"/>
          <p:cNvCxnSpPr/>
          <p:nvPr/>
        </p:nvCxnSpPr>
        <p:spPr>
          <a:xfrm>
            <a:off x="8206575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7" name="Google Shape;1297;p73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73"/>
          <p:cNvCxnSpPr/>
          <p:nvPr/>
        </p:nvCxnSpPr>
        <p:spPr>
          <a:xfrm flipH="1">
            <a:off x="7471000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73"/>
          <p:cNvSpPr txBox="1"/>
          <p:nvPr/>
        </p:nvSpPr>
        <p:spPr>
          <a:xfrm>
            <a:off x="7622340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73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73"/>
          <p:cNvCxnSpPr/>
          <p:nvPr/>
        </p:nvCxnSpPr>
        <p:spPr>
          <a:xfrm flipH="1">
            <a:off x="7013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73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3" name="Google Shape;1333;p73"/>
          <p:cNvSpPr txBox="1"/>
          <p:nvPr/>
        </p:nvSpPr>
        <p:spPr>
          <a:xfrm>
            <a:off x="714281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4" name="Google Shape;1334;p73"/>
          <p:cNvCxnSpPr/>
          <p:nvPr/>
        </p:nvCxnSpPr>
        <p:spPr>
          <a:xfrm flipH="1">
            <a:off x="7928200" y="32243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73"/>
          <p:cNvSpPr txBox="1"/>
          <p:nvPr/>
        </p:nvSpPr>
        <p:spPr>
          <a:xfrm>
            <a:off x="798849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73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73"/>
          <p:cNvSpPr/>
          <p:nvPr/>
        </p:nvSpPr>
        <p:spPr>
          <a:xfrm>
            <a:off x="8259975" y="3569700"/>
            <a:ext cx="834300" cy="498000"/>
          </a:xfrm>
          <a:prstGeom prst="wedgeRoundRectCallout">
            <a:avLst>
              <a:gd fmla="val -66415" name="adj1"/>
              <a:gd fmla="val -4804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Shortest path to root is via R3, not R4.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7" name="Google Shape;1337;p73"/>
          <p:cNvSpPr/>
          <p:nvPr/>
        </p:nvSpPr>
        <p:spPr>
          <a:xfrm>
            <a:off x="7802775" y="4484100"/>
            <a:ext cx="834300" cy="498000"/>
          </a:xfrm>
          <a:prstGeom prst="wedgeRoundRectCallout">
            <a:avLst>
              <a:gd fmla="val -66415" name="adj1"/>
              <a:gd fmla="val -4804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Shortest path to root is via R6, not R5.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Port Labels: </a:t>
            </a:r>
            <a:r>
              <a:rPr lang="en"/>
              <a:t>Blocked Ports</a:t>
            </a:r>
            <a:endParaRPr/>
          </a:p>
        </p:txBody>
      </p:sp>
      <p:sp>
        <p:nvSpPr>
          <p:cNvPr id="1343" name="Google Shape;1343;p74"/>
          <p:cNvSpPr txBox="1"/>
          <p:nvPr>
            <p:ph idx="1" type="body"/>
          </p:nvPr>
        </p:nvSpPr>
        <p:spPr>
          <a:xfrm>
            <a:off x="107050" y="402200"/>
            <a:ext cx="4008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The </a:t>
            </a: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>
                <a:solidFill>
                  <a:srgbClr val="6AA84F"/>
                </a:solidFill>
              </a:rPr>
              <a:t> is the one along the least-cost path to the root.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endParaRPr/>
          </a:p>
        </p:txBody>
      </p:sp>
      <p:cxnSp>
        <p:nvCxnSpPr>
          <p:cNvPr id="1344" name="Google Shape;1344;p74"/>
          <p:cNvCxnSpPr>
            <a:stCxn id="1345" idx="0"/>
            <a:endCxn id="1346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7" name="Google Shape;1347;p74"/>
          <p:cNvCxnSpPr>
            <a:stCxn id="1348" idx="0"/>
            <a:endCxn id="1346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74"/>
          <p:cNvCxnSpPr>
            <a:stCxn id="1345" idx="2"/>
            <a:endCxn id="1350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74"/>
          <p:cNvCxnSpPr>
            <a:stCxn id="1352" idx="0"/>
            <a:endCxn id="1350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74"/>
          <p:cNvCxnSpPr>
            <a:stCxn id="1352" idx="0"/>
            <a:endCxn id="1348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74"/>
          <p:cNvCxnSpPr>
            <a:stCxn id="1355" idx="0"/>
            <a:endCxn id="1350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74"/>
          <p:cNvCxnSpPr>
            <a:stCxn id="1355" idx="2"/>
            <a:endCxn id="1357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74"/>
          <p:cNvCxnSpPr>
            <a:stCxn id="1352" idx="2"/>
            <a:endCxn id="1357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74"/>
          <p:cNvCxnSpPr>
            <a:stCxn id="1345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74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74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74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74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74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5" name="Google Shape;1365;p74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6" name="Google Shape;1366;p74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74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74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74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9" name="Google Shape;1369;p74"/>
          <p:cNvCxnSpPr/>
          <p:nvPr/>
        </p:nvCxnSpPr>
        <p:spPr>
          <a:xfrm>
            <a:off x="7470678" y="28196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74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74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2" name="Google Shape;1372;p74"/>
          <p:cNvCxnSpPr/>
          <p:nvPr/>
        </p:nvCxnSpPr>
        <p:spPr>
          <a:xfrm>
            <a:off x="7013478" y="37340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3" name="Google Shape;1373;p74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74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5" name="Google Shape;1375;p74"/>
          <p:cNvSpPr txBox="1"/>
          <p:nvPr/>
        </p:nvSpPr>
        <p:spPr>
          <a:xfrm>
            <a:off x="83334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6" name="Google Shape;1376;p74"/>
          <p:cNvCxnSpPr/>
          <p:nvPr/>
        </p:nvCxnSpPr>
        <p:spPr>
          <a:xfrm flipH="1">
            <a:off x="7470600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74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74"/>
          <p:cNvSpPr txBox="1"/>
          <p:nvPr/>
        </p:nvSpPr>
        <p:spPr>
          <a:xfrm>
            <a:off x="73428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74"/>
          <p:cNvCxnSpPr/>
          <p:nvPr/>
        </p:nvCxnSpPr>
        <p:spPr>
          <a:xfrm>
            <a:off x="7470675" y="23057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74"/>
          <p:cNvSpPr txBox="1"/>
          <p:nvPr/>
        </p:nvSpPr>
        <p:spPr>
          <a:xfrm>
            <a:off x="7244175" y="2305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74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0" name="Google Shape;1380;p74"/>
          <p:cNvCxnSpPr/>
          <p:nvPr/>
        </p:nvCxnSpPr>
        <p:spPr>
          <a:xfrm>
            <a:off x="8206575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p74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74"/>
          <p:cNvCxnSpPr/>
          <p:nvPr/>
        </p:nvCxnSpPr>
        <p:spPr>
          <a:xfrm flipH="1">
            <a:off x="7471000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74"/>
          <p:cNvSpPr txBox="1"/>
          <p:nvPr/>
        </p:nvSpPr>
        <p:spPr>
          <a:xfrm>
            <a:off x="7622340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3" name="Google Shape;1383;p74"/>
          <p:cNvCxnSpPr/>
          <p:nvPr/>
        </p:nvCxnSpPr>
        <p:spPr>
          <a:xfrm>
            <a:off x="7318275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74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4" name="Google Shape;1384;p74"/>
          <p:cNvSpPr txBox="1"/>
          <p:nvPr/>
        </p:nvSpPr>
        <p:spPr>
          <a:xfrm>
            <a:off x="7117192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5" name="Google Shape;1385;p74"/>
          <p:cNvCxnSpPr/>
          <p:nvPr/>
        </p:nvCxnSpPr>
        <p:spPr>
          <a:xfrm>
            <a:off x="7775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74"/>
          <p:cNvCxnSpPr/>
          <p:nvPr/>
        </p:nvCxnSpPr>
        <p:spPr>
          <a:xfrm flipH="1">
            <a:off x="7013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74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7" name="Google Shape;1387;p74"/>
          <p:cNvSpPr txBox="1"/>
          <p:nvPr/>
        </p:nvSpPr>
        <p:spPr>
          <a:xfrm>
            <a:off x="714281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8" name="Google Shape;1388;p74"/>
          <p:cNvSpPr txBox="1"/>
          <p:nvPr/>
        </p:nvSpPr>
        <p:spPr>
          <a:xfrm>
            <a:off x="7596600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9" name="Google Shape;1389;p74"/>
          <p:cNvCxnSpPr/>
          <p:nvPr/>
        </p:nvCxnSpPr>
        <p:spPr>
          <a:xfrm flipH="1">
            <a:off x="7928200" y="32243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74"/>
          <p:cNvSpPr txBox="1"/>
          <p:nvPr/>
        </p:nvSpPr>
        <p:spPr>
          <a:xfrm>
            <a:off x="798849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74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Disabling Links</a:t>
            </a:r>
            <a:endParaRPr/>
          </a:p>
        </p:txBody>
      </p:sp>
      <p:sp>
        <p:nvSpPr>
          <p:cNvPr id="1396" name="Google Shape;1396;p75"/>
          <p:cNvSpPr txBox="1"/>
          <p:nvPr>
            <p:ph idx="1" type="body"/>
          </p:nvPr>
        </p:nvSpPr>
        <p:spPr>
          <a:xfrm>
            <a:off x="107050" y="402200"/>
            <a:ext cx="5672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 can now disable its </a:t>
            </a: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disable a port: Do not send/receive data packets with that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does this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/>
              <a:t> is your best path toward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/>
              <a:t> are worse, redundant paths toward root. Disable these ports.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/>
              <a:t> lead away from the root.</a:t>
            </a:r>
            <a:br>
              <a:rPr lang="en"/>
            </a:br>
            <a:r>
              <a:rPr lang="en"/>
              <a:t>Other further-away routers might use this port (along their shortest paths to root), so leave these enabled for further-away routers to use.</a:t>
            </a:r>
            <a:endParaRPr/>
          </a:p>
        </p:txBody>
      </p:sp>
      <p:cxnSp>
        <p:nvCxnSpPr>
          <p:cNvPr id="1397" name="Google Shape;1397;p75"/>
          <p:cNvCxnSpPr>
            <a:stCxn id="1398" idx="0"/>
            <a:endCxn id="1399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0" name="Google Shape;1400;p75"/>
          <p:cNvCxnSpPr>
            <a:stCxn id="1401" idx="0"/>
            <a:endCxn id="1399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75"/>
          <p:cNvCxnSpPr>
            <a:stCxn id="1398" idx="2"/>
            <a:endCxn id="1403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4" name="Google Shape;1404;p75"/>
          <p:cNvCxnSpPr>
            <a:stCxn id="1405" idx="0"/>
            <a:endCxn id="1403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75"/>
          <p:cNvCxnSpPr>
            <a:stCxn id="1405" idx="0"/>
            <a:endCxn id="1401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75"/>
          <p:cNvCxnSpPr>
            <a:stCxn id="1408" idx="0"/>
            <a:endCxn id="1403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75"/>
          <p:cNvCxnSpPr>
            <a:stCxn id="1408" idx="2"/>
            <a:endCxn id="1410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75"/>
          <p:cNvCxnSpPr>
            <a:stCxn id="1405" idx="2"/>
            <a:endCxn id="1410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75"/>
          <p:cNvCxnSpPr>
            <a:stCxn id="1398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75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4" name="Google Shape;1414;p75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5" name="Google Shape;1415;p75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6" name="Google Shape;1416;p75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75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8" name="Google Shape;1418;p75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9" name="Google Shape;1419;p75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9" name="Google Shape;1399;p75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75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1" name="Google Shape;1421;p75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2" name="Google Shape;1422;p75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75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4" name="Google Shape;1424;p75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75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75"/>
          <p:cNvSpPr txBox="1"/>
          <p:nvPr/>
        </p:nvSpPr>
        <p:spPr>
          <a:xfrm>
            <a:off x="83334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75"/>
          <p:cNvCxnSpPr/>
          <p:nvPr/>
        </p:nvCxnSpPr>
        <p:spPr>
          <a:xfrm flipH="1">
            <a:off x="7470600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8" name="Google Shape;1398;p75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75"/>
          <p:cNvSpPr txBox="1"/>
          <p:nvPr/>
        </p:nvSpPr>
        <p:spPr>
          <a:xfrm>
            <a:off x="73428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9" name="Google Shape;1429;p75"/>
          <p:cNvCxnSpPr/>
          <p:nvPr/>
        </p:nvCxnSpPr>
        <p:spPr>
          <a:xfrm>
            <a:off x="7470675" y="23057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75"/>
          <p:cNvSpPr txBox="1"/>
          <p:nvPr/>
        </p:nvSpPr>
        <p:spPr>
          <a:xfrm>
            <a:off x="7244175" y="2305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75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1" name="Google Shape;1431;p75"/>
          <p:cNvCxnSpPr/>
          <p:nvPr/>
        </p:nvCxnSpPr>
        <p:spPr>
          <a:xfrm>
            <a:off x="8206575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1" name="Google Shape;1401;p75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2" name="Google Shape;1432;p75"/>
          <p:cNvCxnSpPr/>
          <p:nvPr/>
        </p:nvCxnSpPr>
        <p:spPr>
          <a:xfrm flipH="1">
            <a:off x="7471000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3" name="Google Shape;1433;p75"/>
          <p:cNvSpPr txBox="1"/>
          <p:nvPr/>
        </p:nvSpPr>
        <p:spPr>
          <a:xfrm>
            <a:off x="7622340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0" name="Google Shape;1410;p75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4" name="Google Shape;1434;p75"/>
          <p:cNvSpPr txBox="1"/>
          <p:nvPr/>
        </p:nvSpPr>
        <p:spPr>
          <a:xfrm>
            <a:off x="7117192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5" name="Google Shape;1435;p75"/>
          <p:cNvCxnSpPr/>
          <p:nvPr/>
        </p:nvCxnSpPr>
        <p:spPr>
          <a:xfrm flipH="1">
            <a:off x="7013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75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75"/>
          <p:cNvSpPr txBox="1"/>
          <p:nvPr/>
        </p:nvSpPr>
        <p:spPr>
          <a:xfrm>
            <a:off x="714281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7" name="Google Shape;1437;p75"/>
          <p:cNvSpPr txBox="1"/>
          <p:nvPr/>
        </p:nvSpPr>
        <p:spPr>
          <a:xfrm>
            <a:off x="7596600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8" name="Google Shape;1438;p75"/>
          <p:cNvCxnSpPr/>
          <p:nvPr/>
        </p:nvCxnSpPr>
        <p:spPr>
          <a:xfrm flipH="1">
            <a:off x="7928200" y="32243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75"/>
          <p:cNvSpPr txBox="1"/>
          <p:nvPr/>
        </p:nvSpPr>
        <p:spPr>
          <a:xfrm>
            <a:off x="798849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75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Disabling Links</a:t>
            </a:r>
            <a:endParaRPr/>
          </a:p>
        </p:txBody>
      </p:sp>
      <p:sp>
        <p:nvSpPr>
          <p:cNvPr id="1445" name="Google Shape;1445;p76"/>
          <p:cNvSpPr txBox="1"/>
          <p:nvPr>
            <p:ph idx="1" type="body"/>
          </p:nvPr>
        </p:nvSpPr>
        <p:spPr>
          <a:xfrm>
            <a:off x="107050" y="402200"/>
            <a:ext cx="8983200" cy="27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link is disabled by only one side.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further side thinks: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link along my shortest path to root?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yes, enable it (</a:t>
            </a:r>
            <a:r>
              <a:rPr b="1" lang="en">
                <a:solidFill>
                  <a:srgbClr val="6AA84F"/>
                </a:solidFill>
              </a:rPr>
              <a:t>RP</a:t>
            </a:r>
            <a:r>
              <a:rPr lang="en"/>
              <a:t>). If no, disable it (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closer side thinks: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further side might need this link (it might be along their shortest path to root). So I'll leave it enabled just in case (</a:t>
            </a:r>
            <a:r>
              <a:rPr b="1" lang="en">
                <a:solidFill>
                  <a:srgbClr val="0000FF"/>
                </a:solidFill>
              </a:rPr>
              <a:t>DP</a:t>
            </a:r>
            <a:r>
              <a:rPr lang="en"/>
              <a:t>).</a:t>
            </a:r>
            <a:endParaRPr/>
          </a:p>
        </p:txBody>
      </p:sp>
      <p:cxnSp>
        <p:nvCxnSpPr>
          <p:cNvPr id="1446" name="Google Shape;1446;p76"/>
          <p:cNvCxnSpPr>
            <a:stCxn id="1447" idx="2"/>
            <a:endCxn id="1448" idx="0"/>
          </p:cNvCxnSpPr>
          <p:nvPr/>
        </p:nvCxnSpPr>
        <p:spPr>
          <a:xfrm>
            <a:off x="4343400" y="367527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76"/>
          <p:cNvSpPr txBox="1"/>
          <p:nvPr/>
        </p:nvSpPr>
        <p:spPr>
          <a:xfrm>
            <a:off x="4472740" y="367527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0" name="Google Shape;1450;p76"/>
          <p:cNvCxnSpPr/>
          <p:nvPr/>
        </p:nvCxnSpPr>
        <p:spPr>
          <a:xfrm>
            <a:off x="4343403" y="367497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76"/>
          <p:cNvCxnSpPr/>
          <p:nvPr/>
        </p:nvCxnSpPr>
        <p:spPr>
          <a:xfrm>
            <a:off x="4648200" y="408007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76"/>
          <p:cNvSpPr/>
          <p:nvPr/>
        </p:nvSpPr>
        <p:spPr>
          <a:xfrm>
            <a:off x="4648200" y="42848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76"/>
          <p:cNvSpPr txBox="1"/>
          <p:nvPr/>
        </p:nvSpPr>
        <p:spPr>
          <a:xfrm>
            <a:off x="4447117" y="407608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76"/>
          <p:cNvSpPr/>
          <p:nvPr/>
        </p:nvSpPr>
        <p:spPr>
          <a:xfrm>
            <a:off x="4191000" y="33704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3" name="Google Shape;1453;p76"/>
          <p:cNvSpPr/>
          <p:nvPr/>
        </p:nvSpPr>
        <p:spPr>
          <a:xfrm>
            <a:off x="803250" y="3508000"/>
            <a:ext cx="2941500" cy="1296300"/>
          </a:xfrm>
          <a:prstGeom prst="wedgeRoundRectCallout">
            <a:avLst>
              <a:gd fmla="val 62333" name="adj1"/>
              <a:gd fmla="val -4851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on the closer side of this link.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leave this link enabled (DP).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other side can disable this link if they don't need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76"/>
          <p:cNvSpPr/>
          <p:nvPr/>
        </p:nvSpPr>
        <p:spPr>
          <a:xfrm>
            <a:off x="5351650" y="3442450"/>
            <a:ext cx="3146400" cy="999600"/>
          </a:xfrm>
          <a:prstGeom prst="wedgeRoundRectCallout">
            <a:avLst>
              <a:gd fmla="val -59856" name="adj1"/>
              <a:gd fmla="val 4719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on the further side of this link.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don't need this link (not my shortest path to root), so I'll disable it (BP).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Ties</a:t>
            </a:r>
            <a:endParaRPr/>
          </a:p>
        </p:txBody>
      </p:sp>
      <p:sp>
        <p:nvSpPr>
          <p:cNvPr id="1460" name="Google Shape;1460;p77"/>
          <p:cNvSpPr txBox="1"/>
          <p:nvPr>
            <p:ph idx="1" type="body"/>
          </p:nvPr>
        </p:nvSpPr>
        <p:spPr>
          <a:xfrm>
            <a:off x="107050" y="402200"/>
            <a:ext cx="5884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two shortest paths to the root?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router ID to tiebreak.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 ID = shortest path to root (</a:t>
            </a:r>
            <a:r>
              <a:rPr b="1" lang="en">
                <a:solidFill>
                  <a:srgbClr val="6AA84F"/>
                </a:solidFill>
              </a:rPr>
              <a:t>RP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ID = not shortest path to root (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/>
              <a:t>).</a:t>
            </a:r>
            <a:endParaRPr/>
          </a:p>
        </p:txBody>
      </p:sp>
      <p:cxnSp>
        <p:nvCxnSpPr>
          <p:cNvPr id="1461" name="Google Shape;1461;p77"/>
          <p:cNvCxnSpPr>
            <a:stCxn id="1462" idx="0"/>
            <a:endCxn id="1463" idx="2"/>
          </p:cNvCxnSpPr>
          <p:nvPr/>
        </p:nvCxnSpPr>
        <p:spPr>
          <a:xfrm flipH="1" rot="10800000">
            <a:off x="7414400" y="1821072"/>
            <a:ext cx="609600" cy="60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77"/>
          <p:cNvCxnSpPr>
            <a:stCxn id="1465" idx="0"/>
            <a:endCxn id="1463" idx="2"/>
          </p:cNvCxnSpPr>
          <p:nvPr/>
        </p:nvCxnSpPr>
        <p:spPr>
          <a:xfrm rot="10800000">
            <a:off x="8024000" y="1821072"/>
            <a:ext cx="609600" cy="60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77"/>
          <p:cNvCxnSpPr>
            <a:stCxn id="1467" idx="0"/>
            <a:endCxn id="1462" idx="2"/>
          </p:cNvCxnSpPr>
          <p:nvPr/>
        </p:nvCxnSpPr>
        <p:spPr>
          <a:xfrm rot="10800000">
            <a:off x="7414400" y="2732350"/>
            <a:ext cx="609600" cy="61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77"/>
          <p:cNvCxnSpPr>
            <a:stCxn id="1467" idx="0"/>
            <a:endCxn id="1465" idx="2"/>
          </p:cNvCxnSpPr>
          <p:nvPr/>
        </p:nvCxnSpPr>
        <p:spPr>
          <a:xfrm flipH="1" rot="10800000">
            <a:off x="8024000" y="2732350"/>
            <a:ext cx="609600" cy="61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9" name="Google Shape;1469;p77"/>
          <p:cNvSpPr/>
          <p:nvPr/>
        </p:nvSpPr>
        <p:spPr>
          <a:xfrm>
            <a:off x="6145700" y="3710125"/>
            <a:ext cx="1666800" cy="10608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and R3 both yield shortest paths to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Tiebreak: Choose R2 (lower ID).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0" name="Google Shape;1470;p77"/>
          <p:cNvCxnSpPr/>
          <p:nvPr/>
        </p:nvCxnSpPr>
        <p:spPr>
          <a:xfrm flipH="1">
            <a:off x="7812488" y="18212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1" name="Google Shape;1471;p77"/>
          <p:cNvSpPr txBox="1"/>
          <p:nvPr/>
        </p:nvSpPr>
        <p:spPr>
          <a:xfrm>
            <a:off x="7646285" y="182137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77"/>
          <p:cNvSpPr txBox="1"/>
          <p:nvPr/>
        </p:nvSpPr>
        <p:spPr>
          <a:xfrm>
            <a:off x="8202150" y="182137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3" name="Google Shape;1473;p77"/>
          <p:cNvCxnSpPr/>
          <p:nvPr/>
        </p:nvCxnSpPr>
        <p:spPr>
          <a:xfrm>
            <a:off x="8023991" y="18209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77"/>
          <p:cNvSpPr/>
          <p:nvPr/>
        </p:nvSpPr>
        <p:spPr>
          <a:xfrm>
            <a:off x="7871600" y="151615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4" name="Google Shape;1474;p77"/>
          <p:cNvSpPr txBox="1"/>
          <p:nvPr/>
        </p:nvSpPr>
        <p:spPr>
          <a:xfrm>
            <a:off x="7582950" y="27328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5" name="Google Shape;1475;p77"/>
          <p:cNvCxnSpPr/>
          <p:nvPr/>
        </p:nvCxnSpPr>
        <p:spPr>
          <a:xfrm>
            <a:off x="7414391" y="2732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77"/>
          <p:cNvCxnSpPr/>
          <p:nvPr/>
        </p:nvCxnSpPr>
        <p:spPr>
          <a:xfrm flipH="1">
            <a:off x="8422088" y="2732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77"/>
          <p:cNvSpPr txBox="1"/>
          <p:nvPr/>
        </p:nvSpPr>
        <p:spPr>
          <a:xfrm>
            <a:off x="8255885" y="27326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8" name="Google Shape;1478;p77"/>
          <p:cNvSpPr txBox="1"/>
          <p:nvPr/>
        </p:nvSpPr>
        <p:spPr>
          <a:xfrm>
            <a:off x="8597338" y="22179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9" name="Google Shape;1479;p77"/>
          <p:cNvCxnSpPr/>
          <p:nvPr/>
        </p:nvCxnSpPr>
        <p:spPr>
          <a:xfrm>
            <a:off x="8422091" y="22176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77"/>
          <p:cNvSpPr/>
          <p:nvPr/>
        </p:nvSpPr>
        <p:spPr>
          <a:xfrm>
            <a:off x="8481200" y="242767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77"/>
          <p:cNvCxnSpPr/>
          <p:nvPr/>
        </p:nvCxnSpPr>
        <p:spPr>
          <a:xfrm flipH="1">
            <a:off x="7414388" y="22176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77"/>
          <p:cNvSpPr/>
          <p:nvPr/>
        </p:nvSpPr>
        <p:spPr>
          <a:xfrm>
            <a:off x="7262000" y="242767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1" name="Google Shape;1481;p77"/>
          <p:cNvSpPr txBox="1"/>
          <p:nvPr/>
        </p:nvSpPr>
        <p:spPr>
          <a:xfrm>
            <a:off x="7225738" y="22179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2" name="Google Shape;1482;p77"/>
          <p:cNvSpPr txBox="1"/>
          <p:nvPr/>
        </p:nvSpPr>
        <p:spPr>
          <a:xfrm>
            <a:off x="7627649" y="31352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3" name="Google Shape;1483;p77"/>
          <p:cNvCxnSpPr/>
          <p:nvPr/>
        </p:nvCxnSpPr>
        <p:spPr>
          <a:xfrm>
            <a:off x="7812491" y="31349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77"/>
          <p:cNvCxnSpPr/>
          <p:nvPr/>
        </p:nvCxnSpPr>
        <p:spPr>
          <a:xfrm flipH="1">
            <a:off x="8023991" y="31349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7" name="Google Shape;1467;p77"/>
          <p:cNvSpPr/>
          <p:nvPr/>
        </p:nvSpPr>
        <p:spPr>
          <a:xfrm>
            <a:off x="7871600" y="33449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5" name="Google Shape;1485;p77"/>
          <p:cNvSpPr txBox="1"/>
          <p:nvPr/>
        </p:nvSpPr>
        <p:spPr>
          <a:xfrm>
            <a:off x="8220217" y="31352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Ties</a:t>
            </a:r>
            <a:endParaRPr/>
          </a:p>
        </p:txBody>
      </p:sp>
      <p:sp>
        <p:nvSpPr>
          <p:cNvPr id="1491" name="Google Shape;1491;p78"/>
          <p:cNvSpPr txBox="1"/>
          <p:nvPr>
            <p:ph idx="1" type="body"/>
          </p:nvPr>
        </p:nvSpPr>
        <p:spPr>
          <a:xfrm>
            <a:off x="107050" y="402200"/>
            <a:ext cx="8909700" cy="15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link leads to a router equally-far from the root as you: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their ID is higher, they are "further" (</a:t>
            </a:r>
            <a:r>
              <a:rPr b="1" lang="en">
                <a:solidFill>
                  <a:srgbClr val="0000FF"/>
                </a:solidFill>
              </a:rPr>
              <a:t>DP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their ID is lower, they are "closer" (</a:t>
            </a:r>
            <a:r>
              <a:rPr b="1" lang="en">
                <a:solidFill>
                  <a:srgbClr val="6AA84F"/>
                </a:solidFill>
              </a:rPr>
              <a:t>RP</a:t>
            </a:r>
            <a:r>
              <a:rPr lang="en"/>
              <a:t> or 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/>
              <a:t>).</a:t>
            </a:r>
            <a:endParaRPr/>
          </a:p>
        </p:txBody>
      </p:sp>
      <p:cxnSp>
        <p:nvCxnSpPr>
          <p:cNvPr id="1492" name="Google Shape;1492;p78"/>
          <p:cNvCxnSpPr>
            <a:stCxn id="1493" idx="0"/>
            <a:endCxn id="1494" idx="2"/>
          </p:cNvCxnSpPr>
          <p:nvPr/>
        </p:nvCxnSpPr>
        <p:spPr>
          <a:xfrm flipH="1" rot="10800000">
            <a:off x="3891738" y="2325788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78"/>
          <p:cNvCxnSpPr>
            <a:stCxn id="1496" idx="0"/>
            <a:endCxn id="1494" idx="2"/>
          </p:cNvCxnSpPr>
          <p:nvPr/>
        </p:nvCxnSpPr>
        <p:spPr>
          <a:xfrm rot="10800000">
            <a:off x="4501338" y="2325788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78"/>
          <p:cNvCxnSpPr>
            <a:stCxn id="1493" idx="3"/>
            <a:endCxn id="1496" idx="1"/>
          </p:cNvCxnSpPr>
          <p:nvPr/>
        </p:nvCxnSpPr>
        <p:spPr>
          <a:xfrm>
            <a:off x="4044138" y="3087788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78"/>
          <p:cNvCxnSpPr>
            <a:stCxn id="1493" idx="2"/>
            <a:endCxn id="1499" idx="0"/>
          </p:cNvCxnSpPr>
          <p:nvPr/>
        </p:nvCxnSpPr>
        <p:spPr>
          <a:xfrm>
            <a:off x="3891738" y="3240188"/>
            <a:ext cx="0" cy="83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78"/>
          <p:cNvCxnSpPr>
            <a:stCxn id="1496" idx="2"/>
            <a:endCxn id="1501" idx="0"/>
          </p:cNvCxnSpPr>
          <p:nvPr/>
        </p:nvCxnSpPr>
        <p:spPr>
          <a:xfrm>
            <a:off x="5110938" y="3240188"/>
            <a:ext cx="0" cy="83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78"/>
          <p:cNvCxnSpPr>
            <a:stCxn id="1499" idx="3"/>
            <a:endCxn id="1501" idx="1"/>
          </p:cNvCxnSpPr>
          <p:nvPr/>
        </p:nvCxnSpPr>
        <p:spPr>
          <a:xfrm>
            <a:off x="4044138" y="4230788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78"/>
          <p:cNvSpPr txBox="1"/>
          <p:nvPr/>
        </p:nvSpPr>
        <p:spPr>
          <a:xfrm>
            <a:off x="4127415" y="232623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78"/>
          <p:cNvSpPr txBox="1"/>
          <p:nvPr/>
        </p:nvSpPr>
        <p:spPr>
          <a:xfrm>
            <a:off x="4683280" y="232623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78"/>
          <p:cNvSpPr txBox="1"/>
          <p:nvPr/>
        </p:nvSpPr>
        <p:spPr>
          <a:xfrm>
            <a:off x="5084119" y="27256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6" name="Google Shape;1506;p78"/>
          <p:cNvCxnSpPr/>
          <p:nvPr/>
        </p:nvCxnSpPr>
        <p:spPr>
          <a:xfrm>
            <a:off x="4932963" y="2757450"/>
            <a:ext cx="178200" cy="17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78"/>
          <p:cNvSpPr txBox="1"/>
          <p:nvPr/>
        </p:nvSpPr>
        <p:spPr>
          <a:xfrm>
            <a:off x="3702936" y="27256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8" name="Google Shape;1508;p78"/>
          <p:cNvCxnSpPr>
            <a:stCxn id="1509" idx="1"/>
            <a:endCxn id="1493" idx="3"/>
          </p:cNvCxnSpPr>
          <p:nvPr/>
        </p:nvCxnSpPr>
        <p:spPr>
          <a:xfrm rot="10800000">
            <a:off x="4044138" y="30877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78"/>
          <p:cNvSpPr txBox="1"/>
          <p:nvPr/>
        </p:nvSpPr>
        <p:spPr>
          <a:xfrm>
            <a:off x="4045186" y="2878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1" name="Google Shape;1511;p78"/>
          <p:cNvCxnSpPr/>
          <p:nvPr/>
        </p:nvCxnSpPr>
        <p:spPr>
          <a:xfrm rot="10800000">
            <a:off x="4729938" y="3087788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78"/>
          <p:cNvSpPr txBox="1"/>
          <p:nvPr/>
        </p:nvSpPr>
        <p:spPr>
          <a:xfrm>
            <a:off x="4730986" y="2878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3" name="Google Shape;1513;p78"/>
          <p:cNvCxnSpPr/>
          <p:nvPr/>
        </p:nvCxnSpPr>
        <p:spPr>
          <a:xfrm rot="10800000">
            <a:off x="4044138" y="42307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78"/>
          <p:cNvSpPr txBox="1"/>
          <p:nvPr/>
        </p:nvSpPr>
        <p:spPr>
          <a:xfrm>
            <a:off x="4045186" y="4229622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78"/>
          <p:cNvCxnSpPr/>
          <p:nvPr/>
        </p:nvCxnSpPr>
        <p:spPr>
          <a:xfrm rot="10800000">
            <a:off x="4729938" y="4230788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6" name="Google Shape;1516;p78"/>
          <p:cNvSpPr txBox="1"/>
          <p:nvPr/>
        </p:nvSpPr>
        <p:spPr>
          <a:xfrm>
            <a:off x="4730986" y="4229622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78"/>
          <p:cNvCxnSpPr/>
          <p:nvPr/>
        </p:nvCxnSpPr>
        <p:spPr>
          <a:xfrm rot="5400000">
            <a:off x="3777438" y="39640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8" name="Google Shape;1518;p78"/>
          <p:cNvSpPr txBox="1"/>
          <p:nvPr/>
        </p:nvSpPr>
        <p:spPr>
          <a:xfrm>
            <a:off x="3892786" y="38689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78"/>
          <p:cNvSpPr/>
          <p:nvPr/>
        </p:nvSpPr>
        <p:spPr>
          <a:xfrm>
            <a:off x="3739338" y="4078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9" name="Google Shape;1519;p78"/>
          <p:cNvCxnSpPr/>
          <p:nvPr/>
        </p:nvCxnSpPr>
        <p:spPr>
          <a:xfrm rot="5400000">
            <a:off x="4996638" y="39640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0" name="Google Shape;1520;p78"/>
          <p:cNvSpPr txBox="1"/>
          <p:nvPr/>
        </p:nvSpPr>
        <p:spPr>
          <a:xfrm>
            <a:off x="4883386" y="38689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1" name="Google Shape;1501;p78"/>
          <p:cNvSpPr/>
          <p:nvPr/>
        </p:nvSpPr>
        <p:spPr>
          <a:xfrm>
            <a:off x="4958538" y="4078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1" name="Google Shape;1521;p78"/>
          <p:cNvCxnSpPr/>
          <p:nvPr/>
        </p:nvCxnSpPr>
        <p:spPr>
          <a:xfrm rot="5400000">
            <a:off x="3777438" y="33544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78"/>
          <p:cNvSpPr txBox="1"/>
          <p:nvPr/>
        </p:nvSpPr>
        <p:spPr>
          <a:xfrm>
            <a:off x="3892786" y="3259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3" name="Google Shape;1523;p78"/>
          <p:cNvCxnSpPr/>
          <p:nvPr/>
        </p:nvCxnSpPr>
        <p:spPr>
          <a:xfrm rot="5400000">
            <a:off x="4996638" y="33544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78"/>
          <p:cNvSpPr txBox="1"/>
          <p:nvPr/>
        </p:nvSpPr>
        <p:spPr>
          <a:xfrm>
            <a:off x="4883386" y="3259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78"/>
          <p:cNvSpPr/>
          <p:nvPr/>
        </p:nvSpPr>
        <p:spPr>
          <a:xfrm>
            <a:off x="4958538" y="2935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5" name="Google Shape;1525;p78"/>
          <p:cNvCxnSpPr/>
          <p:nvPr/>
        </p:nvCxnSpPr>
        <p:spPr>
          <a:xfrm flipH="1">
            <a:off x="3891863" y="2741275"/>
            <a:ext cx="194100" cy="194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3" name="Google Shape;1493;p78"/>
          <p:cNvSpPr/>
          <p:nvPr/>
        </p:nvSpPr>
        <p:spPr>
          <a:xfrm>
            <a:off x="3739338" y="2935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6" name="Google Shape;1526;p78"/>
          <p:cNvCxnSpPr/>
          <p:nvPr/>
        </p:nvCxnSpPr>
        <p:spPr>
          <a:xfrm flipH="1">
            <a:off x="4301238" y="2325788"/>
            <a:ext cx="200100" cy="200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78"/>
          <p:cNvCxnSpPr/>
          <p:nvPr/>
        </p:nvCxnSpPr>
        <p:spPr>
          <a:xfrm>
            <a:off x="4501338" y="2326238"/>
            <a:ext cx="212100" cy="212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78"/>
          <p:cNvSpPr/>
          <p:nvPr/>
        </p:nvSpPr>
        <p:spPr>
          <a:xfrm>
            <a:off x="4348938" y="2020988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8" name="Google Shape;1528;p78"/>
          <p:cNvSpPr/>
          <p:nvPr/>
        </p:nvSpPr>
        <p:spPr>
          <a:xfrm flipH="1">
            <a:off x="5701263" y="3087800"/>
            <a:ext cx="25998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1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is also 1 away from root, but its ID is lower, so R2 is "closer" (RP/BP).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9" name="Google Shape;1529;p78"/>
          <p:cNvSpPr/>
          <p:nvPr/>
        </p:nvSpPr>
        <p:spPr>
          <a:xfrm>
            <a:off x="822738" y="4230800"/>
            <a:ext cx="25356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2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R5 is also 2 away from root, but its ID is higher, so R5 is "further" (DP).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0" name="Google Shape;1530;p78"/>
          <p:cNvSpPr/>
          <p:nvPr/>
        </p:nvSpPr>
        <p:spPr>
          <a:xfrm>
            <a:off x="822738" y="3087800"/>
            <a:ext cx="25356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1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R3 is also 1 away from root, but its ID is higher, so R3 is "further" (DP).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1" name="Google Shape;1531;p78"/>
          <p:cNvSpPr/>
          <p:nvPr/>
        </p:nvSpPr>
        <p:spPr>
          <a:xfrm flipH="1">
            <a:off x="5701263" y="4230800"/>
            <a:ext cx="25998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2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R4 is also 2 away from root, but its ID is lower, so R4 is "closer" (RP/BP).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STP With Shared Medium Links</a:t>
            </a:r>
            <a:endParaRPr/>
          </a:p>
        </p:txBody>
      </p:sp>
      <p:sp>
        <p:nvSpPr>
          <p:cNvPr id="1537" name="Google Shape;1537;p79"/>
          <p:cNvSpPr txBox="1"/>
          <p:nvPr>
            <p:ph idx="1" type="body"/>
          </p:nvPr>
        </p:nvSpPr>
        <p:spPr>
          <a:xfrm>
            <a:off x="107050" y="402200"/>
            <a:ext cx="5496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does "Designated" mean, anyway?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Remember: A single link could have multiple hosts/routers connected to it (shared medium).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hosts on that link send a packet, the packet is received on the </a:t>
            </a:r>
            <a:r>
              <a:rPr b="1" lang="en">
                <a:solidFill>
                  <a:srgbClr val="0000FF"/>
                </a:solidFill>
              </a:rPr>
              <a:t>DP</a:t>
            </a:r>
            <a:r>
              <a:rPr lang="en">
                <a:solidFill>
                  <a:srgbClr val="000000"/>
                </a:solidFill>
              </a:rPr>
              <a:t>, but not on the 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approach helps us avoid loops.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packet was received on both ports, it could take multiple paths to the destination, creating a loop.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538" name="Google Shape;1538;p79"/>
          <p:cNvCxnSpPr>
            <a:stCxn id="1539" idx="0"/>
            <a:endCxn id="1540" idx="2"/>
          </p:cNvCxnSpPr>
          <p:nvPr/>
        </p:nvCxnSpPr>
        <p:spPr>
          <a:xfrm flipH="1" rot="10800000">
            <a:off x="6289650" y="1202900"/>
            <a:ext cx="106680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79"/>
          <p:cNvCxnSpPr>
            <a:stCxn id="1542" idx="0"/>
            <a:endCxn id="1540" idx="2"/>
          </p:cNvCxnSpPr>
          <p:nvPr/>
        </p:nvCxnSpPr>
        <p:spPr>
          <a:xfrm rot="10800000">
            <a:off x="7356450" y="1202900"/>
            <a:ext cx="106680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79"/>
          <p:cNvCxnSpPr>
            <a:stCxn id="1539" idx="3"/>
            <a:endCxn id="1542" idx="1"/>
          </p:cNvCxnSpPr>
          <p:nvPr/>
        </p:nvCxnSpPr>
        <p:spPr>
          <a:xfrm>
            <a:off x="6442050" y="242210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4" name="Google Shape;1544;p79"/>
          <p:cNvCxnSpPr>
            <a:stCxn id="1539" idx="2"/>
            <a:endCxn id="1545" idx="0"/>
          </p:cNvCxnSpPr>
          <p:nvPr/>
        </p:nvCxnSpPr>
        <p:spPr>
          <a:xfrm>
            <a:off x="6289650" y="2574500"/>
            <a:ext cx="0" cy="12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9"/>
          <p:cNvCxnSpPr>
            <a:stCxn id="1542" idx="2"/>
            <a:endCxn id="1547" idx="0"/>
          </p:cNvCxnSpPr>
          <p:nvPr/>
        </p:nvCxnSpPr>
        <p:spPr>
          <a:xfrm>
            <a:off x="8423250" y="2574500"/>
            <a:ext cx="0" cy="12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79"/>
          <p:cNvCxnSpPr>
            <a:stCxn id="1545" idx="3"/>
            <a:endCxn id="1547" idx="1"/>
          </p:cNvCxnSpPr>
          <p:nvPr/>
        </p:nvCxnSpPr>
        <p:spPr>
          <a:xfrm>
            <a:off x="6442050" y="394610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79"/>
          <p:cNvCxnSpPr/>
          <p:nvPr/>
        </p:nvCxnSpPr>
        <p:spPr>
          <a:xfrm flipH="1">
            <a:off x="7144950" y="120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0" name="Google Shape;1550;p79"/>
          <p:cNvSpPr txBox="1"/>
          <p:nvPr/>
        </p:nvSpPr>
        <p:spPr>
          <a:xfrm>
            <a:off x="6982528" y="12033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1" name="Google Shape;1551;p79"/>
          <p:cNvSpPr txBox="1"/>
          <p:nvPr/>
        </p:nvSpPr>
        <p:spPr>
          <a:xfrm>
            <a:off x="7538392" y="12033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79"/>
          <p:cNvCxnSpPr/>
          <p:nvPr/>
        </p:nvCxnSpPr>
        <p:spPr>
          <a:xfrm>
            <a:off x="7356453" y="12029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0" name="Google Shape;1540;p79"/>
          <p:cNvSpPr/>
          <p:nvPr/>
        </p:nvSpPr>
        <p:spPr>
          <a:xfrm>
            <a:off x="7204050" y="8981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79"/>
          <p:cNvSpPr txBox="1"/>
          <p:nvPr/>
        </p:nvSpPr>
        <p:spPr>
          <a:xfrm>
            <a:off x="8396432" y="20600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79"/>
          <p:cNvCxnSpPr/>
          <p:nvPr/>
        </p:nvCxnSpPr>
        <p:spPr>
          <a:xfrm>
            <a:off x="8211759" y="20597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79"/>
          <p:cNvCxnSpPr/>
          <p:nvPr/>
        </p:nvCxnSpPr>
        <p:spPr>
          <a:xfrm flipH="1">
            <a:off x="6289638" y="20597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79"/>
          <p:cNvSpPr txBox="1"/>
          <p:nvPr/>
        </p:nvSpPr>
        <p:spPr>
          <a:xfrm>
            <a:off x="6100849" y="20600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79"/>
          <p:cNvCxnSpPr>
            <a:stCxn id="1558" idx="1"/>
            <a:endCxn id="1539" idx="3"/>
          </p:cNvCxnSpPr>
          <p:nvPr/>
        </p:nvCxnSpPr>
        <p:spPr>
          <a:xfrm rot="10800000">
            <a:off x="6442050" y="24221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9" name="Google Shape;1559;p79"/>
          <p:cNvSpPr txBox="1"/>
          <p:nvPr/>
        </p:nvSpPr>
        <p:spPr>
          <a:xfrm>
            <a:off x="6443099" y="2212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0" name="Google Shape;1560;p79"/>
          <p:cNvCxnSpPr/>
          <p:nvPr/>
        </p:nvCxnSpPr>
        <p:spPr>
          <a:xfrm rot="10800000">
            <a:off x="8042250" y="24221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1" name="Google Shape;1561;p79"/>
          <p:cNvSpPr txBox="1"/>
          <p:nvPr/>
        </p:nvSpPr>
        <p:spPr>
          <a:xfrm>
            <a:off x="8043299" y="2212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2" name="Google Shape;1562;p79"/>
          <p:cNvCxnSpPr/>
          <p:nvPr/>
        </p:nvCxnSpPr>
        <p:spPr>
          <a:xfrm rot="10800000">
            <a:off x="6442050" y="39461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3" name="Google Shape;1563;p79"/>
          <p:cNvSpPr txBox="1"/>
          <p:nvPr/>
        </p:nvSpPr>
        <p:spPr>
          <a:xfrm>
            <a:off x="6443099" y="3944934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4" name="Google Shape;1564;p79"/>
          <p:cNvCxnSpPr/>
          <p:nvPr/>
        </p:nvCxnSpPr>
        <p:spPr>
          <a:xfrm rot="10800000">
            <a:off x="8042250" y="39461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5" name="Google Shape;1565;p79"/>
          <p:cNvSpPr txBox="1"/>
          <p:nvPr/>
        </p:nvSpPr>
        <p:spPr>
          <a:xfrm>
            <a:off x="8043299" y="3944934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79"/>
          <p:cNvCxnSpPr/>
          <p:nvPr/>
        </p:nvCxnSpPr>
        <p:spPr>
          <a:xfrm rot="5400000">
            <a:off x="6175350" y="36794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7" name="Google Shape;1567;p79"/>
          <p:cNvSpPr txBox="1"/>
          <p:nvPr/>
        </p:nvSpPr>
        <p:spPr>
          <a:xfrm>
            <a:off x="6290699" y="358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79"/>
          <p:cNvSpPr/>
          <p:nvPr/>
        </p:nvSpPr>
        <p:spPr>
          <a:xfrm>
            <a:off x="6137250" y="3793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8" name="Google Shape;1568;p79"/>
          <p:cNvCxnSpPr/>
          <p:nvPr/>
        </p:nvCxnSpPr>
        <p:spPr>
          <a:xfrm rot="5400000">
            <a:off x="8308950" y="36794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79"/>
          <p:cNvSpPr txBox="1"/>
          <p:nvPr/>
        </p:nvSpPr>
        <p:spPr>
          <a:xfrm>
            <a:off x="8195699" y="358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7" name="Google Shape;1547;p79"/>
          <p:cNvSpPr/>
          <p:nvPr/>
        </p:nvSpPr>
        <p:spPr>
          <a:xfrm>
            <a:off x="8270850" y="3793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0" name="Google Shape;1570;p79"/>
          <p:cNvCxnSpPr>
            <a:endCxn id="1571" idx="5"/>
          </p:cNvCxnSpPr>
          <p:nvPr/>
        </p:nvCxnSpPr>
        <p:spPr>
          <a:xfrm rot="10800000">
            <a:off x="6537466" y="17269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1" name="Google Shape;1571;p79"/>
          <p:cNvSpPr/>
          <p:nvPr/>
        </p:nvSpPr>
        <p:spPr>
          <a:xfrm>
            <a:off x="6472425" y="16619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79"/>
          <p:cNvCxnSpPr>
            <a:endCxn id="1573" idx="5"/>
          </p:cNvCxnSpPr>
          <p:nvPr/>
        </p:nvCxnSpPr>
        <p:spPr>
          <a:xfrm rot="10800000">
            <a:off x="6613666" y="16507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79"/>
          <p:cNvSpPr/>
          <p:nvPr/>
        </p:nvSpPr>
        <p:spPr>
          <a:xfrm>
            <a:off x="6548625" y="15857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4" name="Google Shape;1574;p79"/>
          <p:cNvCxnSpPr>
            <a:endCxn id="1575" idx="5"/>
          </p:cNvCxnSpPr>
          <p:nvPr/>
        </p:nvCxnSpPr>
        <p:spPr>
          <a:xfrm rot="10800000">
            <a:off x="6689866" y="15745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5" name="Google Shape;1575;p79"/>
          <p:cNvSpPr/>
          <p:nvPr/>
        </p:nvSpPr>
        <p:spPr>
          <a:xfrm>
            <a:off x="6624825" y="15095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6" name="Google Shape;1576;p79"/>
          <p:cNvCxnSpPr>
            <a:endCxn id="1577" idx="5"/>
          </p:cNvCxnSpPr>
          <p:nvPr/>
        </p:nvCxnSpPr>
        <p:spPr>
          <a:xfrm rot="10800000">
            <a:off x="6766066" y="14983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7" name="Google Shape;1577;p79"/>
          <p:cNvSpPr/>
          <p:nvPr/>
        </p:nvSpPr>
        <p:spPr>
          <a:xfrm>
            <a:off x="6701025" y="14333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8" name="Google Shape;1578;p79"/>
          <p:cNvCxnSpPr>
            <a:endCxn id="1579" idx="5"/>
          </p:cNvCxnSpPr>
          <p:nvPr/>
        </p:nvCxnSpPr>
        <p:spPr>
          <a:xfrm flipH="1" rot="10800000">
            <a:off x="8027591" y="17269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9" name="Google Shape;1579;p79"/>
          <p:cNvSpPr/>
          <p:nvPr/>
        </p:nvSpPr>
        <p:spPr>
          <a:xfrm flipH="1">
            <a:off x="8167031" y="16619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0" name="Google Shape;1580;p79"/>
          <p:cNvCxnSpPr>
            <a:endCxn id="1581" idx="5"/>
          </p:cNvCxnSpPr>
          <p:nvPr/>
        </p:nvCxnSpPr>
        <p:spPr>
          <a:xfrm flipH="1" rot="10800000">
            <a:off x="7951391" y="16507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1" name="Google Shape;1581;p79"/>
          <p:cNvSpPr/>
          <p:nvPr/>
        </p:nvSpPr>
        <p:spPr>
          <a:xfrm flipH="1">
            <a:off x="8090831" y="15857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2" name="Google Shape;1582;p79"/>
          <p:cNvCxnSpPr>
            <a:endCxn id="1583" idx="5"/>
          </p:cNvCxnSpPr>
          <p:nvPr/>
        </p:nvCxnSpPr>
        <p:spPr>
          <a:xfrm flipH="1" rot="10800000">
            <a:off x="7875191" y="15745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3" name="Google Shape;1583;p79"/>
          <p:cNvSpPr/>
          <p:nvPr/>
        </p:nvSpPr>
        <p:spPr>
          <a:xfrm flipH="1">
            <a:off x="8014631" y="15095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4" name="Google Shape;1584;p79"/>
          <p:cNvCxnSpPr>
            <a:endCxn id="1585" idx="5"/>
          </p:cNvCxnSpPr>
          <p:nvPr/>
        </p:nvCxnSpPr>
        <p:spPr>
          <a:xfrm flipH="1" rot="10800000">
            <a:off x="7798991" y="14983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79"/>
          <p:cNvSpPr/>
          <p:nvPr/>
        </p:nvSpPr>
        <p:spPr>
          <a:xfrm flipH="1">
            <a:off x="7938431" y="14333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79"/>
          <p:cNvSpPr/>
          <p:nvPr/>
        </p:nvSpPr>
        <p:spPr>
          <a:xfrm>
            <a:off x="70602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79"/>
          <p:cNvCxnSpPr>
            <a:endCxn id="1586" idx="4"/>
          </p:cNvCxnSpPr>
          <p:nvPr/>
        </p:nvCxnSpPr>
        <p:spPr>
          <a:xfrm rot="10800000">
            <a:off x="70983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8" name="Google Shape;1588;p79"/>
          <p:cNvSpPr/>
          <p:nvPr/>
        </p:nvSpPr>
        <p:spPr>
          <a:xfrm>
            <a:off x="72126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79"/>
          <p:cNvCxnSpPr>
            <a:endCxn id="1588" idx="4"/>
          </p:cNvCxnSpPr>
          <p:nvPr/>
        </p:nvCxnSpPr>
        <p:spPr>
          <a:xfrm rot="10800000">
            <a:off x="72507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79"/>
          <p:cNvSpPr/>
          <p:nvPr/>
        </p:nvSpPr>
        <p:spPr>
          <a:xfrm>
            <a:off x="73650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79"/>
          <p:cNvCxnSpPr>
            <a:endCxn id="1590" idx="4"/>
          </p:cNvCxnSpPr>
          <p:nvPr/>
        </p:nvCxnSpPr>
        <p:spPr>
          <a:xfrm rot="10800000">
            <a:off x="74031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2" name="Google Shape;1592;p79"/>
          <p:cNvSpPr/>
          <p:nvPr/>
        </p:nvSpPr>
        <p:spPr>
          <a:xfrm>
            <a:off x="75174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3" name="Google Shape;1593;p79"/>
          <p:cNvCxnSpPr>
            <a:endCxn id="1592" idx="4"/>
          </p:cNvCxnSpPr>
          <p:nvPr/>
        </p:nvCxnSpPr>
        <p:spPr>
          <a:xfrm rot="10800000">
            <a:off x="75555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4" name="Google Shape;1594;p79"/>
          <p:cNvSpPr/>
          <p:nvPr/>
        </p:nvSpPr>
        <p:spPr>
          <a:xfrm flipH="1" rot="10800000">
            <a:off x="70602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5" name="Google Shape;1595;p79"/>
          <p:cNvCxnSpPr>
            <a:endCxn id="1594" idx="4"/>
          </p:cNvCxnSpPr>
          <p:nvPr/>
        </p:nvCxnSpPr>
        <p:spPr>
          <a:xfrm>
            <a:off x="70983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79"/>
          <p:cNvSpPr/>
          <p:nvPr/>
        </p:nvSpPr>
        <p:spPr>
          <a:xfrm flipH="1" rot="10800000">
            <a:off x="72126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7" name="Google Shape;1597;p79"/>
          <p:cNvCxnSpPr>
            <a:endCxn id="1596" idx="4"/>
          </p:cNvCxnSpPr>
          <p:nvPr/>
        </p:nvCxnSpPr>
        <p:spPr>
          <a:xfrm>
            <a:off x="72507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8" name="Google Shape;1598;p79"/>
          <p:cNvSpPr/>
          <p:nvPr/>
        </p:nvSpPr>
        <p:spPr>
          <a:xfrm flipH="1" rot="10800000">
            <a:off x="73650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79"/>
          <p:cNvCxnSpPr>
            <a:endCxn id="1598" idx="4"/>
          </p:cNvCxnSpPr>
          <p:nvPr/>
        </p:nvCxnSpPr>
        <p:spPr>
          <a:xfrm>
            <a:off x="74031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79"/>
          <p:cNvSpPr/>
          <p:nvPr/>
        </p:nvSpPr>
        <p:spPr>
          <a:xfrm flipH="1" rot="10800000">
            <a:off x="75174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1" name="Google Shape;1601;p79"/>
          <p:cNvCxnSpPr>
            <a:endCxn id="1600" idx="4"/>
          </p:cNvCxnSpPr>
          <p:nvPr/>
        </p:nvCxnSpPr>
        <p:spPr>
          <a:xfrm>
            <a:off x="75555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2" name="Google Shape;1602;p79"/>
          <p:cNvSpPr/>
          <p:nvPr/>
        </p:nvSpPr>
        <p:spPr>
          <a:xfrm flipH="1" rot="5400000">
            <a:off x="8576550" y="33746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3" name="Google Shape;1603;p79"/>
          <p:cNvCxnSpPr>
            <a:endCxn id="1602" idx="4"/>
          </p:cNvCxnSpPr>
          <p:nvPr/>
        </p:nvCxnSpPr>
        <p:spPr>
          <a:xfrm>
            <a:off x="8423250" y="34127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79"/>
          <p:cNvSpPr/>
          <p:nvPr/>
        </p:nvSpPr>
        <p:spPr>
          <a:xfrm flipH="1" rot="5400000">
            <a:off x="8576550" y="32222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5" name="Google Shape;1605;p79"/>
          <p:cNvCxnSpPr>
            <a:endCxn id="1604" idx="4"/>
          </p:cNvCxnSpPr>
          <p:nvPr/>
        </p:nvCxnSpPr>
        <p:spPr>
          <a:xfrm>
            <a:off x="8423250" y="32603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6" name="Google Shape;1606;p79"/>
          <p:cNvSpPr/>
          <p:nvPr/>
        </p:nvSpPr>
        <p:spPr>
          <a:xfrm flipH="1" rot="5400000">
            <a:off x="8576550" y="30698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7" name="Google Shape;1607;p79"/>
          <p:cNvCxnSpPr>
            <a:endCxn id="1606" idx="4"/>
          </p:cNvCxnSpPr>
          <p:nvPr/>
        </p:nvCxnSpPr>
        <p:spPr>
          <a:xfrm>
            <a:off x="8423250" y="31079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8" name="Google Shape;1608;p79"/>
          <p:cNvSpPr/>
          <p:nvPr/>
        </p:nvSpPr>
        <p:spPr>
          <a:xfrm flipH="1" rot="5400000">
            <a:off x="8576550" y="29174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9" name="Google Shape;1609;p79"/>
          <p:cNvCxnSpPr>
            <a:endCxn id="1608" idx="4"/>
          </p:cNvCxnSpPr>
          <p:nvPr/>
        </p:nvCxnSpPr>
        <p:spPr>
          <a:xfrm>
            <a:off x="8423250" y="29555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79"/>
          <p:cNvSpPr/>
          <p:nvPr/>
        </p:nvSpPr>
        <p:spPr>
          <a:xfrm rot="-5400000">
            <a:off x="6061050" y="33746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1" name="Google Shape;1611;p79"/>
          <p:cNvCxnSpPr>
            <a:endCxn id="1610" idx="4"/>
          </p:cNvCxnSpPr>
          <p:nvPr/>
        </p:nvCxnSpPr>
        <p:spPr>
          <a:xfrm rot="10800000">
            <a:off x="6137250" y="34127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2" name="Google Shape;1612;p79"/>
          <p:cNvSpPr/>
          <p:nvPr/>
        </p:nvSpPr>
        <p:spPr>
          <a:xfrm rot="-5400000">
            <a:off x="6061050" y="32222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3" name="Google Shape;1613;p79"/>
          <p:cNvCxnSpPr>
            <a:endCxn id="1612" idx="4"/>
          </p:cNvCxnSpPr>
          <p:nvPr/>
        </p:nvCxnSpPr>
        <p:spPr>
          <a:xfrm rot="10800000">
            <a:off x="6137250" y="32603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4" name="Google Shape;1614;p79"/>
          <p:cNvSpPr/>
          <p:nvPr/>
        </p:nvSpPr>
        <p:spPr>
          <a:xfrm rot="-5400000">
            <a:off x="6061050" y="30698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5" name="Google Shape;1615;p79"/>
          <p:cNvCxnSpPr>
            <a:endCxn id="1614" idx="4"/>
          </p:cNvCxnSpPr>
          <p:nvPr/>
        </p:nvCxnSpPr>
        <p:spPr>
          <a:xfrm rot="10800000">
            <a:off x="6137250" y="31079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6" name="Google Shape;1616;p79"/>
          <p:cNvSpPr/>
          <p:nvPr/>
        </p:nvSpPr>
        <p:spPr>
          <a:xfrm rot="-5400000">
            <a:off x="6061050" y="29174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7" name="Google Shape;1617;p79"/>
          <p:cNvCxnSpPr>
            <a:endCxn id="1616" idx="4"/>
          </p:cNvCxnSpPr>
          <p:nvPr/>
        </p:nvCxnSpPr>
        <p:spPr>
          <a:xfrm rot="10800000">
            <a:off x="6137250" y="29555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79"/>
          <p:cNvCxnSpPr/>
          <p:nvPr/>
        </p:nvCxnSpPr>
        <p:spPr>
          <a:xfrm rot="5400000">
            <a:off x="6175350" y="26888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79"/>
          <p:cNvSpPr txBox="1"/>
          <p:nvPr/>
        </p:nvSpPr>
        <p:spPr>
          <a:xfrm>
            <a:off x="6290699" y="2593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0" name="Google Shape;1620;p79"/>
          <p:cNvCxnSpPr/>
          <p:nvPr/>
        </p:nvCxnSpPr>
        <p:spPr>
          <a:xfrm rot="5400000">
            <a:off x="8308950" y="26888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1" name="Google Shape;1621;p79"/>
          <p:cNvSpPr txBox="1"/>
          <p:nvPr/>
        </p:nvSpPr>
        <p:spPr>
          <a:xfrm>
            <a:off x="8195699" y="2593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79"/>
          <p:cNvSpPr/>
          <p:nvPr/>
        </p:nvSpPr>
        <p:spPr>
          <a:xfrm>
            <a:off x="6137250" y="2269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79"/>
          <p:cNvSpPr/>
          <p:nvPr/>
        </p:nvSpPr>
        <p:spPr>
          <a:xfrm>
            <a:off x="8270850" y="2269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2" name="Google Shape;1622;p79"/>
          <p:cNvCxnSpPr/>
          <p:nvPr/>
        </p:nvCxnSpPr>
        <p:spPr>
          <a:xfrm flipH="1">
            <a:off x="6331066" y="1292059"/>
            <a:ext cx="282600" cy="28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3" name="Google Shape;1623;p79"/>
          <p:cNvCxnSpPr/>
          <p:nvPr/>
        </p:nvCxnSpPr>
        <p:spPr>
          <a:xfrm>
            <a:off x="8101991" y="1292059"/>
            <a:ext cx="282600" cy="28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4" name="Google Shape;1624;p79"/>
          <p:cNvCxnSpPr/>
          <p:nvPr/>
        </p:nvCxnSpPr>
        <p:spPr>
          <a:xfrm>
            <a:off x="5946750" y="2917400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5" name="Google Shape;1625;p79"/>
          <p:cNvCxnSpPr/>
          <p:nvPr/>
        </p:nvCxnSpPr>
        <p:spPr>
          <a:xfrm>
            <a:off x="8767050" y="2917400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6" name="Google Shape;1626;p79"/>
          <p:cNvCxnSpPr/>
          <p:nvPr/>
        </p:nvCxnSpPr>
        <p:spPr>
          <a:xfrm>
            <a:off x="7060200" y="207817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7" name="Google Shape;1627;p79"/>
          <p:cNvCxnSpPr/>
          <p:nvPr/>
        </p:nvCxnSpPr>
        <p:spPr>
          <a:xfrm>
            <a:off x="7060200" y="428887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8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Implementing STP: BPDU Exchanges</a:t>
            </a:r>
            <a:endParaRPr sz="3200"/>
          </a:p>
        </p:txBody>
      </p:sp>
      <p:sp>
        <p:nvSpPr>
          <p:cNvPr id="1633" name="Google Shape;1633;p8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634" name="Google Shape;1634;p8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STP: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BPDU Exchanges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STP with BPDU Exchanges</a:t>
            </a:r>
            <a:endParaRPr/>
          </a:p>
        </p:txBody>
      </p:sp>
      <p:sp>
        <p:nvSpPr>
          <p:cNvPr id="1640" name="Google Shape;1640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STP requires global knowledge of the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root (lowest ID)?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this link lead closer to the root, or further from the root?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learn this information, routers exchange control-plane messages.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have a fancy name: </a:t>
            </a:r>
            <a:r>
              <a:rPr b="1" lang="en"/>
              <a:t>Bridge Protocol Data Units (BPDUs)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advertisements in distance-vector.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Advertisement Rules</a:t>
            </a:r>
            <a:endParaRPr/>
          </a:p>
        </p:txBody>
      </p:sp>
      <p:sp>
        <p:nvSpPr>
          <p:cNvPr id="1646" name="Google Shape;1646;p82"/>
          <p:cNvSpPr txBox="1"/>
          <p:nvPr>
            <p:ph idx="1" type="body"/>
          </p:nvPr>
        </p:nvSpPr>
        <p:spPr>
          <a:xfrm>
            <a:off x="107050" y="402200"/>
            <a:ext cx="8909700" cy="27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 keeps track of two things: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best root I know about?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Recall: "better" = "lower ID".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far away is this best root?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send a BPDU to your neighbors, include these two things.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hear a BPDU from your neighbor, accept it and update your state if: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has a lower ID.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Note: Accept the better root, even if cost is worse.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is the same, but the cost to root is better.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82"/>
          <p:cNvSpPr/>
          <p:nvPr/>
        </p:nvSpPr>
        <p:spPr>
          <a:xfrm>
            <a:off x="2376925" y="36271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48" name="Google Shape;1648;p82"/>
          <p:cNvGraphicFramePr/>
          <p:nvPr/>
        </p:nvGraphicFramePr>
        <p:xfrm>
          <a:off x="961325" y="354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7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9" name="Google Shape;1649;p82"/>
          <p:cNvSpPr/>
          <p:nvPr/>
        </p:nvSpPr>
        <p:spPr>
          <a:xfrm>
            <a:off x="3322000" y="3694250"/>
            <a:ext cx="5276100" cy="1189500"/>
          </a:xfrm>
          <a:prstGeom prst="wedgeRoundRectCallout">
            <a:avLst>
              <a:gd fmla="val -60528" name="adj1"/>
              <a:gd fmla="val -4314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advertised root is better than R3: Accept.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advertised root is R3, and cost is better than 7: Accept.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Else: Reject.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83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656" name="Google Shape;1656;p83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83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8" name="Google Shape;1658;p83"/>
          <p:cNvCxnSpPr>
            <a:stCxn id="1656" idx="0"/>
            <a:endCxn id="1659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83"/>
          <p:cNvCxnSpPr>
            <a:stCxn id="1657" idx="0"/>
            <a:endCxn id="1659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1" name="Google Shape;1661;p83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2" name="Google Shape;1662;p83"/>
          <p:cNvCxnSpPr>
            <a:stCxn id="1656" idx="2"/>
            <a:endCxn id="1661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3" name="Google Shape;1663;p83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4" name="Google Shape;1664;p83"/>
          <p:cNvCxnSpPr>
            <a:stCxn id="1663" idx="0"/>
            <a:endCxn id="1661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83"/>
          <p:cNvCxnSpPr>
            <a:stCxn id="1663" idx="0"/>
            <a:endCxn id="1657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6" name="Google Shape;1666;p83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83"/>
          <p:cNvCxnSpPr>
            <a:stCxn id="1666" idx="0"/>
            <a:endCxn id="1661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8" name="Google Shape;1668;p83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9" name="Google Shape;1669;p83"/>
          <p:cNvCxnSpPr>
            <a:stCxn id="1666" idx="2"/>
            <a:endCxn id="1668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83"/>
          <p:cNvCxnSpPr>
            <a:stCxn id="1663" idx="2"/>
            <a:endCxn id="1668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71" name="Google Shape;1671;p83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R2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2" name="Google Shape;1672;p83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3" name="Google Shape;1673;p83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4" name="Google Shape;1674;p83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5" name="Google Shape;1675;p83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R6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6" name="Google Shape;1676;p83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7" name="Google Shape;1677;p83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8" name="Google Shape;1678;p83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Initially, every router only knows about itself, so it thinks the root is itself.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84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685" name="Google Shape;1685;p84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84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7" name="Google Shape;1687;p84"/>
          <p:cNvCxnSpPr>
            <a:stCxn id="1685" idx="0"/>
            <a:endCxn id="1688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84"/>
          <p:cNvCxnSpPr>
            <a:stCxn id="1686" idx="0"/>
            <a:endCxn id="1688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0" name="Google Shape;1690;p84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1" name="Google Shape;1691;p84"/>
          <p:cNvCxnSpPr>
            <a:stCxn id="1685" idx="2"/>
            <a:endCxn id="1690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2" name="Google Shape;1692;p84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3" name="Google Shape;1693;p84"/>
          <p:cNvCxnSpPr>
            <a:stCxn id="1692" idx="0"/>
            <a:endCxn id="1690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84"/>
          <p:cNvCxnSpPr>
            <a:stCxn id="1692" idx="0"/>
            <a:endCxn id="1686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84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6" name="Google Shape;1696;p84"/>
          <p:cNvCxnSpPr>
            <a:stCxn id="1695" idx="0"/>
            <a:endCxn id="1690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84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8" name="Google Shape;1698;p84"/>
          <p:cNvCxnSpPr>
            <a:stCxn id="1695" idx="2"/>
            <a:endCxn id="1697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84"/>
          <p:cNvCxnSpPr>
            <a:stCxn id="1692" idx="2"/>
            <a:endCxn id="1697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00" name="Google Shape;1700;p84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R2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1" name="Google Shape;1701;p84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2" name="Google Shape;1702;p84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3" name="Google Shape;1703;p84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4" name="Google Shape;1704;p84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R6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5" name="Google Shape;1705;p84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6" name="Google Shape;1706;p84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7" name="Google Shape;1707;p84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708" name="Google Shape;1708;p84"/>
          <p:cNvCxnSpPr/>
          <p:nvPr/>
        </p:nvCxnSpPr>
        <p:spPr>
          <a:xfrm flipH="1">
            <a:off x="5181400" y="2257125"/>
            <a:ext cx="136500" cy="44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9" name="Google Shape;1709;p84"/>
          <p:cNvSpPr/>
          <p:nvPr/>
        </p:nvSpPr>
        <p:spPr>
          <a:xfrm>
            <a:off x="5355390" y="236511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R3.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R3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0" name="Google Shape;1710;p84"/>
          <p:cNvSpPr/>
          <p:nvPr/>
        </p:nvSpPr>
        <p:spPr>
          <a:xfrm>
            <a:off x="6645500" y="32294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11" name="Google Shape;1711;p84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1712" name="Google Shape;1712;p84"/>
          <p:cNvCxnSpPr/>
          <p:nvPr/>
        </p:nvCxnSpPr>
        <p:spPr>
          <a:xfrm>
            <a:off x="4929900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13" name="Google Shape;1713;p84"/>
          <p:cNvSpPr/>
          <p:nvPr/>
        </p:nvSpPr>
        <p:spPr>
          <a:xfrm>
            <a:off x="5355390" y="1521238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R3.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R3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84"/>
          <p:cNvSpPr/>
          <p:nvPr/>
        </p:nvSpPr>
        <p:spPr>
          <a:xfrm>
            <a:off x="6608975" y="6386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R3 is a worse root. Reject!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84"/>
          <p:cNvSpPr txBox="1"/>
          <p:nvPr/>
        </p:nvSpPr>
        <p:spPr>
          <a:xfrm>
            <a:off x="6653650" y="3769300"/>
            <a:ext cx="236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Advertisement said R3 is 0 away.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cost is 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cost to R3 must be 0 + 1 = 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85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1" name="Google Shape;1721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722" name="Google Shape;1722;p85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85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4" name="Google Shape;1724;p85"/>
          <p:cNvCxnSpPr>
            <a:stCxn id="1722" idx="0"/>
            <a:endCxn id="1725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85"/>
          <p:cNvCxnSpPr>
            <a:stCxn id="1723" idx="0"/>
            <a:endCxn id="1725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7" name="Google Shape;1727;p85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85"/>
          <p:cNvCxnSpPr>
            <a:stCxn id="1722" idx="2"/>
            <a:endCxn id="1727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9" name="Google Shape;1729;p85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0" name="Google Shape;1730;p85"/>
          <p:cNvCxnSpPr>
            <a:stCxn id="1729" idx="0"/>
            <a:endCxn id="1727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85"/>
          <p:cNvCxnSpPr>
            <a:stCxn id="1729" idx="0"/>
            <a:endCxn id="1723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2" name="Google Shape;1732;p85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3" name="Google Shape;1733;p85"/>
          <p:cNvCxnSpPr>
            <a:stCxn id="1732" idx="0"/>
            <a:endCxn id="1727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4" name="Google Shape;1734;p85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5" name="Google Shape;1735;p85"/>
          <p:cNvCxnSpPr>
            <a:stCxn id="1732" idx="2"/>
            <a:endCxn id="1734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6" name="Google Shape;1736;p85"/>
          <p:cNvCxnSpPr>
            <a:stCxn id="1729" idx="2"/>
            <a:endCxn id="1734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37" name="Google Shape;1737;p85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R2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8" name="Google Shape;1738;p85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9" name="Google Shape;1739;p85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0" name="Google Shape;1740;p85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1" name="Google Shape;1741;p85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2" name="Google Shape;1742;p85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3" name="Google Shape;1743;p85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4" name="Google Shape;1744;p85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745" name="Google Shape;1745;p85"/>
          <p:cNvCxnSpPr/>
          <p:nvPr/>
        </p:nvCxnSpPr>
        <p:spPr>
          <a:xfrm flipH="1">
            <a:off x="4298775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6" name="Google Shape;1746;p85"/>
          <p:cNvSpPr/>
          <p:nvPr/>
        </p:nvSpPr>
        <p:spPr>
          <a:xfrm>
            <a:off x="2987800" y="124716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R1.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7" name="Google Shape;1747;p85"/>
          <p:cNvSpPr/>
          <p:nvPr/>
        </p:nvSpPr>
        <p:spPr>
          <a:xfrm>
            <a:off x="1040600" y="1400675"/>
            <a:ext cx="1490100" cy="475500"/>
          </a:xfrm>
          <a:prstGeom prst="wedgeRoundRectCallout">
            <a:avLst>
              <a:gd fmla="val 62378" name="adj1"/>
              <a:gd fmla="val 5836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48" name="Google Shape;1748;p85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1749" name="Google Shape;1749;p85"/>
          <p:cNvCxnSpPr/>
          <p:nvPr/>
        </p:nvCxnSpPr>
        <p:spPr>
          <a:xfrm>
            <a:off x="4929900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0" name="Google Shape;1750;p85"/>
          <p:cNvSpPr/>
          <p:nvPr/>
        </p:nvSpPr>
        <p:spPr>
          <a:xfrm>
            <a:off x="5253790" y="124716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R1.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p85"/>
          <p:cNvSpPr/>
          <p:nvPr/>
        </p:nvSpPr>
        <p:spPr>
          <a:xfrm>
            <a:off x="7102700" y="140067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52" name="Google Shape;1752;p85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7" name="Google Shape;1757;p86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8" name="Google Shape;1758;p86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759" name="Google Shape;1759;p86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0" name="Google Shape;1760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761" name="Google Shape;1761;p86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2" name="Google Shape;1762;p86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3" name="Google Shape;1763;p86"/>
          <p:cNvCxnSpPr>
            <a:stCxn id="1761" idx="0"/>
            <a:endCxn id="1764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86"/>
          <p:cNvCxnSpPr>
            <a:stCxn id="1762" idx="0"/>
            <a:endCxn id="1764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6" name="Google Shape;1766;p86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7" name="Google Shape;1767;p86"/>
          <p:cNvCxnSpPr>
            <a:stCxn id="1761" idx="2"/>
            <a:endCxn id="1766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8" name="Google Shape;1768;p86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9" name="Google Shape;1769;p86"/>
          <p:cNvCxnSpPr>
            <a:stCxn id="1768" idx="0"/>
            <a:endCxn id="1766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86"/>
          <p:cNvCxnSpPr>
            <a:stCxn id="1768" idx="0"/>
            <a:endCxn id="1762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86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2" name="Google Shape;1772;p86"/>
          <p:cNvCxnSpPr>
            <a:stCxn id="1771" idx="0"/>
            <a:endCxn id="1766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86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86"/>
          <p:cNvCxnSpPr>
            <a:stCxn id="1771" idx="2"/>
            <a:endCxn id="1773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5" name="Google Shape;1775;p86"/>
          <p:cNvCxnSpPr>
            <a:stCxn id="1768" idx="2"/>
            <a:endCxn id="1773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76" name="Google Shape;1776;p86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7" name="Google Shape;1777;p86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8" name="Google Shape;1778;p86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9" name="Google Shape;1779;p86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0" name="Google Shape;1780;p86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1" name="Google Shape;1781;p86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2" name="Google Shape;1782;p86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783" name="Google Shape;1783;p86"/>
          <p:cNvCxnSpPr/>
          <p:nvPr/>
        </p:nvCxnSpPr>
        <p:spPr>
          <a:xfrm>
            <a:off x="4251100" y="2257125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4" name="Google Shape;1784;p86"/>
          <p:cNvSpPr/>
          <p:nvPr/>
        </p:nvSpPr>
        <p:spPr>
          <a:xfrm>
            <a:off x="2835400" y="2246250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R2.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1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6"/>
          <p:cNvSpPr/>
          <p:nvPr/>
        </p:nvSpPr>
        <p:spPr>
          <a:xfrm>
            <a:off x="1040600" y="2315075"/>
            <a:ext cx="1490100" cy="475500"/>
          </a:xfrm>
          <a:prstGeom prst="wedgeRoundRectCallout">
            <a:avLst>
              <a:gd fmla="val 62378" name="adj1"/>
              <a:gd fmla="val 5836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6" name="Google Shape;1786;p86"/>
          <p:cNvCxnSpPr/>
          <p:nvPr/>
        </p:nvCxnSpPr>
        <p:spPr>
          <a:xfrm flipH="1">
            <a:off x="5181400" y="2257125"/>
            <a:ext cx="136500" cy="44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7" name="Google Shape;1787;p86"/>
          <p:cNvSpPr/>
          <p:nvPr/>
        </p:nvSpPr>
        <p:spPr>
          <a:xfrm>
            <a:off x="5355390" y="236511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R3.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1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6"/>
          <p:cNvSpPr/>
          <p:nvPr/>
        </p:nvSpPr>
        <p:spPr>
          <a:xfrm>
            <a:off x="6645500" y="32294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89" name="Google Shape;1789;p86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790" name="Google Shape;1790;p86"/>
          <p:cNvSpPr txBox="1"/>
          <p:nvPr/>
        </p:nvSpPr>
        <p:spPr>
          <a:xfrm>
            <a:off x="6653650" y="3769300"/>
            <a:ext cx="2422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Always accept the better root, even if the cost is worse.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87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6" name="Google Shape;1796;p8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797" name="Google Shape;1797;p87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8" name="Google Shape;1798;p87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9" name="Google Shape;1799;p87"/>
          <p:cNvCxnSpPr>
            <a:stCxn id="1797" idx="0"/>
            <a:endCxn id="1800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87"/>
          <p:cNvCxnSpPr>
            <a:stCxn id="1798" idx="0"/>
            <a:endCxn id="1800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2" name="Google Shape;1802;p87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3" name="Google Shape;1803;p87"/>
          <p:cNvCxnSpPr>
            <a:stCxn id="1797" idx="2"/>
            <a:endCxn id="1802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87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5" name="Google Shape;1805;p87"/>
          <p:cNvCxnSpPr>
            <a:stCxn id="1804" idx="0"/>
            <a:endCxn id="1802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6" name="Google Shape;1806;p87"/>
          <p:cNvCxnSpPr>
            <a:stCxn id="1804" idx="0"/>
            <a:endCxn id="1798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7" name="Google Shape;1807;p87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8" name="Google Shape;1808;p87"/>
          <p:cNvCxnSpPr>
            <a:stCxn id="1807" idx="0"/>
            <a:endCxn id="1802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9" name="Google Shape;1809;p87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0" name="Google Shape;1810;p87"/>
          <p:cNvCxnSpPr>
            <a:stCxn id="1807" idx="2"/>
            <a:endCxn id="1809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1" name="Google Shape;1811;p87"/>
          <p:cNvCxnSpPr>
            <a:stCxn id="1804" idx="2"/>
            <a:endCxn id="1809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12" name="Google Shape;1812;p87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3" name="Google Shape;1813;p87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4" name="Google Shape;1814;p87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5" name="Google Shape;1815;p87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6" name="Google Shape;1816;p87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7" name="Google Shape;1817;p87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8" name="Google Shape;1818;p87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9" name="Google Shape;1819;p87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820" name="Google Shape;1820;p87"/>
          <p:cNvCxnSpPr/>
          <p:nvPr/>
        </p:nvCxnSpPr>
        <p:spPr>
          <a:xfrm flipH="1">
            <a:off x="39163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1" name="Google Shape;1821;p87"/>
          <p:cNvSpPr/>
          <p:nvPr/>
        </p:nvSpPr>
        <p:spPr>
          <a:xfrm>
            <a:off x="2530700" y="3203325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87"/>
          <p:cNvSpPr/>
          <p:nvPr/>
        </p:nvSpPr>
        <p:spPr>
          <a:xfrm>
            <a:off x="583400" y="3229425"/>
            <a:ext cx="1490100" cy="475500"/>
          </a:xfrm>
          <a:prstGeom prst="wedgeRoundRectCallout">
            <a:avLst>
              <a:gd fmla="val 62378" name="adj1"/>
              <a:gd fmla="val 5836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87"/>
          <p:cNvSpPr/>
          <p:nvPr/>
        </p:nvSpPr>
        <p:spPr>
          <a:xfrm>
            <a:off x="6645500" y="32294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Worse path to R1!* Reject.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87"/>
          <p:cNvCxnSpPr/>
          <p:nvPr/>
        </p:nvCxnSpPr>
        <p:spPr>
          <a:xfrm>
            <a:off x="44797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25" name="Google Shape;1825;p87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826" name="Google Shape;1826;p87"/>
          <p:cNvSpPr/>
          <p:nvPr/>
        </p:nvSpPr>
        <p:spPr>
          <a:xfrm>
            <a:off x="4969100" y="3203325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87"/>
          <p:cNvSpPr txBox="1"/>
          <p:nvPr/>
        </p:nvSpPr>
        <p:spPr>
          <a:xfrm>
            <a:off x="6653650" y="3769300"/>
            <a:ext cx="207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R4 is 2 away, then I must be 3 away. This is worse than my current cost to R1.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88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834" name="Google Shape;1834;p88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88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88"/>
          <p:cNvCxnSpPr>
            <a:stCxn id="1834" idx="0"/>
            <a:endCxn id="1837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88"/>
          <p:cNvCxnSpPr>
            <a:stCxn id="1835" idx="0"/>
            <a:endCxn id="1837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88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0" name="Google Shape;1840;p88"/>
          <p:cNvCxnSpPr>
            <a:stCxn id="1834" idx="2"/>
            <a:endCxn id="1839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1" name="Google Shape;1841;p88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88"/>
          <p:cNvCxnSpPr>
            <a:stCxn id="1841" idx="0"/>
            <a:endCxn id="1839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88"/>
          <p:cNvCxnSpPr>
            <a:stCxn id="1841" idx="0"/>
            <a:endCxn id="1835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4" name="Google Shape;1844;p88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5" name="Google Shape;1845;p88"/>
          <p:cNvCxnSpPr>
            <a:stCxn id="1844" idx="0"/>
            <a:endCxn id="1839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6" name="Google Shape;1846;p88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7" name="Google Shape;1847;p88"/>
          <p:cNvCxnSpPr>
            <a:stCxn id="1844" idx="2"/>
            <a:endCxn id="1846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88"/>
          <p:cNvCxnSpPr>
            <a:stCxn id="1841" idx="2"/>
            <a:endCxn id="1846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49" name="Google Shape;1849;p88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0" name="Google Shape;1850;p88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1" name="Google Shape;1851;p88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2" name="Google Shape;1852;p88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3" name="Google Shape;1853;p88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4" name="Google Shape;1854;p88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5" name="Google Shape;1855;p88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6" name="Google Shape;1856;p88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sp>
        <p:nvSpPr>
          <p:cNvPr id="1857" name="Google Shape;1857;p88"/>
          <p:cNvSpPr/>
          <p:nvPr/>
        </p:nvSpPr>
        <p:spPr>
          <a:xfrm>
            <a:off x="2412600" y="407506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R5.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3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8" name="Google Shape;1858;p88"/>
          <p:cNvSpPr/>
          <p:nvPr/>
        </p:nvSpPr>
        <p:spPr>
          <a:xfrm>
            <a:off x="888200" y="4575525"/>
            <a:ext cx="1490100" cy="475500"/>
          </a:xfrm>
          <a:prstGeom prst="wedgeRoundRectCallout">
            <a:avLst>
              <a:gd fmla="val 71002" name="adj1"/>
              <a:gd fmla="val -391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9" name="Google Shape;1859;p88"/>
          <p:cNvCxnSpPr/>
          <p:nvPr/>
        </p:nvCxnSpPr>
        <p:spPr>
          <a:xfrm>
            <a:off x="3793900" y="40859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60" name="Google Shape;1860;p88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4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89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6" name="Google Shape;1866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867" name="Google Shape;1867;p89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8" name="Google Shape;1868;p89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9" name="Google Shape;1869;p89"/>
          <p:cNvCxnSpPr>
            <a:stCxn id="1867" idx="0"/>
            <a:endCxn id="1870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89"/>
          <p:cNvCxnSpPr>
            <a:stCxn id="1868" idx="0"/>
            <a:endCxn id="1870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89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3" name="Google Shape;1873;p89"/>
          <p:cNvCxnSpPr>
            <a:stCxn id="1867" idx="2"/>
            <a:endCxn id="1872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4" name="Google Shape;1874;p89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5" name="Google Shape;1875;p89"/>
          <p:cNvCxnSpPr>
            <a:stCxn id="1874" idx="0"/>
            <a:endCxn id="1872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89"/>
          <p:cNvCxnSpPr>
            <a:stCxn id="1874" idx="0"/>
            <a:endCxn id="1868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7" name="Google Shape;1877;p89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8" name="Google Shape;1878;p89"/>
          <p:cNvCxnSpPr>
            <a:stCxn id="1877" idx="0"/>
            <a:endCxn id="1872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9" name="Google Shape;1879;p89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0" name="Google Shape;1880;p89"/>
          <p:cNvCxnSpPr>
            <a:stCxn id="1877" idx="2"/>
            <a:endCxn id="1879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89"/>
          <p:cNvCxnSpPr>
            <a:stCxn id="1874" idx="2"/>
            <a:endCxn id="1879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82" name="Google Shape;1882;p89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3" name="Google Shape;1883;p89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4" name="Google Shape;1884;p89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5" name="Google Shape;1885;p89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6" name="Google Shape;1886;p89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7" name="Google Shape;1887;p89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8" name="Google Shape;1888;p89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9" name="Google Shape;1889;p89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890" name="Google Shape;1890;p89"/>
          <p:cNvCxnSpPr/>
          <p:nvPr/>
        </p:nvCxnSpPr>
        <p:spPr>
          <a:xfrm flipH="1">
            <a:off x="4602100" y="40859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1" name="Google Shape;1891;p89"/>
          <p:cNvSpPr/>
          <p:nvPr/>
        </p:nvSpPr>
        <p:spPr>
          <a:xfrm>
            <a:off x="747825" y="4575525"/>
            <a:ext cx="1630500" cy="475500"/>
          </a:xfrm>
          <a:prstGeom prst="wedgeRoundRectCallout">
            <a:avLst>
              <a:gd fmla="val 71002" name="adj1"/>
              <a:gd fmla="val -391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cost to same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2" name="Google Shape;1892;p89"/>
          <p:cNvSpPr/>
          <p:nvPr/>
        </p:nvSpPr>
        <p:spPr>
          <a:xfrm>
            <a:off x="4936900" y="4117725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R6.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93" name="Google Shape;1893;p89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90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9" name="Google Shape;1899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900" name="Google Shape;1900;p90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1" name="Google Shape;1901;p90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90"/>
          <p:cNvCxnSpPr>
            <a:stCxn id="1900" idx="0"/>
            <a:endCxn id="1903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4" name="Google Shape;1904;p90"/>
          <p:cNvCxnSpPr>
            <a:stCxn id="1901" idx="0"/>
            <a:endCxn id="1903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90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6" name="Google Shape;1906;p90"/>
          <p:cNvCxnSpPr>
            <a:stCxn id="1900" idx="2"/>
            <a:endCxn id="1905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7" name="Google Shape;1907;p90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8" name="Google Shape;1908;p90"/>
          <p:cNvCxnSpPr>
            <a:stCxn id="1907" idx="0"/>
            <a:endCxn id="1905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90"/>
          <p:cNvCxnSpPr>
            <a:stCxn id="1907" idx="0"/>
            <a:endCxn id="1901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0" name="Google Shape;1910;p90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1" name="Google Shape;1911;p90"/>
          <p:cNvCxnSpPr>
            <a:stCxn id="1910" idx="0"/>
            <a:endCxn id="1905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2" name="Google Shape;1912;p90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3" name="Google Shape;1913;p90"/>
          <p:cNvCxnSpPr>
            <a:stCxn id="1910" idx="2"/>
            <a:endCxn id="1912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90"/>
          <p:cNvCxnSpPr>
            <a:stCxn id="1907" idx="2"/>
            <a:endCxn id="1912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15" name="Google Shape;1915;p90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6" name="Google Shape;1916;p90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7" name="Google Shape;1917;p90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8" name="Google Shape;1918;p90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9" name="Google Shape;1919;p90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0" name="Google Shape;1920;p90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1" name="Google Shape;1921;p90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{57C231CD-BB20-4D48-8181-7CBB25D36281}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2" name="Google Shape;1922;p90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convergence, periodic advertisements allow you to learn your neighbors' cost-to-root values.</a:t>
            </a:r>
            <a:endParaRPr/>
          </a:p>
        </p:txBody>
      </p:sp>
      <p:sp>
        <p:nvSpPr>
          <p:cNvPr id="1923" name="Google Shape;1923;p90"/>
          <p:cNvSpPr txBox="1"/>
          <p:nvPr>
            <p:ph idx="1" type="body"/>
          </p:nvPr>
        </p:nvSpPr>
        <p:spPr>
          <a:xfrm>
            <a:off x="107050" y="1240400"/>
            <a:ext cx="24198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your neighbors' cost-to-root values to assign DP, RP, BP.</a:t>
            </a:r>
            <a:endParaRPr/>
          </a:p>
        </p:txBody>
      </p:sp>
      <p:cxnSp>
        <p:nvCxnSpPr>
          <p:cNvPr id="1924" name="Google Shape;1924;p90"/>
          <p:cNvCxnSpPr/>
          <p:nvPr/>
        </p:nvCxnSpPr>
        <p:spPr>
          <a:xfrm flipH="1">
            <a:off x="4525900" y="41621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5" name="Google Shape;1925;p90"/>
          <p:cNvCxnSpPr/>
          <p:nvPr/>
        </p:nvCxnSpPr>
        <p:spPr>
          <a:xfrm>
            <a:off x="3870100" y="41621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6" name="Google Shape;1926;p90"/>
          <p:cNvCxnSpPr/>
          <p:nvPr/>
        </p:nvCxnSpPr>
        <p:spPr>
          <a:xfrm flipH="1">
            <a:off x="39163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7" name="Google Shape;1927;p90"/>
          <p:cNvCxnSpPr/>
          <p:nvPr/>
        </p:nvCxnSpPr>
        <p:spPr>
          <a:xfrm>
            <a:off x="44797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8" name="Google Shape;1928;p90"/>
          <p:cNvCxnSpPr/>
          <p:nvPr/>
        </p:nvCxnSpPr>
        <p:spPr>
          <a:xfrm>
            <a:off x="4251100" y="2257125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9" name="Google Shape;1929;p90"/>
          <p:cNvCxnSpPr/>
          <p:nvPr/>
        </p:nvCxnSpPr>
        <p:spPr>
          <a:xfrm flipH="1">
            <a:off x="5029000" y="2714325"/>
            <a:ext cx="136500" cy="44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0" name="Google Shape;1930;p90"/>
          <p:cNvCxnSpPr/>
          <p:nvPr/>
        </p:nvCxnSpPr>
        <p:spPr>
          <a:xfrm flipH="1">
            <a:off x="4298775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1" name="Google Shape;1931;p90"/>
          <p:cNvCxnSpPr/>
          <p:nvPr/>
        </p:nvCxnSpPr>
        <p:spPr>
          <a:xfrm>
            <a:off x="4929900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BPDU Exchanges Work</a:t>
            </a:r>
            <a:endParaRPr/>
          </a:p>
        </p:txBody>
      </p:sp>
      <p:sp>
        <p:nvSpPr>
          <p:cNvPr id="1937" name="Google Shape;1937;p9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does this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true root has the lowest ID, so advertisements with the true root will always be accepted over worse roots.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exchanges might happen (e.g. "I thought root is R7, now I think it's R3"), but eventually, the true root (e.g. R1) will propagate to everybody.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 Protocol: Recap</a:t>
            </a:r>
            <a:endParaRPr/>
          </a:p>
        </p:txBody>
      </p:sp>
      <p:sp>
        <p:nvSpPr>
          <p:cNvPr id="1943" name="Google Shape;1943;p92"/>
          <p:cNvSpPr txBox="1"/>
          <p:nvPr>
            <p:ph idx="1" type="body"/>
          </p:nvPr>
        </p:nvSpPr>
        <p:spPr>
          <a:xfrm>
            <a:off x="107050" y="402200"/>
            <a:ext cx="713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</a:pPr>
            <a:r>
              <a:rPr lang="en">
                <a:solidFill>
                  <a:schemeClr val="accent5"/>
                </a:solidFill>
              </a:rPr>
              <a:t>The </a:t>
            </a:r>
            <a:r>
              <a:rPr b="1" lang="en">
                <a:solidFill>
                  <a:schemeClr val="accent5"/>
                </a:solidFill>
              </a:rPr>
              <a:t>Root Port</a:t>
            </a:r>
            <a:r>
              <a:rPr lang="en">
                <a:solidFill>
                  <a:schemeClr val="accent5"/>
                </a:solidFill>
              </a:rPr>
              <a:t> is the one along the least-cost path to the root.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br>
              <a:rPr lang="en">
                <a:solidFill>
                  <a:schemeClr val="accent2"/>
                </a:solidFill>
              </a:rPr>
            </a:br>
            <a:r>
              <a:rPr lang="en">
                <a:solidFill>
                  <a:schemeClr val="accent2"/>
                </a:solidFill>
              </a:rPr>
              <a:t>Disabling BPs helps us remove loops.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Routers exchange information in BPDUs (e.g. "Root R1 is 3 away")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to help routers agree on the root and label ports as DP/RP/BP.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hear a BPDU from your neighbor, accept it and update your state if: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has a lower ID.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Note: Accept the better root, even if cost is worse.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is the same, but the cost to root is better.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944" name="Google Shape;1944;p92"/>
          <p:cNvCxnSpPr>
            <a:stCxn id="1945" idx="0"/>
            <a:endCxn id="1946" idx="2"/>
          </p:cNvCxnSpPr>
          <p:nvPr/>
        </p:nvCxnSpPr>
        <p:spPr>
          <a:xfrm flipH="1" rot="10800000">
            <a:off x="7851675" y="14483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7" name="Google Shape;1947;p92"/>
          <p:cNvCxnSpPr>
            <a:stCxn id="1948" idx="0"/>
            <a:endCxn id="1946" idx="2"/>
          </p:cNvCxnSpPr>
          <p:nvPr/>
        </p:nvCxnSpPr>
        <p:spPr>
          <a:xfrm rot="10800000">
            <a:off x="8308875" y="14483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9" name="Google Shape;1949;p92"/>
          <p:cNvCxnSpPr>
            <a:stCxn id="1945" idx="2"/>
            <a:endCxn id="1950" idx="0"/>
          </p:cNvCxnSpPr>
          <p:nvPr/>
        </p:nvCxnSpPr>
        <p:spPr>
          <a:xfrm>
            <a:off x="7851675" y="22103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92"/>
          <p:cNvCxnSpPr>
            <a:stCxn id="1952" idx="0"/>
            <a:endCxn id="1950" idx="2"/>
          </p:cNvCxnSpPr>
          <p:nvPr/>
        </p:nvCxnSpPr>
        <p:spPr>
          <a:xfrm rot="10800000">
            <a:off x="7851675" y="31247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92"/>
          <p:cNvCxnSpPr>
            <a:stCxn id="1952" idx="0"/>
            <a:endCxn id="1948" idx="2"/>
          </p:cNvCxnSpPr>
          <p:nvPr/>
        </p:nvCxnSpPr>
        <p:spPr>
          <a:xfrm flipH="1" rot="10800000">
            <a:off x="8308875" y="22103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92"/>
          <p:cNvCxnSpPr>
            <a:stCxn id="1955" idx="0"/>
            <a:endCxn id="1950" idx="2"/>
          </p:cNvCxnSpPr>
          <p:nvPr/>
        </p:nvCxnSpPr>
        <p:spPr>
          <a:xfrm flipH="1" rot="10800000">
            <a:off x="7394475" y="31247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92"/>
          <p:cNvCxnSpPr>
            <a:stCxn id="1955" idx="2"/>
            <a:endCxn id="1957" idx="0"/>
          </p:cNvCxnSpPr>
          <p:nvPr/>
        </p:nvCxnSpPr>
        <p:spPr>
          <a:xfrm>
            <a:off x="7394475" y="40391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8" name="Google Shape;1958;p92"/>
          <p:cNvCxnSpPr>
            <a:stCxn id="1952" idx="2"/>
            <a:endCxn id="1957" idx="0"/>
          </p:cNvCxnSpPr>
          <p:nvPr/>
        </p:nvCxnSpPr>
        <p:spPr>
          <a:xfrm flipH="1">
            <a:off x="7851675" y="40391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92"/>
          <p:cNvCxnSpPr>
            <a:stCxn id="1945" idx="2"/>
          </p:cNvCxnSpPr>
          <p:nvPr/>
        </p:nvCxnSpPr>
        <p:spPr>
          <a:xfrm>
            <a:off x="7851675" y="22103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92"/>
          <p:cNvSpPr txBox="1"/>
          <p:nvPr/>
        </p:nvSpPr>
        <p:spPr>
          <a:xfrm>
            <a:off x="7625175" y="2210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1" name="Google Shape;1961;p92"/>
          <p:cNvCxnSpPr/>
          <p:nvPr/>
        </p:nvCxnSpPr>
        <p:spPr>
          <a:xfrm flipH="1">
            <a:off x="8703375" y="22103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2" name="Google Shape;1962;p92"/>
          <p:cNvSpPr txBox="1"/>
          <p:nvPr/>
        </p:nvSpPr>
        <p:spPr>
          <a:xfrm>
            <a:off x="8500880" y="2210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3" name="Google Shape;1963;p92"/>
          <p:cNvCxnSpPr/>
          <p:nvPr/>
        </p:nvCxnSpPr>
        <p:spPr>
          <a:xfrm flipH="1">
            <a:off x="8097375" y="14483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92"/>
          <p:cNvSpPr txBox="1"/>
          <p:nvPr/>
        </p:nvSpPr>
        <p:spPr>
          <a:xfrm>
            <a:off x="7929975" y="1448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92"/>
          <p:cNvSpPr txBox="1"/>
          <p:nvPr/>
        </p:nvSpPr>
        <p:spPr>
          <a:xfrm>
            <a:off x="8485840" y="1448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6" name="Google Shape;1966;p92"/>
          <p:cNvCxnSpPr/>
          <p:nvPr/>
        </p:nvCxnSpPr>
        <p:spPr>
          <a:xfrm>
            <a:off x="8308878" y="14480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6" name="Google Shape;1946;p92"/>
          <p:cNvSpPr/>
          <p:nvPr/>
        </p:nvSpPr>
        <p:spPr>
          <a:xfrm>
            <a:off x="8156475" y="11435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92"/>
          <p:cNvSpPr txBox="1"/>
          <p:nvPr/>
        </p:nvSpPr>
        <p:spPr>
          <a:xfrm>
            <a:off x="7520400" y="3124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8" name="Google Shape;1968;p92"/>
          <p:cNvSpPr txBox="1"/>
          <p:nvPr/>
        </p:nvSpPr>
        <p:spPr>
          <a:xfrm>
            <a:off x="7981015" y="3124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9" name="Google Shape;1969;p92"/>
          <p:cNvCxnSpPr/>
          <p:nvPr/>
        </p:nvCxnSpPr>
        <p:spPr>
          <a:xfrm>
            <a:off x="7851678" y="31244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92"/>
          <p:cNvCxnSpPr/>
          <p:nvPr/>
        </p:nvCxnSpPr>
        <p:spPr>
          <a:xfrm flipH="1">
            <a:off x="7672578" y="31247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1" name="Google Shape;1971;p92"/>
          <p:cNvSpPr txBox="1"/>
          <p:nvPr/>
        </p:nvSpPr>
        <p:spPr>
          <a:xfrm>
            <a:off x="7523815" y="4039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2" name="Google Shape;1972;p92"/>
          <p:cNvCxnSpPr/>
          <p:nvPr/>
        </p:nvCxnSpPr>
        <p:spPr>
          <a:xfrm>
            <a:off x="7394478" y="40388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3" name="Google Shape;1973;p92"/>
          <p:cNvSpPr txBox="1"/>
          <p:nvPr/>
        </p:nvSpPr>
        <p:spPr>
          <a:xfrm>
            <a:off x="7977600" y="4039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4" name="Google Shape;1974;p92"/>
          <p:cNvCxnSpPr/>
          <p:nvPr/>
        </p:nvCxnSpPr>
        <p:spPr>
          <a:xfrm flipH="1">
            <a:off x="8129778" y="40391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92"/>
          <p:cNvSpPr txBox="1"/>
          <p:nvPr/>
        </p:nvSpPr>
        <p:spPr>
          <a:xfrm>
            <a:off x="8714440" y="1676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6" name="Google Shape;1976;p92"/>
          <p:cNvCxnSpPr/>
          <p:nvPr/>
        </p:nvCxnSpPr>
        <p:spPr>
          <a:xfrm flipH="1">
            <a:off x="7851600" y="17273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5" name="Google Shape;1945;p92"/>
          <p:cNvSpPr/>
          <p:nvPr/>
        </p:nvSpPr>
        <p:spPr>
          <a:xfrm>
            <a:off x="7699275" y="1905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7" name="Google Shape;1977;p92"/>
          <p:cNvSpPr txBox="1"/>
          <p:nvPr/>
        </p:nvSpPr>
        <p:spPr>
          <a:xfrm>
            <a:off x="7723840" y="1676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8" name="Google Shape;1978;p92"/>
          <p:cNvCxnSpPr/>
          <p:nvPr/>
        </p:nvCxnSpPr>
        <p:spPr>
          <a:xfrm>
            <a:off x="7851675" y="2610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9" name="Google Shape;1979;p92"/>
          <p:cNvSpPr txBox="1"/>
          <p:nvPr/>
        </p:nvSpPr>
        <p:spPr>
          <a:xfrm>
            <a:off x="7625175" y="2610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0" name="Google Shape;1950;p92"/>
          <p:cNvSpPr/>
          <p:nvPr/>
        </p:nvSpPr>
        <p:spPr>
          <a:xfrm>
            <a:off x="7699275" y="281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0" name="Google Shape;1980;p92"/>
          <p:cNvCxnSpPr/>
          <p:nvPr/>
        </p:nvCxnSpPr>
        <p:spPr>
          <a:xfrm>
            <a:off x="8587575" y="17273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8" name="Google Shape;1948;p92"/>
          <p:cNvSpPr/>
          <p:nvPr/>
        </p:nvSpPr>
        <p:spPr>
          <a:xfrm>
            <a:off x="8613675" y="1905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1" name="Google Shape;1981;p92"/>
          <p:cNvCxnSpPr/>
          <p:nvPr/>
        </p:nvCxnSpPr>
        <p:spPr>
          <a:xfrm flipH="1">
            <a:off x="7852000" y="44439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2" name="Google Shape;1982;p92"/>
          <p:cNvSpPr txBox="1"/>
          <p:nvPr/>
        </p:nvSpPr>
        <p:spPr>
          <a:xfrm>
            <a:off x="8003340" y="44399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3" name="Google Shape;1983;p92"/>
          <p:cNvCxnSpPr/>
          <p:nvPr/>
        </p:nvCxnSpPr>
        <p:spPr>
          <a:xfrm>
            <a:off x="7699275" y="44439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92"/>
          <p:cNvSpPr/>
          <p:nvPr/>
        </p:nvSpPr>
        <p:spPr>
          <a:xfrm>
            <a:off x="7699275" y="4648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4" name="Google Shape;1984;p92"/>
          <p:cNvSpPr txBox="1"/>
          <p:nvPr/>
        </p:nvSpPr>
        <p:spPr>
          <a:xfrm>
            <a:off x="7498192" y="44399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5" name="Google Shape;1985;p92"/>
          <p:cNvCxnSpPr/>
          <p:nvPr/>
        </p:nvCxnSpPr>
        <p:spPr>
          <a:xfrm>
            <a:off x="8156475" y="35294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92"/>
          <p:cNvCxnSpPr/>
          <p:nvPr/>
        </p:nvCxnSpPr>
        <p:spPr>
          <a:xfrm flipH="1">
            <a:off x="7394475" y="35294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5" name="Google Shape;1955;p92"/>
          <p:cNvSpPr/>
          <p:nvPr/>
        </p:nvSpPr>
        <p:spPr>
          <a:xfrm>
            <a:off x="7242075" y="3734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7" name="Google Shape;1987;p92"/>
          <p:cNvSpPr txBox="1"/>
          <p:nvPr/>
        </p:nvSpPr>
        <p:spPr>
          <a:xfrm>
            <a:off x="7523815" y="35239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8" name="Google Shape;1988;p92"/>
          <p:cNvSpPr txBox="1"/>
          <p:nvPr/>
        </p:nvSpPr>
        <p:spPr>
          <a:xfrm>
            <a:off x="7977600" y="35239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9" name="Google Shape;1989;p92"/>
          <p:cNvCxnSpPr/>
          <p:nvPr/>
        </p:nvCxnSpPr>
        <p:spPr>
          <a:xfrm flipH="1">
            <a:off x="8309200" y="35291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0" name="Google Shape;1990;p92"/>
          <p:cNvSpPr txBox="1"/>
          <p:nvPr/>
        </p:nvSpPr>
        <p:spPr>
          <a:xfrm>
            <a:off x="8369495" y="35239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2" name="Google Shape;1952;p92"/>
          <p:cNvSpPr/>
          <p:nvPr/>
        </p:nvSpPr>
        <p:spPr>
          <a:xfrm>
            <a:off x="8156475" y="3734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1" name="Google Shape;1991;p92"/>
          <p:cNvSpPr txBox="1"/>
          <p:nvPr/>
        </p:nvSpPr>
        <p:spPr>
          <a:xfrm>
            <a:off x="7144550" y="598325"/>
            <a:ext cx="1773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 with lowest ID is elected as the root.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