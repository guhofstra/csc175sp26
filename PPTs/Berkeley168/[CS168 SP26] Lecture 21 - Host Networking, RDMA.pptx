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edium"/>
      <p:regular r:id="rId49"/>
      <p:bold r:id="rId50"/>
      <p:italic r:id="rId51"/>
      <p:boldItalic r:id="rId52"/>
    </p:embeddedFont>
    <p:embeddedFont>
      <p:font typeface="Roboto"/>
      <p:regular r:id="rId53"/>
      <p:bold r:id="rId54"/>
      <p:italic r:id="rId55"/>
      <p:boldItalic r:id="rId56"/>
    </p:embeddedFont>
    <p:embeddedFont>
      <p:font typeface="Roboto Light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1D026F-1D82-44FF-979D-6064669E269F}">
  <a:tblStyle styleId="{111D026F-1D82-44FF-979D-6064669E26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edium-italic.fntdata"/><Relationship Id="rId50" Type="http://schemas.openxmlformats.org/officeDocument/2006/relationships/font" Target="fonts/RobotoMedium-bold.fntdata"/><Relationship Id="rId53" Type="http://schemas.openxmlformats.org/officeDocument/2006/relationships/font" Target="fonts/Roboto-regular.fntdata"/><Relationship Id="rId52" Type="http://schemas.openxmlformats.org/officeDocument/2006/relationships/font" Target="fonts/Robot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-italic.fntdata"/><Relationship Id="rId10" Type="http://schemas.openxmlformats.org/officeDocument/2006/relationships/slide" Target="slides/slide4.xml"/><Relationship Id="rId54" Type="http://schemas.openxmlformats.org/officeDocument/2006/relationships/font" Target="fonts/Roboto-bold.fntdata"/><Relationship Id="rId13" Type="http://schemas.openxmlformats.org/officeDocument/2006/relationships/slide" Target="slides/slide7.xml"/><Relationship Id="rId57" Type="http://schemas.openxmlformats.org/officeDocument/2006/relationships/font" Target="fonts/RobotoLight-regular.fntdata"/><Relationship Id="rId12" Type="http://schemas.openxmlformats.org/officeDocument/2006/relationships/slide" Target="slides/slide6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9.xml"/><Relationship Id="rId59" Type="http://schemas.openxmlformats.org/officeDocument/2006/relationships/font" Target="fonts/RobotoLight-italic.fntdata"/><Relationship Id="rId14" Type="http://schemas.openxmlformats.org/officeDocument/2006/relationships/slide" Target="slides/slide8.xml"/><Relationship Id="rId58" Type="http://schemas.openxmlformats.org/officeDocument/2006/relationships/font" Target="fonts/Roboto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0cecbe81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0cecbe81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0cecbe81c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0cecbe81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0cecbe81c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0cecbe81c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0cecbe81c_0_6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0cecbe81c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0cecbe81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0cecbe81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0cecbe81c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0cecbe81c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0cecbe81c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0cecbe81c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0cecbe81c_0_6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f0cecbe81c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0cecbe81c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0cecbe81c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0cecbe81c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0cecbe81c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0cecbe81c_0_8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f0cecbe81c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0f0a4961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f0f0a4961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0f0a4961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f0f0a4961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f0f0a49613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f0f0a496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f0cecbe81c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f0cecbe81c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0f0a49613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f0f0a4961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0f0a4961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0f0a4961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7fb308cc2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7fb308cc2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7fb308cc2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7fb308cc2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fb308cc2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fb308cc2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7fb308cc2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7fb308cc2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7fb308cc29_0_1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7fb308cc2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7fb308cc2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7fb308cc2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7fb308cc29_0_1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7fb308cc2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7fb308cc2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7fb308cc2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7fb308cc2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7fb308cc2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7fb308cc2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7fb308cc2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7fb308cc2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7fb308cc2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7fb308cc29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7fb308cc29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7fb308cc2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7fb308cc2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7fb308cc29_0_2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7fb308cc29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7fb308cc29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7fb308cc29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7fb308cc29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7fb308cc29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7fb308cc2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7fb308cc2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7fb308cc29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7fb308cc29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7fb308cc29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7fb308cc29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7fb308cc29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7fb308cc29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7fb308cc29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7fb308cc29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7fb308cc29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7fb308cc29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7fb308cc2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7fb308cc2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7fb308cc2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7fb308cc2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7fb308cc2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7fb308cc2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Nandita Dukkipati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Host Networking, RDMA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20 (Datacenters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5827050" y="401250"/>
            <a:ext cx="2645400" cy="1826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959600" y="53630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090550" y="69232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" name="Google Shape;149;p24"/>
          <p:cNvSpPr/>
          <p:nvPr/>
        </p:nvSpPr>
        <p:spPr>
          <a:xfrm>
            <a:off x="6739900" y="69232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0" name="Google Shape;150;p24"/>
          <p:cNvSpPr txBox="1"/>
          <p:nvPr/>
        </p:nvSpPr>
        <p:spPr>
          <a:xfrm>
            <a:off x="6090625" y="156382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6650275" y="156382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 rot="10800000">
            <a:off x="7581348" y="920927"/>
            <a:ext cx="734027" cy="1196347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" name="Google Shape;153;p24"/>
          <p:cNvSpPr txBox="1"/>
          <p:nvPr/>
        </p:nvSpPr>
        <p:spPr>
          <a:xfrm>
            <a:off x="7528813" y="6496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153700" y="132305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153700" y="109445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805375" y="1323050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7658713" y="100157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58713" y="123017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7658713" y="145877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Optimizations at the Host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Host Networking?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Brief History of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5" name="Google Shape;165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Host Networking?</a:t>
            </a:r>
            <a:endParaRPr/>
          </a:p>
        </p:txBody>
      </p:sp>
      <p:sp>
        <p:nvSpPr>
          <p:cNvPr id="166" name="Google Shape;166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Bottleneck: Hosts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107050" y="402200"/>
            <a:ext cx="8909700" cy="32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Historically, the network has been the bottleneck.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Example: Congestion control.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modern datacenters, hosts are the new bottleneck.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Extremely high performance demands.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1: CPUs can't keep 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CPU working on network protocols → less resources for the application.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2: Protocols can't keep 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Traditional networking stack (TCP/IP) are insufficient.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Host networking</a:t>
            </a:r>
            <a:r>
              <a:rPr lang="en"/>
              <a:t>: Optimizations </a:t>
            </a:r>
            <a:r>
              <a:rPr b="1" lang="en"/>
              <a:t>at the host</a:t>
            </a:r>
            <a:r>
              <a:rPr lang="en"/>
              <a:t> to meet modern performance demands.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3766200" y="3946775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 Networking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851800" y="4556375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Shared 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4922100" y="4556375"/>
            <a:ext cx="1128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Offloading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6"/>
          <p:cNvCxnSpPr>
            <a:stCxn id="173" idx="2"/>
            <a:endCxn id="174" idx="0"/>
          </p:cNvCxnSpPr>
          <p:nvPr/>
        </p:nvCxnSpPr>
        <p:spPr>
          <a:xfrm flipH="1">
            <a:off x="3657600" y="4252175"/>
            <a:ext cx="914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6"/>
          <p:cNvCxnSpPr>
            <a:stCxn id="173" idx="2"/>
            <a:endCxn id="175" idx="0"/>
          </p:cNvCxnSpPr>
          <p:nvPr/>
        </p:nvCxnSpPr>
        <p:spPr>
          <a:xfrm>
            <a:off x="4572000" y="4252175"/>
            <a:ext cx="914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6"/>
          <p:cNvSpPr txBox="1"/>
          <p:nvPr/>
        </p:nvSpPr>
        <p:spPr>
          <a:xfrm>
            <a:off x="6400800" y="4465925"/>
            <a:ext cx="197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We'll look at two optimization strategies.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Optimizations at the Host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Shared Memory in User Space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Brief History of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4" name="Google Shape;184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Shared Memory in User Space</a:t>
            </a:r>
            <a:endParaRPr/>
          </a:p>
        </p:txBody>
      </p:sp>
      <p:sp>
        <p:nvSpPr>
          <p:cNvPr id="185" name="Google Shape;185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/>
          <p:nvPr/>
        </p:nvSpPr>
        <p:spPr>
          <a:xfrm>
            <a:off x="3378700" y="2319900"/>
            <a:ext cx="3145800" cy="16986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3513925" y="3019175"/>
            <a:ext cx="2861100" cy="8760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Operating</a:t>
            </a:r>
            <a:br>
              <a:rPr b="1" lang="en"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378700" y="4017775"/>
            <a:ext cx="3145800" cy="876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Layers in the End Host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107050" y="402200"/>
            <a:ext cx="8909700" cy="13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Layers 1 and 2 are implemented in hardware, on the network interface card (NIC).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Layers 3 and 4 are implemented in software, in the operating system.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7 is the applications running in software.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4711875" y="250783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4711875" y="3117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4711875" y="3498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711875" y="4147817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711875" y="4528825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6595475" y="3093951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6595475" y="4345825"/>
            <a:ext cx="1356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48050" y="3871413"/>
            <a:ext cx="22539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driver is software that interacts with the NIC.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Bridges the hardware and software.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8"/>
          <p:cNvCxnSpPr/>
          <p:nvPr/>
        </p:nvCxnSpPr>
        <p:spPr>
          <a:xfrm>
            <a:off x="2725750" y="4017775"/>
            <a:ext cx="592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>
            <a:off x="3378700" y="2319900"/>
            <a:ext cx="3145800" cy="16986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3378700" y="4017775"/>
            <a:ext cx="3145800" cy="876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3513925" y="2424975"/>
            <a:ext cx="2861100" cy="4863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User Space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Problem: </a:t>
            </a:r>
            <a:r>
              <a:rPr lang="en">
                <a:solidFill>
                  <a:schemeClr val="accent3"/>
                </a:solidFill>
              </a:rPr>
              <a:t>Kernel Space and User Space</a:t>
            </a:r>
            <a:endParaRPr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OS runs in </a:t>
            </a:r>
            <a:r>
              <a:rPr b="1" lang="en"/>
              <a:t>kernel space</a:t>
            </a:r>
            <a:r>
              <a:rPr lang="en"/>
              <a:t>, and applications run in </a:t>
            </a:r>
            <a:r>
              <a:rPr b="1" lang="en"/>
              <a:t>user space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two address spaces are isolated from each other.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Virtual memory from CS 61C.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Data is constantly being copied between user/kernel space.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Programming in the kernel is hard.</a:t>
            </a:r>
            <a:endParaRPr/>
          </a:p>
        </p:txBody>
      </p:sp>
      <p:sp>
        <p:nvSpPr>
          <p:cNvPr id="213" name="Google Shape;213;p29"/>
          <p:cNvSpPr txBox="1"/>
          <p:nvPr/>
        </p:nvSpPr>
        <p:spPr>
          <a:xfrm>
            <a:off x="945250" y="2539875"/>
            <a:ext cx="17805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Incoming data copied from kernel to user.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Outgoing data copied from user to kernel.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3513925" y="3019175"/>
            <a:ext cx="2861100" cy="8760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Kernel</a:t>
            </a:r>
            <a:br>
              <a:rPr b="1" lang="en"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latin typeface="Roboto"/>
                <a:ea typeface="Roboto"/>
                <a:cs typeface="Roboto"/>
                <a:sym typeface="Roboto"/>
              </a:rPr>
              <a:t>Space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4711875" y="250783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4711875" y="3117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4711875" y="3498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4711875" y="4147817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4711875" y="4528825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595475" y="3093951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>
            <a:off x="3285325" y="2668125"/>
            <a:ext cx="600" cy="789000"/>
          </a:xfrm>
          <a:prstGeom prst="curvedConnector3">
            <a:avLst>
              <a:gd fmla="val -90512500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" name="Google Shape;222;p29"/>
          <p:cNvSpPr txBox="1"/>
          <p:nvPr/>
        </p:nvSpPr>
        <p:spPr>
          <a:xfrm>
            <a:off x="6595475" y="4345825"/>
            <a:ext cx="1356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/>
          <p:nvPr/>
        </p:nvSpPr>
        <p:spPr>
          <a:xfrm>
            <a:off x="3378700" y="2319900"/>
            <a:ext cx="3145800" cy="16986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3378700" y="4017775"/>
            <a:ext cx="3145800" cy="876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3513925" y="2424975"/>
            <a:ext cx="2861100" cy="14703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User Space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Solution: Networking Stack in User Space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Packet processing happens in user space.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and network protocols access shared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copy data back-and-forth!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program (e.g. new protocols) in the user space!</a:t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4711875" y="250783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4711875" y="3498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4711875" y="4147817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4711875" y="4528825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6595475" y="3093951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4711875" y="30031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6595475" y="4345825"/>
            <a:ext cx="1356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Optimizations at the Host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Brief History of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Offloading</a:t>
            </a:r>
            <a:endParaRPr/>
          </a:p>
        </p:txBody>
      </p:sp>
      <p:sp>
        <p:nvSpPr>
          <p:cNvPr id="245" name="Google Shape;245;p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/>
          <p:nvPr/>
        </p:nvSpPr>
        <p:spPr>
          <a:xfrm>
            <a:off x="1593225" y="2042025"/>
            <a:ext cx="2076900" cy="1344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Optimization: Offloading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roblem: CPUs can't keep up with modern performance demands.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</a:t>
            </a:r>
            <a:r>
              <a:rPr b="1" lang="en"/>
              <a:t>Offloading</a:t>
            </a:r>
            <a:r>
              <a:rPr lang="en"/>
              <a:t>. Process packets in hardware instead of software.</a:t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1593225" y="3386825"/>
            <a:ext cx="2076900" cy="8184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18636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18636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18636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18636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625875" y="2579014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159675" y="3646650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18636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5555625" y="2042025"/>
            <a:ext cx="2076900" cy="4923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7703475" y="2162989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5555625" y="2534325"/>
            <a:ext cx="2076900" cy="1671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58260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58260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58260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58260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7703475" y="3234375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58260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19140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Before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58764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After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2" name="Google Shape;272;p32"/>
          <p:cNvCxnSpPr/>
          <p:nvPr/>
        </p:nvCxnSpPr>
        <p:spPr>
          <a:xfrm>
            <a:off x="3821325" y="3092925"/>
            <a:ext cx="1509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Offloading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Frees up CPU cycles for applications.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processing and applications no longer contend for CPU.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Efficiency.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Specialized processing in hardware can be more efficient.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 savings.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Predictability.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has unpredictable scheduling delays.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gives us more consistent latencies.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0: No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0:</a:t>
            </a:r>
            <a:br>
              <a:rPr lang="en" sz="3200"/>
            </a:br>
            <a:r>
              <a:rPr lang="en" sz="3200"/>
              <a:t>No Offloading</a:t>
            </a:r>
            <a:endParaRPr sz="3200"/>
          </a:p>
        </p:txBody>
      </p:sp>
      <p:sp>
        <p:nvSpPr>
          <p:cNvPr id="285" name="Google Shape;285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 Before Offloading</a:t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107050" y="402200"/>
            <a:ext cx="8909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any offloading, t</a:t>
            </a:r>
            <a:r>
              <a:rPr lang="en"/>
              <a:t>he NIC is a "doormat" for packets, with minimal processing.</a:t>
            </a:r>
            <a:endParaRPr/>
          </a:p>
        </p:txBody>
      </p:sp>
      <p:sp>
        <p:nvSpPr>
          <p:cNvPr id="292" name="Google Shape;292;p35"/>
          <p:cNvSpPr txBox="1"/>
          <p:nvPr/>
        </p:nvSpPr>
        <p:spPr>
          <a:xfrm>
            <a:off x="400950" y="1078500"/>
            <a:ext cx="13167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driver is software that interacts with the NIC.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Bridges the hardware and software.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" name="Google Shape;293;p35"/>
          <p:cNvCxnSpPr/>
          <p:nvPr/>
        </p:nvCxnSpPr>
        <p:spPr>
          <a:xfrm>
            <a:off x="1672825" y="1223425"/>
            <a:ext cx="918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5"/>
          <p:cNvSpPr txBox="1"/>
          <p:nvPr/>
        </p:nvSpPr>
        <p:spPr>
          <a:xfrm>
            <a:off x="7205650" y="2759075"/>
            <a:ext cx="1608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NIC controller manages operation on the card.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2001200" y="1642325"/>
            <a:ext cx="5068500" cy="270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2171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2171125" y="3357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2171125" y="29001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Remove L2 Headers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2171125" y="2442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2171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Generate Interrupt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35"/>
          <p:cNvCxnSpPr>
            <a:stCxn id="297" idx="2"/>
            <a:endCxn id="296" idx="0"/>
          </p:cNvCxnSpPr>
          <p:nvPr/>
        </p:nvCxnSpPr>
        <p:spPr>
          <a:xfrm>
            <a:off x="3029425" y="36372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5"/>
          <p:cNvCxnSpPr>
            <a:stCxn id="298" idx="2"/>
            <a:endCxn id="297" idx="0"/>
          </p:cNvCxnSpPr>
          <p:nvPr/>
        </p:nvCxnSpPr>
        <p:spPr>
          <a:xfrm>
            <a:off x="3029425" y="31800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5"/>
          <p:cNvCxnSpPr>
            <a:stCxn id="299" idx="2"/>
            <a:endCxn id="298" idx="0"/>
          </p:cNvCxnSpPr>
          <p:nvPr/>
        </p:nvCxnSpPr>
        <p:spPr>
          <a:xfrm>
            <a:off x="3029425" y="27228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5"/>
          <p:cNvCxnSpPr>
            <a:stCxn id="300" idx="2"/>
            <a:endCxn id="299" idx="0"/>
          </p:cNvCxnSpPr>
          <p:nvPr/>
        </p:nvCxnSpPr>
        <p:spPr>
          <a:xfrm>
            <a:off x="3029425" y="22656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5"/>
          <p:cNvCxnSpPr/>
          <p:nvPr/>
        </p:nvCxnSpPr>
        <p:spPr>
          <a:xfrm>
            <a:off x="3029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6" name="Google Shape;306;p35"/>
          <p:cNvCxnSpPr/>
          <p:nvPr/>
        </p:nvCxnSpPr>
        <p:spPr>
          <a:xfrm>
            <a:off x="3029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07" name="Google Shape;307;p35"/>
          <p:cNvSpPr/>
          <p:nvPr/>
        </p:nvSpPr>
        <p:spPr>
          <a:xfrm>
            <a:off x="2590825" y="1066213"/>
            <a:ext cx="4153800" cy="3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5219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5219125" y="3204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Construct L2 Frame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5219125" y="2595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5"/>
          <p:cNvSpPr/>
          <p:nvPr/>
        </p:nvSpPr>
        <p:spPr>
          <a:xfrm>
            <a:off x="5219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" name="Google Shape;312;p35"/>
          <p:cNvCxnSpPr>
            <a:stCxn id="309" idx="2"/>
            <a:endCxn id="308" idx="0"/>
          </p:cNvCxnSpPr>
          <p:nvPr/>
        </p:nvCxnSpPr>
        <p:spPr>
          <a:xfrm>
            <a:off x="6077425" y="34848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5"/>
          <p:cNvCxnSpPr>
            <a:stCxn id="310" idx="2"/>
            <a:endCxn id="309" idx="0"/>
          </p:cNvCxnSpPr>
          <p:nvPr/>
        </p:nvCxnSpPr>
        <p:spPr>
          <a:xfrm>
            <a:off x="6077425" y="28752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5"/>
          <p:cNvCxnSpPr>
            <a:stCxn id="311" idx="2"/>
            <a:endCxn id="310" idx="0"/>
          </p:cNvCxnSpPr>
          <p:nvPr/>
        </p:nvCxnSpPr>
        <p:spPr>
          <a:xfrm>
            <a:off x="6077425" y="22656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5"/>
          <p:cNvCxnSpPr/>
          <p:nvPr/>
        </p:nvCxnSpPr>
        <p:spPr>
          <a:xfrm>
            <a:off x="6077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5"/>
          <p:cNvCxnSpPr/>
          <p:nvPr/>
        </p:nvCxnSpPr>
        <p:spPr>
          <a:xfrm>
            <a:off x="6077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5"/>
          <p:cNvSpPr/>
          <p:nvPr/>
        </p:nvSpPr>
        <p:spPr>
          <a:xfrm>
            <a:off x="4086475" y="2855825"/>
            <a:ext cx="933900" cy="508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NIC Controller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2590825" y="4610913"/>
            <a:ext cx="4153800" cy="31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Ports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/>
          <p:nvPr/>
        </p:nvSpPr>
        <p:spPr>
          <a:xfrm>
            <a:off x="2001200" y="1642325"/>
            <a:ext cx="5068500" cy="270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 Before Offloading</a:t>
            </a:r>
            <a:endParaRPr/>
          </a:p>
        </p:txBody>
      </p:sp>
      <p:sp>
        <p:nvSpPr>
          <p:cNvPr id="325" name="Google Shape;325;p36"/>
          <p:cNvSpPr txBox="1"/>
          <p:nvPr>
            <p:ph idx="1" type="body"/>
          </p:nvPr>
        </p:nvSpPr>
        <p:spPr>
          <a:xfrm>
            <a:off x="107050" y="402200"/>
            <a:ext cx="8909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NIC passes incoming packets up to CPU, and </a:t>
            </a:r>
            <a:r>
              <a:rPr lang="en"/>
              <a:t>sends out packets from CPU.</a:t>
            </a:r>
            <a:endParaRPr/>
          </a:p>
        </p:txBody>
      </p:sp>
      <p:sp>
        <p:nvSpPr>
          <p:cNvPr id="326" name="Google Shape;326;p36"/>
          <p:cNvSpPr/>
          <p:nvPr/>
        </p:nvSpPr>
        <p:spPr>
          <a:xfrm>
            <a:off x="2171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2171125" y="3357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2171125" y="29001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Remove L2 Headers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2171125" y="2442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2171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Generate Interrupt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" name="Google Shape;331;p36"/>
          <p:cNvCxnSpPr>
            <a:stCxn id="327" idx="2"/>
            <a:endCxn id="326" idx="0"/>
          </p:cNvCxnSpPr>
          <p:nvPr/>
        </p:nvCxnSpPr>
        <p:spPr>
          <a:xfrm>
            <a:off x="3029425" y="36372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6"/>
          <p:cNvCxnSpPr>
            <a:stCxn id="328" idx="2"/>
            <a:endCxn id="327" idx="0"/>
          </p:cNvCxnSpPr>
          <p:nvPr/>
        </p:nvCxnSpPr>
        <p:spPr>
          <a:xfrm>
            <a:off x="3029425" y="31800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6"/>
          <p:cNvCxnSpPr>
            <a:stCxn id="329" idx="2"/>
            <a:endCxn id="328" idx="0"/>
          </p:cNvCxnSpPr>
          <p:nvPr/>
        </p:nvCxnSpPr>
        <p:spPr>
          <a:xfrm>
            <a:off x="3029425" y="27228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6"/>
          <p:cNvCxnSpPr>
            <a:stCxn id="330" idx="2"/>
            <a:endCxn id="329" idx="0"/>
          </p:cNvCxnSpPr>
          <p:nvPr/>
        </p:nvCxnSpPr>
        <p:spPr>
          <a:xfrm>
            <a:off x="3029425" y="22656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6"/>
          <p:cNvCxnSpPr/>
          <p:nvPr/>
        </p:nvCxnSpPr>
        <p:spPr>
          <a:xfrm>
            <a:off x="3029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6" name="Google Shape;336;p36"/>
          <p:cNvCxnSpPr/>
          <p:nvPr/>
        </p:nvCxnSpPr>
        <p:spPr>
          <a:xfrm>
            <a:off x="3029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37" name="Google Shape;337;p36"/>
          <p:cNvSpPr/>
          <p:nvPr/>
        </p:nvSpPr>
        <p:spPr>
          <a:xfrm>
            <a:off x="2590825" y="1066213"/>
            <a:ext cx="4153800" cy="3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5219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5219125" y="3204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Construct L2 Frame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6"/>
          <p:cNvSpPr/>
          <p:nvPr/>
        </p:nvSpPr>
        <p:spPr>
          <a:xfrm>
            <a:off x="5219125" y="2595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5219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36"/>
          <p:cNvCxnSpPr>
            <a:stCxn id="339" idx="2"/>
            <a:endCxn id="338" idx="0"/>
          </p:cNvCxnSpPr>
          <p:nvPr/>
        </p:nvCxnSpPr>
        <p:spPr>
          <a:xfrm>
            <a:off x="6077425" y="34848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6"/>
          <p:cNvCxnSpPr>
            <a:stCxn id="340" idx="2"/>
            <a:endCxn id="339" idx="0"/>
          </p:cNvCxnSpPr>
          <p:nvPr/>
        </p:nvCxnSpPr>
        <p:spPr>
          <a:xfrm>
            <a:off x="6077425" y="28752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6"/>
          <p:cNvCxnSpPr>
            <a:stCxn id="341" idx="2"/>
            <a:endCxn id="340" idx="0"/>
          </p:cNvCxnSpPr>
          <p:nvPr/>
        </p:nvCxnSpPr>
        <p:spPr>
          <a:xfrm>
            <a:off x="6077425" y="22656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6"/>
          <p:cNvCxnSpPr/>
          <p:nvPr/>
        </p:nvCxnSpPr>
        <p:spPr>
          <a:xfrm>
            <a:off x="6077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6"/>
          <p:cNvCxnSpPr/>
          <p:nvPr/>
        </p:nvCxnSpPr>
        <p:spPr>
          <a:xfrm>
            <a:off x="6077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6"/>
          <p:cNvSpPr/>
          <p:nvPr/>
        </p:nvSpPr>
        <p:spPr>
          <a:xfrm>
            <a:off x="4086475" y="2855825"/>
            <a:ext cx="933900" cy="508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Controller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2590825" y="4610913"/>
            <a:ext cx="4153800" cy="31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Ports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234300" y="3711300"/>
            <a:ext cx="1588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Convert electrical signals into bits.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" name="Google Shape;350;p36"/>
          <p:cNvCxnSpPr/>
          <p:nvPr/>
        </p:nvCxnSpPr>
        <p:spPr>
          <a:xfrm rot="10800000">
            <a:off x="1881550" y="1931525"/>
            <a:ext cx="0" cy="2357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36"/>
          <p:cNvSpPr txBox="1"/>
          <p:nvPr/>
        </p:nvSpPr>
        <p:spPr>
          <a:xfrm>
            <a:off x="234300" y="3085950"/>
            <a:ext cx="1588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Buffer bits until we can process them.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6"/>
          <p:cNvSpPr txBox="1"/>
          <p:nvPr/>
        </p:nvSpPr>
        <p:spPr>
          <a:xfrm>
            <a:off x="234300" y="2676000"/>
            <a:ext cx="145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Process Layer 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234300" y="1990200"/>
            <a:ext cx="1588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Interrupt CPU to give packet to CPU.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7320900" y="3711300"/>
            <a:ext cx="1488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Convert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bits into electrical signals.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" name="Google Shape;355;p36"/>
          <p:cNvCxnSpPr/>
          <p:nvPr/>
        </p:nvCxnSpPr>
        <p:spPr>
          <a:xfrm rot="10800000">
            <a:off x="7215550" y="1857125"/>
            <a:ext cx="0" cy="2431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56" name="Google Shape;356;p36"/>
          <p:cNvSpPr txBox="1"/>
          <p:nvPr/>
        </p:nvSpPr>
        <p:spPr>
          <a:xfrm>
            <a:off x="7320900" y="2862175"/>
            <a:ext cx="145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Process Layer 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7320900" y="1882500"/>
            <a:ext cx="1588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Buffer packets from CPU until we can process them.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1: Stateless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63" name="Google Shape;363;p3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1:</a:t>
            </a:r>
            <a:br>
              <a:rPr lang="en" sz="3200"/>
            </a:br>
            <a:r>
              <a:rPr lang="en" sz="3200"/>
              <a:t>Stateless Operations</a:t>
            </a:r>
            <a:endParaRPr sz="3200"/>
          </a:p>
        </p:txBody>
      </p:sp>
      <p:sp>
        <p:nvSpPr>
          <p:cNvPr id="364" name="Google Shape;364;p3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/>
          <p:nvPr/>
        </p:nvSpPr>
        <p:spPr>
          <a:xfrm>
            <a:off x="6292600" y="3753200"/>
            <a:ext cx="1611600" cy="613800"/>
          </a:xfrm>
          <a:prstGeom prst="roundRect">
            <a:avLst>
              <a:gd fmla="val 1009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Epoch 3: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RDMA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Offloading</a:t>
            </a:r>
            <a:endParaRPr/>
          </a:p>
        </p:txBody>
      </p:sp>
      <p:sp>
        <p:nvSpPr>
          <p:cNvPr id="371" name="Google Shape;371;p38"/>
          <p:cNvSpPr txBox="1"/>
          <p:nvPr>
            <p:ph idx="1" type="body"/>
          </p:nvPr>
        </p:nvSpPr>
        <p:spPr>
          <a:xfrm>
            <a:off x="107050" y="402200"/>
            <a:ext cx="8909700" cy="20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Over time, increasingly complicated operations were offloaded to the NIC.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Epoch 1: Simple stateless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Epoch 2: Stateful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Epoch 3: Protocols like RDMA.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2" name="Google Shape;372;p38"/>
          <p:cNvSpPr/>
          <p:nvPr/>
        </p:nvSpPr>
        <p:spPr>
          <a:xfrm>
            <a:off x="2896000" y="2457800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 Networking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8"/>
          <p:cNvSpPr/>
          <p:nvPr/>
        </p:nvSpPr>
        <p:spPr>
          <a:xfrm>
            <a:off x="1219600" y="3067400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Shared 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4813900" y="3067400"/>
            <a:ext cx="1128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Offloading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8"/>
          <p:cNvCxnSpPr>
            <a:stCxn id="372" idx="2"/>
            <a:endCxn id="373" idx="0"/>
          </p:cNvCxnSpPr>
          <p:nvPr/>
        </p:nvCxnSpPr>
        <p:spPr>
          <a:xfrm flipH="1">
            <a:off x="2025400" y="2763200"/>
            <a:ext cx="1676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8"/>
          <p:cNvCxnSpPr>
            <a:stCxn id="372" idx="2"/>
            <a:endCxn id="374" idx="0"/>
          </p:cNvCxnSpPr>
          <p:nvPr/>
        </p:nvCxnSpPr>
        <p:spPr>
          <a:xfrm>
            <a:off x="3701800" y="2763200"/>
            <a:ext cx="1676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8"/>
          <p:cNvSpPr/>
          <p:nvPr/>
        </p:nvSpPr>
        <p:spPr>
          <a:xfrm>
            <a:off x="2852200" y="3753200"/>
            <a:ext cx="1611600" cy="944100"/>
          </a:xfrm>
          <a:prstGeom prst="roundRect">
            <a:avLst>
              <a:gd fmla="val 645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Epoch 1: Stateless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Checksum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Segmentation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Multi-queue support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4572400" y="3753200"/>
            <a:ext cx="1611600" cy="944100"/>
          </a:xfrm>
          <a:prstGeom prst="roundRect">
            <a:avLst>
              <a:gd fmla="val 6856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Epoch 2: Stateful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Virtualization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Load balancing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Firewalls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38"/>
          <p:cNvCxnSpPr>
            <a:stCxn id="374" idx="2"/>
            <a:endCxn id="377" idx="0"/>
          </p:cNvCxnSpPr>
          <p:nvPr/>
        </p:nvCxnSpPr>
        <p:spPr>
          <a:xfrm flipH="1">
            <a:off x="3658000" y="3372800"/>
            <a:ext cx="172020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8"/>
          <p:cNvCxnSpPr>
            <a:stCxn id="374" idx="2"/>
            <a:endCxn id="378" idx="0"/>
          </p:cNvCxnSpPr>
          <p:nvPr/>
        </p:nvCxnSpPr>
        <p:spPr>
          <a:xfrm>
            <a:off x="5378200" y="3372800"/>
            <a:ext cx="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8"/>
          <p:cNvCxnSpPr>
            <a:stCxn id="374" idx="2"/>
            <a:endCxn id="369" idx="0"/>
          </p:cNvCxnSpPr>
          <p:nvPr/>
        </p:nvCxnSpPr>
        <p:spPr>
          <a:xfrm>
            <a:off x="5378200" y="3372800"/>
            <a:ext cx="172020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 1 Offloads (</a:t>
            </a:r>
            <a:r>
              <a:rPr lang="en"/>
              <a:t>1/3</a:t>
            </a:r>
            <a:r>
              <a:rPr lang="en"/>
              <a:t>): Checksum</a:t>
            </a:r>
            <a:endParaRPr/>
          </a:p>
        </p:txBody>
      </p:sp>
      <p:sp>
        <p:nvSpPr>
          <p:cNvPr id="387" name="Google Shape;387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NIC can </a:t>
            </a:r>
            <a:r>
              <a:rPr i="1" lang="en"/>
              <a:t>set</a:t>
            </a:r>
            <a:r>
              <a:rPr lang="en"/>
              <a:t> Layer 4 checksum for </a:t>
            </a:r>
            <a:r>
              <a:rPr i="1" lang="en"/>
              <a:t>outgoing</a:t>
            </a:r>
            <a:r>
              <a:rPr lang="en"/>
              <a:t>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NIC can </a:t>
            </a:r>
            <a:r>
              <a:rPr i="1" lang="en"/>
              <a:t>verify</a:t>
            </a:r>
            <a:r>
              <a:rPr lang="en"/>
              <a:t> Layer 4 checksum for </a:t>
            </a:r>
            <a:r>
              <a:rPr i="1" lang="en"/>
              <a:t>incoming</a:t>
            </a:r>
            <a:r>
              <a:rPr lang="en"/>
              <a:t>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CPU tells the NIC where to read/write the checksum.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Epoch 1 Offloads (2/3): Segmentation</a:t>
            </a:r>
            <a:endParaRPr/>
          </a:p>
        </p:txBody>
      </p:sp>
      <p:sp>
        <p:nvSpPr>
          <p:cNvPr id="393" name="Google Shape;393;p40"/>
          <p:cNvSpPr txBox="1"/>
          <p:nvPr>
            <p:ph idx="1" type="body"/>
          </p:nvPr>
        </p:nvSpPr>
        <p:spPr>
          <a:xfrm>
            <a:off x="107050" y="402200"/>
            <a:ext cx="89097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CPU can offload segmentation work (splitting and reassembling packets) to the NIC.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handles a few large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 handles lots of small packets.</a:t>
            </a:r>
            <a:endParaRPr/>
          </a:p>
        </p:txBody>
      </p:sp>
      <p:sp>
        <p:nvSpPr>
          <p:cNvPr id="394" name="Google Shape;394;p40"/>
          <p:cNvSpPr/>
          <p:nvPr/>
        </p:nvSpPr>
        <p:spPr>
          <a:xfrm>
            <a:off x="2222400" y="21587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2222400" y="33017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3133500" y="3301700"/>
            <a:ext cx="12627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40"/>
          <p:cNvSpPr/>
          <p:nvPr/>
        </p:nvSpPr>
        <p:spPr>
          <a:xfrm>
            <a:off x="3133500" y="2158700"/>
            <a:ext cx="378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40"/>
          <p:cNvSpPr/>
          <p:nvPr/>
        </p:nvSpPr>
        <p:spPr>
          <a:xfrm>
            <a:off x="4396200" y="3758900"/>
            <a:ext cx="12627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40"/>
          <p:cNvSpPr/>
          <p:nvPr/>
        </p:nvSpPr>
        <p:spPr>
          <a:xfrm>
            <a:off x="5658900" y="4216100"/>
            <a:ext cx="12627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3485100" y="37589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40"/>
          <p:cNvSpPr/>
          <p:nvPr/>
        </p:nvSpPr>
        <p:spPr>
          <a:xfrm>
            <a:off x="4747800" y="42161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455563" y="4097600"/>
            <a:ext cx="132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CPU to NIC: Split up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40"/>
          <p:cNvCxnSpPr/>
          <p:nvPr/>
        </p:nvCxnSpPr>
        <p:spPr>
          <a:xfrm>
            <a:off x="1549175" y="2355500"/>
            <a:ext cx="13500" cy="1600200"/>
          </a:xfrm>
          <a:prstGeom prst="curvedConnector3">
            <a:avLst>
              <a:gd fmla="val -6452778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40"/>
          <p:cNvSpPr txBox="1"/>
          <p:nvPr/>
        </p:nvSpPr>
        <p:spPr>
          <a:xfrm>
            <a:off x="7389763" y="4097600"/>
            <a:ext cx="13296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NIC to CPU: Reassemble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40"/>
          <p:cNvCxnSpPr/>
          <p:nvPr/>
        </p:nvCxnSpPr>
        <p:spPr>
          <a:xfrm flipH="1">
            <a:off x="7612245" y="2355500"/>
            <a:ext cx="13500" cy="1600200"/>
          </a:xfrm>
          <a:prstGeom prst="curvedConnector3">
            <a:avLst>
              <a:gd fmla="val -6452778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Epoch 1 Offloads (2/3): Segmentation</a:t>
            </a:r>
            <a:endParaRPr/>
          </a:p>
        </p:txBody>
      </p:sp>
      <p:sp>
        <p:nvSpPr>
          <p:cNvPr id="411" name="Google Shape;411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Segmentation comes with trade-offs.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segmentation: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work for CPU to 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hands large packets to NIC. Traffic is more bursty.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segmentation: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work for CPU to 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hands small packets to NIC. Traffic is smoother.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/>
          <p:nvPr/>
        </p:nvSpPr>
        <p:spPr>
          <a:xfrm>
            <a:off x="5743750" y="1297100"/>
            <a:ext cx="3286800" cy="13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42"/>
          <p:cNvSpPr/>
          <p:nvPr/>
        </p:nvSpPr>
        <p:spPr>
          <a:xfrm>
            <a:off x="5743750" y="2667500"/>
            <a:ext cx="3286800" cy="137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Epoch 1 Offloads (3/3): Multi-Queue Support</a:t>
            </a:r>
            <a:endParaRPr/>
          </a:p>
        </p:txBody>
      </p:sp>
      <p:sp>
        <p:nvSpPr>
          <p:cNvPr id="419" name="Google Shape;419;p42"/>
          <p:cNvSpPr txBox="1"/>
          <p:nvPr>
            <p:ph idx="1" type="body"/>
          </p:nvPr>
        </p:nvSpPr>
        <p:spPr>
          <a:xfrm>
            <a:off x="107050" y="402200"/>
            <a:ext cx="5295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offloading: NIC has 1 transmit queue and 1 receive queue.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Network driver is responsible for isolation and load balancing in a multi-processor system (multiple CPUs).</a:t>
            </a:r>
            <a:endParaRPr/>
          </a:p>
        </p:txBody>
      </p:sp>
      <p:sp>
        <p:nvSpPr>
          <p:cNvPr id="420" name="Google Shape;420;p42"/>
          <p:cNvSpPr/>
          <p:nvPr/>
        </p:nvSpPr>
        <p:spPr>
          <a:xfrm>
            <a:off x="64724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42"/>
          <p:cNvSpPr/>
          <p:nvPr/>
        </p:nvSpPr>
        <p:spPr>
          <a:xfrm rot="10800000">
            <a:off x="79293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Epoch 1 Offloads (3/3): Multi-Queue Support</a:t>
            </a:r>
            <a:endParaRPr/>
          </a:p>
        </p:txBody>
      </p:sp>
      <p:sp>
        <p:nvSpPr>
          <p:cNvPr id="427" name="Google Shape;427;p43"/>
          <p:cNvSpPr txBox="1"/>
          <p:nvPr>
            <p:ph idx="1" type="body"/>
          </p:nvPr>
        </p:nvSpPr>
        <p:spPr>
          <a:xfrm>
            <a:off x="107050" y="402200"/>
            <a:ext cx="4382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Multiple transmit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scheduler decides which queue to send from next.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Multiple receive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 packets (like ECMP, equal-cost multi-path routing) to decide which CPU handles the packet.</a:t>
            </a:r>
            <a:endParaRPr/>
          </a:p>
        </p:txBody>
      </p:sp>
      <p:sp>
        <p:nvSpPr>
          <p:cNvPr id="428" name="Google Shape;428;p43"/>
          <p:cNvSpPr/>
          <p:nvPr/>
        </p:nvSpPr>
        <p:spPr>
          <a:xfrm>
            <a:off x="5743750" y="1297100"/>
            <a:ext cx="3286800" cy="13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43"/>
          <p:cNvSpPr/>
          <p:nvPr/>
        </p:nvSpPr>
        <p:spPr>
          <a:xfrm>
            <a:off x="5743750" y="2667500"/>
            <a:ext cx="3286800" cy="137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43"/>
          <p:cNvSpPr/>
          <p:nvPr/>
        </p:nvSpPr>
        <p:spPr>
          <a:xfrm>
            <a:off x="64724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43"/>
          <p:cNvSpPr/>
          <p:nvPr/>
        </p:nvSpPr>
        <p:spPr>
          <a:xfrm>
            <a:off x="69296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43"/>
          <p:cNvSpPr/>
          <p:nvPr/>
        </p:nvSpPr>
        <p:spPr>
          <a:xfrm>
            <a:off x="60152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43"/>
          <p:cNvSpPr/>
          <p:nvPr/>
        </p:nvSpPr>
        <p:spPr>
          <a:xfrm>
            <a:off x="5859100" y="320750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 scheduler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43"/>
          <p:cNvSpPr/>
          <p:nvPr/>
        </p:nvSpPr>
        <p:spPr>
          <a:xfrm rot="10800000">
            <a:off x="79293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43"/>
          <p:cNvSpPr/>
          <p:nvPr/>
        </p:nvSpPr>
        <p:spPr>
          <a:xfrm rot="10800000">
            <a:off x="74721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3"/>
          <p:cNvSpPr/>
          <p:nvPr/>
        </p:nvSpPr>
        <p:spPr>
          <a:xfrm rot="10800000">
            <a:off x="83865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3"/>
          <p:cNvSpPr/>
          <p:nvPr/>
        </p:nvSpPr>
        <p:spPr>
          <a:xfrm>
            <a:off x="7316025" y="174155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to pick 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Epoch 1 Offloads (3/3): Multi-Queue Support</a:t>
            </a:r>
            <a:endParaRPr/>
          </a:p>
        </p:txBody>
      </p:sp>
      <p:sp>
        <p:nvSpPr>
          <p:cNvPr id="443" name="Google Shape;443;p44"/>
          <p:cNvSpPr txBox="1"/>
          <p:nvPr>
            <p:ph idx="1" type="body"/>
          </p:nvPr>
        </p:nvSpPr>
        <p:spPr>
          <a:xfrm>
            <a:off x="107050" y="402200"/>
            <a:ext cx="4382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isolation: Specific flows can use a dedicated queue.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load-balancing: Heavy traffic in one queue doesn't affect others.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prioritize specific flows.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ensure packets in the same flow use the same queue, to avoid out-of-order packets (which slows down TCP).</a:t>
            </a: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5743750" y="1297100"/>
            <a:ext cx="3286800" cy="13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4"/>
          <p:cNvSpPr/>
          <p:nvPr/>
        </p:nvSpPr>
        <p:spPr>
          <a:xfrm>
            <a:off x="5743750" y="2667500"/>
            <a:ext cx="3286800" cy="137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64724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44"/>
          <p:cNvSpPr/>
          <p:nvPr/>
        </p:nvSpPr>
        <p:spPr>
          <a:xfrm>
            <a:off x="69296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44"/>
          <p:cNvSpPr/>
          <p:nvPr/>
        </p:nvSpPr>
        <p:spPr>
          <a:xfrm>
            <a:off x="60152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44"/>
          <p:cNvSpPr/>
          <p:nvPr/>
        </p:nvSpPr>
        <p:spPr>
          <a:xfrm>
            <a:off x="5859100" y="320750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 scheduler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44"/>
          <p:cNvSpPr/>
          <p:nvPr/>
        </p:nvSpPr>
        <p:spPr>
          <a:xfrm rot="10800000">
            <a:off x="79293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44"/>
          <p:cNvSpPr/>
          <p:nvPr/>
        </p:nvSpPr>
        <p:spPr>
          <a:xfrm rot="10800000">
            <a:off x="74721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44"/>
          <p:cNvSpPr/>
          <p:nvPr/>
        </p:nvSpPr>
        <p:spPr>
          <a:xfrm rot="10800000">
            <a:off x="83865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44"/>
          <p:cNvSpPr/>
          <p:nvPr/>
        </p:nvSpPr>
        <p:spPr>
          <a:xfrm>
            <a:off x="7316025" y="174155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to pick 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2: Stateful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59" name="Google Shape;459;p4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2:</a:t>
            </a:r>
            <a:br>
              <a:rPr lang="en" sz="3200"/>
            </a:br>
            <a:r>
              <a:rPr lang="en" sz="3200"/>
              <a:t>Stateful Operations</a:t>
            </a:r>
            <a:endParaRPr sz="3200"/>
          </a:p>
        </p:txBody>
      </p:sp>
      <p:sp>
        <p:nvSpPr>
          <p:cNvPr id="460" name="Google Shape;460;p4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 2: Stateful Offloads with Match-Action Tables</a:t>
            </a:r>
            <a:endParaRPr/>
          </a:p>
        </p:txBody>
      </p:sp>
      <p:sp>
        <p:nvSpPr>
          <p:cNvPr id="466" name="Google Shape;466;p46"/>
          <p:cNvSpPr txBox="1"/>
          <p:nvPr>
            <p:ph idx="1" type="body"/>
          </p:nvPr>
        </p:nvSpPr>
        <p:spPr>
          <a:xfrm>
            <a:off x="107050" y="402200"/>
            <a:ext cx="8909700" cy="23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Stateful operations to offload: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Virtualization</a:t>
            </a:r>
            <a:r>
              <a:rPr lang="en"/>
              <a:t>: Virtual switch forwarding packets to/from VMs.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Bandwidth metering</a:t>
            </a:r>
            <a:r>
              <a:rPr lang="en"/>
              <a:t>: If user sends too many packets, drop the excess.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Firewalls</a:t>
            </a:r>
            <a:r>
              <a:rPr lang="en"/>
              <a:t>: Drop packets from malicious users.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Behavior specified by match-action tables (like OpenFlow).</a:t>
            </a:r>
            <a:endParaRPr/>
          </a:p>
        </p:txBody>
      </p:sp>
      <p:graphicFrame>
        <p:nvGraphicFramePr>
          <p:cNvPr id="467" name="Google Shape;467;p46"/>
          <p:cNvGraphicFramePr/>
          <p:nvPr/>
        </p:nvGraphicFramePr>
        <p:xfrm>
          <a:off x="1548725" y="30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{111D026F-1D82-44FF-979D-6064669E269F}</a:tableStyleId>
              </a:tblPr>
              <a:tblGrid>
                <a:gridCol w="3012200"/>
                <a:gridCol w="3014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Match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= 10.1.8.9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encapsulation header, forward.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5-tuple matches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(10.1.2.3, 50000, TCP, 24.1.3.0, 80)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 100 packets per minute.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 excess.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= 76.124.1.2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Malicious source. Drop.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3: Protocols (RDMA)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73" name="Google Shape;473;p4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3:</a:t>
            </a:r>
            <a:br>
              <a:rPr lang="en" sz="3200"/>
            </a:br>
            <a:r>
              <a:rPr lang="en" sz="3200"/>
              <a:t>Protocols (RDMA)</a:t>
            </a:r>
            <a:endParaRPr sz="3200"/>
          </a:p>
        </p:txBody>
      </p:sp>
      <p:sp>
        <p:nvSpPr>
          <p:cNvPr id="474" name="Google Shape;474;p4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"/>
          <p:cNvSpPr/>
          <p:nvPr/>
        </p:nvSpPr>
        <p:spPr>
          <a:xfrm>
            <a:off x="1593225" y="2042025"/>
            <a:ext cx="2076900" cy="1344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Epoch 3: Protocols</a:t>
            </a:r>
            <a:endParaRPr/>
          </a:p>
        </p:txBody>
      </p:sp>
      <p:sp>
        <p:nvSpPr>
          <p:cNvPr id="481" name="Google Shape;481;p48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Offload entire protocols, like TCP, into hardware.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area of research!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implementing TCP in hardware, design custom protocols for hardware.</a:t>
            </a:r>
            <a:endParaRPr/>
          </a:p>
        </p:txBody>
      </p:sp>
      <p:sp>
        <p:nvSpPr>
          <p:cNvPr id="482" name="Google Shape;482;p48"/>
          <p:cNvSpPr/>
          <p:nvPr/>
        </p:nvSpPr>
        <p:spPr>
          <a:xfrm>
            <a:off x="1593225" y="3386825"/>
            <a:ext cx="2076900" cy="8184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48"/>
          <p:cNvSpPr/>
          <p:nvPr/>
        </p:nvSpPr>
        <p:spPr>
          <a:xfrm>
            <a:off x="18636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48"/>
          <p:cNvSpPr/>
          <p:nvPr/>
        </p:nvSpPr>
        <p:spPr>
          <a:xfrm>
            <a:off x="18636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48"/>
          <p:cNvSpPr/>
          <p:nvPr/>
        </p:nvSpPr>
        <p:spPr>
          <a:xfrm>
            <a:off x="18636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48"/>
          <p:cNvSpPr/>
          <p:nvPr/>
        </p:nvSpPr>
        <p:spPr>
          <a:xfrm>
            <a:off x="18636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48"/>
          <p:cNvSpPr txBox="1"/>
          <p:nvPr/>
        </p:nvSpPr>
        <p:spPr>
          <a:xfrm>
            <a:off x="625875" y="2579014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48"/>
          <p:cNvSpPr txBox="1"/>
          <p:nvPr/>
        </p:nvSpPr>
        <p:spPr>
          <a:xfrm>
            <a:off x="159675" y="3646650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48"/>
          <p:cNvSpPr/>
          <p:nvPr/>
        </p:nvSpPr>
        <p:spPr>
          <a:xfrm>
            <a:off x="18636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48"/>
          <p:cNvSpPr/>
          <p:nvPr/>
        </p:nvSpPr>
        <p:spPr>
          <a:xfrm>
            <a:off x="5555625" y="2042025"/>
            <a:ext cx="2076900" cy="4923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48"/>
          <p:cNvSpPr txBox="1"/>
          <p:nvPr/>
        </p:nvSpPr>
        <p:spPr>
          <a:xfrm>
            <a:off x="7703475" y="2162989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48"/>
          <p:cNvSpPr/>
          <p:nvPr/>
        </p:nvSpPr>
        <p:spPr>
          <a:xfrm>
            <a:off x="5555625" y="2534325"/>
            <a:ext cx="2076900" cy="1671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48"/>
          <p:cNvSpPr/>
          <p:nvPr/>
        </p:nvSpPr>
        <p:spPr>
          <a:xfrm>
            <a:off x="58260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8"/>
          <p:cNvSpPr/>
          <p:nvPr/>
        </p:nvSpPr>
        <p:spPr>
          <a:xfrm>
            <a:off x="58260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8"/>
          <p:cNvSpPr/>
          <p:nvPr/>
        </p:nvSpPr>
        <p:spPr>
          <a:xfrm>
            <a:off x="58260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58260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48"/>
          <p:cNvSpPr txBox="1"/>
          <p:nvPr/>
        </p:nvSpPr>
        <p:spPr>
          <a:xfrm>
            <a:off x="7703475" y="3234375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48"/>
          <p:cNvSpPr/>
          <p:nvPr/>
        </p:nvSpPr>
        <p:spPr>
          <a:xfrm>
            <a:off x="58260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8"/>
          <p:cNvSpPr txBox="1"/>
          <p:nvPr/>
        </p:nvSpPr>
        <p:spPr>
          <a:xfrm>
            <a:off x="19140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Before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8"/>
          <p:cNvSpPr txBox="1"/>
          <p:nvPr/>
        </p:nvSpPr>
        <p:spPr>
          <a:xfrm>
            <a:off x="58764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After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48"/>
          <p:cNvCxnSpPr/>
          <p:nvPr/>
        </p:nvCxnSpPr>
        <p:spPr>
          <a:xfrm>
            <a:off x="3821325" y="3092925"/>
            <a:ext cx="1509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"/>
          <p:cNvSpPr/>
          <p:nvPr/>
        </p:nvSpPr>
        <p:spPr>
          <a:xfrm>
            <a:off x="1070925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Remote Direct Memory Access</a:t>
            </a:r>
            <a:endParaRPr/>
          </a:p>
        </p:txBody>
      </p:sp>
      <p:sp>
        <p:nvSpPr>
          <p:cNvPr id="508" name="Google Shape;508;p49"/>
          <p:cNvSpPr txBox="1"/>
          <p:nvPr>
            <p:ph idx="1" type="body"/>
          </p:nvPr>
        </p:nvSpPr>
        <p:spPr>
          <a:xfrm>
            <a:off x="107050" y="402200"/>
            <a:ext cx="8909700" cy="24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Transferring a file with traditional TCP/IP networking stack: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CPU reads file from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CPU sends out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CPU processes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CPU writes file to memory.</a:t>
            </a:r>
            <a:endParaRPr/>
          </a:p>
        </p:txBody>
      </p:sp>
      <p:sp>
        <p:nvSpPr>
          <p:cNvPr id="509" name="Google Shape;509;p49"/>
          <p:cNvSpPr/>
          <p:nvPr/>
        </p:nvSpPr>
        <p:spPr>
          <a:xfrm>
            <a:off x="2591850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9"/>
          <p:cNvSpPr/>
          <p:nvPr/>
        </p:nvSpPr>
        <p:spPr>
          <a:xfrm>
            <a:off x="2591850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1226550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407450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9"/>
          <p:cNvSpPr/>
          <p:nvPr/>
        </p:nvSpPr>
        <p:spPr>
          <a:xfrm>
            <a:off x="5556775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9"/>
          <p:cNvSpPr/>
          <p:nvPr/>
        </p:nvSpPr>
        <p:spPr>
          <a:xfrm>
            <a:off x="5556775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9"/>
          <p:cNvSpPr/>
          <p:nvPr/>
        </p:nvSpPr>
        <p:spPr>
          <a:xfrm>
            <a:off x="6934675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49"/>
          <p:cNvCxnSpPr>
            <a:stCxn id="511" idx="3"/>
            <a:endCxn id="509" idx="1"/>
          </p:cNvCxnSpPr>
          <p:nvPr/>
        </p:nvCxnSpPr>
        <p:spPr>
          <a:xfrm flipH="1" rot="10800000">
            <a:off x="2134650" y="3542725"/>
            <a:ext cx="457200" cy="2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49"/>
          <p:cNvCxnSpPr>
            <a:stCxn id="509" idx="2"/>
            <a:endCxn id="510" idx="0"/>
          </p:cNvCxnSpPr>
          <p:nvPr/>
        </p:nvCxnSpPr>
        <p:spPr>
          <a:xfrm>
            <a:off x="3045900" y="3739525"/>
            <a:ext cx="0" cy="29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9"/>
          <p:cNvCxnSpPr>
            <a:stCxn id="510" idx="3"/>
            <a:endCxn id="514" idx="1"/>
          </p:cNvCxnSpPr>
          <p:nvPr/>
        </p:nvCxnSpPr>
        <p:spPr>
          <a:xfrm>
            <a:off x="3499950" y="4228525"/>
            <a:ext cx="205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9"/>
          <p:cNvCxnSpPr>
            <a:stCxn id="514" idx="0"/>
            <a:endCxn id="513" idx="2"/>
          </p:cNvCxnSpPr>
          <p:nvPr/>
        </p:nvCxnSpPr>
        <p:spPr>
          <a:xfrm rot="10800000">
            <a:off x="6010825" y="3739525"/>
            <a:ext cx="0" cy="29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49"/>
          <p:cNvCxnSpPr>
            <a:stCxn id="513" idx="3"/>
            <a:endCxn id="515" idx="1"/>
          </p:cNvCxnSpPr>
          <p:nvPr/>
        </p:nvCxnSpPr>
        <p:spPr>
          <a:xfrm>
            <a:off x="6464875" y="3542725"/>
            <a:ext cx="469800" cy="2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49"/>
          <p:cNvSpPr txBox="1"/>
          <p:nvPr/>
        </p:nvSpPr>
        <p:spPr>
          <a:xfrm>
            <a:off x="2649138" y="4716150"/>
            <a:ext cx="384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RDMA: CPU involved in data transfer.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0"/>
          <p:cNvSpPr/>
          <p:nvPr/>
        </p:nvSpPr>
        <p:spPr>
          <a:xfrm>
            <a:off x="1070925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/>
          <p:nvPr/>
        </p:nvSpPr>
        <p:spPr>
          <a:xfrm>
            <a:off x="5407450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Remote Direct Memory Access</a:t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2591850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50"/>
          <p:cNvSpPr/>
          <p:nvPr/>
        </p:nvSpPr>
        <p:spPr>
          <a:xfrm>
            <a:off x="2591850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1226550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50"/>
          <p:cNvSpPr/>
          <p:nvPr/>
        </p:nvSpPr>
        <p:spPr>
          <a:xfrm>
            <a:off x="5556775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/>
          <p:nvPr/>
        </p:nvSpPr>
        <p:spPr>
          <a:xfrm>
            <a:off x="5556775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6934675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5" name="Google Shape;535;p50"/>
          <p:cNvCxnSpPr>
            <a:stCxn id="531" idx="3"/>
            <a:endCxn id="530" idx="1"/>
          </p:cNvCxnSpPr>
          <p:nvPr/>
        </p:nvCxnSpPr>
        <p:spPr>
          <a:xfrm>
            <a:off x="2134650" y="3809425"/>
            <a:ext cx="457200" cy="41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50"/>
          <p:cNvCxnSpPr>
            <a:stCxn id="530" idx="3"/>
            <a:endCxn id="533" idx="1"/>
          </p:cNvCxnSpPr>
          <p:nvPr/>
        </p:nvCxnSpPr>
        <p:spPr>
          <a:xfrm>
            <a:off x="3499950" y="4228525"/>
            <a:ext cx="205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0"/>
          <p:cNvCxnSpPr>
            <a:stCxn id="533" idx="3"/>
            <a:endCxn id="534" idx="1"/>
          </p:cNvCxnSpPr>
          <p:nvPr/>
        </p:nvCxnSpPr>
        <p:spPr>
          <a:xfrm flipH="1" rot="10800000">
            <a:off x="6464875" y="3809425"/>
            <a:ext cx="469800" cy="41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50"/>
          <p:cNvSpPr txBox="1"/>
          <p:nvPr/>
        </p:nvSpPr>
        <p:spPr>
          <a:xfrm>
            <a:off x="2649138" y="4716150"/>
            <a:ext cx="384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RDMA: CPU is minimally involved in transfer!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50"/>
          <p:cNvSpPr txBox="1"/>
          <p:nvPr>
            <p:ph idx="1" type="body"/>
          </p:nvPr>
        </p:nvSpPr>
        <p:spPr>
          <a:xfrm>
            <a:off x="107050" y="402200"/>
            <a:ext cx="89097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RDMA</a:t>
            </a:r>
            <a:r>
              <a:rPr lang="en"/>
              <a:t> (Remote Direct Memory Access):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Abstraction: A can directly access memory in B's computer.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Minimal CPU involvement in the data transfer.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Transferring a file with RDMA: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CPUs set up the transfer and get out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NIC reads memory and sends out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NIC receives data and writes to memory.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Queue Pairs</a:t>
            </a:r>
            <a:endParaRPr/>
          </a:p>
        </p:txBody>
      </p:sp>
      <p:sp>
        <p:nvSpPr>
          <p:cNvPr id="545" name="Google Shape;545;p51"/>
          <p:cNvSpPr txBox="1"/>
          <p:nvPr>
            <p:ph idx="1" type="body"/>
          </p:nvPr>
        </p:nvSpPr>
        <p:spPr>
          <a:xfrm>
            <a:off x="107050" y="402200"/>
            <a:ext cx="581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used bytestreams, but RDMA uses the </a:t>
            </a:r>
            <a:r>
              <a:rPr b="1" lang="en"/>
              <a:t>queue pair</a:t>
            </a:r>
            <a:r>
              <a:rPr lang="en"/>
              <a:t> abstraction between the application and NIC.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Send queue</a:t>
            </a:r>
            <a:r>
              <a:rPr lang="en"/>
              <a:t> has all pending jobs, where</a:t>
            </a:r>
            <a:br>
              <a:rPr lang="en"/>
            </a:br>
            <a:r>
              <a:rPr lang="en"/>
              <a:t>I'm sending data to someone else.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Receive queue</a:t>
            </a:r>
            <a:r>
              <a:rPr lang="en"/>
              <a:t> has all pending jobs, where someone else is sending data to 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single NIC can have multiple queue pairs.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queue pair has a different service guarantee. (Reliable? Ordered?)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Reliable, in-order queue pair is most similar to TCP.</a:t>
            </a:r>
            <a:endParaRPr/>
          </a:p>
        </p:txBody>
      </p:sp>
      <p:sp>
        <p:nvSpPr>
          <p:cNvPr id="546" name="Google Shape;546;p51"/>
          <p:cNvSpPr/>
          <p:nvPr/>
        </p:nvSpPr>
        <p:spPr>
          <a:xfrm>
            <a:off x="6260275" y="2687200"/>
            <a:ext cx="2645400" cy="217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51"/>
          <p:cNvSpPr/>
          <p:nvPr/>
        </p:nvSpPr>
        <p:spPr>
          <a:xfrm>
            <a:off x="6260275" y="763525"/>
            <a:ext cx="2645400" cy="129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51"/>
          <p:cNvSpPr/>
          <p:nvPr/>
        </p:nvSpPr>
        <p:spPr>
          <a:xfrm>
            <a:off x="77588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51"/>
          <p:cNvSpPr/>
          <p:nvPr/>
        </p:nvSpPr>
        <p:spPr>
          <a:xfrm>
            <a:off x="64989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51"/>
          <p:cNvSpPr/>
          <p:nvPr/>
        </p:nvSpPr>
        <p:spPr>
          <a:xfrm>
            <a:off x="6392825" y="282225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51"/>
          <p:cNvSpPr/>
          <p:nvPr/>
        </p:nvSpPr>
        <p:spPr>
          <a:xfrm>
            <a:off x="652377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2" name="Google Shape;552;p51"/>
          <p:cNvSpPr/>
          <p:nvPr/>
        </p:nvSpPr>
        <p:spPr>
          <a:xfrm>
            <a:off x="717312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3" name="Google Shape;553;p51"/>
          <p:cNvSpPr txBox="1"/>
          <p:nvPr/>
        </p:nvSpPr>
        <p:spPr>
          <a:xfrm>
            <a:off x="6523850" y="384977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7083500" y="384977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Work Queue Elements</a:t>
            </a:r>
            <a:endParaRPr/>
          </a:p>
        </p:txBody>
      </p:sp>
      <p:sp>
        <p:nvSpPr>
          <p:cNvPr id="560" name="Google Shape;560;p52"/>
          <p:cNvSpPr txBox="1"/>
          <p:nvPr>
            <p:ph idx="1" type="body"/>
          </p:nvPr>
        </p:nvSpPr>
        <p:spPr>
          <a:xfrm>
            <a:off x="107050" y="402200"/>
            <a:ext cx="5027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CPU schedules transfers by adding</a:t>
            </a:r>
            <a:br>
              <a:rPr lang="en"/>
            </a:br>
            <a:r>
              <a:rPr b="1" lang="en"/>
              <a:t>Work Queue Elements (WQEs)</a:t>
            </a:r>
            <a:r>
              <a:rPr lang="en"/>
              <a:t> to the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 with instructions about the transfer.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Contains pointers to where in memory to read/write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Gives the NIC an application-level view of the transfer, e.g. where the file starts/ends.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TCP, which just sees a bytestream.</a:t>
            </a:r>
            <a:endParaRPr/>
          </a:p>
        </p:txBody>
      </p:sp>
      <p:sp>
        <p:nvSpPr>
          <p:cNvPr id="561" name="Google Shape;561;p52"/>
          <p:cNvSpPr/>
          <p:nvPr/>
        </p:nvSpPr>
        <p:spPr>
          <a:xfrm>
            <a:off x="6260275" y="2687200"/>
            <a:ext cx="2645400" cy="217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52"/>
          <p:cNvSpPr/>
          <p:nvPr/>
        </p:nvSpPr>
        <p:spPr>
          <a:xfrm>
            <a:off x="6260275" y="763525"/>
            <a:ext cx="2645400" cy="129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77588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64989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6392825" y="282225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652377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7" name="Google Shape;567;p52"/>
          <p:cNvSpPr/>
          <p:nvPr/>
        </p:nvSpPr>
        <p:spPr>
          <a:xfrm>
            <a:off x="717312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8" name="Google Shape;568;p52"/>
          <p:cNvSpPr txBox="1"/>
          <p:nvPr/>
        </p:nvSpPr>
        <p:spPr>
          <a:xfrm>
            <a:off x="6523850" y="384977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52"/>
          <p:cNvSpPr txBox="1"/>
          <p:nvPr/>
        </p:nvSpPr>
        <p:spPr>
          <a:xfrm>
            <a:off x="7083500" y="384977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52"/>
          <p:cNvSpPr/>
          <p:nvPr/>
        </p:nvSpPr>
        <p:spPr>
          <a:xfrm>
            <a:off x="6586925" y="36090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52"/>
          <p:cNvSpPr/>
          <p:nvPr/>
        </p:nvSpPr>
        <p:spPr>
          <a:xfrm>
            <a:off x="6586925" y="33804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52"/>
          <p:cNvSpPr/>
          <p:nvPr/>
        </p:nvSpPr>
        <p:spPr>
          <a:xfrm>
            <a:off x="7238600" y="3609000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" name="Google Shape;573;p52"/>
          <p:cNvCxnSpPr/>
          <p:nvPr/>
        </p:nvCxnSpPr>
        <p:spPr>
          <a:xfrm rot="10800000">
            <a:off x="6730325" y="1676875"/>
            <a:ext cx="0" cy="1778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p52"/>
          <p:cNvSpPr txBox="1"/>
          <p:nvPr/>
        </p:nvSpPr>
        <p:spPr>
          <a:xfrm>
            <a:off x="5313125" y="2250525"/>
            <a:ext cx="141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"Send this data."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2"/>
          <p:cNvSpPr/>
          <p:nvPr/>
        </p:nvSpPr>
        <p:spPr>
          <a:xfrm>
            <a:off x="6587525" y="1534025"/>
            <a:ext cx="285600" cy="142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" name="Google Shape;576;p52"/>
          <p:cNvCxnSpPr>
            <a:endCxn id="577" idx="4"/>
          </p:cNvCxnSpPr>
          <p:nvPr/>
        </p:nvCxnSpPr>
        <p:spPr>
          <a:xfrm rot="10800000">
            <a:off x="7111325" y="1676825"/>
            <a:ext cx="297000" cy="2012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52"/>
          <p:cNvSpPr/>
          <p:nvPr/>
        </p:nvSpPr>
        <p:spPr>
          <a:xfrm>
            <a:off x="6968525" y="1534025"/>
            <a:ext cx="285600" cy="142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52"/>
          <p:cNvSpPr txBox="1"/>
          <p:nvPr/>
        </p:nvSpPr>
        <p:spPr>
          <a:xfrm>
            <a:off x="7235625" y="2250525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"Put the data here."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Asynchronous Scheduling, Completion Queue</a:t>
            </a:r>
            <a:endParaRPr/>
          </a:p>
        </p:txBody>
      </p:sp>
      <p:sp>
        <p:nvSpPr>
          <p:cNvPr id="584" name="Google Shape;584;p53"/>
          <p:cNvSpPr txBox="1"/>
          <p:nvPr>
            <p:ph idx="1" type="body"/>
          </p:nvPr>
        </p:nvSpPr>
        <p:spPr>
          <a:xfrm>
            <a:off x="107050" y="402200"/>
            <a:ext cx="5027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RDMA is asynchronous.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schedules jobs in the queue pair.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 processes jobs in the queue.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job completes, NIC adds a </a:t>
            </a:r>
            <a:r>
              <a:rPr b="1" lang="en"/>
              <a:t>Completion Queue Element (CQE)</a:t>
            </a:r>
            <a:r>
              <a:rPr lang="en"/>
              <a:t> to the Completion Queue, describing what happened (e.g. success or error).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reads CQE to see what happened with the job.</a:t>
            </a:r>
            <a:endParaRPr/>
          </a:p>
        </p:txBody>
      </p:sp>
      <p:sp>
        <p:nvSpPr>
          <p:cNvPr id="585" name="Google Shape;585;p53"/>
          <p:cNvSpPr/>
          <p:nvPr/>
        </p:nvSpPr>
        <p:spPr>
          <a:xfrm>
            <a:off x="6260275" y="2687200"/>
            <a:ext cx="2645400" cy="217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53"/>
          <p:cNvSpPr/>
          <p:nvPr/>
        </p:nvSpPr>
        <p:spPr>
          <a:xfrm>
            <a:off x="6260275" y="763525"/>
            <a:ext cx="2645400" cy="129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53"/>
          <p:cNvSpPr/>
          <p:nvPr/>
        </p:nvSpPr>
        <p:spPr>
          <a:xfrm>
            <a:off x="77588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53"/>
          <p:cNvSpPr/>
          <p:nvPr/>
        </p:nvSpPr>
        <p:spPr>
          <a:xfrm>
            <a:off x="64989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53"/>
          <p:cNvSpPr/>
          <p:nvPr/>
        </p:nvSpPr>
        <p:spPr>
          <a:xfrm>
            <a:off x="6392825" y="282225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53"/>
          <p:cNvSpPr/>
          <p:nvPr/>
        </p:nvSpPr>
        <p:spPr>
          <a:xfrm>
            <a:off x="652377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1" name="Google Shape;591;p53"/>
          <p:cNvSpPr/>
          <p:nvPr/>
        </p:nvSpPr>
        <p:spPr>
          <a:xfrm>
            <a:off x="717312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2" name="Google Shape;592;p53"/>
          <p:cNvSpPr txBox="1"/>
          <p:nvPr/>
        </p:nvSpPr>
        <p:spPr>
          <a:xfrm>
            <a:off x="6523850" y="384977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53"/>
          <p:cNvSpPr txBox="1"/>
          <p:nvPr/>
        </p:nvSpPr>
        <p:spPr>
          <a:xfrm>
            <a:off x="7083500" y="384977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53"/>
          <p:cNvSpPr/>
          <p:nvPr/>
        </p:nvSpPr>
        <p:spPr>
          <a:xfrm rot="10800000">
            <a:off x="8014573" y="3206877"/>
            <a:ext cx="734027" cy="1196347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5" name="Google Shape;595;p53"/>
          <p:cNvSpPr txBox="1"/>
          <p:nvPr/>
        </p:nvSpPr>
        <p:spPr>
          <a:xfrm>
            <a:off x="7962038" y="293560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53"/>
          <p:cNvSpPr/>
          <p:nvPr/>
        </p:nvSpPr>
        <p:spPr>
          <a:xfrm>
            <a:off x="6586925" y="36090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53"/>
          <p:cNvSpPr/>
          <p:nvPr/>
        </p:nvSpPr>
        <p:spPr>
          <a:xfrm>
            <a:off x="6586925" y="33804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53"/>
          <p:cNvSpPr/>
          <p:nvPr/>
        </p:nvSpPr>
        <p:spPr>
          <a:xfrm>
            <a:off x="7238600" y="3609000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53"/>
          <p:cNvSpPr/>
          <p:nvPr/>
        </p:nvSpPr>
        <p:spPr>
          <a:xfrm>
            <a:off x="8091938" y="328752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53"/>
          <p:cNvSpPr/>
          <p:nvPr/>
        </p:nvSpPr>
        <p:spPr>
          <a:xfrm>
            <a:off x="8091938" y="351612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53"/>
          <p:cNvSpPr/>
          <p:nvPr/>
        </p:nvSpPr>
        <p:spPr>
          <a:xfrm>
            <a:off x="8091938" y="374472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RDMA Example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 Example</a:t>
            </a:r>
            <a:endParaRPr/>
          </a:p>
        </p:txBody>
      </p:sp>
      <p:sp>
        <p:nvSpPr>
          <p:cNvPr id="608" name="Google Shape;608;p5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 Example</a:t>
            </a:r>
            <a:endParaRPr/>
          </a:p>
        </p:txBody>
      </p:sp>
      <p:sp>
        <p:nvSpPr>
          <p:cNvPr id="614" name="Google Shape;614;p5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different RDMA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Write.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Read.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Atomic. Perform an operation in remote host's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Write with Immediate. Send additional value along with writing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look at an RDMA Send/Receive.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56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(1/6)</a:t>
            </a:r>
            <a:endParaRPr/>
          </a:p>
        </p:txBody>
      </p:sp>
      <p:sp>
        <p:nvSpPr>
          <p:cNvPr id="628" name="Google Shape;628;p56"/>
          <p:cNvSpPr txBox="1"/>
          <p:nvPr>
            <p:ph idx="1" type="body"/>
          </p:nvPr>
        </p:nvSpPr>
        <p:spPr>
          <a:xfrm>
            <a:off x="107050" y="402200"/>
            <a:ext cx="8909700" cy="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Each server designates some memory to be accessible by NIC for RDMA transfers.</a:t>
            </a:r>
            <a:endParaRPr/>
          </a:p>
        </p:txBody>
      </p:sp>
      <p:sp>
        <p:nvSpPr>
          <p:cNvPr id="629" name="Google Shape;629;p56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56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56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3" name="Google Shape;633;p56"/>
          <p:cNvCxnSpPr>
            <a:endCxn id="625" idx="4"/>
          </p:cNvCxnSpPr>
          <p:nvPr/>
        </p:nvCxnSpPr>
        <p:spPr>
          <a:xfrm rot="10800000">
            <a:off x="932150" y="2120850"/>
            <a:ext cx="0" cy="81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56"/>
          <p:cNvSpPr txBox="1"/>
          <p:nvPr/>
        </p:nvSpPr>
        <p:spPr>
          <a:xfrm>
            <a:off x="972259" y="2473925"/>
            <a:ext cx="80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Readable by NIC.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5" name="Google Shape;635;p56"/>
          <p:cNvCxnSpPr/>
          <p:nvPr/>
        </p:nvCxnSpPr>
        <p:spPr>
          <a:xfrm rot="10800000">
            <a:off x="6951950" y="2120950"/>
            <a:ext cx="0" cy="81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56"/>
          <p:cNvSpPr txBox="1"/>
          <p:nvPr/>
        </p:nvSpPr>
        <p:spPr>
          <a:xfrm>
            <a:off x="6992059" y="2473938"/>
            <a:ext cx="80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Writable by NIC.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(2/6)</a:t>
            </a:r>
            <a:endParaRPr/>
          </a:p>
        </p:txBody>
      </p:sp>
      <p:sp>
        <p:nvSpPr>
          <p:cNvPr id="642" name="Google Shape;642;p57"/>
          <p:cNvSpPr txBox="1"/>
          <p:nvPr>
            <p:ph idx="1" type="body"/>
          </p:nvPr>
        </p:nvSpPr>
        <p:spPr>
          <a:xfrm>
            <a:off x="107050" y="402200"/>
            <a:ext cx="89097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Each server sets up queues.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can be done out-of-band, e.g. use TCP to coordinate between servers.</a:t>
            </a:r>
            <a:endParaRPr/>
          </a:p>
        </p:txBody>
      </p:sp>
      <p:sp>
        <p:nvSpPr>
          <p:cNvPr id="643" name="Google Shape;643;p57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57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7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57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7" name="Google Shape;647;p57"/>
          <p:cNvGrpSpPr/>
          <p:nvPr/>
        </p:nvGrpSpPr>
        <p:grpSpPr>
          <a:xfrm>
            <a:off x="371950" y="3160962"/>
            <a:ext cx="2372333" cy="1185213"/>
            <a:chOff x="371950" y="3160963"/>
            <a:chExt cx="2372333" cy="1185213"/>
          </a:xfrm>
        </p:grpSpPr>
        <p:sp>
          <p:nvSpPr>
            <p:cNvPr id="648" name="Google Shape;648;p57"/>
            <p:cNvSpPr/>
            <p:nvPr/>
          </p:nvSpPr>
          <p:spPr>
            <a:xfrm>
              <a:off x="371950" y="3162075"/>
              <a:ext cx="1417200" cy="118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 Pair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9" name="Google Shape;649;p57"/>
            <p:cNvSpPr/>
            <p:nvPr/>
          </p:nvSpPr>
          <p:spPr>
            <a:xfrm>
              <a:off x="50290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0" name="Google Shape;650;p57"/>
            <p:cNvSpPr/>
            <p:nvPr/>
          </p:nvSpPr>
          <p:spPr>
            <a:xfrm>
              <a:off x="115225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1" name="Google Shape;651;p57"/>
            <p:cNvSpPr txBox="1"/>
            <p:nvPr/>
          </p:nvSpPr>
          <p:spPr>
            <a:xfrm>
              <a:off x="502975" y="3815792"/>
              <a:ext cx="505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Send</a:t>
              </a:r>
              <a:endParaRPr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2" name="Google Shape;652;p57"/>
            <p:cNvSpPr txBox="1"/>
            <p:nvPr/>
          </p:nvSpPr>
          <p:spPr>
            <a:xfrm>
              <a:off x="1062625" y="3815792"/>
              <a:ext cx="6852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Receive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3" name="Google Shape;653;p57"/>
            <p:cNvSpPr/>
            <p:nvPr/>
          </p:nvSpPr>
          <p:spPr>
            <a:xfrm rot="10800000">
              <a:off x="1957725" y="3432238"/>
              <a:ext cx="734027" cy="83563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4" name="Google Shape;654;p57"/>
            <p:cNvSpPr txBox="1"/>
            <p:nvPr/>
          </p:nvSpPr>
          <p:spPr>
            <a:xfrm>
              <a:off x="1905183" y="3160963"/>
              <a:ext cx="8391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00FF"/>
                  </a:solidFill>
                  <a:latin typeface="Roboto"/>
                  <a:ea typeface="Roboto"/>
                  <a:cs typeface="Roboto"/>
                  <a:sym typeface="Roboto"/>
                </a:rPr>
                <a:t>Completion</a:t>
              </a:r>
              <a:endParaRPr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5" name="Google Shape;655;p57"/>
          <p:cNvGrpSpPr/>
          <p:nvPr/>
        </p:nvGrpSpPr>
        <p:grpSpPr>
          <a:xfrm>
            <a:off x="6391750" y="3160950"/>
            <a:ext cx="2384858" cy="1185225"/>
            <a:chOff x="6391750" y="3160950"/>
            <a:chExt cx="2384858" cy="1185225"/>
          </a:xfrm>
        </p:grpSpPr>
        <p:sp>
          <p:nvSpPr>
            <p:cNvPr id="656" name="Google Shape;656;p57"/>
            <p:cNvSpPr/>
            <p:nvPr/>
          </p:nvSpPr>
          <p:spPr>
            <a:xfrm>
              <a:off x="6391750" y="3162075"/>
              <a:ext cx="1417200" cy="118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 Pair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7" name="Google Shape;657;p57"/>
            <p:cNvSpPr/>
            <p:nvPr/>
          </p:nvSpPr>
          <p:spPr>
            <a:xfrm>
              <a:off x="652270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8" name="Google Shape;658;p57"/>
            <p:cNvSpPr/>
            <p:nvPr/>
          </p:nvSpPr>
          <p:spPr>
            <a:xfrm>
              <a:off x="717205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9" name="Google Shape;659;p57"/>
            <p:cNvSpPr txBox="1"/>
            <p:nvPr/>
          </p:nvSpPr>
          <p:spPr>
            <a:xfrm>
              <a:off x="6522775" y="3815792"/>
              <a:ext cx="505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Send</a:t>
              </a:r>
              <a:endParaRPr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0" name="Google Shape;660;p57"/>
            <p:cNvSpPr txBox="1"/>
            <p:nvPr/>
          </p:nvSpPr>
          <p:spPr>
            <a:xfrm>
              <a:off x="7082425" y="3815792"/>
              <a:ext cx="6852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Receive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1" name="Google Shape;661;p57"/>
            <p:cNvSpPr/>
            <p:nvPr/>
          </p:nvSpPr>
          <p:spPr>
            <a:xfrm rot="10800000">
              <a:off x="7990048" y="3432227"/>
              <a:ext cx="734027" cy="83563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2" name="Google Shape;662;p57"/>
            <p:cNvSpPr txBox="1"/>
            <p:nvPr/>
          </p:nvSpPr>
          <p:spPr>
            <a:xfrm>
              <a:off x="7937508" y="3160950"/>
              <a:ext cx="8391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00FF"/>
                  </a:solidFill>
                  <a:latin typeface="Roboto"/>
                  <a:ea typeface="Roboto"/>
                  <a:cs typeface="Roboto"/>
                  <a:sym typeface="Roboto"/>
                </a:rPr>
                <a:t>Completion</a:t>
              </a:r>
              <a:endParaRPr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3" name="Google Shape;663;p57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57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57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57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57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57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57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57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(3/6)</a:t>
            </a:r>
            <a:endParaRPr/>
          </a:p>
        </p:txBody>
      </p:sp>
      <p:sp>
        <p:nvSpPr>
          <p:cNvPr id="676" name="Google Shape;676;p58"/>
          <p:cNvSpPr txBox="1"/>
          <p:nvPr>
            <p:ph idx="1" type="body"/>
          </p:nvPr>
        </p:nvSpPr>
        <p:spPr>
          <a:xfrm>
            <a:off x="107050" y="402200"/>
            <a:ext cx="89097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Servers set up Work Queue Entries (WQEs) in the queues.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WQE contains pointer to buffer in memory.</a:t>
            </a:r>
            <a:endParaRPr/>
          </a:p>
        </p:txBody>
      </p:sp>
      <p:sp>
        <p:nvSpPr>
          <p:cNvPr id="677" name="Google Shape;677;p58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58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58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58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58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58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3" name="Google Shape;683;p58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4" name="Google Shape;684;p58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58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58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58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58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58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58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58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4" name="Google Shape;694;p58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5" name="Google Shape;695;p58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58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58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58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0" name="Google Shape;700;p58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58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2" name="Google Shape;702;p58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58"/>
          <p:cNvSpPr/>
          <p:nvPr/>
        </p:nvSpPr>
        <p:spPr>
          <a:xfrm>
            <a:off x="745850" y="2085425"/>
            <a:ext cx="1452949" cy="1489512"/>
          </a:xfrm>
          <a:custGeom>
            <a:rect b="b" l="l" r="r" t="t"/>
            <a:pathLst>
              <a:path extrusionOk="0" h="52259" w="46595">
                <a:moveTo>
                  <a:pt x="46595" y="0"/>
                </a:moveTo>
                <a:lnTo>
                  <a:pt x="46595" y="20595"/>
                </a:lnTo>
                <a:lnTo>
                  <a:pt x="0" y="20595"/>
                </a:lnTo>
                <a:lnTo>
                  <a:pt x="0" y="52259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04" name="Google Shape;704;p58"/>
          <p:cNvSpPr/>
          <p:nvPr/>
        </p:nvSpPr>
        <p:spPr>
          <a:xfrm>
            <a:off x="7422770" y="2085425"/>
            <a:ext cx="787805" cy="1489512"/>
          </a:xfrm>
          <a:custGeom>
            <a:rect b="b" l="l" r="r" t="t"/>
            <a:pathLst>
              <a:path extrusionOk="0" h="52259" w="46595">
                <a:moveTo>
                  <a:pt x="46595" y="0"/>
                </a:moveTo>
                <a:lnTo>
                  <a:pt x="46595" y="20595"/>
                </a:lnTo>
                <a:lnTo>
                  <a:pt x="0" y="20595"/>
                </a:lnTo>
                <a:lnTo>
                  <a:pt x="0" y="52259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05" name="Google Shape;705;p58"/>
          <p:cNvSpPr txBox="1"/>
          <p:nvPr/>
        </p:nvSpPr>
        <p:spPr>
          <a:xfrm>
            <a:off x="2314875" y="2473938"/>
            <a:ext cx="1286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CPU writes WQE to queue.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58"/>
          <p:cNvSpPr txBox="1"/>
          <p:nvPr/>
        </p:nvSpPr>
        <p:spPr>
          <a:xfrm>
            <a:off x="6149100" y="2473938"/>
            <a:ext cx="1286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CPU writes WQE to queue.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58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58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9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59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9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59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59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59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59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(3/6)</a:t>
            </a:r>
            <a:endParaRPr/>
          </a:p>
        </p:txBody>
      </p:sp>
      <p:sp>
        <p:nvSpPr>
          <p:cNvPr id="722" name="Google Shape;722;p59"/>
          <p:cNvSpPr txBox="1"/>
          <p:nvPr>
            <p:ph idx="1" type="body"/>
          </p:nvPr>
        </p:nvSpPr>
        <p:spPr>
          <a:xfrm>
            <a:off x="107050" y="402200"/>
            <a:ext cx="89097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Servers set up Work Queue Entries (WQEs) in the queues.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WQE contains pointer to buffer in memory.</a:t>
            </a:r>
            <a:endParaRPr/>
          </a:p>
        </p:txBody>
      </p:sp>
      <p:sp>
        <p:nvSpPr>
          <p:cNvPr id="723" name="Google Shape;723;p59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9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6" name="Google Shape;726;p59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7" name="Google Shape;727;p59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59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59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4" name="Google Shape;734;p59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5" name="Google Shape;735;p59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59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59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59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0" name="Google Shape;740;p59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59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2" name="Google Shape;742;p59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59"/>
          <p:cNvSpPr txBox="1"/>
          <p:nvPr/>
        </p:nvSpPr>
        <p:spPr>
          <a:xfrm>
            <a:off x="805225" y="2581625"/>
            <a:ext cx="141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"Send this data."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4" name="Google Shape;744;p59"/>
          <p:cNvCxnSpPr>
            <a:endCxn id="720" idx="4"/>
          </p:cNvCxnSpPr>
          <p:nvPr/>
        </p:nvCxnSpPr>
        <p:spPr>
          <a:xfrm rot="10800000">
            <a:off x="6951950" y="2120855"/>
            <a:ext cx="388500" cy="1532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5" name="Google Shape;745;p59"/>
          <p:cNvSpPr txBox="1"/>
          <p:nvPr/>
        </p:nvSpPr>
        <p:spPr>
          <a:xfrm>
            <a:off x="7082425" y="2581638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"Put the data here."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6" name="Google Shape;746;p59"/>
          <p:cNvCxnSpPr>
            <a:endCxn id="719" idx="4"/>
          </p:cNvCxnSpPr>
          <p:nvPr/>
        </p:nvCxnSpPr>
        <p:spPr>
          <a:xfrm flipH="1" rot="10800000">
            <a:off x="663350" y="2120850"/>
            <a:ext cx="268800" cy="1545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0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0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0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0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0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0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0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0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(4/6)</a:t>
            </a:r>
            <a:endParaRPr/>
          </a:p>
        </p:txBody>
      </p:sp>
      <p:sp>
        <p:nvSpPr>
          <p:cNvPr id="760" name="Google Shape;760;p60"/>
          <p:cNvSpPr txBox="1"/>
          <p:nvPr>
            <p:ph idx="1" type="body"/>
          </p:nvPr>
        </p:nvSpPr>
        <p:spPr>
          <a:xfrm>
            <a:off x="107050" y="402200"/>
            <a:ext cx="8909700" cy="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4. NIC transfers data between memory, without CPU involvement!</a:t>
            </a:r>
            <a:endParaRPr/>
          </a:p>
        </p:txBody>
      </p:sp>
      <p:sp>
        <p:nvSpPr>
          <p:cNvPr id="761" name="Google Shape;761;p60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60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4" name="Google Shape;764;p60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5" name="Google Shape;765;p60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60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60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60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60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60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60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2" name="Google Shape;772;p60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3" name="Google Shape;773;p60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0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0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0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0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8" name="Google Shape;778;p60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0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0" name="Google Shape;780;p60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0"/>
          <p:cNvCxnSpPr>
            <a:stCxn id="757" idx="4"/>
            <a:endCxn id="761" idx="0"/>
          </p:cNvCxnSpPr>
          <p:nvPr/>
        </p:nvCxnSpPr>
        <p:spPr>
          <a:xfrm>
            <a:off x="932150" y="2120850"/>
            <a:ext cx="630000" cy="94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60"/>
          <p:cNvCxnSpPr>
            <a:stCxn id="761" idx="3"/>
            <a:endCxn id="769" idx="1"/>
          </p:cNvCxnSpPr>
          <p:nvPr/>
        </p:nvCxnSpPr>
        <p:spPr>
          <a:xfrm>
            <a:off x="2884800" y="3862450"/>
            <a:ext cx="33744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60"/>
          <p:cNvCxnSpPr>
            <a:stCxn id="769" idx="0"/>
            <a:endCxn id="758" idx="4"/>
          </p:cNvCxnSpPr>
          <p:nvPr/>
        </p:nvCxnSpPr>
        <p:spPr>
          <a:xfrm rot="10800000">
            <a:off x="6951900" y="2120800"/>
            <a:ext cx="630000" cy="94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1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61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61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61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61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61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61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61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(5/6)</a:t>
            </a:r>
            <a:endParaRPr/>
          </a:p>
        </p:txBody>
      </p:sp>
      <p:sp>
        <p:nvSpPr>
          <p:cNvPr id="797" name="Google Shape;797;p61"/>
          <p:cNvSpPr txBox="1"/>
          <p:nvPr>
            <p:ph idx="1" type="body"/>
          </p:nvPr>
        </p:nvSpPr>
        <p:spPr>
          <a:xfrm>
            <a:off x="107050" y="402200"/>
            <a:ext cx="8909700" cy="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5. NICs generate Completion Queue Entries (CQEs), and delete WQEs.</a:t>
            </a:r>
            <a:endParaRPr/>
          </a:p>
        </p:txBody>
      </p:sp>
      <p:sp>
        <p:nvSpPr>
          <p:cNvPr id="798" name="Google Shape;798;p61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1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1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1" name="Google Shape;801;p61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2" name="Google Shape;802;p61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61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61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61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61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61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61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9" name="Google Shape;809;p61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0" name="Google Shape;810;p61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1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61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61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1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5" name="Google Shape;815;p61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1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7" name="Google Shape;817;p61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1"/>
          <p:cNvSpPr/>
          <p:nvPr/>
        </p:nvSpPr>
        <p:spPr>
          <a:xfrm>
            <a:off x="2035063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61"/>
          <p:cNvSpPr/>
          <p:nvPr/>
        </p:nvSpPr>
        <p:spPr>
          <a:xfrm>
            <a:off x="8067400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61"/>
          <p:cNvSpPr txBox="1"/>
          <p:nvPr/>
        </p:nvSpPr>
        <p:spPr>
          <a:xfrm>
            <a:off x="3298075" y="3488568"/>
            <a:ext cx="1066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Data successfully sent!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1" name="Google Shape;821;p61"/>
          <p:cNvCxnSpPr/>
          <p:nvPr/>
        </p:nvCxnSpPr>
        <p:spPr>
          <a:xfrm rot="10800000">
            <a:off x="2384675" y="3619431"/>
            <a:ext cx="9201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61"/>
          <p:cNvSpPr txBox="1"/>
          <p:nvPr/>
        </p:nvSpPr>
        <p:spPr>
          <a:xfrm>
            <a:off x="4898275" y="3488568"/>
            <a:ext cx="1066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Data successfully received!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3" name="Google Shape;823;p61"/>
          <p:cNvCxnSpPr/>
          <p:nvPr/>
        </p:nvCxnSpPr>
        <p:spPr>
          <a:xfrm>
            <a:off x="5971675" y="3619425"/>
            <a:ext cx="23556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2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62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62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62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62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62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62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2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(6/6)</a:t>
            </a:r>
            <a:endParaRPr/>
          </a:p>
        </p:txBody>
      </p:sp>
      <p:sp>
        <p:nvSpPr>
          <p:cNvPr id="837" name="Google Shape;837;p62"/>
          <p:cNvSpPr txBox="1"/>
          <p:nvPr>
            <p:ph idx="1" type="body"/>
          </p:nvPr>
        </p:nvSpPr>
        <p:spPr>
          <a:xfrm>
            <a:off x="107050" y="402200"/>
            <a:ext cx="8909700" cy="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6. Applications read CQE to understand what happened to the transfer.</a:t>
            </a:r>
            <a:endParaRPr/>
          </a:p>
        </p:txBody>
      </p:sp>
      <p:sp>
        <p:nvSpPr>
          <p:cNvPr id="838" name="Google Shape;838;p62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62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62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1" name="Google Shape;841;p62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2" name="Google Shape;842;p62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62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62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62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2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62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8" name="Google Shape;848;p62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9" name="Google Shape;849;p62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62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62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62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3" name="Google Shape;853;p62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4" name="Google Shape;854;p62"/>
          <p:cNvSpPr/>
          <p:nvPr/>
        </p:nvSpPr>
        <p:spPr>
          <a:xfrm>
            <a:off x="2035063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62"/>
          <p:cNvSpPr/>
          <p:nvPr/>
        </p:nvSpPr>
        <p:spPr>
          <a:xfrm>
            <a:off x="8067400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6" name="Google Shape;856;p62"/>
          <p:cNvCxnSpPr/>
          <p:nvPr/>
        </p:nvCxnSpPr>
        <p:spPr>
          <a:xfrm>
            <a:off x="2178050" y="2060700"/>
            <a:ext cx="206700" cy="1558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62"/>
          <p:cNvCxnSpPr/>
          <p:nvPr/>
        </p:nvCxnSpPr>
        <p:spPr>
          <a:xfrm>
            <a:off x="8193975" y="2045650"/>
            <a:ext cx="133200" cy="1573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8" name="Google Shape;858;p62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solidFill>
            <a:srgbClr val="EFEFEF">
              <a:alpha val="75000"/>
            </a:srgbClr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2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solidFill>
            <a:srgbClr val="EFEFEF">
              <a:alpha val="75000"/>
            </a:srgbClr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Pros and Cons</a:t>
            </a:r>
            <a:endParaRPr/>
          </a:p>
        </p:txBody>
      </p:sp>
      <p:sp>
        <p:nvSpPr>
          <p:cNvPr id="865" name="Google Shape;865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High-performance data transfer.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Frees up CPU for applications.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complex. Requires specialized hardware and software.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RDMA replaces TCP/IP, so features like reliability must be implemented in hardware.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best when servers are nearby, e.g. in same datacenter.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servers are far away, dominant delay is the network.</a:t>
            </a:r>
            <a:br>
              <a:rPr lang="en"/>
            </a:br>
            <a:r>
              <a:rPr lang="en"/>
              <a:t>RDMA savings are insignificant.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Applications</a:t>
            </a:r>
            <a:endParaRPr/>
          </a:p>
        </p:txBody>
      </p:sp>
      <p:sp>
        <p:nvSpPr>
          <p:cNvPr id="871" name="Google Shape;871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RDMA useful for high-performance computing.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Scientific research, financial modeling, weather forecasting,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computing, e.g. migrating large VM from one physical server to another.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AI/ML training.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up CPU for applications.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and predictable latency for data transfers.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Implementation</a:t>
            </a:r>
            <a:endParaRPr/>
          </a:p>
        </p:txBody>
      </p:sp>
      <p:sp>
        <p:nvSpPr>
          <p:cNvPr id="877" name="Google Shape;877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handle losses, reordering, congestion, etc.?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broad options: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features into the datacenter network, e.g. at the switches.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Nvidia's InfiniBand.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features in the NIC, under the queue pair abstraction.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Google.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both cases, applications and OS both see the abstraction of reliable delivery.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