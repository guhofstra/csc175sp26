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y="5143500" cx="9144000"/>
  <p:notesSz cx="6858000" cy="9144000"/>
  <p:embeddedFontLst>
    <p:embeddedFont>
      <p:font typeface="Roboto Medium"/>
      <p:regular r:id="rId84"/>
      <p:bold r:id="rId85"/>
      <p:italic r:id="rId86"/>
      <p:boldItalic r:id="rId87"/>
    </p:embeddedFont>
    <p:embeddedFont>
      <p:font typeface="Roboto"/>
      <p:regular r:id="rId88"/>
      <p:bold r:id="rId89"/>
      <p:italic r:id="rId90"/>
      <p:boldItalic r:id="rId91"/>
    </p:embeddedFont>
    <p:embeddedFont>
      <p:font typeface="Roboto Light"/>
      <p:regular r:id="rId92"/>
      <p:bold r:id="rId93"/>
      <p:italic r:id="rId94"/>
      <p:boldItalic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0E94E9-8C37-454C-BF69-298D2E925918}">
  <a:tblStyle styleId="{9E0E94E9-8C37-454C-BF69-298D2E92591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RobotoMedium-regular.fntdata"/><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font" Target="fonts/RobotoMedium-italic.fntdata"/><Relationship Id="rId41" Type="http://schemas.openxmlformats.org/officeDocument/2006/relationships/slide" Target="slides/slide35.xml"/><Relationship Id="rId85" Type="http://schemas.openxmlformats.org/officeDocument/2006/relationships/font" Target="fonts/RobotoMedium-bold.fntdata"/><Relationship Id="rId44" Type="http://schemas.openxmlformats.org/officeDocument/2006/relationships/slide" Target="slides/slide38.xml"/><Relationship Id="rId88" Type="http://schemas.openxmlformats.org/officeDocument/2006/relationships/font" Target="fonts/Roboto-regular.fntdata"/><Relationship Id="rId43" Type="http://schemas.openxmlformats.org/officeDocument/2006/relationships/slide" Target="slides/slide37.xml"/><Relationship Id="rId87" Type="http://schemas.openxmlformats.org/officeDocument/2006/relationships/font" Target="fonts/RobotoMedium-boldItalic.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Roboto-bold.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95" Type="http://schemas.openxmlformats.org/officeDocument/2006/relationships/font" Target="fonts/RobotoLight-boldItalic.fntdata"/><Relationship Id="rId50" Type="http://schemas.openxmlformats.org/officeDocument/2006/relationships/slide" Target="slides/slide44.xml"/><Relationship Id="rId94" Type="http://schemas.openxmlformats.org/officeDocument/2006/relationships/font" Target="fonts/RobotoLight-italic.fntdata"/><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Roboto-boldItalic.fntdata"/><Relationship Id="rId90" Type="http://schemas.openxmlformats.org/officeDocument/2006/relationships/font" Target="fonts/Roboto-italic.fntdata"/><Relationship Id="rId93" Type="http://schemas.openxmlformats.org/officeDocument/2006/relationships/font" Target="fonts/RobotoLight-bold.fntdata"/><Relationship Id="rId92" Type="http://schemas.openxmlformats.org/officeDocument/2006/relationships/font" Target="fonts/RobotoLight-regular.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f0cecbe81c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f0cecbe81c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template credit: Josh Hug, Lisa Yan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71bb6c2cca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71bb6c2cca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1bb6c2cca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71bb6c2c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71ebf7660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71ebf7660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71bb6c2cc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71bb6c2cca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71bb6c2cca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71bb6c2cca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1bb6c2cca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71bb6c2cca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71bb6c2cca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71bb6c2cca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1bb6c2cca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71bb6c2cca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71bb6c2cca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71bb6c2cca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71bb6c2cca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71bb6c2cca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71bb6c2cca_0_2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71bb6c2cca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71bb6c2cca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71bb6c2cca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71bb6c2cca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71bb6c2cca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 level, don’t worry about the details</a:t>
            </a:r>
            <a:br>
              <a:rPr lang="en"/>
            </a:br>
            <a:br>
              <a:rPr lang="en"/>
            </a:br>
            <a:r>
              <a:rPr lang="en"/>
              <a:t>Destination, Next Hop is the old forwarding table, now we have a generalized flow table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71bb6c2cca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71bb6c2cca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71bb6c2cca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71bb6c2cca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Can’t do whatever you want in match, action pairs like analyzing a packet and running a general python script and classifying it. Can’t get too creative with flow tables.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71bb6c2cca_0_26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71bb6c2cca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71bb6c2cca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71bb6c2cca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71bb6c2cca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71bb6c2cca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71bb6c2cca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71bb6c2cca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71bb6c2cca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71bb6c2cca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71bb6c2cca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71bb6c2cca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71bb6c2cca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71bb6c2cca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71bb6c2cca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71bb6c2cca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71bb6c2cca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71bb6c2cca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71bb6c2cca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71bb6c2cca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71bb6c2cca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71bb6c2cca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71bb6c2cca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71bb6c2cca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71bb6c2cca_0_5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71bb6c2cca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71bb6c2cca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71bb6c2cca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magic!!</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71bb6c2cca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71bb6c2cca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71bb6c2cca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71bb6c2cca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Traffic engineering at the underlay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71bb6c2cca_0_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371bb6c2cca_0_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research if you’re interested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71bb6c2cca_0_82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371bb6c2cca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71bb6c2cca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371bb6c2cca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71bb6c2cca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71bb6c2cca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71bb6c2cca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371bb6c2cca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typical to do this, since it’s pretty standard and speed matters a lot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71bb6c2cca_0_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71bb6c2cca_0_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f0cecbe81c_0_1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f0cecbe81c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f0cecbe81c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f0cecbe81c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2f0cecbe81c_0_62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2f0cecbe81c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2f0cecbe81c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2f0cecbe81c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f0cecbe81c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2f0cecbe81c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an OS class, so no need to know how this is implemented - OS memory and user space memory are separated. The OS (like Windows controls the kernel space, so it’s hard to change)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f0cecbe81c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2f0cecbe81c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2f0cecbe81c_0_67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2f0cecbe81c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2f0cecbe81c_0_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2f0cecbe81c_0_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Hardware is faster, so make more things hardware. But this is hard and idealized.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2f0cecbe81c_0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2f0cecbe81c_0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architecture ideas sneaking in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2f0cecbe81c_0_87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2f0cecbe81c_0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Very cutting edge, the history is essentially happening now in research and industry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2f0f0a4961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7" name="Google Shape;1067;g2f0f0a4961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2f0f0a4961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2f0f0a4961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Transceiver, where digital signals become analog - optical, on the wire, radio waves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Generate interrupt, tell the CPU to stop and process this packet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2f0cecbe81c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2f0cecbe81c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2f0f0a49613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2f0f0a49613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Checksums are easy algorithms to run - like adding up all the bits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2f0f0a49613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2f0f0a49613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27fb308cc2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27fb308cc2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27fb308cc2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27fb308cc2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27fb308cc2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6" name="Google Shape;1196;g27fb308cc2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27fb308cc2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27fb308cc2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27fb308cc29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27fb308cc29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Hardware has to remember match action pairs</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27fb308cc2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27fb308cc2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Picture hasn’t fully worked out yet, not TCP and IP yet </a:t>
            </a:r>
            <a:endParaRPr/>
          </a:p>
          <a:p>
            <a:pPr indent="0" lvl="0" marL="0" rtl="0" algn="l">
              <a:spcBef>
                <a:spcPts val="0"/>
              </a:spcBef>
              <a:spcAft>
                <a:spcPts val="0"/>
              </a:spcAft>
              <a:buNone/>
            </a:pPr>
            <a:r>
              <a:rPr lang="en"/>
              <a:t>Instead replace layer </a:t>
            </a:r>
            <a:r>
              <a:rPr lang="en"/>
              <a:t>3 and 4 with something else that is designed to work with hardware</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27fb308cc29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27fb308cc29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27fb308cc29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27fb308cc29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RAM</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27fb308cc29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27fb308cc29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27fb308cc29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27fb308cc29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Wookie :)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Priority other info, pointer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27fb308cc29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9" name="Google Shape;1339;g27fb308cc29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Cookie :)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27fb308cc29_0_26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27fb308cc29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7fb308cc29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27fb308cc29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g27fb308cc29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5" name="Google Shape;1375;g27fb308cc29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Unlock memory permissions to be readable and writable by NIC</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27fb308cc29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27fb308cc29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27fb308cc29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27fb308cc29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27fb308cc29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27fb308cc29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27fb308cc29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7" name="Google Shape;1507;g27fb308cc29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g27fb308cc29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4" name="Google Shape;1544;g27fb308cc29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g27fb308cc29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4" name="Google Shape;1584;g27fb308cc29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27fb308cc29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0" name="Google Shape;1620;g27fb308cc29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4" name="Shape 1624"/>
        <p:cNvGrpSpPr/>
        <p:nvPr/>
      </p:nvGrpSpPr>
      <p:grpSpPr>
        <a:xfrm>
          <a:off x="0" y="0"/>
          <a:ext cx="0" cy="0"/>
          <a:chOff x="0" y="0"/>
          <a:chExt cx="0" cy="0"/>
        </a:xfrm>
      </p:grpSpPr>
      <p:sp>
        <p:nvSpPr>
          <p:cNvPr id="1625" name="Google Shape;1625;g27fb308cc29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6" name="Google Shape;1626;g27fb308cc29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0" name="Shape 1630"/>
        <p:cNvGrpSpPr/>
        <p:nvPr/>
      </p:nvGrpSpPr>
      <p:grpSpPr>
        <a:xfrm>
          <a:off x="0" y="0"/>
          <a:ext cx="0" cy="0"/>
          <a:chOff x="0" y="0"/>
          <a:chExt cx="0" cy="0"/>
        </a:xfrm>
      </p:grpSpPr>
      <p:sp>
        <p:nvSpPr>
          <p:cNvPr id="1631" name="Google Shape;1631;g27fb308cc29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2" name="Google Shape;1632;g27fb308cc29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371ebf7660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371ebf7660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1" name="Google Shape;11;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2"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sp>
        <p:nvSpPr>
          <p:cNvPr id="26" name="Google Shape;26;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7" name="Google Shape;27;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28" name="Google Shape;28;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29"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4" name="Google Shape;34;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5" name="Google Shape;35;p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6" name="Google Shape;36;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7"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0" name="Google Shape;40;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1" name="Google Shape;41;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2" name="Google Shape;42;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3" name="Google Shape;43;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6"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9" name="Google Shape;49;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0" name="Google Shape;50;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1" name="Google Shape;51;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5"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8" name="Google Shape;58;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59" name="Google Shape;59;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0" name="Google Shape;60;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1" name="Google Shape;61;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4"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7" name="Google Shape;67;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68" name="Google Shape;68;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9" name="Google Shape;69;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0" name="Google Shape;70;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6" name="Google Shape;7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78" name="Google Shape;78;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6"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9" name="Google Shape;89;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0" name="Google Shape;90;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2" name="Shape 92"/>
        <p:cNvGrpSpPr/>
        <p:nvPr/>
      </p:nvGrpSpPr>
      <p:grpSpPr>
        <a:xfrm>
          <a:off x="0" y="0"/>
          <a:ext cx="0" cy="0"/>
          <a:chOff x="0" y="0"/>
          <a:chExt cx="0" cy="0"/>
        </a:xfrm>
      </p:grpSpPr>
      <p:sp>
        <p:nvSpPr>
          <p:cNvPr id="93" name="Google Shape;9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5"/>
          <p:cNvSpPr txBox="1"/>
          <p:nvPr>
            <p:ph type="title"/>
          </p:nvPr>
        </p:nvSpPr>
        <p:spPr>
          <a:xfrm>
            <a:off x="95425" y="4288400"/>
            <a:ext cx="8658900" cy="768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p:txBody>
      </p:sp>
      <p:cxnSp>
        <p:nvCxnSpPr>
          <p:cNvPr id="95" name="Google Shape;95;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98" name="Shape 98"/>
        <p:cNvGrpSpPr/>
        <p:nvPr/>
      </p:nvGrpSpPr>
      <p:grpSpPr>
        <a:xfrm>
          <a:off x="0" y="0"/>
          <a:ext cx="0" cy="0"/>
          <a:chOff x="0" y="0"/>
          <a:chExt cx="0" cy="0"/>
        </a:xfrm>
      </p:grpSpPr>
      <p:sp>
        <p:nvSpPr>
          <p:cNvPr id="99" name="Google Shape;9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0"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6" name="Google Shape;106;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7" name="Google Shape;107;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08"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1" name="Google Shape;111;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2" name="Google Shape;112;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4"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8" name="Google Shape;118;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9" name="Google Shape;119;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5" name="Google Shape;125;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6" name="Google Shape;126;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7" name="Google Shape;127;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1" name="Google Shape;13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2"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6" name="Google Shape;136;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7" name="Google Shape;137;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su25.cs168.io/exam/" TargetMode="External"/><Relationship Id="rId4" Type="http://schemas.openxmlformats.org/officeDocument/2006/relationships/hyperlink" Target="https://su25.cs168.io/exam/" TargetMode="External"/><Relationship Id="rId5" Type="http://schemas.openxmlformats.org/officeDocument/2006/relationships/hyperlink" Target="https://forms.gle/R3SGSjC1XCsa4fJE7" TargetMode="External"/><Relationship Id="rId6" Type="http://schemas.openxmlformats.org/officeDocument/2006/relationships/hyperlink" Target="https://forms.gle/R3SGSjC1XCsa4fJE7" TargetMode="External"/><Relationship Id="rId7" Type="http://schemas.openxmlformats.org/officeDocument/2006/relationships/hyperlink" Target="https://www.youtube.com/playlist?list=PL0_XloRC3MWtJqLFGX4Fd_BSXcrwspIHd" TargetMode="External"/><Relationship Id="rId8" Type="http://schemas.openxmlformats.org/officeDocument/2006/relationships/hyperlink" Target="https://www.youtube.com/playlist?list=PL0_XloRC3MWtJqLFGX4Fd_BSXcrwspIH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cs.cmu.edu/~4D/papers/greenberg-ccr05.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networkcomputing.com/network-infrastructure/nicira-openflow-networking-s-next-big-th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hyperlink" Target="https://cseweb.ucsd.edu/~vahdat/papers/b4-sigcomm13.pdf"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microsoft.com/en-us/research/wp-content/uploads/2017/01/swan-msrc-jul2013.pdf" TargetMode="External"/><Relationship Id="rId4"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storage.googleapis.com/gweb-research2023-media/pubtools/pdf/fab3f179641c4a568fa09ceb9c41cc2db381815b.pdf" TargetMode="Externa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4"/>
          <p:cNvSpPr txBox="1"/>
          <p:nvPr/>
        </p:nvSpPr>
        <p:spPr>
          <a:xfrm>
            <a:off x="311700" y="3854350"/>
            <a:ext cx="8520600" cy="8088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 168, </a:t>
            </a:r>
            <a:r>
              <a:rPr lang="en" sz="1600">
                <a:latin typeface="Roboto Medium"/>
                <a:ea typeface="Roboto Medium"/>
                <a:cs typeface="Roboto Medium"/>
                <a:sym typeface="Roboto Medium"/>
              </a:rPr>
              <a:t>Summer 2025</a:t>
            </a:r>
            <a:r>
              <a:rPr lang="en" sz="1600">
                <a:latin typeface="Roboto Medium"/>
                <a:ea typeface="Roboto Medium"/>
                <a:cs typeface="Roboto Medium"/>
                <a:sym typeface="Roboto Medium"/>
              </a:rPr>
              <a:t> </a:t>
            </a:r>
            <a:r>
              <a:rPr lang="en" sz="1600">
                <a:solidFill>
                  <a:srgbClr val="000000"/>
                </a:solidFill>
                <a:latin typeface="Roboto Medium"/>
                <a:ea typeface="Roboto Medium"/>
                <a:cs typeface="Roboto Medium"/>
                <a:sym typeface="Roboto Medium"/>
              </a:rPr>
              <a:t>@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Sylvia Ratnasamy, Rob Shakir, Peyrin Kao, </a:t>
            </a:r>
            <a:r>
              <a:rPr lang="en" sz="1600">
                <a:latin typeface="Roboto Light"/>
                <a:ea typeface="Roboto Light"/>
                <a:cs typeface="Roboto Light"/>
                <a:sym typeface="Roboto Light"/>
              </a:rPr>
              <a:t>Nandita Dukkipati</a:t>
            </a:r>
            <a:endParaRPr sz="1600">
              <a:solidFill>
                <a:srgbClr val="000000"/>
              </a:solidFill>
              <a:latin typeface="Roboto Light"/>
              <a:ea typeface="Roboto Light"/>
              <a:cs typeface="Roboto Light"/>
              <a:sym typeface="Roboto Light"/>
            </a:endParaRPr>
          </a:p>
        </p:txBody>
      </p:sp>
      <p:sp>
        <p:nvSpPr>
          <p:cNvPr id="144" name="Google Shape;144;p24"/>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SDN, Host Networking, RDMA</a:t>
            </a:r>
            <a:endParaRPr sz="360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21 (Datacenters 4)</a:t>
            </a:r>
            <a:endParaRPr sz="1200">
              <a:solidFill>
                <a:srgbClr val="BF9000"/>
              </a:solidFill>
              <a:latin typeface="Roboto Medium"/>
              <a:ea typeface="Roboto Medium"/>
              <a:cs typeface="Roboto Medium"/>
              <a:sym typeface="Roboto Medium"/>
            </a:endParaRPr>
          </a:p>
        </p:txBody>
      </p:sp>
      <p:sp>
        <p:nvSpPr>
          <p:cNvPr id="146" name="Google Shape;146;p24"/>
          <p:cNvSpPr/>
          <p:nvPr/>
        </p:nvSpPr>
        <p:spPr>
          <a:xfrm>
            <a:off x="5827050" y="401250"/>
            <a:ext cx="2645400" cy="18267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47" name="Google Shape;147;p24"/>
          <p:cNvSpPr/>
          <p:nvPr/>
        </p:nvSpPr>
        <p:spPr>
          <a:xfrm>
            <a:off x="5959600" y="536300"/>
            <a:ext cx="1417200" cy="15900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8" name="Google Shape;148;p24"/>
          <p:cNvSpPr/>
          <p:nvPr/>
        </p:nvSpPr>
        <p:spPr>
          <a:xfrm>
            <a:off x="6090550" y="692325"/>
            <a:ext cx="505951" cy="848923"/>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49" name="Google Shape;149;p24"/>
          <p:cNvSpPr/>
          <p:nvPr/>
        </p:nvSpPr>
        <p:spPr>
          <a:xfrm>
            <a:off x="6739900" y="692325"/>
            <a:ext cx="505951" cy="848923"/>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50" name="Google Shape;150;p24"/>
          <p:cNvSpPr txBox="1"/>
          <p:nvPr/>
        </p:nvSpPr>
        <p:spPr>
          <a:xfrm>
            <a:off x="6090625" y="1563825"/>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51" name="Google Shape;151;p24"/>
          <p:cNvSpPr txBox="1"/>
          <p:nvPr/>
        </p:nvSpPr>
        <p:spPr>
          <a:xfrm>
            <a:off x="6650275" y="1563825"/>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52" name="Google Shape;152;p24"/>
          <p:cNvSpPr/>
          <p:nvPr/>
        </p:nvSpPr>
        <p:spPr>
          <a:xfrm rot="10800000">
            <a:off x="7581348" y="920927"/>
            <a:ext cx="734027" cy="1196347"/>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53" name="Google Shape;153;p24"/>
          <p:cNvSpPr txBox="1"/>
          <p:nvPr/>
        </p:nvSpPr>
        <p:spPr>
          <a:xfrm>
            <a:off x="7528813" y="649650"/>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
        <p:nvSpPr>
          <p:cNvPr id="154" name="Google Shape;154;p24"/>
          <p:cNvSpPr/>
          <p:nvPr/>
        </p:nvSpPr>
        <p:spPr>
          <a:xfrm>
            <a:off x="6153700" y="1323050"/>
            <a:ext cx="375000" cy="1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5" name="Google Shape;155;p24"/>
          <p:cNvSpPr/>
          <p:nvPr/>
        </p:nvSpPr>
        <p:spPr>
          <a:xfrm>
            <a:off x="6153700" y="1094450"/>
            <a:ext cx="375000" cy="1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6" name="Google Shape;156;p24"/>
          <p:cNvSpPr/>
          <p:nvPr/>
        </p:nvSpPr>
        <p:spPr>
          <a:xfrm>
            <a:off x="6805375" y="1323050"/>
            <a:ext cx="375000" cy="1599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7" name="Google Shape;157;p24"/>
          <p:cNvSpPr/>
          <p:nvPr/>
        </p:nvSpPr>
        <p:spPr>
          <a:xfrm>
            <a:off x="7658713" y="1001575"/>
            <a:ext cx="579300" cy="1599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8" name="Google Shape;158;p24"/>
          <p:cNvSpPr/>
          <p:nvPr/>
        </p:nvSpPr>
        <p:spPr>
          <a:xfrm>
            <a:off x="7658713" y="1230175"/>
            <a:ext cx="579300" cy="1599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9" name="Google Shape;159;p24"/>
          <p:cNvSpPr/>
          <p:nvPr/>
        </p:nvSpPr>
        <p:spPr>
          <a:xfrm>
            <a:off x="7658713" y="1458775"/>
            <a:ext cx="579300" cy="1599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Exam Logistics! Aug 13th 3-6pm</a:t>
            </a:r>
            <a:endParaRPr/>
          </a:p>
        </p:txBody>
      </p:sp>
      <p:sp>
        <p:nvSpPr>
          <p:cNvPr id="165" name="Google Shape;165;p25"/>
          <p:cNvSpPr txBox="1"/>
          <p:nvPr>
            <p:ph idx="1" type="body"/>
          </p:nvPr>
        </p:nvSpPr>
        <p:spPr>
          <a:xfrm>
            <a:off x="107050" y="402200"/>
            <a:ext cx="8909700" cy="3996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All this information has been announced on Ed by Ashley in “[Final] Main Thread”</a:t>
            </a:r>
            <a:endParaRPr>
              <a:solidFill>
                <a:srgbClr val="222222"/>
              </a:solidFill>
              <a:highlight>
                <a:srgbClr val="FFFFFF"/>
              </a:highlight>
            </a:endParaRPr>
          </a:p>
          <a:p>
            <a:pPr indent="-342900" lvl="0" marL="457200" rtl="0" algn="l">
              <a:lnSpc>
                <a:spcPct val="115000"/>
              </a:lnSpc>
              <a:spcBef>
                <a:spcPts val="1100"/>
              </a:spcBef>
              <a:spcAft>
                <a:spcPts val="0"/>
              </a:spcAft>
              <a:buSzPts val="1800"/>
              <a:buChar char="●"/>
            </a:pPr>
            <a:r>
              <a:rPr lang="en">
                <a:solidFill>
                  <a:srgbClr val="222222"/>
                </a:solidFill>
                <a:highlight>
                  <a:srgbClr val="FFFFFF"/>
                </a:highlight>
              </a:rPr>
              <a:t>See this page for exam logistics:</a:t>
            </a:r>
            <a:r>
              <a:rPr lang="en">
                <a:solidFill>
                  <a:srgbClr val="222222"/>
                </a:solidFill>
                <a:highlight>
                  <a:srgbClr val="FFFFFF"/>
                </a:highlight>
                <a:uFill>
                  <a:noFill/>
                </a:uFill>
                <a:hlinkClick r:id="rId3">
                  <a:extLst>
                    <a:ext uri="{A12FA001-AC4F-418D-AE19-62706E023703}">
                      <ahyp:hlinkClr val="tx"/>
                    </a:ext>
                  </a:extLst>
                </a:hlinkClick>
              </a:rPr>
              <a:t> </a:t>
            </a:r>
            <a:r>
              <a:rPr lang="en">
                <a:solidFill>
                  <a:schemeClr val="hlink"/>
                </a:solidFill>
                <a:highlight>
                  <a:srgbClr val="FFFFFF"/>
                </a:highlight>
                <a:uFill>
                  <a:noFill/>
                </a:uFill>
                <a:hlinkClick r:id="rId4"/>
              </a:rPr>
              <a:t>https://su25.cs168.io/exam/</a:t>
            </a:r>
            <a:endParaRPr>
              <a:solidFill>
                <a:schemeClr val="hlink"/>
              </a:solidFill>
              <a:highlight>
                <a:srgbClr val="FFFFFF"/>
              </a:highlight>
            </a:endParaRPr>
          </a:p>
          <a:p>
            <a:pPr indent="-342900" lvl="0" marL="457200" rtl="0" algn="l">
              <a:lnSpc>
                <a:spcPct val="115000"/>
              </a:lnSpc>
              <a:spcBef>
                <a:spcPts val="0"/>
              </a:spcBef>
              <a:spcAft>
                <a:spcPts val="0"/>
              </a:spcAft>
              <a:buSzPts val="1800"/>
              <a:buChar char="●"/>
            </a:pPr>
            <a:r>
              <a:rPr lang="en">
                <a:solidFill>
                  <a:srgbClr val="222222"/>
                </a:solidFill>
                <a:highlight>
                  <a:srgbClr val="FFFFFF"/>
                </a:highlight>
              </a:rPr>
              <a:t>The</a:t>
            </a:r>
            <a:r>
              <a:rPr lang="en">
                <a:solidFill>
                  <a:srgbClr val="222222"/>
                </a:solidFill>
                <a:highlight>
                  <a:srgbClr val="FFFFFF"/>
                </a:highlight>
                <a:uFill>
                  <a:noFill/>
                </a:uFill>
                <a:hlinkClick r:id="rId5">
                  <a:extLst>
                    <a:ext uri="{A12FA001-AC4F-418D-AE19-62706E023703}">
                      <ahyp:hlinkClr val="tx"/>
                    </a:ext>
                  </a:extLst>
                </a:hlinkClick>
              </a:rPr>
              <a:t> </a:t>
            </a:r>
            <a:r>
              <a:rPr lang="en">
                <a:solidFill>
                  <a:schemeClr val="hlink"/>
                </a:solidFill>
                <a:highlight>
                  <a:srgbClr val="FFFFFF"/>
                </a:highlight>
                <a:uFill>
                  <a:noFill/>
                </a:uFill>
                <a:hlinkClick r:id="rId6"/>
              </a:rPr>
              <a:t>final logistics form</a:t>
            </a:r>
            <a:r>
              <a:rPr lang="en">
                <a:solidFill>
                  <a:srgbClr val="222222"/>
                </a:solidFill>
                <a:highlight>
                  <a:srgbClr val="FFFFFF"/>
                </a:highlight>
              </a:rPr>
              <a:t> is open! If you need any exam accommodations (DSP, online, etc.), please fill this out ASAP. We were lenient with late submissions for the midterm, but we won’t be able to offer the same flexibility here. </a:t>
            </a:r>
            <a:endParaRPr>
              <a:solidFill>
                <a:srgbClr val="222222"/>
              </a:solidFill>
              <a:highlight>
                <a:srgbClr val="FFFFFF"/>
              </a:highlight>
            </a:endParaRPr>
          </a:p>
          <a:p>
            <a:pPr indent="-342900" lvl="0" marL="457200" rtl="0" algn="l">
              <a:lnSpc>
                <a:spcPct val="115000"/>
              </a:lnSpc>
              <a:spcBef>
                <a:spcPts val="0"/>
              </a:spcBef>
              <a:spcAft>
                <a:spcPts val="0"/>
              </a:spcAft>
              <a:buSzPts val="1800"/>
              <a:buChar char="●"/>
            </a:pPr>
            <a:r>
              <a:rPr lang="en">
                <a:solidFill>
                  <a:srgbClr val="222222"/>
                </a:solidFill>
                <a:highlight>
                  <a:srgbClr val="FFFFFF"/>
                </a:highlight>
              </a:rPr>
              <a:t>If you need any additional exam accommodations not listed on the form, feel free to email cs168@berkeley.edu.</a:t>
            </a:r>
            <a:endParaRPr>
              <a:solidFill>
                <a:srgbClr val="222222"/>
              </a:solidFill>
              <a:highlight>
                <a:srgbClr val="FFFFFF"/>
              </a:highlight>
            </a:endParaRPr>
          </a:p>
          <a:p>
            <a:pPr indent="-342900" lvl="0" marL="457200" rtl="0" algn="l">
              <a:lnSpc>
                <a:spcPct val="115000"/>
              </a:lnSpc>
              <a:spcBef>
                <a:spcPts val="0"/>
              </a:spcBef>
              <a:spcAft>
                <a:spcPts val="0"/>
              </a:spcAft>
              <a:buSzPts val="1800"/>
              <a:buChar char="●"/>
            </a:pPr>
            <a:r>
              <a:rPr lang="en">
                <a:solidFill>
                  <a:srgbClr val="222222"/>
                </a:solidFill>
                <a:highlight>
                  <a:srgbClr val="FFFFFF"/>
                </a:highlight>
              </a:rPr>
              <a:t>We've also made a playlist for</a:t>
            </a:r>
            <a:r>
              <a:rPr lang="en">
                <a:solidFill>
                  <a:srgbClr val="222222"/>
                </a:solidFill>
                <a:highlight>
                  <a:srgbClr val="FFFFFF"/>
                </a:highlight>
                <a:uFill>
                  <a:noFill/>
                </a:uFill>
                <a:hlinkClick r:id="rId7">
                  <a:extLst>
                    <a:ext uri="{A12FA001-AC4F-418D-AE19-62706E023703}">
                      <ahyp:hlinkClr val="tx"/>
                    </a:ext>
                  </a:extLst>
                </a:hlinkClick>
              </a:rPr>
              <a:t> </a:t>
            </a:r>
            <a:r>
              <a:rPr lang="en">
                <a:solidFill>
                  <a:schemeClr val="hlink"/>
                </a:solidFill>
                <a:highlight>
                  <a:srgbClr val="FFFFFF"/>
                </a:highlight>
                <a:uFill>
                  <a:noFill/>
                </a:uFill>
                <a:hlinkClick r:id="rId8"/>
              </a:rPr>
              <a:t>final minilectures</a:t>
            </a:r>
            <a:r>
              <a:rPr lang="en">
                <a:solidFill>
                  <a:srgbClr val="222222"/>
                </a:solidFill>
                <a:highlight>
                  <a:srgbClr val="FFFFFF"/>
                </a:highlight>
              </a:rPr>
              <a:t>, which are recorded from </a:t>
            </a:r>
            <a:r>
              <a:rPr lang="en">
                <a:solidFill>
                  <a:srgbClr val="222222"/>
                </a:solidFill>
                <a:highlight>
                  <a:srgbClr val="FFFFFF"/>
                </a:highlight>
              </a:rPr>
              <a:t>discussion</a:t>
            </a:r>
            <a:r>
              <a:rPr lang="en">
                <a:solidFill>
                  <a:srgbClr val="222222"/>
                </a:solidFill>
                <a:highlight>
                  <a:srgbClr val="FFFFFF"/>
                </a:highlight>
              </a:rPr>
              <a:t> slides.</a:t>
            </a:r>
            <a:endParaRPr>
              <a:solidFill>
                <a:srgbClr val="222222"/>
              </a:solidFill>
              <a:highlight>
                <a:srgbClr val="FFFFFF"/>
              </a:highlight>
            </a:endParaRPr>
          </a:p>
          <a:p>
            <a:pPr indent="0" lvl="0" marL="0" rtl="0" algn="l">
              <a:lnSpc>
                <a:spcPct val="115000"/>
              </a:lnSpc>
              <a:spcBef>
                <a:spcPts val="11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idx="1" type="body"/>
          </p:nvPr>
        </p:nvSpPr>
        <p:spPr>
          <a:xfrm>
            <a:off x="4812375" y="434100"/>
            <a:ext cx="4038000" cy="42753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Software-Defined Networking</a:t>
            </a:r>
            <a:endParaRPr>
              <a:solidFill>
                <a:srgbClr val="B7B7B7"/>
              </a:solidFill>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A Brief History</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Implementation (OpenFlow API)</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Benefits (Traffic Engineering)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SDN in Datacenters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Other Applications of SDN</a:t>
            </a:r>
            <a:endParaRPr>
              <a:solidFill>
                <a:srgbClr val="B7B7B7"/>
              </a:solidFill>
            </a:endParaRPr>
          </a:p>
          <a:p>
            <a:pPr indent="0" lvl="0" marL="0" rtl="0" algn="l">
              <a:spcBef>
                <a:spcPts val="600"/>
              </a:spcBef>
              <a:spcAft>
                <a:spcPts val="0"/>
              </a:spcAft>
              <a:buNone/>
            </a:pPr>
            <a:r>
              <a:rPr lang="en">
                <a:solidFill>
                  <a:srgbClr val="B7B7B7"/>
                </a:solidFill>
              </a:rPr>
              <a:t>Optimizations at the Host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What is Host Networking?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Shared Memory in User Space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Brief History of 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RDMA Example</a:t>
            </a:r>
            <a:endParaRPr>
              <a:solidFill>
                <a:srgbClr val="B7B7B7"/>
              </a:solidFill>
            </a:endParaRPr>
          </a:p>
        </p:txBody>
      </p:sp>
      <p:sp>
        <p:nvSpPr>
          <p:cNvPr id="171" name="Google Shape;171;p26"/>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Software-Defined Networking:</a:t>
            </a:r>
            <a:br>
              <a:rPr lang="en"/>
            </a:br>
            <a:r>
              <a:rPr lang="en"/>
              <a:t>A Brief History</a:t>
            </a:r>
            <a:endParaRPr/>
          </a:p>
        </p:txBody>
      </p:sp>
      <p:sp>
        <p:nvSpPr>
          <p:cNvPr id="172" name="Google Shape;172;p26"/>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21, CS 168, Summer 2025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Software-Defined Networking?</a:t>
            </a:r>
            <a:endParaRPr/>
          </a:p>
        </p:txBody>
      </p:sp>
      <p:sp>
        <p:nvSpPr>
          <p:cNvPr id="178" name="Google Shape;178;p2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Software-defined networking (SDN) is a new way to think about network management.</a:t>
            </a:r>
            <a:endParaRPr/>
          </a:p>
          <a:p>
            <a:pPr indent="-342900" lvl="0" marL="457200" rtl="0" algn="l">
              <a:spcBef>
                <a:spcPts val="600"/>
              </a:spcBef>
              <a:spcAft>
                <a:spcPts val="0"/>
              </a:spcAft>
              <a:buSzPts val="1800"/>
              <a:buChar char="●"/>
            </a:pPr>
            <a:r>
              <a:rPr lang="en"/>
              <a:t>So far: Routers each run a distributed protocol to compute paths.</a:t>
            </a:r>
            <a:endParaRPr/>
          </a:p>
          <a:p>
            <a:pPr indent="-342900" lvl="1" marL="914400" rtl="0" algn="l">
              <a:spcBef>
                <a:spcPts val="0"/>
              </a:spcBef>
              <a:spcAft>
                <a:spcPts val="0"/>
              </a:spcAft>
              <a:buSzPts val="1800"/>
              <a:buChar char="○"/>
            </a:pPr>
            <a:r>
              <a:rPr lang="en"/>
              <a:t>What do we do if these protocols don't meet our needs?</a:t>
            </a:r>
            <a:endParaRPr/>
          </a:p>
          <a:p>
            <a:pPr indent="-342900" lvl="0" marL="457200" rtl="0" algn="l">
              <a:spcBef>
                <a:spcPts val="0"/>
              </a:spcBef>
              <a:spcAft>
                <a:spcPts val="0"/>
              </a:spcAft>
              <a:buSzPts val="1800"/>
              <a:buChar char="●"/>
            </a:pPr>
            <a:r>
              <a:rPr lang="en"/>
              <a:t>Today: A centralized piece of code computes paths and gives them to routers.</a:t>
            </a:r>
            <a:endParaRPr/>
          </a:p>
          <a:p>
            <a:pPr indent="-342900" lvl="0" marL="457200" rtl="0" algn="l">
              <a:spcBef>
                <a:spcPts val="0"/>
              </a:spcBef>
              <a:spcAft>
                <a:spcPts val="0"/>
              </a:spcAft>
              <a:buSzPts val="1800"/>
              <a:buChar char="●"/>
            </a:pPr>
            <a:r>
              <a:rPr lang="en"/>
              <a:t>SDN applies to other aspects of network management as well, but we'll focus on routing.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Innovating Routers</a:t>
            </a:r>
            <a:endParaRPr/>
          </a:p>
        </p:txBody>
      </p:sp>
      <p:sp>
        <p:nvSpPr>
          <p:cNvPr id="184" name="Google Shape;184;p2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want a specialized routing protocol for our own network.</a:t>
            </a:r>
            <a:endParaRPr/>
          </a:p>
          <a:p>
            <a:pPr indent="0" lvl="0" marL="0" rtl="0" algn="l">
              <a:spcBef>
                <a:spcPts val="600"/>
              </a:spcBef>
              <a:spcAft>
                <a:spcPts val="0"/>
              </a:spcAft>
              <a:buNone/>
            </a:pPr>
            <a:r>
              <a:rPr lang="en"/>
              <a:t>Why is implementing it hard?</a:t>
            </a:r>
            <a:endParaRPr/>
          </a:p>
          <a:p>
            <a:pPr indent="-342900" lvl="0" marL="457200" rtl="0" algn="l">
              <a:spcBef>
                <a:spcPts val="600"/>
              </a:spcBef>
              <a:spcAft>
                <a:spcPts val="0"/>
              </a:spcAft>
              <a:buSzPts val="1800"/>
              <a:buChar char="●"/>
            </a:pPr>
            <a:r>
              <a:rPr lang="en"/>
              <a:t>Routers are </a:t>
            </a:r>
            <a:r>
              <a:rPr b="1" lang="en"/>
              <a:t>standardized</a:t>
            </a:r>
            <a:r>
              <a:rPr lang="en"/>
              <a:t>.</a:t>
            </a:r>
            <a:endParaRPr/>
          </a:p>
          <a:p>
            <a:pPr indent="-342900" lvl="1" marL="914400" rtl="0" algn="l">
              <a:spcBef>
                <a:spcPts val="0"/>
              </a:spcBef>
              <a:spcAft>
                <a:spcPts val="0"/>
              </a:spcAft>
              <a:buSzPts val="1800"/>
              <a:buChar char="○"/>
            </a:pPr>
            <a:r>
              <a:rPr lang="en"/>
              <a:t>We have to submit our change to a standards body.</a:t>
            </a:r>
            <a:endParaRPr/>
          </a:p>
          <a:p>
            <a:pPr indent="-342900" lvl="1" marL="914400" rtl="0" algn="l">
              <a:spcBef>
                <a:spcPts val="0"/>
              </a:spcBef>
              <a:spcAft>
                <a:spcPts val="0"/>
              </a:spcAft>
              <a:buSzPts val="1800"/>
              <a:buChar char="○"/>
            </a:pPr>
            <a:r>
              <a:rPr lang="en"/>
              <a:t>We might have to wait years for them to approve it.</a:t>
            </a:r>
            <a:endParaRPr/>
          </a:p>
          <a:p>
            <a:pPr indent="-342900" lvl="0" marL="457200" rtl="0" algn="l">
              <a:spcBef>
                <a:spcPts val="0"/>
              </a:spcBef>
              <a:spcAft>
                <a:spcPts val="0"/>
              </a:spcAft>
              <a:buSzPts val="1800"/>
              <a:buChar char="●"/>
            </a:pPr>
            <a:r>
              <a:rPr lang="en"/>
              <a:t>Routers are </a:t>
            </a:r>
            <a:r>
              <a:rPr b="1" lang="en"/>
              <a:t>inflexible</a:t>
            </a:r>
            <a:r>
              <a:rPr lang="en"/>
              <a:t>.</a:t>
            </a:r>
            <a:endParaRPr/>
          </a:p>
          <a:p>
            <a:pPr indent="-342900" lvl="1" marL="914400" rtl="0" algn="l">
              <a:spcBef>
                <a:spcPts val="0"/>
              </a:spcBef>
              <a:spcAft>
                <a:spcPts val="0"/>
              </a:spcAft>
              <a:buSzPts val="1800"/>
              <a:buChar char="○"/>
            </a:pPr>
            <a:r>
              <a:rPr lang="en"/>
              <a:t>Major vendors want to implement solutions that work well for everybody.</a:t>
            </a:r>
            <a:endParaRPr/>
          </a:p>
          <a:p>
            <a:pPr indent="-342900" lvl="1" marL="914400" rtl="0" algn="l">
              <a:spcBef>
                <a:spcPts val="0"/>
              </a:spcBef>
              <a:spcAft>
                <a:spcPts val="0"/>
              </a:spcAft>
              <a:buSzPts val="1800"/>
              <a:buChar char="○"/>
            </a:pPr>
            <a:r>
              <a:rPr lang="en"/>
              <a:t>If nobody else wants our protocol, vendors won't build it.</a:t>
            </a:r>
            <a:endParaRPr/>
          </a:p>
          <a:p>
            <a:pPr indent="-342900" lvl="0" marL="457200" rtl="0" algn="l">
              <a:spcBef>
                <a:spcPts val="0"/>
              </a:spcBef>
              <a:spcAft>
                <a:spcPts val="0"/>
              </a:spcAft>
              <a:buSzPts val="1800"/>
              <a:buChar char="●"/>
            </a:pPr>
            <a:r>
              <a:rPr lang="en"/>
              <a:t>Routers are </a:t>
            </a:r>
            <a:r>
              <a:rPr b="1" lang="en"/>
              <a:t>vertically integrated</a:t>
            </a:r>
            <a:r>
              <a:rPr lang="en"/>
              <a:t>.</a:t>
            </a:r>
            <a:endParaRPr/>
          </a:p>
          <a:p>
            <a:pPr indent="-342900" lvl="1" marL="914400" rtl="0" algn="l">
              <a:spcBef>
                <a:spcPts val="0"/>
              </a:spcBef>
              <a:spcAft>
                <a:spcPts val="0"/>
              </a:spcAft>
              <a:buSzPts val="1800"/>
              <a:buChar char="○"/>
            </a:pPr>
            <a:r>
              <a:rPr lang="en"/>
              <a:t>The data, control, and management planes are all wired on the chips.</a:t>
            </a:r>
            <a:endParaRPr/>
          </a:p>
          <a:p>
            <a:pPr indent="-342900" lvl="1" marL="914400" rtl="0" algn="l">
              <a:spcBef>
                <a:spcPts val="0"/>
              </a:spcBef>
              <a:spcAft>
                <a:spcPts val="0"/>
              </a:spcAft>
              <a:buSzPts val="1800"/>
              <a:buChar char="○"/>
            </a:pPr>
            <a:r>
              <a:rPr lang="en"/>
              <a:t>No easy way to swap out specific parts of the router.</a:t>
            </a:r>
            <a:endParaRPr/>
          </a:p>
          <a:p>
            <a:pPr indent="0" lvl="0" marL="0" rtl="0" algn="l">
              <a:spcBef>
                <a:spcPts val="600"/>
              </a:spcBef>
              <a:spcAft>
                <a:spcPts val="0"/>
              </a:spcAft>
              <a:buNone/>
            </a:pPr>
            <a:r>
              <a:rPr lang="en"/>
              <a:t>Similar problems if we want to experiment.</a:t>
            </a:r>
            <a:endParaRPr/>
          </a:p>
          <a:p>
            <a:pPr indent="-342900" lvl="0" marL="457200" rtl="0" algn="l">
              <a:spcBef>
                <a:spcPts val="600"/>
              </a:spcBef>
              <a:spcAft>
                <a:spcPts val="0"/>
              </a:spcAft>
              <a:buSzPts val="1800"/>
              <a:buChar char="●"/>
            </a:pPr>
            <a:r>
              <a:rPr lang="en"/>
              <a:t>Vendors don't want to build something that might not work.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p:nvPr/>
        </p:nvSpPr>
        <p:spPr>
          <a:xfrm>
            <a:off x="6880850" y="1520300"/>
            <a:ext cx="2070300" cy="22944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Developed by an equipment vendor.</a:t>
            </a:r>
            <a:endParaRPr>
              <a:latin typeface="Roboto"/>
              <a:ea typeface="Roboto"/>
              <a:cs typeface="Roboto"/>
              <a:sym typeface="Roboto"/>
            </a:endParaRPr>
          </a:p>
        </p:txBody>
      </p:sp>
      <p:sp>
        <p:nvSpPr>
          <p:cNvPr id="190" name="Google Shape;190;p2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Innovating Routers</a:t>
            </a:r>
            <a:endParaRPr/>
          </a:p>
        </p:txBody>
      </p:sp>
      <p:sp>
        <p:nvSpPr>
          <p:cNvPr id="191" name="Google Shape;191;p29"/>
          <p:cNvSpPr txBox="1"/>
          <p:nvPr>
            <p:ph idx="1" type="body"/>
          </p:nvPr>
        </p:nvSpPr>
        <p:spPr>
          <a:xfrm>
            <a:off x="107050" y="402200"/>
            <a:ext cx="66552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Routers are standardized, inflexible, and vertically integrated.</a:t>
            </a:r>
            <a:endParaRPr/>
          </a:p>
          <a:p>
            <a:pPr indent="0" lvl="0" marL="0" rtl="0" algn="l">
              <a:spcBef>
                <a:spcPts val="600"/>
              </a:spcBef>
              <a:spcAft>
                <a:spcPts val="0"/>
              </a:spcAft>
              <a:buNone/>
            </a:pPr>
            <a:r>
              <a:rPr lang="en"/>
              <a:t>The data plane is highly standardized.</a:t>
            </a:r>
            <a:endParaRPr/>
          </a:p>
          <a:p>
            <a:pPr indent="-342900" lvl="0" marL="457200" rtl="0" algn="l">
              <a:spcBef>
                <a:spcPts val="600"/>
              </a:spcBef>
              <a:spcAft>
                <a:spcPts val="0"/>
              </a:spcAft>
              <a:buSzPts val="1800"/>
              <a:buChar char="●"/>
            </a:pPr>
            <a:r>
              <a:rPr lang="en"/>
              <a:t>Recall: The data plane forwards packets.</a:t>
            </a:r>
            <a:endParaRPr/>
          </a:p>
          <a:p>
            <a:pPr indent="-342900" lvl="0" marL="457200" rtl="0" algn="l">
              <a:spcBef>
                <a:spcPts val="0"/>
              </a:spcBef>
              <a:spcAft>
                <a:spcPts val="0"/>
              </a:spcAft>
              <a:buSzPts val="1800"/>
              <a:buChar char="●"/>
            </a:pPr>
            <a:r>
              <a:rPr lang="en"/>
              <a:t>Routers from different vendors need to send bits on the wire in the same consistent format.</a:t>
            </a:r>
            <a:endParaRPr/>
          </a:p>
          <a:p>
            <a:pPr indent="-342900" lvl="0" marL="457200" rtl="0" algn="l">
              <a:spcBef>
                <a:spcPts val="0"/>
              </a:spcBef>
              <a:spcAft>
                <a:spcPts val="0"/>
              </a:spcAft>
              <a:buSzPts val="1800"/>
              <a:buChar char="●"/>
            </a:pPr>
            <a:r>
              <a:rPr lang="en"/>
              <a:t>Not much to innovate here (mostly faster speeds).</a:t>
            </a:r>
            <a:endParaRPr/>
          </a:p>
        </p:txBody>
      </p:sp>
      <p:sp>
        <p:nvSpPr>
          <p:cNvPr id="192" name="Google Shape;192;p29"/>
          <p:cNvSpPr/>
          <p:nvPr/>
        </p:nvSpPr>
        <p:spPr>
          <a:xfrm>
            <a:off x="6999450" y="2673674"/>
            <a:ext cx="1854600" cy="5175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 Plane</a:t>
            </a:r>
            <a:endParaRPr>
              <a:latin typeface="Roboto"/>
              <a:ea typeface="Roboto"/>
              <a:cs typeface="Roboto"/>
              <a:sym typeface="Roboto"/>
            </a:endParaRPr>
          </a:p>
        </p:txBody>
      </p:sp>
      <p:sp>
        <p:nvSpPr>
          <p:cNvPr id="193" name="Google Shape;193;p29"/>
          <p:cNvSpPr/>
          <p:nvPr/>
        </p:nvSpPr>
        <p:spPr>
          <a:xfrm>
            <a:off x="6999450" y="2156075"/>
            <a:ext cx="1854600" cy="51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Control Plane</a:t>
            </a:r>
            <a:endParaRPr>
              <a:latin typeface="Roboto"/>
              <a:ea typeface="Roboto"/>
              <a:cs typeface="Roboto"/>
              <a:sym typeface="Roboto"/>
            </a:endParaRPr>
          </a:p>
        </p:txBody>
      </p:sp>
      <p:sp>
        <p:nvSpPr>
          <p:cNvPr id="194" name="Google Shape;194;p29"/>
          <p:cNvSpPr/>
          <p:nvPr/>
        </p:nvSpPr>
        <p:spPr>
          <a:xfrm>
            <a:off x="6999450" y="1638475"/>
            <a:ext cx="1854600" cy="517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Management Plane</a:t>
            </a:r>
            <a:endParaRPr>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p:nvPr/>
        </p:nvSpPr>
        <p:spPr>
          <a:xfrm>
            <a:off x="6880850" y="1520300"/>
            <a:ext cx="2070300" cy="22944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Developed by an equipment vendor.</a:t>
            </a:r>
            <a:endParaRPr>
              <a:latin typeface="Roboto"/>
              <a:ea typeface="Roboto"/>
              <a:cs typeface="Roboto"/>
              <a:sym typeface="Roboto"/>
            </a:endParaRPr>
          </a:p>
        </p:txBody>
      </p:sp>
      <p:sp>
        <p:nvSpPr>
          <p:cNvPr id="200" name="Google Shape;200;p3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Innovating Routers</a:t>
            </a:r>
            <a:endParaRPr/>
          </a:p>
        </p:txBody>
      </p:sp>
      <p:sp>
        <p:nvSpPr>
          <p:cNvPr id="201" name="Google Shape;201;p30"/>
          <p:cNvSpPr txBox="1"/>
          <p:nvPr>
            <p:ph idx="1" type="body"/>
          </p:nvPr>
        </p:nvSpPr>
        <p:spPr>
          <a:xfrm>
            <a:off x="107050" y="402200"/>
            <a:ext cx="66552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Routers are standardized, inflexible, and vertically integrated.</a:t>
            </a:r>
            <a:endParaRPr/>
          </a:p>
          <a:p>
            <a:pPr indent="0" lvl="0" marL="0" rtl="0" algn="l">
              <a:spcBef>
                <a:spcPts val="600"/>
              </a:spcBef>
              <a:spcAft>
                <a:spcPts val="0"/>
              </a:spcAft>
              <a:buNone/>
            </a:pPr>
            <a:r>
              <a:rPr lang="en"/>
              <a:t>The control plane is mostly standardized.</a:t>
            </a:r>
            <a:endParaRPr/>
          </a:p>
          <a:p>
            <a:pPr indent="-342900" lvl="0" marL="457200" rtl="0" algn="l">
              <a:spcBef>
                <a:spcPts val="600"/>
              </a:spcBef>
              <a:spcAft>
                <a:spcPts val="0"/>
              </a:spcAft>
              <a:buSzPts val="1800"/>
              <a:buChar char="●"/>
            </a:pPr>
            <a:r>
              <a:rPr lang="en"/>
              <a:t>Recall: The control plane runs routing protocols.</a:t>
            </a:r>
            <a:endParaRPr/>
          </a:p>
          <a:p>
            <a:pPr indent="-342900" lvl="0" marL="457200" rtl="0" algn="l">
              <a:spcBef>
                <a:spcPts val="0"/>
              </a:spcBef>
              <a:spcAft>
                <a:spcPts val="0"/>
              </a:spcAft>
              <a:buSzPts val="1800"/>
              <a:buChar char="●"/>
            </a:pPr>
            <a:r>
              <a:rPr lang="en"/>
              <a:t>Some extensions exist, but routers from different vendors ultimately need to follow the same routing protocol.</a:t>
            </a:r>
            <a:endParaRPr/>
          </a:p>
          <a:p>
            <a:pPr indent="-342900" lvl="0" marL="457200" rtl="0" algn="l">
              <a:spcBef>
                <a:spcPts val="0"/>
              </a:spcBef>
              <a:spcAft>
                <a:spcPts val="0"/>
              </a:spcAft>
              <a:buSzPts val="1800"/>
              <a:buChar char="●"/>
            </a:pPr>
            <a:r>
              <a:rPr lang="en"/>
              <a:t>We want to innovate by creating our own routing protocols.</a:t>
            </a:r>
            <a:endParaRPr/>
          </a:p>
        </p:txBody>
      </p:sp>
      <p:sp>
        <p:nvSpPr>
          <p:cNvPr id="202" name="Google Shape;202;p30"/>
          <p:cNvSpPr/>
          <p:nvPr/>
        </p:nvSpPr>
        <p:spPr>
          <a:xfrm>
            <a:off x="6999450" y="2673674"/>
            <a:ext cx="1854600" cy="5175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 Plane</a:t>
            </a:r>
            <a:endParaRPr>
              <a:latin typeface="Roboto"/>
              <a:ea typeface="Roboto"/>
              <a:cs typeface="Roboto"/>
              <a:sym typeface="Roboto"/>
            </a:endParaRPr>
          </a:p>
        </p:txBody>
      </p:sp>
      <p:sp>
        <p:nvSpPr>
          <p:cNvPr id="203" name="Google Shape;203;p30"/>
          <p:cNvSpPr/>
          <p:nvPr/>
        </p:nvSpPr>
        <p:spPr>
          <a:xfrm>
            <a:off x="6999450" y="2156075"/>
            <a:ext cx="1854600" cy="51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Control Plane</a:t>
            </a:r>
            <a:endParaRPr>
              <a:latin typeface="Roboto"/>
              <a:ea typeface="Roboto"/>
              <a:cs typeface="Roboto"/>
              <a:sym typeface="Roboto"/>
            </a:endParaRPr>
          </a:p>
        </p:txBody>
      </p:sp>
      <p:sp>
        <p:nvSpPr>
          <p:cNvPr id="204" name="Google Shape;204;p30"/>
          <p:cNvSpPr/>
          <p:nvPr/>
        </p:nvSpPr>
        <p:spPr>
          <a:xfrm>
            <a:off x="6999450" y="1638475"/>
            <a:ext cx="1854600" cy="517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Management Plane</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Brief History of SDN</a:t>
            </a:r>
            <a:endParaRPr/>
          </a:p>
        </p:txBody>
      </p:sp>
      <p:sp>
        <p:nvSpPr>
          <p:cNvPr id="210" name="Google Shape;210;p31"/>
          <p:cNvSpPr txBox="1"/>
          <p:nvPr>
            <p:ph idx="1" type="body"/>
          </p:nvPr>
        </p:nvSpPr>
        <p:spPr>
          <a:xfrm>
            <a:off x="107050" y="402200"/>
            <a:ext cx="8909700" cy="2452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Researchers and network operators began to think about how to better control the network.</a:t>
            </a:r>
            <a:endParaRPr/>
          </a:p>
          <a:p>
            <a:pPr indent="0" lvl="0" marL="0" rtl="0" algn="l">
              <a:spcBef>
                <a:spcPts val="600"/>
              </a:spcBef>
              <a:spcAft>
                <a:spcPts val="0"/>
              </a:spcAft>
              <a:buNone/>
            </a:pPr>
            <a:r>
              <a:rPr lang="en"/>
              <a:t>This led to some radical thinking about how to redesign routers!</a:t>
            </a:r>
            <a:endParaRPr/>
          </a:p>
        </p:txBody>
      </p:sp>
      <p:graphicFrame>
        <p:nvGraphicFramePr>
          <p:cNvPr id="211" name="Google Shape;211;p31"/>
          <p:cNvGraphicFramePr/>
          <p:nvPr/>
        </p:nvGraphicFramePr>
        <p:xfrm>
          <a:off x="2024075" y="2174848"/>
          <a:ext cx="3000000" cy="3000000"/>
        </p:xfrm>
        <a:graphic>
          <a:graphicData uri="http://schemas.openxmlformats.org/drawingml/2006/table">
            <a:tbl>
              <a:tblPr>
                <a:noFill/>
                <a:tableStyleId>{9E0E94E9-8C37-454C-BF69-298D2E925918}</a:tableStyleId>
              </a:tblPr>
              <a:tblGrid>
                <a:gridCol w="3106475"/>
                <a:gridCol w="868350"/>
                <a:gridCol w="1121025"/>
              </a:tblGrid>
              <a:tr h="402650">
                <a:tc gridSpan="2">
                  <a:txBody>
                    <a:bodyPr/>
                    <a:lstStyle/>
                    <a:p>
                      <a:pPr indent="0" lvl="0" marL="0" rtl="0" algn="l">
                        <a:spcBef>
                          <a:spcPts val="0"/>
                        </a:spcBef>
                        <a:spcAft>
                          <a:spcPts val="0"/>
                        </a:spcAft>
                        <a:buNone/>
                      </a:pPr>
                      <a:r>
                        <a:rPr b="1" lang="en" sz="1600">
                          <a:solidFill>
                            <a:srgbClr val="595959"/>
                          </a:solidFill>
                          <a:latin typeface="Roboto"/>
                          <a:ea typeface="Roboto"/>
                          <a:cs typeface="Roboto"/>
                          <a:sym typeface="Roboto"/>
                        </a:rPr>
                        <a:t>A Clean Slate 4D Approach to Network Control and Management</a:t>
                      </a:r>
                      <a:endParaRPr b="1" sz="1600">
                        <a:solidFill>
                          <a:srgbClr val="595959"/>
                        </a:solidFill>
                        <a:latin typeface="Roboto"/>
                        <a:ea typeface="Roboto"/>
                        <a:cs typeface="Roboto"/>
                        <a:sym typeface="Roboto"/>
                      </a:endParaRPr>
                    </a:p>
                  </a:txBody>
                  <a:tcPr marT="91425" marB="0"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hMerge="1"/>
                <a:tc>
                  <a:txBody>
                    <a:bodyPr/>
                    <a:lstStyle/>
                    <a:p>
                      <a:pPr indent="0" lvl="0" marL="0" rtl="0" algn="r">
                        <a:spcBef>
                          <a:spcPts val="0"/>
                        </a:spcBef>
                        <a:spcAft>
                          <a:spcPts val="0"/>
                        </a:spcAft>
                        <a:buClr>
                          <a:srgbClr val="000000"/>
                        </a:buClr>
                        <a:buSzPts val="1100"/>
                        <a:buFont typeface="Arial"/>
                        <a:buNone/>
                      </a:pPr>
                      <a:r>
                        <a:rPr lang="en" u="sng">
                          <a:solidFill>
                            <a:schemeClr val="hlink"/>
                          </a:solidFill>
                          <a:latin typeface="Roboto"/>
                          <a:ea typeface="Roboto"/>
                          <a:cs typeface="Roboto"/>
                          <a:sym typeface="Roboto"/>
                          <a:hlinkClick r:id="rId3"/>
                        </a:rPr>
                        <a:t>Link</a:t>
                      </a:r>
                      <a:endParaRPr b="1" sz="1600">
                        <a:solidFill>
                          <a:srgbClr val="595959"/>
                        </a:solidFill>
                        <a:latin typeface="Roboto"/>
                        <a:ea typeface="Roboto"/>
                        <a:cs typeface="Roboto"/>
                        <a:sym typeface="Roboto"/>
                      </a:endParaRPr>
                    </a:p>
                  </a:txBody>
                  <a:tcPr marT="91425" marB="0"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r>
              <a:tr h="396225">
                <a:tc>
                  <a:txBody>
                    <a:bodyPr/>
                    <a:lstStyle/>
                    <a:p>
                      <a:pPr indent="0" lvl="0" marL="0" rtl="0" algn="l">
                        <a:spcBef>
                          <a:spcPts val="0"/>
                        </a:spcBef>
                        <a:spcAft>
                          <a:spcPts val="0"/>
                        </a:spcAft>
                        <a:buNone/>
                      </a:pPr>
                      <a:r>
                        <a:rPr i="1" lang="en">
                          <a:solidFill>
                            <a:srgbClr val="595959"/>
                          </a:solidFill>
                          <a:latin typeface="Roboto"/>
                          <a:ea typeface="Roboto"/>
                          <a:cs typeface="Roboto"/>
                          <a:sym typeface="Roboto"/>
                        </a:rPr>
                        <a:t>Albert Greenberg et. al.</a:t>
                      </a:r>
                      <a:endParaRPr i="1">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gridSpan="2">
                  <a:txBody>
                    <a:bodyPr/>
                    <a:lstStyle/>
                    <a:p>
                      <a:pPr indent="0" lvl="0" marL="0" rtl="0" algn="r">
                        <a:spcBef>
                          <a:spcPts val="0"/>
                        </a:spcBef>
                        <a:spcAft>
                          <a:spcPts val="0"/>
                        </a:spcAft>
                        <a:buNone/>
                      </a:pPr>
                      <a:r>
                        <a:rPr i="1" lang="en">
                          <a:solidFill>
                            <a:srgbClr val="595959"/>
                          </a:solidFill>
                          <a:latin typeface="Roboto"/>
                          <a:ea typeface="Roboto"/>
                          <a:cs typeface="Roboto"/>
                          <a:sym typeface="Roboto"/>
                        </a:rPr>
                        <a:t>2005</a:t>
                      </a:r>
                      <a:endParaRPr i="1">
                        <a:solidFill>
                          <a:srgbClr val="595959"/>
                        </a:solidFill>
                        <a:latin typeface="Roboto"/>
                        <a:ea typeface="Roboto"/>
                        <a:cs typeface="Roboto"/>
                        <a:sym typeface="Roboto"/>
                      </a:endParaRPr>
                    </a:p>
                  </a:txBody>
                  <a:tcPr marT="91425" marB="91425" marR="91425" marL="91425">
                    <a:lnL cap="flat" cmpd="sng" w="9525">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hMerge="1"/>
              </a:tr>
              <a:tr h="396225">
                <a:tc gridSpan="3">
                  <a:txBody>
                    <a:bodyPr/>
                    <a:lstStyle/>
                    <a:p>
                      <a:pPr indent="0" lvl="0" marL="0" rtl="0" algn="l">
                        <a:spcBef>
                          <a:spcPts val="0"/>
                        </a:spcBef>
                        <a:spcAft>
                          <a:spcPts val="0"/>
                        </a:spcAft>
                        <a:buNone/>
                      </a:pPr>
                      <a:r>
                        <a:rPr lang="en">
                          <a:solidFill>
                            <a:srgbClr val="595959"/>
                          </a:solidFill>
                          <a:latin typeface="Roboto"/>
                          <a:ea typeface="Roboto"/>
                          <a:cs typeface="Roboto"/>
                          <a:sym typeface="Roboto"/>
                        </a:rPr>
                        <a:t>Today's data networks are surprisingly fragile and difficult to manage. We argue that the root of these problems lies in the complexity of the control and management planes.</a:t>
                      </a:r>
                      <a:endParaRPr>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c hMerge="1"/>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Radical Idea: Disaggregating Routers</a:t>
            </a:r>
            <a:endParaRPr/>
          </a:p>
        </p:txBody>
      </p:sp>
      <p:sp>
        <p:nvSpPr>
          <p:cNvPr id="217" name="Google Shape;217;p32"/>
          <p:cNvSpPr txBox="1"/>
          <p:nvPr>
            <p:ph idx="1" type="body"/>
          </p:nvPr>
        </p:nvSpPr>
        <p:spPr>
          <a:xfrm>
            <a:off x="107050" y="402200"/>
            <a:ext cx="49299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Radical idea: Split the network planes apart.</a:t>
            </a:r>
            <a:endParaRPr/>
          </a:p>
          <a:p>
            <a:pPr indent="-342900" lvl="0" marL="457200" rtl="0" algn="l">
              <a:spcBef>
                <a:spcPts val="600"/>
              </a:spcBef>
              <a:spcAft>
                <a:spcPts val="0"/>
              </a:spcAft>
              <a:buSzPts val="1800"/>
              <a:buChar char="●"/>
            </a:pPr>
            <a:r>
              <a:rPr lang="en"/>
              <a:t>Each plane has an API that communicates to the plane below it.</a:t>
            </a:r>
            <a:endParaRPr/>
          </a:p>
          <a:p>
            <a:pPr indent="-342900" lvl="0" marL="457200" rtl="0" algn="l">
              <a:spcBef>
                <a:spcPts val="0"/>
              </a:spcBef>
              <a:spcAft>
                <a:spcPts val="0"/>
              </a:spcAft>
              <a:buSzPts val="1800"/>
              <a:buChar char="●"/>
            </a:pPr>
            <a:r>
              <a:rPr lang="en"/>
              <a:t>Allows for more customization and innovation at the control plane.</a:t>
            </a:r>
            <a:endParaRPr/>
          </a:p>
        </p:txBody>
      </p:sp>
      <p:sp>
        <p:nvSpPr>
          <p:cNvPr id="218" name="Google Shape;218;p32"/>
          <p:cNvSpPr/>
          <p:nvPr/>
        </p:nvSpPr>
        <p:spPr>
          <a:xfrm>
            <a:off x="6967100" y="3585199"/>
            <a:ext cx="1854600" cy="5175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 Plane</a:t>
            </a:r>
            <a:endParaRPr>
              <a:latin typeface="Roboto"/>
              <a:ea typeface="Roboto"/>
              <a:cs typeface="Roboto"/>
              <a:sym typeface="Roboto"/>
            </a:endParaRPr>
          </a:p>
        </p:txBody>
      </p:sp>
      <p:sp>
        <p:nvSpPr>
          <p:cNvPr id="219" name="Google Shape;219;p32"/>
          <p:cNvSpPr/>
          <p:nvPr/>
        </p:nvSpPr>
        <p:spPr>
          <a:xfrm>
            <a:off x="6967100" y="2458000"/>
            <a:ext cx="1854600" cy="51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Control Plane</a:t>
            </a:r>
            <a:endParaRPr>
              <a:latin typeface="Roboto"/>
              <a:ea typeface="Roboto"/>
              <a:cs typeface="Roboto"/>
              <a:sym typeface="Roboto"/>
            </a:endParaRPr>
          </a:p>
        </p:txBody>
      </p:sp>
      <p:sp>
        <p:nvSpPr>
          <p:cNvPr id="220" name="Google Shape;220;p32"/>
          <p:cNvSpPr/>
          <p:nvPr/>
        </p:nvSpPr>
        <p:spPr>
          <a:xfrm>
            <a:off x="6967100" y="1330800"/>
            <a:ext cx="1854600" cy="517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Management Plane</a:t>
            </a:r>
            <a:endParaRPr>
              <a:latin typeface="Roboto"/>
              <a:ea typeface="Roboto"/>
              <a:cs typeface="Roboto"/>
              <a:sym typeface="Roboto"/>
            </a:endParaRPr>
          </a:p>
        </p:txBody>
      </p:sp>
      <p:cxnSp>
        <p:nvCxnSpPr>
          <p:cNvPr id="221" name="Google Shape;221;p32"/>
          <p:cNvCxnSpPr>
            <a:stCxn id="220" idx="2"/>
            <a:endCxn id="219" idx="0"/>
          </p:cNvCxnSpPr>
          <p:nvPr/>
        </p:nvCxnSpPr>
        <p:spPr>
          <a:xfrm>
            <a:off x="7894400" y="1848300"/>
            <a:ext cx="0" cy="609600"/>
          </a:xfrm>
          <a:prstGeom prst="straightConnector1">
            <a:avLst/>
          </a:prstGeom>
          <a:noFill/>
          <a:ln cap="flat" cmpd="sng" w="9525">
            <a:solidFill>
              <a:schemeClr val="dk2"/>
            </a:solidFill>
            <a:prstDash val="solid"/>
            <a:round/>
            <a:headEnd len="med" w="med" type="triangle"/>
            <a:tailEnd len="med" w="med" type="triangle"/>
          </a:ln>
        </p:spPr>
      </p:cxnSp>
      <p:cxnSp>
        <p:nvCxnSpPr>
          <p:cNvPr id="222" name="Google Shape;222;p32"/>
          <p:cNvCxnSpPr>
            <a:stCxn id="219" idx="2"/>
            <a:endCxn id="218" idx="0"/>
          </p:cNvCxnSpPr>
          <p:nvPr/>
        </p:nvCxnSpPr>
        <p:spPr>
          <a:xfrm>
            <a:off x="7894400" y="2975500"/>
            <a:ext cx="0" cy="609600"/>
          </a:xfrm>
          <a:prstGeom prst="straightConnector1">
            <a:avLst/>
          </a:prstGeom>
          <a:noFill/>
          <a:ln cap="flat" cmpd="sng" w="9525">
            <a:solidFill>
              <a:schemeClr val="dk2"/>
            </a:solidFill>
            <a:prstDash val="solid"/>
            <a:round/>
            <a:headEnd len="med" w="med" type="triangle"/>
            <a:tailEnd len="med" w="med" type="triangle"/>
          </a:ln>
        </p:spPr>
      </p:cxnSp>
      <p:cxnSp>
        <p:nvCxnSpPr>
          <p:cNvPr id="223" name="Google Shape;223;p32"/>
          <p:cNvCxnSpPr/>
          <p:nvPr/>
        </p:nvCxnSpPr>
        <p:spPr>
          <a:xfrm>
            <a:off x="6471075" y="2153100"/>
            <a:ext cx="2544600" cy="0"/>
          </a:xfrm>
          <a:prstGeom prst="straightConnector1">
            <a:avLst/>
          </a:prstGeom>
          <a:noFill/>
          <a:ln cap="flat" cmpd="sng" w="9525">
            <a:solidFill>
              <a:schemeClr val="accent2"/>
            </a:solidFill>
            <a:prstDash val="dash"/>
            <a:round/>
            <a:headEnd len="med" w="med" type="none"/>
            <a:tailEnd len="med" w="med" type="none"/>
          </a:ln>
        </p:spPr>
      </p:cxnSp>
      <p:cxnSp>
        <p:nvCxnSpPr>
          <p:cNvPr id="224" name="Google Shape;224;p32"/>
          <p:cNvCxnSpPr/>
          <p:nvPr/>
        </p:nvCxnSpPr>
        <p:spPr>
          <a:xfrm>
            <a:off x="6471075" y="3280300"/>
            <a:ext cx="2544600" cy="0"/>
          </a:xfrm>
          <a:prstGeom prst="straightConnector1">
            <a:avLst/>
          </a:prstGeom>
          <a:noFill/>
          <a:ln cap="flat" cmpd="sng" w="9525">
            <a:solidFill>
              <a:schemeClr val="accent2"/>
            </a:solidFill>
            <a:prstDash val="dash"/>
            <a:round/>
            <a:headEnd len="med" w="med" type="none"/>
            <a:tailEnd len="med" w="med" type="none"/>
          </a:ln>
        </p:spPr>
      </p:cxnSp>
      <p:sp>
        <p:nvSpPr>
          <p:cNvPr id="225" name="Google Shape;225;p32"/>
          <p:cNvSpPr txBox="1"/>
          <p:nvPr/>
        </p:nvSpPr>
        <p:spPr>
          <a:xfrm>
            <a:off x="6471075" y="1937700"/>
            <a:ext cx="3177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API</a:t>
            </a:r>
            <a:endParaRPr>
              <a:solidFill>
                <a:schemeClr val="accent2"/>
              </a:solidFill>
              <a:latin typeface="Roboto"/>
              <a:ea typeface="Roboto"/>
              <a:cs typeface="Roboto"/>
              <a:sym typeface="Roboto"/>
            </a:endParaRPr>
          </a:p>
        </p:txBody>
      </p:sp>
      <p:sp>
        <p:nvSpPr>
          <p:cNvPr id="226" name="Google Shape;226;p32"/>
          <p:cNvSpPr txBox="1"/>
          <p:nvPr/>
        </p:nvSpPr>
        <p:spPr>
          <a:xfrm>
            <a:off x="6471075" y="3064900"/>
            <a:ext cx="3177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API</a:t>
            </a:r>
            <a:endParaRPr>
              <a:solidFill>
                <a:schemeClr val="accen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cxnSp>
        <p:nvCxnSpPr>
          <p:cNvPr id="231" name="Google Shape;231;p33"/>
          <p:cNvCxnSpPr>
            <a:endCxn id="232" idx="0"/>
          </p:cNvCxnSpPr>
          <p:nvPr/>
        </p:nvCxnSpPr>
        <p:spPr>
          <a:xfrm>
            <a:off x="3263900" y="2911900"/>
            <a:ext cx="0" cy="991500"/>
          </a:xfrm>
          <a:prstGeom prst="straightConnector1">
            <a:avLst/>
          </a:prstGeom>
          <a:noFill/>
          <a:ln cap="flat" cmpd="sng" w="9525">
            <a:solidFill>
              <a:schemeClr val="dk2"/>
            </a:solidFill>
            <a:prstDash val="solid"/>
            <a:round/>
            <a:headEnd len="med" w="med" type="none"/>
            <a:tailEnd len="med" w="med" type="triangle"/>
          </a:ln>
        </p:spPr>
      </p:cxnSp>
      <p:cxnSp>
        <p:nvCxnSpPr>
          <p:cNvPr id="233" name="Google Shape;233;p33"/>
          <p:cNvCxnSpPr>
            <a:endCxn id="234" idx="0"/>
          </p:cNvCxnSpPr>
          <p:nvPr/>
        </p:nvCxnSpPr>
        <p:spPr>
          <a:xfrm>
            <a:off x="2466338" y="2911900"/>
            <a:ext cx="0" cy="991500"/>
          </a:xfrm>
          <a:prstGeom prst="straightConnector1">
            <a:avLst/>
          </a:prstGeom>
          <a:noFill/>
          <a:ln cap="flat" cmpd="sng" w="9525">
            <a:solidFill>
              <a:schemeClr val="dk2"/>
            </a:solidFill>
            <a:prstDash val="solid"/>
            <a:round/>
            <a:headEnd len="med" w="med" type="none"/>
            <a:tailEnd len="med" w="med" type="triangle"/>
          </a:ln>
        </p:spPr>
      </p:cxnSp>
      <p:cxnSp>
        <p:nvCxnSpPr>
          <p:cNvPr id="235" name="Google Shape;235;p33"/>
          <p:cNvCxnSpPr>
            <a:endCxn id="236" idx="0"/>
          </p:cNvCxnSpPr>
          <p:nvPr/>
        </p:nvCxnSpPr>
        <p:spPr>
          <a:xfrm>
            <a:off x="1750748" y="2924744"/>
            <a:ext cx="0" cy="1272300"/>
          </a:xfrm>
          <a:prstGeom prst="straightConnector1">
            <a:avLst/>
          </a:prstGeom>
          <a:noFill/>
          <a:ln cap="flat" cmpd="sng" w="9525">
            <a:solidFill>
              <a:schemeClr val="dk2"/>
            </a:solidFill>
            <a:prstDash val="solid"/>
            <a:round/>
            <a:headEnd len="med" w="med" type="none"/>
            <a:tailEnd len="med" w="med" type="triangle"/>
          </a:ln>
        </p:spPr>
      </p:cxnSp>
      <p:cxnSp>
        <p:nvCxnSpPr>
          <p:cNvPr id="237" name="Google Shape;237;p33"/>
          <p:cNvCxnSpPr>
            <a:endCxn id="238" idx="0"/>
          </p:cNvCxnSpPr>
          <p:nvPr/>
        </p:nvCxnSpPr>
        <p:spPr>
          <a:xfrm>
            <a:off x="1317650" y="2926600"/>
            <a:ext cx="0" cy="583200"/>
          </a:xfrm>
          <a:prstGeom prst="straightConnector1">
            <a:avLst/>
          </a:prstGeom>
          <a:noFill/>
          <a:ln cap="flat" cmpd="sng" w="9525">
            <a:solidFill>
              <a:schemeClr val="dk2"/>
            </a:solidFill>
            <a:prstDash val="solid"/>
            <a:round/>
            <a:headEnd len="med" w="med" type="none"/>
            <a:tailEnd len="med" w="med" type="triangle"/>
          </a:ln>
        </p:spPr>
      </p:cxnSp>
      <p:cxnSp>
        <p:nvCxnSpPr>
          <p:cNvPr id="239" name="Google Shape;239;p33"/>
          <p:cNvCxnSpPr>
            <a:endCxn id="240" idx="0"/>
          </p:cNvCxnSpPr>
          <p:nvPr/>
        </p:nvCxnSpPr>
        <p:spPr>
          <a:xfrm>
            <a:off x="683300" y="2902900"/>
            <a:ext cx="0" cy="1103700"/>
          </a:xfrm>
          <a:prstGeom prst="straightConnector1">
            <a:avLst/>
          </a:prstGeom>
          <a:noFill/>
          <a:ln cap="flat" cmpd="sng" w="9525">
            <a:solidFill>
              <a:schemeClr val="dk2"/>
            </a:solidFill>
            <a:prstDash val="solid"/>
            <a:round/>
            <a:headEnd len="med" w="med" type="none"/>
            <a:tailEnd len="med" w="med" type="triangle"/>
          </a:ln>
        </p:spPr>
      </p:cxnSp>
      <p:sp>
        <p:nvSpPr>
          <p:cNvPr id="241" name="Google Shape;241;p3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Radical Idea: A New View</a:t>
            </a:r>
            <a:endParaRPr/>
          </a:p>
        </p:txBody>
      </p:sp>
      <p:sp>
        <p:nvSpPr>
          <p:cNvPr id="242" name="Google Shape;242;p33"/>
          <p:cNvSpPr txBox="1"/>
          <p:nvPr>
            <p:ph idx="1" type="body"/>
          </p:nvPr>
        </p:nvSpPr>
        <p:spPr>
          <a:xfrm>
            <a:off x="107050" y="402200"/>
            <a:ext cx="8909700" cy="60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Radical idea: A totally new system architecture that splits up the three planes.</a:t>
            </a:r>
            <a:endParaRPr/>
          </a:p>
        </p:txBody>
      </p:sp>
      <p:sp>
        <p:nvSpPr>
          <p:cNvPr id="243" name="Google Shape;243;p33"/>
          <p:cNvSpPr/>
          <p:nvPr/>
        </p:nvSpPr>
        <p:spPr>
          <a:xfrm>
            <a:off x="486500" y="1302775"/>
            <a:ext cx="2974200" cy="51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Control Program</a:t>
            </a:r>
            <a:endParaRPr>
              <a:latin typeface="Roboto"/>
              <a:ea typeface="Roboto"/>
              <a:cs typeface="Roboto"/>
              <a:sym typeface="Roboto"/>
            </a:endParaRPr>
          </a:p>
        </p:txBody>
      </p:sp>
      <p:sp>
        <p:nvSpPr>
          <p:cNvPr id="244" name="Google Shape;244;p33"/>
          <p:cNvSpPr/>
          <p:nvPr/>
        </p:nvSpPr>
        <p:spPr>
          <a:xfrm>
            <a:off x="486500" y="2422650"/>
            <a:ext cx="2974200" cy="5175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Network OS</a:t>
            </a:r>
            <a:endParaRPr>
              <a:latin typeface="Roboto"/>
              <a:ea typeface="Roboto"/>
              <a:cs typeface="Roboto"/>
              <a:sym typeface="Roboto"/>
            </a:endParaRPr>
          </a:p>
        </p:txBody>
      </p:sp>
      <p:sp>
        <p:nvSpPr>
          <p:cNvPr id="240" name="Google Shape;240;p33"/>
          <p:cNvSpPr/>
          <p:nvPr/>
        </p:nvSpPr>
        <p:spPr>
          <a:xfrm>
            <a:off x="486500" y="4006600"/>
            <a:ext cx="3936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 name="Google Shape;238;p33"/>
          <p:cNvSpPr/>
          <p:nvPr/>
        </p:nvSpPr>
        <p:spPr>
          <a:xfrm>
            <a:off x="1120850" y="3509800"/>
            <a:ext cx="3936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6" name="Google Shape;236;p33"/>
          <p:cNvSpPr/>
          <p:nvPr/>
        </p:nvSpPr>
        <p:spPr>
          <a:xfrm>
            <a:off x="1553948" y="4197044"/>
            <a:ext cx="3936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4" name="Google Shape;234;p33"/>
          <p:cNvSpPr/>
          <p:nvPr/>
        </p:nvSpPr>
        <p:spPr>
          <a:xfrm>
            <a:off x="2269538" y="3903400"/>
            <a:ext cx="3936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2" name="Google Shape;232;p33"/>
          <p:cNvSpPr/>
          <p:nvPr/>
        </p:nvSpPr>
        <p:spPr>
          <a:xfrm>
            <a:off x="3067100" y="3903400"/>
            <a:ext cx="3936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5" name="Google Shape;245;p33"/>
          <p:cNvCxnSpPr>
            <a:stCxn id="240" idx="3"/>
            <a:endCxn id="238" idx="1"/>
          </p:cNvCxnSpPr>
          <p:nvPr/>
        </p:nvCxnSpPr>
        <p:spPr>
          <a:xfrm flipH="1" rot="10800000">
            <a:off x="880100" y="3706600"/>
            <a:ext cx="240900" cy="496800"/>
          </a:xfrm>
          <a:prstGeom prst="straightConnector1">
            <a:avLst/>
          </a:prstGeom>
          <a:noFill/>
          <a:ln cap="flat" cmpd="sng" w="9525">
            <a:solidFill>
              <a:schemeClr val="dk2"/>
            </a:solidFill>
            <a:prstDash val="solid"/>
            <a:round/>
            <a:headEnd len="med" w="med" type="none"/>
            <a:tailEnd len="med" w="med" type="none"/>
          </a:ln>
        </p:spPr>
      </p:cxnSp>
      <p:cxnSp>
        <p:nvCxnSpPr>
          <p:cNvPr id="246" name="Google Shape;246;p33"/>
          <p:cNvCxnSpPr>
            <a:stCxn id="240" idx="3"/>
            <a:endCxn id="236" idx="1"/>
          </p:cNvCxnSpPr>
          <p:nvPr/>
        </p:nvCxnSpPr>
        <p:spPr>
          <a:xfrm>
            <a:off x="880100" y="4203400"/>
            <a:ext cx="673800" cy="1905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33"/>
          <p:cNvCxnSpPr>
            <a:stCxn id="238" idx="3"/>
            <a:endCxn id="234" idx="1"/>
          </p:cNvCxnSpPr>
          <p:nvPr/>
        </p:nvCxnSpPr>
        <p:spPr>
          <a:xfrm>
            <a:off x="1514450" y="3706600"/>
            <a:ext cx="755100" cy="3936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33"/>
          <p:cNvCxnSpPr>
            <a:stCxn id="236" idx="3"/>
            <a:endCxn id="234" idx="1"/>
          </p:cNvCxnSpPr>
          <p:nvPr/>
        </p:nvCxnSpPr>
        <p:spPr>
          <a:xfrm flipH="1" rot="10800000">
            <a:off x="1947548" y="4100144"/>
            <a:ext cx="321900" cy="2937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33"/>
          <p:cNvCxnSpPr>
            <a:stCxn id="234" idx="3"/>
            <a:endCxn id="232" idx="1"/>
          </p:cNvCxnSpPr>
          <p:nvPr/>
        </p:nvCxnSpPr>
        <p:spPr>
          <a:xfrm>
            <a:off x="2663138" y="4100200"/>
            <a:ext cx="404100" cy="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33"/>
          <p:cNvCxnSpPr>
            <a:stCxn id="243" idx="2"/>
            <a:endCxn id="244" idx="0"/>
          </p:cNvCxnSpPr>
          <p:nvPr/>
        </p:nvCxnSpPr>
        <p:spPr>
          <a:xfrm>
            <a:off x="1973600" y="1820275"/>
            <a:ext cx="0" cy="602400"/>
          </a:xfrm>
          <a:prstGeom prst="straightConnector1">
            <a:avLst/>
          </a:prstGeom>
          <a:noFill/>
          <a:ln cap="flat" cmpd="sng" w="9525">
            <a:solidFill>
              <a:schemeClr val="dk2"/>
            </a:solidFill>
            <a:prstDash val="solid"/>
            <a:round/>
            <a:headEnd len="med" w="med" type="none"/>
            <a:tailEnd len="med" w="med" type="triangle"/>
          </a:ln>
        </p:spPr>
      </p:cxnSp>
      <p:sp>
        <p:nvSpPr>
          <p:cNvPr id="251" name="Google Shape;251;p33"/>
          <p:cNvSpPr txBox="1"/>
          <p:nvPr/>
        </p:nvSpPr>
        <p:spPr>
          <a:xfrm>
            <a:off x="3699825" y="1146475"/>
            <a:ext cx="4248600" cy="830100"/>
          </a:xfrm>
          <a:prstGeom prst="rect">
            <a:avLst/>
          </a:prstGeom>
          <a:noFill/>
          <a:ln>
            <a:noFill/>
          </a:ln>
        </p:spPr>
        <p:txBody>
          <a:bodyPr anchorCtr="0" anchor="t" bIns="27425" lIns="27425" spcFirstLastPara="1" rIns="27425" wrap="square" tIns="27425">
            <a:spAutoFit/>
          </a:bodyPr>
          <a:lstStyle/>
          <a:p>
            <a:pPr indent="0" lvl="0" marL="0" rtl="0" algn="l">
              <a:spcBef>
                <a:spcPts val="1000"/>
              </a:spcBef>
              <a:spcAft>
                <a:spcPts val="0"/>
              </a:spcAft>
              <a:buNone/>
            </a:pPr>
            <a:r>
              <a:rPr lang="en">
                <a:solidFill>
                  <a:schemeClr val="dk1"/>
                </a:solidFill>
                <a:latin typeface="Roboto"/>
                <a:ea typeface="Roboto"/>
                <a:cs typeface="Roboto"/>
                <a:sym typeface="Roboto"/>
              </a:rPr>
              <a:t>Operator receives a network abstraction (e.g. graph) from the OS, and computes routing decisions.</a:t>
            </a:r>
            <a:endParaRPr>
              <a:solidFill>
                <a:schemeClr val="dk1"/>
              </a:solidFill>
              <a:latin typeface="Roboto"/>
              <a:ea typeface="Roboto"/>
              <a:cs typeface="Roboto"/>
              <a:sym typeface="Roboto"/>
            </a:endParaRPr>
          </a:p>
          <a:p>
            <a:pPr indent="0" lvl="0" marL="0" rtl="0" algn="l">
              <a:spcBef>
                <a:spcPts val="1000"/>
              </a:spcBef>
              <a:spcAft>
                <a:spcPts val="0"/>
              </a:spcAft>
              <a:buNone/>
            </a:pPr>
            <a:r>
              <a:rPr lang="en">
                <a:solidFill>
                  <a:schemeClr val="dk1"/>
                </a:solidFill>
                <a:latin typeface="Roboto"/>
                <a:ea typeface="Roboto"/>
                <a:cs typeface="Roboto"/>
                <a:sym typeface="Roboto"/>
              </a:rPr>
              <a:t>Allows the operator to use their own routing protocol.</a:t>
            </a:r>
            <a:endParaRPr>
              <a:solidFill>
                <a:schemeClr val="dk1"/>
              </a:solidFill>
              <a:latin typeface="Roboto"/>
              <a:ea typeface="Roboto"/>
              <a:cs typeface="Roboto"/>
              <a:sym typeface="Roboto"/>
            </a:endParaRPr>
          </a:p>
        </p:txBody>
      </p:sp>
      <p:sp>
        <p:nvSpPr>
          <p:cNvPr id="252" name="Google Shape;252;p33"/>
          <p:cNvSpPr txBox="1"/>
          <p:nvPr/>
        </p:nvSpPr>
        <p:spPr>
          <a:xfrm>
            <a:off x="3699825" y="2374050"/>
            <a:ext cx="5230800" cy="614700"/>
          </a:xfrm>
          <a:prstGeom prst="rect">
            <a:avLst/>
          </a:prstGeom>
          <a:noFill/>
          <a:ln>
            <a:noFill/>
          </a:ln>
        </p:spPr>
        <p:txBody>
          <a:bodyPr anchorCtr="0" anchor="t" bIns="27425" lIns="27425" spcFirstLastPara="1" rIns="27425" wrap="square" tIns="27425">
            <a:spAutoFit/>
          </a:bodyPr>
          <a:lstStyle/>
          <a:p>
            <a:pPr indent="0" lvl="0" marL="0" rtl="0" algn="l">
              <a:spcBef>
                <a:spcPts val="1000"/>
              </a:spcBef>
              <a:spcAft>
                <a:spcPts val="0"/>
              </a:spcAft>
              <a:buNone/>
            </a:pPr>
            <a:r>
              <a:rPr lang="en">
                <a:solidFill>
                  <a:schemeClr val="dk1"/>
                </a:solidFill>
                <a:latin typeface="Roboto"/>
                <a:ea typeface="Roboto"/>
                <a:cs typeface="Roboto"/>
                <a:sym typeface="Roboto"/>
              </a:rPr>
              <a:t>Provides a network abstraction (e.g. graph) to the operator.</a:t>
            </a:r>
            <a:endParaRPr>
              <a:solidFill>
                <a:schemeClr val="dk1"/>
              </a:solidFill>
              <a:latin typeface="Roboto"/>
              <a:ea typeface="Roboto"/>
              <a:cs typeface="Roboto"/>
              <a:sym typeface="Roboto"/>
            </a:endParaRPr>
          </a:p>
          <a:p>
            <a:pPr indent="0" lvl="0" marL="0" rtl="0" algn="l">
              <a:spcBef>
                <a:spcPts val="1000"/>
              </a:spcBef>
              <a:spcAft>
                <a:spcPts val="0"/>
              </a:spcAft>
              <a:buNone/>
            </a:pPr>
            <a:r>
              <a:rPr lang="en">
                <a:solidFill>
                  <a:schemeClr val="dk1"/>
                </a:solidFill>
                <a:latin typeface="Roboto"/>
                <a:ea typeface="Roboto"/>
                <a:cs typeface="Roboto"/>
                <a:sym typeface="Roboto"/>
              </a:rPr>
              <a:t>Takes the operator's decisions and uses them to program routers.</a:t>
            </a:r>
            <a:endParaRPr>
              <a:solidFill>
                <a:schemeClr val="dk1"/>
              </a:solidFill>
              <a:latin typeface="Roboto"/>
              <a:ea typeface="Roboto"/>
              <a:cs typeface="Roboto"/>
              <a:sym typeface="Roboto"/>
            </a:endParaRPr>
          </a:p>
        </p:txBody>
      </p:sp>
      <p:sp>
        <p:nvSpPr>
          <p:cNvPr id="253" name="Google Shape;253;p33"/>
          <p:cNvSpPr txBox="1"/>
          <p:nvPr/>
        </p:nvSpPr>
        <p:spPr>
          <a:xfrm>
            <a:off x="3699825" y="3685150"/>
            <a:ext cx="4949400" cy="614700"/>
          </a:xfrm>
          <a:prstGeom prst="rect">
            <a:avLst/>
          </a:prstGeom>
          <a:noFill/>
          <a:ln>
            <a:noFill/>
          </a:ln>
        </p:spPr>
        <p:txBody>
          <a:bodyPr anchorCtr="0" anchor="t" bIns="27425" lIns="27425" spcFirstLastPara="1" rIns="27425" wrap="square" tIns="27425">
            <a:spAutoFit/>
          </a:bodyPr>
          <a:lstStyle/>
          <a:p>
            <a:pPr indent="0" lvl="0" marL="0" rtl="0" algn="l">
              <a:spcBef>
                <a:spcPts val="1000"/>
              </a:spcBef>
              <a:spcAft>
                <a:spcPts val="0"/>
              </a:spcAft>
              <a:buNone/>
            </a:pPr>
            <a:r>
              <a:rPr lang="en">
                <a:solidFill>
                  <a:schemeClr val="dk1"/>
                </a:solidFill>
                <a:latin typeface="Roboto"/>
                <a:ea typeface="Roboto"/>
                <a:cs typeface="Roboto"/>
                <a:sym typeface="Roboto"/>
              </a:rPr>
              <a:t>Commodity routers that forward based on operator decisions.</a:t>
            </a:r>
            <a:endParaRPr>
              <a:solidFill>
                <a:schemeClr val="dk1"/>
              </a:solidFill>
              <a:latin typeface="Roboto"/>
              <a:ea typeface="Roboto"/>
              <a:cs typeface="Roboto"/>
              <a:sym typeface="Roboto"/>
            </a:endParaRPr>
          </a:p>
          <a:p>
            <a:pPr indent="0" lvl="0" marL="0" rtl="0" algn="l">
              <a:spcBef>
                <a:spcPts val="1000"/>
              </a:spcBef>
              <a:spcAft>
                <a:spcPts val="0"/>
              </a:spcAft>
              <a:buNone/>
            </a:pPr>
            <a:r>
              <a:rPr lang="en">
                <a:solidFill>
                  <a:schemeClr val="dk1"/>
                </a:solidFill>
                <a:latin typeface="Roboto"/>
                <a:ea typeface="Roboto"/>
                <a:cs typeface="Roboto"/>
                <a:sym typeface="Roboto"/>
              </a:rPr>
              <a:t>Can be cheap – they don't need to compute routing protocols.</a:t>
            </a:r>
            <a:endParaRPr>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Brief History of SDN</a:t>
            </a:r>
            <a:endParaRPr/>
          </a:p>
        </p:txBody>
      </p:sp>
      <p:sp>
        <p:nvSpPr>
          <p:cNvPr id="259" name="Google Shape;259;p34"/>
          <p:cNvSpPr txBox="1"/>
          <p:nvPr>
            <p:ph idx="1" type="body"/>
          </p:nvPr>
        </p:nvSpPr>
        <p:spPr>
          <a:xfrm>
            <a:off x="107050" y="402200"/>
            <a:ext cx="8718900" cy="3755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Separating the control and data planes isn't a new idea.</a:t>
            </a:r>
            <a:endParaRPr/>
          </a:p>
          <a:p>
            <a:pPr indent="-342900" lvl="0" marL="457200" rtl="0" algn="l">
              <a:spcBef>
                <a:spcPts val="600"/>
              </a:spcBef>
              <a:spcAft>
                <a:spcPts val="0"/>
              </a:spcAft>
              <a:buSzPts val="1800"/>
              <a:buChar char="●"/>
            </a:pPr>
            <a:r>
              <a:rPr lang="en"/>
              <a:t>2003: IETF created a working group to study this concept.</a:t>
            </a:r>
            <a:endParaRPr/>
          </a:p>
          <a:p>
            <a:pPr indent="-342900" lvl="1" marL="914400" rtl="0" algn="l">
              <a:spcBef>
                <a:spcPts val="0"/>
              </a:spcBef>
              <a:spcAft>
                <a:spcPts val="0"/>
              </a:spcAft>
              <a:buSzPts val="1800"/>
              <a:buChar char="○"/>
            </a:pPr>
            <a:r>
              <a:rPr lang="en"/>
              <a:t>Forwarding and Control Element Separation (ForCES).</a:t>
            </a:r>
            <a:endParaRPr/>
          </a:p>
          <a:p>
            <a:pPr indent="-342900" lvl="1" marL="914400" rtl="0" algn="l">
              <a:spcBef>
                <a:spcPts val="0"/>
              </a:spcBef>
              <a:spcAft>
                <a:spcPts val="0"/>
              </a:spcAft>
              <a:buSzPts val="1800"/>
              <a:buChar char="○"/>
            </a:pPr>
            <a:r>
              <a:rPr lang="en"/>
              <a:t>Didn't get significant momentum.</a:t>
            </a:r>
            <a:endParaRPr/>
          </a:p>
          <a:p>
            <a:pPr indent="-342900" lvl="0" marL="457200" rtl="0" algn="l">
              <a:spcBef>
                <a:spcPts val="0"/>
              </a:spcBef>
              <a:spcAft>
                <a:spcPts val="0"/>
              </a:spcAft>
              <a:buSzPts val="1800"/>
              <a:buChar char="●"/>
            </a:pPr>
            <a:r>
              <a:rPr lang="en"/>
              <a:t>2004: New management paradigms being researched.</a:t>
            </a:r>
            <a:endParaRPr/>
          </a:p>
          <a:p>
            <a:pPr indent="-342900" lvl="1" marL="914400" rtl="0" algn="l">
              <a:spcBef>
                <a:spcPts val="0"/>
              </a:spcBef>
              <a:spcAft>
                <a:spcPts val="0"/>
              </a:spcAft>
              <a:buSzPts val="1800"/>
              <a:buChar char="○"/>
            </a:pPr>
            <a:r>
              <a:rPr lang="en"/>
              <a:t>RCP, 4D at Princeton, CMU. SANE, Ethane at Stanford, UC Berkeley.</a:t>
            </a:r>
            <a:endParaRPr/>
          </a:p>
          <a:p>
            <a:pPr indent="-342900" lvl="0" marL="457200" rtl="0" algn="l">
              <a:spcBef>
                <a:spcPts val="0"/>
              </a:spcBef>
              <a:spcAft>
                <a:spcPts val="0"/>
              </a:spcAft>
              <a:buSzPts val="1800"/>
              <a:buChar char="●"/>
            </a:pPr>
            <a:r>
              <a:rPr lang="en"/>
              <a:t>2008: More momentum. OpenFlow interface at Stanford, Nicira.</a:t>
            </a:r>
            <a:endParaRPr/>
          </a:p>
          <a:p>
            <a:pPr indent="-342900" lvl="0" marL="457200" rtl="0" algn="l">
              <a:spcBef>
                <a:spcPts val="0"/>
              </a:spcBef>
              <a:spcAft>
                <a:spcPts val="0"/>
              </a:spcAft>
              <a:buSzPts val="1800"/>
              <a:buChar char="●"/>
            </a:pPr>
            <a:r>
              <a:rPr lang="en"/>
              <a:t>2011: Industry acceptance. Open Networking Foundation (ONF) created with tech companies (Google, Microsoft) and vendors (Cisco, Juniper, HP, Dell).</a:t>
            </a:r>
            <a:endParaRPr/>
          </a:p>
        </p:txBody>
      </p:sp>
      <p:graphicFrame>
        <p:nvGraphicFramePr>
          <p:cNvPr id="260" name="Google Shape;260;p34"/>
          <p:cNvGraphicFramePr/>
          <p:nvPr/>
        </p:nvGraphicFramePr>
        <p:xfrm>
          <a:off x="318150" y="3673872"/>
          <a:ext cx="3000000" cy="3000000"/>
        </p:xfrm>
        <a:graphic>
          <a:graphicData uri="http://schemas.openxmlformats.org/drawingml/2006/table">
            <a:tbl>
              <a:tblPr>
                <a:noFill/>
                <a:tableStyleId>{9E0E94E9-8C37-454C-BF69-298D2E925918}</a:tableStyleId>
              </a:tblPr>
              <a:tblGrid>
                <a:gridCol w="5186350"/>
                <a:gridCol w="1449750"/>
                <a:gridCol w="1871600"/>
              </a:tblGrid>
              <a:tr h="22725">
                <a:tc gridSpan="2">
                  <a:txBody>
                    <a:bodyPr/>
                    <a:lstStyle/>
                    <a:p>
                      <a:pPr indent="0" lvl="0" marL="0" rtl="0" algn="l">
                        <a:spcBef>
                          <a:spcPts val="0"/>
                        </a:spcBef>
                        <a:spcAft>
                          <a:spcPts val="0"/>
                        </a:spcAft>
                        <a:buNone/>
                      </a:pPr>
                      <a:r>
                        <a:rPr b="1" lang="en" sz="1600">
                          <a:solidFill>
                            <a:srgbClr val="595959"/>
                          </a:solidFill>
                          <a:latin typeface="Roboto"/>
                          <a:ea typeface="Roboto"/>
                          <a:cs typeface="Roboto"/>
                          <a:sym typeface="Roboto"/>
                        </a:rPr>
                        <a:t>Nicira OpenFlow: Networking's Next Big Thing?</a:t>
                      </a:r>
                      <a:endParaRPr b="1" sz="1600">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hMerge="1"/>
                <a:tc>
                  <a:txBody>
                    <a:bodyPr/>
                    <a:lstStyle/>
                    <a:p>
                      <a:pPr indent="0" lvl="0" marL="0" rtl="0" algn="r">
                        <a:spcBef>
                          <a:spcPts val="0"/>
                        </a:spcBef>
                        <a:spcAft>
                          <a:spcPts val="0"/>
                        </a:spcAft>
                        <a:buClr>
                          <a:srgbClr val="000000"/>
                        </a:buClr>
                        <a:buSzPts val="1100"/>
                        <a:buFont typeface="Arial"/>
                        <a:buNone/>
                      </a:pPr>
                      <a:r>
                        <a:rPr lang="en" u="sng">
                          <a:solidFill>
                            <a:schemeClr val="hlink"/>
                          </a:solidFill>
                          <a:latin typeface="Roboto"/>
                          <a:ea typeface="Roboto"/>
                          <a:cs typeface="Roboto"/>
                          <a:sym typeface="Roboto"/>
                          <a:hlinkClick r:id="rId3"/>
                        </a:rPr>
                        <a:t>Link</a:t>
                      </a:r>
                      <a:endParaRPr b="1" sz="1600">
                        <a:solidFill>
                          <a:srgbClr val="595959"/>
                        </a:solidFill>
                        <a:latin typeface="Roboto"/>
                        <a:ea typeface="Roboto"/>
                        <a:cs typeface="Roboto"/>
                        <a:sym typeface="Roboto"/>
                      </a:endParaRPr>
                    </a:p>
                  </a:txBody>
                  <a:tcPr marT="91425" marB="0"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r>
              <a:tr h="22375">
                <a:tc>
                  <a:txBody>
                    <a:bodyPr/>
                    <a:lstStyle/>
                    <a:p>
                      <a:pPr indent="0" lvl="0" marL="0" rtl="0" algn="l">
                        <a:spcBef>
                          <a:spcPts val="0"/>
                        </a:spcBef>
                        <a:spcAft>
                          <a:spcPts val="0"/>
                        </a:spcAft>
                        <a:buNone/>
                      </a:pPr>
                      <a:r>
                        <a:rPr i="1" lang="en">
                          <a:solidFill>
                            <a:srgbClr val="595959"/>
                          </a:solidFill>
                          <a:latin typeface="Roboto"/>
                          <a:ea typeface="Roboto"/>
                          <a:cs typeface="Roboto"/>
                          <a:sym typeface="Roboto"/>
                        </a:rPr>
                        <a:t>Charles Babcock</a:t>
                      </a:r>
                      <a:endParaRPr i="1">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gridSpan="2">
                  <a:txBody>
                    <a:bodyPr/>
                    <a:lstStyle/>
                    <a:p>
                      <a:pPr indent="0" lvl="0" marL="0" rtl="0" algn="r">
                        <a:spcBef>
                          <a:spcPts val="0"/>
                        </a:spcBef>
                        <a:spcAft>
                          <a:spcPts val="0"/>
                        </a:spcAft>
                        <a:buNone/>
                      </a:pPr>
                      <a:r>
                        <a:rPr i="1" lang="en">
                          <a:solidFill>
                            <a:srgbClr val="595959"/>
                          </a:solidFill>
                          <a:latin typeface="Roboto"/>
                          <a:ea typeface="Roboto"/>
                          <a:cs typeface="Roboto"/>
                          <a:sym typeface="Roboto"/>
                        </a:rPr>
                        <a:t>February 4, 2012</a:t>
                      </a:r>
                      <a:endParaRPr i="1">
                        <a:solidFill>
                          <a:srgbClr val="595959"/>
                        </a:solidFill>
                        <a:latin typeface="Roboto"/>
                        <a:ea typeface="Roboto"/>
                        <a:cs typeface="Roboto"/>
                        <a:sym typeface="Roboto"/>
                      </a:endParaRPr>
                    </a:p>
                  </a:txBody>
                  <a:tcPr marT="91425" marB="91425" marR="91425" marL="91425">
                    <a:lnL cap="flat" cmpd="sng" w="9525">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hMerge="1"/>
              </a:tr>
              <a:tr h="22375">
                <a:tc gridSpan="3">
                  <a:txBody>
                    <a:bodyPr/>
                    <a:lstStyle/>
                    <a:p>
                      <a:pPr indent="0" lvl="0" marL="0" rtl="0" algn="l">
                        <a:spcBef>
                          <a:spcPts val="0"/>
                        </a:spcBef>
                        <a:spcAft>
                          <a:spcPts val="0"/>
                        </a:spcAft>
                        <a:buNone/>
                      </a:pPr>
                      <a:r>
                        <a:rPr lang="en">
                          <a:solidFill>
                            <a:srgbClr val="595959"/>
                          </a:solidFill>
                          <a:latin typeface="Roboto"/>
                          <a:ea typeface="Roboto"/>
                          <a:cs typeface="Roboto"/>
                          <a:sym typeface="Roboto"/>
                        </a:rPr>
                        <a:t>$40-million startup emerges with OpenFlow platform for virtualizing the network as effectively as servers.</a:t>
                      </a:r>
                      <a:endParaRPr>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c hMerge="1"/>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Implementation: OpenFlow API</a:t>
            </a:r>
            <a:endParaRPr/>
          </a:p>
        </p:txBody>
      </p:sp>
      <p:sp>
        <p:nvSpPr>
          <p:cNvPr id="266" name="Google Shape;266;p3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21</a:t>
            </a:r>
            <a:r>
              <a:rPr lang="en"/>
              <a:t>, CS 168, </a:t>
            </a:r>
            <a:r>
              <a:rPr lang="en"/>
              <a:t>Summer 2025</a:t>
            </a:r>
            <a:endParaRPr/>
          </a:p>
        </p:txBody>
      </p:sp>
      <p:sp>
        <p:nvSpPr>
          <p:cNvPr id="267" name="Google Shape;267;p35"/>
          <p:cNvSpPr txBox="1"/>
          <p:nvPr>
            <p:ph idx="1" type="body"/>
          </p:nvPr>
        </p:nvSpPr>
        <p:spPr>
          <a:xfrm>
            <a:off x="4812375" y="368550"/>
            <a:ext cx="4038000" cy="44064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Software-Defined Networking</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 Brief History</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Implementation (OpenFlow API)</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Benefits (Traffic Engineering)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SDN in Datacenters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Other Applications of SDN</a:t>
            </a:r>
            <a:endParaRPr>
              <a:solidFill>
                <a:srgbClr val="B7B7B7"/>
              </a:solidFill>
            </a:endParaRPr>
          </a:p>
          <a:p>
            <a:pPr indent="0" lvl="0" marL="0" rtl="0" algn="l">
              <a:spcBef>
                <a:spcPts val="600"/>
              </a:spcBef>
              <a:spcAft>
                <a:spcPts val="0"/>
              </a:spcAft>
              <a:buNone/>
            </a:pPr>
            <a:r>
              <a:rPr lang="en">
                <a:solidFill>
                  <a:srgbClr val="B7B7B7"/>
                </a:solidFill>
              </a:rPr>
              <a:t>Optimizations at the Host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What is Host Networking?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Shared Memory in User Space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Brief History of 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RDMA Example</a:t>
            </a:r>
            <a:endParaRPr>
              <a:solidFill>
                <a:srgbClr val="B7B7B7"/>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OpenFlow API</a:t>
            </a:r>
            <a:endParaRPr/>
          </a:p>
        </p:txBody>
      </p:sp>
      <p:sp>
        <p:nvSpPr>
          <p:cNvPr id="273" name="Google Shape;273;p36"/>
          <p:cNvSpPr txBox="1"/>
          <p:nvPr>
            <p:ph idx="1" type="body"/>
          </p:nvPr>
        </p:nvSpPr>
        <p:spPr>
          <a:xfrm>
            <a:off x="107050" y="402200"/>
            <a:ext cx="60189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 separate the control and data plane, we need an API.</a:t>
            </a:r>
            <a:endParaRPr/>
          </a:p>
          <a:p>
            <a:pPr indent="-342900" lvl="0" marL="457200" rtl="0" algn="l">
              <a:spcBef>
                <a:spcPts val="600"/>
              </a:spcBef>
              <a:spcAft>
                <a:spcPts val="0"/>
              </a:spcAft>
              <a:buSzPts val="1800"/>
              <a:buChar char="●"/>
            </a:pPr>
            <a:r>
              <a:rPr lang="en"/>
              <a:t>The operator runs its own fancy code and outputs routing decisions.</a:t>
            </a:r>
            <a:endParaRPr/>
          </a:p>
          <a:p>
            <a:pPr indent="-342900" lvl="0" marL="457200" rtl="0" algn="l">
              <a:spcBef>
                <a:spcPts val="0"/>
              </a:spcBef>
              <a:spcAft>
                <a:spcPts val="0"/>
              </a:spcAft>
              <a:buSzPts val="1800"/>
              <a:buChar char="●"/>
            </a:pPr>
            <a:r>
              <a:rPr lang="en"/>
              <a:t>The operator installs these routes onto the forwarding chips.</a:t>
            </a:r>
            <a:endParaRPr/>
          </a:p>
          <a:p>
            <a:pPr indent="-342900" lvl="0" marL="457200" rtl="0" algn="l">
              <a:spcBef>
                <a:spcPts val="0"/>
              </a:spcBef>
              <a:spcAft>
                <a:spcPts val="0"/>
              </a:spcAft>
              <a:buSzPts val="1800"/>
              <a:buChar char="●"/>
            </a:pPr>
            <a:r>
              <a:rPr lang="en"/>
              <a:t>We need a specific format for these decisions that both operators and chips understand.</a:t>
            </a:r>
            <a:endParaRPr/>
          </a:p>
        </p:txBody>
      </p:sp>
      <p:sp>
        <p:nvSpPr>
          <p:cNvPr id="274" name="Google Shape;274;p36"/>
          <p:cNvSpPr/>
          <p:nvPr/>
        </p:nvSpPr>
        <p:spPr>
          <a:xfrm>
            <a:off x="6968175" y="1371950"/>
            <a:ext cx="1854600" cy="99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Control Plane</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(operator code)</a:t>
            </a:r>
            <a:endParaRPr>
              <a:latin typeface="Roboto"/>
              <a:ea typeface="Roboto"/>
              <a:cs typeface="Roboto"/>
              <a:sym typeface="Roboto"/>
            </a:endParaRPr>
          </a:p>
        </p:txBody>
      </p:sp>
      <p:cxnSp>
        <p:nvCxnSpPr>
          <p:cNvPr id="275" name="Google Shape;275;p36"/>
          <p:cNvCxnSpPr>
            <a:stCxn id="274" idx="2"/>
            <a:endCxn id="276" idx="0"/>
          </p:cNvCxnSpPr>
          <p:nvPr/>
        </p:nvCxnSpPr>
        <p:spPr>
          <a:xfrm>
            <a:off x="7895475" y="2362550"/>
            <a:ext cx="0" cy="609900"/>
          </a:xfrm>
          <a:prstGeom prst="straightConnector1">
            <a:avLst/>
          </a:prstGeom>
          <a:noFill/>
          <a:ln cap="flat" cmpd="sng" w="9525">
            <a:solidFill>
              <a:schemeClr val="dk2"/>
            </a:solidFill>
            <a:prstDash val="solid"/>
            <a:round/>
            <a:headEnd len="med" w="med" type="triangle"/>
            <a:tailEnd len="med" w="med" type="triangle"/>
          </a:ln>
        </p:spPr>
      </p:cxnSp>
      <p:cxnSp>
        <p:nvCxnSpPr>
          <p:cNvPr id="277" name="Google Shape;277;p36"/>
          <p:cNvCxnSpPr/>
          <p:nvPr/>
        </p:nvCxnSpPr>
        <p:spPr>
          <a:xfrm>
            <a:off x="6472150" y="2667450"/>
            <a:ext cx="2544600" cy="0"/>
          </a:xfrm>
          <a:prstGeom prst="straightConnector1">
            <a:avLst/>
          </a:prstGeom>
          <a:noFill/>
          <a:ln cap="flat" cmpd="sng" w="9525">
            <a:solidFill>
              <a:schemeClr val="accent2"/>
            </a:solidFill>
            <a:prstDash val="dash"/>
            <a:round/>
            <a:headEnd len="med" w="med" type="none"/>
            <a:tailEnd len="med" w="med" type="none"/>
          </a:ln>
        </p:spPr>
      </p:cxnSp>
      <p:sp>
        <p:nvSpPr>
          <p:cNvPr id="278" name="Google Shape;278;p36"/>
          <p:cNvSpPr txBox="1"/>
          <p:nvPr/>
        </p:nvSpPr>
        <p:spPr>
          <a:xfrm>
            <a:off x="6472150" y="2452050"/>
            <a:ext cx="3177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API</a:t>
            </a:r>
            <a:endParaRPr>
              <a:solidFill>
                <a:schemeClr val="accent2"/>
              </a:solidFill>
              <a:latin typeface="Roboto"/>
              <a:ea typeface="Roboto"/>
              <a:cs typeface="Roboto"/>
              <a:sym typeface="Roboto"/>
            </a:endParaRPr>
          </a:p>
        </p:txBody>
      </p:sp>
      <p:sp>
        <p:nvSpPr>
          <p:cNvPr id="279" name="Google Shape;279;p36"/>
          <p:cNvSpPr/>
          <p:nvPr/>
        </p:nvSpPr>
        <p:spPr>
          <a:xfrm>
            <a:off x="6968175" y="2972350"/>
            <a:ext cx="1854600" cy="9906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 Plane</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(commodity routers)</a:t>
            </a:r>
            <a:endParaRPr>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OpenFlow API Format – Flow Tables</a:t>
            </a:r>
            <a:endParaRPr/>
          </a:p>
        </p:txBody>
      </p:sp>
      <p:sp>
        <p:nvSpPr>
          <p:cNvPr id="285" name="Google Shape;285;p37"/>
          <p:cNvSpPr txBox="1"/>
          <p:nvPr>
            <p:ph idx="1" type="body"/>
          </p:nvPr>
        </p:nvSpPr>
        <p:spPr>
          <a:xfrm>
            <a:off x="107050" y="402200"/>
            <a:ext cx="8909700" cy="2350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basic building block is a </a:t>
            </a:r>
            <a:r>
              <a:rPr b="1" lang="en"/>
              <a:t>flow table</a:t>
            </a:r>
            <a:r>
              <a:rPr lang="en"/>
              <a:t>, a more generalized forwarding table.</a:t>
            </a:r>
            <a:endParaRPr/>
          </a:p>
          <a:p>
            <a:pPr indent="-342900" lvl="0" marL="457200" rtl="0" algn="l">
              <a:spcBef>
                <a:spcPts val="600"/>
              </a:spcBef>
              <a:spcAft>
                <a:spcPts val="0"/>
              </a:spcAft>
              <a:buSzPts val="1800"/>
              <a:buChar char="●"/>
            </a:pPr>
            <a:r>
              <a:rPr lang="en"/>
              <a:t>Maps matches to actions.</a:t>
            </a:r>
            <a:endParaRPr/>
          </a:p>
          <a:p>
            <a:pPr indent="-342900" lvl="0" marL="457200" rtl="0" algn="l">
              <a:spcBef>
                <a:spcPts val="0"/>
              </a:spcBef>
              <a:spcAft>
                <a:spcPts val="0"/>
              </a:spcAft>
              <a:buSzPts val="1800"/>
              <a:buChar char="●"/>
            </a:pPr>
            <a:r>
              <a:rPr lang="en"/>
              <a:t>Matches can include more than just the destination IP.</a:t>
            </a:r>
            <a:endParaRPr/>
          </a:p>
          <a:p>
            <a:pPr indent="-342900" lvl="1" marL="914400" rtl="0" algn="l">
              <a:spcBef>
                <a:spcPts val="0"/>
              </a:spcBef>
              <a:spcAft>
                <a:spcPts val="0"/>
              </a:spcAft>
              <a:buSzPts val="1800"/>
              <a:buChar char="○"/>
            </a:pPr>
            <a:r>
              <a:rPr lang="en"/>
              <a:t>Example: 5-tuple to match a specific flow.</a:t>
            </a:r>
            <a:endParaRPr/>
          </a:p>
          <a:p>
            <a:pPr indent="-342900" lvl="0" marL="457200" rtl="0" algn="l">
              <a:spcBef>
                <a:spcPts val="0"/>
              </a:spcBef>
              <a:spcAft>
                <a:spcPts val="0"/>
              </a:spcAft>
              <a:buSzPts val="1800"/>
              <a:buChar char="●"/>
            </a:pPr>
            <a:r>
              <a:rPr lang="en"/>
              <a:t>Actions can be more than just sending to a specific next-hop.</a:t>
            </a:r>
            <a:endParaRPr/>
          </a:p>
          <a:p>
            <a:pPr indent="-342900" lvl="1" marL="914400" rtl="0" algn="l">
              <a:spcBef>
                <a:spcPts val="0"/>
              </a:spcBef>
              <a:spcAft>
                <a:spcPts val="0"/>
              </a:spcAft>
              <a:buSzPts val="1800"/>
              <a:buChar char="○"/>
            </a:pPr>
            <a:r>
              <a:rPr lang="en"/>
              <a:t>Example: Encapsulation and decapsulation.</a:t>
            </a:r>
            <a:endParaRPr/>
          </a:p>
        </p:txBody>
      </p:sp>
      <p:graphicFrame>
        <p:nvGraphicFramePr>
          <p:cNvPr id="286" name="Google Shape;286;p37"/>
          <p:cNvGraphicFramePr/>
          <p:nvPr/>
        </p:nvGraphicFramePr>
        <p:xfrm>
          <a:off x="952500" y="2993700"/>
          <a:ext cx="3000000" cy="3000000"/>
        </p:xfrm>
        <a:graphic>
          <a:graphicData uri="http://schemas.openxmlformats.org/drawingml/2006/table">
            <a:tbl>
              <a:tblPr>
                <a:noFill/>
                <a:tableStyleId>{9E0E94E9-8C37-454C-BF69-298D2E925918}</a:tableStyleId>
              </a:tblPr>
              <a:tblGrid>
                <a:gridCol w="3993375"/>
                <a:gridCol w="3245625"/>
              </a:tblGrid>
              <a:tr h="381000">
                <a:tc gridSpan="2">
                  <a:txBody>
                    <a:bodyPr/>
                    <a:lstStyle/>
                    <a:p>
                      <a:pPr indent="0" lvl="0" marL="0" rtl="0" algn="ctr">
                        <a:spcBef>
                          <a:spcPts val="0"/>
                        </a:spcBef>
                        <a:spcAft>
                          <a:spcPts val="0"/>
                        </a:spcAft>
                        <a:buNone/>
                      </a:pPr>
                      <a:r>
                        <a:rPr lang="en">
                          <a:latin typeface="Roboto"/>
                          <a:ea typeface="Roboto"/>
                          <a:cs typeface="Roboto"/>
                          <a:sym typeface="Roboto"/>
                        </a:rPr>
                        <a:t>Example Flow Table</a:t>
                      </a:r>
                      <a:endParaRPr>
                        <a:latin typeface="Roboto"/>
                        <a:ea typeface="Roboto"/>
                        <a:cs typeface="Roboto"/>
                        <a:sym typeface="Roboto"/>
                      </a:endParaRPr>
                    </a:p>
                  </a:txBody>
                  <a:tcPr marT="91425" marB="91425" marR="91425" marL="91425"/>
                </a:tc>
                <a:tc hMerge="1"/>
              </a:tr>
              <a:tr h="381000">
                <a:tc>
                  <a:txBody>
                    <a:bodyPr/>
                    <a:lstStyle/>
                    <a:p>
                      <a:pPr indent="0" lvl="0" marL="0" rtl="0" algn="l">
                        <a:spcBef>
                          <a:spcPts val="0"/>
                        </a:spcBef>
                        <a:spcAft>
                          <a:spcPts val="0"/>
                        </a:spcAft>
                        <a:buNone/>
                      </a:pPr>
                      <a:r>
                        <a:rPr lang="en">
                          <a:latin typeface="Roboto"/>
                          <a:ea typeface="Roboto"/>
                          <a:cs typeface="Roboto"/>
                          <a:sym typeface="Roboto"/>
                        </a:rPr>
                        <a:t>Match:</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Action:</a:t>
                      </a:r>
                      <a:endParaRPr>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a:latin typeface="Roboto"/>
                          <a:ea typeface="Roboto"/>
                          <a:cs typeface="Roboto"/>
                          <a:sym typeface="Roboto"/>
                        </a:rPr>
                        <a:t>Destination IP is in 192.168.0.0/16</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Forward to next-hop R2</a:t>
                      </a:r>
                      <a:endParaRPr>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a:latin typeface="Roboto"/>
                          <a:ea typeface="Roboto"/>
                          <a:cs typeface="Roboto"/>
                          <a:sym typeface="Roboto"/>
                        </a:rPr>
                        <a:t>5-tuple is exactly (1.1.1.1, 2.2.2.2, TCP, 255, 53)</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Add encapsulation and forward to R3</a:t>
                      </a:r>
                      <a:endParaRPr>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a:latin typeface="Roboto"/>
                          <a:ea typeface="Roboto"/>
                          <a:cs typeface="Roboto"/>
                          <a:sym typeface="Roboto"/>
                        </a:rPr>
                        <a:t>Source IP is exactly 10.2.15.3</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Decapsulate and forward to R3</a:t>
                      </a:r>
                      <a:endParaRPr>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OpenFlow API Format – Flow Tables</a:t>
            </a:r>
            <a:endParaRPr/>
          </a:p>
        </p:txBody>
      </p:sp>
      <p:sp>
        <p:nvSpPr>
          <p:cNvPr id="292" name="Google Shape;292;p38"/>
          <p:cNvSpPr txBox="1"/>
          <p:nvPr>
            <p:ph idx="1" type="body"/>
          </p:nvPr>
        </p:nvSpPr>
        <p:spPr>
          <a:xfrm>
            <a:off x="107050" y="402200"/>
            <a:ext cx="8909700" cy="2732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operator writes routing decisions as a sequence of numbered flow tables.</a:t>
            </a:r>
            <a:endParaRPr/>
          </a:p>
          <a:p>
            <a:pPr indent="-342900" lvl="0" marL="457200" rtl="0" algn="l">
              <a:spcBef>
                <a:spcPts val="600"/>
              </a:spcBef>
              <a:spcAft>
                <a:spcPts val="0"/>
              </a:spcAft>
              <a:buSzPts val="1800"/>
              <a:buChar char="●"/>
            </a:pPr>
            <a:r>
              <a:rPr lang="en"/>
              <a:t>Each table maps matches to actions, just like we saw.</a:t>
            </a:r>
            <a:endParaRPr/>
          </a:p>
          <a:p>
            <a:pPr indent="-342900" lvl="0" marL="457200" rtl="0" algn="l">
              <a:spcBef>
                <a:spcPts val="0"/>
              </a:spcBef>
              <a:spcAft>
                <a:spcPts val="0"/>
              </a:spcAft>
              <a:buSzPts val="1800"/>
              <a:buChar char="●"/>
            </a:pPr>
            <a:r>
              <a:rPr lang="en"/>
              <a:t>Packet is matched against each table in order, and actions are added.</a:t>
            </a:r>
            <a:endParaRPr/>
          </a:p>
          <a:p>
            <a:pPr indent="-342900" lvl="1" marL="914400" rtl="0" algn="l">
              <a:spcBef>
                <a:spcPts val="0"/>
              </a:spcBef>
              <a:spcAft>
                <a:spcPts val="0"/>
              </a:spcAft>
              <a:buSzPts val="1800"/>
              <a:buChar char="○"/>
            </a:pPr>
            <a:r>
              <a:rPr lang="en"/>
              <a:t>Could add special actions like "skip to Table 2," or "clear all actions so far."</a:t>
            </a:r>
            <a:endParaRPr/>
          </a:p>
          <a:p>
            <a:pPr indent="-342900" lvl="1" marL="914400" rtl="0" algn="l">
              <a:spcBef>
                <a:spcPts val="0"/>
              </a:spcBef>
              <a:spcAft>
                <a:spcPts val="0"/>
              </a:spcAft>
              <a:buSzPts val="1800"/>
              <a:buChar char="○"/>
            </a:pPr>
            <a:r>
              <a:rPr lang="en"/>
              <a:t>When we reach the last table, all actions are applied (e.g. packet is sent out).</a:t>
            </a:r>
            <a:endParaRPr/>
          </a:p>
          <a:p>
            <a:pPr indent="0" lvl="0" marL="0" rtl="0" algn="l">
              <a:spcBef>
                <a:spcPts val="600"/>
              </a:spcBef>
              <a:spcAft>
                <a:spcPts val="0"/>
              </a:spcAft>
              <a:buNone/>
            </a:pPr>
            <a:r>
              <a:t/>
            </a:r>
            <a:endParaRPr/>
          </a:p>
          <a:p>
            <a:pPr indent="0" lvl="0" marL="0" rtl="0" algn="l">
              <a:spcBef>
                <a:spcPts val="600"/>
              </a:spcBef>
              <a:spcAft>
                <a:spcPts val="0"/>
              </a:spcAft>
              <a:buClr>
                <a:schemeClr val="dk1"/>
              </a:buClr>
              <a:buSzPts val="1100"/>
              <a:buFont typeface="Arial"/>
              <a:buNone/>
            </a:pPr>
            <a:r>
              <a:rPr lang="en"/>
              <a:t>You don't need to know the exact syntax, just the general idea.</a:t>
            </a:r>
            <a:endParaRPr/>
          </a:p>
        </p:txBody>
      </p:sp>
      <p:sp>
        <p:nvSpPr>
          <p:cNvPr id="293" name="Google Shape;293;p38"/>
          <p:cNvSpPr/>
          <p:nvPr/>
        </p:nvSpPr>
        <p:spPr>
          <a:xfrm>
            <a:off x="2479375" y="3636375"/>
            <a:ext cx="905700" cy="9057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Table 0</a:t>
            </a:r>
            <a:endParaRPr>
              <a:latin typeface="Roboto"/>
              <a:ea typeface="Roboto"/>
              <a:cs typeface="Roboto"/>
              <a:sym typeface="Roboto"/>
            </a:endParaRPr>
          </a:p>
        </p:txBody>
      </p:sp>
      <p:sp>
        <p:nvSpPr>
          <p:cNvPr id="294" name="Google Shape;294;p38"/>
          <p:cNvSpPr/>
          <p:nvPr/>
        </p:nvSpPr>
        <p:spPr>
          <a:xfrm>
            <a:off x="4109050" y="3636375"/>
            <a:ext cx="905700" cy="9057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Table 1</a:t>
            </a:r>
            <a:endParaRPr>
              <a:latin typeface="Roboto"/>
              <a:ea typeface="Roboto"/>
              <a:cs typeface="Roboto"/>
              <a:sym typeface="Roboto"/>
            </a:endParaRPr>
          </a:p>
        </p:txBody>
      </p:sp>
      <p:sp>
        <p:nvSpPr>
          <p:cNvPr id="295" name="Google Shape;295;p38"/>
          <p:cNvSpPr/>
          <p:nvPr/>
        </p:nvSpPr>
        <p:spPr>
          <a:xfrm>
            <a:off x="5738725" y="3636375"/>
            <a:ext cx="905700" cy="9057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Table 2</a:t>
            </a:r>
            <a:endParaRPr>
              <a:latin typeface="Roboto"/>
              <a:ea typeface="Roboto"/>
              <a:cs typeface="Roboto"/>
              <a:sym typeface="Roboto"/>
            </a:endParaRPr>
          </a:p>
        </p:txBody>
      </p:sp>
      <p:cxnSp>
        <p:nvCxnSpPr>
          <p:cNvPr id="296" name="Google Shape;296;p38"/>
          <p:cNvCxnSpPr>
            <a:stCxn id="293" idx="3"/>
            <a:endCxn id="294" idx="1"/>
          </p:cNvCxnSpPr>
          <p:nvPr/>
        </p:nvCxnSpPr>
        <p:spPr>
          <a:xfrm>
            <a:off x="3385075" y="4089225"/>
            <a:ext cx="723900" cy="0"/>
          </a:xfrm>
          <a:prstGeom prst="straightConnector1">
            <a:avLst/>
          </a:prstGeom>
          <a:noFill/>
          <a:ln cap="flat" cmpd="sng" w="19050">
            <a:solidFill>
              <a:schemeClr val="dk2"/>
            </a:solidFill>
            <a:prstDash val="solid"/>
            <a:round/>
            <a:headEnd len="med" w="med" type="none"/>
            <a:tailEnd len="med" w="med" type="triangle"/>
          </a:ln>
        </p:spPr>
      </p:cxnSp>
      <p:cxnSp>
        <p:nvCxnSpPr>
          <p:cNvPr id="297" name="Google Shape;297;p38"/>
          <p:cNvCxnSpPr>
            <a:stCxn id="294" idx="3"/>
            <a:endCxn id="295" idx="1"/>
          </p:cNvCxnSpPr>
          <p:nvPr/>
        </p:nvCxnSpPr>
        <p:spPr>
          <a:xfrm>
            <a:off x="5014750" y="4089225"/>
            <a:ext cx="723900" cy="0"/>
          </a:xfrm>
          <a:prstGeom prst="straightConnector1">
            <a:avLst/>
          </a:prstGeom>
          <a:noFill/>
          <a:ln cap="flat" cmpd="sng" w="19050">
            <a:solidFill>
              <a:schemeClr val="dk2"/>
            </a:solidFill>
            <a:prstDash val="solid"/>
            <a:round/>
            <a:headEnd len="med" w="med" type="none"/>
            <a:tailEnd len="med" w="med" type="triangle"/>
          </a:ln>
        </p:spPr>
      </p:cxnSp>
      <p:cxnSp>
        <p:nvCxnSpPr>
          <p:cNvPr id="298" name="Google Shape;298;p38"/>
          <p:cNvCxnSpPr>
            <a:stCxn id="295" idx="3"/>
          </p:cNvCxnSpPr>
          <p:nvPr/>
        </p:nvCxnSpPr>
        <p:spPr>
          <a:xfrm>
            <a:off x="6644425" y="4089225"/>
            <a:ext cx="723900" cy="0"/>
          </a:xfrm>
          <a:prstGeom prst="straightConnector1">
            <a:avLst/>
          </a:prstGeom>
          <a:noFill/>
          <a:ln cap="flat" cmpd="sng" w="19050">
            <a:solidFill>
              <a:schemeClr val="dk2"/>
            </a:solidFill>
            <a:prstDash val="solid"/>
            <a:round/>
            <a:headEnd len="med" w="med" type="none"/>
            <a:tailEnd len="med" w="med" type="triangle"/>
          </a:ln>
        </p:spPr>
      </p:cxnSp>
      <p:cxnSp>
        <p:nvCxnSpPr>
          <p:cNvPr id="299" name="Google Shape;299;p38"/>
          <p:cNvCxnSpPr>
            <a:endCxn id="293" idx="1"/>
          </p:cNvCxnSpPr>
          <p:nvPr/>
        </p:nvCxnSpPr>
        <p:spPr>
          <a:xfrm>
            <a:off x="1755475" y="4089225"/>
            <a:ext cx="7239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9"/>
          <p:cNvSpPr/>
          <p:nvPr/>
        </p:nvSpPr>
        <p:spPr>
          <a:xfrm>
            <a:off x="6502200" y="2093925"/>
            <a:ext cx="2046600" cy="1455000"/>
          </a:xfrm>
          <a:prstGeom prst="roundRect">
            <a:avLst>
              <a:gd fmla="val 10581" name="adj"/>
            </a:avLst>
          </a:prstGeom>
          <a:noFill/>
          <a:ln cap="flat" cmpd="sng" w="19050">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5" name="Google Shape;305;p3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OpenFlow API Format – Flow Tables</a:t>
            </a:r>
            <a:endParaRPr/>
          </a:p>
        </p:txBody>
      </p:sp>
      <p:sp>
        <p:nvSpPr>
          <p:cNvPr id="306" name="Google Shape;306;p39"/>
          <p:cNvSpPr txBox="1"/>
          <p:nvPr>
            <p:ph idx="1" type="body"/>
          </p:nvPr>
        </p:nvSpPr>
        <p:spPr>
          <a:xfrm>
            <a:off x="107050" y="402200"/>
            <a:ext cx="4756800" cy="442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Flow tables are still constrained by what forwarding chips can do in hardware.</a:t>
            </a:r>
            <a:endParaRPr/>
          </a:p>
          <a:p>
            <a:pPr indent="-342900" lvl="0" marL="457200" rtl="0" algn="l">
              <a:spcBef>
                <a:spcPts val="600"/>
              </a:spcBef>
              <a:spcAft>
                <a:spcPts val="0"/>
              </a:spcAft>
              <a:buSzPts val="1800"/>
              <a:buChar char="●"/>
            </a:pPr>
            <a:r>
              <a:rPr lang="en"/>
              <a:t>In practice, matches tend to be similar to "classic" forwarding tables.</a:t>
            </a:r>
            <a:endParaRPr/>
          </a:p>
          <a:p>
            <a:pPr indent="-342900" lvl="1" marL="914400" rtl="0" algn="l">
              <a:spcBef>
                <a:spcPts val="0"/>
              </a:spcBef>
              <a:spcAft>
                <a:spcPts val="0"/>
              </a:spcAft>
              <a:buSzPts val="1800"/>
              <a:buChar char="○"/>
            </a:pPr>
            <a:r>
              <a:rPr lang="en"/>
              <a:t>Longest-prefix matching on destination IP addresses.</a:t>
            </a:r>
            <a:endParaRPr/>
          </a:p>
          <a:p>
            <a:pPr indent="-342900" lvl="1" marL="914400" rtl="0" algn="l">
              <a:spcBef>
                <a:spcPts val="0"/>
              </a:spcBef>
              <a:spcAft>
                <a:spcPts val="0"/>
              </a:spcAft>
              <a:buSzPts val="1800"/>
              <a:buChar char="○"/>
            </a:pPr>
            <a:r>
              <a:rPr lang="en"/>
              <a:t>Policy-based routing on 5-tuples.</a:t>
            </a:r>
            <a:endParaRPr/>
          </a:p>
          <a:p>
            <a:pPr indent="-342900" lvl="1" marL="914400" rtl="0" algn="l">
              <a:spcBef>
                <a:spcPts val="0"/>
              </a:spcBef>
              <a:spcAft>
                <a:spcPts val="0"/>
              </a:spcAft>
              <a:buSzPts val="1800"/>
              <a:buChar char="○"/>
            </a:pPr>
            <a:r>
              <a:rPr lang="en"/>
              <a:t>Exact match on virtual network ID.</a:t>
            </a:r>
            <a:endParaRPr/>
          </a:p>
          <a:p>
            <a:pPr indent="0" lvl="0" marL="0" rtl="0" algn="l">
              <a:spcBef>
                <a:spcPts val="600"/>
              </a:spcBef>
              <a:spcAft>
                <a:spcPts val="0"/>
              </a:spcAft>
              <a:buNone/>
            </a:pPr>
            <a:r>
              <a:rPr lang="en"/>
              <a:t>Remember: The advantage is letting the operator decide the policies.</a:t>
            </a:r>
            <a:endParaRPr/>
          </a:p>
        </p:txBody>
      </p:sp>
      <p:sp>
        <p:nvSpPr>
          <p:cNvPr id="307" name="Google Shape;307;p39"/>
          <p:cNvSpPr/>
          <p:nvPr/>
        </p:nvSpPr>
        <p:spPr>
          <a:xfrm>
            <a:off x="6587175" y="762350"/>
            <a:ext cx="1854600" cy="99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Control Plane</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(operator code)</a:t>
            </a:r>
            <a:endParaRPr>
              <a:latin typeface="Roboto"/>
              <a:ea typeface="Roboto"/>
              <a:cs typeface="Roboto"/>
              <a:sym typeface="Roboto"/>
            </a:endParaRPr>
          </a:p>
        </p:txBody>
      </p:sp>
      <p:cxnSp>
        <p:nvCxnSpPr>
          <p:cNvPr id="308" name="Google Shape;308;p39"/>
          <p:cNvCxnSpPr>
            <a:stCxn id="307" idx="2"/>
            <a:endCxn id="309" idx="0"/>
          </p:cNvCxnSpPr>
          <p:nvPr/>
        </p:nvCxnSpPr>
        <p:spPr>
          <a:xfrm>
            <a:off x="7514475" y="1752950"/>
            <a:ext cx="0" cy="2133900"/>
          </a:xfrm>
          <a:prstGeom prst="straightConnector1">
            <a:avLst/>
          </a:prstGeom>
          <a:noFill/>
          <a:ln cap="flat" cmpd="sng" w="9525">
            <a:solidFill>
              <a:schemeClr val="dk2"/>
            </a:solidFill>
            <a:prstDash val="solid"/>
            <a:round/>
            <a:headEnd len="med" w="med" type="triangle"/>
            <a:tailEnd len="med" w="med" type="triangle"/>
          </a:ln>
        </p:spPr>
      </p:cxnSp>
      <p:sp>
        <p:nvSpPr>
          <p:cNvPr id="310" name="Google Shape;310;p39"/>
          <p:cNvSpPr txBox="1"/>
          <p:nvPr/>
        </p:nvSpPr>
        <p:spPr>
          <a:xfrm>
            <a:off x="5297700" y="2713725"/>
            <a:ext cx="1204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API: OpenFlow</a:t>
            </a:r>
            <a:endParaRPr>
              <a:solidFill>
                <a:schemeClr val="accent2"/>
              </a:solidFill>
              <a:latin typeface="Roboto"/>
              <a:ea typeface="Roboto"/>
              <a:cs typeface="Roboto"/>
              <a:sym typeface="Roboto"/>
            </a:endParaRPr>
          </a:p>
        </p:txBody>
      </p:sp>
      <p:sp>
        <p:nvSpPr>
          <p:cNvPr id="309" name="Google Shape;309;p39"/>
          <p:cNvSpPr/>
          <p:nvPr/>
        </p:nvSpPr>
        <p:spPr>
          <a:xfrm>
            <a:off x="6587175" y="3886750"/>
            <a:ext cx="1854600" cy="9906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 Plane</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rPr lang="en">
                <a:latin typeface="Roboto"/>
                <a:ea typeface="Roboto"/>
                <a:cs typeface="Roboto"/>
                <a:sym typeface="Roboto"/>
              </a:rPr>
              <a:t>(commodity routers)</a:t>
            </a:r>
            <a:endParaRPr>
              <a:latin typeface="Roboto"/>
              <a:ea typeface="Roboto"/>
              <a:cs typeface="Roboto"/>
              <a:sym typeface="Roboto"/>
            </a:endParaRPr>
          </a:p>
        </p:txBody>
      </p:sp>
      <p:graphicFrame>
        <p:nvGraphicFramePr>
          <p:cNvPr id="311" name="Google Shape;311;p39"/>
          <p:cNvGraphicFramePr/>
          <p:nvPr/>
        </p:nvGraphicFramePr>
        <p:xfrm>
          <a:off x="6610475" y="2179825"/>
          <a:ext cx="3000000" cy="3000000"/>
        </p:xfrm>
        <a:graphic>
          <a:graphicData uri="http://schemas.openxmlformats.org/drawingml/2006/table">
            <a:tbl>
              <a:tblPr>
                <a:noFill/>
                <a:tableStyleId>{9E0E94E9-8C37-454C-BF69-298D2E925918}</a:tableStyleId>
              </a:tblPr>
              <a:tblGrid>
                <a:gridCol w="675400"/>
                <a:gridCol w="675400"/>
              </a:tblGrid>
              <a:tr h="131200">
                <a:tc gridSpan="2">
                  <a:txBody>
                    <a:bodyPr/>
                    <a:lstStyle/>
                    <a:p>
                      <a:pPr indent="0" lvl="0" marL="0" rtl="0" algn="ctr">
                        <a:spcBef>
                          <a:spcPts val="0"/>
                        </a:spcBef>
                        <a:spcAft>
                          <a:spcPts val="0"/>
                        </a:spcAft>
                        <a:buNone/>
                      </a:pPr>
                      <a:r>
                        <a:rPr lang="en" sz="1200">
                          <a:latin typeface="Roboto"/>
                          <a:ea typeface="Roboto"/>
                          <a:cs typeface="Roboto"/>
                          <a:sym typeface="Roboto"/>
                        </a:rPr>
                        <a:t>Table 2</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solidFill>
                      <a:srgbClr val="FFFFFF"/>
                    </a:solidFill>
                  </a:tcPr>
                </a:tc>
                <a:tc hMerge="1"/>
              </a:tr>
              <a:tr h="131200">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solidFill>
                      <a:srgbClr val="FFFFFF"/>
                    </a:solidFill>
                  </a:tcPr>
                </a:tc>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solidFill>
                      <a:srgbClr val="FFFFFF"/>
                    </a:solidFill>
                  </a:tcPr>
                </a:tc>
              </a:tr>
              <a:tr h="131200">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solidFill>
                      <a:srgbClr val="FFFFFF"/>
                    </a:solidFill>
                  </a:tcPr>
                </a:tc>
              </a:tr>
            </a:tbl>
          </a:graphicData>
        </a:graphic>
      </p:graphicFrame>
      <p:graphicFrame>
        <p:nvGraphicFramePr>
          <p:cNvPr id="312" name="Google Shape;312;p39"/>
          <p:cNvGraphicFramePr/>
          <p:nvPr/>
        </p:nvGraphicFramePr>
        <p:xfrm>
          <a:off x="6839075" y="2408425"/>
          <a:ext cx="3000000" cy="3000000"/>
        </p:xfrm>
        <a:graphic>
          <a:graphicData uri="http://schemas.openxmlformats.org/drawingml/2006/table">
            <a:tbl>
              <a:tblPr>
                <a:noFill/>
                <a:tableStyleId>{9E0E94E9-8C37-454C-BF69-298D2E925918}</a:tableStyleId>
              </a:tblPr>
              <a:tblGrid>
                <a:gridCol w="675400"/>
                <a:gridCol w="675400"/>
              </a:tblGrid>
              <a:tr h="131200">
                <a:tc gridSpan="2">
                  <a:txBody>
                    <a:bodyPr/>
                    <a:lstStyle/>
                    <a:p>
                      <a:pPr indent="0" lvl="0" marL="0" rtl="0" algn="ctr">
                        <a:spcBef>
                          <a:spcPts val="0"/>
                        </a:spcBef>
                        <a:spcAft>
                          <a:spcPts val="0"/>
                        </a:spcAft>
                        <a:buNone/>
                      </a:pPr>
                      <a:r>
                        <a:rPr lang="en" sz="1200">
                          <a:latin typeface="Roboto"/>
                          <a:ea typeface="Roboto"/>
                          <a:cs typeface="Roboto"/>
                          <a:sym typeface="Roboto"/>
                        </a:rPr>
                        <a:t>Table 1</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solidFill>
                      <a:srgbClr val="FFFFFF"/>
                    </a:solidFill>
                  </a:tcPr>
                </a:tc>
                <a:tc hMerge="1"/>
              </a:tr>
              <a:tr h="131200">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solidFill>
                      <a:srgbClr val="FFFFFF"/>
                    </a:solidFill>
                  </a:tcPr>
                </a:tc>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45700" marB="45700" marR="45700" marL="45700">
                    <a:lnR cap="flat" cmpd="sng" w="9525">
                      <a:solidFill>
                        <a:srgbClr val="000000"/>
                      </a:solidFill>
                      <a:prstDash val="solid"/>
                      <a:round/>
                      <a:headEnd len="sm" w="sm" type="none"/>
                      <a:tailEnd len="sm" w="sm" type="none"/>
                    </a:lnR>
                    <a:solidFill>
                      <a:srgbClr val="FFFFFF"/>
                    </a:solidFill>
                  </a:tcPr>
                </a:tc>
              </a:tr>
              <a:tr h="131200">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45700" marB="45700" marR="45700" marL="45700">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solidFill>
                      <a:srgbClr val="FFFFFF"/>
                    </a:solidFill>
                  </a:tcPr>
                </a:tc>
              </a:tr>
            </a:tbl>
          </a:graphicData>
        </a:graphic>
      </p:graphicFrame>
      <p:graphicFrame>
        <p:nvGraphicFramePr>
          <p:cNvPr id="313" name="Google Shape;313;p39"/>
          <p:cNvGraphicFramePr/>
          <p:nvPr/>
        </p:nvGraphicFramePr>
        <p:xfrm>
          <a:off x="7067675" y="2637025"/>
          <a:ext cx="3000000" cy="3000000"/>
        </p:xfrm>
        <a:graphic>
          <a:graphicData uri="http://schemas.openxmlformats.org/drawingml/2006/table">
            <a:tbl>
              <a:tblPr>
                <a:noFill/>
                <a:tableStyleId>{9E0E94E9-8C37-454C-BF69-298D2E925918}</a:tableStyleId>
              </a:tblPr>
              <a:tblGrid>
                <a:gridCol w="675400"/>
                <a:gridCol w="675400"/>
              </a:tblGrid>
              <a:tr h="131200">
                <a:tc gridSpan="2">
                  <a:txBody>
                    <a:bodyPr/>
                    <a:lstStyle/>
                    <a:p>
                      <a:pPr indent="0" lvl="0" marL="0" rtl="0" algn="ctr">
                        <a:spcBef>
                          <a:spcPts val="0"/>
                        </a:spcBef>
                        <a:spcAft>
                          <a:spcPts val="0"/>
                        </a:spcAft>
                        <a:buNone/>
                      </a:pPr>
                      <a:r>
                        <a:rPr lang="en" sz="1200">
                          <a:latin typeface="Roboto"/>
                          <a:ea typeface="Roboto"/>
                          <a:cs typeface="Roboto"/>
                          <a:sym typeface="Roboto"/>
                        </a:rPr>
                        <a:t>Table 0</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solidFill>
                      <a:srgbClr val="FFFFFF"/>
                    </a:solidFill>
                  </a:tcPr>
                </a:tc>
                <a:tc hMerge="1"/>
              </a:tr>
              <a:tr h="131200">
                <a:tc>
                  <a:txBody>
                    <a:bodyPr/>
                    <a:lstStyle/>
                    <a:p>
                      <a:pPr indent="0" lvl="0" marL="0" rtl="0" algn="l">
                        <a:spcBef>
                          <a:spcPts val="0"/>
                        </a:spcBef>
                        <a:spcAft>
                          <a:spcPts val="0"/>
                        </a:spcAft>
                        <a:buNone/>
                      </a:pPr>
                      <a:r>
                        <a:rPr lang="en" sz="1200">
                          <a:latin typeface="Roboto"/>
                          <a:ea typeface="Roboto"/>
                          <a:cs typeface="Roboto"/>
                          <a:sym typeface="Roboto"/>
                        </a:rPr>
                        <a:t>Match:</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solidFill>
                      <a:srgbClr val="FFFFFF"/>
                    </a:solidFill>
                  </a:tcPr>
                </a:tc>
                <a:tc>
                  <a:txBody>
                    <a:bodyPr/>
                    <a:lstStyle/>
                    <a:p>
                      <a:pPr indent="0" lvl="0" marL="0" rtl="0" algn="l">
                        <a:spcBef>
                          <a:spcPts val="0"/>
                        </a:spcBef>
                        <a:spcAft>
                          <a:spcPts val="0"/>
                        </a:spcAft>
                        <a:buNone/>
                      </a:pPr>
                      <a:r>
                        <a:rPr lang="en" sz="1200">
                          <a:latin typeface="Roboto"/>
                          <a:ea typeface="Roboto"/>
                          <a:cs typeface="Roboto"/>
                          <a:sym typeface="Roboto"/>
                        </a:rPr>
                        <a:t>Action:</a:t>
                      </a:r>
                      <a:endParaRPr sz="1200">
                        <a:latin typeface="Roboto"/>
                        <a:ea typeface="Roboto"/>
                        <a:cs typeface="Roboto"/>
                        <a:sym typeface="Roboto"/>
                      </a:endParaRPr>
                    </a:p>
                  </a:txBody>
                  <a:tcPr marT="45700" marB="45700" marR="45700" marL="45700">
                    <a:lnR cap="flat" cmpd="sng" w="9525">
                      <a:solidFill>
                        <a:srgbClr val="000000"/>
                      </a:solidFill>
                      <a:prstDash val="solid"/>
                      <a:round/>
                      <a:headEnd len="sm" w="sm" type="none"/>
                      <a:tailEnd len="sm" w="sm" type="none"/>
                    </a:lnR>
                    <a:solidFill>
                      <a:srgbClr val="FFFFFF"/>
                    </a:solidFill>
                  </a:tcPr>
                </a:tc>
              </a:tr>
              <a:tr h="131200">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45700" marB="45700" marR="45700" marL="45700">
                    <a:lnL cap="flat" cmpd="sng" w="9525">
                      <a:solidFill>
                        <a:srgbClr val="000000"/>
                      </a:solidFill>
                      <a:prstDash val="solid"/>
                      <a:round/>
                      <a:headEnd len="sm" w="sm" type="none"/>
                      <a:tailEnd len="sm" w="sm" type="none"/>
                    </a:lnL>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a:txBody>
                  <a:tcPr marT="45700" marB="45700" marR="45700" marL="45700">
                    <a:lnR cap="flat" cmpd="sng" w="9525">
                      <a:solidFill>
                        <a:srgbClr val="000000"/>
                      </a:solidFill>
                      <a:prstDash val="solid"/>
                      <a:round/>
                      <a:headEnd len="sm" w="sm" type="none"/>
                      <a:tailEnd len="sm" w="sm" type="none"/>
                    </a:lnR>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Benefits (Traffic Engineering)</a:t>
            </a:r>
            <a:endParaRPr/>
          </a:p>
        </p:txBody>
      </p:sp>
      <p:sp>
        <p:nvSpPr>
          <p:cNvPr id="319" name="Google Shape;319;p40"/>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21</a:t>
            </a:r>
            <a:r>
              <a:rPr lang="en"/>
              <a:t>, CS 168, </a:t>
            </a:r>
            <a:r>
              <a:rPr lang="en"/>
              <a:t>Summer 2025</a:t>
            </a:r>
            <a:endParaRPr/>
          </a:p>
        </p:txBody>
      </p:sp>
      <p:sp>
        <p:nvSpPr>
          <p:cNvPr id="320" name="Google Shape;320;p40"/>
          <p:cNvSpPr txBox="1"/>
          <p:nvPr>
            <p:ph idx="1" type="body"/>
          </p:nvPr>
        </p:nvSpPr>
        <p:spPr>
          <a:xfrm>
            <a:off x="4812375" y="434100"/>
            <a:ext cx="4038000" cy="42753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Software-Defined Networking</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 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Implementation (OpenFlow API)</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Benefits (Traffic Engineering)</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SDN in Datacenters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Other Applications of SDN</a:t>
            </a:r>
            <a:endParaRPr>
              <a:solidFill>
                <a:srgbClr val="B7B7B7"/>
              </a:solidFill>
            </a:endParaRPr>
          </a:p>
          <a:p>
            <a:pPr indent="0" lvl="0" marL="0" rtl="0" algn="l">
              <a:spcBef>
                <a:spcPts val="600"/>
              </a:spcBef>
              <a:spcAft>
                <a:spcPts val="0"/>
              </a:spcAft>
              <a:buNone/>
            </a:pPr>
            <a:r>
              <a:rPr lang="en">
                <a:solidFill>
                  <a:srgbClr val="B7B7B7"/>
                </a:solidFill>
              </a:rPr>
              <a:t>Optimizations at the Host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What is Host Networking?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Shared Memory in User Space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Brief History of 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RDMA Example</a:t>
            </a:r>
            <a:endParaRPr>
              <a:solidFill>
                <a:srgbClr val="B7B7B7"/>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1"/>
          <p:cNvSpPr/>
          <p:nvPr/>
        </p:nvSpPr>
        <p:spPr>
          <a:xfrm>
            <a:off x="3585025" y="3519066"/>
            <a:ext cx="3624775" cy="829675"/>
          </a:xfrm>
          <a:custGeom>
            <a:rect b="b" l="l" r="r" t="t"/>
            <a:pathLst>
              <a:path extrusionOk="0" h="33187" w="144991">
                <a:moveTo>
                  <a:pt x="0" y="1523"/>
                </a:moveTo>
                <a:cubicBezTo>
                  <a:pt x="5468" y="1664"/>
                  <a:pt x="20920" y="-2498"/>
                  <a:pt x="32808" y="2370"/>
                </a:cubicBezTo>
                <a:cubicBezTo>
                  <a:pt x="44697" y="7238"/>
                  <a:pt x="56267" y="26036"/>
                  <a:pt x="71331" y="30733"/>
                </a:cubicBezTo>
                <a:cubicBezTo>
                  <a:pt x="86395" y="35430"/>
                  <a:pt x="110913" y="32241"/>
                  <a:pt x="123190" y="30553"/>
                </a:cubicBezTo>
                <a:cubicBezTo>
                  <a:pt x="135467" y="28865"/>
                  <a:pt x="141358" y="22263"/>
                  <a:pt x="144991" y="20605"/>
                </a:cubicBezTo>
              </a:path>
            </a:pathLst>
          </a:custGeom>
          <a:noFill/>
          <a:ln cap="flat" cmpd="sng" w="28575">
            <a:solidFill>
              <a:srgbClr val="FF00FF"/>
            </a:solidFill>
            <a:prstDash val="solid"/>
            <a:round/>
            <a:headEnd len="med" w="med" type="none"/>
            <a:tailEnd len="med" w="med" type="triangle"/>
          </a:ln>
        </p:spPr>
      </p:sp>
      <p:sp>
        <p:nvSpPr>
          <p:cNvPr id="326" name="Google Shape;326;p4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Traffic Engineering</a:t>
            </a:r>
            <a:endParaRPr/>
          </a:p>
        </p:txBody>
      </p:sp>
      <p:sp>
        <p:nvSpPr>
          <p:cNvPr id="327" name="Google Shape;327;p41"/>
          <p:cNvSpPr txBox="1"/>
          <p:nvPr>
            <p:ph idx="1" type="body"/>
          </p:nvPr>
        </p:nvSpPr>
        <p:spPr>
          <a:xfrm>
            <a:off x="107050" y="402200"/>
            <a:ext cx="8909700" cy="246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flexible control plane lets the operator compute more intelligent routes.</a:t>
            </a:r>
            <a:endParaRPr/>
          </a:p>
          <a:p>
            <a:pPr indent="-342900" lvl="0" marL="457200" rtl="0" algn="l">
              <a:spcBef>
                <a:spcPts val="600"/>
              </a:spcBef>
              <a:spcAft>
                <a:spcPts val="0"/>
              </a:spcAft>
              <a:buSzPts val="1800"/>
              <a:buChar char="●"/>
            </a:pPr>
            <a:r>
              <a:rPr lang="en"/>
              <a:t>With standard shortest-path routing, both flows use the bottom path.</a:t>
            </a:r>
            <a:endParaRPr/>
          </a:p>
          <a:p>
            <a:pPr indent="-342900" lvl="0" marL="457200" rtl="0" algn="l">
              <a:spcBef>
                <a:spcPts val="0"/>
              </a:spcBef>
              <a:spcAft>
                <a:spcPts val="0"/>
              </a:spcAft>
              <a:buSzPts val="1800"/>
              <a:buChar char="●"/>
            </a:pPr>
            <a:r>
              <a:rPr lang="en"/>
              <a:t>The bottom path is congested: 20 Gbps over a 10 Gbps link.</a:t>
            </a:r>
            <a:endParaRPr/>
          </a:p>
        </p:txBody>
      </p:sp>
      <p:sp>
        <p:nvSpPr>
          <p:cNvPr id="328" name="Google Shape;328;p41"/>
          <p:cNvSpPr/>
          <p:nvPr/>
        </p:nvSpPr>
        <p:spPr>
          <a:xfrm>
            <a:off x="4157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329" name="Google Shape;329;p41"/>
          <p:cNvCxnSpPr>
            <a:stCxn id="328" idx="1"/>
            <a:endCxn id="330" idx="6"/>
          </p:cNvCxnSpPr>
          <p:nvPr/>
        </p:nvCxnSpPr>
        <p:spPr>
          <a:xfrm rot="10800000">
            <a:off x="3680363" y="3621400"/>
            <a:ext cx="477000" cy="0"/>
          </a:xfrm>
          <a:prstGeom prst="straightConnector1">
            <a:avLst/>
          </a:prstGeom>
          <a:noFill/>
          <a:ln cap="flat" cmpd="sng" w="19050">
            <a:solidFill>
              <a:srgbClr val="000000"/>
            </a:solidFill>
            <a:prstDash val="solid"/>
            <a:round/>
            <a:headEnd len="med" w="med" type="none"/>
            <a:tailEnd len="med" w="med" type="none"/>
          </a:ln>
        </p:spPr>
      </p:cxnSp>
      <p:sp>
        <p:nvSpPr>
          <p:cNvPr id="330" name="Google Shape;330;p41"/>
          <p:cNvSpPr/>
          <p:nvPr/>
        </p:nvSpPr>
        <p:spPr>
          <a:xfrm>
            <a:off x="3395363" y="3478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331" name="Google Shape;331;p41"/>
          <p:cNvCxnSpPr>
            <a:stCxn id="332" idx="1"/>
            <a:endCxn id="333" idx="6"/>
          </p:cNvCxnSpPr>
          <p:nvPr/>
        </p:nvCxnSpPr>
        <p:spPr>
          <a:xfrm rot="10800000">
            <a:off x="3680363" y="4383400"/>
            <a:ext cx="477000" cy="0"/>
          </a:xfrm>
          <a:prstGeom prst="straightConnector1">
            <a:avLst/>
          </a:prstGeom>
          <a:noFill/>
          <a:ln cap="flat" cmpd="sng" w="19050">
            <a:solidFill>
              <a:srgbClr val="000000"/>
            </a:solidFill>
            <a:prstDash val="solid"/>
            <a:round/>
            <a:headEnd len="med" w="med" type="none"/>
            <a:tailEnd len="med" w="med" type="none"/>
          </a:ln>
        </p:spPr>
      </p:cxnSp>
      <p:sp>
        <p:nvSpPr>
          <p:cNvPr id="334" name="Google Shape;334;p41"/>
          <p:cNvSpPr/>
          <p:nvPr/>
        </p:nvSpPr>
        <p:spPr>
          <a:xfrm>
            <a:off x="5300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335" name="Google Shape;335;p41"/>
          <p:cNvCxnSpPr>
            <a:stCxn id="334" idx="1"/>
            <a:endCxn id="328" idx="3"/>
          </p:cNvCxnSpPr>
          <p:nvPr/>
        </p:nvCxnSpPr>
        <p:spPr>
          <a:xfrm rot="10800000">
            <a:off x="4442363" y="3621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336" name="Google Shape;336;p41"/>
          <p:cNvCxnSpPr>
            <a:stCxn id="337" idx="1"/>
            <a:endCxn id="328" idx="3"/>
          </p:cNvCxnSpPr>
          <p:nvPr/>
        </p:nvCxnSpPr>
        <p:spPr>
          <a:xfrm rot="10800000">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338" name="Google Shape;338;p41"/>
          <p:cNvCxnSpPr>
            <a:stCxn id="334" idx="1"/>
            <a:endCxn id="332" idx="3"/>
          </p:cNvCxnSpPr>
          <p:nvPr/>
        </p:nvCxnSpPr>
        <p:spPr>
          <a:xfrm flipH="1">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339" name="Google Shape;339;p41"/>
          <p:cNvCxnSpPr>
            <a:stCxn id="337" idx="1"/>
            <a:endCxn id="332" idx="3"/>
          </p:cNvCxnSpPr>
          <p:nvPr/>
        </p:nvCxnSpPr>
        <p:spPr>
          <a:xfrm rot="10800000">
            <a:off x="4442363" y="4383400"/>
            <a:ext cx="858000" cy="0"/>
          </a:xfrm>
          <a:prstGeom prst="straightConnector1">
            <a:avLst/>
          </a:prstGeom>
          <a:noFill/>
          <a:ln cap="flat" cmpd="sng" w="19050">
            <a:solidFill>
              <a:srgbClr val="000000"/>
            </a:solidFill>
            <a:prstDash val="solid"/>
            <a:round/>
            <a:headEnd len="med" w="med" type="none"/>
            <a:tailEnd len="med" w="med" type="none"/>
          </a:ln>
        </p:spPr>
      </p:cxnSp>
      <p:sp>
        <p:nvSpPr>
          <p:cNvPr id="340" name="Google Shape;340;p41"/>
          <p:cNvSpPr/>
          <p:nvPr/>
        </p:nvSpPr>
        <p:spPr>
          <a:xfrm>
            <a:off x="6443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341" name="Google Shape;341;p41"/>
          <p:cNvCxnSpPr>
            <a:stCxn id="342" idx="1"/>
            <a:endCxn id="337" idx="3"/>
          </p:cNvCxnSpPr>
          <p:nvPr/>
        </p:nvCxnSpPr>
        <p:spPr>
          <a:xfrm rot="10800000">
            <a:off x="5585363" y="4383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343" name="Google Shape;343;p41"/>
          <p:cNvCxnSpPr>
            <a:stCxn id="344" idx="1"/>
            <a:endCxn id="334" idx="3"/>
          </p:cNvCxnSpPr>
          <p:nvPr/>
        </p:nvCxnSpPr>
        <p:spPr>
          <a:xfrm rot="10800000">
            <a:off x="5585363" y="3621400"/>
            <a:ext cx="286500" cy="0"/>
          </a:xfrm>
          <a:prstGeom prst="straightConnector1">
            <a:avLst/>
          </a:prstGeom>
          <a:noFill/>
          <a:ln cap="flat" cmpd="sng" w="19050">
            <a:solidFill>
              <a:srgbClr val="000000"/>
            </a:solidFill>
            <a:prstDash val="solid"/>
            <a:round/>
            <a:headEnd len="med" w="med" type="none"/>
            <a:tailEnd len="med" w="med" type="none"/>
          </a:ln>
        </p:spPr>
      </p:cxnSp>
      <p:sp>
        <p:nvSpPr>
          <p:cNvPr id="344" name="Google Shape;344;p41"/>
          <p:cNvSpPr/>
          <p:nvPr/>
        </p:nvSpPr>
        <p:spPr>
          <a:xfrm>
            <a:off x="58718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345" name="Google Shape;345;p41"/>
          <p:cNvCxnSpPr>
            <a:stCxn id="340" idx="1"/>
            <a:endCxn id="344" idx="3"/>
          </p:cNvCxnSpPr>
          <p:nvPr/>
        </p:nvCxnSpPr>
        <p:spPr>
          <a:xfrm rot="10800000">
            <a:off x="6156863" y="3621400"/>
            <a:ext cx="286500" cy="0"/>
          </a:xfrm>
          <a:prstGeom prst="straightConnector1">
            <a:avLst/>
          </a:prstGeom>
          <a:noFill/>
          <a:ln cap="flat" cmpd="sng" w="19050">
            <a:solidFill>
              <a:srgbClr val="000000"/>
            </a:solidFill>
            <a:prstDash val="solid"/>
            <a:round/>
            <a:headEnd len="med" w="med" type="none"/>
            <a:tailEnd len="med" w="med" type="none"/>
          </a:ln>
        </p:spPr>
      </p:cxnSp>
      <p:sp>
        <p:nvSpPr>
          <p:cNvPr id="346" name="Google Shape;346;p41"/>
          <p:cNvSpPr/>
          <p:nvPr/>
        </p:nvSpPr>
        <p:spPr>
          <a:xfrm>
            <a:off x="7205363" y="3859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cxnSp>
        <p:nvCxnSpPr>
          <p:cNvPr id="347" name="Google Shape;347;p41"/>
          <p:cNvCxnSpPr>
            <a:stCxn id="346" idx="1"/>
            <a:endCxn id="340" idx="3"/>
          </p:cNvCxnSpPr>
          <p:nvPr/>
        </p:nvCxnSpPr>
        <p:spPr>
          <a:xfrm rot="10800000">
            <a:off x="6728400" y="3621437"/>
            <a:ext cx="518700" cy="280200"/>
          </a:xfrm>
          <a:prstGeom prst="straightConnector1">
            <a:avLst/>
          </a:prstGeom>
          <a:noFill/>
          <a:ln cap="flat" cmpd="sng" w="19050">
            <a:solidFill>
              <a:srgbClr val="000000"/>
            </a:solidFill>
            <a:prstDash val="solid"/>
            <a:round/>
            <a:headEnd len="med" w="med" type="none"/>
            <a:tailEnd len="med" w="med" type="none"/>
          </a:ln>
        </p:spPr>
      </p:cxnSp>
      <p:cxnSp>
        <p:nvCxnSpPr>
          <p:cNvPr id="348" name="Google Shape;348;p41"/>
          <p:cNvCxnSpPr>
            <a:stCxn id="346" idx="3"/>
            <a:endCxn id="342" idx="3"/>
          </p:cNvCxnSpPr>
          <p:nvPr/>
        </p:nvCxnSpPr>
        <p:spPr>
          <a:xfrm flipH="1">
            <a:off x="6728400" y="4103162"/>
            <a:ext cx="518700" cy="280200"/>
          </a:xfrm>
          <a:prstGeom prst="straightConnector1">
            <a:avLst/>
          </a:prstGeom>
          <a:noFill/>
          <a:ln cap="flat" cmpd="sng" w="19050">
            <a:solidFill>
              <a:srgbClr val="000000"/>
            </a:solidFill>
            <a:prstDash val="solid"/>
            <a:round/>
            <a:headEnd len="med" w="med" type="none"/>
            <a:tailEnd len="med" w="med" type="none"/>
          </a:ln>
        </p:spPr>
      </p:cxnSp>
      <p:sp>
        <p:nvSpPr>
          <p:cNvPr id="349" name="Google Shape;349;p41"/>
          <p:cNvSpPr txBox="1"/>
          <p:nvPr/>
        </p:nvSpPr>
        <p:spPr>
          <a:xfrm>
            <a:off x="4795625" y="4696025"/>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All links 10 Gbps.</a:t>
            </a:r>
            <a:endParaRPr>
              <a:solidFill>
                <a:schemeClr val="dk1"/>
              </a:solidFill>
              <a:latin typeface="Roboto"/>
              <a:ea typeface="Roboto"/>
              <a:cs typeface="Roboto"/>
              <a:sym typeface="Roboto"/>
            </a:endParaRPr>
          </a:p>
        </p:txBody>
      </p:sp>
      <p:sp>
        <p:nvSpPr>
          <p:cNvPr id="350" name="Google Shape;350;p41"/>
          <p:cNvSpPr/>
          <p:nvPr/>
        </p:nvSpPr>
        <p:spPr>
          <a:xfrm>
            <a:off x="3574425" y="4143250"/>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1C232"/>
            </a:solidFill>
            <a:prstDash val="solid"/>
            <a:round/>
            <a:headEnd len="med" w="med" type="none"/>
            <a:tailEnd len="med" w="med" type="triangle"/>
          </a:ln>
        </p:spPr>
      </p:sp>
      <p:sp>
        <p:nvSpPr>
          <p:cNvPr id="332" name="Google Shape;332;p41"/>
          <p:cNvSpPr/>
          <p:nvPr/>
        </p:nvSpPr>
        <p:spPr>
          <a:xfrm>
            <a:off x="4157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337" name="Google Shape;337;p41"/>
          <p:cNvSpPr/>
          <p:nvPr/>
        </p:nvSpPr>
        <p:spPr>
          <a:xfrm>
            <a:off x="5300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342" name="Google Shape;342;p41"/>
          <p:cNvSpPr/>
          <p:nvPr/>
        </p:nvSpPr>
        <p:spPr>
          <a:xfrm>
            <a:off x="6443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333" name="Google Shape;333;p41"/>
          <p:cNvSpPr/>
          <p:nvPr/>
        </p:nvSpPr>
        <p:spPr>
          <a:xfrm>
            <a:off x="3395363" y="4240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351" name="Google Shape;351;p41"/>
          <p:cNvSpPr txBox="1"/>
          <p:nvPr/>
        </p:nvSpPr>
        <p:spPr>
          <a:xfrm>
            <a:off x="1665800" y="3513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FF00FF"/>
                </a:solidFill>
                <a:latin typeface="Roboto"/>
                <a:ea typeface="Roboto"/>
                <a:cs typeface="Roboto"/>
                <a:sym typeface="Roboto"/>
              </a:rPr>
              <a:t>A → C = 10 Gbps</a:t>
            </a:r>
            <a:endParaRPr>
              <a:solidFill>
                <a:srgbClr val="FF00FF"/>
              </a:solidFill>
              <a:latin typeface="Roboto"/>
              <a:ea typeface="Roboto"/>
              <a:cs typeface="Roboto"/>
              <a:sym typeface="Roboto"/>
            </a:endParaRPr>
          </a:p>
        </p:txBody>
      </p:sp>
      <p:sp>
        <p:nvSpPr>
          <p:cNvPr id="352" name="Google Shape;352;p41"/>
          <p:cNvSpPr txBox="1"/>
          <p:nvPr/>
        </p:nvSpPr>
        <p:spPr>
          <a:xfrm>
            <a:off x="1665800" y="4275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E69138"/>
                </a:solidFill>
                <a:latin typeface="Roboto"/>
                <a:ea typeface="Roboto"/>
                <a:cs typeface="Roboto"/>
                <a:sym typeface="Roboto"/>
              </a:rPr>
              <a:t>B → C = 10 Gbps</a:t>
            </a:r>
            <a:endParaRPr>
              <a:solidFill>
                <a:srgbClr val="E69138"/>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2"/>
          <p:cNvSpPr/>
          <p:nvPr/>
        </p:nvSpPr>
        <p:spPr>
          <a:xfrm flipH="1" rot="10800000">
            <a:off x="3498225" y="3663371"/>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F00FF"/>
            </a:solidFill>
            <a:prstDash val="solid"/>
            <a:round/>
            <a:headEnd len="med" w="med" type="none"/>
            <a:tailEnd len="med" w="med" type="triangle"/>
          </a:ln>
        </p:spPr>
      </p:sp>
      <p:sp>
        <p:nvSpPr>
          <p:cNvPr id="358" name="Google Shape;358;p4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Traffic Engineering</a:t>
            </a:r>
            <a:endParaRPr/>
          </a:p>
        </p:txBody>
      </p:sp>
      <p:sp>
        <p:nvSpPr>
          <p:cNvPr id="359" name="Google Shape;359;p42"/>
          <p:cNvSpPr txBox="1"/>
          <p:nvPr>
            <p:ph idx="1" type="body"/>
          </p:nvPr>
        </p:nvSpPr>
        <p:spPr>
          <a:xfrm>
            <a:off x="107050" y="402200"/>
            <a:ext cx="8909700" cy="246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flexible control plane lets the operator compute more intelligent routes.</a:t>
            </a:r>
            <a:endParaRPr/>
          </a:p>
          <a:p>
            <a:pPr indent="-342900" lvl="0" marL="457200" rtl="0" algn="l">
              <a:spcBef>
                <a:spcPts val="600"/>
              </a:spcBef>
              <a:spcAft>
                <a:spcPts val="0"/>
              </a:spcAft>
              <a:buSzPts val="1800"/>
              <a:buChar char="●"/>
            </a:pPr>
            <a:r>
              <a:rPr lang="en"/>
              <a:t>A centralized operator could tell the flows to use different paths.</a:t>
            </a:r>
            <a:endParaRPr/>
          </a:p>
          <a:p>
            <a:pPr indent="-342900" lvl="0" marL="457200" rtl="0" algn="l">
              <a:spcBef>
                <a:spcPts val="0"/>
              </a:spcBef>
              <a:spcAft>
                <a:spcPts val="0"/>
              </a:spcAft>
              <a:buSzPts val="1800"/>
              <a:buChar char="●"/>
            </a:pPr>
            <a:r>
              <a:rPr lang="en"/>
              <a:t>Notice: </a:t>
            </a:r>
            <a:r>
              <a:rPr lang="en">
                <a:solidFill>
                  <a:srgbClr val="FF00FF"/>
                </a:solidFill>
              </a:rPr>
              <a:t>A → C</a:t>
            </a:r>
            <a:r>
              <a:rPr lang="en"/>
              <a:t> is not using the shortest path.</a:t>
            </a:r>
            <a:endParaRPr/>
          </a:p>
          <a:p>
            <a:pPr indent="-342900" lvl="0" marL="457200" rtl="0" algn="l">
              <a:spcBef>
                <a:spcPts val="0"/>
              </a:spcBef>
              <a:spcAft>
                <a:spcPts val="0"/>
              </a:spcAft>
              <a:buSzPts val="1800"/>
              <a:buChar char="●"/>
            </a:pPr>
            <a:r>
              <a:rPr lang="en"/>
              <a:t>Now, none of the links are congested anymore.</a:t>
            </a:r>
            <a:endParaRPr/>
          </a:p>
        </p:txBody>
      </p:sp>
      <p:sp>
        <p:nvSpPr>
          <p:cNvPr id="360" name="Google Shape;360;p42"/>
          <p:cNvSpPr/>
          <p:nvPr/>
        </p:nvSpPr>
        <p:spPr>
          <a:xfrm>
            <a:off x="4157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361" name="Google Shape;361;p42"/>
          <p:cNvCxnSpPr>
            <a:stCxn id="360" idx="1"/>
            <a:endCxn id="362" idx="6"/>
          </p:cNvCxnSpPr>
          <p:nvPr/>
        </p:nvCxnSpPr>
        <p:spPr>
          <a:xfrm rot="10800000">
            <a:off x="3680363" y="3621400"/>
            <a:ext cx="477000" cy="0"/>
          </a:xfrm>
          <a:prstGeom prst="straightConnector1">
            <a:avLst/>
          </a:prstGeom>
          <a:noFill/>
          <a:ln cap="flat" cmpd="sng" w="19050">
            <a:solidFill>
              <a:srgbClr val="000000"/>
            </a:solidFill>
            <a:prstDash val="solid"/>
            <a:round/>
            <a:headEnd len="med" w="med" type="none"/>
            <a:tailEnd len="med" w="med" type="none"/>
          </a:ln>
        </p:spPr>
      </p:cxnSp>
      <p:sp>
        <p:nvSpPr>
          <p:cNvPr id="362" name="Google Shape;362;p42"/>
          <p:cNvSpPr/>
          <p:nvPr/>
        </p:nvSpPr>
        <p:spPr>
          <a:xfrm>
            <a:off x="3395363" y="3478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363" name="Google Shape;363;p42"/>
          <p:cNvCxnSpPr>
            <a:stCxn id="364" idx="1"/>
            <a:endCxn id="365" idx="6"/>
          </p:cNvCxnSpPr>
          <p:nvPr/>
        </p:nvCxnSpPr>
        <p:spPr>
          <a:xfrm rot="10800000">
            <a:off x="3680363" y="4383400"/>
            <a:ext cx="477000" cy="0"/>
          </a:xfrm>
          <a:prstGeom prst="straightConnector1">
            <a:avLst/>
          </a:prstGeom>
          <a:noFill/>
          <a:ln cap="flat" cmpd="sng" w="19050">
            <a:solidFill>
              <a:srgbClr val="000000"/>
            </a:solidFill>
            <a:prstDash val="solid"/>
            <a:round/>
            <a:headEnd len="med" w="med" type="none"/>
            <a:tailEnd len="med" w="med" type="none"/>
          </a:ln>
        </p:spPr>
      </p:cxnSp>
      <p:sp>
        <p:nvSpPr>
          <p:cNvPr id="366" name="Google Shape;366;p42"/>
          <p:cNvSpPr/>
          <p:nvPr/>
        </p:nvSpPr>
        <p:spPr>
          <a:xfrm>
            <a:off x="5300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367" name="Google Shape;367;p42"/>
          <p:cNvCxnSpPr>
            <a:stCxn id="366" idx="1"/>
            <a:endCxn id="360" idx="3"/>
          </p:cNvCxnSpPr>
          <p:nvPr/>
        </p:nvCxnSpPr>
        <p:spPr>
          <a:xfrm rot="10800000">
            <a:off x="4442363" y="3621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368" name="Google Shape;368;p42"/>
          <p:cNvCxnSpPr>
            <a:stCxn id="369" idx="1"/>
            <a:endCxn id="360" idx="3"/>
          </p:cNvCxnSpPr>
          <p:nvPr/>
        </p:nvCxnSpPr>
        <p:spPr>
          <a:xfrm rot="10800000">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370" name="Google Shape;370;p42"/>
          <p:cNvCxnSpPr>
            <a:stCxn id="366" idx="1"/>
            <a:endCxn id="364" idx="3"/>
          </p:cNvCxnSpPr>
          <p:nvPr/>
        </p:nvCxnSpPr>
        <p:spPr>
          <a:xfrm flipH="1">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371" name="Google Shape;371;p42"/>
          <p:cNvCxnSpPr>
            <a:stCxn id="369" idx="1"/>
            <a:endCxn id="364" idx="3"/>
          </p:cNvCxnSpPr>
          <p:nvPr/>
        </p:nvCxnSpPr>
        <p:spPr>
          <a:xfrm rot="10800000">
            <a:off x="4442363" y="4383400"/>
            <a:ext cx="858000" cy="0"/>
          </a:xfrm>
          <a:prstGeom prst="straightConnector1">
            <a:avLst/>
          </a:prstGeom>
          <a:noFill/>
          <a:ln cap="flat" cmpd="sng" w="19050">
            <a:solidFill>
              <a:srgbClr val="000000"/>
            </a:solidFill>
            <a:prstDash val="solid"/>
            <a:round/>
            <a:headEnd len="med" w="med" type="none"/>
            <a:tailEnd len="med" w="med" type="none"/>
          </a:ln>
        </p:spPr>
      </p:cxnSp>
      <p:sp>
        <p:nvSpPr>
          <p:cNvPr id="372" name="Google Shape;372;p42"/>
          <p:cNvSpPr/>
          <p:nvPr/>
        </p:nvSpPr>
        <p:spPr>
          <a:xfrm>
            <a:off x="6443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373" name="Google Shape;373;p42"/>
          <p:cNvCxnSpPr>
            <a:stCxn id="374" idx="1"/>
            <a:endCxn id="369" idx="3"/>
          </p:cNvCxnSpPr>
          <p:nvPr/>
        </p:nvCxnSpPr>
        <p:spPr>
          <a:xfrm rot="10800000">
            <a:off x="5585363" y="4383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375" name="Google Shape;375;p42"/>
          <p:cNvCxnSpPr>
            <a:stCxn id="376" idx="1"/>
            <a:endCxn id="366" idx="3"/>
          </p:cNvCxnSpPr>
          <p:nvPr/>
        </p:nvCxnSpPr>
        <p:spPr>
          <a:xfrm rot="10800000">
            <a:off x="5585363" y="3621400"/>
            <a:ext cx="286500" cy="0"/>
          </a:xfrm>
          <a:prstGeom prst="straightConnector1">
            <a:avLst/>
          </a:prstGeom>
          <a:noFill/>
          <a:ln cap="flat" cmpd="sng" w="19050">
            <a:solidFill>
              <a:srgbClr val="000000"/>
            </a:solidFill>
            <a:prstDash val="solid"/>
            <a:round/>
            <a:headEnd len="med" w="med" type="none"/>
            <a:tailEnd len="med" w="med" type="none"/>
          </a:ln>
        </p:spPr>
      </p:cxnSp>
      <p:sp>
        <p:nvSpPr>
          <p:cNvPr id="376" name="Google Shape;376;p42"/>
          <p:cNvSpPr/>
          <p:nvPr/>
        </p:nvSpPr>
        <p:spPr>
          <a:xfrm>
            <a:off x="58718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377" name="Google Shape;377;p42"/>
          <p:cNvCxnSpPr>
            <a:stCxn id="372" idx="1"/>
            <a:endCxn id="376" idx="3"/>
          </p:cNvCxnSpPr>
          <p:nvPr/>
        </p:nvCxnSpPr>
        <p:spPr>
          <a:xfrm rot="10800000">
            <a:off x="6156863" y="3621400"/>
            <a:ext cx="286500" cy="0"/>
          </a:xfrm>
          <a:prstGeom prst="straightConnector1">
            <a:avLst/>
          </a:prstGeom>
          <a:noFill/>
          <a:ln cap="flat" cmpd="sng" w="19050">
            <a:solidFill>
              <a:srgbClr val="000000"/>
            </a:solidFill>
            <a:prstDash val="solid"/>
            <a:round/>
            <a:headEnd len="med" w="med" type="none"/>
            <a:tailEnd len="med" w="med" type="none"/>
          </a:ln>
        </p:spPr>
      </p:cxnSp>
      <p:sp>
        <p:nvSpPr>
          <p:cNvPr id="378" name="Google Shape;378;p42"/>
          <p:cNvSpPr/>
          <p:nvPr/>
        </p:nvSpPr>
        <p:spPr>
          <a:xfrm>
            <a:off x="7205363" y="3859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cxnSp>
        <p:nvCxnSpPr>
          <p:cNvPr id="379" name="Google Shape;379;p42"/>
          <p:cNvCxnSpPr>
            <a:stCxn id="378" idx="1"/>
            <a:endCxn id="372" idx="3"/>
          </p:cNvCxnSpPr>
          <p:nvPr/>
        </p:nvCxnSpPr>
        <p:spPr>
          <a:xfrm rot="10800000">
            <a:off x="6728400" y="3621437"/>
            <a:ext cx="518700" cy="280200"/>
          </a:xfrm>
          <a:prstGeom prst="straightConnector1">
            <a:avLst/>
          </a:prstGeom>
          <a:noFill/>
          <a:ln cap="flat" cmpd="sng" w="19050">
            <a:solidFill>
              <a:srgbClr val="000000"/>
            </a:solidFill>
            <a:prstDash val="solid"/>
            <a:round/>
            <a:headEnd len="med" w="med" type="none"/>
            <a:tailEnd len="med" w="med" type="none"/>
          </a:ln>
        </p:spPr>
      </p:cxnSp>
      <p:cxnSp>
        <p:nvCxnSpPr>
          <p:cNvPr id="380" name="Google Shape;380;p42"/>
          <p:cNvCxnSpPr>
            <a:stCxn id="378" idx="3"/>
            <a:endCxn id="374" idx="3"/>
          </p:cNvCxnSpPr>
          <p:nvPr/>
        </p:nvCxnSpPr>
        <p:spPr>
          <a:xfrm flipH="1">
            <a:off x="6728400" y="4103162"/>
            <a:ext cx="518700" cy="280200"/>
          </a:xfrm>
          <a:prstGeom prst="straightConnector1">
            <a:avLst/>
          </a:prstGeom>
          <a:noFill/>
          <a:ln cap="flat" cmpd="sng" w="19050">
            <a:solidFill>
              <a:srgbClr val="000000"/>
            </a:solidFill>
            <a:prstDash val="solid"/>
            <a:round/>
            <a:headEnd len="med" w="med" type="none"/>
            <a:tailEnd len="med" w="med" type="none"/>
          </a:ln>
        </p:spPr>
      </p:cxnSp>
      <p:sp>
        <p:nvSpPr>
          <p:cNvPr id="381" name="Google Shape;381;p42"/>
          <p:cNvSpPr txBox="1"/>
          <p:nvPr/>
        </p:nvSpPr>
        <p:spPr>
          <a:xfrm>
            <a:off x="4795625" y="4696025"/>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All links 10 Gbps.</a:t>
            </a:r>
            <a:endParaRPr>
              <a:solidFill>
                <a:schemeClr val="dk1"/>
              </a:solidFill>
              <a:latin typeface="Roboto"/>
              <a:ea typeface="Roboto"/>
              <a:cs typeface="Roboto"/>
              <a:sym typeface="Roboto"/>
            </a:endParaRPr>
          </a:p>
        </p:txBody>
      </p:sp>
      <p:sp>
        <p:nvSpPr>
          <p:cNvPr id="382" name="Google Shape;382;p42"/>
          <p:cNvSpPr/>
          <p:nvPr/>
        </p:nvSpPr>
        <p:spPr>
          <a:xfrm>
            <a:off x="3574425" y="4143250"/>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1C232"/>
            </a:solidFill>
            <a:prstDash val="solid"/>
            <a:round/>
            <a:headEnd len="med" w="med" type="none"/>
            <a:tailEnd len="med" w="med" type="triangle"/>
          </a:ln>
        </p:spPr>
      </p:sp>
      <p:sp>
        <p:nvSpPr>
          <p:cNvPr id="364" name="Google Shape;364;p42"/>
          <p:cNvSpPr/>
          <p:nvPr/>
        </p:nvSpPr>
        <p:spPr>
          <a:xfrm>
            <a:off x="4157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369" name="Google Shape;369;p42"/>
          <p:cNvSpPr/>
          <p:nvPr/>
        </p:nvSpPr>
        <p:spPr>
          <a:xfrm>
            <a:off x="5300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374" name="Google Shape;374;p42"/>
          <p:cNvSpPr/>
          <p:nvPr/>
        </p:nvSpPr>
        <p:spPr>
          <a:xfrm>
            <a:off x="6443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365" name="Google Shape;365;p42"/>
          <p:cNvSpPr/>
          <p:nvPr/>
        </p:nvSpPr>
        <p:spPr>
          <a:xfrm>
            <a:off x="3395363" y="4240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383" name="Google Shape;383;p42"/>
          <p:cNvSpPr txBox="1"/>
          <p:nvPr/>
        </p:nvSpPr>
        <p:spPr>
          <a:xfrm>
            <a:off x="1665800" y="3513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FF00FF"/>
                </a:solidFill>
                <a:latin typeface="Roboto"/>
                <a:ea typeface="Roboto"/>
                <a:cs typeface="Roboto"/>
                <a:sym typeface="Roboto"/>
              </a:rPr>
              <a:t>A → C = 10 Gbps</a:t>
            </a:r>
            <a:endParaRPr>
              <a:solidFill>
                <a:srgbClr val="FF00FF"/>
              </a:solidFill>
              <a:latin typeface="Roboto"/>
              <a:ea typeface="Roboto"/>
              <a:cs typeface="Roboto"/>
              <a:sym typeface="Roboto"/>
            </a:endParaRPr>
          </a:p>
        </p:txBody>
      </p:sp>
      <p:sp>
        <p:nvSpPr>
          <p:cNvPr id="384" name="Google Shape;384;p42"/>
          <p:cNvSpPr txBox="1"/>
          <p:nvPr/>
        </p:nvSpPr>
        <p:spPr>
          <a:xfrm>
            <a:off x="1665800" y="4275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E69138"/>
                </a:solidFill>
                <a:latin typeface="Roboto"/>
                <a:ea typeface="Roboto"/>
                <a:cs typeface="Roboto"/>
                <a:sym typeface="Roboto"/>
              </a:rPr>
              <a:t>B → C = 10 Gbps</a:t>
            </a:r>
            <a:endParaRPr>
              <a:solidFill>
                <a:srgbClr val="E69138"/>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3"/>
          <p:cNvSpPr/>
          <p:nvPr/>
        </p:nvSpPr>
        <p:spPr>
          <a:xfrm flipH="1" rot="10800000">
            <a:off x="3498225" y="3663371"/>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F00FF"/>
            </a:solidFill>
            <a:prstDash val="solid"/>
            <a:round/>
            <a:headEnd len="med" w="med" type="none"/>
            <a:tailEnd len="med" w="med" type="triangle"/>
          </a:ln>
        </p:spPr>
      </p:sp>
      <p:sp>
        <p:nvSpPr>
          <p:cNvPr id="390" name="Google Shape;390;p4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Traffic Engineering – cSPF</a:t>
            </a:r>
            <a:endParaRPr/>
          </a:p>
        </p:txBody>
      </p:sp>
      <p:sp>
        <p:nvSpPr>
          <p:cNvPr id="391" name="Google Shape;391;p43"/>
          <p:cNvSpPr txBox="1"/>
          <p:nvPr>
            <p:ph idx="1" type="body"/>
          </p:nvPr>
        </p:nvSpPr>
        <p:spPr>
          <a:xfrm>
            <a:off x="107050" y="402200"/>
            <a:ext cx="8909700" cy="246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Constrained Shortest Path First (cSPF)</a:t>
            </a:r>
            <a:r>
              <a:rPr lang="en"/>
              <a:t> finds the shortest path that has sufficient capacity.</a:t>
            </a:r>
            <a:endParaRPr/>
          </a:p>
          <a:p>
            <a:pPr indent="-342900" lvl="0" marL="457200" rtl="0" algn="l">
              <a:spcBef>
                <a:spcPts val="600"/>
              </a:spcBef>
              <a:spcAft>
                <a:spcPts val="0"/>
              </a:spcAft>
              <a:buSzPts val="1800"/>
              <a:buChar char="●"/>
            </a:pPr>
            <a:r>
              <a:rPr lang="en"/>
              <a:t>Contrast with standard shortest-path, which doesn't consider capacity.</a:t>
            </a:r>
            <a:endParaRPr/>
          </a:p>
          <a:p>
            <a:pPr indent="-342900" lvl="0" marL="457200" rtl="0" algn="l">
              <a:spcBef>
                <a:spcPts val="0"/>
              </a:spcBef>
              <a:spcAft>
                <a:spcPts val="0"/>
              </a:spcAft>
              <a:buSzPts val="1800"/>
              <a:buChar char="●"/>
            </a:pPr>
            <a:r>
              <a:rPr lang="en"/>
              <a:t>Could also enforce other constraints (e.g. latency, not capacity).</a:t>
            </a:r>
            <a:endParaRPr/>
          </a:p>
          <a:p>
            <a:pPr indent="-342900" lvl="0" marL="457200" rtl="0" algn="l">
              <a:spcBef>
                <a:spcPts val="0"/>
              </a:spcBef>
              <a:spcAft>
                <a:spcPts val="0"/>
              </a:spcAft>
              <a:buSzPts val="1800"/>
              <a:buChar char="●"/>
            </a:pPr>
            <a:r>
              <a:rPr lang="en"/>
              <a:t>Requires a central operator to coordinate all the routers.</a:t>
            </a:r>
            <a:endParaRPr/>
          </a:p>
        </p:txBody>
      </p:sp>
      <p:sp>
        <p:nvSpPr>
          <p:cNvPr id="392" name="Google Shape;392;p43"/>
          <p:cNvSpPr/>
          <p:nvPr/>
        </p:nvSpPr>
        <p:spPr>
          <a:xfrm>
            <a:off x="4157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393" name="Google Shape;393;p43"/>
          <p:cNvCxnSpPr>
            <a:stCxn id="392" idx="1"/>
            <a:endCxn id="394" idx="6"/>
          </p:cNvCxnSpPr>
          <p:nvPr/>
        </p:nvCxnSpPr>
        <p:spPr>
          <a:xfrm rot="10800000">
            <a:off x="3680363" y="3621400"/>
            <a:ext cx="477000" cy="0"/>
          </a:xfrm>
          <a:prstGeom prst="straightConnector1">
            <a:avLst/>
          </a:prstGeom>
          <a:noFill/>
          <a:ln cap="flat" cmpd="sng" w="19050">
            <a:solidFill>
              <a:srgbClr val="000000"/>
            </a:solidFill>
            <a:prstDash val="solid"/>
            <a:round/>
            <a:headEnd len="med" w="med" type="none"/>
            <a:tailEnd len="med" w="med" type="none"/>
          </a:ln>
        </p:spPr>
      </p:cxnSp>
      <p:sp>
        <p:nvSpPr>
          <p:cNvPr id="394" name="Google Shape;394;p43"/>
          <p:cNvSpPr/>
          <p:nvPr/>
        </p:nvSpPr>
        <p:spPr>
          <a:xfrm>
            <a:off x="3395363" y="3478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395" name="Google Shape;395;p43"/>
          <p:cNvCxnSpPr>
            <a:stCxn id="396" idx="1"/>
            <a:endCxn id="397" idx="6"/>
          </p:cNvCxnSpPr>
          <p:nvPr/>
        </p:nvCxnSpPr>
        <p:spPr>
          <a:xfrm rot="10800000">
            <a:off x="3680363" y="4383400"/>
            <a:ext cx="477000" cy="0"/>
          </a:xfrm>
          <a:prstGeom prst="straightConnector1">
            <a:avLst/>
          </a:prstGeom>
          <a:noFill/>
          <a:ln cap="flat" cmpd="sng" w="19050">
            <a:solidFill>
              <a:srgbClr val="000000"/>
            </a:solidFill>
            <a:prstDash val="solid"/>
            <a:round/>
            <a:headEnd len="med" w="med" type="none"/>
            <a:tailEnd len="med" w="med" type="none"/>
          </a:ln>
        </p:spPr>
      </p:cxnSp>
      <p:sp>
        <p:nvSpPr>
          <p:cNvPr id="398" name="Google Shape;398;p43"/>
          <p:cNvSpPr/>
          <p:nvPr/>
        </p:nvSpPr>
        <p:spPr>
          <a:xfrm>
            <a:off x="5300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399" name="Google Shape;399;p43"/>
          <p:cNvCxnSpPr>
            <a:stCxn id="398" idx="1"/>
            <a:endCxn id="392" idx="3"/>
          </p:cNvCxnSpPr>
          <p:nvPr/>
        </p:nvCxnSpPr>
        <p:spPr>
          <a:xfrm rot="10800000">
            <a:off x="4442363" y="3621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400" name="Google Shape;400;p43"/>
          <p:cNvCxnSpPr>
            <a:stCxn id="401" idx="1"/>
            <a:endCxn id="392" idx="3"/>
          </p:cNvCxnSpPr>
          <p:nvPr/>
        </p:nvCxnSpPr>
        <p:spPr>
          <a:xfrm rot="10800000">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402" name="Google Shape;402;p43"/>
          <p:cNvCxnSpPr>
            <a:stCxn id="398" idx="1"/>
            <a:endCxn id="396" idx="3"/>
          </p:cNvCxnSpPr>
          <p:nvPr/>
        </p:nvCxnSpPr>
        <p:spPr>
          <a:xfrm flipH="1">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403" name="Google Shape;403;p43"/>
          <p:cNvCxnSpPr>
            <a:stCxn id="401" idx="1"/>
            <a:endCxn id="396" idx="3"/>
          </p:cNvCxnSpPr>
          <p:nvPr/>
        </p:nvCxnSpPr>
        <p:spPr>
          <a:xfrm rot="10800000">
            <a:off x="4442363" y="4383400"/>
            <a:ext cx="858000" cy="0"/>
          </a:xfrm>
          <a:prstGeom prst="straightConnector1">
            <a:avLst/>
          </a:prstGeom>
          <a:noFill/>
          <a:ln cap="flat" cmpd="sng" w="19050">
            <a:solidFill>
              <a:srgbClr val="000000"/>
            </a:solidFill>
            <a:prstDash val="solid"/>
            <a:round/>
            <a:headEnd len="med" w="med" type="none"/>
            <a:tailEnd len="med" w="med" type="none"/>
          </a:ln>
        </p:spPr>
      </p:cxnSp>
      <p:sp>
        <p:nvSpPr>
          <p:cNvPr id="404" name="Google Shape;404;p43"/>
          <p:cNvSpPr/>
          <p:nvPr/>
        </p:nvSpPr>
        <p:spPr>
          <a:xfrm>
            <a:off x="6443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405" name="Google Shape;405;p43"/>
          <p:cNvCxnSpPr>
            <a:stCxn id="406" idx="1"/>
            <a:endCxn id="401" idx="3"/>
          </p:cNvCxnSpPr>
          <p:nvPr/>
        </p:nvCxnSpPr>
        <p:spPr>
          <a:xfrm rot="10800000">
            <a:off x="5585363" y="4383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407" name="Google Shape;407;p43"/>
          <p:cNvCxnSpPr>
            <a:stCxn id="408" idx="1"/>
            <a:endCxn id="398" idx="3"/>
          </p:cNvCxnSpPr>
          <p:nvPr/>
        </p:nvCxnSpPr>
        <p:spPr>
          <a:xfrm rot="10800000">
            <a:off x="5585363" y="3621400"/>
            <a:ext cx="286500" cy="0"/>
          </a:xfrm>
          <a:prstGeom prst="straightConnector1">
            <a:avLst/>
          </a:prstGeom>
          <a:noFill/>
          <a:ln cap="flat" cmpd="sng" w="19050">
            <a:solidFill>
              <a:srgbClr val="000000"/>
            </a:solidFill>
            <a:prstDash val="solid"/>
            <a:round/>
            <a:headEnd len="med" w="med" type="none"/>
            <a:tailEnd len="med" w="med" type="none"/>
          </a:ln>
        </p:spPr>
      </p:cxnSp>
      <p:sp>
        <p:nvSpPr>
          <p:cNvPr id="408" name="Google Shape;408;p43"/>
          <p:cNvSpPr/>
          <p:nvPr/>
        </p:nvSpPr>
        <p:spPr>
          <a:xfrm>
            <a:off x="58718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409" name="Google Shape;409;p43"/>
          <p:cNvCxnSpPr>
            <a:stCxn id="404" idx="1"/>
            <a:endCxn id="408" idx="3"/>
          </p:cNvCxnSpPr>
          <p:nvPr/>
        </p:nvCxnSpPr>
        <p:spPr>
          <a:xfrm rot="10800000">
            <a:off x="6156863" y="3621400"/>
            <a:ext cx="286500" cy="0"/>
          </a:xfrm>
          <a:prstGeom prst="straightConnector1">
            <a:avLst/>
          </a:prstGeom>
          <a:noFill/>
          <a:ln cap="flat" cmpd="sng" w="19050">
            <a:solidFill>
              <a:srgbClr val="000000"/>
            </a:solidFill>
            <a:prstDash val="solid"/>
            <a:round/>
            <a:headEnd len="med" w="med" type="none"/>
            <a:tailEnd len="med" w="med" type="none"/>
          </a:ln>
        </p:spPr>
      </p:cxnSp>
      <p:sp>
        <p:nvSpPr>
          <p:cNvPr id="410" name="Google Shape;410;p43"/>
          <p:cNvSpPr/>
          <p:nvPr/>
        </p:nvSpPr>
        <p:spPr>
          <a:xfrm>
            <a:off x="7205363" y="3859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cxnSp>
        <p:nvCxnSpPr>
          <p:cNvPr id="411" name="Google Shape;411;p43"/>
          <p:cNvCxnSpPr>
            <a:stCxn id="410" idx="1"/>
            <a:endCxn id="404" idx="3"/>
          </p:cNvCxnSpPr>
          <p:nvPr/>
        </p:nvCxnSpPr>
        <p:spPr>
          <a:xfrm rot="10800000">
            <a:off x="6728400" y="3621437"/>
            <a:ext cx="518700" cy="280200"/>
          </a:xfrm>
          <a:prstGeom prst="straightConnector1">
            <a:avLst/>
          </a:prstGeom>
          <a:noFill/>
          <a:ln cap="flat" cmpd="sng" w="19050">
            <a:solidFill>
              <a:srgbClr val="000000"/>
            </a:solidFill>
            <a:prstDash val="solid"/>
            <a:round/>
            <a:headEnd len="med" w="med" type="none"/>
            <a:tailEnd len="med" w="med" type="none"/>
          </a:ln>
        </p:spPr>
      </p:cxnSp>
      <p:cxnSp>
        <p:nvCxnSpPr>
          <p:cNvPr id="412" name="Google Shape;412;p43"/>
          <p:cNvCxnSpPr>
            <a:stCxn id="410" idx="3"/>
            <a:endCxn id="406" idx="3"/>
          </p:cNvCxnSpPr>
          <p:nvPr/>
        </p:nvCxnSpPr>
        <p:spPr>
          <a:xfrm flipH="1">
            <a:off x="6728400" y="4103162"/>
            <a:ext cx="518700" cy="280200"/>
          </a:xfrm>
          <a:prstGeom prst="straightConnector1">
            <a:avLst/>
          </a:prstGeom>
          <a:noFill/>
          <a:ln cap="flat" cmpd="sng" w="19050">
            <a:solidFill>
              <a:srgbClr val="000000"/>
            </a:solidFill>
            <a:prstDash val="solid"/>
            <a:round/>
            <a:headEnd len="med" w="med" type="none"/>
            <a:tailEnd len="med" w="med" type="none"/>
          </a:ln>
        </p:spPr>
      </p:cxnSp>
      <p:sp>
        <p:nvSpPr>
          <p:cNvPr id="413" name="Google Shape;413;p43"/>
          <p:cNvSpPr txBox="1"/>
          <p:nvPr/>
        </p:nvSpPr>
        <p:spPr>
          <a:xfrm>
            <a:off x="4795625" y="4696025"/>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All links 10 Gbps.</a:t>
            </a:r>
            <a:endParaRPr>
              <a:solidFill>
                <a:schemeClr val="dk1"/>
              </a:solidFill>
              <a:latin typeface="Roboto"/>
              <a:ea typeface="Roboto"/>
              <a:cs typeface="Roboto"/>
              <a:sym typeface="Roboto"/>
            </a:endParaRPr>
          </a:p>
        </p:txBody>
      </p:sp>
      <p:sp>
        <p:nvSpPr>
          <p:cNvPr id="414" name="Google Shape;414;p43"/>
          <p:cNvSpPr/>
          <p:nvPr/>
        </p:nvSpPr>
        <p:spPr>
          <a:xfrm>
            <a:off x="3574425" y="4143250"/>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1C232"/>
            </a:solidFill>
            <a:prstDash val="solid"/>
            <a:round/>
            <a:headEnd len="med" w="med" type="none"/>
            <a:tailEnd len="med" w="med" type="triangle"/>
          </a:ln>
        </p:spPr>
      </p:sp>
      <p:sp>
        <p:nvSpPr>
          <p:cNvPr id="396" name="Google Shape;396;p43"/>
          <p:cNvSpPr/>
          <p:nvPr/>
        </p:nvSpPr>
        <p:spPr>
          <a:xfrm>
            <a:off x="4157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401" name="Google Shape;401;p43"/>
          <p:cNvSpPr/>
          <p:nvPr/>
        </p:nvSpPr>
        <p:spPr>
          <a:xfrm>
            <a:off x="5300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406" name="Google Shape;406;p43"/>
          <p:cNvSpPr/>
          <p:nvPr/>
        </p:nvSpPr>
        <p:spPr>
          <a:xfrm>
            <a:off x="6443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397" name="Google Shape;397;p43"/>
          <p:cNvSpPr/>
          <p:nvPr/>
        </p:nvSpPr>
        <p:spPr>
          <a:xfrm>
            <a:off x="3395363" y="4240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15" name="Google Shape;415;p43"/>
          <p:cNvSpPr txBox="1"/>
          <p:nvPr/>
        </p:nvSpPr>
        <p:spPr>
          <a:xfrm>
            <a:off x="1665800" y="3513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FF00FF"/>
                </a:solidFill>
                <a:latin typeface="Roboto"/>
                <a:ea typeface="Roboto"/>
                <a:cs typeface="Roboto"/>
                <a:sym typeface="Roboto"/>
              </a:rPr>
              <a:t>A → C = 10 Gbps</a:t>
            </a:r>
            <a:endParaRPr>
              <a:solidFill>
                <a:srgbClr val="FF00FF"/>
              </a:solidFill>
              <a:latin typeface="Roboto"/>
              <a:ea typeface="Roboto"/>
              <a:cs typeface="Roboto"/>
              <a:sym typeface="Roboto"/>
            </a:endParaRPr>
          </a:p>
        </p:txBody>
      </p:sp>
      <p:sp>
        <p:nvSpPr>
          <p:cNvPr id="416" name="Google Shape;416;p43"/>
          <p:cNvSpPr txBox="1"/>
          <p:nvPr/>
        </p:nvSpPr>
        <p:spPr>
          <a:xfrm>
            <a:off x="1665800" y="4275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E69138"/>
                </a:solidFill>
                <a:latin typeface="Roboto"/>
                <a:ea typeface="Roboto"/>
                <a:cs typeface="Roboto"/>
                <a:sym typeface="Roboto"/>
              </a:rPr>
              <a:t>B → C = 10 Gbps</a:t>
            </a:r>
            <a:endParaRPr>
              <a:solidFill>
                <a:srgbClr val="E69138"/>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4"/>
          <p:cNvSpPr/>
          <p:nvPr/>
        </p:nvSpPr>
        <p:spPr>
          <a:xfrm>
            <a:off x="3574425" y="4143250"/>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1C232"/>
            </a:solidFill>
            <a:prstDash val="solid"/>
            <a:round/>
            <a:headEnd len="med" w="med" type="none"/>
            <a:tailEnd len="med" w="med" type="triangle"/>
          </a:ln>
        </p:spPr>
      </p:sp>
      <p:sp>
        <p:nvSpPr>
          <p:cNvPr id="422" name="Google Shape;422;p44"/>
          <p:cNvSpPr/>
          <p:nvPr/>
        </p:nvSpPr>
        <p:spPr>
          <a:xfrm>
            <a:off x="3585025" y="3519066"/>
            <a:ext cx="3624775" cy="829675"/>
          </a:xfrm>
          <a:custGeom>
            <a:rect b="b" l="l" r="r" t="t"/>
            <a:pathLst>
              <a:path extrusionOk="0" h="33187" w="144991">
                <a:moveTo>
                  <a:pt x="0" y="1523"/>
                </a:moveTo>
                <a:cubicBezTo>
                  <a:pt x="5468" y="1664"/>
                  <a:pt x="20920" y="-2498"/>
                  <a:pt x="32808" y="2370"/>
                </a:cubicBezTo>
                <a:cubicBezTo>
                  <a:pt x="44697" y="7238"/>
                  <a:pt x="56267" y="26036"/>
                  <a:pt x="71331" y="30733"/>
                </a:cubicBezTo>
                <a:cubicBezTo>
                  <a:pt x="86395" y="35430"/>
                  <a:pt x="110913" y="32241"/>
                  <a:pt x="123190" y="30553"/>
                </a:cubicBezTo>
                <a:cubicBezTo>
                  <a:pt x="135467" y="28865"/>
                  <a:pt x="141358" y="22263"/>
                  <a:pt x="144991" y="20605"/>
                </a:cubicBezTo>
              </a:path>
            </a:pathLst>
          </a:custGeom>
          <a:noFill/>
          <a:ln cap="flat" cmpd="sng" w="28575">
            <a:solidFill>
              <a:srgbClr val="FF00FF"/>
            </a:solidFill>
            <a:prstDash val="solid"/>
            <a:round/>
            <a:headEnd len="med" w="med" type="none"/>
            <a:tailEnd len="med" w="med" type="triangle"/>
          </a:ln>
        </p:spPr>
      </p:sp>
      <p:sp>
        <p:nvSpPr>
          <p:cNvPr id="423" name="Google Shape;423;p4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Traffic Engineering – Globally Optimal Decisions</a:t>
            </a:r>
            <a:endParaRPr/>
          </a:p>
        </p:txBody>
      </p:sp>
      <p:sp>
        <p:nvSpPr>
          <p:cNvPr id="424" name="Google Shape;424;p44"/>
          <p:cNvSpPr txBox="1"/>
          <p:nvPr>
            <p:ph idx="1" type="body"/>
          </p:nvPr>
        </p:nvSpPr>
        <p:spPr>
          <a:xfrm>
            <a:off x="107050" y="402200"/>
            <a:ext cx="8909700" cy="231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standard least-cost routing, each router might make a </a:t>
            </a:r>
            <a:r>
              <a:rPr i="1" lang="en"/>
              <a:t>locally optimal</a:t>
            </a:r>
            <a:r>
              <a:rPr lang="en"/>
              <a:t> decision.</a:t>
            </a:r>
            <a:endParaRPr/>
          </a:p>
          <a:p>
            <a:pPr indent="0" lvl="0" marL="0" rtl="0" algn="l">
              <a:spcBef>
                <a:spcPts val="600"/>
              </a:spcBef>
              <a:spcAft>
                <a:spcPts val="0"/>
              </a:spcAft>
              <a:buNone/>
            </a:pPr>
            <a:r>
              <a:rPr lang="en"/>
              <a:t>But, since the nodes don't coordinate, the result might not be </a:t>
            </a:r>
            <a:r>
              <a:rPr i="1" lang="en"/>
              <a:t>globally optimal</a:t>
            </a:r>
            <a:r>
              <a:rPr lang="en"/>
              <a:t>.</a:t>
            </a:r>
            <a:endParaRPr/>
          </a:p>
          <a:p>
            <a:pPr indent="-342900" lvl="0" marL="457200" rtl="0" algn="l">
              <a:spcBef>
                <a:spcPts val="600"/>
              </a:spcBef>
              <a:spcAft>
                <a:spcPts val="0"/>
              </a:spcAft>
              <a:buSzPts val="1800"/>
              <a:buChar char="●"/>
            </a:pPr>
            <a:r>
              <a:rPr lang="en"/>
              <a:t>In standard least-cost routing, routers could send </a:t>
            </a:r>
            <a:r>
              <a:rPr lang="en">
                <a:solidFill>
                  <a:srgbClr val="FF00FF"/>
                </a:solidFill>
              </a:rPr>
              <a:t>A → C</a:t>
            </a:r>
            <a:r>
              <a:rPr lang="en"/>
              <a:t> along the bottom path. (Valid shortest path.)</a:t>
            </a:r>
            <a:endParaRPr/>
          </a:p>
          <a:p>
            <a:pPr indent="-342900" lvl="0" marL="457200" rtl="0" algn="l">
              <a:spcBef>
                <a:spcPts val="0"/>
              </a:spcBef>
              <a:spcAft>
                <a:spcPts val="0"/>
              </a:spcAft>
              <a:buSzPts val="1800"/>
              <a:buChar char="●"/>
            </a:pPr>
            <a:r>
              <a:rPr lang="en"/>
              <a:t>Now, </a:t>
            </a:r>
            <a:r>
              <a:rPr lang="en">
                <a:solidFill>
                  <a:srgbClr val="E69138"/>
                </a:solidFill>
              </a:rPr>
              <a:t>B → C</a:t>
            </a:r>
            <a:r>
              <a:rPr lang="en"/>
              <a:t> will cause congestion on either the top or bottom path.</a:t>
            </a:r>
            <a:endParaRPr/>
          </a:p>
        </p:txBody>
      </p:sp>
      <p:sp>
        <p:nvSpPr>
          <p:cNvPr id="425" name="Google Shape;425;p44"/>
          <p:cNvSpPr/>
          <p:nvPr/>
        </p:nvSpPr>
        <p:spPr>
          <a:xfrm>
            <a:off x="4157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426" name="Google Shape;426;p44"/>
          <p:cNvCxnSpPr>
            <a:stCxn id="425" idx="1"/>
            <a:endCxn id="427" idx="6"/>
          </p:cNvCxnSpPr>
          <p:nvPr/>
        </p:nvCxnSpPr>
        <p:spPr>
          <a:xfrm rot="10800000">
            <a:off x="3680363" y="3621400"/>
            <a:ext cx="477000" cy="0"/>
          </a:xfrm>
          <a:prstGeom prst="straightConnector1">
            <a:avLst/>
          </a:prstGeom>
          <a:noFill/>
          <a:ln cap="flat" cmpd="sng" w="19050">
            <a:solidFill>
              <a:srgbClr val="000000"/>
            </a:solidFill>
            <a:prstDash val="solid"/>
            <a:round/>
            <a:headEnd len="med" w="med" type="none"/>
            <a:tailEnd len="med" w="med" type="none"/>
          </a:ln>
        </p:spPr>
      </p:cxnSp>
      <p:sp>
        <p:nvSpPr>
          <p:cNvPr id="427" name="Google Shape;427;p44"/>
          <p:cNvSpPr/>
          <p:nvPr/>
        </p:nvSpPr>
        <p:spPr>
          <a:xfrm>
            <a:off x="3395363" y="3478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428" name="Google Shape;428;p44"/>
          <p:cNvCxnSpPr>
            <a:stCxn id="429" idx="1"/>
            <a:endCxn id="430" idx="6"/>
          </p:cNvCxnSpPr>
          <p:nvPr/>
        </p:nvCxnSpPr>
        <p:spPr>
          <a:xfrm rot="10800000">
            <a:off x="3680363" y="4383400"/>
            <a:ext cx="477000" cy="0"/>
          </a:xfrm>
          <a:prstGeom prst="straightConnector1">
            <a:avLst/>
          </a:prstGeom>
          <a:noFill/>
          <a:ln cap="flat" cmpd="sng" w="19050">
            <a:solidFill>
              <a:srgbClr val="000000"/>
            </a:solidFill>
            <a:prstDash val="solid"/>
            <a:round/>
            <a:headEnd len="med" w="med" type="none"/>
            <a:tailEnd len="med" w="med" type="none"/>
          </a:ln>
        </p:spPr>
      </p:cxnSp>
      <p:sp>
        <p:nvSpPr>
          <p:cNvPr id="431" name="Google Shape;431;p44"/>
          <p:cNvSpPr/>
          <p:nvPr/>
        </p:nvSpPr>
        <p:spPr>
          <a:xfrm>
            <a:off x="5300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432" name="Google Shape;432;p44"/>
          <p:cNvCxnSpPr>
            <a:stCxn id="431" idx="1"/>
            <a:endCxn id="425" idx="3"/>
          </p:cNvCxnSpPr>
          <p:nvPr/>
        </p:nvCxnSpPr>
        <p:spPr>
          <a:xfrm rot="10800000">
            <a:off x="4442363" y="3621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433" name="Google Shape;433;p44"/>
          <p:cNvCxnSpPr>
            <a:stCxn id="434" idx="1"/>
            <a:endCxn id="425" idx="3"/>
          </p:cNvCxnSpPr>
          <p:nvPr/>
        </p:nvCxnSpPr>
        <p:spPr>
          <a:xfrm rot="10800000">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435" name="Google Shape;435;p44"/>
          <p:cNvCxnSpPr>
            <a:stCxn id="431" idx="1"/>
            <a:endCxn id="429" idx="3"/>
          </p:cNvCxnSpPr>
          <p:nvPr/>
        </p:nvCxnSpPr>
        <p:spPr>
          <a:xfrm flipH="1">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436" name="Google Shape;436;p44"/>
          <p:cNvCxnSpPr>
            <a:stCxn id="434" idx="1"/>
            <a:endCxn id="429" idx="3"/>
          </p:cNvCxnSpPr>
          <p:nvPr/>
        </p:nvCxnSpPr>
        <p:spPr>
          <a:xfrm rot="10800000">
            <a:off x="4442363" y="4383400"/>
            <a:ext cx="858000" cy="0"/>
          </a:xfrm>
          <a:prstGeom prst="straightConnector1">
            <a:avLst/>
          </a:prstGeom>
          <a:noFill/>
          <a:ln cap="flat" cmpd="sng" w="19050">
            <a:solidFill>
              <a:srgbClr val="000000"/>
            </a:solidFill>
            <a:prstDash val="solid"/>
            <a:round/>
            <a:headEnd len="med" w="med" type="none"/>
            <a:tailEnd len="med" w="med" type="none"/>
          </a:ln>
        </p:spPr>
      </p:cxnSp>
      <p:sp>
        <p:nvSpPr>
          <p:cNvPr id="437" name="Google Shape;437;p44"/>
          <p:cNvSpPr/>
          <p:nvPr/>
        </p:nvSpPr>
        <p:spPr>
          <a:xfrm>
            <a:off x="6443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438" name="Google Shape;438;p44"/>
          <p:cNvCxnSpPr>
            <a:stCxn id="439" idx="1"/>
            <a:endCxn id="434" idx="3"/>
          </p:cNvCxnSpPr>
          <p:nvPr/>
        </p:nvCxnSpPr>
        <p:spPr>
          <a:xfrm rot="10800000">
            <a:off x="5585363" y="4383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440" name="Google Shape;440;p44"/>
          <p:cNvCxnSpPr>
            <a:stCxn id="437" idx="1"/>
            <a:endCxn id="431" idx="3"/>
          </p:cNvCxnSpPr>
          <p:nvPr/>
        </p:nvCxnSpPr>
        <p:spPr>
          <a:xfrm rot="10800000">
            <a:off x="5585363" y="3621400"/>
            <a:ext cx="858000" cy="0"/>
          </a:xfrm>
          <a:prstGeom prst="straightConnector1">
            <a:avLst/>
          </a:prstGeom>
          <a:noFill/>
          <a:ln cap="flat" cmpd="sng" w="19050">
            <a:solidFill>
              <a:srgbClr val="000000"/>
            </a:solidFill>
            <a:prstDash val="solid"/>
            <a:round/>
            <a:headEnd len="med" w="med" type="none"/>
            <a:tailEnd len="med" w="med" type="none"/>
          </a:ln>
        </p:spPr>
      </p:cxnSp>
      <p:sp>
        <p:nvSpPr>
          <p:cNvPr id="441" name="Google Shape;441;p44"/>
          <p:cNvSpPr/>
          <p:nvPr/>
        </p:nvSpPr>
        <p:spPr>
          <a:xfrm>
            <a:off x="7205363" y="3859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cxnSp>
        <p:nvCxnSpPr>
          <p:cNvPr id="442" name="Google Shape;442;p44"/>
          <p:cNvCxnSpPr>
            <a:stCxn id="441" idx="1"/>
            <a:endCxn id="437" idx="3"/>
          </p:cNvCxnSpPr>
          <p:nvPr/>
        </p:nvCxnSpPr>
        <p:spPr>
          <a:xfrm rot="10800000">
            <a:off x="6728400" y="3621437"/>
            <a:ext cx="518700" cy="280200"/>
          </a:xfrm>
          <a:prstGeom prst="straightConnector1">
            <a:avLst/>
          </a:prstGeom>
          <a:noFill/>
          <a:ln cap="flat" cmpd="sng" w="19050">
            <a:solidFill>
              <a:srgbClr val="000000"/>
            </a:solidFill>
            <a:prstDash val="solid"/>
            <a:round/>
            <a:headEnd len="med" w="med" type="none"/>
            <a:tailEnd len="med" w="med" type="none"/>
          </a:ln>
        </p:spPr>
      </p:cxnSp>
      <p:cxnSp>
        <p:nvCxnSpPr>
          <p:cNvPr id="443" name="Google Shape;443;p44"/>
          <p:cNvCxnSpPr>
            <a:stCxn id="441" idx="3"/>
            <a:endCxn id="439" idx="3"/>
          </p:cNvCxnSpPr>
          <p:nvPr/>
        </p:nvCxnSpPr>
        <p:spPr>
          <a:xfrm flipH="1">
            <a:off x="6728400" y="4103162"/>
            <a:ext cx="518700" cy="280200"/>
          </a:xfrm>
          <a:prstGeom prst="straightConnector1">
            <a:avLst/>
          </a:prstGeom>
          <a:noFill/>
          <a:ln cap="flat" cmpd="sng" w="19050">
            <a:solidFill>
              <a:srgbClr val="000000"/>
            </a:solidFill>
            <a:prstDash val="solid"/>
            <a:round/>
            <a:headEnd len="med" w="med" type="none"/>
            <a:tailEnd len="med" w="med" type="none"/>
          </a:ln>
        </p:spPr>
      </p:cxnSp>
      <p:sp>
        <p:nvSpPr>
          <p:cNvPr id="444" name="Google Shape;444;p44"/>
          <p:cNvSpPr txBox="1"/>
          <p:nvPr/>
        </p:nvSpPr>
        <p:spPr>
          <a:xfrm>
            <a:off x="5585524" y="4082772"/>
            <a:ext cx="8580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100 Gbps</a:t>
            </a:r>
            <a:endParaRPr>
              <a:solidFill>
                <a:schemeClr val="dk1"/>
              </a:solidFill>
              <a:latin typeface="Roboto"/>
              <a:ea typeface="Roboto"/>
              <a:cs typeface="Roboto"/>
              <a:sym typeface="Roboto"/>
            </a:endParaRPr>
          </a:p>
        </p:txBody>
      </p:sp>
      <p:sp>
        <p:nvSpPr>
          <p:cNvPr id="429" name="Google Shape;429;p44"/>
          <p:cNvSpPr/>
          <p:nvPr/>
        </p:nvSpPr>
        <p:spPr>
          <a:xfrm>
            <a:off x="4157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434" name="Google Shape;434;p44"/>
          <p:cNvSpPr/>
          <p:nvPr/>
        </p:nvSpPr>
        <p:spPr>
          <a:xfrm>
            <a:off x="5300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439" name="Google Shape;439;p44"/>
          <p:cNvSpPr/>
          <p:nvPr/>
        </p:nvSpPr>
        <p:spPr>
          <a:xfrm>
            <a:off x="6443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430" name="Google Shape;430;p44"/>
          <p:cNvSpPr/>
          <p:nvPr/>
        </p:nvSpPr>
        <p:spPr>
          <a:xfrm>
            <a:off x="3395363" y="4240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45" name="Google Shape;445;p44"/>
          <p:cNvSpPr txBox="1"/>
          <p:nvPr/>
        </p:nvSpPr>
        <p:spPr>
          <a:xfrm>
            <a:off x="1665800" y="3513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FF00FF"/>
                </a:solidFill>
                <a:latin typeface="Roboto"/>
                <a:ea typeface="Roboto"/>
                <a:cs typeface="Roboto"/>
                <a:sym typeface="Roboto"/>
              </a:rPr>
              <a:t>A → C = 20 Gbps</a:t>
            </a:r>
            <a:endParaRPr>
              <a:solidFill>
                <a:srgbClr val="FF00FF"/>
              </a:solidFill>
              <a:latin typeface="Roboto"/>
              <a:ea typeface="Roboto"/>
              <a:cs typeface="Roboto"/>
              <a:sym typeface="Roboto"/>
            </a:endParaRPr>
          </a:p>
        </p:txBody>
      </p:sp>
      <p:sp>
        <p:nvSpPr>
          <p:cNvPr id="446" name="Google Shape;446;p44"/>
          <p:cNvSpPr txBox="1"/>
          <p:nvPr/>
        </p:nvSpPr>
        <p:spPr>
          <a:xfrm>
            <a:off x="1665800" y="4275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E69138"/>
                </a:solidFill>
                <a:latin typeface="Roboto"/>
                <a:ea typeface="Roboto"/>
                <a:cs typeface="Roboto"/>
                <a:sym typeface="Roboto"/>
              </a:rPr>
              <a:t>B → C = 100 Gbps</a:t>
            </a:r>
            <a:endParaRPr>
              <a:solidFill>
                <a:srgbClr val="E69138"/>
              </a:solidFill>
              <a:latin typeface="Roboto"/>
              <a:ea typeface="Roboto"/>
              <a:cs typeface="Roboto"/>
              <a:sym typeface="Roboto"/>
            </a:endParaRPr>
          </a:p>
        </p:txBody>
      </p:sp>
      <p:sp>
        <p:nvSpPr>
          <p:cNvPr id="447" name="Google Shape;447;p44"/>
          <p:cNvSpPr txBox="1"/>
          <p:nvPr/>
        </p:nvSpPr>
        <p:spPr>
          <a:xfrm>
            <a:off x="5585524" y="3348410"/>
            <a:ext cx="8580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20 Gbps</a:t>
            </a:r>
            <a:endParaRPr>
              <a:solidFill>
                <a:schemeClr val="dk1"/>
              </a:solidFill>
              <a:latin typeface="Roboto"/>
              <a:ea typeface="Roboto"/>
              <a:cs typeface="Roboto"/>
              <a:sym typeface="Roboto"/>
            </a:endParaRPr>
          </a:p>
        </p:txBody>
      </p:sp>
      <p:sp>
        <p:nvSpPr>
          <p:cNvPr id="448" name="Google Shape;448;p44"/>
          <p:cNvSpPr txBox="1"/>
          <p:nvPr/>
        </p:nvSpPr>
        <p:spPr>
          <a:xfrm>
            <a:off x="4795625" y="4696025"/>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All links cost 1.</a:t>
            </a:r>
            <a:endParaRPr>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5"/>
          <p:cNvSpPr/>
          <p:nvPr/>
        </p:nvSpPr>
        <p:spPr>
          <a:xfrm flipH="1" rot="10800000">
            <a:off x="3498225" y="3663371"/>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F00FF"/>
            </a:solidFill>
            <a:prstDash val="solid"/>
            <a:round/>
            <a:headEnd len="med" w="med" type="none"/>
            <a:tailEnd len="med" w="med" type="triangle"/>
          </a:ln>
        </p:spPr>
      </p:sp>
      <p:sp>
        <p:nvSpPr>
          <p:cNvPr id="454" name="Google Shape;454;p45"/>
          <p:cNvSpPr/>
          <p:nvPr/>
        </p:nvSpPr>
        <p:spPr>
          <a:xfrm>
            <a:off x="3574425" y="4143250"/>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1C232"/>
            </a:solidFill>
            <a:prstDash val="solid"/>
            <a:round/>
            <a:headEnd len="med" w="med" type="none"/>
            <a:tailEnd len="med" w="med" type="triangle"/>
          </a:ln>
        </p:spPr>
      </p:sp>
      <p:sp>
        <p:nvSpPr>
          <p:cNvPr id="455" name="Google Shape;455;p4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Traffic Engineering – Globally Optimal Decisions</a:t>
            </a:r>
            <a:endParaRPr/>
          </a:p>
        </p:txBody>
      </p:sp>
      <p:sp>
        <p:nvSpPr>
          <p:cNvPr id="456" name="Google Shape;456;p45"/>
          <p:cNvSpPr txBox="1"/>
          <p:nvPr>
            <p:ph idx="1" type="body"/>
          </p:nvPr>
        </p:nvSpPr>
        <p:spPr>
          <a:xfrm>
            <a:off x="107050" y="402200"/>
            <a:ext cx="8909700" cy="231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Centralized routing lets us make </a:t>
            </a:r>
            <a:r>
              <a:rPr i="1" lang="en"/>
              <a:t>globally optimal</a:t>
            </a:r>
            <a:r>
              <a:rPr lang="en"/>
              <a:t> decisions.</a:t>
            </a:r>
            <a:endParaRPr/>
          </a:p>
          <a:p>
            <a:pPr indent="-342900" lvl="0" marL="457200" rtl="0" algn="l">
              <a:spcBef>
                <a:spcPts val="600"/>
              </a:spcBef>
              <a:spcAft>
                <a:spcPts val="0"/>
              </a:spcAft>
              <a:buSzPts val="1800"/>
              <a:buChar char="●"/>
            </a:pPr>
            <a:r>
              <a:rPr lang="en"/>
              <a:t>A central operator could send </a:t>
            </a:r>
            <a:r>
              <a:rPr lang="en">
                <a:solidFill>
                  <a:srgbClr val="FF00FF"/>
                </a:solidFill>
              </a:rPr>
              <a:t>A → C</a:t>
            </a:r>
            <a:r>
              <a:rPr lang="en"/>
              <a:t> along the top path.</a:t>
            </a:r>
            <a:endParaRPr/>
          </a:p>
          <a:p>
            <a:pPr indent="-342900" lvl="0" marL="457200" rtl="0" algn="l">
              <a:spcBef>
                <a:spcPts val="0"/>
              </a:spcBef>
              <a:spcAft>
                <a:spcPts val="0"/>
              </a:spcAft>
              <a:buSzPts val="1800"/>
              <a:buChar char="●"/>
            </a:pPr>
            <a:r>
              <a:rPr lang="en"/>
              <a:t>Now, </a:t>
            </a:r>
            <a:r>
              <a:rPr lang="en">
                <a:solidFill>
                  <a:srgbClr val="E69138"/>
                </a:solidFill>
              </a:rPr>
              <a:t>B → C</a:t>
            </a:r>
            <a:r>
              <a:rPr lang="en"/>
              <a:t> can use the bottom path, and everybody is happy.</a:t>
            </a:r>
            <a:endParaRPr/>
          </a:p>
          <a:p>
            <a:pPr indent="-342900" lvl="0" marL="457200" rtl="0" algn="l">
              <a:spcBef>
                <a:spcPts val="0"/>
              </a:spcBef>
              <a:spcAft>
                <a:spcPts val="0"/>
              </a:spcAft>
              <a:buSzPts val="1800"/>
              <a:buChar char="●"/>
            </a:pPr>
            <a:r>
              <a:rPr lang="en"/>
              <a:t>Requires a central operator to coordinate all the routers.</a:t>
            </a:r>
            <a:endParaRPr/>
          </a:p>
        </p:txBody>
      </p:sp>
      <p:sp>
        <p:nvSpPr>
          <p:cNvPr id="457" name="Google Shape;457;p45"/>
          <p:cNvSpPr/>
          <p:nvPr/>
        </p:nvSpPr>
        <p:spPr>
          <a:xfrm>
            <a:off x="4157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458" name="Google Shape;458;p45"/>
          <p:cNvCxnSpPr>
            <a:stCxn id="457" idx="1"/>
            <a:endCxn id="459" idx="6"/>
          </p:cNvCxnSpPr>
          <p:nvPr/>
        </p:nvCxnSpPr>
        <p:spPr>
          <a:xfrm rot="10800000">
            <a:off x="3680363" y="3621400"/>
            <a:ext cx="477000" cy="0"/>
          </a:xfrm>
          <a:prstGeom prst="straightConnector1">
            <a:avLst/>
          </a:prstGeom>
          <a:noFill/>
          <a:ln cap="flat" cmpd="sng" w="19050">
            <a:solidFill>
              <a:srgbClr val="000000"/>
            </a:solidFill>
            <a:prstDash val="solid"/>
            <a:round/>
            <a:headEnd len="med" w="med" type="none"/>
            <a:tailEnd len="med" w="med" type="none"/>
          </a:ln>
        </p:spPr>
      </p:cxnSp>
      <p:sp>
        <p:nvSpPr>
          <p:cNvPr id="459" name="Google Shape;459;p45"/>
          <p:cNvSpPr/>
          <p:nvPr/>
        </p:nvSpPr>
        <p:spPr>
          <a:xfrm>
            <a:off x="3395363" y="3478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460" name="Google Shape;460;p45"/>
          <p:cNvCxnSpPr>
            <a:stCxn id="461" idx="1"/>
            <a:endCxn id="462" idx="6"/>
          </p:cNvCxnSpPr>
          <p:nvPr/>
        </p:nvCxnSpPr>
        <p:spPr>
          <a:xfrm rot="10800000">
            <a:off x="3680363" y="4383400"/>
            <a:ext cx="477000" cy="0"/>
          </a:xfrm>
          <a:prstGeom prst="straightConnector1">
            <a:avLst/>
          </a:prstGeom>
          <a:noFill/>
          <a:ln cap="flat" cmpd="sng" w="19050">
            <a:solidFill>
              <a:srgbClr val="000000"/>
            </a:solidFill>
            <a:prstDash val="solid"/>
            <a:round/>
            <a:headEnd len="med" w="med" type="none"/>
            <a:tailEnd len="med" w="med" type="none"/>
          </a:ln>
        </p:spPr>
      </p:cxnSp>
      <p:sp>
        <p:nvSpPr>
          <p:cNvPr id="463" name="Google Shape;463;p45"/>
          <p:cNvSpPr/>
          <p:nvPr/>
        </p:nvSpPr>
        <p:spPr>
          <a:xfrm>
            <a:off x="5300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464" name="Google Shape;464;p45"/>
          <p:cNvCxnSpPr>
            <a:stCxn id="463" idx="1"/>
            <a:endCxn id="457" idx="3"/>
          </p:cNvCxnSpPr>
          <p:nvPr/>
        </p:nvCxnSpPr>
        <p:spPr>
          <a:xfrm rot="10800000">
            <a:off x="4442363" y="3621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465" name="Google Shape;465;p45"/>
          <p:cNvCxnSpPr>
            <a:stCxn id="466" idx="1"/>
            <a:endCxn id="457" idx="3"/>
          </p:cNvCxnSpPr>
          <p:nvPr/>
        </p:nvCxnSpPr>
        <p:spPr>
          <a:xfrm rot="10800000">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467" name="Google Shape;467;p45"/>
          <p:cNvCxnSpPr>
            <a:stCxn id="463" idx="1"/>
            <a:endCxn id="461" idx="3"/>
          </p:cNvCxnSpPr>
          <p:nvPr/>
        </p:nvCxnSpPr>
        <p:spPr>
          <a:xfrm flipH="1">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468" name="Google Shape;468;p45"/>
          <p:cNvCxnSpPr>
            <a:stCxn id="466" idx="1"/>
            <a:endCxn id="461" idx="3"/>
          </p:cNvCxnSpPr>
          <p:nvPr/>
        </p:nvCxnSpPr>
        <p:spPr>
          <a:xfrm rot="10800000">
            <a:off x="4442363" y="4383400"/>
            <a:ext cx="858000" cy="0"/>
          </a:xfrm>
          <a:prstGeom prst="straightConnector1">
            <a:avLst/>
          </a:prstGeom>
          <a:noFill/>
          <a:ln cap="flat" cmpd="sng" w="19050">
            <a:solidFill>
              <a:srgbClr val="000000"/>
            </a:solidFill>
            <a:prstDash val="solid"/>
            <a:round/>
            <a:headEnd len="med" w="med" type="none"/>
            <a:tailEnd len="med" w="med" type="none"/>
          </a:ln>
        </p:spPr>
      </p:cxnSp>
      <p:sp>
        <p:nvSpPr>
          <p:cNvPr id="469" name="Google Shape;469;p45"/>
          <p:cNvSpPr/>
          <p:nvPr/>
        </p:nvSpPr>
        <p:spPr>
          <a:xfrm>
            <a:off x="6443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470" name="Google Shape;470;p45"/>
          <p:cNvCxnSpPr>
            <a:stCxn id="471" idx="1"/>
            <a:endCxn id="466" idx="3"/>
          </p:cNvCxnSpPr>
          <p:nvPr/>
        </p:nvCxnSpPr>
        <p:spPr>
          <a:xfrm rot="10800000">
            <a:off x="5585363" y="4383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472" name="Google Shape;472;p45"/>
          <p:cNvCxnSpPr>
            <a:stCxn id="469" idx="1"/>
            <a:endCxn id="463" idx="3"/>
          </p:cNvCxnSpPr>
          <p:nvPr/>
        </p:nvCxnSpPr>
        <p:spPr>
          <a:xfrm rot="10800000">
            <a:off x="5585363" y="3621400"/>
            <a:ext cx="858000" cy="0"/>
          </a:xfrm>
          <a:prstGeom prst="straightConnector1">
            <a:avLst/>
          </a:prstGeom>
          <a:noFill/>
          <a:ln cap="flat" cmpd="sng" w="19050">
            <a:solidFill>
              <a:srgbClr val="000000"/>
            </a:solidFill>
            <a:prstDash val="solid"/>
            <a:round/>
            <a:headEnd len="med" w="med" type="none"/>
            <a:tailEnd len="med" w="med" type="none"/>
          </a:ln>
        </p:spPr>
      </p:cxnSp>
      <p:sp>
        <p:nvSpPr>
          <p:cNvPr id="473" name="Google Shape;473;p45"/>
          <p:cNvSpPr/>
          <p:nvPr/>
        </p:nvSpPr>
        <p:spPr>
          <a:xfrm>
            <a:off x="7205363" y="3859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cxnSp>
        <p:nvCxnSpPr>
          <p:cNvPr id="474" name="Google Shape;474;p45"/>
          <p:cNvCxnSpPr>
            <a:stCxn id="473" idx="1"/>
            <a:endCxn id="469" idx="3"/>
          </p:cNvCxnSpPr>
          <p:nvPr/>
        </p:nvCxnSpPr>
        <p:spPr>
          <a:xfrm rot="10800000">
            <a:off x="6728400" y="3621437"/>
            <a:ext cx="518700" cy="280200"/>
          </a:xfrm>
          <a:prstGeom prst="straightConnector1">
            <a:avLst/>
          </a:prstGeom>
          <a:noFill/>
          <a:ln cap="flat" cmpd="sng" w="19050">
            <a:solidFill>
              <a:srgbClr val="000000"/>
            </a:solidFill>
            <a:prstDash val="solid"/>
            <a:round/>
            <a:headEnd len="med" w="med" type="none"/>
            <a:tailEnd len="med" w="med" type="none"/>
          </a:ln>
        </p:spPr>
      </p:cxnSp>
      <p:cxnSp>
        <p:nvCxnSpPr>
          <p:cNvPr id="475" name="Google Shape;475;p45"/>
          <p:cNvCxnSpPr>
            <a:stCxn id="473" idx="3"/>
            <a:endCxn id="471" idx="3"/>
          </p:cNvCxnSpPr>
          <p:nvPr/>
        </p:nvCxnSpPr>
        <p:spPr>
          <a:xfrm flipH="1">
            <a:off x="6728400" y="4103162"/>
            <a:ext cx="518700" cy="280200"/>
          </a:xfrm>
          <a:prstGeom prst="straightConnector1">
            <a:avLst/>
          </a:prstGeom>
          <a:noFill/>
          <a:ln cap="flat" cmpd="sng" w="19050">
            <a:solidFill>
              <a:srgbClr val="000000"/>
            </a:solidFill>
            <a:prstDash val="solid"/>
            <a:round/>
            <a:headEnd len="med" w="med" type="none"/>
            <a:tailEnd len="med" w="med" type="none"/>
          </a:ln>
        </p:spPr>
      </p:cxnSp>
      <p:sp>
        <p:nvSpPr>
          <p:cNvPr id="476" name="Google Shape;476;p45"/>
          <p:cNvSpPr txBox="1"/>
          <p:nvPr/>
        </p:nvSpPr>
        <p:spPr>
          <a:xfrm>
            <a:off x="5585524" y="4082772"/>
            <a:ext cx="8580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100 Gbps</a:t>
            </a:r>
            <a:endParaRPr>
              <a:solidFill>
                <a:schemeClr val="dk1"/>
              </a:solidFill>
              <a:latin typeface="Roboto"/>
              <a:ea typeface="Roboto"/>
              <a:cs typeface="Roboto"/>
              <a:sym typeface="Roboto"/>
            </a:endParaRPr>
          </a:p>
        </p:txBody>
      </p:sp>
      <p:sp>
        <p:nvSpPr>
          <p:cNvPr id="461" name="Google Shape;461;p45"/>
          <p:cNvSpPr/>
          <p:nvPr/>
        </p:nvSpPr>
        <p:spPr>
          <a:xfrm>
            <a:off x="4157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466" name="Google Shape;466;p45"/>
          <p:cNvSpPr/>
          <p:nvPr/>
        </p:nvSpPr>
        <p:spPr>
          <a:xfrm>
            <a:off x="5300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471" name="Google Shape;471;p45"/>
          <p:cNvSpPr/>
          <p:nvPr/>
        </p:nvSpPr>
        <p:spPr>
          <a:xfrm>
            <a:off x="6443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462" name="Google Shape;462;p45"/>
          <p:cNvSpPr/>
          <p:nvPr/>
        </p:nvSpPr>
        <p:spPr>
          <a:xfrm>
            <a:off x="3395363" y="4240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477" name="Google Shape;477;p45"/>
          <p:cNvSpPr txBox="1"/>
          <p:nvPr/>
        </p:nvSpPr>
        <p:spPr>
          <a:xfrm>
            <a:off x="1665800" y="3513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FF00FF"/>
                </a:solidFill>
                <a:latin typeface="Roboto"/>
                <a:ea typeface="Roboto"/>
                <a:cs typeface="Roboto"/>
                <a:sym typeface="Roboto"/>
              </a:rPr>
              <a:t>A → C = 20 Gbps</a:t>
            </a:r>
            <a:endParaRPr>
              <a:solidFill>
                <a:srgbClr val="FF00FF"/>
              </a:solidFill>
              <a:latin typeface="Roboto"/>
              <a:ea typeface="Roboto"/>
              <a:cs typeface="Roboto"/>
              <a:sym typeface="Roboto"/>
            </a:endParaRPr>
          </a:p>
        </p:txBody>
      </p:sp>
      <p:sp>
        <p:nvSpPr>
          <p:cNvPr id="478" name="Google Shape;478;p45"/>
          <p:cNvSpPr txBox="1"/>
          <p:nvPr/>
        </p:nvSpPr>
        <p:spPr>
          <a:xfrm>
            <a:off x="1665800" y="4275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E69138"/>
                </a:solidFill>
                <a:latin typeface="Roboto"/>
                <a:ea typeface="Roboto"/>
                <a:cs typeface="Roboto"/>
                <a:sym typeface="Roboto"/>
              </a:rPr>
              <a:t>B → C = 100 Gbps</a:t>
            </a:r>
            <a:endParaRPr>
              <a:solidFill>
                <a:srgbClr val="E69138"/>
              </a:solidFill>
              <a:latin typeface="Roboto"/>
              <a:ea typeface="Roboto"/>
              <a:cs typeface="Roboto"/>
              <a:sym typeface="Roboto"/>
            </a:endParaRPr>
          </a:p>
        </p:txBody>
      </p:sp>
      <p:sp>
        <p:nvSpPr>
          <p:cNvPr id="479" name="Google Shape;479;p45"/>
          <p:cNvSpPr txBox="1"/>
          <p:nvPr/>
        </p:nvSpPr>
        <p:spPr>
          <a:xfrm>
            <a:off x="5585524" y="3348410"/>
            <a:ext cx="8580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20 Gbps</a:t>
            </a:r>
            <a:endParaRPr>
              <a:solidFill>
                <a:schemeClr val="dk1"/>
              </a:solidFill>
              <a:latin typeface="Roboto"/>
              <a:ea typeface="Roboto"/>
              <a:cs typeface="Roboto"/>
              <a:sym typeface="Roboto"/>
            </a:endParaRPr>
          </a:p>
        </p:txBody>
      </p:sp>
      <p:sp>
        <p:nvSpPr>
          <p:cNvPr id="480" name="Google Shape;480;p45"/>
          <p:cNvSpPr txBox="1"/>
          <p:nvPr/>
        </p:nvSpPr>
        <p:spPr>
          <a:xfrm>
            <a:off x="4795625" y="4696025"/>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All links cost 1.</a:t>
            </a:r>
            <a:endParaRPr>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6"/>
          <p:cNvSpPr/>
          <p:nvPr/>
        </p:nvSpPr>
        <p:spPr>
          <a:xfrm>
            <a:off x="3585025" y="3519066"/>
            <a:ext cx="3624775" cy="829675"/>
          </a:xfrm>
          <a:custGeom>
            <a:rect b="b" l="l" r="r" t="t"/>
            <a:pathLst>
              <a:path extrusionOk="0" h="33187" w="144991">
                <a:moveTo>
                  <a:pt x="0" y="1523"/>
                </a:moveTo>
                <a:cubicBezTo>
                  <a:pt x="5468" y="1664"/>
                  <a:pt x="20920" y="-2498"/>
                  <a:pt x="32808" y="2370"/>
                </a:cubicBezTo>
                <a:cubicBezTo>
                  <a:pt x="44697" y="7238"/>
                  <a:pt x="56267" y="26036"/>
                  <a:pt x="71331" y="30733"/>
                </a:cubicBezTo>
                <a:cubicBezTo>
                  <a:pt x="86395" y="35430"/>
                  <a:pt x="110913" y="32241"/>
                  <a:pt x="123190" y="30553"/>
                </a:cubicBezTo>
                <a:cubicBezTo>
                  <a:pt x="135467" y="28865"/>
                  <a:pt x="141358" y="22263"/>
                  <a:pt x="144991" y="20605"/>
                </a:cubicBezTo>
              </a:path>
            </a:pathLst>
          </a:custGeom>
          <a:noFill/>
          <a:ln cap="flat" cmpd="sng" w="28575">
            <a:solidFill>
              <a:srgbClr val="FF00FF"/>
            </a:solidFill>
            <a:prstDash val="solid"/>
            <a:round/>
            <a:headEnd len="med" w="med" type="none"/>
            <a:tailEnd len="med" w="med" type="triangle"/>
          </a:ln>
        </p:spPr>
      </p:sp>
      <p:sp>
        <p:nvSpPr>
          <p:cNvPr id="486" name="Google Shape;486;p46"/>
          <p:cNvSpPr/>
          <p:nvPr/>
        </p:nvSpPr>
        <p:spPr>
          <a:xfrm flipH="1" rot="10800000">
            <a:off x="3498225" y="3663371"/>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F00FF"/>
            </a:solidFill>
            <a:prstDash val="solid"/>
            <a:round/>
            <a:headEnd len="med" w="med" type="none"/>
            <a:tailEnd len="med" w="med" type="triangle"/>
          </a:ln>
        </p:spPr>
      </p:sp>
      <p:sp>
        <p:nvSpPr>
          <p:cNvPr id="487" name="Google Shape;487;p4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Traffic Engineering – Splitting Flows</a:t>
            </a:r>
            <a:endParaRPr/>
          </a:p>
        </p:txBody>
      </p:sp>
      <p:sp>
        <p:nvSpPr>
          <p:cNvPr id="488" name="Google Shape;488;p46"/>
          <p:cNvSpPr txBox="1"/>
          <p:nvPr>
            <p:ph idx="1" type="body"/>
          </p:nvPr>
        </p:nvSpPr>
        <p:spPr>
          <a:xfrm>
            <a:off x="107050" y="402200"/>
            <a:ext cx="8909700" cy="246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centralized router can also let us split flows along different paths.</a:t>
            </a:r>
            <a:endParaRPr/>
          </a:p>
          <a:p>
            <a:pPr indent="0" lvl="0" marL="0" rtl="0" algn="l">
              <a:spcBef>
                <a:spcPts val="600"/>
              </a:spcBef>
              <a:spcAft>
                <a:spcPts val="0"/>
              </a:spcAft>
              <a:buNone/>
            </a:pPr>
            <a:r>
              <a:rPr lang="en"/>
              <a:t>This results in better capacity use (efficiency) of the network.</a:t>
            </a:r>
            <a:endParaRPr/>
          </a:p>
        </p:txBody>
      </p:sp>
      <p:sp>
        <p:nvSpPr>
          <p:cNvPr id="489" name="Google Shape;489;p46"/>
          <p:cNvSpPr/>
          <p:nvPr/>
        </p:nvSpPr>
        <p:spPr>
          <a:xfrm>
            <a:off x="4157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490" name="Google Shape;490;p46"/>
          <p:cNvCxnSpPr>
            <a:stCxn id="489" idx="1"/>
            <a:endCxn id="491" idx="6"/>
          </p:cNvCxnSpPr>
          <p:nvPr/>
        </p:nvCxnSpPr>
        <p:spPr>
          <a:xfrm rot="10800000">
            <a:off x="3680363" y="3621400"/>
            <a:ext cx="477000" cy="0"/>
          </a:xfrm>
          <a:prstGeom prst="straightConnector1">
            <a:avLst/>
          </a:prstGeom>
          <a:noFill/>
          <a:ln cap="flat" cmpd="sng" w="19050">
            <a:solidFill>
              <a:srgbClr val="000000"/>
            </a:solidFill>
            <a:prstDash val="solid"/>
            <a:round/>
            <a:headEnd len="med" w="med" type="none"/>
            <a:tailEnd len="med" w="med" type="none"/>
          </a:ln>
        </p:spPr>
      </p:cxnSp>
      <p:sp>
        <p:nvSpPr>
          <p:cNvPr id="491" name="Google Shape;491;p46"/>
          <p:cNvSpPr/>
          <p:nvPr/>
        </p:nvSpPr>
        <p:spPr>
          <a:xfrm>
            <a:off x="3395363" y="3478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492" name="Google Shape;492;p46"/>
          <p:cNvCxnSpPr>
            <a:stCxn id="493" idx="1"/>
            <a:endCxn id="494" idx="6"/>
          </p:cNvCxnSpPr>
          <p:nvPr/>
        </p:nvCxnSpPr>
        <p:spPr>
          <a:xfrm rot="10800000">
            <a:off x="3680363" y="4383400"/>
            <a:ext cx="477000" cy="0"/>
          </a:xfrm>
          <a:prstGeom prst="straightConnector1">
            <a:avLst/>
          </a:prstGeom>
          <a:noFill/>
          <a:ln cap="flat" cmpd="sng" w="19050">
            <a:solidFill>
              <a:srgbClr val="000000"/>
            </a:solidFill>
            <a:prstDash val="solid"/>
            <a:round/>
            <a:headEnd len="med" w="med" type="none"/>
            <a:tailEnd len="med" w="med" type="none"/>
          </a:ln>
        </p:spPr>
      </p:cxnSp>
      <p:sp>
        <p:nvSpPr>
          <p:cNvPr id="495" name="Google Shape;495;p46"/>
          <p:cNvSpPr/>
          <p:nvPr/>
        </p:nvSpPr>
        <p:spPr>
          <a:xfrm>
            <a:off x="5300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496" name="Google Shape;496;p46"/>
          <p:cNvCxnSpPr>
            <a:stCxn id="495" idx="1"/>
            <a:endCxn id="489" idx="3"/>
          </p:cNvCxnSpPr>
          <p:nvPr/>
        </p:nvCxnSpPr>
        <p:spPr>
          <a:xfrm rot="10800000">
            <a:off x="4442363" y="3621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497" name="Google Shape;497;p46"/>
          <p:cNvCxnSpPr>
            <a:stCxn id="498" idx="1"/>
            <a:endCxn id="489" idx="3"/>
          </p:cNvCxnSpPr>
          <p:nvPr/>
        </p:nvCxnSpPr>
        <p:spPr>
          <a:xfrm rot="10800000">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499" name="Google Shape;499;p46"/>
          <p:cNvCxnSpPr>
            <a:stCxn id="495" idx="1"/>
            <a:endCxn id="493" idx="3"/>
          </p:cNvCxnSpPr>
          <p:nvPr/>
        </p:nvCxnSpPr>
        <p:spPr>
          <a:xfrm flipH="1">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500" name="Google Shape;500;p46"/>
          <p:cNvCxnSpPr>
            <a:stCxn id="498" idx="1"/>
            <a:endCxn id="493" idx="3"/>
          </p:cNvCxnSpPr>
          <p:nvPr/>
        </p:nvCxnSpPr>
        <p:spPr>
          <a:xfrm rot="10800000">
            <a:off x="4442363" y="4383400"/>
            <a:ext cx="858000" cy="0"/>
          </a:xfrm>
          <a:prstGeom prst="straightConnector1">
            <a:avLst/>
          </a:prstGeom>
          <a:noFill/>
          <a:ln cap="flat" cmpd="sng" w="19050">
            <a:solidFill>
              <a:srgbClr val="000000"/>
            </a:solidFill>
            <a:prstDash val="solid"/>
            <a:round/>
            <a:headEnd len="med" w="med" type="none"/>
            <a:tailEnd len="med" w="med" type="none"/>
          </a:ln>
        </p:spPr>
      </p:cxnSp>
      <p:sp>
        <p:nvSpPr>
          <p:cNvPr id="501" name="Google Shape;501;p46"/>
          <p:cNvSpPr/>
          <p:nvPr/>
        </p:nvSpPr>
        <p:spPr>
          <a:xfrm>
            <a:off x="6443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502" name="Google Shape;502;p46"/>
          <p:cNvCxnSpPr>
            <a:stCxn id="503" idx="1"/>
            <a:endCxn id="498" idx="3"/>
          </p:cNvCxnSpPr>
          <p:nvPr/>
        </p:nvCxnSpPr>
        <p:spPr>
          <a:xfrm rot="10800000">
            <a:off x="5585363" y="4383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504" name="Google Shape;504;p46"/>
          <p:cNvCxnSpPr>
            <a:stCxn id="501" idx="1"/>
            <a:endCxn id="495" idx="3"/>
          </p:cNvCxnSpPr>
          <p:nvPr/>
        </p:nvCxnSpPr>
        <p:spPr>
          <a:xfrm rot="10800000">
            <a:off x="5585363" y="3621400"/>
            <a:ext cx="858000" cy="0"/>
          </a:xfrm>
          <a:prstGeom prst="straightConnector1">
            <a:avLst/>
          </a:prstGeom>
          <a:noFill/>
          <a:ln cap="flat" cmpd="sng" w="19050">
            <a:solidFill>
              <a:srgbClr val="000000"/>
            </a:solidFill>
            <a:prstDash val="solid"/>
            <a:round/>
            <a:headEnd len="med" w="med" type="none"/>
            <a:tailEnd len="med" w="med" type="none"/>
          </a:ln>
        </p:spPr>
      </p:cxnSp>
      <p:sp>
        <p:nvSpPr>
          <p:cNvPr id="505" name="Google Shape;505;p46"/>
          <p:cNvSpPr/>
          <p:nvPr/>
        </p:nvSpPr>
        <p:spPr>
          <a:xfrm>
            <a:off x="7205363" y="3859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cxnSp>
        <p:nvCxnSpPr>
          <p:cNvPr id="506" name="Google Shape;506;p46"/>
          <p:cNvCxnSpPr>
            <a:stCxn id="505" idx="1"/>
            <a:endCxn id="501" idx="3"/>
          </p:cNvCxnSpPr>
          <p:nvPr/>
        </p:nvCxnSpPr>
        <p:spPr>
          <a:xfrm rot="10800000">
            <a:off x="6728400" y="3621437"/>
            <a:ext cx="518700" cy="280200"/>
          </a:xfrm>
          <a:prstGeom prst="straightConnector1">
            <a:avLst/>
          </a:prstGeom>
          <a:noFill/>
          <a:ln cap="flat" cmpd="sng" w="19050">
            <a:solidFill>
              <a:srgbClr val="000000"/>
            </a:solidFill>
            <a:prstDash val="solid"/>
            <a:round/>
            <a:headEnd len="med" w="med" type="none"/>
            <a:tailEnd len="med" w="med" type="none"/>
          </a:ln>
        </p:spPr>
      </p:cxnSp>
      <p:cxnSp>
        <p:nvCxnSpPr>
          <p:cNvPr id="507" name="Google Shape;507;p46"/>
          <p:cNvCxnSpPr>
            <a:stCxn id="505" idx="3"/>
            <a:endCxn id="503" idx="3"/>
          </p:cNvCxnSpPr>
          <p:nvPr/>
        </p:nvCxnSpPr>
        <p:spPr>
          <a:xfrm flipH="1">
            <a:off x="6728400" y="4103162"/>
            <a:ext cx="518700" cy="280200"/>
          </a:xfrm>
          <a:prstGeom prst="straightConnector1">
            <a:avLst/>
          </a:prstGeom>
          <a:noFill/>
          <a:ln cap="flat" cmpd="sng" w="19050">
            <a:solidFill>
              <a:srgbClr val="000000"/>
            </a:solidFill>
            <a:prstDash val="solid"/>
            <a:round/>
            <a:headEnd len="med" w="med" type="none"/>
            <a:tailEnd len="med" w="med" type="none"/>
          </a:ln>
        </p:spPr>
      </p:cxnSp>
      <p:sp>
        <p:nvSpPr>
          <p:cNvPr id="508" name="Google Shape;508;p46"/>
          <p:cNvSpPr txBox="1"/>
          <p:nvPr/>
        </p:nvSpPr>
        <p:spPr>
          <a:xfrm>
            <a:off x="4795625" y="4696025"/>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All links 10 Gbps.</a:t>
            </a:r>
            <a:endParaRPr>
              <a:solidFill>
                <a:schemeClr val="dk1"/>
              </a:solidFill>
              <a:latin typeface="Roboto"/>
              <a:ea typeface="Roboto"/>
              <a:cs typeface="Roboto"/>
              <a:sym typeface="Roboto"/>
            </a:endParaRPr>
          </a:p>
        </p:txBody>
      </p:sp>
      <p:sp>
        <p:nvSpPr>
          <p:cNvPr id="509" name="Google Shape;509;p46"/>
          <p:cNvSpPr/>
          <p:nvPr/>
        </p:nvSpPr>
        <p:spPr>
          <a:xfrm>
            <a:off x="3574425" y="4143250"/>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1C232"/>
            </a:solidFill>
            <a:prstDash val="solid"/>
            <a:round/>
            <a:headEnd len="med" w="med" type="none"/>
            <a:tailEnd len="med" w="med" type="triangle"/>
          </a:ln>
        </p:spPr>
      </p:sp>
      <p:sp>
        <p:nvSpPr>
          <p:cNvPr id="493" name="Google Shape;493;p46"/>
          <p:cNvSpPr/>
          <p:nvPr/>
        </p:nvSpPr>
        <p:spPr>
          <a:xfrm>
            <a:off x="4157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498" name="Google Shape;498;p46"/>
          <p:cNvSpPr/>
          <p:nvPr/>
        </p:nvSpPr>
        <p:spPr>
          <a:xfrm>
            <a:off x="5300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503" name="Google Shape;503;p46"/>
          <p:cNvSpPr/>
          <p:nvPr/>
        </p:nvSpPr>
        <p:spPr>
          <a:xfrm>
            <a:off x="6443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494" name="Google Shape;494;p46"/>
          <p:cNvSpPr/>
          <p:nvPr/>
        </p:nvSpPr>
        <p:spPr>
          <a:xfrm>
            <a:off x="3395363" y="4240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510" name="Google Shape;510;p46"/>
          <p:cNvSpPr txBox="1"/>
          <p:nvPr/>
        </p:nvSpPr>
        <p:spPr>
          <a:xfrm>
            <a:off x="1665800" y="3513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FF00FF"/>
                </a:solidFill>
                <a:latin typeface="Roboto"/>
                <a:ea typeface="Roboto"/>
                <a:cs typeface="Roboto"/>
                <a:sym typeface="Roboto"/>
              </a:rPr>
              <a:t>A → C = 12 Gbps</a:t>
            </a:r>
            <a:endParaRPr>
              <a:solidFill>
                <a:srgbClr val="FF00FF"/>
              </a:solidFill>
              <a:latin typeface="Roboto"/>
              <a:ea typeface="Roboto"/>
              <a:cs typeface="Roboto"/>
              <a:sym typeface="Roboto"/>
            </a:endParaRPr>
          </a:p>
        </p:txBody>
      </p:sp>
      <p:sp>
        <p:nvSpPr>
          <p:cNvPr id="511" name="Google Shape;511;p46"/>
          <p:cNvSpPr txBox="1"/>
          <p:nvPr/>
        </p:nvSpPr>
        <p:spPr>
          <a:xfrm>
            <a:off x="1665800" y="4275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E69138"/>
                </a:solidFill>
                <a:latin typeface="Roboto"/>
                <a:ea typeface="Roboto"/>
                <a:cs typeface="Roboto"/>
                <a:sym typeface="Roboto"/>
              </a:rPr>
              <a:t>B → C = 8 Gbps</a:t>
            </a:r>
            <a:endParaRPr>
              <a:solidFill>
                <a:srgbClr val="E69138"/>
              </a:solidFill>
              <a:latin typeface="Roboto"/>
              <a:ea typeface="Roboto"/>
              <a:cs typeface="Roboto"/>
              <a:sym typeface="Roboto"/>
            </a:endParaRPr>
          </a:p>
        </p:txBody>
      </p:sp>
      <p:sp>
        <p:nvSpPr>
          <p:cNvPr id="512" name="Google Shape;512;p46"/>
          <p:cNvSpPr/>
          <p:nvPr/>
        </p:nvSpPr>
        <p:spPr>
          <a:xfrm>
            <a:off x="4484300" y="2770975"/>
            <a:ext cx="1881600" cy="570300"/>
          </a:xfrm>
          <a:prstGeom prst="wedgeRoundRectCallout">
            <a:avLst>
              <a:gd fmla="val -60787" name="adj1"/>
              <a:gd fmla="val 58154"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Send 10 Gbps to R2, and 2 Gbps to R6.</a:t>
            </a:r>
            <a:endParaRPr>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7"/>
          <p:cNvSpPr/>
          <p:nvPr/>
        </p:nvSpPr>
        <p:spPr>
          <a:xfrm>
            <a:off x="3585025" y="3519066"/>
            <a:ext cx="3624775" cy="829675"/>
          </a:xfrm>
          <a:custGeom>
            <a:rect b="b" l="l" r="r" t="t"/>
            <a:pathLst>
              <a:path extrusionOk="0" h="33187" w="144991">
                <a:moveTo>
                  <a:pt x="0" y="1523"/>
                </a:moveTo>
                <a:cubicBezTo>
                  <a:pt x="5468" y="1664"/>
                  <a:pt x="20920" y="-2498"/>
                  <a:pt x="32808" y="2370"/>
                </a:cubicBezTo>
                <a:cubicBezTo>
                  <a:pt x="44697" y="7238"/>
                  <a:pt x="56267" y="26036"/>
                  <a:pt x="71331" y="30733"/>
                </a:cubicBezTo>
                <a:cubicBezTo>
                  <a:pt x="86395" y="35430"/>
                  <a:pt x="110913" y="32241"/>
                  <a:pt x="123190" y="30553"/>
                </a:cubicBezTo>
                <a:cubicBezTo>
                  <a:pt x="135467" y="28865"/>
                  <a:pt x="141358" y="22263"/>
                  <a:pt x="144991" y="20605"/>
                </a:cubicBezTo>
              </a:path>
            </a:pathLst>
          </a:custGeom>
          <a:noFill/>
          <a:ln cap="flat" cmpd="sng" w="28575">
            <a:solidFill>
              <a:srgbClr val="FF00FF"/>
            </a:solidFill>
            <a:prstDash val="solid"/>
            <a:round/>
            <a:headEnd len="med" w="med" type="none"/>
            <a:tailEnd len="med" w="med" type="triangle"/>
          </a:ln>
        </p:spPr>
      </p:sp>
      <p:sp>
        <p:nvSpPr>
          <p:cNvPr id="518" name="Google Shape;518;p47"/>
          <p:cNvSpPr/>
          <p:nvPr/>
        </p:nvSpPr>
        <p:spPr>
          <a:xfrm flipH="1" rot="10800000">
            <a:off x="3498225" y="3663371"/>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F00FF"/>
            </a:solidFill>
            <a:prstDash val="solid"/>
            <a:round/>
            <a:headEnd len="med" w="med" type="none"/>
            <a:tailEnd len="med" w="med" type="triangle"/>
          </a:ln>
        </p:spPr>
      </p:sp>
      <p:sp>
        <p:nvSpPr>
          <p:cNvPr id="519" name="Google Shape;519;p4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Traffic Engineering – Splitting Flows</a:t>
            </a:r>
            <a:endParaRPr/>
          </a:p>
        </p:txBody>
      </p:sp>
      <p:sp>
        <p:nvSpPr>
          <p:cNvPr id="520" name="Google Shape;520;p47"/>
          <p:cNvSpPr txBox="1"/>
          <p:nvPr>
            <p:ph idx="1" type="body"/>
          </p:nvPr>
        </p:nvSpPr>
        <p:spPr>
          <a:xfrm>
            <a:off x="107050" y="402200"/>
            <a:ext cx="8909700" cy="2169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do we actually split traffic across different paths?</a:t>
            </a:r>
            <a:endParaRPr/>
          </a:p>
          <a:p>
            <a:pPr indent="-342900" lvl="0" marL="457200" rtl="0" algn="l">
              <a:spcBef>
                <a:spcPts val="600"/>
              </a:spcBef>
              <a:spcAft>
                <a:spcPts val="0"/>
              </a:spcAft>
              <a:buSzPts val="1800"/>
              <a:buChar char="●"/>
            </a:pPr>
            <a:r>
              <a:rPr lang="en"/>
              <a:t>We can use </a:t>
            </a:r>
            <a:r>
              <a:rPr b="1" lang="en"/>
              <a:t>encapsulation</a:t>
            </a:r>
            <a:r>
              <a:rPr lang="en"/>
              <a:t>.</a:t>
            </a:r>
            <a:endParaRPr/>
          </a:p>
          <a:p>
            <a:pPr indent="-342900" lvl="0" marL="457200" rtl="0" algn="l">
              <a:spcBef>
                <a:spcPts val="0"/>
              </a:spcBef>
              <a:spcAft>
                <a:spcPts val="0"/>
              </a:spcAft>
              <a:buSzPts val="1800"/>
              <a:buChar char="●"/>
            </a:pPr>
            <a:r>
              <a:rPr lang="en"/>
              <a:t>Add a new header that indicates which path to take through the network.</a:t>
            </a:r>
            <a:endParaRPr/>
          </a:p>
          <a:p>
            <a:pPr indent="-342900" lvl="0" marL="457200" rtl="0" algn="l">
              <a:spcBef>
                <a:spcPts val="0"/>
              </a:spcBef>
              <a:spcAft>
                <a:spcPts val="0"/>
              </a:spcAft>
              <a:buSzPts val="1800"/>
              <a:buChar char="●"/>
            </a:pPr>
            <a:r>
              <a:rPr lang="en"/>
              <a:t>Now, routers forward based on the new header.</a:t>
            </a:r>
            <a:endParaRPr/>
          </a:p>
          <a:p>
            <a:pPr indent="-342900" lvl="1" marL="914400" rtl="0" algn="l">
              <a:spcBef>
                <a:spcPts val="0"/>
              </a:spcBef>
              <a:spcAft>
                <a:spcPts val="0"/>
              </a:spcAft>
              <a:buSzPts val="1800"/>
              <a:buChar char="○"/>
            </a:pPr>
            <a:r>
              <a:rPr lang="en"/>
              <a:t>Simple enough task for commodity routers.</a:t>
            </a:r>
            <a:endParaRPr/>
          </a:p>
        </p:txBody>
      </p:sp>
      <p:sp>
        <p:nvSpPr>
          <p:cNvPr id="521" name="Google Shape;521;p47"/>
          <p:cNvSpPr/>
          <p:nvPr/>
        </p:nvSpPr>
        <p:spPr>
          <a:xfrm>
            <a:off x="4157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522" name="Google Shape;522;p47"/>
          <p:cNvCxnSpPr>
            <a:stCxn id="521" idx="1"/>
            <a:endCxn id="523" idx="6"/>
          </p:cNvCxnSpPr>
          <p:nvPr/>
        </p:nvCxnSpPr>
        <p:spPr>
          <a:xfrm rot="10800000">
            <a:off x="3680363" y="3621400"/>
            <a:ext cx="477000" cy="0"/>
          </a:xfrm>
          <a:prstGeom prst="straightConnector1">
            <a:avLst/>
          </a:prstGeom>
          <a:noFill/>
          <a:ln cap="flat" cmpd="sng" w="19050">
            <a:solidFill>
              <a:srgbClr val="000000"/>
            </a:solidFill>
            <a:prstDash val="solid"/>
            <a:round/>
            <a:headEnd len="med" w="med" type="none"/>
            <a:tailEnd len="med" w="med" type="none"/>
          </a:ln>
        </p:spPr>
      </p:cxnSp>
      <p:sp>
        <p:nvSpPr>
          <p:cNvPr id="523" name="Google Shape;523;p47"/>
          <p:cNvSpPr/>
          <p:nvPr/>
        </p:nvSpPr>
        <p:spPr>
          <a:xfrm>
            <a:off x="3395363" y="3478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524" name="Google Shape;524;p47"/>
          <p:cNvCxnSpPr>
            <a:stCxn id="525" idx="1"/>
            <a:endCxn id="526" idx="6"/>
          </p:cNvCxnSpPr>
          <p:nvPr/>
        </p:nvCxnSpPr>
        <p:spPr>
          <a:xfrm rot="10800000">
            <a:off x="3680363" y="4383400"/>
            <a:ext cx="477000" cy="0"/>
          </a:xfrm>
          <a:prstGeom prst="straightConnector1">
            <a:avLst/>
          </a:prstGeom>
          <a:noFill/>
          <a:ln cap="flat" cmpd="sng" w="19050">
            <a:solidFill>
              <a:srgbClr val="000000"/>
            </a:solidFill>
            <a:prstDash val="solid"/>
            <a:round/>
            <a:headEnd len="med" w="med" type="none"/>
            <a:tailEnd len="med" w="med" type="none"/>
          </a:ln>
        </p:spPr>
      </p:cxnSp>
      <p:sp>
        <p:nvSpPr>
          <p:cNvPr id="527" name="Google Shape;527;p47"/>
          <p:cNvSpPr/>
          <p:nvPr/>
        </p:nvSpPr>
        <p:spPr>
          <a:xfrm>
            <a:off x="5300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528" name="Google Shape;528;p47"/>
          <p:cNvCxnSpPr>
            <a:stCxn id="527" idx="1"/>
            <a:endCxn id="521" idx="3"/>
          </p:cNvCxnSpPr>
          <p:nvPr/>
        </p:nvCxnSpPr>
        <p:spPr>
          <a:xfrm rot="10800000">
            <a:off x="4442363" y="3621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529" name="Google Shape;529;p47"/>
          <p:cNvCxnSpPr>
            <a:stCxn id="530" idx="1"/>
            <a:endCxn id="521" idx="3"/>
          </p:cNvCxnSpPr>
          <p:nvPr/>
        </p:nvCxnSpPr>
        <p:spPr>
          <a:xfrm rot="10800000">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531" name="Google Shape;531;p47"/>
          <p:cNvCxnSpPr>
            <a:stCxn id="527" idx="1"/>
            <a:endCxn id="525" idx="3"/>
          </p:cNvCxnSpPr>
          <p:nvPr/>
        </p:nvCxnSpPr>
        <p:spPr>
          <a:xfrm flipH="1">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532" name="Google Shape;532;p47"/>
          <p:cNvCxnSpPr>
            <a:stCxn id="530" idx="1"/>
            <a:endCxn id="525" idx="3"/>
          </p:cNvCxnSpPr>
          <p:nvPr/>
        </p:nvCxnSpPr>
        <p:spPr>
          <a:xfrm rot="10800000">
            <a:off x="4442363" y="4383400"/>
            <a:ext cx="858000" cy="0"/>
          </a:xfrm>
          <a:prstGeom prst="straightConnector1">
            <a:avLst/>
          </a:prstGeom>
          <a:noFill/>
          <a:ln cap="flat" cmpd="sng" w="19050">
            <a:solidFill>
              <a:srgbClr val="000000"/>
            </a:solidFill>
            <a:prstDash val="solid"/>
            <a:round/>
            <a:headEnd len="med" w="med" type="none"/>
            <a:tailEnd len="med" w="med" type="none"/>
          </a:ln>
        </p:spPr>
      </p:cxnSp>
      <p:sp>
        <p:nvSpPr>
          <p:cNvPr id="533" name="Google Shape;533;p47"/>
          <p:cNvSpPr/>
          <p:nvPr/>
        </p:nvSpPr>
        <p:spPr>
          <a:xfrm>
            <a:off x="6443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534" name="Google Shape;534;p47"/>
          <p:cNvCxnSpPr>
            <a:stCxn id="535" idx="1"/>
            <a:endCxn id="530" idx="3"/>
          </p:cNvCxnSpPr>
          <p:nvPr/>
        </p:nvCxnSpPr>
        <p:spPr>
          <a:xfrm rot="10800000">
            <a:off x="5585363" y="4383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536" name="Google Shape;536;p47"/>
          <p:cNvCxnSpPr>
            <a:stCxn id="533" idx="1"/>
            <a:endCxn id="527" idx="3"/>
          </p:cNvCxnSpPr>
          <p:nvPr/>
        </p:nvCxnSpPr>
        <p:spPr>
          <a:xfrm rot="10800000">
            <a:off x="5585363" y="3621400"/>
            <a:ext cx="858000" cy="0"/>
          </a:xfrm>
          <a:prstGeom prst="straightConnector1">
            <a:avLst/>
          </a:prstGeom>
          <a:noFill/>
          <a:ln cap="flat" cmpd="sng" w="19050">
            <a:solidFill>
              <a:srgbClr val="000000"/>
            </a:solidFill>
            <a:prstDash val="solid"/>
            <a:round/>
            <a:headEnd len="med" w="med" type="none"/>
            <a:tailEnd len="med" w="med" type="none"/>
          </a:ln>
        </p:spPr>
      </p:cxnSp>
      <p:sp>
        <p:nvSpPr>
          <p:cNvPr id="537" name="Google Shape;537;p47"/>
          <p:cNvSpPr/>
          <p:nvPr/>
        </p:nvSpPr>
        <p:spPr>
          <a:xfrm>
            <a:off x="7205363" y="3859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cxnSp>
        <p:nvCxnSpPr>
          <p:cNvPr id="538" name="Google Shape;538;p47"/>
          <p:cNvCxnSpPr>
            <a:stCxn id="537" idx="1"/>
            <a:endCxn id="533" idx="3"/>
          </p:cNvCxnSpPr>
          <p:nvPr/>
        </p:nvCxnSpPr>
        <p:spPr>
          <a:xfrm rot="10800000">
            <a:off x="6728400" y="3621437"/>
            <a:ext cx="518700" cy="280200"/>
          </a:xfrm>
          <a:prstGeom prst="straightConnector1">
            <a:avLst/>
          </a:prstGeom>
          <a:noFill/>
          <a:ln cap="flat" cmpd="sng" w="19050">
            <a:solidFill>
              <a:srgbClr val="000000"/>
            </a:solidFill>
            <a:prstDash val="solid"/>
            <a:round/>
            <a:headEnd len="med" w="med" type="none"/>
            <a:tailEnd len="med" w="med" type="none"/>
          </a:ln>
        </p:spPr>
      </p:cxnSp>
      <p:cxnSp>
        <p:nvCxnSpPr>
          <p:cNvPr id="539" name="Google Shape;539;p47"/>
          <p:cNvCxnSpPr>
            <a:stCxn id="537" idx="3"/>
            <a:endCxn id="535" idx="3"/>
          </p:cNvCxnSpPr>
          <p:nvPr/>
        </p:nvCxnSpPr>
        <p:spPr>
          <a:xfrm flipH="1">
            <a:off x="6728400" y="4103162"/>
            <a:ext cx="518700" cy="280200"/>
          </a:xfrm>
          <a:prstGeom prst="straightConnector1">
            <a:avLst/>
          </a:prstGeom>
          <a:noFill/>
          <a:ln cap="flat" cmpd="sng" w="19050">
            <a:solidFill>
              <a:srgbClr val="000000"/>
            </a:solidFill>
            <a:prstDash val="solid"/>
            <a:round/>
            <a:headEnd len="med" w="med" type="none"/>
            <a:tailEnd len="med" w="med" type="none"/>
          </a:ln>
        </p:spPr>
      </p:cxnSp>
      <p:sp>
        <p:nvSpPr>
          <p:cNvPr id="540" name="Google Shape;540;p47"/>
          <p:cNvSpPr txBox="1"/>
          <p:nvPr/>
        </p:nvSpPr>
        <p:spPr>
          <a:xfrm>
            <a:off x="4795625" y="4696025"/>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All links 10 Gbps.</a:t>
            </a:r>
            <a:endParaRPr>
              <a:solidFill>
                <a:schemeClr val="dk1"/>
              </a:solidFill>
              <a:latin typeface="Roboto"/>
              <a:ea typeface="Roboto"/>
              <a:cs typeface="Roboto"/>
              <a:sym typeface="Roboto"/>
            </a:endParaRPr>
          </a:p>
        </p:txBody>
      </p:sp>
      <p:sp>
        <p:nvSpPr>
          <p:cNvPr id="541" name="Google Shape;541;p47"/>
          <p:cNvSpPr/>
          <p:nvPr/>
        </p:nvSpPr>
        <p:spPr>
          <a:xfrm>
            <a:off x="3574425" y="4143250"/>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1C232"/>
            </a:solidFill>
            <a:prstDash val="solid"/>
            <a:round/>
            <a:headEnd len="med" w="med" type="none"/>
            <a:tailEnd len="med" w="med" type="triangle"/>
          </a:ln>
        </p:spPr>
      </p:sp>
      <p:sp>
        <p:nvSpPr>
          <p:cNvPr id="525" name="Google Shape;525;p47"/>
          <p:cNvSpPr/>
          <p:nvPr/>
        </p:nvSpPr>
        <p:spPr>
          <a:xfrm>
            <a:off x="4157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530" name="Google Shape;530;p47"/>
          <p:cNvSpPr/>
          <p:nvPr/>
        </p:nvSpPr>
        <p:spPr>
          <a:xfrm>
            <a:off x="5300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535" name="Google Shape;535;p47"/>
          <p:cNvSpPr/>
          <p:nvPr/>
        </p:nvSpPr>
        <p:spPr>
          <a:xfrm>
            <a:off x="6443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526" name="Google Shape;526;p47"/>
          <p:cNvSpPr/>
          <p:nvPr/>
        </p:nvSpPr>
        <p:spPr>
          <a:xfrm>
            <a:off x="3395363" y="4240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542" name="Google Shape;542;p47"/>
          <p:cNvSpPr txBox="1"/>
          <p:nvPr/>
        </p:nvSpPr>
        <p:spPr>
          <a:xfrm>
            <a:off x="1665800" y="3513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FF00FF"/>
                </a:solidFill>
                <a:latin typeface="Roboto"/>
                <a:ea typeface="Roboto"/>
                <a:cs typeface="Roboto"/>
                <a:sym typeface="Roboto"/>
              </a:rPr>
              <a:t>A → C = 12 Gbps</a:t>
            </a:r>
            <a:endParaRPr>
              <a:solidFill>
                <a:srgbClr val="FF00FF"/>
              </a:solidFill>
              <a:latin typeface="Roboto"/>
              <a:ea typeface="Roboto"/>
              <a:cs typeface="Roboto"/>
              <a:sym typeface="Roboto"/>
            </a:endParaRPr>
          </a:p>
        </p:txBody>
      </p:sp>
      <p:sp>
        <p:nvSpPr>
          <p:cNvPr id="543" name="Google Shape;543;p47"/>
          <p:cNvSpPr txBox="1"/>
          <p:nvPr/>
        </p:nvSpPr>
        <p:spPr>
          <a:xfrm>
            <a:off x="1665800" y="4275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E69138"/>
                </a:solidFill>
                <a:latin typeface="Roboto"/>
                <a:ea typeface="Roboto"/>
                <a:cs typeface="Roboto"/>
                <a:sym typeface="Roboto"/>
              </a:rPr>
              <a:t>B → C = 8 Gbps</a:t>
            </a:r>
            <a:endParaRPr>
              <a:solidFill>
                <a:srgbClr val="E69138"/>
              </a:solidFill>
              <a:latin typeface="Roboto"/>
              <a:ea typeface="Roboto"/>
              <a:cs typeface="Roboto"/>
              <a:sym typeface="Roboto"/>
            </a:endParaRPr>
          </a:p>
        </p:txBody>
      </p:sp>
      <p:sp>
        <p:nvSpPr>
          <p:cNvPr id="544" name="Google Shape;544;p47"/>
          <p:cNvSpPr/>
          <p:nvPr/>
        </p:nvSpPr>
        <p:spPr>
          <a:xfrm>
            <a:off x="4484300" y="2770975"/>
            <a:ext cx="2108100" cy="570300"/>
          </a:xfrm>
          <a:prstGeom prst="wedgeRoundRectCallout">
            <a:avLst>
              <a:gd fmla="val -60787" name="adj1"/>
              <a:gd fmla="val 58154"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Send Label=42 to R2, and Label=100 to R6.</a:t>
            </a:r>
            <a:endParaRPr>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Benefits of SDN Control Planes</a:t>
            </a:r>
            <a:endParaRPr/>
          </a:p>
        </p:txBody>
      </p:sp>
      <p:sp>
        <p:nvSpPr>
          <p:cNvPr id="550" name="Google Shape;550;p4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SDN control planes are </a:t>
            </a:r>
            <a:r>
              <a:rPr b="1" lang="en"/>
              <a:t>flexible</a:t>
            </a:r>
            <a:r>
              <a:rPr lang="en"/>
              <a:t>.</a:t>
            </a:r>
            <a:endParaRPr/>
          </a:p>
          <a:p>
            <a:pPr indent="-342900" lvl="0" marL="457200" rtl="0" algn="l">
              <a:spcBef>
                <a:spcPts val="600"/>
              </a:spcBef>
              <a:spcAft>
                <a:spcPts val="0"/>
              </a:spcAft>
              <a:buSzPts val="1800"/>
              <a:buChar char="●"/>
            </a:pPr>
            <a:r>
              <a:rPr lang="en"/>
              <a:t>No longer constrained by standards bodies and vendors.</a:t>
            </a:r>
            <a:endParaRPr/>
          </a:p>
          <a:p>
            <a:pPr indent="-342900" lvl="0" marL="457200" rtl="0" algn="l">
              <a:spcBef>
                <a:spcPts val="0"/>
              </a:spcBef>
              <a:spcAft>
                <a:spcPts val="0"/>
              </a:spcAft>
              <a:buSzPts val="1800"/>
              <a:buChar char="●"/>
            </a:pPr>
            <a:r>
              <a:rPr lang="en"/>
              <a:t>Operators can implement custom policies.</a:t>
            </a:r>
            <a:endParaRPr/>
          </a:p>
          <a:p>
            <a:pPr indent="-342900" lvl="1" marL="914400" rtl="0" algn="l">
              <a:spcBef>
                <a:spcPts val="0"/>
              </a:spcBef>
              <a:spcAft>
                <a:spcPts val="0"/>
              </a:spcAft>
              <a:buSzPts val="1800"/>
              <a:buChar char="○"/>
            </a:pPr>
            <a:r>
              <a:rPr lang="en"/>
              <a:t>Geofencing: "Don't send traffic via links in Canada."</a:t>
            </a:r>
            <a:endParaRPr/>
          </a:p>
          <a:p>
            <a:pPr indent="-342900" lvl="1" marL="914400" rtl="0" algn="l">
              <a:spcBef>
                <a:spcPts val="0"/>
              </a:spcBef>
              <a:spcAft>
                <a:spcPts val="0"/>
              </a:spcAft>
              <a:buSzPts val="1800"/>
              <a:buChar char="○"/>
            </a:pPr>
            <a:r>
              <a:rPr lang="en"/>
              <a:t>Diversity: "Use separate paths. If one link breaks, the other path will be ok."</a:t>
            </a:r>
            <a:endParaRPr/>
          </a:p>
          <a:p>
            <a:pPr indent="0" lvl="0" marL="0" rtl="0" algn="l">
              <a:spcBef>
                <a:spcPts val="600"/>
              </a:spcBef>
              <a:spcAft>
                <a:spcPts val="0"/>
              </a:spcAft>
              <a:buNone/>
            </a:pPr>
            <a:r>
              <a:rPr lang="en"/>
              <a:t>SDN control planes are </a:t>
            </a:r>
            <a:r>
              <a:rPr b="1" lang="en"/>
              <a:t>simple</a:t>
            </a:r>
            <a:r>
              <a:rPr lang="en"/>
              <a:t>.</a:t>
            </a:r>
            <a:endParaRPr/>
          </a:p>
          <a:p>
            <a:pPr indent="-342900" lvl="0" marL="457200" rtl="0" algn="l">
              <a:spcBef>
                <a:spcPts val="600"/>
              </a:spcBef>
              <a:spcAft>
                <a:spcPts val="0"/>
              </a:spcAft>
              <a:buSzPts val="1800"/>
              <a:buChar char="●"/>
            </a:pPr>
            <a:r>
              <a:rPr lang="en"/>
              <a:t>Routing protocols can get really complex.</a:t>
            </a:r>
            <a:endParaRPr/>
          </a:p>
          <a:p>
            <a:pPr indent="-342900" lvl="1" marL="914400" rtl="0" algn="l">
              <a:spcBef>
                <a:spcPts val="0"/>
              </a:spcBef>
              <a:spcAft>
                <a:spcPts val="0"/>
              </a:spcAft>
              <a:buSzPts val="1800"/>
              <a:buChar char="○"/>
            </a:pPr>
            <a:r>
              <a:rPr lang="en"/>
              <a:t>Example: Vendors need to support the needs of all its customers.</a:t>
            </a:r>
            <a:endParaRPr/>
          </a:p>
          <a:p>
            <a:pPr indent="-342900" lvl="0" marL="457200" rtl="0" algn="l">
              <a:spcBef>
                <a:spcPts val="0"/>
              </a:spcBef>
              <a:spcAft>
                <a:spcPts val="0"/>
              </a:spcAft>
              <a:buSzPts val="1800"/>
              <a:buChar char="●"/>
            </a:pPr>
            <a:r>
              <a:rPr lang="en"/>
              <a:t>With SDN control, the operator can implement only whatever they need.</a:t>
            </a:r>
            <a:endParaRPr/>
          </a:p>
          <a:p>
            <a:pPr indent="0" lvl="0" marL="0" rtl="0" algn="l">
              <a:spcBef>
                <a:spcPts val="600"/>
              </a:spcBef>
              <a:spcAft>
                <a:spcPts val="0"/>
              </a:spcAft>
              <a:buNone/>
            </a:pPr>
            <a:r>
              <a:rPr lang="en"/>
              <a:t>SDN control planes are </a:t>
            </a:r>
            <a:r>
              <a:rPr b="1" lang="en"/>
              <a:t>centralized</a:t>
            </a:r>
            <a:r>
              <a:rPr lang="en"/>
              <a:t>.</a:t>
            </a:r>
            <a:endParaRPr/>
          </a:p>
          <a:p>
            <a:pPr indent="-342900" lvl="0" marL="457200" rtl="0" algn="l">
              <a:spcBef>
                <a:spcPts val="600"/>
              </a:spcBef>
              <a:spcAft>
                <a:spcPts val="0"/>
              </a:spcAft>
              <a:buSzPts val="1800"/>
              <a:buChar char="●"/>
            </a:pPr>
            <a:r>
              <a:rPr lang="en"/>
              <a:t>More efficient use of network resources (by making globally optimal decisions).</a:t>
            </a:r>
            <a:endParaRPr/>
          </a:p>
          <a:p>
            <a:pPr indent="-342900" lvl="0" marL="457200" rtl="0" algn="l">
              <a:spcBef>
                <a:spcPts val="0"/>
              </a:spcBef>
              <a:spcAft>
                <a:spcPts val="0"/>
              </a:spcAft>
              <a:buSzPts val="1800"/>
              <a:buChar char="●"/>
            </a:pPr>
            <a:r>
              <a:rPr lang="en"/>
              <a:t>Easier convergence: Operator uses global view of network to compute new paths.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Benefits of SDN Control Planes</a:t>
            </a:r>
            <a:endParaRPr/>
          </a:p>
        </p:txBody>
      </p:sp>
      <p:graphicFrame>
        <p:nvGraphicFramePr>
          <p:cNvPr id="556" name="Google Shape;556;p49"/>
          <p:cNvGraphicFramePr/>
          <p:nvPr/>
        </p:nvGraphicFramePr>
        <p:xfrm>
          <a:off x="872338" y="1194060"/>
          <a:ext cx="3000000" cy="3000000"/>
        </p:xfrm>
        <a:graphic>
          <a:graphicData uri="http://schemas.openxmlformats.org/drawingml/2006/table">
            <a:tbl>
              <a:tblPr>
                <a:noFill/>
                <a:tableStyleId>{9E0E94E9-8C37-454C-BF69-298D2E925918}</a:tableStyleId>
              </a:tblPr>
              <a:tblGrid>
                <a:gridCol w="4510675"/>
                <a:gridCol w="1887325"/>
                <a:gridCol w="1001325"/>
              </a:tblGrid>
              <a:tr h="572850">
                <a:tc gridSpan="2">
                  <a:txBody>
                    <a:bodyPr/>
                    <a:lstStyle/>
                    <a:p>
                      <a:pPr indent="0" lvl="0" marL="0" rtl="0" algn="l">
                        <a:spcBef>
                          <a:spcPts val="0"/>
                        </a:spcBef>
                        <a:spcAft>
                          <a:spcPts val="0"/>
                        </a:spcAft>
                        <a:buNone/>
                      </a:pPr>
                      <a:r>
                        <a:rPr b="1" lang="en" sz="1600">
                          <a:solidFill>
                            <a:srgbClr val="595959"/>
                          </a:solidFill>
                          <a:latin typeface="Roboto"/>
                          <a:ea typeface="Roboto"/>
                          <a:cs typeface="Roboto"/>
                          <a:sym typeface="Roboto"/>
                        </a:rPr>
                        <a:t>B4: Experience with a Globally-Deployed Software Defined WAN</a:t>
                      </a:r>
                      <a:endParaRPr b="1" sz="1600">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hMerge="1"/>
                <a:tc>
                  <a:txBody>
                    <a:bodyPr/>
                    <a:lstStyle/>
                    <a:p>
                      <a:pPr indent="0" lvl="0" marL="0" rtl="0" algn="r">
                        <a:spcBef>
                          <a:spcPts val="0"/>
                        </a:spcBef>
                        <a:spcAft>
                          <a:spcPts val="0"/>
                        </a:spcAft>
                        <a:buClr>
                          <a:srgbClr val="000000"/>
                        </a:buClr>
                        <a:buSzPts val="1100"/>
                        <a:buFont typeface="Arial"/>
                        <a:buNone/>
                      </a:pPr>
                      <a:r>
                        <a:rPr lang="en" u="sng">
                          <a:solidFill>
                            <a:schemeClr val="hlink"/>
                          </a:solidFill>
                          <a:latin typeface="Roboto"/>
                          <a:ea typeface="Roboto"/>
                          <a:cs typeface="Roboto"/>
                          <a:sym typeface="Roboto"/>
                          <a:hlinkClick r:id="rId3"/>
                        </a:rPr>
                        <a:t>Link</a:t>
                      </a:r>
                      <a:endParaRPr b="1" sz="1600">
                        <a:solidFill>
                          <a:srgbClr val="595959"/>
                        </a:solidFill>
                        <a:latin typeface="Roboto"/>
                        <a:ea typeface="Roboto"/>
                        <a:cs typeface="Roboto"/>
                        <a:sym typeface="Roboto"/>
                      </a:endParaRPr>
                    </a:p>
                  </a:txBody>
                  <a:tcPr marT="91425" marB="0"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r>
              <a:tr h="525400">
                <a:tc>
                  <a:txBody>
                    <a:bodyPr/>
                    <a:lstStyle/>
                    <a:p>
                      <a:pPr indent="0" lvl="0" marL="0" rtl="0" algn="l">
                        <a:spcBef>
                          <a:spcPts val="0"/>
                        </a:spcBef>
                        <a:spcAft>
                          <a:spcPts val="0"/>
                        </a:spcAft>
                        <a:buNone/>
                      </a:pPr>
                      <a:r>
                        <a:rPr i="1" lang="en">
                          <a:solidFill>
                            <a:srgbClr val="595959"/>
                          </a:solidFill>
                          <a:latin typeface="Roboto"/>
                          <a:ea typeface="Roboto"/>
                          <a:cs typeface="Roboto"/>
                          <a:sym typeface="Roboto"/>
                        </a:rPr>
                        <a:t>Sushant Jain et. al. (Google)</a:t>
                      </a:r>
                      <a:endParaRPr i="1">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gridSpan="2">
                  <a:txBody>
                    <a:bodyPr/>
                    <a:lstStyle/>
                    <a:p>
                      <a:pPr indent="0" lvl="0" marL="0" rtl="0" algn="r">
                        <a:spcBef>
                          <a:spcPts val="0"/>
                        </a:spcBef>
                        <a:spcAft>
                          <a:spcPts val="0"/>
                        </a:spcAft>
                        <a:buNone/>
                      </a:pPr>
                      <a:r>
                        <a:rPr i="1" lang="en">
                          <a:solidFill>
                            <a:srgbClr val="595959"/>
                          </a:solidFill>
                          <a:latin typeface="Roboto"/>
                          <a:ea typeface="Roboto"/>
                          <a:cs typeface="Roboto"/>
                          <a:sym typeface="Roboto"/>
                        </a:rPr>
                        <a:t>ACM SIGCOMM 2013</a:t>
                      </a:r>
                      <a:endParaRPr i="1">
                        <a:solidFill>
                          <a:srgbClr val="595959"/>
                        </a:solidFill>
                        <a:latin typeface="Roboto"/>
                        <a:ea typeface="Roboto"/>
                        <a:cs typeface="Roboto"/>
                        <a:sym typeface="Roboto"/>
                      </a:endParaRPr>
                    </a:p>
                  </a:txBody>
                  <a:tcPr marT="91425" marB="91425" marR="91425" marL="91425">
                    <a:lnL cap="flat" cmpd="sng" w="9525">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hMerge="1"/>
              </a:tr>
              <a:tr h="1657125">
                <a:tc gridSpan="3">
                  <a:txBody>
                    <a:bodyPr/>
                    <a:lstStyle/>
                    <a:p>
                      <a:pPr indent="0" lvl="0" marL="0" rtl="0" algn="l">
                        <a:lnSpc>
                          <a:spcPct val="115000"/>
                        </a:lnSpc>
                        <a:spcBef>
                          <a:spcPts val="0"/>
                        </a:spcBef>
                        <a:spcAft>
                          <a:spcPts val="0"/>
                        </a:spcAft>
                        <a:buNone/>
                      </a:pPr>
                      <a:r>
                        <a:rPr lang="en">
                          <a:solidFill>
                            <a:srgbClr val="595959"/>
                          </a:solidFill>
                          <a:latin typeface="Roboto"/>
                          <a:ea typeface="Roboto"/>
                          <a:cs typeface="Roboto"/>
                          <a:sym typeface="Roboto"/>
                        </a:rPr>
                        <a:t>These characteristics led to a Software Defined Networking architecture using OpenFlow to control relatively simple switches built from merchant silicon. B4's centralized traffic engineering service drives links to near 100% utilization, while splitting application flows among multiple paths to balance capacity against application priority/demands. We describe experience with three years of B4 production deployment, lessons learned, and areas for future work.</a:t>
                      </a:r>
                      <a:endParaRPr>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c hMerge="1"/>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Benefits of SDN Control Planes</a:t>
            </a:r>
            <a:endParaRPr/>
          </a:p>
        </p:txBody>
      </p:sp>
      <p:graphicFrame>
        <p:nvGraphicFramePr>
          <p:cNvPr id="562" name="Google Shape;562;p50"/>
          <p:cNvGraphicFramePr/>
          <p:nvPr/>
        </p:nvGraphicFramePr>
        <p:xfrm>
          <a:off x="872325" y="624235"/>
          <a:ext cx="3000000" cy="3000000"/>
        </p:xfrm>
        <a:graphic>
          <a:graphicData uri="http://schemas.openxmlformats.org/drawingml/2006/table">
            <a:tbl>
              <a:tblPr>
                <a:noFill/>
                <a:tableStyleId>{9E0E94E9-8C37-454C-BF69-298D2E925918}</a:tableStyleId>
              </a:tblPr>
              <a:tblGrid>
                <a:gridCol w="4510675"/>
                <a:gridCol w="1887325"/>
                <a:gridCol w="1001325"/>
              </a:tblGrid>
              <a:tr h="436575">
                <a:tc gridSpan="2">
                  <a:txBody>
                    <a:bodyPr/>
                    <a:lstStyle/>
                    <a:p>
                      <a:pPr indent="0" lvl="0" marL="0" rtl="0" algn="l">
                        <a:spcBef>
                          <a:spcPts val="0"/>
                        </a:spcBef>
                        <a:spcAft>
                          <a:spcPts val="0"/>
                        </a:spcAft>
                        <a:buNone/>
                      </a:pPr>
                      <a:r>
                        <a:rPr b="1" lang="en" sz="1600">
                          <a:solidFill>
                            <a:srgbClr val="595959"/>
                          </a:solidFill>
                          <a:latin typeface="Roboto"/>
                          <a:ea typeface="Roboto"/>
                          <a:cs typeface="Roboto"/>
                          <a:sym typeface="Roboto"/>
                        </a:rPr>
                        <a:t>Achieving High Utilization with Software-Driven WAN</a:t>
                      </a:r>
                      <a:endParaRPr b="1" sz="1600">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hMerge="1"/>
                <a:tc>
                  <a:txBody>
                    <a:bodyPr/>
                    <a:lstStyle/>
                    <a:p>
                      <a:pPr indent="0" lvl="0" marL="0" rtl="0" algn="r">
                        <a:spcBef>
                          <a:spcPts val="0"/>
                        </a:spcBef>
                        <a:spcAft>
                          <a:spcPts val="0"/>
                        </a:spcAft>
                        <a:buClr>
                          <a:srgbClr val="000000"/>
                        </a:buClr>
                        <a:buSzPts val="1100"/>
                        <a:buFont typeface="Arial"/>
                        <a:buNone/>
                      </a:pPr>
                      <a:r>
                        <a:rPr lang="en" u="sng">
                          <a:solidFill>
                            <a:schemeClr val="hlink"/>
                          </a:solidFill>
                          <a:latin typeface="Roboto"/>
                          <a:ea typeface="Roboto"/>
                          <a:cs typeface="Roboto"/>
                          <a:sym typeface="Roboto"/>
                          <a:hlinkClick r:id="rId3"/>
                        </a:rPr>
                        <a:t>Link</a:t>
                      </a:r>
                      <a:endParaRPr b="1" sz="1600">
                        <a:solidFill>
                          <a:srgbClr val="595959"/>
                        </a:solidFill>
                        <a:latin typeface="Roboto"/>
                        <a:ea typeface="Roboto"/>
                        <a:cs typeface="Roboto"/>
                        <a:sym typeface="Roboto"/>
                      </a:endParaRPr>
                    </a:p>
                  </a:txBody>
                  <a:tcPr marT="91425" marB="0"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r>
              <a:tr h="1908750">
                <a:tc>
                  <a:txBody>
                    <a:bodyPr/>
                    <a:lstStyle/>
                    <a:p>
                      <a:pPr indent="0" lvl="0" marL="0" rtl="0" algn="l">
                        <a:spcBef>
                          <a:spcPts val="0"/>
                        </a:spcBef>
                        <a:spcAft>
                          <a:spcPts val="0"/>
                        </a:spcAft>
                        <a:buNone/>
                      </a:pPr>
                      <a:r>
                        <a:rPr i="1" lang="en">
                          <a:solidFill>
                            <a:srgbClr val="595959"/>
                          </a:solidFill>
                          <a:latin typeface="Roboto"/>
                          <a:ea typeface="Roboto"/>
                          <a:cs typeface="Roboto"/>
                          <a:sym typeface="Roboto"/>
                        </a:rPr>
                        <a:t>Ratul Mahajan et. al. (Microsoft)</a:t>
                      </a:r>
                      <a:endParaRPr i="1">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gridSpan="2">
                  <a:txBody>
                    <a:bodyPr/>
                    <a:lstStyle/>
                    <a:p>
                      <a:pPr indent="0" lvl="0" marL="0" rtl="0" algn="r">
                        <a:spcBef>
                          <a:spcPts val="0"/>
                        </a:spcBef>
                        <a:spcAft>
                          <a:spcPts val="0"/>
                        </a:spcAft>
                        <a:buNone/>
                      </a:pPr>
                      <a:r>
                        <a:rPr i="1" lang="en">
                          <a:solidFill>
                            <a:srgbClr val="595959"/>
                          </a:solidFill>
                          <a:latin typeface="Roboto"/>
                          <a:ea typeface="Roboto"/>
                          <a:cs typeface="Roboto"/>
                          <a:sym typeface="Roboto"/>
                        </a:rPr>
                        <a:t>ACM SIGCOMM 2013</a:t>
                      </a:r>
                      <a:endParaRPr i="1">
                        <a:solidFill>
                          <a:srgbClr val="595959"/>
                        </a:solidFill>
                        <a:latin typeface="Roboto"/>
                        <a:ea typeface="Roboto"/>
                        <a:cs typeface="Roboto"/>
                        <a:sym typeface="Roboto"/>
                      </a:endParaRPr>
                    </a:p>
                  </a:txBody>
                  <a:tcPr marT="91425" marB="91425" marR="91425" marL="91425">
                    <a:lnL cap="flat" cmpd="sng" w="9525">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hMerge="1"/>
              </a:tr>
              <a:tr h="1908750">
                <a:tc>
                  <a:txBody>
                    <a:bodyPr/>
                    <a:lstStyle/>
                    <a:p>
                      <a:pPr indent="0" lvl="0" marL="0" rtl="0" algn="l">
                        <a:spcBef>
                          <a:spcPts val="0"/>
                        </a:spcBef>
                        <a:spcAft>
                          <a:spcPts val="0"/>
                        </a:spcAft>
                        <a:buNone/>
                      </a:pPr>
                      <a:r>
                        <a:t/>
                      </a:r>
                      <a:endParaRPr i="1">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gridSpan="2">
                  <a:txBody>
                    <a:bodyPr/>
                    <a:lstStyle/>
                    <a:p>
                      <a:pPr indent="0" lvl="0" marL="0" rtl="0" algn="r">
                        <a:spcBef>
                          <a:spcPts val="0"/>
                        </a:spcBef>
                        <a:spcAft>
                          <a:spcPts val="0"/>
                        </a:spcAft>
                        <a:buNone/>
                      </a:pPr>
                      <a:r>
                        <a:t/>
                      </a:r>
                      <a:endParaRPr i="1">
                        <a:solidFill>
                          <a:srgbClr val="595959"/>
                        </a:solidFill>
                        <a:latin typeface="Roboto"/>
                        <a:ea typeface="Roboto"/>
                        <a:cs typeface="Roboto"/>
                        <a:sym typeface="Roboto"/>
                      </a:endParaRPr>
                    </a:p>
                  </a:txBody>
                  <a:tcPr marT="91425" marB="91425" marR="91425" marL="91425">
                    <a:lnL cap="flat" cmpd="sng" w="9525">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pic>
        <p:nvPicPr>
          <p:cNvPr id="563" name="Google Shape;563;p50"/>
          <p:cNvPicPr preferRelativeResize="0"/>
          <p:nvPr/>
        </p:nvPicPr>
        <p:blipFill>
          <a:blip r:embed="rId4">
            <a:alphaModFix/>
          </a:blip>
          <a:stretch>
            <a:fillRect/>
          </a:stretch>
        </p:blipFill>
        <p:spPr>
          <a:xfrm>
            <a:off x="5599200" y="1601535"/>
            <a:ext cx="2219573" cy="3086790"/>
          </a:xfrm>
          <a:prstGeom prst="rect">
            <a:avLst/>
          </a:prstGeom>
          <a:noFill/>
          <a:ln>
            <a:noFill/>
          </a:ln>
        </p:spPr>
      </p:pic>
      <p:sp>
        <p:nvSpPr>
          <p:cNvPr id="564" name="Google Shape;564;p50"/>
          <p:cNvSpPr txBox="1"/>
          <p:nvPr>
            <p:ph idx="1" type="body"/>
          </p:nvPr>
        </p:nvSpPr>
        <p:spPr>
          <a:xfrm>
            <a:off x="1277000" y="1677725"/>
            <a:ext cx="3870000" cy="2949900"/>
          </a:xfrm>
          <a:prstGeom prst="rect">
            <a:avLst/>
          </a:prstGeom>
        </p:spPr>
        <p:txBody>
          <a:bodyPr anchorCtr="0" anchor="t" bIns="91425" lIns="91425" spcFirstLastPara="1" rIns="91425" wrap="square" tIns="0">
            <a:noAutofit/>
          </a:bodyPr>
          <a:lstStyle/>
          <a:p>
            <a:pPr indent="0" lvl="0" marL="0" rtl="0" algn="l">
              <a:spcBef>
                <a:spcPts val="600"/>
              </a:spcBef>
              <a:spcAft>
                <a:spcPts val="0"/>
              </a:spcAft>
              <a:buNone/>
            </a:pPr>
            <a:r>
              <a:rPr lang="en" sz="1600">
                <a:solidFill>
                  <a:srgbClr val="595959"/>
                </a:solidFill>
              </a:rPr>
              <a:t>Prototype:</a:t>
            </a:r>
            <a:endParaRPr sz="1600">
              <a:solidFill>
                <a:srgbClr val="595959"/>
              </a:solidFill>
            </a:endParaRPr>
          </a:p>
          <a:p>
            <a:pPr indent="-330200" lvl="0" marL="457200" rtl="0" algn="l">
              <a:spcBef>
                <a:spcPts val="600"/>
              </a:spcBef>
              <a:spcAft>
                <a:spcPts val="0"/>
              </a:spcAft>
              <a:buClr>
                <a:srgbClr val="595959"/>
              </a:buClr>
              <a:buSzPts val="1600"/>
              <a:buChar char="●"/>
            </a:pPr>
            <a:r>
              <a:rPr lang="en" sz="1600">
                <a:solidFill>
                  <a:srgbClr val="595959"/>
                </a:solidFill>
              </a:rPr>
              <a:t>16 OpenFlow switches</a:t>
            </a:r>
            <a:endParaRPr sz="1600">
              <a:solidFill>
                <a:srgbClr val="595959"/>
              </a:solidFill>
            </a:endParaRPr>
          </a:p>
          <a:p>
            <a:pPr indent="-330200" lvl="1" marL="914400" rtl="0" algn="l">
              <a:spcBef>
                <a:spcPts val="0"/>
              </a:spcBef>
              <a:spcAft>
                <a:spcPts val="0"/>
              </a:spcAft>
              <a:buClr>
                <a:srgbClr val="595959"/>
              </a:buClr>
              <a:buSzPts val="1600"/>
              <a:buChar char="○"/>
            </a:pPr>
            <a:r>
              <a:rPr lang="en" sz="1600">
                <a:solidFill>
                  <a:srgbClr val="595959"/>
                </a:solidFill>
              </a:rPr>
              <a:t>Mix of Blades and Aristas</a:t>
            </a:r>
            <a:endParaRPr sz="1600">
              <a:solidFill>
                <a:srgbClr val="595959"/>
              </a:solidFill>
            </a:endParaRPr>
          </a:p>
          <a:p>
            <a:pPr indent="-330200" lvl="0" marL="457200" rtl="0" algn="l">
              <a:spcBef>
                <a:spcPts val="0"/>
              </a:spcBef>
              <a:spcAft>
                <a:spcPts val="0"/>
              </a:spcAft>
              <a:buClr>
                <a:srgbClr val="595959"/>
              </a:buClr>
              <a:buSzPts val="1600"/>
              <a:buChar char="●"/>
            </a:pPr>
            <a:r>
              <a:rPr lang="en" sz="1600">
                <a:solidFill>
                  <a:srgbClr val="595959"/>
                </a:solidFill>
              </a:rPr>
              <a:t>BigSwitch OpenFlow controller</a:t>
            </a:r>
            <a:endParaRPr sz="1600">
              <a:solidFill>
                <a:srgbClr val="595959"/>
              </a:solidFill>
            </a:endParaRPr>
          </a:p>
          <a:p>
            <a:pPr indent="-330200" lvl="0" marL="457200" rtl="0" algn="l">
              <a:spcBef>
                <a:spcPts val="0"/>
              </a:spcBef>
              <a:spcAft>
                <a:spcPts val="0"/>
              </a:spcAft>
              <a:buClr>
                <a:srgbClr val="595959"/>
              </a:buClr>
              <a:buSzPts val="1600"/>
              <a:buChar char="●"/>
            </a:pPr>
            <a:r>
              <a:rPr lang="en" sz="1600">
                <a:solidFill>
                  <a:srgbClr val="595959"/>
                </a:solidFill>
              </a:rPr>
              <a:t>32 servers as traffic sources</a:t>
            </a:r>
            <a:endParaRPr sz="1600">
              <a:solidFill>
                <a:srgbClr val="595959"/>
              </a:solidFill>
            </a:endParaRPr>
          </a:p>
          <a:p>
            <a:pPr indent="-330200" lvl="1" marL="914400" rtl="0" algn="l">
              <a:spcBef>
                <a:spcPts val="0"/>
              </a:spcBef>
              <a:spcAft>
                <a:spcPts val="0"/>
              </a:spcAft>
              <a:buClr>
                <a:srgbClr val="595959"/>
              </a:buClr>
              <a:buSzPts val="1600"/>
              <a:buChar char="○"/>
            </a:pPr>
            <a:r>
              <a:rPr lang="en" sz="1600">
                <a:solidFill>
                  <a:srgbClr val="595959"/>
                </a:solidFill>
              </a:rPr>
              <a:t>25 virtual hosts per server</a:t>
            </a:r>
            <a:endParaRPr sz="1600">
              <a:solidFill>
                <a:srgbClr val="595959"/>
              </a:solidFill>
            </a:endParaRPr>
          </a:p>
          <a:p>
            <a:pPr indent="-330200" lvl="0" marL="457200" rtl="0" algn="l">
              <a:spcBef>
                <a:spcPts val="0"/>
              </a:spcBef>
              <a:spcAft>
                <a:spcPts val="0"/>
              </a:spcAft>
              <a:buClr>
                <a:srgbClr val="595959"/>
              </a:buClr>
              <a:buSzPts val="1600"/>
              <a:buChar char="●"/>
            </a:pPr>
            <a:r>
              <a:rPr lang="en" sz="1600">
                <a:solidFill>
                  <a:srgbClr val="595959"/>
                </a:solidFill>
              </a:rPr>
              <a:t>8 routers (L3)</a:t>
            </a:r>
            <a:endParaRPr sz="1600">
              <a:solidFill>
                <a:srgbClr val="595959"/>
              </a:solidFill>
            </a:endParaRPr>
          </a:p>
          <a:p>
            <a:pPr indent="-330200" lvl="1" marL="914400" rtl="0" algn="l">
              <a:spcBef>
                <a:spcPts val="0"/>
              </a:spcBef>
              <a:spcAft>
                <a:spcPts val="0"/>
              </a:spcAft>
              <a:buClr>
                <a:srgbClr val="595959"/>
              </a:buClr>
              <a:buSzPts val="1600"/>
              <a:buChar char="○"/>
            </a:pPr>
            <a:r>
              <a:rPr lang="en" sz="1600">
                <a:solidFill>
                  <a:srgbClr val="595959"/>
                </a:solidFill>
              </a:rPr>
              <a:t>Mix of Cisco and Juniper</a:t>
            </a:r>
            <a:endParaRPr sz="1600">
              <a:solidFill>
                <a:srgbClr val="59595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5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Drawbacks of SDN Control Planes</a:t>
            </a:r>
            <a:endParaRPr/>
          </a:p>
        </p:txBody>
      </p:sp>
      <p:sp>
        <p:nvSpPr>
          <p:cNvPr id="570" name="Google Shape;570;p5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Reliability.</a:t>
            </a:r>
            <a:endParaRPr/>
          </a:p>
          <a:p>
            <a:pPr indent="-342900" lvl="0" marL="457200" rtl="0" algn="l">
              <a:spcBef>
                <a:spcPts val="600"/>
              </a:spcBef>
              <a:spcAft>
                <a:spcPts val="0"/>
              </a:spcAft>
              <a:buSzPts val="1800"/>
              <a:buChar char="●"/>
            </a:pPr>
            <a:r>
              <a:rPr lang="en"/>
              <a:t>Traditional networks: If one link fails, routers adapt and re-converge.</a:t>
            </a:r>
            <a:endParaRPr/>
          </a:p>
          <a:p>
            <a:pPr indent="-342900" lvl="0" marL="457200" rtl="0" algn="l">
              <a:spcBef>
                <a:spcPts val="0"/>
              </a:spcBef>
              <a:spcAft>
                <a:spcPts val="0"/>
              </a:spcAft>
              <a:buSzPts val="1800"/>
              <a:buChar char="●"/>
            </a:pPr>
            <a:r>
              <a:rPr lang="en"/>
              <a:t>SDN networks: If the controller fails, the network stops updating.</a:t>
            </a:r>
            <a:br>
              <a:rPr lang="en"/>
            </a:br>
            <a:r>
              <a:rPr lang="en"/>
              <a:t>Routers can't adapt to changes.</a:t>
            </a:r>
            <a:endParaRPr/>
          </a:p>
          <a:p>
            <a:pPr indent="0" lvl="0" marL="0" rtl="0" algn="l">
              <a:spcBef>
                <a:spcPts val="600"/>
              </a:spcBef>
              <a:spcAft>
                <a:spcPts val="0"/>
              </a:spcAft>
              <a:buNone/>
            </a:pPr>
            <a:r>
              <a:rPr lang="en"/>
              <a:t>Scalability.</a:t>
            </a:r>
            <a:endParaRPr/>
          </a:p>
          <a:p>
            <a:pPr indent="-342900" lvl="0" marL="457200" rtl="0" algn="l">
              <a:spcBef>
                <a:spcPts val="600"/>
              </a:spcBef>
              <a:spcAft>
                <a:spcPts val="0"/>
              </a:spcAft>
              <a:buSzPts val="1800"/>
              <a:buChar char="●"/>
            </a:pPr>
            <a:r>
              <a:rPr lang="en"/>
              <a:t>Central controller must deal with decisions for everybody.</a:t>
            </a:r>
            <a:endParaRPr/>
          </a:p>
          <a:p>
            <a:pPr indent="0" lvl="0" marL="0" rtl="0" algn="l">
              <a:spcBef>
                <a:spcPts val="600"/>
              </a:spcBef>
              <a:spcAft>
                <a:spcPts val="0"/>
              </a:spcAft>
              <a:buNone/>
            </a:pPr>
            <a:r>
              <a:rPr lang="en"/>
              <a:t>Complexity.</a:t>
            </a:r>
            <a:endParaRPr/>
          </a:p>
          <a:p>
            <a:pPr indent="-342900" lvl="0" marL="457200" rtl="0" algn="l">
              <a:spcBef>
                <a:spcPts val="600"/>
              </a:spcBef>
              <a:spcAft>
                <a:spcPts val="0"/>
              </a:spcAft>
              <a:buSzPts val="1800"/>
              <a:buChar char="●"/>
            </a:pPr>
            <a:r>
              <a:rPr lang="en"/>
              <a:t>Infrastructure challenge: Where do we put the controller?</a:t>
            </a:r>
            <a:endParaRPr/>
          </a:p>
          <a:p>
            <a:pPr indent="-342900" lvl="0" marL="457200" rtl="0" algn="l">
              <a:spcBef>
                <a:spcPts val="0"/>
              </a:spcBef>
              <a:spcAft>
                <a:spcPts val="0"/>
              </a:spcAft>
              <a:buSzPts val="1800"/>
              <a:buChar char="●"/>
            </a:pPr>
            <a:r>
              <a:rPr lang="en"/>
              <a:t>How do we reliability connect the controller to the routers?</a:t>
            </a:r>
            <a:endParaRPr/>
          </a:p>
          <a:p>
            <a:pPr indent="0" lvl="0" marL="0" rtl="0" algn="l">
              <a:spcBef>
                <a:spcPts val="600"/>
              </a:spcBef>
              <a:spcAft>
                <a:spcPts val="0"/>
              </a:spcAft>
              <a:buNone/>
            </a:pPr>
            <a:r>
              <a:rPr lang="en"/>
              <a:t>Active area of research!</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SDN in Datacenters</a:t>
            </a:r>
            <a:endParaRPr/>
          </a:p>
        </p:txBody>
      </p:sp>
      <p:sp>
        <p:nvSpPr>
          <p:cNvPr id="576" name="Google Shape;576;p5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21</a:t>
            </a:r>
            <a:r>
              <a:rPr lang="en"/>
              <a:t>, CS 168, </a:t>
            </a:r>
            <a:r>
              <a:rPr lang="en"/>
              <a:t>Summer 2025</a:t>
            </a:r>
            <a:endParaRPr/>
          </a:p>
        </p:txBody>
      </p:sp>
      <p:sp>
        <p:nvSpPr>
          <p:cNvPr id="577" name="Google Shape;577;p52"/>
          <p:cNvSpPr txBox="1"/>
          <p:nvPr>
            <p:ph idx="1" type="body"/>
          </p:nvPr>
        </p:nvSpPr>
        <p:spPr>
          <a:xfrm>
            <a:off x="4812375" y="434100"/>
            <a:ext cx="4038000" cy="42753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Software-Defined Networking</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 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Implementation (OpenFlow API)</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Benefits (Traffic Engineering)</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SDN in Datacenters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Other Applications of SDN</a:t>
            </a:r>
            <a:endParaRPr>
              <a:solidFill>
                <a:srgbClr val="B7B7B7"/>
              </a:solidFill>
            </a:endParaRPr>
          </a:p>
          <a:p>
            <a:pPr indent="0" lvl="0" marL="0" rtl="0" algn="l">
              <a:spcBef>
                <a:spcPts val="600"/>
              </a:spcBef>
              <a:spcAft>
                <a:spcPts val="0"/>
              </a:spcAft>
              <a:buNone/>
            </a:pPr>
            <a:r>
              <a:rPr lang="en">
                <a:solidFill>
                  <a:srgbClr val="B7B7B7"/>
                </a:solidFill>
              </a:rPr>
              <a:t>Optimizations at the Host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What is Host Networking?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Shared Memory in User Space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Brief History of 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RDMA Example</a:t>
            </a:r>
            <a:endParaRPr>
              <a:solidFill>
                <a:srgbClr val="B7B7B7"/>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SDN in Datacenters – Overlay</a:t>
            </a:r>
            <a:endParaRPr/>
          </a:p>
        </p:txBody>
      </p:sp>
      <p:sp>
        <p:nvSpPr>
          <p:cNvPr id="583" name="Google Shape;583;p53"/>
          <p:cNvSpPr txBox="1"/>
          <p:nvPr>
            <p:ph idx="1" type="body"/>
          </p:nvPr>
        </p:nvSpPr>
        <p:spPr>
          <a:xfrm>
            <a:off x="107050" y="402200"/>
            <a:ext cx="7527000" cy="266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Recall: Encapsulation in datacenters.</a:t>
            </a:r>
            <a:endParaRPr/>
          </a:p>
          <a:p>
            <a:pPr indent="-342900" lvl="0" marL="457200" rtl="0" algn="l">
              <a:spcBef>
                <a:spcPts val="600"/>
              </a:spcBef>
              <a:spcAft>
                <a:spcPts val="0"/>
              </a:spcAft>
              <a:buSzPts val="1800"/>
              <a:buChar char="●"/>
            </a:pPr>
            <a:r>
              <a:rPr lang="en"/>
              <a:t>We add a virtual network ID header to distinguish between tenants.</a:t>
            </a:r>
            <a:endParaRPr/>
          </a:p>
          <a:p>
            <a:pPr indent="-342900" lvl="0" marL="457200" rtl="0" algn="l">
              <a:spcBef>
                <a:spcPts val="0"/>
              </a:spcBef>
              <a:spcAft>
                <a:spcPts val="0"/>
              </a:spcAft>
              <a:buSzPts val="1800"/>
              <a:buChar char="●"/>
            </a:pPr>
            <a:r>
              <a:rPr lang="en"/>
              <a:t>We add an underlay header with the destination's physical address.</a:t>
            </a:r>
            <a:endParaRPr/>
          </a:p>
          <a:p>
            <a:pPr indent="0" lvl="0" marL="0" rtl="0" algn="l">
              <a:spcBef>
                <a:spcPts val="600"/>
              </a:spcBef>
              <a:spcAft>
                <a:spcPts val="0"/>
              </a:spcAft>
              <a:buNone/>
            </a:pPr>
            <a:r>
              <a:rPr lang="en"/>
              <a:t>SDN lets us program servers to implement these headers.</a:t>
            </a:r>
            <a:endParaRPr/>
          </a:p>
          <a:p>
            <a:pPr indent="0" lvl="0" marL="0" rtl="0" algn="l">
              <a:spcBef>
                <a:spcPts val="600"/>
              </a:spcBef>
              <a:spcAft>
                <a:spcPts val="0"/>
              </a:spcAft>
              <a:buNone/>
            </a:pPr>
            <a:r>
              <a:rPr lang="en"/>
              <a:t>The central controller can tell the servers:</a:t>
            </a:r>
            <a:endParaRPr/>
          </a:p>
          <a:p>
            <a:pPr indent="-342900" lvl="0" marL="457200" rtl="0" algn="l">
              <a:spcBef>
                <a:spcPts val="600"/>
              </a:spcBef>
              <a:spcAft>
                <a:spcPts val="0"/>
              </a:spcAft>
              <a:buSzPts val="1800"/>
              <a:buChar char="●"/>
            </a:pPr>
            <a:r>
              <a:rPr lang="en"/>
              <a:t>"192.0.2.2 Pepsi VM created on Server 2.2.2.2."</a:t>
            </a:r>
            <a:endParaRPr/>
          </a:p>
          <a:p>
            <a:pPr indent="-342900" lvl="0" marL="457200" rtl="0" algn="l">
              <a:spcBef>
                <a:spcPts val="0"/>
              </a:spcBef>
              <a:spcAft>
                <a:spcPts val="0"/>
              </a:spcAft>
              <a:buSzPts val="1800"/>
              <a:buChar char="●"/>
            </a:pPr>
            <a:r>
              <a:rPr lang="en"/>
              <a:t>"Coke network ID is 42."</a:t>
            </a:r>
            <a:endParaRPr/>
          </a:p>
        </p:txBody>
      </p:sp>
      <p:sp>
        <p:nvSpPr>
          <p:cNvPr id="584" name="Google Shape;584;p53"/>
          <p:cNvSpPr/>
          <p:nvPr/>
        </p:nvSpPr>
        <p:spPr>
          <a:xfrm>
            <a:off x="0" y="4308000"/>
            <a:ext cx="9144000" cy="8421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Underlay</a:t>
            </a:r>
            <a:endParaRPr>
              <a:latin typeface="Roboto"/>
              <a:ea typeface="Roboto"/>
              <a:cs typeface="Roboto"/>
              <a:sym typeface="Roboto"/>
            </a:endParaRPr>
          </a:p>
        </p:txBody>
      </p:sp>
      <p:sp>
        <p:nvSpPr>
          <p:cNvPr id="585" name="Google Shape;585;p53"/>
          <p:cNvSpPr/>
          <p:nvPr/>
        </p:nvSpPr>
        <p:spPr>
          <a:xfrm>
            <a:off x="0" y="3268175"/>
            <a:ext cx="9144000" cy="10398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Overlay</a:t>
            </a:r>
            <a:endParaRPr>
              <a:latin typeface="Roboto"/>
              <a:ea typeface="Roboto"/>
              <a:cs typeface="Roboto"/>
              <a:sym typeface="Roboto"/>
            </a:endParaRPr>
          </a:p>
        </p:txBody>
      </p:sp>
      <p:sp>
        <p:nvSpPr>
          <p:cNvPr id="586" name="Google Shape;586;p53"/>
          <p:cNvSpPr/>
          <p:nvPr/>
        </p:nvSpPr>
        <p:spPr>
          <a:xfrm>
            <a:off x="1066325" y="3378775"/>
            <a:ext cx="2820900" cy="1224600"/>
          </a:xfrm>
          <a:prstGeom prst="rect">
            <a:avLst/>
          </a:prstGeom>
          <a:noFill/>
          <a:ln cap="flat" cmpd="sng" w="19050">
            <a:solidFill>
              <a:srgbClr val="666666"/>
            </a:solidFill>
            <a:prstDash val="solid"/>
            <a:round/>
            <a:headEnd len="sm" w="sm" type="none"/>
            <a:tailEnd len="sm" w="sm" type="none"/>
          </a:ln>
        </p:spPr>
        <p:txBody>
          <a:bodyPr anchorCtr="0" anchor="b" bIns="45700" lIns="45700" spcFirstLastPara="1" rIns="45700" wrap="square" tIns="45700">
            <a:noAutofit/>
          </a:bodyPr>
          <a:lstStyle/>
          <a:p>
            <a:pPr indent="0" lvl="0" marL="0" rtl="0" algn="l">
              <a:spcBef>
                <a:spcPts val="0"/>
              </a:spcBef>
              <a:spcAft>
                <a:spcPts val="0"/>
              </a:spcAft>
              <a:buNone/>
            </a:pPr>
            <a:r>
              <a:rPr lang="en">
                <a:latin typeface="Roboto"/>
                <a:ea typeface="Roboto"/>
                <a:cs typeface="Roboto"/>
                <a:sym typeface="Roboto"/>
              </a:rPr>
              <a:t>Server 1			        1.1.1.1</a:t>
            </a:r>
            <a:endParaRPr>
              <a:latin typeface="Roboto"/>
              <a:ea typeface="Roboto"/>
              <a:cs typeface="Roboto"/>
              <a:sym typeface="Roboto"/>
            </a:endParaRPr>
          </a:p>
        </p:txBody>
      </p:sp>
      <p:sp>
        <p:nvSpPr>
          <p:cNvPr id="587" name="Google Shape;587;p53"/>
          <p:cNvSpPr/>
          <p:nvPr/>
        </p:nvSpPr>
        <p:spPr>
          <a:xfrm>
            <a:off x="2334275" y="47773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588" name="Google Shape;588;p53"/>
          <p:cNvSpPr/>
          <p:nvPr/>
        </p:nvSpPr>
        <p:spPr>
          <a:xfrm>
            <a:off x="3629675" y="47773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589" name="Google Shape;589;p53"/>
          <p:cNvCxnSpPr>
            <a:stCxn id="587" idx="3"/>
            <a:endCxn id="588" idx="1"/>
          </p:cNvCxnSpPr>
          <p:nvPr/>
        </p:nvCxnSpPr>
        <p:spPr>
          <a:xfrm>
            <a:off x="2619275" y="4919850"/>
            <a:ext cx="1010400" cy="0"/>
          </a:xfrm>
          <a:prstGeom prst="straightConnector1">
            <a:avLst/>
          </a:prstGeom>
          <a:noFill/>
          <a:ln cap="flat" cmpd="sng" w="19050">
            <a:solidFill>
              <a:srgbClr val="000000"/>
            </a:solidFill>
            <a:prstDash val="solid"/>
            <a:round/>
            <a:headEnd len="med" w="med" type="none"/>
            <a:tailEnd len="med" w="med" type="none"/>
          </a:ln>
        </p:spPr>
      </p:cxnSp>
      <p:sp>
        <p:nvSpPr>
          <p:cNvPr id="590" name="Google Shape;590;p53"/>
          <p:cNvSpPr/>
          <p:nvPr/>
        </p:nvSpPr>
        <p:spPr>
          <a:xfrm>
            <a:off x="4925075" y="47773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591" name="Google Shape;591;p53"/>
          <p:cNvSpPr/>
          <p:nvPr/>
        </p:nvSpPr>
        <p:spPr>
          <a:xfrm>
            <a:off x="6220475" y="4777350"/>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592" name="Google Shape;592;p53"/>
          <p:cNvCxnSpPr>
            <a:stCxn id="590" idx="3"/>
            <a:endCxn id="591" idx="1"/>
          </p:cNvCxnSpPr>
          <p:nvPr/>
        </p:nvCxnSpPr>
        <p:spPr>
          <a:xfrm>
            <a:off x="5210075" y="4919850"/>
            <a:ext cx="1010400" cy="0"/>
          </a:xfrm>
          <a:prstGeom prst="straightConnector1">
            <a:avLst/>
          </a:prstGeom>
          <a:noFill/>
          <a:ln cap="flat" cmpd="sng" w="19050">
            <a:solidFill>
              <a:srgbClr val="000000"/>
            </a:solidFill>
            <a:prstDash val="solid"/>
            <a:round/>
            <a:headEnd len="med" w="med" type="none"/>
            <a:tailEnd len="med" w="med" type="none"/>
          </a:ln>
        </p:spPr>
      </p:cxnSp>
      <p:cxnSp>
        <p:nvCxnSpPr>
          <p:cNvPr id="593" name="Google Shape;593;p53"/>
          <p:cNvCxnSpPr>
            <a:stCxn id="588" idx="3"/>
            <a:endCxn id="590" idx="1"/>
          </p:cNvCxnSpPr>
          <p:nvPr/>
        </p:nvCxnSpPr>
        <p:spPr>
          <a:xfrm>
            <a:off x="3914675" y="4919850"/>
            <a:ext cx="1010400" cy="0"/>
          </a:xfrm>
          <a:prstGeom prst="straightConnector1">
            <a:avLst/>
          </a:prstGeom>
          <a:noFill/>
          <a:ln cap="flat" cmpd="sng" w="19050">
            <a:solidFill>
              <a:srgbClr val="000000"/>
            </a:solidFill>
            <a:prstDash val="solid"/>
            <a:round/>
            <a:headEnd len="med" w="med" type="none"/>
            <a:tailEnd len="med" w="med" type="none"/>
          </a:ln>
        </p:spPr>
      </p:cxnSp>
      <p:cxnSp>
        <p:nvCxnSpPr>
          <p:cNvPr id="594" name="Google Shape;594;p53"/>
          <p:cNvCxnSpPr>
            <a:stCxn id="587" idx="0"/>
            <a:endCxn id="595" idx="2"/>
          </p:cNvCxnSpPr>
          <p:nvPr/>
        </p:nvCxnSpPr>
        <p:spPr>
          <a:xfrm rot="10800000">
            <a:off x="2476775" y="4447950"/>
            <a:ext cx="0" cy="329400"/>
          </a:xfrm>
          <a:prstGeom prst="straightConnector1">
            <a:avLst/>
          </a:prstGeom>
          <a:noFill/>
          <a:ln cap="flat" cmpd="sng" w="19050">
            <a:solidFill>
              <a:srgbClr val="000000"/>
            </a:solidFill>
            <a:prstDash val="solid"/>
            <a:round/>
            <a:headEnd len="med" w="med" type="none"/>
            <a:tailEnd len="med" w="med" type="none"/>
          </a:ln>
        </p:spPr>
      </p:cxnSp>
      <p:sp>
        <p:nvSpPr>
          <p:cNvPr id="595" name="Google Shape;595;p53"/>
          <p:cNvSpPr/>
          <p:nvPr/>
        </p:nvSpPr>
        <p:spPr>
          <a:xfrm>
            <a:off x="1845575" y="4162802"/>
            <a:ext cx="12624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Virtual Switch</a:t>
            </a:r>
            <a:endParaRPr>
              <a:latin typeface="Roboto"/>
              <a:ea typeface="Roboto"/>
              <a:cs typeface="Roboto"/>
              <a:sym typeface="Roboto"/>
            </a:endParaRPr>
          </a:p>
        </p:txBody>
      </p:sp>
      <p:cxnSp>
        <p:nvCxnSpPr>
          <p:cNvPr id="596" name="Google Shape;596;p53"/>
          <p:cNvCxnSpPr>
            <a:stCxn id="591" idx="0"/>
            <a:endCxn id="597" idx="2"/>
          </p:cNvCxnSpPr>
          <p:nvPr/>
        </p:nvCxnSpPr>
        <p:spPr>
          <a:xfrm rot="10800000">
            <a:off x="6362975" y="4447950"/>
            <a:ext cx="0" cy="329400"/>
          </a:xfrm>
          <a:prstGeom prst="straightConnector1">
            <a:avLst/>
          </a:prstGeom>
          <a:noFill/>
          <a:ln cap="flat" cmpd="sng" w="19050">
            <a:solidFill>
              <a:srgbClr val="000000"/>
            </a:solidFill>
            <a:prstDash val="solid"/>
            <a:round/>
            <a:headEnd len="med" w="med" type="none"/>
            <a:tailEnd len="med" w="med" type="none"/>
          </a:ln>
        </p:spPr>
      </p:cxnSp>
      <p:sp>
        <p:nvSpPr>
          <p:cNvPr id="598" name="Google Shape;598;p53"/>
          <p:cNvSpPr/>
          <p:nvPr/>
        </p:nvSpPr>
        <p:spPr>
          <a:xfrm>
            <a:off x="1724675" y="3623550"/>
            <a:ext cx="285000" cy="2850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599" name="Google Shape;599;p53"/>
          <p:cNvSpPr/>
          <p:nvPr/>
        </p:nvSpPr>
        <p:spPr>
          <a:xfrm>
            <a:off x="2943875" y="3623550"/>
            <a:ext cx="285000" cy="285000"/>
          </a:xfrm>
          <a:prstGeom prst="rect">
            <a:avLst/>
          </a:prstGeom>
          <a:solidFill>
            <a:srgbClr val="EA9999"/>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C1</a:t>
            </a:r>
            <a:endParaRPr>
              <a:latin typeface="Roboto"/>
              <a:ea typeface="Roboto"/>
              <a:cs typeface="Roboto"/>
              <a:sym typeface="Roboto"/>
            </a:endParaRPr>
          </a:p>
        </p:txBody>
      </p:sp>
      <p:cxnSp>
        <p:nvCxnSpPr>
          <p:cNvPr id="600" name="Google Shape;600;p53"/>
          <p:cNvCxnSpPr>
            <a:stCxn id="595" idx="0"/>
            <a:endCxn id="598" idx="2"/>
          </p:cNvCxnSpPr>
          <p:nvPr/>
        </p:nvCxnSpPr>
        <p:spPr>
          <a:xfrm rot="10800000">
            <a:off x="1867175" y="3908402"/>
            <a:ext cx="609600" cy="254400"/>
          </a:xfrm>
          <a:prstGeom prst="straightConnector1">
            <a:avLst/>
          </a:prstGeom>
          <a:noFill/>
          <a:ln cap="flat" cmpd="sng" w="19050">
            <a:solidFill>
              <a:srgbClr val="000000"/>
            </a:solidFill>
            <a:prstDash val="solid"/>
            <a:round/>
            <a:headEnd len="med" w="med" type="none"/>
            <a:tailEnd len="med" w="med" type="none"/>
          </a:ln>
        </p:spPr>
      </p:cxnSp>
      <p:cxnSp>
        <p:nvCxnSpPr>
          <p:cNvPr id="601" name="Google Shape;601;p53"/>
          <p:cNvCxnSpPr>
            <a:stCxn id="595" idx="0"/>
            <a:endCxn id="599" idx="2"/>
          </p:cNvCxnSpPr>
          <p:nvPr/>
        </p:nvCxnSpPr>
        <p:spPr>
          <a:xfrm flipH="1" rot="10800000">
            <a:off x="2476775" y="3908402"/>
            <a:ext cx="609600" cy="254400"/>
          </a:xfrm>
          <a:prstGeom prst="straightConnector1">
            <a:avLst/>
          </a:prstGeom>
          <a:noFill/>
          <a:ln cap="flat" cmpd="sng" w="19050">
            <a:solidFill>
              <a:srgbClr val="000000"/>
            </a:solidFill>
            <a:prstDash val="solid"/>
            <a:round/>
            <a:headEnd len="med" w="med" type="none"/>
            <a:tailEnd len="med" w="med" type="none"/>
          </a:ln>
        </p:spPr>
      </p:cxnSp>
      <p:sp>
        <p:nvSpPr>
          <p:cNvPr id="602" name="Google Shape;602;p53"/>
          <p:cNvSpPr txBox="1"/>
          <p:nvPr/>
        </p:nvSpPr>
        <p:spPr>
          <a:xfrm>
            <a:off x="1450325" y="3438450"/>
            <a:ext cx="8337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000000"/>
                </a:solidFill>
                <a:latin typeface="Roboto"/>
                <a:ea typeface="Roboto"/>
                <a:cs typeface="Roboto"/>
                <a:sym typeface="Roboto"/>
              </a:rPr>
              <a:t>192.0.2.1</a:t>
            </a:r>
            <a:endParaRPr sz="1200">
              <a:solidFill>
                <a:srgbClr val="000000"/>
              </a:solidFill>
              <a:latin typeface="Roboto"/>
              <a:ea typeface="Roboto"/>
              <a:cs typeface="Roboto"/>
              <a:sym typeface="Roboto"/>
            </a:endParaRPr>
          </a:p>
        </p:txBody>
      </p:sp>
      <p:sp>
        <p:nvSpPr>
          <p:cNvPr id="603" name="Google Shape;603;p53"/>
          <p:cNvSpPr txBox="1"/>
          <p:nvPr/>
        </p:nvSpPr>
        <p:spPr>
          <a:xfrm>
            <a:off x="2669525" y="3438450"/>
            <a:ext cx="8337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000000"/>
                </a:solidFill>
                <a:latin typeface="Roboto"/>
                <a:ea typeface="Roboto"/>
                <a:cs typeface="Roboto"/>
                <a:sym typeface="Roboto"/>
              </a:rPr>
              <a:t>192.0.2.1</a:t>
            </a:r>
            <a:endParaRPr sz="1200">
              <a:solidFill>
                <a:srgbClr val="000000"/>
              </a:solidFill>
              <a:latin typeface="Roboto"/>
              <a:ea typeface="Roboto"/>
              <a:cs typeface="Roboto"/>
              <a:sym typeface="Roboto"/>
            </a:endParaRPr>
          </a:p>
        </p:txBody>
      </p:sp>
      <p:sp>
        <p:nvSpPr>
          <p:cNvPr id="604" name="Google Shape;604;p53"/>
          <p:cNvSpPr/>
          <p:nvPr/>
        </p:nvSpPr>
        <p:spPr>
          <a:xfrm>
            <a:off x="4952525" y="3378775"/>
            <a:ext cx="2820900" cy="1224600"/>
          </a:xfrm>
          <a:prstGeom prst="rect">
            <a:avLst/>
          </a:prstGeom>
          <a:noFill/>
          <a:ln cap="flat" cmpd="sng" w="19050">
            <a:solidFill>
              <a:srgbClr val="666666"/>
            </a:solidFill>
            <a:prstDash val="solid"/>
            <a:round/>
            <a:headEnd len="sm" w="sm" type="none"/>
            <a:tailEnd len="sm" w="sm" type="none"/>
          </a:ln>
        </p:spPr>
        <p:txBody>
          <a:bodyPr anchorCtr="0" anchor="b" bIns="45700" lIns="45700" spcFirstLastPara="1" rIns="45700" wrap="square" tIns="45700">
            <a:noAutofit/>
          </a:bodyPr>
          <a:lstStyle/>
          <a:p>
            <a:pPr indent="0" lvl="0" marL="0" rtl="0" algn="l">
              <a:spcBef>
                <a:spcPts val="0"/>
              </a:spcBef>
              <a:spcAft>
                <a:spcPts val="0"/>
              </a:spcAft>
              <a:buNone/>
            </a:pPr>
            <a:r>
              <a:rPr lang="en">
                <a:latin typeface="Roboto"/>
                <a:ea typeface="Roboto"/>
                <a:cs typeface="Roboto"/>
                <a:sym typeface="Roboto"/>
              </a:rPr>
              <a:t>Server 2			        2.2.2.2</a:t>
            </a:r>
            <a:endParaRPr>
              <a:latin typeface="Roboto"/>
              <a:ea typeface="Roboto"/>
              <a:cs typeface="Roboto"/>
              <a:sym typeface="Roboto"/>
            </a:endParaRPr>
          </a:p>
        </p:txBody>
      </p:sp>
      <p:sp>
        <p:nvSpPr>
          <p:cNvPr id="597" name="Google Shape;597;p53"/>
          <p:cNvSpPr/>
          <p:nvPr/>
        </p:nvSpPr>
        <p:spPr>
          <a:xfrm>
            <a:off x="5731775" y="4162802"/>
            <a:ext cx="12624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Virtual Switch</a:t>
            </a:r>
            <a:endParaRPr>
              <a:latin typeface="Roboto"/>
              <a:ea typeface="Roboto"/>
              <a:cs typeface="Roboto"/>
              <a:sym typeface="Roboto"/>
            </a:endParaRPr>
          </a:p>
        </p:txBody>
      </p:sp>
      <p:sp>
        <p:nvSpPr>
          <p:cNvPr id="605" name="Google Shape;605;p53"/>
          <p:cNvSpPr/>
          <p:nvPr/>
        </p:nvSpPr>
        <p:spPr>
          <a:xfrm>
            <a:off x="5610875" y="3623550"/>
            <a:ext cx="285000" cy="285000"/>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P2</a:t>
            </a:r>
            <a:endParaRPr>
              <a:latin typeface="Roboto"/>
              <a:ea typeface="Roboto"/>
              <a:cs typeface="Roboto"/>
              <a:sym typeface="Roboto"/>
            </a:endParaRPr>
          </a:p>
        </p:txBody>
      </p:sp>
      <p:sp>
        <p:nvSpPr>
          <p:cNvPr id="606" name="Google Shape;606;p53"/>
          <p:cNvSpPr/>
          <p:nvPr/>
        </p:nvSpPr>
        <p:spPr>
          <a:xfrm>
            <a:off x="6830075" y="3623550"/>
            <a:ext cx="285000" cy="285000"/>
          </a:xfrm>
          <a:prstGeom prst="rect">
            <a:avLst/>
          </a:prstGeom>
          <a:solidFill>
            <a:srgbClr val="EA9999"/>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C2</a:t>
            </a:r>
            <a:endParaRPr>
              <a:latin typeface="Roboto"/>
              <a:ea typeface="Roboto"/>
              <a:cs typeface="Roboto"/>
              <a:sym typeface="Roboto"/>
            </a:endParaRPr>
          </a:p>
        </p:txBody>
      </p:sp>
      <p:cxnSp>
        <p:nvCxnSpPr>
          <p:cNvPr id="607" name="Google Shape;607;p53"/>
          <p:cNvCxnSpPr>
            <a:stCxn id="597" idx="0"/>
            <a:endCxn id="605" idx="2"/>
          </p:cNvCxnSpPr>
          <p:nvPr/>
        </p:nvCxnSpPr>
        <p:spPr>
          <a:xfrm rot="10800000">
            <a:off x="5753375" y="3908402"/>
            <a:ext cx="609600" cy="254400"/>
          </a:xfrm>
          <a:prstGeom prst="straightConnector1">
            <a:avLst/>
          </a:prstGeom>
          <a:noFill/>
          <a:ln cap="flat" cmpd="sng" w="19050">
            <a:solidFill>
              <a:srgbClr val="000000"/>
            </a:solidFill>
            <a:prstDash val="solid"/>
            <a:round/>
            <a:headEnd len="med" w="med" type="none"/>
            <a:tailEnd len="med" w="med" type="none"/>
          </a:ln>
        </p:spPr>
      </p:cxnSp>
      <p:cxnSp>
        <p:nvCxnSpPr>
          <p:cNvPr id="608" name="Google Shape;608;p53"/>
          <p:cNvCxnSpPr>
            <a:stCxn id="597" idx="0"/>
            <a:endCxn id="606" idx="2"/>
          </p:cNvCxnSpPr>
          <p:nvPr/>
        </p:nvCxnSpPr>
        <p:spPr>
          <a:xfrm flipH="1" rot="10800000">
            <a:off x="6362975" y="3908402"/>
            <a:ext cx="609600" cy="254400"/>
          </a:xfrm>
          <a:prstGeom prst="straightConnector1">
            <a:avLst/>
          </a:prstGeom>
          <a:noFill/>
          <a:ln cap="flat" cmpd="sng" w="19050">
            <a:solidFill>
              <a:srgbClr val="000000"/>
            </a:solidFill>
            <a:prstDash val="solid"/>
            <a:round/>
            <a:headEnd len="med" w="med" type="none"/>
            <a:tailEnd len="med" w="med" type="none"/>
          </a:ln>
        </p:spPr>
      </p:cxnSp>
      <p:sp>
        <p:nvSpPr>
          <p:cNvPr id="609" name="Google Shape;609;p53"/>
          <p:cNvSpPr txBox="1"/>
          <p:nvPr/>
        </p:nvSpPr>
        <p:spPr>
          <a:xfrm>
            <a:off x="5336525" y="3438450"/>
            <a:ext cx="8337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000000"/>
                </a:solidFill>
                <a:latin typeface="Roboto"/>
                <a:ea typeface="Roboto"/>
                <a:cs typeface="Roboto"/>
                <a:sym typeface="Roboto"/>
              </a:rPr>
              <a:t>192.0.2.2</a:t>
            </a:r>
            <a:endParaRPr sz="1200">
              <a:solidFill>
                <a:srgbClr val="000000"/>
              </a:solidFill>
              <a:latin typeface="Roboto"/>
              <a:ea typeface="Roboto"/>
              <a:cs typeface="Roboto"/>
              <a:sym typeface="Roboto"/>
            </a:endParaRPr>
          </a:p>
        </p:txBody>
      </p:sp>
      <p:sp>
        <p:nvSpPr>
          <p:cNvPr id="610" name="Google Shape;610;p53"/>
          <p:cNvSpPr txBox="1"/>
          <p:nvPr/>
        </p:nvSpPr>
        <p:spPr>
          <a:xfrm>
            <a:off x="6555725" y="3438450"/>
            <a:ext cx="833700" cy="184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200">
                <a:solidFill>
                  <a:srgbClr val="000000"/>
                </a:solidFill>
                <a:latin typeface="Roboto"/>
                <a:ea typeface="Roboto"/>
                <a:cs typeface="Roboto"/>
                <a:sym typeface="Roboto"/>
              </a:rPr>
              <a:t>192.0.2.2</a:t>
            </a:r>
            <a:endParaRPr sz="1200">
              <a:solidFill>
                <a:srgbClr val="000000"/>
              </a:solidFill>
              <a:latin typeface="Roboto"/>
              <a:ea typeface="Roboto"/>
              <a:cs typeface="Roboto"/>
              <a:sym typeface="Roboto"/>
            </a:endParaRPr>
          </a:p>
        </p:txBody>
      </p:sp>
      <p:sp>
        <p:nvSpPr>
          <p:cNvPr id="611" name="Google Shape;611;p53"/>
          <p:cNvSpPr/>
          <p:nvPr/>
        </p:nvSpPr>
        <p:spPr>
          <a:xfrm>
            <a:off x="7572275" y="1916025"/>
            <a:ext cx="1353600" cy="285000"/>
          </a:xfrm>
          <a:prstGeom prst="rect">
            <a:avLst/>
          </a:prstGeom>
          <a:solidFill>
            <a:srgbClr val="C9DAF8"/>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To: 192.0.2.2</a:t>
            </a:r>
            <a:endParaRPr>
              <a:latin typeface="Roboto"/>
              <a:ea typeface="Roboto"/>
              <a:cs typeface="Roboto"/>
              <a:sym typeface="Roboto"/>
            </a:endParaRPr>
          </a:p>
        </p:txBody>
      </p:sp>
      <p:sp>
        <p:nvSpPr>
          <p:cNvPr id="612" name="Google Shape;612;p53"/>
          <p:cNvSpPr/>
          <p:nvPr/>
        </p:nvSpPr>
        <p:spPr>
          <a:xfrm>
            <a:off x="7572275" y="2201025"/>
            <a:ext cx="1353600" cy="2850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613" name="Google Shape;613;p53"/>
          <p:cNvSpPr/>
          <p:nvPr/>
        </p:nvSpPr>
        <p:spPr>
          <a:xfrm>
            <a:off x="7572275" y="1631025"/>
            <a:ext cx="1353600" cy="285000"/>
          </a:xfrm>
          <a:prstGeom prst="rect">
            <a:avLst/>
          </a:prstGeom>
          <a:solidFill>
            <a:srgbClr val="B6D7A8"/>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t>
            </a:r>
            <a:endParaRPr>
              <a:latin typeface="Roboto"/>
              <a:ea typeface="Roboto"/>
              <a:cs typeface="Roboto"/>
              <a:sym typeface="Roboto"/>
            </a:endParaRPr>
          </a:p>
        </p:txBody>
      </p:sp>
      <p:sp>
        <p:nvSpPr>
          <p:cNvPr id="614" name="Google Shape;614;p53"/>
          <p:cNvSpPr/>
          <p:nvPr/>
        </p:nvSpPr>
        <p:spPr>
          <a:xfrm>
            <a:off x="7572275" y="1346013"/>
            <a:ext cx="1353600" cy="285000"/>
          </a:xfrm>
          <a:prstGeom prst="rect">
            <a:avLst/>
          </a:prstGeom>
          <a:solidFill>
            <a:srgbClr val="FCE5CD"/>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To: 2.2.2.2</a:t>
            </a:r>
            <a:endParaRPr>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SDN in Datacenters – Overlay</a:t>
            </a:r>
            <a:endParaRPr/>
          </a:p>
        </p:txBody>
      </p:sp>
      <p:sp>
        <p:nvSpPr>
          <p:cNvPr id="620" name="Google Shape;620;p5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SDN handles distributing custom information in datacenters.</a:t>
            </a:r>
            <a:endParaRPr/>
          </a:p>
          <a:p>
            <a:pPr indent="-342900" lvl="0" marL="457200" rtl="0" algn="l">
              <a:spcBef>
                <a:spcPts val="600"/>
              </a:spcBef>
              <a:spcAft>
                <a:spcPts val="0"/>
              </a:spcAft>
              <a:buSzPts val="1800"/>
              <a:buChar char="●"/>
            </a:pPr>
            <a:r>
              <a:rPr lang="en"/>
              <a:t>Example: Virtual network IDs.</a:t>
            </a:r>
            <a:endParaRPr/>
          </a:p>
          <a:p>
            <a:pPr indent="-342900" lvl="0" marL="457200" rtl="0" algn="l">
              <a:spcBef>
                <a:spcPts val="0"/>
              </a:spcBef>
              <a:spcAft>
                <a:spcPts val="0"/>
              </a:spcAft>
              <a:buSzPts val="1800"/>
              <a:buChar char="●"/>
            </a:pPr>
            <a:r>
              <a:rPr lang="en"/>
              <a:t>This information would otherwise have to be in the router's control plane.</a:t>
            </a:r>
            <a:endParaRPr/>
          </a:p>
          <a:p>
            <a:pPr indent="0" lvl="0" marL="0" rtl="0" algn="l">
              <a:spcBef>
                <a:spcPts val="600"/>
              </a:spcBef>
              <a:spcAft>
                <a:spcPts val="0"/>
              </a:spcAft>
              <a:buNone/>
            </a:pPr>
            <a:r>
              <a:rPr lang="en"/>
              <a:t>SDN allows the underlay of the network to remain simple.</a:t>
            </a:r>
            <a:endParaRPr/>
          </a:p>
          <a:p>
            <a:pPr indent="-342900" lvl="0" marL="457200" rtl="0" algn="l">
              <a:spcBef>
                <a:spcPts val="600"/>
              </a:spcBef>
              <a:spcAft>
                <a:spcPts val="0"/>
              </a:spcAft>
              <a:buSzPts val="1800"/>
              <a:buChar char="●"/>
            </a:pPr>
            <a:r>
              <a:rPr lang="en"/>
              <a:t>SDN maps overlay virtual addresses to underlay physical addresses.</a:t>
            </a:r>
            <a:endParaRPr/>
          </a:p>
          <a:p>
            <a:pPr indent="-342900" lvl="0" marL="457200" rtl="0" algn="l">
              <a:spcBef>
                <a:spcPts val="0"/>
              </a:spcBef>
              <a:spcAft>
                <a:spcPts val="0"/>
              </a:spcAft>
              <a:buSzPts val="1800"/>
              <a:buChar char="●"/>
            </a:pPr>
            <a:r>
              <a:rPr lang="en"/>
              <a:t>No need for the underlay to understand virtual addresses.</a:t>
            </a:r>
            <a:endParaRPr/>
          </a:p>
          <a:p>
            <a:pPr indent="0" lvl="0" marL="0" rtl="0" algn="l">
              <a:spcBef>
                <a:spcPts val="600"/>
              </a:spcBef>
              <a:spcAft>
                <a:spcPts val="0"/>
              </a:spcAft>
              <a:buNone/>
            </a:pPr>
            <a:r>
              <a:rPr lang="en"/>
              <a:t>SDN allows the control plane to be extended to servers (e.g. virtual switches).</a:t>
            </a:r>
            <a:endParaRPr/>
          </a:p>
          <a:p>
            <a:pPr indent="-342900" lvl="0" marL="457200" rtl="0" algn="l">
              <a:spcBef>
                <a:spcPts val="600"/>
              </a:spcBef>
              <a:spcAft>
                <a:spcPts val="0"/>
              </a:spcAft>
              <a:buSzPts val="1800"/>
              <a:buChar char="●"/>
            </a:pPr>
            <a:r>
              <a:rPr lang="en"/>
              <a:t>Simpler mechanism for programming servers.</a:t>
            </a:r>
            <a:endParaRPr/>
          </a:p>
          <a:p>
            <a:pPr indent="-342900" lvl="0" marL="457200" rtl="0" algn="l">
              <a:spcBef>
                <a:spcPts val="0"/>
              </a:spcBef>
              <a:spcAft>
                <a:spcPts val="0"/>
              </a:spcAft>
              <a:buSzPts val="1800"/>
              <a:buChar char="●"/>
            </a:pPr>
            <a:r>
              <a:rPr lang="en"/>
              <a:t>No need to implement routing protocols for encapsulation.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5"/>
          <p:cNvSpPr/>
          <p:nvPr/>
        </p:nvSpPr>
        <p:spPr>
          <a:xfrm>
            <a:off x="8143250" y="2128969"/>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26" name="Google Shape;626;p55"/>
          <p:cNvSpPr/>
          <p:nvPr/>
        </p:nvSpPr>
        <p:spPr>
          <a:xfrm>
            <a:off x="8143250" y="2745069"/>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27" name="Google Shape;627;p55"/>
          <p:cNvSpPr/>
          <p:nvPr/>
        </p:nvSpPr>
        <p:spPr>
          <a:xfrm>
            <a:off x="8143250" y="336099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28" name="Google Shape;628;p55"/>
          <p:cNvSpPr/>
          <p:nvPr/>
        </p:nvSpPr>
        <p:spPr>
          <a:xfrm>
            <a:off x="8143250" y="3976919"/>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29" name="Google Shape;629;p55"/>
          <p:cNvSpPr/>
          <p:nvPr/>
        </p:nvSpPr>
        <p:spPr>
          <a:xfrm>
            <a:off x="6896500" y="212899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30" name="Google Shape;630;p55"/>
          <p:cNvSpPr/>
          <p:nvPr/>
        </p:nvSpPr>
        <p:spPr>
          <a:xfrm>
            <a:off x="6896500" y="274509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31" name="Google Shape;631;p55"/>
          <p:cNvSpPr/>
          <p:nvPr/>
        </p:nvSpPr>
        <p:spPr>
          <a:xfrm>
            <a:off x="6896500" y="3361019"/>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32" name="Google Shape;632;p55"/>
          <p:cNvSpPr/>
          <p:nvPr/>
        </p:nvSpPr>
        <p:spPr>
          <a:xfrm>
            <a:off x="6896500" y="397694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633" name="Google Shape;633;p55"/>
          <p:cNvCxnSpPr>
            <a:stCxn id="629" idx="3"/>
            <a:endCxn id="627" idx="1"/>
          </p:cNvCxnSpPr>
          <p:nvPr/>
        </p:nvCxnSpPr>
        <p:spPr>
          <a:xfrm>
            <a:off x="7372900" y="2367194"/>
            <a:ext cx="770400" cy="1232100"/>
          </a:xfrm>
          <a:prstGeom prst="straightConnector1">
            <a:avLst/>
          </a:prstGeom>
          <a:noFill/>
          <a:ln cap="flat" cmpd="sng" w="9525">
            <a:solidFill>
              <a:srgbClr val="666666"/>
            </a:solidFill>
            <a:prstDash val="solid"/>
            <a:round/>
            <a:headEnd len="med" w="med" type="none"/>
            <a:tailEnd len="med" w="med" type="none"/>
          </a:ln>
        </p:spPr>
      </p:cxnSp>
      <p:cxnSp>
        <p:nvCxnSpPr>
          <p:cNvPr id="634" name="Google Shape;634;p55"/>
          <p:cNvCxnSpPr>
            <a:stCxn id="629" idx="3"/>
            <a:endCxn id="628" idx="1"/>
          </p:cNvCxnSpPr>
          <p:nvPr/>
        </p:nvCxnSpPr>
        <p:spPr>
          <a:xfrm>
            <a:off x="7372900" y="2367194"/>
            <a:ext cx="770400" cy="1848000"/>
          </a:xfrm>
          <a:prstGeom prst="straightConnector1">
            <a:avLst/>
          </a:prstGeom>
          <a:noFill/>
          <a:ln cap="flat" cmpd="sng" w="9525">
            <a:solidFill>
              <a:srgbClr val="666666"/>
            </a:solidFill>
            <a:prstDash val="solid"/>
            <a:round/>
            <a:headEnd len="med" w="med" type="none"/>
            <a:tailEnd len="med" w="med" type="none"/>
          </a:ln>
        </p:spPr>
      </p:cxnSp>
      <p:cxnSp>
        <p:nvCxnSpPr>
          <p:cNvPr id="635" name="Google Shape;635;p55"/>
          <p:cNvCxnSpPr>
            <a:stCxn id="630" idx="3"/>
            <a:endCxn id="627" idx="1"/>
          </p:cNvCxnSpPr>
          <p:nvPr/>
        </p:nvCxnSpPr>
        <p:spPr>
          <a:xfrm>
            <a:off x="7372900" y="2983294"/>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36" name="Google Shape;636;p55"/>
          <p:cNvCxnSpPr>
            <a:stCxn id="630" idx="3"/>
            <a:endCxn id="628" idx="1"/>
          </p:cNvCxnSpPr>
          <p:nvPr/>
        </p:nvCxnSpPr>
        <p:spPr>
          <a:xfrm>
            <a:off x="7372900" y="2983294"/>
            <a:ext cx="770400" cy="1231800"/>
          </a:xfrm>
          <a:prstGeom prst="straightConnector1">
            <a:avLst/>
          </a:prstGeom>
          <a:noFill/>
          <a:ln cap="flat" cmpd="sng" w="9525">
            <a:solidFill>
              <a:srgbClr val="666666"/>
            </a:solidFill>
            <a:prstDash val="solid"/>
            <a:round/>
            <a:headEnd len="med" w="med" type="none"/>
            <a:tailEnd len="med" w="med" type="none"/>
          </a:ln>
        </p:spPr>
      </p:cxnSp>
      <p:cxnSp>
        <p:nvCxnSpPr>
          <p:cNvPr id="637" name="Google Shape;637;p55"/>
          <p:cNvCxnSpPr>
            <a:stCxn id="631" idx="3"/>
            <a:endCxn id="625" idx="1"/>
          </p:cNvCxnSpPr>
          <p:nvPr/>
        </p:nvCxnSpPr>
        <p:spPr>
          <a:xfrm flipH="1" rot="10800000">
            <a:off x="7372900" y="2367119"/>
            <a:ext cx="770400" cy="1232100"/>
          </a:xfrm>
          <a:prstGeom prst="straightConnector1">
            <a:avLst/>
          </a:prstGeom>
          <a:noFill/>
          <a:ln cap="flat" cmpd="sng" w="9525">
            <a:solidFill>
              <a:srgbClr val="666666"/>
            </a:solidFill>
            <a:prstDash val="solid"/>
            <a:round/>
            <a:headEnd len="med" w="med" type="none"/>
            <a:tailEnd len="med" w="med" type="none"/>
          </a:ln>
        </p:spPr>
      </p:cxnSp>
      <p:cxnSp>
        <p:nvCxnSpPr>
          <p:cNvPr id="638" name="Google Shape;638;p55"/>
          <p:cNvCxnSpPr>
            <a:stCxn id="631" idx="3"/>
            <a:endCxn id="627" idx="1"/>
          </p:cNvCxnSpPr>
          <p:nvPr/>
        </p:nvCxnSpPr>
        <p:spPr>
          <a:xfrm>
            <a:off x="7372900" y="3599219"/>
            <a:ext cx="770400" cy="0"/>
          </a:xfrm>
          <a:prstGeom prst="straightConnector1">
            <a:avLst/>
          </a:prstGeom>
          <a:noFill/>
          <a:ln cap="flat" cmpd="sng" w="9525">
            <a:solidFill>
              <a:srgbClr val="666666"/>
            </a:solidFill>
            <a:prstDash val="solid"/>
            <a:round/>
            <a:headEnd len="med" w="med" type="none"/>
            <a:tailEnd len="med" w="med" type="none"/>
          </a:ln>
        </p:spPr>
      </p:cxnSp>
      <p:cxnSp>
        <p:nvCxnSpPr>
          <p:cNvPr id="639" name="Google Shape;639;p55"/>
          <p:cNvCxnSpPr>
            <a:stCxn id="631" idx="3"/>
            <a:endCxn id="628" idx="1"/>
          </p:cNvCxnSpPr>
          <p:nvPr/>
        </p:nvCxnSpPr>
        <p:spPr>
          <a:xfrm>
            <a:off x="7372900" y="3599219"/>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40" name="Google Shape;640;p55"/>
          <p:cNvCxnSpPr>
            <a:stCxn id="632" idx="3"/>
            <a:endCxn id="625" idx="1"/>
          </p:cNvCxnSpPr>
          <p:nvPr/>
        </p:nvCxnSpPr>
        <p:spPr>
          <a:xfrm flipH="1" rot="10800000">
            <a:off x="7372900" y="2367144"/>
            <a:ext cx="770400" cy="1848000"/>
          </a:xfrm>
          <a:prstGeom prst="straightConnector1">
            <a:avLst/>
          </a:prstGeom>
          <a:noFill/>
          <a:ln cap="flat" cmpd="sng" w="9525">
            <a:solidFill>
              <a:srgbClr val="666666"/>
            </a:solidFill>
            <a:prstDash val="solid"/>
            <a:round/>
            <a:headEnd len="med" w="med" type="none"/>
            <a:tailEnd len="med" w="med" type="none"/>
          </a:ln>
        </p:spPr>
      </p:cxnSp>
      <p:cxnSp>
        <p:nvCxnSpPr>
          <p:cNvPr id="641" name="Google Shape;641;p55"/>
          <p:cNvCxnSpPr>
            <a:stCxn id="632" idx="3"/>
            <a:endCxn id="626" idx="1"/>
          </p:cNvCxnSpPr>
          <p:nvPr/>
        </p:nvCxnSpPr>
        <p:spPr>
          <a:xfrm flipH="1" rot="10800000">
            <a:off x="7372900" y="2983344"/>
            <a:ext cx="770400" cy="1231800"/>
          </a:xfrm>
          <a:prstGeom prst="straightConnector1">
            <a:avLst/>
          </a:prstGeom>
          <a:noFill/>
          <a:ln cap="flat" cmpd="sng" w="9525">
            <a:solidFill>
              <a:srgbClr val="666666"/>
            </a:solidFill>
            <a:prstDash val="solid"/>
            <a:round/>
            <a:headEnd len="med" w="med" type="none"/>
            <a:tailEnd len="med" w="med" type="none"/>
          </a:ln>
        </p:spPr>
      </p:cxnSp>
      <p:cxnSp>
        <p:nvCxnSpPr>
          <p:cNvPr id="642" name="Google Shape;642;p55"/>
          <p:cNvCxnSpPr>
            <a:stCxn id="632" idx="3"/>
            <a:endCxn id="627" idx="1"/>
          </p:cNvCxnSpPr>
          <p:nvPr/>
        </p:nvCxnSpPr>
        <p:spPr>
          <a:xfrm flipH="1" rot="10800000">
            <a:off x="7372900" y="3599244"/>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43" name="Google Shape;643;p55"/>
          <p:cNvCxnSpPr>
            <a:stCxn id="632" idx="3"/>
            <a:endCxn id="628" idx="1"/>
          </p:cNvCxnSpPr>
          <p:nvPr/>
        </p:nvCxnSpPr>
        <p:spPr>
          <a:xfrm>
            <a:off x="7372900" y="4215144"/>
            <a:ext cx="770400" cy="0"/>
          </a:xfrm>
          <a:prstGeom prst="straightConnector1">
            <a:avLst/>
          </a:prstGeom>
          <a:noFill/>
          <a:ln cap="flat" cmpd="sng" w="9525">
            <a:solidFill>
              <a:srgbClr val="666666"/>
            </a:solidFill>
            <a:prstDash val="solid"/>
            <a:round/>
            <a:headEnd len="med" w="med" type="none"/>
            <a:tailEnd len="med" w="med" type="none"/>
          </a:ln>
        </p:spPr>
      </p:cxnSp>
      <p:cxnSp>
        <p:nvCxnSpPr>
          <p:cNvPr id="644" name="Google Shape;644;p55"/>
          <p:cNvCxnSpPr>
            <a:stCxn id="629" idx="3"/>
            <a:endCxn id="626" idx="1"/>
          </p:cNvCxnSpPr>
          <p:nvPr/>
        </p:nvCxnSpPr>
        <p:spPr>
          <a:xfrm>
            <a:off x="7372900" y="2367194"/>
            <a:ext cx="770400" cy="616200"/>
          </a:xfrm>
          <a:prstGeom prst="straightConnector1">
            <a:avLst/>
          </a:prstGeom>
          <a:noFill/>
          <a:ln cap="flat" cmpd="sng" w="9525">
            <a:solidFill>
              <a:srgbClr val="666666"/>
            </a:solidFill>
            <a:prstDash val="solid"/>
            <a:round/>
            <a:headEnd len="med" w="med" type="none"/>
            <a:tailEnd len="med" w="med" type="none"/>
          </a:ln>
        </p:spPr>
      </p:cxnSp>
      <p:cxnSp>
        <p:nvCxnSpPr>
          <p:cNvPr id="645" name="Google Shape;645;p55"/>
          <p:cNvCxnSpPr>
            <a:stCxn id="646" idx="3"/>
            <a:endCxn id="630" idx="1"/>
          </p:cNvCxnSpPr>
          <p:nvPr/>
        </p:nvCxnSpPr>
        <p:spPr>
          <a:xfrm>
            <a:off x="6126150" y="2367344"/>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47" name="Google Shape;647;p55"/>
          <p:cNvCxnSpPr>
            <a:stCxn id="646" idx="3"/>
            <a:endCxn id="631" idx="1"/>
          </p:cNvCxnSpPr>
          <p:nvPr/>
        </p:nvCxnSpPr>
        <p:spPr>
          <a:xfrm>
            <a:off x="6126150" y="2367344"/>
            <a:ext cx="770400" cy="1231800"/>
          </a:xfrm>
          <a:prstGeom prst="straightConnector1">
            <a:avLst/>
          </a:prstGeom>
          <a:noFill/>
          <a:ln cap="flat" cmpd="sng" w="9525">
            <a:solidFill>
              <a:srgbClr val="666666"/>
            </a:solidFill>
            <a:prstDash val="solid"/>
            <a:round/>
            <a:headEnd len="med" w="med" type="none"/>
            <a:tailEnd len="med" w="med" type="none"/>
          </a:ln>
        </p:spPr>
      </p:cxnSp>
      <p:cxnSp>
        <p:nvCxnSpPr>
          <p:cNvPr id="648" name="Google Shape;648;p55"/>
          <p:cNvCxnSpPr>
            <a:stCxn id="646" idx="3"/>
            <a:endCxn id="632" idx="1"/>
          </p:cNvCxnSpPr>
          <p:nvPr/>
        </p:nvCxnSpPr>
        <p:spPr>
          <a:xfrm>
            <a:off x="6126150" y="2367344"/>
            <a:ext cx="770400" cy="1847700"/>
          </a:xfrm>
          <a:prstGeom prst="straightConnector1">
            <a:avLst/>
          </a:prstGeom>
          <a:noFill/>
          <a:ln cap="flat" cmpd="sng" w="9525">
            <a:solidFill>
              <a:srgbClr val="666666"/>
            </a:solidFill>
            <a:prstDash val="solid"/>
            <a:round/>
            <a:headEnd len="med" w="med" type="none"/>
            <a:tailEnd len="med" w="med" type="none"/>
          </a:ln>
        </p:spPr>
      </p:cxnSp>
      <p:cxnSp>
        <p:nvCxnSpPr>
          <p:cNvPr id="649" name="Google Shape;649;p55"/>
          <p:cNvCxnSpPr>
            <a:stCxn id="650" idx="3"/>
            <a:endCxn id="629" idx="1"/>
          </p:cNvCxnSpPr>
          <p:nvPr/>
        </p:nvCxnSpPr>
        <p:spPr>
          <a:xfrm flipH="1" rot="10800000">
            <a:off x="6126150" y="2367081"/>
            <a:ext cx="770400" cy="616200"/>
          </a:xfrm>
          <a:prstGeom prst="straightConnector1">
            <a:avLst/>
          </a:prstGeom>
          <a:noFill/>
          <a:ln cap="flat" cmpd="sng" w="9525">
            <a:solidFill>
              <a:srgbClr val="666666"/>
            </a:solidFill>
            <a:prstDash val="solid"/>
            <a:round/>
            <a:headEnd len="med" w="med" type="none"/>
            <a:tailEnd len="med" w="med" type="none"/>
          </a:ln>
        </p:spPr>
      </p:cxnSp>
      <p:cxnSp>
        <p:nvCxnSpPr>
          <p:cNvPr id="651" name="Google Shape;651;p55"/>
          <p:cNvCxnSpPr>
            <a:stCxn id="650" idx="3"/>
            <a:endCxn id="631" idx="1"/>
          </p:cNvCxnSpPr>
          <p:nvPr/>
        </p:nvCxnSpPr>
        <p:spPr>
          <a:xfrm>
            <a:off x="6126150" y="2983281"/>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52" name="Google Shape;652;p55"/>
          <p:cNvCxnSpPr>
            <a:stCxn id="650" idx="3"/>
            <a:endCxn id="632" idx="1"/>
          </p:cNvCxnSpPr>
          <p:nvPr/>
        </p:nvCxnSpPr>
        <p:spPr>
          <a:xfrm>
            <a:off x="6126150" y="2983281"/>
            <a:ext cx="770400" cy="1231800"/>
          </a:xfrm>
          <a:prstGeom prst="straightConnector1">
            <a:avLst/>
          </a:prstGeom>
          <a:noFill/>
          <a:ln cap="flat" cmpd="sng" w="9525">
            <a:solidFill>
              <a:srgbClr val="666666"/>
            </a:solidFill>
            <a:prstDash val="solid"/>
            <a:round/>
            <a:headEnd len="med" w="med" type="none"/>
            <a:tailEnd len="med" w="med" type="none"/>
          </a:ln>
        </p:spPr>
      </p:cxnSp>
      <p:cxnSp>
        <p:nvCxnSpPr>
          <p:cNvPr id="653" name="Google Shape;653;p55"/>
          <p:cNvCxnSpPr>
            <a:stCxn id="654" idx="3"/>
            <a:endCxn id="629" idx="1"/>
          </p:cNvCxnSpPr>
          <p:nvPr/>
        </p:nvCxnSpPr>
        <p:spPr>
          <a:xfrm flipH="1" rot="10800000">
            <a:off x="6126150" y="2367119"/>
            <a:ext cx="770400" cy="1232100"/>
          </a:xfrm>
          <a:prstGeom prst="straightConnector1">
            <a:avLst/>
          </a:prstGeom>
          <a:noFill/>
          <a:ln cap="flat" cmpd="sng" w="9525">
            <a:solidFill>
              <a:srgbClr val="666666"/>
            </a:solidFill>
            <a:prstDash val="solid"/>
            <a:round/>
            <a:headEnd len="med" w="med" type="none"/>
            <a:tailEnd len="med" w="med" type="none"/>
          </a:ln>
        </p:spPr>
      </p:cxnSp>
      <p:cxnSp>
        <p:nvCxnSpPr>
          <p:cNvPr id="655" name="Google Shape;655;p55"/>
          <p:cNvCxnSpPr>
            <a:endCxn id="631" idx="1"/>
          </p:cNvCxnSpPr>
          <p:nvPr/>
        </p:nvCxnSpPr>
        <p:spPr>
          <a:xfrm>
            <a:off x="6126100" y="3599219"/>
            <a:ext cx="770400" cy="0"/>
          </a:xfrm>
          <a:prstGeom prst="straightConnector1">
            <a:avLst/>
          </a:prstGeom>
          <a:noFill/>
          <a:ln cap="flat" cmpd="sng" w="9525">
            <a:solidFill>
              <a:srgbClr val="666666"/>
            </a:solidFill>
            <a:prstDash val="solid"/>
            <a:round/>
            <a:headEnd len="med" w="med" type="none"/>
            <a:tailEnd len="med" w="med" type="none"/>
          </a:ln>
        </p:spPr>
      </p:cxnSp>
      <p:cxnSp>
        <p:nvCxnSpPr>
          <p:cNvPr id="656" name="Google Shape;656;p55"/>
          <p:cNvCxnSpPr>
            <a:stCxn id="654" idx="3"/>
            <a:endCxn id="632" idx="1"/>
          </p:cNvCxnSpPr>
          <p:nvPr/>
        </p:nvCxnSpPr>
        <p:spPr>
          <a:xfrm>
            <a:off x="6126150" y="3599219"/>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57" name="Google Shape;657;p55"/>
          <p:cNvCxnSpPr>
            <a:stCxn id="658" idx="3"/>
            <a:endCxn id="629" idx="1"/>
          </p:cNvCxnSpPr>
          <p:nvPr/>
        </p:nvCxnSpPr>
        <p:spPr>
          <a:xfrm flipH="1" rot="10800000">
            <a:off x="6126150" y="2367144"/>
            <a:ext cx="770400" cy="1848000"/>
          </a:xfrm>
          <a:prstGeom prst="straightConnector1">
            <a:avLst/>
          </a:prstGeom>
          <a:noFill/>
          <a:ln cap="flat" cmpd="sng" w="9525">
            <a:solidFill>
              <a:srgbClr val="666666"/>
            </a:solidFill>
            <a:prstDash val="solid"/>
            <a:round/>
            <a:headEnd len="med" w="med" type="none"/>
            <a:tailEnd len="med" w="med" type="none"/>
          </a:ln>
        </p:spPr>
      </p:cxnSp>
      <p:cxnSp>
        <p:nvCxnSpPr>
          <p:cNvPr id="659" name="Google Shape;659;p55"/>
          <p:cNvCxnSpPr>
            <a:stCxn id="658" idx="3"/>
            <a:endCxn id="630" idx="1"/>
          </p:cNvCxnSpPr>
          <p:nvPr/>
        </p:nvCxnSpPr>
        <p:spPr>
          <a:xfrm flipH="1" rot="10800000">
            <a:off x="6126150" y="2983344"/>
            <a:ext cx="770400" cy="1231800"/>
          </a:xfrm>
          <a:prstGeom prst="straightConnector1">
            <a:avLst/>
          </a:prstGeom>
          <a:noFill/>
          <a:ln cap="flat" cmpd="sng" w="9525">
            <a:solidFill>
              <a:srgbClr val="666666"/>
            </a:solidFill>
            <a:prstDash val="solid"/>
            <a:round/>
            <a:headEnd len="med" w="med" type="none"/>
            <a:tailEnd len="med" w="med" type="none"/>
          </a:ln>
        </p:spPr>
      </p:cxnSp>
      <p:cxnSp>
        <p:nvCxnSpPr>
          <p:cNvPr id="660" name="Google Shape;660;p55"/>
          <p:cNvCxnSpPr>
            <a:stCxn id="658" idx="3"/>
            <a:endCxn id="632" idx="1"/>
          </p:cNvCxnSpPr>
          <p:nvPr/>
        </p:nvCxnSpPr>
        <p:spPr>
          <a:xfrm>
            <a:off x="6126150" y="4215144"/>
            <a:ext cx="770400" cy="0"/>
          </a:xfrm>
          <a:prstGeom prst="straightConnector1">
            <a:avLst/>
          </a:prstGeom>
          <a:noFill/>
          <a:ln cap="flat" cmpd="sng" w="9525">
            <a:solidFill>
              <a:srgbClr val="666666"/>
            </a:solidFill>
            <a:prstDash val="solid"/>
            <a:round/>
            <a:headEnd len="med" w="med" type="none"/>
            <a:tailEnd len="med" w="med" type="none"/>
          </a:ln>
        </p:spPr>
      </p:cxnSp>
      <p:cxnSp>
        <p:nvCxnSpPr>
          <p:cNvPr id="661" name="Google Shape;661;p55"/>
          <p:cNvCxnSpPr>
            <a:stCxn id="650" idx="3"/>
            <a:endCxn id="630" idx="1"/>
          </p:cNvCxnSpPr>
          <p:nvPr/>
        </p:nvCxnSpPr>
        <p:spPr>
          <a:xfrm>
            <a:off x="6126150" y="2983281"/>
            <a:ext cx="770400" cy="0"/>
          </a:xfrm>
          <a:prstGeom prst="straightConnector1">
            <a:avLst/>
          </a:prstGeom>
          <a:noFill/>
          <a:ln cap="flat" cmpd="sng" w="38100">
            <a:solidFill>
              <a:srgbClr val="0000FF"/>
            </a:solidFill>
            <a:prstDash val="solid"/>
            <a:round/>
            <a:headEnd len="med" w="med" type="none"/>
            <a:tailEnd len="med" w="med" type="none"/>
          </a:ln>
        </p:spPr>
      </p:cxnSp>
      <p:cxnSp>
        <p:nvCxnSpPr>
          <p:cNvPr id="662" name="Google Shape;662;p55"/>
          <p:cNvCxnSpPr>
            <a:stCxn id="658" idx="3"/>
            <a:endCxn id="631" idx="1"/>
          </p:cNvCxnSpPr>
          <p:nvPr/>
        </p:nvCxnSpPr>
        <p:spPr>
          <a:xfrm flipH="1" rot="10800000">
            <a:off x="6126150" y="3599244"/>
            <a:ext cx="770400" cy="615900"/>
          </a:xfrm>
          <a:prstGeom prst="straightConnector1">
            <a:avLst/>
          </a:prstGeom>
          <a:noFill/>
          <a:ln cap="flat" cmpd="sng" w="38100">
            <a:solidFill>
              <a:srgbClr val="0000FF"/>
            </a:solidFill>
            <a:prstDash val="solid"/>
            <a:round/>
            <a:headEnd len="med" w="med" type="none"/>
            <a:tailEnd len="med" w="med" type="none"/>
          </a:ln>
        </p:spPr>
      </p:cxnSp>
      <p:cxnSp>
        <p:nvCxnSpPr>
          <p:cNvPr id="663" name="Google Shape;663;p55"/>
          <p:cNvCxnSpPr>
            <a:stCxn id="664" idx="3"/>
            <a:endCxn id="650" idx="1"/>
          </p:cNvCxnSpPr>
          <p:nvPr/>
        </p:nvCxnSpPr>
        <p:spPr>
          <a:xfrm>
            <a:off x="5344145" y="2983118"/>
            <a:ext cx="305700" cy="300"/>
          </a:xfrm>
          <a:prstGeom prst="straightConnector1">
            <a:avLst/>
          </a:prstGeom>
          <a:noFill/>
          <a:ln cap="flat" cmpd="sng" w="38100">
            <a:solidFill>
              <a:srgbClr val="0000FF"/>
            </a:solidFill>
            <a:prstDash val="solid"/>
            <a:round/>
            <a:headEnd len="med" w="med" type="none"/>
            <a:tailEnd len="med" w="med" type="none"/>
          </a:ln>
        </p:spPr>
      </p:cxnSp>
      <p:cxnSp>
        <p:nvCxnSpPr>
          <p:cNvPr id="665" name="Google Shape;665;p55"/>
          <p:cNvCxnSpPr>
            <a:stCxn id="666" idx="3"/>
            <a:endCxn id="658" idx="1"/>
          </p:cNvCxnSpPr>
          <p:nvPr/>
        </p:nvCxnSpPr>
        <p:spPr>
          <a:xfrm>
            <a:off x="5344145" y="4215006"/>
            <a:ext cx="305700" cy="0"/>
          </a:xfrm>
          <a:prstGeom prst="straightConnector1">
            <a:avLst/>
          </a:prstGeom>
          <a:noFill/>
          <a:ln cap="flat" cmpd="sng" w="38100">
            <a:solidFill>
              <a:srgbClr val="0000FF"/>
            </a:solidFill>
            <a:prstDash val="solid"/>
            <a:round/>
            <a:headEnd len="med" w="med" type="none"/>
            <a:tailEnd len="med" w="med" type="none"/>
          </a:ln>
        </p:spPr>
      </p:cxnSp>
      <p:cxnSp>
        <p:nvCxnSpPr>
          <p:cNvPr id="667" name="Google Shape;667;p55"/>
          <p:cNvCxnSpPr>
            <a:stCxn id="629" idx="1"/>
            <a:endCxn id="646" idx="3"/>
          </p:cNvCxnSpPr>
          <p:nvPr/>
        </p:nvCxnSpPr>
        <p:spPr>
          <a:xfrm flipH="1">
            <a:off x="6126100" y="2367194"/>
            <a:ext cx="770400" cy="300"/>
          </a:xfrm>
          <a:prstGeom prst="straightConnector1">
            <a:avLst/>
          </a:prstGeom>
          <a:noFill/>
          <a:ln cap="flat" cmpd="sng" w="38100">
            <a:solidFill>
              <a:schemeClr val="accent2"/>
            </a:solidFill>
            <a:prstDash val="solid"/>
            <a:round/>
            <a:headEnd len="med" w="med" type="none"/>
            <a:tailEnd len="med" w="med" type="none"/>
          </a:ln>
        </p:spPr>
      </p:cxnSp>
      <p:cxnSp>
        <p:nvCxnSpPr>
          <p:cNvPr id="668" name="Google Shape;668;p55"/>
          <p:cNvCxnSpPr>
            <a:stCxn id="669" idx="3"/>
            <a:endCxn id="670" idx="1"/>
          </p:cNvCxnSpPr>
          <p:nvPr/>
        </p:nvCxnSpPr>
        <p:spPr>
          <a:xfrm>
            <a:off x="1618075" y="2367344"/>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71" name="Google Shape;671;p55"/>
          <p:cNvCxnSpPr>
            <a:stCxn id="669" idx="3"/>
            <a:endCxn id="672" idx="1"/>
          </p:cNvCxnSpPr>
          <p:nvPr/>
        </p:nvCxnSpPr>
        <p:spPr>
          <a:xfrm>
            <a:off x="1618075" y="2367344"/>
            <a:ext cx="770400" cy="1231800"/>
          </a:xfrm>
          <a:prstGeom prst="straightConnector1">
            <a:avLst/>
          </a:prstGeom>
          <a:noFill/>
          <a:ln cap="flat" cmpd="sng" w="9525">
            <a:solidFill>
              <a:srgbClr val="666666"/>
            </a:solidFill>
            <a:prstDash val="solid"/>
            <a:round/>
            <a:headEnd len="med" w="med" type="none"/>
            <a:tailEnd len="med" w="med" type="none"/>
          </a:ln>
        </p:spPr>
      </p:cxnSp>
      <p:cxnSp>
        <p:nvCxnSpPr>
          <p:cNvPr id="673" name="Google Shape;673;p55"/>
          <p:cNvCxnSpPr>
            <a:stCxn id="669" idx="3"/>
            <a:endCxn id="674" idx="1"/>
          </p:cNvCxnSpPr>
          <p:nvPr/>
        </p:nvCxnSpPr>
        <p:spPr>
          <a:xfrm>
            <a:off x="1618075" y="2367344"/>
            <a:ext cx="770400" cy="1847700"/>
          </a:xfrm>
          <a:prstGeom prst="straightConnector1">
            <a:avLst/>
          </a:prstGeom>
          <a:noFill/>
          <a:ln cap="flat" cmpd="sng" w="9525">
            <a:solidFill>
              <a:srgbClr val="666666"/>
            </a:solidFill>
            <a:prstDash val="solid"/>
            <a:round/>
            <a:headEnd len="med" w="med" type="none"/>
            <a:tailEnd len="med" w="med" type="none"/>
          </a:ln>
        </p:spPr>
      </p:cxnSp>
      <p:cxnSp>
        <p:nvCxnSpPr>
          <p:cNvPr id="675" name="Google Shape;675;p55"/>
          <p:cNvCxnSpPr>
            <a:stCxn id="676" idx="3"/>
            <a:endCxn id="677" idx="1"/>
          </p:cNvCxnSpPr>
          <p:nvPr/>
        </p:nvCxnSpPr>
        <p:spPr>
          <a:xfrm flipH="1" rot="10800000">
            <a:off x="1618075" y="2367081"/>
            <a:ext cx="770400" cy="616200"/>
          </a:xfrm>
          <a:prstGeom prst="straightConnector1">
            <a:avLst/>
          </a:prstGeom>
          <a:noFill/>
          <a:ln cap="flat" cmpd="sng" w="9525">
            <a:solidFill>
              <a:srgbClr val="666666"/>
            </a:solidFill>
            <a:prstDash val="solid"/>
            <a:round/>
            <a:headEnd len="med" w="med" type="none"/>
            <a:tailEnd len="med" w="med" type="none"/>
          </a:ln>
        </p:spPr>
      </p:cxnSp>
      <p:cxnSp>
        <p:nvCxnSpPr>
          <p:cNvPr id="678" name="Google Shape;678;p55"/>
          <p:cNvCxnSpPr>
            <a:stCxn id="676" idx="3"/>
            <a:endCxn id="672" idx="1"/>
          </p:cNvCxnSpPr>
          <p:nvPr/>
        </p:nvCxnSpPr>
        <p:spPr>
          <a:xfrm>
            <a:off x="1618075" y="2983281"/>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79" name="Google Shape;679;p55"/>
          <p:cNvCxnSpPr>
            <a:stCxn id="676" idx="3"/>
            <a:endCxn id="674" idx="1"/>
          </p:cNvCxnSpPr>
          <p:nvPr/>
        </p:nvCxnSpPr>
        <p:spPr>
          <a:xfrm>
            <a:off x="1618075" y="2983281"/>
            <a:ext cx="770400" cy="1231800"/>
          </a:xfrm>
          <a:prstGeom prst="straightConnector1">
            <a:avLst/>
          </a:prstGeom>
          <a:noFill/>
          <a:ln cap="flat" cmpd="sng" w="9525">
            <a:solidFill>
              <a:srgbClr val="666666"/>
            </a:solidFill>
            <a:prstDash val="solid"/>
            <a:round/>
            <a:headEnd len="med" w="med" type="none"/>
            <a:tailEnd len="med" w="med" type="none"/>
          </a:ln>
        </p:spPr>
      </p:cxnSp>
      <p:cxnSp>
        <p:nvCxnSpPr>
          <p:cNvPr id="680" name="Google Shape;680;p55"/>
          <p:cNvCxnSpPr>
            <a:stCxn id="681" idx="3"/>
            <a:endCxn id="677" idx="1"/>
          </p:cNvCxnSpPr>
          <p:nvPr/>
        </p:nvCxnSpPr>
        <p:spPr>
          <a:xfrm flipH="1" rot="10800000">
            <a:off x="1618075" y="2367119"/>
            <a:ext cx="770400" cy="1232100"/>
          </a:xfrm>
          <a:prstGeom prst="straightConnector1">
            <a:avLst/>
          </a:prstGeom>
          <a:noFill/>
          <a:ln cap="flat" cmpd="sng" w="9525">
            <a:solidFill>
              <a:srgbClr val="666666"/>
            </a:solidFill>
            <a:prstDash val="solid"/>
            <a:round/>
            <a:headEnd len="med" w="med" type="none"/>
            <a:tailEnd len="med" w="med" type="none"/>
          </a:ln>
        </p:spPr>
      </p:cxnSp>
      <p:cxnSp>
        <p:nvCxnSpPr>
          <p:cNvPr id="682" name="Google Shape;682;p55"/>
          <p:cNvCxnSpPr>
            <a:endCxn id="672" idx="1"/>
          </p:cNvCxnSpPr>
          <p:nvPr/>
        </p:nvCxnSpPr>
        <p:spPr>
          <a:xfrm>
            <a:off x="1618025" y="3599219"/>
            <a:ext cx="770400" cy="0"/>
          </a:xfrm>
          <a:prstGeom prst="straightConnector1">
            <a:avLst/>
          </a:prstGeom>
          <a:noFill/>
          <a:ln cap="flat" cmpd="sng" w="9525">
            <a:solidFill>
              <a:srgbClr val="666666"/>
            </a:solidFill>
            <a:prstDash val="solid"/>
            <a:round/>
            <a:headEnd len="med" w="med" type="none"/>
            <a:tailEnd len="med" w="med" type="none"/>
          </a:ln>
        </p:spPr>
      </p:cxnSp>
      <p:cxnSp>
        <p:nvCxnSpPr>
          <p:cNvPr id="683" name="Google Shape;683;p55"/>
          <p:cNvCxnSpPr>
            <a:stCxn id="681" idx="3"/>
            <a:endCxn id="674" idx="1"/>
          </p:cNvCxnSpPr>
          <p:nvPr/>
        </p:nvCxnSpPr>
        <p:spPr>
          <a:xfrm>
            <a:off x="1618075" y="3599219"/>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84" name="Google Shape;684;p55"/>
          <p:cNvCxnSpPr>
            <a:stCxn id="685" idx="3"/>
            <a:endCxn id="677" idx="1"/>
          </p:cNvCxnSpPr>
          <p:nvPr/>
        </p:nvCxnSpPr>
        <p:spPr>
          <a:xfrm flipH="1" rot="10800000">
            <a:off x="1618075" y="2367144"/>
            <a:ext cx="770400" cy="1848000"/>
          </a:xfrm>
          <a:prstGeom prst="straightConnector1">
            <a:avLst/>
          </a:prstGeom>
          <a:noFill/>
          <a:ln cap="flat" cmpd="sng" w="9525">
            <a:solidFill>
              <a:srgbClr val="666666"/>
            </a:solidFill>
            <a:prstDash val="solid"/>
            <a:round/>
            <a:headEnd len="med" w="med" type="none"/>
            <a:tailEnd len="med" w="med" type="none"/>
          </a:ln>
        </p:spPr>
      </p:cxnSp>
      <p:cxnSp>
        <p:nvCxnSpPr>
          <p:cNvPr id="686" name="Google Shape;686;p55"/>
          <p:cNvCxnSpPr>
            <a:stCxn id="685" idx="3"/>
            <a:endCxn id="670" idx="1"/>
          </p:cNvCxnSpPr>
          <p:nvPr/>
        </p:nvCxnSpPr>
        <p:spPr>
          <a:xfrm flipH="1" rot="10800000">
            <a:off x="1618075" y="2983344"/>
            <a:ext cx="770400" cy="1231800"/>
          </a:xfrm>
          <a:prstGeom prst="straightConnector1">
            <a:avLst/>
          </a:prstGeom>
          <a:noFill/>
          <a:ln cap="flat" cmpd="sng" w="9525">
            <a:solidFill>
              <a:srgbClr val="666666"/>
            </a:solidFill>
            <a:prstDash val="solid"/>
            <a:round/>
            <a:headEnd len="med" w="med" type="none"/>
            <a:tailEnd len="med" w="med" type="none"/>
          </a:ln>
        </p:spPr>
      </p:cxnSp>
      <p:cxnSp>
        <p:nvCxnSpPr>
          <p:cNvPr id="687" name="Google Shape;687;p55"/>
          <p:cNvCxnSpPr>
            <a:stCxn id="685" idx="3"/>
            <a:endCxn id="674" idx="1"/>
          </p:cNvCxnSpPr>
          <p:nvPr/>
        </p:nvCxnSpPr>
        <p:spPr>
          <a:xfrm>
            <a:off x="1618075" y="4215144"/>
            <a:ext cx="770400" cy="0"/>
          </a:xfrm>
          <a:prstGeom prst="straightConnector1">
            <a:avLst/>
          </a:prstGeom>
          <a:noFill/>
          <a:ln cap="flat" cmpd="sng" w="9525">
            <a:solidFill>
              <a:srgbClr val="666666"/>
            </a:solidFill>
            <a:prstDash val="solid"/>
            <a:round/>
            <a:headEnd len="med" w="med" type="none"/>
            <a:tailEnd len="med" w="med" type="none"/>
          </a:ln>
        </p:spPr>
      </p:cxnSp>
      <p:cxnSp>
        <p:nvCxnSpPr>
          <p:cNvPr id="688" name="Google Shape;688;p55"/>
          <p:cNvCxnSpPr>
            <a:stCxn id="677" idx="3"/>
            <a:endCxn id="689" idx="1"/>
          </p:cNvCxnSpPr>
          <p:nvPr/>
        </p:nvCxnSpPr>
        <p:spPr>
          <a:xfrm>
            <a:off x="2864825" y="2367194"/>
            <a:ext cx="770400" cy="616200"/>
          </a:xfrm>
          <a:prstGeom prst="straightConnector1">
            <a:avLst/>
          </a:prstGeom>
          <a:noFill/>
          <a:ln cap="flat" cmpd="sng" w="9525">
            <a:solidFill>
              <a:srgbClr val="666666"/>
            </a:solidFill>
            <a:prstDash val="solid"/>
            <a:round/>
            <a:headEnd len="med" w="med" type="none"/>
            <a:tailEnd len="med" w="med" type="none"/>
          </a:ln>
        </p:spPr>
      </p:cxnSp>
      <p:cxnSp>
        <p:nvCxnSpPr>
          <p:cNvPr id="690" name="Google Shape;690;p55"/>
          <p:cNvCxnSpPr>
            <a:stCxn id="677" idx="3"/>
            <a:endCxn id="691" idx="1"/>
          </p:cNvCxnSpPr>
          <p:nvPr/>
        </p:nvCxnSpPr>
        <p:spPr>
          <a:xfrm>
            <a:off x="2864825" y="2367194"/>
            <a:ext cx="770400" cy="1232100"/>
          </a:xfrm>
          <a:prstGeom prst="straightConnector1">
            <a:avLst/>
          </a:prstGeom>
          <a:noFill/>
          <a:ln cap="flat" cmpd="sng" w="9525">
            <a:solidFill>
              <a:srgbClr val="666666"/>
            </a:solidFill>
            <a:prstDash val="solid"/>
            <a:round/>
            <a:headEnd len="med" w="med" type="none"/>
            <a:tailEnd len="med" w="med" type="none"/>
          </a:ln>
        </p:spPr>
      </p:cxnSp>
      <p:cxnSp>
        <p:nvCxnSpPr>
          <p:cNvPr id="692" name="Google Shape;692;p55"/>
          <p:cNvCxnSpPr>
            <a:stCxn id="677" idx="3"/>
            <a:endCxn id="693" idx="1"/>
          </p:cNvCxnSpPr>
          <p:nvPr/>
        </p:nvCxnSpPr>
        <p:spPr>
          <a:xfrm>
            <a:off x="2864825" y="2367194"/>
            <a:ext cx="770400" cy="1848000"/>
          </a:xfrm>
          <a:prstGeom prst="straightConnector1">
            <a:avLst/>
          </a:prstGeom>
          <a:noFill/>
          <a:ln cap="flat" cmpd="sng" w="9525">
            <a:solidFill>
              <a:srgbClr val="666666"/>
            </a:solidFill>
            <a:prstDash val="solid"/>
            <a:round/>
            <a:headEnd len="med" w="med" type="none"/>
            <a:tailEnd len="med" w="med" type="none"/>
          </a:ln>
        </p:spPr>
      </p:cxnSp>
      <p:cxnSp>
        <p:nvCxnSpPr>
          <p:cNvPr id="694" name="Google Shape;694;p55"/>
          <p:cNvCxnSpPr>
            <a:stCxn id="670" idx="3"/>
            <a:endCxn id="689" idx="1"/>
          </p:cNvCxnSpPr>
          <p:nvPr/>
        </p:nvCxnSpPr>
        <p:spPr>
          <a:xfrm>
            <a:off x="2864825" y="2983294"/>
            <a:ext cx="770400" cy="0"/>
          </a:xfrm>
          <a:prstGeom prst="straightConnector1">
            <a:avLst/>
          </a:prstGeom>
          <a:noFill/>
          <a:ln cap="flat" cmpd="sng" w="9525">
            <a:solidFill>
              <a:srgbClr val="666666"/>
            </a:solidFill>
            <a:prstDash val="solid"/>
            <a:round/>
            <a:headEnd len="med" w="med" type="none"/>
            <a:tailEnd len="med" w="med" type="none"/>
          </a:ln>
        </p:spPr>
      </p:cxnSp>
      <p:cxnSp>
        <p:nvCxnSpPr>
          <p:cNvPr id="695" name="Google Shape;695;p55"/>
          <p:cNvCxnSpPr>
            <a:stCxn id="670" idx="3"/>
            <a:endCxn id="691" idx="1"/>
          </p:cNvCxnSpPr>
          <p:nvPr/>
        </p:nvCxnSpPr>
        <p:spPr>
          <a:xfrm>
            <a:off x="2864825" y="2983294"/>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96" name="Google Shape;696;p55"/>
          <p:cNvCxnSpPr>
            <a:stCxn id="670" idx="3"/>
            <a:endCxn id="693" idx="1"/>
          </p:cNvCxnSpPr>
          <p:nvPr/>
        </p:nvCxnSpPr>
        <p:spPr>
          <a:xfrm>
            <a:off x="2864825" y="2983294"/>
            <a:ext cx="770400" cy="1231800"/>
          </a:xfrm>
          <a:prstGeom prst="straightConnector1">
            <a:avLst/>
          </a:prstGeom>
          <a:noFill/>
          <a:ln cap="flat" cmpd="sng" w="9525">
            <a:solidFill>
              <a:srgbClr val="666666"/>
            </a:solidFill>
            <a:prstDash val="solid"/>
            <a:round/>
            <a:headEnd len="med" w="med" type="none"/>
            <a:tailEnd len="med" w="med" type="none"/>
          </a:ln>
        </p:spPr>
      </p:cxnSp>
      <p:cxnSp>
        <p:nvCxnSpPr>
          <p:cNvPr id="697" name="Google Shape;697;p55"/>
          <p:cNvCxnSpPr>
            <a:stCxn id="672" idx="3"/>
            <a:endCxn id="689" idx="1"/>
          </p:cNvCxnSpPr>
          <p:nvPr/>
        </p:nvCxnSpPr>
        <p:spPr>
          <a:xfrm flipH="1" rot="10800000">
            <a:off x="2864825" y="2983319"/>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698" name="Google Shape;698;p55"/>
          <p:cNvCxnSpPr>
            <a:stCxn id="672" idx="3"/>
            <a:endCxn id="691" idx="1"/>
          </p:cNvCxnSpPr>
          <p:nvPr/>
        </p:nvCxnSpPr>
        <p:spPr>
          <a:xfrm>
            <a:off x="2864825" y="3599219"/>
            <a:ext cx="770400" cy="0"/>
          </a:xfrm>
          <a:prstGeom prst="straightConnector1">
            <a:avLst/>
          </a:prstGeom>
          <a:noFill/>
          <a:ln cap="flat" cmpd="sng" w="9525">
            <a:solidFill>
              <a:srgbClr val="666666"/>
            </a:solidFill>
            <a:prstDash val="solid"/>
            <a:round/>
            <a:headEnd len="med" w="med" type="none"/>
            <a:tailEnd len="med" w="med" type="none"/>
          </a:ln>
        </p:spPr>
      </p:cxnSp>
      <p:cxnSp>
        <p:nvCxnSpPr>
          <p:cNvPr id="699" name="Google Shape;699;p55"/>
          <p:cNvCxnSpPr>
            <a:stCxn id="672" idx="3"/>
            <a:endCxn id="693" idx="1"/>
          </p:cNvCxnSpPr>
          <p:nvPr/>
        </p:nvCxnSpPr>
        <p:spPr>
          <a:xfrm>
            <a:off x="2864825" y="3599219"/>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700" name="Google Shape;700;p55"/>
          <p:cNvCxnSpPr>
            <a:stCxn id="674" idx="3"/>
            <a:endCxn id="701" idx="1"/>
          </p:cNvCxnSpPr>
          <p:nvPr/>
        </p:nvCxnSpPr>
        <p:spPr>
          <a:xfrm flipH="1" rot="10800000">
            <a:off x="2864825" y="2367144"/>
            <a:ext cx="770400" cy="1848000"/>
          </a:xfrm>
          <a:prstGeom prst="straightConnector1">
            <a:avLst/>
          </a:prstGeom>
          <a:noFill/>
          <a:ln cap="flat" cmpd="sng" w="9525">
            <a:solidFill>
              <a:srgbClr val="666666"/>
            </a:solidFill>
            <a:prstDash val="solid"/>
            <a:round/>
            <a:headEnd len="med" w="med" type="none"/>
            <a:tailEnd len="med" w="med" type="none"/>
          </a:ln>
        </p:spPr>
      </p:cxnSp>
      <p:cxnSp>
        <p:nvCxnSpPr>
          <p:cNvPr id="702" name="Google Shape;702;p55"/>
          <p:cNvCxnSpPr>
            <a:stCxn id="674" idx="3"/>
            <a:endCxn id="689" idx="1"/>
          </p:cNvCxnSpPr>
          <p:nvPr/>
        </p:nvCxnSpPr>
        <p:spPr>
          <a:xfrm flipH="1" rot="10800000">
            <a:off x="2864825" y="2983344"/>
            <a:ext cx="770400" cy="1231800"/>
          </a:xfrm>
          <a:prstGeom prst="straightConnector1">
            <a:avLst/>
          </a:prstGeom>
          <a:noFill/>
          <a:ln cap="flat" cmpd="sng" w="9525">
            <a:solidFill>
              <a:srgbClr val="666666"/>
            </a:solidFill>
            <a:prstDash val="solid"/>
            <a:round/>
            <a:headEnd len="med" w="med" type="none"/>
            <a:tailEnd len="med" w="med" type="none"/>
          </a:ln>
        </p:spPr>
      </p:cxnSp>
      <p:cxnSp>
        <p:nvCxnSpPr>
          <p:cNvPr id="703" name="Google Shape;703;p55"/>
          <p:cNvCxnSpPr>
            <a:stCxn id="674" idx="3"/>
            <a:endCxn id="691" idx="1"/>
          </p:cNvCxnSpPr>
          <p:nvPr/>
        </p:nvCxnSpPr>
        <p:spPr>
          <a:xfrm flipH="1" rot="10800000">
            <a:off x="2864825" y="3599244"/>
            <a:ext cx="770400" cy="615900"/>
          </a:xfrm>
          <a:prstGeom prst="straightConnector1">
            <a:avLst/>
          </a:prstGeom>
          <a:noFill/>
          <a:ln cap="flat" cmpd="sng" w="9525">
            <a:solidFill>
              <a:srgbClr val="666666"/>
            </a:solidFill>
            <a:prstDash val="solid"/>
            <a:round/>
            <a:headEnd len="med" w="med" type="none"/>
            <a:tailEnd len="med" w="med" type="none"/>
          </a:ln>
        </p:spPr>
      </p:cxnSp>
      <p:cxnSp>
        <p:nvCxnSpPr>
          <p:cNvPr id="704" name="Google Shape;704;p55"/>
          <p:cNvCxnSpPr>
            <a:stCxn id="674" idx="3"/>
            <a:endCxn id="693" idx="1"/>
          </p:cNvCxnSpPr>
          <p:nvPr/>
        </p:nvCxnSpPr>
        <p:spPr>
          <a:xfrm>
            <a:off x="2864825" y="4215144"/>
            <a:ext cx="770400" cy="0"/>
          </a:xfrm>
          <a:prstGeom prst="straightConnector1">
            <a:avLst/>
          </a:prstGeom>
          <a:noFill/>
          <a:ln cap="flat" cmpd="sng" w="9525">
            <a:solidFill>
              <a:srgbClr val="666666"/>
            </a:solidFill>
            <a:prstDash val="solid"/>
            <a:round/>
            <a:headEnd len="med" w="med" type="none"/>
            <a:tailEnd len="med" w="med" type="none"/>
          </a:ln>
        </p:spPr>
      </p:cxnSp>
      <p:sp>
        <p:nvSpPr>
          <p:cNvPr id="705" name="Google Shape;705;p5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SDN in Datacenters – Underlay</a:t>
            </a:r>
            <a:endParaRPr/>
          </a:p>
        </p:txBody>
      </p:sp>
      <p:sp>
        <p:nvSpPr>
          <p:cNvPr id="706" name="Google Shape;706;p55"/>
          <p:cNvSpPr txBox="1"/>
          <p:nvPr>
            <p:ph idx="1" type="body"/>
          </p:nvPr>
        </p:nvSpPr>
        <p:spPr>
          <a:xfrm>
            <a:off x="107050" y="402200"/>
            <a:ext cx="8909700" cy="1645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SDN underlay network is a physical network, just like any other.</a:t>
            </a:r>
            <a:endParaRPr/>
          </a:p>
          <a:p>
            <a:pPr indent="-342900" lvl="0" marL="457200" rtl="0" algn="l">
              <a:spcBef>
                <a:spcPts val="600"/>
              </a:spcBef>
              <a:spcAft>
                <a:spcPts val="0"/>
              </a:spcAft>
              <a:buSzPts val="1800"/>
              <a:buChar char="●"/>
            </a:pPr>
            <a:r>
              <a:rPr lang="en"/>
              <a:t>The benefits from earlier (simplicity, efficiency) apply to the underlay network too.</a:t>
            </a:r>
            <a:endParaRPr/>
          </a:p>
          <a:p>
            <a:pPr indent="-342900" lvl="0" marL="457200" rtl="0" algn="l">
              <a:spcBef>
                <a:spcPts val="0"/>
              </a:spcBef>
              <a:spcAft>
                <a:spcPts val="0"/>
              </a:spcAft>
              <a:buSzPts val="1800"/>
              <a:buChar char="●"/>
            </a:pPr>
            <a:r>
              <a:rPr lang="en"/>
              <a:t>Hyperscale datacenters might use SDN in both the overlay and underlay.</a:t>
            </a:r>
            <a:endParaRPr/>
          </a:p>
          <a:p>
            <a:pPr indent="-342900" lvl="1" marL="914400" rtl="0" algn="l">
              <a:spcBef>
                <a:spcPts val="0"/>
              </a:spcBef>
              <a:spcAft>
                <a:spcPts val="0"/>
              </a:spcAft>
              <a:buSzPts val="1800"/>
              <a:buChar char="○"/>
            </a:pPr>
            <a:r>
              <a:rPr lang="en"/>
              <a:t>But these are decoupled systems.</a:t>
            </a:r>
            <a:endParaRPr/>
          </a:p>
        </p:txBody>
      </p:sp>
      <p:cxnSp>
        <p:nvCxnSpPr>
          <p:cNvPr id="707" name="Google Shape;707;p55"/>
          <p:cNvCxnSpPr>
            <a:stCxn id="708" idx="3"/>
            <a:endCxn id="669" idx="1"/>
          </p:cNvCxnSpPr>
          <p:nvPr/>
        </p:nvCxnSpPr>
        <p:spPr>
          <a:xfrm>
            <a:off x="836020" y="2367206"/>
            <a:ext cx="305700" cy="0"/>
          </a:xfrm>
          <a:prstGeom prst="straightConnector1">
            <a:avLst/>
          </a:prstGeom>
          <a:noFill/>
          <a:ln cap="flat" cmpd="sng" w="38100">
            <a:solidFill>
              <a:schemeClr val="accent2"/>
            </a:solidFill>
            <a:prstDash val="solid"/>
            <a:round/>
            <a:headEnd len="med" w="med" type="none"/>
            <a:tailEnd len="med" w="med" type="none"/>
          </a:ln>
        </p:spPr>
      </p:cxnSp>
      <p:grpSp>
        <p:nvGrpSpPr>
          <p:cNvPr id="709" name="Google Shape;709;p55"/>
          <p:cNvGrpSpPr/>
          <p:nvPr/>
        </p:nvGrpSpPr>
        <p:grpSpPr>
          <a:xfrm>
            <a:off x="458320" y="2116404"/>
            <a:ext cx="377700" cy="501937"/>
            <a:chOff x="4720275" y="1429404"/>
            <a:chExt cx="377700" cy="501937"/>
          </a:xfrm>
        </p:grpSpPr>
        <p:sp>
          <p:nvSpPr>
            <p:cNvPr id="708" name="Google Shape;708;p55"/>
            <p:cNvSpPr/>
            <p:nvPr/>
          </p:nvSpPr>
          <p:spPr>
            <a:xfrm>
              <a:off x="4720275" y="1652306"/>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10" name="Google Shape;710;p55"/>
            <p:cNvSpPr/>
            <p:nvPr/>
          </p:nvSpPr>
          <p:spPr>
            <a:xfrm>
              <a:off x="4720275" y="1596572"/>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11" name="Google Shape;711;p55"/>
            <p:cNvSpPr/>
            <p:nvPr/>
          </p:nvSpPr>
          <p:spPr>
            <a:xfrm>
              <a:off x="4720275" y="1540838"/>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12" name="Google Shape;712;p55"/>
            <p:cNvSpPr/>
            <p:nvPr/>
          </p:nvSpPr>
          <p:spPr>
            <a:xfrm>
              <a:off x="4720275" y="1485104"/>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13" name="Google Shape;713;p55"/>
            <p:cNvSpPr/>
            <p:nvPr/>
          </p:nvSpPr>
          <p:spPr>
            <a:xfrm>
              <a:off x="4720275" y="1875241"/>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14" name="Google Shape;714;p55"/>
            <p:cNvSpPr/>
            <p:nvPr/>
          </p:nvSpPr>
          <p:spPr>
            <a:xfrm>
              <a:off x="4720275" y="1819507"/>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15" name="Google Shape;715;p55"/>
            <p:cNvSpPr/>
            <p:nvPr/>
          </p:nvSpPr>
          <p:spPr>
            <a:xfrm>
              <a:off x="4720275" y="1763773"/>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16" name="Google Shape;716;p55"/>
            <p:cNvSpPr/>
            <p:nvPr/>
          </p:nvSpPr>
          <p:spPr>
            <a:xfrm>
              <a:off x="4720275" y="1708039"/>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717" name="Google Shape;717;p55"/>
            <p:cNvCxnSpPr/>
            <p:nvPr/>
          </p:nvCxnSpPr>
          <p:spPr>
            <a:xfrm>
              <a:off x="4748325" y="1482482"/>
              <a:ext cx="0" cy="33000"/>
            </a:xfrm>
            <a:prstGeom prst="straightConnector1">
              <a:avLst/>
            </a:prstGeom>
            <a:noFill/>
            <a:ln cap="flat" cmpd="sng" w="9525">
              <a:solidFill>
                <a:srgbClr val="666666"/>
              </a:solidFill>
              <a:prstDash val="solid"/>
              <a:round/>
              <a:headEnd len="med" w="med" type="none"/>
              <a:tailEnd len="med" w="med" type="none"/>
            </a:ln>
          </p:spPr>
        </p:cxnSp>
        <p:cxnSp>
          <p:nvCxnSpPr>
            <p:cNvPr id="718" name="Google Shape;718;p55"/>
            <p:cNvCxnSpPr/>
            <p:nvPr/>
          </p:nvCxnSpPr>
          <p:spPr>
            <a:xfrm>
              <a:off x="4782370" y="1484768"/>
              <a:ext cx="0" cy="88500"/>
            </a:xfrm>
            <a:prstGeom prst="straightConnector1">
              <a:avLst/>
            </a:prstGeom>
            <a:noFill/>
            <a:ln cap="flat" cmpd="sng" w="9525">
              <a:solidFill>
                <a:srgbClr val="666666"/>
              </a:solidFill>
              <a:prstDash val="solid"/>
              <a:round/>
              <a:headEnd len="med" w="med" type="none"/>
              <a:tailEnd len="med" w="med" type="none"/>
            </a:ln>
          </p:spPr>
        </p:cxnSp>
        <p:cxnSp>
          <p:nvCxnSpPr>
            <p:cNvPr id="719" name="Google Shape;719;p55"/>
            <p:cNvCxnSpPr/>
            <p:nvPr/>
          </p:nvCxnSpPr>
          <p:spPr>
            <a:xfrm>
              <a:off x="4816415" y="1486825"/>
              <a:ext cx="0" cy="139800"/>
            </a:xfrm>
            <a:prstGeom prst="straightConnector1">
              <a:avLst/>
            </a:prstGeom>
            <a:noFill/>
            <a:ln cap="flat" cmpd="sng" w="9525">
              <a:solidFill>
                <a:srgbClr val="666666"/>
              </a:solidFill>
              <a:prstDash val="solid"/>
              <a:round/>
              <a:headEnd len="med" w="med" type="none"/>
              <a:tailEnd len="med" w="med" type="none"/>
            </a:ln>
          </p:spPr>
        </p:cxnSp>
        <p:cxnSp>
          <p:nvCxnSpPr>
            <p:cNvPr id="720" name="Google Shape;720;p55"/>
            <p:cNvCxnSpPr/>
            <p:nvPr/>
          </p:nvCxnSpPr>
          <p:spPr>
            <a:xfrm>
              <a:off x="4865572" y="1484768"/>
              <a:ext cx="0" cy="197400"/>
            </a:xfrm>
            <a:prstGeom prst="straightConnector1">
              <a:avLst/>
            </a:prstGeom>
            <a:noFill/>
            <a:ln cap="flat" cmpd="sng" w="9525">
              <a:solidFill>
                <a:srgbClr val="666666"/>
              </a:solidFill>
              <a:prstDash val="solid"/>
              <a:round/>
              <a:headEnd len="med" w="med" type="none"/>
              <a:tailEnd len="med" w="med" type="none"/>
            </a:ln>
          </p:spPr>
        </p:cxnSp>
        <p:cxnSp>
          <p:nvCxnSpPr>
            <p:cNvPr id="721" name="Google Shape;721;p55"/>
            <p:cNvCxnSpPr/>
            <p:nvPr/>
          </p:nvCxnSpPr>
          <p:spPr>
            <a:xfrm>
              <a:off x="4914729" y="1486825"/>
              <a:ext cx="0" cy="249000"/>
            </a:xfrm>
            <a:prstGeom prst="straightConnector1">
              <a:avLst/>
            </a:prstGeom>
            <a:noFill/>
            <a:ln cap="flat" cmpd="sng" w="9525">
              <a:solidFill>
                <a:srgbClr val="666666"/>
              </a:solidFill>
              <a:prstDash val="solid"/>
              <a:round/>
              <a:headEnd len="med" w="med" type="none"/>
              <a:tailEnd len="med" w="med" type="none"/>
            </a:ln>
          </p:spPr>
        </p:cxnSp>
        <p:cxnSp>
          <p:nvCxnSpPr>
            <p:cNvPr id="722" name="Google Shape;722;p55"/>
            <p:cNvCxnSpPr/>
            <p:nvPr/>
          </p:nvCxnSpPr>
          <p:spPr>
            <a:xfrm>
              <a:off x="4958212" y="1488883"/>
              <a:ext cx="0" cy="308400"/>
            </a:xfrm>
            <a:prstGeom prst="straightConnector1">
              <a:avLst/>
            </a:prstGeom>
            <a:noFill/>
            <a:ln cap="flat" cmpd="sng" w="9525">
              <a:solidFill>
                <a:srgbClr val="666666"/>
              </a:solidFill>
              <a:prstDash val="solid"/>
              <a:round/>
              <a:headEnd len="med" w="med" type="none"/>
              <a:tailEnd len="med" w="med" type="none"/>
            </a:ln>
          </p:spPr>
        </p:cxnSp>
        <p:cxnSp>
          <p:nvCxnSpPr>
            <p:cNvPr id="723" name="Google Shape;723;p55"/>
            <p:cNvCxnSpPr/>
            <p:nvPr/>
          </p:nvCxnSpPr>
          <p:spPr>
            <a:xfrm>
              <a:off x="5005478" y="1484768"/>
              <a:ext cx="0" cy="360000"/>
            </a:xfrm>
            <a:prstGeom prst="straightConnector1">
              <a:avLst/>
            </a:prstGeom>
            <a:noFill/>
            <a:ln cap="flat" cmpd="sng" w="9525">
              <a:solidFill>
                <a:srgbClr val="666666"/>
              </a:solidFill>
              <a:prstDash val="solid"/>
              <a:round/>
              <a:headEnd len="med" w="med" type="none"/>
              <a:tailEnd len="med" w="med" type="none"/>
            </a:ln>
          </p:spPr>
        </p:cxnSp>
        <p:cxnSp>
          <p:nvCxnSpPr>
            <p:cNvPr id="724" name="Google Shape;724;p55"/>
            <p:cNvCxnSpPr/>
            <p:nvPr/>
          </p:nvCxnSpPr>
          <p:spPr>
            <a:xfrm>
              <a:off x="5046688" y="1482710"/>
              <a:ext cx="0" cy="427800"/>
            </a:xfrm>
            <a:prstGeom prst="straightConnector1">
              <a:avLst/>
            </a:prstGeom>
            <a:noFill/>
            <a:ln cap="flat" cmpd="sng" w="9525">
              <a:solidFill>
                <a:srgbClr val="666666"/>
              </a:solidFill>
              <a:prstDash val="solid"/>
              <a:round/>
              <a:headEnd len="med" w="med" type="none"/>
              <a:tailEnd len="med" w="med" type="none"/>
            </a:ln>
          </p:spPr>
        </p:cxnSp>
        <p:sp>
          <p:nvSpPr>
            <p:cNvPr id="725" name="Google Shape;725;p55"/>
            <p:cNvSpPr/>
            <p:nvPr/>
          </p:nvSpPr>
          <p:spPr>
            <a:xfrm>
              <a:off x="4720275" y="1429404"/>
              <a:ext cx="377700" cy="55800"/>
            </a:xfrm>
            <a:prstGeom prst="rect">
              <a:avLst/>
            </a:prstGeom>
            <a:solidFill>
              <a:srgbClr val="F6B26B"/>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grpSp>
      <p:grpSp>
        <p:nvGrpSpPr>
          <p:cNvPr id="726" name="Google Shape;726;p55"/>
          <p:cNvGrpSpPr/>
          <p:nvPr/>
        </p:nvGrpSpPr>
        <p:grpSpPr>
          <a:xfrm>
            <a:off x="458270" y="2732329"/>
            <a:ext cx="377700" cy="501937"/>
            <a:chOff x="4720275" y="1429404"/>
            <a:chExt cx="377700" cy="501937"/>
          </a:xfrm>
        </p:grpSpPr>
        <p:sp>
          <p:nvSpPr>
            <p:cNvPr id="727" name="Google Shape;727;p55"/>
            <p:cNvSpPr/>
            <p:nvPr/>
          </p:nvSpPr>
          <p:spPr>
            <a:xfrm>
              <a:off x="4720275" y="1652306"/>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28" name="Google Shape;728;p55"/>
            <p:cNvSpPr/>
            <p:nvPr/>
          </p:nvSpPr>
          <p:spPr>
            <a:xfrm>
              <a:off x="4720275" y="1596572"/>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29" name="Google Shape;729;p55"/>
            <p:cNvSpPr/>
            <p:nvPr/>
          </p:nvSpPr>
          <p:spPr>
            <a:xfrm>
              <a:off x="4720275" y="1540838"/>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30" name="Google Shape;730;p55"/>
            <p:cNvSpPr/>
            <p:nvPr/>
          </p:nvSpPr>
          <p:spPr>
            <a:xfrm>
              <a:off x="4720275" y="1485104"/>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31" name="Google Shape;731;p55"/>
            <p:cNvSpPr/>
            <p:nvPr/>
          </p:nvSpPr>
          <p:spPr>
            <a:xfrm>
              <a:off x="4720275" y="1875241"/>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32" name="Google Shape;732;p55"/>
            <p:cNvSpPr/>
            <p:nvPr/>
          </p:nvSpPr>
          <p:spPr>
            <a:xfrm>
              <a:off x="4720275" y="1819507"/>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33" name="Google Shape;733;p55"/>
            <p:cNvSpPr/>
            <p:nvPr/>
          </p:nvSpPr>
          <p:spPr>
            <a:xfrm>
              <a:off x="4720275" y="1763773"/>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34" name="Google Shape;734;p55"/>
            <p:cNvSpPr/>
            <p:nvPr/>
          </p:nvSpPr>
          <p:spPr>
            <a:xfrm>
              <a:off x="4720275" y="1708039"/>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735" name="Google Shape;735;p55"/>
            <p:cNvCxnSpPr/>
            <p:nvPr/>
          </p:nvCxnSpPr>
          <p:spPr>
            <a:xfrm>
              <a:off x="4748325" y="1482482"/>
              <a:ext cx="0" cy="33000"/>
            </a:xfrm>
            <a:prstGeom prst="straightConnector1">
              <a:avLst/>
            </a:prstGeom>
            <a:noFill/>
            <a:ln cap="flat" cmpd="sng" w="9525">
              <a:solidFill>
                <a:srgbClr val="666666"/>
              </a:solidFill>
              <a:prstDash val="solid"/>
              <a:round/>
              <a:headEnd len="med" w="med" type="none"/>
              <a:tailEnd len="med" w="med" type="none"/>
            </a:ln>
          </p:spPr>
        </p:cxnSp>
        <p:cxnSp>
          <p:nvCxnSpPr>
            <p:cNvPr id="736" name="Google Shape;736;p55"/>
            <p:cNvCxnSpPr/>
            <p:nvPr/>
          </p:nvCxnSpPr>
          <p:spPr>
            <a:xfrm>
              <a:off x="4782370" y="1484768"/>
              <a:ext cx="0" cy="88500"/>
            </a:xfrm>
            <a:prstGeom prst="straightConnector1">
              <a:avLst/>
            </a:prstGeom>
            <a:noFill/>
            <a:ln cap="flat" cmpd="sng" w="9525">
              <a:solidFill>
                <a:srgbClr val="666666"/>
              </a:solidFill>
              <a:prstDash val="solid"/>
              <a:round/>
              <a:headEnd len="med" w="med" type="none"/>
              <a:tailEnd len="med" w="med" type="none"/>
            </a:ln>
          </p:spPr>
        </p:cxnSp>
        <p:cxnSp>
          <p:nvCxnSpPr>
            <p:cNvPr id="737" name="Google Shape;737;p55"/>
            <p:cNvCxnSpPr/>
            <p:nvPr/>
          </p:nvCxnSpPr>
          <p:spPr>
            <a:xfrm>
              <a:off x="4816415" y="1486825"/>
              <a:ext cx="0" cy="139800"/>
            </a:xfrm>
            <a:prstGeom prst="straightConnector1">
              <a:avLst/>
            </a:prstGeom>
            <a:noFill/>
            <a:ln cap="flat" cmpd="sng" w="9525">
              <a:solidFill>
                <a:srgbClr val="666666"/>
              </a:solidFill>
              <a:prstDash val="solid"/>
              <a:round/>
              <a:headEnd len="med" w="med" type="none"/>
              <a:tailEnd len="med" w="med" type="none"/>
            </a:ln>
          </p:spPr>
        </p:cxnSp>
        <p:cxnSp>
          <p:nvCxnSpPr>
            <p:cNvPr id="738" name="Google Shape;738;p55"/>
            <p:cNvCxnSpPr/>
            <p:nvPr/>
          </p:nvCxnSpPr>
          <p:spPr>
            <a:xfrm>
              <a:off x="4865572" y="1484768"/>
              <a:ext cx="0" cy="197400"/>
            </a:xfrm>
            <a:prstGeom prst="straightConnector1">
              <a:avLst/>
            </a:prstGeom>
            <a:noFill/>
            <a:ln cap="flat" cmpd="sng" w="9525">
              <a:solidFill>
                <a:srgbClr val="666666"/>
              </a:solidFill>
              <a:prstDash val="solid"/>
              <a:round/>
              <a:headEnd len="med" w="med" type="none"/>
              <a:tailEnd len="med" w="med" type="none"/>
            </a:ln>
          </p:spPr>
        </p:cxnSp>
        <p:cxnSp>
          <p:nvCxnSpPr>
            <p:cNvPr id="739" name="Google Shape;739;p55"/>
            <p:cNvCxnSpPr/>
            <p:nvPr/>
          </p:nvCxnSpPr>
          <p:spPr>
            <a:xfrm>
              <a:off x="4914729" y="1486825"/>
              <a:ext cx="0" cy="249000"/>
            </a:xfrm>
            <a:prstGeom prst="straightConnector1">
              <a:avLst/>
            </a:prstGeom>
            <a:noFill/>
            <a:ln cap="flat" cmpd="sng" w="9525">
              <a:solidFill>
                <a:srgbClr val="666666"/>
              </a:solidFill>
              <a:prstDash val="solid"/>
              <a:round/>
              <a:headEnd len="med" w="med" type="none"/>
              <a:tailEnd len="med" w="med" type="none"/>
            </a:ln>
          </p:spPr>
        </p:cxnSp>
        <p:cxnSp>
          <p:nvCxnSpPr>
            <p:cNvPr id="740" name="Google Shape;740;p55"/>
            <p:cNvCxnSpPr/>
            <p:nvPr/>
          </p:nvCxnSpPr>
          <p:spPr>
            <a:xfrm>
              <a:off x="4958212" y="1488883"/>
              <a:ext cx="0" cy="308400"/>
            </a:xfrm>
            <a:prstGeom prst="straightConnector1">
              <a:avLst/>
            </a:prstGeom>
            <a:noFill/>
            <a:ln cap="flat" cmpd="sng" w="9525">
              <a:solidFill>
                <a:srgbClr val="666666"/>
              </a:solidFill>
              <a:prstDash val="solid"/>
              <a:round/>
              <a:headEnd len="med" w="med" type="none"/>
              <a:tailEnd len="med" w="med" type="none"/>
            </a:ln>
          </p:spPr>
        </p:cxnSp>
        <p:cxnSp>
          <p:nvCxnSpPr>
            <p:cNvPr id="741" name="Google Shape;741;p55"/>
            <p:cNvCxnSpPr/>
            <p:nvPr/>
          </p:nvCxnSpPr>
          <p:spPr>
            <a:xfrm>
              <a:off x="5005478" y="1484768"/>
              <a:ext cx="0" cy="360000"/>
            </a:xfrm>
            <a:prstGeom prst="straightConnector1">
              <a:avLst/>
            </a:prstGeom>
            <a:noFill/>
            <a:ln cap="flat" cmpd="sng" w="9525">
              <a:solidFill>
                <a:srgbClr val="666666"/>
              </a:solidFill>
              <a:prstDash val="solid"/>
              <a:round/>
              <a:headEnd len="med" w="med" type="none"/>
              <a:tailEnd len="med" w="med" type="none"/>
            </a:ln>
          </p:spPr>
        </p:cxnSp>
        <p:cxnSp>
          <p:nvCxnSpPr>
            <p:cNvPr id="742" name="Google Shape;742;p55"/>
            <p:cNvCxnSpPr/>
            <p:nvPr/>
          </p:nvCxnSpPr>
          <p:spPr>
            <a:xfrm>
              <a:off x="5046688" y="1482710"/>
              <a:ext cx="0" cy="427800"/>
            </a:xfrm>
            <a:prstGeom prst="straightConnector1">
              <a:avLst/>
            </a:prstGeom>
            <a:noFill/>
            <a:ln cap="flat" cmpd="sng" w="9525">
              <a:solidFill>
                <a:srgbClr val="666666"/>
              </a:solidFill>
              <a:prstDash val="solid"/>
              <a:round/>
              <a:headEnd len="med" w="med" type="none"/>
              <a:tailEnd len="med" w="med" type="none"/>
            </a:ln>
          </p:spPr>
        </p:cxnSp>
        <p:sp>
          <p:nvSpPr>
            <p:cNvPr id="743" name="Google Shape;743;p55"/>
            <p:cNvSpPr/>
            <p:nvPr/>
          </p:nvSpPr>
          <p:spPr>
            <a:xfrm>
              <a:off x="4720275" y="1429404"/>
              <a:ext cx="377700" cy="55800"/>
            </a:xfrm>
            <a:prstGeom prst="rect">
              <a:avLst/>
            </a:prstGeom>
            <a:solidFill>
              <a:srgbClr val="F6B26B"/>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grpSp>
      <p:cxnSp>
        <p:nvCxnSpPr>
          <p:cNvPr id="744" name="Google Shape;744;p55"/>
          <p:cNvCxnSpPr>
            <a:stCxn id="745" idx="3"/>
            <a:endCxn id="681" idx="1"/>
          </p:cNvCxnSpPr>
          <p:nvPr/>
        </p:nvCxnSpPr>
        <p:spPr>
          <a:xfrm>
            <a:off x="835970" y="3599056"/>
            <a:ext cx="305700" cy="300"/>
          </a:xfrm>
          <a:prstGeom prst="straightConnector1">
            <a:avLst/>
          </a:prstGeom>
          <a:noFill/>
          <a:ln cap="flat" cmpd="sng" w="38100">
            <a:solidFill>
              <a:schemeClr val="accent2"/>
            </a:solidFill>
            <a:prstDash val="solid"/>
            <a:round/>
            <a:headEnd len="med" w="med" type="none"/>
            <a:tailEnd len="med" w="med" type="none"/>
          </a:ln>
        </p:spPr>
      </p:cxnSp>
      <p:grpSp>
        <p:nvGrpSpPr>
          <p:cNvPr id="746" name="Google Shape;746;p55"/>
          <p:cNvGrpSpPr/>
          <p:nvPr/>
        </p:nvGrpSpPr>
        <p:grpSpPr>
          <a:xfrm>
            <a:off x="458270" y="3348254"/>
            <a:ext cx="377700" cy="501937"/>
            <a:chOff x="4720275" y="1429404"/>
            <a:chExt cx="377700" cy="501937"/>
          </a:xfrm>
        </p:grpSpPr>
        <p:sp>
          <p:nvSpPr>
            <p:cNvPr id="745" name="Google Shape;745;p55"/>
            <p:cNvSpPr/>
            <p:nvPr/>
          </p:nvSpPr>
          <p:spPr>
            <a:xfrm>
              <a:off x="4720275" y="1652306"/>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47" name="Google Shape;747;p55"/>
            <p:cNvSpPr/>
            <p:nvPr/>
          </p:nvSpPr>
          <p:spPr>
            <a:xfrm>
              <a:off x="4720275" y="1596572"/>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48" name="Google Shape;748;p55"/>
            <p:cNvSpPr/>
            <p:nvPr/>
          </p:nvSpPr>
          <p:spPr>
            <a:xfrm>
              <a:off x="4720275" y="1540838"/>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49" name="Google Shape;749;p55"/>
            <p:cNvSpPr/>
            <p:nvPr/>
          </p:nvSpPr>
          <p:spPr>
            <a:xfrm>
              <a:off x="4720275" y="1485104"/>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50" name="Google Shape;750;p55"/>
            <p:cNvSpPr/>
            <p:nvPr/>
          </p:nvSpPr>
          <p:spPr>
            <a:xfrm>
              <a:off x="4720275" y="1875241"/>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51" name="Google Shape;751;p55"/>
            <p:cNvSpPr/>
            <p:nvPr/>
          </p:nvSpPr>
          <p:spPr>
            <a:xfrm>
              <a:off x="4720275" y="1819507"/>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52" name="Google Shape;752;p55"/>
            <p:cNvSpPr/>
            <p:nvPr/>
          </p:nvSpPr>
          <p:spPr>
            <a:xfrm>
              <a:off x="4720275" y="1763773"/>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53" name="Google Shape;753;p55"/>
            <p:cNvSpPr/>
            <p:nvPr/>
          </p:nvSpPr>
          <p:spPr>
            <a:xfrm>
              <a:off x="4720275" y="1708039"/>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754" name="Google Shape;754;p55"/>
            <p:cNvCxnSpPr/>
            <p:nvPr/>
          </p:nvCxnSpPr>
          <p:spPr>
            <a:xfrm>
              <a:off x="4748325" y="1482482"/>
              <a:ext cx="0" cy="33000"/>
            </a:xfrm>
            <a:prstGeom prst="straightConnector1">
              <a:avLst/>
            </a:prstGeom>
            <a:noFill/>
            <a:ln cap="flat" cmpd="sng" w="9525">
              <a:solidFill>
                <a:srgbClr val="666666"/>
              </a:solidFill>
              <a:prstDash val="solid"/>
              <a:round/>
              <a:headEnd len="med" w="med" type="none"/>
              <a:tailEnd len="med" w="med" type="none"/>
            </a:ln>
          </p:spPr>
        </p:cxnSp>
        <p:cxnSp>
          <p:nvCxnSpPr>
            <p:cNvPr id="755" name="Google Shape;755;p55"/>
            <p:cNvCxnSpPr/>
            <p:nvPr/>
          </p:nvCxnSpPr>
          <p:spPr>
            <a:xfrm>
              <a:off x="4782370" y="1484768"/>
              <a:ext cx="0" cy="88500"/>
            </a:xfrm>
            <a:prstGeom prst="straightConnector1">
              <a:avLst/>
            </a:prstGeom>
            <a:noFill/>
            <a:ln cap="flat" cmpd="sng" w="9525">
              <a:solidFill>
                <a:srgbClr val="666666"/>
              </a:solidFill>
              <a:prstDash val="solid"/>
              <a:round/>
              <a:headEnd len="med" w="med" type="none"/>
              <a:tailEnd len="med" w="med" type="none"/>
            </a:ln>
          </p:spPr>
        </p:cxnSp>
        <p:cxnSp>
          <p:nvCxnSpPr>
            <p:cNvPr id="756" name="Google Shape;756;p55"/>
            <p:cNvCxnSpPr/>
            <p:nvPr/>
          </p:nvCxnSpPr>
          <p:spPr>
            <a:xfrm>
              <a:off x="4816415" y="1486825"/>
              <a:ext cx="0" cy="139800"/>
            </a:xfrm>
            <a:prstGeom prst="straightConnector1">
              <a:avLst/>
            </a:prstGeom>
            <a:noFill/>
            <a:ln cap="flat" cmpd="sng" w="9525">
              <a:solidFill>
                <a:srgbClr val="666666"/>
              </a:solidFill>
              <a:prstDash val="solid"/>
              <a:round/>
              <a:headEnd len="med" w="med" type="none"/>
              <a:tailEnd len="med" w="med" type="none"/>
            </a:ln>
          </p:spPr>
        </p:cxnSp>
        <p:cxnSp>
          <p:nvCxnSpPr>
            <p:cNvPr id="757" name="Google Shape;757;p55"/>
            <p:cNvCxnSpPr/>
            <p:nvPr/>
          </p:nvCxnSpPr>
          <p:spPr>
            <a:xfrm>
              <a:off x="4865572" y="1484768"/>
              <a:ext cx="0" cy="197400"/>
            </a:xfrm>
            <a:prstGeom prst="straightConnector1">
              <a:avLst/>
            </a:prstGeom>
            <a:noFill/>
            <a:ln cap="flat" cmpd="sng" w="9525">
              <a:solidFill>
                <a:srgbClr val="666666"/>
              </a:solidFill>
              <a:prstDash val="solid"/>
              <a:round/>
              <a:headEnd len="med" w="med" type="none"/>
              <a:tailEnd len="med" w="med" type="none"/>
            </a:ln>
          </p:spPr>
        </p:cxnSp>
        <p:cxnSp>
          <p:nvCxnSpPr>
            <p:cNvPr id="758" name="Google Shape;758;p55"/>
            <p:cNvCxnSpPr/>
            <p:nvPr/>
          </p:nvCxnSpPr>
          <p:spPr>
            <a:xfrm>
              <a:off x="4914729" y="1486825"/>
              <a:ext cx="0" cy="249000"/>
            </a:xfrm>
            <a:prstGeom prst="straightConnector1">
              <a:avLst/>
            </a:prstGeom>
            <a:noFill/>
            <a:ln cap="flat" cmpd="sng" w="9525">
              <a:solidFill>
                <a:srgbClr val="666666"/>
              </a:solidFill>
              <a:prstDash val="solid"/>
              <a:round/>
              <a:headEnd len="med" w="med" type="none"/>
              <a:tailEnd len="med" w="med" type="none"/>
            </a:ln>
          </p:spPr>
        </p:cxnSp>
        <p:cxnSp>
          <p:nvCxnSpPr>
            <p:cNvPr id="759" name="Google Shape;759;p55"/>
            <p:cNvCxnSpPr/>
            <p:nvPr/>
          </p:nvCxnSpPr>
          <p:spPr>
            <a:xfrm>
              <a:off x="4958212" y="1488883"/>
              <a:ext cx="0" cy="308400"/>
            </a:xfrm>
            <a:prstGeom prst="straightConnector1">
              <a:avLst/>
            </a:prstGeom>
            <a:noFill/>
            <a:ln cap="flat" cmpd="sng" w="9525">
              <a:solidFill>
                <a:srgbClr val="666666"/>
              </a:solidFill>
              <a:prstDash val="solid"/>
              <a:round/>
              <a:headEnd len="med" w="med" type="none"/>
              <a:tailEnd len="med" w="med" type="none"/>
            </a:ln>
          </p:spPr>
        </p:cxnSp>
        <p:cxnSp>
          <p:nvCxnSpPr>
            <p:cNvPr id="760" name="Google Shape;760;p55"/>
            <p:cNvCxnSpPr/>
            <p:nvPr/>
          </p:nvCxnSpPr>
          <p:spPr>
            <a:xfrm>
              <a:off x="5005478" y="1484768"/>
              <a:ext cx="0" cy="360000"/>
            </a:xfrm>
            <a:prstGeom prst="straightConnector1">
              <a:avLst/>
            </a:prstGeom>
            <a:noFill/>
            <a:ln cap="flat" cmpd="sng" w="9525">
              <a:solidFill>
                <a:srgbClr val="666666"/>
              </a:solidFill>
              <a:prstDash val="solid"/>
              <a:round/>
              <a:headEnd len="med" w="med" type="none"/>
              <a:tailEnd len="med" w="med" type="none"/>
            </a:ln>
          </p:spPr>
        </p:cxnSp>
        <p:cxnSp>
          <p:nvCxnSpPr>
            <p:cNvPr id="761" name="Google Shape;761;p55"/>
            <p:cNvCxnSpPr/>
            <p:nvPr/>
          </p:nvCxnSpPr>
          <p:spPr>
            <a:xfrm>
              <a:off x="5046688" y="1482710"/>
              <a:ext cx="0" cy="427800"/>
            </a:xfrm>
            <a:prstGeom prst="straightConnector1">
              <a:avLst/>
            </a:prstGeom>
            <a:noFill/>
            <a:ln cap="flat" cmpd="sng" w="9525">
              <a:solidFill>
                <a:srgbClr val="666666"/>
              </a:solidFill>
              <a:prstDash val="solid"/>
              <a:round/>
              <a:headEnd len="med" w="med" type="none"/>
              <a:tailEnd len="med" w="med" type="none"/>
            </a:ln>
          </p:spPr>
        </p:cxnSp>
        <p:sp>
          <p:nvSpPr>
            <p:cNvPr id="762" name="Google Shape;762;p55"/>
            <p:cNvSpPr/>
            <p:nvPr/>
          </p:nvSpPr>
          <p:spPr>
            <a:xfrm>
              <a:off x="4720275" y="1429404"/>
              <a:ext cx="377700" cy="55800"/>
            </a:xfrm>
            <a:prstGeom prst="rect">
              <a:avLst/>
            </a:prstGeom>
            <a:solidFill>
              <a:srgbClr val="F6B26B"/>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grpSp>
      <p:grpSp>
        <p:nvGrpSpPr>
          <p:cNvPr id="763" name="Google Shape;763;p55"/>
          <p:cNvGrpSpPr/>
          <p:nvPr/>
        </p:nvGrpSpPr>
        <p:grpSpPr>
          <a:xfrm>
            <a:off x="458370" y="3964204"/>
            <a:ext cx="377700" cy="501937"/>
            <a:chOff x="4720275" y="1429404"/>
            <a:chExt cx="377700" cy="501937"/>
          </a:xfrm>
        </p:grpSpPr>
        <p:sp>
          <p:nvSpPr>
            <p:cNvPr id="764" name="Google Shape;764;p55"/>
            <p:cNvSpPr/>
            <p:nvPr/>
          </p:nvSpPr>
          <p:spPr>
            <a:xfrm>
              <a:off x="4720275" y="1652306"/>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65" name="Google Shape;765;p55"/>
            <p:cNvSpPr/>
            <p:nvPr/>
          </p:nvSpPr>
          <p:spPr>
            <a:xfrm>
              <a:off x="4720275" y="1596572"/>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66" name="Google Shape;766;p55"/>
            <p:cNvSpPr/>
            <p:nvPr/>
          </p:nvSpPr>
          <p:spPr>
            <a:xfrm>
              <a:off x="4720275" y="1540838"/>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67" name="Google Shape;767;p55"/>
            <p:cNvSpPr/>
            <p:nvPr/>
          </p:nvSpPr>
          <p:spPr>
            <a:xfrm>
              <a:off x="4720275" y="1485104"/>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68" name="Google Shape;768;p55"/>
            <p:cNvSpPr/>
            <p:nvPr/>
          </p:nvSpPr>
          <p:spPr>
            <a:xfrm>
              <a:off x="4720275" y="1875241"/>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69" name="Google Shape;769;p55"/>
            <p:cNvSpPr/>
            <p:nvPr/>
          </p:nvSpPr>
          <p:spPr>
            <a:xfrm>
              <a:off x="4720275" y="1819507"/>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70" name="Google Shape;770;p55"/>
            <p:cNvSpPr/>
            <p:nvPr/>
          </p:nvSpPr>
          <p:spPr>
            <a:xfrm>
              <a:off x="4720275" y="1763773"/>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71" name="Google Shape;771;p55"/>
            <p:cNvSpPr/>
            <p:nvPr/>
          </p:nvSpPr>
          <p:spPr>
            <a:xfrm>
              <a:off x="4720275" y="1708039"/>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772" name="Google Shape;772;p55"/>
            <p:cNvCxnSpPr/>
            <p:nvPr/>
          </p:nvCxnSpPr>
          <p:spPr>
            <a:xfrm>
              <a:off x="4748325" y="1482482"/>
              <a:ext cx="0" cy="33000"/>
            </a:xfrm>
            <a:prstGeom prst="straightConnector1">
              <a:avLst/>
            </a:prstGeom>
            <a:noFill/>
            <a:ln cap="flat" cmpd="sng" w="9525">
              <a:solidFill>
                <a:srgbClr val="666666"/>
              </a:solidFill>
              <a:prstDash val="solid"/>
              <a:round/>
              <a:headEnd len="med" w="med" type="none"/>
              <a:tailEnd len="med" w="med" type="none"/>
            </a:ln>
          </p:spPr>
        </p:cxnSp>
        <p:cxnSp>
          <p:nvCxnSpPr>
            <p:cNvPr id="773" name="Google Shape;773;p55"/>
            <p:cNvCxnSpPr/>
            <p:nvPr/>
          </p:nvCxnSpPr>
          <p:spPr>
            <a:xfrm>
              <a:off x="4782370" y="1484768"/>
              <a:ext cx="0" cy="88500"/>
            </a:xfrm>
            <a:prstGeom prst="straightConnector1">
              <a:avLst/>
            </a:prstGeom>
            <a:noFill/>
            <a:ln cap="flat" cmpd="sng" w="9525">
              <a:solidFill>
                <a:srgbClr val="666666"/>
              </a:solidFill>
              <a:prstDash val="solid"/>
              <a:round/>
              <a:headEnd len="med" w="med" type="none"/>
              <a:tailEnd len="med" w="med" type="none"/>
            </a:ln>
          </p:spPr>
        </p:cxnSp>
        <p:cxnSp>
          <p:nvCxnSpPr>
            <p:cNvPr id="774" name="Google Shape;774;p55"/>
            <p:cNvCxnSpPr/>
            <p:nvPr/>
          </p:nvCxnSpPr>
          <p:spPr>
            <a:xfrm>
              <a:off x="4816415" y="1486825"/>
              <a:ext cx="0" cy="139800"/>
            </a:xfrm>
            <a:prstGeom prst="straightConnector1">
              <a:avLst/>
            </a:prstGeom>
            <a:noFill/>
            <a:ln cap="flat" cmpd="sng" w="9525">
              <a:solidFill>
                <a:srgbClr val="666666"/>
              </a:solidFill>
              <a:prstDash val="solid"/>
              <a:round/>
              <a:headEnd len="med" w="med" type="none"/>
              <a:tailEnd len="med" w="med" type="none"/>
            </a:ln>
          </p:spPr>
        </p:cxnSp>
        <p:cxnSp>
          <p:nvCxnSpPr>
            <p:cNvPr id="775" name="Google Shape;775;p55"/>
            <p:cNvCxnSpPr/>
            <p:nvPr/>
          </p:nvCxnSpPr>
          <p:spPr>
            <a:xfrm>
              <a:off x="4865572" y="1484768"/>
              <a:ext cx="0" cy="197400"/>
            </a:xfrm>
            <a:prstGeom prst="straightConnector1">
              <a:avLst/>
            </a:prstGeom>
            <a:noFill/>
            <a:ln cap="flat" cmpd="sng" w="9525">
              <a:solidFill>
                <a:srgbClr val="666666"/>
              </a:solidFill>
              <a:prstDash val="solid"/>
              <a:round/>
              <a:headEnd len="med" w="med" type="none"/>
              <a:tailEnd len="med" w="med" type="none"/>
            </a:ln>
          </p:spPr>
        </p:cxnSp>
        <p:cxnSp>
          <p:nvCxnSpPr>
            <p:cNvPr id="776" name="Google Shape;776;p55"/>
            <p:cNvCxnSpPr/>
            <p:nvPr/>
          </p:nvCxnSpPr>
          <p:spPr>
            <a:xfrm>
              <a:off x="4914729" y="1486825"/>
              <a:ext cx="0" cy="249000"/>
            </a:xfrm>
            <a:prstGeom prst="straightConnector1">
              <a:avLst/>
            </a:prstGeom>
            <a:noFill/>
            <a:ln cap="flat" cmpd="sng" w="9525">
              <a:solidFill>
                <a:srgbClr val="666666"/>
              </a:solidFill>
              <a:prstDash val="solid"/>
              <a:round/>
              <a:headEnd len="med" w="med" type="none"/>
              <a:tailEnd len="med" w="med" type="none"/>
            </a:ln>
          </p:spPr>
        </p:cxnSp>
        <p:cxnSp>
          <p:nvCxnSpPr>
            <p:cNvPr id="777" name="Google Shape;777;p55"/>
            <p:cNvCxnSpPr/>
            <p:nvPr/>
          </p:nvCxnSpPr>
          <p:spPr>
            <a:xfrm>
              <a:off x="4958212" y="1488883"/>
              <a:ext cx="0" cy="308400"/>
            </a:xfrm>
            <a:prstGeom prst="straightConnector1">
              <a:avLst/>
            </a:prstGeom>
            <a:noFill/>
            <a:ln cap="flat" cmpd="sng" w="9525">
              <a:solidFill>
                <a:srgbClr val="666666"/>
              </a:solidFill>
              <a:prstDash val="solid"/>
              <a:round/>
              <a:headEnd len="med" w="med" type="none"/>
              <a:tailEnd len="med" w="med" type="none"/>
            </a:ln>
          </p:spPr>
        </p:cxnSp>
        <p:cxnSp>
          <p:nvCxnSpPr>
            <p:cNvPr id="778" name="Google Shape;778;p55"/>
            <p:cNvCxnSpPr/>
            <p:nvPr/>
          </p:nvCxnSpPr>
          <p:spPr>
            <a:xfrm>
              <a:off x="5005478" y="1484768"/>
              <a:ext cx="0" cy="360000"/>
            </a:xfrm>
            <a:prstGeom prst="straightConnector1">
              <a:avLst/>
            </a:prstGeom>
            <a:noFill/>
            <a:ln cap="flat" cmpd="sng" w="9525">
              <a:solidFill>
                <a:srgbClr val="666666"/>
              </a:solidFill>
              <a:prstDash val="solid"/>
              <a:round/>
              <a:headEnd len="med" w="med" type="none"/>
              <a:tailEnd len="med" w="med" type="none"/>
            </a:ln>
          </p:spPr>
        </p:cxnSp>
        <p:cxnSp>
          <p:nvCxnSpPr>
            <p:cNvPr id="779" name="Google Shape;779;p55"/>
            <p:cNvCxnSpPr/>
            <p:nvPr/>
          </p:nvCxnSpPr>
          <p:spPr>
            <a:xfrm>
              <a:off x="5046688" y="1482710"/>
              <a:ext cx="0" cy="427800"/>
            </a:xfrm>
            <a:prstGeom prst="straightConnector1">
              <a:avLst/>
            </a:prstGeom>
            <a:noFill/>
            <a:ln cap="flat" cmpd="sng" w="9525">
              <a:solidFill>
                <a:srgbClr val="666666"/>
              </a:solidFill>
              <a:prstDash val="solid"/>
              <a:round/>
              <a:headEnd len="med" w="med" type="none"/>
              <a:tailEnd len="med" w="med" type="none"/>
            </a:ln>
          </p:spPr>
        </p:cxnSp>
        <p:sp>
          <p:nvSpPr>
            <p:cNvPr id="780" name="Google Shape;780;p55"/>
            <p:cNvSpPr/>
            <p:nvPr/>
          </p:nvSpPr>
          <p:spPr>
            <a:xfrm>
              <a:off x="4720275" y="1429404"/>
              <a:ext cx="377700" cy="55800"/>
            </a:xfrm>
            <a:prstGeom prst="rect">
              <a:avLst/>
            </a:prstGeom>
            <a:solidFill>
              <a:srgbClr val="F6B26B"/>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grpSp>
      <p:cxnSp>
        <p:nvCxnSpPr>
          <p:cNvPr id="781" name="Google Shape;781;p55"/>
          <p:cNvCxnSpPr>
            <a:stCxn id="654" idx="3"/>
            <a:endCxn id="630" idx="1"/>
          </p:cNvCxnSpPr>
          <p:nvPr/>
        </p:nvCxnSpPr>
        <p:spPr>
          <a:xfrm flipH="1" rot="10800000">
            <a:off x="6126150" y="2983319"/>
            <a:ext cx="770400" cy="615900"/>
          </a:xfrm>
          <a:prstGeom prst="straightConnector1">
            <a:avLst/>
          </a:prstGeom>
          <a:noFill/>
          <a:ln cap="flat" cmpd="sng" w="38100">
            <a:solidFill>
              <a:schemeClr val="accent2"/>
            </a:solidFill>
            <a:prstDash val="solid"/>
            <a:round/>
            <a:headEnd len="med" w="med" type="none"/>
            <a:tailEnd len="med" w="med" type="none"/>
          </a:ln>
        </p:spPr>
      </p:cxnSp>
      <p:sp>
        <p:nvSpPr>
          <p:cNvPr id="650" name="Google Shape;650;p55"/>
          <p:cNvSpPr/>
          <p:nvPr/>
        </p:nvSpPr>
        <p:spPr>
          <a:xfrm>
            <a:off x="5649750" y="2745081"/>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54" name="Google Shape;654;p55"/>
          <p:cNvSpPr/>
          <p:nvPr/>
        </p:nvSpPr>
        <p:spPr>
          <a:xfrm>
            <a:off x="5649750" y="3361019"/>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58" name="Google Shape;658;p55"/>
          <p:cNvSpPr/>
          <p:nvPr/>
        </p:nvSpPr>
        <p:spPr>
          <a:xfrm>
            <a:off x="5649750" y="397694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grpSp>
        <p:nvGrpSpPr>
          <p:cNvPr id="782" name="Google Shape;782;p55"/>
          <p:cNvGrpSpPr/>
          <p:nvPr/>
        </p:nvGrpSpPr>
        <p:grpSpPr>
          <a:xfrm>
            <a:off x="4966395" y="2116404"/>
            <a:ext cx="377700" cy="501937"/>
            <a:chOff x="4720275" y="1429404"/>
            <a:chExt cx="377700" cy="501937"/>
          </a:xfrm>
        </p:grpSpPr>
        <p:sp>
          <p:nvSpPr>
            <p:cNvPr id="783" name="Google Shape;783;p55"/>
            <p:cNvSpPr/>
            <p:nvPr/>
          </p:nvSpPr>
          <p:spPr>
            <a:xfrm>
              <a:off x="4720275" y="1652306"/>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84" name="Google Shape;784;p55"/>
            <p:cNvSpPr/>
            <p:nvPr/>
          </p:nvSpPr>
          <p:spPr>
            <a:xfrm>
              <a:off x="4720275" y="1596572"/>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85" name="Google Shape;785;p55"/>
            <p:cNvSpPr/>
            <p:nvPr/>
          </p:nvSpPr>
          <p:spPr>
            <a:xfrm>
              <a:off x="4720275" y="1540838"/>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86" name="Google Shape;786;p55"/>
            <p:cNvSpPr/>
            <p:nvPr/>
          </p:nvSpPr>
          <p:spPr>
            <a:xfrm>
              <a:off x="4720275" y="1485104"/>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87" name="Google Shape;787;p55"/>
            <p:cNvSpPr/>
            <p:nvPr/>
          </p:nvSpPr>
          <p:spPr>
            <a:xfrm>
              <a:off x="4720275" y="1875241"/>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88" name="Google Shape;788;p55"/>
            <p:cNvSpPr/>
            <p:nvPr/>
          </p:nvSpPr>
          <p:spPr>
            <a:xfrm>
              <a:off x="4720275" y="1819507"/>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89" name="Google Shape;789;p55"/>
            <p:cNvSpPr/>
            <p:nvPr/>
          </p:nvSpPr>
          <p:spPr>
            <a:xfrm>
              <a:off x="4720275" y="1763773"/>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90" name="Google Shape;790;p55"/>
            <p:cNvSpPr/>
            <p:nvPr/>
          </p:nvSpPr>
          <p:spPr>
            <a:xfrm>
              <a:off x="4720275" y="1708039"/>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791" name="Google Shape;791;p55"/>
            <p:cNvCxnSpPr/>
            <p:nvPr/>
          </p:nvCxnSpPr>
          <p:spPr>
            <a:xfrm>
              <a:off x="4748325" y="1482482"/>
              <a:ext cx="0" cy="33000"/>
            </a:xfrm>
            <a:prstGeom prst="straightConnector1">
              <a:avLst/>
            </a:prstGeom>
            <a:noFill/>
            <a:ln cap="flat" cmpd="sng" w="9525">
              <a:solidFill>
                <a:srgbClr val="666666"/>
              </a:solidFill>
              <a:prstDash val="solid"/>
              <a:round/>
              <a:headEnd len="med" w="med" type="none"/>
              <a:tailEnd len="med" w="med" type="none"/>
            </a:ln>
          </p:spPr>
        </p:cxnSp>
        <p:cxnSp>
          <p:nvCxnSpPr>
            <p:cNvPr id="792" name="Google Shape;792;p55"/>
            <p:cNvCxnSpPr/>
            <p:nvPr/>
          </p:nvCxnSpPr>
          <p:spPr>
            <a:xfrm>
              <a:off x="4782370" y="1484768"/>
              <a:ext cx="0" cy="88500"/>
            </a:xfrm>
            <a:prstGeom prst="straightConnector1">
              <a:avLst/>
            </a:prstGeom>
            <a:noFill/>
            <a:ln cap="flat" cmpd="sng" w="9525">
              <a:solidFill>
                <a:srgbClr val="666666"/>
              </a:solidFill>
              <a:prstDash val="solid"/>
              <a:round/>
              <a:headEnd len="med" w="med" type="none"/>
              <a:tailEnd len="med" w="med" type="none"/>
            </a:ln>
          </p:spPr>
        </p:cxnSp>
        <p:cxnSp>
          <p:nvCxnSpPr>
            <p:cNvPr id="793" name="Google Shape;793;p55"/>
            <p:cNvCxnSpPr/>
            <p:nvPr/>
          </p:nvCxnSpPr>
          <p:spPr>
            <a:xfrm>
              <a:off x="4816415" y="1486825"/>
              <a:ext cx="0" cy="139800"/>
            </a:xfrm>
            <a:prstGeom prst="straightConnector1">
              <a:avLst/>
            </a:prstGeom>
            <a:noFill/>
            <a:ln cap="flat" cmpd="sng" w="9525">
              <a:solidFill>
                <a:srgbClr val="666666"/>
              </a:solidFill>
              <a:prstDash val="solid"/>
              <a:round/>
              <a:headEnd len="med" w="med" type="none"/>
              <a:tailEnd len="med" w="med" type="none"/>
            </a:ln>
          </p:spPr>
        </p:cxnSp>
        <p:cxnSp>
          <p:nvCxnSpPr>
            <p:cNvPr id="794" name="Google Shape;794;p55"/>
            <p:cNvCxnSpPr/>
            <p:nvPr/>
          </p:nvCxnSpPr>
          <p:spPr>
            <a:xfrm>
              <a:off x="4865572" y="1484768"/>
              <a:ext cx="0" cy="197400"/>
            </a:xfrm>
            <a:prstGeom prst="straightConnector1">
              <a:avLst/>
            </a:prstGeom>
            <a:noFill/>
            <a:ln cap="flat" cmpd="sng" w="9525">
              <a:solidFill>
                <a:srgbClr val="666666"/>
              </a:solidFill>
              <a:prstDash val="solid"/>
              <a:round/>
              <a:headEnd len="med" w="med" type="none"/>
              <a:tailEnd len="med" w="med" type="none"/>
            </a:ln>
          </p:spPr>
        </p:cxnSp>
        <p:cxnSp>
          <p:nvCxnSpPr>
            <p:cNvPr id="795" name="Google Shape;795;p55"/>
            <p:cNvCxnSpPr/>
            <p:nvPr/>
          </p:nvCxnSpPr>
          <p:spPr>
            <a:xfrm>
              <a:off x="4914729" y="1486825"/>
              <a:ext cx="0" cy="249000"/>
            </a:xfrm>
            <a:prstGeom prst="straightConnector1">
              <a:avLst/>
            </a:prstGeom>
            <a:noFill/>
            <a:ln cap="flat" cmpd="sng" w="9525">
              <a:solidFill>
                <a:srgbClr val="666666"/>
              </a:solidFill>
              <a:prstDash val="solid"/>
              <a:round/>
              <a:headEnd len="med" w="med" type="none"/>
              <a:tailEnd len="med" w="med" type="none"/>
            </a:ln>
          </p:spPr>
        </p:cxnSp>
        <p:cxnSp>
          <p:nvCxnSpPr>
            <p:cNvPr id="796" name="Google Shape;796;p55"/>
            <p:cNvCxnSpPr/>
            <p:nvPr/>
          </p:nvCxnSpPr>
          <p:spPr>
            <a:xfrm>
              <a:off x="4958212" y="1488883"/>
              <a:ext cx="0" cy="308400"/>
            </a:xfrm>
            <a:prstGeom prst="straightConnector1">
              <a:avLst/>
            </a:prstGeom>
            <a:noFill/>
            <a:ln cap="flat" cmpd="sng" w="9525">
              <a:solidFill>
                <a:srgbClr val="666666"/>
              </a:solidFill>
              <a:prstDash val="solid"/>
              <a:round/>
              <a:headEnd len="med" w="med" type="none"/>
              <a:tailEnd len="med" w="med" type="none"/>
            </a:ln>
          </p:spPr>
        </p:cxnSp>
        <p:cxnSp>
          <p:nvCxnSpPr>
            <p:cNvPr id="797" name="Google Shape;797;p55"/>
            <p:cNvCxnSpPr/>
            <p:nvPr/>
          </p:nvCxnSpPr>
          <p:spPr>
            <a:xfrm>
              <a:off x="5005478" y="1484768"/>
              <a:ext cx="0" cy="360000"/>
            </a:xfrm>
            <a:prstGeom prst="straightConnector1">
              <a:avLst/>
            </a:prstGeom>
            <a:noFill/>
            <a:ln cap="flat" cmpd="sng" w="9525">
              <a:solidFill>
                <a:srgbClr val="666666"/>
              </a:solidFill>
              <a:prstDash val="solid"/>
              <a:round/>
              <a:headEnd len="med" w="med" type="none"/>
              <a:tailEnd len="med" w="med" type="none"/>
            </a:ln>
          </p:spPr>
        </p:cxnSp>
        <p:cxnSp>
          <p:nvCxnSpPr>
            <p:cNvPr id="798" name="Google Shape;798;p55"/>
            <p:cNvCxnSpPr/>
            <p:nvPr/>
          </p:nvCxnSpPr>
          <p:spPr>
            <a:xfrm>
              <a:off x="5046688" y="1482710"/>
              <a:ext cx="0" cy="427800"/>
            </a:xfrm>
            <a:prstGeom prst="straightConnector1">
              <a:avLst/>
            </a:prstGeom>
            <a:noFill/>
            <a:ln cap="flat" cmpd="sng" w="9525">
              <a:solidFill>
                <a:srgbClr val="666666"/>
              </a:solidFill>
              <a:prstDash val="solid"/>
              <a:round/>
              <a:headEnd len="med" w="med" type="none"/>
              <a:tailEnd len="med" w="med" type="none"/>
            </a:ln>
          </p:spPr>
        </p:cxnSp>
        <p:sp>
          <p:nvSpPr>
            <p:cNvPr id="799" name="Google Shape;799;p55"/>
            <p:cNvSpPr/>
            <p:nvPr/>
          </p:nvSpPr>
          <p:spPr>
            <a:xfrm>
              <a:off x="4720275" y="1429404"/>
              <a:ext cx="377700" cy="55800"/>
            </a:xfrm>
            <a:prstGeom prst="rect">
              <a:avLst/>
            </a:prstGeom>
            <a:solidFill>
              <a:srgbClr val="F6B26B"/>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grpSp>
      <p:grpSp>
        <p:nvGrpSpPr>
          <p:cNvPr id="800" name="Google Shape;800;p55"/>
          <p:cNvGrpSpPr/>
          <p:nvPr/>
        </p:nvGrpSpPr>
        <p:grpSpPr>
          <a:xfrm>
            <a:off x="4966445" y="2732317"/>
            <a:ext cx="377700" cy="501937"/>
            <a:chOff x="4720275" y="1429404"/>
            <a:chExt cx="377700" cy="501937"/>
          </a:xfrm>
        </p:grpSpPr>
        <p:sp>
          <p:nvSpPr>
            <p:cNvPr id="664" name="Google Shape;664;p55"/>
            <p:cNvSpPr/>
            <p:nvPr/>
          </p:nvSpPr>
          <p:spPr>
            <a:xfrm>
              <a:off x="4720275" y="1652306"/>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01" name="Google Shape;801;p55"/>
            <p:cNvSpPr/>
            <p:nvPr/>
          </p:nvSpPr>
          <p:spPr>
            <a:xfrm>
              <a:off x="4720275" y="1596572"/>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02" name="Google Shape;802;p55"/>
            <p:cNvSpPr/>
            <p:nvPr/>
          </p:nvSpPr>
          <p:spPr>
            <a:xfrm>
              <a:off x="4720275" y="1540838"/>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03" name="Google Shape;803;p55"/>
            <p:cNvSpPr/>
            <p:nvPr/>
          </p:nvSpPr>
          <p:spPr>
            <a:xfrm>
              <a:off x="4720275" y="1485104"/>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04" name="Google Shape;804;p55"/>
            <p:cNvSpPr/>
            <p:nvPr/>
          </p:nvSpPr>
          <p:spPr>
            <a:xfrm>
              <a:off x="4720275" y="1875241"/>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05" name="Google Shape;805;p55"/>
            <p:cNvSpPr/>
            <p:nvPr/>
          </p:nvSpPr>
          <p:spPr>
            <a:xfrm>
              <a:off x="4720275" y="1819507"/>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06" name="Google Shape;806;p55"/>
            <p:cNvSpPr/>
            <p:nvPr/>
          </p:nvSpPr>
          <p:spPr>
            <a:xfrm>
              <a:off x="4720275" y="1763773"/>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07" name="Google Shape;807;p55"/>
            <p:cNvSpPr/>
            <p:nvPr/>
          </p:nvSpPr>
          <p:spPr>
            <a:xfrm>
              <a:off x="4720275" y="1708039"/>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808" name="Google Shape;808;p55"/>
            <p:cNvCxnSpPr/>
            <p:nvPr/>
          </p:nvCxnSpPr>
          <p:spPr>
            <a:xfrm>
              <a:off x="4748325" y="1482482"/>
              <a:ext cx="0" cy="33000"/>
            </a:xfrm>
            <a:prstGeom prst="straightConnector1">
              <a:avLst/>
            </a:prstGeom>
            <a:noFill/>
            <a:ln cap="flat" cmpd="sng" w="9525">
              <a:solidFill>
                <a:srgbClr val="666666"/>
              </a:solidFill>
              <a:prstDash val="solid"/>
              <a:round/>
              <a:headEnd len="med" w="med" type="none"/>
              <a:tailEnd len="med" w="med" type="none"/>
            </a:ln>
          </p:spPr>
        </p:cxnSp>
        <p:cxnSp>
          <p:nvCxnSpPr>
            <p:cNvPr id="809" name="Google Shape;809;p55"/>
            <p:cNvCxnSpPr/>
            <p:nvPr/>
          </p:nvCxnSpPr>
          <p:spPr>
            <a:xfrm>
              <a:off x="4782370" y="1484768"/>
              <a:ext cx="0" cy="88500"/>
            </a:xfrm>
            <a:prstGeom prst="straightConnector1">
              <a:avLst/>
            </a:prstGeom>
            <a:noFill/>
            <a:ln cap="flat" cmpd="sng" w="9525">
              <a:solidFill>
                <a:srgbClr val="666666"/>
              </a:solidFill>
              <a:prstDash val="solid"/>
              <a:round/>
              <a:headEnd len="med" w="med" type="none"/>
              <a:tailEnd len="med" w="med" type="none"/>
            </a:ln>
          </p:spPr>
        </p:cxnSp>
        <p:cxnSp>
          <p:nvCxnSpPr>
            <p:cNvPr id="810" name="Google Shape;810;p55"/>
            <p:cNvCxnSpPr/>
            <p:nvPr/>
          </p:nvCxnSpPr>
          <p:spPr>
            <a:xfrm>
              <a:off x="4816415" y="1486825"/>
              <a:ext cx="0" cy="139800"/>
            </a:xfrm>
            <a:prstGeom prst="straightConnector1">
              <a:avLst/>
            </a:prstGeom>
            <a:noFill/>
            <a:ln cap="flat" cmpd="sng" w="9525">
              <a:solidFill>
                <a:srgbClr val="666666"/>
              </a:solidFill>
              <a:prstDash val="solid"/>
              <a:round/>
              <a:headEnd len="med" w="med" type="none"/>
              <a:tailEnd len="med" w="med" type="none"/>
            </a:ln>
          </p:spPr>
        </p:cxnSp>
        <p:cxnSp>
          <p:nvCxnSpPr>
            <p:cNvPr id="811" name="Google Shape;811;p55"/>
            <p:cNvCxnSpPr/>
            <p:nvPr/>
          </p:nvCxnSpPr>
          <p:spPr>
            <a:xfrm>
              <a:off x="4865572" y="1484768"/>
              <a:ext cx="0" cy="197400"/>
            </a:xfrm>
            <a:prstGeom prst="straightConnector1">
              <a:avLst/>
            </a:prstGeom>
            <a:noFill/>
            <a:ln cap="flat" cmpd="sng" w="9525">
              <a:solidFill>
                <a:srgbClr val="666666"/>
              </a:solidFill>
              <a:prstDash val="solid"/>
              <a:round/>
              <a:headEnd len="med" w="med" type="none"/>
              <a:tailEnd len="med" w="med" type="none"/>
            </a:ln>
          </p:spPr>
        </p:cxnSp>
        <p:cxnSp>
          <p:nvCxnSpPr>
            <p:cNvPr id="812" name="Google Shape;812;p55"/>
            <p:cNvCxnSpPr/>
            <p:nvPr/>
          </p:nvCxnSpPr>
          <p:spPr>
            <a:xfrm>
              <a:off x="4914729" y="1486825"/>
              <a:ext cx="0" cy="249000"/>
            </a:xfrm>
            <a:prstGeom prst="straightConnector1">
              <a:avLst/>
            </a:prstGeom>
            <a:noFill/>
            <a:ln cap="flat" cmpd="sng" w="9525">
              <a:solidFill>
                <a:srgbClr val="666666"/>
              </a:solidFill>
              <a:prstDash val="solid"/>
              <a:round/>
              <a:headEnd len="med" w="med" type="none"/>
              <a:tailEnd len="med" w="med" type="none"/>
            </a:ln>
          </p:spPr>
        </p:cxnSp>
        <p:cxnSp>
          <p:nvCxnSpPr>
            <p:cNvPr id="813" name="Google Shape;813;p55"/>
            <p:cNvCxnSpPr/>
            <p:nvPr/>
          </p:nvCxnSpPr>
          <p:spPr>
            <a:xfrm>
              <a:off x="4958212" y="1488883"/>
              <a:ext cx="0" cy="308400"/>
            </a:xfrm>
            <a:prstGeom prst="straightConnector1">
              <a:avLst/>
            </a:prstGeom>
            <a:noFill/>
            <a:ln cap="flat" cmpd="sng" w="9525">
              <a:solidFill>
                <a:srgbClr val="666666"/>
              </a:solidFill>
              <a:prstDash val="solid"/>
              <a:round/>
              <a:headEnd len="med" w="med" type="none"/>
              <a:tailEnd len="med" w="med" type="none"/>
            </a:ln>
          </p:spPr>
        </p:cxnSp>
        <p:cxnSp>
          <p:nvCxnSpPr>
            <p:cNvPr id="814" name="Google Shape;814;p55"/>
            <p:cNvCxnSpPr/>
            <p:nvPr/>
          </p:nvCxnSpPr>
          <p:spPr>
            <a:xfrm>
              <a:off x="5005478" y="1484768"/>
              <a:ext cx="0" cy="360000"/>
            </a:xfrm>
            <a:prstGeom prst="straightConnector1">
              <a:avLst/>
            </a:prstGeom>
            <a:noFill/>
            <a:ln cap="flat" cmpd="sng" w="9525">
              <a:solidFill>
                <a:srgbClr val="666666"/>
              </a:solidFill>
              <a:prstDash val="solid"/>
              <a:round/>
              <a:headEnd len="med" w="med" type="none"/>
              <a:tailEnd len="med" w="med" type="none"/>
            </a:ln>
          </p:spPr>
        </p:cxnSp>
        <p:cxnSp>
          <p:nvCxnSpPr>
            <p:cNvPr id="815" name="Google Shape;815;p55"/>
            <p:cNvCxnSpPr/>
            <p:nvPr/>
          </p:nvCxnSpPr>
          <p:spPr>
            <a:xfrm>
              <a:off x="5046688" y="1482710"/>
              <a:ext cx="0" cy="427800"/>
            </a:xfrm>
            <a:prstGeom prst="straightConnector1">
              <a:avLst/>
            </a:prstGeom>
            <a:noFill/>
            <a:ln cap="flat" cmpd="sng" w="9525">
              <a:solidFill>
                <a:srgbClr val="666666"/>
              </a:solidFill>
              <a:prstDash val="solid"/>
              <a:round/>
              <a:headEnd len="med" w="med" type="none"/>
              <a:tailEnd len="med" w="med" type="none"/>
            </a:ln>
          </p:spPr>
        </p:cxnSp>
        <p:sp>
          <p:nvSpPr>
            <p:cNvPr id="816" name="Google Shape;816;p55"/>
            <p:cNvSpPr/>
            <p:nvPr/>
          </p:nvSpPr>
          <p:spPr>
            <a:xfrm>
              <a:off x="4720275" y="1429404"/>
              <a:ext cx="377700" cy="55800"/>
            </a:xfrm>
            <a:prstGeom prst="rect">
              <a:avLst/>
            </a:prstGeom>
            <a:solidFill>
              <a:srgbClr val="F6B26B"/>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grpSp>
      <p:cxnSp>
        <p:nvCxnSpPr>
          <p:cNvPr id="817" name="Google Shape;817;p55"/>
          <p:cNvCxnSpPr>
            <a:stCxn id="818" idx="3"/>
            <a:endCxn id="654" idx="1"/>
          </p:cNvCxnSpPr>
          <p:nvPr/>
        </p:nvCxnSpPr>
        <p:spPr>
          <a:xfrm>
            <a:off x="5344045" y="3599056"/>
            <a:ext cx="305700" cy="300"/>
          </a:xfrm>
          <a:prstGeom prst="straightConnector1">
            <a:avLst/>
          </a:prstGeom>
          <a:noFill/>
          <a:ln cap="flat" cmpd="sng" w="38100">
            <a:solidFill>
              <a:schemeClr val="accent2"/>
            </a:solidFill>
            <a:prstDash val="solid"/>
            <a:round/>
            <a:headEnd len="med" w="med" type="none"/>
            <a:tailEnd len="med" w="med" type="none"/>
          </a:ln>
        </p:spPr>
      </p:cxnSp>
      <p:grpSp>
        <p:nvGrpSpPr>
          <p:cNvPr id="819" name="Google Shape;819;p55"/>
          <p:cNvGrpSpPr/>
          <p:nvPr/>
        </p:nvGrpSpPr>
        <p:grpSpPr>
          <a:xfrm>
            <a:off x="4966345" y="3348254"/>
            <a:ext cx="377700" cy="501937"/>
            <a:chOff x="4720275" y="1429404"/>
            <a:chExt cx="377700" cy="501937"/>
          </a:xfrm>
        </p:grpSpPr>
        <p:sp>
          <p:nvSpPr>
            <p:cNvPr id="818" name="Google Shape;818;p55"/>
            <p:cNvSpPr/>
            <p:nvPr/>
          </p:nvSpPr>
          <p:spPr>
            <a:xfrm>
              <a:off x="4720275" y="1652306"/>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20" name="Google Shape;820;p55"/>
            <p:cNvSpPr/>
            <p:nvPr/>
          </p:nvSpPr>
          <p:spPr>
            <a:xfrm>
              <a:off x="4720275" y="1596572"/>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21" name="Google Shape;821;p55"/>
            <p:cNvSpPr/>
            <p:nvPr/>
          </p:nvSpPr>
          <p:spPr>
            <a:xfrm>
              <a:off x="4720275" y="1540838"/>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22" name="Google Shape;822;p55"/>
            <p:cNvSpPr/>
            <p:nvPr/>
          </p:nvSpPr>
          <p:spPr>
            <a:xfrm>
              <a:off x="4720275" y="1485104"/>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23" name="Google Shape;823;p55"/>
            <p:cNvSpPr/>
            <p:nvPr/>
          </p:nvSpPr>
          <p:spPr>
            <a:xfrm>
              <a:off x="4720275" y="1875241"/>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24" name="Google Shape;824;p55"/>
            <p:cNvSpPr/>
            <p:nvPr/>
          </p:nvSpPr>
          <p:spPr>
            <a:xfrm>
              <a:off x="4720275" y="1819507"/>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25" name="Google Shape;825;p55"/>
            <p:cNvSpPr/>
            <p:nvPr/>
          </p:nvSpPr>
          <p:spPr>
            <a:xfrm>
              <a:off x="4720275" y="1763773"/>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26" name="Google Shape;826;p55"/>
            <p:cNvSpPr/>
            <p:nvPr/>
          </p:nvSpPr>
          <p:spPr>
            <a:xfrm>
              <a:off x="4720275" y="1708039"/>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827" name="Google Shape;827;p55"/>
            <p:cNvCxnSpPr/>
            <p:nvPr/>
          </p:nvCxnSpPr>
          <p:spPr>
            <a:xfrm>
              <a:off x="4748325" y="1482482"/>
              <a:ext cx="0" cy="33000"/>
            </a:xfrm>
            <a:prstGeom prst="straightConnector1">
              <a:avLst/>
            </a:prstGeom>
            <a:noFill/>
            <a:ln cap="flat" cmpd="sng" w="9525">
              <a:solidFill>
                <a:srgbClr val="666666"/>
              </a:solidFill>
              <a:prstDash val="solid"/>
              <a:round/>
              <a:headEnd len="med" w="med" type="none"/>
              <a:tailEnd len="med" w="med" type="none"/>
            </a:ln>
          </p:spPr>
        </p:cxnSp>
        <p:cxnSp>
          <p:nvCxnSpPr>
            <p:cNvPr id="828" name="Google Shape;828;p55"/>
            <p:cNvCxnSpPr/>
            <p:nvPr/>
          </p:nvCxnSpPr>
          <p:spPr>
            <a:xfrm>
              <a:off x="4782370" y="1484768"/>
              <a:ext cx="0" cy="88500"/>
            </a:xfrm>
            <a:prstGeom prst="straightConnector1">
              <a:avLst/>
            </a:prstGeom>
            <a:noFill/>
            <a:ln cap="flat" cmpd="sng" w="9525">
              <a:solidFill>
                <a:srgbClr val="666666"/>
              </a:solidFill>
              <a:prstDash val="solid"/>
              <a:round/>
              <a:headEnd len="med" w="med" type="none"/>
              <a:tailEnd len="med" w="med" type="none"/>
            </a:ln>
          </p:spPr>
        </p:cxnSp>
        <p:cxnSp>
          <p:nvCxnSpPr>
            <p:cNvPr id="829" name="Google Shape;829;p55"/>
            <p:cNvCxnSpPr/>
            <p:nvPr/>
          </p:nvCxnSpPr>
          <p:spPr>
            <a:xfrm>
              <a:off x="4816415" y="1486825"/>
              <a:ext cx="0" cy="139800"/>
            </a:xfrm>
            <a:prstGeom prst="straightConnector1">
              <a:avLst/>
            </a:prstGeom>
            <a:noFill/>
            <a:ln cap="flat" cmpd="sng" w="9525">
              <a:solidFill>
                <a:srgbClr val="666666"/>
              </a:solidFill>
              <a:prstDash val="solid"/>
              <a:round/>
              <a:headEnd len="med" w="med" type="none"/>
              <a:tailEnd len="med" w="med" type="none"/>
            </a:ln>
          </p:spPr>
        </p:cxnSp>
        <p:cxnSp>
          <p:nvCxnSpPr>
            <p:cNvPr id="830" name="Google Shape;830;p55"/>
            <p:cNvCxnSpPr/>
            <p:nvPr/>
          </p:nvCxnSpPr>
          <p:spPr>
            <a:xfrm>
              <a:off x="4865572" y="1484768"/>
              <a:ext cx="0" cy="197400"/>
            </a:xfrm>
            <a:prstGeom prst="straightConnector1">
              <a:avLst/>
            </a:prstGeom>
            <a:noFill/>
            <a:ln cap="flat" cmpd="sng" w="9525">
              <a:solidFill>
                <a:srgbClr val="666666"/>
              </a:solidFill>
              <a:prstDash val="solid"/>
              <a:round/>
              <a:headEnd len="med" w="med" type="none"/>
              <a:tailEnd len="med" w="med" type="none"/>
            </a:ln>
          </p:spPr>
        </p:cxnSp>
        <p:cxnSp>
          <p:nvCxnSpPr>
            <p:cNvPr id="831" name="Google Shape;831;p55"/>
            <p:cNvCxnSpPr/>
            <p:nvPr/>
          </p:nvCxnSpPr>
          <p:spPr>
            <a:xfrm>
              <a:off x="4914729" y="1486825"/>
              <a:ext cx="0" cy="249000"/>
            </a:xfrm>
            <a:prstGeom prst="straightConnector1">
              <a:avLst/>
            </a:prstGeom>
            <a:noFill/>
            <a:ln cap="flat" cmpd="sng" w="9525">
              <a:solidFill>
                <a:srgbClr val="666666"/>
              </a:solidFill>
              <a:prstDash val="solid"/>
              <a:round/>
              <a:headEnd len="med" w="med" type="none"/>
              <a:tailEnd len="med" w="med" type="none"/>
            </a:ln>
          </p:spPr>
        </p:cxnSp>
        <p:cxnSp>
          <p:nvCxnSpPr>
            <p:cNvPr id="832" name="Google Shape;832;p55"/>
            <p:cNvCxnSpPr/>
            <p:nvPr/>
          </p:nvCxnSpPr>
          <p:spPr>
            <a:xfrm>
              <a:off x="4958212" y="1488883"/>
              <a:ext cx="0" cy="308400"/>
            </a:xfrm>
            <a:prstGeom prst="straightConnector1">
              <a:avLst/>
            </a:prstGeom>
            <a:noFill/>
            <a:ln cap="flat" cmpd="sng" w="9525">
              <a:solidFill>
                <a:srgbClr val="666666"/>
              </a:solidFill>
              <a:prstDash val="solid"/>
              <a:round/>
              <a:headEnd len="med" w="med" type="none"/>
              <a:tailEnd len="med" w="med" type="none"/>
            </a:ln>
          </p:spPr>
        </p:cxnSp>
        <p:cxnSp>
          <p:nvCxnSpPr>
            <p:cNvPr id="833" name="Google Shape;833;p55"/>
            <p:cNvCxnSpPr/>
            <p:nvPr/>
          </p:nvCxnSpPr>
          <p:spPr>
            <a:xfrm>
              <a:off x="5005478" y="1484768"/>
              <a:ext cx="0" cy="360000"/>
            </a:xfrm>
            <a:prstGeom prst="straightConnector1">
              <a:avLst/>
            </a:prstGeom>
            <a:noFill/>
            <a:ln cap="flat" cmpd="sng" w="9525">
              <a:solidFill>
                <a:srgbClr val="666666"/>
              </a:solidFill>
              <a:prstDash val="solid"/>
              <a:round/>
              <a:headEnd len="med" w="med" type="none"/>
              <a:tailEnd len="med" w="med" type="none"/>
            </a:ln>
          </p:spPr>
        </p:cxnSp>
        <p:cxnSp>
          <p:nvCxnSpPr>
            <p:cNvPr id="834" name="Google Shape;834;p55"/>
            <p:cNvCxnSpPr/>
            <p:nvPr/>
          </p:nvCxnSpPr>
          <p:spPr>
            <a:xfrm>
              <a:off x="5046688" y="1482710"/>
              <a:ext cx="0" cy="427800"/>
            </a:xfrm>
            <a:prstGeom prst="straightConnector1">
              <a:avLst/>
            </a:prstGeom>
            <a:noFill/>
            <a:ln cap="flat" cmpd="sng" w="9525">
              <a:solidFill>
                <a:srgbClr val="666666"/>
              </a:solidFill>
              <a:prstDash val="solid"/>
              <a:round/>
              <a:headEnd len="med" w="med" type="none"/>
              <a:tailEnd len="med" w="med" type="none"/>
            </a:ln>
          </p:spPr>
        </p:cxnSp>
        <p:sp>
          <p:nvSpPr>
            <p:cNvPr id="835" name="Google Shape;835;p55"/>
            <p:cNvSpPr/>
            <p:nvPr/>
          </p:nvSpPr>
          <p:spPr>
            <a:xfrm>
              <a:off x="4720275" y="1429404"/>
              <a:ext cx="377700" cy="55800"/>
            </a:xfrm>
            <a:prstGeom prst="rect">
              <a:avLst/>
            </a:prstGeom>
            <a:solidFill>
              <a:srgbClr val="F6B26B"/>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grpSp>
      <p:grpSp>
        <p:nvGrpSpPr>
          <p:cNvPr id="836" name="Google Shape;836;p55"/>
          <p:cNvGrpSpPr/>
          <p:nvPr/>
        </p:nvGrpSpPr>
        <p:grpSpPr>
          <a:xfrm>
            <a:off x="4966445" y="3964204"/>
            <a:ext cx="377700" cy="501937"/>
            <a:chOff x="4720275" y="1429404"/>
            <a:chExt cx="377700" cy="501937"/>
          </a:xfrm>
        </p:grpSpPr>
        <p:sp>
          <p:nvSpPr>
            <p:cNvPr id="666" name="Google Shape;666;p55"/>
            <p:cNvSpPr/>
            <p:nvPr/>
          </p:nvSpPr>
          <p:spPr>
            <a:xfrm>
              <a:off x="4720275" y="1652306"/>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37" name="Google Shape;837;p55"/>
            <p:cNvSpPr/>
            <p:nvPr/>
          </p:nvSpPr>
          <p:spPr>
            <a:xfrm>
              <a:off x="4720275" y="1596572"/>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38" name="Google Shape;838;p55"/>
            <p:cNvSpPr/>
            <p:nvPr/>
          </p:nvSpPr>
          <p:spPr>
            <a:xfrm>
              <a:off x="4720275" y="1540838"/>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39" name="Google Shape;839;p55"/>
            <p:cNvSpPr/>
            <p:nvPr/>
          </p:nvSpPr>
          <p:spPr>
            <a:xfrm>
              <a:off x="4720275" y="1485104"/>
              <a:ext cx="377700" cy="558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40" name="Google Shape;840;p55"/>
            <p:cNvSpPr/>
            <p:nvPr/>
          </p:nvSpPr>
          <p:spPr>
            <a:xfrm>
              <a:off x="4720275" y="1875241"/>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41" name="Google Shape;841;p55"/>
            <p:cNvSpPr/>
            <p:nvPr/>
          </p:nvSpPr>
          <p:spPr>
            <a:xfrm>
              <a:off x="4720275" y="1819507"/>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42" name="Google Shape;842;p55"/>
            <p:cNvSpPr/>
            <p:nvPr/>
          </p:nvSpPr>
          <p:spPr>
            <a:xfrm>
              <a:off x="4720275" y="1763773"/>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843" name="Google Shape;843;p55"/>
            <p:cNvSpPr/>
            <p:nvPr/>
          </p:nvSpPr>
          <p:spPr>
            <a:xfrm>
              <a:off x="4720275" y="1708039"/>
              <a:ext cx="377700" cy="56100"/>
            </a:xfrm>
            <a:prstGeom prst="rect">
              <a:avLst/>
            </a:prstGeom>
            <a:solidFill>
              <a:srgbClr val="B7B7B7"/>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844" name="Google Shape;844;p55"/>
            <p:cNvCxnSpPr/>
            <p:nvPr/>
          </p:nvCxnSpPr>
          <p:spPr>
            <a:xfrm>
              <a:off x="4748325" y="1482482"/>
              <a:ext cx="0" cy="33000"/>
            </a:xfrm>
            <a:prstGeom prst="straightConnector1">
              <a:avLst/>
            </a:prstGeom>
            <a:noFill/>
            <a:ln cap="flat" cmpd="sng" w="9525">
              <a:solidFill>
                <a:srgbClr val="666666"/>
              </a:solidFill>
              <a:prstDash val="solid"/>
              <a:round/>
              <a:headEnd len="med" w="med" type="none"/>
              <a:tailEnd len="med" w="med" type="none"/>
            </a:ln>
          </p:spPr>
        </p:cxnSp>
        <p:cxnSp>
          <p:nvCxnSpPr>
            <p:cNvPr id="845" name="Google Shape;845;p55"/>
            <p:cNvCxnSpPr/>
            <p:nvPr/>
          </p:nvCxnSpPr>
          <p:spPr>
            <a:xfrm>
              <a:off x="4782370" y="1484768"/>
              <a:ext cx="0" cy="88500"/>
            </a:xfrm>
            <a:prstGeom prst="straightConnector1">
              <a:avLst/>
            </a:prstGeom>
            <a:noFill/>
            <a:ln cap="flat" cmpd="sng" w="9525">
              <a:solidFill>
                <a:srgbClr val="666666"/>
              </a:solidFill>
              <a:prstDash val="solid"/>
              <a:round/>
              <a:headEnd len="med" w="med" type="none"/>
              <a:tailEnd len="med" w="med" type="none"/>
            </a:ln>
          </p:spPr>
        </p:cxnSp>
        <p:cxnSp>
          <p:nvCxnSpPr>
            <p:cNvPr id="846" name="Google Shape;846;p55"/>
            <p:cNvCxnSpPr/>
            <p:nvPr/>
          </p:nvCxnSpPr>
          <p:spPr>
            <a:xfrm>
              <a:off x="4816415" y="1486825"/>
              <a:ext cx="0" cy="139800"/>
            </a:xfrm>
            <a:prstGeom prst="straightConnector1">
              <a:avLst/>
            </a:prstGeom>
            <a:noFill/>
            <a:ln cap="flat" cmpd="sng" w="9525">
              <a:solidFill>
                <a:srgbClr val="666666"/>
              </a:solidFill>
              <a:prstDash val="solid"/>
              <a:round/>
              <a:headEnd len="med" w="med" type="none"/>
              <a:tailEnd len="med" w="med" type="none"/>
            </a:ln>
          </p:spPr>
        </p:cxnSp>
        <p:cxnSp>
          <p:nvCxnSpPr>
            <p:cNvPr id="847" name="Google Shape;847;p55"/>
            <p:cNvCxnSpPr/>
            <p:nvPr/>
          </p:nvCxnSpPr>
          <p:spPr>
            <a:xfrm>
              <a:off x="4865572" y="1484768"/>
              <a:ext cx="0" cy="197400"/>
            </a:xfrm>
            <a:prstGeom prst="straightConnector1">
              <a:avLst/>
            </a:prstGeom>
            <a:noFill/>
            <a:ln cap="flat" cmpd="sng" w="9525">
              <a:solidFill>
                <a:srgbClr val="666666"/>
              </a:solidFill>
              <a:prstDash val="solid"/>
              <a:round/>
              <a:headEnd len="med" w="med" type="none"/>
              <a:tailEnd len="med" w="med" type="none"/>
            </a:ln>
          </p:spPr>
        </p:cxnSp>
        <p:cxnSp>
          <p:nvCxnSpPr>
            <p:cNvPr id="848" name="Google Shape;848;p55"/>
            <p:cNvCxnSpPr/>
            <p:nvPr/>
          </p:nvCxnSpPr>
          <p:spPr>
            <a:xfrm>
              <a:off x="4914729" y="1486825"/>
              <a:ext cx="0" cy="249000"/>
            </a:xfrm>
            <a:prstGeom prst="straightConnector1">
              <a:avLst/>
            </a:prstGeom>
            <a:noFill/>
            <a:ln cap="flat" cmpd="sng" w="9525">
              <a:solidFill>
                <a:srgbClr val="666666"/>
              </a:solidFill>
              <a:prstDash val="solid"/>
              <a:round/>
              <a:headEnd len="med" w="med" type="none"/>
              <a:tailEnd len="med" w="med" type="none"/>
            </a:ln>
          </p:spPr>
        </p:cxnSp>
        <p:cxnSp>
          <p:nvCxnSpPr>
            <p:cNvPr id="849" name="Google Shape;849;p55"/>
            <p:cNvCxnSpPr/>
            <p:nvPr/>
          </p:nvCxnSpPr>
          <p:spPr>
            <a:xfrm>
              <a:off x="4958212" y="1488883"/>
              <a:ext cx="0" cy="308400"/>
            </a:xfrm>
            <a:prstGeom prst="straightConnector1">
              <a:avLst/>
            </a:prstGeom>
            <a:noFill/>
            <a:ln cap="flat" cmpd="sng" w="9525">
              <a:solidFill>
                <a:srgbClr val="666666"/>
              </a:solidFill>
              <a:prstDash val="solid"/>
              <a:round/>
              <a:headEnd len="med" w="med" type="none"/>
              <a:tailEnd len="med" w="med" type="none"/>
            </a:ln>
          </p:spPr>
        </p:cxnSp>
        <p:cxnSp>
          <p:nvCxnSpPr>
            <p:cNvPr id="850" name="Google Shape;850;p55"/>
            <p:cNvCxnSpPr/>
            <p:nvPr/>
          </p:nvCxnSpPr>
          <p:spPr>
            <a:xfrm>
              <a:off x="5005478" y="1484768"/>
              <a:ext cx="0" cy="360000"/>
            </a:xfrm>
            <a:prstGeom prst="straightConnector1">
              <a:avLst/>
            </a:prstGeom>
            <a:noFill/>
            <a:ln cap="flat" cmpd="sng" w="9525">
              <a:solidFill>
                <a:srgbClr val="666666"/>
              </a:solidFill>
              <a:prstDash val="solid"/>
              <a:round/>
              <a:headEnd len="med" w="med" type="none"/>
              <a:tailEnd len="med" w="med" type="none"/>
            </a:ln>
          </p:spPr>
        </p:cxnSp>
        <p:cxnSp>
          <p:nvCxnSpPr>
            <p:cNvPr id="851" name="Google Shape;851;p55"/>
            <p:cNvCxnSpPr/>
            <p:nvPr/>
          </p:nvCxnSpPr>
          <p:spPr>
            <a:xfrm>
              <a:off x="5046688" y="1482710"/>
              <a:ext cx="0" cy="427800"/>
            </a:xfrm>
            <a:prstGeom prst="straightConnector1">
              <a:avLst/>
            </a:prstGeom>
            <a:noFill/>
            <a:ln cap="flat" cmpd="sng" w="9525">
              <a:solidFill>
                <a:srgbClr val="666666"/>
              </a:solidFill>
              <a:prstDash val="solid"/>
              <a:round/>
              <a:headEnd len="med" w="med" type="none"/>
              <a:tailEnd len="med" w="med" type="none"/>
            </a:ln>
          </p:spPr>
        </p:cxnSp>
        <p:sp>
          <p:nvSpPr>
            <p:cNvPr id="852" name="Google Shape;852;p55"/>
            <p:cNvSpPr/>
            <p:nvPr/>
          </p:nvSpPr>
          <p:spPr>
            <a:xfrm>
              <a:off x="4720275" y="1429404"/>
              <a:ext cx="377700" cy="55800"/>
            </a:xfrm>
            <a:prstGeom prst="rect">
              <a:avLst/>
            </a:prstGeom>
            <a:solidFill>
              <a:srgbClr val="F6B26B"/>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grpSp>
      <p:cxnSp>
        <p:nvCxnSpPr>
          <p:cNvPr id="853" name="Google Shape;853;p55"/>
          <p:cNvCxnSpPr>
            <a:stCxn id="669" idx="3"/>
            <a:endCxn id="677" idx="1"/>
          </p:cNvCxnSpPr>
          <p:nvPr/>
        </p:nvCxnSpPr>
        <p:spPr>
          <a:xfrm>
            <a:off x="1618075" y="2367344"/>
            <a:ext cx="770400" cy="0"/>
          </a:xfrm>
          <a:prstGeom prst="straightConnector1">
            <a:avLst/>
          </a:prstGeom>
          <a:noFill/>
          <a:ln cap="flat" cmpd="sng" w="38100">
            <a:solidFill>
              <a:schemeClr val="accent2"/>
            </a:solidFill>
            <a:prstDash val="solid"/>
            <a:round/>
            <a:headEnd len="med" w="med" type="none"/>
            <a:tailEnd len="med" w="med" type="none"/>
          </a:ln>
        </p:spPr>
      </p:cxnSp>
      <p:cxnSp>
        <p:nvCxnSpPr>
          <p:cNvPr id="854" name="Google Shape;854;p55"/>
          <p:cNvCxnSpPr>
            <a:stCxn id="681" idx="3"/>
            <a:endCxn id="670" idx="1"/>
          </p:cNvCxnSpPr>
          <p:nvPr/>
        </p:nvCxnSpPr>
        <p:spPr>
          <a:xfrm flipH="1" rot="10800000">
            <a:off x="1618075" y="2983319"/>
            <a:ext cx="770400" cy="615900"/>
          </a:xfrm>
          <a:prstGeom prst="straightConnector1">
            <a:avLst/>
          </a:prstGeom>
          <a:noFill/>
          <a:ln cap="flat" cmpd="sng" w="38100">
            <a:solidFill>
              <a:schemeClr val="accent2"/>
            </a:solidFill>
            <a:prstDash val="solid"/>
            <a:round/>
            <a:headEnd len="med" w="med" type="none"/>
            <a:tailEnd len="med" w="med" type="none"/>
          </a:ln>
        </p:spPr>
      </p:cxnSp>
      <p:cxnSp>
        <p:nvCxnSpPr>
          <p:cNvPr id="855" name="Google Shape;855;p55"/>
          <p:cNvCxnSpPr>
            <a:stCxn id="677" idx="3"/>
            <a:endCxn id="701" idx="1"/>
          </p:cNvCxnSpPr>
          <p:nvPr/>
        </p:nvCxnSpPr>
        <p:spPr>
          <a:xfrm>
            <a:off x="2864825" y="2367194"/>
            <a:ext cx="770400" cy="0"/>
          </a:xfrm>
          <a:prstGeom prst="straightConnector1">
            <a:avLst/>
          </a:prstGeom>
          <a:noFill/>
          <a:ln cap="flat" cmpd="sng" w="38100">
            <a:solidFill>
              <a:schemeClr val="accent2"/>
            </a:solidFill>
            <a:prstDash val="solid"/>
            <a:round/>
            <a:headEnd len="med" w="med" type="none"/>
            <a:tailEnd len="med" w="med" type="none"/>
          </a:ln>
        </p:spPr>
      </p:cxnSp>
      <p:cxnSp>
        <p:nvCxnSpPr>
          <p:cNvPr id="856" name="Google Shape;856;p55"/>
          <p:cNvCxnSpPr>
            <a:stCxn id="670" idx="3"/>
            <a:endCxn id="701" idx="1"/>
          </p:cNvCxnSpPr>
          <p:nvPr/>
        </p:nvCxnSpPr>
        <p:spPr>
          <a:xfrm flipH="1" rot="10800000">
            <a:off x="2864825" y="2367094"/>
            <a:ext cx="770400" cy="616200"/>
          </a:xfrm>
          <a:prstGeom prst="straightConnector1">
            <a:avLst/>
          </a:prstGeom>
          <a:noFill/>
          <a:ln cap="flat" cmpd="sng" w="38100">
            <a:solidFill>
              <a:schemeClr val="accent2"/>
            </a:solidFill>
            <a:prstDash val="solid"/>
            <a:round/>
            <a:headEnd len="med" w="med" type="none"/>
            <a:tailEnd len="med" w="med" type="none"/>
          </a:ln>
        </p:spPr>
      </p:cxnSp>
      <p:cxnSp>
        <p:nvCxnSpPr>
          <p:cNvPr id="857" name="Google Shape;857;p55"/>
          <p:cNvCxnSpPr/>
          <p:nvPr/>
        </p:nvCxnSpPr>
        <p:spPr>
          <a:xfrm flipH="1" rot="10800000">
            <a:off x="2864825" y="2404631"/>
            <a:ext cx="770400" cy="616200"/>
          </a:xfrm>
          <a:prstGeom prst="straightConnector1">
            <a:avLst/>
          </a:prstGeom>
          <a:noFill/>
          <a:ln cap="flat" cmpd="sng" w="38100">
            <a:solidFill>
              <a:srgbClr val="0000FF"/>
            </a:solidFill>
            <a:prstDash val="solid"/>
            <a:round/>
            <a:headEnd len="med" w="med" type="none"/>
            <a:tailEnd len="med" w="med" type="none"/>
          </a:ln>
        </p:spPr>
      </p:cxnSp>
      <p:cxnSp>
        <p:nvCxnSpPr>
          <p:cNvPr id="858" name="Google Shape;858;p55"/>
          <p:cNvCxnSpPr>
            <a:stCxn id="676" idx="3"/>
            <a:endCxn id="670" idx="1"/>
          </p:cNvCxnSpPr>
          <p:nvPr/>
        </p:nvCxnSpPr>
        <p:spPr>
          <a:xfrm>
            <a:off x="1618075" y="2983281"/>
            <a:ext cx="770400" cy="0"/>
          </a:xfrm>
          <a:prstGeom prst="straightConnector1">
            <a:avLst/>
          </a:prstGeom>
          <a:noFill/>
          <a:ln cap="flat" cmpd="sng" w="38100">
            <a:solidFill>
              <a:srgbClr val="0000FF"/>
            </a:solidFill>
            <a:prstDash val="solid"/>
            <a:round/>
            <a:headEnd len="med" w="med" type="none"/>
            <a:tailEnd len="med" w="med" type="none"/>
          </a:ln>
        </p:spPr>
      </p:cxnSp>
      <p:cxnSp>
        <p:nvCxnSpPr>
          <p:cNvPr id="859" name="Google Shape;859;p55"/>
          <p:cNvCxnSpPr>
            <a:stCxn id="685" idx="3"/>
            <a:endCxn id="672" idx="1"/>
          </p:cNvCxnSpPr>
          <p:nvPr/>
        </p:nvCxnSpPr>
        <p:spPr>
          <a:xfrm flipH="1" rot="10800000">
            <a:off x="1618075" y="3599244"/>
            <a:ext cx="770400" cy="615900"/>
          </a:xfrm>
          <a:prstGeom prst="straightConnector1">
            <a:avLst/>
          </a:prstGeom>
          <a:noFill/>
          <a:ln cap="flat" cmpd="sng" w="38100">
            <a:solidFill>
              <a:srgbClr val="0000FF"/>
            </a:solidFill>
            <a:prstDash val="solid"/>
            <a:round/>
            <a:headEnd len="med" w="med" type="none"/>
            <a:tailEnd len="med" w="med" type="none"/>
          </a:ln>
        </p:spPr>
      </p:cxnSp>
      <p:cxnSp>
        <p:nvCxnSpPr>
          <p:cNvPr id="860" name="Google Shape;860;p55"/>
          <p:cNvCxnSpPr>
            <a:stCxn id="672" idx="3"/>
            <a:endCxn id="701" idx="1"/>
          </p:cNvCxnSpPr>
          <p:nvPr/>
        </p:nvCxnSpPr>
        <p:spPr>
          <a:xfrm flipH="1" rot="10800000">
            <a:off x="2864825" y="2367119"/>
            <a:ext cx="770400" cy="1232100"/>
          </a:xfrm>
          <a:prstGeom prst="straightConnector1">
            <a:avLst/>
          </a:prstGeom>
          <a:noFill/>
          <a:ln cap="flat" cmpd="sng" w="38100">
            <a:solidFill>
              <a:srgbClr val="0000FF"/>
            </a:solidFill>
            <a:prstDash val="solid"/>
            <a:round/>
            <a:headEnd len="med" w="med" type="none"/>
            <a:tailEnd len="med" w="med" type="none"/>
          </a:ln>
        </p:spPr>
      </p:cxnSp>
      <p:cxnSp>
        <p:nvCxnSpPr>
          <p:cNvPr id="861" name="Google Shape;861;p55"/>
          <p:cNvCxnSpPr>
            <a:stCxn id="727" idx="3"/>
            <a:endCxn id="676" idx="1"/>
          </p:cNvCxnSpPr>
          <p:nvPr/>
        </p:nvCxnSpPr>
        <p:spPr>
          <a:xfrm>
            <a:off x="835970" y="2983131"/>
            <a:ext cx="305700" cy="300"/>
          </a:xfrm>
          <a:prstGeom prst="straightConnector1">
            <a:avLst/>
          </a:prstGeom>
          <a:noFill/>
          <a:ln cap="flat" cmpd="sng" w="38100">
            <a:solidFill>
              <a:srgbClr val="0000FF"/>
            </a:solidFill>
            <a:prstDash val="solid"/>
            <a:round/>
            <a:headEnd len="med" w="med" type="none"/>
            <a:tailEnd len="med" w="med" type="none"/>
          </a:ln>
        </p:spPr>
      </p:cxnSp>
      <p:cxnSp>
        <p:nvCxnSpPr>
          <p:cNvPr id="862" name="Google Shape;862;p55"/>
          <p:cNvCxnSpPr>
            <a:stCxn id="764" idx="3"/>
            <a:endCxn id="685" idx="1"/>
          </p:cNvCxnSpPr>
          <p:nvPr/>
        </p:nvCxnSpPr>
        <p:spPr>
          <a:xfrm>
            <a:off x="836070" y="4215006"/>
            <a:ext cx="305700" cy="0"/>
          </a:xfrm>
          <a:prstGeom prst="straightConnector1">
            <a:avLst/>
          </a:prstGeom>
          <a:noFill/>
          <a:ln cap="flat" cmpd="sng" w="38100">
            <a:solidFill>
              <a:srgbClr val="0000FF"/>
            </a:solidFill>
            <a:prstDash val="solid"/>
            <a:round/>
            <a:headEnd len="med" w="med" type="none"/>
            <a:tailEnd len="med" w="med" type="none"/>
          </a:ln>
        </p:spPr>
      </p:cxnSp>
      <p:sp>
        <p:nvSpPr>
          <p:cNvPr id="677" name="Google Shape;677;p55"/>
          <p:cNvSpPr/>
          <p:nvPr/>
        </p:nvSpPr>
        <p:spPr>
          <a:xfrm>
            <a:off x="2388425" y="212899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72" name="Google Shape;672;p55"/>
          <p:cNvSpPr/>
          <p:nvPr/>
        </p:nvSpPr>
        <p:spPr>
          <a:xfrm>
            <a:off x="2388425" y="3361019"/>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74" name="Google Shape;674;p55"/>
          <p:cNvSpPr/>
          <p:nvPr/>
        </p:nvSpPr>
        <p:spPr>
          <a:xfrm>
            <a:off x="2388425" y="397694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89" name="Google Shape;689;p55"/>
          <p:cNvSpPr/>
          <p:nvPr/>
        </p:nvSpPr>
        <p:spPr>
          <a:xfrm>
            <a:off x="3635175" y="2745069"/>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91" name="Google Shape;691;p55"/>
          <p:cNvSpPr/>
          <p:nvPr/>
        </p:nvSpPr>
        <p:spPr>
          <a:xfrm>
            <a:off x="3635175" y="336099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93" name="Google Shape;693;p55"/>
          <p:cNvSpPr/>
          <p:nvPr/>
        </p:nvSpPr>
        <p:spPr>
          <a:xfrm>
            <a:off x="3635175" y="3976919"/>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701" name="Google Shape;701;p55"/>
          <p:cNvSpPr/>
          <p:nvPr/>
        </p:nvSpPr>
        <p:spPr>
          <a:xfrm>
            <a:off x="3635175" y="2128969"/>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70" name="Google Shape;670;p55"/>
          <p:cNvSpPr/>
          <p:nvPr/>
        </p:nvSpPr>
        <p:spPr>
          <a:xfrm>
            <a:off x="2388425" y="274509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69" name="Google Shape;669;p55"/>
          <p:cNvSpPr/>
          <p:nvPr/>
        </p:nvSpPr>
        <p:spPr>
          <a:xfrm>
            <a:off x="1141675" y="212914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76" name="Google Shape;676;p55"/>
          <p:cNvSpPr/>
          <p:nvPr/>
        </p:nvSpPr>
        <p:spPr>
          <a:xfrm>
            <a:off x="1141675" y="2745081"/>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81" name="Google Shape;681;p55"/>
          <p:cNvSpPr/>
          <p:nvPr/>
        </p:nvSpPr>
        <p:spPr>
          <a:xfrm>
            <a:off x="1141675" y="3361019"/>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sp>
        <p:nvSpPr>
          <p:cNvPr id="685" name="Google Shape;685;p55"/>
          <p:cNvSpPr/>
          <p:nvPr/>
        </p:nvSpPr>
        <p:spPr>
          <a:xfrm>
            <a:off x="1141675" y="397694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863" name="Google Shape;863;p55"/>
          <p:cNvCxnSpPr>
            <a:stCxn id="646" idx="1"/>
            <a:endCxn id="783" idx="3"/>
          </p:cNvCxnSpPr>
          <p:nvPr/>
        </p:nvCxnSpPr>
        <p:spPr>
          <a:xfrm rot="10800000">
            <a:off x="5344050" y="2367344"/>
            <a:ext cx="305700" cy="0"/>
          </a:xfrm>
          <a:prstGeom prst="straightConnector1">
            <a:avLst/>
          </a:prstGeom>
          <a:noFill/>
          <a:ln cap="flat" cmpd="sng" w="38100">
            <a:solidFill>
              <a:schemeClr val="accent2"/>
            </a:solidFill>
            <a:prstDash val="solid"/>
            <a:round/>
            <a:headEnd len="med" w="med" type="none"/>
            <a:tailEnd len="med" w="med" type="none"/>
          </a:ln>
        </p:spPr>
      </p:cxnSp>
      <p:sp>
        <p:nvSpPr>
          <p:cNvPr id="646" name="Google Shape;646;p55"/>
          <p:cNvSpPr/>
          <p:nvPr/>
        </p:nvSpPr>
        <p:spPr>
          <a:xfrm>
            <a:off x="5649750" y="2129144"/>
            <a:ext cx="476400" cy="476400"/>
          </a:xfrm>
          <a:prstGeom prst="rect">
            <a:avLst/>
          </a:prstGeom>
          <a:solidFill>
            <a:srgbClr val="F6B26B"/>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roid Sans"/>
              <a:ea typeface="Droid Sans"/>
              <a:cs typeface="Droid Sans"/>
              <a:sym typeface="Droid Sans"/>
            </a:endParaRPr>
          </a:p>
        </p:txBody>
      </p:sp>
      <p:cxnSp>
        <p:nvCxnSpPr>
          <p:cNvPr id="864" name="Google Shape;864;p55"/>
          <p:cNvCxnSpPr>
            <a:stCxn id="631" idx="3"/>
            <a:endCxn id="626" idx="1"/>
          </p:cNvCxnSpPr>
          <p:nvPr/>
        </p:nvCxnSpPr>
        <p:spPr>
          <a:xfrm flipH="1" rot="10800000">
            <a:off x="7372900" y="2983319"/>
            <a:ext cx="770400" cy="615900"/>
          </a:xfrm>
          <a:prstGeom prst="straightConnector1">
            <a:avLst/>
          </a:prstGeom>
          <a:noFill/>
          <a:ln cap="flat" cmpd="sng" w="38100">
            <a:solidFill>
              <a:srgbClr val="0000FF"/>
            </a:solidFill>
            <a:prstDash val="solid"/>
            <a:round/>
            <a:headEnd len="med" w="med" type="none"/>
            <a:tailEnd len="med" w="med" type="none"/>
          </a:ln>
        </p:spPr>
      </p:cxnSp>
      <p:cxnSp>
        <p:nvCxnSpPr>
          <p:cNvPr id="865" name="Google Shape;865;p55"/>
          <p:cNvCxnSpPr>
            <a:stCxn id="630" idx="3"/>
            <a:endCxn id="626" idx="1"/>
          </p:cNvCxnSpPr>
          <p:nvPr/>
        </p:nvCxnSpPr>
        <p:spPr>
          <a:xfrm>
            <a:off x="7372900" y="2983294"/>
            <a:ext cx="770400" cy="0"/>
          </a:xfrm>
          <a:prstGeom prst="straightConnector1">
            <a:avLst/>
          </a:prstGeom>
          <a:noFill/>
          <a:ln cap="flat" cmpd="sng" w="38100">
            <a:solidFill>
              <a:srgbClr val="0000FF"/>
            </a:solidFill>
            <a:prstDash val="solid"/>
            <a:round/>
            <a:headEnd len="med" w="med" type="none"/>
            <a:tailEnd len="med" w="med" type="none"/>
          </a:ln>
        </p:spPr>
      </p:cxnSp>
      <p:cxnSp>
        <p:nvCxnSpPr>
          <p:cNvPr id="866" name="Google Shape;866;p55"/>
          <p:cNvCxnSpPr>
            <a:stCxn id="625" idx="1"/>
            <a:endCxn id="629" idx="3"/>
          </p:cNvCxnSpPr>
          <p:nvPr/>
        </p:nvCxnSpPr>
        <p:spPr>
          <a:xfrm rot="10800000">
            <a:off x="7372850" y="2367169"/>
            <a:ext cx="770400" cy="0"/>
          </a:xfrm>
          <a:prstGeom prst="straightConnector1">
            <a:avLst/>
          </a:prstGeom>
          <a:noFill/>
          <a:ln cap="flat" cmpd="sng" w="38100">
            <a:solidFill>
              <a:schemeClr val="accent2"/>
            </a:solidFill>
            <a:prstDash val="solid"/>
            <a:round/>
            <a:headEnd len="med" w="med" type="none"/>
            <a:tailEnd len="med" w="med" type="none"/>
          </a:ln>
        </p:spPr>
      </p:cxnSp>
      <p:cxnSp>
        <p:nvCxnSpPr>
          <p:cNvPr id="867" name="Google Shape;867;p55"/>
          <p:cNvCxnSpPr>
            <a:stCxn id="630" idx="3"/>
            <a:endCxn id="625" idx="1"/>
          </p:cNvCxnSpPr>
          <p:nvPr/>
        </p:nvCxnSpPr>
        <p:spPr>
          <a:xfrm flipH="1" rot="10800000">
            <a:off x="7372900" y="2367094"/>
            <a:ext cx="770400" cy="616200"/>
          </a:xfrm>
          <a:prstGeom prst="straightConnector1">
            <a:avLst/>
          </a:prstGeom>
          <a:noFill/>
          <a:ln cap="flat" cmpd="sng" w="38100">
            <a:solidFill>
              <a:schemeClr val="accent2"/>
            </a:solidFill>
            <a:prstDash val="solid"/>
            <a:round/>
            <a:headEnd len="med" w="med" type="none"/>
            <a:tailEnd len="med" w="med" type="none"/>
          </a:ln>
        </p:spPr>
      </p:cxnSp>
      <p:sp>
        <p:nvSpPr>
          <p:cNvPr id="868" name="Google Shape;868;p55"/>
          <p:cNvSpPr txBox="1"/>
          <p:nvPr/>
        </p:nvSpPr>
        <p:spPr>
          <a:xfrm>
            <a:off x="327050" y="4466150"/>
            <a:ext cx="4011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latin typeface="Roboto"/>
                <a:ea typeface="Roboto"/>
                <a:cs typeface="Roboto"/>
                <a:sym typeface="Roboto"/>
              </a:rPr>
              <a:t>Per-flow load balancing might cause 2 elephant flows to share a link.</a:t>
            </a:r>
            <a:endParaRPr sz="1500">
              <a:solidFill>
                <a:schemeClr val="dk1"/>
              </a:solidFill>
              <a:latin typeface="Roboto"/>
              <a:ea typeface="Roboto"/>
              <a:cs typeface="Roboto"/>
              <a:sym typeface="Roboto"/>
            </a:endParaRPr>
          </a:p>
        </p:txBody>
      </p:sp>
      <p:sp>
        <p:nvSpPr>
          <p:cNvPr id="869" name="Google Shape;869;p55"/>
          <p:cNvSpPr txBox="1"/>
          <p:nvPr/>
        </p:nvSpPr>
        <p:spPr>
          <a:xfrm>
            <a:off x="4881925" y="4466150"/>
            <a:ext cx="4011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latin typeface="Roboto"/>
                <a:ea typeface="Roboto"/>
                <a:cs typeface="Roboto"/>
                <a:sym typeface="Roboto"/>
              </a:rPr>
              <a:t>A global controller can route traffic differently, improving performance.</a:t>
            </a:r>
            <a:endParaRPr sz="1500">
              <a:solidFill>
                <a:schemeClr val="dk1"/>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graphicFrame>
        <p:nvGraphicFramePr>
          <p:cNvPr id="874" name="Google Shape;874;p56"/>
          <p:cNvGraphicFramePr/>
          <p:nvPr/>
        </p:nvGraphicFramePr>
        <p:xfrm>
          <a:off x="872325" y="1739310"/>
          <a:ext cx="3000000" cy="3000000"/>
        </p:xfrm>
        <a:graphic>
          <a:graphicData uri="http://schemas.openxmlformats.org/drawingml/2006/table">
            <a:tbl>
              <a:tblPr>
                <a:noFill/>
                <a:tableStyleId>{9E0E94E9-8C37-454C-BF69-298D2E925918}</a:tableStyleId>
              </a:tblPr>
              <a:tblGrid>
                <a:gridCol w="4510675"/>
                <a:gridCol w="1887325"/>
                <a:gridCol w="1001325"/>
              </a:tblGrid>
              <a:tr h="86225">
                <a:tc gridSpan="2">
                  <a:txBody>
                    <a:bodyPr/>
                    <a:lstStyle/>
                    <a:p>
                      <a:pPr indent="0" lvl="0" marL="0" rtl="0" algn="l">
                        <a:spcBef>
                          <a:spcPts val="0"/>
                        </a:spcBef>
                        <a:spcAft>
                          <a:spcPts val="0"/>
                        </a:spcAft>
                        <a:buNone/>
                      </a:pPr>
                      <a:r>
                        <a:rPr b="1" lang="en" sz="1600">
                          <a:solidFill>
                            <a:srgbClr val="595959"/>
                          </a:solidFill>
                          <a:latin typeface="Roboto"/>
                          <a:ea typeface="Roboto"/>
                          <a:cs typeface="Roboto"/>
                          <a:sym typeface="Roboto"/>
                        </a:rPr>
                        <a:t>Jupiter Evolving: Transforming Google's Datacenter Network via Optical Circuit Switches and Software-Defined Networking</a:t>
                      </a:r>
                      <a:endParaRPr b="1" sz="1600">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c hMerge="1"/>
                <a:tc>
                  <a:txBody>
                    <a:bodyPr/>
                    <a:lstStyle/>
                    <a:p>
                      <a:pPr indent="0" lvl="0" marL="0" rtl="0" algn="r">
                        <a:spcBef>
                          <a:spcPts val="0"/>
                        </a:spcBef>
                        <a:spcAft>
                          <a:spcPts val="0"/>
                        </a:spcAft>
                        <a:buClr>
                          <a:srgbClr val="000000"/>
                        </a:buClr>
                        <a:buSzPts val="1100"/>
                        <a:buFont typeface="Arial"/>
                        <a:buNone/>
                      </a:pPr>
                      <a:r>
                        <a:rPr lang="en" u="sng">
                          <a:solidFill>
                            <a:schemeClr val="hlink"/>
                          </a:solidFill>
                          <a:latin typeface="Roboto"/>
                          <a:ea typeface="Roboto"/>
                          <a:cs typeface="Roboto"/>
                          <a:sym typeface="Roboto"/>
                          <a:hlinkClick r:id="rId3"/>
                        </a:rPr>
                        <a:t>Link</a:t>
                      </a:r>
                      <a:endParaRPr b="1" sz="1600">
                        <a:solidFill>
                          <a:srgbClr val="595959"/>
                        </a:solidFill>
                        <a:latin typeface="Roboto"/>
                        <a:ea typeface="Roboto"/>
                        <a:cs typeface="Roboto"/>
                        <a:sym typeface="Roboto"/>
                      </a:endParaRPr>
                    </a:p>
                  </a:txBody>
                  <a:tcPr marT="91425" marB="0"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AF0"/>
                    </a:solidFill>
                  </a:tcPr>
                </a:tc>
              </a:tr>
              <a:tr h="376975">
                <a:tc>
                  <a:txBody>
                    <a:bodyPr/>
                    <a:lstStyle/>
                    <a:p>
                      <a:pPr indent="0" lvl="0" marL="0" rtl="0" algn="l">
                        <a:spcBef>
                          <a:spcPts val="0"/>
                        </a:spcBef>
                        <a:spcAft>
                          <a:spcPts val="0"/>
                        </a:spcAft>
                        <a:buNone/>
                      </a:pPr>
                      <a:r>
                        <a:rPr i="1" lang="en">
                          <a:solidFill>
                            <a:srgbClr val="595959"/>
                          </a:solidFill>
                          <a:latin typeface="Roboto"/>
                          <a:ea typeface="Roboto"/>
                          <a:cs typeface="Roboto"/>
                          <a:sym typeface="Roboto"/>
                        </a:rPr>
                        <a:t>Leon Poutievski et. al. (Google)</a:t>
                      </a:r>
                      <a:endParaRPr i="1">
                        <a:solidFill>
                          <a:srgbClr val="595959"/>
                        </a:solidFill>
                        <a:latin typeface="Roboto"/>
                        <a:ea typeface="Roboto"/>
                        <a:cs typeface="Roboto"/>
                        <a:sym typeface="Roboto"/>
                      </a:endParaRPr>
                    </a:p>
                  </a:txBody>
                  <a:tcPr marT="91425" marB="91425" marR="91425" marL="91425">
                    <a:lnL cap="flat" cmpd="sng" w="1905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gridSpan="2">
                  <a:txBody>
                    <a:bodyPr/>
                    <a:lstStyle/>
                    <a:p>
                      <a:pPr indent="0" lvl="0" marL="0" rtl="0" algn="r">
                        <a:spcBef>
                          <a:spcPts val="0"/>
                        </a:spcBef>
                        <a:spcAft>
                          <a:spcPts val="0"/>
                        </a:spcAft>
                        <a:buNone/>
                      </a:pPr>
                      <a:r>
                        <a:rPr i="1" lang="en">
                          <a:solidFill>
                            <a:srgbClr val="595959"/>
                          </a:solidFill>
                          <a:latin typeface="Roboto"/>
                          <a:ea typeface="Roboto"/>
                          <a:cs typeface="Roboto"/>
                          <a:sym typeface="Roboto"/>
                        </a:rPr>
                        <a:t>ACM SIGCOMM 2022</a:t>
                      </a:r>
                      <a:endParaRPr i="1">
                        <a:solidFill>
                          <a:srgbClr val="595959"/>
                        </a:solidFill>
                        <a:latin typeface="Roboto"/>
                        <a:ea typeface="Roboto"/>
                        <a:cs typeface="Roboto"/>
                        <a:sym typeface="Roboto"/>
                      </a:endParaRPr>
                    </a:p>
                  </a:txBody>
                  <a:tcPr marT="91425" marB="91425" marR="91425" marL="91425">
                    <a:lnL cap="flat" cmpd="sng" w="9525">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sp>
        <p:nvSpPr>
          <p:cNvPr id="875" name="Google Shape;875;p5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Improving Efficiency of Datacenters Using SDN</a:t>
            </a:r>
            <a:endParaRPr/>
          </a:p>
        </p:txBody>
      </p:sp>
      <p:sp>
        <p:nvSpPr>
          <p:cNvPr id="876" name="Google Shape;876;p56"/>
          <p:cNvSpPr txBox="1"/>
          <p:nvPr>
            <p:ph idx="1" type="body"/>
          </p:nvPr>
        </p:nvSpPr>
        <p:spPr>
          <a:xfrm>
            <a:off x="107050" y="402200"/>
            <a:ext cx="8909700" cy="1139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Elimination of stages in a Clos topology by adding dynamic links.</a:t>
            </a:r>
            <a:endParaRPr/>
          </a:p>
          <a:p>
            <a:pPr indent="0" lvl="0" marL="0" rtl="0" algn="l">
              <a:spcBef>
                <a:spcPts val="600"/>
              </a:spcBef>
              <a:spcAft>
                <a:spcPts val="0"/>
              </a:spcAft>
              <a:buNone/>
            </a:pPr>
            <a:r>
              <a:rPr lang="en"/>
              <a:t>Enabled by SDN.</a:t>
            </a:r>
            <a:endParaRPr/>
          </a:p>
        </p:txBody>
      </p:sp>
      <p:pic>
        <p:nvPicPr>
          <p:cNvPr id="877" name="Google Shape;877;p56"/>
          <p:cNvPicPr preferRelativeResize="0"/>
          <p:nvPr/>
        </p:nvPicPr>
        <p:blipFill rotWithShape="1">
          <a:blip r:embed="rId4">
            <a:alphaModFix/>
          </a:blip>
          <a:srcRect b="0" l="0" r="0" t="3409"/>
          <a:stretch/>
        </p:blipFill>
        <p:spPr>
          <a:xfrm>
            <a:off x="1922588" y="2958425"/>
            <a:ext cx="5278625" cy="20115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5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Other Applications of SDN</a:t>
            </a:r>
            <a:endParaRPr/>
          </a:p>
        </p:txBody>
      </p:sp>
      <p:sp>
        <p:nvSpPr>
          <p:cNvPr id="883" name="Google Shape;883;p5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21</a:t>
            </a:r>
            <a:r>
              <a:rPr lang="en"/>
              <a:t>, CS 168, </a:t>
            </a:r>
            <a:r>
              <a:rPr lang="en"/>
              <a:t>Summer 2025</a:t>
            </a:r>
            <a:endParaRPr/>
          </a:p>
        </p:txBody>
      </p:sp>
      <p:sp>
        <p:nvSpPr>
          <p:cNvPr id="884" name="Google Shape;884;p57"/>
          <p:cNvSpPr txBox="1"/>
          <p:nvPr>
            <p:ph idx="1" type="body"/>
          </p:nvPr>
        </p:nvSpPr>
        <p:spPr>
          <a:xfrm>
            <a:off x="4812375" y="434100"/>
            <a:ext cx="4038000" cy="42753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Software-Defined Networking</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 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Implementation (OpenFlow API)</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Benefits (Traffic Engineering)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SDN in Datacenters</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Other Applications of SDN</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Optimizations at the Host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What is Host Networking?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Shared Memory in User Space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Brief History of 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RDMA Example</a:t>
            </a:r>
            <a:endParaRPr>
              <a:solidFill>
                <a:srgbClr val="B7B7B7"/>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5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SDN in Wide-Area Networks (WAN)</a:t>
            </a:r>
            <a:endParaRPr/>
          </a:p>
        </p:txBody>
      </p:sp>
      <p:sp>
        <p:nvSpPr>
          <p:cNvPr id="890" name="Google Shape;890;p58"/>
          <p:cNvSpPr txBox="1"/>
          <p:nvPr>
            <p:ph idx="1" type="body"/>
          </p:nvPr>
        </p:nvSpPr>
        <p:spPr>
          <a:xfrm>
            <a:off x="107050" y="402200"/>
            <a:ext cx="8909700" cy="174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benefits of traffic engineering (e.g. efficiency, simplicity) apply to general WANs as well.</a:t>
            </a:r>
            <a:endParaRPr/>
          </a:p>
          <a:p>
            <a:pPr indent="0" lvl="0" marL="0" rtl="0" algn="l">
              <a:spcBef>
                <a:spcPts val="600"/>
              </a:spcBef>
              <a:spcAft>
                <a:spcPts val="0"/>
              </a:spcAft>
              <a:buNone/>
            </a:pPr>
            <a:r>
              <a:rPr lang="en"/>
              <a:t>Example: SDN control planes let us use expensive network resources (e.g. undersea cables) more efficiently.</a:t>
            </a:r>
            <a:endParaRPr/>
          </a:p>
        </p:txBody>
      </p:sp>
      <p:sp>
        <p:nvSpPr>
          <p:cNvPr id="891" name="Google Shape;891;p58"/>
          <p:cNvSpPr/>
          <p:nvPr/>
        </p:nvSpPr>
        <p:spPr>
          <a:xfrm>
            <a:off x="3585025" y="3519066"/>
            <a:ext cx="3624775" cy="829675"/>
          </a:xfrm>
          <a:custGeom>
            <a:rect b="b" l="l" r="r" t="t"/>
            <a:pathLst>
              <a:path extrusionOk="0" h="33187" w="144991">
                <a:moveTo>
                  <a:pt x="0" y="1523"/>
                </a:moveTo>
                <a:cubicBezTo>
                  <a:pt x="5468" y="1664"/>
                  <a:pt x="20920" y="-2498"/>
                  <a:pt x="32808" y="2370"/>
                </a:cubicBezTo>
                <a:cubicBezTo>
                  <a:pt x="44697" y="7238"/>
                  <a:pt x="56267" y="26036"/>
                  <a:pt x="71331" y="30733"/>
                </a:cubicBezTo>
                <a:cubicBezTo>
                  <a:pt x="86395" y="35430"/>
                  <a:pt x="110913" y="32241"/>
                  <a:pt x="123190" y="30553"/>
                </a:cubicBezTo>
                <a:cubicBezTo>
                  <a:pt x="135467" y="28865"/>
                  <a:pt x="141358" y="22263"/>
                  <a:pt x="144991" y="20605"/>
                </a:cubicBezTo>
              </a:path>
            </a:pathLst>
          </a:custGeom>
          <a:noFill/>
          <a:ln cap="flat" cmpd="sng" w="28575">
            <a:solidFill>
              <a:srgbClr val="FF00FF"/>
            </a:solidFill>
            <a:prstDash val="solid"/>
            <a:round/>
            <a:headEnd len="med" w="med" type="none"/>
            <a:tailEnd len="med" w="med" type="triangle"/>
          </a:ln>
        </p:spPr>
      </p:sp>
      <p:sp>
        <p:nvSpPr>
          <p:cNvPr id="892" name="Google Shape;892;p58"/>
          <p:cNvSpPr/>
          <p:nvPr/>
        </p:nvSpPr>
        <p:spPr>
          <a:xfrm flipH="1" rot="10800000">
            <a:off x="3498225" y="3663371"/>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F00FF"/>
            </a:solidFill>
            <a:prstDash val="solid"/>
            <a:round/>
            <a:headEnd len="med" w="med" type="none"/>
            <a:tailEnd len="med" w="med" type="triangle"/>
          </a:ln>
        </p:spPr>
      </p:sp>
      <p:sp>
        <p:nvSpPr>
          <p:cNvPr id="893" name="Google Shape;893;p58"/>
          <p:cNvSpPr/>
          <p:nvPr/>
        </p:nvSpPr>
        <p:spPr>
          <a:xfrm>
            <a:off x="4157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894" name="Google Shape;894;p58"/>
          <p:cNvCxnSpPr>
            <a:stCxn id="893" idx="1"/>
            <a:endCxn id="895" idx="6"/>
          </p:cNvCxnSpPr>
          <p:nvPr/>
        </p:nvCxnSpPr>
        <p:spPr>
          <a:xfrm rot="10800000">
            <a:off x="3680363" y="3621400"/>
            <a:ext cx="477000" cy="0"/>
          </a:xfrm>
          <a:prstGeom prst="straightConnector1">
            <a:avLst/>
          </a:prstGeom>
          <a:noFill/>
          <a:ln cap="flat" cmpd="sng" w="19050">
            <a:solidFill>
              <a:srgbClr val="000000"/>
            </a:solidFill>
            <a:prstDash val="solid"/>
            <a:round/>
            <a:headEnd len="med" w="med" type="none"/>
            <a:tailEnd len="med" w="med" type="none"/>
          </a:ln>
        </p:spPr>
      </p:cxnSp>
      <p:sp>
        <p:nvSpPr>
          <p:cNvPr id="895" name="Google Shape;895;p58"/>
          <p:cNvSpPr/>
          <p:nvPr/>
        </p:nvSpPr>
        <p:spPr>
          <a:xfrm>
            <a:off x="3395363" y="3478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896" name="Google Shape;896;p58"/>
          <p:cNvCxnSpPr>
            <a:stCxn id="897" idx="1"/>
            <a:endCxn id="898" idx="6"/>
          </p:cNvCxnSpPr>
          <p:nvPr/>
        </p:nvCxnSpPr>
        <p:spPr>
          <a:xfrm rot="10800000">
            <a:off x="3680363" y="4383400"/>
            <a:ext cx="477000" cy="0"/>
          </a:xfrm>
          <a:prstGeom prst="straightConnector1">
            <a:avLst/>
          </a:prstGeom>
          <a:noFill/>
          <a:ln cap="flat" cmpd="sng" w="19050">
            <a:solidFill>
              <a:srgbClr val="000000"/>
            </a:solidFill>
            <a:prstDash val="solid"/>
            <a:round/>
            <a:headEnd len="med" w="med" type="none"/>
            <a:tailEnd len="med" w="med" type="none"/>
          </a:ln>
        </p:spPr>
      </p:cxnSp>
      <p:sp>
        <p:nvSpPr>
          <p:cNvPr id="899" name="Google Shape;899;p58"/>
          <p:cNvSpPr/>
          <p:nvPr/>
        </p:nvSpPr>
        <p:spPr>
          <a:xfrm>
            <a:off x="5300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900" name="Google Shape;900;p58"/>
          <p:cNvCxnSpPr>
            <a:stCxn id="899" idx="1"/>
            <a:endCxn id="893" idx="3"/>
          </p:cNvCxnSpPr>
          <p:nvPr/>
        </p:nvCxnSpPr>
        <p:spPr>
          <a:xfrm rot="10800000">
            <a:off x="4442363" y="3621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901" name="Google Shape;901;p58"/>
          <p:cNvCxnSpPr>
            <a:stCxn id="902" idx="1"/>
            <a:endCxn id="893" idx="3"/>
          </p:cNvCxnSpPr>
          <p:nvPr/>
        </p:nvCxnSpPr>
        <p:spPr>
          <a:xfrm rot="10800000">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903" name="Google Shape;903;p58"/>
          <p:cNvCxnSpPr>
            <a:stCxn id="899" idx="1"/>
            <a:endCxn id="897" idx="3"/>
          </p:cNvCxnSpPr>
          <p:nvPr/>
        </p:nvCxnSpPr>
        <p:spPr>
          <a:xfrm flipH="1">
            <a:off x="4442363" y="3621400"/>
            <a:ext cx="858000" cy="762000"/>
          </a:xfrm>
          <a:prstGeom prst="straightConnector1">
            <a:avLst/>
          </a:prstGeom>
          <a:noFill/>
          <a:ln cap="flat" cmpd="sng" w="19050">
            <a:solidFill>
              <a:srgbClr val="000000"/>
            </a:solidFill>
            <a:prstDash val="solid"/>
            <a:round/>
            <a:headEnd len="med" w="med" type="none"/>
            <a:tailEnd len="med" w="med" type="none"/>
          </a:ln>
        </p:spPr>
      </p:cxnSp>
      <p:cxnSp>
        <p:nvCxnSpPr>
          <p:cNvPr id="904" name="Google Shape;904;p58"/>
          <p:cNvCxnSpPr>
            <a:stCxn id="902" idx="1"/>
            <a:endCxn id="897" idx="3"/>
          </p:cNvCxnSpPr>
          <p:nvPr/>
        </p:nvCxnSpPr>
        <p:spPr>
          <a:xfrm rot="10800000">
            <a:off x="4442363" y="4383400"/>
            <a:ext cx="858000" cy="0"/>
          </a:xfrm>
          <a:prstGeom prst="straightConnector1">
            <a:avLst/>
          </a:prstGeom>
          <a:noFill/>
          <a:ln cap="flat" cmpd="sng" w="19050">
            <a:solidFill>
              <a:srgbClr val="000000"/>
            </a:solidFill>
            <a:prstDash val="solid"/>
            <a:round/>
            <a:headEnd len="med" w="med" type="none"/>
            <a:tailEnd len="med" w="med" type="none"/>
          </a:ln>
        </p:spPr>
      </p:cxnSp>
      <p:sp>
        <p:nvSpPr>
          <p:cNvPr id="905" name="Google Shape;905;p58"/>
          <p:cNvSpPr/>
          <p:nvPr/>
        </p:nvSpPr>
        <p:spPr>
          <a:xfrm>
            <a:off x="6443363" y="3478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906" name="Google Shape;906;p58"/>
          <p:cNvCxnSpPr>
            <a:stCxn id="907" idx="1"/>
            <a:endCxn id="902" idx="3"/>
          </p:cNvCxnSpPr>
          <p:nvPr/>
        </p:nvCxnSpPr>
        <p:spPr>
          <a:xfrm rot="10800000">
            <a:off x="5585363" y="4383400"/>
            <a:ext cx="858000" cy="0"/>
          </a:xfrm>
          <a:prstGeom prst="straightConnector1">
            <a:avLst/>
          </a:prstGeom>
          <a:noFill/>
          <a:ln cap="flat" cmpd="sng" w="19050">
            <a:solidFill>
              <a:srgbClr val="000000"/>
            </a:solidFill>
            <a:prstDash val="solid"/>
            <a:round/>
            <a:headEnd len="med" w="med" type="none"/>
            <a:tailEnd len="med" w="med" type="none"/>
          </a:ln>
        </p:spPr>
      </p:cxnSp>
      <p:cxnSp>
        <p:nvCxnSpPr>
          <p:cNvPr id="908" name="Google Shape;908;p58"/>
          <p:cNvCxnSpPr>
            <a:stCxn id="905" idx="1"/>
            <a:endCxn id="899" idx="3"/>
          </p:cNvCxnSpPr>
          <p:nvPr/>
        </p:nvCxnSpPr>
        <p:spPr>
          <a:xfrm rot="10800000">
            <a:off x="5585363" y="3621400"/>
            <a:ext cx="858000" cy="0"/>
          </a:xfrm>
          <a:prstGeom prst="straightConnector1">
            <a:avLst/>
          </a:prstGeom>
          <a:noFill/>
          <a:ln cap="flat" cmpd="sng" w="19050">
            <a:solidFill>
              <a:srgbClr val="000000"/>
            </a:solidFill>
            <a:prstDash val="solid"/>
            <a:round/>
            <a:headEnd len="med" w="med" type="none"/>
            <a:tailEnd len="med" w="med" type="none"/>
          </a:ln>
        </p:spPr>
      </p:cxnSp>
      <p:sp>
        <p:nvSpPr>
          <p:cNvPr id="909" name="Google Shape;909;p58"/>
          <p:cNvSpPr/>
          <p:nvPr/>
        </p:nvSpPr>
        <p:spPr>
          <a:xfrm>
            <a:off x="7205363" y="3859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cxnSp>
        <p:nvCxnSpPr>
          <p:cNvPr id="910" name="Google Shape;910;p58"/>
          <p:cNvCxnSpPr>
            <a:stCxn id="909" idx="1"/>
            <a:endCxn id="905" idx="3"/>
          </p:cNvCxnSpPr>
          <p:nvPr/>
        </p:nvCxnSpPr>
        <p:spPr>
          <a:xfrm rot="10800000">
            <a:off x="6728400" y="3621437"/>
            <a:ext cx="518700" cy="280200"/>
          </a:xfrm>
          <a:prstGeom prst="straightConnector1">
            <a:avLst/>
          </a:prstGeom>
          <a:noFill/>
          <a:ln cap="flat" cmpd="sng" w="19050">
            <a:solidFill>
              <a:srgbClr val="000000"/>
            </a:solidFill>
            <a:prstDash val="solid"/>
            <a:round/>
            <a:headEnd len="med" w="med" type="none"/>
            <a:tailEnd len="med" w="med" type="none"/>
          </a:ln>
        </p:spPr>
      </p:cxnSp>
      <p:cxnSp>
        <p:nvCxnSpPr>
          <p:cNvPr id="911" name="Google Shape;911;p58"/>
          <p:cNvCxnSpPr>
            <a:stCxn id="909" idx="3"/>
            <a:endCxn id="907" idx="3"/>
          </p:cNvCxnSpPr>
          <p:nvPr/>
        </p:nvCxnSpPr>
        <p:spPr>
          <a:xfrm flipH="1">
            <a:off x="6728400" y="4103162"/>
            <a:ext cx="518700" cy="280200"/>
          </a:xfrm>
          <a:prstGeom prst="straightConnector1">
            <a:avLst/>
          </a:prstGeom>
          <a:noFill/>
          <a:ln cap="flat" cmpd="sng" w="19050">
            <a:solidFill>
              <a:srgbClr val="000000"/>
            </a:solidFill>
            <a:prstDash val="solid"/>
            <a:round/>
            <a:headEnd len="med" w="med" type="none"/>
            <a:tailEnd len="med" w="med" type="none"/>
          </a:ln>
        </p:spPr>
      </p:cxnSp>
      <p:sp>
        <p:nvSpPr>
          <p:cNvPr id="912" name="Google Shape;912;p58"/>
          <p:cNvSpPr txBox="1"/>
          <p:nvPr/>
        </p:nvSpPr>
        <p:spPr>
          <a:xfrm>
            <a:off x="4795625" y="4696025"/>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All links 10 Gbps.</a:t>
            </a:r>
            <a:endParaRPr>
              <a:solidFill>
                <a:schemeClr val="dk1"/>
              </a:solidFill>
              <a:latin typeface="Roboto"/>
              <a:ea typeface="Roboto"/>
              <a:cs typeface="Roboto"/>
              <a:sym typeface="Roboto"/>
            </a:endParaRPr>
          </a:p>
        </p:txBody>
      </p:sp>
      <p:sp>
        <p:nvSpPr>
          <p:cNvPr id="913" name="Google Shape;913;p58"/>
          <p:cNvSpPr/>
          <p:nvPr/>
        </p:nvSpPr>
        <p:spPr>
          <a:xfrm>
            <a:off x="3574425" y="4143250"/>
            <a:ext cx="3701350" cy="337750"/>
          </a:xfrm>
          <a:custGeom>
            <a:rect b="b" l="l" r="r" t="t"/>
            <a:pathLst>
              <a:path extrusionOk="0" h="13510" w="148054">
                <a:moveTo>
                  <a:pt x="0" y="12963"/>
                </a:moveTo>
                <a:cubicBezTo>
                  <a:pt x="19391" y="12871"/>
                  <a:pt x="91670" y="14569"/>
                  <a:pt x="116346" y="12408"/>
                </a:cubicBezTo>
                <a:cubicBezTo>
                  <a:pt x="141022" y="10248"/>
                  <a:pt x="142769" y="2068"/>
                  <a:pt x="148054" y="0"/>
                </a:cubicBezTo>
              </a:path>
            </a:pathLst>
          </a:custGeom>
          <a:noFill/>
          <a:ln cap="flat" cmpd="sng" w="28575">
            <a:solidFill>
              <a:srgbClr val="F1C232"/>
            </a:solidFill>
            <a:prstDash val="solid"/>
            <a:round/>
            <a:headEnd len="med" w="med" type="none"/>
            <a:tailEnd len="med" w="med" type="triangle"/>
          </a:ln>
        </p:spPr>
      </p:sp>
      <p:sp>
        <p:nvSpPr>
          <p:cNvPr id="897" name="Google Shape;897;p58"/>
          <p:cNvSpPr/>
          <p:nvPr/>
        </p:nvSpPr>
        <p:spPr>
          <a:xfrm>
            <a:off x="4157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902" name="Google Shape;902;p58"/>
          <p:cNvSpPr/>
          <p:nvPr/>
        </p:nvSpPr>
        <p:spPr>
          <a:xfrm>
            <a:off x="5300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
        <p:nvSpPr>
          <p:cNvPr id="907" name="Google Shape;907;p58"/>
          <p:cNvSpPr/>
          <p:nvPr/>
        </p:nvSpPr>
        <p:spPr>
          <a:xfrm>
            <a:off x="6443363" y="4240900"/>
            <a:ext cx="285000" cy="285000"/>
          </a:xfrm>
          <a:prstGeom prst="rect">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898" name="Google Shape;898;p58"/>
          <p:cNvSpPr/>
          <p:nvPr/>
        </p:nvSpPr>
        <p:spPr>
          <a:xfrm>
            <a:off x="3395363" y="4240900"/>
            <a:ext cx="285000" cy="285000"/>
          </a:xfrm>
          <a:prstGeom prst="ellipse">
            <a:avLst/>
          </a:prstGeom>
          <a:solidFill>
            <a:srgbClr val="FFFFFF">
              <a:alpha val="75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914" name="Google Shape;914;p58"/>
          <p:cNvSpPr txBox="1"/>
          <p:nvPr/>
        </p:nvSpPr>
        <p:spPr>
          <a:xfrm>
            <a:off x="1665800" y="3513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FF00FF"/>
                </a:solidFill>
                <a:latin typeface="Roboto"/>
                <a:ea typeface="Roboto"/>
                <a:cs typeface="Roboto"/>
                <a:sym typeface="Roboto"/>
              </a:rPr>
              <a:t>A → C = 12 Gbps</a:t>
            </a:r>
            <a:endParaRPr>
              <a:solidFill>
                <a:srgbClr val="FF00FF"/>
              </a:solidFill>
              <a:latin typeface="Roboto"/>
              <a:ea typeface="Roboto"/>
              <a:cs typeface="Roboto"/>
              <a:sym typeface="Roboto"/>
            </a:endParaRPr>
          </a:p>
        </p:txBody>
      </p:sp>
      <p:sp>
        <p:nvSpPr>
          <p:cNvPr id="915" name="Google Shape;915;p58"/>
          <p:cNvSpPr txBox="1"/>
          <p:nvPr/>
        </p:nvSpPr>
        <p:spPr>
          <a:xfrm>
            <a:off x="1665800" y="4275700"/>
            <a:ext cx="14565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E69138"/>
                </a:solidFill>
                <a:latin typeface="Roboto"/>
                <a:ea typeface="Roboto"/>
                <a:cs typeface="Roboto"/>
                <a:sym typeface="Roboto"/>
              </a:rPr>
              <a:t>B → C = 8 Gbps</a:t>
            </a:r>
            <a:endParaRPr>
              <a:solidFill>
                <a:srgbClr val="E69138"/>
              </a:solidFill>
              <a:latin typeface="Roboto"/>
              <a:ea typeface="Roboto"/>
              <a:cs typeface="Roboto"/>
              <a:sym typeface="Roboto"/>
            </a:endParaRPr>
          </a:p>
        </p:txBody>
      </p:sp>
      <p:sp>
        <p:nvSpPr>
          <p:cNvPr id="916" name="Google Shape;916;p58"/>
          <p:cNvSpPr/>
          <p:nvPr/>
        </p:nvSpPr>
        <p:spPr>
          <a:xfrm>
            <a:off x="4484300" y="2770975"/>
            <a:ext cx="1881600" cy="570300"/>
          </a:xfrm>
          <a:prstGeom prst="wedgeRoundRectCallout">
            <a:avLst>
              <a:gd fmla="val -60787" name="adj1"/>
              <a:gd fmla="val 58154"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Send 10 Gbps to R2, and 2 Gbps to R6.</a:t>
            </a:r>
            <a:endParaRPr>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59"/>
          <p:cNvSpPr/>
          <p:nvPr/>
        </p:nvSpPr>
        <p:spPr>
          <a:xfrm>
            <a:off x="6880850" y="1520300"/>
            <a:ext cx="2070300" cy="22944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Developed by an equipment vendor.</a:t>
            </a:r>
            <a:endParaRPr>
              <a:latin typeface="Roboto"/>
              <a:ea typeface="Roboto"/>
              <a:cs typeface="Roboto"/>
              <a:sym typeface="Roboto"/>
            </a:endParaRPr>
          </a:p>
        </p:txBody>
      </p:sp>
      <p:sp>
        <p:nvSpPr>
          <p:cNvPr id="922" name="Google Shape;922;p5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Innovating Routers</a:t>
            </a:r>
            <a:endParaRPr/>
          </a:p>
        </p:txBody>
      </p:sp>
      <p:sp>
        <p:nvSpPr>
          <p:cNvPr id="923" name="Google Shape;923;p59"/>
          <p:cNvSpPr txBox="1"/>
          <p:nvPr>
            <p:ph idx="1" type="body"/>
          </p:nvPr>
        </p:nvSpPr>
        <p:spPr>
          <a:xfrm>
            <a:off x="107050" y="402200"/>
            <a:ext cx="66552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management plane is loosely standardized.</a:t>
            </a:r>
            <a:endParaRPr/>
          </a:p>
          <a:p>
            <a:pPr indent="-342900" lvl="0" marL="457200" rtl="0" algn="l">
              <a:spcBef>
                <a:spcPts val="600"/>
              </a:spcBef>
              <a:spcAft>
                <a:spcPts val="0"/>
              </a:spcAft>
              <a:buSzPts val="1800"/>
              <a:buChar char="●"/>
            </a:pPr>
            <a:r>
              <a:rPr lang="en"/>
              <a:t>Recall: The management plane is how operators configure and monitor routers.</a:t>
            </a:r>
            <a:endParaRPr/>
          </a:p>
          <a:p>
            <a:pPr indent="-342900" lvl="0" marL="457200" rtl="0" algn="l">
              <a:spcBef>
                <a:spcPts val="0"/>
              </a:spcBef>
              <a:spcAft>
                <a:spcPts val="0"/>
              </a:spcAft>
              <a:buSzPts val="1800"/>
              <a:buChar char="●"/>
            </a:pPr>
            <a:r>
              <a:rPr lang="en"/>
              <a:t>Often a bottleneck for network operations.</a:t>
            </a:r>
            <a:endParaRPr/>
          </a:p>
          <a:p>
            <a:pPr indent="-342900" lvl="1" marL="914400" rtl="0" algn="l">
              <a:spcBef>
                <a:spcPts val="0"/>
              </a:spcBef>
              <a:spcAft>
                <a:spcPts val="0"/>
              </a:spcAft>
              <a:buSzPts val="1800"/>
              <a:buChar char="○"/>
            </a:pPr>
            <a:r>
              <a:rPr lang="en"/>
              <a:t>Historically, less focus on this plane.</a:t>
            </a:r>
            <a:endParaRPr/>
          </a:p>
          <a:p>
            <a:pPr indent="-342900" lvl="1" marL="914400" rtl="0" algn="l">
              <a:spcBef>
                <a:spcPts val="0"/>
              </a:spcBef>
              <a:spcAft>
                <a:spcPts val="0"/>
              </a:spcAft>
              <a:buSzPts val="1800"/>
              <a:buChar char="○"/>
            </a:pPr>
            <a:r>
              <a:rPr lang="en"/>
              <a:t>Slow evolution toward using scripts to programmatically control the network.</a:t>
            </a:r>
            <a:endParaRPr/>
          </a:p>
          <a:p>
            <a:pPr indent="0" lvl="0" marL="0" rtl="0" algn="l">
              <a:spcBef>
                <a:spcPts val="600"/>
              </a:spcBef>
              <a:spcAft>
                <a:spcPts val="0"/>
              </a:spcAft>
              <a:buNone/>
            </a:pPr>
            <a:r>
              <a:rPr lang="en"/>
              <a:t>SDN lets us try new approaches to management, too.</a:t>
            </a:r>
            <a:endParaRPr/>
          </a:p>
          <a:p>
            <a:pPr indent="-342900" lvl="0" marL="457200" rtl="0" algn="l">
              <a:spcBef>
                <a:spcPts val="600"/>
              </a:spcBef>
              <a:spcAft>
                <a:spcPts val="0"/>
              </a:spcAft>
              <a:buSzPts val="1800"/>
              <a:buChar char="●"/>
            </a:pPr>
            <a:r>
              <a:rPr lang="en"/>
              <a:t>One of SDN's lessons is well-defined, programmatic APIs.</a:t>
            </a:r>
            <a:endParaRPr/>
          </a:p>
          <a:p>
            <a:pPr indent="-342900" lvl="0" marL="457200" rtl="0" algn="l">
              <a:spcBef>
                <a:spcPts val="0"/>
              </a:spcBef>
              <a:spcAft>
                <a:spcPts val="0"/>
              </a:spcAft>
              <a:buSzPts val="1800"/>
              <a:buChar char="●"/>
            </a:pPr>
            <a:r>
              <a:rPr lang="en"/>
              <a:t>This lesson also applies to the management plane.</a:t>
            </a:r>
            <a:endParaRPr/>
          </a:p>
        </p:txBody>
      </p:sp>
      <p:sp>
        <p:nvSpPr>
          <p:cNvPr id="924" name="Google Shape;924;p59"/>
          <p:cNvSpPr/>
          <p:nvPr/>
        </p:nvSpPr>
        <p:spPr>
          <a:xfrm>
            <a:off x="6999450" y="2673674"/>
            <a:ext cx="1854600" cy="5175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 Plane</a:t>
            </a:r>
            <a:endParaRPr>
              <a:latin typeface="Roboto"/>
              <a:ea typeface="Roboto"/>
              <a:cs typeface="Roboto"/>
              <a:sym typeface="Roboto"/>
            </a:endParaRPr>
          </a:p>
        </p:txBody>
      </p:sp>
      <p:sp>
        <p:nvSpPr>
          <p:cNvPr id="925" name="Google Shape;925;p59"/>
          <p:cNvSpPr/>
          <p:nvPr/>
        </p:nvSpPr>
        <p:spPr>
          <a:xfrm>
            <a:off x="6999450" y="2156075"/>
            <a:ext cx="1854600" cy="51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Control Plane</a:t>
            </a:r>
            <a:endParaRPr>
              <a:latin typeface="Roboto"/>
              <a:ea typeface="Roboto"/>
              <a:cs typeface="Roboto"/>
              <a:sym typeface="Roboto"/>
            </a:endParaRPr>
          </a:p>
        </p:txBody>
      </p:sp>
      <p:sp>
        <p:nvSpPr>
          <p:cNvPr id="926" name="Google Shape;926;p59"/>
          <p:cNvSpPr/>
          <p:nvPr/>
        </p:nvSpPr>
        <p:spPr>
          <a:xfrm>
            <a:off x="6999450" y="1638475"/>
            <a:ext cx="1854600" cy="517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Management Plane</a:t>
            </a:r>
            <a:endParaRPr>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6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SDN in the Data Plane?</a:t>
            </a:r>
            <a:endParaRPr/>
          </a:p>
        </p:txBody>
      </p:sp>
      <p:sp>
        <p:nvSpPr>
          <p:cNvPr id="932" name="Google Shape;932;p6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SDN has mostly focused on the control plane.</a:t>
            </a:r>
            <a:endParaRPr/>
          </a:p>
          <a:p>
            <a:pPr indent="0" lvl="0" marL="0" rtl="0" algn="l">
              <a:spcBef>
                <a:spcPts val="600"/>
              </a:spcBef>
              <a:spcAft>
                <a:spcPts val="0"/>
              </a:spcAft>
              <a:buNone/>
            </a:pPr>
            <a:r>
              <a:rPr lang="en"/>
              <a:t>Relatively standard set of lookup tables and behaviors available.</a:t>
            </a:r>
            <a:endParaRPr/>
          </a:p>
          <a:p>
            <a:pPr indent="-342900" lvl="0" marL="457200" rtl="0" algn="l">
              <a:spcBef>
                <a:spcPts val="600"/>
              </a:spcBef>
              <a:spcAft>
                <a:spcPts val="0"/>
              </a:spcAft>
              <a:buSzPts val="1800"/>
              <a:buChar char="●"/>
            </a:pPr>
            <a:r>
              <a:rPr lang="en"/>
              <a:t>Other than in software-based data planes. (low-scale!)</a:t>
            </a:r>
            <a:endParaRPr/>
          </a:p>
          <a:p>
            <a:pPr indent="0" lvl="0" marL="0" rtl="0" algn="l">
              <a:spcBef>
                <a:spcPts val="600"/>
              </a:spcBef>
              <a:spcAft>
                <a:spcPts val="0"/>
              </a:spcAft>
              <a:buNone/>
            </a:pPr>
            <a:r>
              <a:rPr lang="en"/>
              <a:t>What happens if the dataplane is the inflexible part?</a:t>
            </a:r>
            <a:endParaRPr/>
          </a:p>
          <a:p>
            <a:pPr indent="-342900" lvl="0" marL="457200" rtl="0" algn="l">
              <a:spcBef>
                <a:spcPts val="600"/>
              </a:spcBef>
              <a:spcAft>
                <a:spcPts val="0"/>
              </a:spcAft>
              <a:buSzPts val="1800"/>
              <a:buChar char="●"/>
            </a:pPr>
            <a:r>
              <a:rPr lang="en"/>
              <a:t>Programming Protocol-Independent Packet Processors (P4)</a:t>
            </a:r>
            <a:endParaRPr/>
          </a:p>
          <a:p>
            <a:pPr indent="-342900" lvl="0" marL="457200" rtl="0" algn="l">
              <a:spcBef>
                <a:spcPts val="0"/>
              </a:spcBef>
              <a:spcAft>
                <a:spcPts val="0"/>
              </a:spcAft>
              <a:buSzPts val="1800"/>
              <a:buChar char="●"/>
            </a:pPr>
            <a:r>
              <a:rPr lang="en"/>
              <a:t>Open-source, domain-specific language for telling a device how to process packets.</a:t>
            </a:r>
            <a:endParaRPr/>
          </a:p>
          <a:p>
            <a:pPr indent="-342900" lvl="0" marL="457200" rtl="0" algn="l">
              <a:spcBef>
                <a:spcPts val="0"/>
              </a:spcBef>
              <a:spcAft>
                <a:spcPts val="0"/>
              </a:spcAft>
              <a:buSzPts val="1800"/>
              <a:buChar char="●"/>
            </a:pPr>
            <a:r>
              <a:rPr lang="en"/>
              <a:t>Programmability at the data plane.</a:t>
            </a:r>
            <a:endParaRPr/>
          </a:p>
          <a:p>
            <a:pPr indent="0" lvl="0" marL="0" rtl="0" algn="l">
              <a:spcBef>
                <a:spcPts val="600"/>
              </a:spcBef>
              <a:spcAft>
                <a:spcPts val="0"/>
              </a:spcAft>
              <a:buNone/>
            </a:pPr>
            <a:r>
              <a:rPr lang="en"/>
              <a:t>Some challenges:</a:t>
            </a:r>
            <a:endParaRPr/>
          </a:p>
          <a:p>
            <a:pPr indent="-342900" lvl="0" marL="457200" rtl="0" algn="l">
              <a:spcBef>
                <a:spcPts val="600"/>
              </a:spcBef>
              <a:spcAft>
                <a:spcPts val="0"/>
              </a:spcAft>
              <a:buSzPts val="1800"/>
              <a:buChar char="●"/>
            </a:pPr>
            <a:r>
              <a:rPr lang="en"/>
              <a:t>Fixed functionality forwarding chips (needed for speed) are not arbitrarily flexible.</a:t>
            </a:r>
            <a:endParaRPr/>
          </a:p>
          <a:p>
            <a:pPr indent="-342900" lvl="0" marL="457200" rtl="0" algn="l">
              <a:spcBef>
                <a:spcPts val="0"/>
              </a:spcBef>
              <a:spcAft>
                <a:spcPts val="0"/>
              </a:spcAft>
              <a:buSzPts val="1800"/>
              <a:buChar char="●"/>
            </a:pPr>
            <a:r>
              <a:rPr lang="en"/>
              <a:t>Programmable chips are lower performance, and higher cost.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6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SDN</a:t>
            </a:r>
            <a:endParaRPr/>
          </a:p>
        </p:txBody>
      </p:sp>
      <p:sp>
        <p:nvSpPr>
          <p:cNvPr id="938" name="Google Shape;938;p6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SDN evolved from inflexibility of the control plane to meet different operational requirements.</a:t>
            </a:r>
            <a:endParaRPr/>
          </a:p>
          <a:p>
            <a:pPr indent="-342900" lvl="0" marL="457200" rtl="0" algn="l">
              <a:spcBef>
                <a:spcPts val="0"/>
              </a:spcBef>
              <a:spcAft>
                <a:spcPts val="0"/>
              </a:spcAft>
              <a:buSzPts val="1800"/>
              <a:buChar char="●"/>
            </a:pPr>
            <a:r>
              <a:rPr lang="en"/>
              <a:t>It splits the control and data planes to make the control plane more flexible.</a:t>
            </a:r>
            <a:endParaRPr/>
          </a:p>
          <a:p>
            <a:pPr indent="-342900" lvl="0" marL="457200" rtl="0" algn="l">
              <a:spcBef>
                <a:spcPts val="0"/>
              </a:spcBef>
              <a:spcAft>
                <a:spcPts val="0"/>
              </a:spcAft>
              <a:buSzPts val="1800"/>
              <a:buChar char="●"/>
            </a:pPr>
            <a:r>
              <a:rPr lang="en"/>
              <a:t>There are applications across both WAN and datacenter networks.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6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Host Networking?</a:t>
            </a:r>
            <a:endParaRPr/>
          </a:p>
        </p:txBody>
      </p:sp>
      <p:sp>
        <p:nvSpPr>
          <p:cNvPr id="944" name="Google Shape;944;p6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21</a:t>
            </a:r>
            <a:r>
              <a:rPr lang="en"/>
              <a:t>, CS 168, </a:t>
            </a:r>
            <a:r>
              <a:rPr lang="en"/>
              <a:t>Summer 2025</a:t>
            </a:r>
            <a:endParaRPr/>
          </a:p>
        </p:txBody>
      </p:sp>
      <p:sp>
        <p:nvSpPr>
          <p:cNvPr id="945" name="Google Shape;945;p62"/>
          <p:cNvSpPr txBox="1"/>
          <p:nvPr>
            <p:ph idx="1" type="body"/>
          </p:nvPr>
        </p:nvSpPr>
        <p:spPr>
          <a:xfrm>
            <a:off x="4812375" y="434100"/>
            <a:ext cx="4038000" cy="42753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Software-Defined Networking</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 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Implementation (OpenFlow API)</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Benefits (Traffic Engineering)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SDN in Datacenters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Other Applications of SDN</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Optimizations at the Host</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What is Host Networking?</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Shared Memory in User Space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Brief History of 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RDMA Example</a:t>
            </a:r>
            <a:endParaRPr>
              <a:solidFill>
                <a:srgbClr val="B7B7B7"/>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6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New Bottleneck: Hosts</a:t>
            </a:r>
            <a:endParaRPr/>
          </a:p>
        </p:txBody>
      </p:sp>
      <p:sp>
        <p:nvSpPr>
          <p:cNvPr id="951" name="Google Shape;951;p63"/>
          <p:cNvSpPr txBox="1"/>
          <p:nvPr>
            <p:ph idx="1" type="body"/>
          </p:nvPr>
        </p:nvSpPr>
        <p:spPr>
          <a:xfrm>
            <a:off x="107050" y="402200"/>
            <a:ext cx="8909700" cy="3240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Historically, the network has been the bottleneck. </a:t>
            </a:r>
            <a:r>
              <a:rPr lang="en" sz="1400">
                <a:solidFill>
                  <a:schemeClr val="accent3"/>
                </a:solidFill>
              </a:rPr>
              <a:t>(</a:t>
            </a:r>
            <a:r>
              <a:rPr i="1" lang="en" sz="1400">
                <a:solidFill>
                  <a:schemeClr val="accent3"/>
                </a:solidFill>
              </a:rPr>
              <a:t>Example: Congestion control.</a:t>
            </a:r>
            <a:r>
              <a:rPr lang="en" sz="1400">
                <a:solidFill>
                  <a:schemeClr val="accent3"/>
                </a:solidFill>
              </a:rPr>
              <a:t>)</a:t>
            </a:r>
            <a:endParaRPr sz="1400">
              <a:solidFill>
                <a:schemeClr val="accent3"/>
              </a:solidFill>
            </a:endParaRPr>
          </a:p>
          <a:p>
            <a:pPr indent="0" lvl="0" marL="0" rtl="0" algn="l">
              <a:spcBef>
                <a:spcPts val="600"/>
              </a:spcBef>
              <a:spcAft>
                <a:spcPts val="0"/>
              </a:spcAft>
              <a:buNone/>
            </a:pPr>
            <a:r>
              <a:rPr lang="en"/>
              <a:t>In modern datacenters, hosts are the new bottleneck.</a:t>
            </a:r>
            <a:endParaRPr/>
          </a:p>
          <a:p>
            <a:pPr indent="-342900" lvl="0" marL="457200" rtl="0" algn="l">
              <a:spcBef>
                <a:spcPts val="600"/>
              </a:spcBef>
              <a:spcAft>
                <a:spcPts val="0"/>
              </a:spcAft>
              <a:buSzPts val="1800"/>
              <a:buChar char="●"/>
            </a:pPr>
            <a:r>
              <a:rPr lang="en"/>
              <a:t>Extremely high performance demands.</a:t>
            </a:r>
            <a:endParaRPr/>
          </a:p>
          <a:p>
            <a:pPr indent="-342900" lvl="0" marL="457200" rtl="0" algn="l">
              <a:spcBef>
                <a:spcPts val="0"/>
              </a:spcBef>
              <a:spcAft>
                <a:spcPts val="0"/>
              </a:spcAft>
              <a:buSzPts val="1800"/>
              <a:buChar char="●"/>
            </a:pPr>
            <a:r>
              <a:rPr lang="en"/>
              <a:t>Problem 1: CPUs can't keep up.</a:t>
            </a:r>
            <a:endParaRPr/>
          </a:p>
          <a:p>
            <a:pPr indent="-342900" lvl="1" marL="914400" rtl="0" algn="l">
              <a:spcBef>
                <a:spcPts val="0"/>
              </a:spcBef>
              <a:spcAft>
                <a:spcPts val="0"/>
              </a:spcAft>
              <a:buSzPts val="1800"/>
              <a:buChar char="○"/>
            </a:pPr>
            <a:r>
              <a:rPr lang="en"/>
              <a:t>CPU working on network protocols → less resources for the application.</a:t>
            </a:r>
            <a:endParaRPr/>
          </a:p>
          <a:p>
            <a:pPr indent="-342900" lvl="0" marL="457200" rtl="0" algn="l">
              <a:spcBef>
                <a:spcPts val="0"/>
              </a:spcBef>
              <a:spcAft>
                <a:spcPts val="0"/>
              </a:spcAft>
              <a:buSzPts val="1800"/>
              <a:buChar char="●"/>
            </a:pPr>
            <a:r>
              <a:rPr lang="en"/>
              <a:t>Problem 2: Protocols can't keep up.</a:t>
            </a:r>
            <a:endParaRPr/>
          </a:p>
          <a:p>
            <a:pPr indent="-342900" lvl="1" marL="914400" rtl="0" algn="l">
              <a:spcBef>
                <a:spcPts val="0"/>
              </a:spcBef>
              <a:spcAft>
                <a:spcPts val="0"/>
              </a:spcAft>
              <a:buSzPts val="1800"/>
              <a:buChar char="○"/>
            </a:pPr>
            <a:r>
              <a:rPr lang="en"/>
              <a:t>Traditional networking stack (TCP/IP) are insufficient.</a:t>
            </a:r>
            <a:endParaRPr/>
          </a:p>
          <a:p>
            <a:pPr indent="0" lvl="0" marL="0" rtl="0" algn="l">
              <a:spcBef>
                <a:spcPts val="600"/>
              </a:spcBef>
              <a:spcAft>
                <a:spcPts val="0"/>
              </a:spcAft>
              <a:buNone/>
            </a:pPr>
            <a:r>
              <a:rPr b="1" lang="en"/>
              <a:t>Host networking</a:t>
            </a:r>
            <a:r>
              <a:rPr lang="en"/>
              <a:t>: Optimizations </a:t>
            </a:r>
            <a:r>
              <a:rPr b="1" lang="en"/>
              <a:t>at the host</a:t>
            </a:r>
            <a:r>
              <a:rPr lang="en"/>
              <a:t> to meet modern performance demands.</a:t>
            </a:r>
            <a:endParaRPr/>
          </a:p>
        </p:txBody>
      </p:sp>
      <p:sp>
        <p:nvSpPr>
          <p:cNvPr id="952" name="Google Shape;952;p63"/>
          <p:cNvSpPr/>
          <p:nvPr/>
        </p:nvSpPr>
        <p:spPr>
          <a:xfrm>
            <a:off x="3766200" y="3946775"/>
            <a:ext cx="1611600" cy="30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Host Networking</a:t>
            </a:r>
            <a:endParaRPr>
              <a:latin typeface="Roboto"/>
              <a:ea typeface="Roboto"/>
              <a:cs typeface="Roboto"/>
              <a:sym typeface="Roboto"/>
            </a:endParaRPr>
          </a:p>
        </p:txBody>
      </p:sp>
      <p:sp>
        <p:nvSpPr>
          <p:cNvPr id="953" name="Google Shape;953;p63"/>
          <p:cNvSpPr/>
          <p:nvPr/>
        </p:nvSpPr>
        <p:spPr>
          <a:xfrm>
            <a:off x="2851800" y="4556375"/>
            <a:ext cx="1611600" cy="30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Shared Memory</a:t>
            </a:r>
            <a:endParaRPr>
              <a:latin typeface="Roboto"/>
              <a:ea typeface="Roboto"/>
              <a:cs typeface="Roboto"/>
              <a:sym typeface="Roboto"/>
            </a:endParaRPr>
          </a:p>
        </p:txBody>
      </p:sp>
      <p:sp>
        <p:nvSpPr>
          <p:cNvPr id="954" name="Google Shape;954;p63"/>
          <p:cNvSpPr/>
          <p:nvPr/>
        </p:nvSpPr>
        <p:spPr>
          <a:xfrm>
            <a:off x="4922100" y="4556375"/>
            <a:ext cx="1128600" cy="30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Offloading</a:t>
            </a:r>
            <a:endParaRPr>
              <a:latin typeface="Roboto"/>
              <a:ea typeface="Roboto"/>
              <a:cs typeface="Roboto"/>
              <a:sym typeface="Roboto"/>
            </a:endParaRPr>
          </a:p>
        </p:txBody>
      </p:sp>
      <p:cxnSp>
        <p:nvCxnSpPr>
          <p:cNvPr id="955" name="Google Shape;955;p63"/>
          <p:cNvCxnSpPr>
            <a:stCxn id="952" idx="2"/>
            <a:endCxn id="953" idx="0"/>
          </p:cNvCxnSpPr>
          <p:nvPr/>
        </p:nvCxnSpPr>
        <p:spPr>
          <a:xfrm flipH="1">
            <a:off x="3657600" y="4252175"/>
            <a:ext cx="914400" cy="304200"/>
          </a:xfrm>
          <a:prstGeom prst="straightConnector1">
            <a:avLst/>
          </a:prstGeom>
          <a:noFill/>
          <a:ln cap="flat" cmpd="sng" w="9525">
            <a:solidFill>
              <a:schemeClr val="dk2"/>
            </a:solidFill>
            <a:prstDash val="solid"/>
            <a:round/>
            <a:headEnd len="med" w="med" type="none"/>
            <a:tailEnd len="med" w="med" type="none"/>
          </a:ln>
        </p:spPr>
      </p:cxnSp>
      <p:cxnSp>
        <p:nvCxnSpPr>
          <p:cNvPr id="956" name="Google Shape;956;p63"/>
          <p:cNvCxnSpPr>
            <a:stCxn id="952" idx="2"/>
            <a:endCxn id="954" idx="0"/>
          </p:cNvCxnSpPr>
          <p:nvPr/>
        </p:nvCxnSpPr>
        <p:spPr>
          <a:xfrm>
            <a:off x="4572000" y="4252175"/>
            <a:ext cx="914400" cy="304200"/>
          </a:xfrm>
          <a:prstGeom prst="straightConnector1">
            <a:avLst/>
          </a:prstGeom>
          <a:noFill/>
          <a:ln cap="flat" cmpd="sng" w="9525">
            <a:solidFill>
              <a:schemeClr val="dk2"/>
            </a:solidFill>
            <a:prstDash val="solid"/>
            <a:round/>
            <a:headEnd len="med" w="med" type="none"/>
            <a:tailEnd len="med" w="med" type="none"/>
          </a:ln>
        </p:spPr>
      </p:cxnSp>
      <p:sp>
        <p:nvSpPr>
          <p:cNvPr id="957" name="Google Shape;957;p63"/>
          <p:cNvSpPr txBox="1"/>
          <p:nvPr/>
        </p:nvSpPr>
        <p:spPr>
          <a:xfrm>
            <a:off x="6400800" y="4465925"/>
            <a:ext cx="19740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1000"/>
              </a:spcAft>
              <a:buNone/>
            </a:pPr>
            <a:r>
              <a:rPr lang="en">
                <a:solidFill>
                  <a:schemeClr val="accent2"/>
                </a:solidFill>
                <a:latin typeface="Roboto"/>
                <a:ea typeface="Roboto"/>
                <a:cs typeface="Roboto"/>
                <a:sym typeface="Roboto"/>
              </a:rPr>
              <a:t>We'll look at two optimization strategies.</a:t>
            </a:r>
            <a:endParaRPr>
              <a:solidFill>
                <a:schemeClr val="accent2"/>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64"/>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Optimization: Shared Memory in User Space</a:t>
            </a:r>
            <a:endParaRPr/>
          </a:p>
        </p:txBody>
      </p:sp>
      <p:sp>
        <p:nvSpPr>
          <p:cNvPr id="963" name="Google Shape;963;p64"/>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21</a:t>
            </a:r>
            <a:r>
              <a:rPr lang="en"/>
              <a:t>, CS 168, </a:t>
            </a:r>
            <a:r>
              <a:rPr lang="en"/>
              <a:t>Summer 2025</a:t>
            </a:r>
            <a:endParaRPr/>
          </a:p>
        </p:txBody>
      </p:sp>
      <p:sp>
        <p:nvSpPr>
          <p:cNvPr id="964" name="Google Shape;964;p64"/>
          <p:cNvSpPr txBox="1"/>
          <p:nvPr>
            <p:ph idx="1" type="body"/>
          </p:nvPr>
        </p:nvSpPr>
        <p:spPr>
          <a:xfrm>
            <a:off x="4812375" y="434100"/>
            <a:ext cx="4038000" cy="42753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Software-Defined Networking</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 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Implementation (OpenFlow API)</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Benefits (Traffic Engineering)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SDN in Datacenters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Other Applications of SDN</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Optimizations at the Host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What is Host Networking?</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Shared Memory in User Space</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Offloading</a:t>
            </a:r>
            <a:endParaRPr>
              <a:solidFill>
                <a:srgbClr val="B7B7B7"/>
              </a:solidFill>
            </a:endParaRPr>
          </a:p>
          <a:p>
            <a:pPr indent="-342900" lvl="0" marL="457200" rtl="0" algn="l">
              <a:spcBef>
                <a:spcPts val="0"/>
              </a:spcBef>
              <a:spcAft>
                <a:spcPts val="0"/>
              </a:spcAft>
              <a:buClr>
                <a:srgbClr val="CCCCCC"/>
              </a:buClr>
              <a:buSzPts val="1800"/>
              <a:buChar char="•"/>
            </a:pPr>
            <a:r>
              <a:rPr lang="en">
                <a:solidFill>
                  <a:srgbClr val="B7B7B7"/>
                </a:solidFill>
              </a:rPr>
              <a:t>Brief History of Offloading</a:t>
            </a:r>
            <a:endParaRPr>
              <a:solidFill>
                <a:srgbClr val="B7B7B7"/>
              </a:solidFill>
            </a:endParaRPr>
          </a:p>
          <a:p>
            <a:pPr indent="-342900" lvl="0" marL="457200" rtl="0" algn="l">
              <a:spcBef>
                <a:spcPts val="0"/>
              </a:spcBef>
              <a:spcAft>
                <a:spcPts val="0"/>
              </a:spcAft>
              <a:buClr>
                <a:srgbClr val="CCCCCC"/>
              </a:buClr>
              <a:buSzPts val="1800"/>
              <a:buChar char="•"/>
            </a:pPr>
            <a:r>
              <a:rPr lang="en">
                <a:solidFill>
                  <a:srgbClr val="B7B7B7"/>
                </a:solidFill>
              </a:rPr>
              <a:t>RDMA Example</a:t>
            </a:r>
            <a:endParaRPr>
              <a:solidFill>
                <a:srgbClr val="B7B7B7"/>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65"/>
          <p:cNvSpPr/>
          <p:nvPr/>
        </p:nvSpPr>
        <p:spPr>
          <a:xfrm>
            <a:off x="3378700" y="2319900"/>
            <a:ext cx="3145800" cy="1698600"/>
          </a:xfrm>
          <a:prstGeom prst="roundRect">
            <a:avLst>
              <a:gd fmla="val 0" name="adj"/>
            </a:avLst>
          </a:prstGeom>
          <a:solidFill>
            <a:schemeClr val="lt2"/>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970" name="Google Shape;970;p65"/>
          <p:cNvSpPr/>
          <p:nvPr/>
        </p:nvSpPr>
        <p:spPr>
          <a:xfrm>
            <a:off x="3513925" y="3019175"/>
            <a:ext cx="2861100" cy="876000"/>
          </a:xfrm>
          <a:prstGeom prst="roundRect">
            <a:avLst>
              <a:gd fmla="val 0" name="adj"/>
            </a:avLst>
          </a:prstGeom>
          <a:solidFill>
            <a:srgbClr val="D9D2E9"/>
          </a:solidFill>
          <a:ln cap="flat" cmpd="sng" w="9525">
            <a:solidFill>
              <a:schemeClr val="dk2"/>
            </a:solidFill>
            <a:prstDash val="solid"/>
            <a:round/>
            <a:headEnd len="sm" w="sm" type="none"/>
            <a:tailEnd len="sm" w="sm" type="none"/>
          </a:ln>
        </p:spPr>
        <p:txBody>
          <a:bodyPr anchorCtr="0" anchor="ctr" bIns="27425" lIns="91425" spcFirstLastPara="1" rIns="91425" wrap="square" tIns="27425">
            <a:noAutofit/>
          </a:bodyPr>
          <a:lstStyle/>
          <a:p>
            <a:pPr indent="0" lvl="0" marL="0" rtl="0" algn="l">
              <a:spcBef>
                <a:spcPts val="0"/>
              </a:spcBef>
              <a:spcAft>
                <a:spcPts val="0"/>
              </a:spcAft>
              <a:buNone/>
            </a:pPr>
            <a:r>
              <a:rPr b="1" lang="en">
                <a:latin typeface="Roboto"/>
                <a:ea typeface="Roboto"/>
                <a:cs typeface="Roboto"/>
                <a:sym typeface="Roboto"/>
              </a:rPr>
              <a:t>Operating</a:t>
            </a:r>
            <a:br>
              <a:rPr b="1" lang="en">
                <a:latin typeface="Roboto"/>
                <a:ea typeface="Roboto"/>
                <a:cs typeface="Roboto"/>
                <a:sym typeface="Roboto"/>
              </a:rPr>
            </a:br>
            <a:r>
              <a:rPr b="1" lang="en">
                <a:latin typeface="Roboto"/>
                <a:ea typeface="Roboto"/>
                <a:cs typeface="Roboto"/>
                <a:sym typeface="Roboto"/>
              </a:rPr>
              <a:t>System</a:t>
            </a:r>
            <a:endParaRPr b="1">
              <a:latin typeface="Roboto"/>
              <a:ea typeface="Roboto"/>
              <a:cs typeface="Roboto"/>
              <a:sym typeface="Roboto"/>
            </a:endParaRPr>
          </a:p>
        </p:txBody>
      </p:sp>
      <p:sp>
        <p:nvSpPr>
          <p:cNvPr id="971" name="Google Shape;971;p65"/>
          <p:cNvSpPr/>
          <p:nvPr/>
        </p:nvSpPr>
        <p:spPr>
          <a:xfrm>
            <a:off x="3378700" y="4017775"/>
            <a:ext cx="3145800" cy="876000"/>
          </a:xfrm>
          <a:prstGeom prst="roundRect">
            <a:avLst>
              <a:gd fmla="val 0" name="adj"/>
            </a:avLst>
          </a:prstGeom>
          <a:solidFill>
            <a:srgbClr val="F4CCCC"/>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972" name="Google Shape;972;p6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a:t>
            </a:r>
            <a:r>
              <a:rPr lang="en"/>
              <a:t>Layers in the End Host</a:t>
            </a:r>
            <a:endParaRPr/>
          </a:p>
        </p:txBody>
      </p:sp>
      <p:sp>
        <p:nvSpPr>
          <p:cNvPr id="973" name="Google Shape;973;p65"/>
          <p:cNvSpPr txBox="1"/>
          <p:nvPr>
            <p:ph idx="1" type="body"/>
          </p:nvPr>
        </p:nvSpPr>
        <p:spPr>
          <a:xfrm>
            <a:off x="107050" y="402200"/>
            <a:ext cx="8909700" cy="132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Layers 1 and 2 are implemented in hardware, on the network interface card (NIC).</a:t>
            </a:r>
            <a:endParaRPr/>
          </a:p>
          <a:p>
            <a:pPr indent="0" lvl="0" marL="0" rtl="0" algn="l">
              <a:spcBef>
                <a:spcPts val="600"/>
              </a:spcBef>
              <a:spcAft>
                <a:spcPts val="0"/>
              </a:spcAft>
              <a:buNone/>
            </a:pPr>
            <a:r>
              <a:rPr lang="en"/>
              <a:t>Layers 3 and 4 are implemented in software, in the operating system.</a:t>
            </a:r>
            <a:endParaRPr/>
          </a:p>
          <a:p>
            <a:pPr indent="0" lvl="0" marL="0" rtl="0" algn="l">
              <a:spcBef>
                <a:spcPts val="600"/>
              </a:spcBef>
              <a:spcAft>
                <a:spcPts val="0"/>
              </a:spcAft>
              <a:buNone/>
            </a:pPr>
            <a:r>
              <a:rPr lang="en"/>
              <a:t>Layer 7 is the applications running in software.</a:t>
            </a:r>
            <a:endParaRPr/>
          </a:p>
        </p:txBody>
      </p:sp>
      <p:sp>
        <p:nvSpPr>
          <p:cNvPr id="974" name="Google Shape;974;p65"/>
          <p:cNvSpPr/>
          <p:nvPr/>
        </p:nvSpPr>
        <p:spPr>
          <a:xfrm>
            <a:off x="4711875" y="2507836"/>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7 (HTTP)</a:t>
            </a:r>
            <a:endParaRPr>
              <a:latin typeface="Roboto"/>
              <a:ea typeface="Roboto"/>
              <a:cs typeface="Roboto"/>
              <a:sym typeface="Roboto"/>
            </a:endParaRPr>
          </a:p>
        </p:txBody>
      </p:sp>
      <p:sp>
        <p:nvSpPr>
          <p:cNvPr id="975" name="Google Shape;975;p65"/>
          <p:cNvSpPr/>
          <p:nvPr/>
        </p:nvSpPr>
        <p:spPr>
          <a:xfrm>
            <a:off x="4711875" y="3117426"/>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4 (TCP)</a:t>
            </a:r>
            <a:endParaRPr>
              <a:latin typeface="Roboto"/>
              <a:ea typeface="Roboto"/>
              <a:cs typeface="Roboto"/>
              <a:sym typeface="Roboto"/>
            </a:endParaRPr>
          </a:p>
        </p:txBody>
      </p:sp>
      <p:sp>
        <p:nvSpPr>
          <p:cNvPr id="976" name="Google Shape;976;p65"/>
          <p:cNvSpPr/>
          <p:nvPr/>
        </p:nvSpPr>
        <p:spPr>
          <a:xfrm>
            <a:off x="4711875" y="3498426"/>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3 (IP)</a:t>
            </a:r>
            <a:endParaRPr>
              <a:latin typeface="Roboto"/>
              <a:ea typeface="Roboto"/>
              <a:cs typeface="Roboto"/>
              <a:sym typeface="Roboto"/>
            </a:endParaRPr>
          </a:p>
        </p:txBody>
      </p:sp>
      <p:sp>
        <p:nvSpPr>
          <p:cNvPr id="977" name="Google Shape;977;p65"/>
          <p:cNvSpPr/>
          <p:nvPr/>
        </p:nvSpPr>
        <p:spPr>
          <a:xfrm>
            <a:off x="4711875" y="4147817"/>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2 (Ethernet)</a:t>
            </a:r>
            <a:endParaRPr>
              <a:latin typeface="Roboto"/>
              <a:ea typeface="Roboto"/>
              <a:cs typeface="Roboto"/>
              <a:sym typeface="Roboto"/>
            </a:endParaRPr>
          </a:p>
        </p:txBody>
      </p:sp>
      <p:sp>
        <p:nvSpPr>
          <p:cNvPr id="978" name="Google Shape;978;p65"/>
          <p:cNvSpPr/>
          <p:nvPr/>
        </p:nvSpPr>
        <p:spPr>
          <a:xfrm>
            <a:off x="4711875" y="4528825"/>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1 (physical)</a:t>
            </a:r>
            <a:endParaRPr>
              <a:latin typeface="Roboto"/>
              <a:ea typeface="Roboto"/>
              <a:cs typeface="Roboto"/>
              <a:sym typeface="Roboto"/>
            </a:endParaRPr>
          </a:p>
        </p:txBody>
      </p:sp>
      <p:sp>
        <p:nvSpPr>
          <p:cNvPr id="979" name="Google Shape;979;p65"/>
          <p:cNvSpPr txBox="1"/>
          <p:nvPr/>
        </p:nvSpPr>
        <p:spPr>
          <a:xfrm>
            <a:off x="6595475" y="3093951"/>
            <a:ext cx="8289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Software</a:t>
            </a:r>
            <a:endParaRPr>
              <a:solidFill>
                <a:schemeClr val="dk1"/>
              </a:solidFill>
              <a:latin typeface="Roboto"/>
              <a:ea typeface="Roboto"/>
              <a:cs typeface="Roboto"/>
              <a:sym typeface="Roboto"/>
            </a:endParaRPr>
          </a:p>
        </p:txBody>
      </p:sp>
      <p:sp>
        <p:nvSpPr>
          <p:cNvPr id="980" name="Google Shape;980;p65"/>
          <p:cNvSpPr txBox="1"/>
          <p:nvPr/>
        </p:nvSpPr>
        <p:spPr>
          <a:xfrm>
            <a:off x="6595475" y="4345825"/>
            <a:ext cx="13566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Hardware (NIC)</a:t>
            </a:r>
            <a:endParaRPr>
              <a:solidFill>
                <a:schemeClr val="dk1"/>
              </a:solidFill>
              <a:latin typeface="Roboto"/>
              <a:ea typeface="Roboto"/>
              <a:cs typeface="Roboto"/>
              <a:sym typeface="Roboto"/>
            </a:endParaRPr>
          </a:p>
        </p:txBody>
      </p:sp>
      <p:sp>
        <p:nvSpPr>
          <p:cNvPr id="981" name="Google Shape;981;p65"/>
          <p:cNvSpPr txBox="1"/>
          <p:nvPr/>
        </p:nvSpPr>
        <p:spPr>
          <a:xfrm>
            <a:off x="548050" y="3871413"/>
            <a:ext cx="2253900" cy="10455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Network driver is software that interacts with the NIC.</a:t>
            </a:r>
            <a:endParaRPr>
              <a:solidFill>
                <a:schemeClr val="accent2"/>
              </a:solidFill>
              <a:latin typeface="Roboto"/>
              <a:ea typeface="Roboto"/>
              <a:cs typeface="Roboto"/>
              <a:sym typeface="Roboto"/>
            </a:endParaRPr>
          </a:p>
          <a:p>
            <a:pPr indent="0" lvl="0" marL="0" rtl="0" algn="l">
              <a:spcBef>
                <a:spcPts val="1000"/>
              </a:spcBef>
              <a:spcAft>
                <a:spcPts val="1000"/>
              </a:spcAft>
              <a:buNone/>
            </a:pPr>
            <a:r>
              <a:rPr lang="en">
                <a:solidFill>
                  <a:schemeClr val="accent2"/>
                </a:solidFill>
                <a:latin typeface="Roboto"/>
                <a:ea typeface="Roboto"/>
                <a:cs typeface="Roboto"/>
                <a:sym typeface="Roboto"/>
              </a:rPr>
              <a:t>Bridges the hardware and software.</a:t>
            </a:r>
            <a:endParaRPr>
              <a:solidFill>
                <a:schemeClr val="accent2"/>
              </a:solidFill>
              <a:latin typeface="Roboto"/>
              <a:ea typeface="Roboto"/>
              <a:cs typeface="Roboto"/>
              <a:sym typeface="Roboto"/>
            </a:endParaRPr>
          </a:p>
        </p:txBody>
      </p:sp>
      <p:cxnSp>
        <p:nvCxnSpPr>
          <p:cNvPr id="982" name="Google Shape;982;p65"/>
          <p:cNvCxnSpPr/>
          <p:nvPr/>
        </p:nvCxnSpPr>
        <p:spPr>
          <a:xfrm>
            <a:off x="2725750" y="4017775"/>
            <a:ext cx="592200" cy="0"/>
          </a:xfrm>
          <a:prstGeom prst="straightConnector1">
            <a:avLst/>
          </a:prstGeom>
          <a:noFill/>
          <a:ln cap="flat" cmpd="sng" w="19050">
            <a:solidFill>
              <a:schemeClr val="accent2"/>
            </a:solidFill>
            <a:prstDash val="solid"/>
            <a:round/>
            <a:headEnd len="med" w="med" type="none"/>
            <a:tailEnd len="med" w="med" type="triangl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66"/>
          <p:cNvSpPr/>
          <p:nvPr/>
        </p:nvSpPr>
        <p:spPr>
          <a:xfrm>
            <a:off x="3378700" y="2319900"/>
            <a:ext cx="3145800" cy="1698600"/>
          </a:xfrm>
          <a:prstGeom prst="roundRect">
            <a:avLst>
              <a:gd fmla="val 0" name="adj"/>
            </a:avLst>
          </a:prstGeom>
          <a:solidFill>
            <a:schemeClr val="lt2"/>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988" name="Google Shape;988;p66"/>
          <p:cNvSpPr/>
          <p:nvPr/>
        </p:nvSpPr>
        <p:spPr>
          <a:xfrm>
            <a:off x="3378700" y="4017775"/>
            <a:ext cx="3145800" cy="876000"/>
          </a:xfrm>
          <a:prstGeom prst="roundRect">
            <a:avLst>
              <a:gd fmla="val 0" name="adj"/>
            </a:avLst>
          </a:prstGeom>
          <a:solidFill>
            <a:srgbClr val="F4CCCC"/>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989" name="Google Shape;989;p66"/>
          <p:cNvSpPr/>
          <p:nvPr/>
        </p:nvSpPr>
        <p:spPr>
          <a:xfrm>
            <a:off x="3513925" y="2424975"/>
            <a:ext cx="2861100" cy="486300"/>
          </a:xfrm>
          <a:prstGeom prst="roundRect">
            <a:avLst>
              <a:gd fmla="val 0" name="adj"/>
            </a:avLst>
          </a:prstGeom>
          <a:solidFill>
            <a:srgbClr val="D9D2E9"/>
          </a:solidFill>
          <a:ln cap="flat" cmpd="sng" w="9525">
            <a:solidFill>
              <a:schemeClr val="dk2"/>
            </a:solidFill>
            <a:prstDash val="solid"/>
            <a:round/>
            <a:headEnd len="sm" w="sm" type="none"/>
            <a:tailEnd len="sm" w="sm" type="none"/>
          </a:ln>
        </p:spPr>
        <p:txBody>
          <a:bodyPr anchorCtr="0" anchor="ctr" bIns="27425" lIns="91425" spcFirstLastPara="1" rIns="91425" wrap="square" tIns="27425">
            <a:noAutofit/>
          </a:bodyPr>
          <a:lstStyle/>
          <a:p>
            <a:pPr indent="0" lvl="0" marL="0" rtl="0" algn="l">
              <a:spcBef>
                <a:spcPts val="0"/>
              </a:spcBef>
              <a:spcAft>
                <a:spcPts val="0"/>
              </a:spcAft>
              <a:buNone/>
            </a:pPr>
            <a:r>
              <a:rPr b="1" lang="en">
                <a:latin typeface="Roboto"/>
                <a:ea typeface="Roboto"/>
                <a:cs typeface="Roboto"/>
                <a:sym typeface="Roboto"/>
              </a:rPr>
              <a:t>User Space</a:t>
            </a:r>
            <a:endParaRPr b="1">
              <a:latin typeface="Roboto"/>
              <a:ea typeface="Roboto"/>
              <a:cs typeface="Roboto"/>
              <a:sym typeface="Roboto"/>
            </a:endParaRPr>
          </a:p>
        </p:txBody>
      </p:sp>
      <p:sp>
        <p:nvSpPr>
          <p:cNvPr id="990" name="Google Shape;990;p6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Problem: </a:t>
            </a:r>
            <a:r>
              <a:rPr lang="en">
                <a:solidFill>
                  <a:schemeClr val="accent3"/>
                </a:solidFill>
              </a:rPr>
              <a:t>Kernel Space and User Space</a:t>
            </a:r>
            <a:endParaRPr/>
          </a:p>
        </p:txBody>
      </p:sp>
      <p:sp>
        <p:nvSpPr>
          <p:cNvPr id="991" name="Google Shape;991;p66"/>
          <p:cNvSpPr txBox="1"/>
          <p:nvPr>
            <p:ph idx="1" type="body"/>
          </p:nvPr>
        </p:nvSpPr>
        <p:spPr>
          <a:xfrm>
            <a:off x="107050" y="402200"/>
            <a:ext cx="8909700" cy="157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The OS runs in </a:t>
            </a:r>
            <a:r>
              <a:rPr b="1" lang="en"/>
              <a:t>kernel space</a:t>
            </a:r>
            <a:r>
              <a:rPr lang="en"/>
              <a:t>, and applications run in </a:t>
            </a:r>
            <a:r>
              <a:rPr b="1" lang="en"/>
              <a:t>user space</a:t>
            </a:r>
            <a:r>
              <a:rPr lang="en"/>
              <a:t>.</a:t>
            </a:r>
            <a:endParaRPr/>
          </a:p>
          <a:p>
            <a:pPr indent="-342900" lvl="0" marL="457200" rtl="0" algn="l">
              <a:spcBef>
                <a:spcPts val="600"/>
              </a:spcBef>
              <a:spcAft>
                <a:spcPts val="0"/>
              </a:spcAft>
              <a:buSzPts val="1800"/>
              <a:buChar char="●"/>
            </a:pPr>
            <a:r>
              <a:rPr lang="en"/>
              <a:t>The two address spaces are isolated from each other. </a:t>
            </a:r>
            <a:r>
              <a:rPr lang="en" sz="1400">
                <a:solidFill>
                  <a:schemeClr val="accent3"/>
                </a:solidFill>
              </a:rPr>
              <a:t>(</a:t>
            </a:r>
            <a:r>
              <a:rPr i="1" lang="en" sz="1400">
                <a:solidFill>
                  <a:schemeClr val="accent3"/>
                </a:solidFill>
              </a:rPr>
              <a:t>Virtual memory from CS 61C.</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Char char="●"/>
            </a:pPr>
            <a:r>
              <a:rPr lang="en"/>
              <a:t>Problem: Data is constantly being copied between user/kernel space.</a:t>
            </a:r>
            <a:endParaRPr/>
          </a:p>
          <a:p>
            <a:pPr indent="-342900" lvl="0" marL="457200" rtl="0" algn="l">
              <a:spcBef>
                <a:spcPts val="0"/>
              </a:spcBef>
              <a:spcAft>
                <a:spcPts val="0"/>
              </a:spcAft>
              <a:buSzPts val="1800"/>
              <a:buChar char="●"/>
            </a:pPr>
            <a:r>
              <a:rPr lang="en"/>
              <a:t>Problem: Programming in the kernel is hard.</a:t>
            </a:r>
            <a:endParaRPr/>
          </a:p>
        </p:txBody>
      </p:sp>
      <p:sp>
        <p:nvSpPr>
          <p:cNvPr id="992" name="Google Shape;992;p66"/>
          <p:cNvSpPr txBox="1"/>
          <p:nvPr/>
        </p:nvSpPr>
        <p:spPr>
          <a:xfrm>
            <a:off x="945250" y="2539875"/>
            <a:ext cx="1780500" cy="10455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Incoming data copied from kernel to user.</a:t>
            </a:r>
            <a:endParaRPr>
              <a:solidFill>
                <a:schemeClr val="accent2"/>
              </a:solidFill>
              <a:latin typeface="Roboto"/>
              <a:ea typeface="Roboto"/>
              <a:cs typeface="Roboto"/>
              <a:sym typeface="Roboto"/>
            </a:endParaRPr>
          </a:p>
          <a:p>
            <a:pPr indent="0" lvl="0" marL="0" rtl="0" algn="l">
              <a:spcBef>
                <a:spcPts val="1000"/>
              </a:spcBef>
              <a:spcAft>
                <a:spcPts val="1000"/>
              </a:spcAft>
              <a:buNone/>
            </a:pPr>
            <a:r>
              <a:rPr lang="en">
                <a:solidFill>
                  <a:schemeClr val="accent2"/>
                </a:solidFill>
                <a:latin typeface="Roboto"/>
                <a:ea typeface="Roboto"/>
                <a:cs typeface="Roboto"/>
                <a:sym typeface="Roboto"/>
              </a:rPr>
              <a:t>Outgoing data copied from user to kernel.</a:t>
            </a:r>
            <a:endParaRPr>
              <a:solidFill>
                <a:schemeClr val="accent2"/>
              </a:solidFill>
              <a:latin typeface="Roboto"/>
              <a:ea typeface="Roboto"/>
              <a:cs typeface="Roboto"/>
              <a:sym typeface="Roboto"/>
            </a:endParaRPr>
          </a:p>
        </p:txBody>
      </p:sp>
      <p:sp>
        <p:nvSpPr>
          <p:cNvPr id="993" name="Google Shape;993;p66"/>
          <p:cNvSpPr/>
          <p:nvPr/>
        </p:nvSpPr>
        <p:spPr>
          <a:xfrm>
            <a:off x="3513925" y="3019175"/>
            <a:ext cx="2861100" cy="876000"/>
          </a:xfrm>
          <a:prstGeom prst="roundRect">
            <a:avLst>
              <a:gd fmla="val 0" name="adj"/>
            </a:avLst>
          </a:prstGeom>
          <a:solidFill>
            <a:srgbClr val="D9D2E9"/>
          </a:solidFill>
          <a:ln cap="flat" cmpd="sng" w="9525">
            <a:solidFill>
              <a:schemeClr val="dk2"/>
            </a:solidFill>
            <a:prstDash val="solid"/>
            <a:round/>
            <a:headEnd len="sm" w="sm" type="none"/>
            <a:tailEnd len="sm" w="sm" type="none"/>
          </a:ln>
        </p:spPr>
        <p:txBody>
          <a:bodyPr anchorCtr="0" anchor="ctr" bIns="27425" lIns="91425" spcFirstLastPara="1" rIns="91425" wrap="square" tIns="27425">
            <a:noAutofit/>
          </a:bodyPr>
          <a:lstStyle/>
          <a:p>
            <a:pPr indent="0" lvl="0" marL="0" rtl="0" algn="l">
              <a:spcBef>
                <a:spcPts val="0"/>
              </a:spcBef>
              <a:spcAft>
                <a:spcPts val="0"/>
              </a:spcAft>
              <a:buNone/>
            </a:pPr>
            <a:r>
              <a:rPr b="1" lang="en">
                <a:latin typeface="Roboto"/>
                <a:ea typeface="Roboto"/>
                <a:cs typeface="Roboto"/>
                <a:sym typeface="Roboto"/>
              </a:rPr>
              <a:t>Kernel</a:t>
            </a:r>
            <a:br>
              <a:rPr b="1" lang="en">
                <a:latin typeface="Roboto"/>
                <a:ea typeface="Roboto"/>
                <a:cs typeface="Roboto"/>
                <a:sym typeface="Roboto"/>
              </a:rPr>
            </a:br>
            <a:r>
              <a:rPr b="1" lang="en">
                <a:latin typeface="Roboto"/>
                <a:ea typeface="Roboto"/>
                <a:cs typeface="Roboto"/>
                <a:sym typeface="Roboto"/>
              </a:rPr>
              <a:t>Space</a:t>
            </a:r>
            <a:endParaRPr b="1">
              <a:latin typeface="Roboto"/>
              <a:ea typeface="Roboto"/>
              <a:cs typeface="Roboto"/>
              <a:sym typeface="Roboto"/>
            </a:endParaRPr>
          </a:p>
        </p:txBody>
      </p:sp>
      <p:sp>
        <p:nvSpPr>
          <p:cNvPr id="994" name="Google Shape;994;p66"/>
          <p:cNvSpPr/>
          <p:nvPr/>
        </p:nvSpPr>
        <p:spPr>
          <a:xfrm>
            <a:off x="4711875" y="2507836"/>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7 (HTTP)</a:t>
            </a:r>
            <a:endParaRPr>
              <a:latin typeface="Roboto"/>
              <a:ea typeface="Roboto"/>
              <a:cs typeface="Roboto"/>
              <a:sym typeface="Roboto"/>
            </a:endParaRPr>
          </a:p>
        </p:txBody>
      </p:sp>
      <p:sp>
        <p:nvSpPr>
          <p:cNvPr id="995" name="Google Shape;995;p66"/>
          <p:cNvSpPr/>
          <p:nvPr/>
        </p:nvSpPr>
        <p:spPr>
          <a:xfrm>
            <a:off x="4711875" y="3117426"/>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4 (TCP)</a:t>
            </a:r>
            <a:endParaRPr>
              <a:latin typeface="Roboto"/>
              <a:ea typeface="Roboto"/>
              <a:cs typeface="Roboto"/>
              <a:sym typeface="Roboto"/>
            </a:endParaRPr>
          </a:p>
        </p:txBody>
      </p:sp>
      <p:sp>
        <p:nvSpPr>
          <p:cNvPr id="996" name="Google Shape;996;p66"/>
          <p:cNvSpPr/>
          <p:nvPr/>
        </p:nvSpPr>
        <p:spPr>
          <a:xfrm>
            <a:off x="4711875" y="3498426"/>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3 (IP)</a:t>
            </a:r>
            <a:endParaRPr>
              <a:latin typeface="Roboto"/>
              <a:ea typeface="Roboto"/>
              <a:cs typeface="Roboto"/>
              <a:sym typeface="Roboto"/>
            </a:endParaRPr>
          </a:p>
        </p:txBody>
      </p:sp>
      <p:sp>
        <p:nvSpPr>
          <p:cNvPr id="997" name="Google Shape;997;p66"/>
          <p:cNvSpPr/>
          <p:nvPr/>
        </p:nvSpPr>
        <p:spPr>
          <a:xfrm>
            <a:off x="4711875" y="4147817"/>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2 (Ethernet)</a:t>
            </a:r>
            <a:endParaRPr>
              <a:latin typeface="Roboto"/>
              <a:ea typeface="Roboto"/>
              <a:cs typeface="Roboto"/>
              <a:sym typeface="Roboto"/>
            </a:endParaRPr>
          </a:p>
        </p:txBody>
      </p:sp>
      <p:sp>
        <p:nvSpPr>
          <p:cNvPr id="998" name="Google Shape;998;p66"/>
          <p:cNvSpPr/>
          <p:nvPr/>
        </p:nvSpPr>
        <p:spPr>
          <a:xfrm>
            <a:off x="4711875" y="4528825"/>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1 (physical)</a:t>
            </a:r>
            <a:endParaRPr>
              <a:latin typeface="Roboto"/>
              <a:ea typeface="Roboto"/>
              <a:cs typeface="Roboto"/>
              <a:sym typeface="Roboto"/>
            </a:endParaRPr>
          </a:p>
        </p:txBody>
      </p:sp>
      <p:sp>
        <p:nvSpPr>
          <p:cNvPr id="999" name="Google Shape;999;p66"/>
          <p:cNvSpPr txBox="1"/>
          <p:nvPr/>
        </p:nvSpPr>
        <p:spPr>
          <a:xfrm>
            <a:off x="6595475" y="3093951"/>
            <a:ext cx="8289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Software</a:t>
            </a:r>
            <a:endParaRPr>
              <a:solidFill>
                <a:schemeClr val="dk1"/>
              </a:solidFill>
              <a:latin typeface="Roboto"/>
              <a:ea typeface="Roboto"/>
              <a:cs typeface="Roboto"/>
              <a:sym typeface="Roboto"/>
            </a:endParaRPr>
          </a:p>
        </p:txBody>
      </p:sp>
      <p:cxnSp>
        <p:nvCxnSpPr>
          <p:cNvPr id="1000" name="Google Shape;1000;p66"/>
          <p:cNvCxnSpPr/>
          <p:nvPr/>
        </p:nvCxnSpPr>
        <p:spPr>
          <a:xfrm>
            <a:off x="3285325" y="2668125"/>
            <a:ext cx="600" cy="789000"/>
          </a:xfrm>
          <a:prstGeom prst="curvedConnector3">
            <a:avLst>
              <a:gd fmla="val -90512500" name="adj1"/>
            </a:avLst>
          </a:prstGeom>
          <a:noFill/>
          <a:ln cap="flat" cmpd="sng" w="19050">
            <a:solidFill>
              <a:schemeClr val="accent2"/>
            </a:solidFill>
            <a:prstDash val="solid"/>
            <a:round/>
            <a:headEnd len="med" w="med" type="triangle"/>
            <a:tailEnd len="med" w="med" type="triangle"/>
          </a:ln>
        </p:spPr>
      </p:cxnSp>
      <p:sp>
        <p:nvSpPr>
          <p:cNvPr id="1001" name="Google Shape;1001;p66"/>
          <p:cNvSpPr txBox="1"/>
          <p:nvPr/>
        </p:nvSpPr>
        <p:spPr>
          <a:xfrm>
            <a:off x="6595475" y="4345825"/>
            <a:ext cx="13566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Hardware (NIC)</a:t>
            </a:r>
            <a:endParaRPr>
              <a:solidFill>
                <a:schemeClr val="dk1"/>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67"/>
          <p:cNvSpPr/>
          <p:nvPr/>
        </p:nvSpPr>
        <p:spPr>
          <a:xfrm>
            <a:off x="3378700" y="2319900"/>
            <a:ext cx="3145800" cy="1698600"/>
          </a:xfrm>
          <a:prstGeom prst="roundRect">
            <a:avLst>
              <a:gd fmla="val 0" name="adj"/>
            </a:avLst>
          </a:prstGeom>
          <a:solidFill>
            <a:schemeClr val="lt2"/>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007" name="Google Shape;1007;p67"/>
          <p:cNvSpPr/>
          <p:nvPr/>
        </p:nvSpPr>
        <p:spPr>
          <a:xfrm>
            <a:off x="3378700" y="4017775"/>
            <a:ext cx="3145800" cy="876000"/>
          </a:xfrm>
          <a:prstGeom prst="roundRect">
            <a:avLst>
              <a:gd fmla="val 0" name="adj"/>
            </a:avLst>
          </a:prstGeom>
          <a:solidFill>
            <a:srgbClr val="F4CCCC"/>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008" name="Google Shape;1008;p67"/>
          <p:cNvSpPr/>
          <p:nvPr/>
        </p:nvSpPr>
        <p:spPr>
          <a:xfrm>
            <a:off x="3513925" y="2424975"/>
            <a:ext cx="2861100" cy="1470300"/>
          </a:xfrm>
          <a:prstGeom prst="roundRect">
            <a:avLst>
              <a:gd fmla="val 0" name="adj"/>
            </a:avLst>
          </a:prstGeom>
          <a:solidFill>
            <a:srgbClr val="D9D2E9"/>
          </a:solidFill>
          <a:ln cap="flat" cmpd="sng" w="9525">
            <a:solidFill>
              <a:schemeClr val="dk2"/>
            </a:solidFill>
            <a:prstDash val="solid"/>
            <a:round/>
            <a:headEnd len="sm" w="sm" type="none"/>
            <a:tailEnd len="sm" w="sm" type="none"/>
          </a:ln>
        </p:spPr>
        <p:txBody>
          <a:bodyPr anchorCtr="0" anchor="ctr" bIns="27425" lIns="91425" spcFirstLastPara="1" rIns="91425" wrap="square" tIns="27425">
            <a:noAutofit/>
          </a:bodyPr>
          <a:lstStyle/>
          <a:p>
            <a:pPr indent="0" lvl="0" marL="0" rtl="0" algn="l">
              <a:spcBef>
                <a:spcPts val="0"/>
              </a:spcBef>
              <a:spcAft>
                <a:spcPts val="0"/>
              </a:spcAft>
              <a:buNone/>
            </a:pPr>
            <a:r>
              <a:rPr b="1" lang="en">
                <a:latin typeface="Roboto"/>
                <a:ea typeface="Roboto"/>
                <a:cs typeface="Roboto"/>
                <a:sym typeface="Roboto"/>
              </a:rPr>
              <a:t>User Space</a:t>
            </a:r>
            <a:endParaRPr b="1">
              <a:latin typeface="Roboto"/>
              <a:ea typeface="Roboto"/>
              <a:cs typeface="Roboto"/>
              <a:sym typeface="Roboto"/>
            </a:endParaRPr>
          </a:p>
        </p:txBody>
      </p:sp>
      <p:sp>
        <p:nvSpPr>
          <p:cNvPr id="1009" name="Google Shape;1009;p6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Solution: Networking Stack in User Space</a:t>
            </a:r>
            <a:endParaRPr/>
          </a:p>
        </p:txBody>
      </p:sp>
      <p:sp>
        <p:nvSpPr>
          <p:cNvPr id="1010" name="Google Shape;1010;p67"/>
          <p:cNvSpPr txBox="1"/>
          <p:nvPr>
            <p:ph idx="1" type="body"/>
          </p:nvPr>
        </p:nvSpPr>
        <p:spPr>
          <a:xfrm>
            <a:off x="107050" y="402200"/>
            <a:ext cx="8909700" cy="157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Solution: Packet processing happens in user space.</a:t>
            </a:r>
            <a:endParaRPr/>
          </a:p>
          <a:p>
            <a:pPr indent="-342900" lvl="0" marL="457200" rtl="0" algn="l">
              <a:spcBef>
                <a:spcPts val="600"/>
              </a:spcBef>
              <a:spcAft>
                <a:spcPts val="0"/>
              </a:spcAft>
              <a:buSzPts val="1800"/>
              <a:buChar char="●"/>
            </a:pPr>
            <a:r>
              <a:rPr lang="en"/>
              <a:t>Application and network protocols access shared memory.</a:t>
            </a:r>
            <a:endParaRPr/>
          </a:p>
          <a:p>
            <a:pPr indent="-342900" lvl="0" marL="457200" rtl="0" algn="l">
              <a:spcBef>
                <a:spcPts val="0"/>
              </a:spcBef>
              <a:spcAft>
                <a:spcPts val="0"/>
              </a:spcAft>
              <a:buSzPts val="1800"/>
              <a:buChar char="●"/>
            </a:pPr>
            <a:r>
              <a:rPr lang="en"/>
              <a:t>No need to copy data back-and-forth!</a:t>
            </a:r>
            <a:endParaRPr/>
          </a:p>
          <a:p>
            <a:pPr indent="-342900" lvl="0" marL="457200" rtl="0" algn="l">
              <a:spcBef>
                <a:spcPts val="0"/>
              </a:spcBef>
              <a:spcAft>
                <a:spcPts val="0"/>
              </a:spcAft>
              <a:buSzPts val="1800"/>
              <a:buChar char="●"/>
            </a:pPr>
            <a:r>
              <a:rPr lang="en"/>
              <a:t>Easier to program (e.g. new protocols) in the user space!</a:t>
            </a:r>
            <a:endParaRPr/>
          </a:p>
        </p:txBody>
      </p:sp>
      <p:sp>
        <p:nvSpPr>
          <p:cNvPr id="1011" name="Google Shape;1011;p67"/>
          <p:cNvSpPr/>
          <p:nvPr/>
        </p:nvSpPr>
        <p:spPr>
          <a:xfrm>
            <a:off x="4711875" y="2507836"/>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7 (HTTP)</a:t>
            </a:r>
            <a:endParaRPr>
              <a:latin typeface="Roboto"/>
              <a:ea typeface="Roboto"/>
              <a:cs typeface="Roboto"/>
              <a:sym typeface="Roboto"/>
            </a:endParaRPr>
          </a:p>
        </p:txBody>
      </p:sp>
      <p:sp>
        <p:nvSpPr>
          <p:cNvPr id="1012" name="Google Shape;1012;p67"/>
          <p:cNvSpPr/>
          <p:nvPr/>
        </p:nvSpPr>
        <p:spPr>
          <a:xfrm>
            <a:off x="4711875" y="3498426"/>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3 (IP)</a:t>
            </a:r>
            <a:endParaRPr>
              <a:latin typeface="Roboto"/>
              <a:ea typeface="Roboto"/>
              <a:cs typeface="Roboto"/>
              <a:sym typeface="Roboto"/>
            </a:endParaRPr>
          </a:p>
        </p:txBody>
      </p:sp>
      <p:sp>
        <p:nvSpPr>
          <p:cNvPr id="1013" name="Google Shape;1013;p67"/>
          <p:cNvSpPr/>
          <p:nvPr/>
        </p:nvSpPr>
        <p:spPr>
          <a:xfrm>
            <a:off x="4711875" y="4147817"/>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2 (Ethernet)</a:t>
            </a:r>
            <a:endParaRPr>
              <a:latin typeface="Roboto"/>
              <a:ea typeface="Roboto"/>
              <a:cs typeface="Roboto"/>
              <a:sym typeface="Roboto"/>
            </a:endParaRPr>
          </a:p>
        </p:txBody>
      </p:sp>
      <p:sp>
        <p:nvSpPr>
          <p:cNvPr id="1014" name="Google Shape;1014;p67"/>
          <p:cNvSpPr/>
          <p:nvPr/>
        </p:nvSpPr>
        <p:spPr>
          <a:xfrm>
            <a:off x="4711875" y="4528825"/>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1 (physical)</a:t>
            </a:r>
            <a:endParaRPr>
              <a:latin typeface="Roboto"/>
              <a:ea typeface="Roboto"/>
              <a:cs typeface="Roboto"/>
              <a:sym typeface="Roboto"/>
            </a:endParaRPr>
          </a:p>
        </p:txBody>
      </p:sp>
      <p:sp>
        <p:nvSpPr>
          <p:cNvPr id="1015" name="Google Shape;1015;p67"/>
          <p:cNvSpPr txBox="1"/>
          <p:nvPr/>
        </p:nvSpPr>
        <p:spPr>
          <a:xfrm>
            <a:off x="6595475" y="3093951"/>
            <a:ext cx="8289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Software</a:t>
            </a:r>
            <a:endParaRPr>
              <a:solidFill>
                <a:schemeClr val="dk1"/>
              </a:solidFill>
              <a:latin typeface="Roboto"/>
              <a:ea typeface="Roboto"/>
              <a:cs typeface="Roboto"/>
              <a:sym typeface="Roboto"/>
            </a:endParaRPr>
          </a:p>
        </p:txBody>
      </p:sp>
      <p:sp>
        <p:nvSpPr>
          <p:cNvPr id="1016" name="Google Shape;1016;p67"/>
          <p:cNvSpPr/>
          <p:nvPr/>
        </p:nvSpPr>
        <p:spPr>
          <a:xfrm>
            <a:off x="4711875" y="3003126"/>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4 (TCP)</a:t>
            </a:r>
            <a:endParaRPr>
              <a:latin typeface="Roboto"/>
              <a:ea typeface="Roboto"/>
              <a:cs typeface="Roboto"/>
              <a:sym typeface="Roboto"/>
            </a:endParaRPr>
          </a:p>
        </p:txBody>
      </p:sp>
      <p:sp>
        <p:nvSpPr>
          <p:cNvPr id="1017" name="Google Shape;1017;p67"/>
          <p:cNvSpPr txBox="1"/>
          <p:nvPr/>
        </p:nvSpPr>
        <p:spPr>
          <a:xfrm>
            <a:off x="6595475" y="4345825"/>
            <a:ext cx="13566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Hardware (NIC)</a:t>
            </a:r>
            <a:endParaRPr>
              <a:solidFill>
                <a:schemeClr val="dk1"/>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6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Optimization: Offloading</a:t>
            </a:r>
            <a:endParaRPr/>
          </a:p>
        </p:txBody>
      </p:sp>
      <p:sp>
        <p:nvSpPr>
          <p:cNvPr id="1023" name="Google Shape;1023;p6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21</a:t>
            </a:r>
            <a:r>
              <a:rPr lang="en"/>
              <a:t>, CS 168, </a:t>
            </a:r>
            <a:r>
              <a:rPr lang="en"/>
              <a:t>Summer 2025</a:t>
            </a:r>
            <a:endParaRPr/>
          </a:p>
        </p:txBody>
      </p:sp>
      <p:sp>
        <p:nvSpPr>
          <p:cNvPr id="1024" name="Google Shape;1024;p68"/>
          <p:cNvSpPr txBox="1"/>
          <p:nvPr>
            <p:ph idx="1" type="body"/>
          </p:nvPr>
        </p:nvSpPr>
        <p:spPr>
          <a:xfrm>
            <a:off x="4812375" y="434100"/>
            <a:ext cx="4038000" cy="42753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Software-Defined Networking</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 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Implementation (OpenFlow API)</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Benefits (Traffic Engineering)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SDN in Datacenters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Other Applications of SDN</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Optimizations at the Host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What is Host Networking?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Shared Memory in User Space</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Offloading</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Brief History of 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RDMA Example</a:t>
            </a:r>
            <a:endParaRPr>
              <a:solidFill>
                <a:srgbClr val="B7B7B7"/>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69"/>
          <p:cNvSpPr/>
          <p:nvPr/>
        </p:nvSpPr>
        <p:spPr>
          <a:xfrm>
            <a:off x="1593225" y="2042025"/>
            <a:ext cx="2076900" cy="1344900"/>
          </a:xfrm>
          <a:prstGeom prst="roundRect">
            <a:avLst>
              <a:gd fmla="val 0" name="adj"/>
            </a:avLst>
          </a:prstGeom>
          <a:solidFill>
            <a:schemeClr val="lt2"/>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030" name="Google Shape;1030;p6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Optimization: Offloading</a:t>
            </a:r>
            <a:endParaRPr/>
          </a:p>
        </p:txBody>
      </p:sp>
      <p:sp>
        <p:nvSpPr>
          <p:cNvPr id="1031" name="Google Shape;1031;p69"/>
          <p:cNvSpPr txBox="1"/>
          <p:nvPr>
            <p:ph idx="1" type="body"/>
          </p:nvPr>
        </p:nvSpPr>
        <p:spPr>
          <a:xfrm>
            <a:off x="107050" y="402200"/>
            <a:ext cx="8909700" cy="157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P</a:t>
            </a:r>
            <a:r>
              <a:rPr lang="en"/>
              <a:t>roblem: CPUs can't keep up with modern performance demands.</a:t>
            </a:r>
            <a:endParaRPr/>
          </a:p>
          <a:p>
            <a:pPr indent="0" lvl="0" marL="0" rtl="0" algn="l">
              <a:spcBef>
                <a:spcPts val="600"/>
              </a:spcBef>
              <a:spcAft>
                <a:spcPts val="0"/>
              </a:spcAft>
              <a:buClr>
                <a:schemeClr val="dk1"/>
              </a:buClr>
              <a:buSzPts val="1100"/>
              <a:buFont typeface="Arial"/>
              <a:buNone/>
            </a:pPr>
            <a:r>
              <a:rPr lang="en"/>
              <a:t>Solution: </a:t>
            </a:r>
            <a:r>
              <a:rPr b="1" lang="en"/>
              <a:t>Offloading</a:t>
            </a:r>
            <a:r>
              <a:rPr lang="en"/>
              <a:t>. Process packets in hardware instead of software.</a:t>
            </a:r>
            <a:endParaRPr/>
          </a:p>
        </p:txBody>
      </p:sp>
      <p:sp>
        <p:nvSpPr>
          <p:cNvPr id="1032" name="Google Shape;1032;p69"/>
          <p:cNvSpPr/>
          <p:nvPr/>
        </p:nvSpPr>
        <p:spPr>
          <a:xfrm>
            <a:off x="1593225" y="3386825"/>
            <a:ext cx="2076900" cy="818400"/>
          </a:xfrm>
          <a:prstGeom prst="roundRect">
            <a:avLst>
              <a:gd fmla="val 0" name="adj"/>
            </a:avLst>
          </a:prstGeom>
          <a:solidFill>
            <a:srgbClr val="F4CCCC"/>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033" name="Google Shape;1033;p69"/>
          <p:cNvSpPr/>
          <p:nvPr/>
        </p:nvSpPr>
        <p:spPr>
          <a:xfrm>
            <a:off x="1863675" y="259606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Layer 4 (TCP)</a:t>
            </a:r>
            <a:endParaRPr>
              <a:latin typeface="Roboto"/>
              <a:ea typeface="Roboto"/>
              <a:cs typeface="Roboto"/>
              <a:sym typeface="Roboto"/>
            </a:endParaRPr>
          </a:p>
        </p:txBody>
      </p:sp>
      <p:sp>
        <p:nvSpPr>
          <p:cNvPr id="1034" name="Google Shape;1034;p69"/>
          <p:cNvSpPr/>
          <p:nvPr/>
        </p:nvSpPr>
        <p:spPr>
          <a:xfrm>
            <a:off x="1863675" y="297705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Layer 3 (IP)</a:t>
            </a:r>
            <a:endParaRPr>
              <a:latin typeface="Roboto"/>
              <a:ea typeface="Roboto"/>
              <a:cs typeface="Roboto"/>
              <a:sym typeface="Roboto"/>
            </a:endParaRPr>
          </a:p>
        </p:txBody>
      </p:sp>
      <p:sp>
        <p:nvSpPr>
          <p:cNvPr id="1035" name="Google Shape;1035;p69"/>
          <p:cNvSpPr/>
          <p:nvPr/>
        </p:nvSpPr>
        <p:spPr>
          <a:xfrm>
            <a:off x="1863675" y="3448642"/>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2 (Ethernet)</a:t>
            </a:r>
            <a:endParaRPr>
              <a:latin typeface="Roboto"/>
              <a:ea typeface="Roboto"/>
              <a:cs typeface="Roboto"/>
              <a:sym typeface="Roboto"/>
            </a:endParaRPr>
          </a:p>
        </p:txBody>
      </p:sp>
      <p:sp>
        <p:nvSpPr>
          <p:cNvPr id="1036" name="Google Shape;1036;p69"/>
          <p:cNvSpPr/>
          <p:nvPr/>
        </p:nvSpPr>
        <p:spPr>
          <a:xfrm>
            <a:off x="1863675" y="3829650"/>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1 (physical)</a:t>
            </a:r>
            <a:endParaRPr>
              <a:latin typeface="Roboto"/>
              <a:ea typeface="Roboto"/>
              <a:cs typeface="Roboto"/>
              <a:sym typeface="Roboto"/>
            </a:endParaRPr>
          </a:p>
        </p:txBody>
      </p:sp>
      <p:sp>
        <p:nvSpPr>
          <p:cNvPr id="1037" name="Google Shape;1037;p69"/>
          <p:cNvSpPr txBox="1"/>
          <p:nvPr/>
        </p:nvSpPr>
        <p:spPr>
          <a:xfrm>
            <a:off x="625875" y="2579014"/>
            <a:ext cx="828900" cy="270900"/>
          </a:xfrm>
          <a:prstGeom prst="rect">
            <a:avLst/>
          </a:prstGeom>
          <a:noFill/>
          <a:ln>
            <a:noFill/>
          </a:ln>
        </p:spPr>
        <p:txBody>
          <a:bodyPr anchorCtr="0" anchor="t" bIns="27425" lIns="27425" spcFirstLastPara="1" rIns="27425" wrap="square" tIns="27425">
            <a:spAutoFit/>
          </a:bodyPr>
          <a:lstStyle/>
          <a:p>
            <a:pPr indent="0" lvl="0" marL="0" rtl="0" algn="r">
              <a:spcBef>
                <a:spcPts val="0"/>
              </a:spcBef>
              <a:spcAft>
                <a:spcPts val="0"/>
              </a:spcAft>
              <a:buNone/>
            </a:pPr>
            <a:r>
              <a:rPr lang="en">
                <a:solidFill>
                  <a:schemeClr val="dk1"/>
                </a:solidFill>
                <a:latin typeface="Roboto"/>
                <a:ea typeface="Roboto"/>
                <a:cs typeface="Roboto"/>
                <a:sym typeface="Roboto"/>
              </a:rPr>
              <a:t>Software</a:t>
            </a:r>
            <a:endParaRPr>
              <a:solidFill>
                <a:schemeClr val="dk1"/>
              </a:solidFill>
              <a:latin typeface="Roboto"/>
              <a:ea typeface="Roboto"/>
              <a:cs typeface="Roboto"/>
              <a:sym typeface="Roboto"/>
            </a:endParaRPr>
          </a:p>
        </p:txBody>
      </p:sp>
      <p:sp>
        <p:nvSpPr>
          <p:cNvPr id="1038" name="Google Shape;1038;p69"/>
          <p:cNvSpPr txBox="1"/>
          <p:nvPr/>
        </p:nvSpPr>
        <p:spPr>
          <a:xfrm>
            <a:off x="159675" y="3646650"/>
            <a:ext cx="1295100" cy="270900"/>
          </a:xfrm>
          <a:prstGeom prst="rect">
            <a:avLst/>
          </a:prstGeom>
          <a:noFill/>
          <a:ln>
            <a:noFill/>
          </a:ln>
        </p:spPr>
        <p:txBody>
          <a:bodyPr anchorCtr="0" anchor="t" bIns="27425" lIns="27425" spcFirstLastPara="1" rIns="27425" wrap="square" tIns="27425">
            <a:spAutoFit/>
          </a:bodyPr>
          <a:lstStyle/>
          <a:p>
            <a:pPr indent="0" lvl="0" marL="0" rtl="0" algn="r">
              <a:spcBef>
                <a:spcPts val="0"/>
              </a:spcBef>
              <a:spcAft>
                <a:spcPts val="0"/>
              </a:spcAft>
              <a:buNone/>
            </a:pPr>
            <a:r>
              <a:rPr lang="en">
                <a:solidFill>
                  <a:schemeClr val="dk1"/>
                </a:solidFill>
                <a:latin typeface="Roboto"/>
                <a:ea typeface="Roboto"/>
                <a:cs typeface="Roboto"/>
                <a:sym typeface="Roboto"/>
              </a:rPr>
              <a:t>Hardware (NIC)</a:t>
            </a:r>
            <a:endParaRPr>
              <a:solidFill>
                <a:schemeClr val="dk1"/>
              </a:solidFill>
              <a:latin typeface="Roboto"/>
              <a:ea typeface="Roboto"/>
              <a:cs typeface="Roboto"/>
              <a:sym typeface="Roboto"/>
            </a:endParaRPr>
          </a:p>
        </p:txBody>
      </p:sp>
      <p:sp>
        <p:nvSpPr>
          <p:cNvPr id="1039" name="Google Shape;1039;p69"/>
          <p:cNvSpPr/>
          <p:nvPr/>
        </p:nvSpPr>
        <p:spPr>
          <a:xfrm>
            <a:off x="1863675" y="213885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Layer 7 (HTTP)</a:t>
            </a:r>
            <a:endParaRPr>
              <a:latin typeface="Roboto"/>
              <a:ea typeface="Roboto"/>
              <a:cs typeface="Roboto"/>
              <a:sym typeface="Roboto"/>
            </a:endParaRPr>
          </a:p>
        </p:txBody>
      </p:sp>
      <p:sp>
        <p:nvSpPr>
          <p:cNvPr id="1040" name="Google Shape;1040;p69"/>
          <p:cNvSpPr/>
          <p:nvPr/>
        </p:nvSpPr>
        <p:spPr>
          <a:xfrm>
            <a:off x="5555625" y="2042025"/>
            <a:ext cx="2076900" cy="492300"/>
          </a:xfrm>
          <a:prstGeom prst="roundRect">
            <a:avLst>
              <a:gd fmla="val 0" name="adj"/>
            </a:avLst>
          </a:prstGeom>
          <a:solidFill>
            <a:schemeClr val="lt2"/>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041" name="Google Shape;1041;p69"/>
          <p:cNvSpPr txBox="1"/>
          <p:nvPr/>
        </p:nvSpPr>
        <p:spPr>
          <a:xfrm>
            <a:off x="7703475" y="2162989"/>
            <a:ext cx="8289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Software</a:t>
            </a:r>
            <a:endParaRPr>
              <a:solidFill>
                <a:schemeClr val="dk1"/>
              </a:solidFill>
              <a:latin typeface="Roboto"/>
              <a:ea typeface="Roboto"/>
              <a:cs typeface="Roboto"/>
              <a:sym typeface="Roboto"/>
            </a:endParaRPr>
          </a:p>
        </p:txBody>
      </p:sp>
      <p:sp>
        <p:nvSpPr>
          <p:cNvPr id="1042" name="Google Shape;1042;p69"/>
          <p:cNvSpPr/>
          <p:nvPr/>
        </p:nvSpPr>
        <p:spPr>
          <a:xfrm>
            <a:off x="5555625" y="2534325"/>
            <a:ext cx="2076900" cy="1671000"/>
          </a:xfrm>
          <a:prstGeom prst="roundRect">
            <a:avLst>
              <a:gd fmla="val 0" name="adj"/>
            </a:avLst>
          </a:prstGeom>
          <a:solidFill>
            <a:srgbClr val="F4CCCC"/>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043" name="Google Shape;1043;p69"/>
          <p:cNvSpPr/>
          <p:nvPr/>
        </p:nvSpPr>
        <p:spPr>
          <a:xfrm>
            <a:off x="5826075" y="259606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Layer 4 (TCP)</a:t>
            </a:r>
            <a:endParaRPr>
              <a:latin typeface="Roboto"/>
              <a:ea typeface="Roboto"/>
              <a:cs typeface="Roboto"/>
              <a:sym typeface="Roboto"/>
            </a:endParaRPr>
          </a:p>
        </p:txBody>
      </p:sp>
      <p:sp>
        <p:nvSpPr>
          <p:cNvPr id="1044" name="Google Shape;1044;p69"/>
          <p:cNvSpPr/>
          <p:nvPr/>
        </p:nvSpPr>
        <p:spPr>
          <a:xfrm>
            <a:off x="5826075" y="297705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Layer 3 (IP)</a:t>
            </a:r>
            <a:endParaRPr>
              <a:latin typeface="Roboto"/>
              <a:ea typeface="Roboto"/>
              <a:cs typeface="Roboto"/>
              <a:sym typeface="Roboto"/>
            </a:endParaRPr>
          </a:p>
        </p:txBody>
      </p:sp>
      <p:sp>
        <p:nvSpPr>
          <p:cNvPr id="1045" name="Google Shape;1045;p69"/>
          <p:cNvSpPr/>
          <p:nvPr/>
        </p:nvSpPr>
        <p:spPr>
          <a:xfrm>
            <a:off x="5826075" y="3448642"/>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2 (Ethernet)</a:t>
            </a:r>
            <a:endParaRPr>
              <a:latin typeface="Roboto"/>
              <a:ea typeface="Roboto"/>
              <a:cs typeface="Roboto"/>
              <a:sym typeface="Roboto"/>
            </a:endParaRPr>
          </a:p>
        </p:txBody>
      </p:sp>
      <p:sp>
        <p:nvSpPr>
          <p:cNvPr id="1046" name="Google Shape;1046;p69"/>
          <p:cNvSpPr/>
          <p:nvPr/>
        </p:nvSpPr>
        <p:spPr>
          <a:xfrm>
            <a:off x="5826075" y="3829650"/>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1 (physical)</a:t>
            </a:r>
            <a:endParaRPr>
              <a:latin typeface="Roboto"/>
              <a:ea typeface="Roboto"/>
              <a:cs typeface="Roboto"/>
              <a:sym typeface="Roboto"/>
            </a:endParaRPr>
          </a:p>
        </p:txBody>
      </p:sp>
      <p:sp>
        <p:nvSpPr>
          <p:cNvPr id="1047" name="Google Shape;1047;p69"/>
          <p:cNvSpPr txBox="1"/>
          <p:nvPr/>
        </p:nvSpPr>
        <p:spPr>
          <a:xfrm>
            <a:off x="7703475" y="3234375"/>
            <a:ext cx="12951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Hardware (NIC)</a:t>
            </a:r>
            <a:endParaRPr>
              <a:solidFill>
                <a:schemeClr val="dk1"/>
              </a:solidFill>
              <a:latin typeface="Roboto"/>
              <a:ea typeface="Roboto"/>
              <a:cs typeface="Roboto"/>
              <a:sym typeface="Roboto"/>
            </a:endParaRPr>
          </a:p>
        </p:txBody>
      </p:sp>
      <p:sp>
        <p:nvSpPr>
          <p:cNvPr id="1048" name="Google Shape;1048;p69"/>
          <p:cNvSpPr/>
          <p:nvPr/>
        </p:nvSpPr>
        <p:spPr>
          <a:xfrm>
            <a:off x="5826075" y="213885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Layer 7 (HTTP)</a:t>
            </a:r>
            <a:endParaRPr>
              <a:latin typeface="Roboto"/>
              <a:ea typeface="Roboto"/>
              <a:cs typeface="Roboto"/>
              <a:sym typeface="Roboto"/>
            </a:endParaRPr>
          </a:p>
        </p:txBody>
      </p:sp>
      <p:sp>
        <p:nvSpPr>
          <p:cNvPr id="1049" name="Google Shape;1049;p69"/>
          <p:cNvSpPr txBox="1"/>
          <p:nvPr/>
        </p:nvSpPr>
        <p:spPr>
          <a:xfrm>
            <a:off x="1914075" y="4362825"/>
            <a:ext cx="14352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Before Offloading</a:t>
            </a:r>
            <a:endParaRPr>
              <a:solidFill>
                <a:schemeClr val="accent2"/>
              </a:solidFill>
              <a:latin typeface="Roboto"/>
              <a:ea typeface="Roboto"/>
              <a:cs typeface="Roboto"/>
              <a:sym typeface="Roboto"/>
            </a:endParaRPr>
          </a:p>
        </p:txBody>
      </p:sp>
      <p:sp>
        <p:nvSpPr>
          <p:cNvPr id="1050" name="Google Shape;1050;p69"/>
          <p:cNvSpPr txBox="1"/>
          <p:nvPr/>
        </p:nvSpPr>
        <p:spPr>
          <a:xfrm>
            <a:off x="5876475" y="4362825"/>
            <a:ext cx="14352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After Offloading</a:t>
            </a:r>
            <a:endParaRPr>
              <a:solidFill>
                <a:schemeClr val="accent2"/>
              </a:solidFill>
              <a:latin typeface="Roboto"/>
              <a:ea typeface="Roboto"/>
              <a:cs typeface="Roboto"/>
              <a:sym typeface="Roboto"/>
            </a:endParaRPr>
          </a:p>
        </p:txBody>
      </p:sp>
      <p:cxnSp>
        <p:nvCxnSpPr>
          <p:cNvPr id="1051" name="Google Shape;1051;p69"/>
          <p:cNvCxnSpPr/>
          <p:nvPr/>
        </p:nvCxnSpPr>
        <p:spPr>
          <a:xfrm>
            <a:off x="3821325" y="3092925"/>
            <a:ext cx="1509900" cy="0"/>
          </a:xfrm>
          <a:prstGeom prst="straightConnector1">
            <a:avLst/>
          </a:prstGeom>
          <a:noFill/>
          <a:ln cap="flat" cmpd="sng" w="28575">
            <a:solidFill>
              <a:schemeClr val="accent2"/>
            </a:solidFill>
            <a:prstDash val="solid"/>
            <a:round/>
            <a:headEnd len="med" w="med"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7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Benefits of Offloading</a:t>
            </a:r>
            <a:endParaRPr/>
          </a:p>
        </p:txBody>
      </p:sp>
      <p:sp>
        <p:nvSpPr>
          <p:cNvPr id="1057" name="Google Shape;1057;p7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Frees up CPU cycles for applications.</a:t>
            </a:r>
            <a:endParaRPr/>
          </a:p>
          <a:p>
            <a:pPr indent="-342900" lvl="0" marL="457200" rtl="0" algn="l">
              <a:spcBef>
                <a:spcPts val="600"/>
              </a:spcBef>
              <a:spcAft>
                <a:spcPts val="0"/>
              </a:spcAft>
              <a:buSzPts val="1800"/>
              <a:buChar char="●"/>
            </a:pPr>
            <a:r>
              <a:rPr lang="en"/>
              <a:t>Network processing and applications no longer contend for CPU.</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Efficiency.</a:t>
            </a:r>
            <a:endParaRPr/>
          </a:p>
          <a:p>
            <a:pPr indent="-342900" lvl="0" marL="457200" rtl="0" algn="l">
              <a:spcBef>
                <a:spcPts val="600"/>
              </a:spcBef>
              <a:spcAft>
                <a:spcPts val="0"/>
              </a:spcAft>
              <a:buSzPts val="1800"/>
              <a:buChar char="●"/>
            </a:pPr>
            <a:r>
              <a:rPr lang="en"/>
              <a:t>Specialized processing in hardware can be more efficient.</a:t>
            </a:r>
            <a:endParaRPr/>
          </a:p>
          <a:p>
            <a:pPr indent="-342900" lvl="0" marL="457200" rtl="0" algn="l">
              <a:spcBef>
                <a:spcPts val="0"/>
              </a:spcBef>
              <a:spcAft>
                <a:spcPts val="0"/>
              </a:spcAft>
              <a:buSzPts val="1800"/>
              <a:buChar char="●"/>
            </a:pPr>
            <a:r>
              <a:rPr lang="en"/>
              <a:t>Power savings.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Predictability.</a:t>
            </a:r>
            <a:endParaRPr/>
          </a:p>
          <a:p>
            <a:pPr indent="-342900" lvl="0" marL="457200" rtl="0" algn="l">
              <a:spcBef>
                <a:spcPts val="600"/>
              </a:spcBef>
              <a:spcAft>
                <a:spcPts val="0"/>
              </a:spcAft>
              <a:buSzPts val="1800"/>
              <a:buChar char="●"/>
            </a:pPr>
            <a:r>
              <a:rPr lang="en"/>
              <a:t>CPU has unpredictable scheduling delays.</a:t>
            </a:r>
            <a:endParaRPr/>
          </a:p>
          <a:p>
            <a:pPr indent="-342900" lvl="0" marL="457200" rtl="0" algn="l">
              <a:spcBef>
                <a:spcPts val="0"/>
              </a:spcBef>
              <a:spcAft>
                <a:spcPts val="0"/>
              </a:spcAft>
              <a:buSzPts val="1800"/>
              <a:buChar char="●"/>
            </a:pPr>
            <a:r>
              <a:rPr lang="en"/>
              <a:t>Hardware gives us more consistent latencies.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7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Brief History of Offloading</a:t>
            </a:r>
            <a:endParaRPr sz="3200"/>
          </a:p>
        </p:txBody>
      </p:sp>
      <p:sp>
        <p:nvSpPr>
          <p:cNvPr id="1063" name="Google Shape;1063;p7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21</a:t>
            </a:r>
            <a:r>
              <a:rPr lang="en"/>
              <a:t>, CS 168, </a:t>
            </a:r>
            <a:r>
              <a:rPr lang="en"/>
              <a:t>Summer 2025</a:t>
            </a:r>
            <a:endParaRPr/>
          </a:p>
        </p:txBody>
      </p:sp>
      <p:sp>
        <p:nvSpPr>
          <p:cNvPr id="1064" name="Google Shape;1064;p71"/>
          <p:cNvSpPr txBox="1"/>
          <p:nvPr>
            <p:ph idx="1" type="body"/>
          </p:nvPr>
        </p:nvSpPr>
        <p:spPr>
          <a:xfrm>
            <a:off x="4812375" y="434100"/>
            <a:ext cx="4038000" cy="42753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Software-Defined Networking</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 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Implementation (OpenFlow API)</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Benefits (Traffic Engineering)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SDN in Datacenters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Other Applications of SDN</a:t>
            </a:r>
            <a:endParaRPr>
              <a:solidFill>
                <a:srgbClr val="B7B7B7"/>
              </a:solidFill>
            </a:endParaRPr>
          </a:p>
          <a:p>
            <a:pPr indent="0" lvl="0" marL="0" rtl="0" algn="l">
              <a:spcBef>
                <a:spcPts val="600"/>
              </a:spcBef>
              <a:spcAft>
                <a:spcPts val="0"/>
              </a:spcAft>
              <a:buNone/>
            </a:pPr>
            <a:r>
              <a:rPr lang="en">
                <a:solidFill>
                  <a:srgbClr val="B7B7B7"/>
                </a:solidFill>
              </a:rPr>
              <a:t>Optimizations at the Host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What is Host Networking?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Shared Memory in User Space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Offloading</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Brief History of Offloading</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RDMA Example</a:t>
            </a:r>
            <a:endParaRPr>
              <a:solidFill>
                <a:srgbClr val="B7B7B7"/>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7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NIC Before Offloading</a:t>
            </a:r>
            <a:endParaRPr/>
          </a:p>
        </p:txBody>
      </p:sp>
      <p:sp>
        <p:nvSpPr>
          <p:cNvPr id="1070" name="Google Shape;1070;p72"/>
          <p:cNvSpPr txBox="1"/>
          <p:nvPr>
            <p:ph idx="1" type="body"/>
          </p:nvPr>
        </p:nvSpPr>
        <p:spPr>
          <a:xfrm>
            <a:off x="107050" y="402200"/>
            <a:ext cx="8909700" cy="607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Before any offloading, t</a:t>
            </a:r>
            <a:r>
              <a:rPr lang="en"/>
              <a:t>he NIC is a "doormat" for packets, with minimal processing.</a:t>
            </a:r>
            <a:endParaRPr/>
          </a:p>
        </p:txBody>
      </p:sp>
      <p:sp>
        <p:nvSpPr>
          <p:cNvPr id="1071" name="Google Shape;1071;p72"/>
          <p:cNvSpPr txBox="1"/>
          <p:nvPr/>
        </p:nvSpPr>
        <p:spPr>
          <a:xfrm>
            <a:off x="400950" y="1078500"/>
            <a:ext cx="1316700" cy="16920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Network driver is software that interacts with the NIC.</a:t>
            </a:r>
            <a:endParaRPr>
              <a:solidFill>
                <a:schemeClr val="accent2"/>
              </a:solidFill>
              <a:latin typeface="Roboto"/>
              <a:ea typeface="Roboto"/>
              <a:cs typeface="Roboto"/>
              <a:sym typeface="Roboto"/>
            </a:endParaRPr>
          </a:p>
          <a:p>
            <a:pPr indent="0" lvl="0" marL="0" rtl="0" algn="l">
              <a:spcBef>
                <a:spcPts val="1000"/>
              </a:spcBef>
              <a:spcAft>
                <a:spcPts val="1000"/>
              </a:spcAft>
              <a:buNone/>
            </a:pPr>
            <a:r>
              <a:rPr lang="en">
                <a:solidFill>
                  <a:schemeClr val="accent2"/>
                </a:solidFill>
                <a:latin typeface="Roboto"/>
                <a:ea typeface="Roboto"/>
                <a:cs typeface="Roboto"/>
                <a:sym typeface="Roboto"/>
              </a:rPr>
              <a:t>Bridges the hardware and software.</a:t>
            </a:r>
            <a:endParaRPr>
              <a:solidFill>
                <a:schemeClr val="accent2"/>
              </a:solidFill>
              <a:latin typeface="Roboto"/>
              <a:ea typeface="Roboto"/>
              <a:cs typeface="Roboto"/>
              <a:sym typeface="Roboto"/>
            </a:endParaRPr>
          </a:p>
        </p:txBody>
      </p:sp>
      <p:cxnSp>
        <p:nvCxnSpPr>
          <p:cNvPr id="1072" name="Google Shape;1072;p72"/>
          <p:cNvCxnSpPr/>
          <p:nvPr/>
        </p:nvCxnSpPr>
        <p:spPr>
          <a:xfrm>
            <a:off x="1672825" y="1223425"/>
            <a:ext cx="918000" cy="0"/>
          </a:xfrm>
          <a:prstGeom prst="straightConnector1">
            <a:avLst/>
          </a:prstGeom>
          <a:noFill/>
          <a:ln cap="flat" cmpd="sng" w="19050">
            <a:solidFill>
              <a:schemeClr val="accent2"/>
            </a:solidFill>
            <a:prstDash val="solid"/>
            <a:round/>
            <a:headEnd len="med" w="med" type="none"/>
            <a:tailEnd len="med" w="med" type="triangle"/>
          </a:ln>
        </p:spPr>
      </p:cxnSp>
      <p:sp>
        <p:nvSpPr>
          <p:cNvPr id="1073" name="Google Shape;1073;p72"/>
          <p:cNvSpPr txBox="1"/>
          <p:nvPr/>
        </p:nvSpPr>
        <p:spPr>
          <a:xfrm>
            <a:off x="7205650" y="2759075"/>
            <a:ext cx="1608300" cy="7020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1000"/>
              </a:spcAft>
              <a:buNone/>
            </a:pPr>
            <a:r>
              <a:rPr lang="en">
                <a:solidFill>
                  <a:schemeClr val="accent2"/>
                </a:solidFill>
                <a:latin typeface="Roboto"/>
                <a:ea typeface="Roboto"/>
                <a:cs typeface="Roboto"/>
                <a:sym typeface="Roboto"/>
              </a:rPr>
              <a:t>NIC controller manages operation on the card.</a:t>
            </a:r>
            <a:endParaRPr>
              <a:solidFill>
                <a:schemeClr val="accent2"/>
              </a:solidFill>
              <a:latin typeface="Roboto"/>
              <a:ea typeface="Roboto"/>
              <a:cs typeface="Roboto"/>
              <a:sym typeface="Roboto"/>
            </a:endParaRPr>
          </a:p>
        </p:txBody>
      </p:sp>
      <p:sp>
        <p:nvSpPr>
          <p:cNvPr id="1074" name="Google Shape;1074;p72"/>
          <p:cNvSpPr/>
          <p:nvPr/>
        </p:nvSpPr>
        <p:spPr>
          <a:xfrm>
            <a:off x="2001200" y="1642325"/>
            <a:ext cx="5068500" cy="2706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 (Hardware)</a:t>
            </a:r>
            <a:endParaRPr>
              <a:latin typeface="Roboto"/>
              <a:ea typeface="Roboto"/>
              <a:cs typeface="Roboto"/>
              <a:sym typeface="Roboto"/>
            </a:endParaRPr>
          </a:p>
        </p:txBody>
      </p:sp>
      <p:sp>
        <p:nvSpPr>
          <p:cNvPr id="1075" name="Google Shape;1075;p72"/>
          <p:cNvSpPr/>
          <p:nvPr/>
        </p:nvSpPr>
        <p:spPr>
          <a:xfrm>
            <a:off x="2171125" y="38145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Transceiver</a:t>
            </a:r>
            <a:endParaRPr>
              <a:latin typeface="Roboto"/>
              <a:ea typeface="Roboto"/>
              <a:cs typeface="Roboto"/>
              <a:sym typeface="Roboto"/>
            </a:endParaRPr>
          </a:p>
        </p:txBody>
      </p:sp>
      <p:sp>
        <p:nvSpPr>
          <p:cNvPr id="1076" name="Google Shape;1076;p72"/>
          <p:cNvSpPr/>
          <p:nvPr/>
        </p:nvSpPr>
        <p:spPr>
          <a:xfrm>
            <a:off x="2171125" y="33573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Buffer</a:t>
            </a:r>
            <a:endParaRPr>
              <a:latin typeface="Roboto"/>
              <a:ea typeface="Roboto"/>
              <a:cs typeface="Roboto"/>
              <a:sym typeface="Roboto"/>
            </a:endParaRPr>
          </a:p>
        </p:txBody>
      </p:sp>
      <p:sp>
        <p:nvSpPr>
          <p:cNvPr id="1077" name="Google Shape;1077;p72"/>
          <p:cNvSpPr/>
          <p:nvPr/>
        </p:nvSpPr>
        <p:spPr>
          <a:xfrm>
            <a:off x="2171125" y="29001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Remove L2 Headers</a:t>
            </a:r>
            <a:endParaRPr>
              <a:latin typeface="Roboto"/>
              <a:ea typeface="Roboto"/>
              <a:cs typeface="Roboto"/>
              <a:sym typeface="Roboto"/>
            </a:endParaRPr>
          </a:p>
        </p:txBody>
      </p:sp>
      <p:sp>
        <p:nvSpPr>
          <p:cNvPr id="1078" name="Google Shape;1078;p72"/>
          <p:cNvSpPr/>
          <p:nvPr/>
        </p:nvSpPr>
        <p:spPr>
          <a:xfrm>
            <a:off x="2171125" y="24429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Process Packet</a:t>
            </a:r>
            <a:endParaRPr>
              <a:latin typeface="Roboto"/>
              <a:ea typeface="Roboto"/>
              <a:cs typeface="Roboto"/>
              <a:sym typeface="Roboto"/>
            </a:endParaRPr>
          </a:p>
        </p:txBody>
      </p:sp>
      <p:sp>
        <p:nvSpPr>
          <p:cNvPr id="1079" name="Google Shape;1079;p72"/>
          <p:cNvSpPr/>
          <p:nvPr/>
        </p:nvSpPr>
        <p:spPr>
          <a:xfrm>
            <a:off x="2171125" y="19857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Generate Interrupt</a:t>
            </a:r>
            <a:endParaRPr>
              <a:latin typeface="Roboto"/>
              <a:ea typeface="Roboto"/>
              <a:cs typeface="Roboto"/>
              <a:sym typeface="Roboto"/>
            </a:endParaRPr>
          </a:p>
        </p:txBody>
      </p:sp>
      <p:cxnSp>
        <p:nvCxnSpPr>
          <p:cNvPr id="1080" name="Google Shape;1080;p72"/>
          <p:cNvCxnSpPr>
            <a:stCxn id="1076" idx="2"/>
            <a:endCxn id="1075" idx="0"/>
          </p:cNvCxnSpPr>
          <p:nvPr/>
        </p:nvCxnSpPr>
        <p:spPr>
          <a:xfrm>
            <a:off x="3029425" y="3637200"/>
            <a:ext cx="0" cy="177300"/>
          </a:xfrm>
          <a:prstGeom prst="straightConnector1">
            <a:avLst/>
          </a:prstGeom>
          <a:noFill/>
          <a:ln cap="flat" cmpd="sng" w="19050">
            <a:solidFill>
              <a:schemeClr val="dk2"/>
            </a:solidFill>
            <a:prstDash val="solid"/>
            <a:round/>
            <a:headEnd len="med" w="med" type="none"/>
            <a:tailEnd len="med" w="med" type="none"/>
          </a:ln>
        </p:spPr>
      </p:cxnSp>
      <p:cxnSp>
        <p:nvCxnSpPr>
          <p:cNvPr id="1081" name="Google Shape;1081;p72"/>
          <p:cNvCxnSpPr>
            <a:stCxn id="1077" idx="2"/>
            <a:endCxn id="1076" idx="0"/>
          </p:cNvCxnSpPr>
          <p:nvPr/>
        </p:nvCxnSpPr>
        <p:spPr>
          <a:xfrm>
            <a:off x="3029425" y="3180000"/>
            <a:ext cx="0" cy="177300"/>
          </a:xfrm>
          <a:prstGeom prst="straightConnector1">
            <a:avLst/>
          </a:prstGeom>
          <a:noFill/>
          <a:ln cap="flat" cmpd="sng" w="19050">
            <a:solidFill>
              <a:schemeClr val="dk2"/>
            </a:solidFill>
            <a:prstDash val="solid"/>
            <a:round/>
            <a:headEnd len="med" w="med" type="none"/>
            <a:tailEnd len="med" w="med" type="none"/>
          </a:ln>
        </p:spPr>
      </p:cxnSp>
      <p:cxnSp>
        <p:nvCxnSpPr>
          <p:cNvPr id="1082" name="Google Shape;1082;p72"/>
          <p:cNvCxnSpPr>
            <a:stCxn id="1078" idx="2"/>
            <a:endCxn id="1077" idx="0"/>
          </p:cNvCxnSpPr>
          <p:nvPr/>
        </p:nvCxnSpPr>
        <p:spPr>
          <a:xfrm>
            <a:off x="3029425" y="2722800"/>
            <a:ext cx="0" cy="177300"/>
          </a:xfrm>
          <a:prstGeom prst="straightConnector1">
            <a:avLst/>
          </a:prstGeom>
          <a:noFill/>
          <a:ln cap="flat" cmpd="sng" w="19050">
            <a:solidFill>
              <a:schemeClr val="dk2"/>
            </a:solidFill>
            <a:prstDash val="solid"/>
            <a:round/>
            <a:headEnd len="med" w="med" type="none"/>
            <a:tailEnd len="med" w="med" type="none"/>
          </a:ln>
        </p:spPr>
      </p:cxnSp>
      <p:cxnSp>
        <p:nvCxnSpPr>
          <p:cNvPr id="1083" name="Google Shape;1083;p72"/>
          <p:cNvCxnSpPr>
            <a:stCxn id="1079" idx="2"/>
            <a:endCxn id="1078" idx="0"/>
          </p:cNvCxnSpPr>
          <p:nvPr/>
        </p:nvCxnSpPr>
        <p:spPr>
          <a:xfrm>
            <a:off x="3029425" y="2265600"/>
            <a:ext cx="0" cy="177300"/>
          </a:xfrm>
          <a:prstGeom prst="straightConnector1">
            <a:avLst/>
          </a:prstGeom>
          <a:noFill/>
          <a:ln cap="flat" cmpd="sng" w="19050">
            <a:solidFill>
              <a:schemeClr val="dk2"/>
            </a:solidFill>
            <a:prstDash val="solid"/>
            <a:round/>
            <a:headEnd len="med" w="med" type="none"/>
            <a:tailEnd len="med" w="med" type="none"/>
          </a:ln>
        </p:spPr>
      </p:cxnSp>
      <p:cxnSp>
        <p:nvCxnSpPr>
          <p:cNvPr id="1084" name="Google Shape;1084;p72"/>
          <p:cNvCxnSpPr/>
          <p:nvPr/>
        </p:nvCxnSpPr>
        <p:spPr>
          <a:xfrm>
            <a:off x="3029425" y="1377900"/>
            <a:ext cx="0" cy="607800"/>
          </a:xfrm>
          <a:prstGeom prst="straightConnector1">
            <a:avLst/>
          </a:prstGeom>
          <a:noFill/>
          <a:ln cap="flat" cmpd="sng" w="19050">
            <a:solidFill>
              <a:schemeClr val="dk2"/>
            </a:solidFill>
            <a:prstDash val="solid"/>
            <a:round/>
            <a:headEnd len="med" w="med" type="triangle"/>
            <a:tailEnd len="med" w="med" type="none"/>
          </a:ln>
        </p:spPr>
      </p:cxnSp>
      <p:cxnSp>
        <p:nvCxnSpPr>
          <p:cNvPr id="1085" name="Google Shape;1085;p72"/>
          <p:cNvCxnSpPr/>
          <p:nvPr/>
        </p:nvCxnSpPr>
        <p:spPr>
          <a:xfrm>
            <a:off x="3029425" y="4094400"/>
            <a:ext cx="0" cy="516600"/>
          </a:xfrm>
          <a:prstGeom prst="straightConnector1">
            <a:avLst/>
          </a:prstGeom>
          <a:noFill/>
          <a:ln cap="flat" cmpd="sng" w="19050">
            <a:solidFill>
              <a:schemeClr val="dk2"/>
            </a:solidFill>
            <a:prstDash val="solid"/>
            <a:round/>
            <a:headEnd len="med" w="med" type="triangle"/>
            <a:tailEnd len="med" w="med" type="none"/>
          </a:ln>
        </p:spPr>
      </p:cxnSp>
      <p:sp>
        <p:nvSpPr>
          <p:cNvPr id="1086" name="Google Shape;1086;p72"/>
          <p:cNvSpPr/>
          <p:nvPr/>
        </p:nvSpPr>
        <p:spPr>
          <a:xfrm>
            <a:off x="2590825" y="1066213"/>
            <a:ext cx="4153800" cy="314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Network Driver (Software)</a:t>
            </a:r>
            <a:endParaRPr b="1">
              <a:latin typeface="Roboto"/>
              <a:ea typeface="Roboto"/>
              <a:cs typeface="Roboto"/>
              <a:sym typeface="Roboto"/>
            </a:endParaRPr>
          </a:p>
        </p:txBody>
      </p:sp>
      <p:sp>
        <p:nvSpPr>
          <p:cNvPr id="1087" name="Google Shape;1087;p72"/>
          <p:cNvSpPr/>
          <p:nvPr/>
        </p:nvSpPr>
        <p:spPr>
          <a:xfrm>
            <a:off x="5219125" y="38145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Transceiver</a:t>
            </a:r>
            <a:endParaRPr>
              <a:latin typeface="Roboto"/>
              <a:ea typeface="Roboto"/>
              <a:cs typeface="Roboto"/>
              <a:sym typeface="Roboto"/>
            </a:endParaRPr>
          </a:p>
        </p:txBody>
      </p:sp>
      <p:sp>
        <p:nvSpPr>
          <p:cNvPr id="1088" name="Google Shape;1088;p72"/>
          <p:cNvSpPr/>
          <p:nvPr/>
        </p:nvSpPr>
        <p:spPr>
          <a:xfrm>
            <a:off x="5219125" y="32049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Construct L2 Frame</a:t>
            </a:r>
            <a:endParaRPr>
              <a:latin typeface="Roboto"/>
              <a:ea typeface="Roboto"/>
              <a:cs typeface="Roboto"/>
              <a:sym typeface="Roboto"/>
            </a:endParaRPr>
          </a:p>
        </p:txBody>
      </p:sp>
      <p:sp>
        <p:nvSpPr>
          <p:cNvPr id="1089" name="Google Shape;1089;p72"/>
          <p:cNvSpPr/>
          <p:nvPr/>
        </p:nvSpPr>
        <p:spPr>
          <a:xfrm>
            <a:off x="5219125" y="25953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Process Packet</a:t>
            </a:r>
            <a:endParaRPr>
              <a:latin typeface="Roboto"/>
              <a:ea typeface="Roboto"/>
              <a:cs typeface="Roboto"/>
              <a:sym typeface="Roboto"/>
            </a:endParaRPr>
          </a:p>
        </p:txBody>
      </p:sp>
      <p:sp>
        <p:nvSpPr>
          <p:cNvPr id="1090" name="Google Shape;1090;p72"/>
          <p:cNvSpPr/>
          <p:nvPr/>
        </p:nvSpPr>
        <p:spPr>
          <a:xfrm>
            <a:off x="5219125" y="19857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Buffer</a:t>
            </a:r>
            <a:endParaRPr>
              <a:latin typeface="Roboto"/>
              <a:ea typeface="Roboto"/>
              <a:cs typeface="Roboto"/>
              <a:sym typeface="Roboto"/>
            </a:endParaRPr>
          </a:p>
        </p:txBody>
      </p:sp>
      <p:cxnSp>
        <p:nvCxnSpPr>
          <p:cNvPr id="1091" name="Google Shape;1091;p72"/>
          <p:cNvCxnSpPr>
            <a:stCxn id="1088" idx="2"/>
            <a:endCxn id="1087" idx="0"/>
          </p:cNvCxnSpPr>
          <p:nvPr/>
        </p:nvCxnSpPr>
        <p:spPr>
          <a:xfrm>
            <a:off x="6077425" y="3484800"/>
            <a:ext cx="0" cy="329700"/>
          </a:xfrm>
          <a:prstGeom prst="straightConnector1">
            <a:avLst/>
          </a:prstGeom>
          <a:noFill/>
          <a:ln cap="flat" cmpd="sng" w="19050">
            <a:solidFill>
              <a:schemeClr val="dk2"/>
            </a:solidFill>
            <a:prstDash val="solid"/>
            <a:round/>
            <a:headEnd len="med" w="med" type="none"/>
            <a:tailEnd len="med" w="med" type="none"/>
          </a:ln>
        </p:spPr>
      </p:cxnSp>
      <p:cxnSp>
        <p:nvCxnSpPr>
          <p:cNvPr id="1092" name="Google Shape;1092;p72"/>
          <p:cNvCxnSpPr>
            <a:stCxn id="1089" idx="2"/>
            <a:endCxn id="1088" idx="0"/>
          </p:cNvCxnSpPr>
          <p:nvPr/>
        </p:nvCxnSpPr>
        <p:spPr>
          <a:xfrm>
            <a:off x="6077425" y="2875200"/>
            <a:ext cx="0" cy="329700"/>
          </a:xfrm>
          <a:prstGeom prst="straightConnector1">
            <a:avLst/>
          </a:prstGeom>
          <a:noFill/>
          <a:ln cap="flat" cmpd="sng" w="19050">
            <a:solidFill>
              <a:schemeClr val="dk2"/>
            </a:solidFill>
            <a:prstDash val="solid"/>
            <a:round/>
            <a:headEnd len="med" w="med" type="none"/>
            <a:tailEnd len="med" w="med" type="none"/>
          </a:ln>
        </p:spPr>
      </p:cxnSp>
      <p:cxnSp>
        <p:nvCxnSpPr>
          <p:cNvPr id="1093" name="Google Shape;1093;p72"/>
          <p:cNvCxnSpPr>
            <a:stCxn id="1090" idx="2"/>
            <a:endCxn id="1089" idx="0"/>
          </p:cNvCxnSpPr>
          <p:nvPr/>
        </p:nvCxnSpPr>
        <p:spPr>
          <a:xfrm>
            <a:off x="6077425" y="2265600"/>
            <a:ext cx="0" cy="329700"/>
          </a:xfrm>
          <a:prstGeom prst="straightConnector1">
            <a:avLst/>
          </a:prstGeom>
          <a:noFill/>
          <a:ln cap="flat" cmpd="sng" w="19050">
            <a:solidFill>
              <a:schemeClr val="dk2"/>
            </a:solidFill>
            <a:prstDash val="solid"/>
            <a:round/>
            <a:headEnd len="med" w="med" type="none"/>
            <a:tailEnd len="med" w="med" type="none"/>
          </a:ln>
        </p:spPr>
      </p:cxnSp>
      <p:cxnSp>
        <p:nvCxnSpPr>
          <p:cNvPr id="1094" name="Google Shape;1094;p72"/>
          <p:cNvCxnSpPr/>
          <p:nvPr/>
        </p:nvCxnSpPr>
        <p:spPr>
          <a:xfrm>
            <a:off x="6077425" y="1377900"/>
            <a:ext cx="0" cy="607800"/>
          </a:xfrm>
          <a:prstGeom prst="straightConnector1">
            <a:avLst/>
          </a:prstGeom>
          <a:noFill/>
          <a:ln cap="flat" cmpd="sng" w="19050">
            <a:solidFill>
              <a:schemeClr val="dk2"/>
            </a:solidFill>
            <a:prstDash val="solid"/>
            <a:round/>
            <a:headEnd len="med" w="med" type="none"/>
            <a:tailEnd len="med" w="med" type="triangle"/>
          </a:ln>
        </p:spPr>
      </p:cxnSp>
      <p:cxnSp>
        <p:nvCxnSpPr>
          <p:cNvPr id="1095" name="Google Shape;1095;p72"/>
          <p:cNvCxnSpPr/>
          <p:nvPr/>
        </p:nvCxnSpPr>
        <p:spPr>
          <a:xfrm>
            <a:off x="6077425" y="4094400"/>
            <a:ext cx="0" cy="516600"/>
          </a:xfrm>
          <a:prstGeom prst="straightConnector1">
            <a:avLst/>
          </a:prstGeom>
          <a:noFill/>
          <a:ln cap="flat" cmpd="sng" w="19050">
            <a:solidFill>
              <a:schemeClr val="dk2"/>
            </a:solidFill>
            <a:prstDash val="solid"/>
            <a:round/>
            <a:headEnd len="med" w="med" type="none"/>
            <a:tailEnd len="med" w="med" type="triangle"/>
          </a:ln>
        </p:spPr>
      </p:cxnSp>
      <p:sp>
        <p:nvSpPr>
          <p:cNvPr id="1096" name="Google Shape;1096;p72"/>
          <p:cNvSpPr/>
          <p:nvPr/>
        </p:nvSpPr>
        <p:spPr>
          <a:xfrm>
            <a:off x="4086475" y="2855825"/>
            <a:ext cx="933900" cy="508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NIC Controller</a:t>
            </a:r>
            <a:endParaRPr b="1">
              <a:latin typeface="Roboto"/>
              <a:ea typeface="Roboto"/>
              <a:cs typeface="Roboto"/>
              <a:sym typeface="Roboto"/>
            </a:endParaRPr>
          </a:p>
        </p:txBody>
      </p:sp>
      <p:sp>
        <p:nvSpPr>
          <p:cNvPr id="1097" name="Google Shape;1097;p72"/>
          <p:cNvSpPr/>
          <p:nvPr/>
        </p:nvSpPr>
        <p:spPr>
          <a:xfrm>
            <a:off x="2590825" y="4610913"/>
            <a:ext cx="4153800" cy="3144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Network Ports</a:t>
            </a:r>
            <a:endParaRPr>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73"/>
          <p:cNvSpPr/>
          <p:nvPr/>
        </p:nvSpPr>
        <p:spPr>
          <a:xfrm>
            <a:off x="2001200" y="1642325"/>
            <a:ext cx="5068500" cy="2706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 (Hardware)</a:t>
            </a:r>
            <a:endParaRPr>
              <a:latin typeface="Roboto"/>
              <a:ea typeface="Roboto"/>
              <a:cs typeface="Roboto"/>
              <a:sym typeface="Roboto"/>
            </a:endParaRPr>
          </a:p>
        </p:txBody>
      </p:sp>
      <p:sp>
        <p:nvSpPr>
          <p:cNvPr id="1103" name="Google Shape;1103;p7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NIC Before Offloading</a:t>
            </a:r>
            <a:endParaRPr/>
          </a:p>
        </p:txBody>
      </p:sp>
      <p:sp>
        <p:nvSpPr>
          <p:cNvPr id="1104" name="Google Shape;1104;p73"/>
          <p:cNvSpPr txBox="1"/>
          <p:nvPr>
            <p:ph idx="1" type="body"/>
          </p:nvPr>
        </p:nvSpPr>
        <p:spPr>
          <a:xfrm>
            <a:off x="107050" y="402200"/>
            <a:ext cx="8909700" cy="607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NIC passes incoming packets up to CPU, and </a:t>
            </a:r>
            <a:r>
              <a:rPr lang="en"/>
              <a:t>sends out packets from CPU.</a:t>
            </a:r>
            <a:endParaRPr/>
          </a:p>
        </p:txBody>
      </p:sp>
      <p:sp>
        <p:nvSpPr>
          <p:cNvPr id="1105" name="Google Shape;1105;p73"/>
          <p:cNvSpPr/>
          <p:nvPr/>
        </p:nvSpPr>
        <p:spPr>
          <a:xfrm>
            <a:off x="2171125" y="38145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Transceiver</a:t>
            </a:r>
            <a:endParaRPr b="1">
              <a:latin typeface="Roboto"/>
              <a:ea typeface="Roboto"/>
              <a:cs typeface="Roboto"/>
              <a:sym typeface="Roboto"/>
            </a:endParaRPr>
          </a:p>
        </p:txBody>
      </p:sp>
      <p:sp>
        <p:nvSpPr>
          <p:cNvPr id="1106" name="Google Shape;1106;p73"/>
          <p:cNvSpPr/>
          <p:nvPr/>
        </p:nvSpPr>
        <p:spPr>
          <a:xfrm>
            <a:off x="2171125" y="33573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Buffer</a:t>
            </a:r>
            <a:endParaRPr b="1">
              <a:latin typeface="Roboto"/>
              <a:ea typeface="Roboto"/>
              <a:cs typeface="Roboto"/>
              <a:sym typeface="Roboto"/>
            </a:endParaRPr>
          </a:p>
        </p:txBody>
      </p:sp>
      <p:sp>
        <p:nvSpPr>
          <p:cNvPr id="1107" name="Google Shape;1107;p73"/>
          <p:cNvSpPr/>
          <p:nvPr/>
        </p:nvSpPr>
        <p:spPr>
          <a:xfrm>
            <a:off x="2171125" y="29001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Remove L2 Headers</a:t>
            </a:r>
            <a:endParaRPr b="1">
              <a:latin typeface="Roboto"/>
              <a:ea typeface="Roboto"/>
              <a:cs typeface="Roboto"/>
              <a:sym typeface="Roboto"/>
            </a:endParaRPr>
          </a:p>
        </p:txBody>
      </p:sp>
      <p:sp>
        <p:nvSpPr>
          <p:cNvPr id="1108" name="Google Shape;1108;p73"/>
          <p:cNvSpPr/>
          <p:nvPr/>
        </p:nvSpPr>
        <p:spPr>
          <a:xfrm>
            <a:off x="2171125" y="24429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Process Packet</a:t>
            </a:r>
            <a:endParaRPr b="1">
              <a:latin typeface="Roboto"/>
              <a:ea typeface="Roboto"/>
              <a:cs typeface="Roboto"/>
              <a:sym typeface="Roboto"/>
            </a:endParaRPr>
          </a:p>
        </p:txBody>
      </p:sp>
      <p:sp>
        <p:nvSpPr>
          <p:cNvPr id="1109" name="Google Shape;1109;p73"/>
          <p:cNvSpPr/>
          <p:nvPr/>
        </p:nvSpPr>
        <p:spPr>
          <a:xfrm>
            <a:off x="2171125" y="19857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Generate Interrupt</a:t>
            </a:r>
            <a:endParaRPr b="1">
              <a:latin typeface="Roboto"/>
              <a:ea typeface="Roboto"/>
              <a:cs typeface="Roboto"/>
              <a:sym typeface="Roboto"/>
            </a:endParaRPr>
          </a:p>
        </p:txBody>
      </p:sp>
      <p:cxnSp>
        <p:nvCxnSpPr>
          <p:cNvPr id="1110" name="Google Shape;1110;p73"/>
          <p:cNvCxnSpPr>
            <a:stCxn id="1106" idx="2"/>
            <a:endCxn id="1105" idx="0"/>
          </p:cNvCxnSpPr>
          <p:nvPr/>
        </p:nvCxnSpPr>
        <p:spPr>
          <a:xfrm>
            <a:off x="3029425" y="3637200"/>
            <a:ext cx="0" cy="177300"/>
          </a:xfrm>
          <a:prstGeom prst="straightConnector1">
            <a:avLst/>
          </a:prstGeom>
          <a:noFill/>
          <a:ln cap="flat" cmpd="sng" w="19050">
            <a:solidFill>
              <a:schemeClr val="dk2"/>
            </a:solidFill>
            <a:prstDash val="solid"/>
            <a:round/>
            <a:headEnd len="med" w="med" type="none"/>
            <a:tailEnd len="med" w="med" type="none"/>
          </a:ln>
        </p:spPr>
      </p:cxnSp>
      <p:cxnSp>
        <p:nvCxnSpPr>
          <p:cNvPr id="1111" name="Google Shape;1111;p73"/>
          <p:cNvCxnSpPr>
            <a:stCxn id="1107" idx="2"/>
            <a:endCxn id="1106" idx="0"/>
          </p:cNvCxnSpPr>
          <p:nvPr/>
        </p:nvCxnSpPr>
        <p:spPr>
          <a:xfrm>
            <a:off x="3029425" y="3180000"/>
            <a:ext cx="0" cy="177300"/>
          </a:xfrm>
          <a:prstGeom prst="straightConnector1">
            <a:avLst/>
          </a:prstGeom>
          <a:noFill/>
          <a:ln cap="flat" cmpd="sng" w="19050">
            <a:solidFill>
              <a:schemeClr val="dk2"/>
            </a:solidFill>
            <a:prstDash val="solid"/>
            <a:round/>
            <a:headEnd len="med" w="med" type="none"/>
            <a:tailEnd len="med" w="med" type="none"/>
          </a:ln>
        </p:spPr>
      </p:cxnSp>
      <p:cxnSp>
        <p:nvCxnSpPr>
          <p:cNvPr id="1112" name="Google Shape;1112;p73"/>
          <p:cNvCxnSpPr>
            <a:stCxn id="1108" idx="2"/>
            <a:endCxn id="1107" idx="0"/>
          </p:cNvCxnSpPr>
          <p:nvPr/>
        </p:nvCxnSpPr>
        <p:spPr>
          <a:xfrm>
            <a:off x="3029425" y="2722800"/>
            <a:ext cx="0" cy="177300"/>
          </a:xfrm>
          <a:prstGeom prst="straightConnector1">
            <a:avLst/>
          </a:prstGeom>
          <a:noFill/>
          <a:ln cap="flat" cmpd="sng" w="19050">
            <a:solidFill>
              <a:schemeClr val="dk2"/>
            </a:solidFill>
            <a:prstDash val="solid"/>
            <a:round/>
            <a:headEnd len="med" w="med" type="none"/>
            <a:tailEnd len="med" w="med" type="none"/>
          </a:ln>
        </p:spPr>
      </p:cxnSp>
      <p:cxnSp>
        <p:nvCxnSpPr>
          <p:cNvPr id="1113" name="Google Shape;1113;p73"/>
          <p:cNvCxnSpPr>
            <a:stCxn id="1109" idx="2"/>
            <a:endCxn id="1108" idx="0"/>
          </p:cNvCxnSpPr>
          <p:nvPr/>
        </p:nvCxnSpPr>
        <p:spPr>
          <a:xfrm>
            <a:off x="3029425" y="2265600"/>
            <a:ext cx="0" cy="177300"/>
          </a:xfrm>
          <a:prstGeom prst="straightConnector1">
            <a:avLst/>
          </a:prstGeom>
          <a:noFill/>
          <a:ln cap="flat" cmpd="sng" w="19050">
            <a:solidFill>
              <a:schemeClr val="dk2"/>
            </a:solidFill>
            <a:prstDash val="solid"/>
            <a:round/>
            <a:headEnd len="med" w="med" type="none"/>
            <a:tailEnd len="med" w="med" type="none"/>
          </a:ln>
        </p:spPr>
      </p:cxnSp>
      <p:cxnSp>
        <p:nvCxnSpPr>
          <p:cNvPr id="1114" name="Google Shape;1114;p73"/>
          <p:cNvCxnSpPr/>
          <p:nvPr/>
        </p:nvCxnSpPr>
        <p:spPr>
          <a:xfrm>
            <a:off x="3029425" y="1377900"/>
            <a:ext cx="0" cy="607800"/>
          </a:xfrm>
          <a:prstGeom prst="straightConnector1">
            <a:avLst/>
          </a:prstGeom>
          <a:noFill/>
          <a:ln cap="flat" cmpd="sng" w="19050">
            <a:solidFill>
              <a:schemeClr val="dk2"/>
            </a:solidFill>
            <a:prstDash val="solid"/>
            <a:round/>
            <a:headEnd len="med" w="med" type="triangle"/>
            <a:tailEnd len="med" w="med" type="none"/>
          </a:ln>
        </p:spPr>
      </p:cxnSp>
      <p:cxnSp>
        <p:nvCxnSpPr>
          <p:cNvPr id="1115" name="Google Shape;1115;p73"/>
          <p:cNvCxnSpPr/>
          <p:nvPr/>
        </p:nvCxnSpPr>
        <p:spPr>
          <a:xfrm>
            <a:off x="3029425" y="4094400"/>
            <a:ext cx="0" cy="516600"/>
          </a:xfrm>
          <a:prstGeom prst="straightConnector1">
            <a:avLst/>
          </a:prstGeom>
          <a:noFill/>
          <a:ln cap="flat" cmpd="sng" w="19050">
            <a:solidFill>
              <a:schemeClr val="dk2"/>
            </a:solidFill>
            <a:prstDash val="solid"/>
            <a:round/>
            <a:headEnd len="med" w="med" type="triangle"/>
            <a:tailEnd len="med" w="med" type="none"/>
          </a:ln>
        </p:spPr>
      </p:cxnSp>
      <p:sp>
        <p:nvSpPr>
          <p:cNvPr id="1116" name="Google Shape;1116;p73"/>
          <p:cNvSpPr/>
          <p:nvPr/>
        </p:nvSpPr>
        <p:spPr>
          <a:xfrm>
            <a:off x="2590825" y="1066213"/>
            <a:ext cx="4153800" cy="314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Network Driver (Software)</a:t>
            </a:r>
            <a:endParaRPr>
              <a:latin typeface="Roboto"/>
              <a:ea typeface="Roboto"/>
              <a:cs typeface="Roboto"/>
              <a:sym typeface="Roboto"/>
            </a:endParaRPr>
          </a:p>
        </p:txBody>
      </p:sp>
      <p:sp>
        <p:nvSpPr>
          <p:cNvPr id="1117" name="Google Shape;1117;p73"/>
          <p:cNvSpPr/>
          <p:nvPr/>
        </p:nvSpPr>
        <p:spPr>
          <a:xfrm>
            <a:off x="5219125" y="38145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Transceiver</a:t>
            </a:r>
            <a:endParaRPr b="1">
              <a:latin typeface="Roboto"/>
              <a:ea typeface="Roboto"/>
              <a:cs typeface="Roboto"/>
              <a:sym typeface="Roboto"/>
            </a:endParaRPr>
          </a:p>
        </p:txBody>
      </p:sp>
      <p:sp>
        <p:nvSpPr>
          <p:cNvPr id="1118" name="Google Shape;1118;p73"/>
          <p:cNvSpPr/>
          <p:nvPr/>
        </p:nvSpPr>
        <p:spPr>
          <a:xfrm>
            <a:off x="5219125" y="32049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Construct L2 Frame</a:t>
            </a:r>
            <a:endParaRPr b="1">
              <a:latin typeface="Roboto"/>
              <a:ea typeface="Roboto"/>
              <a:cs typeface="Roboto"/>
              <a:sym typeface="Roboto"/>
            </a:endParaRPr>
          </a:p>
        </p:txBody>
      </p:sp>
      <p:sp>
        <p:nvSpPr>
          <p:cNvPr id="1119" name="Google Shape;1119;p73"/>
          <p:cNvSpPr/>
          <p:nvPr/>
        </p:nvSpPr>
        <p:spPr>
          <a:xfrm>
            <a:off x="5219125" y="25953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Process Packet</a:t>
            </a:r>
            <a:endParaRPr b="1">
              <a:latin typeface="Roboto"/>
              <a:ea typeface="Roboto"/>
              <a:cs typeface="Roboto"/>
              <a:sym typeface="Roboto"/>
            </a:endParaRPr>
          </a:p>
        </p:txBody>
      </p:sp>
      <p:sp>
        <p:nvSpPr>
          <p:cNvPr id="1120" name="Google Shape;1120;p73"/>
          <p:cNvSpPr/>
          <p:nvPr/>
        </p:nvSpPr>
        <p:spPr>
          <a:xfrm>
            <a:off x="5219125" y="1985700"/>
            <a:ext cx="1716600" cy="279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b="1" lang="en">
                <a:latin typeface="Roboto"/>
                <a:ea typeface="Roboto"/>
                <a:cs typeface="Roboto"/>
                <a:sym typeface="Roboto"/>
              </a:rPr>
              <a:t>Buffer</a:t>
            </a:r>
            <a:endParaRPr b="1">
              <a:latin typeface="Roboto"/>
              <a:ea typeface="Roboto"/>
              <a:cs typeface="Roboto"/>
              <a:sym typeface="Roboto"/>
            </a:endParaRPr>
          </a:p>
        </p:txBody>
      </p:sp>
      <p:cxnSp>
        <p:nvCxnSpPr>
          <p:cNvPr id="1121" name="Google Shape;1121;p73"/>
          <p:cNvCxnSpPr>
            <a:stCxn id="1118" idx="2"/>
            <a:endCxn id="1117" idx="0"/>
          </p:cNvCxnSpPr>
          <p:nvPr/>
        </p:nvCxnSpPr>
        <p:spPr>
          <a:xfrm>
            <a:off x="6077425" y="3484800"/>
            <a:ext cx="0" cy="329700"/>
          </a:xfrm>
          <a:prstGeom prst="straightConnector1">
            <a:avLst/>
          </a:prstGeom>
          <a:noFill/>
          <a:ln cap="flat" cmpd="sng" w="19050">
            <a:solidFill>
              <a:schemeClr val="dk2"/>
            </a:solidFill>
            <a:prstDash val="solid"/>
            <a:round/>
            <a:headEnd len="med" w="med" type="none"/>
            <a:tailEnd len="med" w="med" type="none"/>
          </a:ln>
        </p:spPr>
      </p:cxnSp>
      <p:cxnSp>
        <p:nvCxnSpPr>
          <p:cNvPr id="1122" name="Google Shape;1122;p73"/>
          <p:cNvCxnSpPr>
            <a:stCxn id="1119" idx="2"/>
            <a:endCxn id="1118" idx="0"/>
          </p:cNvCxnSpPr>
          <p:nvPr/>
        </p:nvCxnSpPr>
        <p:spPr>
          <a:xfrm>
            <a:off x="6077425" y="2875200"/>
            <a:ext cx="0" cy="329700"/>
          </a:xfrm>
          <a:prstGeom prst="straightConnector1">
            <a:avLst/>
          </a:prstGeom>
          <a:noFill/>
          <a:ln cap="flat" cmpd="sng" w="19050">
            <a:solidFill>
              <a:schemeClr val="dk2"/>
            </a:solidFill>
            <a:prstDash val="solid"/>
            <a:round/>
            <a:headEnd len="med" w="med" type="none"/>
            <a:tailEnd len="med" w="med" type="none"/>
          </a:ln>
        </p:spPr>
      </p:cxnSp>
      <p:cxnSp>
        <p:nvCxnSpPr>
          <p:cNvPr id="1123" name="Google Shape;1123;p73"/>
          <p:cNvCxnSpPr>
            <a:stCxn id="1120" idx="2"/>
            <a:endCxn id="1119" idx="0"/>
          </p:cNvCxnSpPr>
          <p:nvPr/>
        </p:nvCxnSpPr>
        <p:spPr>
          <a:xfrm>
            <a:off x="6077425" y="2265600"/>
            <a:ext cx="0" cy="329700"/>
          </a:xfrm>
          <a:prstGeom prst="straightConnector1">
            <a:avLst/>
          </a:prstGeom>
          <a:noFill/>
          <a:ln cap="flat" cmpd="sng" w="19050">
            <a:solidFill>
              <a:schemeClr val="dk2"/>
            </a:solidFill>
            <a:prstDash val="solid"/>
            <a:round/>
            <a:headEnd len="med" w="med" type="none"/>
            <a:tailEnd len="med" w="med" type="none"/>
          </a:ln>
        </p:spPr>
      </p:cxnSp>
      <p:cxnSp>
        <p:nvCxnSpPr>
          <p:cNvPr id="1124" name="Google Shape;1124;p73"/>
          <p:cNvCxnSpPr/>
          <p:nvPr/>
        </p:nvCxnSpPr>
        <p:spPr>
          <a:xfrm>
            <a:off x="6077425" y="1377900"/>
            <a:ext cx="0" cy="607800"/>
          </a:xfrm>
          <a:prstGeom prst="straightConnector1">
            <a:avLst/>
          </a:prstGeom>
          <a:noFill/>
          <a:ln cap="flat" cmpd="sng" w="19050">
            <a:solidFill>
              <a:schemeClr val="dk2"/>
            </a:solidFill>
            <a:prstDash val="solid"/>
            <a:round/>
            <a:headEnd len="med" w="med" type="none"/>
            <a:tailEnd len="med" w="med" type="triangle"/>
          </a:ln>
        </p:spPr>
      </p:cxnSp>
      <p:cxnSp>
        <p:nvCxnSpPr>
          <p:cNvPr id="1125" name="Google Shape;1125;p73"/>
          <p:cNvCxnSpPr/>
          <p:nvPr/>
        </p:nvCxnSpPr>
        <p:spPr>
          <a:xfrm>
            <a:off x="6077425" y="4094400"/>
            <a:ext cx="0" cy="516600"/>
          </a:xfrm>
          <a:prstGeom prst="straightConnector1">
            <a:avLst/>
          </a:prstGeom>
          <a:noFill/>
          <a:ln cap="flat" cmpd="sng" w="19050">
            <a:solidFill>
              <a:schemeClr val="dk2"/>
            </a:solidFill>
            <a:prstDash val="solid"/>
            <a:round/>
            <a:headEnd len="med" w="med" type="none"/>
            <a:tailEnd len="med" w="med" type="triangle"/>
          </a:ln>
        </p:spPr>
      </p:cxnSp>
      <p:sp>
        <p:nvSpPr>
          <p:cNvPr id="1126" name="Google Shape;1126;p73"/>
          <p:cNvSpPr/>
          <p:nvPr/>
        </p:nvSpPr>
        <p:spPr>
          <a:xfrm>
            <a:off x="4086475" y="2855825"/>
            <a:ext cx="933900" cy="508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NIC Controller</a:t>
            </a:r>
            <a:endParaRPr>
              <a:latin typeface="Roboto"/>
              <a:ea typeface="Roboto"/>
              <a:cs typeface="Roboto"/>
              <a:sym typeface="Roboto"/>
            </a:endParaRPr>
          </a:p>
        </p:txBody>
      </p:sp>
      <p:sp>
        <p:nvSpPr>
          <p:cNvPr id="1127" name="Google Shape;1127;p73"/>
          <p:cNvSpPr/>
          <p:nvPr/>
        </p:nvSpPr>
        <p:spPr>
          <a:xfrm>
            <a:off x="2590825" y="4610913"/>
            <a:ext cx="4153800" cy="3144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Network Ports</a:t>
            </a:r>
            <a:endParaRPr>
              <a:latin typeface="Roboto"/>
              <a:ea typeface="Roboto"/>
              <a:cs typeface="Roboto"/>
              <a:sym typeface="Roboto"/>
            </a:endParaRPr>
          </a:p>
        </p:txBody>
      </p:sp>
      <p:sp>
        <p:nvSpPr>
          <p:cNvPr id="1128" name="Google Shape;1128;p73"/>
          <p:cNvSpPr txBox="1"/>
          <p:nvPr/>
        </p:nvSpPr>
        <p:spPr>
          <a:xfrm>
            <a:off x="234300" y="3711300"/>
            <a:ext cx="15888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1000"/>
              </a:spcAft>
              <a:buNone/>
            </a:pPr>
            <a:r>
              <a:rPr lang="en">
                <a:solidFill>
                  <a:schemeClr val="accent2"/>
                </a:solidFill>
                <a:latin typeface="Roboto"/>
                <a:ea typeface="Roboto"/>
                <a:cs typeface="Roboto"/>
                <a:sym typeface="Roboto"/>
              </a:rPr>
              <a:t>Convert electrical signals into bits.</a:t>
            </a:r>
            <a:endParaRPr>
              <a:solidFill>
                <a:schemeClr val="accent2"/>
              </a:solidFill>
              <a:latin typeface="Roboto"/>
              <a:ea typeface="Roboto"/>
              <a:cs typeface="Roboto"/>
              <a:sym typeface="Roboto"/>
            </a:endParaRPr>
          </a:p>
        </p:txBody>
      </p:sp>
      <p:cxnSp>
        <p:nvCxnSpPr>
          <p:cNvPr id="1129" name="Google Shape;1129;p73"/>
          <p:cNvCxnSpPr/>
          <p:nvPr/>
        </p:nvCxnSpPr>
        <p:spPr>
          <a:xfrm rot="10800000">
            <a:off x="1881550" y="1931525"/>
            <a:ext cx="0" cy="2357100"/>
          </a:xfrm>
          <a:prstGeom prst="straightConnector1">
            <a:avLst/>
          </a:prstGeom>
          <a:noFill/>
          <a:ln cap="flat" cmpd="sng" w="19050">
            <a:solidFill>
              <a:schemeClr val="accent2"/>
            </a:solidFill>
            <a:prstDash val="solid"/>
            <a:round/>
            <a:headEnd len="med" w="med" type="none"/>
            <a:tailEnd len="med" w="med" type="triangle"/>
          </a:ln>
        </p:spPr>
      </p:cxnSp>
      <p:sp>
        <p:nvSpPr>
          <p:cNvPr id="1130" name="Google Shape;1130;p73"/>
          <p:cNvSpPr txBox="1"/>
          <p:nvPr/>
        </p:nvSpPr>
        <p:spPr>
          <a:xfrm>
            <a:off x="234300" y="3085950"/>
            <a:ext cx="15888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1000"/>
              </a:spcAft>
              <a:buNone/>
            </a:pPr>
            <a:r>
              <a:rPr lang="en">
                <a:solidFill>
                  <a:schemeClr val="accent2"/>
                </a:solidFill>
                <a:latin typeface="Roboto"/>
                <a:ea typeface="Roboto"/>
                <a:cs typeface="Roboto"/>
                <a:sym typeface="Roboto"/>
              </a:rPr>
              <a:t>Buffer bits until we can process them.</a:t>
            </a:r>
            <a:endParaRPr>
              <a:solidFill>
                <a:schemeClr val="accent2"/>
              </a:solidFill>
              <a:latin typeface="Roboto"/>
              <a:ea typeface="Roboto"/>
              <a:cs typeface="Roboto"/>
              <a:sym typeface="Roboto"/>
            </a:endParaRPr>
          </a:p>
        </p:txBody>
      </p:sp>
      <p:sp>
        <p:nvSpPr>
          <p:cNvPr id="1131" name="Google Shape;1131;p73"/>
          <p:cNvSpPr txBox="1"/>
          <p:nvPr/>
        </p:nvSpPr>
        <p:spPr>
          <a:xfrm>
            <a:off x="234300" y="2676000"/>
            <a:ext cx="14514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1000"/>
              </a:spcAft>
              <a:buNone/>
            </a:pPr>
            <a:r>
              <a:rPr lang="en">
                <a:solidFill>
                  <a:schemeClr val="accent2"/>
                </a:solidFill>
                <a:latin typeface="Roboto"/>
                <a:ea typeface="Roboto"/>
                <a:cs typeface="Roboto"/>
                <a:sym typeface="Roboto"/>
              </a:rPr>
              <a:t>Process Layer 2.</a:t>
            </a:r>
            <a:endParaRPr>
              <a:solidFill>
                <a:schemeClr val="accent2"/>
              </a:solidFill>
              <a:latin typeface="Roboto"/>
              <a:ea typeface="Roboto"/>
              <a:cs typeface="Roboto"/>
              <a:sym typeface="Roboto"/>
            </a:endParaRPr>
          </a:p>
        </p:txBody>
      </p:sp>
      <p:sp>
        <p:nvSpPr>
          <p:cNvPr id="1132" name="Google Shape;1132;p73"/>
          <p:cNvSpPr txBox="1"/>
          <p:nvPr/>
        </p:nvSpPr>
        <p:spPr>
          <a:xfrm>
            <a:off x="234300" y="1990200"/>
            <a:ext cx="15888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1000"/>
              </a:spcAft>
              <a:buNone/>
            </a:pPr>
            <a:r>
              <a:rPr lang="en">
                <a:solidFill>
                  <a:schemeClr val="accent2"/>
                </a:solidFill>
                <a:latin typeface="Roboto"/>
                <a:ea typeface="Roboto"/>
                <a:cs typeface="Roboto"/>
                <a:sym typeface="Roboto"/>
              </a:rPr>
              <a:t>Interrupt CPU to give packet to CPU.</a:t>
            </a:r>
            <a:endParaRPr>
              <a:solidFill>
                <a:schemeClr val="accent2"/>
              </a:solidFill>
              <a:latin typeface="Roboto"/>
              <a:ea typeface="Roboto"/>
              <a:cs typeface="Roboto"/>
              <a:sym typeface="Roboto"/>
            </a:endParaRPr>
          </a:p>
        </p:txBody>
      </p:sp>
      <p:sp>
        <p:nvSpPr>
          <p:cNvPr id="1133" name="Google Shape;1133;p73"/>
          <p:cNvSpPr txBox="1"/>
          <p:nvPr/>
        </p:nvSpPr>
        <p:spPr>
          <a:xfrm>
            <a:off x="7320900" y="3711300"/>
            <a:ext cx="14883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1000"/>
              </a:spcAft>
              <a:buNone/>
            </a:pPr>
            <a:r>
              <a:rPr lang="en">
                <a:solidFill>
                  <a:schemeClr val="accent2"/>
                </a:solidFill>
                <a:latin typeface="Roboto"/>
                <a:ea typeface="Roboto"/>
                <a:cs typeface="Roboto"/>
                <a:sym typeface="Roboto"/>
              </a:rPr>
              <a:t>Convert </a:t>
            </a:r>
            <a:r>
              <a:rPr lang="en">
                <a:solidFill>
                  <a:schemeClr val="accent2"/>
                </a:solidFill>
                <a:latin typeface="Roboto"/>
                <a:ea typeface="Roboto"/>
                <a:cs typeface="Roboto"/>
                <a:sym typeface="Roboto"/>
              </a:rPr>
              <a:t>bits into electrical signals.</a:t>
            </a:r>
            <a:endParaRPr>
              <a:solidFill>
                <a:schemeClr val="accent2"/>
              </a:solidFill>
              <a:latin typeface="Roboto"/>
              <a:ea typeface="Roboto"/>
              <a:cs typeface="Roboto"/>
              <a:sym typeface="Roboto"/>
            </a:endParaRPr>
          </a:p>
        </p:txBody>
      </p:sp>
      <p:cxnSp>
        <p:nvCxnSpPr>
          <p:cNvPr id="1134" name="Google Shape;1134;p73"/>
          <p:cNvCxnSpPr/>
          <p:nvPr/>
        </p:nvCxnSpPr>
        <p:spPr>
          <a:xfrm rot="10800000">
            <a:off x="7215550" y="1857125"/>
            <a:ext cx="0" cy="2431500"/>
          </a:xfrm>
          <a:prstGeom prst="straightConnector1">
            <a:avLst/>
          </a:prstGeom>
          <a:noFill/>
          <a:ln cap="flat" cmpd="sng" w="19050">
            <a:solidFill>
              <a:schemeClr val="accent2"/>
            </a:solidFill>
            <a:prstDash val="solid"/>
            <a:round/>
            <a:headEnd len="med" w="med" type="triangle"/>
            <a:tailEnd len="med" w="med" type="none"/>
          </a:ln>
        </p:spPr>
      </p:cxnSp>
      <p:sp>
        <p:nvSpPr>
          <p:cNvPr id="1135" name="Google Shape;1135;p73"/>
          <p:cNvSpPr txBox="1"/>
          <p:nvPr/>
        </p:nvSpPr>
        <p:spPr>
          <a:xfrm>
            <a:off x="7320900" y="2862175"/>
            <a:ext cx="14514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1000"/>
              </a:spcAft>
              <a:buNone/>
            </a:pPr>
            <a:r>
              <a:rPr lang="en">
                <a:solidFill>
                  <a:schemeClr val="accent2"/>
                </a:solidFill>
                <a:latin typeface="Roboto"/>
                <a:ea typeface="Roboto"/>
                <a:cs typeface="Roboto"/>
                <a:sym typeface="Roboto"/>
              </a:rPr>
              <a:t>Process Layer 2.</a:t>
            </a:r>
            <a:endParaRPr>
              <a:solidFill>
                <a:schemeClr val="accent2"/>
              </a:solidFill>
              <a:latin typeface="Roboto"/>
              <a:ea typeface="Roboto"/>
              <a:cs typeface="Roboto"/>
              <a:sym typeface="Roboto"/>
            </a:endParaRPr>
          </a:p>
        </p:txBody>
      </p:sp>
      <p:sp>
        <p:nvSpPr>
          <p:cNvPr id="1136" name="Google Shape;1136;p73"/>
          <p:cNvSpPr txBox="1"/>
          <p:nvPr/>
        </p:nvSpPr>
        <p:spPr>
          <a:xfrm>
            <a:off x="7320900" y="1882500"/>
            <a:ext cx="1588800" cy="7020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1000"/>
              </a:spcAft>
              <a:buNone/>
            </a:pPr>
            <a:r>
              <a:rPr lang="en">
                <a:solidFill>
                  <a:schemeClr val="accent2"/>
                </a:solidFill>
                <a:latin typeface="Roboto"/>
                <a:ea typeface="Roboto"/>
                <a:cs typeface="Roboto"/>
                <a:sym typeface="Roboto"/>
              </a:rPr>
              <a:t>Buffer packets from CPU until we can process them.</a:t>
            </a:r>
            <a:endParaRPr>
              <a:solidFill>
                <a:schemeClr val="accent2"/>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74"/>
          <p:cNvSpPr/>
          <p:nvPr/>
        </p:nvSpPr>
        <p:spPr>
          <a:xfrm>
            <a:off x="6292600" y="3753200"/>
            <a:ext cx="1611600" cy="613800"/>
          </a:xfrm>
          <a:prstGeom prst="roundRect">
            <a:avLst>
              <a:gd fmla="val 10097" name="adj"/>
            </a:avLst>
          </a:prstGeom>
          <a:no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Epoch 3: Protocols</a:t>
            </a:r>
            <a:endParaRPr>
              <a:latin typeface="Roboto"/>
              <a:ea typeface="Roboto"/>
              <a:cs typeface="Roboto"/>
              <a:sym typeface="Roboto"/>
            </a:endParaRPr>
          </a:p>
          <a:p>
            <a:pPr indent="0" lvl="0" marL="0" rtl="0" algn="l">
              <a:spcBef>
                <a:spcPts val="1000"/>
              </a:spcBef>
              <a:spcAft>
                <a:spcPts val="0"/>
              </a:spcAft>
              <a:buNone/>
            </a:pPr>
            <a:r>
              <a:rPr lang="en" sz="1200">
                <a:latin typeface="Roboto"/>
                <a:ea typeface="Roboto"/>
                <a:cs typeface="Roboto"/>
                <a:sym typeface="Roboto"/>
              </a:rPr>
              <a:t>– RDMA</a:t>
            </a:r>
            <a:endParaRPr sz="1200">
              <a:latin typeface="Roboto"/>
              <a:ea typeface="Roboto"/>
              <a:cs typeface="Roboto"/>
              <a:sym typeface="Roboto"/>
            </a:endParaRPr>
          </a:p>
        </p:txBody>
      </p:sp>
      <p:sp>
        <p:nvSpPr>
          <p:cNvPr id="1142" name="Google Shape;1142;p7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Offloading</a:t>
            </a:r>
            <a:endParaRPr/>
          </a:p>
        </p:txBody>
      </p:sp>
      <p:sp>
        <p:nvSpPr>
          <p:cNvPr id="1143" name="Google Shape;1143;p74"/>
          <p:cNvSpPr txBox="1"/>
          <p:nvPr>
            <p:ph idx="1" type="body"/>
          </p:nvPr>
        </p:nvSpPr>
        <p:spPr>
          <a:xfrm>
            <a:off x="107050" y="402200"/>
            <a:ext cx="8909700" cy="2083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solidFill>
                  <a:srgbClr val="000000"/>
                </a:solidFill>
              </a:rPr>
              <a:t>Over time, increasingly complicated operations were offloaded to the NIC.</a:t>
            </a:r>
            <a:endParaRPr>
              <a:solidFill>
                <a:srgbClr val="000000"/>
              </a:solidFill>
            </a:endParaRPr>
          </a:p>
          <a:p>
            <a:pPr indent="-342900" lvl="0" marL="457200" rtl="0" algn="l">
              <a:spcBef>
                <a:spcPts val="600"/>
              </a:spcBef>
              <a:spcAft>
                <a:spcPts val="0"/>
              </a:spcAft>
              <a:buClr>
                <a:srgbClr val="000000"/>
              </a:buClr>
              <a:buSzPts val="1800"/>
              <a:buChar char="●"/>
            </a:pPr>
            <a:r>
              <a:rPr lang="en">
                <a:solidFill>
                  <a:srgbClr val="000000"/>
                </a:solidFill>
              </a:rPr>
              <a:t>Epoch 1: Simple stateless operations.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Epoch 2: Stateful operations.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Epoch 3: Protocols like RDMA.</a:t>
            </a:r>
            <a:endParaRPr>
              <a:solidFill>
                <a:srgbClr val="000000"/>
              </a:solidFill>
            </a:endParaRPr>
          </a:p>
        </p:txBody>
      </p:sp>
      <p:sp>
        <p:nvSpPr>
          <p:cNvPr id="1144" name="Google Shape;1144;p74"/>
          <p:cNvSpPr/>
          <p:nvPr/>
        </p:nvSpPr>
        <p:spPr>
          <a:xfrm>
            <a:off x="2896000" y="2457800"/>
            <a:ext cx="1611600" cy="30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Host Networking</a:t>
            </a:r>
            <a:endParaRPr>
              <a:latin typeface="Roboto"/>
              <a:ea typeface="Roboto"/>
              <a:cs typeface="Roboto"/>
              <a:sym typeface="Roboto"/>
            </a:endParaRPr>
          </a:p>
        </p:txBody>
      </p:sp>
      <p:sp>
        <p:nvSpPr>
          <p:cNvPr id="1145" name="Google Shape;1145;p74"/>
          <p:cNvSpPr/>
          <p:nvPr/>
        </p:nvSpPr>
        <p:spPr>
          <a:xfrm>
            <a:off x="1219600" y="3067400"/>
            <a:ext cx="1611600" cy="30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Shared Memory</a:t>
            </a:r>
            <a:endParaRPr>
              <a:latin typeface="Roboto"/>
              <a:ea typeface="Roboto"/>
              <a:cs typeface="Roboto"/>
              <a:sym typeface="Roboto"/>
            </a:endParaRPr>
          </a:p>
        </p:txBody>
      </p:sp>
      <p:sp>
        <p:nvSpPr>
          <p:cNvPr id="1146" name="Google Shape;1146;p74"/>
          <p:cNvSpPr/>
          <p:nvPr/>
        </p:nvSpPr>
        <p:spPr>
          <a:xfrm>
            <a:off x="4813900" y="3067400"/>
            <a:ext cx="1128600" cy="305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Offloading</a:t>
            </a:r>
            <a:endParaRPr>
              <a:latin typeface="Roboto"/>
              <a:ea typeface="Roboto"/>
              <a:cs typeface="Roboto"/>
              <a:sym typeface="Roboto"/>
            </a:endParaRPr>
          </a:p>
        </p:txBody>
      </p:sp>
      <p:cxnSp>
        <p:nvCxnSpPr>
          <p:cNvPr id="1147" name="Google Shape;1147;p74"/>
          <p:cNvCxnSpPr>
            <a:stCxn id="1144" idx="2"/>
            <a:endCxn id="1145" idx="0"/>
          </p:cNvCxnSpPr>
          <p:nvPr/>
        </p:nvCxnSpPr>
        <p:spPr>
          <a:xfrm flipH="1">
            <a:off x="2025400" y="2763200"/>
            <a:ext cx="1676400" cy="304200"/>
          </a:xfrm>
          <a:prstGeom prst="straightConnector1">
            <a:avLst/>
          </a:prstGeom>
          <a:noFill/>
          <a:ln cap="flat" cmpd="sng" w="9525">
            <a:solidFill>
              <a:schemeClr val="dk2"/>
            </a:solidFill>
            <a:prstDash val="solid"/>
            <a:round/>
            <a:headEnd len="med" w="med" type="none"/>
            <a:tailEnd len="med" w="med" type="none"/>
          </a:ln>
        </p:spPr>
      </p:cxnSp>
      <p:cxnSp>
        <p:nvCxnSpPr>
          <p:cNvPr id="1148" name="Google Shape;1148;p74"/>
          <p:cNvCxnSpPr>
            <a:stCxn id="1144" idx="2"/>
            <a:endCxn id="1146" idx="0"/>
          </p:cNvCxnSpPr>
          <p:nvPr/>
        </p:nvCxnSpPr>
        <p:spPr>
          <a:xfrm>
            <a:off x="3701800" y="2763200"/>
            <a:ext cx="1676400" cy="304200"/>
          </a:xfrm>
          <a:prstGeom prst="straightConnector1">
            <a:avLst/>
          </a:prstGeom>
          <a:noFill/>
          <a:ln cap="flat" cmpd="sng" w="9525">
            <a:solidFill>
              <a:schemeClr val="dk2"/>
            </a:solidFill>
            <a:prstDash val="solid"/>
            <a:round/>
            <a:headEnd len="med" w="med" type="none"/>
            <a:tailEnd len="med" w="med" type="none"/>
          </a:ln>
        </p:spPr>
      </p:cxnSp>
      <p:sp>
        <p:nvSpPr>
          <p:cNvPr id="1149" name="Google Shape;1149;p74"/>
          <p:cNvSpPr/>
          <p:nvPr/>
        </p:nvSpPr>
        <p:spPr>
          <a:xfrm>
            <a:off x="2852200" y="3753200"/>
            <a:ext cx="1611600" cy="944100"/>
          </a:xfrm>
          <a:prstGeom prst="roundRect">
            <a:avLst>
              <a:gd fmla="val 6459" name="adj"/>
            </a:avLst>
          </a:prstGeom>
          <a:no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Epoch 1: Stateless</a:t>
            </a:r>
            <a:endParaRPr>
              <a:latin typeface="Roboto"/>
              <a:ea typeface="Roboto"/>
              <a:cs typeface="Roboto"/>
              <a:sym typeface="Roboto"/>
            </a:endParaRPr>
          </a:p>
          <a:p>
            <a:pPr indent="0" lvl="0" marL="0" rtl="0" algn="l">
              <a:spcBef>
                <a:spcPts val="1000"/>
              </a:spcBef>
              <a:spcAft>
                <a:spcPts val="0"/>
              </a:spcAft>
              <a:buNone/>
            </a:pPr>
            <a:r>
              <a:rPr lang="en" sz="1200">
                <a:latin typeface="Roboto"/>
                <a:ea typeface="Roboto"/>
                <a:cs typeface="Roboto"/>
                <a:sym typeface="Roboto"/>
              </a:rPr>
              <a:t>– Checksum</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Segmentation</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Multi-queue support</a:t>
            </a:r>
            <a:endParaRPr sz="1200">
              <a:latin typeface="Roboto"/>
              <a:ea typeface="Roboto"/>
              <a:cs typeface="Roboto"/>
              <a:sym typeface="Roboto"/>
            </a:endParaRPr>
          </a:p>
        </p:txBody>
      </p:sp>
      <p:sp>
        <p:nvSpPr>
          <p:cNvPr id="1150" name="Google Shape;1150;p74"/>
          <p:cNvSpPr/>
          <p:nvPr/>
        </p:nvSpPr>
        <p:spPr>
          <a:xfrm>
            <a:off x="4572400" y="3753200"/>
            <a:ext cx="1611600" cy="944100"/>
          </a:xfrm>
          <a:prstGeom prst="roundRect">
            <a:avLst>
              <a:gd fmla="val 6856" name="adj"/>
            </a:avLst>
          </a:prstGeom>
          <a:no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Epoch 2: Stateful</a:t>
            </a:r>
            <a:endParaRPr>
              <a:latin typeface="Roboto"/>
              <a:ea typeface="Roboto"/>
              <a:cs typeface="Roboto"/>
              <a:sym typeface="Roboto"/>
            </a:endParaRPr>
          </a:p>
          <a:p>
            <a:pPr indent="0" lvl="0" marL="0" rtl="0" algn="l">
              <a:spcBef>
                <a:spcPts val="1000"/>
              </a:spcBef>
              <a:spcAft>
                <a:spcPts val="0"/>
              </a:spcAft>
              <a:buNone/>
            </a:pPr>
            <a:r>
              <a:rPr lang="en" sz="1200">
                <a:latin typeface="Roboto"/>
                <a:ea typeface="Roboto"/>
                <a:cs typeface="Roboto"/>
                <a:sym typeface="Roboto"/>
              </a:rPr>
              <a:t>– Virtualization</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Load balancing</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Firewalls</a:t>
            </a:r>
            <a:endParaRPr sz="1200">
              <a:latin typeface="Roboto"/>
              <a:ea typeface="Roboto"/>
              <a:cs typeface="Roboto"/>
              <a:sym typeface="Roboto"/>
            </a:endParaRPr>
          </a:p>
        </p:txBody>
      </p:sp>
      <p:cxnSp>
        <p:nvCxnSpPr>
          <p:cNvPr id="1151" name="Google Shape;1151;p74"/>
          <p:cNvCxnSpPr>
            <a:stCxn id="1146" idx="2"/>
            <a:endCxn id="1149" idx="0"/>
          </p:cNvCxnSpPr>
          <p:nvPr/>
        </p:nvCxnSpPr>
        <p:spPr>
          <a:xfrm flipH="1">
            <a:off x="3658000" y="3372800"/>
            <a:ext cx="1720200" cy="380400"/>
          </a:xfrm>
          <a:prstGeom prst="straightConnector1">
            <a:avLst/>
          </a:prstGeom>
          <a:noFill/>
          <a:ln cap="flat" cmpd="sng" w="9525">
            <a:solidFill>
              <a:schemeClr val="dk2"/>
            </a:solidFill>
            <a:prstDash val="solid"/>
            <a:round/>
            <a:headEnd len="med" w="med" type="none"/>
            <a:tailEnd len="med" w="med" type="none"/>
          </a:ln>
        </p:spPr>
      </p:cxnSp>
      <p:cxnSp>
        <p:nvCxnSpPr>
          <p:cNvPr id="1152" name="Google Shape;1152;p74"/>
          <p:cNvCxnSpPr>
            <a:stCxn id="1146" idx="2"/>
            <a:endCxn id="1150" idx="0"/>
          </p:cNvCxnSpPr>
          <p:nvPr/>
        </p:nvCxnSpPr>
        <p:spPr>
          <a:xfrm>
            <a:off x="5378200" y="3372800"/>
            <a:ext cx="0" cy="380400"/>
          </a:xfrm>
          <a:prstGeom prst="straightConnector1">
            <a:avLst/>
          </a:prstGeom>
          <a:noFill/>
          <a:ln cap="flat" cmpd="sng" w="9525">
            <a:solidFill>
              <a:schemeClr val="dk2"/>
            </a:solidFill>
            <a:prstDash val="solid"/>
            <a:round/>
            <a:headEnd len="med" w="med" type="none"/>
            <a:tailEnd len="med" w="med" type="none"/>
          </a:ln>
        </p:spPr>
      </p:cxnSp>
      <p:cxnSp>
        <p:nvCxnSpPr>
          <p:cNvPr id="1153" name="Google Shape;1153;p74"/>
          <p:cNvCxnSpPr>
            <a:stCxn id="1146" idx="2"/>
            <a:endCxn id="1141" idx="0"/>
          </p:cNvCxnSpPr>
          <p:nvPr/>
        </p:nvCxnSpPr>
        <p:spPr>
          <a:xfrm>
            <a:off x="5378200" y="3372800"/>
            <a:ext cx="1720200" cy="380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7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Epoch 1 Offloads (</a:t>
            </a:r>
            <a:r>
              <a:rPr lang="en"/>
              <a:t>1/3</a:t>
            </a:r>
            <a:r>
              <a:rPr lang="en"/>
              <a:t>): Checksum</a:t>
            </a:r>
            <a:endParaRPr/>
          </a:p>
        </p:txBody>
      </p:sp>
      <p:sp>
        <p:nvSpPr>
          <p:cNvPr id="1159" name="Google Shape;1159;p75"/>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NIC can </a:t>
            </a:r>
            <a:r>
              <a:rPr i="1" lang="en"/>
              <a:t>set</a:t>
            </a:r>
            <a:r>
              <a:rPr lang="en"/>
              <a:t> Layer 4 checksum for </a:t>
            </a:r>
            <a:r>
              <a:rPr i="1" lang="en"/>
              <a:t>outgoing</a:t>
            </a:r>
            <a:r>
              <a:rPr lang="en"/>
              <a:t> packets.</a:t>
            </a:r>
            <a:endParaRPr/>
          </a:p>
          <a:p>
            <a:pPr indent="0" lvl="0" marL="0" rtl="0" algn="l">
              <a:spcBef>
                <a:spcPts val="600"/>
              </a:spcBef>
              <a:spcAft>
                <a:spcPts val="0"/>
              </a:spcAft>
              <a:buNone/>
            </a:pPr>
            <a:r>
              <a:rPr lang="en"/>
              <a:t>The NIC can </a:t>
            </a:r>
            <a:r>
              <a:rPr i="1" lang="en"/>
              <a:t>verify</a:t>
            </a:r>
            <a:r>
              <a:rPr lang="en"/>
              <a:t> Layer 4 checksum for </a:t>
            </a:r>
            <a:r>
              <a:rPr i="1" lang="en"/>
              <a:t>incoming</a:t>
            </a:r>
            <a:r>
              <a:rPr lang="en"/>
              <a:t> packets.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CPU tells the NIC where to read/write the checksum.</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7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Epoch 1 Offloads (2/3): Segmentation</a:t>
            </a:r>
            <a:endParaRPr/>
          </a:p>
        </p:txBody>
      </p:sp>
      <p:sp>
        <p:nvSpPr>
          <p:cNvPr id="1165" name="Google Shape;1165;p76"/>
          <p:cNvSpPr txBox="1"/>
          <p:nvPr>
            <p:ph idx="1" type="body"/>
          </p:nvPr>
        </p:nvSpPr>
        <p:spPr>
          <a:xfrm>
            <a:off x="107050" y="402200"/>
            <a:ext cx="8909700" cy="1374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CPU can offload segmentation work (splitting and reassembling packets) to the NIC.</a:t>
            </a:r>
            <a:endParaRPr/>
          </a:p>
          <a:p>
            <a:pPr indent="-342900" lvl="0" marL="457200" rtl="0" algn="l">
              <a:spcBef>
                <a:spcPts val="600"/>
              </a:spcBef>
              <a:spcAft>
                <a:spcPts val="0"/>
              </a:spcAft>
              <a:buSzPts val="1800"/>
              <a:buChar char="●"/>
            </a:pPr>
            <a:r>
              <a:rPr lang="en"/>
              <a:t>CPU handles a few large packets.</a:t>
            </a:r>
            <a:endParaRPr/>
          </a:p>
          <a:p>
            <a:pPr indent="-342900" lvl="0" marL="457200" rtl="0" algn="l">
              <a:spcBef>
                <a:spcPts val="0"/>
              </a:spcBef>
              <a:spcAft>
                <a:spcPts val="0"/>
              </a:spcAft>
              <a:buSzPts val="1800"/>
              <a:buChar char="●"/>
            </a:pPr>
            <a:r>
              <a:rPr lang="en"/>
              <a:t>NIC handles lots of small packets.</a:t>
            </a:r>
            <a:endParaRPr/>
          </a:p>
        </p:txBody>
      </p:sp>
      <p:sp>
        <p:nvSpPr>
          <p:cNvPr id="1166" name="Google Shape;1166;p76"/>
          <p:cNvSpPr/>
          <p:nvPr/>
        </p:nvSpPr>
        <p:spPr>
          <a:xfrm>
            <a:off x="2222400" y="2158700"/>
            <a:ext cx="911100" cy="3936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Header</a:t>
            </a:r>
            <a:endParaRPr>
              <a:latin typeface="Roboto"/>
              <a:ea typeface="Roboto"/>
              <a:cs typeface="Roboto"/>
              <a:sym typeface="Roboto"/>
            </a:endParaRPr>
          </a:p>
        </p:txBody>
      </p:sp>
      <p:sp>
        <p:nvSpPr>
          <p:cNvPr id="1167" name="Google Shape;1167;p76"/>
          <p:cNvSpPr/>
          <p:nvPr/>
        </p:nvSpPr>
        <p:spPr>
          <a:xfrm>
            <a:off x="2222400" y="3301700"/>
            <a:ext cx="911100" cy="3936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Header</a:t>
            </a:r>
            <a:endParaRPr>
              <a:latin typeface="Roboto"/>
              <a:ea typeface="Roboto"/>
              <a:cs typeface="Roboto"/>
              <a:sym typeface="Roboto"/>
            </a:endParaRPr>
          </a:p>
        </p:txBody>
      </p:sp>
      <p:sp>
        <p:nvSpPr>
          <p:cNvPr id="1168" name="Google Shape;1168;p76"/>
          <p:cNvSpPr/>
          <p:nvPr/>
        </p:nvSpPr>
        <p:spPr>
          <a:xfrm>
            <a:off x="3133500" y="3301700"/>
            <a:ext cx="1262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1169" name="Google Shape;1169;p76"/>
          <p:cNvSpPr/>
          <p:nvPr/>
        </p:nvSpPr>
        <p:spPr>
          <a:xfrm>
            <a:off x="3133500" y="2158700"/>
            <a:ext cx="37881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1170" name="Google Shape;1170;p76"/>
          <p:cNvSpPr/>
          <p:nvPr/>
        </p:nvSpPr>
        <p:spPr>
          <a:xfrm>
            <a:off x="4396200" y="3758900"/>
            <a:ext cx="1262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1171" name="Google Shape;1171;p76"/>
          <p:cNvSpPr/>
          <p:nvPr/>
        </p:nvSpPr>
        <p:spPr>
          <a:xfrm>
            <a:off x="5658900" y="4216100"/>
            <a:ext cx="12627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1172" name="Google Shape;1172;p76"/>
          <p:cNvSpPr/>
          <p:nvPr/>
        </p:nvSpPr>
        <p:spPr>
          <a:xfrm>
            <a:off x="3485100" y="3758900"/>
            <a:ext cx="911100" cy="3936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Header</a:t>
            </a:r>
            <a:endParaRPr>
              <a:latin typeface="Roboto"/>
              <a:ea typeface="Roboto"/>
              <a:cs typeface="Roboto"/>
              <a:sym typeface="Roboto"/>
            </a:endParaRPr>
          </a:p>
        </p:txBody>
      </p:sp>
      <p:sp>
        <p:nvSpPr>
          <p:cNvPr id="1173" name="Google Shape;1173;p76"/>
          <p:cNvSpPr/>
          <p:nvPr/>
        </p:nvSpPr>
        <p:spPr>
          <a:xfrm>
            <a:off x="4747800" y="4216100"/>
            <a:ext cx="911100" cy="3936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Header</a:t>
            </a:r>
            <a:endParaRPr>
              <a:latin typeface="Roboto"/>
              <a:ea typeface="Roboto"/>
              <a:cs typeface="Roboto"/>
              <a:sym typeface="Roboto"/>
            </a:endParaRPr>
          </a:p>
        </p:txBody>
      </p:sp>
      <p:sp>
        <p:nvSpPr>
          <p:cNvPr id="1174" name="Google Shape;1174;p76"/>
          <p:cNvSpPr txBox="1"/>
          <p:nvPr/>
        </p:nvSpPr>
        <p:spPr>
          <a:xfrm>
            <a:off x="455563" y="4097600"/>
            <a:ext cx="13296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1000"/>
              </a:spcAft>
              <a:buNone/>
            </a:pPr>
            <a:r>
              <a:rPr lang="en">
                <a:solidFill>
                  <a:schemeClr val="accent2"/>
                </a:solidFill>
                <a:latin typeface="Roboto"/>
                <a:ea typeface="Roboto"/>
                <a:cs typeface="Roboto"/>
                <a:sym typeface="Roboto"/>
              </a:rPr>
              <a:t>CPU to NIC: Split up packet.</a:t>
            </a:r>
            <a:endParaRPr>
              <a:solidFill>
                <a:schemeClr val="accent2"/>
              </a:solidFill>
              <a:latin typeface="Roboto"/>
              <a:ea typeface="Roboto"/>
              <a:cs typeface="Roboto"/>
              <a:sym typeface="Roboto"/>
            </a:endParaRPr>
          </a:p>
        </p:txBody>
      </p:sp>
      <p:cxnSp>
        <p:nvCxnSpPr>
          <p:cNvPr id="1175" name="Google Shape;1175;p76"/>
          <p:cNvCxnSpPr/>
          <p:nvPr/>
        </p:nvCxnSpPr>
        <p:spPr>
          <a:xfrm>
            <a:off x="1549175" y="2355500"/>
            <a:ext cx="13500" cy="1600200"/>
          </a:xfrm>
          <a:prstGeom prst="curvedConnector3">
            <a:avLst>
              <a:gd fmla="val -6452778" name="adj1"/>
            </a:avLst>
          </a:prstGeom>
          <a:noFill/>
          <a:ln cap="flat" cmpd="sng" w="19050">
            <a:solidFill>
              <a:schemeClr val="accent2"/>
            </a:solidFill>
            <a:prstDash val="solid"/>
            <a:round/>
            <a:headEnd len="med" w="med" type="none"/>
            <a:tailEnd len="med" w="med" type="triangle"/>
          </a:ln>
        </p:spPr>
      </p:cxnSp>
      <p:sp>
        <p:nvSpPr>
          <p:cNvPr id="1176" name="Google Shape;1176;p76"/>
          <p:cNvSpPr txBox="1"/>
          <p:nvPr/>
        </p:nvSpPr>
        <p:spPr>
          <a:xfrm>
            <a:off x="7389763" y="4097600"/>
            <a:ext cx="13296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1000"/>
              </a:spcAft>
              <a:buNone/>
            </a:pPr>
            <a:r>
              <a:rPr lang="en">
                <a:solidFill>
                  <a:schemeClr val="accent2"/>
                </a:solidFill>
                <a:latin typeface="Roboto"/>
                <a:ea typeface="Roboto"/>
                <a:cs typeface="Roboto"/>
                <a:sym typeface="Roboto"/>
              </a:rPr>
              <a:t>NIC to CPU: Reassemble packet.</a:t>
            </a:r>
            <a:endParaRPr>
              <a:solidFill>
                <a:schemeClr val="accent2"/>
              </a:solidFill>
              <a:latin typeface="Roboto"/>
              <a:ea typeface="Roboto"/>
              <a:cs typeface="Roboto"/>
              <a:sym typeface="Roboto"/>
            </a:endParaRPr>
          </a:p>
        </p:txBody>
      </p:sp>
      <p:cxnSp>
        <p:nvCxnSpPr>
          <p:cNvPr id="1177" name="Google Shape;1177;p76"/>
          <p:cNvCxnSpPr/>
          <p:nvPr/>
        </p:nvCxnSpPr>
        <p:spPr>
          <a:xfrm flipH="1">
            <a:off x="7612245" y="2355500"/>
            <a:ext cx="13500" cy="1600200"/>
          </a:xfrm>
          <a:prstGeom prst="curvedConnector3">
            <a:avLst>
              <a:gd fmla="val -6452778" name="adj1"/>
            </a:avLst>
          </a:prstGeom>
          <a:noFill/>
          <a:ln cap="flat" cmpd="sng" w="19050">
            <a:solidFill>
              <a:schemeClr val="accent2"/>
            </a:solidFill>
            <a:prstDash val="solid"/>
            <a:round/>
            <a:headEnd len="med" w="med" type="triangle"/>
            <a:tailEnd len="med" w="med" type="non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7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Epoch 1 Offloads (2/3): Segmentation</a:t>
            </a:r>
            <a:endParaRPr/>
          </a:p>
        </p:txBody>
      </p:sp>
      <p:sp>
        <p:nvSpPr>
          <p:cNvPr id="1183" name="Google Shape;1183;p7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Segmentation comes with trade-offs.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With segmentation:</a:t>
            </a:r>
            <a:endParaRPr/>
          </a:p>
          <a:p>
            <a:pPr indent="-342900" lvl="0" marL="457200" rtl="0" algn="l">
              <a:spcBef>
                <a:spcPts val="600"/>
              </a:spcBef>
              <a:spcAft>
                <a:spcPts val="0"/>
              </a:spcAft>
              <a:buSzPts val="1800"/>
              <a:buChar char="●"/>
            </a:pPr>
            <a:r>
              <a:rPr lang="en"/>
              <a:t>Less work for CPU to do.</a:t>
            </a:r>
            <a:endParaRPr/>
          </a:p>
          <a:p>
            <a:pPr indent="-342900" lvl="0" marL="457200" rtl="0" algn="l">
              <a:spcBef>
                <a:spcPts val="0"/>
              </a:spcBef>
              <a:spcAft>
                <a:spcPts val="0"/>
              </a:spcAft>
              <a:buSzPts val="1800"/>
              <a:buChar char="●"/>
            </a:pPr>
            <a:r>
              <a:rPr lang="en"/>
              <a:t>CPU hands large packets to NIC. Traffic is more </a:t>
            </a:r>
            <a:r>
              <a:rPr b="1" lang="en"/>
              <a:t>bursty</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Without segmentation:</a:t>
            </a:r>
            <a:endParaRPr/>
          </a:p>
          <a:p>
            <a:pPr indent="-342900" lvl="0" marL="457200" rtl="0" algn="l">
              <a:spcBef>
                <a:spcPts val="600"/>
              </a:spcBef>
              <a:spcAft>
                <a:spcPts val="0"/>
              </a:spcAft>
              <a:buSzPts val="1800"/>
              <a:buChar char="●"/>
            </a:pPr>
            <a:r>
              <a:rPr lang="en"/>
              <a:t>More work for CPU to do.</a:t>
            </a:r>
            <a:endParaRPr/>
          </a:p>
          <a:p>
            <a:pPr indent="-342900" lvl="0" marL="457200" rtl="0" algn="l">
              <a:spcBef>
                <a:spcPts val="0"/>
              </a:spcBef>
              <a:spcAft>
                <a:spcPts val="0"/>
              </a:spcAft>
              <a:buSzPts val="1800"/>
              <a:buChar char="●"/>
            </a:pPr>
            <a:r>
              <a:rPr lang="en"/>
              <a:t>CPU hands small packets to NIC. Traffic is </a:t>
            </a:r>
            <a:r>
              <a:rPr b="1" lang="en"/>
              <a:t>smoother</a:t>
            </a:r>
            <a:r>
              <a:rPr lang="en"/>
              <a: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78"/>
          <p:cNvSpPr/>
          <p:nvPr/>
        </p:nvSpPr>
        <p:spPr>
          <a:xfrm>
            <a:off x="5743750" y="1297100"/>
            <a:ext cx="3286800" cy="1370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Network Driver (software)</a:t>
            </a:r>
            <a:endParaRPr>
              <a:latin typeface="Roboto"/>
              <a:ea typeface="Roboto"/>
              <a:cs typeface="Roboto"/>
              <a:sym typeface="Roboto"/>
            </a:endParaRPr>
          </a:p>
        </p:txBody>
      </p:sp>
      <p:sp>
        <p:nvSpPr>
          <p:cNvPr id="1189" name="Google Shape;1189;p78"/>
          <p:cNvSpPr/>
          <p:nvPr/>
        </p:nvSpPr>
        <p:spPr>
          <a:xfrm>
            <a:off x="5743750" y="2667500"/>
            <a:ext cx="3286800" cy="1370400"/>
          </a:xfrm>
          <a:prstGeom prst="rect">
            <a:avLst/>
          </a:prstGeom>
          <a:solidFill>
            <a:srgbClr val="F4CCCC"/>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 (hardware)</a:t>
            </a:r>
            <a:endParaRPr>
              <a:latin typeface="Roboto"/>
              <a:ea typeface="Roboto"/>
              <a:cs typeface="Roboto"/>
              <a:sym typeface="Roboto"/>
            </a:endParaRPr>
          </a:p>
        </p:txBody>
      </p:sp>
      <p:sp>
        <p:nvSpPr>
          <p:cNvPr id="1190" name="Google Shape;1190;p7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Epoch 1 Offloads (3/3): Multi-Queue Support</a:t>
            </a:r>
            <a:endParaRPr/>
          </a:p>
        </p:txBody>
      </p:sp>
      <p:sp>
        <p:nvSpPr>
          <p:cNvPr id="1191" name="Google Shape;1191;p78"/>
          <p:cNvSpPr txBox="1"/>
          <p:nvPr>
            <p:ph idx="1" type="body"/>
          </p:nvPr>
        </p:nvSpPr>
        <p:spPr>
          <a:xfrm>
            <a:off x="107050" y="402200"/>
            <a:ext cx="52950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Without offloading: NIC has 1 transmit queue and 1 receive queue.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Network driver is responsible for isolation and load balancing in a multi-processor system (multiple CPUs).</a:t>
            </a:r>
            <a:endParaRPr/>
          </a:p>
        </p:txBody>
      </p:sp>
      <p:sp>
        <p:nvSpPr>
          <p:cNvPr id="1192" name="Google Shape;1192;p78"/>
          <p:cNvSpPr/>
          <p:nvPr/>
        </p:nvSpPr>
        <p:spPr>
          <a:xfrm>
            <a:off x="6472450" y="1867400"/>
            <a:ext cx="388500" cy="12639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93" name="Google Shape;1193;p78"/>
          <p:cNvSpPr/>
          <p:nvPr/>
        </p:nvSpPr>
        <p:spPr>
          <a:xfrm rot="10800000">
            <a:off x="7929375" y="2149400"/>
            <a:ext cx="388500" cy="13182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7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Epoch 1 Offloads (3/3): Multi-Queue Support</a:t>
            </a:r>
            <a:endParaRPr/>
          </a:p>
        </p:txBody>
      </p:sp>
      <p:sp>
        <p:nvSpPr>
          <p:cNvPr id="1199" name="Google Shape;1199;p79"/>
          <p:cNvSpPr txBox="1"/>
          <p:nvPr>
            <p:ph idx="1" type="body"/>
          </p:nvPr>
        </p:nvSpPr>
        <p:spPr>
          <a:xfrm>
            <a:off x="107050" y="402200"/>
            <a:ext cx="4382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Idea: Multiple transmit queues.</a:t>
            </a:r>
            <a:endParaRPr/>
          </a:p>
          <a:p>
            <a:pPr indent="-342900" lvl="0" marL="457200" rtl="0" algn="l">
              <a:spcBef>
                <a:spcPts val="600"/>
              </a:spcBef>
              <a:spcAft>
                <a:spcPts val="0"/>
              </a:spcAft>
              <a:buSzPts val="1800"/>
              <a:buChar char="●"/>
            </a:pPr>
            <a:r>
              <a:rPr lang="en"/>
              <a:t>Packet scheduler decides which queue to send from next.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Idea: Multiple receive queues.</a:t>
            </a:r>
            <a:endParaRPr/>
          </a:p>
          <a:p>
            <a:pPr indent="-342900" lvl="0" marL="457200" rtl="0" algn="l">
              <a:spcBef>
                <a:spcPts val="600"/>
              </a:spcBef>
              <a:spcAft>
                <a:spcPts val="0"/>
              </a:spcAft>
              <a:buSzPts val="1800"/>
              <a:buChar char="●"/>
            </a:pPr>
            <a:r>
              <a:rPr lang="en"/>
              <a:t>Hash packets (like ECMP, equal-cost multi-path routing) to decide which CPU handles the packet.</a:t>
            </a:r>
            <a:endParaRPr/>
          </a:p>
        </p:txBody>
      </p:sp>
      <p:sp>
        <p:nvSpPr>
          <p:cNvPr id="1200" name="Google Shape;1200;p79"/>
          <p:cNvSpPr/>
          <p:nvPr/>
        </p:nvSpPr>
        <p:spPr>
          <a:xfrm>
            <a:off x="5743750" y="1297100"/>
            <a:ext cx="3286800" cy="1370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Network Driver (software)</a:t>
            </a:r>
            <a:endParaRPr>
              <a:latin typeface="Roboto"/>
              <a:ea typeface="Roboto"/>
              <a:cs typeface="Roboto"/>
              <a:sym typeface="Roboto"/>
            </a:endParaRPr>
          </a:p>
        </p:txBody>
      </p:sp>
      <p:sp>
        <p:nvSpPr>
          <p:cNvPr id="1201" name="Google Shape;1201;p79"/>
          <p:cNvSpPr/>
          <p:nvPr/>
        </p:nvSpPr>
        <p:spPr>
          <a:xfrm>
            <a:off x="5743750" y="2667500"/>
            <a:ext cx="3286800" cy="1370400"/>
          </a:xfrm>
          <a:prstGeom prst="rect">
            <a:avLst/>
          </a:prstGeom>
          <a:solidFill>
            <a:srgbClr val="F4CCCC"/>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 (hardware)</a:t>
            </a:r>
            <a:endParaRPr>
              <a:latin typeface="Roboto"/>
              <a:ea typeface="Roboto"/>
              <a:cs typeface="Roboto"/>
              <a:sym typeface="Roboto"/>
            </a:endParaRPr>
          </a:p>
        </p:txBody>
      </p:sp>
      <p:sp>
        <p:nvSpPr>
          <p:cNvPr id="1202" name="Google Shape;1202;p79"/>
          <p:cNvSpPr/>
          <p:nvPr/>
        </p:nvSpPr>
        <p:spPr>
          <a:xfrm>
            <a:off x="6472450" y="1867400"/>
            <a:ext cx="388500" cy="12639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03" name="Google Shape;1203;p79"/>
          <p:cNvSpPr/>
          <p:nvPr/>
        </p:nvSpPr>
        <p:spPr>
          <a:xfrm>
            <a:off x="6929650" y="1867400"/>
            <a:ext cx="388500" cy="12639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04" name="Google Shape;1204;p79"/>
          <p:cNvSpPr/>
          <p:nvPr/>
        </p:nvSpPr>
        <p:spPr>
          <a:xfrm>
            <a:off x="6015250" y="1867400"/>
            <a:ext cx="388500" cy="12639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05" name="Google Shape;1205;p79"/>
          <p:cNvSpPr/>
          <p:nvPr/>
        </p:nvSpPr>
        <p:spPr>
          <a:xfrm>
            <a:off x="5859100" y="3207500"/>
            <a:ext cx="1615200" cy="3291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Packet scheduler</a:t>
            </a:r>
            <a:endParaRPr>
              <a:latin typeface="Roboto"/>
              <a:ea typeface="Roboto"/>
              <a:cs typeface="Roboto"/>
              <a:sym typeface="Roboto"/>
            </a:endParaRPr>
          </a:p>
        </p:txBody>
      </p:sp>
      <p:sp>
        <p:nvSpPr>
          <p:cNvPr id="1206" name="Google Shape;1206;p79"/>
          <p:cNvSpPr/>
          <p:nvPr/>
        </p:nvSpPr>
        <p:spPr>
          <a:xfrm rot="10800000">
            <a:off x="7929375" y="2149400"/>
            <a:ext cx="388500" cy="13182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07" name="Google Shape;1207;p79"/>
          <p:cNvSpPr/>
          <p:nvPr/>
        </p:nvSpPr>
        <p:spPr>
          <a:xfrm rot="10800000">
            <a:off x="7472175" y="2149400"/>
            <a:ext cx="388500" cy="13182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08" name="Google Shape;1208;p79"/>
          <p:cNvSpPr/>
          <p:nvPr/>
        </p:nvSpPr>
        <p:spPr>
          <a:xfrm rot="10800000">
            <a:off x="8386575" y="2149400"/>
            <a:ext cx="388500" cy="13182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09" name="Google Shape;1209;p79"/>
          <p:cNvSpPr/>
          <p:nvPr/>
        </p:nvSpPr>
        <p:spPr>
          <a:xfrm>
            <a:off x="7316025" y="1741550"/>
            <a:ext cx="1615200" cy="3291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Hash to pick CPU</a:t>
            </a:r>
            <a:endParaRPr>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8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Epoch 1 Offloads (3/3): Multi-Queue Support</a:t>
            </a:r>
            <a:endParaRPr/>
          </a:p>
        </p:txBody>
      </p:sp>
      <p:sp>
        <p:nvSpPr>
          <p:cNvPr id="1215" name="Google Shape;1215;p80"/>
          <p:cNvSpPr txBox="1"/>
          <p:nvPr>
            <p:ph idx="1" type="body"/>
          </p:nvPr>
        </p:nvSpPr>
        <p:spPr>
          <a:xfrm>
            <a:off x="107050" y="402200"/>
            <a:ext cx="4382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Benefits</a:t>
            </a:r>
            <a:r>
              <a:rPr lang="en"/>
              <a:t>:</a:t>
            </a:r>
            <a:endParaRPr/>
          </a:p>
          <a:p>
            <a:pPr indent="-342900" lvl="0" marL="457200" rtl="0" algn="l">
              <a:spcBef>
                <a:spcPts val="600"/>
              </a:spcBef>
              <a:spcAft>
                <a:spcPts val="0"/>
              </a:spcAft>
              <a:buSzPts val="1800"/>
              <a:buChar char="●"/>
            </a:pPr>
            <a:r>
              <a:rPr lang="en"/>
              <a:t>Ensures isolation: Specific flows can use a dedicated queue.</a:t>
            </a:r>
            <a:endParaRPr/>
          </a:p>
          <a:p>
            <a:pPr indent="-342900" lvl="0" marL="457200" rtl="0" algn="l">
              <a:spcBef>
                <a:spcPts val="0"/>
              </a:spcBef>
              <a:spcAft>
                <a:spcPts val="0"/>
              </a:spcAft>
              <a:buSzPts val="1800"/>
              <a:buChar char="●"/>
            </a:pPr>
            <a:r>
              <a:rPr lang="en"/>
              <a:t>Ensure load-balancing: Heavy traffic in one queue doesn't affect others.</a:t>
            </a:r>
            <a:endParaRPr/>
          </a:p>
          <a:p>
            <a:pPr indent="-342900" lvl="0" marL="457200" rtl="0" algn="l">
              <a:spcBef>
                <a:spcPts val="0"/>
              </a:spcBef>
              <a:spcAft>
                <a:spcPts val="0"/>
              </a:spcAft>
              <a:buSzPts val="1800"/>
              <a:buChar char="●"/>
            </a:pPr>
            <a:r>
              <a:rPr lang="en"/>
              <a:t>Can prioritize specific flows.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Challenges:</a:t>
            </a:r>
            <a:endParaRPr/>
          </a:p>
          <a:p>
            <a:pPr indent="-342900" lvl="0" marL="457200" rtl="0" algn="l">
              <a:spcBef>
                <a:spcPts val="600"/>
              </a:spcBef>
              <a:spcAft>
                <a:spcPts val="0"/>
              </a:spcAft>
              <a:buSzPts val="1800"/>
              <a:buChar char="●"/>
            </a:pPr>
            <a:r>
              <a:rPr lang="en"/>
              <a:t>Must ensure packets in the same flow use the same queue, to avoid out-of-order packets (which slows down TCP).</a:t>
            </a:r>
            <a:endParaRPr/>
          </a:p>
        </p:txBody>
      </p:sp>
      <p:sp>
        <p:nvSpPr>
          <p:cNvPr id="1216" name="Google Shape;1216;p80"/>
          <p:cNvSpPr/>
          <p:nvPr/>
        </p:nvSpPr>
        <p:spPr>
          <a:xfrm>
            <a:off x="5743750" y="1297100"/>
            <a:ext cx="3286800" cy="1370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Network Driver (software)</a:t>
            </a:r>
            <a:endParaRPr>
              <a:latin typeface="Roboto"/>
              <a:ea typeface="Roboto"/>
              <a:cs typeface="Roboto"/>
              <a:sym typeface="Roboto"/>
            </a:endParaRPr>
          </a:p>
        </p:txBody>
      </p:sp>
      <p:sp>
        <p:nvSpPr>
          <p:cNvPr id="1217" name="Google Shape;1217;p80"/>
          <p:cNvSpPr/>
          <p:nvPr/>
        </p:nvSpPr>
        <p:spPr>
          <a:xfrm>
            <a:off x="5743750" y="2667500"/>
            <a:ext cx="3286800" cy="1370400"/>
          </a:xfrm>
          <a:prstGeom prst="rect">
            <a:avLst/>
          </a:prstGeom>
          <a:solidFill>
            <a:srgbClr val="F4CCCC"/>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 (hardware)</a:t>
            </a:r>
            <a:endParaRPr>
              <a:latin typeface="Roboto"/>
              <a:ea typeface="Roboto"/>
              <a:cs typeface="Roboto"/>
              <a:sym typeface="Roboto"/>
            </a:endParaRPr>
          </a:p>
        </p:txBody>
      </p:sp>
      <p:sp>
        <p:nvSpPr>
          <p:cNvPr id="1218" name="Google Shape;1218;p80"/>
          <p:cNvSpPr/>
          <p:nvPr/>
        </p:nvSpPr>
        <p:spPr>
          <a:xfrm>
            <a:off x="6472450" y="1867400"/>
            <a:ext cx="388500" cy="12639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19" name="Google Shape;1219;p80"/>
          <p:cNvSpPr/>
          <p:nvPr/>
        </p:nvSpPr>
        <p:spPr>
          <a:xfrm>
            <a:off x="6929650" y="1867400"/>
            <a:ext cx="388500" cy="12639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0" name="Google Shape;1220;p80"/>
          <p:cNvSpPr/>
          <p:nvPr/>
        </p:nvSpPr>
        <p:spPr>
          <a:xfrm>
            <a:off x="6015250" y="1867400"/>
            <a:ext cx="388500" cy="12639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1" name="Google Shape;1221;p80"/>
          <p:cNvSpPr/>
          <p:nvPr/>
        </p:nvSpPr>
        <p:spPr>
          <a:xfrm>
            <a:off x="5859100" y="3207500"/>
            <a:ext cx="1615200" cy="3291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Packet scheduler</a:t>
            </a:r>
            <a:endParaRPr>
              <a:latin typeface="Roboto"/>
              <a:ea typeface="Roboto"/>
              <a:cs typeface="Roboto"/>
              <a:sym typeface="Roboto"/>
            </a:endParaRPr>
          </a:p>
        </p:txBody>
      </p:sp>
      <p:sp>
        <p:nvSpPr>
          <p:cNvPr id="1222" name="Google Shape;1222;p80"/>
          <p:cNvSpPr/>
          <p:nvPr/>
        </p:nvSpPr>
        <p:spPr>
          <a:xfrm rot="10800000">
            <a:off x="7929375" y="2149400"/>
            <a:ext cx="388500" cy="13182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3" name="Google Shape;1223;p80"/>
          <p:cNvSpPr/>
          <p:nvPr/>
        </p:nvSpPr>
        <p:spPr>
          <a:xfrm rot="10800000">
            <a:off x="7472175" y="2149400"/>
            <a:ext cx="388500" cy="13182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4" name="Google Shape;1224;p80"/>
          <p:cNvSpPr/>
          <p:nvPr/>
        </p:nvSpPr>
        <p:spPr>
          <a:xfrm rot="10800000">
            <a:off x="8386575" y="2149400"/>
            <a:ext cx="388500" cy="1318200"/>
          </a:xfrm>
          <a:prstGeom prst="downArrow">
            <a:avLst>
              <a:gd fmla="val 50000" name="adj1"/>
              <a:gd fmla="val 50000"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5" name="Google Shape;1225;p80"/>
          <p:cNvSpPr/>
          <p:nvPr/>
        </p:nvSpPr>
        <p:spPr>
          <a:xfrm>
            <a:off x="7316025" y="1741550"/>
            <a:ext cx="1615200" cy="3291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Hash to pick CPU</a:t>
            </a:r>
            <a:endParaRPr>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8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Epoch 2: Stateful Offloads with Match-Action Tables</a:t>
            </a:r>
            <a:endParaRPr/>
          </a:p>
        </p:txBody>
      </p:sp>
      <p:sp>
        <p:nvSpPr>
          <p:cNvPr id="1231" name="Google Shape;1231;p81"/>
          <p:cNvSpPr txBox="1"/>
          <p:nvPr>
            <p:ph idx="1" type="body"/>
          </p:nvPr>
        </p:nvSpPr>
        <p:spPr>
          <a:xfrm>
            <a:off x="107050" y="402200"/>
            <a:ext cx="8909700" cy="2380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Stateful operations to offload:</a:t>
            </a:r>
            <a:endParaRPr/>
          </a:p>
          <a:p>
            <a:pPr indent="-342900" lvl="0" marL="457200" rtl="0" algn="l">
              <a:spcBef>
                <a:spcPts val="600"/>
              </a:spcBef>
              <a:spcAft>
                <a:spcPts val="0"/>
              </a:spcAft>
              <a:buSzPts val="1800"/>
              <a:buChar char="●"/>
            </a:pPr>
            <a:r>
              <a:rPr b="1" lang="en"/>
              <a:t>Virtualization</a:t>
            </a:r>
            <a:r>
              <a:rPr lang="en"/>
              <a:t>: Virtual switch forwarding packets to/from VMs.</a:t>
            </a:r>
            <a:endParaRPr/>
          </a:p>
          <a:p>
            <a:pPr indent="-342900" lvl="0" marL="457200" rtl="0" algn="l">
              <a:spcBef>
                <a:spcPts val="0"/>
              </a:spcBef>
              <a:spcAft>
                <a:spcPts val="0"/>
              </a:spcAft>
              <a:buSzPts val="1800"/>
              <a:buChar char="●"/>
            </a:pPr>
            <a:r>
              <a:rPr b="1" lang="en"/>
              <a:t>Bandwidth metering</a:t>
            </a:r>
            <a:r>
              <a:rPr lang="en"/>
              <a:t>: If user sends too many packets, drop the excess.</a:t>
            </a:r>
            <a:endParaRPr/>
          </a:p>
          <a:p>
            <a:pPr indent="-342900" lvl="0" marL="457200" rtl="0" algn="l">
              <a:spcBef>
                <a:spcPts val="0"/>
              </a:spcBef>
              <a:spcAft>
                <a:spcPts val="0"/>
              </a:spcAft>
              <a:buSzPts val="1800"/>
              <a:buChar char="●"/>
            </a:pPr>
            <a:r>
              <a:rPr b="1" lang="en"/>
              <a:t>Firewalls</a:t>
            </a:r>
            <a:r>
              <a:rPr lang="en"/>
              <a:t>: Drop packets from malicious users.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Behavior specified by match-action tables (like OpenFlow).</a:t>
            </a:r>
            <a:endParaRPr/>
          </a:p>
        </p:txBody>
      </p:sp>
      <p:graphicFrame>
        <p:nvGraphicFramePr>
          <p:cNvPr id="1232" name="Google Shape;1232;p81"/>
          <p:cNvGraphicFramePr/>
          <p:nvPr/>
        </p:nvGraphicFramePr>
        <p:xfrm>
          <a:off x="1548725" y="3052450"/>
          <a:ext cx="3000000" cy="3000000"/>
        </p:xfrm>
        <a:graphic>
          <a:graphicData uri="http://schemas.openxmlformats.org/drawingml/2006/table">
            <a:tbl>
              <a:tblPr>
                <a:noFill/>
                <a:tableStyleId>{9E0E94E9-8C37-454C-BF69-298D2E925918}</a:tableStyleId>
              </a:tblPr>
              <a:tblGrid>
                <a:gridCol w="3012200"/>
                <a:gridCol w="3014150"/>
              </a:tblGrid>
              <a:tr h="396225">
                <a:tc>
                  <a:txBody>
                    <a:bodyPr/>
                    <a:lstStyle/>
                    <a:p>
                      <a:pPr indent="0" lvl="0" marL="0" rtl="0" algn="l">
                        <a:spcBef>
                          <a:spcPts val="0"/>
                        </a:spcBef>
                        <a:spcAft>
                          <a:spcPts val="0"/>
                        </a:spcAft>
                        <a:buNone/>
                      </a:pPr>
                      <a:r>
                        <a:rPr b="1" lang="en">
                          <a:latin typeface="Roboto"/>
                          <a:ea typeface="Roboto"/>
                          <a:cs typeface="Roboto"/>
                          <a:sym typeface="Roboto"/>
                        </a:rPr>
                        <a:t>Match</a:t>
                      </a:r>
                      <a:endParaRPr b="1">
                        <a:latin typeface="Roboto"/>
                        <a:ea typeface="Roboto"/>
                        <a:cs typeface="Roboto"/>
                        <a:sym typeface="Roboto"/>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Roboto"/>
                          <a:ea typeface="Roboto"/>
                          <a:cs typeface="Roboto"/>
                          <a:sym typeface="Roboto"/>
                        </a:rPr>
                        <a:t>Action</a:t>
                      </a:r>
                      <a:endParaRPr b="1">
                        <a:latin typeface="Roboto"/>
                        <a:ea typeface="Roboto"/>
                        <a:cs typeface="Roboto"/>
                        <a:sym typeface="Roboto"/>
                      </a:endParaRPr>
                    </a:p>
                  </a:txBody>
                  <a:tcPr marT="91425" marB="91425" marR="91425" marL="91425">
                    <a:lnB cap="flat" cmpd="sng" w="9525">
                      <a:solidFill>
                        <a:srgbClr val="9E9E9E"/>
                      </a:solidFill>
                      <a:prstDash val="solid"/>
                      <a:round/>
                      <a:headEnd len="sm" w="sm" type="none"/>
                      <a:tailEnd len="sm" w="sm" type="none"/>
                    </a:lnB>
                  </a:tcPr>
                </a:tc>
              </a:tr>
              <a:tr h="396225">
                <a:tc>
                  <a:txBody>
                    <a:bodyPr/>
                    <a:lstStyle/>
                    <a:p>
                      <a:pPr indent="0" lvl="0" marL="0" rtl="0" algn="l">
                        <a:spcBef>
                          <a:spcPts val="0"/>
                        </a:spcBef>
                        <a:spcAft>
                          <a:spcPts val="0"/>
                        </a:spcAft>
                        <a:buNone/>
                      </a:pPr>
                      <a:r>
                        <a:rPr lang="en">
                          <a:latin typeface="Roboto"/>
                          <a:ea typeface="Roboto"/>
                          <a:cs typeface="Roboto"/>
                          <a:sym typeface="Roboto"/>
                        </a:rPr>
                        <a:t>Source IP = 10.1.8.9</a:t>
                      </a:r>
                      <a:endParaRPr b="1">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Roboto"/>
                          <a:ea typeface="Roboto"/>
                          <a:cs typeface="Roboto"/>
                          <a:sym typeface="Roboto"/>
                        </a:rPr>
                        <a:t>Add encapsulation header, forward.</a:t>
                      </a:r>
                      <a:endParaRPr b="1">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6225">
                <a:tc>
                  <a:txBody>
                    <a:bodyPr/>
                    <a:lstStyle/>
                    <a:p>
                      <a:pPr indent="0" lvl="0" marL="0" rtl="0" algn="l">
                        <a:spcBef>
                          <a:spcPts val="0"/>
                        </a:spcBef>
                        <a:spcAft>
                          <a:spcPts val="0"/>
                        </a:spcAft>
                        <a:buNone/>
                      </a:pPr>
                      <a:r>
                        <a:rPr lang="en">
                          <a:latin typeface="Roboto"/>
                          <a:ea typeface="Roboto"/>
                          <a:cs typeface="Roboto"/>
                          <a:sym typeface="Roboto"/>
                        </a:rPr>
                        <a:t>5-tuple matches</a:t>
                      </a:r>
                      <a:br>
                        <a:rPr lang="en">
                          <a:latin typeface="Roboto"/>
                          <a:ea typeface="Roboto"/>
                          <a:cs typeface="Roboto"/>
                          <a:sym typeface="Roboto"/>
                        </a:rPr>
                      </a:br>
                      <a:r>
                        <a:rPr lang="en">
                          <a:latin typeface="Roboto"/>
                          <a:ea typeface="Roboto"/>
                          <a:cs typeface="Roboto"/>
                          <a:sym typeface="Roboto"/>
                        </a:rPr>
                        <a:t>(10.1.2.3, 50000, TCP, 24.1.3.0, 80)</a:t>
                      </a:r>
                      <a:endParaRPr>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latin typeface="Roboto"/>
                          <a:ea typeface="Roboto"/>
                          <a:cs typeface="Roboto"/>
                          <a:sym typeface="Roboto"/>
                        </a:rPr>
                        <a:t>Allow 100 packets per minute.</a:t>
                      </a:r>
                      <a:br>
                        <a:rPr lang="en">
                          <a:latin typeface="Roboto"/>
                          <a:ea typeface="Roboto"/>
                          <a:cs typeface="Roboto"/>
                          <a:sym typeface="Roboto"/>
                        </a:rPr>
                      </a:br>
                      <a:r>
                        <a:rPr lang="en">
                          <a:latin typeface="Roboto"/>
                          <a:ea typeface="Roboto"/>
                          <a:cs typeface="Roboto"/>
                          <a:sym typeface="Roboto"/>
                        </a:rPr>
                        <a:t>Drop excess.</a:t>
                      </a:r>
                      <a:endParaRPr>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r>
              <a:tr h="396225">
                <a:tc>
                  <a:txBody>
                    <a:bodyPr/>
                    <a:lstStyle/>
                    <a:p>
                      <a:pPr indent="0" lvl="0" marL="0" rtl="0" algn="l">
                        <a:spcBef>
                          <a:spcPts val="0"/>
                        </a:spcBef>
                        <a:spcAft>
                          <a:spcPts val="0"/>
                        </a:spcAft>
                        <a:buNone/>
                      </a:pPr>
                      <a:r>
                        <a:rPr lang="en">
                          <a:latin typeface="Roboto"/>
                          <a:ea typeface="Roboto"/>
                          <a:cs typeface="Roboto"/>
                          <a:sym typeface="Roboto"/>
                        </a:rPr>
                        <a:t>Source IP = 76.124.1.2</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Malicious source. Drop.</a:t>
                      </a:r>
                      <a:endParaRPr>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82"/>
          <p:cNvSpPr/>
          <p:nvPr/>
        </p:nvSpPr>
        <p:spPr>
          <a:xfrm>
            <a:off x="1593225" y="2042025"/>
            <a:ext cx="2076900" cy="1344900"/>
          </a:xfrm>
          <a:prstGeom prst="roundRect">
            <a:avLst>
              <a:gd fmla="val 0" name="adj"/>
            </a:avLst>
          </a:prstGeom>
          <a:solidFill>
            <a:schemeClr val="lt2"/>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238" name="Google Shape;1238;p8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Epoch 3: Protocols</a:t>
            </a:r>
            <a:endParaRPr/>
          </a:p>
        </p:txBody>
      </p:sp>
      <p:sp>
        <p:nvSpPr>
          <p:cNvPr id="1239" name="Google Shape;1239;p82"/>
          <p:cNvSpPr txBox="1"/>
          <p:nvPr>
            <p:ph idx="1" type="body"/>
          </p:nvPr>
        </p:nvSpPr>
        <p:spPr>
          <a:xfrm>
            <a:off x="107050" y="402200"/>
            <a:ext cx="8909700" cy="157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Goal: Offload entire protocols, like TCP, into hardware.</a:t>
            </a:r>
            <a:endParaRPr/>
          </a:p>
          <a:p>
            <a:pPr indent="-342900" lvl="0" marL="457200" rtl="0" algn="l">
              <a:spcBef>
                <a:spcPts val="600"/>
              </a:spcBef>
              <a:spcAft>
                <a:spcPts val="0"/>
              </a:spcAft>
              <a:buSzPts val="1800"/>
              <a:buChar char="●"/>
            </a:pPr>
            <a:r>
              <a:rPr lang="en"/>
              <a:t>Active area of research!</a:t>
            </a:r>
            <a:endParaRPr/>
          </a:p>
          <a:p>
            <a:pPr indent="-342900" lvl="0" marL="457200" rtl="0" algn="l">
              <a:spcBef>
                <a:spcPts val="0"/>
              </a:spcBef>
              <a:spcAft>
                <a:spcPts val="0"/>
              </a:spcAft>
              <a:buSzPts val="1800"/>
              <a:buChar char="●"/>
            </a:pPr>
            <a:r>
              <a:rPr lang="en"/>
              <a:t>Instead of implementing TCP in hardware, design custom protocols for hardware.</a:t>
            </a:r>
            <a:endParaRPr/>
          </a:p>
        </p:txBody>
      </p:sp>
      <p:sp>
        <p:nvSpPr>
          <p:cNvPr id="1240" name="Google Shape;1240;p82"/>
          <p:cNvSpPr/>
          <p:nvPr/>
        </p:nvSpPr>
        <p:spPr>
          <a:xfrm>
            <a:off x="1593225" y="3386825"/>
            <a:ext cx="2076900" cy="818400"/>
          </a:xfrm>
          <a:prstGeom prst="roundRect">
            <a:avLst>
              <a:gd fmla="val 0" name="adj"/>
            </a:avLst>
          </a:prstGeom>
          <a:solidFill>
            <a:srgbClr val="F4CCCC"/>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241" name="Google Shape;1241;p82"/>
          <p:cNvSpPr/>
          <p:nvPr/>
        </p:nvSpPr>
        <p:spPr>
          <a:xfrm>
            <a:off x="1863675" y="259606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Layer 4 (TCP)</a:t>
            </a:r>
            <a:endParaRPr>
              <a:latin typeface="Roboto"/>
              <a:ea typeface="Roboto"/>
              <a:cs typeface="Roboto"/>
              <a:sym typeface="Roboto"/>
            </a:endParaRPr>
          </a:p>
        </p:txBody>
      </p:sp>
      <p:sp>
        <p:nvSpPr>
          <p:cNvPr id="1242" name="Google Shape;1242;p82"/>
          <p:cNvSpPr/>
          <p:nvPr/>
        </p:nvSpPr>
        <p:spPr>
          <a:xfrm>
            <a:off x="1863675" y="297705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Layer 3 (IP)</a:t>
            </a:r>
            <a:endParaRPr>
              <a:latin typeface="Roboto"/>
              <a:ea typeface="Roboto"/>
              <a:cs typeface="Roboto"/>
              <a:sym typeface="Roboto"/>
            </a:endParaRPr>
          </a:p>
        </p:txBody>
      </p:sp>
      <p:sp>
        <p:nvSpPr>
          <p:cNvPr id="1243" name="Google Shape;1243;p82"/>
          <p:cNvSpPr/>
          <p:nvPr/>
        </p:nvSpPr>
        <p:spPr>
          <a:xfrm>
            <a:off x="1863675" y="3448642"/>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2 (Ethernet)</a:t>
            </a:r>
            <a:endParaRPr>
              <a:latin typeface="Roboto"/>
              <a:ea typeface="Roboto"/>
              <a:cs typeface="Roboto"/>
              <a:sym typeface="Roboto"/>
            </a:endParaRPr>
          </a:p>
        </p:txBody>
      </p:sp>
      <p:sp>
        <p:nvSpPr>
          <p:cNvPr id="1244" name="Google Shape;1244;p82"/>
          <p:cNvSpPr/>
          <p:nvPr/>
        </p:nvSpPr>
        <p:spPr>
          <a:xfrm>
            <a:off x="1863675" y="3829650"/>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1 (physical)</a:t>
            </a:r>
            <a:endParaRPr>
              <a:latin typeface="Roboto"/>
              <a:ea typeface="Roboto"/>
              <a:cs typeface="Roboto"/>
              <a:sym typeface="Roboto"/>
            </a:endParaRPr>
          </a:p>
        </p:txBody>
      </p:sp>
      <p:sp>
        <p:nvSpPr>
          <p:cNvPr id="1245" name="Google Shape;1245;p82"/>
          <p:cNvSpPr txBox="1"/>
          <p:nvPr/>
        </p:nvSpPr>
        <p:spPr>
          <a:xfrm>
            <a:off x="625875" y="2579014"/>
            <a:ext cx="828900" cy="270900"/>
          </a:xfrm>
          <a:prstGeom prst="rect">
            <a:avLst/>
          </a:prstGeom>
          <a:noFill/>
          <a:ln>
            <a:noFill/>
          </a:ln>
        </p:spPr>
        <p:txBody>
          <a:bodyPr anchorCtr="0" anchor="t" bIns="27425" lIns="27425" spcFirstLastPara="1" rIns="27425" wrap="square" tIns="27425">
            <a:spAutoFit/>
          </a:bodyPr>
          <a:lstStyle/>
          <a:p>
            <a:pPr indent="0" lvl="0" marL="0" rtl="0" algn="r">
              <a:spcBef>
                <a:spcPts val="0"/>
              </a:spcBef>
              <a:spcAft>
                <a:spcPts val="0"/>
              </a:spcAft>
              <a:buNone/>
            </a:pPr>
            <a:r>
              <a:rPr lang="en">
                <a:solidFill>
                  <a:schemeClr val="dk1"/>
                </a:solidFill>
                <a:latin typeface="Roboto"/>
                <a:ea typeface="Roboto"/>
                <a:cs typeface="Roboto"/>
                <a:sym typeface="Roboto"/>
              </a:rPr>
              <a:t>Software</a:t>
            </a:r>
            <a:endParaRPr>
              <a:solidFill>
                <a:schemeClr val="dk1"/>
              </a:solidFill>
              <a:latin typeface="Roboto"/>
              <a:ea typeface="Roboto"/>
              <a:cs typeface="Roboto"/>
              <a:sym typeface="Roboto"/>
            </a:endParaRPr>
          </a:p>
        </p:txBody>
      </p:sp>
      <p:sp>
        <p:nvSpPr>
          <p:cNvPr id="1246" name="Google Shape;1246;p82"/>
          <p:cNvSpPr txBox="1"/>
          <p:nvPr/>
        </p:nvSpPr>
        <p:spPr>
          <a:xfrm>
            <a:off x="159675" y="3646650"/>
            <a:ext cx="1295100" cy="270900"/>
          </a:xfrm>
          <a:prstGeom prst="rect">
            <a:avLst/>
          </a:prstGeom>
          <a:noFill/>
          <a:ln>
            <a:noFill/>
          </a:ln>
        </p:spPr>
        <p:txBody>
          <a:bodyPr anchorCtr="0" anchor="t" bIns="27425" lIns="27425" spcFirstLastPara="1" rIns="27425" wrap="square" tIns="27425">
            <a:spAutoFit/>
          </a:bodyPr>
          <a:lstStyle/>
          <a:p>
            <a:pPr indent="0" lvl="0" marL="0" rtl="0" algn="r">
              <a:spcBef>
                <a:spcPts val="0"/>
              </a:spcBef>
              <a:spcAft>
                <a:spcPts val="0"/>
              </a:spcAft>
              <a:buNone/>
            </a:pPr>
            <a:r>
              <a:rPr lang="en">
                <a:solidFill>
                  <a:schemeClr val="dk1"/>
                </a:solidFill>
                <a:latin typeface="Roboto"/>
                <a:ea typeface="Roboto"/>
                <a:cs typeface="Roboto"/>
                <a:sym typeface="Roboto"/>
              </a:rPr>
              <a:t>Hardware (NIC)</a:t>
            </a:r>
            <a:endParaRPr>
              <a:solidFill>
                <a:schemeClr val="dk1"/>
              </a:solidFill>
              <a:latin typeface="Roboto"/>
              <a:ea typeface="Roboto"/>
              <a:cs typeface="Roboto"/>
              <a:sym typeface="Roboto"/>
            </a:endParaRPr>
          </a:p>
        </p:txBody>
      </p:sp>
      <p:sp>
        <p:nvSpPr>
          <p:cNvPr id="1247" name="Google Shape;1247;p82"/>
          <p:cNvSpPr/>
          <p:nvPr/>
        </p:nvSpPr>
        <p:spPr>
          <a:xfrm>
            <a:off x="1863675" y="213885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Layer 7 (HTTP)</a:t>
            </a:r>
            <a:endParaRPr>
              <a:latin typeface="Roboto"/>
              <a:ea typeface="Roboto"/>
              <a:cs typeface="Roboto"/>
              <a:sym typeface="Roboto"/>
            </a:endParaRPr>
          </a:p>
        </p:txBody>
      </p:sp>
      <p:sp>
        <p:nvSpPr>
          <p:cNvPr id="1248" name="Google Shape;1248;p82"/>
          <p:cNvSpPr/>
          <p:nvPr/>
        </p:nvSpPr>
        <p:spPr>
          <a:xfrm>
            <a:off x="5555625" y="2042025"/>
            <a:ext cx="2076900" cy="492300"/>
          </a:xfrm>
          <a:prstGeom prst="roundRect">
            <a:avLst>
              <a:gd fmla="val 0" name="adj"/>
            </a:avLst>
          </a:prstGeom>
          <a:solidFill>
            <a:schemeClr val="lt2"/>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249" name="Google Shape;1249;p82"/>
          <p:cNvSpPr txBox="1"/>
          <p:nvPr/>
        </p:nvSpPr>
        <p:spPr>
          <a:xfrm>
            <a:off x="7703475" y="2162989"/>
            <a:ext cx="8289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Software</a:t>
            </a:r>
            <a:endParaRPr>
              <a:solidFill>
                <a:schemeClr val="dk1"/>
              </a:solidFill>
              <a:latin typeface="Roboto"/>
              <a:ea typeface="Roboto"/>
              <a:cs typeface="Roboto"/>
              <a:sym typeface="Roboto"/>
            </a:endParaRPr>
          </a:p>
        </p:txBody>
      </p:sp>
      <p:sp>
        <p:nvSpPr>
          <p:cNvPr id="1250" name="Google Shape;1250;p82"/>
          <p:cNvSpPr/>
          <p:nvPr/>
        </p:nvSpPr>
        <p:spPr>
          <a:xfrm>
            <a:off x="5555625" y="2534325"/>
            <a:ext cx="2076900" cy="1671000"/>
          </a:xfrm>
          <a:prstGeom prst="roundRect">
            <a:avLst>
              <a:gd fmla="val 0" name="adj"/>
            </a:avLst>
          </a:prstGeom>
          <a:solidFill>
            <a:srgbClr val="F4CCCC"/>
          </a:solidFill>
          <a:ln cap="flat" cmpd="sng" w="9525">
            <a:solidFill>
              <a:schemeClr val="dk2"/>
            </a:solidFill>
            <a:prstDash val="solid"/>
            <a:round/>
            <a:headEnd len="sm" w="sm" type="none"/>
            <a:tailEnd len="sm" w="sm" type="none"/>
          </a:ln>
        </p:spPr>
        <p:txBody>
          <a:bodyPr anchorCtr="0" anchor="b" bIns="27425" lIns="91425" spcFirstLastPara="1" rIns="91425" wrap="square" tIns="27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251" name="Google Shape;1251;p82"/>
          <p:cNvSpPr/>
          <p:nvPr/>
        </p:nvSpPr>
        <p:spPr>
          <a:xfrm>
            <a:off x="5826075" y="259606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Layer 4 (TCP)</a:t>
            </a:r>
            <a:endParaRPr>
              <a:latin typeface="Roboto"/>
              <a:ea typeface="Roboto"/>
              <a:cs typeface="Roboto"/>
              <a:sym typeface="Roboto"/>
            </a:endParaRPr>
          </a:p>
        </p:txBody>
      </p:sp>
      <p:sp>
        <p:nvSpPr>
          <p:cNvPr id="1252" name="Google Shape;1252;p82"/>
          <p:cNvSpPr/>
          <p:nvPr/>
        </p:nvSpPr>
        <p:spPr>
          <a:xfrm>
            <a:off x="5826075" y="297705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Layer 3 (IP)</a:t>
            </a:r>
            <a:endParaRPr>
              <a:latin typeface="Roboto"/>
              <a:ea typeface="Roboto"/>
              <a:cs typeface="Roboto"/>
              <a:sym typeface="Roboto"/>
            </a:endParaRPr>
          </a:p>
        </p:txBody>
      </p:sp>
      <p:sp>
        <p:nvSpPr>
          <p:cNvPr id="1253" name="Google Shape;1253;p82"/>
          <p:cNvSpPr/>
          <p:nvPr/>
        </p:nvSpPr>
        <p:spPr>
          <a:xfrm>
            <a:off x="5826075" y="3448642"/>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2 (Ethernet)</a:t>
            </a:r>
            <a:endParaRPr>
              <a:latin typeface="Roboto"/>
              <a:ea typeface="Roboto"/>
              <a:cs typeface="Roboto"/>
              <a:sym typeface="Roboto"/>
            </a:endParaRPr>
          </a:p>
        </p:txBody>
      </p:sp>
      <p:sp>
        <p:nvSpPr>
          <p:cNvPr id="1254" name="Google Shape;1254;p82"/>
          <p:cNvSpPr/>
          <p:nvPr/>
        </p:nvSpPr>
        <p:spPr>
          <a:xfrm>
            <a:off x="5826075" y="3829650"/>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Layer 1 (physical)</a:t>
            </a:r>
            <a:endParaRPr>
              <a:latin typeface="Roboto"/>
              <a:ea typeface="Roboto"/>
              <a:cs typeface="Roboto"/>
              <a:sym typeface="Roboto"/>
            </a:endParaRPr>
          </a:p>
        </p:txBody>
      </p:sp>
      <p:sp>
        <p:nvSpPr>
          <p:cNvPr id="1255" name="Google Shape;1255;p82"/>
          <p:cNvSpPr txBox="1"/>
          <p:nvPr/>
        </p:nvSpPr>
        <p:spPr>
          <a:xfrm>
            <a:off x="7703475" y="3234375"/>
            <a:ext cx="12951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Hardware (NIC)</a:t>
            </a:r>
            <a:endParaRPr>
              <a:solidFill>
                <a:schemeClr val="dk1"/>
              </a:solidFill>
              <a:latin typeface="Roboto"/>
              <a:ea typeface="Roboto"/>
              <a:cs typeface="Roboto"/>
              <a:sym typeface="Roboto"/>
            </a:endParaRPr>
          </a:p>
        </p:txBody>
      </p:sp>
      <p:sp>
        <p:nvSpPr>
          <p:cNvPr id="1256" name="Google Shape;1256;p82"/>
          <p:cNvSpPr/>
          <p:nvPr/>
        </p:nvSpPr>
        <p:spPr>
          <a:xfrm>
            <a:off x="5826075" y="2138851"/>
            <a:ext cx="1536000" cy="3192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Layer 7 (HTTP)</a:t>
            </a:r>
            <a:endParaRPr>
              <a:latin typeface="Roboto"/>
              <a:ea typeface="Roboto"/>
              <a:cs typeface="Roboto"/>
              <a:sym typeface="Roboto"/>
            </a:endParaRPr>
          </a:p>
        </p:txBody>
      </p:sp>
      <p:sp>
        <p:nvSpPr>
          <p:cNvPr id="1257" name="Google Shape;1257;p82"/>
          <p:cNvSpPr txBox="1"/>
          <p:nvPr/>
        </p:nvSpPr>
        <p:spPr>
          <a:xfrm>
            <a:off x="1914075" y="4362825"/>
            <a:ext cx="14352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Before Offloading</a:t>
            </a:r>
            <a:endParaRPr>
              <a:solidFill>
                <a:schemeClr val="accent2"/>
              </a:solidFill>
              <a:latin typeface="Roboto"/>
              <a:ea typeface="Roboto"/>
              <a:cs typeface="Roboto"/>
              <a:sym typeface="Roboto"/>
            </a:endParaRPr>
          </a:p>
        </p:txBody>
      </p:sp>
      <p:sp>
        <p:nvSpPr>
          <p:cNvPr id="1258" name="Google Shape;1258;p82"/>
          <p:cNvSpPr txBox="1"/>
          <p:nvPr/>
        </p:nvSpPr>
        <p:spPr>
          <a:xfrm>
            <a:off x="5876475" y="4362825"/>
            <a:ext cx="14352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After Offloading</a:t>
            </a:r>
            <a:endParaRPr>
              <a:solidFill>
                <a:schemeClr val="accent2"/>
              </a:solidFill>
              <a:latin typeface="Roboto"/>
              <a:ea typeface="Roboto"/>
              <a:cs typeface="Roboto"/>
              <a:sym typeface="Roboto"/>
            </a:endParaRPr>
          </a:p>
        </p:txBody>
      </p:sp>
      <p:cxnSp>
        <p:nvCxnSpPr>
          <p:cNvPr id="1259" name="Google Shape;1259;p82"/>
          <p:cNvCxnSpPr/>
          <p:nvPr/>
        </p:nvCxnSpPr>
        <p:spPr>
          <a:xfrm>
            <a:off x="3821325" y="3092925"/>
            <a:ext cx="1509900" cy="0"/>
          </a:xfrm>
          <a:prstGeom prst="straightConnector1">
            <a:avLst/>
          </a:prstGeom>
          <a:noFill/>
          <a:ln cap="flat" cmpd="sng" w="28575">
            <a:solidFill>
              <a:schemeClr val="accent2"/>
            </a:solidFill>
            <a:prstDash val="solid"/>
            <a:round/>
            <a:headEnd len="med" w="med" type="none"/>
            <a:tailEnd len="med" w="med" type="triangl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83"/>
          <p:cNvSpPr/>
          <p:nvPr/>
        </p:nvSpPr>
        <p:spPr>
          <a:xfrm>
            <a:off x="1070925" y="3183501"/>
            <a:ext cx="2645400" cy="13860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Sender</a:t>
            </a:r>
            <a:endParaRPr>
              <a:latin typeface="Roboto"/>
              <a:ea typeface="Roboto"/>
              <a:cs typeface="Roboto"/>
              <a:sym typeface="Roboto"/>
            </a:endParaRPr>
          </a:p>
        </p:txBody>
      </p:sp>
      <p:sp>
        <p:nvSpPr>
          <p:cNvPr id="1265" name="Google Shape;1265;p8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RDMA: Remote Direct Memory Access</a:t>
            </a:r>
            <a:endParaRPr/>
          </a:p>
        </p:txBody>
      </p:sp>
      <p:sp>
        <p:nvSpPr>
          <p:cNvPr id="1266" name="Google Shape;1266;p83"/>
          <p:cNvSpPr txBox="1"/>
          <p:nvPr>
            <p:ph idx="1" type="body"/>
          </p:nvPr>
        </p:nvSpPr>
        <p:spPr>
          <a:xfrm>
            <a:off x="107050" y="402200"/>
            <a:ext cx="8909700" cy="248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Transferring a file with traditional TCP/IP networking stack:</a:t>
            </a:r>
            <a:endParaRPr/>
          </a:p>
          <a:p>
            <a:pPr indent="-342900" lvl="0" marL="457200" rtl="0" algn="l">
              <a:spcBef>
                <a:spcPts val="600"/>
              </a:spcBef>
              <a:spcAft>
                <a:spcPts val="0"/>
              </a:spcAft>
              <a:buSzPts val="1800"/>
              <a:buChar char="●"/>
            </a:pPr>
            <a:r>
              <a:rPr lang="en"/>
              <a:t>Sender CPU reads file from memory.</a:t>
            </a:r>
            <a:endParaRPr/>
          </a:p>
          <a:p>
            <a:pPr indent="-342900" lvl="0" marL="457200" rtl="0" algn="l">
              <a:spcBef>
                <a:spcPts val="0"/>
              </a:spcBef>
              <a:spcAft>
                <a:spcPts val="0"/>
              </a:spcAft>
              <a:buSzPts val="1800"/>
              <a:buChar char="●"/>
            </a:pPr>
            <a:r>
              <a:rPr lang="en"/>
              <a:t>Sender CPU sends out packets.</a:t>
            </a:r>
            <a:endParaRPr/>
          </a:p>
          <a:p>
            <a:pPr indent="-342900" lvl="0" marL="457200" rtl="0" algn="l">
              <a:spcBef>
                <a:spcPts val="0"/>
              </a:spcBef>
              <a:spcAft>
                <a:spcPts val="0"/>
              </a:spcAft>
              <a:buSzPts val="1800"/>
              <a:buChar char="●"/>
            </a:pPr>
            <a:r>
              <a:rPr lang="en"/>
              <a:t>Recipient CPU processes packets.</a:t>
            </a:r>
            <a:endParaRPr/>
          </a:p>
          <a:p>
            <a:pPr indent="-342900" lvl="0" marL="457200" rtl="0" algn="l">
              <a:spcBef>
                <a:spcPts val="0"/>
              </a:spcBef>
              <a:spcAft>
                <a:spcPts val="0"/>
              </a:spcAft>
              <a:buSzPts val="1800"/>
              <a:buChar char="●"/>
            </a:pPr>
            <a:r>
              <a:rPr lang="en"/>
              <a:t>Recipient CPU writes file to memory.</a:t>
            </a:r>
            <a:endParaRPr/>
          </a:p>
        </p:txBody>
      </p:sp>
      <p:sp>
        <p:nvSpPr>
          <p:cNvPr id="1267" name="Google Shape;1267;p83"/>
          <p:cNvSpPr/>
          <p:nvPr/>
        </p:nvSpPr>
        <p:spPr>
          <a:xfrm>
            <a:off x="2591850" y="3345925"/>
            <a:ext cx="9081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268" name="Google Shape;1268;p83"/>
          <p:cNvSpPr/>
          <p:nvPr/>
        </p:nvSpPr>
        <p:spPr>
          <a:xfrm>
            <a:off x="2591850" y="4031725"/>
            <a:ext cx="9081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a:t>
            </a:r>
            <a:endParaRPr>
              <a:latin typeface="Roboto"/>
              <a:ea typeface="Roboto"/>
              <a:cs typeface="Roboto"/>
              <a:sym typeface="Roboto"/>
            </a:endParaRPr>
          </a:p>
        </p:txBody>
      </p:sp>
      <p:sp>
        <p:nvSpPr>
          <p:cNvPr id="1269" name="Google Shape;1269;p83"/>
          <p:cNvSpPr/>
          <p:nvPr/>
        </p:nvSpPr>
        <p:spPr>
          <a:xfrm>
            <a:off x="1226550" y="3504475"/>
            <a:ext cx="908100" cy="609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270" name="Google Shape;1270;p83"/>
          <p:cNvSpPr/>
          <p:nvPr/>
        </p:nvSpPr>
        <p:spPr>
          <a:xfrm>
            <a:off x="5407450" y="3183501"/>
            <a:ext cx="2645400" cy="13860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Recipient</a:t>
            </a:r>
            <a:endParaRPr>
              <a:latin typeface="Roboto"/>
              <a:ea typeface="Roboto"/>
              <a:cs typeface="Roboto"/>
              <a:sym typeface="Roboto"/>
            </a:endParaRPr>
          </a:p>
        </p:txBody>
      </p:sp>
      <p:sp>
        <p:nvSpPr>
          <p:cNvPr id="1271" name="Google Shape;1271;p83"/>
          <p:cNvSpPr/>
          <p:nvPr/>
        </p:nvSpPr>
        <p:spPr>
          <a:xfrm>
            <a:off x="5556775" y="3345925"/>
            <a:ext cx="9081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272" name="Google Shape;1272;p83"/>
          <p:cNvSpPr/>
          <p:nvPr/>
        </p:nvSpPr>
        <p:spPr>
          <a:xfrm>
            <a:off x="5556775" y="4031725"/>
            <a:ext cx="9081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a:t>
            </a:r>
            <a:endParaRPr>
              <a:latin typeface="Roboto"/>
              <a:ea typeface="Roboto"/>
              <a:cs typeface="Roboto"/>
              <a:sym typeface="Roboto"/>
            </a:endParaRPr>
          </a:p>
        </p:txBody>
      </p:sp>
      <p:sp>
        <p:nvSpPr>
          <p:cNvPr id="1273" name="Google Shape;1273;p83"/>
          <p:cNvSpPr/>
          <p:nvPr/>
        </p:nvSpPr>
        <p:spPr>
          <a:xfrm>
            <a:off x="6934675" y="3504475"/>
            <a:ext cx="908100" cy="609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cxnSp>
        <p:nvCxnSpPr>
          <p:cNvPr id="1274" name="Google Shape;1274;p83"/>
          <p:cNvCxnSpPr>
            <a:stCxn id="1269" idx="3"/>
            <a:endCxn id="1267" idx="1"/>
          </p:cNvCxnSpPr>
          <p:nvPr/>
        </p:nvCxnSpPr>
        <p:spPr>
          <a:xfrm flipH="1" rot="10800000">
            <a:off x="2134650" y="3542725"/>
            <a:ext cx="457200" cy="266700"/>
          </a:xfrm>
          <a:prstGeom prst="straightConnector1">
            <a:avLst/>
          </a:prstGeom>
          <a:noFill/>
          <a:ln cap="flat" cmpd="sng" w="28575">
            <a:solidFill>
              <a:schemeClr val="dk2"/>
            </a:solidFill>
            <a:prstDash val="solid"/>
            <a:round/>
            <a:headEnd len="med" w="med" type="none"/>
            <a:tailEnd len="med" w="med" type="none"/>
          </a:ln>
        </p:spPr>
      </p:cxnSp>
      <p:cxnSp>
        <p:nvCxnSpPr>
          <p:cNvPr id="1275" name="Google Shape;1275;p83"/>
          <p:cNvCxnSpPr>
            <a:stCxn id="1267" idx="2"/>
            <a:endCxn id="1268" idx="0"/>
          </p:cNvCxnSpPr>
          <p:nvPr/>
        </p:nvCxnSpPr>
        <p:spPr>
          <a:xfrm>
            <a:off x="3045900" y="3739525"/>
            <a:ext cx="0" cy="292200"/>
          </a:xfrm>
          <a:prstGeom prst="straightConnector1">
            <a:avLst/>
          </a:prstGeom>
          <a:noFill/>
          <a:ln cap="flat" cmpd="sng" w="28575">
            <a:solidFill>
              <a:schemeClr val="dk2"/>
            </a:solidFill>
            <a:prstDash val="solid"/>
            <a:round/>
            <a:headEnd len="med" w="med" type="none"/>
            <a:tailEnd len="med" w="med" type="none"/>
          </a:ln>
        </p:spPr>
      </p:cxnSp>
      <p:cxnSp>
        <p:nvCxnSpPr>
          <p:cNvPr id="1276" name="Google Shape;1276;p83"/>
          <p:cNvCxnSpPr>
            <a:stCxn id="1268" idx="3"/>
            <a:endCxn id="1272" idx="1"/>
          </p:cNvCxnSpPr>
          <p:nvPr/>
        </p:nvCxnSpPr>
        <p:spPr>
          <a:xfrm>
            <a:off x="3499950" y="4228525"/>
            <a:ext cx="2056800" cy="0"/>
          </a:xfrm>
          <a:prstGeom prst="straightConnector1">
            <a:avLst/>
          </a:prstGeom>
          <a:noFill/>
          <a:ln cap="flat" cmpd="sng" w="28575">
            <a:solidFill>
              <a:schemeClr val="dk2"/>
            </a:solidFill>
            <a:prstDash val="solid"/>
            <a:round/>
            <a:headEnd len="med" w="med" type="none"/>
            <a:tailEnd len="med" w="med" type="none"/>
          </a:ln>
        </p:spPr>
      </p:cxnSp>
      <p:cxnSp>
        <p:nvCxnSpPr>
          <p:cNvPr id="1277" name="Google Shape;1277;p83"/>
          <p:cNvCxnSpPr>
            <a:stCxn id="1272" idx="0"/>
            <a:endCxn id="1271" idx="2"/>
          </p:cNvCxnSpPr>
          <p:nvPr/>
        </p:nvCxnSpPr>
        <p:spPr>
          <a:xfrm rot="10800000">
            <a:off x="6010825" y="3739525"/>
            <a:ext cx="0" cy="292200"/>
          </a:xfrm>
          <a:prstGeom prst="straightConnector1">
            <a:avLst/>
          </a:prstGeom>
          <a:noFill/>
          <a:ln cap="flat" cmpd="sng" w="28575">
            <a:solidFill>
              <a:schemeClr val="dk2"/>
            </a:solidFill>
            <a:prstDash val="solid"/>
            <a:round/>
            <a:headEnd len="med" w="med" type="none"/>
            <a:tailEnd len="med" w="med" type="none"/>
          </a:ln>
        </p:spPr>
      </p:cxnSp>
      <p:cxnSp>
        <p:nvCxnSpPr>
          <p:cNvPr id="1278" name="Google Shape;1278;p83"/>
          <p:cNvCxnSpPr>
            <a:stCxn id="1271" idx="3"/>
            <a:endCxn id="1273" idx="1"/>
          </p:cNvCxnSpPr>
          <p:nvPr/>
        </p:nvCxnSpPr>
        <p:spPr>
          <a:xfrm>
            <a:off x="6464875" y="3542725"/>
            <a:ext cx="469800" cy="266700"/>
          </a:xfrm>
          <a:prstGeom prst="straightConnector1">
            <a:avLst/>
          </a:prstGeom>
          <a:noFill/>
          <a:ln cap="flat" cmpd="sng" w="28575">
            <a:solidFill>
              <a:schemeClr val="dk2"/>
            </a:solidFill>
            <a:prstDash val="solid"/>
            <a:round/>
            <a:headEnd len="med" w="med" type="none"/>
            <a:tailEnd len="med" w="med" type="triangle"/>
          </a:ln>
        </p:spPr>
      </p:cxnSp>
      <p:sp>
        <p:nvSpPr>
          <p:cNvPr id="1279" name="Google Shape;1279;p83"/>
          <p:cNvSpPr txBox="1"/>
          <p:nvPr/>
        </p:nvSpPr>
        <p:spPr>
          <a:xfrm>
            <a:off x="2649138" y="4716150"/>
            <a:ext cx="38457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Without RDMA: CPU involved in data transfer.</a:t>
            </a:r>
            <a:endParaRPr>
              <a:solidFill>
                <a:schemeClr val="dk1"/>
              </a:solidFill>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84"/>
          <p:cNvSpPr/>
          <p:nvPr/>
        </p:nvSpPr>
        <p:spPr>
          <a:xfrm>
            <a:off x="1070925" y="3183501"/>
            <a:ext cx="2645400" cy="13860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Sender</a:t>
            </a:r>
            <a:endParaRPr>
              <a:latin typeface="Roboto"/>
              <a:ea typeface="Roboto"/>
              <a:cs typeface="Roboto"/>
              <a:sym typeface="Roboto"/>
            </a:endParaRPr>
          </a:p>
        </p:txBody>
      </p:sp>
      <p:sp>
        <p:nvSpPr>
          <p:cNvPr id="1285" name="Google Shape;1285;p84"/>
          <p:cNvSpPr/>
          <p:nvPr/>
        </p:nvSpPr>
        <p:spPr>
          <a:xfrm>
            <a:off x="5407450" y="3183501"/>
            <a:ext cx="2645400" cy="13860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Recipient</a:t>
            </a:r>
            <a:endParaRPr>
              <a:latin typeface="Roboto"/>
              <a:ea typeface="Roboto"/>
              <a:cs typeface="Roboto"/>
              <a:sym typeface="Roboto"/>
            </a:endParaRPr>
          </a:p>
        </p:txBody>
      </p:sp>
      <p:sp>
        <p:nvSpPr>
          <p:cNvPr id="1286" name="Google Shape;1286;p8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RDMA: Remote Direct Memory Access</a:t>
            </a:r>
            <a:endParaRPr/>
          </a:p>
        </p:txBody>
      </p:sp>
      <p:sp>
        <p:nvSpPr>
          <p:cNvPr id="1287" name="Google Shape;1287;p84"/>
          <p:cNvSpPr/>
          <p:nvPr/>
        </p:nvSpPr>
        <p:spPr>
          <a:xfrm>
            <a:off x="2591850" y="3345925"/>
            <a:ext cx="9081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288" name="Google Shape;1288;p84"/>
          <p:cNvSpPr/>
          <p:nvPr/>
        </p:nvSpPr>
        <p:spPr>
          <a:xfrm>
            <a:off x="2591850" y="4031725"/>
            <a:ext cx="9081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a:t>
            </a:r>
            <a:endParaRPr>
              <a:latin typeface="Roboto"/>
              <a:ea typeface="Roboto"/>
              <a:cs typeface="Roboto"/>
              <a:sym typeface="Roboto"/>
            </a:endParaRPr>
          </a:p>
        </p:txBody>
      </p:sp>
      <p:sp>
        <p:nvSpPr>
          <p:cNvPr id="1289" name="Google Shape;1289;p84"/>
          <p:cNvSpPr/>
          <p:nvPr/>
        </p:nvSpPr>
        <p:spPr>
          <a:xfrm>
            <a:off x="1226550" y="3504475"/>
            <a:ext cx="908100" cy="609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290" name="Google Shape;1290;p84"/>
          <p:cNvSpPr/>
          <p:nvPr/>
        </p:nvSpPr>
        <p:spPr>
          <a:xfrm>
            <a:off x="5556775" y="3345925"/>
            <a:ext cx="9081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291" name="Google Shape;1291;p84"/>
          <p:cNvSpPr/>
          <p:nvPr/>
        </p:nvSpPr>
        <p:spPr>
          <a:xfrm>
            <a:off x="5556775" y="4031725"/>
            <a:ext cx="9081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a:t>
            </a:r>
            <a:endParaRPr>
              <a:latin typeface="Roboto"/>
              <a:ea typeface="Roboto"/>
              <a:cs typeface="Roboto"/>
              <a:sym typeface="Roboto"/>
            </a:endParaRPr>
          </a:p>
        </p:txBody>
      </p:sp>
      <p:sp>
        <p:nvSpPr>
          <p:cNvPr id="1292" name="Google Shape;1292;p84"/>
          <p:cNvSpPr/>
          <p:nvPr/>
        </p:nvSpPr>
        <p:spPr>
          <a:xfrm>
            <a:off x="6934675" y="3504475"/>
            <a:ext cx="908100" cy="609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cxnSp>
        <p:nvCxnSpPr>
          <p:cNvPr id="1293" name="Google Shape;1293;p84"/>
          <p:cNvCxnSpPr>
            <a:stCxn id="1289" idx="3"/>
            <a:endCxn id="1288" idx="1"/>
          </p:cNvCxnSpPr>
          <p:nvPr/>
        </p:nvCxnSpPr>
        <p:spPr>
          <a:xfrm>
            <a:off x="2134650" y="3809425"/>
            <a:ext cx="457200" cy="419100"/>
          </a:xfrm>
          <a:prstGeom prst="straightConnector1">
            <a:avLst/>
          </a:prstGeom>
          <a:noFill/>
          <a:ln cap="flat" cmpd="sng" w="28575">
            <a:solidFill>
              <a:schemeClr val="dk2"/>
            </a:solidFill>
            <a:prstDash val="solid"/>
            <a:round/>
            <a:headEnd len="med" w="med" type="none"/>
            <a:tailEnd len="med" w="med" type="none"/>
          </a:ln>
        </p:spPr>
      </p:cxnSp>
      <p:cxnSp>
        <p:nvCxnSpPr>
          <p:cNvPr id="1294" name="Google Shape;1294;p84"/>
          <p:cNvCxnSpPr>
            <a:stCxn id="1288" idx="3"/>
            <a:endCxn id="1291" idx="1"/>
          </p:cNvCxnSpPr>
          <p:nvPr/>
        </p:nvCxnSpPr>
        <p:spPr>
          <a:xfrm>
            <a:off x="3499950" y="4228525"/>
            <a:ext cx="2056800" cy="0"/>
          </a:xfrm>
          <a:prstGeom prst="straightConnector1">
            <a:avLst/>
          </a:prstGeom>
          <a:noFill/>
          <a:ln cap="flat" cmpd="sng" w="28575">
            <a:solidFill>
              <a:schemeClr val="dk2"/>
            </a:solidFill>
            <a:prstDash val="solid"/>
            <a:round/>
            <a:headEnd len="med" w="med" type="none"/>
            <a:tailEnd len="med" w="med" type="none"/>
          </a:ln>
        </p:spPr>
      </p:cxnSp>
      <p:cxnSp>
        <p:nvCxnSpPr>
          <p:cNvPr id="1295" name="Google Shape;1295;p84"/>
          <p:cNvCxnSpPr>
            <a:stCxn id="1291" idx="3"/>
            <a:endCxn id="1292" idx="1"/>
          </p:cNvCxnSpPr>
          <p:nvPr/>
        </p:nvCxnSpPr>
        <p:spPr>
          <a:xfrm flipH="1" rot="10800000">
            <a:off x="6464875" y="3809425"/>
            <a:ext cx="469800" cy="419100"/>
          </a:xfrm>
          <a:prstGeom prst="straightConnector1">
            <a:avLst/>
          </a:prstGeom>
          <a:noFill/>
          <a:ln cap="flat" cmpd="sng" w="28575">
            <a:solidFill>
              <a:schemeClr val="dk2"/>
            </a:solidFill>
            <a:prstDash val="solid"/>
            <a:round/>
            <a:headEnd len="med" w="med" type="none"/>
            <a:tailEnd len="med" w="med" type="triangle"/>
          </a:ln>
        </p:spPr>
      </p:cxnSp>
      <p:sp>
        <p:nvSpPr>
          <p:cNvPr id="1296" name="Google Shape;1296;p84"/>
          <p:cNvSpPr txBox="1"/>
          <p:nvPr/>
        </p:nvSpPr>
        <p:spPr>
          <a:xfrm>
            <a:off x="2649138" y="4716150"/>
            <a:ext cx="38457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RDMA: CPU is minimally involved in transfer!</a:t>
            </a:r>
            <a:endParaRPr>
              <a:solidFill>
                <a:schemeClr val="dk1"/>
              </a:solidFill>
              <a:latin typeface="Roboto"/>
              <a:ea typeface="Roboto"/>
              <a:cs typeface="Roboto"/>
              <a:sym typeface="Roboto"/>
            </a:endParaRPr>
          </a:p>
        </p:txBody>
      </p:sp>
      <p:sp>
        <p:nvSpPr>
          <p:cNvPr id="1297" name="Google Shape;1297;p84"/>
          <p:cNvSpPr txBox="1"/>
          <p:nvPr>
            <p:ph idx="1" type="body"/>
          </p:nvPr>
        </p:nvSpPr>
        <p:spPr>
          <a:xfrm>
            <a:off x="107050" y="402200"/>
            <a:ext cx="8909700" cy="2634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RDMA</a:t>
            </a:r>
            <a:r>
              <a:rPr lang="en"/>
              <a:t> (Remote Direct Memory Access):</a:t>
            </a:r>
            <a:endParaRPr/>
          </a:p>
          <a:p>
            <a:pPr indent="-342900" lvl="0" marL="457200" rtl="0" algn="l">
              <a:spcBef>
                <a:spcPts val="600"/>
              </a:spcBef>
              <a:spcAft>
                <a:spcPts val="0"/>
              </a:spcAft>
              <a:buSzPts val="1800"/>
              <a:buChar char="●"/>
            </a:pPr>
            <a:r>
              <a:rPr lang="en"/>
              <a:t>Abstraction: A can directly access memory in B's computer.</a:t>
            </a:r>
            <a:endParaRPr/>
          </a:p>
          <a:p>
            <a:pPr indent="-342900" lvl="0" marL="457200" rtl="0" algn="l">
              <a:spcBef>
                <a:spcPts val="0"/>
              </a:spcBef>
              <a:spcAft>
                <a:spcPts val="0"/>
              </a:spcAft>
              <a:buSzPts val="1800"/>
              <a:buChar char="●"/>
            </a:pPr>
            <a:r>
              <a:rPr lang="en"/>
              <a:t>Goal: Minimal CPU involvement in the data transfer.</a:t>
            </a:r>
            <a:endParaRPr/>
          </a:p>
          <a:p>
            <a:pPr indent="0" lvl="0" marL="0" rtl="0" algn="l">
              <a:spcBef>
                <a:spcPts val="600"/>
              </a:spcBef>
              <a:spcAft>
                <a:spcPts val="0"/>
              </a:spcAft>
              <a:buNone/>
            </a:pPr>
            <a:r>
              <a:rPr lang="en"/>
              <a:t>Transferring a file with RDMA:</a:t>
            </a:r>
            <a:endParaRPr/>
          </a:p>
          <a:p>
            <a:pPr indent="-342900" lvl="0" marL="457200" rtl="0" algn="l">
              <a:spcBef>
                <a:spcPts val="600"/>
              </a:spcBef>
              <a:spcAft>
                <a:spcPts val="0"/>
              </a:spcAft>
              <a:buSzPts val="1800"/>
              <a:buChar char="●"/>
            </a:pPr>
            <a:r>
              <a:rPr lang="en"/>
              <a:t>CPUs set up the transfer and get out of the way.</a:t>
            </a:r>
            <a:endParaRPr/>
          </a:p>
          <a:p>
            <a:pPr indent="-342900" lvl="0" marL="457200" rtl="0" algn="l">
              <a:spcBef>
                <a:spcPts val="0"/>
              </a:spcBef>
              <a:spcAft>
                <a:spcPts val="0"/>
              </a:spcAft>
              <a:buSzPts val="1800"/>
              <a:buChar char="●"/>
            </a:pPr>
            <a:r>
              <a:rPr lang="en"/>
              <a:t>Sender NIC reads memory and sends out data.</a:t>
            </a:r>
            <a:endParaRPr/>
          </a:p>
          <a:p>
            <a:pPr indent="-342900" lvl="0" marL="457200" rtl="0" algn="l">
              <a:spcBef>
                <a:spcPts val="0"/>
              </a:spcBef>
              <a:spcAft>
                <a:spcPts val="0"/>
              </a:spcAft>
              <a:buSzPts val="1800"/>
              <a:buChar char="●"/>
            </a:pPr>
            <a:r>
              <a:rPr lang="en"/>
              <a:t>Recipient NIC receives data and writes to memory.</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8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Abstraction: Queue Pairs</a:t>
            </a:r>
            <a:endParaRPr/>
          </a:p>
        </p:txBody>
      </p:sp>
      <p:sp>
        <p:nvSpPr>
          <p:cNvPr id="1303" name="Google Shape;1303;p85"/>
          <p:cNvSpPr txBox="1"/>
          <p:nvPr>
            <p:ph idx="1" type="body"/>
          </p:nvPr>
        </p:nvSpPr>
        <p:spPr>
          <a:xfrm>
            <a:off x="107050" y="402200"/>
            <a:ext cx="581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TCP used bytestreams, but RDMA uses the </a:t>
            </a:r>
            <a:r>
              <a:rPr b="1" lang="en"/>
              <a:t>queue pair</a:t>
            </a:r>
            <a:r>
              <a:rPr lang="en"/>
              <a:t> abstraction between the application and NIC.</a:t>
            </a:r>
            <a:endParaRPr/>
          </a:p>
          <a:p>
            <a:pPr indent="-342900" lvl="0" marL="457200" rtl="0" algn="l">
              <a:spcBef>
                <a:spcPts val="600"/>
              </a:spcBef>
              <a:spcAft>
                <a:spcPts val="0"/>
              </a:spcAft>
              <a:buSzPts val="1800"/>
              <a:buChar char="●"/>
            </a:pPr>
            <a:r>
              <a:rPr b="1" lang="en"/>
              <a:t>Send queue</a:t>
            </a:r>
            <a:r>
              <a:rPr lang="en"/>
              <a:t> has all pending jobs, where</a:t>
            </a:r>
            <a:br>
              <a:rPr lang="en"/>
            </a:br>
            <a:r>
              <a:rPr lang="en"/>
              <a:t>I'm sending data to someone else.</a:t>
            </a:r>
            <a:endParaRPr/>
          </a:p>
          <a:p>
            <a:pPr indent="-342900" lvl="0" marL="457200" rtl="0" algn="l">
              <a:spcBef>
                <a:spcPts val="0"/>
              </a:spcBef>
              <a:spcAft>
                <a:spcPts val="0"/>
              </a:spcAft>
              <a:buSzPts val="1800"/>
              <a:buChar char="●"/>
            </a:pPr>
            <a:r>
              <a:rPr b="1" lang="en"/>
              <a:t>Receive queue</a:t>
            </a:r>
            <a:r>
              <a:rPr lang="en"/>
              <a:t> has all pending jobs, where someone else is sending data to me.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 single NIC can have multiple queue pairs.</a:t>
            </a:r>
            <a:endParaRPr/>
          </a:p>
          <a:p>
            <a:pPr indent="-342900" lvl="0" marL="457200" rtl="0" algn="l">
              <a:spcBef>
                <a:spcPts val="600"/>
              </a:spcBef>
              <a:spcAft>
                <a:spcPts val="0"/>
              </a:spcAft>
              <a:buSzPts val="1800"/>
              <a:buChar char="●"/>
            </a:pPr>
            <a:r>
              <a:rPr lang="en"/>
              <a:t>Each queue pair has a different service guarantee. (Reliable? Ordered?)</a:t>
            </a:r>
            <a:endParaRPr/>
          </a:p>
          <a:p>
            <a:pPr indent="-342900" lvl="0" marL="457200" rtl="0" algn="l">
              <a:spcBef>
                <a:spcPts val="0"/>
              </a:spcBef>
              <a:spcAft>
                <a:spcPts val="0"/>
              </a:spcAft>
              <a:buSzPts val="1800"/>
              <a:buChar char="●"/>
            </a:pPr>
            <a:r>
              <a:rPr lang="en"/>
              <a:t>Reliable, in-order queue pair is most similar to TCP.</a:t>
            </a:r>
            <a:endParaRPr/>
          </a:p>
        </p:txBody>
      </p:sp>
      <p:sp>
        <p:nvSpPr>
          <p:cNvPr id="1304" name="Google Shape;1304;p85"/>
          <p:cNvSpPr/>
          <p:nvPr/>
        </p:nvSpPr>
        <p:spPr>
          <a:xfrm>
            <a:off x="6260275" y="2687200"/>
            <a:ext cx="2645400" cy="2170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305" name="Google Shape;1305;p85"/>
          <p:cNvSpPr/>
          <p:nvPr/>
        </p:nvSpPr>
        <p:spPr>
          <a:xfrm>
            <a:off x="6260275" y="763525"/>
            <a:ext cx="2645400" cy="12903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306" name="Google Shape;1306;p85"/>
          <p:cNvSpPr/>
          <p:nvPr/>
        </p:nvSpPr>
        <p:spPr>
          <a:xfrm>
            <a:off x="7758875" y="1184325"/>
            <a:ext cx="908100" cy="6777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307" name="Google Shape;1307;p85"/>
          <p:cNvSpPr/>
          <p:nvPr/>
        </p:nvSpPr>
        <p:spPr>
          <a:xfrm>
            <a:off x="6498975" y="1184325"/>
            <a:ext cx="908100" cy="6777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308" name="Google Shape;1308;p85"/>
          <p:cNvSpPr/>
          <p:nvPr/>
        </p:nvSpPr>
        <p:spPr>
          <a:xfrm>
            <a:off x="6392825" y="2822250"/>
            <a:ext cx="1417200" cy="15900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309" name="Google Shape;1309;p85"/>
          <p:cNvSpPr/>
          <p:nvPr/>
        </p:nvSpPr>
        <p:spPr>
          <a:xfrm>
            <a:off x="6523775" y="2978275"/>
            <a:ext cx="505951" cy="848923"/>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310" name="Google Shape;1310;p85"/>
          <p:cNvSpPr/>
          <p:nvPr/>
        </p:nvSpPr>
        <p:spPr>
          <a:xfrm>
            <a:off x="7173125" y="2978275"/>
            <a:ext cx="505951" cy="848923"/>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311" name="Google Shape;1311;p85"/>
          <p:cNvSpPr txBox="1"/>
          <p:nvPr/>
        </p:nvSpPr>
        <p:spPr>
          <a:xfrm>
            <a:off x="6523850" y="3849775"/>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312" name="Google Shape;1312;p85"/>
          <p:cNvSpPr txBox="1"/>
          <p:nvPr/>
        </p:nvSpPr>
        <p:spPr>
          <a:xfrm>
            <a:off x="7083500" y="3849775"/>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8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Abstraction: Work Queue Elements</a:t>
            </a:r>
            <a:endParaRPr/>
          </a:p>
        </p:txBody>
      </p:sp>
      <p:sp>
        <p:nvSpPr>
          <p:cNvPr id="1318" name="Google Shape;1318;p86"/>
          <p:cNvSpPr txBox="1"/>
          <p:nvPr>
            <p:ph idx="1" type="body"/>
          </p:nvPr>
        </p:nvSpPr>
        <p:spPr>
          <a:xfrm>
            <a:off x="107050" y="402200"/>
            <a:ext cx="5027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CPU schedules transfers by adding</a:t>
            </a:r>
            <a:br>
              <a:rPr lang="en"/>
            </a:br>
            <a:r>
              <a:rPr b="1" lang="en"/>
              <a:t>Work Queue Elements (WQEs)</a:t>
            </a:r>
            <a:r>
              <a:rPr lang="en"/>
              <a:t> to the queues.</a:t>
            </a:r>
            <a:endParaRPr/>
          </a:p>
          <a:p>
            <a:pPr indent="-342900" lvl="0" marL="457200" rtl="0" algn="l">
              <a:spcBef>
                <a:spcPts val="600"/>
              </a:spcBef>
              <a:spcAft>
                <a:spcPts val="0"/>
              </a:spcAft>
              <a:buSzPts val="1800"/>
              <a:buChar char="●"/>
            </a:pPr>
            <a:r>
              <a:rPr lang="en"/>
              <a:t>Struct with instructions about the transfer.</a:t>
            </a:r>
            <a:endParaRPr/>
          </a:p>
          <a:p>
            <a:pPr indent="-342900" lvl="1" marL="914400" rtl="0" algn="l">
              <a:spcBef>
                <a:spcPts val="0"/>
              </a:spcBef>
              <a:spcAft>
                <a:spcPts val="0"/>
              </a:spcAft>
              <a:buSzPts val="1800"/>
              <a:buChar char="○"/>
            </a:pPr>
            <a:r>
              <a:rPr lang="en"/>
              <a:t>Contains pointers to where in memory to read/write data.</a:t>
            </a:r>
            <a:endParaRPr/>
          </a:p>
          <a:p>
            <a:pPr indent="-342900" lvl="0" marL="457200" rtl="0" algn="l">
              <a:spcBef>
                <a:spcPts val="0"/>
              </a:spcBef>
              <a:spcAft>
                <a:spcPts val="0"/>
              </a:spcAft>
              <a:buSzPts val="1800"/>
              <a:buChar char="●"/>
            </a:pPr>
            <a:r>
              <a:rPr lang="en"/>
              <a:t>Gives the NIC an application-level view of the transfer, e.g. where the file starts/ends.</a:t>
            </a:r>
            <a:endParaRPr/>
          </a:p>
          <a:p>
            <a:pPr indent="-342900" lvl="1" marL="914400" rtl="0" algn="l">
              <a:spcBef>
                <a:spcPts val="0"/>
              </a:spcBef>
              <a:spcAft>
                <a:spcPts val="0"/>
              </a:spcAft>
              <a:buSzPts val="1800"/>
              <a:buChar char="○"/>
            </a:pPr>
            <a:r>
              <a:rPr lang="en"/>
              <a:t>Contrast with TCP, which just sees a bytestream.</a:t>
            </a:r>
            <a:endParaRPr/>
          </a:p>
        </p:txBody>
      </p:sp>
      <p:sp>
        <p:nvSpPr>
          <p:cNvPr id="1319" name="Google Shape;1319;p86"/>
          <p:cNvSpPr/>
          <p:nvPr/>
        </p:nvSpPr>
        <p:spPr>
          <a:xfrm>
            <a:off x="6260275" y="2687200"/>
            <a:ext cx="2645400" cy="2170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320" name="Google Shape;1320;p86"/>
          <p:cNvSpPr/>
          <p:nvPr/>
        </p:nvSpPr>
        <p:spPr>
          <a:xfrm>
            <a:off x="6260275" y="763525"/>
            <a:ext cx="2645400" cy="12903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321" name="Google Shape;1321;p86"/>
          <p:cNvSpPr/>
          <p:nvPr/>
        </p:nvSpPr>
        <p:spPr>
          <a:xfrm>
            <a:off x="7758875" y="1184325"/>
            <a:ext cx="908100" cy="6777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322" name="Google Shape;1322;p86"/>
          <p:cNvSpPr/>
          <p:nvPr/>
        </p:nvSpPr>
        <p:spPr>
          <a:xfrm>
            <a:off x="6498975" y="1184325"/>
            <a:ext cx="908100" cy="6777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323" name="Google Shape;1323;p86"/>
          <p:cNvSpPr/>
          <p:nvPr/>
        </p:nvSpPr>
        <p:spPr>
          <a:xfrm>
            <a:off x="6392825" y="2822250"/>
            <a:ext cx="1417200" cy="15900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324" name="Google Shape;1324;p86"/>
          <p:cNvSpPr/>
          <p:nvPr/>
        </p:nvSpPr>
        <p:spPr>
          <a:xfrm>
            <a:off x="6523775" y="2978275"/>
            <a:ext cx="505951" cy="848923"/>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325" name="Google Shape;1325;p86"/>
          <p:cNvSpPr/>
          <p:nvPr/>
        </p:nvSpPr>
        <p:spPr>
          <a:xfrm>
            <a:off x="7173125" y="2978275"/>
            <a:ext cx="505951" cy="848923"/>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326" name="Google Shape;1326;p86"/>
          <p:cNvSpPr txBox="1"/>
          <p:nvPr/>
        </p:nvSpPr>
        <p:spPr>
          <a:xfrm>
            <a:off x="6523850" y="3849775"/>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327" name="Google Shape;1327;p86"/>
          <p:cNvSpPr txBox="1"/>
          <p:nvPr/>
        </p:nvSpPr>
        <p:spPr>
          <a:xfrm>
            <a:off x="7083500" y="3849775"/>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328" name="Google Shape;1328;p86"/>
          <p:cNvSpPr/>
          <p:nvPr/>
        </p:nvSpPr>
        <p:spPr>
          <a:xfrm>
            <a:off x="6586925" y="3609000"/>
            <a:ext cx="375000" cy="1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29" name="Google Shape;1329;p86"/>
          <p:cNvSpPr/>
          <p:nvPr/>
        </p:nvSpPr>
        <p:spPr>
          <a:xfrm>
            <a:off x="6586925" y="3380400"/>
            <a:ext cx="375000" cy="1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30" name="Google Shape;1330;p86"/>
          <p:cNvSpPr/>
          <p:nvPr/>
        </p:nvSpPr>
        <p:spPr>
          <a:xfrm>
            <a:off x="7238600" y="3609000"/>
            <a:ext cx="375000" cy="1599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31" name="Google Shape;1331;p86"/>
          <p:cNvCxnSpPr/>
          <p:nvPr/>
        </p:nvCxnSpPr>
        <p:spPr>
          <a:xfrm rot="10800000">
            <a:off x="6730325" y="1676875"/>
            <a:ext cx="0" cy="1778400"/>
          </a:xfrm>
          <a:prstGeom prst="straightConnector1">
            <a:avLst/>
          </a:prstGeom>
          <a:noFill/>
          <a:ln cap="flat" cmpd="sng" w="19050">
            <a:solidFill>
              <a:srgbClr val="0000FF"/>
            </a:solidFill>
            <a:prstDash val="solid"/>
            <a:round/>
            <a:headEnd len="med" w="med" type="none"/>
            <a:tailEnd len="med" w="med" type="triangle"/>
          </a:ln>
        </p:spPr>
      </p:cxnSp>
      <p:sp>
        <p:nvSpPr>
          <p:cNvPr id="1332" name="Google Shape;1332;p86"/>
          <p:cNvSpPr txBox="1"/>
          <p:nvPr/>
        </p:nvSpPr>
        <p:spPr>
          <a:xfrm>
            <a:off x="5313125" y="2250525"/>
            <a:ext cx="14172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"Send this data."</a:t>
            </a:r>
            <a:endParaRPr>
              <a:solidFill>
                <a:srgbClr val="0000FF"/>
              </a:solidFill>
              <a:latin typeface="Roboto"/>
              <a:ea typeface="Roboto"/>
              <a:cs typeface="Roboto"/>
              <a:sym typeface="Roboto"/>
            </a:endParaRPr>
          </a:p>
        </p:txBody>
      </p:sp>
      <p:sp>
        <p:nvSpPr>
          <p:cNvPr id="1333" name="Google Shape;1333;p86"/>
          <p:cNvSpPr/>
          <p:nvPr/>
        </p:nvSpPr>
        <p:spPr>
          <a:xfrm>
            <a:off x="6587525" y="1534025"/>
            <a:ext cx="285600" cy="142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34" name="Google Shape;1334;p86"/>
          <p:cNvCxnSpPr>
            <a:endCxn id="1335" idx="4"/>
          </p:cNvCxnSpPr>
          <p:nvPr/>
        </p:nvCxnSpPr>
        <p:spPr>
          <a:xfrm rot="10800000">
            <a:off x="7111325" y="1676825"/>
            <a:ext cx="297000" cy="2012400"/>
          </a:xfrm>
          <a:prstGeom prst="straightConnector1">
            <a:avLst/>
          </a:prstGeom>
          <a:noFill/>
          <a:ln cap="flat" cmpd="sng" w="19050">
            <a:solidFill>
              <a:schemeClr val="accent2"/>
            </a:solidFill>
            <a:prstDash val="solid"/>
            <a:round/>
            <a:headEnd len="med" w="med" type="none"/>
            <a:tailEnd len="med" w="med" type="triangle"/>
          </a:ln>
        </p:spPr>
      </p:cxnSp>
      <p:sp>
        <p:nvSpPr>
          <p:cNvPr id="1335" name="Google Shape;1335;p86"/>
          <p:cNvSpPr/>
          <p:nvPr/>
        </p:nvSpPr>
        <p:spPr>
          <a:xfrm>
            <a:off x="6968525" y="1534025"/>
            <a:ext cx="285600" cy="142800"/>
          </a:xfrm>
          <a:prstGeom prst="ellipse">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36" name="Google Shape;1336;p86"/>
          <p:cNvSpPr txBox="1"/>
          <p:nvPr/>
        </p:nvSpPr>
        <p:spPr>
          <a:xfrm>
            <a:off x="7235625" y="2250525"/>
            <a:ext cx="16182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"Put the data here."</a:t>
            </a:r>
            <a:endParaRPr>
              <a:solidFill>
                <a:schemeClr val="accent2"/>
              </a:solidFill>
              <a:latin typeface="Roboto"/>
              <a:ea typeface="Roboto"/>
              <a:cs typeface="Roboto"/>
              <a:sym typeface="Roboto"/>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8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Abstraction: Asynchronous Scheduling, Completion Queue</a:t>
            </a:r>
            <a:endParaRPr/>
          </a:p>
        </p:txBody>
      </p:sp>
      <p:sp>
        <p:nvSpPr>
          <p:cNvPr id="1342" name="Google Shape;1342;p87"/>
          <p:cNvSpPr txBox="1"/>
          <p:nvPr>
            <p:ph idx="1" type="body"/>
          </p:nvPr>
        </p:nvSpPr>
        <p:spPr>
          <a:xfrm>
            <a:off x="107050" y="402200"/>
            <a:ext cx="5027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RDMA is asynchronous.</a:t>
            </a:r>
            <a:endParaRPr/>
          </a:p>
          <a:p>
            <a:pPr indent="-342900" lvl="0" marL="457200" rtl="0" algn="l">
              <a:spcBef>
                <a:spcPts val="600"/>
              </a:spcBef>
              <a:spcAft>
                <a:spcPts val="0"/>
              </a:spcAft>
              <a:buSzPts val="1800"/>
              <a:buChar char="●"/>
            </a:pPr>
            <a:r>
              <a:rPr lang="en"/>
              <a:t>CPU schedules jobs in the queue pair.</a:t>
            </a:r>
            <a:endParaRPr/>
          </a:p>
          <a:p>
            <a:pPr indent="-342900" lvl="0" marL="457200" rtl="0" algn="l">
              <a:spcBef>
                <a:spcPts val="0"/>
              </a:spcBef>
              <a:spcAft>
                <a:spcPts val="0"/>
              </a:spcAft>
              <a:buSzPts val="1800"/>
              <a:buChar char="●"/>
            </a:pPr>
            <a:r>
              <a:rPr lang="en"/>
              <a:t>NIC processes jobs in the queue.</a:t>
            </a:r>
            <a:endParaRPr/>
          </a:p>
          <a:p>
            <a:pPr indent="-342900" lvl="0" marL="457200" rtl="0" algn="l">
              <a:spcBef>
                <a:spcPts val="0"/>
              </a:spcBef>
              <a:spcAft>
                <a:spcPts val="0"/>
              </a:spcAft>
              <a:buSzPts val="1800"/>
              <a:buChar char="●"/>
            </a:pPr>
            <a:r>
              <a:rPr lang="en"/>
              <a:t>When job completes, NIC adds a </a:t>
            </a:r>
            <a:r>
              <a:rPr b="1" lang="en"/>
              <a:t>Completion Queue Element (CQE)</a:t>
            </a:r>
            <a:r>
              <a:rPr lang="en"/>
              <a:t> to the Completion Queue, describing what happened (e.g. success or error).</a:t>
            </a:r>
            <a:endParaRPr/>
          </a:p>
          <a:p>
            <a:pPr indent="-342900" lvl="0" marL="457200" rtl="0" algn="l">
              <a:spcBef>
                <a:spcPts val="0"/>
              </a:spcBef>
              <a:spcAft>
                <a:spcPts val="0"/>
              </a:spcAft>
              <a:buSzPts val="1800"/>
              <a:buChar char="●"/>
            </a:pPr>
            <a:r>
              <a:rPr lang="en"/>
              <a:t>Application reads CQE to see what happened with the job.</a:t>
            </a:r>
            <a:endParaRPr/>
          </a:p>
        </p:txBody>
      </p:sp>
      <p:sp>
        <p:nvSpPr>
          <p:cNvPr id="1343" name="Google Shape;1343;p87"/>
          <p:cNvSpPr/>
          <p:nvPr/>
        </p:nvSpPr>
        <p:spPr>
          <a:xfrm>
            <a:off x="6260275" y="2687200"/>
            <a:ext cx="2645400" cy="2170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344" name="Google Shape;1344;p87"/>
          <p:cNvSpPr/>
          <p:nvPr/>
        </p:nvSpPr>
        <p:spPr>
          <a:xfrm>
            <a:off x="6260275" y="763525"/>
            <a:ext cx="2645400" cy="12903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345" name="Google Shape;1345;p87"/>
          <p:cNvSpPr/>
          <p:nvPr/>
        </p:nvSpPr>
        <p:spPr>
          <a:xfrm>
            <a:off x="7758875" y="1184325"/>
            <a:ext cx="908100" cy="6777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346" name="Google Shape;1346;p87"/>
          <p:cNvSpPr/>
          <p:nvPr/>
        </p:nvSpPr>
        <p:spPr>
          <a:xfrm>
            <a:off x="6498975" y="1184325"/>
            <a:ext cx="908100" cy="6777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347" name="Google Shape;1347;p87"/>
          <p:cNvSpPr/>
          <p:nvPr/>
        </p:nvSpPr>
        <p:spPr>
          <a:xfrm>
            <a:off x="6392825" y="2822250"/>
            <a:ext cx="1417200" cy="15900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348" name="Google Shape;1348;p87"/>
          <p:cNvSpPr/>
          <p:nvPr/>
        </p:nvSpPr>
        <p:spPr>
          <a:xfrm>
            <a:off x="6523775" y="2978275"/>
            <a:ext cx="505951" cy="848923"/>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349" name="Google Shape;1349;p87"/>
          <p:cNvSpPr/>
          <p:nvPr/>
        </p:nvSpPr>
        <p:spPr>
          <a:xfrm>
            <a:off x="7173125" y="2978275"/>
            <a:ext cx="505951" cy="848923"/>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350" name="Google Shape;1350;p87"/>
          <p:cNvSpPr txBox="1"/>
          <p:nvPr/>
        </p:nvSpPr>
        <p:spPr>
          <a:xfrm>
            <a:off x="6523850" y="3849775"/>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351" name="Google Shape;1351;p87"/>
          <p:cNvSpPr txBox="1"/>
          <p:nvPr/>
        </p:nvSpPr>
        <p:spPr>
          <a:xfrm>
            <a:off x="7083500" y="3849775"/>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352" name="Google Shape;1352;p87"/>
          <p:cNvSpPr/>
          <p:nvPr/>
        </p:nvSpPr>
        <p:spPr>
          <a:xfrm rot="10800000">
            <a:off x="8014573" y="3206877"/>
            <a:ext cx="734027" cy="1196347"/>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353" name="Google Shape;1353;p87"/>
          <p:cNvSpPr txBox="1"/>
          <p:nvPr/>
        </p:nvSpPr>
        <p:spPr>
          <a:xfrm>
            <a:off x="7962038" y="2935600"/>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
        <p:nvSpPr>
          <p:cNvPr id="1354" name="Google Shape;1354;p87"/>
          <p:cNvSpPr/>
          <p:nvPr/>
        </p:nvSpPr>
        <p:spPr>
          <a:xfrm>
            <a:off x="6586925" y="3609000"/>
            <a:ext cx="375000" cy="1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55" name="Google Shape;1355;p87"/>
          <p:cNvSpPr/>
          <p:nvPr/>
        </p:nvSpPr>
        <p:spPr>
          <a:xfrm>
            <a:off x="6586925" y="3380400"/>
            <a:ext cx="375000" cy="1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56" name="Google Shape;1356;p87"/>
          <p:cNvSpPr/>
          <p:nvPr/>
        </p:nvSpPr>
        <p:spPr>
          <a:xfrm>
            <a:off x="7238600" y="3609000"/>
            <a:ext cx="375000" cy="1599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57" name="Google Shape;1357;p87"/>
          <p:cNvSpPr/>
          <p:nvPr/>
        </p:nvSpPr>
        <p:spPr>
          <a:xfrm>
            <a:off x="8091938" y="3287525"/>
            <a:ext cx="579300" cy="1599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58" name="Google Shape;1358;p87"/>
          <p:cNvSpPr/>
          <p:nvPr/>
        </p:nvSpPr>
        <p:spPr>
          <a:xfrm>
            <a:off x="8091938" y="3516125"/>
            <a:ext cx="579300" cy="1599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59" name="Google Shape;1359;p87"/>
          <p:cNvSpPr/>
          <p:nvPr/>
        </p:nvSpPr>
        <p:spPr>
          <a:xfrm>
            <a:off x="8091938" y="3744725"/>
            <a:ext cx="579300" cy="1599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5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8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RDMA Example</a:t>
            </a:r>
            <a:endParaRPr/>
          </a:p>
        </p:txBody>
      </p:sp>
      <p:sp>
        <p:nvSpPr>
          <p:cNvPr id="1365" name="Google Shape;1365;p8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21</a:t>
            </a:r>
            <a:r>
              <a:rPr lang="en"/>
              <a:t>, CS 168, </a:t>
            </a:r>
            <a:r>
              <a:rPr lang="en"/>
              <a:t>Summer 2025</a:t>
            </a:r>
            <a:endParaRPr/>
          </a:p>
        </p:txBody>
      </p:sp>
      <p:sp>
        <p:nvSpPr>
          <p:cNvPr id="1366" name="Google Shape;1366;p88"/>
          <p:cNvSpPr txBox="1"/>
          <p:nvPr>
            <p:ph idx="1" type="body"/>
          </p:nvPr>
        </p:nvSpPr>
        <p:spPr>
          <a:xfrm>
            <a:off x="4812375" y="434100"/>
            <a:ext cx="4038000" cy="42753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Software-Defined Networking</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 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Implementation (OpenFlow API)</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Benefits (Traffic Engineering)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SDN in Datacenters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Other Applications of SDN</a:t>
            </a:r>
            <a:endParaRPr>
              <a:solidFill>
                <a:srgbClr val="B7B7B7"/>
              </a:solidFill>
            </a:endParaRPr>
          </a:p>
          <a:p>
            <a:pPr indent="0" lvl="0" marL="0" rtl="0" algn="l">
              <a:spcBef>
                <a:spcPts val="600"/>
              </a:spcBef>
              <a:spcAft>
                <a:spcPts val="0"/>
              </a:spcAft>
              <a:buNone/>
            </a:pPr>
            <a:r>
              <a:rPr lang="en">
                <a:solidFill>
                  <a:srgbClr val="B7B7B7"/>
                </a:solidFill>
              </a:rPr>
              <a:t>Optimizations at the Host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What is Host Networking?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Shared Memory in User Space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Offloading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Brief History of Offloading</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RDMA Example</a:t>
            </a:r>
            <a:endParaRPr b="1">
              <a:solidFill>
                <a:schemeClr val="accent3"/>
              </a:solidFill>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8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RDMA Example</a:t>
            </a:r>
            <a:endParaRPr/>
          </a:p>
        </p:txBody>
      </p:sp>
      <p:sp>
        <p:nvSpPr>
          <p:cNvPr id="1372" name="Google Shape;1372;p8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are many different RDMA operations:</a:t>
            </a:r>
            <a:endParaRPr/>
          </a:p>
          <a:p>
            <a:pPr indent="-342900" lvl="0" marL="457200" rtl="0" algn="l">
              <a:spcBef>
                <a:spcPts val="600"/>
              </a:spcBef>
              <a:spcAft>
                <a:spcPts val="0"/>
              </a:spcAft>
              <a:buSzPts val="1800"/>
              <a:buChar char="●"/>
            </a:pPr>
            <a:r>
              <a:rPr lang="en"/>
              <a:t>RDMA Write.</a:t>
            </a:r>
            <a:endParaRPr/>
          </a:p>
          <a:p>
            <a:pPr indent="-342900" lvl="0" marL="457200" rtl="0" algn="l">
              <a:spcBef>
                <a:spcPts val="0"/>
              </a:spcBef>
              <a:spcAft>
                <a:spcPts val="0"/>
              </a:spcAft>
              <a:buSzPts val="1800"/>
              <a:buChar char="●"/>
            </a:pPr>
            <a:r>
              <a:rPr lang="en"/>
              <a:t>RDMA Read.</a:t>
            </a:r>
            <a:endParaRPr/>
          </a:p>
          <a:p>
            <a:pPr indent="-342900" lvl="0" marL="457200" rtl="0" algn="l">
              <a:spcBef>
                <a:spcPts val="0"/>
              </a:spcBef>
              <a:spcAft>
                <a:spcPts val="0"/>
              </a:spcAft>
              <a:buSzPts val="1800"/>
              <a:buChar char="●"/>
            </a:pPr>
            <a:r>
              <a:rPr lang="en"/>
              <a:t>RDMA Atomic. Perform an operation in remote host's memory.</a:t>
            </a:r>
            <a:endParaRPr/>
          </a:p>
          <a:p>
            <a:pPr indent="-342900" lvl="0" marL="457200" rtl="0" algn="l">
              <a:spcBef>
                <a:spcPts val="0"/>
              </a:spcBef>
              <a:spcAft>
                <a:spcPts val="0"/>
              </a:spcAft>
              <a:buSzPts val="1800"/>
              <a:buChar char="●"/>
            </a:pPr>
            <a:r>
              <a:rPr lang="en"/>
              <a:t>RDMA Write with Immediate. Send additional value along with writing data.</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look at an RDMA Send/Receive.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90"/>
          <p:cNvSpPr/>
          <p:nvPr/>
        </p:nvSpPr>
        <p:spPr>
          <a:xfrm>
            <a:off x="2394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378" name="Google Shape;1378;p90"/>
          <p:cNvSpPr/>
          <p:nvPr/>
        </p:nvSpPr>
        <p:spPr>
          <a:xfrm>
            <a:off x="17380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379" name="Google Shape;1379;p90"/>
          <p:cNvSpPr/>
          <p:nvPr/>
        </p:nvSpPr>
        <p:spPr>
          <a:xfrm>
            <a:off x="4781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380" name="Google Shape;1380;p90"/>
          <p:cNvSpPr/>
          <p:nvPr/>
        </p:nvSpPr>
        <p:spPr>
          <a:xfrm>
            <a:off x="62592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381" name="Google Shape;1381;p90"/>
          <p:cNvSpPr/>
          <p:nvPr/>
        </p:nvSpPr>
        <p:spPr>
          <a:xfrm>
            <a:off x="77578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382" name="Google Shape;1382;p90"/>
          <p:cNvSpPr/>
          <p:nvPr/>
        </p:nvSpPr>
        <p:spPr>
          <a:xfrm>
            <a:off x="64979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383" name="Google Shape;1383;p90"/>
          <p:cNvSpPr/>
          <p:nvPr/>
        </p:nvSpPr>
        <p:spPr>
          <a:xfrm>
            <a:off x="685100" y="1924050"/>
            <a:ext cx="494100" cy="1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84" name="Google Shape;1384;p90"/>
          <p:cNvSpPr/>
          <p:nvPr/>
        </p:nvSpPr>
        <p:spPr>
          <a:xfrm>
            <a:off x="6704900" y="1924055"/>
            <a:ext cx="494100" cy="196800"/>
          </a:xfrm>
          <a:prstGeom prst="ellipse">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85" name="Google Shape;1385;p9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Steps of RDMA (1/6)</a:t>
            </a:r>
            <a:endParaRPr/>
          </a:p>
        </p:txBody>
      </p:sp>
      <p:sp>
        <p:nvSpPr>
          <p:cNvPr id="1386" name="Google Shape;1386;p90"/>
          <p:cNvSpPr txBox="1"/>
          <p:nvPr>
            <p:ph idx="1" type="body"/>
          </p:nvPr>
        </p:nvSpPr>
        <p:spPr>
          <a:xfrm>
            <a:off x="107050" y="402200"/>
            <a:ext cx="8909700" cy="831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1. Each server designates some memory to be accessible by NIC for RDMA transfers.</a:t>
            </a:r>
            <a:endParaRPr/>
          </a:p>
        </p:txBody>
      </p:sp>
      <p:sp>
        <p:nvSpPr>
          <p:cNvPr id="1387" name="Google Shape;1387;p90"/>
          <p:cNvSpPr/>
          <p:nvPr/>
        </p:nvSpPr>
        <p:spPr>
          <a:xfrm>
            <a:off x="2394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388" name="Google Shape;1388;p90"/>
          <p:cNvSpPr txBox="1"/>
          <p:nvPr/>
        </p:nvSpPr>
        <p:spPr>
          <a:xfrm>
            <a:off x="9853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sp>
        <p:nvSpPr>
          <p:cNvPr id="1389" name="Google Shape;1389;p90"/>
          <p:cNvSpPr/>
          <p:nvPr/>
        </p:nvSpPr>
        <p:spPr>
          <a:xfrm>
            <a:off x="62592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390" name="Google Shape;1390;p90"/>
          <p:cNvSpPr txBox="1"/>
          <p:nvPr/>
        </p:nvSpPr>
        <p:spPr>
          <a:xfrm>
            <a:off x="70051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cxnSp>
        <p:nvCxnSpPr>
          <p:cNvPr id="1391" name="Google Shape;1391;p90"/>
          <p:cNvCxnSpPr>
            <a:endCxn id="1383" idx="4"/>
          </p:cNvCxnSpPr>
          <p:nvPr/>
        </p:nvCxnSpPr>
        <p:spPr>
          <a:xfrm rot="10800000">
            <a:off x="932150" y="2120850"/>
            <a:ext cx="0" cy="819600"/>
          </a:xfrm>
          <a:prstGeom prst="straightConnector1">
            <a:avLst/>
          </a:prstGeom>
          <a:noFill/>
          <a:ln cap="flat" cmpd="sng" w="19050">
            <a:solidFill>
              <a:srgbClr val="0000FF"/>
            </a:solidFill>
            <a:prstDash val="solid"/>
            <a:round/>
            <a:headEnd len="med" w="med" type="none"/>
            <a:tailEnd len="med" w="med" type="triangle"/>
          </a:ln>
        </p:spPr>
      </p:cxnSp>
      <p:sp>
        <p:nvSpPr>
          <p:cNvPr id="1392" name="Google Shape;1392;p90"/>
          <p:cNvSpPr txBox="1"/>
          <p:nvPr/>
        </p:nvSpPr>
        <p:spPr>
          <a:xfrm>
            <a:off x="972259" y="2473925"/>
            <a:ext cx="8031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rgbClr val="0000FF"/>
                </a:solidFill>
                <a:latin typeface="Roboto"/>
                <a:ea typeface="Roboto"/>
                <a:cs typeface="Roboto"/>
                <a:sym typeface="Roboto"/>
              </a:rPr>
              <a:t>Readable by NIC.</a:t>
            </a:r>
            <a:endParaRPr>
              <a:solidFill>
                <a:srgbClr val="0000FF"/>
              </a:solidFill>
              <a:latin typeface="Roboto"/>
              <a:ea typeface="Roboto"/>
              <a:cs typeface="Roboto"/>
              <a:sym typeface="Roboto"/>
            </a:endParaRPr>
          </a:p>
        </p:txBody>
      </p:sp>
      <p:cxnSp>
        <p:nvCxnSpPr>
          <p:cNvPr id="1393" name="Google Shape;1393;p90"/>
          <p:cNvCxnSpPr/>
          <p:nvPr/>
        </p:nvCxnSpPr>
        <p:spPr>
          <a:xfrm rot="10800000">
            <a:off x="6951950" y="2120950"/>
            <a:ext cx="0" cy="819600"/>
          </a:xfrm>
          <a:prstGeom prst="straightConnector1">
            <a:avLst/>
          </a:prstGeom>
          <a:noFill/>
          <a:ln cap="flat" cmpd="sng" w="19050">
            <a:solidFill>
              <a:schemeClr val="accent2"/>
            </a:solidFill>
            <a:prstDash val="solid"/>
            <a:round/>
            <a:headEnd len="med" w="med" type="none"/>
            <a:tailEnd len="med" w="med" type="triangle"/>
          </a:ln>
        </p:spPr>
      </p:cxnSp>
      <p:sp>
        <p:nvSpPr>
          <p:cNvPr id="1394" name="Google Shape;1394;p90"/>
          <p:cNvSpPr txBox="1"/>
          <p:nvPr/>
        </p:nvSpPr>
        <p:spPr>
          <a:xfrm>
            <a:off x="6992059" y="2473938"/>
            <a:ext cx="8031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Writable by NIC.</a:t>
            </a:r>
            <a:endParaRPr>
              <a:solidFill>
                <a:schemeClr val="accent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9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Steps of RDMA (2/6)</a:t>
            </a:r>
            <a:endParaRPr/>
          </a:p>
        </p:txBody>
      </p:sp>
      <p:sp>
        <p:nvSpPr>
          <p:cNvPr id="1400" name="Google Shape;1400;p91"/>
          <p:cNvSpPr txBox="1"/>
          <p:nvPr>
            <p:ph idx="1" type="body"/>
          </p:nvPr>
        </p:nvSpPr>
        <p:spPr>
          <a:xfrm>
            <a:off x="107050" y="402200"/>
            <a:ext cx="8909700" cy="963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2. Each server sets up queues.</a:t>
            </a:r>
            <a:endParaRPr/>
          </a:p>
          <a:p>
            <a:pPr indent="0" lvl="0" marL="0" rtl="0" algn="l">
              <a:spcBef>
                <a:spcPts val="600"/>
              </a:spcBef>
              <a:spcAft>
                <a:spcPts val="0"/>
              </a:spcAft>
              <a:buNone/>
            </a:pPr>
            <a:r>
              <a:rPr lang="en"/>
              <a:t>This can be done out-of-band, e.g. use TCP to coordinate between servers.</a:t>
            </a:r>
            <a:endParaRPr/>
          </a:p>
        </p:txBody>
      </p:sp>
      <p:sp>
        <p:nvSpPr>
          <p:cNvPr id="1401" name="Google Shape;1401;p91"/>
          <p:cNvSpPr/>
          <p:nvPr/>
        </p:nvSpPr>
        <p:spPr>
          <a:xfrm>
            <a:off x="2394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402" name="Google Shape;1402;p91"/>
          <p:cNvSpPr txBox="1"/>
          <p:nvPr/>
        </p:nvSpPr>
        <p:spPr>
          <a:xfrm>
            <a:off x="9853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sp>
        <p:nvSpPr>
          <p:cNvPr id="1403" name="Google Shape;1403;p91"/>
          <p:cNvSpPr/>
          <p:nvPr/>
        </p:nvSpPr>
        <p:spPr>
          <a:xfrm>
            <a:off x="62592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404" name="Google Shape;1404;p91"/>
          <p:cNvSpPr txBox="1"/>
          <p:nvPr/>
        </p:nvSpPr>
        <p:spPr>
          <a:xfrm>
            <a:off x="70051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grpSp>
        <p:nvGrpSpPr>
          <p:cNvPr id="1405" name="Google Shape;1405;p91"/>
          <p:cNvGrpSpPr/>
          <p:nvPr/>
        </p:nvGrpSpPr>
        <p:grpSpPr>
          <a:xfrm>
            <a:off x="371950" y="3160962"/>
            <a:ext cx="2372333" cy="1185213"/>
            <a:chOff x="371950" y="3160963"/>
            <a:chExt cx="2372333" cy="1185213"/>
          </a:xfrm>
        </p:grpSpPr>
        <p:sp>
          <p:nvSpPr>
            <p:cNvPr id="1406" name="Google Shape;1406;p91"/>
            <p:cNvSpPr/>
            <p:nvPr/>
          </p:nvSpPr>
          <p:spPr>
            <a:xfrm>
              <a:off x="3719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407" name="Google Shape;1407;p91"/>
            <p:cNvSpPr/>
            <p:nvPr/>
          </p:nvSpPr>
          <p:spPr>
            <a:xfrm>
              <a:off x="5029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408" name="Google Shape;1408;p91"/>
            <p:cNvSpPr/>
            <p:nvPr/>
          </p:nvSpPr>
          <p:spPr>
            <a:xfrm>
              <a:off x="11522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409" name="Google Shape;1409;p91"/>
            <p:cNvSpPr txBox="1"/>
            <p:nvPr/>
          </p:nvSpPr>
          <p:spPr>
            <a:xfrm>
              <a:off x="5029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410" name="Google Shape;1410;p91"/>
            <p:cNvSpPr txBox="1"/>
            <p:nvPr/>
          </p:nvSpPr>
          <p:spPr>
            <a:xfrm>
              <a:off x="10626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411" name="Google Shape;1411;p91"/>
            <p:cNvSpPr/>
            <p:nvPr/>
          </p:nvSpPr>
          <p:spPr>
            <a:xfrm rot="10800000">
              <a:off x="1957725" y="3432238"/>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412" name="Google Shape;1412;p91"/>
            <p:cNvSpPr txBox="1"/>
            <p:nvPr/>
          </p:nvSpPr>
          <p:spPr>
            <a:xfrm>
              <a:off x="1905183" y="3160963"/>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grpSp>
      <p:grpSp>
        <p:nvGrpSpPr>
          <p:cNvPr id="1413" name="Google Shape;1413;p91"/>
          <p:cNvGrpSpPr/>
          <p:nvPr/>
        </p:nvGrpSpPr>
        <p:grpSpPr>
          <a:xfrm>
            <a:off x="6391750" y="3160950"/>
            <a:ext cx="2384858" cy="1185225"/>
            <a:chOff x="6391750" y="3160950"/>
            <a:chExt cx="2384858" cy="1185225"/>
          </a:xfrm>
        </p:grpSpPr>
        <p:sp>
          <p:nvSpPr>
            <p:cNvPr id="1414" name="Google Shape;1414;p91"/>
            <p:cNvSpPr/>
            <p:nvPr/>
          </p:nvSpPr>
          <p:spPr>
            <a:xfrm>
              <a:off x="63917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415" name="Google Shape;1415;p91"/>
            <p:cNvSpPr/>
            <p:nvPr/>
          </p:nvSpPr>
          <p:spPr>
            <a:xfrm>
              <a:off x="65227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416" name="Google Shape;1416;p91"/>
            <p:cNvSpPr/>
            <p:nvPr/>
          </p:nvSpPr>
          <p:spPr>
            <a:xfrm>
              <a:off x="71720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417" name="Google Shape;1417;p91"/>
            <p:cNvSpPr txBox="1"/>
            <p:nvPr/>
          </p:nvSpPr>
          <p:spPr>
            <a:xfrm>
              <a:off x="65227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418" name="Google Shape;1418;p91"/>
            <p:cNvSpPr txBox="1"/>
            <p:nvPr/>
          </p:nvSpPr>
          <p:spPr>
            <a:xfrm>
              <a:off x="70824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419" name="Google Shape;1419;p91"/>
            <p:cNvSpPr/>
            <p:nvPr/>
          </p:nvSpPr>
          <p:spPr>
            <a:xfrm rot="10800000">
              <a:off x="7990048" y="3432227"/>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420" name="Google Shape;1420;p91"/>
            <p:cNvSpPr txBox="1"/>
            <p:nvPr/>
          </p:nvSpPr>
          <p:spPr>
            <a:xfrm>
              <a:off x="7937508" y="3160950"/>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grpSp>
      <p:sp>
        <p:nvSpPr>
          <p:cNvPr id="1421" name="Google Shape;1421;p91"/>
          <p:cNvSpPr/>
          <p:nvPr/>
        </p:nvSpPr>
        <p:spPr>
          <a:xfrm>
            <a:off x="2394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422" name="Google Shape;1422;p91"/>
          <p:cNvSpPr/>
          <p:nvPr/>
        </p:nvSpPr>
        <p:spPr>
          <a:xfrm>
            <a:off x="17380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423" name="Google Shape;1423;p91"/>
          <p:cNvSpPr/>
          <p:nvPr/>
        </p:nvSpPr>
        <p:spPr>
          <a:xfrm>
            <a:off x="4781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424" name="Google Shape;1424;p91"/>
          <p:cNvSpPr/>
          <p:nvPr/>
        </p:nvSpPr>
        <p:spPr>
          <a:xfrm>
            <a:off x="62592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425" name="Google Shape;1425;p91"/>
          <p:cNvSpPr/>
          <p:nvPr/>
        </p:nvSpPr>
        <p:spPr>
          <a:xfrm>
            <a:off x="77578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426" name="Google Shape;1426;p91"/>
          <p:cNvSpPr/>
          <p:nvPr/>
        </p:nvSpPr>
        <p:spPr>
          <a:xfrm>
            <a:off x="64979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427" name="Google Shape;1427;p91"/>
          <p:cNvSpPr/>
          <p:nvPr/>
        </p:nvSpPr>
        <p:spPr>
          <a:xfrm>
            <a:off x="685100" y="1924050"/>
            <a:ext cx="494100" cy="1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28" name="Google Shape;1428;p91"/>
          <p:cNvSpPr/>
          <p:nvPr/>
        </p:nvSpPr>
        <p:spPr>
          <a:xfrm>
            <a:off x="6704900" y="1924055"/>
            <a:ext cx="494100" cy="196800"/>
          </a:xfrm>
          <a:prstGeom prst="ellipse">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9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Steps of RDMA (3/6)</a:t>
            </a:r>
            <a:endParaRPr/>
          </a:p>
        </p:txBody>
      </p:sp>
      <p:sp>
        <p:nvSpPr>
          <p:cNvPr id="1434" name="Google Shape;1434;p92"/>
          <p:cNvSpPr txBox="1"/>
          <p:nvPr>
            <p:ph idx="1" type="body"/>
          </p:nvPr>
        </p:nvSpPr>
        <p:spPr>
          <a:xfrm>
            <a:off x="107050" y="402200"/>
            <a:ext cx="8909700" cy="960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3. Servers set up Work Queue Entries (WQEs) in the queues.</a:t>
            </a:r>
            <a:endParaRPr/>
          </a:p>
          <a:p>
            <a:pPr indent="0" lvl="0" marL="0" rtl="0" algn="l">
              <a:spcBef>
                <a:spcPts val="600"/>
              </a:spcBef>
              <a:spcAft>
                <a:spcPts val="0"/>
              </a:spcAft>
              <a:buNone/>
            </a:pPr>
            <a:r>
              <a:rPr lang="en"/>
              <a:t>WQE contains pointer to buffer in memory.</a:t>
            </a:r>
            <a:endParaRPr/>
          </a:p>
        </p:txBody>
      </p:sp>
      <p:sp>
        <p:nvSpPr>
          <p:cNvPr id="1435" name="Google Shape;1435;p92"/>
          <p:cNvSpPr/>
          <p:nvPr/>
        </p:nvSpPr>
        <p:spPr>
          <a:xfrm>
            <a:off x="2394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436" name="Google Shape;1436;p92"/>
          <p:cNvSpPr/>
          <p:nvPr/>
        </p:nvSpPr>
        <p:spPr>
          <a:xfrm>
            <a:off x="2394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437" name="Google Shape;1437;p92"/>
          <p:cNvSpPr/>
          <p:nvPr/>
        </p:nvSpPr>
        <p:spPr>
          <a:xfrm>
            <a:off x="17380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438" name="Google Shape;1438;p92"/>
          <p:cNvSpPr/>
          <p:nvPr/>
        </p:nvSpPr>
        <p:spPr>
          <a:xfrm>
            <a:off x="4781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439" name="Google Shape;1439;p92"/>
          <p:cNvSpPr/>
          <p:nvPr/>
        </p:nvSpPr>
        <p:spPr>
          <a:xfrm>
            <a:off x="3719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440" name="Google Shape;1440;p92"/>
          <p:cNvSpPr/>
          <p:nvPr/>
        </p:nvSpPr>
        <p:spPr>
          <a:xfrm>
            <a:off x="5029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441" name="Google Shape;1441;p92"/>
          <p:cNvSpPr/>
          <p:nvPr/>
        </p:nvSpPr>
        <p:spPr>
          <a:xfrm>
            <a:off x="11522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442" name="Google Shape;1442;p92"/>
          <p:cNvSpPr txBox="1"/>
          <p:nvPr/>
        </p:nvSpPr>
        <p:spPr>
          <a:xfrm>
            <a:off x="5029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443" name="Google Shape;1443;p92"/>
          <p:cNvSpPr txBox="1"/>
          <p:nvPr/>
        </p:nvSpPr>
        <p:spPr>
          <a:xfrm>
            <a:off x="10626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444" name="Google Shape;1444;p92"/>
          <p:cNvSpPr/>
          <p:nvPr/>
        </p:nvSpPr>
        <p:spPr>
          <a:xfrm>
            <a:off x="566050" y="3575017"/>
            <a:ext cx="375000" cy="1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45" name="Google Shape;1445;p92"/>
          <p:cNvSpPr txBox="1"/>
          <p:nvPr/>
        </p:nvSpPr>
        <p:spPr>
          <a:xfrm>
            <a:off x="9853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sp>
        <p:nvSpPr>
          <p:cNvPr id="1446" name="Google Shape;1446;p92"/>
          <p:cNvSpPr/>
          <p:nvPr/>
        </p:nvSpPr>
        <p:spPr>
          <a:xfrm>
            <a:off x="62592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447" name="Google Shape;1447;p92"/>
          <p:cNvSpPr/>
          <p:nvPr/>
        </p:nvSpPr>
        <p:spPr>
          <a:xfrm>
            <a:off x="62592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448" name="Google Shape;1448;p92"/>
          <p:cNvSpPr/>
          <p:nvPr/>
        </p:nvSpPr>
        <p:spPr>
          <a:xfrm>
            <a:off x="77578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449" name="Google Shape;1449;p92"/>
          <p:cNvSpPr/>
          <p:nvPr/>
        </p:nvSpPr>
        <p:spPr>
          <a:xfrm>
            <a:off x="64979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450" name="Google Shape;1450;p92"/>
          <p:cNvSpPr/>
          <p:nvPr/>
        </p:nvSpPr>
        <p:spPr>
          <a:xfrm>
            <a:off x="63917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451" name="Google Shape;1451;p92"/>
          <p:cNvSpPr/>
          <p:nvPr/>
        </p:nvSpPr>
        <p:spPr>
          <a:xfrm>
            <a:off x="65227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452" name="Google Shape;1452;p92"/>
          <p:cNvSpPr/>
          <p:nvPr/>
        </p:nvSpPr>
        <p:spPr>
          <a:xfrm>
            <a:off x="71720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453" name="Google Shape;1453;p92"/>
          <p:cNvSpPr txBox="1"/>
          <p:nvPr/>
        </p:nvSpPr>
        <p:spPr>
          <a:xfrm>
            <a:off x="65227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454" name="Google Shape;1454;p92"/>
          <p:cNvSpPr txBox="1"/>
          <p:nvPr/>
        </p:nvSpPr>
        <p:spPr>
          <a:xfrm>
            <a:off x="70824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455" name="Google Shape;1455;p92"/>
          <p:cNvSpPr/>
          <p:nvPr/>
        </p:nvSpPr>
        <p:spPr>
          <a:xfrm>
            <a:off x="7237525" y="3575017"/>
            <a:ext cx="375000" cy="1599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56" name="Google Shape;1456;p92"/>
          <p:cNvSpPr txBox="1"/>
          <p:nvPr/>
        </p:nvSpPr>
        <p:spPr>
          <a:xfrm>
            <a:off x="70051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sp>
        <p:nvSpPr>
          <p:cNvPr id="1457" name="Google Shape;1457;p92"/>
          <p:cNvSpPr/>
          <p:nvPr/>
        </p:nvSpPr>
        <p:spPr>
          <a:xfrm rot="10800000">
            <a:off x="1957725" y="3432238"/>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458" name="Google Shape;1458;p92"/>
          <p:cNvSpPr txBox="1"/>
          <p:nvPr/>
        </p:nvSpPr>
        <p:spPr>
          <a:xfrm>
            <a:off x="1905183" y="3160963"/>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
        <p:nvSpPr>
          <p:cNvPr id="1459" name="Google Shape;1459;p92"/>
          <p:cNvSpPr/>
          <p:nvPr/>
        </p:nvSpPr>
        <p:spPr>
          <a:xfrm rot="10800000">
            <a:off x="7990048" y="3432227"/>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460" name="Google Shape;1460;p92"/>
          <p:cNvSpPr txBox="1"/>
          <p:nvPr/>
        </p:nvSpPr>
        <p:spPr>
          <a:xfrm>
            <a:off x="7937508" y="3160950"/>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
        <p:nvSpPr>
          <p:cNvPr id="1461" name="Google Shape;1461;p92"/>
          <p:cNvSpPr/>
          <p:nvPr/>
        </p:nvSpPr>
        <p:spPr>
          <a:xfrm>
            <a:off x="745850" y="2085425"/>
            <a:ext cx="1452949" cy="1489512"/>
          </a:xfrm>
          <a:custGeom>
            <a:rect b="b" l="l" r="r" t="t"/>
            <a:pathLst>
              <a:path extrusionOk="0" h="52259" w="46595">
                <a:moveTo>
                  <a:pt x="46595" y="0"/>
                </a:moveTo>
                <a:lnTo>
                  <a:pt x="46595" y="20595"/>
                </a:lnTo>
                <a:lnTo>
                  <a:pt x="0" y="20595"/>
                </a:lnTo>
                <a:lnTo>
                  <a:pt x="0" y="52259"/>
                </a:lnTo>
              </a:path>
            </a:pathLst>
          </a:custGeom>
          <a:noFill/>
          <a:ln cap="flat" cmpd="sng" w="19050">
            <a:solidFill>
              <a:srgbClr val="0000FF"/>
            </a:solidFill>
            <a:prstDash val="solid"/>
            <a:round/>
            <a:headEnd len="med" w="med" type="none"/>
            <a:tailEnd len="med" w="med" type="triangle"/>
          </a:ln>
        </p:spPr>
      </p:sp>
      <p:sp>
        <p:nvSpPr>
          <p:cNvPr id="1462" name="Google Shape;1462;p92"/>
          <p:cNvSpPr/>
          <p:nvPr/>
        </p:nvSpPr>
        <p:spPr>
          <a:xfrm>
            <a:off x="7422770" y="2085425"/>
            <a:ext cx="787805" cy="1489512"/>
          </a:xfrm>
          <a:custGeom>
            <a:rect b="b" l="l" r="r" t="t"/>
            <a:pathLst>
              <a:path extrusionOk="0" h="52259" w="46595">
                <a:moveTo>
                  <a:pt x="46595" y="0"/>
                </a:moveTo>
                <a:lnTo>
                  <a:pt x="46595" y="20595"/>
                </a:lnTo>
                <a:lnTo>
                  <a:pt x="0" y="20595"/>
                </a:lnTo>
                <a:lnTo>
                  <a:pt x="0" y="52259"/>
                </a:lnTo>
              </a:path>
            </a:pathLst>
          </a:custGeom>
          <a:noFill/>
          <a:ln cap="flat" cmpd="sng" w="19050">
            <a:solidFill>
              <a:schemeClr val="accent2"/>
            </a:solidFill>
            <a:prstDash val="solid"/>
            <a:round/>
            <a:headEnd len="med" w="med" type="none"/>
            <a:tailEnd len="med" w="med" type="triangle"/>
          </a:ln>
        </p:spPr>
      </p:sp>
      <p:sp>
        <p:nvSpPr>
          <p:cNvPr id="1463" name="Google Shape;1463;p92"/>
          <p:cNvSpPr txBox="1"/>
          <p:nvPr/>
        </p:nvSpPr>
        <p:spPr>
          <a:xfrm>
            <a:off x="2314875" y="2473938"/>
            <a:ext cx="12861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rgbClr val="0000FF"/>
                </a:solidFill>
                <a:latin typeface="Roboto"/>
                <a:ea typeface="Roboto"/>
                <a:cs typeface="Roboto"/>
                <a:sym typeface="Roboto"/>
              </a:rPr>
              <a:t>CPU writes WQE to queue.</a:t>
            </a:r>
            <a:endParaRPr>
              <a:solidFill>
                <a:srgbClr val="0000FF"/>
              </a:solidFill>
              <a:latin typeface="Roboto"/>
              <a:ea typeface="Roboto"/>
              <a:cs typeface="Roboto"/>
              <a:sym typeface="Roboto"/>
            </a:endParaRPr>
          </a:p>
        </p:txBody>
      </p:sp>
      <p:sp>
        <p:nvSpPr>
          <p:cNvPr id="1464" name="Google Shape;1464;p92"/>
          <p:cNvSpPr txBox="1"/>
          <p:nvPr/>
        </p:nvSpPr>
        <p:spPr>
          <a:xfrm>
            <a:off x="6149100" y="2473938"/>
            <a:ext cx="12861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CPU writes WQE to queue.</a:t>
            </a:r>
            <a:endParaRPr>
              <a:solidFill>
                <a:schemeClr val="accent2"/>
              </a:solidFill>
              <a:latin typeface="Roboto"/>
              <a:ea typeface="Roboto"/>
              <a:cs typeface="Roboto"/>
              <a:sym typeface="Roboto"/>
            </a:endParaRPr>
          </a:p>
        </p:txBody>
      </p:sp>
      <p:sp>
        <p:nvSpPr>
          <p:cNvPr id="1465" name="Google Shape;1465;p92"/>
          <p:cNvSpPr/>
          <p:nvPr/>
        </p:nvSpPr>
        <p:spPr>
          <a:xfrm>
            <a:off x="685100" y="1924050"/>
            <a:ext cx="494100" cy="1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66" name="Google Shape;1466;p92"/>
          <p:cNvSpPr/>
          <p:nvPr/>
        </p:nvSpPr>
        <p:spPr>
          <a:xfrm>
            <a:off x="6704900" y="1924055"/>
            <a:ext cx="494100" cy="196800"/>
          </a:xfrm>
          <a:prstGeom prst="ellipse">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93"/>
          <p:cNvSpPr/>
          <p:nvPr/>
        </p:nvSpPr>
        <p:spPr>
          <a:xfrm>
            <a:off x="2394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472" name="Google Shape;1472;p93"/>
          <p:cNvSpPr/>
          <p:nvPr/>
        </p:nvSpPr>
        <p:spPr>
          <a:xfrm>
            <a:off x="17380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473" name="Google Shape;1473;p93"/>
          <p:cNvSpPr/>
          <p:nvPr/>
        </p:nvSpPr>
        <p:spPr>
          <a:xfrm>
            <a:off x="4781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474" name="Google Shape;1474;p93"/>
          <p:cNvSpPr/>
          <p:nvPr/>
        </p:nvSpPr>
        <p:spPr>
          <a:xfrm>
            <a:off x="62592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475" name="Google Shape;1475;p93"/>
          <p:cNvSpPr/>
          <p:nvPr/>
        </p:nvSpPr>
        <p:spPr>
          <a:xfrm>
            <a:off x="77578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476" name="Google Shape;1476;p93"/>
          <p:cNvSpPr/>
          <p:nvPr/>
        </p:nvSpPr>
        <p:spPr>
          <a:xfrm>
            <a:off x="64979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477" name="Google Shape;1477;p93"/>
          <p:cNvSpPr/>
          <p:nvPr/>
        </p:nvSpPr>
        <p:spPr>
          <a:xfrm>
            <a:off x="685100" y="1924050"/>
            <a:ext cx="494100" cy="1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78" name="Google Shape;1478;p93"/>
          <p:cNvSpPr/>
          <p:nvPr/>
        </p:nvSpPr>
        <p:spPr>
          <a:xfrm>
            <a:off x="6704900" y="1924055"/>
            <a:ext cx="494100" cy="196800"/>
          </a:xfrm>
          <a:prstGeom prst="ellipse">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79" name="Google Shape;1479;p9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Steps of RDMA (3/6)</a:t>
            </a:r>
            <a:endParaRPr/>
          </a:p>
        </p:txBody>
      </p:sp>
      <p:sp>
        <p:nvSpPr>
          <p:cNvPr id="1480" name="Google Shape;1480;p93"/>
          <p:cNvSpPr txBox="1"/>
          <p:nvPr>
            <p:ph idx="1" type="body"/>
          </p:nvPr>
        </p:nvSpPr>
        <p:spPr>
          <a:xfrm>
            <a:off x="107050" y="402200"/>
            <a:ext cx="8909700" cy="972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3. Servers set up Work Queue Entries (WQEs) in the queues.</a:t>
            </a:r>
            <a:endParaRPr/>
          </a:p>
          <a:p>
            <a:pPr indent="0" lvl="0" marL="0" rtl="0" algn="l">
              <a:spcBef>
                <a:spcPts val="600"/>
              </a:spcBef>
              <a:spcAft>
                <a:spcPts val="0"/>
              </a:spcAft>
              <a:buNone/>
            </a:pPr>
            <a:r>
              <a:rPr lang="en"/>
              <a:t>WQE contains pointer to buffer in memory.</a:t>
            </a:r>
            <a:endParaRPr/>
          </a:p>
        </p:txBody>
      </p:sp>
      <p:sp>
        <p:nvSpPr>
          <p:cNvPr id="1481" name="Google Shape;1481;p93"/>
          <p:cNvSpPr/>
          <p:nvPr/>
        </p:nvSpPr>
        <p:spPr>
          <a:xfrm>
            <a:off x="2394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482" name="Google Shape;1482;p93"/>
          <p:cNvSpPr/>
          <p:nvPr/>
        </p:nvSpPr>
        <p:spPr>
          <a:xfrm>
            <a:off x="3719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483" name="Google Shape;1483;p93"/>
          <p:cNvSpPr/>
          <p:nvPr/>
        </p:nvSpPr>
        <p:spPr>
          <a:xfrm>
            <a:off x="5029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484" name="Google Shape;1484;p93"/>
          <p:cNvSpPr/>
          <p:nvPr/>
        </p:nvSpPr>
        <p:spPr>
          <a:xfrm>
            <a:off x="11522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485" name="Google Shape;1485;p93"/>
          <p:cNvSpPr txBox="1"/>
          <p:nvPr/>
        </p:nvSpPr>
        <p:spPr>
          <a:xfrm>
            <a:off x="5029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486" name="Google Shape;1486;p93"/>
          <p:cNvSpPr txBox="1"/>
          <p:nvPr/>
        </p:nvSpPr>
        <p:spPr>
          <a:xfrm>
            <a:off x="10626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487" name="Google Shape;1487;p93"/>
          <p:cNvSpPr/>
          <p:nvPr/>
        </p:nvSpPr>
        <p:spPr>
          <a:xfrm>
            <a:off x="566050" y="3575017"/>
            <a:ext cx="375000" cy="1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88" name="Google Shape;1488;p93"/>
          <p:cNvSpPr txBox="1"/>
          <p:nvPr/>
        </p:nvSpPr>
        <p:spPr>
          <a:xfrm>
            <a:off x="9853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sp>
        <p:nvSpPr>
          <p:cNvPr id="1489" name="Google Shape;1489;p93"/>
          <p:cNvSpPr/>
          <p:nvPr/>
        </p:nvSpPr>
        <p:spPr>
          <a:xfrm>
            <a:off x="62592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490" name="Google Shape;1490;p93"/>
          <p:cNvSpPr/>
          <p:nvPr/>
        </p:nvSpPr>
        <p:spPr>
          <a:xfrm>
            <a:off x="63917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491" name="Google Shape;1491;p93"/>
          <p:cNvSpPr/>
          <p:nvPr/>
        </p:nvSpPr>
        <p:spPr>
          <a:xfrm>
            <a:off x="65227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492" name="Google Shape;1492;p93"/>
          <p:cNvSpPr/>
          <p:nvPr/>
        </p:nvSpPr>
        <p:spPr>
          <a:xfrm>
            <a:off x="71720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493" name="Google Shape;1493;p93"/>
          <p:cNvSpPr txBox="1"/>
          <p:nvPr/>
        </p:nvSpPr>
        <p:spPr>
          <a:xfrm>
            <a:off x="65227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494" name="Google Shape;1494;p93"/>
          <p:cNvSpPr txBox="1"/>
          <p:nvPr/>
        </p:nvSpPr>
        <p:spPr>
          <a:xfrm>
            <a:off x="70824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495" name="Google Shape;1495;p93"/>
          <p:cNvSpPr/>
          <p:nvPr/>
        </p:nvSpPr>
        <p:spPr>
          <a:xfrm>
            <a:off x="7237525" y="3575017"/>
            <a:ext cx="375000" cy="1599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96" name="Google Shape;1496;p93"/>
          <p:cNvSpPr txBox="1"/>
          <p:nvPr/>
        </p:nvSpPr>
        <p:spPr>
          <a:xfrm>
            <a:off x="70051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sp>
        <p:nvSpPr>
          <p:cNvPr id="1497" name="Google Shape;1497;p93"/>
          <p:cNvSpPr/>
          <p:nvPr/>
        </p:nvSpPr>
        <p:spPr>
          <a:xfrm rot="10800000">
            <a:off x="1957725" y="3432238"/>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498" name="Google Shape;1498;p93"/>
          <p:cNvSpPr txBox="1"/>
          <p:nvPr/>
        </p:nvSpPr>
        <p:spPr>
          <a:xfrm>
            <a:off x="1905183" y="3160963"/>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
        <p:nvSpPr>
          <p:cNvPr id="1499" name="Google Shape;1499;p93"/>
          <p:cNvSpPr/>
          <p:nvPr/>
        </p:nvSpPr>
        <p:spPr>
          <a:xfrm rot="10800000">
            <a:off x="7990048" y="3432227"/>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500" name="Google Shape;1500;p93"/>
          <p:cNvSpPr txBox="1"/>
          <p:nvPr/>
        </p:nvSpPr>
        <p:spPr>
          <a:xfrm>
            <a:off x="7937508" y="3160950"/>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
        <p:nvSpPr>
          <p:cNvPr id="1501" name="Google Shape;1501;p93"/>
          <p:cNvSpPr txBox="1"/>
          <p:nvPr/>
        </p:nvSpPr>
        <p:spPr>
          <a:xfrm>
            <a:off x="805225" y="2581625"/>
            <a:ext cx="14172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"Send this data."</a:t>
            </a:r>
            <a:endParaRPr>
              <a:solidFill>
                <a:srgbClr val="0000FF"/>
              </a:solidFill>
              <a:latin typeface="Roboto"/>
              <a:ea typeface="Roboto"/>
              <a:cs typeface="Roboto"/>
              <a:sym typeface="Roboto"/>
            </a:endParaRPr>
          </a:p>
        </p:txBody>
      </p:sp>
      <p:cxnSp>
        <p:nvCxnSpPr>
          <p:cNvPr id="1502" name="Google Shape;1502;p93"/>
          <p:cNvCxnSpPr>
            <a:endCxn id="1478" idx="4"/>
          </p:cNvCxnSpPr>
          <p:nvPr/>
        </p:nvCxnSpPr>
        <p:spPr>
          <a:xfrm rot="10800000">
            <a:off x="6951950" y="2120855"/>
            <a:ext cx="388500" cy="1532700"/>
          </a:xfrm>
          <a:prstGeom prst="straightConnector1">
            <a:avLst/>
          </a:prstGeom>
          <a:noFill/>
          <a:ln cap="flat" cmpd="sng" w="19050">
            <a:solidFill>
              <a:schemeClr val="accent2"/>
            </a:solidFill>
            <a:prstDash val="solid"/>
            <a:round/>
            <a:headEnd len="med" w="med" type="none"/>
            <a:tailEnd len="med" w="med" type="triangle"/>
          </a:ln>
        </p:spPr>
      </p:cxnSp>
      <p:sp>
        <p:nvSpPr>
          <p:cNvPr id="1503" name="Google Shape;1503;p93"/>
          <p:cNvSpPr txBox="1"/>
          <p:nvPr/>
        </p:nvSpPr>
        <p:spPr>
          <a:xfrm>
            <a:off x="7082425" y="2581638"/>
            <a:ext cx="16182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"Put the data here."</a:t>
            </a:r>
            <a:endParaRPr>
              <a:solidFill>
                <a:schemeClr val="accent2"/>
              </a:solidFill>
              <a:latin typeface="Roboto"/>
              <a:ea typeface="Roboto"/>
              <a:cs typeface="Roboto"/>
              <a:sym typeface="Roboto"/>
            </a:endParaRPr>
          </a:p>
        </p:txBody>
      </p:sp>
      <p:cxnSp>
        <p:nvCxnSpPr>
          <p:cNvPr id="1504" name="Google Shape;1504;p93"/>
          <p:cNvCxnSpPr>
            <a:endCxn id="1477" idx="4"/>
          </p:cNvCxnSpPr>
          <p:nvPr/>
        </p:nvCxnSpPr>
        <p:spPr>
          <a:xfrm flipH="1" rot="10800000">
            <a:off x="663350" y="2120850"/>
            <a:ext cx="268800" cy="1545300"/>
          </a:xfrm>
          <a:prstGeom prst="straightConnector1">
            <a:avLst/>
          </a:prstGeom>
          <a:noFill/>
          <a:ln cap="flat" cmpd="sng" w="19050">
            <a:solidFill>
              <a:srgbClr val="0000FF"/>
            </a:solidFill>
            <a:prstDash val="solid"/>
            <a:round/>
            <a:headEnd len="med" w="med" type="none"/>
            <a:tailEnd len="med" w="med" type="triangl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94"/>
          <p:cNvSpPr/>
          <p:nvPr/>
        </p:nvSpPr>
        <p:spPr>
          <a:xfrm>
            <a:off x="2394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510" name="Google Shape;1510;p94"/>
          <p:cNvSpPr/>
          <p:nvPr/>
        </p:nvSpPr>
        <p:spPr>
          <a:xfrm>
            <a:off x="17380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511" name="Google Shape;1511;p94"/>
          <p:cNvSpPr/>
          <p:nvPr/>
        </p:nvSpPr>
        <p:spPr>
          <a:xfrm>
            <a:off x="4781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512" name="Google Shape;1512;p94"/>
          <p:cNvSpPr/>
          <p:nvPr/>
        </p:nvSpPr>
        <p:spPr>
          <a:xfrm>
            <a:off x="62592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513" name="Google Shape;1513;p94"/>
          <p:cNvSpPr/>
          <p:nvPr/>
        </p:nvSpPr>
        <p:spPr>
          <a:xfrm>
            <a:off x="77578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514" name="Google Shape;1514;p94"/>
          <p:cNvSpPr/>
          <p:nvPr/>
        </p:nvSpPr>
        <p:spPr>
          <a:xfrm>
            <a:off x="64979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515" name="Google Shape;1515;p94"/>
          <p:cNvSpPr/>
          <p:nvPr/>
        </p:nvSpPr>
        <p:spPr>
          <a:xfrm>
            <a:off x="685100" y="1924050"/>
            <a:ext cx="494100" cy="1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16" name="Google Shape;1516;p94"/>
          <p:cNvSpPr/>
          <p:nvPr/>
        </p:nvSpPr>
        <p:spPr>
          <a:xfrm>
            <a:off x="6704900" y="1924055"/>
            <a:ext cx="494100" cy="196800"/>
          </a:xfrm>
          <a:prstGeom prst="ellipse">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17" name="Google Shape;1517;p9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Steps of RDMA (4/6)</a:t>
            </a:r>
            <a:endParaRPr/>
          </a:p>
        </p:txBody>
      </p:sp>
      <p:sp>
        <p:nvSpPr>
          <p:cNvPr id="1518" name="Google Shape;1518;p94"/>
          <p:cNvSpPr txBox="1"/>
          <p:nvPr>
            <p:ph idx="1" type="body"/>
          </p:nvPr>
        </p:nvSpPr>
        <p:spPr>
          <a:xfrm>
            <a:off x="107050" y="402200"/>
            <a:ext cx="8909700" cy="835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4. NIC transfers data between memory, without CPU involvement!</a:t>
            </a:r>
            <a:endParaRPr/>
          </a:p>
        </p:txBody>
      </p:sp>
      <p:sp>
        <p:nvSpPr>
          <p:cNvPr id="1519" name="Google Shape;1519;p94"/>
          <p:cNvSpPr/>
          <p:nvPr/>
        </p:nvSpPr>
        <p:spPr>
          <a:xfrm>
            <a:off x="2394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520" name="Google Shape;1520;p94"/>
          <p:cNvSpPr/>
          <p:nvPr/>
        </p:nvSpPr>
        <p:spPr>
          <a:xfrm>
            <a:off x="3719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521" name="Google Shape;1521;p94"/>
          <p:cNvSpPr/>
          <p:nvPr/>
        </p:nvSpPr>
        <p:spPr>
          <a:xfrm>
            <a:off x="5029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522" name="Google Shape;1522;p94"/>
          <p:cNvSpPr/>
          <p:nvPr/>
        </p:nvSpPr>
        <p:spPr>
          <a:xfrm>
            <a:off x="11522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523" name="Google Shape;1523;p94"/>
          <p:cNvSpPr txBox="1"/>
          <p:nvPr/>
        </p:nvSpPr>
        <p:spPr>
          <a:xfrm>
            <a:off x="5029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524" name="Google Shape;1524;p94"/>
          <p:cNvSpPr txBox="1"/>
          <p:nvPr/>
        </p:nvSpPr>
        <p:spPr>
          <a:xfrm>
            <a:off x="10626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525" name="Google Shape;1525;p94"/>
          <p:cNvSpPr/>
          <p:nvPr/>
        </p:nvSpPr>
        <p:spPr>
          <a:xfrm>
            <a:off x="566050" y="3575017"/>
            <a:ext cx="375000" cy="1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26" name="Google Shape;1526;p94"/>
          <p:cNvSpPr txBox="1"/>
          <p:nvPr/>
        </p:nvSpPr>
        <p:spPr>
          <a:xfrm>
            <a:off x="9853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sp>
        <p:nvSpPr>
          <p:cNvPr id="1527" name="Google Shape;1527;p94"/>
          <p:cNvSpPr/>
          <p:nvPr/>
        </p:nvSpPr>
        <p:spPr>
          <a:xfrm>
            <a:off x="62592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528" name="Google Shape;1528;p94"/>
          <p:cNvSpPr/>
          <p:nvPr/>
        </p:nvSpPr>
        <p:spPr>
          <a:xfrm>
            <a:off x="63917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529" name="Google Shape;1529;p94"/>
          <p:cNvSpPr/>
          <p:nvPr/>
        </p:nvSpPr>
        <p:spPr>
          <a:xfrm>
            <a:off x="65227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530" name="Google Shape;1530;p94"/>
          <p:cNvSpPr/>
          <p:nvPr/>
        </p:nvSpPr>
        <p:spPr>
          <a:xfrm>
            <a:off x="71720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531" name="Google Shape;1531;p94"/>
          <p:cNvSpPr txBox="1"/>
          <p:nvPr/>
        </p:nvSpPr>
        <p:spPr>
          <a:xfrm>
            <a:off x="65227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532" name="Google Shape;1532;p94"/>
          <p:cNvSpPr txBox="1"/>
          <p:nvPr/>
        </p:nvSpPr>
        <p:spPr>
          <a:xfrm>
            <a:off x="70824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533" name="Google Shape;1533;p94"/>
          <p:cNvSpPr/>
          <p:nvPr/>
        </p:nvSpPr>
        <p:spPr>
          <a:xfrm>
            <a:off x="7237525" y="3575017"/>
            <a:ext cx="375000" cy="1599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34" name="Google Shape;1534;p94"/>
          <p:cNvSpPr txBox="1"/>
          <p:nvPr/>
        </p:nvSpPr>
        <p:spPr>
          <a:xfrm>
            <a:off x="70051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sp>
        <p:nvSpPr>
          <p:cNvPr id="1535" name="Google Shape;1535;p94"/>
          <p:cNvSpPr/>
          <p:nvPr/>
        </p:nvSpPr>
        <p:spPr>
          <a:xfrm rot="10800000">
            <a:off x="1957725" y="3432238"/>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536" name="Google Shape;1536;p94"/>
          <p:cNvSpPr txBox="1"/>
          <p:nvPr/>
        </p:nvSpPr>
        <p:spPr>
          <a:xfrm>
            <a:off x="1905183" y="3160963"/>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
        <p:nvSpPr>
          <p:cNvPr id="1537" name="Google Shape;1537;p94"/>
          <p:cNvSpPr/>
          <p:nvPr/>
        </p:nvSpPr>
        <p:spPr>
          <a:xfrm rot="10800000">
            <a:off x="7990048" y="3432227"/>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538" name="Google Shape;1538;p94"/>
          <p:cNvSpPr txBox="1"/>
          <p:nvPr/>
        </p:nvSpPr>
        <p:spPr>
          <a:xfrm>
            <a:off x="7937508" y="3160950"/>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cxnSp>
        <p:nvCxnSpPr>
          <p:cNvPr id="1539" name="Google Shape;1539;p94"/>
          <p:cNvCxnSpPr>
            <a:stCxn id="1515" idx="4"/>
            <a:endCxn id="1519" idx="0"/>
          </p:cNvCxnSpPr>
          <p:nvPr/>
        </p:nvCxnSpPr>
        <p:spPr>
          <a:xfrm>
            <a:off x="932150" y="2120850"/>
            <a:ext cx="630000" cy="944400"/>
          </a:xfrm>
          <a:prstGeom prst="straightConnector1">
            <a:avLst/>
          </a:prstGeom>
          <a:noFill/>
          <a:ln cap="flat" cmpd="sng" w="28575">
            <a:solidFill>
              <a:srgbClr val="FF00FF"/>
            </a:solidFill>
            <a:prstDash val="solid"/>
            <a:round/>
            <a:headEnd len="med" w="med" type="none"/>
            <a:tailEnd len="med" w="med" type="none"/>
          </a:ln>
        </p:spPr>
      </p:cxnSp>
      <p:cxnSp>
        <p:nvCxnSpPr>
          <p:cNvPr id="1540" name="Google Shape;1540;p94"/>
          <p:cNvCxnSpPr>
            <a:stCxn id="1519" idx="3"/>
            <a:endCxn id="1527" idx="1"/>
          </p:cNvCxnSpPr>
          <p:nvPr/>
        </p:nvCxnSpPr>
        <p:spPr>
          <a:xfrm>
            <a:off x="2884800" y="3862450"/>
            <a:ext cx="3374400" cy="0"/>
          </a:xfrm>
          <a:prstGeom prst="straightConnector1">
            <a:avLst/>
          </a:prstGeom>
          <a:noFill/>
          <a:ln cap="flat" cmpd="sng" w="28575">
            <a:solidFill>
              <a:srgbClr val="FF00FF"/>
            </a:solidFill>
            <a:prstDash val="solid"/>
            <a:round/>
            <a:headEnd len="med" w="med" type="none"/>
            <a:tailEnd len="med" w="med" type="none"/>
          </a:ln>
        </p:spPr>
      </p:cxnSp>
      <p:cxnSp>
        <p:nvCxnSpPr>
          <p:cNvPr id="1541" name="Google Shape;1541;p94"/>
          <p:cNvCxnSpPr>
            <a:stCxn id="1527" idx="0"/>
            <a:endCxn id="1516" idx="4"/>
          </p:cNvCxnSpPr>
          <p:nvPr/>
        </p:nvCxnSpPr>
        <p:spPr>
          <a:xfrm rot="10800000">
            <a:off x="6951900" y="2120800"/>
            <a:ext cx="630000" cy="944400"/>
          </a:xfrm>
          <a:prstGeom prst="straightConnector1">
            <a:avLst/>
          </a:prstGeom>
          <a:noFill/>
          <a:ln cap="flat" cmpd="sng" w="28575">
            <a:solidFill>
              <a:srgbClr val="FF00FF"/>
            </a:solidFill>
            <a:prstDash val="solid"/>
            <a:round/>
            <a:headEnd len="med" w="med" type="none"/>
            <a:tailEnd len="med" w="med" type="triangle"/>
          </a:ln>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sp>
        <p:nvSpPr>
          <p:cNvPr id="1546" name="Google Shape;1546;p95"/>
          <p:cNvSpPr/>
          <p:nvPr/>
        </p:nvSpPr>
        <p:spPr>
          <a:xfrm>
            <a:off x="2394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547" name="Google Shape;1547;p95"/>
          <p:cNvSpPr/>
          <p:nvPr/>
        </p:nvSpPr>
        <p:spPr>
          <a:xfrm>
            <a:off x="17380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548" name="Google Shape;1548;p95"/>
          <p:cNvSpPr/>
          <p:nvPr/>
        </p:nvSpPr>
        <p:spPr>
          <a:xfrm>
            <a:off x="4781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549" name="Google Shape;1549;p95"/>
          <p:cNvSpPr/>
          <p:nvPr/>
        </p:nvSpPr>
        <p:spPr>
          <a:xfrm>
            <a:off x="62592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550" name="Google Shape;1550;p95"/>
          <p:cNvSpPr/>
          <p:nvPr/>
        </p:nvSpPr>
        <p:spPr>
          <a:xfrm>
            <a:off x="77578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551" name="Google Shape;1551;p95"/>
          <p:cNvSpPr/>
          <p:nvPr/>
        </p:nvSpPr>
        <p:spPr>
          <a:xfrm>
            <a:off x="64979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552" name="Google Shape;1552;p95"/>
          <p:cNvSpPr/>
          <p:nvPr/>
        </p:nvSpPr>
        <p:spPr>
          <a:xfrm>
            <a:off x="685100" y="1924050"/>
            <a:ext cx="494100" cy="1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53" name="Google Shape;1553;p95"/>
          <p:cNvSpPr/>
          <p:nvPr/>
        </p:nvSpPr>
        <p:spPr>
          <a:xfrm>
            <a:off x="6704900" y="1924055"/>
            <a:ext cx="494100" cy="196800"/>
          </a:xfrm>
          <a:prstGeom prst="ellipse">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54" name="Google Shape;1554;p9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Steps of RDMA (5/6)</a:t>
            </a:r>
            <a:endParaRPr/>
          </a:p>
        </p:txBody>
      </p:sp>
      <p:sp>
        <p:nvSpPr>
          <p:cNvPr id="1555" name="Google Shape;1555;p95"/>
          <p:cNvSpPr txBox="1"/>
          <p:nvPr>
            <p:ph idx="1" type="body"/>
          </p:nvPr>
        </p:nvSpPr>
        <p:spPr>
          <a:xfrm>
            <a:off x="107050" y="402200"/>
            <a:ext cx="8909700" cy="835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5. NICs generate Completion Queue Entries (CQEs), and delete WQEs.</a:t>
            </a:r>
            <a:endParaRPr/>
          </a:p>
        </p:txBody>
      </p:sp>
      <p:sp>
        <p:nvSpPr>
          <p:cNvPr id="1556" name="Google Shape;1556;p95"/>
          <p:cNvSpPr/>
          <p:nvPr/>
        </p:nvSpPr>
        <p:spPr>
          <a:xfrm>
            <a:off x="2394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557" name="Google Shape;1557;p95"/>
          <p:cNvSpPr/>
          <p:nvPr/>
        </p:nvSpPr>
        <p:spPr>
          <a:xfrm>
            <a:off x="3719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558" name="Google Shape;1558;p95"/>
          <p:cNvSpPr/>
          <p:nvPr/>
        </p:nvSpPr>
        <p:spPr>
          <a:xfrm>
            <a:off x="5029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559" name="Google Shape;1559;p95"/>
          <p:cNvSpPr/>
          <p:nvPr/>
        </p:nvSpPr>
        <p:spPr>
          <a:xfrm>
            <a:off x="11522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560" name="Google Shape;1560;p95"/>
          <p:cNvSpPr txBox="1"/>
          <p:nvPr/>
        </p:nvSpPr>
        <p:spPr>
          <a:xfrm>
            <a:off x="5029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561" name="Google Shape;1561;p95"/>
          <p:cNvSpPr txBox="1"/>
          <p:nvPr/>
        </p:nvSpPr>
        <p:spPr>
          <a:xfrm>
            <a:off x="10626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562" name="Google Shape;1562;p95"/>
          <p:cNvSpPr/>
          <p:nvPr/>
        </p:nvSpPr>
        <p:spPr>
          <a:xfrm>
            <a:off x="566050" y="3575017"/>
            <a:ext cx="375000" cy="15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63" name="Google Shape;1563;p95"/>
          <p:cNvSpPr txBox="1"/>
          <p:nvPr/>
        </p:nvSpPr>
        <p:spPr>
          <a:xfrm>
            <a:off x="9853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sp>
        <p:nvSpPr>
          <p:cNvPr id="1564" name="Google Shape;1564;p95"/>
          <p:cNvSpPr/>
          <p:nvPr/>
        </p:nvSpPr>
        <p:spPr>
          <a:xfrm>
            <a:off x="62592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565" name="Google Shape;1565;p95"/>
          <p:cNvSpPr/>
          <p:nvPr/>
        </p:nvSpPr>
        <p:spPr>
          <a:xfrm>
            <a:off x="63917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566" name="Google Shape;1566;p95"/>
          <p:cNvSpPr/>
          <p:nvPr/>
        </p:nvSpPr>
        <p:spPr>
          <a:xfrm>
            <a:off x="65227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567" name="Google Shape;1567;p95"/>
          <p:cNvSpPr/>
          <p:nvPr/>
        </p:nvSpPr>
        <p:spPr>
          <a:xfrm>
            <a:off x="71720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568" name="Google Shape;1568;p95"/>
          <p:cNvSpPr txBox="1"/>
          <p:nvPr/>
        </p:nvSpPr>
        <p:spPr>
          <a:xfrm>
            <a:off x="65227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569" name="Google Shape;1569;p95"/>
          <p:cNvSpPr txBox="1"/>
          <p:nvPr/>
        </p:nvSpPr>
        <p:spPr>
          <a:xfrm>
            <a:off x="70824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570" name="Google Shape;1570;p95"/>
          <p:cNvSpPr/>
          <p:nvPr/>
        </p:nvSpPr>
        <p:spPr>
          <a:xfrm>
            <a:off x="7237525" y="3575017"/>
            <a:ext cx="375000" cy="1599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71" name="Google Shape;1571;p95"/>
          <p:cNvSpPr txBox="1"/>
          <p:nvPr/>
        </p:nvSpPr>
        <p:spPr>
          <a:xfrm>
            <a:off x="70051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sp>
        <p:nvSpPr>
          <p:cNvPr id="1572" name="Google Shape;1572;p95"/>
          <p:cNvSpPr/>
          <p:nvPr/>
        </p:nvSpPr>
        <p:spPr>
          <a:xfrm rot="10800000">
            <a:off x="1957725" y="3432238"/>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573" name="Google Shape;1573;p95"/>
          <p:cNvSpPr txBox="1"/>
          <p:nvPr/>
        </p:nvSpPr>
        <p:spPr>
          <a:xfrm>
            <a:off x="1905183" y="3160963"/>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
        <p:nvSpPr>
          <p:cNvPr id="1574" name="Google Shape;1574;p95"/>
          <p:cNvSpPr/>
          <p:nvPr/>
        </p:nvSpPr>
        <p:spPr>
          <a:xfrm rot="10800000">
            <a:off x="7990048" y="3432227"/>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575" name="Google Shape;1575;p95"/>
          <p:cNvSpPr txBox="1"/>
          <p:nvPr/>
        </p:nvSpPr>
        <p:spPr>
          <a:xfrm>
            <a:off x="7937508" y="3160950"/>
            <a:ext cx="8391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
        <p:nvSpPr>
          <p:cNvPr id="1576" name="Google Shape;1576;p95"/>
          <p:cNvSpPr/>
          <p:nvPr/>
        </p:nvSpPr>
        <p:spPr>
          <a:xfrm>
            <a:off x="2035063" y="3540250"/>
            <a:ext cx="579300" cy="1599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77" name="Google Shape;1577;p95"/>
          <p:cNvSpPr/>
          <p:nvPr/>
        </p:nvSpPr>
        <p:spPr>
          <a:xfrm>
            <a:off x="8067400" y="3540250"/>
            <a:ext cx="579300" cy="1599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78" name="Google Shape;1578;p95"/>
          <p:cNvSpPr txBox="1"/>
          <p:nvPr/>
        </p:nvSpPr>
        <p:spPr>
          <a:xfrm>
            <a:off x="3298075" y="3488568"/>
            <a:ext cx="1066200" cy="7020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rgbClr val="9900FF"/>
                </a:solidFill>
                <a:latin typeface="Roboto"/>
                <a:ea typeface="Roboto"/>
                <a:cs typeface="Roboto"/>
                <a:sym typeface="Roboto"/>
              </a:rPr>
              <a:t>Data successfully sent!</a:t>
            </a:r>
            <a:endParaRPr>
              <a:solidFill>
                <a:srgbClr val="9900FF"/>
              </a:solidFill>
              <a:latin typeface="Roboto"/>
              <a:ea typeface="Roboto"/>
              <a:cs typeface="Roboto"/>
              <a:sym typeface="Roboto"/>
            </a:endParaRPr>
          </a:p>
        </p:txBody>
      </p:sp>
      <p:cxnSp>
        <p:nvCxnSpPr>
          <p:cNvPr id="1579" name="Google Shape;1579;p95"/>
          <p:cNvCxnSpPr/>
          <p:nvPr/>
        </p:nvCxnSpPr>
        <p:spPr>
          <a:xfrm rot="10800000">
            <a:off x="2384675" y="3619431"/>
            <a:ext cx="920100" cy="0"/>
          </a:xfrm>
          <a:prstGeom prst="straightConnector1">
            <a:avLst/>
          </a:prstGeom>
          <a:noFill/>
          <a:ln cap="flat" cmpd="sng" w="19050">
            <a:solidFill>
              <a:srgbClr val="9900FF"/>
            </a:solidFill>
            <a:prstDash val="solid"/>
            <a:round/>
            <a:headEnd len="med" w="med" type="none"/>
            <a:tailEnd len="med" w="med" type="triangle"/>
          </a:ln>
        </p:spPr>
      </p:cxnSp>
      <p:sp>
        <p:nvSpPr>
          <p:cNvPr id="1580" name="Google Shape;1580;p95"/>
          <p:cNvSpPr txBox="1"/>
          <p:nvPr/>
        </p:nvSpPr>
        <p:spPr>
          <a:xfrm>
            <a:off x="4898275" y="3488568"/>
            <a:ext cx="1066200" cy="702000"/>
          </a:xfrm>
          <a:prstGeom prst="rect">
            <a:avLst/>
          </a:prstGeom>
          <a:noFill/>
          <a:ln>
            <a:noFill/>
          </a:ln>
        </p:spPr>
        <p:txBody>
          <a:bodyPr anchorCtr="0" anchor="t" bIns="27425" lIns="27425" spcFirstLastPara="1" rIns="27425" wrap="square" tIns="27425">
            <a:spAutoFit/>
          </a:bodyPr>
          <a:lstStyle/>
          <a:p>
            <a:pPr indent="0" lvl="0" marL="0" rtl="0" algn="r">
              <a:spcBef>
                <a:spcPts val="0"/>
              </a:spcBef>
              <a:spcAft>
                <a:spcPts val="0"/>
              </a:spcAft>
              <a:buNone/>
            </a:pPr>
            <a:r>
              <a:rPr lang="en">
                <a:solidFill>
                  <a:srgbClr val="9900FF"/>
                </a:solidFill>
                <a:latin typeface="Roboto"/>
                <a:ea typeface="Roboto"/>
                <a:cs typeface="Roboto"/>
                <a:sym typeface="Roboto"/>
              </a:rPr>
              <a:t>Data successfully received!</a:t>
            </a:r>
            <a:endParaRPr>
              <a:solidFill>
                <a:srgbClr val="9900FF"/>
              </a:solidFill>
              <a:latin typeface="Roboto"/>
              <a:ea typeface="Roboto"/>
              <a:cs typeface="Roboto"/>
              <a:sym typeface="Roboto"/>
            </a:endParaRPr>
          </a:p>
        </p:txBody>
      </p:sp>
      <p:cxnSp>
        <p:nvCxnSpPr>
          <p:cNvPr id="1581" name="Google Shape;1581;p95"/>
          <p:cNvCxnSpPr/>
          <p:nvPr/>
        </p:nvCxnSpPr>
        <p:spPr>
          <a:xfrm>
            <a:off x="5971675" y="3619425"/>
            <a:ext cx="2355600" cy="0"/>
          </a:xfrm>
          <a:prstGeom prst="straightConnector1">
            <a:avLst/>
          </a:prstGeom>
          <a:noFill/>
          <a:ln cap="flat" cmpd="sng" w="19050">
            <a:solidFill>
              <a:srgbClr val="9900FF"/>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6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7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5" name="Shape 1585"/>
        <p:cNvGrpSpPr/>
        <p:nvPr/>
      </p:nvGrpSpPr>
      <p:grpSpPr>
        <a:xfrm>
          <a:off x="0" y="0"/>
          <a:ext cx="0" cy="0"/>
          <a:chOff x="0" y="0"/>
          <a:chExt cx="0" cy="0"/>
        </a:xfrm>
      </p:grpSpPr>
      <p:sp>
        <p:nvSpPr>
          <p:cNvPr id="1586" name="Google Shape;1586;p96"/>
          <p:cNvSpPr/>
          <p:nvPr/>
        </p:nvSpPr>
        <p:spPr>
          <a:xfrm>
            <a:off x="2394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587" name="Google Shape;1587;p96"/>
          <p:cNvSpPr/>
          <p:nvPr/>
        </p:nvSpPr>
        <p:spPr>
          <a:xfrm>
            <a:off x="17380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588" name="Google Shape;1588;p96"/>
          <p:cNvSpPr/>
          <p:nvPr/>
        </p:nvSpPr>
        <p:spPr>
          <a:xfrm>
            <a:off x="4781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589" name="Google Shape;1589;p96"/>
          <p:cNvSpPr/>
          <p:nvPr/>
        </p:nvSpPr>
        <p:spPr>
          <a:xfrm>
            <a:off x="6259200" y="1396075"/>
            <a:ext cx="2645400" cy="9729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Software</a:t>
            </a:r>
            <a:endParaRPr>
              <a:latin typeface="Roboto"/>
              <a:ea typeface="Roboto"/>
              <a:cs typeface="Roboto"/>
              <a:sym typeface="Roboto"/>
            </a:endParaRPr>
          </a:p>
        </p:txBody>
      </p:sp>
      <p:sp>
        <p:nvSpPr>
          <p:cNvPr id="1590" name="Google Shape;1590;p96"/>
          <p:cNvSpPr/>
          <p:nvPr/>
        </p:nvSpPr>
        <p:spPr>
          <a:xfrm>
            <a:off x="77578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591" name="Google Shape;1591;p96"/>
          <p:cNvSpPr/>
          <p:nvPr/>
        </p:nvSpPr>
        <p:spPr>
          <a:xfrm>
            <a:off x="6497900" y="1680425"/>
            <a:ext cx="908100" cy="6123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592" name="Google Shape;1592;p96"/>
          <p:cNvSpPr/>
          <p:nvPr/>
        </p:nvSpPr>
        <p:spPr>
          <a:xfrm>
            <a:off x="685100" y="1924050"/>
            <a:ext cx="494100" cy="196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93" name="Google Shape;1593;p96"/>
          <p:cNvSpPr/>
          <p:nvPr/>
        </p:nvSpPr>
        <p:spPr>
          <a:xfrm>
            <a:off x="6704900" y="1924055"/>
            <a:ext cx="494100" cy="196800"/>
          </a:xfrm>
          <a:prstGeom prst="ellipse">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94" name="Google Shape;1594;p9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Steps of RDMA (6/6)</a:t>
            </a:r>
            <a:endParaRPr/>
          </a:p>
        </p:txBody>
      </p:sp>
      <p:sp>
        <p:nvSpPr>
          <p:cNvPr id="1595" name="Google Shape;1595;p96"/>
          <p:cNvSpPr txBox="1"/>
          <p:nvPr>
            <p:ph idx="1" type="body"/>
          </p:nvPr>
        </p:nvSpPr>
        <p:spPr>
          <a:xfrm>
            <a:off x="107050" y="402200"/>
            <a:ext cx="8909700" cy="835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6. Applications read CQE to understand what happened to the transfer.</a:t>
            </a:r>
            <a:endParaRPr/>
          </a:p>
        </p:txBody>
      </p:sp>
      <p:sp>
        <p:nvSpPr>
          <p:cNvPr id="1596" name="Google Shape;1596;p96"/>
          <p:cNvSpPr/>
          <p:nvPr/>
        </p:nvSpPr>
        <p:spPr>
          <a:xfrm>
            <a:off x="2394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597" name="Google Shape;1597;p96"/>
          <p:cNvSpPr/>
          <p:nvPr/>
        </p:nvSpPr>
        <p:spPr>
          <a:xfrm>
            <a:off x="3719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598" name="Google Shape;1598;p96"/>
          <p:cNvSpPr/>
          <p:nvPr/>
        </p:nvSpPr>
        <p:spPr>
          <a:xfrm>
            <a:off x="5029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599" name="Google Shape;1599;p96"/>
          <p:cNvSpPr/>
          <p:nvPr/>
        </p:nvSpPr>
        <p:spPr>
          <a:xfrm>
            <a:off x="11522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600" name="Google Shape;1600;p96"/>
          <p:cNvSpPr txBox="1"/>
          <p:nvPr/>
        </p:nvSpPr>
        <p:spPr>
          <a:xfrm>
            <a:off x="5029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601" name="Google Shape;1601;p96"/>
          <p:cNvSpPr txBox="1"/>
          <p:nvPr/>
        </p:nvSpPr>
        <p:spPr>
          <a:xfrm>
            <a:off x="10626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602" name="Google Shape;1602;p96"/>
          <p:cNvSpPr txBox="1"/>
          <p:nvPr/>
        </p:nvSpPr>
        <p:spPr>
          <a:xfrm>
            <a:off x="9853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sp>
        <p:nvSpPr>
          <p:cNvPr id="1603" name="Google Shape;1603;p96"/>
          <p:cNvSpPr/>
          <p:nvPr/>
        </p:nvSpPr>
        <p:spPr>
          <a:xfrm>
            <a:off x="6259200" y="3065200"/>
            <a:ext cx="2645400" cy="15945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RDMA NIC</a:t>
            </a:r>
            <a:endParaRPr>
              <a:latin typeface="Roboto"/>
              <a:ea typeface="Roboto"/>
              <a:cs typeface="Roboto"/>
              <a:sym typeface="Roboto"/>
            </a:endParaRPr>
          </a:p>
        </p:txBody>
      </p:sp>
      <p:sp>
        <p:nvSpPr>
          <p:cNvPr id="1604" name="Google Shape;1604;p96"/>
          <p:cNvSpPr/>
          <p:nvPr/>
        </p:nvSpPr>
        <p:spPr>
          <a:xfrm>
            <a:off x="6391750" y="3162075"/>
            <a:ext cx="1417200" cy="1184100"/>
          </a:xfrm>
          <a:prstGeom prst="rect">
            <a:avLst/>
          </a:prstGeom>
          <a:solidFill>
            <a:srgbClr val="FFFFFF"/>
          </a:solidFill>
          <a:ln cap="flat" cmpd="sng" w="9525">
            <a:solidFill>
              <a:schemeClr val="dk2"/>
            </a:solidFill>
            <a:prstDash val="solid"/>
            <a:round/>
            <a:headEnd len="sm" w="sm" type="none"/>
            <a:tailEnd len="sm" w="sm" type="none"/>
          </a:ln>
        </p:spPr>
        <p:txBody>
          <a:bodyPr anchorCtr="0" anchor="b" bIns="45700" lIns="45700" spcFirstLastPara="1" rIns="45700" wrap="square" tIns="45700">
            <a:noAutofit/>
          </a:bodyPr>
          <a:lstStyle/>
          <a:p>
            <a:pPr indent="0" lvl="0" marL="0" rtl="0" algn="ctr">
              <a:spcBef>
                <a:spcPts val="0"/>
              </a:spcBef>
              <a:spcAft>
                <a:spcPts val="0"/>
              </a:spcAft>
              <a:buNone/>
            </a:pPr>
            <a:r>
              <a:rPr lang="en">
                <a:latin typeface="Roboto"/>
                <a:ea typeface="Roboto"/>
                <a:cs typeface="Roboto"/>
                <a:sym typeface="Roboto"/>
              </a:rPr>
              <a:t>Queue Pair</a:t>
            </a:r>
            <a:endParaRPr>
              <a:latin typeface="Roboto"/>
              <a:ea typeface="Roboto"/>
              <a:cs typeface="Roboto"/>
              <a:sym typeface="Roboto"/>
            </a:endParaRPr>
          </a:p>
        </p:txBody>
      </p:sp>
      <p:sp>
        <p:nvSpPr>
          <p:cNvPr id="1605" name="Google Shape;1605;p96"/>
          <p:cNvSpPr/>
          <p:nvPr/>
        </p:nvSpPr>
        <p:spPr>
          <a:xfrm>
            <a:off x="652270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rgbClr val="0000FF"/>
            </a:solidFill>
            <a:prstDash val="solid"/>
            <a:round/>
            <a:headEnd len="med" w="med" type="none"/>
            <a:tailEnd len="med" w="med" type="none"/>
          </a:ln>
        </p:spPr>
      </p:sp>
      <p:sp>
        <p:nvSpPr>
          <p:cNvPr id="1606" name="Google Shape;1606;p96"/>
          <p:cNvSpPr/>
          <p:nvPr/>
        </p:nvSpPr>
        <p:spPr>
          <a:xfrm>
            <a:off x="7172050" y="3267316"/>
            <a:ext cx="505951" cy="525898"/>
          </a:xfrm>
          <a:custGeom>
            <a:rect b="b" l="l" r="r" t="t"/>
            <a:pathLst>
              <a:path extrusionOk="0" h="3531" w="9192">
                <a:moveTo>
                  <a:pt x="0" y="0"/>
                </a:moveTo>
                <a:lnTo>
                  <a:pt x="0" y="3531"/>
                </a:lnTo>
                <a:lnTo>
                  <a:pt x="9192" y="3531"/>
                </a:lnTo>
                <a:lnTo>
                  <a:pt x="9192" y="7"/>
                </a:lnTo>
              </a:path>
            </a:pathLst>
          </a:custGeom>
          <a:noFill/>
          <a:ln cap="flat" cmpd="sng" w="19050">
            <a:solidFill>
              <a:schemeClr val="accent2"/>
            </a:solidFill>
            <a:prstDash val="solid"/>
            <a:round/>
            <a:headEnd len="med" w="med" type="none"/>
            <a:tailEnd len="med" w="med" type="none"/>
          </a:ln>
        </p:spPr>
      </p:sp>
      <p:sp>
        <p:nvSpPr>
          <p:cNvPr id="1607" name="Google Shape;1607;p96"/>
          <p:cNvSpPr txBox="1"/>
          <p:nvPr/>
        </p:nvSpPr>
        <p:spPr>
          <a:xfrm>
            <a:off x="6522775" y="3815792"/>
            <a:ext cx="5058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0000FF"/>
                </a:solidFill>
                <a:latin typeface="Roboto"/>
                <a:ea typeface="Roboto"/>
                <a:cs typeface="Roboto"/>
                <a:sym typeface="Roboto"/>
              </a:rPr>
              <a:t>Send</a:t>
            </a:r>
            <a:endParaRPr sz="1200">
              <a:solidFill>
                <a:srgbClr val="0000FF"/>
              </a:solidFill>
              <a:latin typeface="Roboto"/>
              <a:ea typeface="Roboto"/>
              <a:cs typeface="Roboto"/>
              <a:sym typeface="Roboto"/>
            </a:endParaRPr>
          </a:p>
        </p:txBody>
      </p:sp>
      <p:sp>
        <p:nvSpPr>
          <p:cNvPr id="1608" name="Google Shape;1608;p96"/>
          <p:cNvSpPr txBox="1"/>
          <p:nvPr/>
        </p:nvSpPr>
        <p:spPr>
          <a:xfrm>
            <a:off x="7082425" y="3815792"/>
            <a:ext cx="685200" cy="240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chemeClr val="accent2"/>
                </a:solidFill>
                <a:latin typeface="Roboto"/>
                <a:ea typeface="Roboto"/>
                <a:cs typeface="Roboto"/>
                <a:sym typeface="Roboto"/>
              </a:rPr>
              <a:t>Receive</a:t>
            </a:r>
            <a:endParaRPr sz="1200">
              <a:solidFill>
                <a:schemeClr val="accent2"/>
              </a:solidFill>
              <a:latin typeface="Roboto"/>
              <a:ea typeface="Roboto"/>
              <a:cs typeface="Roboto"/>
              <a:sym typeface="Roboto"/>
            </a:endParaRPr>
          </a:p>
        </p:txBody>
      </p:sp>
      <p:sp>
        <p:nvSpPr>
          <p:cNvPr id="1609" name="Google Shape;1609;p96"/>
          <p:cNvSpPr txBox="1"/>
          <p:nvPr/>
        </p:nvSpPr>
        <p:spPr>
          <a:xfrm>
            <a:off x="7005150" y="4712375"/>
            <a:ext cx="1153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sp>
        <p:nvSpPr>
          <p:cNvPr id="1610" name="Google Shape;1610;p96"/>
          <p:cNvSpPr/>
          <p:nvPr/>
        </p:nvSpPr>
        <p:spPr>
          <a:xfrm rot="10800000">
            <a:off x="1957725" y="3432238"/>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611" name="Google Shape;1611;p96"/>
          <p:cNvSpPr/>
          <p:nvPr/>
        </p:nvSpPr>
        <p:spPr>
          <a:xfrm rot="10800000">
            <a:off x="7990048" y="3432227"/>
            <a:ext cx="734027" cy="835638"/>
          </a:xfrm>
          <a:custGeom>
            <a:rect b="b" l="l" r="r" t="t"/>
            <a:pathLst>
              <a:path extrusionOk="0" h="3531" w="9192">
                <a:moveTo>
                  <a:pt x="0" y="0"/>
                </a:moveTo>
                <a:lnTo>
                  <a:pt x="0" y="3531"/>
                </a:lnTo>
                <a:lnTo>
                  <a:pt x="9192" y="3531"/>
                </a:lnTo>
                <a:lnTo>
                  <a:pt x="9192" y="7"/>
                </a:lnTo>
              </a:path>
            </a:pathLst>
          </a:custGeom>
          <a:noFill/>
          <a:ln cap="flat" cmpd="sng" w="19050">
            <a:solidFill>
              <a:srgbClr val="9900FF"/>
            </a:solidFill>
            <a:prstDash val="solid"/>
            <a:round/>
            <a:headEnd len="med" w="med" type="none"/>
            <a:tailEnd len="med" w="med" type="none"/>
          </a:ln>
        </p:spPr>
      </p:sp>
      <p:sp>
        <p:nvSpPr>
          <p:cNvPr id="1612" name="Google Shape;1612;p96"/>
          <p:cNvSpPr/>
          <p:nvPr/>
        </p:nvSpPr>
        <p:spPr>
          <a:xfrm>
            <a:off x="2035063" y="3540250"/>
            <a:ext cx="579300" cy="1599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13" name="Google Shape;1613;p96"/>
          <p:cNvSpPr/>
          <p:nvPr/>
        </p:nvSpPr>
        <p:spPr>
          <a:xfrm>
            <a:off x="8067400" y="3540250"/>
            <a:ext cx="579300" cy="159900"/>
          </a:xfrm>
          <a:prstGeom prst="rect">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14" name="Google Shape;1614;p96"/>
          <p:cNvCxnSpPr/>
          <p:nvPr/>
        </p:nvCxnSpPr>
        <p:spPr>
          <a:xfrm>
            <a:off x="2178050" y="2060700"/>
            <a:ext cx="206700" cy="1558800"/>
          </a:xfrm>
          <a:prstGeom prst="straightConnector1">
            <a:avLst/>
          </a:prstGeom>
          <a:noFill/>
          <a:ln cap="flat" cmpd="sng" w="19050">
            <a:solidFill>
              <a:srgbClr val="9900FF"/>
            </a:solidFill>
            <a:prstDash val="solid"/>
            <a:round/>
            <a:headEnd len="med" w="med" type="none"/>
            <a:tailEnd len="med" w="med" type="triangle"/>
          </a:ln>
        </p:spPr>
      </p:cxnSp>
      <p:cxnSp>
        <p:nvCxnSpPr>
          <p:cNvPr id="1615" name="Google Shape;1615;p96"/>
          <p:cNvCxnSpPr/>
          <p:nvPr/>
        </p:nvCxnSpPr>
        <p:spPr>
          <a:xfrm>
            <a:off x="8193975" y="2045650"/>
            <a:ext cx="133200" cy="1573800"/>
          </a:xfrm>
          <a:prstGeom prst="straightConnector1">
            <a:avLst/>
          </a:prstGeom>
          <a:noFill/>
          <a:ln cap="flat" cmpd="sng" w="19050">
            <a:solidFill>
              <a:srgbClr val="9900FF"/>
            </a:solidFill>
            <a:prstDash val="solid"/>
            <a:round/>
            <a:headEnd len="med" w="med" type="none"/>
            <a:tailEnd len="med" w="med" type="triangle"/>
          </a:ln>
        </p:spPr>
      </p:cxnSp>
      <p:sp>
        <p:nvSpPr>
          <p:cNvPr id="1616" name="Google Shape;1616;p96"/>
          <p:cNvSpPr txBox="1"/>
          <p:nvPr/>
        </p:nvSpPr>
        <p:spPr>
          <a:xfrm>
            <a:off x="1905183" y="3160963"/>
            <a:ext cx="839100" cy="240000"/>
          </a:xfrm>
          <a:prstGeom prst="rect">
            <a:avLst/>
          </a:prstGeom>
          <a:solidFill>
            <a:srgbClr val="EFEFEF">
              <a:alpha val="75000"/>
            </a:srgbClr>
          </a:solid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
        <p:nvSpPr>
          <p:cNvPr id="1617" name="Google Shape;1617;p96"/>
          <p:cNvSpPr txBox="1"/>
          <p:nvPr/>
        </p:nvSpPr>
        <p:spPr>
          <a:xfrm>
            <a:off x="7937508" y="3160950"/>
            <a:ext cx="839100" cy="240000"/>
          </a:xfrm>
          <a:prstGeom prst="rect">
            <a:avLst/>
          </a:prstGeom>
          <a:solidFill>
            <a:srgbClr val="EFEFEF">
              <a:alpha val="75000"/>
            </a:srgbClr>
          </a:solid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200">
                <a:solidFill>
                  <a:srgbClr val="9900FF"/>
                </a:solidFill>
                <a:latin typeface="Roboto"/>
                <a:ea typeface="Roboto"/>
                <a:cs typeface="Roboto"/>
                <a:sym typeface="Roboto"/>
              </a:rPr>
              <a:t>Completion</a:t>
            </a:r>
            <a:endParaRPr sz="1200">
              <a:solidFill>
                <a:srgbClr val="9900FF"/>
              </a:solidFill>
              <a:latin typeface="Roboto"/>
              <a:ea typeface="Roboto"/>
              <a:cs typeface="Roboto"/>
              <a:sym typeface="Roboto"/>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sp>
        <p:nvSpPr>
          <p:cNvPr id="1622" name="Google Shape;1622;p9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RDMA: Pros and Cons</a:t>
            </a:r>
            <a:endParaRPr/>
          </a:p>
        </p:txBody>
      </p:sp>
      <p:sp>
        <p:nvSpPr>
          <p:cNvPr id="1623" name="Google Shape;1623;p9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Pros:</a:t>
            </a:r>
            <a:endParaRPr/>
          </a:p>
          <a:p>
            <a:pPr indent="-342900" lvl="0" marL="457200" rtl="0" algn="l">
              <a:spcBef>
                <a:spcPts val="600"/>
              </a:spcBef>
              <a:spcAft>
                <a:spcPts val="0"/>
              </a:spcAft>
              <a:buSzPts val="1800"/>
              <a:buChar char="●"/>
            </a:pPr>
            <a:r>
              <a:rPr lang="en"/>
              <a:t>High-performance data transfer.</a:t>
            </a:r>
            <a:endParaRPr/>
          </a:p>
          <a:p>
            <a:pPr indent="-342900" lvl="0" marL="457200" rtl="0" algn="l">
              <a:spcBef>
                <a:spcPts val="0"/>
              </a:spcBef>
              <a:spcAft>
                <a:spcPts val="0"/>
              </a:spcAft>
              <a:buSzPts val="1800"/>
              <a:buChar char="●"/>
            </a:pPr>
            <a:r>
              <a:rPr lang="en"/>
              <a:t>Frees up CPU for applications.</a:t>
            </a:r>
            <a:endParaRPr/>
          </a:p>
          <a:p>
            <a:pPr indent="0" lvl="0" marL="0" rtl="0" algn="l">
              <a:spcBef>
                <a:spcPts val="600"/>
              </a:spcBef>
              <a:spcAft>
                <a:spcPts val="0"/>
              </a:spcAft>
              <a:buNone/>
            </a:pPr>
            <a:r>
              <a:rPr lang="en"/>
              <a:t>Limitations:</a:t>
            </a:r>
            <a:endParaRPr/>
          </a:p>
          <a:p>
            <a:pPr indent="-342900" lvl="0" marL="457200" rtl="0" algn="l">
              <a:spcBef>
                <a:spcPts val="600"/>
              </a:spcBef>
              <a:spcAft>
                <a:spcPts val="0"/>
              </a:spcAft>
              <a:buSzPts val="1800"/>
              <a:buChar char="●"/>
            </a:pPr>
            <a:r>
              <a:rPr lang="en"/>
              <a:t>More complex. Requires specialized hardware and software.</a:t>
            </a:r>
            <a:endParaRPr/>
          </a:p>
          <a:p>
            <a:pPr indent="-342900" lvl="1" marL="914400" rtl="0" algn="l">
              <a:spcBef>
                <a:spcPts val="0"/>
              </a:spcBef>
              <a:spcAft>
                <a:spcPts val="0"/>
              </a:spcAft>
              <a:buSzPts val="1800"/>
              <a:buChar char="○"/>
            </a:pPr>
            <a:r>
              <a:rPr lang="en"/>
              <a:t>RDMA replaces TCP/IP, so features like reliability must be implemented in hardware.</a:t>
            </a:r>
            <a:endParaRPr/>
          </a:p>
          <a:p>
            <a:pPr indent="-342900" lvl="0" marL="457200" rtl="0" algn="l">
              <a:spcBef>
                <a:spcPts val="0"/>
              </a:spcBef>
              <a:spcAft>
                <a:spcPts val="0"/>
              </a:spcAft>
              <a:buSzPts val="1800"/>
              <a:buChar char="●"/>
            </a:pPr>
            <a:r>
              <a:rPr lang="en"/>
              <a:t>Works best when servers are nearby, e.g. in same datacenter.</a:t>
            </a:r>
            <a:endParaRPr/>
          </a:p>
          <a:p>
            <a:pPr indent="-342900" lvl="1" marL="914400" rtl="0" algn="l">
              <a:spcBef>
                <a:spcPts val="0"/>
              </a:spcBef>
              <a:spcAft>
                <a:spcPts val="0"/>
              </a:spcAft>
              <a:buSzPts val="1800"/>
              <a:buChar char="○"/>
            </a:pPr>
            <a:r>
              <a:rPr lang="en"/>
              <a:t>If servers are far away, dominant delay is the network.</a:t>
            </a:r>
            <a:br>
              <a:rPr lang="en"/>
            </a:br>
            <a:r>
              <a:rPr lang="en"/>
              <a:t>RDMA savings are insignificant.</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id="1628" name="Google Shape;1628;p9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RDMA: Applications</a:t>
            </a:r>
            <a:endParaRPr/>
          </a:p>
        </p:txBody>
      </p:sp>
      <p:sp>
        <p:nvSpPr>
          <p:cNvPr id="1629" name="Google Shape;1629;p9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RDMA useful for high-performance computing.</a:t>
            </a:r>
            <a:endParaRPr/>
          </a:p>
          <a:p>
            <a:pPr indent="-342900" lvl="0" marL="457200" rtl="0" algn="l">
              <a:spcBef>
                <a:spcPts val="600"/>
              </a:spcBef>
              <a:spcAft>
                <a:spcPts val="0"/>
              </a:spcAft>
              <a:buSzPts val="1800"/>
              <a:buChar char="●"/>
            </a:pPr>
            <a:r>
              <a:rPr lang="en"/>
              <a:t>Scientific research, financial modeling, weather forecasting, etc.</a:t>
            </a:r>
            <a:endParaRPr/>
          </a:p>
          <a:p>
            <a:pPr indent="-342900" lvl="0" marL="457200" rtl="0" algn="l">
              <a:spcBef>
                <a:spcPts val="0"/>
              </a:spcBef>
              <a:spcAft>
                <a:spcPts val="0"/>
              </a:spcAft>
              <a:buSzPts val="1800"/>
              <a:buChar char="●"/>
            </a:pPr>
            <a:r>
              <a:rPr lang="en"/>
              <a:t>Cloud computing, e.g. migrating large VM from one physical server to another.</a:t>
            </a:r>
            <a:endParaRPr/>
          </a:p>
          <a:p>
            <a:pPr indent="-342900" lvl="0" marL="457200" rtl="0" algn="l">
              <a:spcBef>
                <a:spcPts val="0"/>
              </a:spcBef>
              <a:spcAft>
                <a:spcPts val="0"/>
              </a:spcAft>
              <a:buSzPts val="1800"/>
              <a:buChar char="●"/>
            </a:pPr>
            <a:r>
              <a:rPr lang="en"/>
              <a:t>AI/ML training.</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Goals:</a:t>
            </a:r>
            <a:endParaRPr/>
          </a:p>
          <a:p>
            <a:pPr indent="-342900" lvl="0" marL="457200" rtl="0" algn="l">
              <a:spcBef>
                <a:spcPts val="600"/>
              </a:spcBef>
              <a:spcAft>
                <a:spcPts val="0"/>
              </a:spcAft>
              <a:buSzPts val="1800"/>
              <a:buChar char="●"/>
            </a:pPr>
            <a:r>
              <a:rPr lang="en"/>
              <a:t>Free up CPU for applications.</a:t>
            </a:r>
            <a:endParaRPr/>
          </a:p>
          <a:p>
            <a:pPr indent="-342900" lvl="0" marL="457200" rtl="0" algn="l">
              <a:spcBef>
                <a:spcPts val="0"/>
              </a:spcBef>
              <a:spcAft>
                <a:spcPts val="0"/>
              </a:spcAft>
              <a:buSzPts val="1800"/>
              <a:buChar char="●"/>
            </a:pPr>
            <a:r>
              <a:rPr lang="en"/>
              <a:t>Low and predictable latency for data transfers.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sp>
        <p:nvSpPr>
          <p:cNvPr id="1634" name="Google Shape;1634;p9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RDMA: Implementation</a:t>
            </a:r>
            <a:endParaRPr/>
          </a:p>
        </p:txBody>
      </p:sp>
      <p:sp>
        <p:nvSpPr>
          <p:cNvPr id="1635" name="Google Shape;1635;p99"/>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do you handle losses, reordering, congestion, etc.?</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Two broad options:</a:t>
            </a:r>
            <a:endParaRPr/>
          </a:p>
          <a:p>
            <a:pPr indent="-342900" lvl="0" marL="457200" rtl="0" algn="l">
              <a:spcBef>
                <a:spcPts val="600"/>
              </a:spcBef>
              <a:spcAft>
                <a:spcPts val="0"/>
              </a:spcAft>
              <a:buSzPts val="1800"/>
              <a:buChar char="●"/>
            </a:pPr>
            <a:r>
              <a:rPr lang="en"/>
              <a:t>Build features into the datacenter network, e.g. at the switches. </a:t>
            </a:r>
            <a:r>
              <a:rPr lang="en" sz="1400">
                <a:solidFill>
                  <a:schemeClr val="accent3"/>
                </a:solidFill>
              </a:rPr>
              <a:t>(</a:t>
            </a:r>
            <a:r>
              <a:rPr i="1" lang="en" sz="1400">
                <a:solidFill>
                  <a:schemeClr val="accent3"/>
                </a:solidFill>
              </a:rPr>
              <a:t>Nvidia's InfiniBand.</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Char char="●"/>
            </a:pPr>
            <a:r>
              <a:rPr lang="en"/>
              <a:t>Build features in the NIC, under the queue pair abstraction. </a:t>
            </a:r>
            <a:r>
              <a:rPr lang="en" sz="1400">
                <a:solidFill>
                  <a:schemeClr val="accent3"/>
                </a:solidFill>
              </a:rPr>
              <a:t>(</a:t>
            </a:r>
            <a:r>
              <a:rPr i="1" lang="en" sz="1400">
                <a:solidFill>
                  <a:schemeClr val="accent3"/>
                </a:solidFill>
              </a:rPr>
              <a:t>Google.</a:t>
            </a:r>
            <a:r>
              <a:rPr lang="en" sz="1400">
                <a:solidFill>
                  <a:schemeClr val="accent3"/>
                </a:solidFill>
              </a:rPr>
              <a:t>)</a:t>
            </a:r>
            <a:endParaRPr sz="1400">
              <a:solidFill>
                <a:schemeClr val="accent3"/>
              </a:solidFill>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both cases, applications and OS both see the abstraction of reliable delivery.</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10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SDN, Host Networking, RDMA</a:t>
            </a:r>
            <a:endParaRPr/>
          </a:p>
        </p:txBody>
      </p:sp>
      <p:sp>
        <p:nvSpPr>
          <p:cNvPr id="1641" name="Google Shape;1641;p100"/>
          <p:cNvSpPr txBox="1"/>
          <p:nvPr>
            <p:ph idx="1" type="body"/>
          </p:nvPr>
        </p:nvSpPr>
        <p:spPr>
          <a:xfrm>
            <a:off x="107050" y="402200"/>
            <a:ext cx="8909700" cy="3337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SDN evolved from inflexibility of the control plane to meet operational requirements.</a:t>
            </a:r>
            <a:endParaRPr/>
          </a:p>
          <a:p>
            <a:pPr indent="-342900" lvl="0" marL="457200" rtl="0" algn="l">
              <a:spcBef>
                <a:spcPts val="600"/>
              </a:spcBef>
              <a:spcAft>
                <a:spcPts val="0"/>
              </a:spcAft>
              <a:buSzPts val="1800"/>
              <a:buChar char="●"/>
            </a:pPr>
            <a:r>
              <a:rPr lang="en"/>
              <a:t>It splits the control and data planes to make the control plane more flexible.</a:t>
            </a:r>
            <a:endParaRPr/>
          </a:p>
          <a:p>
            <a:pPr indent="-342900" lvl="0" marL="457200" rtl="0" algn="l">
              <a:spcBef>
                <a:spcPts val="0"/>
              </a:spcBef>
              <a:spcAft>
                <a:spcPts val="0"/>
              </a:spcAft>
              <a:buSzPts val="1800"/>
              <a:buChar char="●"/>
            </a:pPr>
            <a:r>
              <a:rPr lang="en"/>
              <a:t>There are applications across both WAN and datacenter networks.</a:t>
            </a:r>
            <a:endParaRPr/>
          </a:p>
          <a:p>
            <a:pPr indent="0" lvl="0" marL="0" rtl="0" algn="l">
              <a:spcBef>
                <a:spcPts val="600"/>
              </a:spcBef>
              <a:spcAft>
                <a:spcPts val="0"/>
              </a:spcAft>
              <a:buNone/>
            </a:pPr>
            <a:r>
              <a:rPr lang="en"/>
              <a:t>Host Networking: </a:t>
            </a:r>
            <a:r>
              <a:rPr lang="en"/>
              <a:t>Optimizations </a:t>
            </a:r>
            <a:r>
              <a:rPr b="1" lang="en"/>
              <a:t>at the host</a:t>
            </a:r>
            <a:r>
              <a:rPr lang="en"/>
              <a:t> to meet modern performance demands.</a:t>
            </a:r>
            <a:endParaRPr/>
          </a:p>
          <a:p>
            <a:pPr indent="-342900" lvl="0" marL="457200" rtl="0" algn="l">
              <a:spcBef>
                <a:spcPts val="600"/>
              </a:spcBef>
              <a:spcAft>
                <a:spcPts val="0"/>
              </a:spcAft>
              <a:buSzPts val="1800"/>
              <a:buChar char="●"/>
            </a:pPr>
            <a:r>
              <a:rPr b="1" lang="en"/>
              <a:t>Shared Memory</a:t>
            </a:r>
            <a:r>
              <a:rPr lang="en"/>
              <a:t> → Packet processing happens in user space.</a:t>
            </a:r>
            <a:endParaRPr b="1"/>
          </a:p>
          <a:p>
            <a:pPr indent="-342900" lvl="0" marL="457200" rtl="0" algn="l">
              <a:spcBef>
                <a:spcPts val="0"/>
              </a:spcBef>
              <a:spcAft>
                <a:spcPts val="0"/>
              </a:spcAft>
              <a:buSzPts val="1800"/>
              <a:buChar char="●"/>
            </a:pPr>
            <a:r>
              <a:rPr b="1" lang="en"/>
              <a:t>Offloading</a:t>
            </a:r>
            <a:r>
              <a:rPr lang="en"/>
              <a:t> → Process packets in hardware instead of software.</a:t>
            </a:r>
            <a:endParaRPr/>
          </a:p>
          <a:p>
            <a:pPr indent="0" lvl="0" marL="0" rtl="0" algn="l">
              <a:spcBef>
                <a:spcPts val="600"/>
              </a:spcBef>
              <a:spcAft>
                <a:spcPts val="0"/>
              </a:spcAft>
              <a:buNone/>
            </a:pPr>
            <a:r>
              <a:rPr lang="en"/>
              <a:t>RDMA: </a:t>
            </a:r>
            <a:endParaRPr/>
          </a:p>
          <a:p>
            <a:pPr indent="-342900" lvl="0" marL="457200" rtl="0" algn="l">
              <a:spcBef>
                <a:spcPts val="600"/>
              </a:spcBef>
              <a:spcAft>
                <a:spcPts val="0"/>
              </a:spcAft>
              <a:buSzPts val="1800"/>
              <a:buChar char="●"/>
            </a:pPr>
            <a:r>
              <a:rPr lang="en"/>
              <a:t>Bypass the CPU for high performance data transfers </a:t>
            </a:r>
            <a:endParaRPr/>
          </a:p>
        </p:txBody>
      </p:sp>
      <p:sp>
        <p:nvSpPr>
          <p:cNvPr id="1642" name="Google Shape;1642;p100"/>
          <p:cNvSpPr/>
          <p:nvPr/>
        </p:nvSpPr>
        <p:spPr>
          <a:xfrm>
            <a:off x="1364275" y="3605500"/>
            <a:ext cx="2534400" cy="8961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Sender</a:t>
            </a:r>
            <a:endParaRPr>
              <a:latin typeface="Roboto"/>
              <a:ea typeface="Roboto"/>
              <a:cs typeface="Roboto"/>
              <a:sym typeface="Roboto"/>
            </a:endParaRPr>
          </a:p>
        </p:txBody>
      </p:sp>
      <p:sp>
        <p:nvSpPr>
          <p:cNvPr id="1643" name="Google Shape;1643;p100"/>
          <p:cNvSpPr/>
          <p:nvPr/>
        </p:nvSpPr>
        <p:spPr>
          <a:xfrm>
            <a:off x="5518576" y="3605500"/>
            <a:ext cx="2534400" cy="896100"/>
          </a:xfrm>
          <a:prstGeom prst="rect">
            <a:avLst/>
          </a:prstGeom>
          <a:solidFill>
            <a:srgbClr val="EFEFEF"/>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Recipient</a:t>
            </a:r>
            <a:endParaRPr>
              <a:latin typeface="Roboto"/>
              <a:ea typeface="Roboto"/>
              <a:cs typeface="Roboto"/>
              <a:sym typeface="Roboto"/>
            </a:endParaRPr>
          </a:p>
        </p:txBody>
      </p:sp>
      <p:sp>
        <p:nvSpPr>
          <p:cNvPr id="1644" name="Google Shape;1644;p100"/>
          <p:cNvSpPr/>
          <p:nvPr/>
        </p:nvSpPr>
        <p:spPr>
          <a:xfrm>
            <a:off x="2821289" y="3710506"/>
            <a:ext cx="870000" cy="2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645" name="Google Shape;1645;p100"/>
          <p:cNvSpPr/>
          <p:nvPr/>
        </p:nvSpPr>
        <p:spPr>
          <a:xfrm>
            <a:off x="2821289" y="4153873"/>
            <a:ext cx="870000" cy="2547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a:t>
            </a:r>
            <a:endParaRPr>
              <a:latin typeface="Roboto"/>
              <a:ea typeface="Roboto"/>
              <a:cs typeface="Roboto"/>
              <a:sym typeface="Roboto"/>
            </a:endParaRPr>
          </a:p>
        </p:txBody>
      </p:sp>
      <p:sp>
        <p:nvSpPr>
          <p:cNvPr id="1646" name="Google Shape;1646;p100"/>
          <p:cNvSpPr/>
          <p:nvPr/>
        </p:nvSpPr>
        <p:spPr>
          <a:xfrm>
            <a:off x="1513361" y="3773805"/>
            <a:ext cx="870000" cy="394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sp>
        <p:nvSpPr>
          <p:cNvPr id="1647" name="Google Shape;1647;p100"/>
          <p:cNvSpPr/>
          <p:nvPr/>
        </p:nvSpPr>
        <p:spPr>
          <a:xfrm>
            <a:off x="5661626" y="3710506"/>
            <a:ext cx="870000" cy="25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CPU</a:t>
            </a:r>
            <a:endParaRPr>
              <a:latin typeface="Roboto"/>
              <a:ea typeface="Roboto"/>
              <a:cs typeface="Roboto"/>
              <a:sym typeface="Roboto"/>
            </a:endParaRPr>
          </a:p>
        </p:txBody>
      </p:sp>
      <p:sp>
        <p:nvSpPr>
          <p:cNvPr id="1648" name="Google Shape;1648;p100"/>
          <p:cNvSpPr/>
          <p:nvPr/>
        </p:nvSpPr>
        <p:spPr>
          <a:xfrm>
            <a:off x="5661626" y="4153873"/>
            <a:ext cx="870000" cy="2547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NIC</a:t>
            </a:r>
            <a:endParaRPr>
              <a:latin typeface="Roboto"/>
              <a:ea typeface="Roboto"/>
              <a:cs typeface="Roboto"/>
              <a:sym typeface="Roboto"/>
            </a:endParaRPr>
          </a:p>
        </p:txBody>
      </p:sp>
      <p:sp>
        <p:nvSpPr>
          <p:cNvPr id="1649" name="Google Shape;1649;p100"/>
          <p:cNvSpPr/>
          <p:nvPr/>
        </p:nvSpPr>
        <p:spPr>
          <a:xfrm>
            <a:off x="6981625" y="3773795"/>
            <a:ext cx="870000" cy="394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Memory</a:t>
            </a:r>
            <a:endParaRPr>
              <a:latin typeface="Roboto"/>
              <a:ea typeface="Roboto"/>
              <a:cs typeface="Roboto"/>
              <a:sym typeface="Roboto"/>
            </a:endParaRPr>
          </a:p>
        </p:txBody>
      </p:sp>
      <p:cxnSp>
        <p:nvCxnSpPr>
          <p:cNvPr id="1650" name="Google Shape;1650;p100"/>
          <p:cNvCxnSpPr>
            <a:stCxn id="1646" idx="3"/>
            <a:endCxn id="1645" idx="1"/>
          </p:cNvCxnSpPr>
          <p:nvPr/>
        </p:nvCxnSpPr>
        <p:spPr>
          <a:xfrm>
            <a:off x="2383361" y="3971055"/>
            <a:ext cx="438000" cy="310200"/>
          </a:xfrm>
          <a:prstGeom prst="straightConnector1">
            <a:avLst/>
          </a:prstGeom>
          <a:noFill/>
          <a:ln cap="flat" cmpd="sng" w="28575">
            <a:solidFill>
              <a:schemeClr val="dk2"/>
            </a:solidFill>
            <a:prstDash val="solid"/>
            <a:round/>
            <a:headEnd len="med" w="med" type="none"/>
            <a:tailEnd len="med" w="med" type="none"/>
          </a:ln>
        </p:spPr>
      </p:cxnSp>
      <p:cxnSp>
        <p:nvCxnSpPr>
          <p:cNvPr id="1651" name="Google Shape;1651;p100"/>
          <p:cNvCxnSpPr>
            <a:stCxn id="1645" idx="3"/>
            <a:endCxn id="1648" idx="1"/>
          </p:cNvCxnSpPr>
          <p:nvPr/>
        </p:nvCxnSpPr>
        <p:spPr>
          <a:xfrm>
            <a:off x="3691289" y="4281223"/>
            <a:ext cx="1970400" cy="0"/>
          </a:xfrm>
          <a:prstGeom prst="straightConnector1">
            <a:avLst/>
          </a:prstGeom>
          <a:noFill/>
          <a:ln cap="flat" cmpd="sng" w="28575">
            <a:solidFill>
              <a:schemeClr val="dk2"/>
            </a:solidFill>
            <a:prstDash val="solid"/>
            <a:round/>
            <a:headEnd len="med" w="med" type="none"/>
            <a:tailEnd len="med" w="med" type="none"/>
          </a:ln>
        </p:spPr>
      </p:cxnSp>
      <p:cxnSp>
        <p:nvCxnSpPr>
          <p:cNvPr id="1652" name="Google Shape;1652;p100"/>
          <p:cNvCxnSpPr>
            <a:stCxn id="1648" idx="3"/>
            <a:endCxn id="1649" idx="1"/>
          </p:cNvCxnSpPr>
          <p:nvPr/>
        </p:nvCxnSpPr>
        <p:spPr>
          <a:xfrm flipH="1" rot="10800000">
            <a:off x="6531626" y="3971023"/>
            <a:ext cx="450000" cy="310200"/>
          </a:xfrm>
          <a:prstGeom prst="straightConnector1">
            <a:avLst/>
          </a:prstGeom>
          <a:noFill/>
          <a:ln cap="flat" cmpd="sng" w="28575">
            <a:solidFill>
              <a:schemeClr val="dk2"/>
            </a:solidFill>
            <a:prstDash val="solid"/>
            <a:round/>
            <a:headEnd len="med" w="med" type="none"/>
            <a:tailEnd len="med" w="med" type="triangle"/>
          </a:ln>
        </p:spPr>
      </p:cxnSp>
      <p:sp>
        <p:nvSpPr>
          <p:cNvPr id="1653" name="Google Shape;1653;p100"/>
          <p:cNvSpPr txBox="1"/>
          <p:nvPr/>
        </p:nvSpPr>
        <p:spPr>
          <a:xfrm>
            <a:off x="2876170" y="4596351"/>
            <a:ext cx="3684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RDMA: CPU is minimally involved in transfer!</a:t>
            </a:r>
            <a:endParaRPr>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