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y="5143500" cx="9144000"/>
  <p:notesSz cx="6858000" cy="9144000"/>
  <p:embeddedFontLst>
    <p:embeddedFont>
      <p:font typeface="Roboto Medium"/>
      <p:regular r:id="rId61"/>
      <p:bold r:id="rId62"/>
      <p:italic r:id="rId63"/>
      <p:boldItalic r:id="rId64"/>
    </p:embeddedFont>
    <p:embeddedFont>
      <p:font typeface="Roboto"/>
      <p:regular r:id="rId65"/>
      <p:bold r:id="rId66"/>
      <p:italic r:id="rId67"/>
      <p:boldItalic r:id="rId68"/>
    </p:embeddedFont>
    <p:embeddedFont>
      <p:font typeface="Roboto Light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06A9EC-F48A-45AF-851E-6F77734EB285}">
  <a:tblStyle styleId="{DD06A9EC-F48A-45AF-851E-6F77734EB2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2" Type="http://schemas.openxmlformats.org/officeDocument/2006/relationships/font" Target="fonts/RobotoLight-bold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RobotoLight-italic.fntdata"/><Relationship Id="rId70" Type="http://schemas.openxmlformats.org/officeDocument/2006/relationships/font" Target="fonts/RobotoLight-bold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obotoMedium-bold.fntdata"/><Relationship Id="rId61" Type="http://schemas.openxmlformats.org/officeDocument/2006/relationships/font" Target="fonts/RobotoMedium-regular.fntdata"/><Relationship Id="rId20" Type="http://schemas.openxmlformats.org/officeDocument/2006/relationships/slide" Target="slides/slide14.xml"/><Relationship Id="rId64" Type="http://schemas.openxmlformats.org/officeDocument/2006/relationships/font" Target="fonts/RobotoMedium-boldItalic.fntdata"/><Relationship Id="rId63" Type="http://schemas.openxmlformats.org/officeDocument/2006/relationships/font" Target="fonts/RobotoMedium-italic.fntdata"/><Relationship Id="rId22" Type="http://schemas.openxmlformats.org/officeDocument/2006/relationships/slide" Target="slides/slide16.xml"/><Relationship Id="rId66" Type="http://schemas.openxmlformats.org/officeDocument/2006/relationships/font" Target="fonts/Roboto-bold.fntdata"/><Relationship Id="rId21" Type="http://schemas.openxmlformats.org/officeDocument/2006/relationships/slide" Target="slides/slide15.xml"/><Relationship Id="rId65" Type="http://schemas.openxmlformats.org/officeDocument/2006/relationships/font" Target="fonts/Roboto-regular.fntdata"/><Relationship Id="rId24" Type="http://schemas.openxmlformats.org/officeDocument/2006/relationships/slide" Target="slides/slide18.xml"/><Relationship Id="rId68" Type="http://schemas.openxmlformats.org/officeDocument/2006/relationships/font" Target="fonts/Roboto-boldItalic.fntdata"/><Relationship Id="rId23" Type="http://schemas.openxmlformats.org/officeDocument/2006/relationships/slide" Target="slides/slide17.xml"/><Relationship Id="rId67" Type="http://schemas.openxmlformats.org/officeDocument/2006/relationships/font" Target="fonts/Roboto-italic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obotoLight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bcec87395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bcec87395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ebcec87395_0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ebcec87395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ebe643406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ebe643406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ebe6434060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ebe6434060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ebe6434060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ebe6434060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ebe6434060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ebe6434060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ebe6434060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ebe6434060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ebe6434060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2ebe6434060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ebe6434060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ebe6434060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ebe6434060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ebe6434060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ebe6434060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ebe6434060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ebe6434060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2ebe6434060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ebe6434060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2ebe6434060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ebe6434060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2ebe6434060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ebe6434060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2ebe6434060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ebe6434060_0_63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ebe6434060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ebe6434060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2ebe6434060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ebe6434060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2ebe6434060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2ebe6434060_0_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2ebe6434060_0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2ebe6434060_0_10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2ebe6434060_0_10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2ebe6434060_0_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2ebe643406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2ebe6434060_0_1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2ebe6434060_0_1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2ebe6434060_0_1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2ebe6434060_0_1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application - small application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 youtube IP , but that doesn’t map to the physical space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2ebe6434060_0_1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2ebe6434060_0_1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ebe6434060_0_1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ebe6434060_0_1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Everything about the VM seems like a normal </a:t>
            </a:r>
            <a:r>
              <a:rPr lang="en"/>
              <a:t>computer</a:t>
            </a:r>
            <a:r>
              <a:rPr lang="en"/>
              <a:t> - save files, open a web browser but underlying hardware is shared 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2ebe6434060_0_1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2ebe6434060_0_1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2ebe6434060_0_1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2ebe6434060_0_1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ebe6434060_0_118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2ebe6434060_0_1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ebe6434060_0_1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ebe6434060_0_1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2ebe6434060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2ebe6434060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Layering helps us separate organization schemes.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way of addressing is based on physical topology It's saying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40:37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you're in pod 1 so you are 10.1 The other way of addressing is based on organization You're Google Map so you're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40:45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192.0 You're Gmail so you're 192.168 These are two different types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40:51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addressing and they're not compatible with each other at all So thinking all the way back to when we designed layers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40:58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the internet how did we deal with cases where there were multiple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addressing systems remember MAC addresses was a hardware based addressing system IP was a location based addressing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system Ports were another addressing system How did we solve the fact that there were all these different ways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 something and they all meant different things well we made different layers So only layer 2 understands MAC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addresses and routes based on those Layer three understands IP addresses and routed based on those And rout layer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four understood ports and sent packets to applications using ports So when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had different addressing systems it was no problem We had different layers to take care of them In the mail analogy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layer might be for the mailman to use like street addresses and another layer might be room numbers for people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inside the building There was no problem that some people thought in terms of 413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Soda Hall and some people thought in terms of 2600 Hurst Avenue That was okay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they were on two different layers So let's just take that same idea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apply it to our routing problem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2ebe6434060_0_1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2ebe6434060_0_1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Google search only needs to know about other google search not where they are located in the datacenter - V1, V2, and V6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Scale each layer separately - pod based structure everyone in a pod can be 1.1, 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2ebe6434060_0_1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2ebe6434060_0_1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bridge the gap between layers in the internet - same idea. More headers!! 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2ebcec87395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2ebcec87395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and make it a bit more concrete in example run through 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2ebcec87395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2ebcec87395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2ebcec87395_0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2ebcec87395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2ebcec87395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2ebcec87395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switch lives in software and does the translation. It can be thought of a bridge between the overlay and the underlay 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2ebcec87395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2ebcec87395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ebcec87395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2ebcec87395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2ebcec87395_0_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2ebcec87395_0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2ebcec87395_0_9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2ebcec87395_0_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2ebcec87395_0_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2ebcec87395_0_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2ebe6434060_0_1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2ebe6434060_0_1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2ebe6434060_0_1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2ebe6434060_0_1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2ebe6434060_0_169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2ebe6434060_0_1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2ebe6434060_0_1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2ebe6434060_0_1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2ebe6434060_0_1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2ebe6434060_0_1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Startup buying time on AWS - don’t want to </a:t>
            </a:r>
            <a:r>
              <a:rPr lang="en"/>
              <a:t>have to avoid the address space everyone else is using. That’s inconvenient to talk to all the other tenants.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g2ebcec87395_0_1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g2ebcec87395_0_1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2ebcec87395_0_10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2ebcec87395_0_1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headers!!!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2ebcec87395_0_10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2ebcec87395_0_1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2ebe6434060_0_1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g2ebe6434060_0_1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2ebe6434060_0_1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2ebe6434060_0_1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network context for what tenant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underlay head for where it is physically located 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2ebe6434060_0_1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8" name="Google Shape;1548;g2ebe6434060_0_1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2ebe6434060_0_1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9" name="Google Shape;1569;g2ebe6434060_0_1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MPLS for labeling different tenants in a datacenter like in our previous coke and pepsi example 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g2ebe6434060_0_1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5" name="Google Shape;1575;g2ebe6434060_0_1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Summer 2025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Kao, Ankit Singla, Murphy McCauley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Datacenter Routing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19 (Datacenters 2)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4805825" y="539599"/>
            <a:ext cx="3575100" cy="1304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5463175" y="677480"/>
            <a:ext cx="4518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6460975" y="198363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" name="Google Shape;149;p24"/>
          <p:cNvCxnSpPr>
            <a:stCxn id="148" idx="0"/>
            <a:endCxn id="150" idx="2"/>
          </p:cNvCxnSpPr>
          <p:nvPr/>
        </p:nvCxnSpPr>
        <p:spPr>
          <a:xfrm rot="10800000">
            <a:off x="6603475" y="1654230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24"/>
          <p:cNvSpPr/>
          <p:nvPr/>
        </p:nvSpPr>
        <p:spPr>
          <a:xfrm>
            <a:off x="5972275" y="136908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6377575" y="677480"/>
            <a:ext cx="4518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2" name="Google Shape;152;p24"/>
          <p:cNvCxnSpPr>
            <a:stCxn id="150" idx="0"/>
            <a:endCxn id="147" idx="2"/>
          </p:cNvCxnSpPr>
          <p:nvPr/>
        </p:nvCxnSpPr>
        <p:spPr>
          <a:xfrm rot="10800000">
            <a:off x="5689075" y="962582"/>
            <a:ext cx="914400" cy="40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4"/>
          <p:cNvCxnSpPr>
            <a:stCxn id="150" idx="0"/>
            <a:endCxn id="151" idx="2"/>
          </p:cNvCxnSpPr>
          <p:nvPr/>
        </p:nvCxnSpPr>
        <p:spPr>
          <a:xfrm rot="10800000">
            <a:off x="6603475" y="962582"/>
            <a:ext cx="0" cy="40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24"/>
          <p:cNvCxnSpPr>
            <a:stCxn id="150" idx="0"/>
            <a:endCxn id="155" idx="2"/>
          </p:cNvCxnSpPr>
          <p:nvPr/>
        </p:nvCxnSpPr>
        <p:spPr>
          <a:xfrm flipH="1" rot="10800000">
            <a:off x="6603475" y="962582"/>
            <a:ext cx="914400" cy="40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24"/>
          <p:cNvSpPr/>
          <p:nvPr/>
        </p:nvSpPr>
        <p:spPr>
          <a:xfrm>
            <a:off x="7291975" y="677480"/>
            <a:ext cx="4518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Datacenter Routing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Datacenter Addressing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Virtualization and Encapsulation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Virtualization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 and Underlay Networks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Multi-Tenancy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Private Networks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1" name="Google Shape;161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Datacenter Routing</a:t>
            </a:r>
            <a:endParaRPr/>
          </a:p>
        </p:txBody>
      </p:sp>
      <p:sp>
        <p:nvSpPr>
          <p:cNvPr id="162" name="Google Shape;162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19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Datacenters Different? – Multiple Paths</a:t>
            </a:r>
            <a:endParaRPr/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107050" y="402200"/>
            <a:ext cx="47043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In a Clos network, there are many paths between two servers.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routing algorithms so far pick a </a:t>
            </a:r>
            <a:r>
              <a:rPr i="1" lang="en"/>
              <a:t>single</a:t>
            </a:r>
            <a:r>
              <a:rPr lang="en"/>
              <a:t> path from source to destination.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modify our routing protocols to find multiple paths?</a:t>
            </a:r>
            <a:endParaRPr/>
          </a:p>
        </p:txBody>
      </p:sp>
      <p:cxnSp>
        <p:nvCxnSpPr>
          <p:cNvPr id="169" name="Google Shape;169;p26"/>
          <p:cNvCxnSpPr>
            <a:stCxn id="170" idx="3"/>
            <a:endCxn id="171" idx="1"/>
          </p:cNvCxnSpPr>
          <p:nvPr/>
        </p:nvCxnSpPr>
        <p:spPr>
          <a:xfrm>
            <a:off x="7595800" y="1743569"/>
            <a:ext cx="770400" cy="1847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6"/>
          <p:cNvCxnSpPr>
            <a:stCxn id="173" idx="3"/>
            <a:endCxn id="171" idx="1"/>
          </p:cNvCxnSpPr>
          <p:nvPr/>
        </p:nvCxnSpPr>
        <p:spPr>
          <a:xfrm>
            <a:off x="7595800" y="2359506"/>
            <a:ext cx="770400" cy="1231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26"/>
          <p:cNvCxnSpPr>
            <a:stCxn id="175" idx="3"/>
            <a:endCxn id="176" idx="1"/>
          </p:cNvCxnSpPr>
          <p:nvPr/>
        </p:nvCxnSpPr>
        <p:spPr>
          <a:xfrm flipH="1" rot="10800000">
            <a:off x="7595800" y="1743344"/>
            <a:ext cx="770400" cy="1232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6"/>
          <p:cNvCxnSpPr>
            <a:stCxn id="175" idx="3"/>
            <a:endCxn id="178" idx="1"/>
          </p:cNvCxnSpPr>
          <p:nvPr/>
        </p:nvCxnSpPr>
        <p:spPr>
          <a:xfrm flipH="1" rot="10800000">
            <a:off x="7595800" y="235954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6"/>
          <p:cNvCxnSpPr>
            <a:endCxn id="180" idx="1"/>
          </p:cNvCxnSpPr>
          <p:nvPr/>
        </p:nvCxnSpPr>
        <p:spPr>
          <a:xfrm>
            <a:off x="7595750" y="2975444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6"/>
          <p:cNvCxnSpPr>
            <a:stCxn id="175" idx="3"/>
            <a:endCxn id="171" idx="1"/>
          </p:cNvCxnSpPr>
          <p:nvPr/>
        </p:nvCxnSpPr>
        <p:spPr>
          <a:xfrm>
            <a:off x="7595800" y="297544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6"/>
          <p:cNvCxnSpPr>
            <a:stCxn id="183" idx="3"/>
            <a:endCxn id="176" idx="1"/>
          </p:cNvCxnSpPr>
          <p:nvPr/>
        </p:nvCxnSpPr>
        <p:spPr>
          <a:xfrm flipH="1" rot="10800000">
            <a:off x="7595800" y="1743369"/>
            <a:ext cx="770400" cy="1848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6"/>
          <p:cNvCxnSpPr>
            <a:stCxn id="183" idx="3"/>
            <a:endCxn id="178" idx="1"/>
          </p:cNvCxnSpPr>
          <p:nvPr/>
        </p:nvCxnSpPr>
        <p:spPr>
          <a:xfrm flipH="1" rot="10800000">
            <a:off x="7595800" y="2359569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6"/>
          <p:cNvCxnSpPr>
            <a:stCxn id="183" idx="3"/>
            <a:endCxn id="180" idx="1"/>
          </p:cNvCxnSpPr>
          <p:nvPr/>
        </p:nvCxnSpPr>
        <p:spPr>
          <a:xfrm flipH="1" rot="10800000">
            <a:off x="7595800" y="297546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6"/>
          <p:cNvCxnSpPr>
            <a:stCxn id="183" idx="3"/>
            <a:endCxn id="171" idx="1"/>
          </p:cNvCxnSpPr>
          <p:nvPr/>
        </p:nvCxnSpPr>
        <p:spPr>
          <a:xfrm>
            <a:off x="7595800" y="3591369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6"/>
          <p:cNvCxnSpPr>
            <a:stCxn id="188" idx="3"/>
            <a:endCxn id="170" idx="1"/>
          </p:cNvCxnSpPr>
          <p:nvPr/>
        </p:nvCxnSpPr>
        <p:spPr>
          <a:xfrm>
            <a:off x="6813745" y="1743431"/>
            <a:ext cx="305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89" name="Google Shape;189;p26"/>
          <p:cNvGrpSpPr/>
          <p:nvPr/>
        </p:nvGrpSpPr>
        <p:grpSpPr>
          <a:xfrm>
            <a:off x="6436045" y="1492629"/>
            <a:ext cx="377700" cy="501937"/>
            <a:chOff x="4720275" y="1429404"/>
            <a:chExt cx="377700" cy="501937"/>
          </a:xfrm>
        </p:grpSpPr>
        <p:sp>
          <p:nvSpPr>
            <p:cNvPr id="188" name="Google Shape;188;p2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0" name="Google Shape;190;p2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1" name="Google Shape;191;p2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2" name="Google Shape;192;p2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3" name="Google Shape;193;p2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4" name="Google Shape;194;p2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5" name="Google Shape;195;p2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6" name="Google Shape;196;p2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97" name="Google Shape;197;p2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2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2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2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2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2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2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2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5" name="Google Shape;205;p2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206" name="Google Shape;206;p26"/>
          <p:cNvCxnSpPr>
            <a:stCxn id="207" idx="3"/>
            <a:endCxn id="173" idx="1"/>
          </p:cNvCxnSpPr>
          <p:nvPr/>
        </p:nvCxnSpPr>
        <p:spPr>
          <a:xfrm>
            <a:off x="6813795" y="2359343"/>
            <a:ext cx="305700" cy="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208" name="Google Shape;208;p26"/>
          <p:cNvGrpSpPr/>
          <p:nvPr/>
        </p:nvGrpSpPr>
        <p:grpSpPr>
          <a:xfrm>
            <a:off x="6436095" y="2108542"/>
            <a:ext cx="377700" cy="501937"/>
            <a:chOff x="4720275" y="1429404"/>
            <a:chExt cx="377700" cy="501937"/>
          </a:xfrm>
        </p:grpSpPr>
        <p:sp>
          <p:nvSpPr>
            <p:cNvPr id="207" name="Google Shape;207;p2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16" name="Google Shape;216;p2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2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2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2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" name="Google Shape;220;p2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2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2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" name="Google Shape;223;p2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4" name="Google Shape;224;p2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225" name="Google Shape;225;p26"/>
          <p:cNvCxnSpPr>
            <a:stCxn id="226" idx="3"/>
            <a:endCxn id="175" idx="1"/>
          </p:cNvCxnSpPr>
          <p:nvPr/>
        </p:nvCxnSpPr>
        <p:spPr>
          <a:xfrm>
            <a:off x="6813695" y="2975281"/>
            <a:ext cx="305700" cy="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7" name="Google Shape;227;p26"/>
          <p:cNvGrpSpPr/>
          <p:nvPr/>
        </p:nvGrpSpPr>
        <p:grpSpPr>
          <a:xfrm>
            <a:off x="6435995" y="2724479"/>
            <a:ext cx="377700" cy="501937"/>
            <a:chOff x="4720275" y="1429404"/>
            <a:chExt cx="377700" cy="501937"/>
          </a:xfrm>
        </p:grpSpPr>
        <p:sp>
          <p:nvSpPr>
            <p:cNvPr id="226" name="Google Shape;226;p2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1" name="Google Shape;231;p2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4" name="Google Shape;234;p2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35" name="Google Shape;235;p2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6" name="Google Shape;236;p2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2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" name="Google Shape;238;p2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" name="Google Shape;239;p2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2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2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2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3" name="Google Shape;243;p2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244" name="Google Shape;244;p26"/>
          <p:cNvCxnSpPr>
            <a:stCxn id="245" idx="3"/>
            <a:endCxn id="183" idx="1"/>
          </p:cNvCxnSpPr>
          <p:nvPr/>
        </p:nvCxnSpPr>
        <p:spPr>
          <a:xfrm>
            <a:off x="6813795" y="3591231"/>
            <a:ext cx="3057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6" name="Google Shape;246;p26"/>
          <p:cNvGrpSpPr/>
          <p:nvPr/>
        </p:nvGrpSpPr>
        <p:grpSpPr>
          <a:xfrm>
            <a:off x="6436095" y="3340429"/>
            <a:ext cx="377700" cy="501937"/>
            <a:chOff x="4720275" y="1429404"/>
            <a:chExt cx="377700" cy="501937"/>
          </a:xfrm>
        </p:grpSpPr>
        <p:sp>
          <p:nvSpPr>
            <p:cNvPr id="245" name="Google Shape;245;p2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53" name="Google Shape;253;p2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54" name="Google Shape;254;p2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5" name="Google Shape;255;p2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6" name="Google Shape;256;p2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7" name="Google Shape;257;p2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" name="Google Shape;258;p2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" name="Google Shape;259;p2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0" name="Google Shape;260;p2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" name="Google Shape;261;p2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2" name="Google Shape;262;p2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263" name="Google Shape;263;p26"/>
          <p:cNvCxnSpPr>
            <a:stCxn id="170" idx="3"/>
            <a:endCxn id="178" idx="1"/>
          </p:cNvCxnSpPr>
          <p:nvPr/>
        </p:nvCxnSpPr>
        <p:spPr>
          <a:xfrm>
            <a:off x="7595800" y="1743569"/>
            <a:ext cx="770400" cy="615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6"/>
          <p:cNvCxnSpPr>
            <a:stCxn id="173" idx="3"/>
            <a:endCxn id="178" idx="1"/>
          </p:cNvCxnSpPr>
          <p:nvPr/>
        </p:nvCxnSpPr>
        <p:spPr>
          <a:xfrm>
            <a:off x="7595800" y="2359506"/>
            <a:ext cx="7704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6"/>
          <p:cNvCxnSpPr>
            <a:stCxn id="170" idx="3"/>
            <a:endCxn id="176" idx="1"/>
          </p:cNvCxnSpPr>
          <p:nvPr/>
        </p:nvCxnSpPr>
        <p:spPr>
          <a:xfrm>
            <a:off x="7595800" y="1743569"/>
            <a:ext cx="770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26"/>
          <p:cNvCxnSpPr>
            <a:stCxn id="173" idx="3"/>
            <a:endCxn id="176" idx="1"/>
          </p:cNvCxnSpPr>
          <p:nvPr/>
        </p:nvCxnSpPr>
        <p:spPr>
          <a:xfrm flipH="1" rot="10800000">
            <a:off x="7595800" y="1743306"/>
            <a:ext cx="770400" cy="616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26"/>
          <p:cNvCxnSpPr>
            <a:stCxn id="170" idx="3"/>
            <a:endCxn id="180" idx="1"/>
          </p:cNvCxnSpPr>
          <p:nvPr/>
        </p:nvCxnSpPr>
        <p:spPr>
          <a:xfrm>
            <a:off x="7595800" y="1743569"/>
            <a:ext cx="770400" cy="1231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26"/>
          <p:cNvCxnSpPr>
            <a:stCxn id="173" idx="3"/>
            <a:endCxn id="180" idx="1"/>
          </p:cNvCxnSpPr>
          <p:nvPr/>
        </p:nvCxnSpPr>
        <p:spPr>
          <a:xfrm>
            <a:off x="7595800" y="2359506"/>
            <a:ext cx="770400" cy="6159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26"/>
          <p:cNvSpPr/>
          <p:nvPr/>
        </p:nvSpPr>
        <p:spPr>
          <a:xfrm>
            <a:off x="7119400" y="150536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73" name="Google Shape;173;p26"/>
          <p:cNvSpPr/>
          <p:nvPr/>
        </p:nvSpPr>
        <p:spPr>
          <a:xfrm>
            <a:off x="7119400" y="2121306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7119400" y="273724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7119400" y="335316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8366150" y="150521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8366150" y="212131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8366150" y="273724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71" name="Google Shape;171;p26"/>
          <p:cNvSpPr/>
          <p:nvPr/>
        </p:nvSpPr>
        <p:spPr>
          <a:xfrm>
            <a:off x="8366150" y="335316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Why are Datacenters Different? – Multiple Paths</a:t>
            </a:r>
            <a:endParaRPr/>
          </a:p>
        </p:txBody>
      </p:sp>
      <p:sp>
        <p:nvSpPr>
          <p:cNvPr id="274" name="Google Shape;274;p27"/>
          <p:cNvSpPr txBox="1"/>
          <p:nvPr>
            <p:ph idx="1" type="body"/>
          </p:nvPr>
        </p:nvSpPr>
        <p:spPr>
          <a:xfrm>
            <a:off x="107050" y="402200"/>
            <a:ext cx="8909700" cy="6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want routing protocols to find multiple paths between two hosts.</a:t>
            </a:r>
            <a:endParaRPr/>
          </a:p>
        </p:txBody>
      </p:sp>
      <p:sp>
        <p:nvSpPr>
          <p:cNvPr id="275" name="Google Shape;275;p27"/>
          <p:cNvSpPr txBox="1"/>
          <p:nvPr/>
        </p:nvSpPr>
        <p:spPr>
          <a:xfrm>
            <a:off x="797250" y="2266901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428988" y="21097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27"/>
          <p:cNvSpPr/>
          <p:nvPr/>
        </p:nvSpPr>
        <p:spPr>
          <a:xfrm>
            <a:off x="2105391" y="256693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27"/>
          <p:cNvSpPr/>
          <p:nvPr/>
        </p:nvSpPr>
        <p:spPr>
          <a:xfrm>
            <a:off x="3781788" y="21097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27"/>
          <p:cNvCxnSpPr>
            <a:stCxn id="276" idx="6"/>
            <a:endCxn id="280" idx="1"/>
          </p:cNvCxnSpPr>
          <p:nvPr/>
        </p:nvCxnSpPr>
        <p:spPr>
          <a:xfrm>
            <a:off x="713988" y="2252239"/>
            <a:ext cx="55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27"/>
          <p:cNvCxnSpPr>
            <a:stCxn id="280" idx="3"/>
            <a:endCxn id="282" idx="1"/>
          </p:cNvCxnSpPr>
          <p:nvPr/>
        </p:nvCxnSpPr>
        <p:spPr>
          <a:xfrm flipH="1" rot="10800000">
            <a:off x="1552191" y="17950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7"/>
          <p:cNvCxnSpPr>
            <a:stCxn id="280" idx="3"/>
            <a:endCxn id="277" idx="1"/>
          </p:cNvCxnSpPr>
          <p:nvPr/>
        </p:nvCxnSpPr>
        <p:spPr>
          <a:xfrm>
            <a:off x="1552191" y="22522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27"/>
          <p:cNvCxnSpPr>
            <a:stCxn id="282" idx="3"/>
            <a:endCxn id="285" idx="1"/>
          </p:cNvCxnSpPr>
          <p:nvPr/>
        </p:nvCxnSpPr>
        <p:spPr>
          <a:xfrm>
            <a:off x="2390391" y="17950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27"/>
          <p:cNvCxnSpPr>
            <a:stCxn id="277" idx="3"/>
            <a:endCxn id="285" idx="1"/>
          </p:cNvCxnSpPr>
          <p:nvPr/>
        </p:nvCxnSpPr>
        <p:spPr>
          <a:xfrm flipH="1" rot="10800000">
            <a:off x="2390391" y="22522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27"/>
          <p:cNvCxnSpPr>
            <a:stCxn id="285" idx="3"/>
            <a:endCxn id="278" idx="2"/>
          </p:cNvCxnSpPr>
          <p:nvPr/>
        </p:nvCxnSpPr>
        <p:spPr>
          <a:xfrm>
            <a:off x="3228591" y="2252239"/>
            <a:ext cx="55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27"/>
          <p:cNvSpPr txBox="1"/>
          <p:nvPr/>
        </p:nvSpPr>
        <p:spPr>
          <a:xfrm>
            <a:off x="3311850" y="2266901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1746225" y="1986401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27"/>
          <p:cNvSpPr txBox="1"/>
          <p:nvPr/>
        </p:nvSpPr>
        <p:spPr>
          <a:xfrm>
            <a:off x="1746225" y="2328450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" name="Google Shape;291;p27"/>
          <p:cNvSpPr txBox="1"/>
          <p:nvPr/>
        </p:nvSpPr>
        <p:spPr>
          <a:xfrm>
            <a:off x="2355825" y="1986401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27"/>
          <p:cNvSpPr txBox="1"/>
          <p:nvPr/>
        </p:nvSpPr>
        <p:spPr>
          <a:xfrm>
            <a:off x="2355825" y="2328450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5077188" y="18049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8429988" y="18049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5" name="Google Shape;295;p27"/>
          <p:cNvCxnSpPr>
            <a:stCxn id="293" idx="6"/>
            <a:endCxn id="296" idx="1"/>
          </p:cNvCxnSpPr>
          <p:nvPr/>
        </p:nvCxnSpPr>
        <p:spPr>
          <a:xfrm>
            <a:off x="5362188" y="1947439"/>
            <a:ext cx="553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27"/>
          <p:cNvCxnSpPr>
            <a:stCxn id="296" idx="3"/>
            <a:endCxn id="298" idx="1"/>
          </p:cNvCxnSpPr>
          <p:nvPr/>
        </p:nvCxnSpPr>
        <p:spPr>
          <a:xfrm flipH="1" rot="10800000">
            <a:off x="6200391" y="17950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27"/>
          <p:cNvCxnSpPr>
            <a:stCxn id="296" idx="3"/>
            <a:endCxn id="300" idx="1"/>
          </p:cNvCxnSpPr>
          <p:nvPr/>
        </p:nvCxnSpPr>
        <p:spPr>
          <a:xfrm>
            <a:off x="6200391" y="22522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27"/>
          <p:cNvCxnSpPr>
            <a:stCxn id="298" idx="3"/>
            <a:endCxn id="302" idx="1"/>
          </p:cNvCxnSpPr>
          <p:nvPr/>
        </p:nvCxnSpPr>
        <p:spPr>
          <a:xfrm>
            <a:off x="7038591" y="17950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27"/>
          <p:cNvCxnSpPr>
            <a:stCxn id="300" idx="3"/>
            <a:endCxn id="302" idx="1"/>
          </p:cNvCxnSpPr>
          <p:nvPr/>
        </p:nvCxnSpPr>
        <p:spPr>
          <a:xfrm flipH="1" rot="10800000">
            <a:off x="7038591" y="22522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27"/>
          <p:cNvCxnSpPr>
            <a:stCxn id="302" idx="3"/>
            <a:endCxn id="294" idx="2"/>
          </p:cNvCxnSpPr>
          <p:nvPr/>
        </p:nvCxnSpPr>
        <p:spPr>
          <a:xfrm flipH="1" rot="10800000">
            <a:off x="7876791" y="1947439"/>
            <a:ext cx="553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27"/>
          <p:cNvSpPr/>
          <p:nvPr/>
        </p:nvSpPr>
        <p:spPr>
          <a:xfrm>
            <a:off x="5077188" y="24145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6" name="Google Shape;306;p27"/>
          <p:cNvCxnSpPr>
            <a:stCxn id="305" idx="6"/>
            <a:endCxn id="296" idx="1"/>
          </p:cNvCxnSpPr>
          <p:nvPr/>
        </p:nvCxnSpPr>
        <p:spPr>
          <a:xfrm flipH="1" rot="10800000">
            <a:off x="5362188" y="2252239"/>
            <a:ext cx="553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27"/>
          <p:cNvSpPr/>
          <p:nvPr/>
        </p:nvSpPr>
        <p:spPr>
          <a:xfrm>
            <a:off x="8429988" y="24145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8" name="Google Shape;308;p27"/>
          <p:cNvCxnSpPr>
            <a:stCxn id="302" idx="3"/>
            <a:endCxn id="307" idx="2"/>
          </p:cNvCxnSpPr>
          <p:nvPr/>
        </p:nvCxnSpPr>
        <p:spPr>
          <a:xfrm>
            <a:off x="7876791" y="2252239"/>
            <a:ext cx="553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27"/>
          <p:cNvSpPr/>
          <p:nvPr/>
        </p:nvSpPr>
        <p:spPr>
          <a:xfrm>
            <a:off x="659300" y="1674067"/>
            <a:ext cx="3200725" cy="537525"/>
          </a:xfrm>
          <a:custGeom>
            <a:rect b="b" l="l" r="r" t="t"/>
            <a:pathLst>
              <a:path extrusionOk="0" h="21501" w="128029">
                <a:moveTo>
                  <a:pt x="0" y="20969"/>
                </a:moveTo>
                <a:cubicBezTo>
                  <a:pt x="5020" y="20685"/>
                  <a:pt x="19688" y="22760"/>
                  <a:pt x="30118" y="19266"/>
                </a:cubicBezTo>
                <a:cubicBezTo>
                  <a:pt x="40548" y="15772"/>
                  <a:pt x="51865" y="56"/>
                  <a:pt x="62578" y="3"/>
                </a:cubicBezTo>
                <a:cubicBezTo>
                  <a:pt x="73292" y="-50"/>
                  <a:pt x="83491" y="15364"/>
                  <a:pt x="94399" y="18947"/>
                </a:cubicBezTo>
                <a:cubicBezTo>
                  <a:pt x="105308" y="22530"/>
                  <a:pt x="122424" y="21075"/>
                  <a:pt x="128029" y="21501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10" name="Google Shape;310;p27"/>
          <p:cNvSpPr/>
          <p:nvPr/>
        </p:nvSpPr>
        <p:spPr>
          <a:xfrm>
            <a:off x="5281150" y="1673984"/>
            <a:ext cx="3248600" cy="497775"/>
          </a:xfrm>
          <a:custGeom>
            <a:rect b="b" l="l" r="r" t="t"/>
            <a:pathLst>
              <a:path extrusionOk="0" h="19911" w="129944">
                <a:moveTo>
                  <a:pt x="0" y="7670"/>
                </a:moveTo>
                <a:cubicBezTo>
                  <a:pt x="5091" y="9692"/>
                  <a:pt x="19866" y="21079"/>
                  <a:pt x="30544" y="19802"/>
                </a:cubicBezTo>
                <a:cubicBezTo>
                  <a:pt x="41222" y="18525"/>
                  <a:pt x="53017" y="113"/>
                  <a:pt x="64067" y="7"/>
                </a:cubicBezTo>
                <a:cubicBezTo>
                  <a:pt x="75117" y="-99"/>
                  <a:pt x="85867" y="17922"/>
                  <a:pt x="96846" y="19164"/>
                </a:cubicBezTo>
                <a:cubicBezTo>
                  <a:pt x="107826" y="20406"/>
                  <a:pt x="124428" y="9408"/>
                  <a:pt x="129944" y="7457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11" name="Google Shape;311;p27"/>
          <p:cNvSpPr/>
          <p:nvPr/>
        </p:nvSpPr>
        <p:spPr>
          <a:xfrm>
            <a:off x="5297100" y="1876098"/>
            <a:ext cx="3216700" cy="745225"/>
          </a:xfrm>
          <a:custGeom>
            <a:rect b="b" l="l" r="r" t="t"/>
            <a:pathLst>
              <a:path extrusionOk="0" h="29809" w="128668">
                <a:moveTo>
                  <a:pt x="0" y="29809"/>
                </a:moveTo>
                <a:cubicBezTo>
                  <a:pt x="5144" y="28106"/>
                  <a:pt x="20238" y="24559"/>
                  <a:pt x="30863" y="19593"/>
                </a:cubicBezTo>
                <a:cubicBezTo>
                  <a:pt x="41488" y="14627"/>
                  <a:pt x="53195" y="189"/>
                  <a:pt x="63749" y="11"/>
                </a:cubicBezTo>
                <a:cubicBezTo>
                  <a:pt x="74303" y="-166"/>
                  <a:pt x="83366" y="13934"/>
                  <a:pt x="94186" y="18528"/>
                </a:cubicBezTo>
                <a:cubicBezTo>
                  <a:pt x="105006" y="23122"/>
                  <a:pt x="122921" y="26066"/>
                  <a:pt x="128668" y="27574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12" name="Google Shape;312;p27"/>
          <p:cNvSpPr txBox="1"/>
          <p:nvPr/>
        </p:nvSpPr>
        <p:spPr>
          <a:xfrm>
            <a:off x="429000" y="2958400"/>
            <a:ext cx="3637800" cy="20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Bandwidth: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A→B only used a single path, it can only send at 1 Gbps.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A→B split traffic across both paths, it can send at 2 Gbps.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Our routing protocols can only send traffic along one path.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27"/>
          <p:cNvSpPr txBox="1"/>
          <p:nvPr/>
        </p:nvSpPr>
        <p:spPr>
          <a:xfrm>
            <a:off x="5077200" y="2958400"/>
            <a:ext cx="3867000" cy="20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Coordination: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A→B and C→D might send along the same path, overloading it.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C→D should switch to using the bottom path instead.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Our routing protocols don't assume coordination between flows.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27"/>
          <p:cNvSpPr txBox="1"/>
          <p:nvPr/>
        </p:nvSpPr>
        <p:spPr>
          <a:xfrm>
            <a:off x="7239600" y="2797475"/>
            <a:ext cx="119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 on all links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27"/>
          <p:cNvSpPr/>
          <p:nvPr/>
        </p:nvSpPr>
        <p:spPr>
          <a:xfrm>
            <a:off x="1267191" y="2109739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27"/>
          <p:cNvSpPr/>
          <p:nvPr/>
        </p:nvSpPr>
        <p:spPr>
          <a:xfrm>
            <a:off x="2105391" y="1652539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27"/>
          <p:cNvSpPr/>
          <p:nvPr/>
        </p:nvSpPr>
        <p:spPr>
          <a:xfrm>
            <a:off x="2943591" y="2109739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27"/>
          <p:cNvSpPr/>
          <p:nvPr/>
        </p:nvSpPr>
        <p:spPr>
          <a:xfrm>
            <a:off x="5915391" y="2109739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6753591" y="1652539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6753591" y="2566939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27"/>
          <p:cNvSpPr/>
          <p:nvPr/>
        </p:nvSpPr>
        <p:spPr>
          <a:xfrm>
            <a:off x="7591791" y="2109739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Why are Datacenters Different? – Multiple Paths</a:t>
            </a:r>
            <a:endParaRPr/>
          </a:p>
        </p:txBody>
      </p:sp>
      <p:sp>
        <p:nvSpPr>
          <p:cNvPr id="320" name="Google Shape;320;p28"/>
          <p:cNvSpPr txBox="1"/>
          <p:nvPr>
            <p:ph idx="1" type="body"/>
          </p:nvPr>
        </p:nvSpPr>
        <p:spPr>
          <a:xfrm>
            <a:off x="107050" y="402200"/>
            <a:ext cx="89097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Equal Cost Multi-Path (ECMP)</a:t>
            </a:r>
            <a:r>
              <a:rPr lang="en"/>
              <a:t> finds all of the shortest paths (with equal cost).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Then, we load-balance packets across those paths.</a:t>
            </a:r>
            <a:endParaRPr/>
          </a:p>
        </p:txBody>
      </p:sp>
      <p:sp>
        <p:nvSpPr>
          <p:cNvPr id="321" name="Google Shape;321;p28"/>
          <p:cNvSpPr txBox="1"/>
          <p:nvPr/>
        </p:nvSpPr>
        <p:spPr>
          <a:xfrm>
            <a:off x="797250" y="2266901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428988" y="21097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1267191" y="210973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2105391" y="165253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2105391" y="256693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2943591" y="210973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3781788" y="21097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8" name="Google Shape;328;p28"/>
          <p:cNvCxnSpPr>
            <a:stCxn id="322" idx="6"/>
            <a:endCxn id="323" idx="1"/>
          </p:cNvCxnSpPr>
          <p:nvPr/>
        </p:nvCxnSpPr>
        <p:spPr>
          <a:xfrm>
            <a:off x="713988" y="2252239"/>
            <a:ext cx="55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28"/>
          <p:cNvCxnSpPr>
            <a:stCxn id="323" idx="3"/>
            <a:endCxn id="324" idx="1"/>
          </p:cNvCxnSpPr>
          <p:nvPr/>
        </p:nvCxnSpPr>
        <p:spPr>
          <a:xfrm flipH="1" rot="10800000">
            <a:off x="1552191" y="17950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28"/>
          <p:cNvCxnSpPr>
            <a:stCxn id="323" idx="3"/>
            <a:endCxn id="325" idx="1"/>
          </p:cNvCxnSpPr>
          <p:nvPr/>
        </p:nvCxnSpPr>
        <p:spPr>
          <a:xfrm>
            <a:off x="1552191" y="22522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28"/>
          <p:cNvCxnSpPr>
            <a:stCxn id="324" idx="3"/>
            <a:endCxn id="326" idx="1"/>
          </p:cNvCxnSpPr>
          <p:nvPr/>
        </p:nvCxnSpPr>
        <p:spPr>
          <a:xfrm>
            <a:off x="2390391" y="17950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28"/>
          <p:cNvCxnSpPr>
            <a:stCxn id="325" idx="3"/>
            <a:endCxn id="326" idx="1"/>
          </p:cNvCxnSpPr>
          <p:nvPr/>
        </p:nvCxnSpPr>
        <p:spPr>
          <a:xfrm flipH="1" rot="10800000">
            <a:off x="2390391" y="22522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28"/>
          <p:cNvCxnSpPr>
            <a:stCxn id="326" idx="3"/>
            <a:endCxn id="327" idx="2"/>
          </p:cNvCxnSpPr>
          <p:nvPr/>
        </p:nvCxnSpPr>
        <p:spPr>
          <a:xfrm>
            <a:off x="3228591" y="2252239"/>
            <a:ext cx="55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28"/>
          <p:cNvSpPr txBox="1"/>
          <p:nvPr/>
        </p:nvSpPr>
        <p:spPr>
          <a:xfrm>
            <a:off x="3311850" y="2266901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28"/>
          <p:cNvSpPr txBox="1"/>
          <p:nvPr/>
        </p:nvSpPr>
        <p:spPr>
          <a:xfrm>
            <a:off x="1746225" y="1986401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28"/>
          <p:cNvSpPr txBox="1"/>
          <p:nvPr/>
        </p:nvSpPr>
        <p:spPr>
          <a:xfrm>
            <a:off x="1746225" y="2328450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28"/>
          <p:cNvSpPr txBox="1"/>
          <p:nvPr/>
        </p:nvSpPr>
        <p:spPr>
          <a:xfrm>
            <a:off x="2355825" y="1986401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28"/>
          <p:cNvSpPr txBox="1"/>
          <p:nvPr/>
        </p:nvSpPr>
        <p:spPr>
          <a:xfrm>
            <a:off x="2355825" y="2328450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28"/>
          <p:cNvSpPr/>
          <p:nvPr/>
        </p:nvSpPr>
        <p:spPr>
          <a:xfrm>
            <a:off x="5077188" y="18049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28"/>
          <p:cNvSpPr/>
          <p:nvPr/>
        </p:nvSpPr>
        <p:spPr>
          <a:xfrm>
            <a:off x="5915391" y="210973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28"/>
          <p:cNvSpPr/>
          <p:nvPr/>
        </p:nvSpPr>
        <p:spPr>
          <a:xfrm>
            <a:off x="6753591" y="165253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28"/>
          <p:cNvSpPr/>
          <p:nvPr/>
        </p:nvSpPr>
        <p:spPr>
          <a:xfrm>
            <a:off x="6753591" y="256693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28"/>
          <p:cNvSpPr/>
          <p:nvPr/>
        </p:nvSpPr>
        <p:spPr>
          <a:xfrm>
            <a:off x="7591791" y="210973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28"/>
          <p:cNvSpPr/>
          <p:nvPr/>
        </p:nvSpPr>
        <p:spPr>
          <a:xfrm>
            <a:off x="8429988" y="18049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5" name="Google Shape;345;p28"/>
          <p:cNvCxnSpPr>
            <a:stCxn id="339" idx="6"/>
            <a:endCxn id="340" idx="1"/>
          </p:cNvCxnSpPr>
          <p:nvPr/>
        </p:nvCxnSpPr>
        <p:spPr>
          <a:xfrm>
            <a:off x="5362188" y="1947439"/>
            <a:ext cx="553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28"/>
          <p:cNvCxnSpPr>
            <a:stCxn id="340" idx="3"/>
            <a:endCxn id="341" idx="1"/>
          </p:cNvCxnSpPr>
          <p:nvPr/>
        </p:nvCxnSpPr>
        <p:spPr>
          <a:xfrm flipH="1" rot="10800000">
            <a:off x="6200391" y="17950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" name="Google Shape;347;p28"/>
          <p:cNvCxnSpPr>
            <a:stCxn id="340" idx="3"/>
            <a:endCxn id="342" idx="1"/>
          </p:cNvCxnSpPr>
          <p:nvPr/>
        </p:nvCxnSpPr>
        <p:spPr>
          <a:xfrm>
            <a:off x="6200391" y="22522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28"/>
          <p:cNvCxnSpPr>
            <a:stCxn id="341" idx="3"/>
            <a:endCxn id="343" idx="1"/>
          </p:cNvCxnSpPr>
          <p:nvPr/>
        </p:nvCxnSpPr>
        <p:spPr>
          <a:xfrm>
            <a:off x="7038591" y="17950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28"/>
          <p:cNvCxnSpPr>
            <a:stCxn id="342" idx="3"/>
            <a:endCxn id="343" idx="1"/>
          </p:cNvCxnSpPr>
          <p:nvPr/>
        </p:nvCxnSpPr>
        <p:spPr>
          <a:xfrm flipH="1" rot="10800000">
            <a:off x="7038591" y="22522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28"/>
          <p:cNvCxnSpPr>
            <a:stCxn id="343" idx="3"/>
            <a:endCxn id="344" idx="2"/>
          </p:cNvCxnSpPr>
          <p:nvPr/>
        </p:nvCxnSpPr>
        <p:spPr>
          <a:xfrm flipH="1" rot="10800000">
            <a:off x="7876791" y="1947439"/>
            <a:ext cx="553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" name="Google Shape;351;p28"/>
          <p:cNvSpPr/>
          <p:nvPr/>
        </p:nvSpPr>
        <p:spPr>
          <a:xfrm>
            <a:off x="5077188" y="24145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2" name="Google Shape;352;p28"/>
          <p:cNvCxnSpPr>
            <a:stCxn id="351" idx="6"/>
            <a:endCxn id="340" idx="1"/>
          </p:cNvCxnSpPr>
          <p:nvPr/>
        </p:nvCxnSpPr>
        <p:spPr>
          <a:xfrm flipH="1" rot="10800000">
            <a:off x="5362188" y="2252239"/>
            <a:ext cx="553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" name="Google Shape;353;p28"/>
          <p:cNvSpPr/>
          <p:nvPr/>
        </p:nvSpPr>
        <p:spPr>
          <a:xfrm>
            <a:off x="8429988" y="24145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4" name="Google Shape;354;p28"/>
          <p:cNvCxnSpPr>
            <a:stCxn id="343" idx="3"/>
            <a:endCxn id="353" idx="2"/>
          </p:cNvCxnSpPr>
          <p:nvPr/>
        </p:nvCxnSpPr>
        <p:spPr>
          <a:xfrm>
            <a:off x="7876791" y="2252239"/>
            <a:ext cx="553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28"/>
          <p:cNvSpPr/>
          <p:nvPr/>
        </p:nvSpPr>
        <p:spPr>
          <a:xfrm>
            <a:off x="659300" y="1674067"/>
            <a:ext cx="3200725" cy="537525"/>
          </a:xfrm>
          <a:custGeom>
            <a:rect b="b" l="l" r="r" t="t"/>
            <a:pathLst>
              <a:path extrusionOk="0" h="21501" w="128029">
                <a:moveTo>
                  <a:pt x="0" y="20969"/>
                </a:moveTo>
                <a:cubicBezTo>
                  <a:pt x="5020" y="20685"/>
                  <a:pt x="19688" y="22760"/>
                  <a:pt x="30118" y="19266"/>
                </a:cubicBezTo>
                <a:cubicBezTo>
                  <a:pt x="40548" y="15772"/>
                  <a:pt x="51865" y="56"/>
                  <a:pt x="62578" y="3"/>
                </a:cubicBezTo>
                <a:cubicBezTo>
                  <a:pt x="73292" y="-50"/>
                  <a:pt x="83491" y="15364"/>
                  <a:pt x="94399" y="18947"/>
                </a:cubicBezTo>
                <a:cubicBezTo>
                  <a:pt x="105308" y="22530"/>
                  <a:pt x="122424" y="21075"/>
                  <a:pt x="128029" y="21501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56" name="Google Shape;356;p28"/>
          <p:cNvSpPr/>
          <p:nvPr/>
        </p:nvSpPr>
        <p:spPr>
          <a:xfrm>
            <a:off x="5281150" y="1673984"/>
            <a:ext cx="3248600" cy="497775"/>
          </a:xfrm>
          <a:custGeom>
            <a:rect b="b" l="l" r="r" t="t"/>
            <a:pathLst>
              <a:path extrusionOk="0" h="19911" w="129944">
                <a:moveTo>
                  <a:pt x="0" y="7670"/>
                </a:moveTo>
                <a:cubicBezTo>
                  <a:pt x="5091" y="9692"/>
                  <a:pt x="19866" y="21079"/>
                  <a:pt x="30544" y="19802"/>
                </a:cubicBezTo>
                <a:cubicBezTo>
                  <a:pt x="41222" y="18525"/>
                  <a:pt x="53017" y="113"/>
                  <a:pt x="64067" y="7"/>
                </a:cubicBezTo>
                <a:cubicBezTo>
                  <a:pt x="75117" y="-99"/>
                  <a:pt x="85867" y="17922"/>
                  <a:pt x="96846" y="19164"/>
                </a:cubicBezTo>
                <a:cubicBezTo>
                  <a:pt x="107826" y="20406"/>
                  <a:pt x="124428" y="9408"/>
                  <a:pt x="129944" y="7457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57" name="Google Shape;357;p28"/>
          <p:cNvSpPr txBox="1"/>
          <p:nvPr/>
        </p:nvSpPr>
        <p:spPr>
          <a:xfrm>
            <a:off x="429000" y="2958400"/>
            <a:ext cx="3637800" cy="20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Bandwidth: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A→B only used a single path, it can only send at 1 Gbps.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A→B split traffic across both paths, it can send at 2 Gbps.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Our routing protocols can only send traffic along one path.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28"/>
          <p:cNvSpPr txBox="1"/>
          <p:nvPr/>
        </p:nvSpPr>
        <p:spPr>
          <a:xfrm>
            <a:off x="5077200" y="2958400"/>
            <a:ext cx="3867000" cy="20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Coordination: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A→B and C→D might send along the same path, overloading it.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C→D should switch to using the bottom path instead.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Our routing protocols don't assume coordination between flows.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28"/>
          <p:cNvSpPr txBox="1"/>
          <p:nvPr/>
        </p:nvSpPr>
        <p:spPr>
          <a:xfrm>
            <a:off x="7239600" y="2797475"/>
            <a:ext cx="119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 on all links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28"/>
          <p:cNvSpPr/>
          <p:nvPr/>
        </p:nvSpPr>
        <p:spPr>
          <a:xfrm flipH="1" rot="10800000">
            <a:off x="659300" y="2283667"/>
            <a:ext cx="3200725" cy="537525"/>
          </a:xfrm>
          <a:custGeom>
            <a:rect b="b" l="l" r="r" t="t"/>
            <a:pathLst>
              <a:path extrusionOk="0" h="21501" w="128029">
                <a:moveTo>
                  <a:pt x="0" y="20969"/>
                </a:moveTo>
                <a:cubicBezTo>
                  <a:pt x="5020" y="20685"/>
                  <a:pt x="19688" y="22760"/>
                  <a:pt x="30118" y="19266"/>
                </a:cubicBezTo>
                <a:cubicBezTo>
                  <a:pt x="40548" y="15772"/>
                  <a:pt x="51865" y="56"/>
                  <a:pt x="62578" y="3"/>
                </a:cubicBezTo>
                <a:cubicBezTo>
                  <a:pt x="73292" y="-50"/>
                  <a:pt x="83491" y="15364"/>
                  <a:pt x="94399" y="18947"/>
                </a:cubicBezTo>
                <a:cubicBezTo>
                  <a:pt x="105308" y="22530"/>
                  <a:pt x="122424" y="21075"/>
                  <a:pt x="128029" y="21501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61" name="Google Shape;361;p28"/>
          <p:cNvSpPr/>
          <p:nvPr/>
        </p:nvSpPr>
        <p:spPr>
          <a:xfrm flipH="1" rot="10800000">
            <a:off x="5281150" y="2338206"/>
            <a:ext cx="3248600" cy="497775"/>
          </a:xfrm>
          <a:custGeom>
            <a:rect b="b" l="l" r="r" t="t"/>
            <a:pathLst>
              <a:path extrusionOk="0" h="19911" w="129944">
                <a:moveTo>
                  <a:pt x="0" y="7670"/>
                </a:moveTo>
                <a:cubicBezTo>
                  <a:pt x="5091" y="9692"/>
                  <a:pt x="19866" y="21079"/>
                  <a:pt x="30544" y="19802"/>
                </a:cubicBezTo>
                <a:cubicBezTo>
                  <a:pt x="41222" y="18525"/>
                  <a:pt x="53017" y="113"/>
                  <a:pt x="64067" y="7"/>
                </a:cubicBezTo>
                <a:cubicBezTo>
                  <a:pt x="75117" y="-99"/>
                  <a:pt x="85867" y="17922"/>
                  <a:pt x="96846" y="19164"/>
                </a:cubicBezTo>
                <a:cubicBezTo>
                  <a:pt x="107826" y="20406"/>
                  <a:pt x="124428" y="9408"/>
                  <a:pt x="129944" y="7457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9"/>
          <p:cNvSpPr/>
          <p:nvPr/>
        </p:nvSpPr>
        <p:spPr>
          <a:xfrm>
            <a:off x="484163" y="2443375"/>
            <a:ext cx="3428700" cy="1260000"/>
          </a:xfrm>
          <a:prstGeom prst="wedgeRoundRectCallout">
            <a:avLst>
              <a:gd fmla="val 57209" name="adj1"/>
              <a:gd fmla="val 53489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2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ECMP Load-Balancing</a:t>
            </a:r>
            <a:endParaRPr/>
          </a:p>
        </p:txBody>
      </p:sp>
      <p:sp>
        <p:nvSpPr>
          <p:cNvPr id="368" name="Google Shape;368;p29"/>
          <p:cNvSpPr txBox="1"/>
          <p:nvPr>
            <p:ph idx="1" type="body"/>
          </p:nvPr>
        </p:nvSpPr>
        <p:spPr>
          <a:xfrm>
            <a:off x="107050" y="402200"/>
            <a:ext cx="8909700" cy="20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there are multiple shortest paths, how does the router load-balance packets between those paths?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need a function to compute a link for each packet: </a:t>
            </a:r>
            <a:r>
              <a:rPr i="1" lang="en"/>
              <a:t>f</a:t>
            </a:r>
            <a:r>
              <a:rPr lang="en"/>
              <a:t>(packet) → link.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receive a packet and run this function to pick a link.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What's a good </a:t>
            </a:r>
            <a:r>
              <a:rPr i="1" lang="en"/>
              <a:t>f</a:t>
            </a:r>
            <a:r>
              <a:rPr lang="en"/>
              <a:t>?</a:t>
            </a:r>
            <a:endParaRPr/>
          </a:p>
        </p:txBody>
      </p:sp>
      <p:sp>
        <p:nvSpPr>
          <p:cNvPr id="369" name="Google Shape;369;p29"/>
          <p:cNvSpPr/>
          <p:nvPr/>
        </p:nvSpPr>
        <p:spPr>
          <a:xfrm>
            <a:off x="3226875" y="38495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0" name="Google Shape;370;p29"/>
          <p:cNvCxnSpPr>
            <a:stCxn id="369" idx="6"/>
            <a:endCxn id="371" idx="1"/>
          </p:cNvCxnSpPr>
          <p:nvPr/>
        </p:nvCxnSpPr>
        <p:spPr>
          <a:xfrm>
            <a:off x="3511875" y="3992039"/>
            <a:ext cx="55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29"/>
          <p:cNvCxnSpPr>
            <a:stCxn id="371" idx="3"/>
            <a:endCxn id="373" idx="1"/>
          </p:cNvCxnSpPr>
          <p:nvPr/>
        </p:nvCxnSpPr>
        <p:spPr>
          <a:xfrm flipH="1" rot="10800000">
            <a:off x="4350078" y="3230039"/>
            <a:ext cx="934200" cy="762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29"/>
          <p:cNvCxnSpPr>
            <a:stCxn id="371" idx="3"/>
            <a:endCxn id="375" idx="1"/>
          </p:cNvCxnSpPr>
          <p:nvPr/>
        </p:nvCxnSpPr>
        <p:spPr>
          <a:xfrm>
            <a:off x="4350078" y="3992039"/>
            <a:ext cx="934200" cy="762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3" name="Google Shape;373;p29"/>
          <p:cNvSpPr/>
          <p:nvPr/>
        </p:nvSpPr>
        <p:spPr>
          <a:xfrm>
            <a:off x="5284287" y="3158799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29"/>
          <p:cNvSpPr/>
          <p:nvPr/>
        </p:nvSpPr>
        <p:spPr>
          <a:xfrm>
            <a:off x="5284287" y="3920799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7" name="Google Shape;377;p29"/>
          <p:cNvCxnSpPr>
            <a:stCxn id="371" idx="3"/>
            <a:endCxn id="376" idx="1"/>
          </p:cNvCxnSpPr>
          <p:nvPr/>
        </p:nvCxnSpPr>
        <p:spPr>
          <a:xfrm>
            <a:off x="4350078" y="3992039"/>
            <a:ext cx="9342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5" name="Google Shape;375;p29"/>
          <p:cNvSpPr/>
          <p:nvPr/>
        </p:nvSpPr>
        <p:spPr>
          <a:xfrm>
            <a:off x="5284287" y="4682799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29"/>
          <p:cNvSpPr/>
          <p:nvPr/>
        </p:nvSpPr>
        <p:spPr>
          <a:xfrm>
            <a:off x="5817687" y="3158799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29"/>
          <p:cNvSpPr/>
          <p:nvPr/>
        </p:nvSpPr>
        <p:spPr>
          <a:xfrm>
            <a:off x="5817687" y="3920799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29"/>
          <p:cNvSpPr/>
          <p:nvPr/>
        </p:nvSpPr>
        <p:spPr>
          <a:xfrm>
            <a:off x="5817687" y="4682799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29"/>
          <p:cNvSpPr/>
          <p:nvPr/>
        </p:nvSpPr>
        <p:spPr>
          <a:xfrm>
            <a:off x="5550987" y="3158799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2" name="Google Shape;382;p29"/>
          <p:cNvCxnSpPr>
            <a:stCxn id="373" idx="3"/>
            <a:endCxn id="381" idx="1"/>
          </p:cNvCxnSpPr>
          <p:nvPr/>
        </p:nvCxnSpPr>
        <p:spPr>
          <a:xfrm>
            <a:off x="5426787" y="3230049"/>
            <a:ext cx="1242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29"/>
          <p:cNvCxnSpPr>
            <a:stCxn id="381" idx="3"/>
            <a:endCxn id="378" idx="1"/>
          </p:cNvCxnSpPr>
          <p:nvPr/>
        </p:nvCxnSpPr>
        <p:spPr>
          <a:xfrm>
            <a:off x="5693487" y="3230049"/>
            <a:ext cx="1242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29"/>
          <p:cNvCxnSpPr>
            <a:stCxn id="376" idx="3"/>
            <a:endCxn id="379" idx="1"/>
          </p:cNvCxnSpPr>
          <p:nvPr/>
        </p:nvCxnSpPr>
        <p:spPr>
          <a:xfrm>
            <a:off x="5426787" y="3992049"/>
            <a:ext cx="390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29"/>
          <p:cNvCxnSpPr>
            <a:stCxn id="375" idx="3"/>
            <a:endCxn id="380" idx="1"/>
          </p:cNvCxnSpPr>
          <p:nvPr/>
        </p:nvCxnSpPr>
        <p:spPr>
          <a:xfrm>
            <a:off x="5426787" y="4754049"/>
            <a:ext cx="390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29"/>
          <p:cNvCxnSpPr>
            <a:stCxn id="378" idx="3"/>
            <a:endCxn id="387" idx="1"/>
          </p:cNvCxnSpPr>
          <p:nvPr/>
        </p:nvCxnSpPr>
        <p:spPr>
          <a:xfrm>
            <a:off x="5960187" y="3230049"/>
            <a:ext cx="467100" cy="762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29"/>
          <p:cNvCxnSpPr>
            <a:stCxn id="379" idx="3"/>
            <a:endCxn id="387" idx="1"/>
          </p:cNvCxnSpPr>
          <p:nvPr/>
        </p:nvCxnSpPr>
        <p:spPr>
          <a:xfrm>
            <a:off x="5960187" y="3992049"/>
            <a:ext cx="467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29"/>
          <p:cNvCxnSpPr>
            <a:stCxn id="380" idx="3"/>
            <a:endCxn id="387" idx="1"/>
          </p:cNvCxnSpPr>
          <p:nvPr/>
        </p:nvCxnSpPr>
        <p:spPr>
          <a:xfrm flipH="1" rot="10800000">
            <a:off x="5960187" y="3992049"/>
            <a:ext cx="4671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" name="Google Shape;390;p29"/>
          <p:cNvSpPr/>
          <p:nvPr/>
        </p:nvSpPr>
        <p:spPr>
          <a:xfrm>
            <a:off x="6889425" y="38495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1" name="Google Shape;391;p29"/>
          <p:cNvCxnSpPr>
            <a:stCxn id="387" idx="3"/>
            <a:endCxn id="390" idx="2"/>
          </p:cNvCxnSpPr>
          <p:nvPr/>
        </p:nvCxnSpPr>
        <p:spPr>
          <a:xfrm>
            <a:off x="6569787" y="3992049"/>
            <a:ext cx="319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29"/>
          <p:cNvSpPr txBox="1"/>
          <p:nvPr/>
        </p:nvSpPr>
        <p:spPr>
          <a:xfrm>
            <a:off x="6331738" y="3196125"/>
            <a:ext cx="2460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Top path is not the shortest. Packets won't be sent this way.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29"/>
          <p:cNvSpPr txBox="1"/>
          <p:nvPr/>
        </p:nvSpPr>
        <p:spPr>
          <a:xfrm>
            <a:off x="2460738" y="4280700"/>
            <a:ext cx="225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R1 has to load-balance packets out of these 2 links.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29"/>
          <p:cNvSpPr/>
          <p:nvPr/>
        </p:nvSpPr>
        <p:spPr>
          <a:xfrm>
            <a:off x="4065078" y="384953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29"/>
          <p:cNvSpPr/>
          <p:nvPr/>
        </p:nvSpPr>
        <p:spPr>
          <a:xfrm>
            <a:off x="1011113" y="3241963"/>
            <a:ext cx="14202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29"/>
          <p:cNvSpPr/>
          <p:nvPr/>
        </p:nvSpPr>
        <p:spPr>
          <a:xfrm>
            <a:off x="1011113" y="2956963"/>
            <a:ext cx="14202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4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29"/>
          <p:cNvSpPr/>
          <p:nvPr/>
        </p:nvSpPr>
        <p:spPr>
          <a:xfrm>
            <a:off x="1011113" y="2671963"/>
            <a:ext cx="14202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3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29"/>
          <p:cNvSpPr txBox="1"/>
          <p:nvPr/>
        </p:nvSpPr>
        <p:spPr>
          <a:xfrm rot="-2365957">
            <a:off x="4661886" y="3291275"/>
            <a:ext cx="489790" cy="215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Link 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29"/>
          <p:cNvSpPr txBox="1"/>
          <p:nvPr/>
        </p:nvSpPr>
        <p:spPr>
          <a:xfrm rot="2350843">
            <a:off x="4729712" y="4254708"/>
            <a:ext cx="489578" cy="215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3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29"/>
          <p:cNvSpPr txBox="1"/>
          <p:nvPr/>
        </p:nvSpPr>
        <p:spPr>
          <a:xfrm>
            <a:off x="4629857" y="3776658"/>
            <a:ext cx="48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2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29"/>
          <p:cNvSpPr/>
          <p:nvPr/>
        </p:nvSpPr>
        <p:spPr>
          <a:xfrm>
            <a:off x="6427287" y="3920799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29"/>
          <p:cNvSpPr/>
          <p:nvPr/>
        </p:nvSpPr>
        <p:spPr>
          <a:xfrm>
            <a:off x="880613" y="2580475"/>
            <a:ext cx="1681200" cy="10380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29"/>
          <p:cNvSpPr txBox="1"/>
          <p:nvPr/>
        </p:nvSpPr>
        <p:spPr>
          <a:xfrm>
            <a:off x="560363" y="2822425"/>
            <a:ext cx="31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endParaRPr i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29"/>
          <p:cNvSpPr txBox="1"/>
          <p:nvPr/>
        </p:nvSpPr>
        <p:spPr>
          <a:xfrm>
            <a:off x="2622038" y="2914825"/>
            <a:ext cx="19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29"/>
          <p:cNvSpPr txBox="1"/>
          <p:nvPr/>
        </p:nvSpPr>
        <p:spPr>
          <a:xfrm>
            <a:off x="2927513" y="2960875"/>
            <a:ext cx="93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____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>
            <a:off x="5522250" y="1538400"/>
            <a:ext cx="2193900" cy="20667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ECMP Load-Balancing Strategy #1 – Round-Robin</a:t>
            </a:r>
            <a:endParaRPr/>
          </a:p>
        </p:txBody>
      </p:sp>
      <p:sp>
        <p:nvSpPr>
          <p:cNvPr id="410" name="Google Shape;410;p30"/>
          <p:cNvSpPr txBox="1"/>
          <p:nvPr>
            <p:ph idx="1" type="body"/>
          </p:nvPr>
        </p:nvSpPr>
        <p:spPr>
          <a:xfrm>
            <a:off x="107050" y="402200"/>
            <a:ext cx="4911300" cy="4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Round-robin: Ignore packet contents, and alternate sending between links.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 1, 2, 1, 2, 1, 2, ...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TCP p</a:t>
            </a:r>
            <a:r>
              <a:rPr lang="en"/>
              <a:t>acket reordering.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Equal-cost paths might have different latency.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Cost could be based on something else.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odd packets on slow path, and even packets on fast path:</a:t>
            </a:r>
            <a:br>
              <a:rPr lang="en"/>
            </a:br>
            <a:r>
              <a:rPr lang="en"/>
              <a:t>The recipient gets all the even packets before the odd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Recipient has to buffer packets, resulting in poor performance.</a:t>
            </a:r>
            <a:endParaRPr/>
          </a:p>
        </p:txBody>
      </p:sp>
      <p:sp>
        <p:nvSpPr>
          <p:cNvPr id="411" name="Google Shape;411;p30"/>
          <p:cNvSpPr/>
          <p:nvPr/>
        </p:nvSpPr>
        <p:spPr>
          <a:xfrm>
            <a:off x="5664004" y="3141750"/>
            <a:ext cx="19104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30"/>
          <p:cNvSpPr/>
          <p:nvPr/>
        </p:nvSpPr>
        <p:spPr>
          <a:xfrm>
            <a:off x="5664004" y="2856750"/>
            <a:ext cx="19104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Destination port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30"/>
          <p:cNvSpPr/>
          <p:nvPr/>
        </p:nvSpPr>
        <p:spPr>
          <a:xfrm>
            <a:off x="5664004" y="2571750"/>
            <a:ext cx="19104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Source port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30"/>
          <p:cNvSpPr txBox="1"/>
          <p:nvPr/>
        </p:nvSpPr>
        <p:spPr>
          <a:xfrm>
            <a:off x="5181388" y="2296418"/>
            <a:ext cx="31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endParaRPr i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30"/>
          <p:cNvSpPr txBox="1"/>
          <p:nvPr/>
        </p:nvSpPr>
        <p:spPr>
          <a:xfrm>
            <a:off x="7776463" y="2388818"/>
            <a:ext cx="19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30"/>
          <p:cNvSpPr txBox="1"/>
          <p:nvPr/>
        </p:nvSpPr>
        <p:spPr>
          <a:xfrm>
            <a:off x="8081938" y="2434868"/>
            <a:ext cx="93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____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30"/>
          <p:cNvSpPr/>
          <p:nvPr/>
        </p:nvSpPr>
        <p:spPr>
          <a:xfrm>
            <a:off x="5664004" y="2286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Protocol (TCP/UDP)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30"/>
          <p:cNvSpPr/>
          <p:nvPr/>
        </p:nvSpPr>
        <p:spPr>
          <a:xfrm>
            <a:off x="5664004" y="2001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Destination IP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30"/>
          <p:cNvSpPr/>
          <p:nvPr/>
        </p:nvSpPr>
        <p:spPr>
          <a:xfrm>
            <a:off x="5664004" y="1716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Source IP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1"/>
          <p:cNvSpPr/>
          <p:nvPr/>
        </p:nvSpPr>
        <p:spPr>
          <a:xfrm>
            <a:off x="5522250" y="1538400"/>
            <a:ext cx="2193900" cy="20667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3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ECMP Load-Balancing Strategy #2 – Destination-Based</a:t>
            </a:r>
            <a:endParaRPr/>
          </a:p>
        </p:txBody>
      </p:sp>
      <p:sp>
        <p:nvSpPr>
          <p:cNvPr id="426" name="Google Shape;426;p31"/>
          <p:cNvSpPr txBox="1"/>
          <p:nvPr>
            <p:ph idx="1" type="body"/>
          </p:nvPr>
        </p:nvSpPr>
        <p:spPr>
          <a:xfrm>
            <a:off x="107050" y="402200"/>
            <a:ext cx="4911300" cy="4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 destination IP to choose link.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If lots of sources sending to the same destination, one link is overloaded.</a:t>
            </a:r>
            <a:endParaRPr/>
          </a:p>
        </p:txBody>
      </p:sp>
      <p:sp>
        <p:nvSpPr>
          <p:cNvPr id="427" name="Google Shape;427;p31"/>
          <p:cNvSpPr/>
          <p:nvPr/>
        </p:nvSpPr>
        <p:spPr>
          <a:xfrm>
            <a:off x="5664004" y="3141750"/>
            <a:ext cx="19104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31"/>
          <p:cNvSpPr/>
          <p:nvPr/>
        </p:nvSpPr>
        <p:spPr>
          <a:xfrm>
            <a:off x="5664004" y="2856750"/>
            <a:ext cx="19104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Destination port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31"/>
          <p:cNvSpPr/>
          <p:nvPr/>
        </p:nvSpPr>
        <p:spPr>
          <a:xfrm>
            <a:off x="5664004" y="2571750"/>
            <a:ext cx="19104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Source port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31"/>
          <p:cNvSpPr txBox="1"/>
          <p:nvPr/>
        </p:nvSpPr>
        <p:spPr>
          <a:xfrm>
            <a:off x="5181388" y="2296418"/>
            <a:ext cx="31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endParaRPr i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31"/>
          <p:cNvSpPr txBox="1"/>
          <p:nvPr/>
        </p:nvSpPr>
        <p:spPr>
          <a:xfrm>
            <a:off x="7776463" y="2388818"/>
            <a:ext cx="19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31"/>
          <p:cNvSpPr txBox="1"/>
          <p:nvPr/>
        </p:nvSpPr>
        <p:spPr>
          <a:xfrm>
            <a:off x="8081938" y="2434868"/>
            <a:ext cx="93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____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31"/>
          <p:cNvSpPr/>
          <p:nvPr/>
        </p:nvSpPr>
        <p:spPr>
          <a:xfrm>
            <a:off x="5664004" y="2286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Protocol (TCP/UDP)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31"/>
          <p:cNvSpPr/>
          <p:nvPr/>
        </p:nvSpPr>
        <p:spPr>
          <a:xfrm>
            <a:off x="5664004" y="2001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Destination 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31"/>
          <p:cNvSpPr/>
          <p:nvPr/>
        </p:nvSpPr>
        <p:spPr>
          <a:xfrm>
            <a:off x="5664004" y="1716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Source IP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2"/>
          <p:cNvSpPr txBox="1"/>
          <p:nvPr>
            <p:ph idx="1" type="body"/>
          </p:nvPr>
        </p:nvSpPr>
        <p:spPr>
          <a:xfrm>
            <a:off x="107050" y="402200"/>
            <a:ext cx="4911300" cy="4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 source IP to choose link.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If the same source is sending to lots of destinations, one link is overloaded.</a:t>
            </a:r>
            <a:endParaRPr/>
          </a:p>
        </p:txBody>
      </p:sp>
      <p:sp>
        <p:nvSpPr>
          <p:cNvPr id="441" name="Google Shape;441;p32"/>
          <p:cNvSpPr/>
          <p:nvPr/>
        </p:nvSpPr>
        <p:spPr>
          <a:xfrm>
            <a:off x="5522250" y="1538400"/>
            <a:ext cx="2193900" cy="20667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ECMP Load-Balancing Strategy #3 – Source-Based</a:t>
            </a:r>
            <a:endParaRPr/>
          </a:p>
        </p:txBody>
      </p:sp>
      <p:sp>
        <p:nvSpPr>
          <p:cNvPr id="443" name="Google Shape;443;p32"/>
          <p:cNvSpPr/>
          <p:nvPr/>
        </p:nvSpPr>
        <p:spPr>
          <a:xfrm>
            <a:off x="5664004" y="3141750"/>
            <a:ext cx="19104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32"/>
          <p:cNvSpPr/>
          <p:nvPr/>
        </p:nvSpPr>
        <p:spPr>
          <a:xfrm>
            <a:off x="5664004" y="2856750"/>
            <a:ext cx="19104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Destination port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32"/>
          <p:cNvSpPr/>
          <p:nvPr/>
        </p:nvSpPr>
        <p:spPr>
          <a:xfrm>
            <a:off x="5664004" y="2571750"/>
            <a:ext cx="19104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Source port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32"/>
          <p:cNvSpPr txBox="1"/>
          <p:nvPr/>
        </p:nvSpPr>
        <p:spPr>
          <a:xfrm>
            <a:off x="5181388" y="2296418"/>
            <a:ext cx="31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endParaRPr i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32"/>
          <p:cNvSpPr txBox="1"/>
          <p:nvPr/>
        </p:nvSpPr>
        <p:spPr>
          <a:xfrm>
            <a:off x="7776463" y="2388818"/>
            <a:ext cx="19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32"/>
          <p:cNvSpPr txBox="1"/>
          <p:nvPr/>
        </p:nvSpPr>
        <p:spPr>
          <a:xfrm>
            <a:off x="8081938" y="2434868"/>
            <a:ext cx="93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____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32"/>
          <p:cNvSpPr/>
          <p:nvPr/>
        </p:nvSpPr>
        <p:spPr>
          <a:xfrm>
            <a:off x="5664004" y="2286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Protocol (TCP/UDP)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32"/>
          <p:cNvSpPr/>
          <p:nvPr/>
        </p:nvSpPr>
        <p:spPr>
          <a:xfrm>
            <a:off x="5664004" y="2001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Destination IP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32"/>
          <p:cNvSpPr/>
          <p:nvPr/>
        </p:nvSpPr>
        <p:spPr>
          <a:xfrm>
            <a:off x="5664004" y="1716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Source 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3"/>
          <p:cNvSpPr txBox="1"/>
          <p:nvPr>
            <p:ph idx="1" type="body"/>
          </p:nvPr>
        </p:nvSpPr>
        <p:spPr>
          <a:xfrm>
            <a:off x="107050" y="402200"/>
            <a:ext cx="4911300" cy="4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 source and destination IP to choose link.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Using both values helps spread out packets across links.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What if there are multiple large flows between the same two servers?</a:t>
            </a:r>
            <a:endParaRPr/>
          </a:p>
        </p:txBody>
      </p:sp>
      <p:sp>
        <p:nvSpPr>
          <p:cNvPr id="457" name="Google Shape;457;p33"/>
          <p:cNvSpPr/>
          <p:nvPr/>
        </p:nvSpPr>
        <p:spPr>
          <a:xfrm>
            <a:off x="5522250" y="1538400"/>
            <a:ext cx="2193900" cy="20667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3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ECMP Load-Balancing Strategy #4 – IP-Based</a:t>
            </a:r>
            <a:endParaRPr/>
          </a:p>
        </p:txBody>
      </p:sp>
      <p:sp>
        <p:nvSpPr>
          <p:cNvPr id="459" name="Google Shape;459;p33"/>
          <p:cNvSpPr/>
          <p:nvPr/>
        </p:nvSpPr>
        <p:spPr>
          <a:xfrm>
            <a:off x="5664004" y="3141750"/>
            <a:ext cx="19104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33"/>
          <p:cNvSpPr/>
          <p:nvPr/>
        </p:nvSpPr>
        <p:spPr>
          <a:xfrm>
            <a:off x="5664004" y="2856750"/>
            <a:ext cx="19104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Destination port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p33"/>
          <p:cNvSpPr/>
          <p:nvPr/>
        </p:nvSpPr>
        <p:spPr>
          <a:xfrm>
            <a:off x="5664004" y="2571750"/>
            <a:ext cx="19104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Source port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33"/>
          <p:cNvSpPr txBox="1"/>
          <p:nvPr/>
        </p:nvSpPr>
        <p:spPr>
          <a:xfrm>
            <a:off x="5181388" y="2296418"/>
            <a:ext cx="31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endParaRPr i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33"/>
          <p:cNvSpPr txBox="1"/>
          <p:nvPr/>
        </p:nvSpPr>
        <p:spPr>
          <a:xfrm>
            <a:off x="7776463" y="2388818"/>
            <a:ext cx="19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33"/>
          <p:cNvSpPr txBox="1"/>
          <p:nvPr/>
        </p:nvSpPr>
        <p:spPr>
          <a:xfrm>
            <a:off x="8081938" y="2434868"/>
            <a:ext cx="93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____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33"/>
          <p:cNvSpPr/>
          <p:nvPr/>
        </p:nvSpPr>
        <p:spPr>
          <a:xfrm>
            <a:off x="5664004" y="2286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Protocol (TCP/UDP)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33"/>
          <p:cNvSpPr/>
          <p:nvPr/>
        </p:nvSpPr>
        <p:spPr>
          <a:xfrm>
            <a:off x="5664004" y="2001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Destination 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p33"/>
          <p:cNvSpPr/>
          <p:nvPr/>
        </p:nvSpPr>
        <p:spPr>
          <a:xfrm>
            <a:off x="5664004" y="1716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Source 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4"/>
          <p:cNvSpPr txBox="1"/>
          <p:nvPr>
            <p:ph idx="1" type="body"/>
          </p:nvPr>
        </p:nvSpPr>
        <p:spPr>
          <a:xfrm>
            <a:off x="107050" y="402200"/>
            <a:ext cx="4911300" cy="37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 5 values to choose link: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Source and destination IP.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Source and destination port.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Protocol (TCP or UDP).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is called </a:t>
            </a:r>
            <a:r>
              <a:rPr b="1" lang="en"/>
              <a:t>per-flow</a:t>
            </a:r>
            <a:r>
              <a:rPr lang="en"/>
              <a:t> load-balancing.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flow has a unique </a:t>
            </a:r>
            <a:r>
              <a:rPr b="1" lang="en"/>
              <a:t>5-tuple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packets in the same flow use the same link (no reordering problems).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Modern commodity routers have support for reading these 5 values.</a:t>
            </a:r>
            <a:endParaRPr/>
          </a:p>
        </p:txBody>
      </p:sp>
      <p:sp>
        <p:nvSpPr>
          <p:cNvPr id="473" name="Google Shape;473;p34"/>
          <p:cNvSpPr/>
          <p:nvPr/>
        </p:nvSpPr>
        <p:spPr>
          <a:xfrm>
            <a:off x="5522250" y="1538400"/>
            <a:ext cx="2193900" cy="20667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3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ECMP Load-Balancing Strategy #5 – Flow-Based</a:t>
            </a:r>
            <a:endParaRPr/>
          </a:p>
        </p:txBody>
      </p:sp>
      <p:sp>
        <p:nvSpPr>
          <p:cNvPr id="475" name="Google Shape;475;p34"/>
          <p:cNvSpPr/>
          <p:nvPr/>
        </p:nvSpPr>
        <p:spPr>
          <a:xfrm>
            <a:off x="5664004" y="3141750"/>
            <a:ext cx="19104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34"/>
          <p:cNvSpPr/>
          <p:nvPr/>
        </p:nvSpPr>
        <p:spPr>
          <a:xfrm>
            <a:off x="5664004" y="2856750"/>
            <a:ext cx="19104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Destination port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34"/>
          <p:cNvSpPr/>
          <p:nvPr/>
        </p:nvSpPr>
        <p:spPr>
          <a:xfrm>
            <a:off x="5664004" y="2571750"/>
            <a:ext cx="19104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Source port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34"/>
          <p:cNvSpPr txBox="1"/>
          <p:nvPr/>
        </p:nvSpPr>
        <p:spPr>
          <a:xfrm>
            <a:off x="5181388" y="2296418"/>
            <a:ext cx="31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endParaRPr i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p34"/>
          <p:cNvSpPr txBox="1"/>
          <p:nvPr/>
        </p:nvSpPr>
        <p:spPr>
          <a:xfrm>
            <a:off x="7776463" y="2388818"/>
            <a:ext cx="19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34"/>
          <p:cNvSpPr txBox="1"/>
          <p:nvPr/>
        </p:nvSpPr>
        <p:spPr>
          <a:xfrm>
            <a:off x="8081938" y="2434868"/>
            <a:ext cx="93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____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34"/>
          <p:cNvSpPr/>
          <p:nvPr/>
        </p:nvSpPr>
        <p:spPr>
          <a:xfrm>
            <a:off x="5664004" y="2286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Protocol (TCP/UDP)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34"/>
          <p:cNvSpPr/>
          <p:nvPr/>
        </p:nvSpPr>
        <p:spPr>
          <a:xfrm>
            <a:off x="5664004" y="2001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Destination 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34"/>
          <p:cNvSpPr/>
          <p:nvPr/>
        </p:nvSpPr>
        <p:spPr>
          <a:xfrm>
            <a:off x="5664004" y="1716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Source 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34"/>
          <p:cNvSpPr txBox="1"/>
          <p:nvPr/>
        </p:nvSpPr>
        <p:spPr>
          <a:xfrm>
            <a:off x="200000" y="4342250"/>
            <a:ext cx="491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This does not account for flows being different sizes. Tracking flow size is more complex, for not a lot of benefit.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Multi-Path Distance-Vector Protocols</a:t>
            </a:r>
            <a:endParaRPr/>
          </a:p>
        </p:txBody>
      </p:sp>
      <p:sp>
        <p:nvSpPr>
          <p:cNvPr id="490" name="Google Shape;490;p35"/>
          <p:cNvSpPr txBox="1"/>
          <p:nvPr>
            <p:ph idx="1" type="body"/>
          </p:nvPr>
        </p:nvSpPr>
        <p:spPr>
          <a:xfrm>
            <a:off x="107050" y="402200"/>
            <a:ext cx="8909700" cy="14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adjust distance-vector protocols to support multiple paths?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 distance-vector: Routers </a:t>
            </a:r>
            <a:r>
              <a:rPr lang="en"/>
              <a:t>advertise paths and costs.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advertised path is better than the current best path, accept.</a:t>
            </a:r>
            <a:endParaRPr/>
          </a:p>
        </p:txBody>
      </p:sp>
      <p:sp>
        <p:nvSpPr>
          <p:cNvPr id="491" name="Google Shape;491;p35"/>
          <p:cNvSpPr/>
          <p:nvPr/>
        </p:nvSpPr>
        <p:spPr>
          <a:xfrm>
            <a:off x="2395975" y="360141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p35"/>
          <p:cNvSpPr/>
          <p:nvPr/>
        </p:nvSpPr>
        <p:spPr>
          <a:xfrm>
            <a:off x="3691378" y="36014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3" name="Google Shape;493;p35"/>
          <p:cNvCxnSpPr>
            <a:stCxn id="491" idx="6"/>
            <a:endCxn id="492" idx="1"/>
          </p:cNvCxnSpPr>
          <p:nvPr/>
        </p:nvCxnSpPr>
        <p:spPr>
          <a:xfrm>
            <a:off x="2680975" y="3743914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" name="Google Shape;494;p35"/>
          <p:cNvSpPr/>
          <p:nvPr/>
        </p:nvSpPr>
        <p:spPr>
          <a:xfrm>
            <a:off x="2395975" y="451581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35"/>
          <p:cNvSpPr/>
          <p:nvPr/>
        </p:nvSpPr>
        <p:spPr>
          <a:xfrm>
            <a:off x="3691378" y="45158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" name="Google Shape;496;p35"/>
          <p:cNvSpPr/>
          <p:nvPr/>
        </p:nvSpPr>
        <p:spPr>
          <a:xfrm>
            <a:off x="5139178" y="36014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p35"/>
          <p:cNvSpPr/>
          <p:nvPr/>
        </p:nvSpPr>
        <p:spPr>
          <a:xfrm>
            <a:off x="5139178" y="45158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8" name="Google Shape;498;p35"/>
          <p:cNvCxnSpPr>
            <a:stCxn id="492" idx="3"/>
            <a:endCxn id="497" idx="1"/>
          </p:cNvCxnSpPr>
          <p:nvPr/>
        </p:nvCxnSpPr>
        <p:spPr>
          <a:xfrm>
            <a:off x="3976378" y="3743914"/>
            <a:ext cx="116280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35"/>
          <p:cNvCxnSpPr>
            <a:stCxn id="495" idx="3"/>
            <a:endCxn id="497" idx="1"/>
          </p:cNvCxnSpPr>
          <p:nvPr/>
        </p:nvCxnSpPr>
        <p:spPr>
          <a:xfrm>
            <a:off x="3976378" y="4658314"/>
            <a:ext cx="116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0" name="Google Shape;500;p35"/>
          <p:cNvSpPr/>
          <p:nvPr/>
        </p:nvSpPr>
        <p:spPr>
          <a:xfrm>
            <a:off x="5524613" y="2784600"/>
            <a:ext cx="1223400" cy="681900"/>
          </a:xfrm>
          <a:prstGeom prst="wedgeRoundRectCallout">
            <a:avLst>
              <a:gd fmla="val -66513" name="adj1"/>
              <a:gd fmla="val 62691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I'm R2.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can reach B with cost 2.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01" name="Google Shape;501;p35"/>
          <p:cNvGraphicFramePr/>
          <p:nvPr/>
        </p:nvGraphicFramePr>
        <p:xfrm>
          <a:off x="2905925" y="2200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{DD06A9EC-F48A-45AF-851E-6F77734EB285}</a:tableStyleId>
              </a:tblPr>
              <a:tblGrid>
                <a:gridCol w="618625"/>
                <a:gridCol w="618625"/>
                <a:gridCol w="618625"/>
              </a:tblGrid>
              <a:tr h="2367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forwarding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 hMerge="1"/>
                <a:tc hMerge="1"/>
              </a:tr>
              <a:tr h="3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  <p:cxnSp>
        <p:nvCxnSpPr>
          <p:cNvPr id="502" name="Google Shape;502;p35"/>
          <p:cNvCxnSpPr>
            <a:stCxn id="494" idx="6"/>
            <a:endCxn id="495" idx="1"/>
          </p:cNvCxnSpPr>
          <p:nvPr/>
        </p:nvCxnSpPr>
        <p:spPr>
          <a:xfrm>
            <a:off x="2680975" y="4658314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35"/>
          <p:cNvCxnSpPr>
            <a:stCxn id="492" idx="3"/>
            <a:endCxn id="496" idx="1"/>
          </p:cNvCxnSpPr>
          <p:nvPr/>
        </p:nvCxnSpPr>
        <p:spPr>
          <a:xfrm>
            <a:off x="3976378" y="3743914"/>
            <a:ext cx="1162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35"/>
          <p:cNvCxnSpPr>
            <a:stCxn id="495" idx="3"/>
            <a:endCxn id="496" idx="1"/>
          </p:cNvCxnSpPr>
          <p:nvPr/>
        </p:nvCxnSpPr>
        <p:spPr>
          <a:xfrm flipH="1" rot="10800000">
            <a:off x="3976378" y="3743914"/>
            <a:ext cx="1162800" cy="914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Multi-Path Distance-Vector Protocols</a:t>
            </a:r>
            <a:endParaRPr/>
          </a:p>
        </p:txBody>
      </p:sp>
      <p:sp>
        <p:nvSpPr>
          <p:cNvPr id="510" name="Google Shape;510;p36"/>
          <p:cNvSpPr txBox="1"/>
          <p:nvPr>
            <p:ph idx="1" type="body"/>
          </p:nvPr>
        </p:nvSpPr>
        <p:spPr>
          <a:xfrm>
            <a:off x="107050" y="402200"/>
            <a:ext cx="89097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Normal distance-vector: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</a:t>
            </a:r>
            <a:r>
              <a:rPr lang="en"/>
              <a:t>advertised</a:t>
            </a:r>
            <a:r>
              <a:rPr lang="en"/>
              <a:t> path has the </a:t>
            </a:r>
            <a:r>
              <a:rPr i="1" lang="en"/>
              <a:t>same</a:t>
            </a:r>
            <a:r>
              <a:rPr lang="en"/>
              <a:t> cost as the current best-known cost, reject.</a:t>
            </a:r>
            <a:endParaRPr/>
          </a:p>
        </p:txBody>
      </p:sp>
      <p:sp>
        <p:nvSpPr>
          <p:cNvPr id="511" name="Google Shape;511;p36"/>
          <p:cNvSpPr/>
          <p:nvPr/>
        </p:nvSpPr>
        <p:spPr>
          <a:xfrm>
            <a:off x="2395975" y="360141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36"/>
          <p:cNvSpPr/>
          <p:nvPr/>
        </p:nvSpPr>
        <p:spPr>
          <a:xfrm>
            <a:off x="3691378" y="36014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3" name="Google Shape;513;p36"/>
          <p:cNvCxnSpPr>
            <a:stCxn id="511" idx="6"/>
            <a:endCxn id="512" idx="1"/>
          </p:cNvCxnSpPr>
          <p:nvPr/>
        </p:nvCxnSpPr>
        <p:spPr>
          <a:xfrm>
            <a:off x="2680975" y="3743914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4" name="Google Shape;514;p36"/>
          <p:cNvSpPr/>
          <p:nvPr/>
        </p:nvSpPr>
        <p:spPr>
          <a:xfrm>
            <a:off x="2395975" y="451581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36"/>
          <p:cNvSpPr/>
          <p:nvPr/>
        </p:nvSpPr>
        <p:spPr>
          <a:xfrm>
            <a:off x="3691378" y="45158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6" name="Google Shape;516;p36"/>
          <p:cNvSpPr/>
          <p:nvPr/>
        </p:nvSpPr>
        <p:spPr>
          <a:xfrm>
            <a:off x="5139178" y="36014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" name="Google Shape;517;p36"/>
          <p:cNvSpPr/>
          <p:nvPr/>
        </p:nvSpPr>
        <p:spPr>
          <a:xfrm>
            <a:off x="5139178" y="45158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8" name="Google Shape;518;p36"/>
          <p:cNvCxnSpPr>
            <a:stCxn id="512" idx="3"/>
            <a:endCxn id="516" idx="1"/>
          </p:cNvCxnSpPr>
          <p:nvPr/>
        </p:nvCxnSpPr>
        <p:spPr>
          <a:xfrm>
            <a:off x="3976378" y="3743914"/>
            <a:ext cx="116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36"/>
          <p:cNvCxnSpPr>
            <a:stCxn id="515" idx="3"/>
            <a:endCxn id="516" idx="1"/>
          </p:cNvCxnSpPr>
          <p:nvPr/>
        </p:nvCxnSpPr>
        <p:spPr>
          <a:xfrm flipH="1" rot="10800000">
            <a:off x="3976378" y="3743914"/>
            <a:ext cx="116280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36"/>
          <p:cNvSpPr/>
          <p:nvPr/>
        </p:nvSpPr>
        <p:spPr>
          <a:xfrm>
            <a:off x="5524613" y="3699000"/>
            <a:ext cx="1223400" cy="681900"/>
          </a:xfrm>
          <a:prstGeom prst="wedgeRoundRectCallout">
            <a:avLst>
              <a:gd fmla="val -66513" name="adj1"/>
              <a:gd fmla="val 62691" name="adj2"/>
              <a:gd fmla="val 0" name="adj3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I'm R4.</a:t>
            </a:r>
            <a:b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 can reach B with cost 2.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21" name="Google Shape;521;p36"/>
          <p:cNvGraphicFramePr/>
          <p:nvPr/>
        </p:nvGraphicFramePr>
        <p:xfrm>
          <a:off x="2905925" y="2200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{DD06A9EC-F48A-45AF-851E-6F77734EB285}</a:tableStyleId>
              </a:tblPr>
              <a:tblGrid>
                <a:gridCol w="618625"/>
                <a:gridCol w="618625"/>
                <a:gridCol w="618625"/>
              </a:tblGrid>
              <a:tr h="2367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forwarding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 hMerge="1"/>
                <a:tc hMerge="1"/>
              </a:tr>
              <a:tr h="3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  <p:cxnSp>
        <p:nvCxnSpPr>
          <p:cNvPr id="522" name="Google Shape;522;p36"/>
          <p:cNvCxnSpPr>
            <a:stCxn id="514" idx="6"/>
            <a:endCxn id="515" idx="1"/>
          </p:cNvCxnSpPr>
          <p:nvPr/>
        </p:nvCxnSpPr>
        <p:spPr>
          <a:xfrm>
            <a:off x="2680975" y="4658314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36"/>
          <p:cNvCxnSpPr>
            <a:stCxn id="512" idx="3"/>
            <a:endCxn id="517" idx="1"/>
          </p:cNvCxnSpPr>
          <p:nvPr/>
        </p:nvCxnSpPr>
        <p:spPr>
          <a:xfrm>
            <a:off x="3976378" y="3743914"/>
            <a:ext cx="1162800" cy="914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36"/>
          <p:cNvCxnSpPr>
            <a:stCxn id="515" idx="3"/>
            <a:endCxn id="517" idx="1"/>
          </p:cNvCxnSpPr>
          <p:nvPr/>
        </p:nvCxnSpPr>
        <p:spPr>
          <a:xfrm>
            <a:off x="3976378" y="4658314"/>
            <a:ext cx="1162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36"/>
          <p:cNvSpPr/>
          <p:nvPr/>
        </p:nvSpPr>
        <p:spPr>
          <a:xfrm>
            <a:off x="5214900" y="2323750"/>
            <a:ext cx="3147600" cy="681900"/>
          </a:xfrm>
          <a:prstGeom prst="wedgeRoundRectCallout">
            <a:avLst>
              <a:gd fmla="val -61363" name="adj1"/>
              <a:gd fmla="val -43342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already have a cost-3 path to B.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Your path is not better, so I'll ignore it.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Multi-Path Distance-Vector Protocols</a:t>
            </a:r>
            <a:endParaRPr/>
          </a:p>
        </p:txBody>
      </p:sp>
      <p:sp>
        <p:nvSpPr>
          <p:cNvPr id="531" name="Google Shape;531;p37"/>
          <p:cNvSpPr txBox="1"/>
          <p:nvPr>
            <p:ph idx="1" type="body"/>
          </p:nvPr>
        </p:nvSpPr>
        <p:spPr>
          <a:xfrm>
            <a:off x="107050" y="402200"/>
            <a:ext cx="8909700" cy="16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Multi-path</a:t>
            </a:r>
            <a:r>
              <a:rPr lang="en"/>
              <a:t> distance-vector: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advertised path has the </a:t>
            </a:r>
            <a:r>
              <a:rPr i="1" lang="en"/>
              <a:t>same</a:t>
            </a:r>
            <a:r>
              <a:rPr lang="en"/>
              <a:t> cost as the current best-known cost, </a:t>
            </a:r>
            <a:r>
              <a:rPr i="1" lang="en"/>
              <a:t>accept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forwarding table can now store multiple next-hops per destination.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</a:t>
            </a:r>
            <a:r>
              <a:rPr i="1" lang="en"/>
              <a:t>f</a:t>
            </a:r>
            <a:r>
              <a:rPr lang="en"/>
              <a:t> (load-balancing) to choose a next-hop for each packet.</a:t>
            </a:r>
            <a:endParaRPr/>
          </a:p>
        </p:txBody>
      </p:sp>
      <p:graphicFrame>
        <p:nvGraphicFramePr>
          <p:cNvPr id="532" name="Google Shape;532;p37"/>
          <p:cNvGraphicFramePr/>
          <p:nvPr/>
        </p:nvGraphicFramePr>
        <p:xfrm>
          <a:off x="2905925" y="2200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{DD06A9EC-F48A-45AF-851E-6F77734EB285}</a:tableStyleId>
              </a:tblPr>
              <a:tblGrid>
                <a:gridCol w="618625"/>
                <a:gridCol w="618625"/>
                <a:gridCol w="618625"/>
              </a:tblGrid>
              <a:tr h="2367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forwarding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 hMerge="1"/>
                <a:tc hMerge="1"/>
              </a:tr>
              <a:tr h="3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solidFill>
                          <a:srgbClr val="00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>
                        <a:solidFill>
                          <a:srgbClr val="00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solidFill>
                          <a:srgbClr val="00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  <p:sp>
        <p:nvSpPr>
          <p:cNvPr id="533" name="Google Shape;533;p37"/>
          <p:cNvSpPr/>
          <p:nvPr/>
        </p:nvSpPr>
        <p:spPr>
          <a:xfrm>
            <a:off x="5214900" y="2323750"/>
            <a:ext cx="3147600" cy="681900"/>
          </a:xfrm>
          <a:prstGeom prst="wedgeRoundRectCallout">
            <a:avLst>
              <a:gd fmla="val -61363" name="adj1"/>
              <a:gd fmla="val -43342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Your path is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equally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good.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I'll remember both paths.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37"/>
          <p:cNvSpPr/>
          <p:nvPr/>
        </p:nvSpPr>
        <p:spPr>
          <a:xfrm>
            <a:off x="2395975" y="360141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5" name="Google Shape;535;p37"/>
          <p:cNvSpPr/>
          <p:nvPr/>
        </p:nvSpPr>
        <p:spPr>
          <a:xfrm>
            <a:off x="3691378" y="36014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6" name="Google Shape;536;p37"/>
          <p:cNvCxnSpPr>
            <a:stCxn id="534" idx="6"/>
            <a:endCxn id="535" idx="1"/>
          </p:cNvCxnSpPr>
          <p:nvPr/>
        </p:nvCxnSpPr>
        <p:spPr>
          <a:xfrm>
            <a:off x="2680975" y="3743914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37"/>
          <p:cNvSpPr/>
          <p:nvPr/>
        </p:nvSpPr>
        <p:spPr>
          <a:xfrm>
            <a:off x="2395975" y="451581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37"/>
          <p:cNvSpPr/>
          <p:nvPr/>
        </p:nvSpPr>
        <p:spPr>
          <a:xfrm>
            <a:off x="3691378" y="45158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37"/>
          <p:cNvSpPr/>
          <p:nvPr/>
        </p:nvSpPr>
        <p:spPr>
          <a:xfrm>
            <a:off x="5139178" y="36014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0" name="Google Shape;540;p37"/>
          <p:cNvSpPr/>
          <p:nvPr/>
        </p:nvSpPr>
        <p:spPr>
          <a:xfrm>
            <a:off x="5139178" y="45158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1" name="Google Shape;541;p37"/>
          <p:cNvCxnSpPr>
            <a:stCxn id="535" idx="3"/>
            <a:endCxn id="539" idx="1"/>
          </p:cNvCxnSpPr>
          <p:nvPr/>
        </p:nvCxnSpPr>
        <p:spPr>
          <a:xfrm>
            <a:off x="3976378" y="3743914"/>
            <a:ext cx="116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37"/>
          <p:cNvCxnSpPr>
            <a:stCxn id="538" idx="3"/>
            <a:endCxn id="539" idx="1"/>
          </p:cNvCxnSpPr>
          <p:nvPr/>
        </p:nvCxnSpPr>
        <p:spPr>
          <a:xfrm flipH="1" rot="10800000">
            <a:off x="3976378" y="3743914"/>
            <a:ext cx="116280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3" name="Google Shape;543;p37"/>
          <p:cNvSpPr/>
          <p:nvPr/>
        </p:nvSpPr>
        <p:spPr>
          <a:xfrm>
            <a:off x="5524613" y="3699000"/>
            <a:ext cx="1223400" cy="681900"/>
          </a:xfrm>
          <a:prstGeom prst="wedgeRoundRectCallout">
            <a:avLst>
              <a:gd fmla="val -66513" name="adj1"/>
              <a:gd fmla="val 62691" name="adj2"/>
              <a:gd fmla="val 0" name="adj3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I'm R4.</a:t>
            </a:r>
            <a:b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 can reach B with cost 2.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4" name="Google Shape;544;p37"/>
          <p:cNvCxnSpPr>
            <a:stCxn id="537" idx="6"/>
            <a:endCxn id="538" idx="1"/>
          </p:cNvCxnSpPr>
          <p:nvPr/>
        </p:nvCxnSpPr>
        <p:spPr>
          <a:xfrm>
            <a:off x="2680975" y="4658314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37"/>
          <p:cNvCxnSpPr>
            <a:stCxn id="535" idx="3"/>
            <a:endCxn id="540" idx="1"/>
          </p:cNvCxnSpPr>
          <p:nvPr/>
        </p:nvCxnSpPr>
        <p:spPr>
          <a:xfrm>
            <a:off x="3976378" y="3743914"/>
            <a:ext cx="1162800" cy="914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37"/>
          <p:cNvCxnSpPr>
            <a:stCxn id="538" idx="3"/>
            <a:endCxn id="540" idx="1"/>
          </p:cNvCxnSpPr>
          <p:nvPr/>
        </p:nvCxnSpPr>
        <p:spPr>
          <a:xfrm>
            <a:off x="3976378" y="4658314"/>
            <a:ext cx="1162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Multi-Path Link-State Protocols</a:t>
            </a:r>
            <a:endParaRPr/>
          </a:p>
        </p:txBody>
      </p:sp>
      <p:sp>
        <p:nvSpPr>
          <p:cNvPr id="552" name="Google Shape;552;p3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link-state: Each router stores the full network graph.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router uses the graph to calculate shortest path to each destination.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Must extend protocol to calculate </a:t>
            </a:r>
            <a:r>
              <a:rPr i="1" lang="en"/>
              <a:t>all</a:t>
            </a:r>
            <a:r>
              <a:rPr lang="en"/>
              <a:t> shortest paths to each destination.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forwarding table can now store multiple next-hops per destination.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Just like multi-path distance-vector.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9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Datacenter Routing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Datacenter Addressing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Virtualization and Encapsulation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Virtualization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 and Underlay Networks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Multi-Tenancy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Private Networks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558" name="Google Shape;558;p3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Datacenter Addressing</a:t>
            </a:r>
            <a:endParaRPr/>
          </a:p>
        </p:txBody>
      </p:sp>
      <p:sp>
        <p:nvSpPr>
          <p:cNvPr id="559" name="Google Shape;559;p3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19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Datacenters Different? – Scaling Routing</a:t>
            </a:r>
            <a:endParaRPr/>
          </a:p>
        </p:txBody>
      </p:sp>
      <p:sp>
        <p:nvSpPr>
          <p:cNvPr id="565" name="Google Shape;565;p4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Scaling routing protocols in datacenters: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Distance-vector: </a:t>
            </a:r>
            <a:r>
              <a:rPr lang="en"/>
              <a:t>Separate advertisements per destination.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 a datacenter: </a:t>
            </a:r>
            <a:r>
              <a:rPr lang="en"/>
              <a:t>100,000+ destinations being advertised.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Link-state: Advertisements get flooded along every link.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 a datacenter: Clos networks can have 10,000+ links.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Clos networks scale by using commodity switches.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Memory, CPU, and forwarding table resources are limited.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can't store table entries for every destination.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Topology-Aware Addressing</a:t>
            </a:r>
            <a:endParaRPr/>
          </a:p>
        </p:txBody>
      </p:sp>
      <p:sp>
        <p:nvSpPr>
          <p:cNvPr id="571" name="Google Shape;571;p4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scale routing using hierarchical addressing.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 the Internet: Hierarchy is based on geography and organizations.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datacenters: Hierarchy is based on physical organization in the datacenter.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address tells us </a:t>
            </a:r>
            <a:r>
              <a:rPr i="1" lang="en"/>
              <a:t>where</a:t>
            </a:r>
            <a:r>
              <a:rPr lang="en"/>
              <a:t> in the building the host is.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Exploits the idea that the topology is </a:t>
            </a:r>
            <a:r>
              <a:rPr i="1" lang="en"/>
              <a:t>regular</a:t>
            </a:r>
            <a:r>
              <a:rPr lang="en"/>
              <a:t> (e.g. racks organized in rows).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6" name="Google Shape;576;p42"/>
          <p:cNvCxnSpPr>
            <a:stCxn id="577" idx="0"/>
            <a:endCxn id="578" idx="2"/>
          </p:cNvCxnSpPr>
          <p:nvPr/>
        </p:nvCxnSpPr>
        <p:spPr>
          <a:xfrm flipH="1" rot="10800000">
            <a:off x="1018602" y="2344994"/>
            <a:ext cx="10908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42"/>
          <p:cNvCxnSpPr>
            <a:stCxn id="580" idx="0"/>
            <a:endCxn id="578" idx="2"/>
          </p:cNvCxnSpPr>
          <p:nvPr/>
        </p:nvCxnSpPr>
        <p:spPr>
          <a:xfrm rot="10800000">
            <a:off x="2109402" y="2344994"/>
            <a:ext cx="9666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42"/>
          <p:cNvCxnSpPr>
            <a:stCxn id="582" idx="0"/>
            <a:endCxn id="578" idx="2"/>
          </p:cNvCxnSpPr>
          <p:nvPr/>
        </p:nvCxnSpPr>
        <p:spPr>
          <a:xfrm rot="10800000">
            <a:off x="2109402" y="2344994"/>
            <a:ext cx="30240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42"/>
          <p:cNvCxnSpPr>
            <a:stCxn id="584" idx="0"/>
            <a:endCxn id="578" idx="2"/>
          </p:cNvCxnSpPr>
          <p:nvPr/>
        </p:nvCxnSpPr>
        <p:spPr>
          <a:xfrm rot="10800000">
            <a:off x="2109402" y="2344994"/>
            <a:ext cx="50814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42"/>
          <p:cNvCxnSpPr>
            <a:stCxn id="577" idx="0"/>
            <a:endCxn id="586" idx="2"/>
          </p:cNvCxnSpPr>
          <p:nvPr/>
        </p:nvCxnSpPr>
        <p:spPr>
          <a:xfrm flipH="1" rot="10800000">
            <a:off x="1018602" y="2344994"/>
            <a:ext cx="26910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7" name="Google Shape;587;p42"/>
          <p:cNvCxnSpPr>
            <a:stCxn id="580" idx="0"/>
            <a:endCxn id="586" idx="2"/>
          </p:cNvCxnSpPr>
          <p:nvPr/>
        </p:nvCxnSpPr>
        <p:spPr>
          <a:xfrm flipH="1" rot="10800000">
            <a:off x="3076002" y="2344994"/>
            <a:ext cx="6336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" name="Google Shape;588;p42"/>
          <p:cNvCxnSpPr>
            <a:stCxn id="582" idx="0"/>
            <a:endCxn id="586" idx="2"/>
          </p:cNvCxnSpPr>
          <p:nvPr/>
        </p:nvCxnSpPr>
        <p:spPr>
          <a:xfrm rot="10800000">
            <a:off x="3709602" y="2344994"/>
            <a:ext cx="14238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42"/>
          <p:cNvCxnSpPr>
            <a:stCxn id="584" idx="0"/>
            <a:endCxn id="586" idx="2"/>
          </p:cNvCxnSpPr>
          <p:nvPr/>
        </p:nvCxnSpPr>
        <p:spPr>
          <a:xfrm rot="10800000">
            <a:off x="3709602" y="2344994"/>
            <a:ext cx="34812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42"/>
          <p:cNvCxnSpPr>
            <a:stCxn id="591" idx="0"/>
            <a:endCxn id="592" idx="2"/>
          </p:cNvCxnSpPr>
          <p:nvPr/>
        </p:nvCxnSpPr>
        <p:spPr>
          <a:xfrm flipH="1" rot="10800000">
            <a:off x="1933002" y="2344994"/>
            <a:ext cx="33768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42"/>
          <p:cNvCxnSpPr>
            <a:stCxn id="594" idx="0"/>
            <a:endCxn id="592" idx="2"/>
          </p:cNvCxnSpPr>
          <p:nvPr/>
        </p:nvCxnSpPr>
        <p:spPr>
          <a:xfrm flipH="1" rot="10800000">
            <a:off x="3990402" y="2344994"/>
            <a:ext cx="13194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42"/>
          <p:cNvCxnSpPr>
            <a:stCxn id="596" idx="0"/>
            <a:endCxn id="592" idx="2"/>
          </p:cNvCxnSpPr>
          <p:nvPr/>
        </p:nvCxnSpPr>
        <p:spPr>
          <a:xfrm rot="10800000">
            <a:off x="5309802" y="2344994"/>
            <a:ext cx="7380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42"/>
          <p:cNvCxnSpPr>
            <a:stCxn id="598" idx="0"/>
            <a:endCxn id="592" idx="2"/>
          </p:cNvCxnSpPr>
          <p:nvPr/>
        </p:nvCxnSpPr>
        <p:spPr>
          <a:xfrm rot="10800000">
            <a:off x="5309802" y="2344994"/>
            <a:ext cx="27954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42"/>
          <p:cNvCxnSpPr>
            <a:stCxn id="591" idx="0"/>
            <a:endCxn id="600" idx="2"/>
          </p:cNvCxnSpPr>
          <p:nvPr/>
        </p:nvCxnSpPr>
        <p:spPr>
          <a:xfrm flipH="1" rot="10800000">
            <a:off x="1933002" y="2344994"/>
            <a:ext cx="49770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42"/>
          <p:cNvCxnSpPr>
            <a:stCxn id="594" idx="0"/>
            <a:endCxn id="600" idx="2"/>
          </p:cNvCxnSpPr>
          <p:nvPr/>
        </p:nvCxnSpPr>
        <p:spPr>
          <a:xfrm flipH="1" rot="10800000">
            <a:off x="3990402" y="2344994"/>
            <a:ext cx="29196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42"/>
          <p:cNvCxnSpPr>
            <a:stCxn id="596" idx="0"/>
            <a:endCxn id="600" idx="2"/>
          </p:cNvCxnSpPr>
          <p:nvPr/>
        </p:nvCxnSpPr>
        <p:spPr>
          <a:xfrm flipH="1" rot="10800000">
            <a:off x="6047802" y="2344994"/>
            <a:ext cx="8622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42"/>
          <p:cNvCxnSpPr>
            <a:stCxn id="598" idx="0"/>
            <a:endCxn id="600" idx="2"/>
          </p:cNvCxnSpPr>
          <p:nvPr/>
        </p:nvCxnSpPr>
        <p:spPr>
          <a:xfrm rot="10800000">
            <a:off x="6910002" y="2344994"/>
            <a:ext cx="11952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42"/>
          <p:cNvCxnSpPr>
            <a:stCxn id="605" idx="0"/>
            <a:endCxn id="606" idx="2"/>
          </p:cNvCxnSpPr>
          <p:nvPr/>
        </p:nvCxnSpPr>
        <p:spPr>
          <a:xfrm flipH="1" rot="10800000">
            <a:off x="7900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" name="Google Shape;607;p42"/>
          <p:cNvCxnSpPr>
            <a:stCxn id="608" idx="0"/>
            <a:endCxn id="606" idx="2"/>
          </p:cNvCxnSpPr>
          <p:nvPr/>
        </p:nvCxnSpPr>
        <p:spPr>
          <a:xfrm rot="10800000">
            <a:off x="10186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42"/>
          <p:cNvCxnSpPr>
            <a:stCxn id="610" idx="0"/>
            <a:endCxn id="611" idx="2"/>
          </p:cNvCxnSpPr>
          <p:nvPr/>
        </p:nvCxnSpPr>
        <p:spPr>
          <a:xfrm flipH="1" rot="10800000">
            <a:off x="17044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42"/>
          <p:cNvCxnSpPr>
            <a:stCxn id="613" idx="0"/>
            <a:endCxn id="611" idx="2"/>
          </p:cNvCxnSpPr>
          <p:nvPr/>
        </p:nvCxnSpPr>
        <p:spPr>
          <a:xfrm rot="10800000">
            <a:off x="19330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42"/>
          <p:cNvCxnSpPr>
            <a:stCxn id="615" idx="0"/>
            <a:endCxn id="616" idx="2"/>
          </p:cNvCxnSpPr>
          <p:nvPr/>
        </p:nvCxnSpPr>
        <p:spPr>
          <a:xfrm flipH="1" rot="10800000">
            <a:off x="28474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42"/>
          <p:cNvCxnSpPr>
            <a:stCxn id="618" idx="0"/>
            <a:endCxn id="616" idx="2"/>
          </p:cNvCxnSpPr>
          <p:nvPr/>
        </p:nvCxnSpPr>
        <p:spPr>
          <a:xfrm rot="10800000">
            <a:off x="30760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" name="Google Shape;619;p42"/>
          <p:cNvCxnSpPr>
            <a:stCxn id="620" idx="0"/>
            <a:endCxn id="621" idx="2"/>
          </p:cNvCxnSpPr>
          <p:nvPr/>
        </p:nvCxnSpPr>
        <p:spPr>
          <a:xfrm flipH="1" rot="10800000">
            <a:off x="37618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42"/>
          <p:cNvCxnSpPr>
            <a:stCxn id="623" idx="0"/>
            <a:endCxn id="621" idx="2"/>
          </p:cNvCxnSpPr>
          <p:nvPr/>
        </p:nvCxnSpPr>
        <p:spPr>
          <a:xfrm rot="10800000">
            <a:off x="39904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42"/>
          <p:cNvCxnSpPr>
            <a:stCxn id="625" idx="0"/>
            <a:endCxn id="626" idx="2"/>
          </p:cNvCxnSpPr>
          <p:nvPr/>
        </p:nvCxnSpPr>
        <p:spPr>
          <a:xfrm flipH="1" rot="10800000">
            <a:off x="49048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7" name="Google Shape;627;p42"/>
          <p:cNvCxnSpPr>
            <a:stCxn id="628" idx="0"/>
            <a:endCxn id="626" idx="2"/>
          </p:cNvCxnSpPr>
          <p:nvPr/>
        </p:nvCxnSpPr>
        <p:spPr>
          <a:xfrm rot="10800000">
            <a:off x="51334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42"/>
          <p:cNvCxnSpPr>
            <a:stCxn id="630" idx="0"/>
            <a:endCxn id="631" idx="2"/>
          </p:cNvCxnSpPr>
          <p:nvPr/>
        </p:nvCxnSpPr>
        <p:spPr>
          <a:xfrm flipH="1" rot="10800000">
            <a:off x="58192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42"/>
          <p:cNvCxnSpPr>
            <a:stCxn id="633" idx="0"/>
            <a:endCxn id="631" idx="2"/>
          </p:cNvCxnSpPr>
          <p:nvPr/>
        </p:nvCxnSpPr>
        <p:spPr>
          <a:xfrm rot="10800000">
            <a:off x="60478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42"/>
          <p:cNvCxnSpPr>
            <a:stCxn id="635" idx="0"/>
            <a:endCxn id="636" idx="2"/>
          </p:cNvCxnSpPr>
          <p:nvPr/>
        </p:nvCxnSpPr>
        <p:spPr>
          <a:xfrm flipH="1" rot="10800000">
            <a:off x="69622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42"/>
          <p:cNvCxnSpPr>
            <a:stCxn id="638" idx="0"/>
            <a:endCxn id="636" idx="2"/>
          </p:cNvCxnSpPr>
          <p:nvPr/>
        </p:nvCxnSpPr>
        <p:spPr>
          <a:xfrm rot="10800000">
            <a:off x="71908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" name="Google Shape;639;p42"/>
          <p:cNvCxnSpPr>
            <a:stCxn id="640" idx="0"/>
            <a:endCxn id="641" idx="2"/>
          </p:cNvCxnSpPr>
          <p:nvPr/>
        </p:nvCxnSpPr>
        <p:spPr>
          <a:xfrm flipH="1" rot="10800000">
            <a:off x="78766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42"/>
          <p:cNvCxnSpPr>
            <a:stCxn id="643" idx="0"/>
            <a:endCxn id="641" idx="2"/>
          </p:cNvCxnSpPr>
          <p:nvPr/>
        </p:nvCxnSpPr>
        <p:spPr>
          <a:xfrm rot="10800000">
            <a:off x="81052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4" name="Google Shape;644;p42"/>
          <p:cNvSpPr/>
          <p:nvPr/>
        </p:nvSpPr>
        <p:spPr>
          <a:xfrm>
            <a:off x="488950" y="3100075"/>
            <a:ext cx="1969800" cy="18057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42"/>
          <p:cNvSpPr/>
          <p:nvPr/>
        </p:nvSpPr>
        <p:spPr>
          <a:xfrm>
            <a:off x="4603750" y="3100075"/>
            <a:ext cx="1969800" cy="18057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42"/>
          <p:cNvSpPr/>
          <p:nvPr/>
        </p:nvSpPr>
        <p:spPr>
          <a:xfrm>
            <a:off x="6661150" y="3100075"/>
            <a:ext cx="1969800" cy="18057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Google Shape;647;p42"/>
          <p:cNvSpPr txBox="1"/>
          <p:nvPr/>
        </p:nvSpPr>
        <p:spPr>
          <a:xfrm>
            <a:off x="761950" y="2640350"/>
            <a:ext cx="1423800" cy="369300"/>
          </a:xfrm>
          <a:prstGeom prst="rect">
            <a:avLst/>
          </a:prstGeom>
          <a:solidFill>
            <a:srgbClr val="C9DAF8">
              <a:alpha val="70000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 sz="18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.0.0/16</a:t>
            </a:r>
            <a:endParaRPr sz="18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42"/>
          <p:cNvSpPr/>
          <p:nvPr/>
        </p:nvSpPr>
        <p:spPr>
          <a:xfrm>
            <a:off x="2546350" y="3100075"/>
            <a:ext cx="1969800" cy="18057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42"/>
          <p:cNvSpPr txBox="1"/>
          <p:nvPr/>
        </p:nvSpPr>
        <p:spPr>
          <a:xfrm>
            <a:off x="4702300" y="3889675"/>
            <a:ext cx="862200" cy="221700"/>
          </a:xfrm>
          <a:prstGeom prst="rect">
            <a:avLst/>
          </a:prstGeom>
          <a:solidFill>
            <a:srgbClr val="D9EAD3">
              <a:alpha val="75000"/>
            </a:srgbClr>
          </a:solidFill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3.1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.0/24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42"/>
          <p:cNvSpPr txBox="1"/>
          <p:nvPr/>
        </p:nvSpPr>
        <p:spPr>
          <a:xfrm>
            <a:off x="5616700" y="3889675"/>
            <a:ext cx="862200" cy="221700"/>
          </a:xfrm>
          <a:prstGeom prst="rect">
            <a:avLst/>
          </a:prstGeom>
          <a:solidFill>
            <a:srgbClr val="D9EAD3">
              <a:alpha val="75000"/>
            </a:srgbClr>
          </a:solidFill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3.2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.0/24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42"/>
          <p:cNvSpPr txBox="1"/>
          <p:nvPr/>
        </p:nvSpPr>
        <p:spPr>
          <a:xfrm>
            <a:off x="6759700" y="3889675"/>
            <a:ext cx="862200" cy="221700"/>
          </a:xfrm>
          <a:prstGeom prst="rect">
            <a:avLst/>
          </a:prstGeom>
          <a:solidFill>
            <a:srgbClr val="F4CCCC">
              <a:alpha val="75000"/>
            </a:srgbClr>
          </a:solidFill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4.1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.0/24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42"/>
          <p:cNvSpPr txBox="1"/>
          <p:nvPr/>
        </p:nvSpPr>
        <p:spPr>
          <a:xfrm>
            <a:off x="7674100" y="3889675"/>
            <a:ext cx="862200" cy="221700"/>
          </a:xfrm>
          <a:prstGeom prst="rect">
            <a:avLst/>
          </a:prstGeom>
          <a:solidFill>
            <a:srgbClr val="F4CCCC">
              <a:alpha val="75000"/>
            </a:srgbClr>
          </a:solidFill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4.2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.0/24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42"/>
          <p:cNvSpPr txBox="1"/>
          <p:nvPr/>
        </p:nvSpPr>
        <p:spPr>
          <a:xfrm>
            <a:off x="2644900" y="3889675"/>
            <a:ext cx="862200" cy="221700"/>
          </a:xfrm>
          <a:prstGeom prst="rect">
            <a:avLst/>
          </a:prstGeom>
          <a:solidFill>
            <a:srgbClr val="FCE5CD">
              <a:alpha val="75000"/>
            </a:srgbClr>
          </a:solidFill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2.1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.0/24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Google Shape;654;p42"/>
          <p:cNvSpPr txBox="1"/>
          <p:nvPr/>
        </p:nvSpPr>
        <p:spPr>
          <a:xfrm>
            <a:off x="3559300" y="3889675"/>
            <a:ext cx="862200" cy="221700"/>
          </a:xfrm>
          <a:prstGeom prst="rect">
            <a:avLst/>
          </a:prstGeom>
          <a:solidFill>
            <a:srgbClr val="FCE5CD">
              <a:alpha val="75000"/>
            </a:srgbClr>
          </a:solidFill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2.2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.0/24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42"/>
          <p:cNvSpPr/>
          <p:nvPr/>
        </p:nvSpPr>
        <p:spPr>
          <a:xfrm>
            <a:off x="587500" y="4148000"/>
            <a:ext cx="862200" cy="2511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42"/>
          <p:cNvSpPr txBox="1"/>
          <p:nvPr/>
        </p:nvSpPr>
        <p:spPr>
          <a:xfrm>
            <a:off x="587500" y="3889675"/>
            <a:ext cx="862200" cy="221700"/>
          </a:xfrm>
          <a:prstGeom prst="rect">
            <a:avLst/>
          </a:prstGeom>
          <a:solidFill>
            <a:srgbClr val="C9DAF8">
              <a:alpha val="70000"/>
            </a:srgbClr>
          </a:solidFill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1.1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.0/24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p42"/>
          <p:cNvSpPr txBox="1"/>
          <p:nvPr/>
        </p:nvSpPr>
        <p:spPr>
          <a:xfrm>
            <a:off x="1501900" y="3889675"/>
            <a:ext cx="862200" cy="221700"/>
          </a:xfrm>
          <a:prstGeom prst="rect">
            <a:avLst/>
          </a:prstGeom>
          <a:solidFill>
            <a:srgbClr val="C9DAF8">
              <a:alpha val="70000"/>
            </a:srgbClr>
          </a:solidFill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1.2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.0/24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8" name="Google Shape;658;p4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Topology-Aware Addressing</a:t>
            </a:r>
            <a:endParaRPr/>
          </a:p>
        </p:txBody>
      </p:sp>
      <p:sp>
        <p:nvSpPr>
          <p:cNvPr id="605" name="Google Shape;605;p42"/>
          <p:cNvSpPr/>
          <p:nvPr/>
        </p:nvSpPr>
        <p:spPr>
          <a:xfrm>
            <a:off x="718750" y="4202299"/>
            <a:ext cx="142500" cy="142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9" name="Google Shape;659;p42"/>
          <p:cNvCxnSpPr>
            <a:stCxn id="606" idx="0"/>
            <a:endCxn id="577" idx="2"/>
          </p:cNvCxnSpPr>
          <p:nvPr/>
        </p:nvCxnSpPr>
        <p:spPr>
          <a:xfrm rot="10800000">
            <a:off x="1018602" y="3354194"/>
            <a:ext cx="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" name="Google Shape;660;p42"/>
          <p:cNvCxnSpPr>
            <a:stCxn id="611" idx="0"/>
            <a:endCxn id="591" idx="2"/>
          </p:cNvCxnSpPr>
          <p:nvPr/>
        </p:nvCxnSpPr>
        <p:spPr>
          <a:xfrm rot="10800000">
            <a:off x="1933002" y="3354194"/>
            <a:ext cx="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" name="Google Shape;661;p42"/>
          <p:cNvCxnSpPr>
            <a:stCxn id="611" idx="0"/>
            <a:endCxn id="577" idx="2"/>
          </p:cNvCxnSpPr>
          <p:nvPr/>
        </p:nvCxnSpPr>
        <p:spPr>
          <a:xfrm rot="10800000">
            <a:off x="1018602" y="3354194"/>
            <a:ext cx="91440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" name="Google Shape;662;p42"/>
          <p:cNvCxnSpPr>
            <a:stCxn id="606" idx="0"/>
            <a:endCxn id="591" idx="2"/>
          </p:cNvCxnSpPr>
          <p:nvPr/>
        </p:nvCxnSpPr>
        <p:spPr>
          <a:xfrm flipH="1" rot="10800000">
            <a:off x="1018602" y="3354194"/>
            <a:ext cx="91440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8" name="Google Shape;578;p42"/>
          <p:cNvSpPr/>
          <p:nvPr/>
        </p:nvSpPr>
        <p:spPr>
          <a:xfrm>
            <a:off x="1824547" y="2059925"/>
            <a:ext cx="570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" name="Google Shape;586;p42"/>
          <p:cNvSpPr/>
          <p:nvPr/>
        </p:nvSpPr>
        <p:spPr>
          <a:xfrm>
            <a:off x="3424747" y="2059925"/>
            <a:ext cx="570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42"/>
          <p:cNvSpPr/>
          <p:nvPr/>
        </p:nvSpPr>
        <p:spPr>
          <a:xfrm>
            <a:off x="6625147" y="2059925"/>
            <a:ext cx="570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p42"/>
          <p:cNvSpPr txBox="1"/>
          <p:nvPr/>
        </p:nvSpPr>
        <p:spPr>
          <a:xfrm>
            <a:off x="720700" y="4448867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1.1.1</a:t>
            </a:r>
            <a:endParaRPr b="1"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42"/>
          <p:cNvSpPr txBox="1"/>
          <p:nvPr/>
        </p:nvSpPr>
        <p:spPr>
          <a:xfrm>
            <a:off x="720700" y="4633682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1.1.2</a:t>
            </a:r>
            <a:endParaRPr b="1" sz="12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42"/>
          <p:cNvSpPr txBox="1"/>
          <p:nvPr/>
        </p:nvSpPr>
        <p:spPr>
          <a:xfrm>
            <a:off x="1635100" y="4448867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1.2.1</a:t>
            </a:r>
            <a:endParaRPr b="1"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42"/>
          <p:cNvSpPr txBox="1"/>
          <p:nvPr/>
        </p:nvSpPr>
        <p:spPr>
          <a:xfrm>
            <a:off x="1635100" y="4633682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1.2.2</a:t>
            </a:r>
            <a:endParaRPr b="1" sz="12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42"/>
          <p:cNvSpPr txBox="1"/>
          <p:nvPr/>
        </p:nvSpPr>
        <p:spPr>
          <a:xfrm>
            <a:off x="2778100" y="4448867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2.1.1</a:t>
            </a:r>
            <a:endParaRPr b="1" sz="1200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42"/>
          <p:cNvSpPr txBox="1"/>
          <p:nvPr/>
        </p:nvSpPr>
        <p:spPr>
          <a:xfrm>
            <a:off x="2778100" y="4633682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2.1.2</a:t>
            </a:r>
            <a:endParaRPr b="1" sz="12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42"/>
          <p:cNvSpPr txBox="1"/>
          <p:nvPr/>
        </p:nvSpPr>
        <p:spPr>
          <a:xfrm>
            <a:off x="3692500" y="4448867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2.2.1</a:t>
            </a:r>
            <a:endParaRPr b="1"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p42"/>
          <p:cNvSpPr txBox="1"/>
          <p:nvPr/>
        </p:nvSpPr>
        <p:spPr>
          <a:xfrm>
            <a:off x="3692500" y="4633682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2.2.2</a:t>
            </a:r>
            <a:endParaRPr b="1" sz="12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42"/>
          <p:cNvSpPr txBox="1"/>
          <p:nvPr/>
        </p:nvSpPr>
        <p:spPr>
          <a:xfrm>
            <a:off x="4835500" y="4448867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3.1.1</a:t>
            </a:r>
            <a:endParaRPr b="1" sz="12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42"/>
          <p:cNvSpPr txBox="1"/>
          <p:nvPr/>
        </p:nvSpPr>
        <p:spPr>
          <a:xfrm>
            <a:off x="4835500" y="4633682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3.1.2</a:t>
            </a:r>
            <a:endParaRPr b="1" sz="12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42"/>
          <p:cNvSpPr txBox="1"/>
          <p:nvPr/>
        </p:nvSpPr>
        <p:spPr>
          <a:xfrm>
            <a:off x="5749900" y="4448867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3.2.1</a:t>
            </a:r>
            <a:endParaRPr b="1"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42"/>
          <p:cNvSpPr txBox="1"/>
          <p:nvPr/>
        </p:nvSpPr>
        <p:spPr>
          <a:xfrm>
            <a:off x="5749900" y="4633682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3.2.2</a:t>
            </a:r>
            <a:endParaRPr b="1" sz="12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42"/>
          <p:cNvSpPr txBox="1"/>
          <p:nvPr/>
        </p:nvSpPr>
        <p:spPr>
          <a:xfrm>
            <a:off x="6892900" y="4448867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4.1.1</a:t>
            </a:r>
            <a:endParaRPr b="1"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42"/>
          <p:cNvSpPr txBox="1"/>
          <p:nvPr/>
        </p:nvSpPr>
        <p:spPr>
          <a:xfrm>
            <a:off x="6892900" y="4633682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4.1.2</a:t>
            </a:r>
            <a:endParaRPr b="1" sz="12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7" name="Google Shape;677;p42"/>
          <p:cNvSpPr txBox="1"/>
          <p:nvPr/>
        </p:nvSpPr>
        <p:spPr>
          <a:xfrm>
            <a:off x="7807300" y="4448867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4.2.1</a:t>
            </a:r>
            <a:endParaRPr b="1"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42"/>
          <p:cNvSpPr txBox="1"/>
          <p:nvPr/>
        </p:nvSpPr>
        <p:spPr>
          <a:xfrm>
            <a:off x="7807300" y="4633682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4.2.2</a:t>
            </a:r>
            <a:endParaRPr b="1" sz="12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" name="Google Shape;577;p42"/>
          <p:cNvSpPr/>
          <p:nvPr/>
        </p:nvSpPr>
        <p:spPr>
          <a:xfrm>
            <a:off x="947352" y="3211694"/>
            <a:ext cx="142500" cy="142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42"/>
          <p:cNvSpPr/>
          <p:nvPr/>
        </p:nvSpPr>
        <p:spPr>
          <a:xfrm>
            <a:off x="947352" y="3592694"/>
            <a:ext cx="142500" cy="142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" name="Google Shape;611;p42"/>
          <p:cNvSpPr/>
          <p:nvPr/>
        </p:nvSpPr>
        <p:spPr>
          <a:xfrm>
            <a:off x="1861752" y="3592694"/>
            <a:ext cx="142500" cy="142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9" name="Google Shape;679;p42"/>
          <p:cNvCxnSpPr>
            <a:stCxn id="616" idx="0"/>
            <a:endCxn id="580" idx="2"/>
          </p:cNvCxnSpPr>
          <p:nvPr/>
        </p:nvCxnSpPr>
        <p:spPr>
          <a:xfrm rot="10800000">
            <a:off x="3076002" y="3354194"/>
            <a:ext cx="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42"/>
          <p:cNvCxnSpPr>
            <a:stCxn id="621" idx="0"/>
            <a:endCxn id="594" idx="2"/>
          </p:cNvCxnSpPr>
          <p:nvPr/>
        </p:nvCxnSpPr>
        <p:spPr>
          <a:xfrm rot="10800000">
            <a:off x="3990402" y="3354194"/>
            <a:ext cx="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42"/>
          <p:cNvCxnSpPr>
            <a:stCxn id="621" idx="0"/>
            <a:endCxn id="580" idx="2"/>
          </p:cNvCxnSpPr>
          <p:nvPr/>
        </p:nvCxnSpPr>
        <p:spPr>
          <a:xfrm rot="10800000">
            <a:off x="3076002" y="3354194"/>
            <a:ext cx="91440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42"/>
          <p:cNvCxnSpPr>
            <a:stCxn id="616" idx="0"/>
            <a:endCxn id="594" idx="2"/>
          </p:cNvCxnSpPr>
          <p:nvPr/>
        </p:nvCxnSpPr>
        <p:spPr>
          <a:xfrm flipH="1" rot="10800000">
            <a:off x="3076002" y="3354194"/>
            <a:ext cx="91440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0" name="Google Shape;580;p42"/>
          <p:cNvSpPr/>
          <p:nvPr/>
        </p:nvSpPr>
        <p:spPr>
          <a:xfrm>
            <a:off x="3004752" y="3211694"/>
            <a:ext cx="142500" cy="142500"/>
          </a:xfrm>
          <a:prstGeom prst="rect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6" name="Google Shape;616;p42"/>
          <p:cNvSpPr/>
          <p:nvPr/>
        </p:nvSpPr>
        <p:spPr>
          <a:xfrm>
            <a:off x="3004752" y="3592694"/>
            <a:ext cx="142500" cy="142500"/>
          </a:xfrm>
          <a:prstGeom prst="rect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p42"/>
          <p:cNvSpPr/>
          <p:nvPr/>
        </p:nvSpPr>
        <p:spPr>
          <a:xfrm>
            <a:off x="3919152" y="3592694"/>
            <a:ext cx="142500" cy="142500"/>
          </a:xfrm>
          <a:prstGeom prst="rect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3" name="Google Shape;683;p42"/>
          <p:cNvCxnSpPr>
            <a:stCxn id="626" idx="0"/>
            <a:endCxn id="582" idx="2"/>
          </p:cNvCxnSpPr>
          <p:nvPr/>
        </p:nvCxnSpPr>
        <p:spPr>
          <a:xfrm rot="10800000">
            <a:off x="5133402" y="3354194"/>
            <a:ext cx="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42"/>
          <p:cNvCxnSpPr>
            <a:stCxn id="631" idx="0"/>
            <a:endCxn id="596" idx="2"/>
          </p:cNvCxnSpPr>
          <p:nvPr/>
        </p:nvCxnSpPr>
        <p:spPr>
          <a:xfrm rot="10800000">
            <a:off x="6047802" y="3354194"/>
            <a:ext cx="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42"/>
          <p:cNvCxnSpPr>
            <a:stCxn id="631" idx="0"/>
            <a:endCxn id="582" idx="2"/>
          </p:cNvCxnSpPr>
          <p:nvPr/>
        </p:nvCxnSpPr>
        <p:spPr>
          <a:xfrm rot="10800000">
            <a:off x="5133402" y="3354194"/>
            <a:ext cx="91440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42"/>
          <p:cNvCxnSpPr>
            <a:stCxn id="626" idx="0"/>
            <a:endCxn id="596" idx="2"/>
          </p:cNvCxnSpPr>
          <p:nvPr/>
        </p:nvCxnSpPr>
        <p:spPr>
          <a:xfrm flipH="1" rot="10800000">
            <a:off x="5133402" y="3354194"/>
            <a:ext cx="91440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2" name="Google Shape;582;p42"/>
          <p:cNvSpPr/>
          <p:nvPr/>
        </p:nvSpPr>
        <p:spPr>
          <a:xfrm>
            <a:off x="5062152" y="3211694"/>
            <a:ext cx="142500" cy="142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42"/>
          <p:cNvSpPr/>
          <p:nvPr/>
        </p:nvSpPr>
        <p:spPr>
          <a:xfrm>
            <a:off x="5062152" y="3592694"/>
            <a:ext cx="142500" cy="142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42"/>
          <p:cNvSpPr/>
          <p:nvPr/>
        </p:nvSpPr>
        <p:spPr>
          <a:xfrm>
            <a:off x="5976552" y="3592694"/>
            <a:ext cx="142500" cy="142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7" name="Google Shape;687;p42"/>
          <p:cNvCxnSpPr>
            <a:stCxn id="636" idx="0"/>
            <a:endCxn id="584" idx="2"/>
          </p:cNvCxnSpPr>
          <p:nvPr/>
        </p:nvCxnSpPr>
        <p:spPr>
          <a:xfrm rot="10800000">
            <a:off x="7190802" y="3354194"/>
            <a:ext cx="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" name="Google Shape;688;p42"/>
          <p:cNvCxnSpPr>
            <a:stCxn id="641" idx="0"/>
            <a:endCxn id="598" idx="2"/>
          </p:cNvCxnSpPr>
          <p:nvPr/>
        </p:nvCxnSpPr>
        <p:spPr>
          <a:xfrm rot="10800000">
            <a:off x="8105202" y="3354194"/>
            <a:ext cx="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9" name="Google Shape;689;p42"/>
          <p:cNvCxnSpPr>
            <a:stCxn id="641" idx="0"/>
            <a:endCxn id="584" idx="2"/>
          </p:cNvCxnSpPr>
          <p:nvPr/>
        </p:nvCxnSpPr>
        <p:spPr>
          <a:xfrm rot="10800000">
            <a:off x="7190802" y="3354194"/>
            <a:ext cx="91440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42"/>
          <p:cNvCxnSpPr>
            <a:stCxn id="636" idx="0"/>
            <a:endCxn id="598" idx="2"/>
          </p:cNvCxnSpPr>
          <p:nvPr/>
        </p:nvCxnSpPr>
        <p:spPr>
          <a:xfrm flipH="1" rot="10800000">
            <a:off x="7190802" y="3354194"/>
            <a:ext cx="91440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4" name="Google Shape;584;p42"/>
          <p:cNvSpPr/>
          <p:nvPr/>
        </p:nvSpPr>
        <p:spPr>
          <a:xfrm>
            <a:off x="7119552" y="3211694"/>
            <a:ext cx="142500" cy="1425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6" name="Google Shape;636;p42"/>
          <p:cNvSpPr/>
          <p:nvPr/>
        </p:nvSpPr>
        <p:spPr>
          <a:xfrm>
            <a:off x="7119552" y="3592694"/>
            <a:ext cx="142500" cy="1425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42"/>
          <p:cNvSpPr/>
          <p:nvPr/>
        </p:nvSpPr>
        <p:spPr>
          <a:xfrm>
            <a:off x="8033952" y="3592694"/>
            <a:ext cx="142500" cy="1425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42"/>
          <p:cNvSpPr/>
          <p:nvPr/>
        </p:nvSpPr>
        <p:spPr>
          <a:xfrm>
            <a:off x="1175950" y="4202299"/>
            <a:ext cx="142500" cy="142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42"/>
          <p:cNvSpPr/>
          <p:nvPr/>
        </p:nvSpPr>
        <p:spPr>
          <a:xfrm>
            <a:off x="1633150" y="4202299"/>
            <a:ext cx="142500" cy="142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42"/>
          <p:cNvSpPr/>
          <p:nvPr/>
        </p:nvSpPr>
        <p:spPr>
          <a:xfrm>
            <a:off x="2090350" y="4202299"/>
            <a:ext cx="142500" cy="142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42"/>
          <p:cNvSpPr/>
          <p:nvPr/>
        </p:nvSpPr>
        <p:spPr>
          <a:xfrm>
            <a:off x="2776150" y="4202299"/>
            <a:ext cx="142500" cy="142500"/>
          </a:xfrm>
          <a:prstGeom prst="ellipse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8" name="Google Shape;618;p42"/>
          <p:cNvSpPr/>
          <p:nvPr/>
        </p:nvSpPr>
        <p:spPr>
          <a:xfrm>
            <a:off x="3233350" y="4202299"/>
            <a:ext cx="142500" cy="142500"/>
          </a:xfrm>
          <a:prstGeom prst="ellipse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p42"/>
          <p:cNvSpPr/>
          <p:nvPr/>
        </p:nvSpPr>
        <p:spPr>
          <a:xfrm>
            <a:off x="3690550" y="4202299"/>
            <a:ext cx="142500" cy="142500"/>
          </a:xfrm>
          <a:prstGeom prst="ellipse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3" name="Google Shape;623;p42"/>
          <p:cNvSpPr/>
          <p:nvPr/>
        </p:nvSpPr>
        <p:spPr>
          <a:xfrm>
            <a:off x="4147750" y="4202299"/>
            <a:ext cx="142500" cy="142500"/>
          </a:xfrm>
          <a:prstGeom prst="ellipse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p42"/>
          <p:cNvSpPr/>
          <p:nvPr/>
        </p:nvSpPr>
        <p:spPr>
          <a:xfrm>
            <a:off x="4833550" y="4202299"/>
            <a:ext cx="142500" cy="1425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8" name="Google Shape;628;p42"/>
          <p:cNvSpPr/>
          <p:nvPr/>
        </p:nvSpPr>
        <p:spPr>
          <a:xfrm>
            <a:off x="5290750" y="4202299"/>
            <a:ext cx="142500" cy="1425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0" name="Google Shape;630;p42"/>
          <p:cNvSpPr/>
          <p:nvPr/>
        </p:nvSpPr>
        <p:spPr>
          <a:xfrm>
            <a:off x="5747950" y="4202299"/>
            <a:ext cx="142500" cy="1425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p42"/>
          <p:cNvSpPr/>
          <p:nvPr/>
        </p:nvSpPr>
        <p:spPr>
          <a:xfrm>
            <a:off x="6205150" y="4202299"/>
            <a:ext cx="142500" cy="1425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5" name="Google Shape;635;p42"/>
          <p:cNvSpPr/>
          <p:nvPr/>
        </p:nvSpPr>
        <p:spPr>
          <a:xfrm>
            <a:off x="6890950" y="4202299"/>
            <a:ext cx="142500" cy="142500"/>
          </a:xfrm>
          <a:prstGeom prst="ellipse">
            <a:avLst/>
          </a:prstGeom>
          <a:solidFill>
            <a:srgbClr val="EA99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42"/>
          <p:cNvSpPr/>
          <p:nvPr/>
        </p:nvSpPr>
        <p:spPr>
          <a:xfrm>
            <a:off x="7348150" y="4202299"/>
            <a:ext cx="142500" cy="142500"/>
          </a:xfrm>
          <a:prstGeom prst="ellipse">
            <a:avLst/>
          </a:prstGeom>
          <a:solidFill>
            <a:srgbClr val="EA99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p42"/>
          <p:cNvSpPr/>
          <p:nvPr/>
        </p:nvSpPr>
        <p:spPr>
          <a:xfrm>
            <a:off x="7805350" y="4202299"/>
            <a:ext cx="142500" cy="142500"/>
          </a:xfrm>
          <a:prstGeom prst="ellipse">
            <a:avLst/>
          </a:prstGeom>
          <a:solidFill>
            <a:srgbClr val="EA99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42"/>
          <p:cNvSpPr/>
          <p:nvPr/>
        </p:nvSpPr>
        <p:spPr>
          <a:xfrm>
            <a:off x="8262550" y="4202299"/>
            <a:ext cx="142500" cy="142500"/>
          </a:xfrm>
          <a:prstGeom prst="ellipse">
            <a:avLst/>
          </a:prstGeom>
          <a:solidFill>
            <a:srgbClr val="EA99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1" name="Google Shape;691;p42"/>
          <p:cNvSpPr/>
          <p:nvPr/>
        </p:nvSpPr>
        <p:spPr>
          <a:xfrm>
            <a:off x="1501900" y="4148000"/>
            <a:ext cx="862200" cy="2511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42"/>
          <p:cNvSpPr/>
          <p:nvPr/>
        </p:nvSpPr>
        <p:spPr>
          <a:xfrm>
            <a:off x="2644900" y="4148000"/>
            <a:ext cx="862200" cy="2511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3" name="Google Shape;693;p42"/>
          <p:cNvSpPr/>
          <p:nvPr/>
        </p:nvSpPr>
        <p:spPr>
          <a:xfrm>
            <a:off x="3559300" y="4148000"/>
            <a:ext cx="862200" cy="2511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4" name="Google Shape;694;p42"/>
          <p:cNvSpPr/>
          <p:nvPr/>
        </p:nvSpPr>
        <p:spPr>
          <a:xfrm>
            <a:off x="4702300" y="4148000"/>
            <a:ext cx="862200" cy="2511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5" name="Google Shape;695;p42"/>
          <p:cNvSpPr/>
          <p:nvPr/>
        </p:nvSpPr>
        <p:spPr>
          <a:xfrm>
            <a:off x="5616700" y="4148000"/>
            <a:ext cx="862200" cy="2511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6" name="Google Shape;696;p42"/>
          <p:cNvSpPr/>
          <p:nvPr/>
        </p:nvSpPr>
        <p:spPr>
          <a:xfrm>
            <a:off x="6759700" y="4148000"/>
            <a:ext cx="862200" cy="2511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42"/>
          <p:cNvSpPr/>
          <p:nvPr/>
        </p:nvSpPr>
        <p:spPr>
          <a:xfrm>
            <a:off x="7674100" y="4148000"/>
            <a:ext cx="862200" cy="2511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98" name="Google Shape;698;p42"/>
          <p:cNvGraphicFramePr/>
          <p:nvPr/>
        </p:nvGraphicFramePr>
        <p:xfrm>
          <a:off x="4498850" y="522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{DD06A9EC-F48A-45AF-851E-6F77734EB285}</a:tableStyleId>
              </a:tblPr>
              <a:tblGrid>
                <a:gridCol w="1016550"/>
                <a:gridCol w="605625"/>
              </a:tblGrid>
              <a:tr h="16695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R's forwarding table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/>
                </a:tc>
                <a:tc hMerge="1"/>
              </a:tr>
              <a:tr h="18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Use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/>
                </a:tc>
              </a:tr>
              <a:tr h="18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</a:t>
                      </a:r>
                      <a:r>
                        <a:rPr b="1" lang="en" sz="13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.0.0/16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Link 1</a:t>
                      </a:r>
                      <a:endParaRPr b="1" sz="13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/>
                </a:tc>
              </a:tr>
              <a:tr h="18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</a:t>
                      </a:r>
                      <a:r>
                        <a:rPr b="1" lang="en" sz="1300">
                          <a:solidFill>
                            <a:srgbClr val="BF9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.0.0/16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BF9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Link 2</a:t>
                      </a:r>
                      <a:endParaRPr b="1" sz="1300">
                        <a:solidFill>
                          <a:srgbClr val="BF9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/>
                </a:tc>
              </a:tr>
              <a:tr h="18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</a:t>
                      </a:r>
                      <a:r>
                        <a:rPr b="1" lang="en" sz="1300">
                          <a:solidFill>
                            <a:srgbClr val="38761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.0.0/16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8761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Link 3</a:t>
                      </a:r>
                      <a:endParaRPr b="1" sz="1300">
                        <a:solidFill>
                          <a:srgbClr val="38761D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/>
                </a:tc>
              </a:tr>
              <a:tr h="18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</a:t>
                      </a:r>
                      <a:r>
                        <a:rPr b="1" lang="en" sz="13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.0.0/16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Link 4</a:t>
                      </a:r>
                      <a:endParaRPr b="1" sz="13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/>
                </a:tc>
              </a:tr>
            </a:tbl>
          </a:graphicData>
        </a:graphic>
      </p:graphicFrame>
      <p:sp>
        <p:nvSpPr>
          <p:cNvPr id="699" name="Google Shape;699;p42"/>
          <p:cNvSpPr txBox="1"/>
          <p:nvPr/>
        </p:nvSpPr>
        <p:spPr>
          <a:xfrm>
            <a:off x="6934150" y="2640350"/>
            <a:ext cx="1423800" cy="369300"/>
          </a:xfrm>
          <a:prstGeom prst="rect">
            <a:avLst/>
          </a:prstGeom>
          <a:solidFill>
            <a:srgbClr val="F4CCCC">
              <a:alpha val="75000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" sz="18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.0.0/16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0" name="Google Shape;700;p42"/>
          <p:cNvSpPr txBox="1"/>
          <p:nvPr/>
        </p:nvSpPr>
        <p:spPr>
          <a:xfrm>
            <a:off x="4876750" y="2640350"/>
            <a:ext cx="1423800" cy="369300"/>
          </a:xfrm>
          <a:prstGeom prst="rect">
            <a:avLst/>
          </a:prstGeom>
          <a:solidFill>
            <a:srgbClr val="D9EAD3">
              <a:alpha val="75000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8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 sz="18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.0.0/16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42"/>
          <p:cNvSpPr txBox="1"/>
          <p:nvPr/>
        </p:nvSpPr>
        <p:spPr>
          <a:xfrm>
            <a:off x="2819350" y="2640350"/>
            <a:ext cx="1423800" cy="369300"/>
          </a:xfrm>
          <a:prstGeom prst="rect">
            <a:avLst/>
          </a:prstGeom>
          <a:solidFill>
            <a:srgbClr val="FCE5CD">
              <a:alpha val="75000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8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8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.0.0/16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2" name="Google Shape;702;p42"/>
          <p:cNvCxnSpPr>
            <a:stCxn id="598" idx="0"/>
            <a:endCxn id="592" idx="2"/>
          </p:cNvCxnSpPr>
          <p:nvPr/>
        </p:nvCxnSpPr>
        <p:spPr>
          <a:xfrm rot="10800000">
            <a:off x="5309802" y="2344994"/>
            <a:ext cx="2795400" cy="866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42"/>
          <p:cNvCxnSpPr>
            <a:stCxn id="596" idx="0"/>
            <a:endCxn id="592" idx="2"/>
          </p:cNvCxnSpPr>
          <p:nvPr/>
        </p:nvCxnSpPr>
        <p:spPr>
          <a:xfrm rot="10800000">
            <a:off x="5309802" y="2344994"/>
            <a:ext cx="738000" cy="86670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" name="Google Shape;704;p42"/>
          <p:cNvCxnSpPr>
            <a:stCxn id="594" idx="0"/>
            <a:endCxn id="592" idx="2"/>
          </p:cNvCxnSpPr>
          <p:nvPr/>
        </p:nvCxnSpPr>
        <p:spPr>
          <a:xfrm flipH="1" rot="10800000">
            <a:off x="3990402" y="2344994"/>
            <a:ext cx="1319400" cy="866700"/>
          </a:xfrm>
          <a:prstGeom prst="straightConnector1">
            <a:avLst/>
          </a:prstGeom>
          <a:noFill/>
          <a:ln cap="flat" cmpd="sng" w="28575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" name="Google Shape;705;p42"/>
          <p:cNvCxnSpPr>
            <a:stCxn id="591" idx="0"/>
            <a:endCxn id="592" idx="2"/>
          </p:cNvCxnSpPr>
          <p:nvPr/>
        </p:nvCxnSpPr>
        <p:spPr>
          <a:xfrm flipH="1" rot="10800000">
            <a:off x="1933002" y="2344994"/>
            <a:ext cx="3376800" cy="8667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6" name="Google Shape;596;p42"/>
          <p:cNvSpPr/>
          <p:nvPr/>
        </p:nvSpPr>
        <p:spPr>
          <a:xfrm>
            <a:off x="5976552" y="3211694"/>
            <a:ext cx="142500" cy="142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42"/>
          <p:cNvSpPr/>
          <p:nvPr/>
        </p:nvSpPr>
        <p:spPr>
          <a:xfrm>
            <a:off x="3919152" y="3211694"/>
            <a:ext cx="142500" cy="142500"/>
          </a:xfrm>
          <a:prstGeom prst="rect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p42"/>
          <p:cNvSpPr/>
          <p:nvPr/>
        </p:nvSpPr>
        <p:spPr>
          <a:xfrm>
            <a:off x="1861752" y="3211694"/>
            <a:ext cx="142500" cy="142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p42"/>
          <p:cNvSpPr/>
          <p:nvPr/>
        </p:nvSpPr>
        <p:spPr>
          <a:xfrm>
            <a:off x="8033952" y="3211694"/>
            <a:ext cx="142500" cy="1425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p42"/>
          <p:cNvSpPr/>
          <p:nvPr/>
        </p:nvSpPr>
        <p:spPr>
          <a:xfrm>
            <a:off x="5024947" y="2059925"/>
            <a:ext cx="570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42"/>
          <p:cNvSpPr/>
          <p:nvPr/>
        </p:nvSpPr>
        <p:spPr>
          <a:xfrm>
            <a:off x="5024947" y="2059925"/>
            <a:ext cx="570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Topology-Aware Addressing</a:t>
            </a:r>
            <a:endParaRPr/>
          </a:p>
        </p:txBody>
      </p:sp>
      <p:sp>
        <p:nvSpPr>
          <p:cNvPr id="712" name="Google Shape;712;p43"/>
          <p:cNvSpPr txBox="1"/>
          <p:nvPr>
            <p:ph idx="1" type="body"/>
          </p:nvPr>
        </p:nvSpPr>
        <p:spPr>
          <a:xfrm>
            <a:off x="107050" y="402200"/>
            <a:ext cx="61842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Routing aggregation makes our forwarding tables: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Smaller: One entry represents a range of hosts.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stable: If a host inside a subnet goes away, R's table doesn't change.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Nice example of what can be achieved in a controlled network.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Requires the operator to assign all the addresses.</a:t>
            </a:r>
            <a:endParaRPr/>
          </a:p>
        </p:txBody>
      </p:sp>
      <p:graphicFrame>
        <p:nvGraphicFramePr>
          <p:cNvPr id="713" name="Google Shape;713;p43"/>
          <p:cNvGraphicFramePr/>
          <p:nvPr/>
        </p:nvGraphicFramePr>
        <p:xfrm>
          <a:off x="6527150" y="1693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{DD06A9EC-F48A-45AF-851E-6F77734EB285}</a:tableStyleId>
              </a:tblPr>
              <a:tblGrid>
                <a:gridCol w="1472400"/>
                <a:gridCol w="877225"/>
              </a:tblGrid>
              <a:tr h="3245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R's forwarding table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 anchor="ctr"/>
                </a:tc>
                <a:tc hMerge="1"/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Use: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</a:t>
                      </a:r>
                      <a:r>
                        <a:rPr b="1" lang="en" sz="13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.0.0/16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Link 1</a:t>
                      </a:r>
                      <a:endParaRPr b="1" sz="13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</a:t>
                      </a:r>
                      <a:r>
                        <a:rPr b="1" lang="en" sz="1300">
                          <a:solidFill>
                            <a:srgbClr val="BF9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.0.0/16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BF9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Link 2</a:t>
                      </a:r>
                      <a:endParaRPr b="1" sz="1300">
                        <a:solidFill>
                          <a:srgbClr val="BF9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</a:t>
                      </a:r>
                      <a:r>
                        <a:rPr b="1" lang="en" sz="1300">
                          <a:solidFill>
                            <a:srgbClr val="38761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.0.0/16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8761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Link 3</a:t>
                      </a:r>
                      <a:endParaRPr b="1" sz="1300">
                        <a:solidFill>
                          <a:srgbClr val="38761D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</a:t>
                      </a:r>
                      <a:r>
                        <a:rPr b="1" lang="en" sz="13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.0.0/16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Link 4</a:t>
                      </a:r>
                      <a:endParaRPr b="1" sz="13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4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Datacenter Routing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Datacenter Addressing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Virtualization and Encapsulation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Virtualization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 and Underlay Networks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Multi-Tenancy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Private Networks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719" name="Google Shape;719;p4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Virtualization</a:t>
            </a:r>
            <a:endParaRPr/>
          </a:p>
        </p:txBody>
      </p:sp>
      <p:sp>
        <p:nvSpPr>
          <p:cNvPr id="720" name="Google Shape;720;p4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19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4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Datacenter Limitations</a:t>
            </a:r>
            <a:endParaRPr/>
          </a:p>
        </p:txBody>
      </p:sp>
      <p:sp>
        <p:nvSpPr>
          <p:cNvPr id="726" name="Google Shape;726;p45"/>
          <p:cNvSpPr txBox="1"/>
          <p:nvPr>
            <p:ph idx="1" type="body"/>
          </p:nvPr>
        </p:nvSpPr>
        <p:spPr>
          <a:xfrm>
            <a:off x="107050" y="402200"/>
            <a:ext cx="8948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we hosted applications directly on servers, we'd have some problems.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Google introduces a new application: Somebody has to install a new server.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application grows: Somebody has to install more servers.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link goes down: Somebody has to move the server somewhere else.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Fundamental issue: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Physical datacenters are rigid and structured.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But, applications are constantly changing.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Hosts are rapidly added, removed, and moved.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Changing physical infrastructure is hard.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Datacenter Limitations</a:t>
            </a:r>
            <a:endParaRPr/>
          </a:p>
        </p:txBody>
      </p:sp>
      <p:sp>
        <p:nvSpPr>
          <p:cNvPr id="732" name="Google Shape;732;p46"/>
          <p:cNvSpPr txBox="1"/>
          <p:nvPr>
            <p:ph idx="1" type="body"/>
          </p:nvPr>
        </p:nvSpPr>
        <p:spPr>
          <a:xfrm>
            <a:off x="107050" y="402200"/>
            <a:ext cx="8948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Scaling is another problem.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lightweight application might not need all the server resources.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 application still wants its own server (e.g. for security reasons).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Inefficient use of resources.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Routing is another problem.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Applications might want to choose their own IP addresses.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It wants to follow organizational hierarchy.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Its chosen address might not be consistent with datacenter addresses.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application moves elsewhere in the datacenter, it might want to keep its original address.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But the datacenter addressing requires us to change addresses.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7"/>
          <p:cNvSpPr/>
          <p:nvPr/>
        </p:nvSpPr>
        <p:spPr>
          <a:xfrm>
            <a:off x="4674900" y="2340725"/>
            <a:ext cx="1381500" cy="13581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8" name="Google Shape;738;p47"/>
          <p:cNvSpPr/>
          <p:nvPr/>
        </p:nvSpPr>
        <p:spPr>
          <a:xfrm>
            <a:off x="3150900" y="2340725"/>
            <a:ext cx="1381500" cy="13581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9" name="Google Shape;739;p47"/>
          <p:cNvSpPr/>
          <p:nvPr/>
        </p:nvSpPr>
        <p:spPr>
          <a:xfrm>
            <a:off x="1626900" y="2340725"/>
            <a:ext cx="1381500" cy="13581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0" name="Google Shape;740;p4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Physical Datacenter Limitations</a:t>
            </a:r>
            <a:endParaRPr/>
          </a:p>
        </p:txBody>
      </p:sp>
      <p:sp>
        <p:nvSpPr>
          <p:cNvPr id="741" name="Google Shape;741;p47"/>
          <p:cNvSpPr/>
          <p:nvPr/>
        </p:nvSpPr>
        <p:spPr>
          <a:xfrm>
            <a:off x="2175153" y="249942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2" name="Google Shape;742;p47"/>
          <p:cNvSpPr/>
          <p:nvPr/>
        </p:nvSpPr>
        <p:spPr>
          <a:xfrm>
            <a:off x="1794150" y="326142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47"/>
          <p:cNvSpPr/>
          <p:nvPr/>
        </p:nvSpPr>
        <p:spPr>
          <a:xfrm>
            <a:off x="2556150" y="326142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4" name="Google Shape;744;p47"/>
          <p:cNvCxnSpPr>
            <a:stCxn id="742" idx="0"/>
            <a:endCxn id="741" idx="2"/>
          </p:cNvCxnSpPr>
          <p:nvPr/>
        </p:nvCxnSpPr>
        <p:spPr>
          <a:xfrm flipH="1" rot="10800000">
            <a:off x="1936650" y="2784426"/>
            <a:ext cx="381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5" name="Google Shape;745;p47"/>
          <p:cNvCxnSpPr>
            <a:stCxn id="743" idx="0"/>
            <a:endCxn id="741" idx="2"/>
          </p:cNvCxnSpPr>
          <p:nvPr/>
        </p:nvCxnSpPr>
        <p:spPr>
          <a:xfrm rot="10800000">
            <a:off x="2317650" y="2784426"/>
            <a:ext cx="381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6" name="Google Shape;746;p47"/>
          <p:cNvSpPr/>
          <p:nvPr/>
        </p:nvSpPr>
        <p:spPr>
          <a:xfrm>
            <a:off x="3699153" y="249942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7" name="Google Shape;747;p47"/>
          <p:cNvSpPr/>
          <p:nvPr/>
        </p:nvSpPr>
        <p:spPr>
          <a:xfrm>
            <a:off x="3318150" y="326142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Google Shape;748;p47"/>
          <p:cNvSpPr/>
          <p:nvPr/>
        </p:nvSpPr>
        <p:spPr>
          <a:xfrm>
            <a:off x="4080150" y="326142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9" name="Google Shape;749;p47"/>
          <p:cNvCxnSpPr>
            <a:stCxn id="747" idx="0"/>
            <a:endCxn id="746" idx="2"/>
          </p:cNvCxnSpPr>
          <p:nvPr/>
        </p:nvCxnSpPr>
        <p:spPr>
          <a:xfrm flipH="1" rot="10800000">
            <a:off x="3460650" y="2784426"/>
            <a:ext cx="381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" name="Google Shape;750;p47"/>
          <p:cNvCxnSpPr>
            <a:stCxn id="748" idx="0"/>
            <a:endCxn id="746" idx="2"/>
          </p:cNvCxnSpPr>
          <p:nvPr/>
        </p:nvCxnSpPr>
        <p:spPr>
          <a:xfrm rot="10800000">
            <a:off x="3841650" y="2784426"/>
            <a:ext cx="381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1" name="Google Shape;751;p47"/>
          <p:cNvSpPr/>
          <p:nvPr/>
        </p:nvSpPr>
        <p:spPr>
          <a:xfrm>
            <a:off x="5223153" y="249942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47"/>
          <p:cNvSpPr/>
          <p:nvPr/>
        </p:nvSpPr>
        <p:spPr>
          <a:xfrm>
            <a:off x="4842150" y="326142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3" name="Google Shape;753;p47"/>
          <p:cNvSpPr/>
          <p:nvPr/>
        </p:nvSpPr>
        <p:spPr>
          <a:xfrm>
            <a:off x="5604150" y="326142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4" name="Google Shape;754;p47"/>
          <p:cNvCxnSpPr>
            <a:stCxn id="752" idx="0"/>
            <a:endCxn id="751" idx="2"/>
          </p:cNvCxnSpPr>
          <p:nvPr/>
        </p:nvCxnSpPr>
        <p:spPr>
          <a:xfrm flipH="1" rot="10800000">
            <a:off x="4984650" y="2784426"/>
            <a:ext cx="381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" name="Google Shape;755;p47"/>
          <p:cNvCxnSpPr>
            <a:stCxn id="753" idx="0"/>
            <a:endCxn id="751" idx="2"/>
          </p:cNvCxnSpPr>
          <p:nvPr/>
        </p:nvCxnSpPr>
        <p:spPr>
          <a:xfrm rot="10800000">
            <a:off x="5365650" y="2784426"/>
            <a:ext cx="381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6" name="Google Shape;756;p47"/>
          <p:cNvSpPr/>
          <p:nvPr/>
        </p:nvSpPr>
        <p:spPr>
          <a:xfrm>
            <a:off x="2937153" y="173742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7" name="Google Shape;757;p47"/>
          <p:cNvSpPr/>
          <p:nvPr/>
        </p:nvSpPr>
        <p:spPr>
          <a:xfrm>
            <a:off x="4461153" y="173742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8" name="Google Shape;758;p47"/>
          <p:cNvCxnSpPr>
            <a:stCxn id="741" idx="0"/>
            <a:endCxn id="756" idx="2"/>
          </p:cNvCxnSpPr>
          <p:nvPr/>
        </p:nvCxnSpPr>
        <p:spPr>
          <a:xfrm flipH="1" rot="10800000">
            <a:off x="2317653" y="2022426"/>
            <a:ext cx="762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47"/>
          <p:cNvCxnSpPr>
            <a:stCxn id="746" idx="0"/>
            <a:endCxn id="757" idx="2"/>
          </p:cNvCxnSpPr>
          <p:nvPr/>
        </p:nvCxnSpPr>
        <p:spPr>
          <a:xfrm flipH="1" rot="10800000">
            <a:off x="3841653" y="2022426"/>
            <a:ext cx="762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47"/>
          <p:cNvCxnSpPr>
            <a:stCxn id="746" idx="0"/>
            <a:endCxn id="756" idx="2"/>
          </p:cNvCxnSpPr>
          <p:nvPr/>
        </p:nvCxnSpPr>
        <p:spPr>
          <a:xfrm rot="10800000">
            <a:off x="3079653" y="2022426"/>
            <a:ext cx="762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1" name="Google Shape;761;p47"/>
          <p:cNvCxnSpPr>
            <a:stCxn id="751" idx="0"/>
            <a:endCxn id="757" idx="2"/>
          </p:cNvCxnSpPr>
          <p:nvPr/>
        </p:nvCxnSpPr>
        <p:spPr>
          <a:xfrm rot="10800000">
            <a:off x="4603653" y="2022426"/>
            <a:ext cx="762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2" name="Google Shape;762;p47"/>
          <p:cNvCxnSpPr>
            <a:stCxn id="751" idx="0"/>
            <a:endCxn id="756" idx="2"/>
          </p:cNvCxnSpPr>
          <p:nvPr/>
        </p:nvCxnSpPr>
        <p:spPr>
          <a:xfrm rot="10800000">
            <a:off x="3079653" y="2022426"/>
            <a:ext cx="2286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3" name="Google Shape;763;p47"/>
          <p:cNvCxnSpPr>
            <a:stCxn id="757" idx="2"/>
            <a:endCxn id="741" idx="0"/>
          </p:cNvCxnSpPr>
          <p:nvPr/>
        </p:nvCxnSpPr>
        <p:spPr>
          <a:xfrm flipH="1">
            <a:off x="2317653" y="2022426"/>
            <a:ext cx="2286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4" name="Google Shape;764;p47"/>
          <p:cNvSpPr txBox="1"/>
          <p:nvPr/>
        </p:nvSpPr>
        <p:spPr>
          <a:xfrm>
            <a:off x="1761600" y="2869025"/>
            <a:ext cx="1112100" cy="307800"/>
          </a:xfrm>
          <a:prstGeom prst="rect">
            <a:avLst/>
          </a:prstGeom>
          <a:solidFill>
            <a:srgbClr val="C9DAF8">
              <a:alpha val="70000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.0.0/16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5" name="Google Shape;765;p47"/>
          <p:cNvSpPr txBox="1"/>
          <p:nvPr/>
        </p:nvSpPr>
        <p:spPr>
          <a:xfrm>
            <a:off x="3285600" y="2869025"/>
            <a:ext cx="1112100" cy="307800"/>
          </a:xfrm>
          <a:prstGeom prst="rect">
            <a:avLst/>
          </a:prstGeom>
          <a:solidFill>
            <a:srgbClr val="D9EAD3">
              <a:alpha val="75000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.0.0/16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6" name="Google Shape;766;p47"/>
          <p:cNvSpPr txBox="1"/>
          <p:nvPr/>
        </p:nvSpPr>
        <p:spPr>
          <a:xfrm>
            <a:off x="4809600" y="2869025"/>
            <a:ext cx="1112100" cy="307800"/>
          </a:xfrm>
          <a:prstGeom prst="rect">
            <a:avLst/>
          </a:prstGeom>
          <a:solidFill>
            <a:srgbClr val="F4CCCC">
              <a:alpha val="75000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.0.0/16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7" name="Google Shape;767;p47"/>
          <p:cNvSpPr/>
          <p:nvPr/>
        </p:nvSpPr>
        <p:spPr>
          <a:xfrm>
            <a:off x="365125" y="3773050"/>
            <a:ext cx="1750500" cy="1020600"/>
          </a:xfrm>
          <a:prstGeom prst="wedgeRoundRectCallout">
            <a:avLst>
              <a:gd fmla="val 37979" name="adj1"/>
              <a:gd fmla="val -70216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am a Google search server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 want to use IP address 192.0.2.1.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8" name="Google Shape;768;p47"/>
          <p:cNvSpPr/>
          <p:nvPr/>
        </p:nvSpPr>
        <p:spPr>
          <a:xfrm>
            <a:off x="2527675" y="3773050"/>
            <a:ext cx="1750500" cy="1020600"/>
          </a:xfrm>
          <a:prstGeom prst="wedgeRoundRectCallout">
            <a:avLst>
              <a:gd fmla="val -38213" name="adj1"/>
              <a:gd fmla="val -69587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am a YouTube server, and I want to use IP address 10.16.1.2.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9" name="Google Shape;769;p47"/>
          <p:cNvSpPr txBox="1"/>
          <p:nvPr>
            <p:ph idx="1" type="body"/>
          </p:nvPr>
        </p:nvSpPr>
        <p:spPr>
          <a:xfrm>
            <a:off x="107050" y="402200"/>
            <a:ext cx="8909700" cy="12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Applications choosing IP addresses is incompatible with our datacenter addressing.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Applications moving and keeping the same IP address is also incompatible.</a:t>
            </a:r>
            <a:endParaRPr/>
          </a:p>
        </p:txBody>
      </p:sp>
      <p:graphicFrame>
        <p:nvGraphicFramePr>
          <p:cNvPr id="770" name="Google Shape;770;p47"/>
          <p:cNvGraphicFramePr/>
          <p:nvPr/>
        </p:nvGraphicFramePr>
        <p:xfrm>
          <a:off x="6333600" y="1737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{DD06A9EC-F48A-45AF-851E-6F77734EB285}</a:tableStyleId>
              </a:tblPr>
              <a:tblGrid>
                <a:gridCol w="1292675"/>
                <a:gridCol w="1056950"/>
              </a:tblGrid>
              <a:tr h="3245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R's forwarding table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 anchor="ctr"/>
                </a:tc>
                <a:tc hMerge="1"/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</a:t>
                      </a:r>
                      <a:r>
                        <a:rPr b="1" lang="en" sz="1300">
                          <a:solidFill>
                            <a:srgbClr val="38761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.0.0/16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</a:t>
                      </a:r>
                      <a:r>
                        <a:rPr b="1" lang="en" sz="13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.0.0/16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192.0.2.1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10.16.1.2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771" name="Google Shape;771;p47"/>
          <p:cNvSpPr txBox="1"/>
          <p:nvPr/>
        </p:nvSpPr>
        <p:spPr>
          <a:xfrm>
            <a:off x="6258163" y="3773050"/>
            <a:ext cx="250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can't aggregate these rows!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Machines</a:t>
            </a:r>
            <a:endParaRPr/>
          </a:p>
        </p:txBody>
      </p:sp>
      <p:sp>
        <p:nvSpPr>
          <p:cNvPr id="777" name="Google Shape;777;p48"/>
          <p:cNvSpPr txBox="1"/>
          <p:nvPr>
            <p:ph idx="1" type="body"/>
          </p:nvPr>
        </p:nvSpPr>
        <p:spPr>
          <a:xfrm>
            <a:off x="107050" y="402200"/>
            <a:ext cx="8909700" cy="17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Virtualization</a:t>
            </a:r>
            <a:r>
              <a:rPr lang="en"/>
              <a:t> lets us run one or more virtual machines on a single physical machine.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virtual machine (VM) provides the illusion of a dedicated physical machine.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physical machine runs a </a:t>
            </a:r>
            <a:r>
              <a:rPr b="1" lang="en"/>
              <a:t>hypervisor</a:t>
            </a:r>
            <a:r>
              <a:rPr lang="en"/>
              <a:t> that gives each VM its own operating system, and manages resources between VMs.</a:t>
            </a:r>
            <a:endParaRPr/>
          </a:p>
        </p:txBody>
      </p:sp>
      <p:sp>
        <p:nvSpPr>
          <p:cNvPr id="778" name="Google Shape;778;p48"/>
          <p:cNvSpPr/>
          <p:nvPr/>
        </p:nvSpPr>
        <p:spPr>
          <a:xfrm>
            <a:off x="3982950" y="4266900"/>
            <a:ext cx="4073700" cy="627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Physical server (hardware)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p48"/>
          <p:cNvSpPr/>
          <p:nvPr/>
        </p:nvSpPr>
        <p:spPr>
          <a:xfrm>
            <a:off x="3982950" y="3352550"/>
            <a:ext cx="4073700" cy="62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Hypervisor (software)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48"/>
          <p:cNvSpPr/>
          <p:nvPr/>
        </p:nvSpPr>
        <p:spPr>
          <a:xfrm>
            <a:off x="3982950" y="2438150"/>
            <a:ext cx="1259400" cy="62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48"/>
          <p:cNvSpPr/>
          <p:nvPr/>
        </p:nvSpPr>
        <p:spPr>
          <a:xfrm>
            <a:off x="6797250" y="2438150"/>
            <a:ext cx="1259400" cy="62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2" name="Google Shape;782;p48"/>
          <p:cNvSpPr/>
          <p:nvPr/>
        </p:nvSpPr>
        <p:spPr>
          <a:xfrm>
            <a:off x="5390100" y="2438150"/>
            <a:ext cx="1259400" cy="62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3" name="Google Shape;783;p48"/>
          <p:cNvCxnSpPr>
            <a:stCxn id="780" idx="2"/>
            <a:endCxn id="784" idx="0"/>
          </p:cNvCxnSpPr>
          <p:nvPr/>
        </p:nvCxnSpPr>
        <p:spPr>
          <a:xfrm>
            <a:off x="4612650" y="3065450"/>
            <a:ext cx="0" cy="287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5" name="Google Shape;785;p48"/>
          <p:cNvSpPr/>
          <p:nvPr/>
        </p:nvSpPr>
        <p:spPr>
          <a:xfrm>
            <a:off x="1881500" y="2490050"/>
            <a:ext cx="1880100" cy="323700"/>
          </a:xfrm>
          <a:prstGeom prst="wedgeRoundRectCallout">
            <a:avLst>
              <a:gd fmla="val 59202" name="adj1"/>
              <a:gd fmla="val 48540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want to write to disk.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p48"/>
          <p:cNvSpPr/>
          <p:nvPr/>
        </p:nvSpPr>
        <p:spPr>
          <a:xfrm>
            <a:off x="759917" y="2997725"/>
            <a:ext cx="3001800" cy="726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VM 1 thinks it's talking to its own hardware disk, but it's actually talking to the hypervisor.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7" name="Google Shape;787;p48"/>
          <p:cNvSpPr/>
          <p:nvPr/>
        </p:nvSpPr>
        <p:spPr>
          <a:xfrm>
            <a:off x="502050" y="3928824"/>
            <a:ext cx="3259500" cy="726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hypervisor talks to the hardware disk (and ensures each VM gets its own dedicated slice of disk).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8" name="Google Shape;788;p48"/>
          <p:cNvCxnSpPr/>
          <p:nvPr/>
        </p:nvCxnSpPr>
        <p:spPr>
          <a:xfrm>
            <a:off x="4612650" y="3979850"/>
            <a:ext cx="0" cy="287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4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Machines</a:t>
            </a:r>
            <a:endParaRPr/>
          </a:p>
        </p:txBody>
      </p:sp>
      <p:sp>
        <p:nvSpPr>
          <p:cNvPr id="794" name="Google Shape;794;p49"/>
          <p:cNvSpPr txBox="1"/>
          <p:nvPr>
            <p:ph idx="1" type="body"/>
          </p:nvPr>
        </p:nvSpPr>
        <p:spPr>
          <a:xfrm>
            <a:off x="107050" y="402200"/>
            <a:ext cx="8909700" cy="19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is virtualization useful?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rapidly add, remove, and move VMs without touching physical servers.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 applications can run on a single server.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Hypervisor can enforce separation of servers (e.g. for security).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More efficient use of resources.</a:t>
            </a:r>
            <a:endParaRPr/>
          </a:p>
        </p:txBody>
      </p:sp>
      <p:sp>
        <p:nvSpPr>
          <p:cNvPr id="795" name="Google Shape;795;p49"/>
          <p:cNvSpPr/>
          <p:nvPr/>
        </p:nvSpPr>
        <p:spPr>
          <a:xfrm>
            <a:off x="2535150" y="3943300"/>
            <a:ext cx="4073700" cy="627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Physical server (hardware)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6" name="Google Shape;796;p49"/>
          <p:cNvSpPr/>
          <p:nvPr/>
        </p:nvSpPr>
        <p:spPr>
          <a:xfrm>
            <a:off x="2535150" y="3257550"/>
            <a:ext cx="4073700" cy="62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Hypervisor (software)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7" name="Google Shape;797;p49"/>
          <p:cNvSpPr/>
          <p:nvPr/>
        </p:nvSpPr>
        <p:spPr>
          <a:xfrm>
            <a:off x="2535150" y="2571750"/>
            <a:ext cx="1259400" cy="62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8" name="Google Shape;798;p49"/>
          <p:cNvSpPr/>
          <p:nvPr/>
        </p:nvSpPr>
        <p:spPr>
          <a:xfrm>
            <a:off x="5349450" y="2571750"/>
            <a:ext cx="1259400" cy="62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9" name="Google Shape;799;p49"/>
          <p:cNvSpPr/>
          <p:nvPr/>
        </p:nvSpPr>
        <p:spPr>
          <a:xfrm>
            <a:off x="3942300" y="2571750"/>
            <a:ext cx="1259400" cy="62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50"/>
          <p:cNvSpPr/>
          <p:nvPr/>
        </p:nvSpPr>
        <p:spPr>
          <a:xfrm>
            <a:off x="4118275" y="3082393"/>
            <a:ext cx="3575100" cy="1520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					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5" name="Google Shape;805;p50"/>
          <p:cNvSpPr/>
          <p:nvPr/>
        </p:nvSpPr>
        <p:spPr>
          <a:xfrm>
            <a:off x="4775625" y="3436355"/>
            <a:ext cx="4518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6" name="Google Shape;806;p5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Switches</a:t>
            </a:r>
            <a:endParaRPr/>
          </a:p>
        </p:txBody>
      </p:sp>
      <p:sp>
        <p:nvSpPr>
          <p:cNvPr id="807" name="Google Shape;807;p50"/>
          <p:cNvSpPr txBox="1"/>
          <p:nvPr>
            <p:ph idx="1" type="body"/>
          </p:nvPr>
        </p:nvSpPr>
        <p:spPr>
          <a:xfrm>
            <a:off x="107050" y="402200"/>
            <a:ext cx="8909700" cy="26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physical server has a single network card (NIC) and a single IP address.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need to give each VM the illusion of its own dedicated NIC and IP 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physical NIC receives packets meant for several VMs.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Run a </a:t>
            </a:r>
            <a:r>
              <a:rPr b="1" lang="en"/>
              <a:t>virtual switch</a:t>
            </a:r>
            <a:r>
              <a:rPr lang="en"/>
              <a:t> in software, on the server.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 the same things as a real switch (e.g. forwards packets).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VM is connected to the virtual switch (in software).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virtual switch uses the physical NIC to send and receive packets.</a:t>
            </a:r>
            <a:endParaRPr/>
          </a:p>
        </p:txBody>
      </p:sp>
      <p:sp>
        <p:nvSpPr>
          <p:cNvPr id="808" name="Google Shape;808;p50"/>
          <p:cNvSpPr/>
          <p:nvPr/>
        </p:nvSpPr>
        <p:spPr>
          <a:xfrm>
            <a:off x="5773425" y="474250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9" name="Google Shape;809;p50"/>
          <p:cNvCxnSpPr>
            <a:stCxn id="808" idx="0"/>
            <a:endCxn id="810" idx="2"/>
          </p:cNvCxnSpPr>
          <p:nvPr/>
        </p:nvCxnSpPr>
        <p:spPr>
          <a:xfrm rot="10800000">
            <a:off x="5915925" y="4413105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0" name="Google Shape;810;p50"/>
          <p:cNvSpPr/>
          <p:nvPr/>
        </p:nvSpPr>
        <p:spPr>
          <a:xfrm>
            <a:off x="5284725" y="4127957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1" name="Google Shape;811;p50"/>
          <p:cNvSpPr/>
          <p:nvPr/>
        </p:nvSpPr>
        <p:spPr>
          <a:xfrm>
            <a:off x="5690025" y="3436355"/>
            <a:ext cx="4518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2" name="Google Shape;812;p50"/>
          <p:cNvCxnSpPr>
            <a:stCxn id="810" idx="0"/>
            <a:endCxn id="805" idx="2"/>
          </p:cNvCxnSpPr>
          <p:nvPr/>
        </p:nvCxnSpPr>
        <p:spPr>
          <a:xfrm rot="10800000">
            <a:off x="5001525" y="3721457"/>
            <a:ext cx="914400" cy="40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3" name="Google Shape;813;p50"/>
          <p:cNvCxnSpPr>
            <a:stCxn id="810" idx="0"/>
            <a:endCxn id="811" idx="2"/>
          </p:cNvCxnSpPr>
          <p:nvPr/>
        </p:nvCxnSpPr>
        <p:spPr>
          <a:xfrm rot="10800000">
            <a:off x="5915925" y="3721457"/>
            <a:ext cx="0" cy="40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4" name="Google Shape;814;p50"/>
          <p:cNvCxnSpPr>
            <a:stCxn id="810" idx="0"/>
            <a:endCxn id="815" idx="2"/>
          </p:cNvCxnSpPr>
          <p:nvPr/>
        </p:nvCxnSpPr>
        <p:spPr>
          <a:xfrm flipH="1" rot="10800000">
            <a:off x="5915925" y="3721457"/>
            <a:ext cx="914400" cy="40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6" name="Google Shape;816;p50"/>
          <p:cNvSpPr txBox="1"/>
          <p:nvPr/>
        </p:nvSpPr>
        <p:spPr>
          <a:xfrm>
            <a:off x="4584675" y="317500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7" name="Google Shape;817;p50"/>
          <p:cNvSpPr txBox="1"/>
          <p:nvPr/>
        </p:nvSpPr>
        <p:spPr>
          <a:xfrm>
            <a:off x="5499075" y="317500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8" name="Google Shape;818;p50"/>
          <p:cNvSpPr txBox="1"/>
          <p:nvPr/>
        </p:nvSpPr>
        <p:spPr>
          <a:xfrm>
            <a:off x="6413475" y="317500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5" name="Google Shape;815;p50"/>
          <p:cNvSpPr/>
          <p:nvPr/>
        </p:nvSpPr>
        <p:spPr>
          <a:xfrm>
            <a:off x="6604425" y="3436355"/>
            <a:ext cx="4518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9" name="Google Shape;819;p50"/>
          <p:cNvSpPr txBox="1"/>
          <p:nvPr/>
        </p:nvSpPr>
        <p:spPr>
          <a:xfrm>
            <a:off x="107050" y="3968975"/>
            <a:ext cx="332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Virtual switches can run in software on a general-purpose CPU because they serve less traffic than a real-world hardware switch. (Just the traffic from the VMs on that server.)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1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Datacenter Routing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Datacenter Addressing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Virtualization and Encapsulation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Virtualization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Overlay and Underlay Networks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Multi-Tenancy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Private Networks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825" name="Google Shape;825;p5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Overlay and Underlay Networks</a:t>
            </a:r>
            <a:endParaRPr/>
          </a:p>
        </p:txBody>
      </p:sp>
      <p:sp>
        <p:nvSpPr>
          <p:cNvPr id="826" name="Google Shape;826;p5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19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with Virtualization</a:t>
            </a:r>
            <a:endParaRPr/>
          </a:p>
        </p:txBody>
      </p:sp>
      <p:sp>
        <p:nvSpPr>
          <p:cNvPr id="832" name="Google Shape;832;p52"/>
          <p:cNvSpPr txBox="1"/>
          <p:nvPr>
            <p:ph idx="1" type="body"/>
          </p:nvPr>
        </p:nvSpPr>
        <p:spPr>
          <a:xfrm>
            <a:off x="107050" y="402200"/>
            <a:ext cx="8909700" cy="18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VMs let us easily add/remove servers, and use server resources efficiently.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But we still haven't solved our </a:t>
            </a:r>
            <a:r>
              <a:rPr lang="en"/>
              <a:t>routing</a:t>
            </a:r>
            <a:r>
              <a:rPr lang="en"/>
              <a:t> </a:t>
            </a:r>
            <a:r>
              <a:rPr lang="en"/>
              <a:t>problem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VM addresses don't fit in the datacenter addressing scheme.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Datacenter routers can't use aggregation to scale.</a:t>
            </a:r>
            <a:endParaRPr/>
          </a:p>
        </p:txBody>
      </p:sp>
      <p:sp>
        <p:nvSpPr>
          <p:cNvPr id="833" name="Google Shape;833;p52"/>
          <p:cNvSpPr/>
          <p:nvPr/>
        </p:nvSpPr>
        <p:spPr>
          <a:xfrm>
            <a:off x="2784450" y="2821450"/>
            <a:ext cx="3575100" cy="1599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					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p52"/>
          <p:cNvSpPr/>
          <p:nvPr/>
        </p:nvSpPr>
        <p:spPr>
          <a:xfrm>
            <a:off x="3441800" y="3178300"/>
            <a:ext cx="4518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52"/>
          <p:cNvSpPr/>
          <p:nvPr/>
        </p:nvSpPr>
        <p:spPr>
          <a:xfrm>
            <a:off x="4439600" y="46368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6" name="Google Shape;836;p52"/>
          <p:cNvCxnSpPr>
            <a:stCxn id="835" idx="0"/>
            <a:endCxn id="837" idx="2"/>
          </p:cNvCxnSpPr>
          <p:nvPr/>
        </p:nvCxnSpPr>
        <p:spPr>
          <a:xfrm rot="10800000">
            <a:off x="4582100" y="4231250"/>
            <a:ext cx="0" cy="40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7" name="Google Shape;837;p52"/>
          <p:cNvSpPr/>
          <p:nvPr/>
        </p:nvSpPr>
        <p:spPr>
          <a:xfrm>
            <a:off x="3950900" y="39461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8" name="Google Shape;838;p52"/>
          <p:cNvSpPr/>
          <p:nvPr/>
        </p:nvSpPr>
        <p:spPr>
          <a:xfrm>
            <a:off x="4356200" y="3178300"/>
            <a:ext cx="4518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9" name="Google Shape;839;p52"/>
          <p:cNvCxnSpPr>
            <a:stCxn id="837" idx="0"/>
            <a:endCxn id="834" idx="2"/>
          </p:cNvCxnSpPr>
          <p:nvPr/>
        </p:nvCxnSpPr>
        <p:spPr>
          <a:xfrm rot="10800000">
            <a:off x="3667700" y="3463402"/>
            <a:ext cx="914400" cy="48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52"/>
          <p:cNvCxnSpPr>
            <a:stCxn id="837" idx="0"/>
            <a:endCxn id="838" idx="2"/>
          </p:cNvCxnSpPr>
          <p:nvPr/>
        </p:nvCxnSpPr>
        <p:spPr>
          <a:xfrm rot="10800000">
            <a:off x="4582100" y="3463402"/>
            <a:ext cx="0" cy="48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52"/>
          <p:cNvCxnSpPr>
            <a:stCxn id="837" idx="0"/>
            <a:endCxn id="842" idx="2"/>
          </p:cNvCxnSpPr>
          <p:nvPr/>
        </p:nvCxnSpPr>
        <p:spPr>
          <a:xfrm flipH="1" rot="10800000">
            <a:off x="4582100" y="3463402"/>
            <a:ext cx="914400" cy="48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3" name="Google Shape;843;p52"/>
          <p:cNvSpPr txBox="1"/>
          <p:nvPr/>
        </p:nvSpPr>
        <p:spPr>
          <a:xfrm>
            <a:off x="3250850" y="29169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4" name="Google Shape;844;p52"/>
          <p:cNvSpPr txBox="1"/>
          <p:nvPr/>
        </p:nvSpPr>
        <p:spPr>
          <a:xfrm>
            <a:off x="4165250" y="29169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5" name="Google Shape;845;p52"/>
          <p:cNvSpPr txBox="1"/>
          <p:nvPr/>
        </p:nvSpPr>
        <p:spPr>
          <a:xfrm>
            <a:off x="5079650" y="29169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2" name="Google Shape;842;p52"/>
          <p:cNvSpPr/>
          <p:nvPr/>
        </p:nvSpPr>
        <p:spPr>
          <a:xfrm>
            <a:off x="5270600" y="3178300"/>
            <a:ext cx="4518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5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</a:t>
            </a:r>
            <a:r>
              <a:rPr lang="en"/>
              <a:t>Routing with Virtualization</a:t>
            </a:r>
            <a:endParaRPr/>
          </a:p>
        </p:txBody>
      </p:sp>
      <p:sp>
        <p:nvSpPr>
          <p:cNvPr id="851" name="Google Shape;851;p53"/>
          <p:cNvSpPr txBox="1"/>
          <p:nvPr>
            <p:ph idx="1" type="body"/>
          </p:nvPr>
        </p:nvSpPr>
        <p:spPr>
          <a:xfrm>
            <a:off x="107050" y="402200"/>
            <a:ext cx="8909700" cy="28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Key problem: We have 2 different addressing systems to think about.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Think of them as two "sub-layers" inside Layer 3 (IP).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underlay network</a:t>
            </a:r>
            <a:r>
              <a:rPr lang="en"/>
              <a:t> thinks in terms of physical addresses.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Physical servers and routers in the datacenter.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Addresses based on datacenter topology.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overlay network</a:t>
            </a:r>
            <a:r>
              <a:rPr lang="en"/>
              <a:t> (VMs) thinks in terms of virtual addresses.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Addresses based on organizational hierarchy.</a:t>
            </a:r>
            <a:endParaRPr/>
          </a:p>
        </p:txBody>
      </p:sp>
      <p:sp>
        <p:nvSpPr>
          <p:cNvPr id="852" name="Google Shape;852;p53"/>
          <p:cNvSpPr/>
          <p:nvPr/>
        </p:nvSpPr>
        <p:spPr>
          <a:xfrm>
            <a:off x="0" y="4300323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3" name="Google Shape;853;p53"/>
          <p:cNvSpPr/>
          <p:nvPr/>
        </p:nvSpPr>
        <p:spPr>
          <a:xfrm>
            <a:off x="0" y="3260498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4" name="Google Shape;854;p53"/>
          <p:cNvSpPr/>
          <p:nvPr/>
        </p:nvSpPr>
        <p:spPr>
          <a:xfrm>
            <a:off x="1066325" y="3371098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5" name="Google Shape;855;p53"/>
          <p:cNvSpPr/>
          <p:nvPr/>
        </p:nvSpPr>
        <p:spPr>
          <a:xfrm>
            <a:off x="2334275" y="47696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6" name="Google Shape;856;p53"/>
          <p:cNvSpPr/>
          <p:nvPr/>
        </p:nvSpPr>
        <p:spPr>
          <a:xfrm>
            <a:off x="3629675" y="47696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7" name="Google Shape;857;p53"/>
          <p:cNvCxnSpPr>
            <a:stCxn id="855" idx="3"/>
            <a:endCxn id="856" idx="1"/>
          </p:cNvCxnSpPr>
          <p:nvPr/>
        </p:nvCxnSpPr>
        <p:spPr>
          <a:xfrm>
            <a:off x="2619275" y="4912173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8" name="Google Shape;858;p53"/>
          <p:cNvSpPr/>
          <p:nvPr/>
        </p:nvSpPr>
        <p:spPr>
          <a:xfrm>
            <a:off x="4925075" y="47696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9" name="Google Shape;859;p53"/>
          <p:cNvSpPr/>
          <p:nvPr/>
        </p:nvSpPr>
        <p:spPr>
          <a:xfrm>
            <a:off x="6220475" y="47696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0" name="Google Shape;860;p53"/>
          <p:cNvCxnSpPr>
            <a:stCxn id="858" idx="3"/>
            <a:endCxn id="859" idx="1"/>
          </p:cNvCxnSpPr>
          <p:nvPr/>
        </p:nvCxnSpPr>
        <p:spPr>
          <a:xfrm>
            <a:off x="5210075" y="4912173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" name="Google Shape;861;p53"/>
          <p:cNvCxnSpPr>
            <a:stCxn id="856" idx="3"/>
            <a:endCxn id="858" idx="1"/>
          </p:cNvCxnSpPr>
          <p:nvPr/>
        </p:nvCxnSpPr>
        <p:spPr>
          <a:xfrm>
            <a:off x="3914675" y="4912173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2" name="Google Shape;862;p53"/>
          <p:cNvCxnSpPr>
            <a:stCxn id="855" idx="0"/>
            <a:endCxn id="863" idx="2"/>
          </p:cNvCxnSpPr>
          <p:nvPr/>
        </p:nvCxnSpPr>
        <p:spPr>
          <a:xfrm rot="10800000">
            <a:off x="2476775" y="4440273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3" name="Google Shape;863;p53"/>
          <p:cNvSpPr/>
          <p:nvPr/>
        </p:nvSpPr>
        <p:spPr>
          <a:xfrm>
            <a:off x="1845575" y="4155125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4" name="Google Shape;864;p53"/>
          <p:cNvCxnSpPr>
            <a:stCxn id="859" idx="0"/>
            <a:endCxn id="865" idx="2"/>
          </p:cNvCxnSpPr>
          <p:nvPr/>
        </p:nvCxnSpPr>
        <p:spPr>
          <a:xfrm rot="10800000">
            <a:off x="6362975" y="4440273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6" name="Google Shape;866;p53"/>
          <p:cNvSpPr/>
          <p:nvPr/>
        </p:nvSpPr>
        <p:spPr>
          <a:xfrm>
            <a:off x="23342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7" name="Google Shape;867;p53"/>
          <p:cNvSpPr/>
          <p:nvPr/>
        </p:nvSpPr>
        <p:spPr>
          <a:xfrm>
            <a:off x="14198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8" name="Google Shape;868;p53"/>
          <p:cNvSpPr/>
          <p:nvPr/>
        </p:nvSpPr>
        <p:spPr>
          <a:xfrm>
            <a:off x="32486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9" name="Google Shape;869;p53"/>
          <p:cNvCxnSpPr>
            <a:stCxn id="863" idx="0"/>
            <a:endCxn id="867" idx="2"/>
          </p:cNvCxnSpPr>
          <p:nvPr/>
        </p:nvCxnSpPr>
        <p:spPr>
          <a:xfrm rot="10800000">
            <a:off x="1562375" y="3900725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0" name="Google Shape;870;p53"/>
          <p:cNvCxnSpPr>
            <a:stCxn id="863" idx="0"/>
            <a:endCxn id="866" idx="2"/>
          </p:cNvCxnSpPr>
          <p:nvPr/>
        </p:nvCxnSpPr>
        <p:spPr>
          <a:xfrm rot="10800000">
            <a:off x="2476775" y="3900725"/>
            <a:ext cx="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53"/>
          <p:cNvCxnSpPr>
            <a:stCxn id="863" idx="0"/>
            <a:endCxn id="868" idx="2"/>
          </p:cNvCxnSpPr>
          <p:nvPr/>
        </p:nvCxnSpPr>
        <p:spPr>
          <a:xfrm flipH="1" rot="10800000">
            <a:off x="2476775" y="3900725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53"/>
          <p:cNvSpPr txBox="1"/>
          <p:nvPr/>
        </p:nvSpPr>
        <p:spPr>
          <a:xfrm>
            <a:off x="11455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3" name="Google Shape;873;p53"/>
          <p:cNvSpPr txBox="1"/>
          <p:nvPr/>
        </p:nvSpPr>
        <p:spPr>
          <a:xfrm>
            <a:off x="20599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4" name="Google Shape;874;p53"/>
          <p:cNvSpPr txBox="1"/>
          <p:nvPr/>
        </p:nvSpPr>
        <p:spPr>
          <a:xfrm>
            <a:off x="29743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5" name="Google Shape;875;p53"/>
          <p:cNvSpPr/>
          <p:nvPr/>
        </p:nvSpPr>
        <p:spPr>
          <a:xfrm>
            <a:off x="4952525" y="3371098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5" name="Google Shape;865;p53"/>
          <p:cNvSpPr/>
          <p:nvPr/>
        </p:nvSpPr>
        <p:spPr>
          <a:xfrm>
            <a:off x="5731775" y="4155125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6" name="Google Shape;876;p53"/>
          <p:cNvSpPr/>
          <p:nvPr/>
        </p:nvSpPr>
        <p:spPr>
          <a:xfrm>
            <a:off x="62204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7" name="Google Shape;877;p53"/>
          <p:cNvSpPr/>
          <p:nvPr/>
        </p:nvSpPr>
        <p:spPr>
          <a:xfrm>
            <a:off x="53060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8" name="Google Shape;878;p53"/>
          <p:cNvSpPr/>
          <p:nvPr/>
        </p:nvSpPr>
        <p:spPr>
          <a:xfrm>
            <a:off x="71348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9" name="Google Shape;879;p53"/>
          <p:cNvCxnSpPr>
            <a:stCxn id="865" idx="0"/>
            <a:endCxn id="877" idx="2"/>
          </p:cNvCxnSpPr>
          <p:nvPr/>
        </p:nvCxnSpPr>
        <p:spPr>
          <a:xfrm rot="10800000">
            <a:off x="5448575" y="3900725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53"/>
          <p:cNvCxnSpPr>
            <a:stCxn id="865" idx="0"/>
            <a:endCxn id="876" idx="2"/>
          </p:cNvCxnSpPr>
          <p:nvPr/>
        </p:nvCxnSpPr>
        <p:spPr>
          <a:xfrm rot="10800000">
            <a:off x="6362975" y="3900725"/>
            <a:ext cx="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53"/>
          <p:cNvCxnSpPr>
            <a:stCxn id="865" idx="0"/>
            <a:endCxn id="878" idx="2"/>
          </p:cNvCxnSpPr>
          <p:nvPr/>
        </p:nvCxnSpPr>
        <p:spPr>
          <a:xfrm flipH="1" rot="10800000">
            <a:off x="6362975" y="3900725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53"/>
          <p:cNvSpPr txBox="1"/>
          <p:nvPr/>
        </p:nvSpPr>
        <p:spPr>
          <a:xfrm>
            <a:off x="50317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3" name="Google Shape;883;p53"/>
          <p:cNvSpPr txBox="1"/>
          <p:nvPr/>
        </p:nvSpPr>
        <p:spPr>
          <a:xfrm>
            <a:off x="59461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4" name="Google Shape;884;p53"/>
          <p:cNvSpPr txBox="1"/>
          <p:nvPr/>
        </p:nvSpPr>
        <p:spPr>
          <a:xfrm>
            <a:off x="68605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Problem: </a:t>
            </a:r>
            <a:r>
              <a:rPr lang="en"/>
              <a:t>Routing with Virtualization</a:t>
            </a:r>
            <a:endParaRPr/>
          </a:p>
        </p:txBody>
      </p:sp>
      <p:sp>
        <p:nvSpPr>
          <p:cNvPr id="890" name="Google Shape;890;p54"/>
          <p:cNvSpPr txBox="1"/>
          <p:nvPr>
            <p:ph idx="1" type="body"/>
          </p:nvPr>
        </p:nvSpPr>
        <p:spPr>
          <a:xfrm>
            <a:off x="107050" y="402200"/>
            <a:ext cx="8909700" cy="28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Ideally, we want to think about each layer separately.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Underlay scales by aggregating physical addresses (ignoring virtual addresses).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Overlay scales because any-to-any routing isn't needed.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A YouTube VM only needs to know about other YouTube VMs.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layer should only need to </a:t>
            </a:r>
            <a:r>
              <a:rPr lang="en"/>
              <a:t>think</a:t>
            </a:r>
            <a:r>
              <a:rPr lang="en"/>
              <a:t> about its own addressing system.</a:t>
            </a:r>
            <a:endParaRPr/>
          </a:p>
        </p:txBody>
      </p:sp>
      <p:sp>
        <p:nvSpPr>
          <p:cNvPr id="891" name="Google Shape;891;p54"/>
          <p:cNvSpPr/>
          <p:nvPr/>
        </p:nvSpPr>
        <p:spPr>
          <a:xfrm>
            <a:off x="0" y="4300323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2" name="Google Shape;892;p54"/>
          <p:cNvSpPr/>
          <p:nvPr/>
        </p:nvSpPr>
        <p:spPr>
          <a:xfrm>
            <a:off x="0" y="3260498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3" name="Google Shape;893;p54"/>
          <p:cNvSpPr/>
          <p:nvPr/>
        </p:nvSpPr>
        <p:spPr>
          <a:xfrm>
            <a:off x="1066325" y="3371098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4" name="Google Shape;894;p54"/>
          <p:cNvSpPr/>
          <p:nvPr/>
        </p:nvSpPr>
        <p:spPr>
          <a:xfrm>
            <a:off x="2334275" y="47696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5" name="Google Shape;895;p54"/>
          <p:cNvSpPr/>
          <p:nvPr/>
        </p:nvSpPr>
        <p:spPr>
          <a:xfrm>
            <a:off x="3629675" y="47696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6" name="Google Shape;896;p54"/>
          <p:cNvCxnSpPr>
            <a:stCxn id="894" idx="3"/>
            <a:endCxn id="895" idx="1"/>
          </p:cNvCxnSpPr>
          <p:nvPr/>
        </p:nvCxnSpPr>
        <p:spPr>
          <a:xfrm>
            <a:off x="2619275" y="4912173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7" name="Google Shape;897;p54"/>
          <p:cNvSpPr/>
          <p:nvPr/>
        </p:nvSpPr>
        <p:spPr>
          <a:xfrm>
            <a:off x="4925075" y="47696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8" name="Google Shape;898;p54"/>
          <p:cNvSpPr/>
          <p:nvPr/>
        </p:nvSpPr>
        <p:spPr>
          <a:xfrm>
            <a:off x="6220475" y="47696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9" name="Google Shape;899;p54"/>
          <p:cNvCxnSpPr>
            <a:stCxn id="897" idx="3"/>
            <a:endCxn id="898" idx="1"/>
          </p:cNvCxnSpPr>
          <p:nvPr/>
        </p:nvCxnSpPr>
        <p:spPr>
          <a:xfrm>
            <a:off x="5210075" y="4912173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0" name="Google Shape;900;p54"/>
          <p:cNvCxnSpPr>
            <a:stCxn id="895" idx="3"/>
            <a:endCxn id="897" idx="1"/>
          </p:cNvCxnSpPr>
          <p:nvPr/>
        </p:nvCxnSpPr>
        <p:spPr>
          <a:xfrm>
            <a:off x="3914675" y="4912173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1" name="Google Shape;901;p54"/>
          <p:cNvCxnSpPr>
            <a:stCxn id="894" idx="0"/>
            <a:endCxn id="902" idx="2"/>
          </p:cNvCxnSpPr>
          <p:nvPr/>
        </p:nvCxnSpPr>
        <p:spPr>
          <a:xfrm rot="10800000">
            <a:off x="2476775" y="4440273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2" name="Google Shape;902;p54"/>
          <p:cNvSpPr/>
          <p:nvPr/>
        </p:nvSpPr>
        <p:spPr>
          <a:xfrm>
            <a:off x="1845575" y="4155125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3" name="Google Shape;903;p54"/>
          <p:cNvCxnSpPr>
            <a:stCxn id="898" idx="0"/>
            <a:endCxn id="904" idx="2"/>
          </p:cNvCxnSpPr>
          <p:nvPr/>
        </p:nvCxnSpPr>
        <p:spPr>
          <a:xfrm rot="10800000">
            <a:off x="6362975" y="4440273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5" name="Google Shape;905;p54"/>
          <p:cNvSpPr/>
          <p:nvPr/>
        </p:nvSpPr>
        <p:spPr>
          <a:xfrm>
            <a:off x="23342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6" name="Google Shape;906;p54"/>
          <p:cNvSpPr/>
          <p:nvPr/>
        </p:nvSpPr>
        <p:spPr>
          <a:xfrm>
            <a:off x="14198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7" name="Google Shape;907;p54"/>
          <p:cNvSpPr/>
          <p:nvPr/>
        </p:nvSpPr>
        <p:spPr>
          <a:xfrm>
            <a:off x="32486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8" name="Google Shape;908;p54"/>
          <p:cNvCxnSpPr>
            <a:stCxn id="902" idx="0"/>
            <a:endCxn id="906" idx="2"/>
          </p:cNvCxnSpPr>
          <p:nvPr/>
        </p:nvCxnSpPr>
        <p:spPr>
          <a:xfrm rot="10800000">
            <a:off x="1562375" y="3900725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9" name="Google Shape;909;p54"/>
          <p:cNvCxnSpPr>
            <a:stCxn id="902" idx="0"/>
            <a:endCxn id="905" idx="2"/>
          </p:cNvCxnSpPr>
          <p:nvPr/>
        </p:nvCxnSpPr>
        <p:spPr>
          <a:xfrm rot="10800000">
            <a:off x="2476775" y="3900725"/>
            <a:ext cx="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0" name="Google Shape;910;p54"/>
          <p:cNvCxnSpPr>
            <a:stCxn id="902" idx="0"/>
            <a:endCxn id="907" idx="2"/>
          </p:cNvCxnSpPr>
          <p:nvPr/>
        </p:nvCxnSpPr>
        <p:spPr>
          <a:xfrm flipH="1" rot="10800000">
            <a:off x="2476775" y="3900725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1" name="Google Shape;911;p54"/>
          <p:cNvSpPr txBox="1"/>
          <p:nvPr/>
        </p:nvSpPr>
        <p:spPr>
          <a:xfrm>
            <a:off x="11455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54"/>
          <p:cNvSpPr txBox="1"/>
          <p:nvPr/>
        </p:nvSpPr>
        <p:spPr>
          <a:xfrm>
            <a:off x="20599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54"/>
          <p:cNvSpPr txBox="1"/>
          <p:nvPr/>
        </p:nvSpPr>
        <p:spPr>
          <a:xfrm>
            <a:off x="29743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4" name="Google Shape;914;p54"/>
          <p:cNvSpPr/>
          <p:nvPr/>
        </p:nvSpPr>
        <p:spPr>
          <a:xfrm>
            <a:off x="4952525" y="3371098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4" name="Google Shape;904;p54"/>
          <p:cNvSpPr/>
          <p:nvPr/>
        </p:nvSpPr>
        <p:spPr>
          <a:xfrm>
            <a:off x="5731775" y="4155125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5" name="Google Shape;915;p54"/>
          <p:cNvSpPr/>
          <p:nvPr/>
        </p:nvSpPr>
        <p:spPr>
          <a:xfrm>
            <a:off x="62204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6" name="Google Shape;916;p54"/>
          <p:cNvSpPr/>
          <p:nvPr/>
        </p:nvSpPr>
        <p:spPr>
          <a:xfrm>
            <a:off x="53060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7" name="Google Shape;917;p54"/>
          <p:cNvSpPr/>
          <p:nvPr/>
        </p:nvSpPr>
        <p:spPr>
          <a:xfrm>
            <a:off x="71348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8" name="Google Shape;918;p54"/>
          <p:cNvCxnSpPr>
            <a:stCxn id="904" idx="0"/>
            <a:endCxn id="916" idx="2"/>
          </p:cNvCxnSpPr>
          <p:nvPr/>
        </p:nvCxnSpPr>
        <p:spPr>
          <a:xfrm rot="10800000">
            <a:off x="5448575" y="3900725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9" name="Google Shape;919;p54"/>
          <p:cNvCxnSpPr>
            <a:stCxn id="904" idx="0"/>
            <a:endCxn id="915" idx="2"/>
          </p:cNvCxnSpPr>
          <p:nvPr/>
        </p:nvCxnSpPr>
        <p:spPr>
          <a:xfrm rot="10800000">
            <a:off x="6362975" y="3900725"/>
            <a:ext cx="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0" name="Google Shape;920;p54"/>
          <p:cNvCxnSpPr>
            <a:stCxn id="904" idx="0"/>
            <a:endCxn id="917" idx="2"/>
          </p:cNvCxnSpPr>
          <p:nvPr/>
        </p:nvCxnSpPr>
        <p:spPr>
          <a:xfrm flipH="1" rot="10800000">
            <a:off x="6362975" y="3900725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1" name="Google Shape;921;p54"/>
          <p:cNvSpPr txBox="1"/>
          <p:nvPr/>
        </p:nvSpPr>
        <p:spPr>
          <a:xfrm>
            <a:off x="50317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2" name="Google Shape;922;p54"/>
          <p:cNvSpPr txBox="1"/>
          <p:nvPr/>
        </p:nvSpPr>
        <p:spPr>
          <a:xfrm>
            <a:off x="59461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3" name="Google Shape;923;p54"/>
          <p:cNvSpPr txBox="1"/>
          <p:nvPr/>
        </p:nvSpPr>
        <p:spPr>
          <a:xfrm>
            <a:off x="68605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5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A New Layer</a:t>
            </a:r>
            <a:endParaRPr/>
          </a:p>
        </p:txBody>
      </p:sp>
      <p:sp>
        <p:nvSpPr>
          <p:cNvPr id="929" name="Google Shape;929;p55"/>
          <p:cNvSpPr txBox="1"/>
          <p:nvPr>
            <p:ph idx="1" type="body"/>
          </p:nvPr>
        </p:nvSpPr>
        <p:spPr>
          <a:xfrm>
            <a:off x="107050" y="402200"/>
            <a:ext cx="8909700" cy="23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bridge the gap between the overlay and underlay?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 the same strategies with layering and header from the Internet design!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could introduce an extra layer (with an extra header).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layer thinks about the underlay – physical addresses.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other layer thinks about the overlay – virtual addresses.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new layer could be a second IP header, or a new kind of header (not IP).</a:t>
            </a:r>
            <a:endParaRPr/>
          </a:p>
        </p:txBody>
      </p:sp>
      <p:sp>
        <p:nvSpPr>
          <p:cNvPr id="930" name="Google Shape;930;p55"/>
          <p:cNvSpPr/>
          <p:nvPr/>
        </p:nvSpPr>
        <p:spPr>
          <a:xfrm>
            <a:off x="4886000" y="3998325"/>
            <a:ext cx="1980600" cy="618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1" name="Google Shape;931;p55"/>
          <p:cNvSpPr/>
          <p:nvPr/>
        </p:nvSpPr>
        <p:spPr>
          <a:xfrm>
            <a:off x="4886000" y="3604725"/>
            <a:ext cx="19806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2" name="Google Shape;932;p55"/>
          <p:cNvSpPr/>
          <p:nvPr/>
        </p:nvSpPr>
        <p:spPr>
          <a:xfrm>
            <a:off x="4886000" y="3211125"/>
            <a:ext cx="19806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(Overlay)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3" name="Google Shape;933;p55"/>
          <p:cNvSpPr/>
          <p:nvPr/>
        </p:nvSpPr>
        <p:spPr>
          <a:xfrm>
            <a:off x="4886000" y="2817525"/>
            <a:ext cx="19806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(Underlay)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4" name="Google Shape;934;p55"/>
          <p:cNvSpPr/>
          <p:nvPr/>
        </p:nvSpPr>
        <p:spPr>
          <a:xfrm>
            <a:off x="1581150" y="3998325"/>
            <a:ext cx="1980600" cy="618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5" name="Google Shape;935;p55"/>
          <p:cNvSpPr/>
          <p:nvPr/>
        </p:nvSpPr>
        <p:spPr>
          <a:xfrm>
            <a:off x="1581150" y="3604725"/>
            <a:ext cx="19806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6" name="Google Shape;936;p55"/>
          <p:cNvSpPr/>
          <p:nvPr/>
        </p:nvSpPr>
        <p:spPr>
          <a:xfrm>
            <a:off x="1581150" y="3211125"/>
            <a:ext cx="19806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7" name="Google Shape;937;p55"/>
          <p:cNvSpPr txBox="1"/>
          <p:nvPr/>
        </p:nvSpPr>
        <p:spPr>
          <a:xfrm>
            <a:off x="1581150" y="4628310"/>
            <a:ext cx="198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Original design.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55"/>
          <p:cNvSpPr txBox="1"/>
          <p:nvPr/>
        </p:nvSpPr>
        <p:spPr>
          <a:xfrm>
            <a:off x="4886000" y="4628310"/>
            <a:ext cx="198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new design.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56"/>
          <p:cNvSpPr/>
          <p:nvPr/>
        </p:nvSpPr>
        <p:spPr>
          <a:xfrm>
            <a:off x="0" y="32920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4" name="Google Shape;944;p56"/>
          <p:cNvSpPr/>
          <p:nvPr/>
        </p:nvSpPr>
        <p:spPr>
          <a:xfrm>
            <a:off x="0" y="2252175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56"/>
          <p:cNvSpPr/>
          <p:nvPr/>
        </p:nvSpPr>
        <p:spPr>
          <a:xfrm>
            <a:off x="10663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6" name="Google Shape;946;p5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Encapsulation and Decapsulation</a:t>
            </a:r>
            <a:endParaRPr/>
          </a:p>
        </p:txBody>
      </p:sp>
      <p:sp>
        <p:nvSpPr>
          <p:cNvPr id="947" name="Google Shape;947;p56"/>
          <p:cNvSpPr txBox="1"/>
          <p:nvPr>
            <p:ph idx="1" type="body"/>
          </p:nvPr>
        </p:nvSpPr>
        <p:spPr>
          <a:xfrm>
            <a:off x="107050" y="402200"/>
            <a:ext cx="89097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Let's see how to use the new layer to connect the overlay and underlay networks.</a:t>
            </a:r>
            <a:endParaRPr/>
          </a:p>
        </p:txBody>
      </p:sp>
      <p:sp>
        <p:nvSpPr>
          <p:cNvPr id="948" name="Google Shape;948;p56"/>
          <p:cNvSpPr/>
          <p:nvPr/>
        </p:nvSpPr>
        <p:spPr>
          <a:xfrm>
            <a:off x="2334275" y="3761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56"/>
          <p:cNvSpPr/>
          <p:nvPr/>
        </p:nvSpPr>
        <p:spPr>
          <a:xfrm>
            <a:off x="3629675" y="3761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0" name="Google Shape;950;p56"/>
          <p:cNvCxnSpPr>
            <a:stCxn id="948" idx="3"/>
            <a:endCxn id="949" idx="1"/>
          </p:cNvCxnSpPr>
          <p:nvPr/>
        </p:nvCxnSpPr>
        <p:spPr>
          <a:xfrm>
            <a:off x="26192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1" name="Google Shape;951;p56"/>
          <p:cNvSpPr/>
          <p:nvPr/>
        </p:nvSpPr>
        <p:spPr>
          <a:xfrm>
            <a:off x="4925075" y="3761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2" name="Google Shape;952;p56"/>
          <p:cNvSpPr/>
          <p:nvPr/>
        </p:nvSpPr>
        <p:spPr>
          <a:xfrm>
            <a:off x="6220475" y="3761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3" name="Google Shape;953;p56"/>
          <p:cNvCxnSpPr>
            <a:stCxn id="951" idx="3"/>
            <a:endCxn id="952" idx="1"/>
          </p:cNvCxnSpPr>
          <p:nvPr/>
        </p:nvCxnSpPr>
        <p:spPr>
          <a:xfrm>
            <a:off x="52100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4" name="Google Shape;954;p56"/>
          <p:cNvCxnSpPr>
            <a:stCxn id="949" idx="3"/>
            <a:endCxn id="951" idx="1"/>
          </p:cNvCxnSpPr>
          <p:nvPr/>
        </p:nvCxnSpPr>
        <p:spPr>
          <a:xfrm>
            <a:off x="39146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5" name="Google Shape;955;p56"/>
          <p:cNvCxnSpPr>
            <a:stCxn id="948" idx="0"/>
            <a:endCxn id="956" idx="2"/>
          </p:cNvCxnSpPr>
          <p:nvPr/>
        </p:nvCxnSpPr>
        <p:spPr>
          <a:xfrm rot="10800000">
            <a:off x="24767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6" name="Google Shape;956;p56"/>
          <p:cNvSpPr/>
          <p:nvPr/>
        </p:nvSpPr>
        <p:spPr>
          <a:xfrm>
            <a:off x="1845575" y="31468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7" name="Google Shape;957;p56"/>
          <p:cNvCxnSpPr>
            <a:stCxn id="952" idx="0"/>
            <a:endCxn id="958" idx="2"/>
          </p:cNvCxnSpPr>
          <p:nvPr/>
        </p:nvCxnSpPr>
        <p:spPr>
          <a:xfrm rot="10800000">
            <a:off x="63629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9" name="Google Shape;959;p56"/>
          <p:cNvSpPr/>
          <p:nvPr/>
        </p:nvSpPr>
        <p:spPr>
          <a:xfrm>
            <a:off x="2334275" y="2607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0" name="Google Shape;960;p56"/>
          <p:cNvSpPr/>
          <p:nvPr/>
        </p:nvSpPr>
        <p:spPr>
          <a:xfrm>
            <a:off x="1419875" y="2607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1" name="Google Shape;961;p56"/>
          <p:cNvSpPr/>
          <p:nvPr/>
        </p:nvSpPr>
        <p:spPr>
          <a:xfrm>
            <a:off x="3248675" y="2607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2" name="Google Shape;962;p56"/>
          <p:cNvCxnSpPr>
            <a:stCxn id="956" idx="0"/>
            <a:endCxn id="960" idx="2"/>
          </p:cNvCxnSpPr>
          <p:nvPr/>
        </p:nvCxnSpPr>
        <p:spPr>
          <a:xfrm rot="10800000">
            <a:off x="15623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3" name="Google Shape;963;p56"/>
          <p:cNvCxnSpPr>
            <a:stCxn id="956" idx="0"/>
            <a:endCxn id="959" idx="2"/>
          </p:cNvCxnSpPr>
          <p:nvPr/>
        </p:nvCxnSpPr>
        <p:spPr>
          <a:xfrm rot="10800000">
            <a:off x="24767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4" name="Google Shape;964;p56"/>
          <p:cNvCxnSpPr>
            <a:stCxn id="956" idx="0"/>
            <a:endCxn id="961" idx="2"/>
          </p:cNvCxnSpPr>
          <p:nvPr/>
        </p:nvCxnSpPr>
        <p:spPr>
          <a:xfrm flipH="1" rot="10800000">
            <a:off x="24767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5" name="Google Shape;965;p56"/>
          <p:cNvSpPr txBox="1"/>
          <p:nvPr/>
        </p:nvSpPr>
        <p:spPr>
          <a:xfrm>
            <a:off x="1145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6" name="Google Shape;966;p56"/>
          <p:cNvSpPr txBox="1"/>
          <p:nvPr/>
        </p:nvSpPr>
        <p:spPr>
          <a:xfrm>
            <a:off x="20599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7" name="Google Shape;967;p56"/>
          <p:cNvSpPr txBox="1"/>
          <p:nvPr/>
        </p:nvSpPr>
        <p:spPr>
          <a:xfrm>
            <a:off x="29743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p56"/>
          <p:cNvSpPr/>
          <p:nvPr/>
        </p:nvSpPr>
        <p:spPr>
          <a:xfrm>
            <a:off x="49525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8" name="Google Shape;958;p56"/>
          <p:cNvSpPr/>
          <p:nvPr/>
        </p:nvSpPr>
        <p:spPr>
          <a:xfrm>
            <a:off x="5731775" y="31468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9" name="Google Shape;969;p56"/>
          <p:cNvSpPr/>
          <p:nvPr/>
        </p:nvSpPr>
        <p:spPr>
          <a:xfrm>
            <a:off x="6220475" y="2607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0" name="Google Shape;970;p56"/>
          <p:cNvSpPr/>
          <p:nvPr/>
        </p:nvSpPr>
        <p:spPr>
          <a:xfrm>
            <a:off x="5306075" y="2607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1" name="Google Shape;971;p56"/>
          <p:cNvSpPr/>
          <p:nvPr/>
        </p:nvSpPr>
        <p:spPr>
          <a:xfrm>
            <a:off x="7134875" y="2607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2" name="Google Shape;972;p56"/>
          <p:cNvCxnSpPr>
            <a:stCxn id="958" idx="0"/>
            <a:endCxn id="970" idx="2"/>
          </p:cNvCxnSpPr>
          <p:nvPr/>
        </p:nvCxnSpPr>
        <p:spPr>
          <a:xfrm rot="10800000">
            <a:off x="54485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3" name="Google Shape;973;p56"/>
          <p:cNvCxnSpPr>
            <a:stCxn id="958" idx="0"/>
            <a:endCxn id="969" idx="2"/>
          </p:cNvCxnSpPr>
          <p:nvPr/>
        </p:nvCxnSpPr>
        <p:spPr>
          <a:xfrm rot="10800000">
            <a:off x="63629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4" name="Google Shape;974;p56"/>
          <p:cNvCxnSpPr>
            <a:stCxn id="958" idx="0"/>
            <a:endCxn id="971" idx="2"/>
          </p:cNvCxnSpPr>
          <p:nvPr/>
        </p:nvCxnSpPr>
        <p:spPr>
          <a:xfrm flipH="1" rot="10800000">
            <a:off x="63629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5" name="Google Shape;975;p56"/>
          <p:cNvSpPr txBox="1"/>
          <p:nvPr/>
        </p:nvSpPr>
        <p:spPr>
          <a:xfrm>
            <a:off x="50317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6" name="Google Shape;976;p56"/>
          <p:cNvSpPr txBox="1"/>
          <p:nvPr/>
        </p:nvSpPr>
        <p:spPr>
          <a:xfrm>
            <a:off x="59461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7" name="Google Shape;977;p56"/>
          <p:cNvSpPr txBox="1"/>
          <p:nvPr/>
        </p:nvSpPr>
        <p:spPr>
          <a:xfrm>
            <a:off x="6860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57"/>
          <p:cNvSpPr/>
          <p:nvPr/>
        </p:nvSpPr>
        <p:spPr>
          <a:xfrm>
            <a:off x="0" y="32920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3" name="Google Shape;983;p57"/>
          <p:cNvSpPr/>
          <p:nvPr/>
        </p:nvSpPr>
        <p:spPr>
          <a:xfrm>
            <a:off x="0" y="2252175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4" name="Google Shape;984;p57"/>
          <p:cNvSpPr/>
          <p:nvPr/>
        </p:nvSpPr>
        <p:spPr>
          <a:xfrm>
            <a:off x="10663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5" name="Google Shape;985;p5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Encapsulation and Decapsulation</a:t>
            </a:r>
            <a:endParaRPr/>
          </a:p>
        </p:txBody>
      </p:sp>
      <p:sp>
        <p:nvSpPr>
          <p:cNvPr id="986" name="Google Shape;986;p57"/>
          <p:cNvSpPr txBox="1"/>
          <p:nvPr>
            <p:ph idx="1" type="body"/>
          </p:nvPr>
        </p:nvSpPr>
        <p:spPr>
          <a:xfrm>
            <a:off x="107050" y="402200"/>
            <a:ext cx="89097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goal: VM1 wants to talk to VM6.</a:t>
            </a:r>
            <a:endParaRPr/>
          </a:p>
        </p:txBody>
      </p:sp>
      <p:sp>
        <p:nvSpPr>
          <p:cNvPr id="987" name="Google Shape;987;p57"/>
          <p:cNvSpPr/>
          <p:nvPr/>
        </p:nvSpPr>
        <p:spPr>
          <a:xfrm>
            <a:off x="23342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8" name="Google Shape;988;p57"/>
          <p:cNvSpPr/>
          <p:nvPr/>
        </p:nvSpPr>
        <p:spPr>
          <a:xfrm>
            <a:off x="36296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9" name="Google Shape;989;p57"/>
          <p:cNvCxnSpPr>
            <a:stCxn id="987" idx="3"/>
            <a:endCxn id="988" idx="1"/>
          </p:cNvCxnSpPr>
          <p:nvPr/>
        </p:nvCxnSpPr>
        <p:spPr>
          <a:xfrm>
            <a:off x="26192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0" name="Google Shape;990;p57"/>
          <p:cNvSpPr/>
          <p:nvPr/>
        </p:nvSpPr>
        <p:spPr>
          <a:xfrm>
            <a:off x="49250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1" name="Google Shape;991;p57"/>
          <p:cNvSpPr/>
          <p:nvPr/>
        </p:nvSpPr>
        <p:spPr>
          <a:xfrm>
            <a:off x="62204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2" name="Google Shape;992;p57"/>
          <p:cNvCxnSpPr>
            <a:stCxn id="990" idx="3"/>
            <a:endCxn id="991" idx="1"/>
          </p:cNvCxnSpPr>
          <p:nvPr/>
        </p:nvCxnSpPr>
        <p:spPr>
          <a:xfrm>
            <a:off x="52100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57"/>
          <p:cNvCxnSpPr>
            <a:stCxn id="988" idx="3"/>
            <a:endCxn id="990" idx="1"/>
          </p:cNvCxnSpPr>
          <p:nvPr/>
        </p:nvCxnSpPr>
        <p:spPr>
          <a:xfrm>
            <a:off x="39146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57"/>
          <p:cNvCxnSpPr>
            <a:stCxn id="987" idx="0"/>
            <a:endCxn id="995" idx="2"/>
          </p:cNvCxnSpPr>
          <p:nvPr/>
        </p:nvCxnSpPr>
        <p:spPr>
          <a:xfrm rot="10800000">
            <a:off x="24767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5" name="Google Shape;995;p57"/>
          <p:cNvSpPr/>
          <p:nvPr/>
        </p:nvSpPr>
        <p:spPr>
          <a:xfrm>
            <a:off x="18455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6" name="Google Shape;996;p57"/>
          <p:cNvCxnSpPr>
            <a:stCxn id="991" idx="0"/>
            <a:endCxn id="997" idx="2"/>
          </p:cNvCxnSpPr>
          <p:nvPr/>
        </p:nvCxnSpPr>
        <p:spPr>
          <a:xfrm rot="10800000">
            <a:off x="63629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8" name="Google Shape;998;p57"/>
          <p:cNvSpPr/>
          <p:nvPr/>
        </p:nvSpPr>
        <p:spPr>
          <a:xfrm>
            <a:off x="23342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9" name="Google Shape;999;p57"/>
          <p:cNvSpPr/>
          <p:nvPr/>
        </p:nvSpPr>
        <p:spPr>
          <a:xfrm>
            <a:off x="32486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0" name="Google Shape;1000;p57"/>
          <p:cNvCxnSpPr>
            <a:stCxn id="995" idx="0"/>
            <a:endCxn id="1001" idx="2"/>
          </p:cNvCxnSpPr>
          <p:nvPr/>
        </p:nvCxnSpPr>
        <p:spPr>
          <a:xfrm rot="10800000">
            <a:off x="15623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2" name="Google Shape;1002;p57"/>
          <p:cNvCxnSpPr>
            <a:stCxn id="995" idx="0"/>
            <a:endCxn id="998" idx="2"/>
          </p:cNvCxnSpPr>
          <p:nvPr/>
        </p:nvCxnSpPr>
        <p:spPr>
          <a:xfrm rot="10800000">
            <a:off x="24767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3" name="Google Shape;1003;p57"/>
          <p:cNvCxnSpPr>
            <a:stCxn id="995" idx="0"/>
            <a:endCxn id="999" idx="2"/>
          </p:cNvCxnSpPr>
          <p:nvPr/>
        </p:nvCxnSpPr>
        <p:spPr>
          <a:xfrm flipH="1" rot="10800000">
            <a:off x="24767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4" name="Google Shape;1004;p57"/>
          <p:cNvSpPr txBox="1"/>
          <p:nvPr/>
        </p:nvSpPr>
        <p:spPr>
          <a:xfrm>
            <a:off x="1145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5" name="Google Shape;1005;p57"/>
          <p:cNvSpPr txBox="1"/>
          <p:nvPr/>
        </p:nvSpPr>
        <p:spPr>
          <a:xfrm>
            <a:off x="20599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6" name="Google Shape;1006;p57"/>
          <p:cNvSpPr txBox="1"/>
          <p:nvPr/>
        </p:nvSpPr>
        <p:spPr>
          <a:xfrm>
            <a:off x="29743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7" name="Google Shape;1007;p57"/>
          <p:cNvSpPr/>
          <p:nvPr/>
        </p:nvSpPr>
        <p:spPr>
          <a:xfrm>
            <a:off x="49525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7" name="Google Shape;997;p57"/>
          <p:cNvSpPr/>
          <p:nvPr/>
        </p:nvSpPr>
        <p:spPr>
          <a:xfrm>
            <a:off x="57317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8" name="Google Shape;1008;p57"/>
          <p:cNvCxnSpPr>
            <a:stCxn id="997" idx="0"/>
            <a:endCxn id="1009" idx="2"/>
          </p:cNvCxnSpPr>
          <p:nvPr/>
        </p:nvCxnSpPr>
        <p:spPr>
          <a:xfrm rot="10800000">
            <a:off x="54485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0" name="Google Shape;1010;p57"/>
          <p:cNvCxnSpPr>
            <a:stCxn id="997" idx="0"/>
            <a:endCxn id="1011" idx="2"/>
          </p:cNvCxnSpPr>
          <p:nvPr/>
        </p:nvCxnSpPr>
        <p:spPr>
          <a:xfrm rot="10800000">
            <a:off x="63629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2" name="Google Shape;1012;p57"/>
          <p:cNvCxnSpPr>
            <a:stCxn id="997" idx="0"/>
            <a:endCxn id="1013" idx="2"/>
          </p:cNvCxnSpPr>
          <p:nvPr/>
        </p:nvCxnSpPr>
        <p:spPr>
          <a:xfrm flipH="1" rot="10800000">
            <a:off x="63629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4" name="Google Shape;1014;p57"/>
          <p:cNvSpPr txBox="1"/>
          <p:nvPr/>
        </p:nvSpPr>
        <p:spPr>
          <a:xfrm>
            <a:off x="50317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5" name="Google Shape;1015;p57"/>
          <p:cNvSpPr txBox="1"/>
          <p:nvPr/>
        </p:nvSpPr>
        <p:spPr>
          <a:xfrm>
            <a:off x="59461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6" name="Google Shape;1016;p57"/>
          <p:cNvSpPr txBox="1"/>
          <p:nvPr/>
        </p:nvSpPr>
        <p:spPr>
          <a:xfrm>
            <a:off x="6860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1" name="Google Shape;1001;p57"/>
          <p:cNvSpPr/>
          <p:nvPr/>
        </p:nvSpPr>
        <p:spPr>
          <a:xfrm>
            <a:off x="1419875" y="2607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1" name="Google Shape;1011;p57"/>
          <p:cNvSpPr/>
          <p:nvPr/>
        </p:nvSpPr>
        <p:spPr>
          <a:xfrm>
            <a:off x="62204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9" name="Google Shape;1009;p57"/>
          <p:cNvSpPr/>
          <p:nvPr/>
        </p:nvSpPr>
        <p:spPr>
          <a:xfrm>
            <a:off x="53060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3" name="Google Shape;1013;p57"/>
          <p:cNvSpPr/>
          <p:nvPr/>
        </p:nvSpPr>
        <p:spPr>
          <a:xfrm>
            <a:off x="7134875" y="2607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7" name="Google Shape;1017;p57"/>
          <p:cNvSpPr/>
          <p:nvPr/>
        </p:nvSpPr>
        <p:spPr>
          <a:xfrm>
            <a:off x="2239175" y="1988900"/>
            <a:ext cx="5023050" cy="263273"/>
          </a:xfrm>
          <a:custGeom>
            <a:rect b="b" l="l" r="r" t="t"/>
            <a:pathLst>
              <a:path extrusionOk="0" h="8201" w="200922">
                <a:moveTo>
                  <a:pt x="0" y="0"/>
                </a:moveTo>
                <a:lnTo>
                  <a:pt x="200922" y="0"/>
                </a:lnTo>
                <a:lnTo>
                  <a:pt x="200922" y="8201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018" name="Google Shape;1018;p57"/>
          <p:cNvSpPr/>
          <p:nvPr/>
        </p:nvSpPr>
        <p:spPr>
          <a:xfrm>
            <a:off x="885575" y="1846400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58"/>
          <p:cNvSpPr/>
          <p:nvPr/>
        </p:nvSpPr>
        <p:spPr>
          <a:xfrm>
            <a:off x="0" y="32920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4" name="Google Shape;1024;p58"/>
          <p:cNvSpPr/>
          <p:nvPr/>
        </p:nvSpPr>
        <p:spPr>
          <a:xfrm>
            <a:off x="0" y="2252175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5" name="Google Shape;1025;p58"/>
          <p:cNvSpPr/>
          <p:nvPr/>
        </p:nvSpPr>
        <p:spPr>
          <a:xfrm>
            <a:off x="10663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6" name="Google Shape;1026;p5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Encapsulation and Decapsulation (Step 1/5)</a:t>
            </a:r>
            <a:endParaRPr/>
          </a:p>
        </p:txBody>
      </p:sp>
      <p:sp>
        <p:nvSpPr>
          <p:cNvPr id="1027" name="Google Shape;1027;p58"/>
          <p:cNvSpPr txBox="1"/>
          <p:nvPr>
            <p:ph idx="1" type="body"/>
          </p:nvPr>
        </p:nvSpPr>
        <p:spPr>
          <a:xfrm>
            <a:off x="107050" y="402200"/>
            <a:ext cx="8909700" cy="9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VM1 adds an overlay header with the destination's </a:t>
            </a:r>
            <a:r>
              <a:rPr i="1" lang="en"/>
              <a:t>virtual</a:t>
            </a:r>
            <a:r>
              <a:rPr lang="en"/>
              <a:t> address.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Then, VM1 passes the packet to the virtual switch.</a:t>
            </a:r>
            <a:endParaRPr/>
          </a:p>
        </p:txBody>
      </p:sp>
      <p:sp>
        <p:nvSpPr>
          <p:cNvPr id="1028" name="Google Shape;1028;p58"/>
          <p:cNvSpPr/>
          <p:nvPr/>
        </p:nvSpPr>
        <p:spPr>
          <a:xfrm>
            <a:off x="23342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9" name="Google Shape;1029;p58"/>
          <p:cNvSpPr/>
          <p:nvPr/>
        </p:nvSpPr>
        <p:spPr>
          <a:xfrm>
            <a:off x="36296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0" name="Google Shape;1030;p58"/>
          <p:cNvCxnSpPr>
            <a:stCxn id="1028" idx="3"/>
            <a:endCxn id="1029" idx="1"/>
          </p:cNvCxnSpPr>
          <p:nvPr/>
        </p:nvCxnSpPr>
        <p:spPr>
          <a:xfrm>
            <a:off x="26192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1" name="Google Shape;1031;p58"/>
          <p:cNvSpPr/>
          <p:nvPr/>
        </p:nvSpPr>
        <p:spPr>
          <a:xfrm>
            <a:off x="49250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2" name="Google Shape;1032;p58"/>
          <p:cNvSpPr/>
          <p:nvPr/>
        </p:nvSpPr>
        <p:spPr>
          <a:xfrm>
            <a:off x="62204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3" name="Google Shape;1033;p58"/>
          <p:cNvCxnSpPr>
            <a:stCxn id="1031" idx="3"/>
            <a:endCxn id="1032" idx="1"/>
          </p:cNvCxnSpPr>
          <p:nvPr/>
        </p:nvCxnSpPr>
        <p:spPr>
          <a:xfrm>
            <a:off x="52100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" name="Google Shape;1034;p58"/>
          <p:cNvCxnSpPr>
            <a:stCxn id="1029" idx="3"/>
            <a:endCxn id="1031" idx="1"/>
          </p:cNvCxnSpPr>
          <p:nvPr/>
        </p:nvCxnSpPr>
        <p:spPr>
          <a:xfrm>
            <a:off x="39146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5" name="Google Shape;1035;p58"/>
          <p:cNvCxnSpPr>
            <a:stCxn id="1028" idx="0"/>
            <a:endCxn id="1036" idx="2"/>
          </p:cNvCxnSpPr>
          <p:nvPr/>
        </p:nvCxnSpPr>
        <p:spPr>
          <a:xfrm rot="10800000">
            <a:off x="24767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6" name="Google Shape;1036;p58"/>
          <p:cNvSpPr/>
          <p:nvPr/>
        </p:nvSpPr>
        <p:spPr>
          <a:xfrm>
            <a:off x="18455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7" name="Google Shape;1037;p58"/>
          <p:cNvCxnSpPr>
            <a:stCxn id="1032" idx="0"/>
            <a:endCxn id="1038" idx="2"/>
          </p:cNvCxnSpPr>
          <p:nvPr/>
        </p:nvCxnSpPr>
        <p:spPr>
          <a:xfrm rot="10800000">
            <a:off x="63629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9" name="Google Shape;1039;p58"/>
          <p:cNvSpPr/>
          <p:nvPr/>
        </p:nvSpPr>
        <p:spPr>
          <a:xfrm>
            <a:off x="23342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0" name="Google Shape;1040;p58"/>
          <p:cNvSpPr/>
          <p:nvPr/>
        </p:nvSpPr>
        <p:spPr>
          <a:xfrm>
            <a:off x="32486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1" name="Google Shape;1041;p58"/>
          <p:cNvCxnSpPr>
            <a:stCxn id="1036" idx="0"/>
            <a:endCxn id="1042" idx="2"/>
          </p:cNvCxnSpPr>
          <p:nvPr/>
        </p:nvCxnSpPr>
        <p:spPr>
          <a:xfrm rot="10800000">
            <a:off x="15623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3" name="Google Shape;1043;p58"/>
          <p:cNvCxnSpPr>
            <a:stCxn id="1036" idx="0"/>
            <a:endCxn id="1039" idx="2"/>
          </p:cNvCxnSpPr>
          <p:nvPr/>
        </p:nvCxnSpPr>
        <p:spPr>
          <a:xfrm rot="10800000">
            <a:off x="24767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4" name="Google Shape;1044;p58"/>
          <p:cNvCxnSpPr>
            <a:stCxn id="1036" idx="0"/>
            <a:endCxn id="1040" idx="2"/>
          </p:cNvCxnSpPr>
          <p:nvPr/>
        </p:nvCxnSpPr>
        <p:spPr>
          <a:xfrm flipH="1" rot="10800000">
            <a:off x="24767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5" name="Google Shape;1045;p58"/>
          <p:cNvSpPr txBox="1"/>
          <p:nvPr/>
        </p:nvSpPr>
        <p:spPr>
          <a:xfrm>
            <a:off x="1145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p58"/>
          <p:cNvSpPr txBox="1"/>
          <p:nvPr/>
        </p:nvSpPr>
        <p:spPr>
          <a:xfrm>
            <a:off x="20599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p58"/>
          <p:cNvSpPr txBox="1"/>
          <p:nvPr/>
        </p:nvSpPr>
        <p:spPr>
          <a:xfrm>
            <a:off x="29743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" name="Google Shape;1048;p58"/>
          <p:cNvSpPr/>
          <p:nvPr/>
        </p:nvSpPr>
        <p:spPr>
          <a:xfrm>
            <a:off x="49525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8" name="Google Shape;1038;p58"/>
          <p:cNvSpPr/>
          <p:nvPr/>
        </p:nvSpPr>
        <p:spPr>
          <a:xfrm>
            <a:off x="57317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9" name="Google Shape;1049;p58"/>
          <p:cNvCxnSpPr>
            <a:stCxn id="1038" idx="0"/>
            <a:endCxn id="1050" idx="2"/>
          </p:cNvCxnSpPr>
          <p:nvPr/>
        </p:nvCxnSpPr>
        <p:spPr>
          <a:xfrm rot="10800000">
            <a:off x="54485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" name="Google Shape;1051;p58"/>
          <p:cNvCxnSpPr>
            <a:stCxn id="1038" idx="0"/>
            <a:endCxn id="1052" idx="2"/>
          </p:cNvCxnSpPr>
          <p:nvPr/>
        </p:nvCxnSpPr>
        <p:spPr>
          <a:xfrm rot="10800000">
            <a:off x="63629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3" name="Google Shape;1053;p58"/>
          <p:cNvCxnSpPr>
            <a:stCxn id="1038" idx="0"/>
            <a:endCxn id="1054" idx="2"/>
          </p:cNvCxnSpPr>
          <p:nvPr/>
        </p:nvCxnSpPr>
        <p:spPr>
          <a:xfrm flipH="1" rot="10800000">
            <a:off x="63629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5" name="Google Shape;1055;p58"/>
          <p:cNvSpPr/>
          <p:nvPr/>
        </p:nvSpPr>
        <p:spPr>
          <a:xfrm>
            <a:off x="885575" y="1561400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192.0.5.7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6" name="Google Shape;1056;p58"/>
          <p:cNvSpPr/>
          <p:nvPr/>
        </p:nvSpPr>
        <p:spPr>
          <a:xfrm>
            <a:off x="885575" y="1846400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7" name="Google Shape;1057;p58"/>
          <p:cNvSpPr txBox="1"/>
          <p:nvPr/>
        </p:nvSpPr>
        <p:spPr>
          <a:xfrm>
            <a:off x="50317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8" name="Google Shape;1058;p58"/>
          <p:cNvSpPr txBox="1"/>
          <p:nvPr/>
        </p:nvSpPr>
        <p:spPr>
          <a:xfrm>
            <a:off x="59461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9" name="Google Shape;1059;p58"/>
          <p:cNvSpPr txBox="1"/>
          <p:nvPr/>
        </p:nvSpPr>
        <p:spPr>
          <a:xfrm>
            <a:off x="6860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2" name="Google Shape;1052;p58"/>
          <p:cNvSpPr/>
          <p:nvPr/>
        </p:nvSpPr>
        <p:spPr>
          <a:xfrm>
            <a:off x="62204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0" name="Google Shape;1050;p58"/>
          <p:cNvSpPr/>
          <p:nvPr/>
        </p:nvSpPr>
        <p:spPr>
          <a:xfrm>
            <a:off x="53060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58"/>
          <p:cNvSpPr/>
          <p:nvPr/>
        </p:nvSpPr>
        <p:spPr>
          <a:xfrm>
            <a:off x="71348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0" name="Google Shape;1060;p58"/>
          <p:cNvCxnSpPr>
            <a:stCxn id="1042" idx="2"/>
            <a:endCxn id="1036" idx="0"/>
          </p:cNvCxnSpPr>
          <p:nvPr/>
        </p:nvCxnSpPr>
        <p:spPr>
          <a:xfrm>
            <a:off x="1562375" y="2892550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2" name="Google Shape;1042;p58"/>
          <p:cNvSpPr/>
          <p:nvPr/>
        </p:nvSpPr>
        <p:spPr>
          <a:xfrm>
            <a:off x="1419875" y="2607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59"/>
          <p:cNvSpPr/>
          <p:nvPr/>
        </p:nvSpPr>
        <p:spPr>
          <a:xfrm>
            <a:off x="0" y="32920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6" name="Google Shape;1066;p59"/>
          <p:cNvSpPr/>
          <p:nvPr/>
        </p:nvSpPr>
        <p:spPr>
          <a:xfrm>
            <a:off x="0" y="2252175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7" name="Google Shape;1067;p59"/>
          <p:cNvSpPr/>
          <p:nvPr/>
        </p:nvSpPr>
        <p:spPr>
          <a:xfrm>
            <a:off x="10663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8" name="Google Shape;1068;p5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Encapsulation and Decapsulation (Step 2/5)</a:t>
            </a:r>
            <a:endParaRPr/>
          </a:p>
        </p:txBody>
      </p:sp>
      <p:sp>
        <p:nvSpPr>
          <p:cNvPr id="1069" name="Google Shape;1069;p59"/>
          <p:cNvSpPr txBox="1"/>
          <p:nvPr>
            <p:ph idx="1" type="body"/>
          </p:nvPr>
        </p:nvSpPr>
        <p:spPr>
          <a:xfrm>
            <a:off x="107050" y="402200"/>
            <a:ext cx="8909700" cy="8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virtual switch reads the virtual address and looks up the matching physical address. Then, it adds (</a:t>
            </a:r>
            <a:r>
              <a:rPr i="1" lang="en"/>
              <a:t>encapsulates</a:t>
            </a:r>
            <a:r>
              <a:rPr lang="en"/>
              <a:t>) a new header with the physical address.</a:t>
            </a:r>
            <a:endParaRPr/>
          </a:p>
        </p:txBody>
      </p:sp>
      <p:sp>
        <p:nvSpPr>
          <p:cNvPr id="1070" name="Google Shape;1070;p59"/>
          <p:cNvSpPr/>
          <p:nvPr/>
        </p:nvSpPr>
        <p:spPr>
          <a:xfrm>
            <a:off x="23342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1" name="Google Shape;1071;p59"/>
          <p:cNvSpPr/>
          <p:nvPr/>
        </p:nvSpPr>
        <p:spPr>
          <a:xfrm>
            <a:off x="36296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2" name="Google Shape;1072;p59"/>
          <p:cNvCxnSpPr>
            <a:stCxn id="1070" idx="3"/>
            <a:endCxn id="1071" idx="1"/>
          </p:cNvCxnSpPr>
          <p:nvPr/>
        </p:nvCxnSpPr>
        <p:spPr>
          <a:xfrm>
            <a:off x="26192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3" name="Google Shape;1073;p59"/>
          <p:cNvSpPr/>
          <p:nvPr/>
        </p:nvSpPr>
        <p:spPr>
          <a:xfrm>
            <a:off x="49250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4" name="Google Shape;1074;p59"/>
          <p:cNvSpPr/>
          <p:nvPr/>
        </p:nvSpPr>
        <p:spPr>
          <a:xfrm>
            <a:off x="62204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5" name="Google Shape;1075;p59"/>
          <p:cNvCxnSpPr>
            <a:stCxn id="1073" idx="3"/>
            <a:endCxn id="1074" idx="1"/>
          </p:cNvCxnSpPr>
          <p:nvPr/>
        </p:nvCxnSpPr>
        <p:spPr>
          <a:xfrm>
            <a:off x="52100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6" name="Google Shape;1076;p59"/>
          <p:cNvCxnSpPr>
            <a:stCxn id="1071" idx="3"/>
            <a:endCxn id="1073" idx="1"/>
          </p:cNvCxnSpPr>
          <p:nvPr/>
        </p:nvCxnSpPr>
        <p:spPr>
          <a:xfrm>
            <a:off x="39146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7" name="Google Shape;1077;p59"/>
          <p:cNvCxnSpPr>
            <a:stCxn id="1070" idx="0"/>
            <a:endCxn id="1078" idx="2"/>
          </p:cNvCxnSpPr>
          <p:nvPr/>
        </p:nvCxnSpPr>
        <p:spPr>
          <a:xfrm rot="10800000">
            <a:off x="24767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9" name="Google Shape;1079;p59"/>
          <p:cNvCxnSpPr>
            <a:stCxn id="1074" idx="0"/>
            <a:endCxn id="1080" idx="2"/>
          </p:cNvCxnSpPr>
          <p:nvPr/>
        </p:nvCxnSpPr>
        <p:spPr>
          <a:xfrm rot="10800000">
            <a:off x="63629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1" name="Google Shape;1081;p59"/>
          <p:cNvSpPr/>
          <p:nvPr/>
        </p:nvSpPr>
        <p:spPr>
          <a:xfrm>
            <a:off x="23342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2" name="Google Shape;1082;p59"/>
          <p:cNvSpPr/>
          <p:nvPr/>
        </p:nvSpPr>
        <p:spPr>
          <a:xfrm>
            <a:off x="14198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3" name="Google Shape;1083;p59"/>
          <p:cNvSpPr/>
          <p:nvPr/>
        </p:nvSpPr>
        <p:spPr>
          <a:xfrm>
            <a:off x="32486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4" name="Google Shape;1084;p59"/>
          <p:cNvCxnSpPr>
            <a:stCxn id="1078" idx="0"/>
            <a:endCxn id="1082" idx="2"/>
          </p:cNvCxnSpPr>
          <p:nvPr/>
        </p:nvCxnSpPr>
        <p:spPr>
          <a:xfrm rot="10800000">
            <a:off x="15623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5" name="Google Shape;1085;p59"/>
          <p:cNvCxnSpPr>
            <a:stCxn id="1078" idx="0"/>
            <a:endCxn id="1081" idx="2"/>
          </p:cNvCxnSpPr>
          <p:nvPr/>
        </p:nvCxnSpPr>
        <p:spPr>
          <a:xfrm rot="10800000">
            <a:off x="24767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6" name="Google Shape;1086;p59"/>
          <p:cNvCxnSpPr>
            <a:stCxn id="1078" idx="0"/>
            <a:endCxn id="1083" idx="2"/>
          </p:cNvCxnSpPr>
          <p:nvPr/>
        </p:nvCxnSpPr>
        <p:spPr>
          <a:xfrm flipH="1" rot="10800000">
            <a:off x="24767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7" name="Google Shape;1087;p59"/>
          <p:cNvSpPr txBox="1"/>
          <p:nvPr/>
        </p:nvSpPr>
        <p:spPr>
          <a:xfrm>
            <a:off x="1145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8" name="Google Shape;1088;p59"/>
          <p:cNvSpPr txBox="1"/>
          <p:nvPr/>
        </p:nvSpPr>
        <p:spPr>
          <a:xfrm>
            <a:off x="20599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9" name="Google Shape;1089;p59"/>
          <p:cNvSpPr txBox="1"/>
          <p:nvPr/>
        </p:nvSpPr>
        <p:spPr>
          <a:xfrm>
            <a:off x="29743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0" name="Google Shape;1090;p59"/>
          <p:cNvSpPr/>
          <p:nvPr/>
        </p:nvSpPr>
        <p:spPr>
          <a:xfrm>
            <a:off x="49525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0" name="Google Shape;1080;p59"/>
          <p:cNvSpPr/>
          <p:nvPr/>
        </p:nvSpPr>
        <p:spPr>
          <a:xfrm>
            <a:off x="57317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1" name="Google Shape;1091;p59"/>
          <p:cNvCxnSpPr>
            <a:stCxn id="1080" idx="0"/>
            <a:endCxn id="1092" idx="2"/>
          </p:cNvCxnSpPr>
          <p:nvPr/>
        </p:nvCxnSpPr>
        <p:spPr>
          <a:xfrm rot="10800000">
            <a:off x="54485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3" name="Google Shape;1093;p59"/>
          <p:cNvCxnSpPr>
            <a:stCxn id="1080" idx="0"/>
            <a:endCxn id="1094" idx="2"/>
          </p:cNvCxnSpPr>
          <p:nvPr/>
        </p:nvCxnSpPr>
        <p:spPr>
          <a:xfrm rot="10800000">
            <a:off x="63629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5" name="Google Shape;1095;p59"/>
          <p:cNvCxnSpPr>
            <a:stCxn id="1080" idx="0"/>
            <a:endCxn id="1096" idx="2"/>
          </p:cNvCxnSpPr>
          <p:nvPr/>
        </p:nvCxnSpPr>
        <p:spPr>
          <a:xfrm flipH="1" rot="10800000">
            <a:off x="63629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7" name="Google Shape;1097;p59"/>
          <p:cNvSpPr/>
          <p:nvPr/>
        </p:nvSpPr>
        <p:spPr>
          <a:xfrm>
            <a:off x="1799975" y="1561400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192.0.5.7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8" name="Google Shape;1098;p59"/>
          <p:cNvSpPr/>
          <p:nvPr/>
        </p:nvSpPr>
        <p:spPr>
          <a:xfrm>
            <a:off x="1799975" y="1846400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9" name="Google Shape;1099;p59"/>
          <p:cNvSpPr txBox="1"/>
          <p:nvPr/>
        </p:nvSpPr>
        <p:spPr>
          <a:xfrm>
            <a:off x="50317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0" name="Google Shape;1100;p59"/>
          <p:cNvSpPr txBox="1"/>
          <p:nvPr/>
        </p:nvSpPr>
        <p:spPr>
          <a:xfrm>
            <a:off x="59461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1" name="Google Shape;1101;p59"/>
          <p:cNvSpPr txBox="1"/>
          <p:nvPr/>
        </p:nvSpPr>
        <p:spPr>
          <a:xfrm>
            <a:off x="6860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4" name="Google Shape;1094;p59"/>
          <p:cNvSpPr/>
          <p:nvPr/>
        </p:nvSpPr>
        <p:spPr>
          <a:xfrm>
            <a:off x="62204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2" name="Google Shape;1092;p59"/>
          <p:cNvSpPr/>
          <p:nvPr/>
        </p:nvSpPr>
        <p:spPr>
          <a:xfrm>
            <a:off x="53060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6" name="Google Shape;1096;p59"/>
          <p:cNvSpPr/>
          <p:nvPr/>
        </p:nvSpPr>
        <p:spPr>
          <a:xfrm>
            <a:off x="71348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2" name="Google Shape;1102;p59"/>
          <p:cNvSpPr/>
          <p:nvPr/>
        </p:nvSpPr>
        <p:spPr>
          <a:xfrm>
            <a:off x="1799975" y="1276400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8" name="Google Shape;1078;p59"/>
          <p:cNvSpPr/>
          <p:nvPr/>
        </p:nvSpPr>
        <p:spPr>
          <a:xfrm>
            <a:off x="1845575" y="31468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3" name="Google Shape;1103;p59"/>
          <p:cNvCxnSpPr>
            <a:stCxn id="1078" idx="2"/>
            <a:endCxn id="1070" idx="0"/>
          </p:cNvCxnSpPr>
          <p:nvPr/>
        </p:nvCxnSpPr>
        <p:spPr>
          <a:xfrm>
            <a:off x="2476775" y="3431802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4" name="Google Shape;1104;p59"/>
          <p:cNvSpPr txBox="1"/>
          <p:nvPr/>
        </p:nvSpPr>
        <p:spPr>
          <a:xfrm>
            <a:off x="3208378" y="1291388"/>
            <a:ext cx="99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Encapsulate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5" name="Google Shape;1105;p59"/>
          <p:cNvSpPr txBox="1"/>
          <p:nvPr>
            <p:ph idx="1" type="body"/>
          </p:nvPr>
        </p:nvSpPr>
        <p:spPr>
          <a:xfrm>
            <a:off x="107050" y="4136000"/>
            <a:ext cx="8909700" cy="8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Then, the virtual switch forwards the packet to routers in the datacenter.</a:t>
            </a:r>
            <a:endParaRPr/>
          </a:p>
        </p:txBody>
      </p:sp>
      <p:sp>
        <p:nvSpPr>
          <p:cNvPr id="1106" name="Google Shape;1106;p59"/>
          <p:cNvSpPr txBox="1"/>
          <p:nvPr/>
        </p:nvSpPr>
        <p:spPr>
          <a:xfrm>
            <a:off x="7419875" y="1380650"/>
            <a:ext cx="159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Haven't discussed how to look up yet. For now, it's magic.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60"/>
          <p:cNvSpPr/>
          <p:nvPr/>
        </p:nvSpPr>
        <p:spPr>
          <a:xfrm>
            <a:off x="0" y="32920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2" name="Google Shape;1112;p60"/>
          <p:cNvSpPr/>
          <p:nvPr/>
        </p:nvSpPr>
        <p:spPr>
          <a:xfrm>
            <a:off x="0" y="2252175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3" name="Google Shape;1113;p60"/>
          <p:cNvSpPr/>
          <p:nvPr/>
        </p:nvSpPr>
        <p:spPr>
          <a:xfrm>
            <a:off x="10663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4" name="Google Shape;1114;p6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Encapsulation and Decapsulation (Step 3/5)</a:t>
            </a:r>
            <a:endParaRPr/>
          </a:p>
        </p:txBody>
      </p:sp>
      <p:sp>
        <p:nvSpPr>
          <p:cNvPr id="1115" name="Google Shape;1115;p60"/>
          <p:cNvSpPr txBox="1"/>
          <p:nvPr>
            <p:ph idx="1" type="body"/>
          </p:nvPr>
        </p:nvSpPr>
        <p:spPr>
          <a:xfrm>
            <a:off x="107050" y="402200"/>
            <a:ext cx="89097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routers in the datacenter forward the packet according to its </a:t>
            </a:r>
            <a:r>
              <a:rPr i="1" lang="en"/>
              <a:t>physical</a:t>
            </a:r>
            <a:r>
              <a:rPr lang="en"/>
              <a:t> (underlay) address. No need to think about virtual addresses!</a:t>
            </a:r>
            <a:endParaRPr/>
          </a:p>
        </p:txBody>
      </p:sp>
      <p:sp>
        <p:nvSpPr>
          <p:cNvPr id="1116" name="Google Shape;1116;p60"/>
          <p:cNvSpPr/>
          <p:nvPr/>
        </p:nvSpPr>
        <p:spPr>
          <a:xfrm>
            <a:off x="2334275" y="3761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7" name="Google Shape;1117;p60"/>
          <p:cNvSpPr/>
          <p:nvPr/>
        </p:nvSpPr>
        <p:spPr>
          <a:xfrm>
            <a:off x="3629675" y="3761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8" name="Google Shape;1118;p60"/>
          <p:cNvCxnSpPr>
            <a:stCxn id="1116" idx="3"/>
            <a:endCxn id="1117" idx="1"/>
          </p:cNvCxnSpPr>
          <p:nvPr/>
        </p:nvCxnSpPr>
        <p:spPr>
          <a:xfrm>
            <a:off x="26192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9" name="Google Shape;1119;p60"/>
          <p:cNvSpPr/>
          <p:nvPr/>
        </p:nvSpPr>
        <p:spPr>
          <a:xfrm>
            <a:off x="4925075" y="3761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0" name="Google Shape;1120;p60"/>
          <p:cNvSpPr/>
          <p:nvPr/>
        </p:nvSpPr>
        <p:spPr>
          <a:xfrm>
            <a:off x="6220475" y="3761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1" name="Google Shape;1121;p60"/>
          <p:cNvCxnSpPr>
            <a:stCxn id="1119" idx="3"/>
            <a:endCxn id="1120" idx="1"/>
          </p:cNvCxnSpPr>
          <p:nvPr/>
        </p:nvCxnSpPr>
        <p:spPr>
          <a:xfrm>
            <a:off x="52100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2" name="Google Shape;1122;p60"/>
          <p:cNvCxnSpPr>
            <a:stCxn id="1117" idx="3"/>
            <a:endCxn id="1119" idx="1"/>
          </p:cNvCxnSpPr>
          <p:nvPr/>
        </p:nvCxnSpPr>
        <p:spPr>
          <a:xfrm>
            <a:off x="39146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60"/>
          <p:cNvCxnSpPr>
            <a:stCxn id="1116" idx="0"/>
            <a:endCxn id="1124" idx="2"/>
          </p:cNvCxnSpPr>
          <p:nvPr/>
        </p:nvCxnSpPr>
        <p:spPr>
          <a:xfrm rot="10800000">
            <a:off x="24767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4" name="Google Shape;1124;p60"/>
          <p:cNvSpPr/>
          <p:nvPr/>
        </p:nvSpPr>
        <p:spPr>
          <a:xfrm>
            <a:off x="18455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5" name="Google Shape;1125;p60"/>
          <p:cNvCxnSpPr>
            <a:stCxn id="1120" idx="0"/>
            <a:endCxn id="1126" idx="2"/>
          </p:cNvCxnSpPr>
          <p:nvPr/>
        </p:nvCxnSpPr>
        <p:spPr>
          <a:xfrm rot="10800000">
            <a:off x="63629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7" name="Google Shape;1127;p60"/>
          <p:cNvSpPr/>
          <p:nvPr/>
        </p:nvSpPr>
        <p:spPr>
          <a:xfrm>
            <a:off x="23342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8" name="Google Shape;1128;p60"/>
          <p:cNvSpPr/>
          <p:nvPr/>
        </p:nvSpPr>
        <p:spPr>
          <a:xfrm>
            <a:off x="14198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9" name="Google Shape;1129;p60"/>
          <p:cNvSpPr/>
          <p:nvPr/>
        </p:nvSpPr>
        <p:spPr>
          <a:xfrm>
            <a:off x="32486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0" name="Google Shape;1130;p60"/>
          <p:cNvCxnSpPr>
            <a:stCxn id="1124" idx="0"/>
            <a:endCxn id="1128" idx="2"/>
          </p:cNvCxnSpPr>
          <p:nvPr/>
        </p:nvCxnSpPr>
        <p:spPr>
          <a:xfrm rot="10800000">
            <a:off x="15623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1" name="Google Shape;1131;p60"/>
          <p:cNvCxnSpPr>
            <a:stCxn id="1124" idx="0"/>
            <a:endCxn id="1127" idx="2"/>
          </p:cNvCxnSpPr>
          <p:nvPr/>
        </p:nvCxnSpPr>
        <p:spPr>
          <a:xfrm rot="10800000">
            <a:off x="24767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2" name="Google Shape;1132;p60"/>
          <p:cNvCxnSpPr>
            <a:stCxn id="1124" idx="0"/>
            <a:endCxn id="1129" idx="2"/>
          </p:cNvCxnSpPr>
          <p:nvPr/>
        </p:nvCxnSpPr>
        <p:spPr>
          <a:xfrm flipH="1" rot="10800000">
            <a:off x="24767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3" name="Google Shape;1133;p60"/>
          <p:cNvSpPr txBox="1"/>
          <p:nvPr/>
        </p:nvSpPr>
        <p:spPr>
          <a:xfrm>
            <a:off x="1145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4" name="Google Shape;1134;p60"/>
          <p:cNvSpPr txBox="1"/>
          <p:nvPr/>
        </p:nvSpPr>
        <p:spPr>
          <a:xfrm>
            <a:off x="20599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5" name="Google Shape;1135;p60"/>
          <p:cNvSpPr txBox="1"/>
          <p:nvPr/>
        </p:nvSpPr>
        <p:spPr>
          <a:xfrm>
            <a:off x="29743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6" name="Google Shape;1136;p60"/>
          <p:cNvSpPr/>
          <p:nvPr/>
        </p:nvSpPr>
        <p:spPr>
          <a:xfrm>
            <a:off x="49525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6" name="Google Shape;1126;p60"/>
          <p:cNvSpPr/>
          <p:nvPr/>
        </p:nvSpPr>
        <p:spPr>
          <a:xfrm>
            <a:off x="57317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7" name="Google Shape;1137;p60"/>
          <p:cNvCxnSpPr>
            <a:stCxn id="1126" idx="0"/>
            <a:endCxn id="1138" idx="2"/>
          </p:cNvCxnSpPr>
          <p:nvPr/>
        </p:nvCxnSpPr>
        <p:spPr>
          <a:xfrm rot="10800000">
            <a:off x="54485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9" name="Google Shape;1139;p60"/>
          <p:cNvCxnSpPr>
            <a:stCxn id="1126" idx="0"/>
            <a:endCxn id="1140" idx="2"/>
          </p:cNvCxnSpPr>
          <p:nvPr/>
        </p:nvCxnSpPr>
        <p:spPr>
          <a:xfrm rot="10800000">
            <a:off x="63629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1" name="Google Shape;1141;p60"/>
          <p:cNvCxnSpPr>
            <a:stCxn id="1126" idx="0"/>
            <a:endCxn id="1142" idx="2"/>
          </p:cNvCxnSpPr>
          <p:nvPr/>
        </p:nvCxnSpPr>
        <p:spPr>
          <a:xfrm flipH="1" rot="10800000">
            <a:off x="63629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3" name="Google Shape;1143;p60"/>
          <p:cNvSpPr/>
          <p:nvPr/>
        </p:nvSpPr>
        <p:spPr>
          <a:xfrm>
            <a:off x="3743075" y="4505325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192.0.5.7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4" name="Google Shape;1144;p60"/>
          <p:cNvSpPr/>
          <p:nvPr/>
        </p:nvSpPr>
        <p:spPr>
          <a:xfrm>
            <a:off x="3743075" y="4790325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5" name="Google Shape;1145;p60"/>
          <p:cNvSpPr txBox="1"/>
          <p:nvPr/>
        </p:nvSpPr>
        <p:spPr>
          <a:xfrm>
            <a:off x="50317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6" name="Google Shape;1146;p60"/>
          <p:cNvSpPr txBox="1"/>
          <p:nvPr/>
        </p:nvSpPr>
        <p:spPr>
          <a:xfrm>
            <a:off x="59461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7" name="Google Shape;1147;p60"/>
          <p:cNvSpPr txBox="1"/>
          <p:nvPr/>
        </p:nvSpPr>
        <p:spPr>
          <a:xfrm>
            <a:off x="6860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p60"/>
          <p:cNvSpPr/>
          <p:nvPr/>
        </p:nvSpPr>
        <p:spPr>
          <a:xfrm>
            <a:off x="62204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p60"/>
          <p:cNvSpPr/>
          <p:nvPr/>
        </p:nvSpPr>
        <p:spPr>
          <a:xfrm>
            <a:off x="53060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2" name="Google Shape;1142;p60"/>
          <p:cNvSpPr/>
          <p:nvPr/>
        </p:nvSpPr>
        <p:spPr>
          <a:xfrm>
            <a:off x="71348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8" name="Google Shape;1148;p60"/>
          <p:cNvSpPr/>
          <p:nvPr/>
        </p:nvSpPr>
        <p:spPr>
          <a:xfrm>
            <a:off x="3743075" y="4220325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61"/>
          <p:cNvSpPr/>
          <p:nvPr/>
        </p:nvSpPr>
        <p:spPr>
          <a:xfrm>
            <a:off x="0" y="32920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4" name="Google Shape;1154;p61"/>
          <p:cNvSpPr/>
          <p:nvPr/>
        </p:nvSpPr>
        <p:spPr>
          <a:xfrm>
            <a:off x="0" y="2252175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5" name="Google Shape;1155;p61"/>
          <p:cNvSpPr/>
          <p:nvPr/>
        </p:nvSpPr>
        <p:spPr>
          <a:xfrm>
            <a:off x="10663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6" name="Google Shape;1156;p6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Encapsulation and Decapsulation (Step 4/5)</a:t>
            </a:r>
            <a:endParaRPr/>
          </a:p>
        </p:txBody>
      </p:sp>
      <p:sp>
        <p:nvSpPr>
          <p:cNvPr id="1157" name="Google Shape;1157;p61"/>
          <p:cNvSpPr txBox="1"/>
          <p:nvPr>
            <p:ph idx="1" type="body"/>
          </p:nvPr>
        </p:nvSpPr>
        <p:spPr>
          <a:xfrm>
            <a:off x="107050" y="402200"/>
            <a:ext cx="8909700" cy="14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Eventually, R4 receives the packet and reads its </a:t>
            </a:r>
            <a:r>
              <a:rPr i="1" lang="en"/>
              <a:t>physical</a:t>
            </a:r>
            <a:r>
              <a:rPr lang="en"/>
              <a:t> (underlay) destination address, 2.2.2.2.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R4 is connected to physical server 2.2.2.2, so it forwards the packet to the server.</a:t>
            </a:r>
            <a:endParaRPr/>
          </a:p>
        </p:txBody>
      </p:sp>
      <p:sp>
        <p:nvSpPr>
          <p:cNvPr id="1158" name="Google Shape;1158;p61"/>
          <p:cNvSpPr/>
          <p:nvPr/>
        </p:nvSpPr>
        <p:spPr>
          <a:xfrm>
            <a:off x="23342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9" name="Google Shape;1159;p61"/>
          <p:cNvSpPr/>
          <p:nvPr/>
        </p:nvSpPr>
        <p:spPr>
          <a:xfrm>
            <a:off x="36296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0" name="Google Shape;1160;p61"/>
          <p:cNvCxnSpPr>
            <a:stCxn id="1158" idx="3"/>
            <a:endCxn id="1159" idx="1"/>
          </p:cNvCxnSpPr>
          <p:nvPr/>
        </p:nvCxnSpPr>
        <p:spPr>
          <a:xfrm>
            <a:off x="26192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1" name="Google Shape;1161;p61"/>
          <p:cNvSpPr/>
          <p:nvPr/>
        </p:nvSpPr>
        <p:spPr>
          <a:xfrm>
            <a:off x="49250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2" name="Google Shape;1162;p61"/>
          <p:cNvSpPr/>
          <p:nvPr/>
        </p:nvSpPr>
        <p:spPr>
          <a:xfrm>
            <a:off x="6220475" y="3761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3" name="Google Shape;1163;p61"/>
          <p:cNvCxnSpPr>
            <a:stCxn id="1161" idx="3"/>
            <a:endCxn id="1162" idx="1"/>
          </p:cNvCxnSpPr>
          <p:nvPr/>
        </p:nvCxnSpPr>
        <p:spPr>
          <a:xfrm>
            <a:off x="52100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4" name="Google Shape;1164;p61"/>
          <p:cNvCxnSpPr>
            <a:stCxn id="1159" idx="3"/>
            <a:endCxn id="1161" idx="1"/>
          </p:cNvCxnSpPr>
          <p:nvPr/>
        </p:nvCxnSpPr>
        <p:spPr>
          <a:xfrm>
            <a:off x="39146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5" name="Google Shape;1165;p61"/>
          <p:cNvCxnSpPr>
            <a:stCxn id="1158" idx="0"/>
            <a:endCxn id="1166" idx="2"/>
          </p:cNvCxnSpPr>
          <p:nvPr/>
        </p:nvCxnSpPr>
        <p:spPr>
          <a:xfrm rot="10800000">
            <a:off x="24767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6" name="Google Shape;1166;p61"/>
          <p:cNvSpPr/>
          <p:nvPr/>
        </p:nvSpPr>
        <p:spPr>
          <a:xfrm>
            <a:off x="18455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7" name="Google Shape;1167;p61"/>
          <p:cNvCxnSpPr>
            <a:stCxn id="1162" idx="0"/>
            <a:endCxn id="1168" idx="2"/>
          </p:cNvCxnSpPr>
          <p:nvPr/>
        </p:nvCxnSpPr>
        <p:spPr>
          <a:xfrm rot="10800000">
            <a:off x="63629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9" name="Google Shape;1169;p61"/>
          <p:cNvSpPr/>
          <p:nvPr/>
        </p:nvSpPr>
        <p:spPr>
          <a:xfrm>
            <a:off x="23342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0" name="Google Shape;1170;p61"/>
          <p:cNvSpPr/>
          <p:nvPr/>
        </p:nvSpPr>
        <p:spPr>
          <a:xfrm>
            <a:off x="14198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1" name="Google Shape;1171;p61"/>
          <p:cNvSpPr/>
          <p:nvPr/>
        </p:nvSpPr>
        <p:spPr>
          <a:xfrm>
            <a:off x="32486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2" name="Google Shape;1172;p61"/>
          <p:cNvCxnSpPr>
            <a:stCxn id="1166" idx="0"/>
            <a:endCxn id="1170" idx="2"/>
          </p:cNvCxnSpPr>
          <p:nvPr/>
        </p:nvCxnSpPr>
        <p:spPr>
          <a:xfrm rot="10800000">
            <a:off x="15623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3" name="Google Shape;1173;p61"/>
          <p:cNvCxnSpPr>
            <a:stCxn id="1166" idx="0"/>
            <a:endCxn id="1169" idx="2"/>
          </p:cNvCxnSpPr>
          <p:nvPr/>
        </p:nvCxnSpPr>
        <p:spPr>
          <a:xfrm rot="10800000">
            <a:off x="24767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4" name="Google Shape;1174;p61"/>
          <p:cNvCxnSpPr>
            <a:stCxn id="1166" idx="0"/>
            <a:endCxn id="1171" idx="2"/>
          </p:cNvCxnSpPr>
          <p:nvPr/>
        </p:nvCxnSpPr>
        <p:spPr>
          <a:xfrm flipH="1" rot="10800000">
            <a:off x="24767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5" name="Google Shape;1175;p61"/>
          <p:cNvSpPr txBox="1"/>
          <p:nvPr/>
        </p:nvSpPr>
        <p:spPr>
          <a:xfrm>
            <a:off x="1145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6" name="Google Shape;1176;p61"/>
          <p:cNvSpPr txBox="1"/>
          <p:nvPr/>
        </p:nvSpPr>
        <p:spPr>
          <a:xfrm>
            <a:off x="20599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7" name="Google Shape;1177;p61"/>
          <p:cNvSpPr txBox="1"/>
          <p:nvPr/>
        </p:nvSpPr>
        <p:spPr>
          <a:xfrm>
            <a:off x="29743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8" name="Google Shape;1178;p61"/>
          <p:cNvSpPr/>
          <p:nvPr/>
        </p:nvSpPr>
        <p:spPr>
          <a:xfrm>
            <a:off x="49525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8" name="Google Shape;1168;p61"/>
          <p:cNvSpPr/>
          <p:nvPr/>
        </p:nvSpPr>
        <p:spPr>
          <a:xfrm>
            <a:off x="57317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9" name="Google Shape;1179;p61"/>
          <p:cNvCxnSpPr>
            <a:stCxn id="1168" idx="0"/>
            <a:endCxn id="1180" idx="2"/>
          </p:cNvCxnSpPr>
          <p:nvPr/>
        </p:nvCxnSpPr>
        <p:spPr>
          <a:xfrm rot="10800000">
            <a:off x="54485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1" name="Google Shape;1181;p61"/>
          <p:cNvCxnSpPr>
            <a:stCxn id="1168" idx="0"/>
            <a:endCxn id="1182" idx="2"/>
          </p:cNvCxnSpPr>
          <p:nvPr/>
        </p:nvCxnSpPr>
        <p:spPr>
          <a:xfrm rot="10800000">
            <a:off x="63629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3" name="Google Shape;1183;p61"/>
          <p:cNvCxnSpPr>
            <a:stCxn id="1168" idx="0"/>
            <a:endCxn id="1184" idx="2"/>
          </p:cNvCxnSpPr>
          <p:nvPr/>
        </p:nvCxnSpPr>
        <p:spPr>
          <a:xfrm flipH="1" rot="10800000">
            <a:off x="63629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5" name="Google Shape;1185;p61"/>
          <p:cNvSpPr txBox="1"/>
          <p:nvPr/>
        </p:nvSpPr>
        <p:spPr>
          <a:xfrm>
            <a:off x="50317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6" name="Google Shape;1186;p61"/>
          <p:cNvSpPr txBox="1"/>
          <p:nvPr/>
        </p:nvSpPr>
        <p:spPr>
          <a:xfrm>
            <a:off x="59461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7" name="Google Shape;1187;p61"/>
          <p:cNvSpPr txBox="1"/>
          <p:nvPr/>
        </p:nvSpPr>
        <p:spPr>
          <a:xfrm>
            <a:off x="6860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2" name="Google Shape;1182;p61"/>
          <p:cNvSpPr/>
          <p:nvPr/>
        </p:nvSpPr>
        <p:spPr>
          <a:xfrm>
            <a:off x="62204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0" name="Google Shape;1180;p61"/>
          <p:cNvSpPr/>
          <p:nvPr/>
        </p:nvSpPr>
        <p:spPr>
          <a:xfrm>
            <a:off x="53060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4" name="Google Shape;1184;p61"/>
          <p:cNvSpPr/>
          <p:nvPr/>
        </p:nvSpPr>
        <p:spPr>
          <a:xfrm>
            <a:off x="71348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8" name="Google Shape;1188;p61"/>
          <p:cNvSpPr/>
          <p:nvPr/>
        </p:nvSpPr>
        <p:spPr>
          <a:xfrm>
            <a:off x="5686175" y="4488100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192.0.5.7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9" name="Google Shape;1189;p61"/>
          <p:cNvSpPr/>
          <p:nvPr/>
        </p:nvSpPr>
        <p:spPr>
          <a:xfrm>
            <a:off x="5686175" y="4773100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0" name="Google Shape;1190;p61"/>
          <p:cNvSpPr/>
          <p:nvPr/>
        </p:nvSpPr>
        <p:spPr>
          <a:xfrm>
            <a:off x="5686175" y="4203100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1" name="Google Shape;1191;p61"/>
          <p:cNvCxnSpPr>
            <a:stCxn id="1162" idx="0"/>
            <a:endCxn id="1168" idx="2"/>
          </p:cNvCxnSpPr>
          <p:nvPr/>
        </p:nvCxnSpPr>
        <p:spPr>
          <a:xfrm rot="10800000">
            <a:off x="63629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62"/>
          <p:cNvSpPr/>
          <p:nvPr/>
        </p:nvSpPr>
        <p:spPr>
          <a:xfrm>
            <a:off x="0" y="32920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62"/>
          <p:cNvSpPr/>
          <p:nvPr/>
        </p:nvSpPr>
        <p:spPr>
          <a:xfrm>
            <a:off x="0" y="2252175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8" name="Google Shape;1198;p62"/>
          <p:cNvSpPr/>
          <p:nvPr/>
        </p:nvSpPr>
        <p:spPr>
          <a:xfrm>
            <a:off x="10663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9" name="Google Shape;1199;p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Encapsulation and Decapsulation (Step 5/5)</a:t>
            </a:r>
            <a:endParaRPr/>
          </a:p>
        </p:txBody>
      </p:sp>
      <p:sp>
        <p:nvSpPr>
          <p:cNvPr id="1200" name="Google Shape;1200;p62"/>
          <p:cNvSpPr txBox="1"/>
          <p:nvPr>
            <p:ph idx="1" type="body"/>
          </p:nvPr>
        </p:nvSpPr>
        <p:spPr>
          <a:xfrm>
            <a:off x="107050" y="402200"/>
            <a:ext cx="89097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virtual switch at 2.2.2.2 sees a packet destined for itself.</a:t>
            </a:r>
            <a:endParaRPr/>
          </a:p>
        </p:txBody>
      </p:sp>
      <p:sp>
        <p:nvSpPr>
          <p:cNvPr id="1201" name="Google Shape;1201;p62"/>
          <p:cNvSpPr/>
          <p:nvPr/>
        </p:nvSpPr>
        <p:spPr>
          <a:xfrm>
            <a:off x="23342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2" name="Google Shape;1202;p62"/>
          <p:cNvSpPr/>
          <p:nvPr/>
        </p:nvSpPr>
        <p:spPr>
          <a:xfrm>
            <a:off x="36296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3" name="Google Shape;1203;p62"/>
          <p:cNvCxnSpPr>
            <a:stCxn id="1201" idx="3"/>
            <a:endCxn id="1202" idx="1"/>
          </p:cNvCxnSpPr>
          <p:nvPr/>
        </p:nvCxnSpPr>
        <p:spPr>
          <a:xfrm>
            <a:off x="26192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4" name="Google Shape;1204;p62"/>
          <p:cNvSpPr/>
          <p:nvPr/>
        </p:nvSpPr>
        <p:spPr>
          <a:xfrm>
            <a:off x="49250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5" name="Google Shape;1205;p62"/>
          <p:cNvSpPr/>
          <p:nvPr/>
        </p:nvSpPr>
        <p:spPr>
          <a:xfrm>
            <a:off x="62204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6" name="Google Shape;1206;p62"/>
          <p:cNvCxnSpPr>
            <a:stCxn id="1204" idx="3"/>
            <a:endCxn id="1205" idx="1"/>
          </p:cNvCxnSpPr>
          <p:nvPr/>
        </p:nvCxnSpPr>
        <p:spPr>
          <a:xfrm>
            <a:off x="52100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7" name="Google Shape;1207;p62"/>
          <p:cNvCxnSpPr>
            <a:stCxn id="1202" idx="3"/>
            <a:endCxn id="1204" idx="1"/>
          </p:cNvCxnSpPr>
          <p:nvPr/>
        </p:nvCxnSpPr>
        <p:spPr>
          <a:xfrm>
            <a:off x="39146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8" name="Google Shape;1208;p62"/>
          <p:cNvCxnSpPr>
            <a:stCxn id="1201" idx="0"/>
            <a:endCxn id="1209" idx="2"/>
          </p:cNvCxnSpPr>
          <p:nvPr/>
        </p:nvCxnSpPr>
        <p:spPr>
          <a:xfrm rot="10800000">
            <a:off x="24767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9" name="Google Shape;1209;p62"/>
          <p:cNvSpPr/>
          <p:nvPr/>
        </p:nvSpPr>
        <p:spPr>
          <a:xfrm>
            <a:off x="18455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0" name="Google Shape;1210;p62"/>
          <p:cNvCxnSpPr>
            <a:stCxn id="1205" idx="0"/>
            <a:endCxn id="1211" idx="2"/>
          </p:cNvCxnSpPr>
          <p:nvPr/>
        </p:nvCxnSpPr>
        <p:spPr>
          <a:xfrm rot="10800000">
            <a:off x="63629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2" name="Google Shape;1212;p62"/>
          <p:cNvSpPr/>
          <p:nvPr/>
        </p:nvSpPr>
        <p:spPr>
          <a:xfrm>
            <a:off x="23342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3" name="Google Shape;1213;p62"/>
          <p:cNvSpPr/>
          <p:nvPr/>
        </p:nvSpPr>
        <p:spPr>
          <a:xfrm>
            <a:off x="14198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4" name="Google Shape;1214;p62"/>
          <p:cNvSpPr/>
          <p:nvPr/>
        </p:nvSpPr>
        <p:spPr>
          <a:xfrm>
            <a:off x="32486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5" name="Google Shape;1215;p62"/>
          <p:cNvCxnSpPr>
            <a:stCxn id="1209" idx="0"/>
            <a:endCxn id="1213" idx="2"/>
          </p:cNvCxnSpPr>
          <p:nvPr/>
        </p:nvCxnSpPr>
        <p:spPr>
          <a:xfrm rot="10800000">
            <a:off x="15623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6" name="Google Shape;1216;p62"/>
          <p:cNvCxnSpPr>
            <a:stCxn id="1209" idx="0"/>
            <a:endCxn id="1212" idx="2"/>
          </p:cNvCxnSpPr>
          <p:nvPr/>
        </p:nvCxnSpPr>
        <p:spPr>
          <a:xfrm rot="10800000">
            <a:off x="24767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7" name="Google Shape;1217;p62"/>
          <p:cNvCxnSpPr>
            <a:stCxn id="1209" idx="0"/>
            <a:endCxn id="1214" idx="2"/>
          </p:cNvCxnSpPr>
          <p:nvPr/>
        </p:nvCxnSpPr>
        <p:spPr>
          <a:xfrm flipH="1" rot="10800000">
            <a:off x="24767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8" name="Google Shape;1218;p62"/>
          <p:cNvSpPr txBox="1"/>
          <p:nvPr/>
        </p:nvSpPr>
        <p:spPr>
          <a:xfrm>
            <a:off x="1145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9" name="Google Shape;1219;p62"/>
          <p:cNvSpPr txBox="1"/>
          <p:nvPr/>
        </p:nvSpPr>
        <p:spPr>
          <a:xfrm>
            <a:off x="20599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0" name="Google Shape;1220;p62"/>
          <p:cNvSpPr txBox="1"/>
          <p:nvPr/>
        </p:nvSpPr>
        <p:spPr>
          <a:xfrm>
            <a:off x="29743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1" name="Google Shape;1221;p62"/>
          <p:cNvSpPr/>
          <p:nvPr/>
        </p:nvSpPr>
        <p:spPr>
          <a:xfrm>
            <a:off x="49525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2" name="Google Shape;1222;p62"/>
          <p:cNvCxnSpPr>
            <a:stCxn id="1211" idx="0"/>
            <a:endCxn id="1223" idx="2"/>
          </p:cNvCxnSpPr>
          <p:nvPr/>
        </p:nvCxnSpPr>
        <p:spPr>
          <a:xfrm rot="10800000">
            <a:off x="54485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4" name="Google Shape;1224;p62"/>
          <p:cNvCxnSpPr>
            <a:stCxn id="1211" idx="0"/>
            <a:endCxn id="1225" idx="2"/>
          </p:cNvCxnSpPr>
          <p:nvPr/>
        </p:nvCxnSpPr>
        <p:spPr>
          <a:xfrm rot="10800000">
            <a:off x="63629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6" name="Google Shape;1226;p62"/>
          <p:cNvCxnSpPr>
            <a:stCxn id="1211" idx="0"/>
            <a:endCxn id="1227" idx="2"/>
          </p:cNvCxnSpPr>
          <p:nvPr/>
        </p:nvCxnSpPr>
        <p:spPr>
          <a:xfrm flipH="1" rot="10800000">
            <a:off x="63629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8" name="Google Shape;1228;p62"/>
          <p:cNvSpPr txBox="1"/>
          <p:nvPr/>
        </p:nvSpPr>
        <p:spPr>
          <a:xfrm>
            <a:off x="50317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9" name="Google Shape;1229;p62"/>
          <p:cNvSpPr txBox="1"/>
          <p:nvPr/>
        </p:nvSpPr>
        <p:spPr>
          <a:xfrm>
            <a:off x="59461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0" name="Google Shape;1230;p62"/>
          <p:cNvSpPr txBox="1"/>
          <p:nvPr/>
        </p:nvSpPr>
        <p:spPr>
          <a:xfrm>
            <a:off x="6860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5" name="Google Shape;1225;p62"/>
          <p:cNvSpPr/>
          <p:nvPr/>
        </p:nvSpPr>
        <p:spPr>
          <a:xfrm>
            <a:off x="62204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3" name="Google Shape;1223;p62"/>
          <p:cNvSpPr/>
          <p:nvPr/>
        </p:nvSpPr>
        <p:spPr>
          <a:xfrm>
            <a:off x="53060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7" name="Google Shape;1227;p62"/>
          <p:cNvSpPr/>
          <p:nvPr/>
        </p:nvSpPr>
        <p:spPr>
          <a:xfrm>
            <a:off x="71348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1" name="Google Shape;1231;p62"/>
          <p:cNvSpPr/>
          <p:nvPr/>
        </p:nvSpPr>
        <p:spPr>
          <a:xfrm>
            <a:off x="5686175" y="1578125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192.0.5.7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2" name="Google Shape;1232;p62"/>
          <p:cNvSpPr/>
          <p:nvPr/>
        </p:nvSpPr>
        <p:spPr>
          <a:xfrm>
            <a:off x="5686175" y="1863125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3" name="Google Shape;1233;p62"/>
          <p:cNvSpPr/>
          <p:nvPr/>
        </p:nvSpPr>
        <p:spPr>
          <a:xfrm>
            <a:off x="5686175" y="1293125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1" name="Google Shape;1211;p62"/>
          <p:cNvSpPr/>
          <p:nvPr/>
        </p:nvSpPr>
        <p:spPr>
          <a:xfrm>
            <a:off x="5731775" y="31468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34" name="Google Shape;1234;p62"/>
          <p:cNvGrpSpPr/>
          <p:nvPr/>
        </p:nvGrpSpPr>
        <p:grpSpPr>
          <a:xfrm>
            <a:off x="5536475" y="1327925"/>
            <a:ext cx="2689128" cy="215400"/>
            <a:chOff x="5536475" y="1175525"/>
            <a:chExt cx="2689128" cy="215400"/>
          </a:xfrm>
        </p:grpSpPr>
        <p:cxnSp>
          <p:nvCxnSpPr>
            <p:cNvPr id="1235" name="Google Shape;1235;p62"/>
            <p:cNvCxnSpPr/>
            <p:nvPr/>
          </p:nvCxnSpPr>
          <p:spPr>
            <a:xfrm>
              <a:off x="5536475" y="1283225"/>
              <a:ext cx="1655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36" name="Google Shape;1236;p62"/>
            <p:cNvSpPr txBox="1"/>
            <p:nvPr/>
          </p:nvSpPr>
          <p:spPr>
            <a:xfrm>
              <a:off x="7230203" y="1175525"/>
              <a:ext cx="9954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Decapsulate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237" name="Google Shape;1237;p62"/>
          <p:cNvCxnSpPr>
            <a:stCxn id="1211" idx="0"/>
            <a:endCxn id="1227" idx="2"/>
          </p:cNvCxnSpPr>
          <p:nvPr/>
        </p:nvCxnSpPr>
        <p:spPr>
          <a:xfrm flipH="1" rot="10800000">
            <a:off x="63629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8" name="Google Shape;1238;p62"/>
          <p:cNvSpPr txBox="1"/>
          <p:nvPr>
            <p:ph idx="1" type="body"/>
          </p:nvPr>
        </p:nvSpPr>
        <p:spPr>
          <a:xfrm>
            <a:off x="107050" y="783200"/>
            <a:ext cx="4924800" cy="12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virtual switch removes (</a:t>
            </a:r>
            <a:r>
              <a:rPr i="1" lang="en"/>
              <a:t>decapsulates</a:t>
            </a:r>
            <a:r>
              <a:rPr lang="en"/>
              <a:t>) the underlay header, revealing the virtual address of the destination.</a:t>
            </a:r>
            <a:endParaRPr/>
          </a:p>
        </p:txBody>
      </p:sp>
      <p:sp>
        <p:nvSpPr>
          <p:cNvPr id="1239" name="Google Shape;1239;p62"/>
          <p:cNvSpPr txBox="1"/>
          <p:nvPr>
            <p:ph idx="1" type="body"/>
          </p:nvPr>
        </p:nvSpPr>
        <p:spPr>
          <a:xfrm>
            <a:off x="107050" y="4136000"/>
            <a:ext cx="8909700" cy="8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Then, the virtual switch sends the packet to the VM with virtual address 192.0.5.7.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63"/>
          <p:cNvSpPr/>
          <p:nvPr/>
        </p:nvSpPr>
        <p:spPr>
          <a:xfrm>
            <a:off x="0" y="32920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5" name="Google Shape;1245;p63"/>
          <p:cNvSpPr/>
          <p:nvPr/>
        </p:nvSpPr>
        <p:spPr>
          <a:xfrm>
            <a:off x="0" y="2252175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6" name="Google Shape;1246;p63"/>
          <p:cNvSpPr/>
          <p:nvPr/>
        </p:nvSpPr>
        <p:spPr>
          <a:xfrm>
            <a:off x="10663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7" name="Google Shape;1247;p6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Encapsulation and Decapsulation</a:t>
            </a:r>
            <a:endParaRPr/>
          </a:p>
        </p:txBody>
      </p:sp>
      <p:sp>
        <p:nvSpPr>
          <p:cNvPr id="1248" name="Google Shape;1248;p63"/>
          <p:cNvSpPr txBox="1"/>
          <p:nvPr>
            <p:ph idx="1" type="body"/>
          </p:nvPr>
        </p:nvSpPr>
        <p:spPr>
          <a:xfrm>
            <a:off x="107050" y="402200"/>
            <a:ext cx="89097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Success – our packet reached VM6!</a:t>
            </a:r>
            <a:endParaRPr/>
          </a:p>
        </p:txBody>
      </p:sp>
      <p:sp>
        <p:nvSpPr>
          <p:cNvPr id="1249" name="Google Shape;1249;p63"/>
          <p:cNvSpPr/>
          <p:nvPr/>
        </p:nvSpPr>
        <p:spPr>
          <a:xfrm>
            <a:off x="23342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0" name="Google Shape;1250;p63"/>
          <p:cNvSpPr/>
          <p:nvPr/>
        </p:nvSpPr>
        <p:spPr>
          <a:xfrm>
            <a:off x="36296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1" name="Google Shape;1251;p63"/>
          <p:cNvCxnSpPr>
            <a:stCxn id="1249" idx="3"/>
            <a:endCxn id="1250" idx="1"/>
          </p:cNvCxnSpPr>
          <p:nvPr/>
        </p:nvCxnSpPr>
        <p:spPr>
          <a:xfrm>
            <a:off x="26192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2" name="Google Shape;1252;p63"/>
          <p:cNvSpPr/>
          <p:nvPr/>
        </p:nvSpPr>
        <p:spPr>
          <a:xfrm>
            <a:off x="49250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3" name="Google Shape;1253;p63"/>
          <p:cNvSpPr/>
          <p:nvPr/>
        </p:nvSpPr>
        <p:spPr>
          <a:xfrm>
            <a:off x="62204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4" name="Google Shape;1254;p63"/>
          <p:cNvCxnSpPr>
            <a:stCxn id="1252" idx="3"/>
            <a:endCxn id="1253" idx="1"/>
          </p:cNvCxnSpPr>
          <p:nvPr/>
        </p:nvCxnSpPr>
        <p:spPr>
          <a:xfrm>
            <a:off x="52100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5" name="Google Shape;1255;p63"/>
          <p:cNvCxnSpPr>
            <a:stCxn id="1250" idx="3"/>
            <a:endCxn id="1252" idx="1"/>
          </p:cNvCxnSpPr>
          <p:nvPr/>
        </p:nvCxnSpPr>
        <p:spPr>
          <a:xfrm>
            <a:off x="39146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6" name="Google Shape;1256;p63"/>
          <p:cNvCxnSpPr>
            <a:stCxn id="1249" idx="0"/>
            <a:endCxn id="1257" idx="2"/>
          </p:cNvCxnSpPr>
          <p:nvPr/>
        </p:nvCxnSpPr>
        <p:spPr>
          <a:xfrm rot="10800000">
            <a:off x="24767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7" name="Google Shape;1257;p63"/>
          <p:cNvSpPr/>
          <p:nvPr/>
        </p:nvSpPr>
        <p:spPr>
          <a:xfrm>
            <a:off x="18455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8" name="Google Shape;1258;p63"/>
          <p:cNvCxnSpPr>
            <a:stCxn id="1253" idx="0"/>
            <a:endCxn id="1259" idx="2"/>
          </p:cNvCxnSpPr>
          <p:nvPr/>
        </p:nvCxnSpPr>
        <p:spPr>
          <a:xfrm rot="10800000">
            <a:off x="63629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0" name="Google Shape;1260;p63"/>
          <p:cNvSpPr/>
          <p:nvPr/>
        </p:nvSpPr>
        <p:spPr>
          <a:xfrm>
            <a:off x="23342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1" name="Google Shape;1261;p63"/>
          <p:cNvSpPr/>
          <p:nvPr/>
        </p:nvSpPr>
        <p:spPr>
          <a:xfrm>
            <a:off x="14198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2" name="Google Shape;1262;p63"/>
          <p:cNvSpPr/>
          <p:nvPr/>
        </p:nvSpPr>
        <p:spPr>
          <a:xfrm>
            <a:off x="32486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3" name="Google Shape;1263;p63"/>
          <p:cNvCxnSpPr>
            <a:stCxn id="1257" idx="0"/>
            <a:endCxn id="1261" idx="2"/>
          </p:cNvCxnSpPr>
          <p:nvPr/>
        </p:nvCxnSpPr>
        <p:spPr>
          <a:xfrm rot="10800000">
            <a:off x="15623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4" name="Google Shape;1264;p63"/>
          <p:cNvCxnSpPr>
            <a:stCxn id="1257" idx="0"/>
            <a:endCxn id="1260" idx="2"/>
          </p:cNvCxnSpPr>
          <p:nvPr/>
        </p:nvCxnSpPr>
        <p:spPr>
          <a:xfrm rot="10800000">
            <a:off x="24767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5" name="Google Shape;1265;p63"/>
          <p:cNvCxnSpPr>
            <a:stCxn id="1257" idx="0"/>
            <a:endCxn id="1262" idx="2"/>
          </p:cNvCxnSpPr>
          <p:nvPr/>
        </p:nvCxnSpPr>
        <p:spPr>
          <a:xfrm flipH="1" rot="10800000">
            <a:off x="24767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6" name="Google Shape;1266;p63"/>
          <p:cNvSpPr txBox="1"/>
          <p:nvPr/>
        </p:nvSpPr>
        <p:spPr>
          <a:xfrm>
            <a:off x="1145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7" name="Google Shape;1267;p63"/>
          <p:cNvSpPr txBox="1"/>
          <p:nvPr/>
        </p:nvSpPr>
        <p:spPr>
          <a:xfrm>
            <a:off x="20599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8" name="Google Shape;1268;p63"/>
          <p:cNvSpPr txBox="1"/>
          <p:nvPr/>
        </p:nvSpPr>
        <p:spPr>
          <a:xfrm>
            <a:off x="29743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9" name="Google Shape;1269;p63"/>
          <p:cNvSpPr/>
          <p:nvPr/>
        </p:nvSpPr>
        <p:spPr>
          <a:xfrm>
            <a:off x="49525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0" name="Google Shape;1270;p63"/>
          <p:cNvCxnSpPr>
            <a:stCxn id="1259" idx="0"/>
            <a:endCxn id="1271" idx="2"/>
          </p:cNvCxnSpPr>
          <p:nvPr/>
        </p:nvCxnSpPr>
        <p:spPr>
          <a:xfrm rot="10800000">
            <a:off x="54485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2" name="Google Shape;1272;p63"/>
          <p:cNvCxnSpPr>
            <a:stCxn id="1259" idx="0"/>
            <a:endCxn id="1273" idx="2"/>
          </p:cNvCxnSpPr>
          <p:nvPr/>
        </p:nvCxnSpPr>
        <p:spPr>
          <a:xfrm rot="10800000">
            <a:off x="63629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4" name="Google Shape;1274;p63"/>
          <p:cNvCxnSpPr>
            <a:stCxn id="1259" idx="0"/>
            <a:endCxn id="1275" idx="2"/>
          </p:cNvCxnSpPr>
          <p:nvPr/>
        </p:nvCxnSpPr>
        <p:spPr>
          <a:xfrm flipH="1" rot="10800000">
            <a:off x="63629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6" name="Google Shape;1276;p63"/>
          <p:cNvSpPr txBox="1"/>
          <p:nvPr/>
        </p:nvSpPr>
        <p:spPr>
          <a:xfrm>
            <a:off x="50317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7" name="Google Shape;1277;p63"/>
          <p:cNvSpPr txBox="1"/>
          <p:nvPr/>
        </p:nvSpPr>
        <p:spPr>
          <a:xfrm>
            <a:off x="59461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8" name="Google Shape;1278;p63"/>
          <p:cNvSpPr txBox="1"/>
          <p:nvPr/>
        </p:nvSpPr>
        <p:spPr>
          <a:xfrm>
            <a:off x="6860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3" name="Google Shape;1273;p63"/>
          <p:cNvSpPr/>
          <p:nvPr/>
        </p:nvSpPr>
        <p:spPr>
          <a:xfrm>
            <a:off x="62204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1" name="Google Shape;1271;p63"/>
          <p:cNvSpPr/>
          <p:nvPr/>
        </p:nvSpPr>
        <p:spPr>
          <a:xfrm>
            <a:off x="53060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5" name="Google Shape;1275;p63"/>
          <p:cNvSpPr/>
          <p:nvPr/>
        </p:nvSpPr>
        <p:spPr>
          <a:xfrm>
            <a:off x="7134875" y="2607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9" name="Google Shape;1259;p63"/>
          <p:cNvSpPr/>
          <p:nvPr/>
        </p:nvSpPr>
        <p:spPr>
          <a:xfrm>
            <a:off x="57317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9" name="Google Shape;1279;p63"/>
          <p:cNvSpPr/>
          <p:nvPr/>
        </p:nvSpPr>
        <p:spPr>
          <a:xfrm>
            <a:off x="6600575" y="1863125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0" name="Google Shape;1280;p63"/>
          <p:cNvSpPr/>
          <p:nvPr/>
        </p:nvSpPr>
        <p:spPr>
          <a:xfrm>
            <a:off x="6600575" y="1587075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192.0.5.7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64"/>
          <p:cNvSpPr/>
          <p:nvPr/>
        </p:nvSpPr>
        <p:spPr>
          <a:xfrm>
            <a:off x="0" y="4312065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6" name="Google Shape;1286;p64"/>
          <p:cNvSpPr/>
          <p:nvPr/>
        </p:nvSpPr>
        <p:spPr>
          <a:xfrm>
            <a:off x="0" y="3272240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7" name="Google Shape;1287;p64"/>
          <p:cNvSpPr/>
          <p:nvPr/>
        </p:nvSpPr>
        <p:spPr>
          <a:xfrm>
            <a:off x="1066325" y="3382840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8" name="Google Shape;1288;p6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Encapsulation and Decapsulation</a:t>
            </a:r>
            <a:endParaRPr/>
          </a:p>
        </p:txBody>
      </p:sp>
      <p:sp>
        <p:nvSpPr>
          <p:cNvPr id="1289" name="Google Shape;1289;p64"/>
          <p:cNvSpPr txBox="1"/>
          <p:nvPr>
            <p:ph idx="1" type="body"/>
          </p:nvPr>
        </p:nvSpPr>
        <p:spPr>
          <a:xfrm>
            <a:off x="107050" y="402200"/>
            <a:ext cx="8909700" cy="25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did this work?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overlay network (VM1 and VM6) only thought about virtual addresses.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underlay network (R1–R4) only thought about physical addresses.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virtual switches acted as a bridge between the two layers.</a:t>
            </a:r>
            <a:endParaRPr/>
          </a:p>
        </p:txBody>
      </p:sp>
      <p:sp>
        <p:nvSpPr>
          <p:cNvPr id="1290" name="Google Shape;1290;p64"/>
          <p:cNvSpPr/>
          <p:nvPr/>
        </p:nvSpPr>
        <p:spPr>
          <a:xfrm>
            <a:off x="2334275" y="47814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1" name="Google Shape;1291;p64"/>
          <p:cNvSpPr/>
          <p:nvPr/>
        </p:nvSpPr>
        <p:spPr>
          <a:xfrm>
            <a:off x="3629675" y="47814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2" name="Google Shape;1292;p64"/>
          <p:cNvCxnSpPr>
            <a:stCxn id="1290" idx="3"/>
            <a:endCxn id="1291" idx="1"/>
          </p:cNvCxnSpPr>
          <p:nvPr/>
        </p:nvCxnSpPr>
        <p:spPr>
          <a:xfrm>
            <a:off x="2619275" y="4923915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3" name="Google Shape;1293;p64"/>
          <p:cNvSpPr/>
          <p:nvPr/>
        </p:nvSpPr>
        <p:spPr>
          <a:xfrm>
            <a:off x="4925075" y="47814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4" name="Google Shape;1294;p64"/>
          <p:cNvSpPr/>
          <p:nvPr/>
        </p:nvSpPr>
        <p:spPr>
          <a:xfrm>
            <a:off x="6220475" y="47814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5" name="Google Shape;1295;p64"/>
          <p:cNvCxnSpPr>
            <a:stCxn id="1293" idx="3"/>
            <a:endCxn id="1294" idx="1"/>
          </p:cNvCxnSpPr>
          <p:nvPr/>
        </p:nvCxnSpPr>
        <p:spPr>
          <a:xfrm>
            <a:off x="5210075" y="4923915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6" name="Google Shape;1296;p64"/>
          <p:cNvCxnSpPr>
            <a:stCxn id="1291" idx="3"/>
            <a:endCxn id="1293" idx="1"/>
          </p:cNvCxnSpPr>
          <p:nvPr/>
        </p:nvCxnSpPr>
        <p:spPr>
          <a:xfrm>
            <a:off x="3914675" y="4923915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7" name="Google Shape;1297;p64"/>
          <p:cNvCxnSpPr>
            <a:stCxn id="1290" idx="0"/>
            <a:endCxn id="1298" idx="2"/>
          </p:cNvCxnSpPr>
          <p:nvPr/>
        </p:nvCxnSpPr>
        <p:spPr>
          <a:xfrm rot="10800000">
            <a:off x="2476775" y="4452015"/>
            <a:ext cx="0" cy="329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8" name="Google Shape;1298;p64"/>
          <p:cNvSpPr/>
          <p:nvPr/>
        </p:nvSpPr>
        <p:spPr>
          <a:xfrm>
            <a:off x="1845575" y="4166867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9" name="Google Shape;1299;p64"/>
          <p:cNvCxnSpPr>
            <a:stCxn id="1294" idx="0"/>
            <a:endCxn id="1300" idx="2"/>
          </p:cNvCxnSpPr>
          <p:nvPr/>
        </p:nvCxnSpPr>
        <p:spPr>
          <a:xfrm rot="10800000">
            <a:off x="6362975" y="4452015"/>
            <a:ext cx="0" cy="329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1" name="Google Shape;1301;p64"/>
          <p:cNvSpPr/>
          <p:nvPr/>
        </p:nvSpPr>
        <p:spPr>
          <a:xfrm>
            <a:off x="2334275" y="3627615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2" name="Google Shape;1302;p64"/>
          <p:cNvSpPr/>
          <p:nvPr/>
        </p:nvSpPr>
        <p:spPr>
          <a:xfrm>
            <a:off x="1419875" y="36276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3" name="Google Shape;1303;p64"/>
          <p:cNvSpPr/>
          <p:nvPr/>
        </p:nvSpPr>
        <p:spPr>
          <a:xfrm>
            <a:off x="3248675" y="3627615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4" name="Google Shape;1304;p64"/>
          <p:cNvCxnSpPr>
            <a:stCxn id="1298" idx="0"/>
            <a:endCxn id="1302" idx="2"/>
          </p:cNvCxnSpPr>
          <p:nvPr/>
        </p:nvCxnSpPr>
        <p:spPr>
          <a:xfrm rot="10800000">
            <a:off x="1562375" y="3912467"/>
            <a:ext cx="914400" cy="254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5" name="Google Shape;1305;p64"/>
          <p:cNvCxnSpPr>
            <a:stCxn id="1298" idx="0"/>
            <a:endCxn id="1301" idx="2"/>
          </p:cNvCxnSpPr>
          <p:nvPr/>
        </p:nvCxnSpPr>
        <p:spPr>
          <a:xfrm rot="10800000">
            <a:off x="2476775" y="3912467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6" name="Google Shape;1306;p64"/>
          <p:cNvCxnSpPr>
            <a:stCxn id="1298" idx="0"/>
            <a:endCxn id="1303" idx="2"/>
          </p:cNvCxnSpPr>
          <p:nvPr/>
        </p:nvCxnSpPr>
        <p:spPr>
          <a:xfrm flipH="1" rot="10800000">
            <a:off x="2476775" y="3912467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7" name="Google Shape;1307;p64"/>
          <p:cNvSpPr txBox="1"/>
          <p:nvPr/>
        </p:nvSpPr>
        <p:spPr>
          <a:xfrm>
            <a:off x="11455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8" name="Google Shape;1308;p64"/>
          <p:cNvSpPr txBox="1"/>
          <p:nvPr/>
        </p:nvSpPr>
        <p:spPr>
          <a:xfrm>
            <a:off x="20599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9" name="Google Shape;1309;p64"/>
          <p:cNvSpPr txBox="1"/>
          <p:nvPr/>
        </p:nvSpPr>
        <p:spPr>
          <a:xfrm>
            <a:off x="29743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0" name="Google Shape;1310;p64"/>
          <p:cNvSpPr/>
          <p:nvPr/>
        </p:nvSpPr>
        <p:spPr>
          <a:xfrm>
            <a:off x="4952525" y="3382840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0" name="Google Shape;1300;p64"/>
          <p:cNvSpPr/>
          <p:nvPr/>
        </p:nvSpPr>
        <p:spPr>
          <a:xfrm>
            <a:off x="5731775" y="4166867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1" name="Google Shape;1311;p64"/>
          <p:cNvSpPr/>
          <p:nvPr/>
        </p:nvSpPr>
        <p:spPr>
          <a:xfrm>
            <a:off x="6220475" y="3627615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2" name="Google Shape;1312;p64"/>
          <p:cNvSpPr/>
          <p:nvPr/>
        </p:nvSpPr>
        <p:spPr>
          <a:xfrm>
            <a:off x="5306075" y="3627615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3" name="Google Shape;1313;p64"/>
          <p:cNvSpPr/>
          <p:nvPr/>
        </p:nvSpPr>
        <p:spPr>
          <a:xfrm>
            <a:off x="7134875" y="36276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4" name="Google Shape;1314;p64"/>
          <p:cNvCxnSpPr>
            <a:stCxn id="1300" idx="0"/>
            <a:endCxn id="1312" idx="2"/>
          </p:cNvCxnSpPr>
          <p:nvPr/>
        </p:nvCxnSpPr>
        <p:spPr>
          <a:xfrm rot="10800000">
            <a:off x="5448575" y="3912467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5" name="Google Shape;1315;p64"/>
          <p:cNvCxnSpPr>
            <a:stCxn id="1300" idx="0"/>
            <a:endCxn id="1311" idx="2"/>
          </p:cNvCxnSpPr>
          <p:nvPr/>
        </p:nvCxnSpPr>
        <p:spPr>
          <a:xfrm rot="10800000">
            <a:off x="6362975" y="3912467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6" name="Google Shape;1316;p64"/>
          <p:cNvCxnSpPr>
            <a:stCxn id="1300" idx="0"/>
            <a:endCxn id="1313" idx="2"/>
          </p:cNvCxnSpPr>
          <p:nvPr/>
        </p:nvCxnSpPr>
        <p:spPr>
          <a:xfrm flipH="1" rot="10800000">
            <a:off x="6362975" y="3912467"/>
            <a:ext cx="914400" cy="254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7" name="Google Shape;1317;p64"/>
          <p:cNvSpPr txBox="1"/>
          <p:nvPr/>
        </p:nvSpPr>
        <p:spPr>
          <a:xfrm>
            <a:off x="50317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8" name="Google Shape;1318;p64"/>
          <p:cNvSpPr txBox="1"/>
          <p:nvPr/>
        </p:nvSpPr>
        <p:spPr>
          <a:xfrm>
            <a:off x="59461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9" name="Google Shape;1319;p64"/>
          <p:cNvSpPr txBox="1"/>
          <p:nvPr/>
        </p:nvSpPr>
        <p:spPr>
          <a:xfrm>
            <a:off x="68605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6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Encapsulation and Decapsulation</a:t>
            </a:r>
            <a:endParaRPr/>
          </a:p>
        </p:txBody>
      </p:sp>
      <p:sp>
        <p:nvSpPr>
          <p:cNvPr id="1325" name="Google Shape;1325;p65"/>
          <p:cNvSpPr txBox="1"/>
          <p:nvPr>
            <p:ph idx="1" type="body"/>
          </p:nvPr>
        </p:nvSpPr>
        <p:spPr>
          <a:xfrm>
            <a:off x="107050" y="402200"/>
            <a:ext cx="8909700" cy="10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Encapsulation</a:t>
            </a:r>
            <a:r>
              <a:rPr lang="en"/>
              <a:t>: Adding the extra header.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Decapsulation</a:t>
            </a:r>
            <a:r>
              <a:rPr lang="en"/>
              <a:t>: Removing the extra header, exposing the original header underneath.</a:t>
            </a:r>
            <a:endParaRPr/>
          </a:p>
        </p:txBody>
      </p:sp>
      <p:sp>
        <p:nvSpPr>
          <p:cNvPr id="1326" name="Google Shape;1326;p65"/>
          <p:cNvSpPr/>
          <p:nvPr/>
        </p:nvSpPr>
        <p:spPr>
          <a:xfrm>
            <a:off x="737725" y="3931575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192.0.5.7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7" name="Google Shape;1327;p65"/>
          <p:cNvSpPr/>
          <p:nvPr/>
        </p:nvSpPr>
        <p:spPr>
          <a:xfrm>
            <a:off x="737725" y="4216575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8" name="Google Shape;1328;p65"/>
          <p:cNvSpPr/>
          <p:nvPr/>
        </p:nvSpPr>
        <p:spPr>
          <a:xfrm>
            <a:off x="737725" y="3646575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9" name="Google Shape;1329;p65"/>
          <p:cNvCxnSpPr/>
          <p:nvPr/>
        </p:nvCxnSpPr>
        <p:spPr>
          <a:xfrm>
            <a:off x="671100" y="3789075"/>
            <a:ext cx="16557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0" name="Google Shape;1330;p65"/>
          <p:cNvSpPr/>
          <p:nvPr/>
        </p:nvSpPr>
        <p:spPr>
          <a:xfrm>
            <a:off x="737725" y="2738025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192.0.5.7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1" name="Google Shape;1331;p65"/>
          <p:cNvSpPr/>
          <p:nvPr/>
        </p:nvSpPr>
        <p:spPr>
          <a:xfrm>
            <a:off x="737725" y="3023025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2" name="Google Shape;1332;p65"/>
          <p:cNvSpPr/>
          <p:nvPr/>
        </p:nvSpPr>
        <p:spPr>
          <a:xfrm>
            <a:off x="737725" y="2453025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3" name="Google Shape;1333;p65"/>
          <p:cNvSpPr txBox="1"/>
          <p:nvPr/>
        </p:nvSpPr>
        <p:spPr>
          <a:xfrm>
            <a:off x="2535150" y="1548750"/>
            <a:ext cx="450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Original packet only has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virtual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(overlay) address.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4" name="Google Shape;1334;p65"/>
          <p:cNvSpPr/>
          <p:nvPr/>
        </p:nvSpPr>
        <p:spPr>
          <a:xfrm>
            <a:off x="737725" y="1548750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192.0.5.7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5" name="Google Shape;1335;p65"/>
          <p:cNvSpPr/>
          <p:nvPr/>
        </p:nvSpPr>
        <p:spPr>
          <a:xfrm>
            <a:off x="737725" y="1833750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6" name="Google Shape;1336;p65"/>
          <p:cNvSpPr txBox="1"/>
          <p:nvPr/>
        </p:nvSpPr>
        <p:spPr>
          <a:xfrm>
            <a:off x="2535150" y="2447025"/>
            <a:ext cx="45672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add the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physical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(underlay) address.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extra header helps the packet travel through the underlay network.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7" name="Google Shape;1337;p65"/>
          <p:cNvSpPr txBox="1"/>
          <p:nvPr/>
        </p:nvSpPr>
        <p:spPr>
          <a:xfrm>
            <a:off x="2535150" y="3646575"/>
            <a:ext cx="45081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Eventually, we remove 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extra header.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packet travels based on the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virtual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(overlay) address the rest of the way.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66"/>
          <p:cNvSpPr/>
          <p:nvPr/>
        </p:nvSpPr>
        <p:spPr>
          <a:xfrm>
            <a:off x="0" y="4312065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3" name="Google Shape;1343;p66"/>
          <p:cNvSpPr/>
          <p:nvPr/>
        </p:nvSpPr>
        <p:spPr>
          <a:xfrm>
            <a:off x="0" y="3272240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4" name="Google Shape;1344;p66"/>
          <p:cNvSpPr/>
          <p:nvPr/>
        </p:nvSpPr>
        <p:spPr>
          <a:xfrm>
            <a:off x="1066325" y="3382840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5" name="Google Shape;1345;p6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Encapsulation and Decapsulation</a:t>
            </a:r>
            <a:endParaRPr/>
          </a:p>
        </p:txBody>
      </p:sp>
      <p:sp>
        <p:nvSpPr>
          <p:cNvPr id="1346" name="Google Shape;1346;p66"/>
          <p:cNvSpPr/>
          <p:nvPr/>
        </p:nvSpPr>
        <p:spPr>
          <a:xfrm>
            <a:off x="2334275" y="47814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7" name="Google Shape;1347;p66"/>
          <p:cNvSpPr/>
          <p:nvPr/>
        </p:nvSpPr>
        <p:spPr>
          <a:xfrm>
            <a:off x="3629675" y="47814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48" name="Google Shape;1348;p66"/>
          <p:cNvCxnSpPr>
            <a:stCxn id="1346" idx="3"/>
            <a:endCxn id="1347" idx="1"/>
          </p:cNvCxnSpPr>
          <p:nvPr/>
        </p:nvCxnSpPr>
        <p:spPr>
          <a:xfrm>
            <a:off x="2619275" y="4923915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9" name="Google Shape;1349;p66"/>
          <p:cNvSpPr/>
          <p:nvPr/>
        </p:nvSpPr>
        <p:spPr>
          <a:xfrm>
            <a:off x="4925075" y="47814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0" name="Google Shape;1350;p66"/>
          <p:cNvSpPr/>
          <p:nvPr/>
        </p:nvSpPr>
        <p:spPr>
          <a:xfrm>
            <a:off x="6220475" y="47814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1" name="Google Shape;1351;p66"/>
          <p:cNvCxnSpPr>
            <a:stCxn id="1349" idx="3"/>
            <a:endCxn id="1350" idx="1"/>
          </p:cNvCxnSpPr>
          <p:nvPr/>
        </p:nvCxnSpPr>
        <p:spPr>
          <a:xfrm>
            <a:off x="5210075" y="4923915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2" name="Google Shape;1352;p66"/>
          <p:cNvCxnSpPr>
            <a:stCxn id="1347" idx="3"/>
            <a:endCxn id="1349" idx="1"/>
          </p:cNvCxnSpPr>
          <p:nvPr/>
        </p:nvCxnSpPr>
        <p:spPr>
          <a:xfrm>
            <a:off x="3914675" y="4923915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3" name="Google Shape;1353;p66"/>
          <p:cNvCxnSpPr>
            <a:stCxn id="1346" idx="0"/>
            <a:endCxn id="1354" idx="2"/>
          </p:cNvCxnSpPr>
          <p:nvPr/>
        </p:nvCxnSpPr>
        <p:spPr>
          <a:xfrm rot="10800000">
            <a:off x="2476775" y="4452015"/>
            <a:ext cx="0" cy="329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4" name="Google Shape;1354;p66"/>
          <p:cNvSpPr/>
          <p:nvPr/>
        </p:nvSpPr>
        <p:spPr>
          <a:xfrm>
            <a:off x="1845575" y="4166867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5" name="Google Shape;1355;p66"/>
          <p:cNvCxnSpPr>
            <a:stCxn id="1350" idx="0"/>
            <a:endCxn id="1356" idx="2"/>
          </p:cNvCxnSpPr>
          <p:nvPr/>
        </p:nvCxnSpPr>
        <p:spPr>
          <a:xfrm rot="10800000">
            <a:off x="6362975" y="4452015"/>
            <a:ext cx="0" cy="329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7" name="Google Shape;1357;p66"/>
          <p:cNvSpPr/>
          <p:nvPr/>
        </p:nvSpPr>
        <p:spPr>
          <a:xfrm>
            <a:off x="2334275" y="3627615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8" name="Google Shape;1358;p66"/>
          <p:cNvSpPr/>
          <p:nvPr/>
        </p:nvSpPr>
        <p:spPr>
          <a:xfrm>
            <a:off x="1419875" y="36276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9" name="Google Shape;1359;p66"/>
          <p:cNvSpPr/>
          <p:nvPr/>
        </p:nvSpPr>
        <p:spPr>
          <a:xfrm>
            <a:off x="3248675" y="3627615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0" name="Google Shape;1360;p66"/>
          <p:cNvCxnSpPr>
            <a:stCxn id="1354" idx="0"/>
            <a:endCxn id="1358" idx="2"/>
          </p:cNvCxnSpPr>
          <p:nvPr/>
        </p:nvCxnSpPr>
        <p:spPr>
          <a:xfrm rot="10800000">
            <a:off x="1562375" y="3912467"/>
            <a:ext cx="914400" cy="254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66"/>
          <p:cNvCxnSpPr>
            <a:stCxn id="1354" idx="0"/>
            <a:endCxn id="1357" idx="2"/>
          </p:cNvCxnSpPr>
          <p:nvPr/>
        </p:nvCxnSpPr>
        <p:spPr>
          <a:xfrm rot="10800000">
            <a:off x="2476775" y="3912467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2" name="Google Shape;1362;p66"/>
          <p:cNvCxnSpPr>
            <a:stCxn id="1354" idx="0"/>
            <a:endCxn id="1359" idx="2"/>
          </p:cNvCxnSpPr>
          <p:nvPr/>
        </p:nvCxnSpPr>
        <p:spPr>
          <a:xfrm flipH="1" rot="10800000">
            <a:off x="2476775" y="3912467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3" name="Google Shape;1363;p66"/>
          <p:cNvSpPr txBox="1"/>
          <p:nvPr/>
        </p:nvSpPr>
        <p:spPr>
          <a:xfrm>
            <a:off x="11455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4" name="Google Shape;1364;p66"/>
          <p:cNvSpPr txBox="1"/>
          <p:nvPr/>
        </p:nvSpPr>
        <p:spPr>
          <a:xfrm>
            <a:off x="20599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5" name="Google Shape;1365;p66"/>
          <p:cNvSpPr txBox="1"/>
          <p:nvPr/>
        </p:nvSpPr>
        <p:spPr>
          <a:xfrm>
            <a:off x="29743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6" name="Google Shape;1366;p66"/>
          <p:cNvSpPr/>
          <p:nvPr/>
        </p:nvSpPr>
        <p:spPr>
          <a:xfrm>
            <a:off x="4952525" y="3382840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6" name="Google Shape;1356;p66"/>
          <p:cNvSpPr/>
          <p:nvPr/>
        </p:nvSpPr>
        <p:spPr>
          <a:xfrm>
            <a:off x="5731775" y="4166867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7" name="Google Shape;1367;p66"/>
          <p:cNvSpPr/>
          <p:nvPr/>
        </p:nvSpPr>
        <p:spPr>
          <a:xfrm>
            <a:off x="6220475" y="3627615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8" name="Google Shape;1368;p66"/>
          <p:cNvSpPr/>
          <p:nvPr/>
        </p:nvSpPr>
        <p:spPr>
          <a:xfrm>
            <a:off x="5306075" y="3627615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9" name="Google Shape;1369;p66"/>
          <p:cNvSpPr/>
          <p:nvPr/>
        </p:nvSpPr>
        <p:spPr>
          <a:xfrm>
            <a:off x="7134875" y="36276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0" name="Google Shape;1370;p66"/>
          <p:cNvCxnSpPr>
            <a:stCxn id="1356" idx="0"/>
            <a:endCxn id="1368" idx="2"/>
          </p:cNvCxnSpPr>
          <p:nvPr/>
        </p:nvCxnSpPr>
        <p:spPr>
          <a:xfrm rot="10800000">
            <a:off x="5448575" y="3912467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1" name="Google Shape;1371;p66"/>
          <p:cNvCxnSpPr>
            <a:stCxn id="1356" idx="0"/>
            <a:endCxn id="1367" idx="2"/>
          </p:cNvCxnSpPr>
          <p:nvPr/>
        </p:nvCxnSpPr>
        <p:spPr>
          <a:xfrm rot="10800000">
            <a:off x="6362975" y="3912467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2" name="Google Shape;1372;p66"/>
          <p:cNvCxnSpPr>
            <a:stCxn id="1356" idx="0"/>
            <a:endCxn id="1369" idx="2"/>
          </p:cNvCxnSpPr>
          <p:nvPr/>
        </p:nvCxnSpPr>
        <p:spPr>
          <a:xfrm flipH="1" rot="10800000">
            <a:off x="6362975" y="3912467"/>
            <a:ext cx="914400" cy="254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3" name="Google Shape;1373;p66"/>
          <p:cNvSpPr txBox="1"/>
          <p:nvPr/>
        </p:nvSpPr>
        <p:spPr>
          <a:xfrm>
            <a:off x="50317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4" name="Google Shape;1374;p66"/>
          <p:cNvSpPr txBox="1"/>
          <p:nvPr/>
        </p:nvSpPr>
        <p:spPr>
          <a:xfrm>
            <a:off x="59461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5" name="Google Shape;1375;p66"/>
          <p:cNvSpPr txBox="1"/>
          <p:nvPr/>
        </p:nvSpPr>
        <p:spPr>
          <a:xfrm>
            <a:off x="68605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376" name="Google Shape;1376;p66"/>
          <p:cNvGraphicFramePr/>
          <p:nvPr/>
        </p:nvGraphicFramePr>
        <p:xfrm>
          <a:off x="6140650" y="772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{DD06A9EC-F48A-45AF-851E-6F77734EB285}</a:tableStyleId>
              </a:tblPr>
              <a:tblGrid>
                <a:gridCol w="1130650"/>
                <a:gridCol w="1218975"/>
              </a:tblGrid>
              <a:tr h="3245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forwarding table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 anchor="ctr"/>
                </a:tc>
                <a:tc hMerge="1"/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1.1.1.1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2.2.2.2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77" name="Google Shape;1377;p66"/>
          <p:cNvSpPr txBox="1"/>
          <p:nvPr/>
        </p:nvSpPr>
        <p:spPr>
          <a:xfrm>
            <a:off x="5975813" y="2157788"/>
            <a:ext cx="26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Only includes physical addresses (which can be aggregated!)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378" name="Google Shape;1378;p66"/>
          <p:cNvGraphicFramePr/>
          <p:nvPr/>
        </p:nvGraphicFramePr>
        <p:xfrm>
          <a:off x="387563" y="772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{DD06A9EC-F48A-45AF-851E-6F77734EB285}</a:tableStyleId>
              </a:tblPr>
              <a:tblGrid>
                <a:gridCol w="1130650"/>
                <a:gridCol w="1218975"/>
              </a:tblGrid>
              <a:tr h="3245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VM1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's forwarding table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 anchor="ctr"/>
                </a:tc>
                <a:tc hMerge="1"/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Anywhere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Virtual switch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79" name="Google Shape;1379;p66"/>
          <p:cNvGraphicFramePr/>
          <p:nvPr/>
        </p:nvGraphicFramePr>
        <p:xfrm>
          <a:off x="3067650" y="772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{DD06A9EC-F48A-45AF-851E-6F77734EB285}</a:tableStyleId>
              </a:tblPr>
              <a:tblGrid>
                <a:gridCol w="930175"/>
                <a:gridCol w="1749125"/>
              </a:tblGrid>
              <a:tr h="3245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Virtual switch'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 forwarding table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 anchor="ctr"/>
                </a:tc>
                <a:tc hMerge="1"/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</a:tr>
              <a:tr h="54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192.0.5.7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Add header: 2.2.2.2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Then, send to R1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380" name="Google Shape;1380;p66"/>
          <p:cNvSpPr txBox="1"/>
          <p:nvPr/>
        </p:nvSpPr>
        <p:spPr>
          <a:xfrm>
            <a:off x="3080213" y="2157788"/>
            <a:ext cx="267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Haven't discussed how to map 192.0.5.7 → 2.2.2.2 yet.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now, it's magic.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67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Datacenter Routing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Datacenter Addressing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Virtualization and Encapsulation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Virtualization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 and Underlay Networks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Multi-Tenancy and</a:t>
            </a:r>
            <a:b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Private Networks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6" name="Google Shape;1386;p6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Multi-Tenancy and Private Networks</a:t>
            </a:r>
            <a:endParaRPr/>
          </a:p>
        </p:txBody>
      </p:sp>
      <p:sp>
        <p:nvSpPr>
          <p:cNvPr id="1387" name="Google Shape;1387;p6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19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68"/>
          <p:cNvSpPr txBox="1"/>
          <p:nvPr>
            <p:ph idx="1" type="body"/>
          </p:nvPr>
        </p:nvSpPr>
        <p:spPr>
          <a:xfrm>
            <a:off x="107050" y="402200"/>
            <a:ext cx="8909700" cy="37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Datacenters are owned by a single operator, but they can have multiple tenants.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Different </a:t>
            </a:r>
            <a:r>
              <a:rPr lang="en"/>
              <a:t>companies/</a:t>
            </a:r>
            <a:r>
              <a:rPr lang="en"/>
              <a:t>departments </a:t>
            </a:r>
            <a:r>
              <a:rPr lang="en"/>
              <a:t>are running </a:t>
            </a:r>
            <a:r>
              <a:rPr lang="en"/>
              <a:t>on the same infrastructure.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Google Maps, Gmail, YouTube can all run in a Google datacenter..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In cloud provider datacenters (e.g. AWS, GCP), customers can start up a VM, and destroy it when they're done.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Allows for efficient use of resources.</a:t>
            </a:r>
            <a:endParaRPr/>
          </a:p>
        </p:txBody>
      </p:sp>
      <p:sp>
        <p:nvSpPr>
          <p:cNvPr id="1393" name="Google Shape;1393;p6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Multi-Tenancy</a:t>
            </a:r>
            <a:endParaRPr/>
          </a:p>
        </p:txBody>
      </p:sp>
      <p:sp>
        <p:nvSpPr>
          <p:cNvPr id="1394" name="Google Shape;1394;p68"/>
          <p:cNvSpPr txBox="1"/>
          <p:nvPr/>
        </p:nvSpPr>
        <p:spPr>
          <a:xfrm>
            <a:off x="4572000" y="4687250"/>
            <a:ext cx="445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(AWS = Amazon Web Services. GCP =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Cloud Platform.)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6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Private IP Addressing</a:t>
            </a:r>
            <a:endParaRPr/>
          </a:p>
        </p:txBody>
      </p:sp>
      <p:sp>
        <p:nvSpPr>
          <p:cNvPr id="1400" name="Google Shape;1400;p6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Different tenants don't coordinate when choosing addresses. Why is this a problem?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Two hosts (from two different tenants) could have the </a:t>
            </a:r>
            <a:r>
              <a:rPr i="1" lang="en"/>
              <a:t>same</a:t>
            </a:r>
            <a:r>
              <a:rPr lang="en"/>
              <a:t> IP address.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Remember, we only have 2</a:t>
            </a:r>
            <a:r>
              <a:rPr baseline="30000" lang="en"/>
              <a:t>32</a:t>
            </a:r>
            <a:r>
              <a:rPr lang="en"/>
              <a:t> IPv4 addresses.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hosts never want to be contacted from the Internet, so they don't need a unique 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 we can save addresses by having private addresses that can be used in multiple networks.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RFC 1918 defines specific ranges of IPs for private use.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Common examples: 192.168.0.0/16 and 10.0.0.0/8.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70"/>
          <p:cNvSpPr/>
          <p:nvPr/>
        </p:nvSpPr>
        <p:spPr>
          <a:xfrm>
            <a:off x="0" y="39016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6" name="Google Shape;1406;p70"/>
          <p:cNvSpPr/>
          <p:nvPr/>
        </p:nvSpPr>
        <p:spPr>
          <a:xfrm>
            <a:off x="0" y="2861775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7" name="Google Shape;1407;p70"/>
          <p:cNvSpPr/>
          <p:nvPr/>
        </p:nvSpPr>
        <p:spPr>
          <a:xfrm>
            <a:off x="1066325" y="2972375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8" name="Google Shape;1408;p7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with Multi-Tenancy</a:t>
            </a:r>
            <a:endParaRPr/>
          </a:p>
        </p:txBody>
      </p:sp>
      <p:sp>
        <p:nvSpPr>
          <p:cNvPr id="1409" name="Google Shape;1409;p70"/>
          <p:cNvSpPr txBox="1"/>
          <p:nvPr>
            <p:ph idx="1" type="body"/>
          </p:nvPr>
        </p:nvSpPr>
        <p:spPr>
          <a:xfrm>
            <a:off x="107050" y="402200"/>
            <a:ext cx="8909700" cy="13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this datacenter, Coke and Pepsi are two separate tenants.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tenants have a VM with IP address 192.0.2.2.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packet, it's ambiguous which 192.0.2.2 we're trying to contact.</a:t>
            </a:r>
            <a:endParaRPr/>
          </a:p>
        </p:txBody>
      </p:sp>
      <p:sp>
        <p:nvSpPr>
          <p:cNvPr id="1410" name="Google Shape;1410;p70"/>
          <p:cNvSpPr/>
          <p:nvPr/>
        </p:nvSpPr>
        <p:spPr>
          <a:xfrm>
            <a:off x="23342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1" name="Google Shape;1411;p70"/>
          <p:cNvSpPr/>
          <p:nvPr/>
        </p:nvSpPr>
        <p:spPr>
          <a:xfrm>
            <a:off x="36296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2" name="Google Shape;1412;p70"/>
          <p:cNvCxnSpPr>
            <a:stCxn id="1410" idx="3"/>
            <a:endCxn id="1411" idx="1"/>
          </p:cNvCxnSpPr>
          <p:nvPr/>
        </p:nvCxnSpPr>
        <p:spPr>
          <a:xfrm>
            <a:off x="2619275" y="4513450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3" name="Google Shape;1413;p70"/>
          <p:cNvSpPr/>
          <p:nvPr/>
        </p:nvSpPr>
        <p:spPr>
          <a:xfrm>
            <a:off x="49250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4" name="Google Shape;1414;p70"/>
          <p:cNvSpPr/>
          <p:nvPr/>
        </p:nvSpPr>
        <p:spPr>
          <a:xfrm>
            <a:off x="62204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5" name="Google Shape;1415;p70"/>
          <p:cNvCxnSpPr>
            <a:stCxn id="1413" idx="3"/>
            <a:endCxn id="1414" idx="1"/>
          </p:cNvCxnSpPr>
          <p:nvPr/>
        </p:nvCxnSpPr>
        <p:spPr>
          <a:xfrm>
            <a:off x="5210075" y="4513450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6" name="Google Shape;1416;p70"/>
          <p:cNvCxnSpPr>
            <a:stCxn id="1411" idx="3"/>
            <a:endCxn id="1413" idx="1"/>
          </p:cNvCxnSpPr>
          <p:nvPr/>
        </p:nvCxnSpPr>
        <p:spPr>
          <a:xfrm>
            <a:off x="3914675" y="4513450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7" name="Google Shape;1417;p70"/>
          <p:cNvCxnSpPr>
            <a:stCxn id="1410" idx="0"/>
            <a:endCxn id="1418" idx="2"/>
          </p:cNvCxnSpPr>
          <p:nvPr/>
        </p:nvCxnSpPr>
        <p:spPr>
          <a:xfrm rot="10800000">
            <a:off x="2476775" y="4041550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8" name="Google Shape;1418;p70"/>
          <p:cNvSpPr/>
          <p:nvPr/>
        </p:nvSpPr>
        <p:spPr>
          <a:xfrm>
            <a:off x="1845575" y="37564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9" name="Google Shape;1419;p70"/>
          <p:cNvCxnSpPr>
            <a:stCxn id="1414" idx="0"/>
            <a:endCxn id="1420" idx="2"/>
          </p:cNvCxnSpPr>
          <p:nvPr/>
        </p:nvCxnSpPr>
        <p:spPr>
          <a:xfrm rot="10800000">
            <a:off x="6362975" y="4041550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1" name="Google Shape;1421;p70"/>
          <p:cNvSpPr/>
          <p:nvPr/>
        </p:nvSpPr>
        <p:spPr>
          <a:xfrm>
            <a:off x="1724675" y="3217150"/>
            <a:ext cx="285000" cy="285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2" name="Google Shape;1422;p70"/>
          <p:cNvSpPr/>
          <p:nvPr/>
        </p:nvSpPr>
        <p:spPr>
          <a:xfrm>
            <a:off x="2943875" y="3217150"/>
            <a:ext cx="285000" cy="2850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3" name="Google Shape;1423;p70"/>
          <p:cNvCxnSpPr>
            <a:stCxn id="1418" idx="0"/>
            <a:endCxn id="1421" idx="2"/>
          </p:cNvCxnSpPr>
          <p:nvPr/>
        </p:nvCxnSpPr>
        <p:spPr>
          <a:xfrm rot="10800000">
            <a:off x="1867175" y="35020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4" name="Google Shape;1424;p70"/>
          <p:cNvCxnSpPr>
            <a:stCxn id="1418" idx="0"/>
            <a:endCxn id="1422" idx="2"/>
          </p:cNvCxnSpPr>
          <p:nvPr/>
        </p:nvCxnSpPr>
        <p:spPr>
          <a:xfrm flipH="1" rot="10800000">
            <a:off x="2476775" y="35020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5" name="Google Shape;1425;p70"/>
          <p:cNvSpPr txBox="1"/>
          <p:nvPr/>
        </p:nvSpPr>
        <p:spPr>
          <a:xfrm>
            <a:off x="14503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6" name="Google Shape;1426;p70"/>
          <p:cNvSpPr txBox="1"/>
          <p:nvPr/>
        </p:nvSpPr>
        <p:spPr>
          <a:xfrm>
            <a:off x="26695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7" name="Google Shape;1427;p70"/>
          <p:cNvSpPr/>
          <p:nvPr/>
        </p:nvSpPr>
        <p:spPr>
          <a:xfrm>
            <a:off x="4952525" y="2972375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0" name="Google Shape;1420;p70"/>
          <p:cNvSpPr/>
          <p:nvPr/>
        </p:nvSpPr>
        <p:spPr>
          <a:xfrm>
            <a:off x="5731775" y="37564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8" name="Google Shape;1428;p70"/>
          <p:cNvSpPr/>
          <p:nvPr/>
        </p:nvSpPr>
        <p:spPr>
          <a:xfrm>
            <a:off x="5610875" y="3217150"/>
            <a:ext cx="285000" cy="285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9" name="Google Shape;1429;p70"/>
          <p:cNvSpPr/>
          <p:nvPr/>
        </p:nvSpPr>
        <p:spPr>
          <a:xfrm>
            <a:off x="6830075" y="3217150"/>
            <a:ext cx="285000" cy="2850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0" name="Google Shape;1430;p70"/>
          <p:cNvCxnSpPr>
            <a:stCxn id="1420" idx="0"/>
            <a:endCxn id="1428" idx="2"/>
          </p:cNvCxnSpPr>
          <p:nvPr/>
        </p:nvCxnSpPr>
        <p:spPr>
          <a:xfrm rot="10800000">
            <a:off x="5753375" y="35020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1" name="Google Shape;1431;p70"/>
          <p:cNvCxnSpPr>
            <a:stCxn id="1420" idx="0"/>
            <a:endCxn id="1429" idx="2"/>
          </p:cNvCxnSpPr>
          <p:nvPr/>
        </p:nvCxnSpPr>
        <p:spPr>
          <a:xfrm flipH="1" rot="10800000">
            <a:off x="6362975" y="35020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2" name="Google Shape;1432;p70"/>
          <p:cNvSpPr txBox="1"/>
          <p:nvPr/>
        </p:nvSpPr>
        <p:spPr>
          <a:xfrm>
            <a:off x="53365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3" name="Google Shape;1433;p70"/>
          <p:cNvSpPr txBox="1"/>
          <p:nvPr/>
        </p:nvSpPr>
        <p:spPr>
          <a:xfrm>
            <a:off x="65557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4" name="Google Shape;1434;p70"/>
          <p:cNvSpPr/>
          <p:nvPr/>
        </p:nvSpPr>
        <p:spPr>
          <a:xfrm>
            <a:off x="1190375" y="2127150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5" name="Google Shape;1435;p70"/>
          <p:cNvSpPr/>
          <p:nvPr/>
        </p:nvSpPr>
        <p:spPr>
          <a:xfrm>
            <a:off x="1190375" y="2412150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6" name="Google Shape;1436;p70"/>
          <p:cNvSpPr/>
          <p:nvPr/>
        </p:nvSpPr>
        <p:spPr>
          <a:xfrm>
            <a:off x="1190375" y="1842150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71"/>
          <p:cNvSpPr/>
          <p:nvPr/>
        </p:nvSpPr>
        <p:spPr>
          <a:xfrm>
            <a:off x="0" y="39016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2" name="Google Shape;1442;p71"/>
          <p:cNvSpPr/>
          <p:nvPr/>
        </p:nvSpPr>
        <p:spPr>
          <a:xfrm>
            <a:off x="0" y="2861775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3" name="Google Shape;1443;p71"/>
          <p:cNvSpPr/>
          <p:nvPr/>
        </p:nvSpPr>
        <p:spPr>
          <a:xfrm>
            <a:off x="1066325" y="2972375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4" name="Google Shape;1444;p7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Encapsulations for Multi-Tenancy</a:t>
            </a:r>
            <a:endParaRPr/>
          </a:p>
        </p:txBody>
      </p:sp>
      <p:sp>
        <p:nvSpPr>
          <p:cNvPr id="1445" name="Google Shape;1445;p71"/>
          <p:cNvSpPr txBox="1"/>
          <p:nvPr>
            <p:ph idx="1" type="body"/>
          </p:nvPr>
        </p:nvSpPr>
        <p:spPr>
          <a:xfrm>
            <a:off x="107050" y="402200"/>
            <a:ext cx="8909700" cy="10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Use encapsulation again!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an extra header specifying which tenant this packet is meant for.</a:t>
            </a:r>
            <a:endParaRPr/>
          </a:p>
        </p:txBody>
      </p:sp>
      <p:sp>
        <p:nvSpPr>
          <p:cNvPr id="1446" name="Google Shape;1446;p71"/>
          <p:cNvSpPr/>
          <p:nvPr/>
        </p:nvSpPr>
        <p:spPr>
          <a:xfrm>
            <a:off x="23342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7" name="Google Shape;1447;p71"/>
          <p:cNvSpPr/>
          <p:nvPr/>
        </p:nvSpPr>
        <p:spPr>
          <a:xfrm>
            <a:off x="36296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8" name="Google Shape;1448;p71"/>
          <p:cNvCxnSpPr>
            <a:stCxn id="1446" idx="3"/>
            <a:endCxn id="1447" idx="1"/>
          </p:cNvCxnSpPr>
          <p:nvPr/>
        </p:nvCxnSpPr>
        <p:spPr>
          <a:xfrm>
            <a:off x="2619275" y="4513450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9" name="Google Shape;1449;p71"/>
          <p:cNvSpPr/>
          <p:nvPr/>
        </p:nvSpPr>
        <p:spPr>
          <a:xfrm>
            <a:off x="49250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0" name="Google Shape;1450;p71"/>
          <p:cNvSpPr/>
          <p:nvPr/>
        </p:nvSpPr>
        <p:spPr>
          <a:xfrm>
            <a:off x="62204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51" name="Google Shape;1451;p71"/>
          <p:cNvCxnSpPr>
            <a:stCxn id="1449" idx="3"/>
            <a:endCxn id="1450" idx="1"/>
          </p:cNvCxnSpPr>
          <p:nvPr/>
        </p:nvCxnSpPr>
        <p:spPr>
          <a:xfrm>
            <a:off x="5210075" y="4513450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2" name="Google Shape;1452;p71"/>
          <p:cNvCxnSpPr>
            <a:stCxn id="1447" idx="3"/>
            <a:endCxn id="1449" idx="1"/>
          </p:cNvCxnSpPr>
          <p:nvPr/>
        </p:nvCxnSpPr>
        <p:spPr>
          <a:xfrm>
            <a:off x="3914675" y="4513450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3" name="Google Shape;1453;p71"/>
          <p:cNvCxnSpPr>
            <a:stCxn id="1446" idx="0"/>
            <a:endCxn id="1454" idx="2"/>
          </p:cNvCxnSpPr>
          <p:nvPr/>
        </p:nvCxnSpPr>
        <p:spPr>
          <a:xfrm rot="10800000">
            <a:off x="2476775" y="4041550"/>
            <a:ext cx="0" cy="329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4" name="Google Shape;1454;p71"/>
          <p:cNvSpPr/>
          <p:nvPr/>
        </p:nvSpPr>
        <p:spPr>
          <a:xfrm>
            <a:off x="1845575" y="37564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55" name="Google Shape;1455;p71"/>
          <p:cNvCxnSpPr>
            <a:stCxn id="1450" idx="0"/>
            <a:endCxn id="1456" idx="2"/>
          </p:cNvCxnSpPr>
          <p:nvPr/>
        </p:nvCxnSpPr>
        <p:spPr>
          <a:xfrm rot="10800000">
            <a:off x="6362975" y="4041550"/>
            <a:ext cx="0" cy="329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7" name="Google Shape;1457;p71"/>
          <p:cNvSpPr/>
          <p:nvPr/>
        </p:nvSpPr>
        <p:spPr>
          <a:xfrm>
            <a:off x="2943875" y="32171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58" name="Google Shape;1458;p71"/>
          <p:cNvCxnSpPr>
            <a:stCxn id="1454" idx="0"/>
            <a:endCxn id="1459" idx="2"/>
          </p:cNvCxnSpPr>
          <p:nvPr/>
        </p:nvCxnSpPr>
        <p:spPr>
          <a:xfrm rot="10800000">
            <a:off x="1867175" y="3502002"/>
            <a:ext cx="609600" cy="254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0" name="Google Shape;1460;p71"/>
          <p:cNvCxnSpPr>
            <a:stCxn id="1454" idx="0"/>
            <a:endCxn id="1457" idx="2"/>
          </p:cNvCxnSpPr>
          <p:nvPr/>
        </p:nvCxnSpPr>
        <p:spPr>
          <a:xfrm flipH="1" rot="10800000">
            <a:off x="2476775" y="35020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1" name="Google Shape;1461;p71"/>
          <p:cNvSpPr txBox="1"/>
          <p:nvPr/>
        </p:nvSpPr>
        <p:spPr>
          <a:xfrm>
            <a:off x="14503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2" name="Google Shape;1462;p71"/>
          <p:cNvSpPr txBox="1"/>
          <p:nvPr/>
        </p:nvSpPr>
        <p:spPr>
          <a:xfrm>
            <a:off x="26695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3" name="Google Shape;1463;p71"/>
          <p:cNvSpPr/>
          <p:nvPr/>
        </p:nvSpPr>
        <p:spPr>
          <a:xfrm>
            <a:off x="4952525" y="2972375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6" name="Google Shape;1456;p71"/>
          <p:cNvSpPr/>
          <p:nvPr/>
        </p:nvSpPr>
        <p:spPr>
          <a:xfrm>
            <a:off x="5731775" y="37564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4" name="Google Shape;1464;p71"/>
          <p:cNvSpPr/>
          <p:nvPr/>
        </p:nvSpPr>
        <p:spPr>
          <a:xfrm>
            <a:off x="5610875" y="3217150"/>
            <a:ext cx="285000" cy="285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5" name="Google Shape;1465;p71"/>
          <p:cNvSpPr/>
          <p:nvPr/>
        </p:nvSpPr>
        <p:spPr>
          <a:xfrm>
            <a:off x="6830075" y="32171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6" name="Google Shape;1466;p71"/>
          <p:cNvCxnSpPr>
            <a:stCxn id="1456" idx="0"/>
            <a:endCxn id="1464" idx="2"/>
          </p:cNvCxnSpPr>
          <p:nvPr/>
        </p:nvCxnSpPr>
        <p:spPr>
          <a:xfrm rot="10800000">
            <a:off x="5753375" y="3502002"/>
            <a:ext cx="609600" cy="254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7" name="Google Shape;1467;p71"/>
          <p:cNvCxnSpPr>
            <a:stCxn id="1456" idx="0"/>
            <a:endCxn id="1465" idx="2"/>
          </p:cNvCxnSpPr>
          <p:nvPr/>
        </p:nvCxnSpPr>
        <p:spPr>
          <a:xfrm flipH="1" rot="10800000">
            <a:off x="6362975" y="35020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8" name="Google Shape;1468;p71"/>
          <p:cNvSpPr txBox="1"/>
          <p:nvPr/>
        </p:nvSpPr>
        <p:spPr>
          <a:xfrm>
            <a:off x="53365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9" name="Google Shape;1469;p71"/>
          <p:cNvSpPr txBox="1"/>
          <p:nvPr/>
        </p:nvSpPr>
        <p:spPr>
          <a:xfrm>
            <a:off x="65557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192.0.2.2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0" name="Google Shape;1470;p71"/>
          <p:cNvSpPr/>
          <p:nvPr/>
        </p:nvSpPr>
        <p:spPr>
          <a:xfrm>
            <a:off x="1190375" y="2127150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1" name="Google Shape;1471;p71"/>
          <p:cNvSpPr/>
          <p:nvPr/>
        </p:nvSpPr>
        <p:spPr>
          <a:xfrm>
            <a:off x="1190375" y="2412150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2" name="Google Shape;1472;p71"/>
          <p:cNvSpPr/>
          <p:nvPr/>
        </p:nvSpPr>
        <p:spPr>
          <a:xfrm>
            <a:off x="1190375" y="1842150"/>
            <a:ext cx="13536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3" name="Google Shape;1473;p71"/>
          <p:cNvSpPr/>
          <p:nvPr/>
        </p:nvSpPr>
        <p:spPr>
          <a:xfrm>
            <a:off x="1190375" y="1557138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9" name="Google Shape;1459;p71"/>
          <p:cNvSpPr/>
          <p:nvPr/>
        </p:nvSpPr>
        <p:spPr>
          <a:xfrm>
            <a:off x="1724675" y="3217150"/>
            <a:ext cx="285000" cy="285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72"/>
          <p:cNvSpPr/>
          <p:nvPr/>
        </p:nvSpPr>
        <p:spPr>
          <a:xfrm>
            <a:off x="0" y="39016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9" name="Google Shape;1479;p72"/>
          <p:cNvSpPr/>
          <p:nvPr/>
        </p:nvSpPr>
        <p:spPr>
          <a:xfrm>
            <a:off x="0" y="2861775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0" name="Google Shape;1480;p72"/>
          <p:cNvSpPr/>
          <p:nvPr/>
        </p:nvSpPr>
        <p:spPr>
          <a:xfrm>
            <a:off x="1066325" y="2972375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1" name="Google Shape;1481;p7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Encapsulations for Multi-Tenancy</a:t>
            </a:r>
            <a:endParaRPr/>
          </a:p>
        </p:txBody>
      </p:sp>
      <p:sp>
        <p:nvSpPr>
          <p:cNvPr id="1482" name="Google Shape;1482;p72"/>
          <p:cNvSpPr txBox="1"/>
          <p:nvPr>
            <p:ph idx="1" type="body"/>
          </p:nvPr>
        </p:nvSpPr>
        <p:spPr>
          <a:xfrm>
            <a:off x="107050" y="402200"/>
            <a:ext cx="8909700" cy="10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Solution: Use encapsulation again!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an extra header specifying which tenant this packet is meant for.</a:t>
            </a:r>
            <a:endParaRPr/>
          </a:p>
        </p:txBody>
      </p:sp>
      <p:sp>
        <p:nvSpPr>
          <p:cNvPr id="1483" name="Google Shape;1483;p72"/>
          <p:cNvSpPr/>
          <p:nvPr/>
        </p:nvSpPr>
        <p:spPr>
          <a:xfrm>
            <a:off x="23342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4" name="Google Shape;1484;p72"/>
          <p:cNvSpPr/>
          <p:nvPr/>
        </p:nvSpPr>
        <p:spPr>
          <a:xfrm>
            <a:off x="36296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5" name="Google Shape;1485;p72"/>
          <p:cNvCxnSpPr>
            <a:stCxn id="1483" idx="3"/>
            <a:endCxn id="1484" idx="1"/>
          </p:cNvCxnSpPr>
          <p:nvPr/>
        </p:nvCxnSpPr>
        <p:spPr>
          <a:xfrm>
            <a:off x="2619275" y="4513450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6" name="Google Shape;1486;p72"/>
          <p:cNvSpPr/>
          <p:nvPr/>
        </p:nvSpPr>
        <p:spPr>
          <a:xfrm>
            <a:off x="49250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7" name="Google Shape;1487;p72"/>
          <p:cNvSpPr/>
          <p:nvPr/>
        </p:nvSpPr>
        <p:spPr>
          <a:xfrm>
            <a:off x="62204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8" name="Google Shape;1488;p72"/>
          <p:cNvCxnSpPr>
            <a:stCxn id="1486" idx="3"/>
            <a:endCxn id="1487" idx="1"/>
          </p:cNvCxnSpPr>
          <p:nvPr/>
        </p:nvCxnSpPr>
        <p:spPr>
          <a:xfrm>
            <a:off x="5210075" y="4513450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9" name="Google Shape;1489;p72"/>
          <p:cNvCxnSpPr>
            <a:stCxn id="1484" idx="3"/>
            <a:endCxn id="1486" idx="1"/>
          </p:cNvCxnSpPr>
          <p:nvPr/>
        </p:nvCxnSpPr>
        <p:spPr>
          <a:xfrm>
            <a:off x="3914675" y="4513450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0" name="Google Shape;1490;p72"/>
          <p:cNvCxnSpPr>
            <a:stCxn id="1483" idx="0"/>
            <a:endCxn id="1491" idx="2"/>
          </p:cNvCxnSpPr>
          <p:nvPr/>
        </p:nvCxnSpPr>
        <p:spPr>
          <a:xfrm rot="10800000">
            <a:off x="2476775" y="4041550"/>
            <a:ext cx="0" cy="329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2" name="Google Shape;1492;p72"/>
          <p:cNvCxnSpPr>
            <a:stCxn id="1487" idx="0"/>
            <a:endCxn id="1493" idx="2"/>
          </p:cNvCxnSpPr>
          <p:nvPr/>
        </p:nvCxnSpPr>
        <p:spPr>
          <a:xfrm rot="10800000">
            <a:off x="6362975" y="4041550"/>
            <a:ext cx="0" cy="329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4" name="Google Shape;1494;p72"/>
          <p:cNvSpPr/>
          <p:nvPr/>
        </p:nvSpPr>
        <p:spPr>
          <a:xfrm>
            <a:off x="1724675" y="32171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5" name="Google Shape;1495;p72"/>
          <p:cNvSpPr/>
          <p:nvPr/>
        </p:nvSpPr>
        <p:spPr>
          <a:xfrm>
            <a:off x="2943875" y="3217150"/>
            <a:ext cx="285000" cy="2850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6" name="Google Shape;1496;p72"/>
          <p:cNvCxnSpPr>
            <a:stCxn id="1491" idx="0"/>
            <a:endCxn id="1494" idx="2"/>
          </p:cNvCxnSpPr>
          <p:nvPr/>
        </p:nvCxnSpPr>
        <p:spPr>
          <a:xfrm rot="10800000">
            <a:off x="1867175" y="35020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7" name="Google Shape;1497;p72"/>
          <p:cNvCxnSpPr>
            <a:stCxn id="1491" idx="0"/>
            <a:endCxn id="1495" idx="2"/>
          </p:cNvCxnSpPr>
          <p:nvPr/>
        </p:nvCxnSpPr>
        <p:spPr>
          <a:xfrm flipH="1" rot="10800000">
            <a:off x="2476775" y="3502002"/>
            <a:ext cx="609600" cy="254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8" name="Google Shape;1498;p72"/>
          <p:cNvSpPr txBox="1"/>
          <p:nvPr/>
        </p:nvSpPr>
        <p:spPr>
          <a:xfrm>
            <a:off x="14503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9" name="Google Shape;1499;p72"/>
          <p:cNvSpPr txBox="1"/>
          <p:nvPr/>
        </p:nvSpPr>
        <p:spPr>
          <a:xfrm>
            <a:off x="26695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0" name="Google Shape;1500;p72"/>
          <p:cNvSpPr/>
          <p:nvPr/>
        </p:nvSpPr>
        <p:spPr>
          <a:xfrm>
            <a:off x="4952525" y="2972375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1" name="Google Shape;1501;p72"/>
          <p:cNvSpPr/>
          <p:nvPr/>
        </p:nvSpPr>
        <p:spPr>
          <a:xfrm>
            <a:off x="5610875" y="32171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2" name="Google Shape;1502;p72"/>
          <p:cNvSpPr/>
          <p:nvPr/>
        </p:nvSpPr>
        <p:spPr>
          <a:xfrm>
            <a:off x="6830075" y="3217150"/>
            <a:ext cx="285000" cy="2850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3" name="Google Shape;1503;p72"/>
          <p:cNvCxnSpPr>
            <a:stCxn id="1493" idx="0"/>
            <a:endCxn id="1501" idx="2"/>
          </p:cNvCxnSpPr>
          <p:nvPr/>
        </p:nvCxnSpPr>
        <p:spPr>
          <a:xfrm rot="10800000">
            <a:off x="5753375" y="35020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4" name="Google Shape;1504;p72"/>
          <p:cNvCxnSpPr>
            <a:stCxn id="1493" idx="0"/>
            <a:endCxn id="1502" idx="2"/>
          </p:cNvCxnSpPr>
          <p:nvPr/>
        </p:nvCxnSpPr>
        <p:spPr>
          <a:xfrm flipH="1" rot="10800000">
            <a:off x="6362975" y="3502002"/>
            <a:ext cx="609600" cy="254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5" name="Google Shape;1505;p72"/>
          <p:cNvSpPr txBox="1"/>
          <p:nvPr/>
        </p:nvSpPr>
        <p:spPr>
          <a:xfrm>
            <a:off x="53365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192.0.2.2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6" name="Google Shape;1506;p72"/>
          <p:cNvSpPr txBox="1"/>
          <p:nvPr/>
        </p:nvSpPr>
        <p:spPr>
          <a:xfrm>
            <a:off x="65557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7" name="Google Shape;1507;p72"/>
          <p:cNvSpPr/>
          <p:nvPr/>
        </p:nvSpPr>
        <p:spPr>
          <a:xfrm>
            <a:off x="2409575" y="2127225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8" name="Google Shape;1508;p72"/>
          <p:cNvSpPr/>
          <p:nvPr/>
        </p:nvSpPr>
        <p:spPr>
          <a:xfrm>
            <a:off x="2409575" y="2412225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9" name="Google Shape;1509;p72"/>
          <p:cNvSpPr/>
          <p:nvPr/>
        </p:nvSpPr>
        <p:spPr>
          <a:xfrm>
            <a:off x="2409575" y="1842225"/>
            <a:ext cx="1353600" cy="2850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0" name="Google Shape;1510;p72"/>
          <p:cNvSpPr/>
          <p:nvPr/>
        </p:nvSpPr>
        <p:spPr>
          <a:xfrm>
            <a:off x="2409575" y="1557213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1" name="Google Shape;1491;p72"/>
          <p:cNvSpPr/>
          <p:nvPr/>
        </p:nvSpPr>
        <p:spPr>
          <a:xfrm>
            <a:off x="1845575" y="37564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3" name="Google Shape;1493;p72"/>
          <p:cNvSpPr/>
          <p:nvPr/>
        </p:nvSpPr>
        <p:spPr>
          <a:xfrm>
            <a:off x="5731775" y="37564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7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Encapsulations for Multi-Tenancy</a:t>
            </a:r>
            <a:endParaRPr/>
          </a:p>
        </p:txBody>
      </p:sp>
      <p:sp>
        <p:nvSpPr>
          <p:cNvPr id="1516" name="Google Shape;1516;p73"/>
          <p:cNvSpPr txBox="1"/>
          <p:nvPr>
            <p:ph idx="1" type="body"/>
          </p:nvPr>
        </p:nvSpPr>
        <p:spPr>
          <a:xfrm>
            <a:off x="107050" y="402200"/>
            <a:ext cx="8909700" cy="31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new extra header lets us </a:t>
            </a:r>
            <a:r>
              <a:rPr lang="en"/>
              <a:t>distinguish</a:t>
            </a:r>
            <a:r>
              <a:rPr lang="en"/>
              <a:t> between tenants.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tenant has a </a:t>
            </a:r>
            <a:r>
              <a:rPr b="1" lang="en"/>
              <a:t>virtual network ID</a:t>
            </a:r>
            <a:r>
              <a:rPr lang="en"/>
              <a:t> for its own VMs.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extra header includes the virtual network ID.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ID is not used for forwarding or routing, but provides more context to supplement the virtual IP address.</a:t>
            </a:r>
            <a:endParaRPr/>
          </a:p>
        </p:txBody>
      </p:sp>
      <p:sp>
        <p:nvSpPr>
          <p:cNvPr id="1517" name="Google Shape;1517;p73"/>
          <p:cNvSpPr/>
          <p:nvPr/>
        </p:nvSpPr>
        <p:spPr>
          <a:xfrm>
            <a:off x="5078713" y="4091500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192.0.5.7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8" name="Google Shape;1518;p73"/>
          <p:cNvSpPr/>
          <p:nvPr/>
        </p:nvSpPr>
        <p:spPr>
          <a:xfrm>
            <a:off x="5078713" y="4376500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9" name="Google Shape;1519;p73"/>
          <p:cNvSpPr/>
          <p:nvPr/>
        </p:nvSpPr>
        <p:spPr>
          <a:xfrm>
            <a:off x="5078713" y="3806500"/>
            <a:ext cx="1353600" cy="2850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0" name="Google Shape;1520;p73"/>
          <p:cNvSpPr/>
          <p:nvPr/>
        </p:nvSpPr>
        <p:spPr>
          <a:xfrm>
            <a:off x="5078713" y="3521488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1" name="Google Shape;1521;p73"/>
          <p:cNvSpPr/>
          <p:nvPr/>
        </p:nvSpPr>
        <p:spPr>
          <a:xfrm>
            <a:off x="2711688" y="4091500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192.0.5.7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2" name="Google Shape;1522;p73"/>
          <p:cNvSpPr/>
          <p:nvPr/>
        </p:nvSpPr>
        <p:spPr>
          <a:xfrm>
            <a:off x="2711688" y="4376500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3" name="Google Shape;1523;p73"/>
          <p:cNvSpPr/>
          <p:nvPr/>
        </p:nvSpPr>
        <p:spPr>
          <a:xfrm>
            <a:off x="2711688" y="3806500"/>
            <a:ext cx="13536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4" name="Google Shape;1524;p73"/>
          <p:cNvSpPr/>
          <p:nvPr/>
        </p:nvSpPr>
        <p:spPr>
          <a:xfrm>
            <a:off x="2711688" y="3521488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7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Putting It Together – Stacking Encapsulations</a:t>
            </a:r>
            <a:endParaRPr/>
          </a:p>
        </p:txBody>
      </p:sp>
      <p:sp>
        <p:nvSpPr>
          <p:cNvPr id="1530" name="Google Shape;1530;p74"/>
          <p:cNvSpPr txBox="1"/>
          <p:nvPr>
            <p:ph idx="1" type="body"/>
          </p:nvPr>
        </p:nvSpPr>
        <p:spPr>
          <a:xfrm>
            <a:off x="107050" y="402200"/>
            <a:ext cx="89097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use encapsulation for both virtualization and multi-tenancy.</a:t>
            </a:r>
            <a:endParaRPr/>
          </a:p>
        </p:txBody>
      </p:sp>
      <p:sp>
        <p:nvSpPr>
          <p:cNvPr id="1531" name="Google Shape;1531;p74"/>
          <p:cNvSpPr/>
          <p:nvPr/>
        </p:nvSpPr>
        <p:spPr>
          <a:xfrm>
            <a:off x="489650" y="3202925"/>
            <a:ext cx="1980600" cy="618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2" name="Google Shape;1532;p74"/>
          <p:cNvSpPr/>
          <p:nvPr/>
        </p:nvSpPr>
        <p:spPr>
          <a:xfrm>
            <a:off x="489650" y="2809325"/>
            <a:ext cx="19806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3" name="Google Shape;1533;p74"/>
          <p:cNvSpPr/>
          <p:nvPr/>
        </p:nvSpPr>
        <p:spPr>
          <a:xfrm>
            <a:off x="489650" y="2415725"/>
            <a:ext cx="19806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(Overlay)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4" name="Google Shape;1534;p74"/>
          <p:cNvSpPr/>
          <p:nvPr/>
        </p:nvSpPr>
        <p:spPr>
          <a:xfrm>
            <a:off x="3571600" y="3202925"/>
            <a:ext cx="1980600" cy="618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5" name="Google Shape;1535;p74"/>
          <p:cNvSpPr/>
          <p:nvPr/>
        </p:nvSpPr>
        <p:spPr>
          <a:xfrm>
            <a:off x="3571600" y="2809325"/>
            <a:ext cx="19806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6" name="Google Shape;1536;p74"/>
          <p:cNvSpPr/>
          <p:nvPr/>
        </p:nvSpPr>
        <p:spPr>
          <a:xfrm>
            <a:off x="3571600" y="2415725"/>
            <a:ext cx="19806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(Overlay)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7" name="Google Shape;1537;p74"/>
          <p:cNvSpPr/>
          <p:nvPr/>
        </p:nvSpPr>
        <p:spPr>
          <a:xfrm>
            <a:off x="3571600" y="2022125"/>
            <a:ext cx="1980600" cy="393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Network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8" name="Google Shape;1538;p74"/>
          <p:cNvSpPr/>
          <p:nvPr/>
        </p:nvSpPr>
        <p:spPr>
          <a:xfrm>
            <a:off x="6653550" y="3202925"/>
            <a:ext cx="1980600" cy="618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9" name="Google Shape;1539;p74"/>
          <p:cNvSpPr/>
          <p:nvPr/>
        </p:nvSpPr>
        <p:spPr>
          <a:xfrm>
            <a:off x="6653550" y="2809325"/>
            <a:ext cx="19806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0" name="Google Shape;1540;p74"/>
          <p:cNvSpPr/>
          <p:nvPr/>
        </p:nvSpPr>
        <p:spPr>
          <a:xfrm>
            <a:off x="6653550" y="2415725"/>
            <a:ext cx="19806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(Overlay)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1" name="Google Shape;1541;p74"/>
          <p:cNvSpPr/>
          <p:nvPr/>
        </p:nvSpPr>
        <p:spPr>
          <a:xfrm>
            <a:off x="6653550" y="2022125"/>
            <a:ext cx="1980600" cy="393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Network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2" name="Google Shape;1542;p74"/>
          <p:cNvSpPr/>
          <p:nvPr/>
        </p:nvSpPr>
        <p:spPr>
          <a:xfrm>
            <a:off x="6653550" y="1628525"/>
            <a:ext cx="19806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(Underlay)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3" name="Google Shape;1543;p74"/>
          <p:cNvSpPr txBox="1"/>
          <p:nvPr/>
        </p:nvSpPr>
        <p:spPr>
          <a:xfrm>
            <a:off x="683750" y="4048825"/>
            <a:ext cx="1592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Original packet from application.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4" name="Google Shape;1544;p74"/>
          <p:cNvSpPr txBox="1"/>
          <p:nvPr/>
        </p:nvSpPr>
        <p:spPr>
          <a:xfrm>
            <a:off x="3400600" y="4048825"/>
            <a:ext cx="232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Encapsulate: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Add virtual network context.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5" name="Google Shape;1545;p74"/>
          <p:cNvSpPr txBox="1"/>
          <p:nvPr/>
        </p:nvSpPr>
        <p:spPr>
          <a:xfrm>
            <a:off x="6482550" y="4044250"/>
            <a:ext cx="232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Encapsulate: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Add underlay destination.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7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Putting It Together – Stacking Encapsulations</a:t>
            </a:r>
            <a:endParaRPr/>
          </a:p>
        </p:txBody>
      </p:sp>
      <p:sp>
        <p:nvSpPr>
          <p:cNvPr id="1551" name="Google Shape;1551;p75"/>
          <p:cNvSpPr txBox="1"/>
          <p:nvPr>
            <p:ph idx="1" type="body"/>
          </p:nvPr>
        </p:nvSpPr>
        <p:spPr>
          <a:xfrm>
            <a:off x="107050" y="402200"/>
            <a:ext cx="89097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use encapsulation for both virtualization and multi-tenancy.</a:t>
            </a:r>
            <a:endParaRPr/>
          </a:p>
        </p:txBody>
      </p:sp>
      <p:sp>
        <p:nvSpPr>
          <p:cNvPr id="1552" name="Google Shape;1552;p75"/>
          <p:cNvSpPr/>
          <p:nvPr/>
        </p:nvSpPr>
        <p:spPr>
          <a:xfrm>
            <a:off x="3571600" y="3202925"/>
            <a:ext cx="1980600" cy="618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3" name="Google Shape;1553;p75"/>
          <p:cNvSpPr/>
          <p:nvPr/>
        </p:nvSpPr>
        <p:spPr>
          <a:xfrm>
            <a:off x="3571600" y="2809325"/>
            <a:ext cx="19806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4" name="Google Shape;1554;p75"/>
          <p:cNvSpPr/>
          <p:nvPr/>
        </p:nvSpPr>
        <p:spPr>
          <a:xfrm>
            <a:off x="3571600" y="2415725"/>
            <a:ext cx="19806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(Overlay)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5" name="Google Shape;1555;p75"/>
          <p:cNvSpPr/>
          <p:nvPr/>
        </p:nvSpPr>
        <p:spPr>
          <a:xfrm>
            <a:off x="3571600" y="2022125"/>
            <a:ext cx="1980600" cy="393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Network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6" name="Google Shape;1556;p75"/>
          <p:cNvSpPr/>
          <p:nvPr/>
        </p:nvSpPr>
        <p:spPr>
          <a:xfrm>
            <a:off x="489650" y="3207488"/>
            <a:ext cx="1980600" cy="618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7" name="Google Shape;1557;p75"/>
          <p:cNvSpPr/>
          <p:nvPr/>
        </p:nvSpPr>
        <p:spPr>
          <a:xfrm>
            <a:off x="489650" y="2813888"/>
            <a:ext cx="19806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8" name="Google Shape;1558;p75"/>
          <p:cNvSpPr/>
          <p:nvPr/>
        </p:nvSpPr>
        <p:spPr>
          <a:xfrm>
            <a:off x="489650" y="2420288"/>
            <a:ext cx="19806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(Overlay)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9" name="Google Shape;1559;p75"/>
          <p:cNvSpPr/>
          <p:nvPr/>
        </p:nvSpPr>
        <p:spPr>
          <a:xfrm>
            <a:off x="489650" y="2026688"/>
            <a:ext cx="1980600" cy="393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Network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0" name="Google Shape;1560;p75"/>
          <p:cNvSpPr/>
          <p:nvPr/>
        </p:nvSpPr>
        <p:spPr>
          <a:xfrm>
            <a:off x="489650" y="1633088"/>
            <a:ext cx="19806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(Underlay)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1" name="Google Shape;1561;p75"/>
          <p:cNvSpPr txBox="1"/>
          <p:nvPr/>
        </p:nvSpPr>
        <p:spPr>
          <a:xfrm>
            <a:off x="3123550" y="3945700"/>
            <a:ext cx="287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Decapsulate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Expose virtual network header, decide which tenant to forward to.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2" name="Google Shape;1562;p75"/>
          <p:cNvSpPr txBox="1"/>
          <p:nvPr/>
        </p:nvSpPr>
        <p:spPr>
          <a:xfrm>
            <a:off x="318650" y="4048813"/>
            <a:ext cx="232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Receive packet from underlay.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3" name="Google Shape;1563;p75"/>
          <p:cNvSpPr/>
          <p:nvPr/>
        </p:nvSpPr>
        <p:spPr>
          <a:xfrm>
            <a:off x="6653550" y="3207500"/>
            <a:ext cx="1980600" cy="618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4" name="Google Shape;1564;p75"/>
          <p:cNvSpPr/>
          <p:nvPr/>
        </p:nvSpPr>
        <p:spPr>
          <a:xfrm>
            <a:off x="6653550" y="2813900"/>
            <a:ext cx="19806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5" name="Google Shape;1565;p75"/>
          <p:cNvSpPr/>
          <p:nvPr/>
        </p:nvSpPr>
        <p:spPr>
          <a:xfrm>
            <a:off x="6653550" y="2420300"/>
            <a:ext cx="19806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(Overlay)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6" name="Google Shape;1566;p75"/>
          <p:cNvSpPr txBox="1"/>
          <p:nvPr/>
        </p:nvSpPr>
        <p:spPr>
          <a:xfrm>
            <a:off x="6409050" y="3941125"/>
            <a:ext cx="246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Decapsulate: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Expose overlay header, forward to corresponding VM.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7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Encapsulation</a:t>
            </a:r>
            <a:endParaRPr/>
          </a:p>
        </p:txBody>
      </p:sp>
      <p:sp>
        <p:nvSpPr>
          <p:cNvPr id="1572" name="Google Shape;1572;p7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real-world protocols exist for adding extra headers?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IP-in-IP: Adds an extra IP header.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MPLS: Adds a 20-bit label to identify a service.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Can be used to support multi-tenancy.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Can also be used at other layers.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datacenters have grown, more protocols have been introduced.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Most work over IP (IP is the "outer" packet header that the underlay looks at).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Examples: GRE, VXLAN, GENEVE...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Don't worry about the details – the idea of encapsulation is more important than the specific implementation.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7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Routing and Encapsulation in Datacenters</a:t>
            </a:r>
            <a:endParaRPr/>
          </a:p>
        </p:txBody>
      </p:sp>
      <p:sp>
        <p:nvSpPr>
          <p:cNvPr id="1578" name="Google Shape;1578;p7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Datacenter networks need different treatment in routing protocols.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Both distance-vector and link-state need to be modified.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design addressing in our datacenters to improve scalability.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more dynamic, virtual servers arrived – routing could not scale!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use an overlay network to separate VM-to-VM networking from server-to-server.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This is achieved through encapsulating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 encapsulation also allows us to separate different </a:t>
            </a:r>
            <a:r>
              <a:rPr lang="en"/>
              <a:t>tenants</a:t>
            </a:r>
            <a:r>
              <a:rPr lang="en"/>
              <a:t> in a datacenter.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